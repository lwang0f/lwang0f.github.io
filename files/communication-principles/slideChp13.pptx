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93"/>
  </p:notesMasterIdLst>
  <p:sldIdLst>
    <p:sldId id="286" r:id="rId2"/>
    <p:sldId id="311" r:id="rId3"/>
    <p:sldId id="312" r:id="rId4"/>
    <p:sldId id="313" r:id="rId5"/>
    <p:sldId id="314" r:id="rId6"/>
    <p:sldId id="315" r:id="rId7"/>
    <p:sldId id="316" r:id="rId8"/>
    <p:sldId id="317" r:id="rId9"/>
    <p:sldId id="399" r:id="rId10"/>
    <p:sldId id="319" r:id="rId11"/>
    <p:sldId id="320" r:id="rId12"/>
    <p:sldId id="321" r:id="rId13"/>
    <p:sldId id="322" r:id="rId14"/>
    <p:sldId id="323" r:id="rId15"/>
    <p:sldId id="324" r:id="rId16"/>
    <p:sldId id="325" r:id="rId17"/>
    <p:sldId id="326" r:id="rId18"/>
    <p:sldId id="327" r:id="rId19"/>
    <p:sldId id="328" r:id="rId20"/>
    <p:sldId id="329" r:id="rId21"/>
    <p:sldId id="330" r:id="rId22"/>
    <p:sldId id="331" r:id="rId23"/>
    <p:sldId id="332" r:id="rId24"/>
    <p:sldId id="333" r:id="rId25"/>
    <p:sldId id="334" r:id="rId26"/>
    <p:sldId id="335" r:id="rId27"/>
    <p:sldId id="336" r:id="rId28"/>
    <p:sldId id="337" r:id="rId29"/>
    <p:sldId id="338" r:id="rId30"/>
    <p:sldId id="339" r:id="rId31"/>
    <p:sldId id="340" r:id="rId32"/>
    <p:sldId id="341" r:id="rId33"/>
    <p:sldId id="342" r:id="rId34"/>
    <p:sldId id="343" r:id="rId35"/>
    <p:sldId id="344" r:id="rId36"/>
    <p:sldId id="345" r:id="rId37"/>
    <p:sldId id="346" r:id="rId38"/>
    <p:sldId id="347" r:id="rId39"/>
    <p:sldId id="348" r:id="rId40"/>
    <p:sldId id="349" r:id="rId41"/>
    <p:sldId id="350" r:id="rId42"/>
    <p:sldId id="351" r:id="rId43"/>
    <p:sldId id="352" r:id="rId44"/>
    <p:sldId id="353" r:id="rId45"/>
    <p:sldId id="354" r:id="rId46"/>
    <p:sldId id="355" r:id="rId47"/>
    <p:sldId id="356" r:id="rId48"/>
    <p:sldId id="357" r:id="rId49"/>
    <p:sldId id="358" r:id="rId50"/>
    <p:sldId id="359" r:id="rId51"/>
    <p:sldId id="360" r:id="rId52"/>
    <p:sldId id="361" r:id="rId53"/>
    <p:sldId id="362" r:id="rId54"/>
    <p:sldId id="363" r:id="rId55"/>
    <p:sldId id="364" r:id="rId56"/>
    <p:sldId id="365" r:id="rId57"/>
    <p:sldId id="366" r:id="rId58"/>
    <p:sldId id="367" r:id="rId59"/>
    <p:sldId id="368" r:id="rId60"/>
    <p:sldId id="369" r:id="rId61"/>
    <p:sldId id="370" r:id="rId62"/>
    <p:sldId id="371" r:id="rId63"/>
    <p:sldId id="372" r:id="rId64"/>
    <p:sldId id="373" r:id="rId65"/>
    <p:sldId id="374" r:id="rId66"/>
    <p:sldId id="375" r:id="rId67"/>
    <p:sldId id="376" r:id="rId68"/>
    <p:sldId id="377" r:id="rId69"/>
    <p:sldId id="378" r:id="rId70"/>
    <p:sldId id="379" r:id="rId71"/>
    <p:sldId id="380" r:id="rId72"/>
    <p:sldId id="381" r:id="rId73"/>
    <p:sldId id="382" r:id="rId74"/>
    <p:sldId id="383" r:id="rId75"/>
    <p:sldId id="384" r:id="rId76"/>
    <p:sldId id="385" r:id="rId77"/>
    <p:sldId id="386" r:id="rId78"/>
    <p:sldId id="387" r:id="rId79"/>
    <p:sldId id="388" r:id="rId80"/>
    <p:sldId id="389" r:id="rId81"/>
    <p:sldId id="390" r:id="rId82"/>
    <p:sldId id="391" r:id="rId83"/>
    <p:sldId id="392" r:id="rId84"/>
    <p:sldId id="393" r:id="rId85"/>
    <p:sldId id="394" r:id="rId86"/>
    <p:sldId id="395" r:id="rId87"/>
    <p:sldId id="396" r:id="rId88"/>
    <p:sldId id="397" r:id="rId89"/>
    <p:sldId id="398" r:id="rId90"/>
    <p:sldId id="309" r:id="rId91"/>
    <p:sldId id="310" r:id="rId92"/>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993366"/>
    <a:srgbClr val="9900CC"/>
    <a:srgbClr val="F2F2F2"/>
    <a:srgbClr val="003399"/>
    <a:srgbClr val="FF0066"/>
    <a:srgbClr val="800080"/>
    <a:srgbClr val="7833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4" d="100"/>
          <a:sy n="104" d="100"/>
        </p:scale>
        <p:origin x="1140" y="102"/>
      </p:cViewPr>
      <p:guideLst>
        <p:guide orient="horz" pos="2160"/>
        <p:guide pos="2880"/>
      </p:guideLst>
    </p:cSldViewPr>
  </p:slideViewPr>
  <p:notesTextViewPr>
    <p:cViewPr>
      <p:scale>
        <a:sx n="100" d="100"/>
        <a:sy n="100" d="100"/>
      </p:scale>
      <p:origin x="0" y="0"/>
    </p:cViewPr>
  </p:notesTextViewPr>
  <p:notesViewPr>
    <p:cSldViewPr>
      <p:cViewPr varScale="1">
        <p:scale>
          <a:sx n="60" d="100"/>
          <a:sy n="60" d="100"/>
        </p:scale>
        <p:origin x="-1098" y="-72"/>
      </p:cViewPr>
      <p:guideLst>
        <p:guide orient="horz" pos="2880"/>
        <p:guide pos="2160"/>
      </p:guideLst>
    </p:cSldViewPr>
  </p:notesViewPr>
  <p:gridSpacing cx="45005" cy="45005"/>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AD8D45B4-46AC-C112-7F32-428039E8C897}"/>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ea typeface="宋体" pitchFamily="2" charset="-122"/>
              </a:defRPr>
            </a:lvl1pPr>
          </a:lstStyle>
          <a:p>
            <a:pPr>
              <a:defRPr/>
            </a:pPr>
            <a:endParaRPr lang="en-US" altLang="zh-CN"/>
          </a:p>
        </p:txBody>
      </p:sp>
      <p:sp>
        <p:nvSpPr>
          <p:cNvPr id="23555" name="Rectangle 3">
            <a:extLst>
              <a:ext uri="{FF2B5EF4-FFF2-40B4-BE49-F238E27FC236}">
                <a16:creationId xmlns:a16="http://schemas.microsoft.com/office/drawing/2014/main" id="{73DAFE11-B4E7-DCDC-08DD-0EEBF1801E56}"/>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宋体" pitchFamily="2" charset="-122"/>
              </a:defRPr>
            </a:lvl1pPr>
          </a:lstStyle>
          <a:p>
            <a:pPr>
              <a:defRPr/>
            </a:pPr>
            <a:endParaRPr lang="en-US" altLang="zh-CN"/>
          </a:p>
        </p:txBody>
      </p:sp>
      <p:sp>
        <p:nvSpPr>
          <p:cNvPr id="97284" name="Rectangle 4">
            <a:extLst>
              <a:ext uri="{FF2B5EF4-FFF2-40B4-BE49-F238E27FC236}">
                <a16:creationId xmlns:a16="http://schemas.microsoft.com/office/drawing/2014/main" id="{50EEE699-B387-14FA-3E0B-224E3324ADEE}"/>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7" name="Rectangle 5">
            <a:extLst>
              <a:ext uri="{FF2B5EF4-FFF2-40B4-BE49-F238E27FC236}">
                <a16:creationId xmlns:a16="http://schemas.microsoft.com/office/drawing/2014/main" id="{1D624DE4-AAAF-6749-8DF0-102E001FDF34}"/>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3558" name="Rectangle 6">
            <a:extLst>
              <a:ext uri="{FF2B5EF4-FFF2-40B4-BE49-F238E27FC236}">
                <a16:creationId xmlns:a16="http://schemas.microsoft.com/office/drawing/2014/main" id="{EA3AC3D4-C63C-00A8-B29B-5FEABFAAB3C2}"/>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ea typeface="宋体" pitchFamily="2" charset="-122"/>
              </a:defRPr>
            </a:lvl1pPr>
          </a:lstStyle>
          <a:p>
            <a:pPr>
              <a:defRPr/>
            </a:pPr>
            <a:endParaRPr lang="en-US" altLang="zh-CN"/>
          </a:p>
        </p:txBody>
      </p:sp>
      <p:sp>
        <p:nvSpPr>
          <p:cNvPr id="23559" name="Rectangle 7">
            <a:extLst>
              <a:ext uri="{FF2B5EF4-FFF2-40B4-BE49-F238E27FC236}">
                <a16:creationId xmlns:a16="http://schemas.microsoft.com/office/drawing/2014/main" id="{A44989F6-2574-7BB3-882D-9D7314CE5730}"/>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anose="020B0604020202020204" pitchFamily="34" charset="0"/>
              </a:defRPr>
            </a:lvl1pPr>
          </a:lstStyle>
          <a:p>
            <a:fld id="{A92FA1A3-CC02-4C08-851C-B55B42722B88}"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a:extLst>
              <a:ext uri="{FF2B5EF4-FFF2-40B4-BE49-F238E27FC236}">
                <a16:creationId xmlns:a16="http://schemas.microsoft.com/office/drawing/2014/main" id="{ED47B0FC-AD24-4DC3-9002-B6927431A1D2}"/>
              </a:ext>
            </a:extLst>
          </p:cNvPr>
          <p:cNvSpPr>
            <a:spLocks noGrp="1" noRot="1" noChangeAspect="1" noTextEdit="1"/>
          </p:cNvSpPr>
          <p:nvPr>
            <p:ph type="sldImg"/>
          </p:nvPr>
        </p:nvSpPr>
        <p:spPr>
          <a:ln/>
        </p:spPr>
      </p:sp>
      <p:sp>
        <p:nvSpPr>
          <p:cNvPr id="3" name="备注占位符 2">
            <a:extLst>
              <a:ext uri="{FF2B5EF4-FFF2-40B4-BE49-F238E27FC236}">
                <a16:creationId xmlns:a16="http://schemas.microsoft.com/office/drawing/2014/main" id="{7C3A09FA-F8D2-3190-2140-A4393CFFB7C2}"/>
              </a:ext>
            </a:extLst>
          </p:cNvPr>
          <p:cNvSpPr>
            <a:spLocks noGrp="1"/>
          </p:cNvSpPr>
          <p:nvPr>
            <p:ph type="body" idx="1"/>
          </p:nvPr>
        </p:nvSpPr>
        <p:spPr/>
        <p:txBody>
          <a:bodyPr/>
          <a:lstStyle/>
          <a:p>
            <a:pPr>
              <a:defRPr/>
            </a:pPr>
            <a:r>
              <a:rPr lang="zh-CN" altLang="zh-CN" dirty="0">
                <a:latin typeface="微软雅黑" pitchFamily="34" charset="-122"/>
                <a:ea typeface="微软雅黑" pitchFamily="34" charset="-122"/>
              </a:rPr>
              <a:t>在数字通信中，信息是以</a:t>
            </a:r>
            <a:r>
              <a:rPr lang="zh-CN" altLang="zh-CN" dirty="0">
                <a:effectLst>
                  <a:outerShdw blurRad="38100" dist="38100" dir="2700000" algn="tl">
                    <a:srgbClr val="000000">
                      <a:alpha val="43137"/>
                    </a:srgbClr>
                  </a:outerShdw>
                </a:effectLst>
                <a:latin typeface="微软雅黑" pitchFamily="34" charset="-122"/>
                <a:ea typeface="微软雅黑" pitchFamily="34" charset="-122"/>
              </a:rPr>
              <a:t>帧</a:t>
            </a:r>
            <a:r>
              <a:rPr lang="zh-CN" altLang="zh-CN" dirty="0">
                <a:latin typeface="微软雅黑" pitchFamily="34" charset="-122"/>
                <a:ea typeface="微软雅黑" pitchFamily="34" charset="-122"/>
              </a:rPr>
              <a:t>结构传送的。例如，</a:t>
            </a:r>
            <a:r>
              <a:rPr lang="en-US" altLang="zh-CN" dirty="0">
                <a:latin typeface="微软雅黑" pitchFamily="34" charset="-122"/>
                <a:ea typeface="微软雅黑" pitchFamily="34" charset="-122"/>
              </a:rPr>
              <a:t>PCM30/32</a:t>
            </a:r>
            <a:r>
              <a:rPr lang="zh-CN" altLang="zh-CN" dirty="0">
                <a:latin typeface="微软雅黑" pitchFamily="34" charset="-122"/>
                <a:ea typeface="微软雅黑" pitchFamily="34" charset="-122"/>
              </a:rPr>
              <a:t>电话系统。</a:t>
            </a:r>
            <a:endParaRPr lang="zh-CN" altLang="en-US" dirty="0"/>
          </a:p>
        </p:txBody>
      </p:sp>
      <p:sp>
        <p:nvSpPr>
          <p:cNvPr id="98308" name="灯片编号占位符 3">
            <a:extLst>
              <a:ext uri="{FF2B5EF4-FFF2-40B4-BE49-F238E27FC236}">
                <a16:creationId xmlns:a16="http://schemas.microsoft.com/office/drawing/2014/main" id="{0187186B-C5C9-ADE8-E4F7-E4E621657C1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FC0F1EDB-6B7C-4B9F-8E93-5AB6402F12CF}" type="slidenum">
              <a:rPr lang="en-US" altLang="zh-CN">
                <a:latin typeface="Arial" panose="020B0604020202020204" pitchFamily="34" charset="0"/>
              </a:rPr>
              <a:pPr eaLnBrk="1" hangingPunct="1"/>
              <a:t>5</a:t>
            </a:fld>
            <a:endParaRPr lang="en-US" altLang="zh-CN">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a:extLst>
              <a:ext uri="{FF2B5EF4-FFF2-40B4-BE49-F238E27FC236}">
                <a16:creationId xmlns:a16="http://schemas.microsoft.com/office/drawing/2014/main" id="{CFBE7A5B-86B9-AA53-22C5-07890C33D720}"/>
              </a:ext>
            </a:extLst>
          </p:cNvPr>
          <p:cNvSpPr>
            <a:spLocks noGrp="1" noRot="1" noChangeAspect="1" noTextEdit="1"/>
          </p:cNvSpPr>
          <p:nvPr>
            <p:ph type="sldImg"/>
          </p:nvPr>
        </p:nvSpPr>
        <p:spPr>
          <a:ln/>
        </p:spPr>
      </p:sp>
      <p:sp>
        <p:nvSpPr>
          <p:cNvPr id="99331" name="备注占位符 2">
            <a:extLst>
              <a:ext uri="{FF2B5EF4-FFF2-40B4-BE49-F238E27FC236}">
                <a16:creationId xmlns:a16="http://schemas.microsoft.com/office/drawing/2014/main" id="{EDB4C819-82F2-569F-B16A-55B9B8449B6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微软雅黑" panose="020B0503020204020204" pitchFamily="34" charset="-122"/>
                <a:ea typeface="微软雅黑" panose="020B0503020204020204" pitchFamily="34" charset="-122"/>
              </a:rPr>
              <a:t>相位误差 对不同信号的解调所带来的影响是不同的。</a:t>
            </a:r>
            <a:endParaRPr lang="zh-CN" altLang="en-US">
              <a:latin typeface="Arial" panose="020B0604020202020204" pitchFamily="34" charset="0"/>
            </a:endParaRPr>
          </a:p>
        </p:txBody>
      </p:sp>
      <p:sp>
        <p:nvSpPr>
          <p:cNvPr id="99332" name="灯片编号占位符 3">
            <a:extLst>
              <a:ext uri="{FF2B5EF4-FFF2-40B4-BE49-F238E27FC236}">
                <a16:creationId xmlns:a16="http://schemas.microsoft.com/office/drawing/2014/main" id="{23111A97-4962-D384-0290-87ACADAB771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6C67280A-5DCF-4A47-A20E-1E8B62055A96}" type="slidenum">
              <a:rPr lang="en-US" altLang="zh-CN">
                <a:latin typeface="Arial" panose="020B0604020202020204" pitchFamily="34" charset="0"/>
              </a:rPr>
              <a:pPr eaLnBrk="1" hangingPunct="1"/>
              <a:t>23</a:t>
            </a:fld>
            <a:endParaRPr lang="en-US" altLang="zh-CN">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a:extLst>
              <a:ext uri="{FF2B5EF4-FFF2-40B4-BE49-F238E27FC236}">
                <a16:creationId xmlns:a16="http://schemas.microsoft.com/office/drawing/2014/main" id="{05045765-BBC1-5890-F1A5-9698E301D039}"/>
              </a:ext>
            </a:extLst>
          </p:cNvPr>
          <p:cNvSpPr>
            <a:spLocks noGrp="1" noRot="1" noChangeAspect="1" noTextEdit="1"/>
          </p:cNvSpPr>
          <p:nvPr>
            <p:ph type="sldImg"/>
          </p:nvPr>
        </p:nvSpPr>
        <p:spPr>
          <a:ln/>
        </p:spPr>
      </p:sp>
      <p:sp>
        <p:nvSpPr>
          <p:cNvPr id="100355" name="备注占位符 2">
            <a:extLst>
              <a:ext uri="{FF2B5EF4-FFF2-40B4-BE49-F238E27FC236}">
                <a16:creationId xmlns:a16="http://schemas.microsoft.com/office/drawing/2014/main" id="{4B2C67A1-9383-5EC6-8279-2B95CD9FC7D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zh-CN" altLang="en-US" b="1">
                <a:latin typeface="微软雅黑" panose="020B0503020204020204" pitchFamily="34" charset="-122"/>
                <a:ea typeface="微软雅黑" panose="020B0503020204020204" pitchFamily="34" charset="-122"/>
                <a:cs typeface="Times New Roman" panose="02020603050405020304" pitchFamily="18" charset="0"/>
              </a:rPr>
              <a:t>当相邻码元的极性</a:t>
            </a:r>
            <a:r>
              <a:rPr kumimoji="1" lang="zh-CN" altLang="en-US" b="1">
                <a:solidFill>
                  <a:srgbClr val="0000CC"/>
                </a:solidFill>
                <a:latin typeface="微软雅黑" panose="020B0503020204020204" pitchFamily="34" charset="-122"/>
                <a:ea typeface="微软雅黑" panose="020B0503020204020204" pitchFamily="34" charset="-122"/>
                <a:cs typeface="Times New Roman" panose="02020603050405020304" pitchFamily="18" charset="0"/>
              </a:rPr>
              <a:t>无</a:t>
            </a:r>
            <a:r>
              <a:rPr kumimoji="1" lang="zh-CN" altLang="en-US" b="1">
                <a:latin typeface="微软雅黑" panose="020B0503020204020204" pitchFamily="34" charset="-122"/>
                <a:ea typeface="微软雅黑" panose="020B0503020204020204" pitchFamily="34" charset="-122"/>
                <a:cs typeface="Times New Roman" panose="02020603050405020304" pitchFamily="18" charset="0"/>
              </a:rPr>
              <a:t>交变时</a:t>
            </a:r>
            <a:endParaRPr lang="zh-CN" altLang="en-US">
              <a:latin typeface="Arial" panose="020B0604020202020204" pitchFamily="34" charset="0"/>
              <a:ea typeface="微软雅黑" panose="020B0503020204020204" pitchFamily="34" charset="-122"/>
              <a:cs typeface="Times New Roman" panose="02020603050405020304" pitchFamily="18" charset="0"/>
            </a:endParaRPr>
          </a:p>
        </p:txBody>
      </p:sp>
      <p:sp>
        <p:nvSpPr>
          <p:cNvPr id="100356" name="灯片编号占位符 3">
            <a:extLst>
              <a:ext uri="{FF2B5EF4-FFF2-40B4-BE49-F238E27FC236}">
                <a16:creationId xmlns:a16="http://schemas.microsoft.com/office/drawing/2014/main" id="{3EE5BA8F-0869-41F0-9930-F21A0124668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FE743CA3-2D5F-4026-8BBF-7A8B0C76C0DC}" type="slidenum">
              <a:rPr lang="en-US" altLang="zh-CN">
                <a:latin typeface="Arial" panose="020B0604020202020204" pitchFamily="34" charset="0"/>
              </a:rPr>
              <a:pPr eaLnBrk="1" hangingPunct="1"/>
              <a:t>34</a:t>
            </a:fld>
            <a:endParaRPr lang="en-US" altLang="zh-CN">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a:extLst>
              <a:ext uri="{FF2B5EF4-FFF2-40B4-BE49-F238E27FC236}">
                <a16:creationId xmlns:a16="http://schemas.microsoft.com/office/drawing/2014/main" id="{28A4D1BF-BCC1-2436-F19D-0CB1A750C1A3}"/>
              </a:ext>
            </a:extLst>
          </p:cNvPr>
          <p:cNvSpPr>
            <a:spLocks noGrp="1" noRot="1" noChangeAspect="1" noTextEdit="1"/>
          </p:cNvSpPr>
          <p:nvPr>
            <p:ph type="sldImg"/>
          </p:nvPr>
        </p:nvSpPr>
        <p:spPr>
          <a:ln/>
        </p:spPr>
      </p:sp>
      <p:sp>
        <p:nvSpPr>
          <p:cNvPr id="101379" name="备注占位符 2">
            <a:extLst>
              <a:ext uri="{FF2B5EF4-FFF2-40B4-BE49-F238E27FC236}">
                <a16:creationId xmlns:a16="http://schemas.microsoft.com/office/drawing/2014/main" id="{58878DB2-A5A2-8D95-8B75-34F0F48AA6B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zh-CN" altLang="en-US" b="1">
                <a:latin typeface="微软雅黑" panose="020B0503020204020204" pitchFamily="34" charset="-122"/>
                <a:ea typeface="微软雅黑" panose="020B0503020204020204" pitchFamily="34" charset="-122"/>
                <a:cs typeface="Times New Roman" panose="02020603050405020304" pitchFamily="18" charset="0"/>
              </a:rPr>
              <a:t>当相邻码元的极性</a:t>
            </a:r>
            <a:r>
              <a:rPr kumimoji="1" lang="zh-CN" altLang="en-US" b="1">
                <a:solidFill>
                  <a:srgbClr val="0000CC"/>
                </a:solidFill>
                <a:latin typeface="微软雅黑" panose="020B0503020204020204" pitchFamily="34" charset="-122"/>
                <a:ea typeface="微软雅黑" panose="020B0503020204020204" pitchFamily="34" charset="-122"/>
                <a:cs typeface="Times New Roman" panose="02020603050405020304" pitchFamily="18" charset="0"/>
              </a:rPr>
              <a:t>无</a:t>
            </a:r>
            <a:r>
              <a:rPr kumimoji="1" lang="zh-CN" altLang="en-US" b="1">
                <a:latin typeface="微软雅黑" panose="020B0503020204020204" pitchFamily="34" charset="-122"/>
                <a:ea typeface="微软雅黑" panose="020B0503020204020204" pitchFamily="34" charset="-122"/>
                <a:cs typeface="Times New Roman" panose="02020603050405020304" pitchFamily="18" charset="0"/>
              </a:rPr>
              <a:t>交变时</a:t>
            </a:r>
            <a:endParaRPr lang="zh-CN" altLang="en-US">
              <a:latin typeface="Arial" panose="020B0604020202020204" pitchFamily="34" charset="0"/>
              <a:ea typeface="微软雅黑" panose="020B0503020204020204" pitchFamily="34" charset="-122"/>
              <a:cs typeface="Times New Roman" panose="02020603050405020304" pitchFamily="18" charset="0"/>
            </a:endParaRPr>
          </a:p>
        </p:txBody>
      </p:sp>
      <p:sp>
        <p:nvSpPr>
          <p:cNvPr id="101380" name="灯片编号占位符 3">
            <a:extLst>
              <a:ext uri="{FF2B5EF4-FFF2-40B4-BE49-F238E27FC236}">
                <a16:creationId xmlns:a16="http://schemas.microsoft.com/office/drawing/2014/main" id="{663429D2-99A2-0B11-D03C-C56F684A8CC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ADB0E63A-5692-4450-B132-66E091529DDE}" type="slidenum">
              <a:rPr lang="en-US" altLang="zh-CN">
                <a:latin typeface="Arial" panose="020B0604020202020204" pitchFamily="34" charset="0"/>
              </a:rPr>
              <a:pPr eaLnBrk="1" hangingPunct="1"/>
              <a:t>35</a:t>
            </a:fld>
            <a:endParaRPr lang="en-US" altLang="zh-CN">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a:extLst>
              <a:ext uri="{FF2B5EF4-FFF2-40B4-BE49-F238E27FC236}">
                <a16:creationId xmlns:a16="http://schemas.microsoft.com/office/drawing/2014/main" id="{9F07D33C-71D1-5400-53E8-00D0396B4A56}"/>
              </a:ext>
            </a:extLst>
          </p:cNvPr>
          <p:cNvSpPr>
            <a:spLocks noGrp="1" noRot="1" noChangeAspect="1" noTextEdit="1"/>
          </p:cNvSpPr>
          <p:nvPr>
            <p:ph type="sldImg"/>
          </p:nvPr>
        </p:nvSpPr>
        <p:spPr>
          <a:ln/>
        </p:spPr>
      </p:sp>
      <p:sp>
        <p:nvSpPr>
          <p:cNvPr id="102403" name="备注占位符 2">
            <a:extLst>
              <a:ext uri="{FF2B5EF4-FFF2-40B4-BE49-F238E27FC236}">
                <a16:creationId xmlns:a16="http://schemas.microsoft.com/office/drawing/2014/main" id="{521A05DA-D3B9-CCBF-BFEB-C1EBB4AA13F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zh-CN" altLang="en-US" b="1">
                <a:latin typeface="微软雅黑" panose="020B0503020204020204" pitchFamily="34" charset="-122"/>
                <a:ea typeface="微软雅黑" panose="020B0503020204020204" pitchFamily="34" charset="-122"/>
                <a:cs typeface="Times New Roman" panose="02020603050405020304" pitchFamily="18" charset="0"/>
              </a:rPr>
              <a:t>当相邻码元的极性</a:t>
            </a:r>
            <a:r>
              <a:rPr kumimoji="1" lang="zh-CN" altLang="en-US" b="1">
                <a:solidFill>
                  <a:srgbClr val="0000CC"/>
                </a:solidFill>
                <a:latin typeface="微软雅黑" panose="020B0503020204020204" pitchFamily="34" charset="-122"/>
                <a:ea typeface="微软雅黑" panose="020B0503020204020204" pitchFamily="34" charset="-122"/>
                <a:cs typeface="Times New Roman" panose="02020603050405020304" pitchFamily="18" charset="0"/>
              </a:rPr>
              <a:t>无</a:t>
            </a:r>
            <a:r>
              <a:rPr kumimoji="1" lang="zh-CN" altLang="en-US" b="1">
                <a:latin typeface="微软雅黑" panose="020B0503020204020204" pitchFamily="34" charset="-122"/>
                <a:ea typeface="微软雅黑" panose="020B0503020204020204" pitchFamily="34" charset="-122"/>
                <a:cs typeface="Times New Roman" panose="02020603050405020304" pitchFamily="18" charset="0"/>
              </a:rPr>
              <a:t>交变时</a:t>
            </a:r>
            <a:endParaRPr lang="zh-CN" altLang="en-US">
              <a:latin typeface="Arial" panose="020B0604020202020204" pitchFamily="34" charset="0"/>
              <a:ea typeface="微软雅黑" panose="020B0503020204020204" pitchFamily="34" charset="-122"/>
              <a:cs typeface="Times New Roman" panose="02020603050405020304" pitchFamily="18" charset="0"/>
            </a:endParaRPr>
          </a:p>
        </p:txBody>
      </p:sp>
      <p:sp>
        <p:nvSpPr>
          <p:cNvPr id="102404" name="灯片编号占位符 3">
            <a:extLst>
              <a:ext uri="{FF2B5EF4-FFF2-40B4-BE49-F238E27FC236}">
                <a16:creationId xmlns:a16="http://schemas.microsoft.com/office/drawing/2014/main" id="{A880F31F-F16A-E359-60AD-83F347C7CCB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724AA61-4C17-4096-9DB3-05F67F2E2A72}" type="slidenum">
              <a:rPr lang="en-US" altLang="zh-CN">
                <a:latin typeface="Arial" panose="020B0604020202020204" pitchFamily="34" charset="0"/>
              </a:rPr>
              <a:pPr eaLnBrk="1" hangingPunct="1"/>
              <a:t>36</a:t>
            </a:fld>
            <a:endParaRPr lang="en-US" altLang="zh-CN">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a:extLst>
              <a:ext uri="{FF2B5EF4-FFF2-40B4-BE49-F238E27FC236}">
                <a16:creationId xmlns:a16="http://schemas.microsoft.com/office/drawing/2014/main" id="{7C2C8717-04B6-3FDB-7539-82A69BC482DB}"/>
              </a:ext>
            </a:extLst>
          </p:cNvPr>
          <p:cNvSpPr>
            <a:spLocks noGrp="1" noRot="1" noChangeAspect="1" noTextEdit="1"/>
          </p:cNvSpPr>
          <p:nvPr>
            <p:ph type="sldImg"/>
          </p:nvPr>
        </p:nvSpPr>
        <p:spPr>
          <a:ln/>
        </p:spPr>
      </p:sp>
      <p:sp>
        <p:nvSpPr>
          <p:cNvPr id="103427" name="备注占位符 2">
            <a:extLst>
              <a:ext uri="{FF2B5EF4-FFF2-40B4-BE49-F238E27FC236}">
                <a16:creationId xmlns:a16="http://schemas.microsoft.com/office/drawing/2014/main" id="{F70AA460-A087-51A0-DE0C-53535890F02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solidFill>
                  <a:srgbClr val="000000"/>
                </a:solidFill>
                <a:latin typeface="Arial" panose="020B0604020202020204" pitchFamily="34" charset="0"/>
              </a:rPr>
              <a:t>实际通信情况中，在巴克码前后有其他码元存在。但是，若假设信号码元的出现是等概率的，则相当于在巴克码前后的码元取值平均为</a:t>
            </a:r>
            <a:r>
              <a:rPr lang="en-US" altLang="zh-CN">
                <a:solidFill>
                  <a:srgbClr val="000000"/>
                </a:solidFill>
                <a:latin typeface="Arial" panose="020B0604020202020204" pitchFamily="34" charset="0"/>
              </a:rPr>
              <a:t>0</a:t>
            </a:r>
            <a:r>
              <a:rPr lang="zh-CN" altLang="en-US">
                <a:solidFill>
                  <a:srgbClr val="000000"/>
                </a:solidFill>
                <a:latin typeface="Arial" panose="020B0604020202020204" pitchFamily="34" charset="0"/>
              </a:rPr>
              <a:t>。所以平均而言，计算巴克码的局部自相关函数的结果，近似地符合在实际通信情况中计算全部自相关函数的结果。</a:t>
            </a:r>
            <a:endParaRPr lang="zh-CN" altLang="en-US">
              <a:latin typeface="Arial" panose="020B0604020202020204" pitchFamily="34" charset="0"/>
            </a:endParaRPr>
          </a:p>
          <a:p>
            <a:endParaRPr lang="zh-CN" altLang="en-US">
              <a:latin typeface="Arial" panose="020B0604020202020204" pitchFamily="34" charset="0"/>
            </a:endParaRPr>
          </a:p>
        </p:txBody>
      </p:sp>
      <p:sp>
        <p:nvSpPr>
          <p:cNvPr id="103428" name="灯片编号占位符 3">
            <a:extLst>
              <a:ext uri="{FF2B5EF4-FFF2-40B4-BE49-F238E27FC236}">
                <a16:creationId xmlns:a16="http://schemas.microsoft.com/office/drawing/2014/main" id="{F4413D77-1F4E-AA67-3A3C-A9C4C0087F0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3171161A-BA25-46F4-88D2-157316020190}" type="slidenum">
              <a:rPr lang="en-US" altLang="zh-CN">
                <a:latin typeface="Arial" panose="020B0604020202020204" pitchFamily="34" charset="0"/>
              </a:rPr>
              <a:pPr eaLnBrk="1" hangingPunct="1"/>
              <a:t>46</a:t>
            </a:fld>
            <a:endParaRPr lang="en-US" altLang="zh-CN">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a:extLst>
              <a:ext uri="{FF2B5EF4-FFF2-40B4-BE49-F238E27FC236}">
                <a16:creationId xmlns:a16="http://schemas.microsoft.com/office/drawing/2014/main" id="{DC5D18C8-DB47-CB9B-6D69-E5FAAEC513FA}"/>
              </a:ext>
            </a:extLst>
          </p:cNvPr>
          <p:cNvSpPr>
            <a:spLocks noGrp="1" noRot="1" noChangeAspect="1" noTextEdit="1"/>
          </p:cNvSpPr>
          <p:nvPr>
            <p:ph type="sldImg"/>
          </p:nvPr>
        </p:nvSpPr>
        <p:spPr>
          <a:ln/>
        </p:spPr>
      </p:sp>
      <p:sp>
        <p:nvSpPr>
          <p:cNvPr id="3" name="备注占位符 2">
            <a:extLst>
              <a:ext uri="{FF2B5EF4-FFF2-40B4-BE49-F238E27FC236}">
                <a16:creationId xmlns:a16="http://schemas.microsoft.com/office/drawing/2014/main" id="{C86A41E1-ECB0-70BB-BC74-427E318F6C72}"/>
              </a:ext>
            </a:extLst>
          </p:cNvPr>
          <p:cNvSpPr>
            <a:spLocks noGrp="1"/>
          </p:cNvSpPr>
          <p:nvPr>
            <p:ph type="body" idx="1"/>
          </p:nvPr>
        </p:nvSpPr>
        <p:spPr/>
        <p:txBody>
          <a:bodyPr>
            <a:normAutofit/>
          </a:bodyPr>
          <a:lstStyle/>
          <a:p>
            <a:pPr>
              <a:defRPr/>
            </a:pPr>
            <a:r>
              <a:rPr lang="zh-CN" altLang="en-US" dirty="0"/>
              <a:t>面向字符的同步方式，</a:t>
            </a:r>
            <a:r>
              <a:rPr lang="zh-CN" altLang="en-US" dirty="0">
                <a:effectLst>
                  <a:outerShdw blurRad="38100" dist="38100" dir="2700000" algn="tl">
                    <a:srgbClr val="000000">
                      <a:alpha val="43137"/>
                    </a:srgbClr>
                  </a:outerShdw>
                </a:effectLst>
                <a:latin typeface="微软雅黑" pitchFamily="34" charset="-122"/>
                <a:ea typeface="微软雅黑" pitchFamily="34" charset="-122"/>
              </a:rPr>
              <a:t>属于“异步通信”。</a:t>
            </a:r>
            <a:r>
              <a:rPr lang="zh-CN" altLang="en-US" dirty="0"/>
              <a:t>“异步通信”是一种很常用的通信方式。</a:t>
            </a:r>
            <a:br>
              <a:rPr lang="en-US" altLang="zh-CN" dirty="0"/>
            </a:br>
            <a:r>
              <a:rPr lang="en-US" altLang="zh-CN" dirty="0"/>
              <a:t>   </a:t>
            </a:r>
            <a:r>
              <a:rPr lang="zh-CN" altLang="en-US" dirty="0"/>
              <a:t>发送端可以在任意时刻开始发送字符，因此必须在每一个字符的开始和结束的地方加上标志，即加上</a:t>
            </a:r>
            <a:r>
              <a:rPr lang="zh-CN" altLang="en-US" b="1" dirty="0"/>
              <a:t>开始位</a:t>
            </a:r>
            <a:r>
              <a:rPr lang="zh-CN" altLang="en-US" dirty="0"/>
              <a:t>和</a:t>
            </a:r>
            <a:r>
              <a:rPr lang="zh-CN" altLang="en-US" b="1" dirty="0"/>
              <a:t>停止位</a:t>
            </a:r>
            <a:r>
              <a:rPr lang="zh-CN" altLang="en-US" dirty="0"/>
              <a:t>，以便使接收端能够正确地将每一个字符接收下来。</a:t>
            </a:r>
            <a:endParaRPr lang="zh-CN" altLang="en-US" dirty="0">
              <a:effectLst>
                <a:outerShdw blurRad="38100" dist="38100" dir="2700000" algn="tl">
                  <a:srgbClr val="000000">
                    <a:alpha val="43137"/>
                  </a:srgbClr>
                </a:outerShdw>
              </a:effectLst>
              <a:latin typeface="微软雅黑" pitchFamily="34" charset="-122"/>
              <a:ea typeface="微软雅黑" pitchFamily="34" charset="-122"/>
            </a:endParaRPr>
          </a:p>
          <a:p>
            <a:pPr>
              <a:defRPr/>
            </a:pPr>
            <a:endParaRPr lang="zh-CN" altLang="en-US" dirty="0"/>
          </a:p>
        </p:txBody>
      </p:sp>
      <p:sp>
        <p:nvSpPr>
          <p:cNvPr id="104452" name="灯片编号占位符 3">
            <a:extLst>
              <a:ext uri="{FF2B5EF4-FFF2-40B4-BE49-F238E27FC236}">
                <a16:creationId xmlns:a16="http://schemas.microsoft.com/office/drawing/2014/main" id="{6C481AAA-9FC5-3019-70DB-BDC5D33299E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31654DD-0EB0-46E8-ADDD-E0C9F50E79CB}" type="slidenum">
              <a:rPr lang="en-US" altLang="zh-CN">
                <a:latin typeface="Arial" panose="020B0604020202020204" pitchFamily="34" charset="0"/>
              </a:rPr>
              <a:pPr eaLnBrk="1" hangingPunct="1"/>
              <a:t>56</a:t>
            </a:fld>
            <a:endParaRPr lang="en-US" altLang="zh-CN">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a:extLst>
              <a:ext uri="{FF2B5EF4-FFF2-40B4-BE49-F238E27FC236}">
                <a16:creationId xmlns:a16="http://schemas.microsoft.com/office/drawing/2014/main" id="{383506ED-A614-8857-D444-EE19FDAC4F30}"/>
              </a:ext>
            </a:extLst>
          </p:cNvPr>
          <p:cNvSpPr>
            <a:spLocks noGrp="1" noRot="1" noChangeAspect="1" noTextEdit="1"/>
          </p:cNvSpPr>
          <p:nvPr>
            <p:ph type="sldImg"/>
          </p:nvPr>
        </p:nvSpPr>
        <p:spPr>
          <a:ln/>
        </p:spPr>
      </p:sp>
      <p:sp>
        <p:nvSpPr>
          <p:cNvPr id="3" name="备注占位符 2">
            <a:extLst>
              <a:ext uri="{FF2B5EF4-FFF2-40B4-BE49-F238E27FC236}">
                <a16:creationId xmlns:a16="http://schemas.microsoft.com/office/drawing/2014/main" id="{BD1EB7CE-0A65-8E2E-3397-8B12761D3DA9}"/>
              </a:ext>
            </a:extLst>
          </p:cNvPr>
          <p:cNvSpPr>
            <a:spLocks noGrp="1"/>
          </p:cNvSpPr>
          <p:nvPr>
            <p:ph type="body" idx="1"/>
          </p:nvPr>
        </p:nvSpPr>
        <p:spPr/>
        <p:txBody>
          <a:bodyPr>
            <a:normAutofit/>
          </a:bodyPr>
          <a:lstStyle/>
          <a:p>
            <a:pPr>
              <a:defRPr/>
            </a:pPr>
            <a:r>
              <a:rPr lang="zh-CN" altLang="en-US" kern="0" dirty="0">
                <a:solidFill>
                  <a:srgbClr val="000000"/>
                </a:solidFill>
                <a:latin typeface="微软雅黑" pitchFamily="34" charset="-122"/>
                <a:ea typeface="微软雅黑" pitchFamily="34" charset="-122"/>
              </a:rPr>
              <a:t>由其构成的序列在接收时若丢失了开头的一个或几个码元</a:t>
            </a:r>
            <a:endParaRPr lang="zh-CN" altLang="en-US" dirty="0"/>
          </a:p>
        </p:txBody>
      </p:sp>
      <p:sp>
        <p:nvSpPr>
          <p:cNvPr id="105476" name="灯片编号占位符 3">
            <a:extLst>
              <a:ext uri="{FF2B5EF4-FFF2-40B4-BE49-F238E27FC236}">
                <a16:creationId xmlns:a16="http://schemas.microsoft.com/office/drawing/2014/main" id="{3CF251D0-615D-2EB7-B41D-D96BD193E03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D1E511AE-35A3-40EE-82F6-85C2F4A1246B}" type="slidenum">
              <a:rPr lang="en-US" altLang="zh-CN">
                <a:latin typeface="Arial" panose="020B0604020202020204" pitchFamily="34" charset="0"/>
              </a:rPr>
              <a:pPr eaLnBrk="1" hangingPunct="1"/>
              <a:t>59</a:t>
            </a:fld>
            <a:endParaRPr lang="en-US" altLang="zh-CN">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11">
            <a:extLst>
              <a:ext uri="{FF2B5EF4-FFF2-40B4-BE49-F238E27FC236}">
                <a16:creationId xmlns:a16="http://schemas.microsoft.com/office/drawing/2014/main" id="{670AC152-EE41-7A9B-BADE-F58F7AEF96C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CD7965BA-0AFC-690A-9B4E-8040974198C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D06E0E41-8686-8F35-32B0-DCA1FFD72E3F}"/>
              </a:ext>
            </a:extLst>
          </p:cNvPr>
          <p:cNvSpPr>
            <a:spLocks noGrp="1" noChangeArrowheads="1"/>
          </p:cNvSpPr>
          <p:nvPr>
            <p:ph type="sldNum" sz="quarter" idx="12"/>
          </p:nvPr>
        </p:nvSpPr>
        <p:spPr>
          <a:ln/>
        </p:spPr>
        <p:txBody>
          <a:bodyPr/>
          <a:lstStyle>
            <a:lvl1pPr>
              <a:defRPr/>
            </a:lvl1pPr>
          </a:lstStyle>
          <a:p>
            <a:fld id="{BA72DCB6-17A3-4AA9-B9F9-D66C96157BD4}" type="slidenum">
              <a:rPr lang="en-US" altLang="zh-CN"/>
              <a:pPr/>
              <a:t>‹#›</a:t>
            </a:fld>
            <a:endParaRPr lang="en-US" altLang="zh-CN"/>
          </a:p>
        </p:txBody>
      </p:sp>
    </p:spTree>
    <p:extLst>
      <p:ext uri="{BB962C8B-B14F-4D97-AF65-F5344CB8AC3E}">
        <p14:creationId xmlns:p14="http://schemas.microsoft.com/office/powerpoint/2010/main" val="3606060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919162"/>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927100" y="1268413"/>
            <a:ext cx="8042275" cy="5221287"/>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8AF63366-911B-E809-90E9-D45E0A593C6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70F3C388-EA9D-88AC-E2FE-C0308AF64B0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8BC6BFB2-ABCE-1D21-01BD-00E80967FEAA}"/>
              </a:ext>
            </a:extLst>
          </p:cNvPr>
          <p:cNvSpPr>
            <a:spLocks noGrp="1" noChangeArrowheads="1"/>
          </p:cNvSpPr>
          <p:nvPr>
            <p:ph type="sldNum" sz="quarter" idx="12"/>
          </p:nvPr>
        </p:nvSpPr>
        <p:spPr>
          <a:ln/>
        </p:spPr>
        <p:txBody>
          <a:bodyPr/>
          <a:lstStyle>
            <a:lvl1pPr>
              <a:defRPr/>
            </a:lvl1pPr>
          </a:lstStyle>
          <a:p>
            <a:fld id="{9A03805D-7AF9-4A27-9077-176FCEB1961B}" type="slidenum">
              <a:rPr lang="en-US" altLang="zh-CN"/>
              <a:pPr/>
              <a:t>‹#›</a:t>
            </a:fld>
            <a:endParaRPr lang="en-US" altLang="zh-CN"/>
          </a:p>
        </p:txBody>
      </p:sp>
    </p:spTree>
    <p:extLst>
      <p:ext uri="{BB962C8B-B14F-4D97-AF65-F5344CB8AC3E}">
        <p14:creationId xmlns:p14="http://schemas.microsoft.com/office/powerpoint/2010/main" val="997394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1">
            <a:extLst>
              <a:ext uri="{FF2B5EF4-FFF2-40B4-BE49-F238E27FC236}">
                <a16:creationId xmlns:a16="http://schemas.microsoft.com/office/drawing/2014/main" id="{C409BC2E-B29A-D548-CA30-55FEE44EC47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6C1EFAD2-9CD9-D2A7-960B-C99A39CA86E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320F5B06-A940-7223-96DB-F93757CBE650}"/>
              </a:ext>
            </a:extLst>
          </p:cNvPr>
          <p:cNvSpPr>
            <a:spLocks noGrp="1" noChangeArrowheads="1"/>
          </p:cNvSpPr>
          <p:nvPr>
            <p:ph type="sldNum" sz="quarter" idx="12"/>
          </p:nvPr>
        </p:nvSpPr>
        <p:spPr>
          <a:ln/>
        </p:spPr>
        <p:txBody>
          <a:bodyPr/>
          <a:lstStyle>
            <a:lvl1pPr>
              <a:defRPr/>
            </a:lvl1pPr>
          </a:lstStyle>
          <a:p>
            <a:fld id="{3DFDF1E1-8B61-44F4-8D59-1EF5278C5FCA}" type="slidenum">
              <a:rPr lang="en-US" altLang="zh-CN"/>
              <a:pPr/>
              <a:t>‹#›</a:t>
            </a:fld>
            <a:endParaRPr lang="en-US" altLang="zh-CN"/>
          </a:p>
        </p:txBody>
      </p:sp>
    </p:spTree>
    <p:extLst>
      <p:ext uri="{BB962C8B-B14F-4D97-AF65-F5344CB8AC3E}">
        <p14:creationId xmlns:p14="http://schemas.microsoft.com/office/powerpoint/2010/main" val="1312423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919162"/>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927100" y="1268413"/>
            <a:ext cx="3944938" cy="522128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024438" y="1268413"/>
            <a:ext cx="3944937" cy="522128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a:extLst>
              <a:ext uri="{FF2B5EF4-FFF2-40B4-BE49-F238E27FC236}">
                <a16:creationId xmlns:a16="http://schemas.microsoft.com/office/drawing/2014/main" id="{7BB44EBC-7CE8-9225-D452-40D4EC14DDD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1D49ED34-2217-F98A-4AB4-3004F302CEE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B32A5C1B-F805-5690-5864-C8381BE0B741}"/>
              </a:ext>
            </a:extLst>
          </p:cNvPr>
          <p:cNvSpPr>
            <a:spLocks noGrp="1" noChangeArrowheads="1"/>
          </p:cNvSpPr>
          <p:nvPr>
            <p:ph type="sldNum" sz="quarter" idx="12"/>
          </p:nvPr>
        </p:nvSpPr>
        <p:spPr>
          <a:ln/>
        </p:spPr>
        <p:txBody>
          <a:bodyPr/>
          <a:lstStyle>
            <a:lvl1pPr>
              <a:defRPr/>
            </a:lvl1pPr>
          </a:lstStyle>
          <a:p>
            <a:fld id="{8C0155DF-22DC-4CEC-BAA5-D95821D19372}" type="slidenum">
              <a:rPr lang="en-US" altLang="zh-CN"/>
              <a:pPr/>
              <a:t>‹#›</a:t>
            </a:fld>
            <a:endParaRPr lang="en-US" altLang="zh-CN"/>
          </a:p>
        </p:txBody>
      </p:sp>
    </p:spTree>
    <p:extLst>
      <p:ext uri="{BB962C8B-B14F-4D97-AF65-F5344CB8AC3E}">
        <p14:creationId xmlns:p14="http://schemas.microsoft.com/office/powerpoint/2010/main" val="1089888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a:extLst>
              <a:ext uri="{FF2B5EF4-FFF2-40B4-BE49-F238E27FC236}">
                <a16:creationId xmlns:a16="http://schemas.microsoft.com/office/drawing/2014/main" id="{3B95E165-B638-00FB-D12F-00693CF628E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2">
            <a:extLst>
              <a:ext uri="{FF2B5EF4-FFF2-40B4-BE49-F238E27FC236}">
                <a16:creationId xmlns:a16="http://schemas.microsoft.com/office/drawing/2014/main" id="{4DC330E5-718B-A027-0949-BED7340E86F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13">
            <a:extLst>
              <a:ext uri="{FF2B5EF4-FFF2-40B4-BE49-F238E27FC236}">
                <a16:creationId xmlns:a16="http://schemas.microsoft.com/office/drawing/2014/main" id="{B239AB96-B2FD-1E00-D03D-75EF604A17A9}"/>
              </a:ext>
            </a:extLst>
          </p:cNvPr>
          <p:cNvSpPr>
            <a:spLocks noGrp="1" noChangeArrowheads="1"/>
          </p:cNvSpPr>
          <p:nvPr>
            <p:ph type="sldNum" sz="quarter" idx="12"/>
          </p:nvPr>
        </p:nvSpPr>
        <p:spPr>
          <a:ln/>
        </p:spPr>
        <p:txBody>
          <a:bodyPr/>
          <a:lstStyle>
            <a:lvl1pPr>
              <a:defRPr/>
            </a:lvl1pPr>
          </a:lstStyle>
          <a:p>
            <a:fld id="{42BF34FE-CAB5-4D4D-B528-C0DA2BF53BEE}" type="slidenum">
              <a:rPr lang="en-US" altLang="zh-CN"/>
              <a:pPr/>
              <a:t>‹#›</a:t>
            </a:fld>
            <a:endParaRPr lang="en-US" altLang="zh-CN"/>
          </a:p>
        </p:txBody>
      </p:sp>
    </p:spTree>
    <p:extLst>
      <p:ext uri="{BB962C8B-B14F-4D97-AF65-F5344CB8AC3E}">
        <p14:creationId xmlns:p14="http://schemas.microsoft.com/office/powerpoint/2010/main" val="595480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919162"/>
          </a:xfrm>
          <a:prstGeom prst="rect">
            <a:avLst/>
          </a:prstGeom>
        </p:spPr>
        <p:txBody>
          <a:bodyPr/>
          <a:lstStyle/>
          <a:p>
            <a:r>
              <a:rPr lang="zh-CN" altLang="en-US"/>
              <a:t>单击此处编辑母版标题样式</a:t>
            </a:r>
          </a:p>
        </p:txBody>
      </p:sp>
      <p:sp>
        <p:nvSpPr>
          <p:cNvPr id="3" name="Rectangle 11">
            <a:extLst>
              <a:ext uri="{FF2B5EF4-FFF2-40B4-BE49-F238E27FC236}">
                <a16:creationId xmlns:a16="http://schemas.microsoft.com/office/drawing/2014/main" id="{B543634A-0B02-4764-D341-982F2EEDC10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2">
            <a:extLst>
              <a:ext uri="{FF2B5EF4-FFF2-40B4-BE49-F238E27FC236}">
                <a16:creationId xmlns:a16="http://schemas.microsoft.com/office/drawing/2014/main" id="{C9798A03-46CE-09F0-EB5D-DD7CBAD07E9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3">
            <a:extLst>
              <a:ext uri="{FF2B5EF4-FFF2-40B4-BE49-F238E27FC236}">
                <a16:creationId xmlns:a16="http://schemas.microsoft.com/office/drawing/2014/main" id="{B5C4EF75-14CC-99A6-4B63-4B71B633A320}"/>
              </a:ext>
            </a:extLst>
          </p:cNvPr>
          <p:cNvSpPr>
            <a:spLocks noGrp="1" noChangeArrowheads="1"/>
          </p:cNvSpPr>
          <p:nvPr>
            <p:ph type="sldNum" sz="quarter" idx="12"/>
          </p:nvPr>
        </p:nvSpPr>
        <p:spPr>
          <a:ln/>
        </p:spPr>
        <p:txBody>
          <a:bodyPr/>
          <a:lstStyle>
            <a:lvl1pPr>
              <a:defRPr/>
            </a:lvl1pPr>
          </a:lstStyle>
          <a:p>
            <a:fld id="{670638C8-39AD-4E73-9D0F-76002E2E8218}" type="slidenum">
              <a:rPr lang="en-US" altLang="zh-CN"/>
              <a:pPr/>
              <a:t>‹#›</a:t>
            </a:fld>
            <a:endParaRPr lang="en-US" altLang="zh-CN"/>
          </a:p>
        </p:txBody>
      </p:sp>
    </p:spTree>
    <p:extLst>
      <p:ext uri="{BB962C8B-B14F-4D97-AF65-F5344CB8AC3E}">
        <p14:creationId xmlns:p14="http://schemas.microsoft.com/office/powerpoint/2010/main" val="1893707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7F4D86B8-3BF3-BA30-87CA-8EE039244AA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2">
            <a:extLst>
              <a:ext uri="{FF2B5EF4-FFF2-40B4-BE49-F238E27FC236}">
                <a16:creationId xmlns:a16="http://schemas.microsoft.com/office/drawing/2014/main" id="{F049FDED-AB62-169B-4078-3DB94C0194F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13">
            <a:extLst>
              <a:ext uri="{FF2B5EF4-FFF2-40B4-BE49-F238E27FC236}">
                <a16:creationId xmlns:a16="http://schemas.microsoft.com/office/drawing/2014/main" id="{72B696DE-3008-E6FA-BF25-C22FD7F9DD35}"/>
              </a:ext>
            </a:extLst>
          </p:cNvPr>
          <p:cNvSpPr>
            <a:spLocks noGrp="1" noChangeArrowheads="1"/>
          </p:cNvSpPr>
          <p:nvPr>
            <p:ph type="sldNum" sz="quarter" idx="12"/>
          </p:nvPr>
        </p:nvSpPr>
        <p:spPr>
          <a:ln/>
        </p:spPr>
        <p:txBody>
          <a:bodyPr/>
          <a:lstStyle>
            <a:lvl1pPr>
              <a:defRPr/>
            </a:lvl1pPr>
          </a:lstStyle>
          <a:p>
            <a:fld id="{A4548F85-D840-43FD-8D5F-326BCDF52F8D}" type="slidenum">
              <a:rPr lang="en-US" altLang="zh-CN"/>
              <a:pPr/>
              <a:t>‹#›</a:t>
            </a:fld>
            <a:endParaRPr lang="en-US" altLang="zh-CN"/>
          </a:p>
        </p:txBody>
      </p:sp>
    </p:spTree>
    <p:extLst>
      <p:ext uri="{BB962C8B-B14F-4D97-AF65-F5344CB8AC3E}">
        <p14:creationId xmlns:p14="http://schemas.microsoft.com/office/powerpoint/2010/main" val="3580242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a:extLst>
              <a:ext uri="{FF2B5EF4-FFF2-40B4-BE49-F238E27FC236}">
                <a16:creationId xmlns:a16="http://schemas.microsoft.com/office/drawing/2014/main" id="{4B5F2208-0167-FDD5-14CF-C50142D13A3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AF66B096-9B60-17F6-ACA2-952A62D2E8C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432194BB-F27B-06D6-F947-7BFA5D963B5F}"/>
              </a:ext>
            </a:extLst>
          </p:cNvPr>
          <p:cNvSpPr>
            <a:spLocks noGrp="1" noChangeArrowheads="1"/>
          </p:cNvSpPr>
          <p:nvPr>
            <p:ph type="sldNum" sz="quarter" idx="12"/>
          </p:nvPr>
        </p:nvSpPr>
        <p:spPr>
          <a:ln/>
        </p:spPr>
        <p:txBody>
          <a:bodyPr/>
          <a:lstStyle>
            <a:lvl1pPr>
              <a:defRPr/>
            </a:lvl1pPr>
          </a:lstStyle>
          <a:p>
            <a:fld id="{D904342F-6168-488C-9FDF-08F7C46F8801}" type="slidenum">
              <a:rPr lang="en-US" altLang="zh-CN"/>
              <a:pPr/>
              <a:t>‹#›</a:t>
            </a:fld>
            <a:endParaRPr lang="en-US" altLang="zh-CN"/>
          </a:p>
        </p:txBody>
      </p:sp>
    </p:spTree>
    <p:extLst>
      <p:ext uri="{BB962C8B-B14F-4D97-AF65-F5344CB8AC3E}">
        <p14:creationId xmlns:p14="http://schemas.microsoft.com/office/powerpoint/2010/main" val="2013504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a:extLst>
              <a:ext uri="{FF2B5EF4-FFF2-40B4-BE49-F238E27FC236}">
                <a16:creationId xmlns:a16="http://schemas.microsoft.com/office/drawing/2014/main" id="{FD0624A5-0D9C-B584-5FC4-4D9536F65CA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B94FE106-BD9A-2DE4-129A-9DF9FD6DB68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806F6B34-C214-7A18-3980-6EA7C1F47A77}"/>
              </a:ext>
            </a:extLst>
          </p:cNvPr>
          <p:cNvSpPr>
            <a:spLocks noGrp="1" noChangeArrowheads="1"/>
          </p:cNvSpPr>
          <p:nvPr>
            <p:ph type="sldNum" sz="quarter" idx="12"/>
          </p:nvPr>
        </p:nvSpPr>
        <p:spPr>
          <a:ln/>
        </p:spPr>
        <p:txBody>
          <a:bodyPr/>
          <a:lstStyle>
            <a:lvl1pPr>
              <a:defRPr/>
            </a:lvl1pPr>
          </a:lstStyle>
          <a:p>
            <a:fld id="{F14036CA-D2F5-44CD-BF42-97F9C68CC5FA}" type="slidenum">
              <a:rPr lang="en-US" altLang="zh-CN"/>
              <a:pPr/>
              <a:t>‹#›</a:t>
            </a:fld>
            <a:endParaRPr lang="en-US" altLang="zh-CN"/>
          </a:p>
        </p:txBody>
      </p:sp>
    </p:spTree>
    <p:extLst>
      <p:ext uri="{BB962C8B-B14F-4D97-AF65-F5344CB8AC3E}">
        <p14:creationId xmlns:p14="http://schemas.microsoft.com/office/powerpoint/2010/main" val="23649272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919162"/>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927100" y="1268413"/>
            <a:ext cx="8042275" cy="5221287"/>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F3AAF6E8-E414-339C-BBD3-D0F42CAB4D1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A4A01BF7-D065-378D-02C3-EBCA5539BA6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36E1D972-FE04-4787-7639-E58C0308CFC2}"/>
              </a:ext>
            </a:extLst>
          </p:cNvPr>
          <p:cNvSpPr>
            <a:spLocks noGrp="1" noChangeArrowheads="1"/>
          </p:cNvSpPr>
          <p:nvPr>
            <p:ph type="sldNum" sz="quarter" idx="12"/>
          </p:nvPr>
        </p:nvSpPr>
        <p:spPr>
          <a:ln/>
        </p:spPr>
        <p:txBody>
          <a:bodyPr/>
          <a:lstStyle>
            <a:lvl1pPr>
              <a:defRPr/>
            </a:lvl1pPr>
          </a:lstStyle>
          <a:p>
            <a:fld id="{A84457B3-3BF7-4B33-A4C2-163FA1A07D75}" type="slidenum">
              <a:rPr lang="en-US" altLang="zh-CN"/>
              <a:pPr/>
              <a:t>‹#›</a:t>
            </a:fld>
            <a:endParaRPr lang="en-US" altLang="zh-CN"/>
          </a:p>
        </p:txBody>
      </p:sp>
    </p:spTree>
    <p:extLst>
      <p:ext uri="{BB962C8B-B14F-4D97-AF65-F5344CB8AC3E}">
        <p14:creationId xmlns:p14="http://schemas.microsoft.com/office/powerpoint/2010/main" val="2499608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59600" y="214313"/>
            <a:ext cx="2009775" cy="62753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27100" y="214313"/>
            <a:ext cx="5880100" cy="6275387"/>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33DC9E95-F785-013C-A7F4-A41A3422F91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8CA8A8AE-6B1F-6559-7062-02D2D8698D2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8063C1EF-0FB5-5196-7E21-853329EE7363}"/>
              </a:ext>
            </a:extLst>
          </p:cNvPr>
          <p:cNvSpPr>
            <a:spLocks noGrp="1" noChangeArrowheads="1"/>
          </p:cNvSpPr>
          <p:nvPr>
            <p:ph type="sldNum" sz="quarter" idx="12"/>
          </p:nvPr>
        </p:nvSpPr>
        <p:spPr>
          <a:ln/>
        </p:spPr>
        <p:txBody>
          <a:bodyPr/>
          <a:lstStyle>
            <a:lvl1pPr>
              <a:defRPr/>
            </a:lvl1pPr>
          </a:lstStyle>
          <a:p>
            <a:fld id="{FB3D8EFD-1C32-4D00-92AC-EBE2536D834A}" type="slidenum">
              <a:rPr lang="en-US" altLang="zh-CN"/>
              <a:pPr/>
              <a:t>‹#›</a:t>
            </a:fld>
            <a:endParaRPr lang="en-US" altLang="zh-CN"/>
          </a:p>
        </p:txBody>
      </p:sp>
    </p:spTree>
    <p:extLst>
      <p:ext uri="{BB962C8B-B14F-4D97-AF65-F5344CB8AC3E}">
        <p14:creationId xmlns:p14="http://schemas.microsoft.com/office/powerpoint/2010/main" val="38829337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27088" y="115888"/>
            <a:ext cx="7793037" cy="911225"/>
          </a:xfrm>
          <a:prstGeom prst="rect">
            <a:avLst/>
          </a:prstGeom>
        </p:spPr>
        <p:txBody>
          <a:bodyPr/>
          <a:lstStyle/>
          <a:p>
            <a:r>
              <a:rPr lang="zh-CN" altLang="en-US"/>
              <a:t>单击此处编辑母版标题样式</a:t>
            </a:r>
          </a:p>
        </p:txBody>
      </p:sp>
      <p:sp>
        <p:nvSpPr>
          <p:cNvPr id="3" name="文本占位符 2"/>
          <p:cNvSpPr>
            <a:spLocks noGrp="1"/>
          </p:cNvSpPr>
          <p:nvPr>
            <p:ph type="body" sz="half" idx="1"/>
          </p:nvPr>
        </p:nvSpPr>
        <p:spPr>
          <a:xfrm>
            <a:off x="755650" y="1268413"/>
            <a:ext cx="3810000" cy="52578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18050" y="1268413"/>
            <a:ext cx="3810000" cy="52578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016922244"/>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28600"/>
            <a:ext cx="8240713" cy="606901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120C7D1A-CB4A-1347-F3B3-F9627BEE7E31}"/>
              </a:ext>
            </a:extLst>
          </p:cNvPr>
          <p:cNvSpPr>
            <a:spLocks noGrp="1" noChangeArrowheads="1"/>
          </p:cNvSpPr>
          <p:nvPr>
            <p:ph type="dt" sz="half" idx="10"/>
          </p:nvPr>
        </p:nvSpPr>
        <p:spPr>
          <a:xfrm>
            <a:off x="457200" y="6537325"/>
            <a:ext cx="2133600" cy="244475"/>
          </a:xfrm>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83CE1954-FC79-9395-8E9A-87A74896D1A8}"/>
              </a:ext>
            </a:extLst>
          </p:cNvPr>
          <p:cNvSpPr>
            <a:spLocks noGrp="1" noChangeArrowheads="1"/>
          </p:cNvSpPr>
          <p:nvPr>
            <p:ph type="ftr" sz="quarter" idx="11"/>
          </p:nvPr>
        </p:nvSpPr>
        <p:spPr>
          <a:xfrm>
            <a:off x="3124200" y="6537325"/>
            <a:ext cx="2895600" cy="244475"/>
          </a:xfrm>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4B04133A-810D-D8B0-62F6-6C4EE0246A81}"/>
              </a:ext>
            </a:extLst>
          </p:cNvPr>
          <p:cNvSpPr>
            <a:spLocks noGrp="1" noChangeArrowheads="1"/>
          </p:cNvSpPr>
          <p:nvPr>
            <p:ph type="sldNum" sz="quarter" idx="12"/>
          </p:nvPr>
        </p:nvSpPr>
        <p:spPr>
          <a:xfrm>
            <a:off x="6553200" y="6537325"/>
            <a:ext cx="2133600" cy="244475"/>
          </a:xfrm>
        </p:spPr>
        <p:txBody>
          <a:bodyPr/>
          <a:lstStyle>
            <a:lvl1pPr>
              <a:defRPr/>
            </a:lvl1pPr>
          </a:lstStyle>
          <a:p>
            <a:fld id="{53912F1A-B4A3-4D9F-B88C-8C38D6045AB2}" type="slidenum">
              <a:rPr lang="en-US" altLang="zh-CN"/>
              <a:pPr/>
              <a:t>‹#›</a:t>
            </a:fld>
            <a:endParaRPr lang="en-US" altLang="zh-CN"/>
          </a:p>
        </p:txBody>
      </p:sp>
    </p:spTree>
    <p:extLst>
      <p:ext uri="{BB962C8B-B14F-4D97-AF65-F5344CB8AC3E}">
        <p14:creationId xmlns:p14="http://schemas.microsoft.com/office/powerpoint/2010/main" val="2715008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6395" name="Rectangle 11">
            <a:extLst>
              <a:ext uri="{FF2B5EF4-FFF2-40B4-BE49-F238E27FC236}">
                <a16:creationId xmlns:a16="http://schemas.microsoft.com/office/drawing/2014/main" id="{6E52C8EA-985A-2757-0BE2-C0573E52ECA6}"/>
              </a:ext>
            </a:extLst>
          </p:cNvPr>
          <p:cNvSpPr>
            <a:spLocks noGrp="1" noChangeArrowheads="1"/>
          </p:cNvSpPr>
          <p:nvPr>
            <p:ph type="dt" sz="half" idx="2"/>
          </p:nvPr>
        </p:nvSpPr>
        <p:spPr bwMode="auto">
          <a:xfrm>
            <a:off x="11620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ea typeface="宋体" pitchFamily="2" charset="-122"/>
              </a:defRPr>
            </a:lvl1pPr>
          </a:lstStyle>
          <a:p>
            <a:pPr>
              <a:defRPr/>
            </a:pPr>
            <a:endParaRPr lang="en-US" altLang="zh-CN"/>
          </a:p>
        </p:txBody>
      </p:sp>
      <p:sp>
        <p:nvSpPr>
          <p:cNvPr id="16396" name="Rectangle 12">
            <a:extLst>
              <a:ext uri="{FF2B5EF4-FFF2-40B4-BE49-F238E27FC236}">
                <a16:creationId xmlns:a16="http://schemas.microsoft.com/office/drawing/2014/main" id="{CEB332C4-5DA6-F82B-D68D-55D04A62665C}"/>
              </a:ext>
            </a:extLst>
          </p:cNvPr>
          <p:cNvSpPr>
            <a:spLocks noGrp="1" noChangeArrowheads="1"/>
          </p:cNvSpPr>
          <p:nvPr>
            <p:ph type="ftr" sz="quarter" idx="3"/>
          </p:nvPr>
        </p:nvSpPr>
        <p:spPr bwMode="auto">
          <a:xfrm>
            <a:off x="3657600" y="6243638"/>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ea typeface="宋体" pitchFamily="2" charset="-122"/>
              </a:defRPr>
            </a:lvl1pPr>
          </a:lstStyle>
          <a:p>
            <a:pPr>
              <a:defRPr/>
            </a:pPr>
            <a:endParaRPr lang="en-US" altLang="zh-CN"/>
          </a:p>
        </p:txBody>
      </p:sp>
      <p:sp>
        <p:nvSpPr>
          <p:cNvPr id="16397" name="Rectangle 13">
            <a:extLst>
              <a:ext uri="{FF2B5EF4-FFF2-40B4-BE49-F238E27FC236}">
                <a16:creationId xmlns:a16="http://schemas.microsoft.com/office/drawing/2014/main" id="{D0486726-4133-BB42-7E4A-9B30C8A73C29}"/>
              </a:ext>
            </a:extLst>
          </p:cNvPr>
          <p:cNvSpPr>
            <a:spLocks noGrp="1" noChangeArrowheads="1"/>
          </p:cNvSpPr>
          <p:nvPr>
            <p:ph type="sldNum" sz="quarter" idx="4"/>
          </p:nvPr>
        </p:nvSpPr>
        <p:spPr bwMode="auto">
          <a:xfrm>
            <a:off x="70421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lvl1pPr>
          </a:lstStyle>
          <a:p>
            <a:fld id="{046FDE9C-4146-424C-BDFD-ED357D1DA620}" type="slidenum">
              <a:rPr lang="en-US" altLang="zh-CN"/>
              <a:pPr/>
              <a:t>‹#›</a:t>
            </a:fld>
            <a:endParaRPr lang="en-US" altLang="zh-CN"/>
          </a:p>
        </p:txBody>
      </p:sp>
      <p:sp>
        <p:nvSpPr>
          <p:cNvPr id="5" name="矩形 4">
            <a:extLst>
              <a:ext uri="{FF2B5EF4-FFF2-40B4-BE49-F238E27FC236}">
                <a16:creationId xmlns:a16="http://schemas.microsoft.com/office/drawing/2014/main" id="{2D547613-1CE2-F0FB-BDE7-A9FAEB35DEDF}"/>
              </a:ext>
            </a:extLst>
          </p:cNvPr>
          <p:cNvSpPr>
            <a:spLocks noChangeArrowheads="1"/>
          </p:cNvSpPr>
          <p:nvPr userDrawn="1"/>
        </p:nvSpPr>
        <p:spPr bwMode="auto">
          <a:xfrm>
            <a:off x="-109538" y="6507163"/>
            <a:ext cx="3857626" cy="314325"/>
          </a:xfrm>
          <a:prstGeom prst="rect">
            <a:avLst/>
          </a:prstGeom>
          <a:noFill/>
          <a:ln w="9525">
            <a:noFill/>
            <a:miter lim="800000"/>
            <a:headEnd/>
            <a:tailEnd/>
          </a:ln>
        </p:spPr>
        <p:txBody>
          <a:bodyPr>
            <a:spAutoFit/>
          </a:bodyPr>
          <a:lstStyle/>
          <a:p>
            <a:pPr marL="342900" indent="-342900">
              <a:lnSpc>
                <a:spcPct val="120000"/>
              </a:lnSpc>
              <a:spcBef>
                <a:spcPct val="20000"/>
              </a:spcBef>
              <a:buClr>
                <a:srgbClr val="3333CC"/>
              </a:buClr>
              <a:buSzPct val="55000"/>
              <a:tabLst>
                <a:tab pos="3595688" algn="l"/>
              </a:tabLst>
              <a:defRPr/>
            </a:pPr>
            <a:r>
              <a:rPr lang="zh-CN" altLang="en-US" sz="1200" dirty="0">
                <a:solidFill>
                  <a:schemeClr val="bg1"/>
                </a:solidFill>
                <a:effectLst>
                  <a:outerShdw blurRad="38100" dist="38100" dir="2700000" algn="tl">
                    <a:srgbClr val="000000">
                      <a:alpha val="43137"/>
                    </a:srgbClr>
                  </a:outerShdw>
                </a:effectLst>
                <a:latin typeface="黑体" pitchFamily="2" charset="-122"/>
                <a:ea typeface="黑体" pitchFamily="2" charset="-122"/>
                <a:cs typeface="Arial" charset="0"/>
              </a:rPr>
              <a:t> 西安电子科技大学  通信工程学院</a:t>
            </a:r>
            <a:r>
              <a:rPr lang="en-US" altLang="zh-CN" sz="1200" dirty="0">
                <a:solidFill>
                  <a:schemeClr val="bg1"/>
                </a:solidFill>
                <a:effectLst>
                  <a:outerShdw blurRad="38100" dist="38100" dir="2700000" algn="tl">
                    <a:srgbClr val="000000">
                      <a:alpha val="43137"/>
                    </a:srgbClr>
                  </a:outerShdw>
                </a:effectLst>
                <a:latin typeface="黑体" pitchFamily="2" charset="-122"/>
                <a:ea typeface="黑体" pitchFamily="2" charset="-122"/>
                <a:cs typeface="Arial" charset="0"/>
              </a:rPr>
              <a:t>                           </a:t>
            </a:r>
            <a:endParaRPr lang="en-US" altLang="zh-CN" sz="1200" dirty="0">
              <a:solidFill>
                <a:schemeClr val="bg1"/>
              </a:solidFill>
              <a:effectLst>
                <a:outerShdw blurRad="38100" dist="38100" dir="2700000" algn="tl">
                  <a:srgbClr val="000000">
                    <a:alpha val="43137"/>
                  </a:srgbClr>
                </a:outerShdw>
              </a:effectLst>
              <a:latin typeface="黑体" pitchFamily="2" charset="-122"/>
              <a:ea typeface="黑体" pitchFamily="2" charset="-122"/>
              <a:cs typeface="Arial" charset="0"/>
              <a:sym typeface="Wingdings" pitchFamily="2" charset="2"/>
            </a:endParaRPr>
          </a:p>
        </p:txBody>
      </p:sp>
      <p:sp>
        <p:nvSpPr>
          <p:cNvPr id="6" name="矩形 5">
            <a:extLst>
              <a:ext uri="{FF2B5EF4-FFF2-40B4-BE49-F238E27FC236}">
                <a16:creationId xmlns:a16="http://schemas.microsoft.com/office/drawing/2014/main" id="{2E49CE94-4714-6384-1342-7336D99F9359}"/>
              </a:ext>
            </a:extLst>
          </p:cNvPr>
          <p:cNvSpPr/>
          <p:nvPr userDrawn="1"/>
        </p:nvSpPr>
        <p:spPr>
          <a:xfrm>
            <a:off x="7005638" y="6492875"/>
            <a:ext cx="2143125" cy="276225"/>
          </a:xfrm>
          <a:prstGeom prst="rect">
            <a:avLst/>
          </a:prstGeom>
        </p:spPr>
        <p:txBody>
          <a:bodyPr>
            <a:spAutoFit/>
          </a:bodyPr>
          <a:lstStyle/>
          <a:p>
            <a:pPr algn="r">
              <a:defRPr/>
            </a:pPr>
            <a:r>
              <a:rPr lang="zh-CN" altLang="en-US" sz="1200" dirty="0">
                <a:solidFill>
                  <a:schemeClr val="bg1"/>
                </a:solidFill>
                <a:effectLst>
                  <a:outerShdw blurRad="38100" dist="38100" dir="2700000" algn="tl">
                    <a:srgbClr val="000000">
                      <a:alpha val="43137"/>
                    </a:srgbClr>
                  </a:outerShdw>
                </a:effectLst>
                <a:latin typeface="黑体" pitchFamily="2" charset="-122"/>
                <a:ea typeface="黑体" pitchFamily="2" charset="-122"/>
              </a:rPr>
              <a:t>  课件制作：曹丽娜 </a:t>
            </a:r>
            <a:endParaRPr lang="zh-CN" altLang="en-US" sz="1200" dirty="0">
              <a:solidFill>
                <a:schemeClr val="bg1"/>
              </a:solidFill>
              <a:effectLst>
                <a:outerShdw blurRad="38100" dist="38100" dir="2700000" algn="tl">
                  <a:srgbClr val="000000">
                    <a:alpha val="43137"/>
                  </a:srgbClr>
                </a:outerShdw>
              </a:effectLst>
            </a:endParaRPr>
          </a:p>
        </p:txBody>
      </p:sp>
    </p:spTree>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Lst>
  <p:txStyles>
    <p:titleStyle>
      <a:lvl1pPr algn="ctr" rtl="0" eaLnBrk="0" fontAlgn="base" hangingPunct="0">
        <a:spcBef>
          <a:spcPct val="0"/>
        </a:spcBef>
        <a:spcAft>
          <a:spcPct val="0"/>
        </a:spcAft>
        <a:defRPr sz="6000">
          <a:solidFill>
            <a:schemeClr val="tx2"/>
          </a:solidFill>
          <a:latin typeface="+mj-lt"/>
          <a:ea typeface="+mj-ea"/>
          <a:cs typeface="+mj-cs"/>
        </a:defRPr>
      </a:lvl1pPr>
      <a:lvl2pPr algn="ctr" rtl="0" eaLnBrk="0" fontAlgn="base" hangingPunct="0">
        <a:spcBef>
          <a:spcPct val="0"/>
        </a:spcBef>
        <a:spcAft>
          <a:spcPct val="0"/>
        </a:spcAft>
        <a:defRPr sz="6000">
          <a:solidFill>
            <a:schemeClr val="tx2"/>
          </a:solidFill>
          <a:latin typeface="Times New Roman" pitchFamily="18" charset="0"/>
          <a:ea typeface="隶书" pitchFamily="49" charset="-122"/>
        </a:defRPr>
      </a:lvl2pPr>
      <a:lvl3pPr algn="ctr" rtl="0" eaLnBrk="0" fontAlgn="base" hangingPunct="0">
        <a:spcBef>
          <a:spcPct val="0"/>
        </a:spcBef>
        <a:spcAft>
          <a:spcPct val="0"/>
        </a:spcAft>
        <a:defRPr sz="6000">
          <a:solidFill>
            <a:schemeClr val="tx2"/>
          </a:solidFill>
          <a:latin typeface="Times New Roman" pitchFamily="18" charset="0"/>
          <a:ea typeface="隶书" pitchFamily="49" charset="-122"/>
        </a:defRPr>
      </a:lvl3pPr>
      <a:lvl4pPr algn="ctr" rtl="0" eaLnBrk="0" fontAlgn="base" hangingPunct="0">
        <a:spcBef>
          <a:spcPct val="0"/>
        </a:spcBef>
        <a:spcAft>
          <a:spcPct val="0"/>
        </a:spcAft>
        <a:defRPr sz="6000">
          <a:solidFill>
            <a:schemeClr val="tx2"/>
          </a:solidFill>
          <a:latin typeface="Times New Roman" pitchFamily="18" charset="0"/>
          <a:ea typeface="隶书" pitchFamily="49" charset="-122"/>
        </a:defRPr>
      </a:lvl4pPr>
      <a:lvl5pPr algn="ctr" rtl="0" eaLnBrk="0" fontAlgn="base" hangingPunct="0">
        <a:spcBef>
          <a:spcPct val="0"/>
        </a:spcBef>
        <a:spcAft>
          <a:spcPct val="0"/>
        </a:spcAft>
        <a:defRPr sz="6000">
          <a:solidFill>
            <a:schemeClr val="tx2"/>
          </a:solidFill>
          <a:latin typeface="Times New Roman" pitchFamily="18" charset="0"/>
          <a:ea typeface="隶书" pitchFamily="49" charset="-122"/>
        </a:defRPr>
      </a:lvl5pPr>
      <a:lvl6pPr marL="457200" algn="ctr" rtl="0" fontAlgn="base">
        <a:spcBef>
          <a:spcPct val="0"/>
        </a:spcBef>
        <a:spcAft>
          <a:spcPct val="0"/>
        </a:spcAft>
        <a:defRPr sz="6000">
          <a:solidFill>
            <a:schemeClr val="tx2"/>
          </a:solidFill>
          <a:latin typeface="Times New Roman" pitchFamily="18" charset="0"/>
          <a:ea typeface="隶书" pitchFamily="49" charset="-122"/>
        </a:defRPr>
      </a:lvl6pPr>
      <a:lvl7pPr marL="914400" algn="ctr" rtl="0" fontAlgn="base">
        <a:spcBef>
          <a:spcPct val="0"/>
        </a:spcBef>
        <a:spcAft>
          <a:spcPct val="0"/>
        </a:spcAft>
        <a:defRPr sz="6000">
          <a:solidFill>
            <a:schemeClr val="tx2"/>
          </a:solidFill>
          <a:latin typeface="Times New Roman" pitchFamily="18" charset="0"/>
          <a:ea typeface="隶书" pitchFamily="49" charset="-122"/>
        </a:defRPr>
      </a:lvl7pPr>
      <a:lvl8pPr marL="1371600" algn="ctr" rtl="0" fontAlgn="base">
        <a:spcBef>
          <a:spcPct val="0"/>
        </a:spcBef>
        <a:spcAft>
          <a:spcPct val="0"/>
        </a:spcAft>
        <a:defRPr sz="6000">
          <a:solidFill>
            <a:schemeClr val="tx2"/>
          </a:solidFill>
          <a:latin typeface="Times New Roman" pitchFamily="18" charset="0"/>
          <a:ea typeface="隶书" pitchFamily="49" charset="-122"/>
        </a:defRPr>
      </a:lvl8pPr>
      <a:lvl9pPr marL="1828800" algn="ctr" rtl="0" fontAlgn="base">
        <a:spcBef>
          <a:spcPct val="0"/>
        </a:spcBef>
        <a:spcAft>
          <a:spcPct val="0"/>
        </a:spcAft>
        <a:defRPr sz="6000">
          <a:solidFill>
            <a:schemeClr val="tx2"/>
          </a:solidFill>
          <a:latin typeface="Times New Roman" pitchFamily="18" charset="0"/>
          <a:ea typeface="隶书" pitchFamily="49"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l"/>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u"/>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p"/>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Ø"/>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Ø"/>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Ø"/>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Ø"/>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Ø"/>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6.wmf"/><Relationship Id="rId7" Type="http://schemas.openxmlformats.org/officeDocument/2006/relationships/image" Target="../media/image18.wmf"/><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oleObject" Target="../embeddings/oleObject3.bin"/><Relationship Id="rId5" Type="http://schemas.openxmlformats.org/officeDocument/2006/relationships/image" Target="../media/image17.wmf"/><Relationship Id="rId4"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23.png"/><Relationship Id="rId2" Type="http://schemas.openxmlformats.org/officeDocument/2006/relationships/image" Target="../media/image20.jpeg"/><Relationship Id="rId1" Type="http://schemas.openxmlformats.org/officeDocument/2006/relationships/slideLayout" Target="../slideLayouts/slideLayout13.xml"/><Relationship Id="rId6" Type="http://schemas.openxmlformats.org/officeDocument/2006/relationships/image" Target="../media/image22.wmf"/><Relationship Id="rId5" Type="http://schemas.openxmlformats.org/officeDocument/2006/relationships/oleObject" Target="../embeddings/oleObject5.bin"/><Relationship Id="rId4" Type="http://schemas.openxmlformats.org/officeDocument/2006/relationships/image" Target="../media/image21.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6.bin"/><Relationship Id="rId7" Type="http://schemas.openxmlformats.org/officeDocument/2006/relationships/image" Target="../media/image27.png"/><Relationship Id="rId2" Type="http://schemas.openxmlformats.org/officeDocument/2006/relationships/image" Target="../media/image24.png"/><Relationship Id="rId1" Type="http://schemas.openxmlformats.org/officeDocument/2006/relationships/slideLayout" Target="../slideLayouts/slideLayout12.xml"/><Relationship Id="rId6" Type="http://schemas.openxmlformats.org/officeDocument/2006/relationships/image" Target="../media/image26.wmf"/><Relationship Id="rId5" Type="http://schemas.openxmlformats.org/officeDocument/2006/relationships/oleObject" Target="../embeddings/oleObject7.bin"/><Relationship Id="rId4" Type="http://schemas.openxmlformats.org/officeDocument/2006/relationships/image" Target="../media/image25.wmf"/></Relationships>
</file>

<file path=ppt/slides/_rels/slide13.xml.rels><?xml version="1.0" encoding="UTF-8" standalone="yes"?>
<Relationships xmlns="http://schemas.openxmlformats.org/package/2006/relationships"><Relationship Id="rId8" Type="http://schemas.openxmlformats.org/officeDocument/2006/relationships/image" Target="../media/image30.wmf"/><Relationship Id="rId13" Type="http://schemas.openxmlformats.org/officeDocument/2006/relationships/oleObject" Target="../embeddings/oleObject13.bin"/><Relationship Id="rId3" Type="http://schemas.openxmlformats.org/officeDocument/2006/relationships/oleObject" Target="../embeddings/oleObject8.bin"/><Relationship Id="rId7" Type="http://schemas.openxmlformats.org/officeDocument/2006/relationships/oleObject" Target="../embeddings/oleObject10.bin"/><Relationship Id="rId12" Type="http://schemas.openxmlformats.org/officeDocument/2006/relationships/image" Target="../media/image32.wmf"/><Relationship Id="rId2" Type="http://schemas.openxmlformats.org/officeDocument/2006/relationships/image" Target="../media/image24.png"/><Relationship Id="rId16" Type="http://schemas.openxmlformats.org/officeDocument/2006/relationships/image" Target="../media/image34.wmf"/><Relationship Id="rId1" Type="http://schemas.openxmlformats.org/officeDocument/2006/relationships/slideLayout" Target="../slideLayouts/slideLayout12.xml"/><Relationship Id="rId6" Type="http://schemas.openxmlformats.org/officeDocument/2006/relationships/image" Target="../media/image29.wmf"/><Relationship Id="rId11" Type="http://schemas.openxmlformats.org/officeDocument/2006/relationships/oleObject" Target="../embeddings/oleObject12.bin"/><Relationship Id="rId5" Type="http://schemas.openxmlformats.org/officeDocument/2006/relationships/oleObject" Target="../embeddings/oleObject9.bin"/><Relationship Id="rId15" Type="http://schemas.openxmlformats.org/officeDocument/2006/relationships/oleObject" Target="../embeddings/oleObject14.bin"/><Relationship Id="rId10" Type="http://schemas.openxmlformats.org/officeDocument/2006/relationships/image" Target="../media/image31.wmf"/><Relationship Id="rId4" Type="http://schemas.openxmlformats.org/officeDocument/2006/relationships/image" Target="../media/image28.wmf"/><Relationship Id="rId9" Type="http://schemas.openxmlformats.org/officeDocument/2006/relationships/oleObject" Target="../embeddings/oleObject11.bin"/><Relationship Id="rId14" Type="http://schemas.openxmlformats.org/officeDocument/2006/relationships/image" Target="../media/image33.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image" Target="../media/image24.png"/><Relationship Id="rId1" Type="http://schemas.openxmlformats.org/officeDocument/2006/relationships/slideLayout" Target="../slideLayouts/slideLayout12.xml"/><Relationship Id="rId6" Type="http://schemas.openxmlformats.org/officeDocument/2006/relationships/image" Target="../media/image36.wmf"/><Relationship Id="rId5" Type="http://schemas.openxmlformats.org/officeDocument/2006/relationships/oleObject" Target="../embeddings/oleObject16.bin"/><Relationship Id="rId4" Type="http://schemas.openxmlformats.org/officeDocument/2006/relationships/image" Target="../media/image35.wmf"/></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7.png"/><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8" Type="http://schemas.openxmlformats.org/officeDocument/2006/relationships/image" Target="../media/image45.wmf"/><Relationship Id="rId3" Type="http://schemas.openxmlformats.org/officeDocument/2006/relationships/oleObject" Target="../embeddings/oleObject17.bin"/><Relationship Id="rId7" Type="http://schemas.openxmlformats.org/officeDocument/2006/relationships/oleObject" Target="../embeddings/oleObject19.bin"/><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4.wmf"/><Relationship Id="rId5" Type="http://schemas.openxmlformats.org/officeDocument/2006/relationships/oleObject" Target="../embeddings/oleObject18.bin"/><Relationship Id="rId10" Type="http://schemas.openxmlformats.org/officeDocument/2006/relationships/image" Target="../media/image46.wmf"/><Relationship Id="rId4" Type="http://schemas.openxmlformats.org/officeDocument/2006/relationships/image" Target="../media/image43.wmf"/><Relationship Id="rId9" Type="http://schemas.openxmlformats.org/officeDocument/2006/relationships/oleObject" Target="../embeddings/oleObject20.bin"/></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8.wmf"/><Relationship Id="rId5" Type="http://schemas.openxmlformats.org/officeDocument/2006/relationships/oleObject" Target="../embeddings/oleObject22.bin"/><Relationship Id="rId4" Type="http://schemas.openxmlformats.org/officeDocument/2006/relationships/image" Target="../media/image47.wmf"/></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26.bin"/><Relationship Id="rId3" Type="http://schemas.openxmlformats.org/officeDocument/2006/relationships/image" Target="../media/image49.wmf"/><Relationship Id="rId7" Type="http://schemas.openxmlformats.org/officeDocument/2006/relationships/image" Target="../media/image51.wmf"/><Relationship Id="rId2" Type="http://schemas.openxmlformats.org/officeDocument/2006/relationships/oleObject" Target="../embeddings/oleObject23.bin"/><Relationship Id="rId1" Type="http://schemas.openxmlformats.org/officeDocument/2006/relationships/slideLayout" Target="../slideLayouts/slideLayout2.xml"/><Relationship Id="rId6" Type="http://schemas.openxmlformats.org/officeDocument/2006/relationships/oleObject" Target="../embeddings/oleObject25.bin"/><Relationship Id="rId5" Type="http://schemas.openxmlformats.org/officeDocument/2006/relationships/image" Target="../media/image50.wmf"/><Relationship Id="rId4" Type="http://schemas.openxmlformats.org/officeDocument/2006/relationships/oleObject" Target="../embeddings/oleObject24.bin"/><Relationship Id="rId9" Type="http://schemas.openxmlformats.org/officeDocument/2006/relationships/image" Target="../media/image52.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image" Target="../media/image53.png"/><Relationship Id="rId1" Type="http://schemas.openxmlformats.org/officeDocument/2006/relationships/slideLayout" Target="../slideLayouts/slideLayout7.xml"/><Relationship Id="rId4" Type="http://schemas.openxmlformats.org/officeDocument/2006/relationships/image" Target="../media/image54.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image" Target="../media/image55.png"/><Relationship Id="rId1" Type="http://schemas.openxmlformats.org/officeDocument/2006/relationships/slideLayout" Target="../slideLayouts/slideLayout7.xml"/><Relationship Id="rId4" Type="http://schemas.openxmlformats.org/officeDocument/2006/relationships/image" Target="../media/image56.emf"/></Relationships>
</file>

<file path=ppt/slides/_rels/slide22.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oleObject" Target="../embeddings/oleObject29.bin"/><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32.bin"/><Relationship Id="rId13" Type="http://schemas.openxmlformats.org/officeDocument/2006/relationships/image" Target="../media/image63.wmf"/><Relationship Id="rId3" Type="http://schemas.openxmlformats.org/officeDocument/2006/relationships/image" Target="../media/image58.png"/><Relationship Id="rId7" Type="http://schemas.openxmlformats.org/officeDocument/2006/relationships/image" Target="../media/image60.wmf"/><Relationship Id="rId12" Type="http://schemas.openxmlformats.org/officeDocument/2006/relationships/oleObject" Target="../embeddings/oleObject34.bin"/><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oleObject" Target="../embeddings/oleObject31.bin"/><Relationship Id="rId11" Type="http://schemas.openxmlformats.org/officeDocument/2006/relationships/image" Target="../media/image62.wmf"/><Relationship Id="rId5" Type="http://schemas.openxmlformats.org/officeDocument/2006/relationships/image" Target="../media/image59.wmf"/><Relationship Id="rId10" Type="http://schemas.openxmlformats.org/officeDocument/2006/relationships/oleObject" Target="../embeddings/oleObject33.bin"/><Relationship Id="rId4" Type="http://schemas.openxmlformats.org/officeDocument/2006/relationships/oleObject" Target="../embeddings/oleObject30.bin"/><Relationship Id="rId9" Type="http://schemas.openxmlformats.org/officeDocument/2006/relationships/image" Target="../media/image61.wmf"/><Relationship Id="rId14" Type="http://schemas.openxmlformats.org/officeDocument/2006/relationships/image" Target="../media/image64.png"/></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38.bin"/><Relationship Id="rId13" Type="http://schemas.openxmlformats.org/officeDocument/2006/relationships/image" Target="../media/image70.wmf"/><Relationship Id="rId3" Type="http://schemas.openxmlformats.org/officeDocument/2006/relationships/image" Target="../media/image65.wmf"/><Relationship Id="rId7" Type="http://schemas.openxmlformats.org/officeDocument/2006/relationships/image" Target="../media/image67.wmf"/><Relationship Id="rId12" Type="http://schemas.openxmlformats.org/officeDocument/2006/relationships/oleObject" Target="../embeddings/oleObject40.bin"/><Relationship Id="rId17" Type="http://schemas.openxmlformats.org/officeDocument/2006/relationships/image" Target="../media/image72.wmf"/><Relationship Id="rId2" Type="http://schemas.openxmlformats.org/officeDocument/2006/relationships/oleObject" Target="../embeddings/oleObject35.bin"/><Relationship Id="rId16" Type="http://schemas.openxmlformats.org/officeDocument/2006/relationships/oleObject" Target="../embeddings/oleObject42.bin"/><Relationship Id="rId1" Type="http://schemas.openxmlformats.org/officeDocument/2006/relationships/slideLayout" Target="../slideLayouts/slideLayout7.xml"/><Relationship Id="rId6" Type="http://schemas.openxmlformats.org/officeDocument/2006/relationships/oleObject" Target="../embeddings/oleObject37.bin"/><Relationship Id="rId11" Type="http://schemas.openxmlformats.org/officeDocument/2006/relationships/image" Target="../media/image69.wmf"/><Relationship Id="rId5" Type="http://schemas.openxmlformats.org/officeDocument/2006/relationships/image" Target="../media/image66.wmf"/><Relationship Id="rId15" Type="http://schemas.openxmlformats.org/officeDocument/2006/relationships/image" Target="../media/image71.wmf"/><Relationship Id="rId10" Type="http://schemas.openxmlformats.org/officeDocument/2006/relationships/oleObject" Target="../embeddings/oleObject39.bin"/><Relationship Id="rId4" Type="http://schemas.openxmlformats.org/officeDocument/2006/relationships/oleObject" Target="../embeddings/oleObject36.bin"/><Relationship Id="rId9" Type="http://schemas.openxmlformats.org/officeDocument/2006/relationships/image" Target="../media/image68.wmf"/><Relationship Id="rId14" Type="http://schemas.openxmlformats.org/officeDocument/2006/relationships/oleObject" Target="../embeddings/oleObject41.bin"/></Relationships>
</file>

<file path=ppt/slides/_rels/slide2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7.emf"/><Relationship Id="rId2" Type="http://schemas.openxmlformats.org/officeDocument/2006/relationships/oleObject" Target="../embeddings/oleObject43.bin"/><Relationship Id="rId1" Type="http://schemas.openxmlformats.org/officeDocument/2006/relationships/slideLayout" Target="../slideLayouts/slideLayout7.xml"/><Relationship Id="rId5" Type="http://schemas.openxmlformats.org/officeDocument/2006/relationships/image" Target="../media/image78.emf"/><Relationship Id="rId4" Type="http://schemas.openxmlformats.org/officeDocument/2006/relationships/oleObject" Target="../embeddings/oleObject44.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7.png"/></Relationships>
</file>

<file path=ppt/slides/_rels/slide3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36.xml.rels><?xml version="1.0" encoding="UTF-8" standalone="yes"?>
<Relationships xmlns="http://schemas.openxmlformats.org/package/2006/relationships"><Relationship Id="rId8" Type="http://schemas.openxmlformats.org/officeDocument/2006/relationships/image" Target="../media/image91.wmf"/><Relationship Id="rId3" Type="http://schemas.openxmlformats.org/officeDocument/2006/relationships/image" Target="../media/image86.png"/><Relationship Id="rId7" Type="http://schemas.openxmlformats.org/officeDocument/2006/relationships/oleObject" Target="../embeddings/oleObject46.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90.wmf"/><Relationship Id="rId5" Type="http://schemas.openxmlformats.org/officeDocument/2006/relationships/oleObject" Target="../embeddings/oleObject45.bin"/><Relationship Id="rId4" Type="http://schemas.openxmlformats.org/officeDocument/2006/relationships/image" Target="../media/image89.png"/></Relationships>
</file>

<file path=ppt/slides/_rels/slide3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 Id="rId4" Type="http://schemas.openxmlformats.org/officeDocument/2006/relationships/image" Target="../media/image94.png"/></Relationships>
</file>

<file path=ppt/slides/_rels/slide38.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98.wmf"/><Relationship Id="rId2" Type="http://schemas.openxmlformats.org/officeDocument/2006/relationships/oleObject" Target="../embeddings/oleObject47.bin"/><Relationship Id="rId1" Type="http://schemas.openxmlformats.org/officeDocument/2006/relationships/slideLayout" Target="../slideLayouts/slideLayout2.xml"/><Relationship Id="rId4" Type="http://schemas.openxmlformats.org/officeDocument/2006/relationships/image" Target="../media/image99.png"/></Relationships>
</file>

<file path=ppt/slides/_rels/slide42.xml.rels><?xml version="1.0" encoding="UTF-8" standalone="yes"?>
<Relationships xmlns="http://schemas.openxmlformats.org/package/2006/relationships"><Relationship Id="rId3" Type="http://schemas.openxmlformats.org/officeDocument/2006/relationships/image" Target="../media/image98.wmf"/><Relationship Id="rId2" Type="http://schemas.openxmlformats.org/officeDocument/2006/relationships/oleObject" Target="../embeddings/oleObject48.bin"/><Relationship Id="rId1" Type="http://schemas.openxmlformats.org/officeDocument/2006/relationships/slideLayout" Target="../slideLayouts/slideLayout2.xml"/><Relationship Id="rId5" Type="http://schemas.openxmlformats.org/officeDocument/2006/relationships/image" Target="../media/image100.wmf"/><Relationship Id="rId4" Type="http://schemas.openxmlformats.org/officeDocument/2006/relationships/oleObject" Target="../embeddings/oleObject49.bin"/></Relationships>
</file>

<file path=ppt/slides/_rels/slide43.x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oleObject" Target="../embeddings/oleObject50.bin"/><Relationship Id="rId1" Type="http://schemas.openxmlformats.org/officeDocument/2006/relationships/slideLayout" Target="../slideLayouts/slideLayout7.xml"/><Relationship Id="rId6" Type="http://schemas.openxmlformats.org/officeDocument/2006/relationships/image" Target="../media/image103.png"/><Relationship Id="rId5" Type="http://schemas.openxmlformats.org/officeDocument/2006/relationships/image" Target="../media/image102.wmf"/><Relationship Id="rId4" Type="http://schemas.openxmlformats.org/officeDocument/2006/relationships/oleObject" Target="../embeddings/oleObject51.bin"/></Relationships>
</file>

<file path=ppt/slides/_rels/slide44.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54.bin"/><Relationship Id="rId3" Type="http://schemas.openxmlformats.org/officeDocument/2006/relationships/image" Target="../media/image107.png"/><Relationship Id="rId7" Type="http://schemas.openxmlformats.org/officeDocument/2006/relationships/image" Target="../media/image109.wmf"/><Relationship Id="rId2" Type="http://schemas.openxmlformats.org/officeDocument/2006/relationships/image" Target="../media/image106.png"/><Relationship Id="rId1" Type="http://schemas.openxmlformats.org/officeDocument/2006/relationships/slideLayout" Target="../slideLayouts/slideLayout7.xml"/><Relationship Id="rId6" Type="http://schemas.openxmlformats.org/officeDocument/2006/relationships/oleObject" Target="../embeddings/oleObject53.bin"/><Relationship Id="rId5" Type="http://schemas.openxmlformats.org/officeDocument/2006/relationships/image" Target="../media/image108.wmf"/><Relationship Id="rId4" Type="http://schemas.openxmlformats.org/officeDocument/2006/relationships/oleObject" Target="../embeddings/oleObject52.bin"/><Relationship Id="rId9" Type="http://schemas.openxmlformats.org/officeDocument/2006/relationships/image" Target="../media/image110.wmf"/></Relationships>
</file>

<file path=ppt/slides/_rels/slide46.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12.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58.bin"/><Relationship Id="rId3" Type="http://schemas.openxmlformats.org/officeDocument/2006/relationships/image" Target="../media/image115.wmf"/><Relationship Id="rId7" Type="http://schemas.openxmlformats.org/officeDocument/2006/relationships/image" Target="../media/image117.wmf"/><Relationship Id="rId2" Type="http://schemas.openxmlformats.org/officeDocument/2006/relationships/oleObject" Target="../embeddings/oleObject55.bin"/><Relationship Id="rId1" Type="http://schemas.openxmlformats.org/officeDocument/2006/relationships/slideLayout" Target="../slideLayouts/slideLayout2.xml"/><Relationship Id="rId6" Type="http://schemas.openxmlformats.org/officeDocument/2006/relationships/oleObject" Target="../embeddings/oleObject57.bin"/><Relationship Id="rId11" Type="http://schemas.openxmlformats.org/officeDocument/2006/relationships/image" Target="../media/image119.wmf"/><Relationship Id="rId5" Type="http://schemas.openxmlformats.org/officeDocument/2006/relationships/image" Target="../media/image116.wmf"/><Relationship Id="rId10" Type="http://schemas.openxmlformats.org/officeDocument/2006/relationships/oleObject" Target="../embeddings/oleObject59.bin"/><Relationship Id="rId4" Type="http://schemas.openxmlformats.org/officeDocument/2006/relationships/oleObject" Target="../embeddings/oleObject56.bin"/><Relationship Id="rId9" Type="http://schemas.openxmlformats.org/officeDocument/2006/relationships/image" Target="../media/image118.wmf"/></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63.bin"/><Relationship Id="rId3" Type="http://schemas.openxmlformats.org/officeDocument/2006/relationships/image" Target="../media/image120.wmf"/><Relationship Id="rId7" Type="http://schemas.openxmlformats.org/officeDocument/2006/relationships/image" Target="../media/image122.wmf"/><Relationship Id="rId2" Type="http://schemas.openxmlformats.org/officeDocument/2006/relationships/oleObject" Target="../embeddings/oleObject60.bin"/><Relationship Id="rId1" Type="http://schemas.openxmlformats.org/officeDocument/2006/relationships/slideLayout" Target="../slideLayouts/slideLayout2.xml"/><Relationship Id="rId6" Type="http://schemas.openxmlformats.org/officeDocument/2006/relationships/oleObject" Target="../embeddings/oleObject62.bin"/><Relationship Id="rId11" Type="http://schemas.openxmlformats.org/officeDocument/2006/relationships/image" Target="../media/image124.wmf"/><Relationship Id="rId5" Type="http://schemas.openxmlformats.org/officeDocument/2006/relationships/image" Target="../media/image121.wmf"/><Relationship Id="rId10" Type="http://schemas.openxmlformats.org/officeDocument/2006/relationships/oleObject" Target="../embeddings/oleObject64.bin"/><Relationship Id="rId4" Type="http://schemas.openxmlformats.org/officeDocument/2006/relationships/oleObject" Target="../embeddings/oleObject61.bin"/><Relationship Id="rId9" Type="http://schemas.openxmlformats.org/officeDocument/2006/relationships/image" Target="../media/image123.wmf"/></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68.bin"/><Relationship Id="rId3" Type="http://schemas.openxmlformats.org/officeDocument/2006/relationships/image" Target="../media/image125.wmf"/><Relationship Id="rId7" Type="http://schemas.openxmlformats.org/officeDocument/2006/relationships/image" Target="../media/image127.wmf"/><Relationship Id="rId2" Type="http://schemas.openxmlformats.org/officeDocument/2006/relationships/oleObject" Target="../embeddings/oleObject65.bin"/><Relationship Id="rId1" Type="http://schemas.openxmlformats.org/officeDocument/2006/relationships/slideLayout" Target="../slideLayouts/slideLayout2.xml"/><Relationship Id="rId6" Type="http://schemas.openxmlformats.org/officeDocument/2006/relationships/oleObject" Target="../embeddings/oleObject67.bin"/><Relationship Id="rId5" Type="http://schemas.openxmlformats.org/officeDocument/2006/relationships/image" Target="../media/image126.wmf"/><Relationship Id="rId10" Type="http://schemas.openxmlformats.org/officeDocument/2006/relationships/image" Target="../media/image129.png"/><Relationship Id="rId4" Type="http://schemas.openxmlformats.org/officeDocument/2006/relationships/oleObject" Target="../embeddings/oleObject66.bin"/><Relationship Id="rId9" Type="http://schemas.openxmlformats.org/officeDocument/2006/relationships/image" Target="../media/image128.w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hyperlink" Target="http://baike.baidu.com/view/5346403.htm" TargetMode="External"/><Relationship Id="rId4" Type="http://schemas.openxmlformats.org/officeDocument/2006/relationships/hyperlink" Target="http://baike.baidu.com/view/209665.htm"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slideLayout" Target="../slideLayouts/slideLayout2.xml"/><Relationship Id="rId4" Type="http://schemas.openxmlformats.org/officeDocument/2006/relationships/image" Target="../media/image13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slideLayout" Target="../slideLayouts/slideLayout2.xml"/><Relationship Id="rId4" Type="http://schemas.openxmlformats.org/officeDocument/2006/relationships/image" Target="../media/image13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34.wmf"/><Relationship Id="rId2" Type="http://schemas.openxmlformats.org/officeDocument/2006/relationships/oleObject" Target="../embeddings/oleObject69.bin"/><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35.wmf"/><Relationship Id="rId2" Type="http://schemas.openxmlformats.org/officeDocument/2006/relationships/oleObject" Target="../embeddings/oleObject70.bin"/><Relationship Id="rId1" Type="http://schemas.openxmlformats.org/officeDocument/2006/relationships/slideLayout" Target="../slideLayouts/slideLayout2.xml"/><Relationship Id="rId5" Type="http://schemas.openxmlformats.org/officeDocument/2006/relationships/image" Target="../media/image136.wmf"/><Relationship Id="rId4" Type="http://schemas.openxmlformats.org/officeDocument/2006/relationships/oleObject" Target="../embeddings/oleObject71.bin"/></Relationships>
</file>

<file path=ppt/slides/_rels/slide78.xml.rels><?xml version="1.0" encoding="UTF-8" standalone="yes"?>
<Relationships xmlns="http://schemas.openxmlformats.org/package/2006/relationships"><Relationship Id="rId3" Type="http://schemas.openxmlformats.org/officeDocument/2006/relationships/image" Target="../media/image137.wmf"/><Relationship Id="rId2" Type="http://schemas.openxmlformats.org/officeDocument/2006/relationships/oleObject" Target="../embeddings/oleObject72.bin"/><Relationship Id="rId1" Type="http://schemas.openxmlformats.org/officeDocument/2006/relationships/slideLayout" Target="../slideLayouts/slideLayout2.xml"/><Relationship Id="rId5" Type="http://schemas.openxmlformats.org/officeDocument/2006/relationships/image" Target="../media/image138.wmf"/><Relationship Id="rId4" Type="http://schemas.openxmlformats.org/officeDocument/2006/relationships/oleObject" Target="../embeddings/oleObject73.bin"/></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39.wmf"/><Relationship Id="rId2" Type="http://schemas.openxmlformats.org/officeDocument/2006/relationships/oleObject" Target="../embeddings/oleObject74.bin"/><Relationship Id="rId1" Type="http://schemas.openxmlformats.org/officeDocument/2006/relationships/slideLayout" Target="../slideLayouts/slideLayout2.xml"/><Relationship Id="rId5" Type="http://schemas.openxmlformats.org/officeDocument/2006/relationships/image" Target="../media/image140.wmf"/><Relationship Id="rId4" Type="http://schemas.openxmlformats.org/officeDocument/2006/relationships/oleObject" Target="../embeddings/oleObject75.bin"/></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41.wmf"/><Relationship Id="rId2" Type="http://schemas.openxmlformats.org/officeDocument/2006/relationships/oleObject" Target="../embeddings/oleObject76.bin"/><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42.wmf"/><Relationship Id="rId7" Type="http://schemas.openxmlformats.org/officeDocument/2006/relationships/image" Target="../media/image144.wmf"/><Relationship Id="rId2" Type="http://schemas.openxmlformats.org/officeDocument/2006/relationships/oleObject" Target="../embeddings/oleObject77.bin"/><Relationship Id="rId1" Type="http://schemas.openxmlformats.org/officeDocument/2006/relationships/slideLayout" Target="../slideLayouts/slideLayout2.xml"/><Relationship Id="rId6" Type="http://schemas.openxmlformats.org/officeDocument/2006/relationships/oleObject" Target="../embeddings/oleObject79.bin"/><Relationship Id="rId5" Type="http://schemas.openxmlformats.org/officeDocument/2006/relationships/image" Target="../media/image143.wmf"/><Relationship Id="rId4" Type="http://schemas.openxmlformats.org/officeDocument/2006/relationships/oleObject" Target="../embeddings/oleObject78.bin"/></Relationships>
</file>

<file path=ppt/slides/_rels/slide87.xml.rels><?xml version="1.0" encoding="UTF-8" standalone="yes"?>
<Relationships xmlns="http://schemas.openxmlformats.org/package/2006/relationships"><Relationship Id="rId3" Type="http://schemas.openxmlformats.org/officeDocument/2006/relationships/image" Target="../media/image145.wmf"/><Relationship Id="rId2" Type="http://schemas.openxmlformats.org/officeDocument/2006/relationships/oleObject" Target="../embeddings/oleObject80.bin"/><Relationship Id="rId1" Type="http://schemas.openxmlformats.org/officeDocument/2006/relationships/slideLayout" Target="../slideLayouts/slideLayout2.xml"/><Relationship Id="rId5" Type="http://schemas.openxmlformats.org/officeDocument/2006/relationships/image" Target="../media/image146.wmf"/><Relationship Id="rId4" Type="http://schemas.openxmlformats.org/officeDocument/2006/relationships/oleObject" Target="../embeddings/oleObject81.bin"/></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7.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图片 4" descr="封面3.jpg">
            <a:extLst>
              <a:ext uri="{FF2B5EF4-FFF2-40B4-BE49-F238E27FC236}">
                <a16:creationId xmlns:a16="http://schemas.microsoft.com/office/drawing/2014/main" id="{74068F61-CED2-1160-D50F-2D27459C293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7" name="矩形 5">
            <a:extLst>
              <a:ext uri="{FF2B5EF4-FFF2-40B4-BE49-F238E27FC236}">
                <a16:creationId xmlns:a16="http://schemas.microsoft.com/office/drawing/2014/main" id="{AE77108E-69C3-4461-0A34-4E4018B6F5E5}"/>
              </a:ext>
            </a:extLst>
          </p:cNvPr>
          <p:cNvSpPr>
            <a:spLocks noChangeArrowheads="1"/>
          </p:cNvSpPr>
          <p:nvPr/>
        </p:nvSpPr>
        <p:spPr bwMode="auto">
          <a:xfrm>
            <a:off x="2714625" y="4940300"/>
            <a:ext cx="5500688" cy="560388"/>
          </a:xfrm>
          <a:prstGeom prst="rect">
            <a:avLst/>
          </a:prstGeom>
          <a:noFill/>
          <a:ln w="9525">
            <a:noFill/>
            <a:miter lim="800000"/>
            <a:headEnd/>
            <a:tailEnd/>
          </a:ln>
        </p:spPr>
        <p:txBody>
          <a:bodyPr>
            <a:spAutoFit/>
          </a:bodyPr>
          <a:lstStyle/>
          <a:p>
            <a:pPr>
              <a:lnSpc>
                <a:spcPct val="150000"/>
              </a:lnSpc>
              <a:buFont typeface="Arial" charset="0"/>
              <a:buNone/>
              <a:defRPr/>
            </a:pPr>
            <a:r>
              <a:rPr lang="zh-CN" altLang="en-US" sz="2400" dirty="0">
                <a:solidFill>
                  <a:srgbClr val="003399"/>
                </a:solidFill>
                <a:latin typeface="黑体" pitchFamily="2" charset="-122"/>
                <a:ea typeface="黑体" pitchFamily="2" charset="-122"/>
              </a:rPr>
              <a:t>   制作：曹丽娜  </a:t>
            </a:r>
            <a:r>
              <a:rPr lang="en-US" altLang="zh-CN" dirty="0">
                <a:solidFill>
                  <a:srgbClr val="003399"/>
                </a:solidFill>
                <a:latin typeface="+mn-lt"/>
                <a:cs typeface="Arial" charset="0"/>
              </a:rPr>
              <a:t>ccllna@163.com</a:t>
            </a:r>
          </a:p>
        </p:txBody>
      </p:sp>
      <p:pic>
        <p:nvPicPr>
          <p:cNvPr id="33796" name="内容占位符 23" descr="图标.gif">
            <a:extLst>
              <a:ext uri="{FF2B5EF4-FFF2-40B4-BE49-F238E27FC236}">
                <a16:creationId xmlns:a16="http://schemas.microsoft.com/office/drawing/2014/main" id="{1874DF35-75EF-E6DD-5A07-8A03E1249AA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58063" y="2786063"/>
            <a:ext cx="592137"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7" name="内容占位符 21" descr="校徽2.gif">
            <a:extLst>
              <a:ext uri="{FF2B5EF4-FFF2-40B4-BE49-F238E27FC236}">
                <a16:creationId xmlns:a16="http://schemas.microsoft.com/office/drawing/2014/main" id="{1681C64B-0679-4655-6304-46FB61E3FF7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85875" y="2714625"/>
            <a:ext cx="5635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a:extLst>
              <a:ext uri="{FF2B5EF4-FFF2-40B4-BE49-F238E27FC236}">
                <a16:creationId xmlns:a16="http://schemas.microsoft.com/office/drawing/2014/main" id="{7CCC46D9-8969-A1F3-1402-F886186ED9E5}"/>
              </a:ext>
            </a:extLst>
          </p:cNvPr>
          <p:cNvSpPr/>
          <p:nvPr/>
        </p:nvSpPr>
        <p:spPr>
          <a:xfrm>
            <a:off x="1714500" y="5864225"/>
            <a:ext cx="6286500" cy="565150"/>
          </a:xfrm>
          <a:prstGeom prst="rect">
            <a:avLst/>
          </a:prstGeom>
        </p:spPr>
        <p:txBody>
          <a:bodyPr>
            <a:spAutoFit/>
          </a:bodyPr>
          <a:lstStyle/>
          <a:p>
            <a:pPr fontAlgn="auto">
              <a:lnSpc>
                <a:spcPct val="150000"/>
              </a:lnSpc>
              <a:spcAft>
                <a:spcPts val="0"/>
              </a:spcAft>
              <a:buFont typeface="Arial" pitchFamily="34" charset="0"/>
              <a:buNone/>
              <a:defRPr/>
            </a:pPr>
            <a:r>
              <a:rPr lang="zh-CN" altLang="en-US" sz="2400" dirty="0">
                <a:solidFill>
                  <a:schemeClr val="bg2">
                    <a:lumMod val="75000"/>
                    <a:lumOff val="25000"/>
                  </a:schemeClr>
                </a:solidFill>
                <a:latin typeface="+mn-ea"/>
                <a:ea typeface="+mn-ea"/>
              </a:rPr>
              <a:t>  </a:t>
            </a:r>
            <a:r>
              <a:rPr lang="zh-CN" altLang="en-US" sz="2000" dirty="0">
                <a:latin typeface="黑体" pitchFamily="2" charset="-122"/>
                <a:ea typeface="黑体" pitchFamily="2" charset="-122"/>
              </a:rPr>
              <a:t>美工设计：陈英         技术支持：张嘉等人</a:t>
            </a:r>
            <a:endParaRPr lang="en-US" altLang="zh-CN" sz="2000" dirty="0">
              <a:latin typeface="+mn-lt"/>
            </a:endParaRPr>
          </a:p>
        </p:txBody>
      </p:sp>
      <p:sp>
        <p:nvSpPr>
          <p:cNvPr id="33799" name="矩形 7">
            <a:extLst>
              <a:ext uri="{FF2B5EF4-FFF2-40B4-BE49-F238E27FC236}">
                <a16:creationId xmlns:a16="http://schemas.microsoft.com/office/drawing/2014/main" id="{C4A20E02-5BCE-EC7D-1CA0-BCE13F64FA50}"/>
              </a:ext>
            </a:extLst>
          </p:cNvPr>
          <p:cNvSpPr>
            <a:spLocks noChangeArrowheads="1"/>
          </p:cNvSpPr>
          <p:nvPr/>
        </p:nvSpPr>
        <p:spPr bwMode="auto">
          <a:xfrm>
            <a:off x="3348038" y="3295650"/>
            <a:ext cx="2224087"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ct val="150000"/>
              </a:lnSpc>
              <a:buFont typeface="Arial" panose="020B0604020202020204" pitchFamily="34" charset="0"/>
              <a:buNone/>
            </a:pPr>
            <a:r>
              <a:rPr lang="zh-CN" altLang="en-US" sz="4800">
                <a:solidFill>
                  <a:srgbClr val="003399"/>
                </a:solidFill>
                <a:latin typeface="黑体" panose="02010609060101010101" pitchFamily="49" charset="-122"/>
                <a:ea typeface="黑体" panose="02010609060101010101" pitchFamily="49" charset="-122"/>
              </a:rPr>
              <a:t> </a:t>
            </a:r>
            <a:r>
              <a:rPr lang="zh-CN" altLang="en-US" sz="5400">
                <a:solidFill>
                  <a:srgbClr val="7030A0"/>
                </a:solidFill>
                <a:latin typeface="隶书" panose="02010509060101010101" pitchFamily="49" charset="-122"/>
                <a:ea typeface="隶书" panose="02010509060101010101" pitchFamily="49" charset="-122"/>
              </a:rPr>
              <a:t>课 件</a:t>
            </a:r>
            <a:endParaRPr lang="en-US" altLang="zh-CN" sz="5400">
              <a:solidFill>
                <a:srgbClr val="7030A0"/>
              </a:solidFill>
              <a:latin typeface="隶书" panose="02010509060101010101" pitchFamily="49" charset="-122"/>
              <a:ea typeface="隶书" panose="02010509060101010101" pitchFamily="49"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3">
            <a:extLst>
              <a:ext uri="{FF2B5EF4-FFF2-40B4-BE49-F238E27FC236}">
                <a16:creationId xmlns:a16="http://schemas.microsoft.com/office/drawing/2014/main" id="{37237E5A-4129-5E75-0EC2-BAFDEE6CF047}"/>
              </a:ext>
            </a:extLst>
          </p:cNvPr>
          <p:cNvSpPr>
            <a:spLocks noGrp="1" noChangeArrowheads="1"/>
          </p:cNvSpPr>
          <p:nvPr>
            <p:ph type="body" idx="1"/>
          </p:nvPr>
        </p:nvSpPr>
        <p:spPr>
          <a:xfrm>
            <a:off x="0" y="2714625"/>
            <a:ext cx="5214938" cy="1643063"/>
          </a:xfrm>
          <a:solidFill>
            <a:srgbClr val="003399"/>
          </a:solidFill>
        </p:spPr>
        <p:txBody>
          <a:bodyPr/>
          <a:lstStyle/>
          <a:p>
            <a:pPr eaLnBrk="1" hangingPunct="1">
              <a:lnSpc>
                <a:spcPct val="150000"/>
              </a:lnSpc>
              <a:buFont typeface="Wingdings" panose="05000000000000000000" pitchFamily="2" charset="2"/>
              <a:buNone/>
              <a:defRPr/>
            </a:pPr>
            <a:r>
              <a:rPr lang="zh-CN" altLang="en-US" sz="6000" dirty="0">
                <a:solidFill>
                  <a:schemeClr val="bg1">
                    <a:lumMod val="95000"/>
                  </a:schemeClr>
                </a:solidFill>
                <a:latin typeface="微软雅黑" pitchFamily="34" charset="-122"/>
                <a:ea typeface="微软雅黑" pitchFamily="34" charset="-122"/>
              </a:rPr>
              <a:t>   同 步 原 理</a:t>
            </a:r>
            <a:endParaRPr lang="en-US" altLang="zh-CN" sz="6000" dirty="0">
              <a:solidFill>
                <a:srgbClr val="000099"/>
              </a:solidFill>
            </a:endParaRPr>
          </a:p>
        </p:txBody>
      </p:sp>
      <p:pic>
        <p:nvPicPr>
          <p:cNvPr id="6" name="内容占位符 34" descr="通信原理（第7版）展开.jpg">
            <a:extLst>
              <a:ext uri="{FF2B5EF4-FFF2-40B4-BE49-F238E27FC236}">
                <a16:creationId xmlns:a16="http://schemas.microsoft.com/office/drawing/2014/main" id="{5F93E3FF-BF1D-07A3-082E-5DFD906D6134}"/>
              </a:ext>
            </a:extLst>
          </p:cNvPr>
          <p:cNvPicPr>
            <a:picLocks noChangeAspect="1"/>
          </p:cNvPicPr>
          <p:nvPr/>
        </p:nvPicPr>
        <p:blipFill>
          <a:blip r:embed="rId2" cstate="print"/>
          <a:srcRect l="55334" t="2000" r="15137" b="2000"/>
          <a:stretch>
            <a:fillRect/>
          </a:stretch>
        </p:blipFill>
        <p:spPr>
          <a:xfrm>
            <a:off x="5786446" y="1500174"/>
            <a:ext cx="2009195" cy="3214710"/>
          </a:xfrm>
          <a:prstGeom prst="rect">
            <a:avLst/>
          </a:prstGeom>
          <a:scene3d>
            <a:camera prst="orthographicFront"/>
            <a:lightRig rig="threePt" dir="t"/>
          </a:scene3d>
          <a:sp3d>
            <a:bevelT w="101600" prst="riblet"/>
          </a:sp3d>
        </p:spPr>
      </p:pic>
      <p:sp>
        <p:nvSpPr>
          <p:cNvPr id="7" name="Rectangle 3">
            <a:extLst>
              <a:ext uri="{FF2B5EF4-FFF2-40B4-BE49-F238E27FC236}">
                <a16:creationId xmlns:a16="http://schemas.microsoft.com/office/drawing/2014/main" id="{0405A469-CAE9-5C71-5D85-17F44A7CED9A}"/>
              </a:ext>
            </a:extLst>
          </p:cNvPr>
          <p:cNvSpPr txBox="1">
            <a:spLocks noChangeArrowheads="1"/>
          </p:cNvSpPr>
          <p:nvPr/>
        </p:nvSpPr>
        <p:spPr bwMode="auto">
          <a:xfrm>
            <a:off x="8143875" y="2714625"/>
            <a:ext cx="785813" cy="1714500"/>
          </a:xfrm>
          <a:prstGeom prst="rect">
            <a:avLst/>
          </a:prstGeom>
          <a:solidFill>
            <a:srgbClr val="003399"/>
          </a:solidFill>
          <a:ln w="9525">
            <a:noFill/>
            <a:miter lim="800000"/>
            <a:headEnd/>
            <a:tailEnd/>
          </a:ln>
          <a:effectLst>
            <a:outerShdw blurRad="50800" dist="38100" dir="2700000" algn="tl" rotWithShape="0">
              <a:prstClr val="black">
                <a:alpha val="40000"/>
              </a:prstClr>
            </a:outerShdw>
          </a:effectLst>
        </p:spPr>
        <p:txBody>
          <a:bodyPr/>
          <a:lstStyle/>
          <a:p>
            <a:pPr marL="342900" indent="-342900">
              <a:lnSpc>
                <a:spcPct val="130000"/>
              </a:lnSpc>
              <a:spcBef>
                <a:spcPct val="20000"/>
              </a:spcBef>
              <a:buClr>
                <a:schemeClr val="folHlink"/>
              </a:buClr>
              <a:buSzPct val="60000"/>
              <a:buFont typeface="Wingdings" pitchFamily="2" charset="2"/>
              <a:buNone/>
              <a:defRPr/>
            </a:pPr>
            <a:r>
              <a:rPr lang="zh-CN" altLang="en-US" sz="5400" kern="0" dirty="0">
                <a:solidFill>
                  <a:schemeClr val="bg1">
                    <a:lumMod val="95000"/>
                  </a:schemeClr>
                </a:solidFill>
                <a:latin typeface="微软雅黑" pitchFamily="34" charset="-122"/>
                <a:ea typeface="微软雅黑" pitchFamily="34" charset="-122"/>
              </a:rPr>
              <a:t>   </a:t>
            </a:r>
            <a:endParaRPr lang="en-US" altLang="zh-CN" sz="6000" kern="0" dirty="0">
              <a:solidFill>
                <a:srgbClr val="000099"/>
              </a:solidFill>
              <a:latin typeface="+mn-lt"/>
              <a:ea typeface="+mn-ea"/>
            </a:endParaRPr>
          </a:p>
        </p:txBody>
      </p:sp>
      <p:sp>
        <p:nvSpPr>
          <p:cNvPr id="9" name="Rectangle 6">
            <a:extLst>
              <a:ext uri="{FF2B5EF4-FFF2-40B4-BE49-F238E27FC236}">
                <a16:creationId xmlns:a16="http://schemas.microsoft.com/office/drawing/2014/main" id="{81568047-EADC-305D-84AD-06BDC7752537}"/>
              </a:ext>
            </a:extLst>
          </p:cNvPr>
          <p:cNvSpPr>
            <a:spLocks noChangeArrowheads="1"/>
          </p:cNvSpPr>
          <p:nvPr/>
        </p:nvSpPr>
        <p:spPr bwMode="auto">
          <a:xfrm>
            <a:off x="5643563" y="4643438"/>
            <a:ext cx="2500312" cy="785812"/>
          </a:xfrm>
          <a:prstGeom prst="rect">
            <a:avLst/>
          </a:prstGeom>
          <a:noFill/>
          <a:ln w="9525">
            <a:noFill/>
            <a:miter lim="800000"/>
            <a:headEnd/>
            <a:tailEnd/>
          </a:ln>
        </p:spPr>
        <p:txBody>
          <a:bodyPr anchor="ctr"/>
          <a:lstStyle/>
          <a:p>
            <a:pPr>
              <a:defRPr/>
            </a:pPr>
            <a:r>
              <a:rPr lang="zh-CN" altLang="en-US" sz="2000" dirty="0">
                <a:solidFill>
                  <a:srgbClr val="0000CC"/>
                </a:solidFill>
                <a:effectLst>
                  <a:outerShdw blurRad="38100" dist="38100" dir="2700000" algn="tl">
                    <a:srgbClr val="000000">
                      <a:alpha val="43137"/>
                    </a:srgbClr>
                  </a:outerShdw>
                </a:effectLst>
                <a:latin typeface="微软雅黑" pitchFamily="34" charset="-122"/>
                <a:ea typeface="微软雅黑" pitchFamily="34" charset="-122"/>
                <a:cs typeface="Arial" charset="0"/>
              </a:rPr>
              <a:t>通信原理（第</a:t>
            </a:r>
            <a:r>
              <a:rPr lang="en-US" altLang="zh-CN" sz="2000" dirty="0">
                <a:solidFill>
                  <a:srgbClr val="0000CC"/>
                </a:solidFill>
                <a:effectLst>
                  <a:outerShdw blurRad="38100" dist="38100" dir="2700000" algn="tl">
                    <a:srgbClr val="000000">
                      <a:alpha val="43137"/>
                    </a:srgbClr>
                  </a:outerShdw>
                </a:effectLst>
                <a:latin typeface="微软雅黑" pitchFamily="34" charset="-122"/>
                <a:ea typeface="微软雅黑" pitchFamily="34" charset="-122"/>
                <a:cs typeface="Arial" charset="0"/>
              </a:rPr>
              <a:t>7</a:t>
            </a:r>
            <a:r>
              <a:rPr lang="zh-CN" altLang="en-US" sz="2000" dirty="0">
                <a:solidFill>
                  <a:srgbClr val="0000CC"/>
                </a:solidFill>
                <a:effectLst>
                  <a:outerShdw blurRad="38100" dist="38100" dir="2700000" algn="tl">
                    <a:srgbClr val="000000">
                      <a:alpha val="43137"/>
                    </a:srgbClr>
                  </a:outerShdw>
                </a:effectLst>
                <a:latin typeface="微软雅黑" pitchFamily="34" charset="-122"/>
                <a:ea typeface="微软雅黑" pitchFamily="34" charset="-122"/>
                <a:cs typeface="Arial" charset="0"/>
              </a:rPr>
              <a:t>版</a:t>
            </a:r>
            <a:r>
              <a:rPr lang="zh-CN" altLang="en-US" sz="2400" dirty="0">
                <a:solidFill>
                  <a:srgbClr val="0000CC"/>
                </a:solidFill>
                <a:effectLst>
                  <a:outerShdw blurRad="38100" dist="38100" dir="2700000" algn="tl">
                    <a:srgbClr val="000000">
                      <a:alpha val="43137"/>
                    </a:srgbClr>
                  </a:outerShdw>
                </a:effectLst>
                <a:latin typeface="黑体" pitchFamily="2" charset="-122"/>
                <a:ea typeface="黑体" pitchFamily="2" charset="-122"/>
                <a:cs typeface="Arial" charset="0"/>
              </a:rPr>
              <a:t>）</a:t>
            </a:r>
          </a:p>
        </p:txBody>
      </p:sp>
      <p:sp>
        <p:nvSpPr>
          <p:cNvPr id="34822" name="矩形 11">
            <a:extLst>
              <a:ext uri="{FF2B5EF4-FFF2-40B4-BE49-F238E27FC236}">
                <a16:creationId xmlns:a16="http://schemas.microsoft.com/office/drawing/2014/main" id="{8F735C3E-B03B-470E-5954-C0A47D82F359}"/>
              </a:ext>
            </a:extLst>
          </p:cNvPr>
          <p:cNvSpPr>
            <a:spLocks noChangeArrowheads="1"/>
          </p:cNvSpPr>
          <p:nvPr/>
        </p:nvSpPr>
        <p:spPr bwMode="auto">
          <a:xfrm>
            <a:off x="0" y="0"/>
            <a:ext cx="9144000" cy="1285875"/>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pic>
        <p:nvPicPr>
          <p:cNvPr id="34823" name="内容占位符 12" descr="校徽3.gif">
            <a:extLst>
              <a:ext uri="{FF2B5EF4-FFF2-40B4-BE49-F238E27FC236}">
                <a16:creationId xmlns:a16="http://schemas.microsoft.com/office/drawing/2014/main" id="{E403F834-57D4-3C2A-4597-D34FD14E43D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00750" y="5337175"/>
            <a:ext cx="571500"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4" name="内容占位符 27" descr="图标3.gif">
            <a:extLst>
              <a:ext uri="{FF2B5EF4-FFF2-40B4-BE49-F238E27FC236}">
                <a16:creationId xmlns:a16="http://schemas.microsoft.com/office/drawing/2014/main" id="{0F700A0A-6193-89DA-CD49-A35DD35A25F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5357813"/>
            <a:ext cx="5699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a:extLst>
              <a:ext uri="{FF2B5EF4-FFF2-40B4-BE49-F238E27FC236}">
                <a16:creationId xmlns:a16="http://schemas.microsoft.com/office/drawing/2014/main" id="{85536FB6-9754-96C8-3C0B-19FEC6C92596}"/>
              </a:ext>
            </a:extLst>
          </p:cNvPr>
          <p:cNvSpPr/>
          <p:nvPr/>
        </p:nvSpPr>
        <p:spPr>
          <a:xfrm>
            <a:off x="466725" y="1928813"/>
            <a:ext cx="1633538" cy="769937"/>
          </a:xfrm>
          <a:prstGeom prst="rect">
            <a:avLst/>
          </a:prstGeom>
        </p:spPr>
        <p:txBody>
          <a:bodyPr wrap="none">
            <a:spAutoFit/>
          </a:bodyPr>
          <a:lstStyle/>
          <a:p>
            <a:pPr>
              <a:defRPr/>
            </a:pPr>
            <a:r>
              <a:rPr lang="zh-CN" altLang="en-US" sz="3200" kern="0" dirty="0">
                <a:solidFill>
                  <a:srgbClr val="003399"/>
                </a:solidFill>
                <a:effectLst>
                  <a:outerShdw blurRad="38100" dist="38100" dir="2700000" algn="tl">
                    <a:srgbClr val="000000">
                      <a:alpha val="43137"/>
                    </a:srgbClr>
                  </a:outerShdw>
                </a:effectLst>
                <a:latin typeface="微软雅黑" pitchFamily="34" charset="-122"/>
                <a:ea typeface="微软雅黑" pitchFamily="34" charset="-122"/>
              </a:rPr>
              <a:t>第</a:t>
            </a:r>
            <a:r>
              <a:rPr lang="en-US" altLang="zh-CN" sz="4400" b="1" kern="0" dirty="0">
                <a:solidFill>
                  <a:srgbClr val="7030A0"/>
                </a:solidFill>
                <a:effectLst>
                  <a:outerShdw blurRad="38100" dist="38100" dir="2700000" algn="tl">
                    <a:srgbClr val="000000">
                      <a:alpha val="43137"/>
                    </a:srgbClr>
                  </a:outerShdw>
                </a:effectLst>
                <a:latin typeface="Arial" pitchFamily="34" charset="0"/>
                <a:ea typeface="Arial Unicode MS" pitchFamily="34" charset="-122"/>
                <a:cs typeface="Arial" pitchFamily="34" charset="0"/>
              </a:rPr>
              <a:t>13</a:t>
            </a:r>
            <a:r>
              <a:rPr lang="zh-CN" altLang="en-US" sz="3200" kern="0" dirty="0">
                <a:solidFill>
                  <a:srgbClr val="003399"/>
                </a:solidFill>
                <a:effectLst>
                  <a:outerShdw blurRad="38100" dist="38100" dir="2700000" algn="tl">
                    <a:srgbClr val="000000">
                      <a:alpha val="43137"/>
                    </a:srgbClr>
                  </a:outerShdw>
                </a:effectLst>
                <a:latin typeface="微软雅黑" pitchFamily="34" charset="-122"/>
                <a:ea typeface="微软雅黑" pitchFamily="34" charset="-122"/>
              </a:rPr>
              <a:t>章</a:t>
            </a:r>
            <a:endParaRPr lang="zh-CN" altLang="en-US" sz="3200" dirty="0">
              <a:solidFill>
                <a:srgbClr val="003399"/>
              </a:solidFill>
              <a:effectLst>
                <a:outerShdw blurRad="38100" dist="38100" dir="2700000" algn="tl">
                  <a:srgbClr val="000000">
                    <a:alpha val="43137"/>
                  </a:srgbClr>
                </a:outerShdw>
              </a:effectLst>
              <a:ea typeface="宋体" charset="-122"/>
            </a:endParaRPr>
          </a:p>
        </p:txBody>
      </p:sp>
      <p:sp>
        <p:nvSpPr>
          <p:cNvPr id="12" name="Rectangle 6">
            <a:extLst>
              <a:ext uri="{FF2B5EF4-FFF2-40B4-BE49-F238E27FC236}">
                <a16:creationId xmlns:a16="http://schemas.microsoft.com/office/drawing/2014/main" id="{AEC069EB-71AE-D323-D046-DE76E70197E6}"/>
              </a:ext>
            </a:extLst>
          </p:cNvPr>
          <p:cNvSpPr>
            <a:spLocks noChangeArrowheads="1"/>
          </p:cNvSpPr>
          <p:nvPr/>
        </p:nvSpPr>
        <p:spPr bwMode="auto">
          <a:xfrm>
            <a:off x="5643563" y="6000750"/>
            <a:ext cx="2500312" cy="500063"/>
          </a:xfrm>
          <a:prstGeom prst="rect">
            <a:avLst/>
          </a:prstGeom>
          <a:noFill/>
          <a:ln w="9525">
            <a:noFill/>
            <a:miter lim="800000"/>
            <a:headEnd/>
            <a:tailEnd/>
          </a:ln>
        </p:spPr>
        <p:txBody>
          <a:bodyPr anchor="ctr"/>
          <a:lstStyle/>
          <a:p>
            <a:pPr>
              <a:defRPr/>
            </a:pPr>
            <a:r>
              <a:rPr lang="zh-CN" altLang="en-US" dirty="0">
                <a:solidFill>
                  <a:srgbClr val="003399"/>
                </a:solidFill>
                <a:effectLst>
                  <a:outerShdw blurRad="38100" dist="38100" dir="2700000" algn="tl">
                    <a:srgbClr val="000000">
                      <a:alpha val="43137"/>
                    </a:srgbClr>
                  </a:outerShdw>
                </a:effectLst>
                <a:latin typeface="微软雅黑" pitchFamily="34" charset="-122"/>
                <a:ea typeface="微软雅黑" pitchFamily="34" charset="-122"/>
              </a:rPr>
              <a:t>樊昌信  曹丽娜 编著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9"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ppt_x</p:attrName>
                                        </p:attrNameLst>
                                      </p:cBhvr>
                                      <p:tavLst>
                                        <p:tav tm="0">
                                          <p:val>
                                            <p:strVal val="#ppt_x-.2"/>
                                          </p:val>
                                        </p:tav>
                                        <p:tav tm="100000">
                                          <p:val>
                                            <p:strVal val="#ppt_x"/>
                                          </p:val>
                                        </p:tav>
                                      </p:tavLst>
                                    </p:anim>
                                    <p:anim calcmode="lin" valueType="num">
                                      <p:cBhvr>
                                        <p:cTn id="8" dur="1000" fill="hold"/>
                                        <p:tgtEl>
                                          <p:spTgt spid="9"/>
                                        </p:tgtEl>
                                        <p:attrNameLst>
                                          <p:attrName>ppt_y</p:attrName>
                                        </p:attrNameLst>
                                      </p:cBhvr>
                                      <p:tavLst>
                                        <p:tav tm="0">
                                          <p:val>
                                            <p:strVal val="#ppt_y"/>
                                          </p:val>
                                        </p:tav>
                                        <p:tav tm="100000">
                                          <p:val>
                                            <p:strVal val="#ppt_y"/>
                                          </p:val>
                                        </p:tav>
                                      </p:tavLst>
                                    </p:anim>
                                    <p:animEffect transition="in" filter="wipe(right)" prLst="gradientSize: 0.1">
                                      <p:cBhvr>
                                        <p:cTn id="9" dur="1000"/>
                                        <p:tgtEl>
                                          <p:spTgt spid="9"/>
                                        </p:tgtEl>
                                      </p:cBhvr>
                                    </p:animEffect>
                                  </p:childTnLst>
                                </p:cTn>
                              </p:par>
                            </p:childTnLst>
                          </p:cTn>
                        </p:par>
                        <p:par>
                          <p:cTn id="10" fill="hold" nodeType="afterGroup">
                            <p:stCondLst>
                              <p:cond delay="1000"/>
                            </p:stCondLst>
                            <p:childTnLst>
                              <p:par>
                                <p:cTn id="11" presetID="22" presetClass="entr" presetSubtype="1" fill="hold" nodeType="after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up)">
                                      <p:cBhvr>
                                        <p:cTn id="13"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椭圆 36">
            <a:extLst>
              <a:ext uri="{FF2B5EF4-FFF2-40B4-BE49-F238E27FC236}">
                <a16:creationId xmlns:a16="http://schemas.microsoft.com/office/drawing/2014/main" id="{FCB6082E-65E9-9F8E-3797-C758A0EC368E}"/>
              </a:ext>
            </a:extLst>
          </p:cNvPr>
          <p:cNvSpPr/>
          <p:nvPr/>
        </p:nvSpPr>
        <p:spPr bwMode="auto">
          <a:xfrm>
            <a:off x="4589463" y="2786063"/>
            <a:ext cx="1449387" cy="1754187"/>
          </a:xfrm>
          <a:prstGeom prst="ellipse">
            <a:avLst/>
          </a:prstGeom>
          <a:solidFill>
            <a:schemeClr val="bg2">
              <a:lumMod val="10000"/>
              <a:lumOff val="90000"/>
            </a:schemeClr>
          </a:solidFill>
          <a:ln w="9525" cap="flat" cmpd="sng" algn="ctr">
            <a:solidFill>
              <a:schemeClr val="bg1">
                <a:lumMod val="75000"/>
              </a:schemeClr>
            </a:solidFill>
            <a:prstDash val="solid"/>
            <a:miter lim="800000"/>
            <a:headEnd type="none" w="med" len="med"/>
            <a:tailEnd type="none" w="med" len="med"/>
          </a:ln>
          <a:effectLst>
            <a:outerShdw blurRad="50800" dist="38100" dir="2700000" algn="tl" rotWithShape="0">
              <a:prstClr val="black">
                <a:alpha val="40000"/>
              </a:prstClr>
            </a:outerShdw>
          </a:effectLst>
        </p:spPr>
        <p:txBody>
          <a:bodyPr wrap="none"/>
          <a:lstStyle/>
          <a:p>
            <a:pPr>
              <a:defRPr/>
            </a:pPr>
            <a:endParaRPr lang="zh-CN" altLang="en-US">
              <a:ea typeface="宋体" charset="-122"/>
            </a:endParaRPr>
          </a:p>
        </p:txBody>
      </p:sp>
      <p:grpSp>
        <p:nvGrpSpPr>
          <p:cNvPr id="2" name="Group 8">
            <a:extLst>
              <a:ext uri="{FF2B5EF4-FFF2-40B4-BE49-F238E27FC236}">
                <a16:creationId xmlns:a16="http://schemas.microsoft.com/office/drawing/2014/main" id="{411068DA-B162-17DE-F97D-8DEC9821A1B4}"/>
              </a:ext>
            </a:extLst>
          </p:cNvPr>
          <p:cNvGrpSpPr>
            <a:grpSpLocks/>
          </p:cNvGrpSpPr>
          <p:nvPr/>
        </p:nvGrpSpPr>
        <p:grpSpPr bwMode="auto">
          <a:xfrm>
            <a:off x="1612900" y="1749425"/>
            <a:ext cx="169863" cy="215900"/>
            <a:chOff x="2976" y="1008"/>
            <a:chExt cx="1056" cy="432"/>
          </a:xfrm>
        </p:grpSpPr>
        <p:sp>
          <p:nvSpPr>
            <p:cNvPr id="35865" name="Oval 9">
              <a:extLst>
                <a:ext uri="{FF2B5EF4-FFF2-40B4-BE49-F238E27FC236}">
                  <a16:creationId xmlns:a16="http://schemas.microsoft.com/office/drawing/2014/main" id="{6A032E82-E956-3968-E21F-A70A2BB39158}"/>
                </a:ext>
              </a:extLst>
            </p:cNvPr>
            <p:cNvSpPr>
              <a:spLocks noChangeArrowheads="1"/>
            </p:cNvSpPr>
            <p:nvPr/>
          </p:nvSpPr>
          <p:spPr bwMode="auto">
            <a:xfrm>
              <a:off x="2976" y="1008"/>
              <a:ext cx="1056" cy="432"/>
            </a:xfrm>
            <a:prstGeom prst="ellipse">
              <a:avLst/>
            </a:prstGeom>
            <a:gradFill rotWithShape="0">
              <a:gsLst>
                <a:gs pos="0">
                  <a:srgbClr val="454A4D"/>
                </a:gs>
                <a:gs pos="100000">
                  <a:srgbClr val="BCCAD4"/>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lIns="73025" tIns="36512" rIns="73025" bIns="36512"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5866" name="Oval 10">
              <a:extLst>
                <a:ext uri="{FF2B5EF4-FFF2-40B4-BE49-F238E27FC236}">
                  <a16:creationId xmlns:a16="http://schemas.microsoft.com/office/drawing/2014/main" id="{1BCE5751-A2B4-1EC5-BDE2-B6F83F3B4F25}"/>
                </a:ext>
              </a:extLst>
            </p:cNvPr>
            <p:cNvSpPr>
              <a:spLocks noChangeArrowheads="1"/>
            </p:cNvSpPr>
            <p:nvPr/>
          </p:nvSpPr>
          <p:spPr bwMode="auto">
            <a:xfrm>
              <a:off x="3024" y="1056"/>
              <a:ext cx="960" cy="336"/>
            </a:xfrm>
            <a:prstGeom prst="ellipse">
              <a:avLst/>
            </a:prstGeom>
            <a:gradFill rotWithShape="0">
              <a:gsLst>
                <a:gs pos="0">
                  <a:srgbClr val="BCCAD4"/>
                </a:gs>
                <a:gs pos="100000">
                  <a:srgbClr val="575D62"/>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lIns="73025" tIns="36512" rIns="73025" bIns="36512"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3" name="Group 17">
            <a:extLst>
              <a:ext uri="{FF2B5EF4-FFF2-40B4-BE49-F238E27FC236}">
                <a16:creationId xmlns:a16="http://schemas.microsoft.com/office/drawing/2014/main" id="{E9E2C81E-5A09-EEAD-7E1B-BBFC389704BE}"/>
              </a:ext>
            </a:extLst>
          </p:cNvPr>
          <p:cNvGrpSpPr>
            <a:grpSpLocks/>
          </p:cNvGrpSpPr>
          <p:nvPr/>
        </p:nvGrpSpPr>
        <p:grpSpPr bwMode="auto">
          <a:xfrm>
            <a:off x="1627188" y="2571750"/>
            <a:ext cx="169862" cy="215900"/>
            <a:chOff x="2976" y="1008"/>
            <a:chExt cx="1056" cy="432"/>
          </a:xfrm>
        </p:grpSpPr>
        <p:sp>
          <p:nvSpPr>
            <p:cNvPr id="35863" name="Oval 18">
              <a:extLst>
                <a:ext uri="{FF2B5EF4-FFF2-40B4-BE49-F238E27FC236}">
                  <a16:creationId xmlns:a16="http://schemas.microsoft.com/office/drawing/2014/main" id="{83C33A05-F833-7693-5943-3C115F33532F}"/>
                </a:ext>
              </a:extLst>
            </p:cNvPr>
            <p:cNvSpPr>
              <a:spLocks noChangeArrowheads="1"/>
            </p:cNvSpPr>
            <p:nvPr/>
          </p:nvSpPr>
          <p:spPr bwMode="auto">
            <a:xfrm>
              <a:off x="2976" y="1008"/>
              <a:ext cx="1056" cy="432"/>
            </a:xfrm>
            <a:prstGeom prst="ellipse">
              <a:avLst/>
            </a:prstGeom>
            <a:gradFill rotWithShape="0">
              <a:gsLst>
                <a:gs pos="0">
                  <a:srgbClr val="454A4D"/>
                </a:gs>
                <a:gs pos="100000">
                  <a:srgbClr val="BCCAD4"/>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lIns="73025" tIns="36512" rIns="73025" bIns="36512"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5864" name="Oval 19">
              <a:extLst>
                <a:ext uri="{FF2B5EF4-FFF2-40B4-BE49-F238E27FC236}">
                  <a16:creationId xmlns:a16="http://schemas.microsoft.com/office/drawing/2014/main" id="{76582728-E44D-B634-85FD-807EF7989403}"/>
                </a:ext>
              </a:extLst>
            </p:cNvPr>
            <p:cNvSpPr>
              <a:spLocks noChangeArrowheads="1"/>
            </p:cNvSpPr>
            <p:nvPr/>
          </p:nvSpPr>
          <p:spPr bwMode="auto">
            <a:xfrm>
              <a:off x="3024" y="1056"/>
              <a:ext cx="960" cy="336"/>
            </a:xfrm>
            <a:prstGeom prst="ellipse">
              <a:avLst/>
            </a:prstGeom>
            <a:gradFill rotWithShape="0">
              <a:gsLst>
                <a:gs pos="0">
                  <a:srgbClr val="BCCAD4"/>
                </a:gs>
                <a:gs pos="100000">
                  <a:srgbClr val="575D62"/>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lIns="73025" tIns="36512" rIns="73025" bIns="36512"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grpSp>
        <p:nvGrpSpPr>
          <p:cNvPr id="4" name="Group 20">
            <a:extLst>
              <a:ext uri="{FF2B5EF4-FFF2-40B4-BE49-F238E27FC236}">
                <a16:creationId xmlns:a16="http://schemas.microsoft.com/office/drawing/2014/main" id="{FBFCD25A-BDD8-B0FB-D8E8-C7D4025144FB}"/>
              </a:ext>
            </a:extLst>
          </p:cNvPr>
          <p:cNvGrpSpPr>
            <a:grpSpLocks/>
          </p:cNvGrpSpPr>
          <p:nvPr/>
        </p:nvGrpSpPr>
        <p:grpSpPr bwMode="auto">
          <a:xfrm>
            <a:off x="1627188" y="4357688"/>
            <a:ext cx="169862" cy="215900"/>
            <a:chOff x="2976" y="1008"/>
            <a:chExt cx="1056" cy="432"/>
          </a:xfrm>
        </p:grpSpPr>
        <p:sp>
          <p:nvSpPr>
            <p:cNvPr id="35861" name="Oval 21">
              <a:extLst>
                <a:ext uri="{FF2B5EF4-FFF2-40B4-BE49-F238E27FC236}">
                  <a16:creationId xmlns:a16="http://schemas.microsoft.com/office/drawing/2014/main" id="{988A3F6E-FA5F-8BDD-0632-BD1CD094F796}"/>
                </a:ext>
              </a:extLst>
            </p:cNvPr>
            <p:cNvSpPr>
              <a:spLocks noChangeArrowheads="1"/>
            </p:cNvSpPr>
            <p:nvPr/>
          </p:nvSpPr>
          <p:spPr bwMode="auto">
            <a:xfrm>
              <a:off x="2976" y="1008"/>
              <a:ext cx="1056" cy="432"/>
            </a:xfrm>
            <a:prstGeom prst="ellipse">
              <a:avLst/>
            </a:prstGeom>
            <a:gradFill rotWithShape="0">
              <a:gsLst>
                <a:gs pos="0">
                  <a:srgbClr val="454A4D"/>
                </a:gs>
                <a:gs pos="100000">
                  <a:srgbClr val="BCCAD4"/>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lIns="73025" tIns="36512" rIns="73025" bIns="36512"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5862" name="Oval 22">
              <a:extLst>
                <a:ext uri="{FF2B5EF4-FFF2-40B4-BE49-F238E27FC236}">
                  <a16:creationId xmlns:a16="http://schemas.microsoft.com/office/drawing/2014/main" id="{C04ECD91-90B4-E377-BA1A-FAEBB55E1F37}"/>
                </a:ext>
              </a:extLst>
            </p:cNvPr>
            <p:cNvSpPr>
              <a:spLocks noChangeArrowheads="1"/>
            </p:cNvSpPr>
            <p:nvPr/>
          </p:nvSpPr>
          <p:spPr bwMode="auto">
            <a:xfrm>
              <a:off x="3024" y="1056"/>
              <a:ext cx="960" cy="336"/>
            </a:xfrm>
            <a:prstGeom prst="ellipse">
              <a:avLst/>
            </a:prstGeom>
            <a:gradFill rotWithShape="0">
              <a:gsLst>
                <a:gs pos="0">
                  <a:srgbClr val="BCCAD4"/>
                </a:gs>
                <a:gs pos="100000">
                  <a:srgbClr val="575D62"/>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lIns="73025" tIns="36512" rIns="73025" bIns="36512"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sp>
        <p:nvSpPr>
          <p:cNvPr id="37891" name="Rectangle 3">
            <a:extLst>
              <a:ext uri="{FF2B5EF4-FFF2-40B4-BE49-F238E27FC236}">
                <a16:creationId xmlns:a16="http://schemas.microsoft.com/office/drawing/2014/main" id="{96B114F0-EA45-669A-29D9-1A78760CB7B6}"/>
              </a:ext>
            </a:extLst>
          </p:cNvPr>
          <p:cNvSpPr>
            <a:spLocks noChangeArrowheads="1"/>
          </p:cNvSpPr>
          <p:nvPr/>
        </p:nvSpPr>
        <p:spPr bwMode="auto">
          <a:xfrm>
            <a:off x="0" y="292100"/>
            <a:ext cx="2928938" cy="708025"/>
          </a:xfrm>
          <a:prstGeom prst="rect">
            <a:avLst/>
          </a:prstGeom>
          <a:solidFill>
            <a:schemeClr val="tx2"/>
          </a:solidFill>
          <a:ln w="9525">
            <a:noFill/>
            <a:miter lim="800000"/>
            <a:headEnd/>
            <a:tailEnd/>
          </a:ln>
          <a:effectLst/>
        </p:spPr>
        <p:txBody>
          <a:bodyPr>
            <a:spAutoFit/>
          </a:bodyPr>
          <a:lstStyle/>
          <a:p>
            <a:pPr>
              <a:defRPr/>
            </a:pPr>
            <a:r>
              <a:rPr lang="zh-CN" altLang="en-US" sz="4000" dirty="0">
                <a:solidFill>
                  <a:schemeClr val="bg1"/>
                </a:solidFill>
                <a:latin typeface="微软雅黑" pitchFamily="34" charset="-122"/>
                <a:ea typeface="微软雅黑" pitchFamily="34" charset="-122"/>
              </a:rPr>
              <a:t>   </a:t>
            </a:r>
            <a:r>
              <a:rPr lang="zh-CN" altLang="en-US" sz="3600" dirty="0">
                <a:solidFill>
                  <a:schemeClr val="bg1"/>
                </a:solidFill>
                <a:latin typeface="微软雅黑" pitchFamily="34" charset="-122"/>
                <a:ea typeface="微软雅黑" pitchFamily="34" charset="-122"/>
              </a:rPr>
              <a:t>本章内容</a:t>
            </a:r>
            <a:r>
              <a:rPr lang="en-US" altLang="zh-CN" sz="3600" dirty="0">
                <a:solidFill>
                  <a:schemeClr val="bg1"/>
                </a:solidFill>
                <a:latin typeface="微软雅黑" pitchFamily="34" charset="-122"/>
                <a:ea typeface="微软雅黑" pitchFamily="34" charset="-122"/>
              </a:rPr>
              <a:t>:</a:t>
            </a:r>
            <a:r>
              <a:rPr lang="zh-CN" altLang="en-US" sz="3600" dirty="0">
                <a:solidFill>
                  <a:schemeClr val="bg1"/>
                </a:solidFill>
                <a:latin typeface="微软雅黑" pitchFamily="34" charset="-122"/>
                <a:ea typeface="微软雅黑" pitchFamily="34" charset="-122"/>
              </a:rPr>
              <a:t>  </a:t>
            </a:r>
            <a:endParaRPr lang="zh-CN" altLang="en-US" sz="3600" dirty="0">
              <a:solidFill>
                <a:schemeClr val="bg1"/>
              </a:solidFill>
              <a:latin typeface="+mn-ea"/>
              <a:ea typeface="+mn-ea"/>
              <a:cs typeface="Arial" pitchFamily="34" charset="0"/>
            </a:endParaRPr>
          </a:p>
        </p:txBody>
      </p:sp>
      <p:sp>
        <p:nvSpPr>
          <p:cNvPr id="18" name="Rectangle 3">
            <a:extLst>
              <a:ext uri="{FF2B5EF4-FFF2-40B4-BE49-F238E27FC236}">
                <a16:creationId xmlns:a16="http://schemas.microsoft.com/office/drawing/2014/main" id="{FEF1B605-CC9C-CB5B-DEAC-A8BEF866208B}"/>
              </a:ext>
            </a:extLst>
          </p:cNvPr>
          <p:cNvSpPr>
            <a:spLocks noChangeArrowheads="1"/>
          </p:cNvSpPr>
          <p:nvPr/>
        </p:nvSpPr>
        <p:spPr bwMode="auto">
          <a:xfrm>
            <a:off x="6357938" y="538163"/>
            <a:ext cx="2786062" cy="461962"/>
          </a:xfrm>
          <a:prstGeom prst="rect">
            <a:avLst/>
          </a:prstGeom>
          <a:noFill/>
          <a:ln w="9525">
            <a:noFill/>
            <a:miter lim="800000"/>
            <a:headEnd/>
            <a:tailEnd/>
          </a:ln>
        </p:spPr>
        <p:txBody>
          <a:bodyPr>
            <a:spAutoFit/>
          </a:bodyPr>
          <a:lstStyle/>
          <a:p>
            <a:pPr>
              <a:defRPr/>
            </a:pPr>
            <a:r>
              <a:rPr lang="zh-CN" altLang="en-US" sz="2400" dirty="0">
                <a:solidFill>
                  <a:schemeClr val="tx1">
                    <a:lumMod val="50000"/>
                    <a:lumOff val="50000"/>
                  </a:schemeClr>
                </a:solidFill>
                <a:effectLst>
                  <a:outerShdw blurRad="38100" dist="38100" dir="2700000" algn="tl">
                    <a:srgbClr val="000000">
                      <a:alpha val="43137"/>
                    </a:srgbClr>
                  </a:outerShdw>
                </a:effectLst>
                <a:latin typeface="微软雅黑" pitchFamily="34" charset="-122"/>
                <a:ea typeface="微软雅黑" pitchFamily="34" charset="-122"/>
              </a:rPr>
              <a:t>第</a:t>
            </a:r>
            <a:r>
              <a:rPr lang="en-US" altLang="zh-CN" sz="2400" dirty="0">
                <a:solidFill>
                  <a:schemeClr val="tx1">
                    <a:lumMod val="50000"/>
                    <a:lumOff val="50000"/>
                  </a:schemeClr>
                </a:solidFill>
                <a:effectLst>
                  <a:outerShdw blurRad="38100" dist="38100" dir="2700000" algn="tl">
                    <a:srgbClr val="000000">
                      <a:alpha val="43137"/>
                    </a:srgbClr>
                  </a:outerShdw>
                </a:effectLst>
                <a:latin typeface="微软雅黑" pitchFamily="34" charset="-122"/>
                <a:ea typeface="微软雅黑" pitchFamily="34" charset="-122"/>
              </a:rPr>
              <a:t>13</a:t>
            </a:r>
            <a:r>
              <a:rPr lang="zh-CN" altLang="en-US" sz="2400" dirty="0">
                <a:solidFill>
                  <a:schemeClr val="tx1">
                    <a:lumMod val="50000"/>
                    <a:lumOff val="50000"/>
                  </a:schemeClr>
                </a:solidFill>
                <a:effectLst>
                  <a:outerShdw blurRad="38100" dist="38100" dir="2700000" algn="tl">
                    <a:srgbClr val="000000">
                      <a:alpha val="43137"/>
                    </a:srgbClr>
                  </a:outerShdw>
                </a:effectLst>
                <a:latin typeface="微软雅黑" pitchFamily="34" charset="-122"/>
                <a:ea typeface="微软雅黑" pitchFamily="34" charset="-122"/>
              </a:rPr>
              <a:t>章  同步原理</a:t>
            </a:r>
            <a:r>
              <a:rPr lang="en-US" altLang="zh-CN" sz="2400" dirty="0">
                <a:solidFill>
                  <a:schemeClr val="tx1">
                    <a:lumMod val="50000"/>
                    <a:lumOff val="50000"/>
                  </a:schemeClr>
                </a:solidFill>
                <a:effectLst>
                  <a:outerShdw blurRad="38100" dist="38100" dir="2700000" algn="tl">
                    <a:srgbClr val="000000">
                      <a:alpha val="43137"/>
                    </a:srgbClr>
                  </a:outerShdw>
                </a:effectLst>
                <a:latin typeface="+mn-ea"/>
                <a:ea typeface="+mn-ea"/>
                <a:cs typeface="Arial" pitchFamily="34" charset="0"/>
              </a:rPr>
              <a:t> </a:t>
            </a:r>
            <a:endParaRPr lang="zh-CN" altLang="en-US" sz="2400" dirty="0">
              <a:solidFill>
                <a:schemeClr val="tx1">
                  <a:lumMod val="50000"/>
                  <a:lumOff val="50000"/>
                </a:schemeClr>
              </a:solidFill>
              <a:effectLst>
                <a:outerShdw blurRad="38100" dist="38100" dir="2700000" algn="tl">
                  <a:srgbClr val="000000">
                    <a:alpha val="43137"/>
                  </a:srgbClr>
                </a:outerShdw>
              </a:effectLst>
              <a:latin typeface="+mn-ea"/>
              <a:ea typeface="+mn-ea"/>
              <a:cs typeface="Arial" pitchFamily="34" charset="0"/>
            </a:endParaRPr>
          </a:p>
        </p:txBody>
      </p:sp>
      <p:sp>
        <p:nvSpPr>
          <p:cNvPr id="20" name="Rectangle 21">
            <a:extLst>
              <a:ext uri="{FF2B5EF4-FFF2-40B4-BE49-F238E27FC236}">
                <a16:creationId xmlns:a16="http://schemas.microsoft.com/office/drawing/2014/main" id="{67504DD2-01C9-A1CB-9D33-C336617AA0C3}"/>
              </a:ext>
            </a:extLst>
          </p:cNvPr>
          <p:cNvSpPr>
            <a:spLocks noChangeArrowheads="1"/>
          </p:cNvSpPr>
          <p:nvPr/>
        </p:nvSpPr>
        <p:spPr bwMode="auto">
          <a:xfrm>
            <a:off x="1857375" y="1547813"/>
            <a:ext cx="30575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a:r>
              <a:rPr lang="zh-CN" altLang="zh-CN" sz="2800" b="1">
                <a:solidFill>
                  <a:srgbClr val="003399"/>
                </a:solidFill>
                <a:latin typeface="微软雅黑" panose="020B0503020204020204" pitchFamily="34" charset="-122"/>
                <a:ea typeface="微软雅黑" panose="020B0503020204020204" pitchFamily="34" charset="-122"/>
              </a:rPr>
              <a:t>同步的</a:t>
            </a:r>
            <a:r>
              <a:rPr lang="zh-CN" altLang="en-US" sz="2800" b="1">
                <a:solidFill>
                  <a:srgbClr val="003399"/>
                </a:solidFill>
                <a:latin typeface="微软雅黑" panose="020B0503020204020204" pitchFamily="34" charset="-122"/>
                <a:ea typeface="微软雅黑" panose="020B0503020204020204" pitchFamily="34" charset="-122"/>
              </a:rPr>
              <a:t>意义</a:t>
            </a:r>
            <a:r>
              <a:rPr lang="zh-CN" altLang="zh-CN" sz="2800" b="1">
                <a:solidFill>
                  <a:srgbClr val="003399"/>
                </a:solidFill>
                <a:latin typeface="微软雅黑" panose="020B0503020204020204" pitchFamily="34" charset="-122"/>
                <a:ea typeface="微软雅黑" panose="020B0503020204020204" pitchFamily="34" charset="-122"/>
              </a:rPr>
              <a:t>和分类</a:t>
            </a:r>
            <a:endParaRPr lang="en-US" altLang="zh-CN" sz="2800" b="1">
              <a:solidFill>
                <a:srgbClr val="003399"/>
              </a:solidFill>
              <a:latin typeface="微软雅黑" panose="020B0503020204020204" pitchFamily="34" charset="-122"/>
              <a:ea typeface="微软雅黑" panose="020B0503020204020204" pitchFamily="34" charset="-122"/>
            </a:endParaRPr>
          </a:p>
        </p:txBody>
      </p:sp>
      <p:sp>
        <p:nvSpPr>
          <p:cNvPr id="21" name="Rectangle 23">
            <a:extLst>
              <a:ext uri="{FF2B5EF4-FFF2-40B4-BE49-F238E27FC236}">
                <a16:creationId xmlns:a16="http://schemas.microsoft.com/office/drawing/2014/main" id="{31E4FECA-8C8E-A041-0FA4-8D45F8D4072C}"/>
              </a:ext>
            </a:extLst>
          </p:cNvPr>
          <p:cNvSpPr>
            <a:spLocks noChangeArrowheads="1"/>
          </p:cNvSpPr>
          <p:nvPr/>
        </p:nvSpPr>
        <p:spPr bwMode="auto">
          <a:xfrm>
            <a:off x="1857375" y="2428875"/>
            <a:ext cx="17287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a:r>
              <a:rPr lang="zh-CN" altLang="zh-CN" sz="2800" b="1">
                <a:solidFill>
                  <a:srgbClr val="003399"/>
                </a:solidFill>
                <a:latin typeface="微软雅黑" panose="020B0503020204020204" pitchFamily="34" charset="-122"/>
                <a:ea typeface="微软雅黑" panose="020B0503020204020204" pitchFamily="34" charset="-122"/>
              </a:rPr>
              <a:t>载波</a:t>
            </a:r>
            <a:r>
              <a:rPr lang="en-US" altLang="zh-CN" sz="2800" b="1">
                <a:solidFill>
                  <a:srgbClr val="003399"/>
                </a:solidFill>
                <a:latin typeface="微软雅黑" panose="020B0503020204020204" pitchFamily="34" charset="-122"/>
                <a:ea typeface="微软雅黑" panose="020B0503020204020204" pitchFamily="34" charset="-122"/>
              </a:rPr>
              <a:t> </a:t>
            </a:r>
            <a:r>
              <a:rPr lang="zh-CN" altLang="zh-CN" sz="2800" b="1">
                <a:solidFill>
                  <a:srgbClr val="003399"/>
                </a:solidFill>
                <a:latin typeface="微软雅黑" panose="020B0503020204020204" pitchFamily="34" charset="-122"/>
                <a:ea typeface="微软雅黑" panose="020B0503020204020204" pitchFamily="34" charset="-122"/>
              </a:rPr>
              <a:t>同步</a:t>
            </a:r>
            <a:endParaRPr lang="en-US" altLang="zh-CN" sz="2800" b="1">
              <a:solidFill>
                <a:srgbClr val="003399"/>
              </a:solidFill>
              <a:latin typeface="微软雅黑" panose="020B0503020204020204" pitchFamily="34" charset="-122"/>
              <a:ea typeface="微软雅黑" panose="020B0503020204020204" pitchFamily="34" charset="-122"/>
            </a:endParaRPr>
          </a:p>
        </p:txBody>
      </p:sp>
      <p:sp>
        <p:nvSpPr>
          <p:cNvPr id="22" name="Rectangle 30">
            <a:extLst>
              <a:ext uri="{FF2B5EF4-FFF2-40B4-BE49-F238E27FC236}">
                <a16:creationId xmlns:a16="http://schemas.microsoft.com/office/drawing/2014/main" id="{CFDC0CDE-98C8-F8C6-09B4-63481748F9B0}"/>
              </a:ext>
            </a:extLst>
          </p:cNvPr>
          <p:cNvSpPr>
            <a:spLocks noChangeArrowheads="1"/>
          </p:cNvSpPr>
          <p:nvPr/>
        </p:nvSpPr>
        <p:spPr bwMode="auto">
          <a:xfrm>
            <a:off x="1857375" y="3357563"/>
            <a:ext cx="17287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a:r>
              <a:rPr lang="zh-CN" altLang="en-US" sz="2800" b="1">
                <a:solidFill>
                  <a:srgbClr val="003399"/>
                </a:solidFill>
                <a:latin typeface="微软雅黑" panose="020B0503020204020204" pitchFamily="34" charset="-122"/>
                <a:ea typeface="微软雅黑" panose="020B0503020204020204" pitchFamily="34" charset="-122"/>
              </a:rPr>
              <a:t>码元 </a:t>
            </a:r>
            <a:r>
              <a:rPr lang="zh-CN" altLang="zh-CN" sz="2800" b="1">
                <a:solidFill>
                  <a:srgbClr val="003399"/>
                </a:solidFill>
                <a:latin typeface="微软雅黑" panose="020B0503020204020204" pitchFamily="34" charset="-122"/>
                <a:ea typeface="微软雅黑" panose="020B0503020204020204" pitchFamily="34" charset="-122"/>
              </a:rPr>
              <a:t>同步</a:t>
            </a:r>
            <a:endParaRPr lang="en-US" altLang="zh-CN" sz="2800" b="1">
              <a:solidFill>
                <a:srgbClr val="003399"/>
              </a:solidFill>
              <a:latin typeface="微软雅黑" panose="020B0503020204020204" pitchFamily="34" charset="-122"/>
              <a:ea typeface="微软雅黑" panose="020B0503020204020204" pitchFamily="34" charset="-122"/>
            </a:endParaRPr>
          </a:p>
        </p:txBody>
      </p:sp>
      <p:sp>
        <p:nvSpPr>
          <p:cNvPr id="23" name="Rectangle 33">
            <a:extLst>
              <a:ext uri="{FF2B5EF4-FFF2-40B4-BE49-F238E27FC236}">
                <a16:creationId xmlns:a16="http://schemas.microsoft.com/office/drawing/2014/main" id="{558F6E90-4897-E175-637A-2E13A2E062B4}"/>
              </a:ext>
            </a:extLst>
          </p:cNvPr>
          <p:cNvSpPr>
            <a:spLocks noChangeArrowheads="1"/>
          </p:cNvSpPr>
          <p:nvPr/>
        </p:nvSpPr>
        <p:spPr bwMode="auto">
          <a:xfrm>
            <a:off x="1857375" y="4214813"/>
            <a:ext cx="17907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a:r>
              <a:rPr lang="zh-CN" altLang="zh-CN" sz="2800" b="1">
                <a:solidFill>
                  <a:srgbClr val="003399"/>
                </a:solidFill>
                <a:latin typeface="微软雅黑" panose="020B0503020204020204" pitchFamily="34" charset="-122"/>
                <a:ea typeface="微软雅黑" panose="020B0503020204020204" pitchFamily="34" charset="-122"/>
              </a:rPr>
              <a:t>群</a:t>
            </a:r>
            <a:r>
              <a:rPr lang="en-US" altLang="zh-CN" sz="2800" b="1">
                <a:solidFill>
                  <a:srgbClr val="003399"/>
                </a:solidFill>
                <a:latin typeface="微软雅黑" panose="020B0503020204020204" pitchFamily="34" charset="-122"/>
                <a:ea typeface="微软雅黑" panose="020B0503020204020204" pitchFamily="34" charset="-122"/>
              </a:rPr>
              <a:t>/</a:t>
            </a:r>
            <a:r>
              <a:rPr lang="zh-CN" altLang="en-US" sz="2800" b="1">
                <a:solidFill>
                  <a:srgbClr val="003399"/>
                </a:solidFill>
                <a:latin typeface="微软雅黑" panose="020B0503020204020204" pitchFamily="34" charset="-122"/>
                <a:ea typeface="微软雅黑" panose="020B0503020204020204" pitchFamily="34" charset="-122"/>
              </a:rPr>
              <a:t>帧</a:t>
            </a:r>
            <a:r>
              <a:rPr lang="zh-CN" altLang="zh-CN" sz="2800" b="1">
                <a:solidFill>
                  <a:srgbClr val="003399"/>
                </a:solidFill>
                <a:latin typeface="微软雅黑" panose="020B0503020204020204" pitchFamily="34" charset="-122"/>
                <a:ea typeface="微软雅黑" panose="020B0503020204020204" pitchFamily="34" charset="-122"/>
              </a:rPr>
              <a:t>同步</a:t>
            </a:r>
            <a:endParaRPr lang="en-US" altLang="zh-CN" sz="2800" b="1">
              <a:solidFill>
                <a:srgbClr val="003399"/>
              </a:solidFill>
              <a:latin typeface="微软雅黑" panose="020B0503020204020204" pitchFamily="34" charset="-122"/>
              <a:ea typeface="微软雅黑" panose="020B0503020204020204" pitchFamily="34" charset="-122"/>
            </a:endParaRPr>
          </a:p>
        </p:txBody>
      </p:sp>
      <p:grpSp>
        <p:nvGrpSpPr>
          <p:cNvPr id="5" name="Group 17">
            <a:extLst>
              <a:ext uri="{FF2B5EF4-FFF2-40B4-BE49-F238E27FC236}">
                <a16:creationId xmlns:a16="http://schemas.microsoft.com/office/drawing/2014/main" id="{DDC8A75E-A0A3-8ECF-2E11-88926F2997D3}"/>
              </a:ext>
            </a:extLst>
          </p:cNvPr>
          <p:cNvGrpSpPr>
            <a:grpSpLocks/>
          </p:cNvGrpSpPr>
          <p:nvPr/>
        </p:nvGrpSpPr>
        <p:grpSpPr bwMode="auto">
          <a:xfrm>
            <a:off x="1628775" y="3500438"/>
            <a:ext cx="169863" cy="215900"/>
            <a:chOff x="2976" y="1008"/>
            <a:chExt cx="1056" cy="432"/>
          </a:xfrm>
        </p:grpSpPr>
        <p:sp>
          <p:nvSpPr>
            <p:cNvPr id="35859" name="Oval 18">
              <a:extLst>
                <a:ext uri="{FF2B5EF4-FFF2-40B4-BE49-F238E27FC236}">
                  <a16:creationId xmlns:a16="http://schemas.microsoft.com/office/drawing/2014/main" id="{CD68CC52-D5BB-5703-D7BD-D79CA16CBD18}"/>
                </a:ext>
              </a:extLst>
            </p:cNvPr>
            <p:cNvSpPr>
              <a:spLocks noChangeArrowheads="1"/>
            </p:cNvSpPr>
            <p:nvPr/>
          </p:nvSpPr>
          <p:spPr bwMode="auto">
            <a:xfrm>
              <a:off x="2976" y="1008"/>
              <a:ext cx="1056" cy="432"/>
            </a:xfrm>
            <a:prstGeom prst="ellipse">
              <a:avLst/>
            </a:prstGeom>
            <a:gradFill rotWithShape="0">
              <a:gsLst>
                <a:gs pos="0">
                  <a:srgbClr val="454A4D"/>
                </a:gs>
                <a:gs pos="100000">
                  <a:srgbClr val="BCCAD4"/>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lIns="73025" tIns="36512" rIns="73025" bIns="36512"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5860" name="Oval 19">
              <a:extLst>
                <a:ext uri="{FF2B5EF4-FFF2-40B4-BE49-F238E27FC236}">
                  <a16:creationId xmlns:a16="http://schemas.microsoft.com/office/drawing/2014/main" id="{BC754609-DEA3-311D-700D-1023046A1332}"/>
                </a:ext>
              </a:extLst>
            </p:cNvPr>
            <p:cNvSpPr>
              <a:spLocks noChangeArrowheads="1"/>
            </p:cNvSpPr>
            <p:nvPr/>
          </p:nvSpPr>
          <p:spPr bwMode="auto">
            <a:xfrm>
              <a:off x="3024" y="1056"/>
              <a:ext cx="960" cy="336"/>
            </a:xfrm>
            <a:prstGeom prst="ellipse">
              <a:avLst/>
            </a:prstGeom>
            <a:gradFill rotWithShape="0">
              <a:gsLst>
                <a:gs pos="0">
                  <a:srgbClr val="BCCAD4"/>
                </a:gs>
                <a:gs pos="100000">
                  <a:srgbClr val="575D62"/>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lIns="73025" tIns="36512" rIns="73025" bIns="36512"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sp>
        <p:nvSpPr>
          <p:cNvPr id="28" name="Rectangle 33">
            <a:extLst>
              <a:ext uri="{FF2B5EF4-FFF2-40B4-BE49-F238E27FC236}">
                <a16:creationId xmlns:a16="http://schemas.microsoft.com/office/drawing/2014/main" id="{F34753CA-D880-CEAD-7194-B37239AFD42E}"/>
              </a:ext>
            </a:extLst>
          </p:cNvPr>
          <p:cNvSpPr>
            <a:spLocks noChangeArrowheads="1"/>
          </p:cNvSpPr>
          <p:nvPr/>
        </p:nvSpPr>
        <p:spPr bwMode="auto">
          <a:xfrm>
            <a:off x="1843088" y="5072063"/>
            <a:ext cx="30575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a:r>
              <a:rPr lang="zh-CN" altLang="en-US" sz="2800" b="1">
                <a:solidFill>
                  <a:srgbClr val="003399"/>
                </a:solidFill>
                <a:latin typeface="微软雅黑" panose="020B0503020204020204" pitchFamily="34" charset="-122"/>
                <a:ea typeface="微软雅黑" panose="020B0503020204020204" pitchFamily="34" charset="-122"/>
              </a:rPr>
              <a:t>网</a:t>
            </a:r>
            <a:r>
              <a:rPr lang="zh-CN" altLang="zh-CN" sz="2800" b="1">
                <a:solidFill>
                  <a:srgbClr val="003399"/>
                </a:solidFill>
                <a:latin typeface="微软雅黑" panose="020B0503020204020204" pitchFamily="34" charset="-122"/>
                <a:ea typeface="微软雅黑" panose="020B0503020204020204" pitchFamily="34" charset="-122"/>
              </a:rPr>
              <a:t>同步的</a:t>
            </a:r>
            <a:r>
              <a:rPr lang="zh-CN" altLang="en-US" sz="2800" b="1">
                <a:solidFill>
                  <a:srgbClr val="003399"/>
                </a:solidFill>
                <a:latin typeface="微软雅黑" panose="020B0503020204020204" pitchFamily="34" charset="-122"/>
                <a:ea typeface="微软雅黑" panose="020B0503020204020204" pitchFamily="34" charset="-122"/>
              </a:rPr>
              <a:t>基本概念</a:t>
            </a:r>
            <a:endParaRPr lang="en-US" altLang="zh-CN" sz="2800" b="1">
              <a:solidFill>
                <a:srgbClr val="003399"/>
              </a:solidFill>
              <a:latin typeface="微软雅黑" panose="020B0503020204020204" pitchFamily="34" charset="-122"/>
              <a:ea typeface="微软雅黑" panose="020B0503020204020204" pitchFamily="34" charset="-122"/>
            </a:endParaRPr>
          </a:p>
        </p:txBody>
      </p:sp>
      <p:grpSp>
        <p:nvGrpSpPr>
          <p:cNvPr id="6" name="Group 20">
            <a:extLst>
              <a:ext uri="{FF2B5EF4-FFF2-40B4-BE49-F238E27FC236}">
                <a16:creationId xmlns:a16="http://schemas.microsoft.com/office/drawing/2014/main" id="{2E37A5AB-6362-2722-F343-EDA38B6139D7}"/>
              </a:ext>
            </a:extLst>
          </p:cNvPr>
          <p:cNvGrpSpPr>
            <a:grpSpLocks/>
          </p:cNvGrpSpPr>
          <p:nvPr/>
        </p:nvGrpSpPr>
        <p:grpSpPr bwMode="auto">
          <a:xfrm>
            <a:off x="1628775" y="5214938"/>
            <a:ext cx="169863" cy="215900"/>
            <a:chOff x="2976" y="1008"/>
            <a:chExt cx="1056" cy="432"/>
          </a:xfrm>
        </p:grpSpPr>
        <p:sp>
          <p:nvSpPr>
            <p:cNvPr id="35857" name="Oval 21">
              <a:extLst>
                <a:ext uri="{FF2B5EF4-FFF2-40B4-BE49-F238E27FC236}">
                  <a16:creationId xmlns:a16="http://schemas.microsoft.com/office/drawing/2014/main" id="{AACA376C-58D9-8A50-BF46-70F17FE8030F}"/>
                </a:ext>
              </a:extLst>
            </p:cNvPr>
            <p:cNvSpPr>
              <a:spLocks noChangeArrowheads="1"/>
            </p:cNvSpPr>
            <p:nvPr/>
          </p:nvSpPr>
          <p:spPr bwMode="auto">
            <a:xfrm>
              <a:off x="2976" y="1008"/>
              <a:ext cx="1056" cy="432"/>
            </a:xfrm>
            <a:prstGeom prst="ellipse">
              <a:avLst/>
            </a:prstGeom>
            <a:gradFill rotWithShape="0">
              <a:gsLst>
                <a:gs pos="0">
                  <a:srgbClr val="454A4D"/>
                </a:gs>
                <a:gs pos="100000">
                  <a:srgbClr val="BCCAD4"/>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lIns="73025" tIns="36512" rIns="73025" bIns="36512"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5858" name="Oval 22">
              <a:extLst>
                <a:ext uri="{FF2B5EF4-FFF2-40B4-BE49-F238E27FC236}">
                  <a16:creationId xmlns:a16="http://schemas.microsoft.com/office/drawing/2014/main" id="{312B7932-11DC-F236-52C9-3E4F359BD3D8}"/>
                </a:ext>
              </a:extLst>
            </p:cNvPr>
            <p:cNvSpPr>
              <a:spLocks noChangeArrowheads="1"/>
            </p:cNvSpPr>
            <p:nvPr/>
          </p:nvSpPr>
          <p:spPr bwMode="auto">
            <a:xfrm>
              <a:off x="3024" y="1056"/>
              <a:ext cx="960" cy="336"/>
            </a:xfrm>
            <a:prstGeom prst="ellipse">
              <a:avLst/>
            </a:prstGeom>
            <a:gradFill rotWithShape="0">
              <a:gsLst>
                <a:gs pos="0">
                  <a:srgbClr val="BCCAD4"/>
                </a:gs>
                <a:gs pos="100000">
                  <a:srgbClr val="575D62"/>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lIns="73025" tIns="36512" rIns="73025" bIns="36512"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sp>
        <p:nvSpPr>
          <p:cNvPr id="33" name="矩形 32">
            <a:extLst>
              <a:ext uri="{FF2B5EF4-FFF2-40B4-BE49-F238E27FC236}">
                <a16:creationId xmlns:a16="http://schemas.microsoft.com/office/drawing/2014/main" id="{C0250911-D147-66C7-7E20-0DCEEF78EBCF}"/>
              </a:ext>
            </a:extLst>
          </p:cNvPr>
          <p:cNvSpPr/>
          <p:nvPr/>
        </p:nvSpPr>
        <p:spPr>
          <a:xfrm>
            <a:off x="4857750" y="2857500"/>
            <a:ext cx="1000125" cy="1563688"/>
          </a:xfrm>
          <a:prstGeom prst="rect">
            <a:avLst/>
          </a:prstGeom>
          <a:effectLst>
            <a:outerShdw blurRad="50800" dist="38100" dir="2700000" algn="tl" rotWithShape="0">
              <a:prstClr val="black">
                <a:alpha val="40000"/>
              </a:prstClr>
            </a:outerShdw>
          </a:effectLst>
        </p:spPr>
        <p:txBody>
          <a:bodyPr>
            <a:spAutoFit/>
          </a:bodyPr>
          <a:lstStyle/>
          <a:p>
            <a:pPr>
              <a:lnSpc>
                <a:spcPts val="4000"/>
              </a:lnSpc>
              <a:defRPr/>
            </a:pPr>
            <a:r>
              <a:rPr lang="zh-CN" altLang="en-US" sz="2800" b="1" dirty="0">
                <a:solidFill>
                  <a:srgbClr val="800080"/>
                </a:solidFill>
                <a:latin typeface="黑体" pitchFamily="2" charset="-122"/>
                <a:ea typeface="黑体" pitchFamily="2" charset="-122"/>
              </a:rPr>
              <a:t>作用</a:t>
            </a:r>
            <a:endParaRPr lang="en-US" altLang="zh-CN" sz="2800" b="1" dirty="0">
              <a:solidFill>
                <a:srgbClr val="800080"/>
              </a:solidFill>
              <a:latin typeface="黑体" pitchFamily="2" charset="-122"/>
              <a:ea typeface="黑体" pitchFamily="2" charset="-122"/>
            </a:endParaRPr>
          </a:p>
          <a:p>
            <a:pPr>
              <a:lnSpc>
                <a:spcPts val="4000"/>
              </a:lnSpc>
              <a:defRPr/>
            </a:pPr>
            <a:r>
              <a:rPr lang="zh-CN" altLang="zh-CN" sz="2800" b="1" dirty="0">
                <a:solidFill>
                  <a:srgbClr val="800080"/>
                </a:solidFill>
                <a:latin typeface="黑体" pitchFamily="2" charset="-122"/>
                <a:ea typeface="黑体" pitchFamily="2" charset="-122"/>
              </a:rPr>
              <a:t>方法</a:t>
            </a:r>
            <a:endParaRPr lang="en-US" altLang="zh-CN" sz="2800" b="1" dirty="0">
              <a:solidFill>
                <a:srgbClr val="800080"/>
              </a:solidFill>
              <a:latin typeface="黑体" pitchFamily="2" charset="-122"/>
              <a:ea typeface="黑体" pitchFamily="2" charset="-122"/>
            </a:endParaRPr>
          </a:p>
          <a:p>
            <a:pPr>
              <a:lnSpc>
                <a:spcPts val="4000"/>
              </a:lnSpc>
              <a:defRPr/>
            </a:pPr>
            <a:r>
              <a:rPr lang="zh-CN" altLang="zh-CN" sz="2800" b="1" dirty="0">
                <a:solidFill>
                  <a:srgbClr val="800080"/>
                </a:solidFill>
                <a:latin typeface="黑体" pitchFamily="2" charset="-122"/>
                <a:ea typeface="黑体" pitchFamily="2" charset="-122"/>
              </a:rPr>
              <a:t>性能</a:t>
            </a:r>
            <a:endParaRPr lang="zh-CN" altLang="en-US" sz="2800" b="1" dirty="0">
              <a:solidFill>
                <a:srgbClr val="800080"/>
              </a:solidFill>
              <a:latin typeface="黑体" pitchFamily="2" charset="-122"/>
              <a:ea typeface="黑体" pitchFamily="2" charset="-122"/>
            </a:endParaRPr>
          </a:p>
        </p:txBody>
      </p:sp>
      <p:sp>
        <p:nvSpPr>
          <p:cNvPr id="39" name="右大括号 38">
            <a:extLst>
              <a:ext uri="{FF2B5EF4-FFF2-40B4-BE49-F238E27FC236}">
                <a16:creationId xmlns:a16="http://schemas.microsoft.com/office/drawing/2014/main" id="{888A63E0-DC88-9BA4-8B6E-3E8D9EA0444D}"/>
              </a:ext>
            </a:extLst>
          </p:cNvPr>
          <p:cNvSpPr/>
          <p:nvPr/>
        </p:nvSpPr>
        <p:spPr bwMode="auto">
          <a:xfrm>
            <a:off x="3786188" y="2643188"/>
            <a:ext cx="500062" cy="1928812"/>
          </a:xfrm>
          <a:prstGeom prst="rightBrace">
            <a:avLst/>
          </a:prstGeom>
          <a:solidFill>
            <a:schemeClr val="bg1">
              <a:lumMod val="95000"/>
            </a:schemeClr>
          </a:solidFill>
          <a:ln w="19050" cap="flat" cmpd="sng" algn="ctr">
            <a:solidFill>
              <a:srgbClr val="800080"/>
            </a:solidFill>
            <a:prstDash val="solid"/>
            <a:miter lim="800000"/>
            <a:headEnd type="none" w="med" len="med"/>
            <a:tailEnd type="none" w="med" len="med"/>
          </a:ln>
          <a:effectLst/>
        </p:spPr>
        <p:txBody>
          <a:bodyPr wrap="none"/>
          <a:lstStyle/>
          <a:p>
            <a:pPr>
              <a:defRPr/>
            </a:pPr>
            <a:endParaRPr lang="zh-CN" altLang="en-US">
              <a:ea typeface="宋体"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left)">
                                      <p:cBhvr>
                                        <p:cTn id="11" dur="1000"/>
                                        <p:tgtEl>
                                          <p:spTgt spid="20"/>
                                        </p:tgtEl>
                                      </p:cBhvr>
                                    </p:animEffect>
                                  </p:childTnLst>
                                </p:cTn>
                              </p:par>
                            </p:childTnLst>
                          </p:cTn>
                        </p:par>
                        <p:par>
                          <p:cTn id="12" fill="hold" nodeType="afterGroup">
                            <p:stCondLst>
                              <p:cond delay="15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par>
                          <p:cTn id="16" fill="hold" nodeType="afterGroup">
                            <p:stCondLst>
                              <p:cond delay="2000"/>
                            </p:stCondLst>
                            <p:childTnLst>
                              <p:par>
                                <p:cTn id="17" presetID="22" presetClass="entr" presetSubtype="8" fill="hold"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wipe(left)">
                                      <p:cBhvr>
                                        <p:cTn id="19" dur="1000"/>
                                        <p:tgtEl>
                                          <p:spTgt spid="21"/>
                                        </p:tgtEl>
                                      </p:cBhvr>
                                    </p:animEffect>
                                  </p:childTnLst>
                                </p:cTn>
                              </p:par>
                            </p:childTnLst>
                          </p:cTn>
                        </p:par>
                        <p:par>
                          <p:cTn id="20" fill="hold" nodeType="afterGroup">
                            <p:stCondLst>
                              <p:cond delay="3000"/>
                            </p:stCondLst>
                            <p:childTnLst>
                              <p:par>
                                <p:cTn id="21" presetID="22" presetClass="entr" presetSubtype="8"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left)">
                                      <p:cBhvr>
                                        <p:cTn id="23" dur="500"/>
                                        <p:tgtEl>
                                          <p:spTgt spid="5"/>
                                        </p:tgtEl>
                                      </p:cBhvr>
                                    </p:animEffect>
                                  </p:childTnLst>
                                </p:cTn>
                              </p:par>
                            </p:childTnLst>
                          </p:cTn>
                        </p:par>
                        <p:par>
                          <p:cTn id="24" fill="hold" nodeType="afterGroup">
                            <p:stCondLst>
                              <p:cond delay="3500"/>
                            </p:stCondLst>
                            <p:childTnLst>
                              <p:par>
                                <p:cTn id="25" presetID="22" presetClass="entr" presetSubtype="8" fill="hold" nodeType="after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wipe(left)">
                                      <p:cBhvr>
                                        <p:cTn id="27" dur="1000"/>
                                        <p:tgtEl>
                                          <p:spTgt spid="22"/>
                                        </p:tgtEl>
                                      </p:cBhvr>
                                    </p:animEffect>
                                  </p:childTnLst>
                                </p:cTn>
                              </p:par>
                            </p:childTnLst>
                          </p:cTn>
                        </p:par>
                        <p:par>
                          <p:cTn id="28" fill="hold" nodeType="afterGroup">
                            <p:stCondLst>
                              <p:cond delay="4500"/>
                            </p:stCondLst>
                            <p:childTnLst>
                              <p:par>
                                <p:cTn id="29" presetID="22" presetClass="entr" presetSubtype="8" fill="hold" nodeType="after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wipe(left)">
                                      <p:cBhvr>
                                        <p:cTn id="31" dur="500"/>
                                        <p:tgtEl>
                                          <p:spTgt spid="4"/>
                                        </p:tgtEl>
                                      </p:cBhvr>
                                    </p:animEffect>
                                  </p:childTnLst>
                                </p:cTn>
                              </p:par>
                            </p:childTnLst>
                          </p:cTn>
                        </p:par>
                        <p:par>
                          <p:cTn id="32" fill="hold" nodeType="afterGroup">
                            <p:stCondLst>
                              <p:cond delay="5000"/>
                            </p:stCondLst>
                            <p:childTnLst>
                              <p:par>
                                <p:cTn id="33" presetID="22" presetClass="entr" presetSubtype="8" fill="hold" nodeType="after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ipe(left)">
                                      <p:cBhvr>
                                        <p:cTn id="35" dur="1000"/>
                                        <p:tgtEl>
                                          <p:spTgt spid="23"/>
                                        </p:tgtEl>
                                      </p:cBhvr>
                                    </p:animEffect>
                                  </p:childTnLst>
                                </p:cTn>
                              </p:par>
                            </p:childTnLst>
                          </p:cTn>
                        </p:par>
                        <p:par>
                          <p:cTn id="36" fill="hold" nodeType="afterGroup">
                            <p:stCondLst>
                              <p:cond delay="6000"/>
                            </p:stCondLst>
                            <p:childTnLst>
                              <p:par>
                                <p:cTn id="37" presetID="22" presetClass="entr" presetSubtype="8" fill="hold" nodeType="after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wipe(left)">
                                      <p:cBhvr>
                                        <p:cTn id="39" dur="1000"/>
                                        <p:tgtEl>
                                          <p:spTgt spid="39"/>
                                        </p:tgtEl>
                                      </p:cBhvr>
                                    </p:animEffect>
                                  </p:childTnLst>
                                </p:cTn>
                              </p:par>
                            </p:childTnLst>
                          </p:cTn>
                        </p:par>
                        <p:par>
                          <p:cTn id="40" fill="hold" nodeType="afterGroup">
                            <p:stCondLst>
                              <p:cond delay="7000"/>
                            </p:stCondLst>
                            <p:childTnLst>
                              <p:par>
                                <p:cTn id="41" presetID="22" presetClass="entr" presetSubtype="8" fill="hold" nodeType="after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wipe(left)">
                                      <p:cBhvr>
                                        <p:cTn id="43" dur="1000"/>
                                        <p:tgtEl>
                                          <p:spTgt spid="33"/>
                                        </p:tgtEl>
                                      </p:cBhvr>
                                    </p:animEffect>
                                  </p:childTnLst>
                                </p:cTn>
                              </p:par>
                            </p:childTnLst>
                          </p:cTn>
                        </p:par>
                        <p:par>
                          <p:cTn id="44" fill="hold" nodeType="afterGroup">
                            <p:stCondLst>
                              <p:cond delay="8000"/>
                            </p:stCondLst>
                            <p:childTnLst>
                              <p:par>
                                <p:cTn id="45" presetID="21" presetClass="entr" presetSubtype="4" fill="hold" nodeType="after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wheel(4)">
                                      <p:cBhvr>
                                        <p:cTn id="47" dur="2000"/>
                                        <p:tgtEl>
                                          <p:spTgt spid="37"/>
                                        </p:tgtEl>
                                      </p:cBhvr>
                                    </p:animEffect>
                                  </p:childTnLst>
                                </p:cTn>
                              </p:par>
                            </p:childTnLst>
                          </p:cTn>
                        </p:par>
                        <p:par>
                          <p:cTn id="48" fill="hold" nodeType="afterGroup">
                            <p:stCondLst>
                              <p:cond delay="10000"/>
                            </p:stCondLst>
                            <p:childTnLst>
                              <p:par>
                                <p:cTn id="49" presetID="22" presetClass="entr" presetSubtype="8" fill="hold" nodeType="after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wipe(left)">
                                      <p:cBhvr>
                                        <p:cTn id="51" dur="500"/>
                                        <p:tgtEl>
                                          <p:spTgt spid="6"/>
                                        </p:tgtEl>
                                      </p:cBhvr>
                                    </p:animEffect>
                                  </p:childTnLst>
                                </p:cTn>
                              </p:par>
                            </p:childTnLst>
                          </p:cTn>
                        </p:par>
                        <p:par>
                          <p:cTn id="52" fill="hold" nodeType="afterGroup">
                            <p:stCondLst>
                              <p:cond delay="10500"/>
                            </p:stCondLst>
                            <p:childTnLst>
                              <p:par>
                                <p:cTn id="53" presetID="22" presetClass="entr" presetSubtype="8" fill="hold" nodeType="after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wipe(left)">
                                      <p:cBhvr>
                                        <p:cTn id="55" dur="1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20" grpId="0"/>
      <p:bldP spid="21" grpId="0"/>
      <p:bldP spid="22" grpId="0"/>
      <p:bldP spid="23" grpId="0"/>
      <p:bldP spid="28" grpId="0"/>
      <p:bldP spid="33" grpId="0"/>
      <p:bldP spid="3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8" name="Picture 6">
            <a:extLst>
              <a:ext uri="{FF2B5EF4-FFF2-40B4-BE49-F238E27FC236}">
                <a16:creationId xmlns:a16="http://schemas.microsoft.com/office/drawing/2014/main" id="{BE4F5471-9154-D278-F1A8-D49C39E5C6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8738" y="4643438"/>
            <a:ext cx="7000875"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36">
            <a:extLst>
              <a:ext uri="{FF2B5EF4-FFF2-40B4-BE49-F238E27FC236}">
                <a16:creationId xmlns:a16="http://schemas.microsoft.com/office/drawing/2014/main" id="{6A8094AB-AB4A-1824-477D-09940BF226EC}"/>
              </a:ext>
            </a:extLst>
          </p:cNvPr>
          <p:cNvSpPr txBox="1">
            <a:spLocks noChangeArrowheads="1"/>
          </p:cNvSpPr>
          <p:nvPr/>
        </p:nvSpPr>
        <p:spPr bwMode="gray">
          <a:xfrm>
            <a:off x="2928938" y="3500438"/>
            <a:ext cx="5000625" cy="630237"/>
          </a:xfrm>
          <a:prstGeom prst="rect">
            <a:avLst/>
          </a:prstGeom>
          <a:noFill/>
          <a:ln w="9525">
            <a:noFill/>
            <a:miter lim="800000"/>
            <a:headEnd/>
            <a:tailEnd/>
          </a:ln>
          <a:effectLst>
            <a:outerShdw blurRad="50800" dist="38100" dir="2700000" algn="tl" rotWithShape="0">
              <a:prstClr val="black">
                <a:alpha val="40000"/>
              </a:prstClr>
            </a:outerShdw>
          </a:effectLst>
        </p:spPr>
        <p:txBody>
          <a:bodyPr>
            <a:spAutoFit/>
          </a:bodyPr>
          <a:lstStyle/>
          <a:p>
            <a:pPr>
              <a:lnSpc>
                <a:spcPts val="4200"/>
              </a:lnSpc>
              <a:buClr>
                <a:srgbClr val="969696"/>
              </a:buClr>
              <a:buSzPct val="65000"/>
              <a:defRPr/>
            </a:pPr>
            <a:r>
              <a:rPr lang="zh-CN" altLang="en-US" sz="4400" dirty="0">
                <a:solidFill>
                  <a:srgbClr val="003399"/>
                </a:solidFill>
                <a:ea typeface="微软雅黑" pitchFamily="34" charset="-122"/>
              </a:rPr>
              <a:t>   概 述</a:t>
            </a:r>
            <a:endParaRPr lang="en-US" altLang="zh-CN" sz="4400" dirty="0">
              <a:solidFill>
                <a:srgbClr val="990099"/>
              </a:solidFill>
              <a:ea typeface="微软雅黑" pitchFamily="34" charset="-122"/>
            </a:endParaRPr>
          </a:p>
        </p:txBody>
      </p:sp>
      <p:sp>
        <p:nvSpPr>
          <p:cNvPr id="45059" name="矩形 4">
            <a:extLst>
              <a:ext uri="{FF2B5EF4-FFF2-40B4-BE49-F238E27FC236}">
                <a16:creationId xmlns:a16="http://schemas.microsoft.com/office/drawing/2014/main" id="{3EBC8152-3A7C-599F-94B0-23E16AEAFD8F}"/>
              </a:ext>
            </a:extLst>
          </p:cNvPr>
          <p:cNvSpPr>
            <a:spLocks noChangeArrowheads="1"/>
          </p:cNvSpPr>
          <p:nvPr/>
        </p:nvSpPr>
        <p:spPr bwMode="auto">
          <a:xfrm>
            <a:off x="714375" y="2071688"/>
            <a:ext cx="1878013" cy="708025"/>
          </a:xfrm>
          <a:prstGeom prst="rect">
            <a:avLst/>
          </a:prstGeom>
          <a:noFill/>
          <a:ln w="9525">
            <a:noFill/>
            <a:miter lim="800000"/>
            <a:headEnd/>
            <a:tailEnd/>
          </a:ln>
          <a:effectLst>
            <a:outerShdw blurRad="50800" dist="38100" dir="2700000" algn="tl" rotWithShape="0">
              <a:prstClr val="black">
                <a:alpha val="40000"/>
              </a:prstClr>
            </a:outerShdw>
          </a:effectLst>
        </p:spPr>
        <p:txBody>
          <a:bodyPr wrap="none">
            <a:spAutoFit/>
          </a:bodyPr>
          <a:lstStyle/>
          <a:p>
            <a:pPr>
              <a:defRPr/>
            </a:pPr>
            <a:r>
              <a:rPr lang="en-US" altLang="en-US" sz="4000" u="sng" dirty="0">
                <a:solidFill>
                  <a:srgbClr val="800080"/>
                </a:solidFill>
                <a:latin typeface="Arial" pitchFamily="34" charset="0"/>
                <a:ea typeface="微软雅黑" pitchFamily="34" charset="-122"/>
                <a:cs typeface="Arial" pitchFamily="34" charset="0"/>
              </a:rPr>
              <a:t>§ 13</a:t>
            </a:r>
            <a:r>
              <a:rPr lang="en-US" altLang="zh-CN" sz="4000" u="sng" dirty="0">
                <a:solidFill>
                  <a:srgbClr val="800080"/>
                </a:solidFill>
                <a:latin typeface="Arial" pitchFamily="34" charset="0"/>
                <a:ea typeface="微软雅黑" pitchFamily="34" charset="-122"/>
                <a:cs typeface="Arial" pitchFamily="34" charset="0"/>
              </a:rPr>
              <a:t>.1  </a:t>
            </a:r>
            <a:endParaRPr lang="zh-CN" altLang="en-US" sz="4000" u="sng" dirty="0">
              <a:solidFill>
                <a:srgbClr val="800080"/>
              </a:solidFill>
              <a:latin typeface="Arial" pitchFamily="34" charset="0"/>
              <a:ea typeface="微软雅黑" pitchFamily="34" charset="-122"/>
              <a:cs typeface="Arial" pitchFamily="34" charset="0"/>
            </a:endParaRPr>
          </a:p>
        </p:txBody>
      </p:sp>
      <p:sp>
        <p:nvSpPr>
          <p:cNvPr id="6" name="Rectangle 5">
            <a:extLst>
              <a:ext uri="{FF2B5EF4-FFF2-40B4-BE49-F238E27FC236}">
                <a16:creationId xmlns:a16="http://schemas.microsoft.com/office/drawing/2014/main" id="{EE4E2E91-20A6-4995-2B34-B2D58845587C}"/>
              </a:ext>
            </a:extLst>
          </p:cNvPr>
          <p:cNvSpPr>
            <a:spLocks noChangeArrowheads="1"/>
          </p:cNvSpPr>
          <p:nvPr/>
        </p:nvSpPr>
        <p:spPr bwMode="auto">
          <a:xfrm>
            <a:off x="3216275" y="4743450"/>
            <a:ext cx="773113" cy="400050"/>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spAutoFit/>
          </a:bodyPr>
          <a:lstStyle/>
          <a:p>
            <a:pPr>
              <a:defRPr/>
            </a:pPr>
            <a:r>
              <a:rPr lang="zh-CN" altLang="zh-CN" sz="2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数字</a:t>
            </a:r>
            <a:r>
              <a:rPr lang="en-US" altLang="zh-CN" sz="2000" dirty="0">
                <a:solidFill>
                  <a:srgbClr val="800080"/>
                </a:solidFill>
                <a:effectLst>
                  <a:outerShdw blurRad="38100" dist="38100" dir="2700000" algn="tl">
                    <a:srgbClr val="000000">
                      <a:alpha val="43137"/>
                    </a:srgbClr>
                  </a:outerShdw>
                </a:effectLst>
                <a:latin typeface="微软雅黑" pitchFamily="34" charset="-122"/>
                <a:ea typeface="微软雅黑" pitchFamily="34" charset="-122"/>
              </a:rPr>
              <a:t> </a:t>
            </a:r>
            <a:endParaRPr lang="zh-CN" altLang="en-US" sz="2000" dirty="0">
              <a:solidFill>
                <a:srgbClr val="800080"/>
              </a:solidFill>
              <a:effectLst>
                <a:outerShdw blurRad="38100" dist="38100" dir="2700000" algn="tl">
                  <a:srgbClr val="000000">
                    <a:alpha val="43137"/>
                  </a:srgbClr>
                </a:outerShdw>
              </a:effectLst>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3"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upRight)">
                                      <p:cBhvr>
                                        <p:cTn id="7" dur="2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4038"/>
                                        </p:tgtEl>
                                        <p:attrNameLst>
                                          <p:attrName>style.visibility</p:attrName>
                                        </p:attrNameLst>
                                      </p:cBhvr>
                                      <p:to>
                                        <p:strVal val="visible"/>
                                      </p:to>
                                    </p:set>
                                    <p:animEffect transition="in" filter="wipe(up)">
                                      <p:cBhvr>
                                        <p:cTn id="12" dur="2000"/>
                                        <p:tgtEl>
                                          <p:spTgt spid="44038"/>
                                        </p:tgtEl>
                                      </p:cBhvr>
                                    </p:animEffect>
                                  </p:childTnLst>
                                </p:cTn>
                              </p:par>
                              <p:par>
                                <p:cTn id="13" presetID="6" presetClass="entr" presetSubtype="32"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circle(out)">
                                      <p:cBhvr>
                                        <p:cTn id="15"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69" name="Picture 13">
            <a:extLst>
              <a:ext uri="{FF2B5EF4-FFF2-40B4-BE49-F238E27FC236}">
                <a16:creationId xmlns:a16="http://schemas.microsoft.com/office/drawing/2014/main" id="{500DF428-4823-1624-B571-58BE9D385A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538" y="3041650"/>
            <a:ext cx="7643812"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8" name="Picture 12">
            <a:extLst>
              <a:ext uri="{FF2B5EF4-FFF2-40B4-BE49-F238E27FC236}">
                <a16:creationId xmlns:a16="http://schemas.microsoft.com/office/drawing/2014/main" id="{1F02DB43-97F7-9290-E502-EBF5A9E171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7250" y="4370388"/>
            <a:ext cx="7658100" cy="108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00" name="Rectangle 102">
            <a:extLst>
              <a:ext uri="{FF2B5EF4-FFF2-40B4-BE49-F238E27FC236}">
                <a16:creationId xmlns:a16="http://schemas.microsoft.com/office/drawing/2014/main" id="{48D5FFC6-653B-C0AC-4DCF-86C321058A75}"/>
              </a:ext>
            </a:extLst>
          </p:cNvPr>
          <p:cNvSpPr>
            <a:spLocks noChangeArrowheads="1"/>
          </p:cNvSpPr>
          <p:nvPr/>
        </p:nvSpPr>
        <p:spPr bwMode="auto">
          <a:xfrm>
            <a:off x="930275" y="1885950"/>
            <a:ext cx="7499350" cy="1016000"/>
          </a:xfrm>
          <a:prstGeom prst="rect">
            <a:avLst/>
          </a:prstGeom>
          <a:solidFill>
            <a:schemeClr val="bg2">
              <a:lumMod val="10000"/>
              <a:lumOff val="90000"/>
            </a:schemeClr>
          </a:solidFill>
          <a:ln w="9525" algn="ctr">
            <a:noFill/>
            <a:miter lim="800000"/>
            <a:headEnd/>
            <a:tailEnd/>
          </a:ln>
          <a:effectLst>
            <a:outerShdw blurRad="50800" dist="38100" dir="2700000" algn="tl" rotWithShape="0">
              <a:prstClr val="black">
                <a:alpha val="40000"/>
              </a:prstClr>
            </a:outerShdw>
          </a:effectLst>
        </p:spPr>
        <p:txBody>
          <a:bodyPr>
            <a:spAutoFit/>
          </a:bodyPr>
          <a:lstStyle/>
          <a:p>
            <a:pPr>
              <a:lnSpc>
                <a:spcPct val="150000"/>
              </a:lnSpc>
              <a:buClr>
                <a:schemeClr val="hlink"/>
              </a:buClr>
              <a:buSzPct val="65000"/>
              <a:buFont typeface="Wingdings" pitchFamily="2" charset="2"/>
              <a:buNone/>
              <a:defRPr/>
            </a:pPr>
            <a:r>
              <a:rPr lang="zh-CN" altLang="en-US" sz="2000" dirty="0">
                <a:latin typeface="微软雅黑" pitchFamily="34" charset="-122"/>
                <a:ea typeface="微软雅黑" pitchFamily="34" charset="-122"/>
              </a:rPr>
              <a:t>                      </a:t>
            </a:r>
            <a:r>
              <a:rPr lang="zh-CN" altLang="zh-CN" sz="2000" dirty="0">
                <a:latin typeface="微软雅黑" pitchFamily="34" charset="-122"/>
                <a:ea typeface="微软雅黑" pitchFamily="34" charset="-122"/>
              </a:rPr>
              <a:t>相干解调时，</a:t>
            </a:r>
            <a:r>
              <a:rPr lang="en-US" altLang="zh-CN" sz="2000" dirty="0">
                <a:latin typeface="微软雅黑" pitchFamily="34" charset="-122"/>
                <a:ea typeface="微软雅黑" pitchFamily="34" charset="-122"/>
              </a:rPr>
              <a:t>   </a:t>
            </a:r>
          </a:p>
          <a:p>
            <a:pPr>
              <a:lnSpc>
                <a:spcPct val="150000"/>
              </a:lnSpc>
              <a:buClr>
                <a:schemeClr val="hlink"/>
              </a:buClr>
              <a:buSzPct val="65000"/>
              <a:buFont typeface="Wingdings" pitchFamily="2" charset="2"/>
              <a:buNone/>
              <a:defRPr/>
            </a:pPr>
            <a:r>
              <a:rPr lang="en-US" altLang="zh-CN" sz="2000" dirty="0">
                <a:latin typeface="微软雅黑" pitchFamily="34" charset="-122"/>
                <a:ea typeface="微软雅黑" pitchFamily="34" charset="-122"/>
              </a:rPr>
              <a:t>                      </a:t>
            </a:r>
            <a:r>
              <a:rPr lang="zh-CN" altLang="en-US" sz="2000" dirty="0">
                <a:latin typeface="微软雅黑" pitchFamily="34" charset="-122"/>
                <a:ea typeface="微软雅黑" pitchFamily="34" charset="-122"/>
              </a:rPr>
              <a:t>提供 </a:t>
            </a:r>
            <a:r>
              <a:rPr lang="zh-CN" altLang="zh-CN" sz="2000" dirty="0">
                <a:latin typeface="微软雅黑" pitchFamily="34" charset="-122"/>
                <a:ea typeface="微软雅黑" pitchFamily="34" charset="-122"/>
              </a:rPr>
              <a:t>同频同相</a:t>
            </a:r>
            <a:r>
              <a:rPr lang="en-US" altLang="zh-CN" sz="2000" dirty="0">
                <a:latin typeface="微软雅黑" pitchFamily="34" charset="-122"/>
                <a:ea typeface="微软雅黑" pitchFamily="34" charset="-122"/>
              </a:rPr>
              <a:t> </a:t>
            </a:r>
            <a:r>
              <a:rPr lang="zh-CN" altLang="zh-CN" sz="2000" dirty="0">
                <a:latin typeface="微软雅黑" pitchFamily="34" charset="-122"/>
                <a:ea typeface="微软雅黑" pitchFamily="34" charset="-122"/>
              </a:rPr>
              <a:t>的本地载波（相干载波）。</a:t>
            </a:r>
            <a:endParaRPr lang="en-US" altLang="zh-CN" sz="2000" dirty="0">
              <a:latin typeface="微软雅黑" pitchFamily="34" charset="-122"/>
              <a:ea typeface="微软雅黑" pitchFamily="34" charset="-122"/>
            </a:endParaRPr>
          </a:p>
        </p:txBody>
      </p:sp>
      <p:sp>
        <p:nvSpPr>
          <p:cNvPr id="4108" name="Rectangle 21">
            <a:extLst>
              <a:ext uri="{FF2B5EF4-FFF2-40B4-BE49-F238E27FC236}">
                <a16:creationId xmlns:a16="http://schemas.microsoft.com/office/drawing/2014/main" id="{6DC4B26D-C6E6-8B8D-F960-DC37B513695D}"/>
              </a:ext>
            </a:extLst>
          </p:cNvPr>
          <p:cNvSpPr>
            <a:spLocks noChangeArrowheads="1"/>
          </p:cNvSpPr>
          <p:nvPr/>
        </p:nvSpPr>
        <p:spPr bwMode="auto">
          <a:xfrm>
            <a:off x="407988" y="481013"/>
            <a:ext cx="6878637" cy="523875"/>
          </a:xfrm>
          <a:prstGeom prst="rect">
            <a:avLst/>
          </a:prstGeom>
          <a:noFill/>
          <a:ln w="9525">
            <a:noFill/>
            <a:miter lim="800000"/>
            <a:headEnd/>
            <a:tailEnd/>
          </a:ln>
          <a:effectLst>
            <a:prstShdw prst="shdw17" dist="17961" dir="2700000">
              <a:srgbClr val="99997A"/>
            </a:prstShdw>
          </a:effectLst>
        </p:spPr>
        <p:txBody>
          <a:bodyPr>
            <a:spAutoFit/>
          </a:bodyPr>
          <a:lstStyle/>
          <a:p>
            <a:pPr eaLnBrk="0" hangingPunct="0">
              <a:buClr>
                <a:srgbClr val="FF0000"/>
              </a:buClr>
              <a:buSzPct val="79000"/>
              <a:buFont typeface="Wingdings" pitchFamily="2" charset="2"/>
              <a:buChar char="n"/>
              <a:defRPr/>
            </a:pPr>
            <a:r>
              <a:rPr lang="en-US" altLang="zh-CN" sz="2800" dirty="0">
                <a:latin typeface="微软雅黑" pitchFamily="34" charset="-122"/>
                <a:ea typeface="微软雅黑" pitchFamily="34" charset="-122"/>
              </a:rPr>
              <a:t> </a:t>
            </a:r>
            <a:r>
              <a:rPr lang="zh-CN" altLang="zh-CN" sz="2800" dirty="0">
                <a:latin typeface="微软雅黑" pitchFamily="34" charset="-122"/>
                <a:ea typeface="微软雅黑" pitchFamily="34" charset="-122"/>
              </a:rPr>
              <a:t>同步的类</a:t>
            </a:r>
            <a:r>
              <a:rPr lang="zh-CN" altLang="en-US" sz="2800" dirty="0">
                <a:latin typeface="微软雅黑" pitchFamily="34" charset="-122"/>
                <a:ea typeface="微软雅黑" pitchFamily="34" charset="-122"/>
              </a:rPr>
              <a:t>型、作用 </a:t>
            </a:r>
            <a:r>
              <a:rPr lang="zh-CN" altLang="zh-CN" sz="2800" dirty="0">
                <a:effectLst>
                  <a:outerShdw blurRad="38100" dist="38100" dir="2700000" algn="tl">
                    <a:srgbClr val="000000">
                      <a:alpha val="43137"/>
                    </a:srgbClr>
                  </a:outerShdw>
                </a:effectLst>
                <a:latin typeface="微软雅黑" pitchFamily="34" charset="-122"/>
                <a:ea typeface="微软雅黑" pitchFamily="34" charset="-122"/>
              </a:rPr>
              <a:t>和</a:t>
            </a:r>
            <a:r>
              <a:rPr lang="en-US" altLang="zh-CN" sz="2800" dirty="0">
                <a:latin typeface="微软雅黑" pitchFamily="34" charset="-122"/>
                <a:ea typeface="微软雅黑" pitchFamily="34" charset="-122"/>
              </a:rPr>
              <a:t> </a:t>
            </a:r>
            <a:r>
              <a:rPr lang="zh-CN" altLang="en-US" sz="2800" dirty="0">
                <a:latin typeface="微软雅黑" pitchFamily="34" charset="-122"/>
                <a:ea typeface="微软雅黑" pitchFamily="34" charset="-122"/>
              </a:rPr>
              <a:t>获取方法</a:t>
            </a:r>
            <a:endParaRPr lang="en-US" altLang="zh-CN" sz="2800" dirty="0">
              <a:latin typeface="微软雅黑" pitchFamily="34" charset="-122"/>
              <a:ea typeface="微软雅黑" pitchFamily="34" charset="-122"/>
            </a:endParaRPr>
          </a:p>
        </p:txBody>
      </p:sp>
      <p:sp>
        <p:nvSpPr>
          <p:cNvPr id="57350" name="Rectangle 6">
            <a:extLst>
              <a:ext uri="{FF2B5EF4-FFF2-40B4-BE49-F238E27FC236}">
                <a16:creationId xmlns:a16="http://schemas.microsoft.com/office/drawing/2014/main" id="{DCF3E862-D03E-DC17-7B89-92198AA1EE11}"/>
              </a:ext>
            </a:extLst>
          </p:cNvPr>
          <p:cNvSpPr>
            <a:spLocks noChangeArrowheads="1"/>
          </p:cNvSpPr>
          <p:nvPr/>
        </p:nvSpPr>
        <p:spPr bwMode="auto">
          <a:xfrm>
            <a:off x="582613" y="1190625"/>
            <a:ext cx="3408362" cy="523875"/>
          </a:xfrm>
          <a:prstGeom prst="rect">
            <a:avLst/>
          </a:prstGeom>
          <a:noFill/>
          <a:ln w="9525">
            <a:noFill/>
            <a:miter lim="800000"/>
            <a:headEnd/>
            <a:tailEnd/>
          </a:ln>
          <a:effectLst>
            <a:outerShdw blurRad="50800" dist="38100" dir="2700000" algn="tl" rotWithShape="0">
              <a:prstClr val="black">
                <a:alpha val="40000"/>
              </a:prstClr>
            </a:outerShdw>
          </a:effectLst>
        </p:spPr>
        <p:txBody>
          <a:bodyPr wrap="none">
            <a:spAutoFit/>
          </a:bodyPr>
          <a:lstStyle/>
          <a:p>
            <a:pPr>
              <a:buClr>
                <a:srgbClr val="0000CC"/>
              </a:buClr>
              <a:buSzPct val="65000"/>
              <a:buFont typeface="Wingdings" pitchFamily="2" charset="2"/>
              <a:buChar char="u"/>
              <a:defRPr/>
            </a:pPr>
            <a:r>
              <a:rPr lang="zh-CN" altLang="en-US" sz="2400" dirty="0">
                <a:solidFill>
                  <a:srgbClr val="003399"/>
                </a:solidFill>
                <a:ea typeface="华文中宋" pitchFamily="2" charset="-122"/>
              </a:rPr>
              <a:t> </a:t>
            </a:r>
            <a:r>
              <a:rPr lang="zh-CN" altLang="en-US" sz="2800" dirty="0">
                <a:solidFill>
                  <a:srgbClr val="990099"/>
                </a:solidFill>
                <a:latin typeface="黑体" pitchFamily="2" charset="-122"/>
                <a:ea typeface="黑体" pitchFamily="2" charset="-122"/>
              </a:rPr>
              <a:t>同步的类型和作用</a:t>
            </a:r>
          </a:p>
        </p:txBody>
      </p:sp>
      <p:sp>
        <p:nvSpPr>
          <p:cNvPr id="57351" name="Rectangle 7">
            <a:extLst>
              <a:ext uri="{FF2B5EF4-FFF2-40B4-BE49-F238E27FC236}">
                <a16:creationId xmlns:a16="http://schemas.microsoft.com/office/drawing/2014/main" id="{C8AB7216-1C1A-254B-6510-184D1AB263EA}"/>
              </a:ext>
            </a:extLst>
          </p:cNvPr>
          <p:cNvSpPr>
            <a:spLocks noChangeArrowheads="1"/>
          </p:cNvSpPr>
          <p:nvPr/>
        </p:nvSpPr>
        <p:spPr bwMode="auto">
          <a:xfrm>
            <a:off x="927100" y="1990725"/>
            <a:ext cx="1573213" cy="400050"/>
          </a:xfrm>
          <a:prstGeom prst="rect">
            <a:avLst/>
          </a:prstGeom>
          <a:solidFill>
            <a:schemeClr val="bg2">
              <a:lumMod val="10000"/>
              <a:lumOff val="90000"/>
            </a:schemeClr>
          </a:solidFill>
          <a:ln w="9525">
            <a:noFill/>
            <a:miter lim="800000"/>
            <a:headEnd/>
            <a:tailEnd/>
          </a:ln>
          <a:effectLst/>
        </p:spPr>
        <p:txBody>
          <a:bodyPr>
            <a:spAutoFit/>
          </a:bodyPr>
          <a:lstStyle/>
          <a:p>
            <a:pPr>
              <a:buClr>
                <a:schemeClr val="tx1">
                  <a:lumMod val="50000"/>
                  <a:lumOff val="50000"/>
                </a:schemeClr>
              </a:buClr>
              <a:buSzPct val="85000"/>
              <a:buFont typeface="Wingdings" pitchFamily="2" charset="2"/>
              <a:buChar char="Ø"/>
              <a:defRPr/>
            </a:pPr>
            <a:r>
              <a:rPr lang="zh-CN" altLang="en-US" sz="2000" dirty="0">
                <a:solidFill>
                  <a:srgbClr val="800080"/>
                </a:solidFill>
                <a:latin typeface="微软雅黑" pitchFamily="34" charset="-122"/>
                <a:ea typeface="微软雅黑" pitchFamily="34" charset="-122"/>
              </a:rPr>
              <a:t> </a:t>
            </a:r>
            <a:r>
              <a:rPr lang="zh-CN" altLang="zh-CN" sz="2000" dirty="0">
                <a:solidFill>
                  <a:srgbClr val="0000CC"/>
                </a:solidFill>
                <a:latin typeface="微软雅黑" pitchFamily="34" charset="-122"/>
                <a:ea typeface="微软雅黑" pitchFamily="34" charset="-122"/>
              </a:rPr>
              <a:t>载波同步</a:t>
            </a:r>
            <a:r>
              <a:rPr lang="zh-CN" altLang="en-US" sz="2000" dirty="0">
                <a:solidFill>
                  <a:srgbClr val="0000CC"/>
                </a:solidFill>
                <a:latin typeface="+mn-ea"/>
                <a:ea typeface="+mn-ea"/>
              </a:rPr>
              <a:t>：</a:t>
            </a:r>
          </a:p>
        </p:txBody>
      </p:sp>
      <p:sp>
        <p:nvSpPr>
          <p:cNvPr id="57353" name="Rectangle 9">
            <a:extLst>
              <a:ext uri="{FF2B5EF4-FFF2-40B4-BE49-F238E27FC236}">
                <a16:creationId xmlns:a16="http://schemas.microsoft.com/office/drawing/2014/main" id="{EBB860D0-1E00-B1C0-4A9E-93E3740BA565}"/>
              </a:ext>
            </a:extLst>
          </p:cNvPr>
          <p:cNvSpPr>
            <a:spLocks noChangeArrowheads="1"/>
          </p:cNvSpPr>
          <p:nvPr/>
        </p:nvSpPr>
        <p:spPr bwMode="auto">
          <a:xfrm>
            <a:off x="927100" y="3182938"/>
            <a:ext cx="1573213" cy="400050"/>
          </a:xfrm>
          <a:prstGeom prst="rect">
            <a:avLst/>
          </a:prstGeom>
          <a:solidFill>
            <a:schemeClr val="bg2">
              <a:lumMod val="10000"/>
              <a:lumOff val="90000"/>
            </a:schemeClr>
          </a:solidFill>
          <a:ln w="9525">
            <a:noFill/>
            <a:miter lim="800000"/>
            <a:headEnd/>
            <a:tailEnd/>
          </a:ln>
          <a:effectLst/>
        </p:spPr>
        <p:txBody>
          <a:bodyPr>
            <a:spAutoFit/>
          </a:bodyPr>
          <a:lstStyle/>
          <a:p>
            <a:pPr>
              <a:buClr>
                <a:schemeClr val="tx1">
                  <a:lumMod val="50000"/>
                  <a:lumOff val="50000"/>
                </a:schemeClr>
              </a:buClr>
              <a:buSzPct val="85000"/>
              <a:buFont typeface="Wingdings" pitchFamily="2" charset="2"/>
              <a:buChar char="Ø"/>
              <a:defRPr/>
            </a:pPr>
            <a:r>
              <a:rPr lang="zh-CN" altLang="en-US" sz="2000" dirty="0">
                <a:solidFill>
                  <a:srgbClr val="800080"/>
                </a:solidFill>
                <a:latin typeface="微软雅黑" pitchFamily="34" charset="-122"/>
                <a:ea typeface="微软雅黑" pitchFamily="34" charset="-122"/>
              </a:rPr>
              <a:t> </a:t>
            </a:r>
            <a:r>
              <a:rPr lang="zh-CN" altLang="en-US" sz="2000" dirty="0">
                <a:solidFill>
                  <a:srgbClr val="0000CC"/>
                </a:solidFill>
                <a:latin typeface="微软雅黑" pitchFamily="34" charset="-122"/>
                <a:ea typeface="微软雅黑" pitchFamily="34" charset="-122"/>
              </a:rPr>
              <a:t>码元</a:t>
            </a:r>
            <a:r>
              <a:rPr lang="zh-CN" altLang="zh-CN" sz="2000" dirty="0">
                <a:solidFill>
                  <a:srgbClr val="0000CC"/>
                </a:solidFill>
                <a:latin typeface="微软雅黑" pitchFamily="34" charset="-122"/>
                <a:ea typeface="微软雅黑" pitchFamily="34" charset="-122"/>
              </a:rPr>
              <a:t>同步</a:t>
            </a:r>
            <a:r>
              <a:rPr lang="zh-CN" altLang="en-US" sz="2000" dirty="0">
                <a:solidFill>
                  <a:srgbClr val="0000CC"/>
                </a:solidFill>
                <a:latin typeface="+mn-ea"/>
                <a:ea typeface="+mn-ea"/>
              </a:rPr>
              <a:t>：</a:t>
            </a:r>
          </a:p>
        </p:txBody>
      </p:sp>
      <p:sp>
        <p:nvSpPr>
          <p:cNvPr id="4" name="Rectangle 102">
            <a:extLst>
              <a:ext uri="{FF2B5EF4-FFF2-40B4-BE49-F238E27FC236}">
                <a16:creationId xmlns:a16="http://schemas.microsoft.com/office/drawing/2014/main" id="{F424E241-CC0C-6CA9-4A34-4012B96C3E7B}"/>
              </a:ext>
            </a:extLst>
          </p:cNvPr>
          <p:cNvSpPr>
            <a:spLocks noChangeArrowheads="1"/>
          </p:cNvSpPr>
          <p:nvPr/>
        </p:nvSpPr>
        <p:spPr bwMode="auto">
          <a:xfrm>
            <a:off x="1027113" y="5641975"/>
            <a:ext cx="7386637" cy="500063"/>
          </a:xfrm>
          <a:prstGeom prst="rect">
            <a:avLst/>
          </a:prstGeom>
          <a:solidFill>
            <a:schemeClr val="bg2">
              <a:lumMod val="10000"/>
              <a:lumOff val="90000"/>
            </a:schemeClr>
          </a:solidFill>
          <a:ln w="9525" algn="ctr">
            <a:noFill/>
            <a:miter lim="800000"/>
            <a:headEnd/>
            <a:tailEnd/>
          </a:ln>
          <a:effectLst>
            <a:outerShdw blurRad="50800" dist="38100" dir="2700000" algn="tl" rotWithShape="0">
              <a:prstClr val="black">
                <a:alpha val="40000"/>
              </a:prstClr>
            </a:outerShdw>
          </a:effectLst>
        </p:spPr>
        <p:txBody>
          <a:bodyPr>
            <a:spAutoFit/>
          </a:bodyPr>
          <a:lstStyle/>
          <a:p>
            <a:pPr>
              <a:lnSpc>
                <a:spcPct val="150000"/>
              </a:lnSpc>
              <a:defRPr/>
            </a:pPr>
            <a:r>
              <a:rPr lang="zh-CN" altLang="en-US" sz="2000" dirty="0">
                <a:latin typeface="微软雅黑" pitchFamily="34" charset="-122"/>
                <a:ea typeface="微软雅黑" pitchFamily="34" charset="-122"/>
              </a:rPr>
              <a:t>                    </a:t>
            </a:r>
            <a:r>
              <a:rPr lang="zh-CN" altLang="zh-CN" sz="2000" dirty="0">
                <a:latin typeface="微软雅黑" pitchFamily="34" charset="-122"/>
                <a:ea typeface="微软雅黑" pitchFamily="34" charset="-122"/>
              </a:rPr>
              <a:t>使通信网中各站点时钟之间保持同步。</a:t>
            </a:r>
            <a:endParaRPr lang="en-US" altLang="zh-CN" sz="2000" dirty="0">
              <a:latin typeface="微软雅黑" pitchFamily="34" charset="-122"/>
              <a:ea typeface="微软雅黑" pitchFamily="34" charset="-122"/>
            </a:endParaRPr>
          </a:p>
        </p:txBody>
      </p:sp>
      <p:sp>
        <p:nvSpPr>
          <p:cNvPr id="57354" name="Rectangle 10">
            <a:extLst>
              <a:ext uri="{FF2B5EF4-FFF2-40B4-BE49-F238E27FC236}">
                <a16:creationId xmlns:a16="http://schemas.microsoft.com/office/drawing/2014/main" id="{27E85655-45EB-78EF-19BA-E4C7221EB146}"/>
              </a:ext>
            </a:extLst>
          </p:cNvPr>
          <p:cNvSpPr>
            <a:spLocks noChangeArrowheads="1"/>
          </p:cNvSpPr>
          <p:nvPr/>
        </p:nvSpPr>
        <p:spPr bwMode="auto">
          <a:xfrm>
            <a:off x="914400" y="4508500"/>
            <a:ext cx="1657350" cy="400050"/>
          </a:xfrm>
          <a:prstGeom prst="rect">
            <a:avLst/>
          </a:prstGeom>
          <a:solidFill>
            <a:schemeClr val="bg2">
              <a:lumMod val="10000"/>
              <a:lumOff val="90000"/>
            </a:schemeClr>
          </a:solidFill>
          <a:ln w="9525">
            <a:noFill/>
            <a:miter lim="800000"/>
            <a:headEnd/>
            <a:tailEnd/>
          </a:ln>
          <a:effectLst/>
        </p:spPr>
        <p:txBody>
          <a:bodyPr>
            <a:spAutoFit/>
          </a:bodyPr>
          <a:lstStyle/>
          <a:p>
            <a:pPr>
              <a:buClr>
                <a:schemeClr val="tx1">
                  <a:lumMod val="50000"/>
                  <a:lumOff val="50000"/>
                </a:schemeClr>
              </a:buClr>
              <a:buSzPct val="85000"/>
              <a:buFont typeface="Wingdings" pitchFamily="2" charset="2"/>
              <a:buChar char="Ø"/>
              <a:defRPr/>
            </a:pPr>
            <a:r>
              <a:rPr lang="zh-CN" altLang="en-US" sz="2000" dirty="0">
                <a:solidFill>
                  <a:srgbClr val="0000CC"/>
                </a:solidFill>
                <a:latin typeface="微软雅黑" pitchFamily="34" charset="-122"/>
                <a:ea typeface="微软雅黑" pitchFamily="34" charset="-122"/>
              </a:rPr>
              <a:t> 帧</a:t>
            </a:r>
            <a:r>
              <a:rPr lang="en-US" altLang="zh-CN" sz="2000" dirty="0">
                <a:solidFill>
                  <a:srgbClr val="0000CC"/>
                </a:solidFill>
                <a:latin typeface="微软雅黑" pitchFamily="34" charset="-122"/>
                <a:ea typeface="微软雅黑" pitchFamily="34" charset="-122"/>
              </a:rPr>
              <a:t>/</a:t>
            </a:r>
            <a:r>
              <a:rPr lang="zh-CN" altLang="en-US" sz="2000" dirty="0">
                <a:solidFill>
                  <a:srgbClr val="0000CC"/>
                </a:solidFill>
                <a:latin typeface="微软雅黑" pitchFamily="34" charset="-122"/>
                <a:ea typeface="微软雅黑" pitchFamily="34" charset="-122"/>
              </a:rPr>
              <a:t>群</a:t>
            </a:r>
            <a:r>
              <a:rPr lang="zh-CN" altLang="zh-CN" sz="2000" dirty="0">
                <a:solidFill>
                  <a:srgbClr val="0000CC"/>
                </a:solidFill>
                <a:latin typeface="微软雅黑" pitchFamily="34" charset="-122"/>
                <a:ea typeface="微软雅黑" pitchFamily="34" charset="-122"/>
              </a:rPr>
              <a:t>同步</a:t>
            </a:r>
            <a:r>
              <a:rPr lang="zh-CN" altLang="en-US" sz="2000" dirty="0">
                <a:solidFill>
                  <a:srgbClr val="0000CC"/>
                </a:solidFill>
                <a:latin typeface="+mn-ea"/>
                <a:ea typeface="宋体" charset="-122"/>
              </a:rPr>
              <a:t>：</a:t>
            </a:r>
            <a:endParaRPr lang="zh-CN" altLang="en-US" sz="2000" dirty="0">
              <a:solidFill>
                <a:srgbClr val="0000CC"/>
              </a:solidFill>
              <a:latin typeface="微软雅黑" pitchFamily="34" charset="-122"/>
              <a:ea typeface="微软雅黑" pitchFamily="34" charset="-122"/>
            </a:endParaRPr>
          </a:p>
        </p:txBody>
      </p:sp>
      <p:sp>
        <p:nvSpPr>
          <p:cNvPr id="57355" name="Rectangle 11">
            <a:extLst>
              <a:ext uri="{FF2B5EF4-FFF2-40B4-BE49-F238E27FC236}">
                <a16:creationId xmlns:a16="http://schemas.microsoft.com/office/drawing/2014/main" id="{0DEBD5F8-7961-7830-AB49-5D60245164F0}"/>
              </a:ext>
            </a:extLst>
          </p:cNvPr>
          <p:cNvSpPr>
            <a:spLocks noChangeArrowheads="1"/>
          </p:cNvSpPr>
          <p:nvPr/>
        </p:nvSpPr>
        <p:spPr bwMode="auto">
          <a:xfrm>
            <a:off x="919163" y="5672138"/>
            <a:ext cx="1449387" cy="400050"/>
          </a:xfrm>
          <a:prstGeom prst="rect">
            <a:avLst/>
          </a:prstGeom>
          <a:solidFill>
            <a:schemeClr val="bg2">
              <a:lumMod val="10000"/>
              <a:lumOff val="90000"/>
            </a:schemeClr>
          </a:solidFill>
          <a:ln w="9525">
            <a:noFill/>
            <a:miter lim="800000"/>
            <a:headEnd/>
            <a:tailEnd/>
          </a:ln>
          <a:effectLst/>
        </p:spPr>
        <p:txBody>
          <a:bodyPr>
            <a:spAutoFit/>
          </a:bodyPr>
          <a:lstStyle/>
          <a:p>
            <a:pPr>
              <a:buClr>
                <a:schemeClr val="tx1">
                  <a:lumMod val="50000"/>
                  <a:lumOff val="50000"/>
                </a:schemeClr>
              </a:buClr>
              <a:buSzPct val="85000"/>
              <a:buFont typeface="Wingdings" pitchFamily="2" charset="2"/>
              <a:buChar char="Ø"/>
              <a:defRPr/>
            </a:pPr>
            <a:r>
              <a:rPr lang="zh-CN" altLang="en-US" sz="2000" dirty="0">
                <a:solidFill>
                  <a:srgbClr val="800080"/>
                </a:solidFill>
                <a:latin typeface="微软雅黑" pitchFamily="34" charset="-122"/>
                <a:ea typeface="微软雅黑" pitchFamily="34" charset="-122"/>
              </a:rPr>
              <a:t> </a:t>
            </a:r>
            <a:r>
              <a:rPr lang="zh-CN" altLang="en-US" sz="2000" dirty="0">
                <a:solidFill>
                  <a:srgbClr val="0000CC"/>
                </a:solidFill>
                <a:latin typeface="微软雅黑" pitchFamily="34" charset="-122"/>
                <a:ea typeface="微软雅黑" pitchFamily="34" charset="-122"/>
              </a:rPr>
              <a:t>网 </a:t>
            </a:r>
            <a:r>
              <a:rPr lang="zh-CN" altLang="zh-CN" sz="2000" dirty="0">
                <a:solidFill>
                  <a:srgbClr val="0000CC"/>
                </a:solidFill>
                <a:latin typeface="微软雅黑" pitchFamily="34" charset="-122"/>
                <a:ea typeface="微软雅黑" pitchFamily="34" charset="-122"/>
              </a:rPr>
              <a:t>同</a:t>
            </a:r>
            <a:r>
              <a:rPr lang="en-US" altLang="zh-CN" sz="2000" dirty="0">
                <a:solidFill>
                  <a:srgbClr val="0000CC"/>
                </a:solidFill>
                <a:latin typeface="微软雅黑" pitchFamily="34" charset="-122"/>
                <a:ea typeface="微软雅黑" pitchFamily="34" charset="-122"/>
              </a:rPr>
              <a:t> </a:t>
            </a:r>
            <a:r>
              <a:rPr lang="zh-CN" altLang="zh-CN" sz="2000" dirty="0">
                <a:solidFill>
                  <a:srgbClr val="0000CC"/>
                </a:solidFill>
                <a:latin typeface="微软雅黑" pitchFamily="34" charset="-122"/>
                <a:ea typeface="微软雅黑" pitchFamily="34" charset="-122"/>
              </a:rPr>
              <a:t>步</a:t>
            </a:r>
            <a:r>
              <a:rPr lang="zh-CN" altLang="en-US" sz="2000" dirty="0">
                <a:solidFill>
                  <a:srgbClr val="0000CC"/>
                </a:solidFill>
                <a:latin typeface="+mn-ea"/>
                <a:ea typeface="宋体" charset="-122"/>
              </a:rPr>
              <a:t>：</a:t>
            </a:r>
            <a:endParaRPr lang="zh-CN" altLang="en-US" sz="2000" dirty="0">
              <a:solidFill>
                <a:srgbClr val="0000CC"/>
              </a:solidFill>
              <a:latin typeface="微软雅黑" pitchFamily="34" charset="-122"/>
              <a:ea typeface="微软雅黑" pitchFamily="34"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9" presetClass="entr" presetSubtype="0" fill="hold" nodeType="afterEffect">
                                  <p:stCondLst>
                                    <p:cond delay="0"/>
                                  </p:stCondLst>
                                  <p:childTnLst>
                                    <p:set>
                                      <p:cBhvr>
                                        <p:cTn id="6" dur="1" fill="hold">
                                          <p:stCondLst>
                                            <p:cond delay="0"/>
                                          </p:stCondLst>
                                        </p:cTn>
                                        <p:tgtEl>
                                          <p:spTgt spid="4108">
                                            <p:txEl>
                                              <p:pRg st="0" end="0"/>
                                            </p:txEl>
                                          </p:spTgt>
                                        </p:tgtEl>
                                        <p:attrNameLst>
                                          <p:attrName>style.visibility</p:attrName>
                                        </p:attrNameLst>
                                      </p:cBhvr>
                                      <p:to>
                                        <p:strVal val="visible"/>
                                      </p:to>
                                    </p:set>
                                    <p:anim calcmode="lin" valueType="num">
                                      <p:cBhvr>
                                        <p:cTn id="7" dur="1000" fill="hold"/>
                                        <p:tgtEl>
                                          <p:spTgt spid="4108">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4108">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4108">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9" presetClass="entr" presetSubtype="0" fill="hold" nodeType="clickEffect">
                                  <p:stCondLst>
                                    <p:cond delay="0"/>
                                  </p:stCondLst>
                                  <p:childTnLst>
                                    <p:set>
                                      <p:cBhvr>
                                        <p:cTn id="13" dur="1" fill="hold">
                                          <p:stCondLst>
                                            <p:cond delay="0"/>
                                          </p:stCondLst>
                                        </p:cTn>
                                        <p:tgtEl>
                                          <p:spTgt spid="57350"/>
                                        </p:tgtEl>
                                        <p:attrNameLst>
                                          <p:attrName>style.visibility</p:attrName>
                                        </p:attrNameLst>
                                      </p:cBhvr>
                                      <p:to>
                                        <p:strVal val="visible"/>
                                      </p:to>
                                    </p:set>
                                    <p:anim calcmode="lin" valueType="num">
                                      <p:cBhvr>
                                        <p:cTn id="14" dur="1000" fill="hold"/>
                                        <p:tgtEl>
                                          <p:spTgt spid="57350"/>
                                        </p:tgtEl>
                                        <p:attrNameLst>
                                          <p:attrName>ppt_x</p:attrName>
                                        </p:attrNameLst>
                                      </p:cBhvr>
                                      <p:tavLst>
                                        <p:tav tm="0">
                                          <p:val>
                                            <p:strVal val="#ppt_x-.2"/>
                                          </p:val>
                                        </p:tav>
                                        <p:tav tm="100000">
                                          <p:val>
                                            <p:strVal val="#ppt_x"/>
                                          </p:val>
                                        </p:tav>
                                      </p:tavLst>
                                    </p:anim>
                                    <p:anim calcmode="lin" valueType="num">
                                      <p:cBhvr>
                                        <p:cTn id="15" dur="1000" fill="hold"/>
                                        <p:tgtEl>
                                          <p:spTgt spid="57350"/>
                                        </p:tgtEl>
                                        <p:attrNameLst>
                                          <p:attrName>ppt_y</p:attrName>
                                        </p:attrNameLst>
                                      </p:cBhvr>
                                      <p:tavLst>
                                        <p:tav tm="0">
                                          <p:val>
                                            <p:strVal val="#ppt_y"/>
                                          </p:val>
                                        </p:tav>
                                        <p:tav tm="100000">
                                          <p:val>
                                            <p:strVal val="#ppt_y"/>
                                          </p:val>
                                        </p:tav>
                                      </p:tavLst>
                                    </p:anim>
                                    <p:animEffect transition="in" filter="wipe(right)" prLst="gradientSize: 0.1">
                                      <p:cBhvr>
                                        <p:cTn id="16" dur="1000"/>
                                        <p:tgtEl>
                                          <p:spTgt spid="5735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57351"/>
                                        </p:tgtEl>
                                        <p:attrNameLst>
                                          <p:attrName>style.visibility</p:attrName>
                                        </p:attrNameLst>
                                      </p:cBhvr>
                                      <p:to>
                                        <p:strVal val="visible"/>
                                      </p:to>
                                    </p:set>
                                    <p:animEffect transition="in" filter="wipe(up)">
                                      <p:cBhvr>
                                        <p:cTn id="21" dur="1000"/>
                                        <p:tgtEl>
                                          <p:spTgt spid="57351"/>
                                        </p:tgtEl>
                                      </p:cBhvr>
                                    </p:animEffect>
                                  </p:childTnLst>
                                </p:cTn>
                              </p:par>
                            </p:childTnLst>
                          </p:cTn>
                        </p:par>
                        <p:par>
                          <p:cTn id="22" fill="hold" nodeType="afterGroup">
                            <p:stCondLst>
                              <p:cond delay="1000"/>
                            </p:stCondLst>
                            <p:childTnLst>
                              <p:par>
                                <p:cTn id="23" presetID="22" presetClass="entr" presetSubtype="1" fill="hold" nodeType="afterEffect">
                                  <p:stCondLst>
                                    <p:cond delay="0"/>
                                  </p:stCondLst>
                                  <p:childTnLst>
                                    <p:set>
                                      <p:cBhvr>
                                        <p:cTn id="24" dur="1" fill="hold">
                                          <p:stCondLst>
                                            <p:cond delay="0"/>
                                          </p:stCondLst>
                                        </p:cTn>
                                        <p:tgtEl>
                                          <p:spTgt spid="20500"/>
                                        </p:tgtEl>
                                        <p:attrNameLst>
                                          <p:attrName>style.visibility</p:attrName>
                                        </p:attrNameLst>
                                      </p:cBhvr>
                                      <p:to>
                                        <p:strVal val="visible"/>
                                      </p:to>
                                    </p:set>
                                    <p:animEffect transition="in" filter="wipe(up)">
                                      <p:cBhvr>
                                        <p:cTn id="25" dur="1000"/>
                                        <p:tgtEl>
                                          <p:spTgt spid="2050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57353"/>
                                        </p:tgtEl>
                                        <p:attrNameLst>
                                          <p:attrName>style.visibility</p:attrName>
                                        </p:attrNameLst>
                                      </p:cBhvr>
                                      <p:to>
                                        <p:strVal val="visible"/>
                                      </p:to>
                                    </p:set>
                                    <p:animEffect transition="in" filter="wipe(up)">
                                      <p:cBhvr>
                                        <p:cTn id="30" dur="1000"/>
                                        <p:tgtEl>
                                          <p:spTgt spid="57353"/>
                                        </p:tgtEl>
                                      </p:cBhvr>
                                    </p:animEffect>
                                  </p:childTnLst>
                                </p:cTn>
                              </p:par>
                            </p:childTnLst>
                          </p:cTn>
                        </p:par>
                        <p:par>
                          <p:cTn id="31" fill="hold" nodeType="afterGroup">
                            <p:stCondLst>
                              <p:cond delay="1000"/>
                            </p:stCondLst>
                            <p:childTnLst>
                              <p:par>
                                <p:cTn id="32" presetID="22" presetClass="entr" presetSubtype="1" fill="hold" nodeType="afterEffect">
                                  <p:stCondLst>
                                    <p:cond delay="0"/>
                                  </p:stCondLst>
                                  <p:childTnLst>
                                    <p:set>
                                      <p:cBhvr>
                                        <p:cTn id="33" dur="1" fill="hold">
                                          <p:stCondLst>
                                            <p:cond delay="0"/>
                                          </p:stCondLst>
                                        </p:cTn>
                                        <p:tgtEl>
                                          <p:spTgt spid="45069"/>
                                        </p:tgtEl>
                                        <p:attrNameLst>
                                          <p:attrName>style.visibility</p:attrName>
                                        </p:attrNameLst>
                                      </p:cBhvr>
                                      <p:to>
                                        <p:strVal val="visible"/>
                                      </p:to>
                                    </p:set>
                                    <p:animEffect transition="in" filter="wipe(up)">
                                      <p:cBhvr>
                                        <p:cTn id="34" dur="1000"/>
                                        <p:tgtEl>
                                          <p:spTgt spid="4506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57354"/>
                                        </p:tgtEl>
                                        <p:attrNameLst>
                                          <p:attrName>style.visibility</p:attrName>
                                        </p:attrNameLst>
                                      </p:cBhvr>
                                      <p:to>
                                        <p:strVal val="visible"/>
                                      </p:to>
                                    </p:set>
                                    <p:animEffect transition="in" filter="wipe(up)">
                                      <p:cBhvr>
                                        <p:cTn id="39" dur="1000"/>
                                        <p:tgtEl>
                                          <p:spTgt spid="57354"/>
                                        </p:tgtEl>
                                      </p:cBhvr>
                                    </p:animEffect>
                                  </p:childTnLst>
                                </p:cTn>
                              </p:par>
                            </p:childTnLst>
                          </p:cTn>
                        </p:par>
                        <p:par>
                          <p:cTn id="40" fill="hold" nodeType="afterGroup">
                            <p:stCondLst>
                              <p:cond delay="1000"/>
                            </p:stCondLst>
                            <p:childTnLst>
                              <p:par>
                                <p:cTn id="41" presetID="22" presetClass="entr" presetSubtype="1" fill="hold" nodeType="afterEffect">
                                  <p:stCondLst>
                                    <p:cond delay="0"/>
                                  </p:stCondLst>
                                  <p:childTnLst>
                                    <p:set>
                                      <p:cBhvr>
                                        <p:cTn id="42" dur="1" fill="hold">
                                          <p:stCondLst>
                                            <p:cond delay="0"/>
                                          </p:stCondLst>
                                        </p:cTn>
                                        <p:tgtEl>
                                          <p:spTgt spid="45068"/>
                                        </p:tgtEl>
                                        <p:attrNameLst>
                                          <p:attrName>style.visibility</p:attrName>
                                        </p:attrNameLst>
                                      </p:cBhvr>
                                      <p:to>
                                        <p:strVal val="visible"/>
                                      </p:to>
                                    </p:set>
                                    <p:animEffect transition="in" filter="wipe(up)">
                                      <p:cBhvr>
                                        <p:cTn id="43" dur="1000"/>
                                        <p:tgtEl>
                                          <p:spTgt spid="4506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1" fill="hold" nodeType="clickEffect">
                                  <p:stCondLst>
                                    <p:cond delay="0"/>
                                  </p:stCondLst>
                                  <p:childTnLst>
                                    <p:set>
                                      <p:cBhvr>
                                        <p:cTn id="47" dur="1" fill="hold">
                                          <p:stCondLst>
                                            <p:cond delay="0"/>
                                          </p:stCondLst>
                                        </p:cTn>
                                        <p:tgtEl>
                                          <p:spTgt spid="57355"/>
                                        </p:tgtEl>
                                        <p:attrNameLst>
                                          <p:attrName>style.visibility</p:attrName>
                                        </p:attrNameLst>
                                      </p:cBhvr>
                                      <p:to>
                                        <p:strVal val="visible"/>
                                      </p:to>
                                    </p:set>
                                    <p:animEffect transition="in" filter="wipe(up)">
                                      <p:cBhvr>
                                        <p:cTn id="48" dur="1000"/>
                                        <p:tgtEl>
                                          <p:spTgt spid="57355"/>
                                        </p:tgtEl>
                                      </p:cBhvr>
                                    </p:animEffect>
                                  </p:childTnLst>
                                </p:cTn>
                              </p:par>
                            </p:childTnLst>
                          </p:cTn>
                        </p:par>
                        <p:par>
                          <p:cTn id="49" fill="hold" nodeType="afterGroup">
                            <p:stCondLst>
                              <p:cond delay="1000"/>
                            </p:stCondLst>
                            <p:childTnLst>
                              <p:par>
                                <p:cTn id="50" presetID="22" presetClass="entr" presetSubtype="1" fill="hold" nodeType="after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wipe(up)">
                                      <p:cBhvr>
                                        <p:cTn id="52"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0" grpId="0" animBg="1"/>
      <p:bldP spid="57350" grpId="0"/>
      <p:bldP spid="57351" grpId="0" animBg="1"/>
      <p:bldP spid="57353" grpId="0" animBg="1"/>
      <p:bldP spid="4" grpId="0" animBg="1"/>
      <p:bldP spid="57354" grpId="0" animBg="1"/>
      <p:bldP spid="5735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91" name="Picture 11">
            <a:extLst>
              <a:ext uri="{FF2B5EF4-FFF2-40B4-BE49-F238E27FC236}">
                <a16:creationId xmlns:a16="http://schemas.microsoft.com/office/drawing/2014/main" id="{0BECF180-3780-A2F1-8A8C-87CF2C92CE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5700" y="1831975"/>
            <a:ext cx="7416800"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93" name="Picture 13">
            <a:extLst>
              <a:ext uri="{FF2B5EF4-FFF2-40B4-BE49-F238E27FC236}">
                <a16:creationId xmlns:a16="http://schemas.microsoft.com/office/drawing/2014/main" id="{5A8C0C99-1D1B-6295-48E9-95C9E97D32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9825" y="3243263"/>
            <a:ext cx="7432675"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4" name="Rectangle 12">
            <a:extLst>
              <a:ext uri="{FF2B5EF4-FFF2-40B4-BE49-F238E27FC236}">
                <a16:creationId xmlns:a16="http://schemas.microsoft.com/office/drawing/2014/main" id="{1B231C22-26C5-8A7F-0923-F40B8016C382}"/>
              </a:ext>
            </a:extLst>
          </p:cNvPr>
          <p:cNvSpPr>
            <a:spLocks noChangeArrowheads="1"/>
          </p:cNvSpPr>
          <p:nvPr/>
        </p:nvSpPr>
        <p:spPr bwMode="auto">
          <a:xfrm>
            <a:off x="1500188" y="5465763"/>
            <a:ext cx="6929437" cy="646112"/>
          </a:xfrm>
          <a:prstGeom prst="rect">
            <a:avLst/>
          </a:prstGeom>
          <a:solidFill>
            <a:schemeClr val="bg2">
              <a:lumMod val="10000"/>
              <a:lumOff val="90000"/>
            </a:schemeClr>
          </a:solidFill>
          <a:ln w="9525">
            <a:noFill/>
            <a:miter lim="800000"/>
            <a:headEnd/>
            <a:tailEnd/>
          </a:ln>
          <a:effectLst>
            <a:outerShdw blurRad="50800" dist="38100" dir="2700000" algn="tl" rotWithShape="0">
              <a:prstClr val="black">
                <a:alpha val="40000"/>
              </a:prstClr>
            </a:outerShdw>
          </a:effectLst>
        </p:spPr>
        <p:txBody>
          <a:bodyPr>
            <a:spAutoFit/>
          </a:bodyPr>
          <a:lstStyle/>
          <a:p>
            <a:pPr>
              <a:lnSpc>
                <a:spcPct val="150000"/>
              </a:lnSpc>
              <a:defRPr/>
            </a:pPr>
            <a:r>
              <a:rPr lang="zh-CN" altLang="en-US" sz="2000" dirty="0">
                <a:effectLst>
                  <a:outerShdw blurRad="38100" dist="38100" dir="2700000" algn="tl">
                    <a:srgbClr val="000000">
                      <a:alpha val="43137"/>
                    </a:srgbClr>
                  </a:outerShdw>
                </a:effectLst>
                <a:latin typeface="黑体" pitchFamily="2" charset="-122"/>
                <a:ea typeface="黑体" pitchFamily="2" charset="-122"/>
              </a:rPr>
              <a:t>   </a:t>
            </a:r>
            <a:r>
              <a:rPr lang="zh-CN" altLang="en-US" sz="2400" dirty="0">
                <a:effectLst>
                  <a:outerShdw blurRad="38100" dist="38100" dir="2700000" algn="tl">
                    <a:srgbClr val="000000">
                      <a:alpha val="43137"/>
                    </a:srgbClr>
                  </a:outerShdw>
                </a:effectLst>
                <a:latin typeface="黑体" pitchFamily="2" charset="-122"/>
                <a:ea typeface="黑体" pitchFamily="2" charset="-122"/>
              </a:rPr>
              <a:t>载波同步、位同步、群同步的实现方法和性能。</a:t>
            </a:r>
          </a:p>
        </p:txBody>
      </p:sp>
      <p:sp>
        <p:nvSpPr>
          <p:cNvPr id="11" name="Rectangle 6">
            <a:extLst>
              <a:ext uri="{FF2B5EF4-FFF2-40B4-BE49-F238E27FC236}">
                <a16:creationId xmlns:a16="http://schemas.microsoft.com/office/drawing/2014/main" id="{8BFBCE70-EE2C-7B48-81CA-1525169D1C69}"/>
              </a:ext>
            </a:extLst>
          </p:cNvPr>
          <p:cNvSpPr>
            <a:spLocks noChangeArrowheads="1"/>
          </p:cNvSpPr>
          <p:nvPr/>
        </p:nvSpPr>
        <p:spPr bwMode="auto">
          <a:xfrm>
            <a:off x="671513" y="1038225"/>
            <a:ext cx="2692400" cy="523875"/>
          </a:xfrm>
          <a:prstGeom prst="rect">
            <a:avLst/>
          </a:prstGeom>
          <a:noFill/>
          <a:ln w="9525">
            <a:noFill/>
            <a:miter lim="800000"/>
            <a:headEnd/>
            <a:tailEnd/>
          </a:ln>
          <a:effectLst>
            <a:outerShdw blurRad="50800" dist="38100" dir="2700000" algn="tl" rotWithShape="0">
              <a:prstClr val="black">
                <a:alpha val="40000"/>
              </a:prstClr>
            </a:outerShdw>
          </a:effectLst>
        </p:spPr>
        <p:txBody>
          <a:bodyPr wrap="none">
            <a:spAutoFit/>
          </a:bodyPr>
          <a:lstStyle/>
          <a:p>
            <a:pPr>
              <a:buClr>
                <a:srgbClr val="0000CC"/>
              </a:buClr>
              <a:buSzPct val="65000"/>
              <a:buFont typeface="Wingdings" pitchFamily="2" charset="2"/>
              <a:buChar char="u"/>
              <a:defRPr/>
            </a:pPr>
            <a:r>
              <a:rPr lang="zh-CN" altLang="en-US" sz="2400" dirty="0">
                <a:solidFill>
                  <a:srgbClr val="003399"/>
                </a:solidFill>
                <a:ea typeface="华文中宋" pitchFamily="2" charset="-122"/>
              </a:rPr>
              <a:t> </a:t>
            </a:r>
            <a:r>
              <a:rPr lang="zh-CN" altLang="zh-CN" sz="2800" dirty="0">
                <a:solidFill>
                  <a:srgbClr val="990099"/>
                </a:solidFill>
                <a:latin typeface="黑体" pitchFamily="2" charset="-122"/>
                <a:ea typeface="黑体" pitchFamily="2" charset="-122"/>
              </a:rPr>
              <a:t>同步</a:t>
            </a:r>
            <a:r>
              <a:rPr lang="zh-CN" altLang="en-US" sz="2800" dirty="0">
                <a:solidFill>
                  <a:srgbClr val="990099"/>
                </a:solidFill>
                <a:latin typeface="黑体" pitchFamily="2" charset="-122"/>
                <a:ea typeface="黑体" pitchFamily="2" charset="-122"/>
              </a:rPr>
              <a:t>获取方法</a:t>
            </a:r>
          </a:p>
        </p:txBody>
      </p:sp>
      <p:sp>
        <p:nvSpPr>
          <p:cNvPr id="12" name="Rectangle 7">
            <a:extLst>
              <a:ext uri="{FF2B5EF4-FFF2-40B4-BE49-F238E27FC236}">
                <a16:creationId xmlns:a16="http://schemas.microsoft.com/office/drawing/2014/main" id="{909EC675-06F9-4208-1B7B-59AC56B353DB}"/>
              </a:ext>
            </a:extLst>
          </p:cNvPr>
          <p:cNvSpPr>
            <a:spLocks noChangeArrowheads="1"/>
          </p:cNvSpPr>
          <p:nvPr/>
        </p:nvSpPr>
        <p:spPr bwMode="auto">
          <a:xfrm>
            <a:off x="998538" y="1960563"/>
            <a:ext cx="1573212" cy="400050"/>
          </a:xfrm>
          <a:prstGeom prst="rect">
            <a:avLst/>
          </a:prstGeom>
          <a:solidFill>
            <a:schemeClr val="bg2">
              <a:lumMod val="10000"/>
              <a:lumOff val="90000"/>
            </a:schemeClr>
          </a:solidFill>
          <a:ln w="9525">
            <a:noFill/>
            <a:miter lim="800000"/>
            <a:headEnd/>
            <a:tailEnd/>
          </a:ln>
          <a:effectLst/>
        </p:spPr>
        <p:txBody>
          <a:bodyPr>
            <a:spAutoFit/>
          </a:bodyPr>
          <a:lstStyle/>
          <a:p>
            <a:pPr>
              <a:buClr>
                <a:schemeClr val="tx1">
                  <a:lumMod val="50000"/>
                  <a:lumOff val="50000"/>
                </a:schemeClr>
              </a:buClr>
              <a:buSzPct val="85000"/>
              <a:buFont typeface="Wingdings" pitchFamily="2" charset="2"/>
              <a:buChar char="Ø"/>
              <a:defRPr/>
            </a:pPr>
            <a:r>
              <a:rPr lang="zh-CN" altLang="en-US" sz="2000" dirty="0">
                <a:solidFill>
                  <a:srgbClr val="800080"/>
                </a:solidFill>
                <a:latin typeface="微软雅黑" pitchFamily="34" charset="-122"/>
                <a:ea typeface="微软雅黑" pitchFamily="34" charset="-122"/>
              </a:rPr>
              <a:t> </a:t>
            </a:r>
            <a:r>
              <a:rPr lang="zh-CN" altLang="en-US" sz="2000" dirty="0">
                <a:solidFill>
                  <a:srgbClr val="0000CC"/>
                </a:solidFill>
                <a:latin typeface="微软雅黑" pitchFamily="34" charset="-122"/>
                <a:ea typeface="微软雅黑" pitchFamily="34" charset="-122"/>
              </a:rPr>
              <a:t>外</a:t>
            </a:r>
            <a:r>
              <a:rPr lang="zh-CN" altLang="zh-CN" sz="2000" dirty="0">
                <a:solidFill>
                  <a:srgbClr val="0000CC"/>
                </a:solidFill>
                <a:latin typeface="微软雅黑" pitchFamily="34" charset="-122"/>
                <a:ea typeface="微软雅黑" pitchFamily="34" charset="-122"/>
              </a:rPr>
              <a:t>同步</a:t>
            </a:r>
            <a:r>
              <a:rPr lang="zh-CN" altLang="en-US" sz="2000" dirty="0">
                <a:solidFill>
                  <a:srgbClr val="0000CC"/>
                </a:solidFill>
                <a:latin typeface="微软雅黑" pitchFamily="34" charset="-122"/>
                <a:ea typeface="微软雅黑" pitchFamily="34" charset="-122"/>
              </a:rPr>
              <a:t>法</a:t>
            </a:r>
            <a:r>
              <a:rPr lang="zh-CN" altLang="en-US" sz="2000" dirty="0">
                <a:solidFill>
                  <a:srgbClr val="0000CC"/>
                </a:solidFill>
                <a:latin typeface="+mn-ea"/>
                <a:ea typeface="+mn-ea"/>
              </a:rPr>
              <a:t>：</a:t>
            </a:r>
          </a:p>
        </p:txBody>
      </p:sp>
      <p:sp>
        <p:nvSpPr>
          <p:cNvPr id="13" name="Rectangle 7">
            <a:extLst>
              <a:ext uri="{FF2B5EF4-FFF2-40B4-BE49-F238E27FC236}">
                <a16:creationId xmlns:a16="http://schemas.microsoft.com/office/drawing/2014/main" id="{2A15A734-20D6-660A-BA15-DD49FC6A0289}"/>
              </a:ext>
            </a:extLst>
          </p:cNvPr>
          <p:cNvSpPr>
            <a:spLocks noChangeArrowheads="1"/>
          </p:cNvSpPr>
          <p:nvPr/>
        </p:nvSpPr>
        <p:spPr bwMode="auto">
          <a:xfrm>
            <a:off x="984250" y="3386138"/>
            <a:ext cx="1573213" cy="400050"/>
          </a:xfrm>
          <a:prstGeom prst="rect">
            <a:avLst/>
          </a:prstGeom>
          <a:solidFill>
            <a:schemeClr val="bg2">
              <a:lumMod val="10000"/>
              <a:lumOff val="90000"/>
            </a:schemeClr>
          </a:solidFill>
          <a:ln w="9525">
            <a:noFill/>
            <a:miter lim="800000"/>
            <a:headEnd/>
            <a:tailEnd/>
          </a:ln>
          <a:effectLst/>
        </p:spPr>
        <p:txBody>
          <a:bodyPr>
            <a:spAutoFit/>
          </a:bodyPr>
          <a:lstStyle/>
          <a:p>
            <a:pPr>
              <a:buClr>
                <a:schemeClr val="tx1">
                  <a:lumMod val="50000"/>
                  <a:lumOff val="50000"/>
                </a:schemeClr>
              </a:buClr>
              <a:buSzPct val="85000"/>
              <a:buFont typeface="Wingdings" pitchFamily="2" charset="2"/>
              <a:buChar char="Ø"/>
              <a:defRPr/>
            </a:pPr>
            <a:r>
              <a:rPr lang="zh-CN" altLang="en-US" sz="2000" dirty="0">
                <a:solidFill>
                  <a:srgbClr val="800080"/>
                </a:solidFill>
                <a:latin typeface="微软雅黑" pitchFamily="34" charset="-122"/>
                <a:ea typeface="微软雅黑" pitchFamily="34" charset="-122"/>
              </a:rPr>
              <a:t> </a:t>
            </a:r>
            <a:r>
              <a:rPr lang="zh-CN" altLang="en-US" sz="2000" dirty="0">
                <a:solidFill>
                  <a:srgbClr val="0000CC"/>
                </a:solidFill>
                <a:latin typeface="微软雅黑" pitchFamily="34" charset="-122"/>
                <a:ea typeface="微软雅黑" pitchFamily="34" charset="-122"/>
              </a:rPr>
              <a:t>自</a:t>
            </a:r>
            <a:r>
              <a:rPr lang="zh-CN" altLang="zh-CN" sz="2000" dirty="0">
                <a:solidFill>
                  <a:srgbClr val="0000CC"/>
                </a:solidFill>
                <a:latin typeface="微软雅黑" pitchFamily="34" charset="-122"/>
                <a:ea typeface="微软雅黑" pitchFamily="34" charset="-122"/>
              </a:rPr>
              <a:t>同步</a:t>
            </a:r>
            <a:r>
              <a:rPr lang="zh-CN" altLang="en-US" sz="2000" dirty="0">
                <a:solidFill>
                  <a:srgbClr val="0000CC"/>
                </a:solidFill>
                <a:latin typeface="微软雅黑" pitchFamily="34" charset="-122"/>
                <a:ea typeface="微软雅黑" pitchFamily="34" charset="-122"/>
              </a:rPr>
              <a:t>法</a:t>
            </a:r>
            <a:r>
              <a:rPr lang="zh-CN" altLang="en-US" sz="2000" dirty="0">
                <a:solidFill>
                  <a:srgbClr val="0000CC"/>
                </a:solidFill>
                <a:latin typeface="+mn-ea"/>
                <a:ea typeface="+mn-ea"/>
              </a:rPr>
              <a:t>：</a:t>
            </a:r>
          </a:p>
        </p:txBody>
      </p:sp>
      <p:grpSp>
        <p:nvGrpSpPr>
          <p:cNvPr id="2" name="组合 52">
            <a:extLst>
              <a:ext uri="{FF2B5EF4-FFF2-40B4-BE49-F238E27FC236}">
                <a16:creationId xmlns:a16="http://schemas.microsoft.com/office/drawing/2014/main" id="{42CABC96-B878-06FC-0294-A82877F2E4CD}"/>
              </a:ext>
            </a:extLst>
          </p:cNvPr>
          <p:cNvGrpSpPr>
            <a:grpSpLocks/>
          </p:cNvGrpSpPr>
          <p:nvPr/>
        </p:nvGrpSpPr>
        <p:grpSpPr bwMode="auto">
          <a:xfrm>
            <a:off x="857250" y="5000625"/>
            <a:ext cx="1500188" cy="571500"/>
            <a:chOff x="3700306" y="3929066"/>
            <a:chExt cx="978143" cy="714375"/>
          </a:xfrm>
        </p:grpSpPr>
        <p:sp>
          <p:nvSpPr>
            <p:cNvPr id="15" name="椭圆 14">
              <a:extLst>
                <a:ext uri="{FF2B5EF4-FFF2-40B4-BE49-F238E27FC236}">
                  <a16:creationId xmlns:a16="http://schemas.microsoft.com/office/drawing/2014/main" id="{EA6F3D8C-C0C5-E9DE-C0C4-8AA11C92CED3}"/>
                </a:ext>
              </a:extLst>
            </p:cNvPr>
            <p:cNvSpPr/>
            <p:nvPr/>
          </p:nvSpPr>
          <p:spPr bwMode="auto">
            <a:xfrm>
              <a:off x="3700306" y="3929066"/>
              <a:ext cx="978143" cy="714375"/>
            </a:xfrm>
            <a:prstGeom prst="ellipse">
              <a:avLst/>
            </a:prstGeom>
            <a:solidFill>
              <a:schemeClr val="bg2">
                <a:lumMod val="10000"/>
                <a:lumOff val="90000"/>
              </a:schemeClr>
            </a:solidFill>
            <a:ln w="9525" cap="flat" cmpd="sng" algn="ctr">
              <a:solidFill>
                <a:schemeClr val="tx2">
                  <a:lumMod val="60000"/>
                  <a:lumOff val="40000"/>
                </a:schemeClr>
              </a:solidFill>
              <a:prstDash val="solid"/>
              <a:miter lim="800000"/>
              <a:headEnd type="none" w="med" len="med"/>
              <a:tailEnd type="none" w="med" len="med"/>
            </a:ln>
            <a:effectLst>
              <a:outerShdw blurRad="50800" dist="38100" dir="18900000" algn="bl" rotWithShape="0">
                <a:prstClr val="black">
                  <a:alpha val="40000"/>
                </a:prstClr>
              </a:outerShdw>
            </a:effectLst>
          </p:spPr>
          <p:txBody>
            <a:bodyPr wrap="none"/>
            <a:lstStyle/>
            <a:p>
              <a:pPr>
                <a:defRPr/>
              </a:pPr>
              <a:endParaRPr lang="zh-CN" altLang="en-US" dirty="0">
                <a:solidFill>
                  <a:srgbClr val="990099"/>
                </a:solidFill>
                <a:ea typeface="宋体" charset="-122"/>
              </a:endParaRPr>
            </a:p>
          </p:txBody>
        </p:sp>
        <p:sp>
          <p:nvSpPr>
            <p:cNvPr id="52234" name="矩形 44">
              <a:extLst>
                <a:ext uri="{FF2B5EF4-FFF2-40B4-BE49-F238E27FC236}">
                  <a16:creationId xmlns:a16="http://schemas.microsoft.com/office/drawing/2014/main" id="{14DB5D2A-FA66-3AEC-26CB-F0B1CFE302FD}"/>
                </a:ext>
              </a:extLst>
            </p:cNvPr>
            <p:cNvSpPr>
              <a:spLocks noChangeArrowheads="1"/>
            </p:cNvSpPr>
            <p:nvPr/>
          </p:nvSpPr>
          <p:spPr bwMode="auto">
            <a:xfrm>
              <a:off x="3745849" y="4022332"/>
              <a:ext cx="923284" cy="531813"/>
            </a:xfrm>
            <a:prstGeom prst="rect">
              <a:avLst/>
            </a:prstGeom>
            <a:noFill/>
            <a:ln w="9525">
              <a:noFill/>
              <a:miter lim="800000"/>
              <a:headEnd/>
              <a:tailEnd/>
            </a:ln>
          </p:spPr>
          <p:txBody>
            <a:bodyPr wrap="none">
              <a:spAutoFit/>
            </a:bodyPr>
            <a:lstStyle/>
            <a:p>
              <a:pPr algn="ctr" defTabSz="1244600">
                <a:lnSpc>
                  <a:spcPct val="90000"/>
                </a:lnSpc>
                <a:spcAft>
                  <a:spcPct val="35000"/>
                </a:spcAft>
                <a:defRPr/>
              </a:pPr>
              <a:r>
                <a:rPr lang="zh-CN" altLang="en-US" sz="24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本章重点</a:t>
              </a: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9"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ppt_x</p:attrName>
                                        </p:attrNameLst>
                                      </p:cBhvr>
                                      <p:tavLst>
                                        <p:tav tm="0">
                                          <p:val>
                                            <p:strVal val="#ppt_x-.2"/>
                                          </p:val>
                                        </p:tav>
                                        <p:tav tm="100000">
                                          <p:val>
                                            <p:strVal val="#ppt_x"/>
                                          </p:val>
                                        </p:tav>
                                      </p:tavLst>
                                    </p:anim>
                                    <p:anim calcmode="lin" valueType="num">
                                      <p:cBhvr>
                                        <p:cTn id="8" dur="1000" fill="hold"/>
                                        <p:tgtEl>
                                          <p:spTgt spid="11"/>
                                        </p:tgtEl>
                                        <p:attrNameLst>
                                          <p:attrName>ppt_y</p:attrName>
                                        </p:attrNameLst>
                                      </p:cBhvr>
                                      <p:tavLst>
                                        <p:tav tm="0">
                                          <p:val>
                                            <p:strVal val="#ppt_y"/>
                                          </p:val>
                                        </p:tav>
                                        <p:tav tm="100000">
                                          <p:val>
                                            <p:strVal val="#ppt_y"/>
                                          </p:val>
                                        </p:tav>
                                      </p:tavLst>
                                    </p:anim>
                                    <p:animEffect transition="in" filter="wipe(right)" prLst="gradientSize: 0.1">
                                      <p:cBhvr>
                                        <p:cTn id="9" dur="1000"/>
                                        <p:tgtEl>
                                          <p:spTgt spid="11"/>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1"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up)">
                                      <p:cBhvr>
                                        <p:cTn id="14" dur="1000"/>
                                        <p:tgtEl>
                                          <p:spTgt spid="12"/>
                                        </p:tgtEl>
                                      </p:cBhvr>
                                    </p:animEffect>
                                  </p:childTnLst>
                                </p:cTn>
                              </p:par>
                            </p:childTnLst>
                          </p:cTn>
                        </p:par>
                        <p:par>
                          <p:cTn id="15" fill="hold" nodeType="afterGroup">
                            <p:stCondLst>
                              <p:cond delay="1000"/>
                            </p:stCondLst>
                            <p:childTnLst>
                              <p:par>
                                <p:cTn id="16" presetID="22" presetClass="entr" presetSubtype="1" fill="hold" nodeType="afterEffect">
                                  <p:stCondLst>
                                    <p:cond delay="0"/>
                                  </p:stCondLst>
                                  <p:childTnLst>
                                    <p:set>
                                      <p:cBhvr>
                                        <p:cTn id="17" dur="1" fill="hold">
                                          <p:stCondLst>
                                            <p:cond delay="0"/>
                                          </p:stCondLst>
                                        </p:cTn>
                                        <p:tgtEl>
                                          <p:spTgt spid="46091"/>
                                        </p:tgtEl>
                                        <p:attrNameLst>
                                          <p:attrName>style.visibility</p:attrName>
                                        </p:attrNameLst>
                                      </p:cBhvr>
                                      <p:to>
                                        <p:strVal val="visible"/>
                                      </p:to>
                                    </p:set>
                                    <p:animEffect transition="in" filter="wipe(up)">
                                      <p:cBhvr>
                                        <p:cTn id="18" dur="1000"/>
                                        <p:tgtEl>
                                          <p:spTgt spid="4609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up)">
                                      <p:cBhvr>
                                        <p:cTn id="23" dur="1000"/>
                                        <p:tgtEl>
                                          <p:spTgt spid="13"/>
                                        </p:tgtEl>
                                      </p:cBhvr>
                                    </p:animEffect>
                                  </p:childTnLst>
                                </p:cTn>
                              </p:par>
                            </p:childTnLst>
                          </p:cTn>
                        </p:par>
                        <p:par>
                          <p:cTn id="24" fill="hold" nodeType="afterGroup">
                            <p:stCondLst>
                              <p:cond delay="1000"/>
                            </p:stCondLst>
                            <p:childTnLst>
                              <p:par>
                                <p:cTn id="25" presetID="22" presetClass="entr" presetSubtype="1" fill="hold" nodeType="afterEffect">
                                  <p:stCondLst>
                                    <p:cond delay="0"/>
                                  </p:stCondLst>
                                  <p:childTnLst>
                                    <p:set>
                                      <p:cBhvr>
                                        <p:cTn id="26" dur="1" fill="hold">
                                          <p:stCondLst>
                                            <p:cond delay="0"/>
                                          </p:stCondLst>
                                        </p:cTn>
                                        <p:tgtEl>
                                          <p:spTgt spid="46093"/>
                                        </p:tgtEl>
                                        <p:attrNameLst>
                                          <p:attrName>style.visibility</p:attrName>
                                        </p:attrNameLst>
                                      </p:cBhvr>
                                      <p:to>
                                        <p:strVal val="visible"/>
                                      </p:to>
                                    </p:set>
                                    <p:animEffect transition="in" filter="wipe(up)">
                                      <p:cBhvr>
                                        <p:cTn id="27" dur="1000"/>
                                        <p:tgtEl>
                                          <p:spTgt spid="4609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1000"/>
                                        <p:tgtEl>
                                          <p:spTgt spid="2"/>
                                        </p:tgtEl>
                                      </p:cBhvr>
                                    </p:animEffect>
                                  </p:childTnLst>
                                </p:cTn>
                              </p:par>
                            </p:childTnLst>
                          </p:cTn>
                        </p:par>
                        <p:par>
                          <p:cTn id="33" fill="hold" nodeType="afterGroup">
                            <p:stCondLst>
                              <p:cond delay="1000"/>
                            </p:stCondLst>
                            <p:childTnLst>
                              <p:par>
                                <p:cTn id="34" presetID="22" presetClass="entr" presetSubtype="1" fill="hold" nodeType="afterEffect">
                                  <p:stCondLst>
                                    <p:cond delay="0"/>
                                  </p:stCondLst>
                                  <p:childTnLst>
                                    <p:set>
                                      <p:cBhvr>
                                        <p:cTn id="35" dur="1" fill="hold">
                                          <p:stCondLst>
                                            <p:cond delay="0"/>
                                          </p:stCondLst>
                                        </p:cTn>
                                        <p:tgtEl>
                                          <p:spTgt spid="8204"/>
                                        </p:tgtEl>
                                        <p:attrNameLst>
                                          <p:attrName>style.visibility</p:attrName>
                                        </p:attrNameLst>
                                      </p:cBhvr>
                                      <p:to>
                                        <p:strVal val="visible"/>
                                      </p:to>
                                    </p:set>
                                    <p:animEffect transition="in" filter="wipe(up)">
                                      <p:cBhvr>
                                        <p:cTn id="36" dur="1000"/>
                                        <p:tgtEl>
                                          <p:spTgt spid="8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4" grpId="0" animBg="1"/>
      <p:bldP spid="11" grpId="0"/>
      <p:bldP spid="12" grpId="0" animBg="1"/>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6">
            <a:extLst>
              <a:ext uri="{FF2B5EF4-FFF2-40B4-BE49-F238E27FC236}">
                <a16:creationId xmlns:a16="http://schemas.microsoft.com/office/drawing/2014/main" id="{646692B1-A198-2394-E65A-DCB5168650F2}"/>
              </a:ext>
            </a:extLst>
          </p:cNvPr>
          <p:cNvSpPr txBox="1">
            <a:spLocks noChangeArrowheads="1"/>
          </p:cNvSpPr>
          <p:nvPr/>
        </p:nvSpPr>
        <p:spPr bwMode="gray">
          <a:xfrm>
            <a:off x="2549525" y="3584575"/>
            <a:ext cx="5000625" cy="630238"/>
          </a:xfrm>
          <a:prstGeom prst="rect">
            <a:avLst/>
          </a:prstGeom>
          <a:noFill/>
          <a:ln w="9525">
            <a:noFill/>
            <a:miter lim="800000"/>
            <a:headEnd/>
            <a:tailEnd/>
          </a:ln>
          <a:effectLst>
            <a:outerShdw blurRad="50800" dist="38100" dir="2700000" algn="tl" rotWithShape="0">
              <a:prstClr val="black">
                <a:alpha val="40000"/>
              </a:prstClr>
            </a:outerShdw>
          </a:effectLst>
        </p:spPr>
        <p:txBody>
          <a:bodyPr>
            <a:spAutoFit/>
          </a:bodyPr>
          <a:lstStyle/>
          <a:p>
            <a:pPr>
              <a:lnSpc>
                <a:spcPts val="4200"/>
              </a:lnSpc>
              <a:buClr>
                <a:srgbClr val="969696"/>
              </a:buClr>
              <a:buSzPct val="65000"/>
              <a:defRPr/>
            </a:pPr>
            <a:r>
              <a:rPr lang="zh-CN" altLang="en-US" sz="4400" b="1" dirty="0">
                <a:solidFill>
                  <a:srgbClr val="003399"/>
                </a:solidFill>
                <a:ea typeface="微软雅黑" pitchFamily="34" charset="-122"/>
              </a:rPr>
              <a:t>   </a:t>
            </a:r>
            <a:r>
              <a:rPr lang="zh-CN" altLang="en-US" sz="4400" b="1" dirty="0">
                <a:solidFill>
                  <a:srgbClr val="003399"/>
                </a:solidFill>
                <a:latin typeface="微软雅黑" pitchFamily="34" charset="-122"/>
                <a:ea typeface="微软雅黑" pitchFamily="34" charset="-122"/>
              </a:rPr>
              <a:t>载波同步</a:t>
            </a:r>
            <a:endParaRPr lang="en-US" altLang="zh-CN" sz="4400" b="1" dirty="0">
              <a:solidFill>
                <a:srgbClr val="990099"/>
              </a:solidFill>
              <a:ea typeface="微软雅黑" pitchFamily="34" charset="-122"/>
            </a:endParaRPr>
          </a:p>
        </p:txBody>
      </p:sp>
      <p:sp>
        <p:nvSpPr>
          <p:cNvPr id="45059" name="矩形 4">
            <a:extLst>
              <a:ext uri="{FF2B5EF4-FFF2-40B4-BE49-F238E27FC236}">
                <a16:creationId xmlns:a16="http://schemas.microsoft.com/office/drawing/2014/main" id="{8D323036-6D1A-BA26-4701-0EBD1BCF658C}"/>
              </a:ext>
            </a:extLst>
          </p:cNvPr>
          <p:cNvSpPr>
            <a:spLocks noChangeArrowheads="1"/>
          </p:cNvSpPr>
          <p:nvPr/>
        </p:nvSpPr>
        <p:spPr bwMode="auto">
          <a:xfrm>
            <a:off x="714375" y="2362200"/>
            <a:ext cx="1878013" cy="708025"/>
          </a:xfrm>
          <a:prstGeom prst="rect">
            <a:avLst/>
          </a:prstGeom>
          <a:noFill/>
          <a:ln w="9525">
            <a:noFill/>
            <a:miter lim="800000"/>
            <a:headEnd/>
            <a:tailEnd/>
          </a:ln>
          <a:effectLst>
            <a:outerShdw blurRad="50800" dist="38100" dir="2700000" algn="tl" rotWithShape="0">
              <a:prstClr val="black">
                <a:alpha val="40000"/>
              </a:prstClr>
            </a:outerShdw>
          </a:effectLst>
        </p:spPr>
        <p:txBody>
          <a:bodyPr wrap="none">
            <a:spAutoFit/>
          </a:bodyPr>
          <a:lstStyle/>
          <a:p>
            <a:pPr>
              <a:defRPr/>
            </a:pPr>
            <a:r>
              <a:rPr lang="en-US" altLang="en-US" sz="4000" b="1" u="sng" dirty="0">
                <a:solidFill>
                  <a:srgbClr val="800080"/>
                </a:solidFill>
                <a:latin typeface="Arial" pitchFamily="34" charset="0"/>
                <a:ea typeface="微软雅黑" pitchFamily="34" charset="-122"/>
                <a:cs typeface="Arial" pitchFamily="34" charset="0"/>
              </a:rPr>
              <a:t>§ 13</a:t>
            </a:r>
            <a:r>
              <a:rPr lang="en-US" altLang="zh-CN" sz="4000" b="1" u="sng" dirty="0">
                <a:solidFill>
                  <a:srgbClr val="800080"/>
                </a:solidFill>
                <a:latin typeface="Arial" pitchFamily="34" charset="0"/>
                <a:ea typeface="微软雅黑" pitchFamily="34" charset="-122"/>
                <a:cs typeface="Arial" pitchFamily="34" charset="0"/>
              </a:rPr>
              <a:t>.2  </a:t>
            </a:r>
            <a:endParaRPr lang="zh-CN" altLang="en-US" sz="4000" b="1" u="sng" dirty="0">
              <a:solidFill>
                <a:srgbClr val="800080"/>
              </a:solidFill>
              <a:latin typeface="Arial" pitchFamily="34" charset="0"/>
              <a:ea typeface="微软雅黑" pitchFamily="34" charset="-122"/>
              <a:cs typeface="Arial" pitchFamily="34" charset="0"/>
            </a:endParaRPr>
          </a:p>
        </p:txBody>
      </p:sp>
      <p:sp>
        <p:nvSpPr>
          <p:cNvPr id="5" name="Rectangle 102">
            <a:extLst>
              <a:ext uri="{FF2B5EF4-FFF2-40B4-BE49-F238E27FC236}">
                <a16:creationId xmlns:a16="http://schemas.microsoft.com/office/drawing/2014/main" id="{0468DC11-8B34-65BA-5F3F-089555031489}"/>
              </a:ext>
            </a:extLst>
          </p:cNvPr>
          <p:cNvSpPr>
            <a:spLocks noChangeArrowheads="1"/>
          </p:cNvSpPr>
          <p:nvPr/>
        </p:nvSpPr>
        <p:spPr bwMode="auto">
          <a:xfrm>
            <a:off x="2260600" y="4446588"/>
            <a:ext cx="5703888" cy="541337"/>
          </a:xfrm>
          <a:prstGeom prst="rect">
            <a:avLst/>
          </a:prstGeom>
          <a:noFill/>
          <a:ln w="9525" algn="ctr">
            <a:noFill/>
            <a:miter lim="800000"/>
            <a:headEnd/>
            <a:tailEnd/>
          </a:ln>
        </p:spPr>
        <p:txBody>
          <a:bodyPr>
            <a:spAutoFit/>
          </a:bodyPr>
          <a:lstStyle/>
          <a:p>
            <a:pPr marL="342900" indent="-342900">
              <a:lnSpc>
                <a:spcPts val="3500"/>
              </a:lnSpc>
              <a:buClr>
                <a:schemeClr val="hlink"/>
              </a:buClr>
              <a:buSzPct val="65000"/>
              <a:defRPr/>
            </a:pPr>
            <a:r>
              <a:rPr lang="zh-CN" altLang="zh-CN" sz="2000" b="1" dirty="0">
                <a:solidFill>
                  <a:srgbClr val="000099"/>
                </a:solidFill>
                <a:latin typeface="微软雅黑" pitchFamily="34" charset="-122"/>
                <a:ea typeface="微软雅黑" pitchFamily="34" charset="-122"/>
              </a:rPr>
              <a:t>作用</a:t>
            </a:r>
            <a:r>
              <a:rPr lang="zh-CN" altLang="zh-CN" sz="2000" dirty="0">
                <a:solidFill>
                  <a:srgbClr val="0000CC"/>
                </a:solidFill>
                <a:latin typeface="+mn-ea"/>
                <a:ea typeface="+mn-ea"/>
              </a:rPr>
              <a:t>：</a:t>
            </a:r>
            <a:r>
              <a:rPr lang="zh-CN" altLang="zh-CN" sz="2000" dirty="0">
                <a:effectLst>
                  <a:outerShdw blurRad="38100" dist="38100" dir="2700000" algn="tl">
                    <a:srgbClr val="000000">
                      <a:alpha val="43137"/>
                    </a:srgbClr>
                  </a:outerShdw>
                </a:effectLst>
                <a:latin typeface="微软雅黑" pitchFamily="34" charset="-122"/>
                <a:ea typeface="微软雅黑" pitchFamily="34" charset="-122"/>
              </a:rPr>
              <a:t>提供</a:t>
            </a:r>
            <a:r>
              <a:rPr lang="zh-CN" altLang="en-US" sz="2000" dirty="0">
                <a:effectLst>
                  <a:outerShdw blurRad="38100" dist="38100" dir="2700000" algn="tl">
                    <a:srgbClr val="000000">
                      <a:alpha val="43137"/>
                    </a:srgbClr>
                  </a:outerShdw>
                </a:effectLst>
                <a:latin typeface="微软雅黑" pitchFamily="34" charset="-122"/>
                <a:ea typeface="微软雅黑" pitchFamily="34" charset="-122"/>
              </a:rPr>
              <a:t>本地</a:t>
            </a:r>
            <a:r>
              <a:rPr lang="zh-CN" altLang="zh-CN" sz="2000" dirty="0">
                <a:effectLst>
                  <a:outerShdw blurRad="38100" dist="38100" dir="2700000" algn="tl">
                    <a:srgbClr val="000000">
                      <a:alpha val="43137"/>
                    </a:srgbClr>
                  </a:outerShdw>
                </a:effectLst>
                <a:latin typeface="微软雅黑" pitchFamily="34" charset="-122"/>
                <a:ea typeface="微软雅黑" pitchFamily="34" charset="-122"/>
              </a:rPr>
              <a:t>载波</a:t>
            </a:r>
            <a:r>
              <a:rPr lang="en-US" altLang="zh-CN" sz="2000" dirty="0">
                <a:effectLst>
                  <a:outerShdw blurRad="38100" dist="38100" dir="2700000" algn="tl">
                    <a:srgbClr val="000000">
                      <a:alpha val="43137"/>
                    </a:srgbClr>
                  </a:outerShdw>
                </a:effectLst>
                <a:latin typeface="微软雅黑" pitchFamily="34" charset="-122"/>
                <a:ea typeface="微软雅黑" pitchFamily="34" charset="-122"/>
              </a:rPr>
              <a:t> </a:t>
            </a:r>
            <a:r>
              <a:rPr lang="en-US" altLang="zh-CN" sz="2400" i="1" dirty="0">
                <a:solidFill>
                  <a:srgbClr val="FF0000"/>
                </a:solidFill>
                <a:latin typeface="Times New Roman" pitchFamily="18" charset="0"/>
                <a:ea typeface="微软雅黑" pitchFamily="34" charset="-122"/>
                <a:cs typeface="Times New Roman" pitchFamily="18" charset="0"/>
              </a:rPr>
              <a:t>c</a:t>
            </a:r>
            <a:r>
              <a:rPr lang="en-US" altLang="zh-CN" sz="2400" dirty="0">
                <a:solidFill>
                  <a:srgbClr val="FF0000"/>
                </a:solidFill>
                <a:latin typeface="微软雅黑" pitchFamily="34" charset="-122"/>
                <a:ea typeface="微软雅黑" pitchFamily="34" charset="-122"/>
              </a:rPr>
              <a:t>(</a:t>
            </a:r>
            <a:r>
              <a:rPr lang="en-US" altLang="zh-CN" sz="2400" i="1" dirty="0">
                <a:solidFill>
                  <a:srgbClr val="FF0000"/>
                </a:solidFill>
                <a:latin typeface="Times New Roman" pitchFamily="18" charset="0"/>
                <a:ea typeface="微软雅黑" pitchFamily="34" charset="-122"/>
                <a:cs typeface="Times New Roman" pitchFamily="18" charset="0"/>
              </a:rPr>
              <a:t>t</a:t>
            </a:r>
            <a:r>
              <a:rPr lang="en-US" altLang="zh-CN" sz="2400" dirty="0">
                <a:solidFill>
                  <a:srgbClr val="FF0000"/>
                </a:solidFill>
                <a:latin typeface="微软雅黑" pitchFamily="34" charset="-122"/>
                <a:ea typeface="微软雅黑" pitchFamily="34" charset="-122"/>
              </a:rPr>
              <a:t>)</a:t>
            </a:r>
            <a:r>
              <a:rPr lang="zh-CN" altLang="en-US" sz="2400" dirty="0">
                <a:effectLst>
                  <a:outerShdw blurRad="38100" dist="38100" dir="2700000" algn="tl">
                    <a:srgbClr val="000000">
                      <a:alpha val="43137"/>
                    </a:srgbClr>
                  </a:outerShdw>
                </a:effectLst>
                <a:latin typeface="+mn-ea"/>
                <a:ea typeface="+mn-ea"/>
              </a:rPr>
              <a:t>，</a:t>
            </a:r>
            <a:r>
              <a:rPr lang="zh-CN" altLang="en-US" sz="2000" dirty="0">
                <a:effectLst>
                  <a:outerShdw blurRad="38100" dist="38100" dir="2700000" algn="tl">
                    <a:srgbClr val="000000">
                      <a:alpha val="43137"/>
                    </a:srgbClr>
                  </a:outerShdw>
                </a:effectLst>
                <a:latin typeface="微软雅黑" pitchFamily="34" charset="-122"/>
                <a:ea typeface="微软雅黑" pitchFamily="34" charset="-122"/>
              </a:rPr>
              <a:t>用于</a:t>
            </a:r>
            <a:r>
              <a:rPr lang="zh-CN" altLang="zh-CN" sz="2000" dirty="0">
                <a:effectLst>
                  <a:outerShdw blurRad="38100" dist="38100" dir="2700000" algn="tl">
                    <a:srgbClr val="000000">
                      <a:alpha val="43137"/>
                    </a:srgbClr>
                  </a:outerShdw>
                </a:effectLst>
                <a:latin typeface="微软雅黑" pitchFamily="34" charset="-122"/>
                <a:ea typeface="微软雅黑" pitchFamily="34" charset="-122"/>
              </a:rPr>
              <a:t>相干解调</a:t>
            </a:r>
            <a:endParaRPr lang="en-US" altLang="zh-CN" sz="2000" dirty="0">
              <a:effectLst>
                <a:outerShdw blurRad="38100" dist="38100" dir="2700000" algn="tl">
                  <a:srgbClr val="000000">
                    <a:alpha val="43137"/>
                  </a:srgbClr>
                </a:outerShdw>
              </a:effectLst>
              <a:latin typeface="+mn-ea"/>
              <a:ea typeface="+mn-ea"/>
            </a:endParaRPr>
          </a:p>
        </p:txBody>
      </p:sp>
      <p:sp>
        <p:nvSpPr>
          <p:cNvPr id="6" name="Rectangle 102">
            <a:extLst>
              <a:ext uri="{FF2B5EF4-FFF2-40B4-BE49-F238E27FC236}">
                <a16:creationId xmlns:a16="http://schemas.microsoft.com/office/drawing/2014/main" id="{A2AA9A57-25CD-2A2C-9892-F97B24F30A70}"/>
              </a:ext>
            </a:extLst>
          </p:cNvPr>
          <p:cNvSpPr>
            <a:spLocks noChangeArrowheads="1"/>
          </p:cNvSpPr>
          <p:nvPr/>
        </p:nvSpPr>
        <p:spPr bwMode="auto">
          <a:xfrm>
            <a:off x="2260600" y="5597525"/>
            <a:ext cx="5132388" cy="604838"/>
          </a:xfrm>
          <a:prstGeom prst="rect">
            <a:avLst/>
          </a:prstGeom>
          <a:noFill/>
          <a:ln w="9525" algn="ctr">
            <a:noFill/>
            <a:miter lim="800000"/>
            <a:headEnd/>
            <a:tailEnd/>
          </a:ln>
        </p:spPr>
        <p:txBody>
          <a:bodyPr>
            <a:spAutoFit/>
          </a:bodyPr>
          <a:lstStyle/>
          <a:p>
            <a:pPr marL="342900" indent="-342900">
              <a:lnSpc>
                <a:spcPts val="4000"/>
              </a:lnSpc>
              <a:buClr>
                <a:schemeClr val="hlink"/>
              </a:buClr>
              <a:buSzPct val="65000"/>
              <a:defRPr/>
            </a:pPr>
            <a:r>
              <a:rPr lang="zh-CN" altLang="zh-CN" sz="2000" b="1" dirty="0">
                <a:solidFill>
                  <a:srgbClr val="000099"/>
                </a:solidFill>
                <a:latin typeface="微软雅黑" pitchFamily="34" charset="-122"/>
                <a:ea typeface="微软雅黑" pitchFamily="34" charset="-122"/>
              </a:rPr>
              <a:t>方法</a:t>
            </a:r>
            <a:r>
              <a:rPr lang="zh-CN" altLang="zh-CN" sz="2000" dirty="0">
                <a:solidFill>
                  <a:srgbClr val="0000CC"/>
                </a:solidFill>
                <a:latin typeface="+mn-ea"/>
                <a:ea typeface="+mn-ea"/>
              </a:rPr>
              <a:t>：</a:t>
            </a:r>
            <a:r>
              <a:rPr lang="zh-CN" altLang="zh-CN" sz="2000" dirty="0">
                <a:effectLst>
                  <a:outerShdw blurRad="38100" dist="38100" dir="2700000" algn="tl">
                    <a:srgbClr val="000000">
                      <a:alpha val="43137"/>
                    </a:srgbClr>
                  </a:outerShdw>
                </a:effectLst>
                <a:latin typeface="微软雅黑" pitchFamily="34" charset="-122"/>
                <a:ea typeface="微软雅黑" pitchFamily="34" charset="-122"/>
              </a:rPr>
              <a:t>插入导频法</a:t>
            </a:r>
            <a:r>
              <a:rPr lang="en-US" altLang="zh-CN" sz="2000" dirty="0">
                <a:effectLst>
                  <a:outerShdw blurRad="38100" dist="38100" dir="2700000" algn="tl">
                    <a:srgbClr val="000000">
                      <a:alpha val="43137"/>
                    </a:srgbClr>
                  </a:outerShdw>
                </a:effectLst>
                <a:latin typeface="微软雅黑" pitchFamily="34" charset="-122"/>
                <a:ea typeface="微软雅黑" pitchFamily="34" charset="-122"/>
              </a:rPr>
              <a:t> </a:t>
            </a:r>
            <a:r>
              <a:rPr lang="zh-CN" altLang="en-US" sz="2000" dirty="0">
                <a:latin typeface="微软雅黑" pitchFamily="34" charset="-122"/>
                <a:ea typeface="微软雅黑" pitchFamily="34" charset="-122"/>
              </a:rPr>
              <a:t>和 </a:t>
            </a:r>
            <a:r>
              <a:rPr lang="zh-CN" altLang="zh-CN" sz="2000" dirty="0">
                <a:effectLst>
                  <a:outerShdw blurRad="38100" dist="38100" dir="2700000" algn="tl">
                    <a:srgbClr val="000000">
                      <a:alpha val="43137"/>
                    </a:srgbClr>
                  </a:outerShdw>
                </a:effectLst>
                <a:latin typeface="微软雅黑" pitchFamily="34" charset="-122"/>
                <a:ea typeface="微软雅黑" pitchFamily="34" charset="-122"/>
              </a:rPr>
              <a:t>直接法</a:t>
            </a:r>
            <a:endParaRPr lang="en-US" altLang="zh-CN" sz="2000" dirty="0">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7" name="Rectangle 102">
            <a:extLst>
              <a:ext uri="{FF2B5EF4-FFF2-40B4-BE49-F238E27FC236}">
                <a16:creationId xmlns:a16="http://schemas.microsoft.com/office/drawing/2014/main" id="{0E5D8125-3212-C546-366A-3A73FE998B39}"/>
              </a:ext>
            </a:extLst>
          </p:cNvPr>
          <p:cNvSpPr>
            <a:spLocks noChangeArrowheads="1"/>
          </p:cNvSpPr>
          <p:nvPr/>
        </p:nvSpPr>
        <p:spPr bwMode="auto">
          <a:xfrm>
            <a:off x="2274888" y="5000625"/>
            <a:ext cx="5132387" cy="541338"/>
          </a:xfrm>
          <a:prstGeom prst="rect">
            <a:avLst/>
          </a:prstGeom>
          <a:noFill/>
          <a:ln w="9525" algn="ctr">
            <a:noFill/>
            <a:miter lim="800000"/>
            <a:headEnd/>
            <a:tailEnd/>
          </a:ln>
        </p:spPr>
        <p:txBody>
          <a:bodyPr>
            <a:spAutoFit/>
          </a:bodyPr>
          <a:lstStyle/>
          <a:p>
            <a:pPr marL="342900" indent="-342900">
              <a:lnSpc>
                <a:spcPts val="3500"/>
              </a:lnSpc>
              <a:buClr>
                <a:schemeClr val="hlink"/>
              </a:buClr>
              <a:buSzPct val="65000"/>
              <a:defRPr/>
            </a:pPr>
            <a:r>
              <a:rPr lang="zh-CN" altLang="en-US" sz="2000" b="1" dirty="0">
                <a:solidFill>
                  <a:srgbClr val="000099"/>
                </a:solidFill>
                <a:latin typeface="微软雅黑" pitchFamily="34" charset="-122"/>
                <a:ea typeface="微软雅黑" pitchFamily="34" charset="-122"/>
              </a:rPr>
              <a:t>要求</a:t>
            </a:r>
            <a:r>
              <a:rPr lang="zh-CN" altLang="zh-CN" sz="2000" dirty="0">
                <a:solidFill>
                  <a:srgbClr val="0000CC"/>
                </a:solidFill>
                <a:latin typeface="+mn-ea"/>
                <a:ea typeface="+mn-ea"/>
              </a:rPr>
              <a:t>：</a:t>
            </a:r>
            <a:r>
              <a:rPr lang="en-US" altLang="zh-CN" sz="2000" i="1" dirty="0">
                <a:solidFill>
                  <a:srgbClr val="FF0000"/>
                </a:solidFill>
                <a:latin typeface="Times New Roman" pitchFamily="18" charset="0"/>
                <a:ea typeface="微软雅黑" pitchFamily="34" charset="-122"/>
                <a:cs typeface="Times New Roman" pitchFamily="18" charset="0"/>
              </a:rPr>
              <a:t> c</a:t>
            </a:r>
            <a:r>
              <a:rPr lang="en-US" altLang="zh-CN" sz="2000" dirty="0">
                <a:solidFill>
                  <a:srgbClr val="FF0000"/>
                </a:solidFill>
                <a:latin typeface="微软雅黑" pitchFamily="34" charset="-122"/>
                <a:ea typeface="微软雅黑" pitchFamily="34" charset="-122"/>
              </a:rPr>
              <a:t>(</a:t>
            </a:r>
            <a:r>
              <a:rPr lang="en-US" altLang="zh-CN" sz="2000" i="1" dirty="0">
                <a:solidFill>
                  <a:srgbClr val="FF0000"/>
                </a:solidFill>
                <a:latin typeface="Times New Roman" pitchFamily="18" charset="0"/>
                <a:ea typeface="微软雅黑" pitchFamily="34" charset="-122"/>
                <a:cs typeface="Times New Roman" pitchFamily="18" charset="0"/>
              </a:rPr>
              <a:t>t</a:t>
            </a:r>
            <a:r>
              <a:rPr lang="en-US" altLang="zh-CN" sz="2000" dirty="0">
                <a:solidFill>
                  <a:srgbClr val="FF0000"/>
                </a:solidFill>
                <a:latin typeface="微软雅黑" pitchFamily="34" charset="-122"/>
                <a:ea typeface="微软雅黑" pitchFamily="34" charset="-122"/>
              </a:rPr>
              <a:t>)</a:t>
            </a:r>
            <a:r>
              <a:rPr lang="zh-CN" altLang="en-US" sz="2000" dirty="0">
                <a:latin typeface="微软雅黑" pitchFamily="34" charset="-122"/>
                <a:ea typeface="微软雅黑" pitchFamily="34" charset="-122"/>
              </a:rPr>
              <a:t>应</a:t>
            </a:r>
            <a:r>
              <a:rPr lang="zh-CN" altLang="en-US" sz="2000" dirty="0">
                <a:effectLst>
                  <a:outerShdw blurRad="38100" dist="38100" dir="2700000" algn="tl">
                    <a:srgbClr val="000000">
                      <a:alpha val="43137"/>
                    </a:srgbClr>
                  </a:outerShdw>
                </a:effectLst>
                <a:latin typeface="微软雅黑" pitchFamily="34" charset="-122"/>
                <a:ea typeface="微软雅黑" pitchFamily="34" charset="-122"/>
              </a:rPr>
              <a:t>与接收信号的载波 同频同相</a:t>
            </a:r>
            <a:endParaRPr lang="en-US" altLang="zh-CN" sz="2000" dirty="0">
              <a:effectLst>
                <a:outerShdw blurRad="38100" dist="38100" dir="2700000" algn="tl">
                  <a:srgbClr val="000000">
                    <a:alpha val="43137"/>
                  </a:srgbClr>
                </a:outerShdw>
              </a:effectLst>
              <a:latin typeface="微软雅黑" pitchFamily="34" charset="-122"/>
              <a:ea typeface="微软雅黑" pitchFamily="34" charset="-122"/>
            </a:endParaRPr>
          </a:p>
        </p:txBody>
      </p:sp>
      <p:pic>
        <p:nvPicPr>
          <p:cNvPr id="1027" name="Picture 3">
            <a:extLst>
              <a:ext uri="{FF2B5EF4-FFF2-40B4-BE49-F238E27FC236}">
                <a16:creationId xmlns:a16="http://schemas.microsoft.com/office/drawing/2014/main" id="{A1B27AE7-0EF7-9267-EFA4-EBAFED9082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2211"/>
          <a:stretch>
            <a:fillRect/>
          </a:stretch>
        </p:blipFill>
        <p:spPr bwMode="auto">
          <a:xfrm>
            <a:off x="4600575" y="1042988"/>
            <a:ext cx="3829050"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3"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upRight)">
                                      <p:cBhvr>
                                        <p:cTn id="7" dur="2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ipe(left)">
                                      <p:cBhvr>
                                        <p:cTn id="12" dur="2000"/>
                                        <p:tgtEl>
                                          <p:spTgt spid="5">
                                            <p:txEl>
                                              <p:pRg st="0" end="0"/>
                                            </p:txEl>
                                          </p:spTgt>
                                        </p:tgtEl>
                                      </p:cBhvr>
                                    </p:animEffect>
                                  </p:childTnLst>
                                </p:cTn>
                              </p:par>
                              <p:par>
                                <p:cTn id="13" presetID="20" presetClass="entr" presetSubtype="0" fill="hold" nodeType="withEffect">
                                  <p:stCondLst>
                                    <p:cond delay="0"/>
                                  </p:stCondLst>
                                  <p:childTnLst>
                                    <p:set>
                                      <p:cBhvr>
                                        <p:cTn id="14" dur="1" fill="hold">
                                          <p:stCondLst>
                                            <p:cond delay="0"/>
                                          </p:stCondLst>
                                        </p:cTn>
                                        <p:tgtEl>
                                          <p:spTgt spid="1027"/>
                                        </p:tgtEl>
                                        <p:attrNameLst>
                                          <p:attrName>style.visibility</p:attrName>
                                        </p:attrNameLst>
                                      </p:cBhvr>
                                      <p:to>
                                        <p:strVal val="visible"/>
                                      </p:to>
                                    </p:set>
                                    <p:animEffect transition="in" filter="wedge">
                                      <p:cBhvr>
                                        <p:cTn id="15" dur="2000"/>
                                        <p:tgtEl>
                                          <p:spTgt spid="102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7">
                                            <p:txEl>
                                              <p:pRg st="0" end="0"/>
                                            </p:txEl>
                                          </p:spTgt>
                                        </p:tgtEl>
                                        <p:attrNameLst>
                                          <p:attrName>style.visibility</p:attrName>
                                        </p:attrNameLst>
                                      </p:cBhvr>
                                      <p:to>
                                        <p:strVal val="visible"/>
                                      </p:to>
                                    </p:set>
                                    <p:animEffect transition="in" filter="wipe(left)">
                                      <p:cBhvr>
                                        <p:cTn id="20" dur="2000"/>
                                        <p:tgtEl>
                                          <p:spTgt spid="7">
                                            <p:txEl>
                                              <p:pRg st="0" end="0"/>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Effect transition="in" filter="wipe(left)">
                                      <p:cBhvr>
                                        <p:cTn id="25" dur="2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3" name="Rectangle 3">
            <a:extLst>
              <a:ext uri="{FF2B5EF4-FFF2-40B4-BE49-F238E27FC236}">
                <a16:creationId xmlns:a16="http://schemas.microsoft.com/office/drawing/2014/main" id="{7208DB9B-5BC6-9E66-DE68-F2BEE1AF41A1}"/>
              </a:ext>
            </a:extLst>
          </p:cNvPr>
          <p:cNvSpPr>
            <a:spLocks noGrp="1" noChangeArrowheads="1"/>
          </p:cNvSpPr>
          <p:nvPr>
            <p:ph type="body" sz="half" idx="1"/>
          </p:nvPr>
        </p:nvSpPr>
        <p:spPr>
          <a:xfrm>
            <a:off x="642938" y="1928813"/>
            <a:ext cx="7848600" cy="571500"/>
          </a:xfrm>
        </p:spPr>
        <p:txBody>
          <a:bodyPr/>
          <a:lstStyle/>
          <a:p>
            <a:pPr marL="609600" indent="-609600">
              <a:lnSpc>
                <a:spcPts val="3400"/>
              </a:lnSpc>
              <a:buClr>
                <a:srgbClr val="FF3300"/>
              </a:buClr>
              <a:buSzPct val="65000"/>
              <a:buFont typeface="Wingdings" panose="05000000000000000000" pitchFamily="2" charset="2"/>
              <a:buNone/>
              <a:defRPr/>
            </a:pPr>
            <a:r>
              <a:rPr lang="zh-CN" altLang="en-US" sz="2400" dirty="0">
                <a:solidFill>
                  <a:srgbClr val="003399"/>
                </a:solidFill>
                <a:latin typeface="黑体" pitchFamily="2" charset="-122"/>
                <a:ea typeface="黑体" pitchFamily="2" charset="-122"/>
                <a:cs typeface="Arial" charset="0"/>
              </a:rPr>
              <a:t>导频</a:t>
            </a:r>
            <a:r>
              <a:rPr lang="zh-CN" altLang="en-US" sz="2400" dirty="0">
                <a:latin typeface="黑体" pitchFamily="2" charset="-122"/>
                <a:ea typeface="黑体" pitchFamily="2" charset="-122"/>
                <a:cs typeface="Arial" charset="0"/>
              </a:rPr>
              <a:t>：</a:t>
            </a:r>
            <a:r>
              <a:rPr lang="zh-CN" altLang="en-US" sz="2000" b="0" dirty="0">
                <a:effectLst>
                  <a:outerShdw blurRad="38100" dist="38100" dir="2700000" algn="tl">
                    <a:srgbClr val="000000">
                      <a:alpha val="43137"/>
                    </a:srgbClr>
                  </a:outerShdw>
                </a:effectLst>
                <a:latin typeface="Arial" charset="0"/>
                <a:ea typeface="微软雅黑" pitchFamily="34" charset="-122"/>
                <a:cs typeface="Arial" charset="0"/>
              </a:rPr>
              <a:t>含有载波信息的单频信号，伴随发送信号一并被发送。</a:t>
            </a:r>
            <a:endParaRPr lang="en-US" altLang="zh-CN" sz="2000" b="0" dirty="0">
              <a:effectLst>
                <a:outerShdw blurRad="38100" dist="38100" dir="2700000" algn="tl">
                  <a:srgbClr val="000000">
                    <a:alpha val="43137"/>
                  </a:srgbClr>
                </a:outerShdw>
              </a:effectLst>
              <a:latin typeface="Arial" charset="0"/>
              <a:ea typeface="微软雅黑" pitchFamily="34" charset="-122"/>
              <a:cs typeface="Arial" charset="0"/>
            </a:endParaRPr>
          </a:p>
        </p:txBody>
      </p:sp>
      <p:sp>
        <p:nvSpPr>
          <p:cNvPr id="26633" name="矩形 4">
            <a:extLst>
              <a:ext uri="{FF2B5EF4-FFF2-40B4-BE49-F238E27FC236}">
                <a16:creationId xmlns:a16="http://schemas.microsoft.com/office/drawing/2014/main" id="{27FB9C53-9E14-1911-B458-84040AE39CFD}"/>
              </a:ext>
            </a:extLst>
          </p:cNvPr>
          <p:cNvSpPr>
            <a:spLocks noChangeArrowheads="1"/>
          </p:cNvSpPr>
          <p:nvPr/>
        </p:nvSpPr>
        <p:spPr bwMode="auto">
          <a:xfrm>
            <a:off x="107950" y="458788"/>
            <a:ext cx="61563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en-US" sz="3200" b="1">
                <a:solidFill>
                  <a:srgbClr val="990099"/>
                </a:solidFill>
                <a:latin typeface="Arial" panose="020B0604020202020204" pitchFamily="34" charset="0"/>
                <a:ea typeface="微软雅黑" panose="020B0503020204020204" pitchFamily="34" charset="-122"/>
                <a:cs typeface="Arial" panose="020B0604020202020204" pitchFamily="34" charset="0"/>
              </a:rPr>
              <a:t>13</a:t>
            </a:r>
            <a:r>
              <a:rPr lang="en-US" altLang="zh-CN" sz="3200" b="1">
                <a:solidFill>
                  <a:srgbClr val="990099"/>
                </a:solidFill>
                <a:latin typeface="Arial" panose="020B0604020202020204" pitchFamily="34" charset="0"/>
                <a:ea typeface="微软雅黑" panose="020B0503020204020204" pitchFamily="34" charset="-122"/>
                <a:cs typeface="Arial" panose="020B0604020202020204" pitchFamily="34" charset="0"/>
              </a:rPr>
              <a:t>.2.1</a:t>
            </a:r>
            <a:r>
              <a:rPr lang="en-US" altLang="zh-CN" sz="3200" b="1">
                <a:solidFill>
                  <a:srgbClr val="800080"/>
                </a:solidFill>
                <a:latin typeface="Arial" panose="020B0604020202020204" pitchFamily="34" charset="0"/>
                <a:ea typeface="微软雅黑" panose="020B0503020204020204" pitchFamily="34" charset="-122"/>
                <a:cs typeface="Arial" panose="020B0604020202020204" pitchFamily="34" charset="0"/>
              </a:rPr>
              <a:t>   </a:t>
            </a:r>
            <a:r>
              <a:rPr lang="zh-CN" altLang="en-US" sz="3200" b="1">
                <a:solidFill>
                  <a:srgbClr val="990099"/>
                </a:solidFill>
                <a:latin typeface="Arial" panose="020B0604020202020204" pitchFamily="34" charset="0"/>
                <a:ea typeface="微软雅黑" panose="020B0503020204020204" pitchFamily="34" charset="-122"/>
                <a:cs typeface="Arial" panose="020B0604020202020204" pitchFamily="34" charset="0"/>
              </a:rPr>
              <a:t>有</a:t>
            </a:r>
            <a:r>
              <a:rPr lang="zh-CN" altLang="en-US" sz="3200" b="1">
                <a:solidFill>
                  <a:srgbClr val="003399"/>
                </a:solidFill>
                <a:latin typeface="Arial" panose="020B0604020202020204" pitchFamily="34" charset="0"/>
                <a:ea typeface="微软雅黑" panose="020B0503020204020204" pitchFamily="34" charset="-122"/>
                <a:cs typeface="Arial" panose="020B0604020202020204" pitchFamily="34" charset="0"/>
              </a:rPr>
              <a:t>辅助</a:t>
            </a:r>
            <a:r>
              <a:rPr lang="zh-CN" altLang="en-US" sz="3200" b="1">
                <a:solidFill>
                  <a:srgbClr val="990099"/>
                </a:solidFill>
                <a:latin typeface="微软雅黑" panose="020B0503020204020204" pitchFamily="34" charset="-122"/>
                <a:ea typeface="微软雅黑" panose="020B0503020204020204" pitchFamily="34" charset="-122"/>
                <a:cs typeface="Arial" panose="020B0604020202020204" pitchFamily="34" charset="0"/>
              </a:rPr>
              <a:t>导频</a:t>
            </a:r>
            <a:r>
              <a:rPr lang="zh-CN" altLang="en-US" sz="3200" b="1">
                <a:solidFill>
                  <a:srgbClr val="003399"/>
                </a:solidFill>
                <a:latin typeface="微软雅黑" panose="020B0503020204020204" pitchFamily="34" charset="-122"/>
                <a:ea typeface="微软雅黑" panose="020B0503020204020204" pitchFamily="34" charset="-122"/>
                <a:cs typeface="Arial" panose="020B0604020202020204" pitchFamily="34" charset="0"/>
              </a:rPr>
              <a:t>时的载波提取</a:t>
            </a:r>
            <a:endParaRPr lang="zh-CN" altLang="en-US" sz="3200" b="1">
              <a:solidFill>
                <a:srgbClr val="800080"/>
              </a:solidFill>
              <a:latin typeface="Arial" panose="020B0604020202020204" pitchFamily="34" charset="0"/>
              <a:ea typeface="微软雅黑" panose="020B0503020204020204" pitchFamily="34" charset="-122"/>
              <a:cs typeface="Arial" panose="020B0604020202020204" pitchFamily="34" charset="0"/>
            </a:endParaRPr>
          </a:p>
        </p:txBody>
      </p:sp>
      <p:sp>
        <p:nvSpPr>
          <p:cNvPr id="12" name="Rectangle 3">
            <a:extLst>
              <a:ext uri="{FF2B5EF4-FFF2-40B4-BE49-F238E27FC236}">
                <a16:creationId xmlns:a16="http://schemas.microsoft.com/office/drawing/2014/main" id="{ECAC3A8C-AFAC-363B-FA5E-29DB10CE23B3}"/>
              </a:ext>
            </a:extLst>
          </p:cNvPr>
          <p:cNvSpPr txBox="1">
            <a:spLocks noChangeArrowheads="1"/>
          </p:cNvSpPr>
          <p:nvPr/>
        </p:nvSpPr>
        <p:spPr bwMode="auto">
          <a:xfrm>
            <a:off x="642938" y="2571750"/>
            <a:ext cx="7848600" cy="571500"/>
          </a:xfrm>
          <a:prstGeom prst="rect">
            <a:avLst/>
          </a:prstGeom>
          <a:noFill/>
          <a:ln w="9525">
            <a:noFill/>
            <a:miter lim="800000"/>
            <a:headEnd/>
            <a:tailEnd/>
          </a:ln>
        </p:spPr>
        <p:txBody>
          <a:bodyPr/>
          <a:lstStyle/>
          <a:p>
            <a:pPr marL="609600" indent="-609600" eaLnBrk="0" hangingPunct="0">
              <a:lnSpc>
                <a:spcPts val="3400"/>
              </a:lnSpc>
              <a:spcBef>
                <a:spcPct val="20000"/>
              </a:spcBef>
              <a:buClr>
                <a:srgbClr val="FF3300"/>
              </a:buClr>
              <a:buSzPct val="65000"/>
              <a:defRPr/>
            </a:pPr>
            <a:r>
              <a:rPr lang="zh-CN" altLang="en-US" sz="2400" b="1" kern="0" dirty="0">
                <a:solidFill>
                  <a:srgbClr val="003399"/>
                </a:solidFill>
                <a:latin typeface="黑体" pitchFamily="2" charset="-122"/>
                <a:ea typeface="黑体" pitchFamily="2" charset="-122"/>
                <a:cs typeface="Arial" charset="0"/>
              </a:rPr>
              <a:t>提取</a:t>
            </a:r>
            <a:r>
              <a:rPr lang="zh-CN" altLang="en-US" sz="2400" kern="0" dirty="0">
                <a:solidFill>
                  <a:srgbClr val="003399"/>
                </a:solidFill>
                <a:latin typeface="黑体" pitchFamily="2" charset="-122"/>
                <a:ea typeface="黑体" pitchFamily="2" charset="-122"/>
                <a:cs typeface="Arial" charset="0"/>
              </a:rPr>
              <a:t>：</a:t>
            </a:r>
            <a:r>
              <a:rPr lang="zh-CN" altLang="en-US" sz="2000" kern="0" dirty="0">
                <a:effectLst>
                  <a:outerShdw blurRad="38100" dist="38100" dir="2700000" algn="tl">
                    <a:srgbClr val="000000">
                      <a:alpha val="43137"/>
                    </a:srgbClr>
                  </a:outerShdw>
                </a:effectLst>
                <a:latin typeface="微软雅黑" pitchFamily="34" charset="-122"/>
                <a:ea typeface="微软雅黑" pitchFamily="34" charset="-122"/>
                <a:cs typeface="Arial" charset="0"/>
              </a:rPr>
              <a:t>常</a:t>
            </a:r>
            <a:r>
              <a:rPr lang="zh-CN" altLang="en-US" sz="2000" dirty="0">
                <a:effectLst>
                  <a:outerShdw blurRad="38100" dist="38100" dir="2700000" algn="tl">
                    <a:srgbClr val="000000">
                      <a:alpha val="43137"/>
                    </a:srgbClr>
                  </a:outerShdw>
                </a:effectLst>
                <a:latin typeface="微软雅黑" pitchFamily="34" charset="-122"/>
                <a:ea typeface="微软雅黑" pitchFamily="34" charset="-122"/>
              </a:rPr>
              <a:t>用锁相环（</a:t>
            </a:r>
            <a:r>
              <a:rPr lang="en-US" altLang="zh-CN" sz="2000" dirty="0">
                <a:effectLst>
                  <a:outerShdw blurRad="38100" dist="38100" dir="2700000" algn="tl">
                    <a:srgbClr val="000000">
                      <a:alpha val="43137"/>
                    </a:srgbClr>
                  </a:outerShdw>
                </a:effectLst>
                <a:latin typeface="微软雅黑" pitchFamily="34" charset="-122"/>
                <a:ea typeface="微软雅黑" pitchFamily="34" charset="-122"/>
              </a:rPr>
              <a:t>PLL</a:t>
            </a:r>
            <a:r>
              <a:rPr lang="zh-CN" altLang="en-US" sz="2000" dirty="0">
                <a:effectLst>
                  <a:outerShdw blurRad="38100" dist="38100" dir="2700000" algn="tl">
                    <a:srgbClr val="000000">
                      <a:alpha val="43137"/>
                    </a:srgbClr>
                  </a:outerShdw>
                </a:effectLst>
                <a:latin typeface="微软雅黑" pitchFamily="34" charset="-122"/>
                <a:ea typeface="微软雅黑" pitchFamily="34" charset="-122"/>
              </a:rPr>
              <a:t>）来提取 载波。原理框图如下</a:t>
            </a:r>
            <a:r>
              <a:rPr lang="zh-CN" altLang="en-US" sz="2000" dirty="0">
                <a:latin typeface="+mn-ea"/>
                <a:ea typeface="+mn-ea"/>
              </a:rPr>
              <a:t>：</a:t>
            </a:r>
            <a:endParaRPr lang="en-US" altLang="zh-CN" sz="2000" kern="0" dirty="0">
              <a:latin typeface="+mn-ea"/>
              <a:ea typeface="+mn-ea"/>
              <a:cs typeface="Arial" charset="0"/>
            </a:endParaRPr>
          </a:p>
        </p:txBody>
      </p:sp>
      <p:sp>
        <p:nvSpPr>
          <p:cNvPr id="15" name="Rectangle 3">
            <a:extLst>
              <a:ext uri="{FF2B5EF4-FFF2-40B4-BE49-F238E27FC236}">
                <a16:creationId xmlns:a16="http://schemas.microsoft.com/office/drawing/2014/main" id="{2B01933D-51C8-B04A-B85C-9D3C70BA2086}"/>
              </a:ext>
            </a:extLst>
          </p:cNvPr>
          <p:cNvSpPr txBox="1">
            <a:spLocks noChangeArrowheads="1"/>
          </p:cNvSpPr>
          <p:nvPr/>
        </p:nvSpPr>
        <p:spPr bwMode="auto">
          <a:xfrm>
            <a:off x="1714500" y="5500688"/>
            <a:ext cx="4071938" cy="571500"/>
          </a:xfrm>
          <a:prstGeom prst="rect">
            <a:avLst/>
          </a:prstGeom>
          <a:noFill/>
          <a:ln w="9525">
            <a:noFill/>
            <a:miter lim="800000"/>
            <a:headEnd/>
            <a:tailEnd/>
          </a:ln>
        </p:spPr>
        <p:txBody>
          <a:bodyPr/>
          <a:lstStyle/>
          <a:p>
            <a:pPr>
              <a:lnSpc>
                <a:spcPct val="130000"/>
              </a:lnSpc>
              <a:buFont typeface="Wingdings" pitchFamily="2" charset="2"/>
              <a:buNone/>
              <a:defRPr/>
            </a:pPr>
            <a:r>
              <a:rPr lang="zh-CN" altLang="en-US" sz="2000" b="1" kern="0" dirty="0">
                <a:solidFill>
                  <a:srgbClr val="003399"/>
                </a:solidFill>
                <a:latin typeface="微软雅黑" pitchFamily="34" charset="-122"/>
                <a:ea typeface="微软雅黑" pitchFamily="34" charset="-122"/>
                <a:cs typeface="Arial" charset="0"/>
              </a:rPr>
              <a:t>注</a:t>
            </a:r>
            <a:r>
              <a:rPr lang="zh-CN" altLang="en-US" sz="2000" kern="0" dirty="0">
                <a:latin typeface="+mn-ea"/>
                <a:ea typeface="+mn-ea"/>
                <a:cs typeface="Arial" charset="0"/>
              </a:rPr>
              <a:t>：</a:t>
            </a:r>
            <a:r>
              <a:rPr lang="zh-CN" altLang="en-US" sz="2000" kern="0" dirty="0">
                <a:latin typeface="微软雅黑" pitchFamily="34" charset="-122"/>
                <a:ea typeface="微软雅黑" pitchFamily="34" charset="-122"/>
                <a:cs typeface="Arial" charset="0"/>
              </a:rPr>
              <a:t>可用数字</a:t>
            </a:r>
            <a:r>
              <a:rPr lang="zh-CN" altLang="en-US" sz="2000" dirty="0">
                <a:latin typeface="微软雅黑" pitchFamily="34" charset="-122"/>
                <a:ea typeface="微软雅黑" pitchFamily="34" charset="-122"/>
              </a:rPr>
              <a:t>锁相环替代。</a:t>
            </a:r>
            <a:endParaRPr lang="en-US" altLang="zh-CN" sz="2000" kern="0" dirty="0">
              <a:latin typeface="Arial" charset="0"/>
              <a:ea typeface="微软雅黑" pitchFamily="34" charset="-122"/>
              <a:cs typeface="Arial" charset="0"/>
            </a:endParaRPr>
          </a:p>
        </p:txBody>
      </p:sp>
      <p:sp>
        <p:nvSpPr>
          <p:cNvPr id="9" name="矩形 8">
            <a:extLst>
              <a:ext uri="{FF2B5EF4-FFF2-40B4-BE49-F238E27FC236}">
                <a16:creationId xmlns:a16="http://schemas.microsoft.com/office/drawing/2014/main" id="{55030F60-5889-598F-13A8-677DD25692EC}"/>
              </a:ext>
            </a:extLst>
          </p:cNvPr>
          <p:cNvSpPr/>
          <p:nvPr/>
        </p:nvSpPr>
        <p:spPr>
          <a:xfrm>
            <a:off x="7299325" y="528638"/>
            <a:ext cx="1211263" cy="400050"/>
          </a:xfrm>
          <a:prstGeom prst="rect">
            <a:avLst/>
          </a:prstGeom>
          <a:effectLst>
            <a:outerShdw blurRad="50800" dist="38100" dir="2700000" algn="tl" rotWithShape="0">
              <a:prstClr val="black">
                <a:alpha val="40000"/>
              </a:prstClr>
            </a:outerShdw>
          </a:effectLst>
        </p:spPr>
        <p:txBody>
          <a:bodyPr wrap="none">
            <a:spAutoFit/>
          </a:bodyPr>
          <a:lstStyle/>
          <a:p>
            <a:pPr>
              <a:defRPr/>
            </a:pPr>
            <a:r>
              <a:rPr lang="zh-CN" altLang="zh-CN" sz="2000" dirty="0">
                <a:latin typeface="微软雅黑" pitchFamily="34" charset="-122"/>
                <a:ea typeface="微软雅黑" pitchFamily="34" charset="-122"/>
              </a:rPr>
              <a:t>载波同步</a:t>
            </a:r>
            <a:endParaRPr lang="zh-CN" altLang="en-US" sz="2000" dirty="0">
              <a:latin typeface="微软雅黑" pitchFamily="34" charset="-122"/>
              <a:ea typeface="微软雅黑" pitchFamily="34" charset="-122"/>
            </a:endParaRPr>
          </a:p>
        </p:txBody>
      </p:sp>
      <p:pic>
        <p:nvPicPr>
          <p:cNvPr id="2057" name="Picture 9">
            <a:extLst>
              <a:ext uri="{FF2B5EF4-FFF2-40B4-BE49-F238E27FC236}">
                <a16:creationId xmlns:a16="http://schemas.microsoft.com/office/drawing/2014/main" id="{27AE75A7-95F6-7B93-A4B5-84C34710D2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213" y="1285875"/>
            <a:ext cx="8372475"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Picture 3">
            <a:extLst>
              <a:ext uri="{FF2B5EF4-FFF2-40B4-BE49-F238E27FC236}">
                <a16:creationId xmlns:a16="http://schemas.microsoft.com/office/drawing/2014/main" id="{16D72ABD-8269-0027-47F5-E3321A0A84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0773" t="38971" r="9111"/>
          <a:stretch>
            <a:fillRect/>
          </a:stretch>
        </p:blipFill>
        <p:spPr bwMode="auto">
          <a:xfrm>
            <a:off x="1285875" y="3446463"/>
            <a:ext cx="6686550" cy="15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6633"/>
                                        </p:tgtEl>
                                        <p:attrNameLst>
                                          <p:attrName>style.visibility</p:attrName>
                                        </p:attrNameLst>
                                      </p:cBhvr>
                                      <p:to>
                                        <p:strVal val="visible"/>
                                      </p:to>
                                    </p:set>
                                    <p:animEffect transition="in" filter="wipe(up)">
                                      <p:cBhvr>
                                        <p:cTn id="7" dur="1000"/>
                                        <p:tgtEl>
                                          <p:spTgt spid="266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057"/>
                                        </p:tgtEl>
                                        <p:attrNameLst>
                                          <p:attrName>style.visibility</p:attrName>
                                        </p:attrNameLst>
                                      </p:cBhvr>
                                      <p:to>
                                        <p:strVal val="visible"/>
                                      </p:to>
                                    </p:set>
                                    <p:animEffect transition="in" filter="wipe(up)">
                                      <p:cBhvr>
                                        <p:cTn id="12" dur="1000"/>
                                        <p:tgtEl>
                                          <p:spTgt spid="205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0243">
                                            <p:txEl>
                                              <p:pRg st="0" end="0"/>
                                            </p:txEl>
                                          </p:spTgt>
                                        </p:tgtEl>
                                        <p:attrNameLst>
                                          <p:attrName>style.visibility</p:attrName>
                                        </p:attrNameLst>
                                      </p:cBhvr>
                                      <p:to>
                                        <p:strVal val="visible"/>
                                      </p:to>
                                    </p:set>
                                    <p:animEffect transition="in" filter="wipe(up)">
                                      <p:cBhvr>
                                        <p:cTn id="17" dur="2000"/>
                                        <p:tgtEl>
                                          <p:spTgt spid="10243">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2">
                                            <p:txEl>
                                              <p:pRg st="0" end="0"/>
                                            </p:txEl>
                                          </p:spTgt>
                                        </p:tgtEl>
                                        <p:attrNameLst>
                                          <p:attrName>style.visibility</p:attrName>
                                        </p:attrNameLst>
                                      </p:cBhvr>
                                      <p:to>
                                        <p:strVal val="visible"/>
                                      </p:to>
                                    </p:set>
                                    <p:animEffect transition="in" filter="wipe(up)">
                                      <p:cBhvr>
                                        <p:cTn id="22" dur="2000"/>
                                        <p:tgtEl>
                                          <p:spTgt spid="12">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2051"/>
                                        </p:tgtEl>
                                        <p:attrNameLst>
                                          <p:attrName>style.visibility</p:attrName>
                                        </p:attrNameLst>
                                      </p:cBhvr>
                                      <p:to>
                                        <p:strVal val="visible"/>
                                      </p:to>
                                    </p:set>
                                    <p:animEffect transition="in" filter="wipe(up)">
                                      <p:cBhvr>
                                        <p:cTn id="27" dur="1000"/>
                                        <p:tgtEl>
                                          <p:spTgt spid="205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15">
                                            <p:txEl>
                                              <p:pRg st="0" end="0"/>
                                            </p:txEl>
                                          </p:spTgt>
                                        </p:tgtEl>
                                        <p:attrNameLst>
                                          <p:attrName>style.visibility</p:attrName>
                                        </p:attrNameLst>
                                      </p:cBhvr>
                                      <p:to>
                                        <p:strVal val="visible"/>
                                      </p:to>
                                    </p:set>
                                    <p:animEffect transition="in" filter="wipe(up)">
                                      <p:cBhvr>
                                        <p:cTn id="32" dur="20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P spid="26633" grpId="0"/>
      <p:bldP spid="12" grpId="0" build="p"/>
      <p:bldP spid="15" grpId="0" build="p"/>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00" name="Rectangle 102">
            <a:extLst>
              <a:ext uri="{FF2B5EF4-FFF2-40B4-BE49-F238E27FC236}">
                <a16:creationId xmlns:a16="http://schemas.microsoft.com/office/drawing/2014/main" id="{0B0366B4-8C5B-4AE2-7832-BA8FE1CF95A2}"/>
              </a:ext>
            </a:extLst>
          </p:cNvPr>
          <p:cNvSpPr>
            <a:spLocks noChangeArrowheads="1"/>
          </p:cNvSpPr>
          <p:nvPr/>
        </p:nvSpPr>
        <p:spPr bwMode="auto">
          <a:xfrm>
            <a:off x="571500" y="1819275"/>
            <a:ext cx="7715250" cy="566738"/>
          </a:xfrm>
          <a:prstGeom prst="rect">
            <a:avLst/>
          </a:prstGeom>
          <a:noFill/>
          <a:ln w="9525">
            <a:noFill/>
            <a:miter lim="800000"/>
            <a:headEnd/>
            <a:tailEnd/>
          </a:ln>
        </p:spPr>
        <p:txBody>
          <a:bodyPr>
            <a:spAutoFit/>
          </a:bodyPr>
          <a:lstStyle/>
          <a:p>
            <a:pPr marL="342900" indent="-342900">
              <a:lnSpc>
                <a:spcPct val="150000"/>
              </a:lnSpc>
              <a:buClr>
                <a:schemeClr val="hlink"/>
              </a:buClr>
              <a:buSzPct val="65000"/>
              <a:buFont typeface="Wingdings" pitchFamily="2" charset="2"/>
              <a:buNone/>
              <a:defRPr/>
            </a:pPr>
            <a:r>
              <a:rPr lang="zh-CN" altLang="zh-CN" sz="2400" b="1" dirty="0">
                <a:solidFill>
                  <a:srgbClr val="003399"/>
                </a:solidFill>
                <a:latin typeface="黑体" pitchFamily="49" charset="-122"/>
                <a:ea typeface="黑体" pitchFamily="49" charset="-122"/>
              </a:rPr>
              <a:t>问题</a:t>
            </a:r>
            <a:r>
              <a:rPr lang="zh-CN" altLang="zh-CN" sz="2400" dirty="0">
                <a:solidFill>
                  <a:srgbClr val="003399"/>
                </a:solidFill>
                <a:latin typeface="黑体" pitchFamily="49" charset="-122"/>
                <a:ea typeface="黑体" pitchFamily="49" charset="-122"/>
              </a:rPr>
              <a:t>：</a:t>
            </a:r>
            <a:r>
              <a:rPr lang="en-US" altLang="zh-CN" sz="2000" dirty="0">
                <a:effectLst>
                  <a:outerShdw blurRad="38100" dist="38100" dir="2700000" algn="tl">
                    <a:srgbClr val="000000">
                      <a:alpha val="43137"/>
                    </a:srgbClr>
                  </a:outerShdw>
                </a:effectLst>
                <a:latin typeface="Arial" charset="0"/>
                <a:ea typeface="微软雅黑" pitchFamily="34" charset="-122"/>
                <a:cs typeface="Arial" charset="0"/>
              </a:rPr>
              <a:t>DSB-SC</a:t>
            </a:r>
            <a:r>
              <a:rPr lang="zh-CN" altLang="zh-CN" sz="2000" dirty="0">
                <a:effectLst>
                  <a:outerShdw blurRad="38100" dist="38100" dir="2700000" algn="tl">
                    <a:srgbClr val="000000">
                      <a:alpha val="43137"/>
                    </a:srgbClr>
                  </a:outerShdw>
                </a:effectLst>
                <a:latin typeface="Arial" charset="0"/>
                <a:ea typeface="微软雅黑" pitchFamily="34" charset="-122"/>
                <a:cs typeface="Arial" charset="0"/>
              </a:rPr>
              <a:t>、</a:t>
            </a:r>
            <a:r>
              <a:rPr lang="en-US" altLang="zh-CN" sz="2000" dirty="0">
                <a:effectLst>
                  <a:outerShdw blurRad="38100" dist="38100" dir="2700000" algn="tl">
                    <a:srgbClr val="000000">
                      <a:alpha val="43137"/>
                    </a:srgbClr>
                  </a:outerShdw>
                </a:effectLst>
                <a:latin typeface="Arial" charset="0"/>
                <a:ea typeface="微软雅黑" pitchFamily="34" charset="-122"/>
                <a:cs typeface="Arial" charset="0"/>
              </a:rPr>
              <a:t>2PSK</a:t>
            </a:r>
            <a:r>
              <a:rPr lang="zh-CN" altLang="zh-CN" sz="2000" dirty="0">
                <a:effectLst>
                  <a:outerShdw blurRad="38100" dist="38100" dir="2700000" algn="tl">
                    <a:srgbClr val="000000">
                      <a:alpha val="43137"/>
                    </a:srgbClr>
                  </a:outerShdw>
                </a:effectLst>
                <a:latin typeface="Arial" charset="0"/>
                <a:ea typeface="微软雅黑" pitchFamily="34" charset="-122"/>
                <a:cs typeface="Arial" charset="0"/>
              </a:rPr>
              <a:t>等信号本身不含</a:t>
            </a:r>
            <a:r>
              <a:rPr lang="zh-CN" altLang="en-US" sz="2000" dirty="0">
                <a:effectLst>
                  <a:outerShdw blurRad="38100" dist="38100" dir="2700000" algn="tl">
                    <a:srgbClr val="000000">
                      <a:alpha val="43137"/>
                    </a:srgbClr>
                  </a:outerShdw>
                </a:effectLst>
                <a:latin typeface="Arial" charset="0"/>
                <a:ea typeface="微软雅黑" pitchFamily="34" charset="-122"/>
                <a:cs typeface="Arial" charset="0"/>
              </a:rPr>
              <a:t>有</a:t>
            </a:r>
            <a:r>
              <a:rPr lang="zh-CN" altLang="zh-CN" sz="2000" dirty="0">
                <a:effectLst>
                  <a:outerShdw blurRad="38100" dist="38100" dir="2700000" algn="tl">
                    <a:srgbClr val="000000">
                      <a:alpha val="43137"/>
                    </a:srgbClr>
                  </a:outerShdw>
                </a:effectLst>
                <a:latin typeface="Arial" charset="0"/>
                <a:ea typeface="微软雅黑" pitchFamily="34" charset="-122"/>
                <a:cs typeface="Arial" charset="0"/>
              </a:rPr>
              <a:t>载波分量</a:t>
            </a:r>
            <a:r>
              <a:rPr lang="zh-CN" altLang="en-US" sz="2000" dirty="0">
                <a:effectLst>
                  <a:outerShdw blurRad="38100" dist="38100" dir="2700000" algn="tl">
                    <a:srgbClr val="000000">
                      <a:alpha val="43137"/>
                    </a:srgbClr>
                  </a:outerShdw>
                </a:effectLst>
                <a:latin typeface="Arial" charset="0"/>
                <a:ea typeface="微软雅黑" pitchFamily="34" charset="-122"/>
                <a:cs typeface="Arial" charset="0"/>
              </a:rPr>
              <a:t>，怎么办？</a:t>
            </a:r>
            <a:endParaRPr lang="zh-CN" altLang="zh-CN" sz="2000" dirty="0">
              <a:effectLst>
                <a:outerShdw blurRad="38100" dist="38100" dir="2700000" algn="tl">
                  <a:srgbClr val="000000">
                    <a:alpha val="43137"/>
                  </a:srgbClr>
                </a:outerShdw>
              </a:effectLst>
              <a:latin typeface="Arial" charset="0"/>
              <a:ea typeface="微软雅黑" pitchFamily="34" charset="-122"/>
              <a:cs typeface="Arial" charset="0"/>
            </a:endParaRPr>
          </a:p>
        </p:txBody>
      </p:sp>
      <p:sp>
        <p:nvSpPr>
          <p:cNvPr id="8" name="矩形 7">
            <a:extLst>
              <a:ext uri="{FF2B5EF4-FFF2-40B4-BE49-F238E27FC236}">
                <a16:creationId xmlns:a16="http://schemas.microsoft.com/office/drawing/2014/main" id="{9D30D35C-45C0-8BD9-4326-A1FF9FF097D6}"/>
              </a:ext>
            </a:extLst>
          </p:cNvPr>
          <p:cNvSpPr/>
          <p:nvPr/>
        </p:nvSpPr>
        <p:spPr>
          <a:xfrm>
            <a:off x="7299325" y="528638"/>
            <a:ext cx="1211263" cy="400050"/>
          </a:xfrm>
          <a:prstGeom prst="rect">
            <a:avLst/>
          </a:prstGeom>
          <a:effectLst>
            <a:outerShdw blurRad="50800" dist="38100" dir="2700000" algn="tl" rotWithShape="0">
              <a:prstClr val="black">
                <a:alpha val="40000"/>
              </a:prstClr>
            </a:outerShdw>
          </a:effectLst>
        </p:spPr>
        <p:txBody>
          <a:bodyPr wrap="none">
            <a:spAutoFit/>
          </a:bodyPr>
          <a:lstStyle/>
          <a:p>
            <a:pPr>
              <a:defRPr/>
            </a:pPr>
            <a:r>
              <a:rPr lang="zh-CN" altLang="zh-CN" sz="2000" dirty="0">
                <a:latin typeface="微软雅黑" pitchFamily="34" charset="-122"/>
                <a:ea typeface="微软雅黑" pitchFamily="34" charset="-122"/>
              </a:rPr>
              <a:t>载波同步</a:t>
            </a:r>
            <a:endParaRPr lang="zh-CN" altLang="en-US" sz="2000" dirty="0">
              <a:latin typeface="微软雅黑" pitchFamily="34" charset="-122"/>
              <a:ea typeface="微软雅黑" pitchFamily="34" charset="-122"/>
            </a:endParaRPr>
          </a:p>
        </p:txBody>
      </p:sp>
      <p:sp>
        <p:nvSpPr>
          <p:cNvPr id="6152" name="矩形 8">
            <a:extLst>
              <a:ext uri="{FF2B5EF4-FFF2-40B4-BE49-F238E27FC236}">
                <a16:creationId xmlns:a16="http://schemas.microsoft.com/office/drawing/2014/main" id="{A5181527-1F4C-105B-8617-1BB2D14FA0EA}"/>
              </a:ext>
            </a:extLst>
          </p:cNvPr>
          <p:cNvSpPr>
            <a:spLocks noChangeArrowheads="1"/>
          </p:cNvSpPr>
          <p:nvPr/>
        </p:nvSpPr>
        <p:spPr bwMode="auto">
          <a:xfrm>
            <a:off x="946150" y="1143000"/>
            <a:ext cx="68405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2000">
                <a:latin typeface="微软雅黑" panose="020B0503020204020204" pitchFamily="34" charset="-122"/>
                <a:ea typeface="微软雅黑" panose="020B0503020204020204" pitchFamily="34" charset="-122"/>
              </a:rPr>
              <a:t>——</a:t>
            </a:r>
            <a:r>
              <a:rPr lang="zh-CN" altLang="zh-CN" sz="2000">
                <a:latin typeface="微软雅黑" panose="020B0503020204020204" pitchFamily="34" charset="-122"/>
                <a:ea typeface="微软雅黑" panose="020B0503020204020204" pitchFamily="34" charset="-122"/>
              </a:rPr>
              <a:t>自同步法</a:t>
            </a:r>
            <a:r>
              <a:rPr lang="zh-CN" altLang="en-US" sz="2000">
                <a:latin typeface="微软雅黑" panose="020B0503020204020204" pitchFamily="34" charset="-122"/>
                <a:ea typeface="微软雅黑" panose="020B0503020204020204" pitchFamily="34" charset="-122"/>
              </a:rPr>
              <a:t>。设法</a:t>
            </a:r>
            <a:r>
              <a:rPr lang="zh-CN" altLang="zh-CN" sz="2000">
                <a:latin typeface="微软雅黑" panose="020B0503020204020204" pitchFamily="34" charset="-122"/>
                <a:ea typeface="微软雅黑" panose="020B0503020204020204" pitchFamily="34" charset="-122"/>
              </a:rPr>
              <a:t>从接收信号中直接提取同步载波</a:t>
            </a:r>
            <a:r>
              <a:rPr lang="en-US" altLang="zh-CN" sz="2000">
                <a:latin typeface="微软雅黑" panose="020B0503020204020204" pitchFamily="34" charset="-122"/>
                <a:ea typeface="微软雅黑" panose="020B0503020204020204" pitchFamily="34" charset="-122"/>
              </a:rPr>
              <a:t> </a:t>
            </a:r>
            <a:r>
              <a:rPr lang="zh-CN" altLang="en-US" sz="2000">
                <a:latin typeface="微软雅黑" panose="020B0503020204020204" pitchFamily="34" charset="-122"/>
                <a:ea typeface="微软雅黑" panose="020B0503020204020204" pitchFamily="34" charset="-122"/>
              </a:rPr>
              <a:t>。</a:t>
            </a:r>
          </a:p>
        </p:txBody>
      </p:sp>
      <p:graphicFrame>
        <p:nvGraphicFramePr>
          <p:cNvPr id="2" name="对象 1">
            <a:extLst>
              <a:ext uri="{FF2B5EF4-FFF2-40B4-BE49-F238E27FC236}">
                <a16:creationId xmlns:a16="http://schemas.microsoft.com/office/drawing/2014/main" id="{0A732263-48DC-BE61-4182-F1A584AE2AB8}"/>
              </a:ext>
            </a:extLst>
          </p:cNvPr>
          <p:cNvGraphicFramePr>
            <a:graphicFrameLocks noChangeAspect="1"/>
          </p:cNvGraphicFramePr>
          <p:nvPr/>
        </p:nvGraphicFramePr>
        <p:xfrm>
          <a:off x="1063625" y="4700588"/>
          <a:ext cx="2976563" cy="595312"/>
        </p:xfrm>
        <a:graphic>
          <a:graphicData uri="http://schemas.openxmlformats.org/presentationml/2006/ole">
            <mc:AlternateContent xmlns:mc="http://schemas.openxmlformats.org/markup-compatibility/2006">
              <mc:Choice xmlns:v="urn:schemas-microsoft-com:vml" Requires="v">
                <p:oleObj name="Equation" r:id="rId2" imgW="1257120" imgH="228600" progId="Equation.DSMT4">
                  <p:embed/>
                </p:oleObj>
              </mc:Choice>
              <mc:Fallback>
                <p:oleObj name="Equation" r:id="rId2" imgW="1257120" imgH="228600" progId="Equation.DSMT4">
                  <p:embed/>
                  <p:pic>
                    <p:nvPicPr>
                      <p:cNvPr id="0" name="对象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3625" y="4700588"/>
                        <a:ext cx="2976563" cy="595312"/>
                      </a:xfrm>
                      <a:prstGeom prst="rect">
                        <a:avLst/>
                      </a:prstGeom>
                      <a:noFill/>
                      <a:ln>
                        <a:noFill/>
                      </a:ln>
                      <a:effectLst>
                        <a:prstShdw prst="shdw17" dist="17961" dir="2700000">
                          <a:srgbClr val="99997D"/>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a:extLst>
              <a:ext uri="{FF2B5EF4-FFF2-40B4-BE49-F238E27FC236}">
                <a16:creationId xmlns:a16="http://schemas.microsoft.com/office/drawing/2014/main" id="{C4D80674-A8BB-73B1-BE61-8ECA80E1BC6B}"/>
              </a:ext>
            </a:extLst>
          </p:cNvPr>
          <p:cNvGraphicFramePr>
            <a:graphicFrameLocks noChangeAspect="1"/>
          </p:cNvGraphicFramePr>
          <p:nvPr/>
        </p:nvGraphicFramePr>
        <p:xfrm>
          <a:off x="1285875" y="4679950"/>
          <a:ext cx="3095625" cy="595313"/>
        </p:xfrm>
        <a:graphic>
          <a:graphicData uri="http://schemas.openxmlformats.org/presentationml/2006/ole">
            <mc:AlternateContent xmlns:mc="http://schemas.openxmlformats.org/markup-compatibility/2006">
              <mc:Choice xmlns:v="urn:schemas-microsoft-com:vml" Requires="v">
                <p:oleObj name="Equation" r:id="rId4" imgW="1308100" imgH="228600" progId="Equation.DSMT4">
                  <p:embed/>
                </p:oleObj>
              </mc:Choice>
              <mc:Fallback>
                <p:oleObj name="Equation" r:id="rId4" imgW="1308100" imgH="228600" progId="Equation.DSMT4">
                  <p:embed/>
                  <p:pic>
                    <p:nvPicPr>
                      <p:cNvPr id="0"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5875" y="4679950"/>
                        <a:ext cx="3095625" cy="595313"/>
                      </a:xfrm>
                      <a:prstGeom prst="rect">
                        <a:avLst/>
                      </a:prstGeom>
                      <a:noFill/>
                      <a:ln>
                        <a:noFill/>
                      </a:ln>
                      <a:effectLst>
                        <a:prstShdw prst="shdw17" dist="17961" dir="2700000">
                          <a:srgbClr val="99997D"/>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a:extLst>
              <a:ext uri="{FF2B5EF4-FFF2-40B4-BE49-F238E27FC236}">
                <a16:creationId xmlns:a16="http://schemas.microsoft.com/office/drawing/2014/main" id="{1861C5AD-514F-D9FE-6D3C-E8AA707DF2A8}"/>
              </a:ext>
            </a:extLst>
          </p:cNvPr>
          <p:cNvGraphicFramePr>
            <a:graphicFrameLocks noChangeAspect="1"/>
          </p:cNvGraphicFramePr>
          <p:nvPr/>
        </p:nvGraphicFramePr>
        <p:xfrm>
          <a:off x="4357688" y="4565650"/>
          <a:ext cx="3635375" cy="863600"/>
        </p:xfrm>
        <a:graphic>
          <a:graphicData uri="http://schemas.openxmlformats.org/presentationml/2006/ole">
            <mc:AlternateContent xmlns:mc="http://schemas.openxmlformats.org/markup-compatibility/2006">
              <mc:Choice xmlns:v="urn:schemas-microsoft-com:vml" Requires="v">
                <p:oleObj name="Equation" r:id="rId6" imgW="1714500" imgH="393700" progId="Equation.DSMT4">
                  <p:embed/>
                </p:oleObj>
              </mc:Choice>
              <mc:Fallback>
                <p:oleObj name="Equation" r:id="rId6" imgW="1714500" imgH="393700" progId="Equation.DSMT4">
                  <p:embed/>
                  <p:pic>
                    <p:nvPicPr>
                      <p:cNvPr id="0" name="对象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57688" y="4565650"/>
                        <a:ext cx="3635375" cy="863600"/>
                      </a:xfrm>
                      <a:prstGeom prst="rect">
                        <a:avLst/>
                      </a:prstGeom>
                      <a:noFill/>
                      <a:ln>
                        <a:noFill/>
                      </a:ln>
                      <a:effectLst>
                        <a:prstShdw prst="shdw17" dist="17961" dir="2700000">
                          <a:srgbClr val="99997D"/>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矩形 12">
            <a:extLst>
              <a:ext uri="{FF2B5EF4-FFF2-40B4-BE49-F238E27FC236}">
                <a16:creationId xmlns:a16="http://schemas.microsoft.com/office/drawing/2014/main" id="{31A5C49C-C099-C606-8C89-91D0C8EAF92B}"/>
              </a:ext>
            </a:extLst>
          </p:cNvPr>
          <p:cNvSpPr>
            <a:spLocks noChangeArrowheads="1"/>
          </p:cNvSpPr>
          <p:nvPr/>
        </p:nvSpPr>
        <p:spPr bwMode="auto">
          <a:xfrm>
            <a:off x="2771775" y="3314700"/>
            <a:ext cx="22844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2000">
                <a:solidFill>
                  <a:srgbClr val="0000CC"/>
                </a:solidFill>
                <a:latin typeface="微软雅黑" panose="020B0503020204020204" pitchFamily="34" charset="-122"/>
                <a:ea typeface="微软雅黑" panose="020B0503020204020204" pitchFamily="34" charset="-122"/>
              </a:rPr>
              <a:t> </a:t>
            </a:r>
            <a:r>
              <a:rPr lang="zh-CN" altLang="en-US" sz="2000" b="1">
                <a:solidFill>
                  <a:srgbClr val="0000CC"/>
                </a:solidFill>
                <a:latin typeface="微软雅黑" panose="020B0503020204020204" pitchFamily="34" charset="-122"/>
                <a:ea typeface="微软雅黑" panose="020B0503020204020204" pitchFamily="34" charset="-122"/>
                <a:sym typeface="Symbol" panose="05050102010706020507" pitchFamily="18" charset="2"/>
              </a:rPr>
              <a:t></a:t>
            </a:r>
            <a:r>
              <a:rPr lang="zh-CN" altLang="en-US" sz="2000" b="1">
                <a:solidFill>
                  <a:srgbClr val="0000CC"/>
                </a:solidFill>
                <a:latin typeface="微软雅黑" panose="020B0503020204020204" pitchFamily="34" charset="-122"/>
                <a:ea typeface="微软雅黑" panose="020B0503020204020204" pitchFamily="34" charset="-122"/>
              </a:rPr>
              <a:t> </a:t>
            </a:r>
            <a:r>
              <a:rPr lang="zh-CN" altLang="en-US" sz="2000" b="1">
                <a:solidFill>
                  <a:srgbClr val="000000"/>
                </a:solidFill>
                <a:latin typeface="微软雅黑" panose="020B0503020204020204" pitchFamily="34" charset="-122"/>
                <a:ea typeface="微软雅黑" panose="020B0503020204020204" pitchFamily="34" charset="-122"/>
                <a:sym typeface="Symbol" panose="05050102010706020507" pitchFamily="18" charset="2"/>
              </a:rPr>
              <a:t> </a:t>
            </a:r>
            <a:r>
              <a:rPr lang="zh-CN" altLang="zh-CN" sz="2000" b="1">
                <a:solidFill>
                  <a:srgbClr val="000000"/>
                </a:solidFill>
                <a:latin typeface="微软雅黑" panose="020B0503020204020204" pitchFamily="34" charset="-122"/>
                <a:ea typeface="微软雅黑" panose="020B0503020204020204" pitchFamily="34" charset="-122"/>
              </a:rPr>
              <a:t>载波同步信号</a:t>
            </a:r>
            <a:r>
              <a:rPr lang="en-US" altLang="zh-CN" sz="2000" b="1">
                <a:solidFill>
                  <a:srgbClr val="000000"/>
                </a:solidFill>
                <a:latin typeface="微软雅黑" panose="020B0503020204020204" pitchFamily="34" charset="-122"/>
                <a:ea typeface="微软雅黑" panose="020B0503020204020204" pitchFamily="34" charset="-122"/>
              </a:rPr>
              <a:t> </a:t>
            </a:r>
            <a:endParaRPr lang="zh-CN" altLang="en-US" b="1"/>
          </a:p>
        </p:txBody>
      </p:sp>
      <p:sp>
        <p:nvSpPr>
          <p:cNvPr id="11" name="矩形 4">
            <a:extLst>
              <a:ext uri="{FF2B5EF4-FFF2-40B4-BE49-F238E27FC236}">
                <a16:creationId xmlns:a16="http://schemas.microsoft.com/office/drawing/2014/main" id="{49CB8736-7D4B-7F31-8883-9E2401E965B9}"/>
              </a:ext>
            </a:extLst>
          </p:cNvPr>
          <p:cNvSpPr>
            <a:spLocks noChangeArrowheads="1"/>
          </p:cNvSpPr>
          <p:nvPr/>
        </p:nvSpPr>
        <p:spPr bwMode="auto">
          <a:xfrm>
            <a:off x="0" y="463550"/>
            <a:ext cx="61785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en-US" sz="3200" b="1">
                <a:solidFill>
                  <a:srgbClr val="990099"/>
                </a:solidFill>
                <a:latin typeface="Arial" panose="020B0604020202020204" pitchFamily="34" charset="0"/>
                <a:ea typeface="微软雅黑" panose="020B0503020204020204" pitchFamily="34" charset="-122"/>
                <a:cs typeface="Arial" panose="020B0604020202020204" pitchFamily="34" charset="0"/>
              </a:rPr>
              <a:t>13</a:t>
            </a:r>
            <a:r>
              <a:rPr lang="en-US" altLang="zh-CN" sz="3200" b="1">
                <a:solidFill>
                  <a:srgbClr val="990099"/>
                </a:solidFill>
                <a:latin typeface="Arial" panose="020B0604020202020204" pitchFamily="34" charset="0"/>
                <a:ea typeface="微软雅黑" panose="020B0503020204020204" pitchFamily="34" charset="-122"/>
                <a:cs typeface="Arial" panose="020B0604020202020204" pitchFamily="34" charset="0"/>
              </a:rPr>
              <a:t>.2.2</a:t>
            </a:r>
            <a:r>
              <a:rPr lang="en-US" altLang="zh-CN" sz="3200" b="1">
                <a:solidFill>
                  <a:srgbClr val="800080"/>
                </a:solidFill>
                <a:latin typeface="Arial" panose="020B0604020202020204" pitchFamily="34" charset="0"/>
                <a:ea typeface="微软雅黑" panose="020B0503020204020204" pitchFamily="34" charset="-122"/>
                <a:cs typeface="Arial" panose="020B0604020202020204" pitchFamily="34" charset="0"/>
              </a:rPr>
              <a:t>   </a:t>
            </a:r>
            <a:r>
              <a:rPr lang="zh-CN" altLang="en-US" sz="3200" b="1">
                <a:solidFill>
                  <a:srgbClr val="990099"/>
                </a:solidFill>
                <a:latin typeface="Arial" panose="020B0604020202020204" pitchFamily="34" charset="0"/>
                <a:ea typeface="微软雅黑" panose="020B0503020204020204" pitchFamily="34" charset="-122"/>
                <a:cs typeface="Arial" panose="020B0604020202020204" pitchFamily="34" charset="0"/>
              </a:rPr>
              <a:t>无</a:t>
            </a:r>
            <a:r>
              <a:rPr lang="zh-CN" altLang="en-US" sz="3200" b="1">
                <a:solidFill>
                  <a:srgbClr val="003399"/>
                </a:solidFill>
                <a:latin typeface="Arial" panose="020B0604020202020204" pitchFamily="34" charset="0"/>
                <a:ea typeface="微软雅黑" panose="020B0503020204020204" pitchFamily="34" charset="-122"/>
                <a:cs typeface="Arial" panose="020B0604020202020204" pitchFamily="34" charset="0"/>
              </a:rPr>
              <a:t>辅助</a:t>
            </a:r>
            <a:r>
              <a:rPr lang="zh-CN" altLang="en-US" sz="3200" b="1">
                <a:solidFill>
                  <a:srgbClr val="990099"/>
                </a:solidFill>
                <a:latin typeface="微软雅黑" panose="020B0503020204020204" pitchFamily="34" charset="-122"/>
                <a:ea typeface="微软雅黑" panose="020B0503020204020204" pitchFamily="34" charset="-122"/>
                <a:cs typeface="Arial" panose="020B0604020202020204" pitchFamily="34" charset="0"/>
              </a:rPr>
              <a:t>导频</a:t>
            </a:r>
            <a:r>
              <a:rPr lang="zh-CN" altLang="en-US" sz="3200" b="1">
                <a:solidFill>
                  <a:srgbClr val="003399"/>
                </a:solidFill>
                <a:latin typeface="微软雅黑" panose="020B0503020204020204" pitchFamily="34" charset="-122"/>
                <a:ea typeface="微软雅黑" panose="020B0503020204020204" pitchFamily="34" charset="-122"/>
                <a:cs typeface="Arial" panose="020B0604020202020204" pitchFamily="34" charset="0"/>
              </a:rPr>
              <a:t>时的载波提取</a:t>
            </a:r>
            <a:endParaRPr lang="zh-CN" altLang="en-US" sz="3200" b="1">
              <a:solidFill>
                <a:srgbClr val="800080"/>
              </a:solidFill>
              <a:latin typeface="Arial" panose="020B0604020202020204" pitchFamily="34" charset="0"/>
              <a:ea typeface="微软雅黑" panose="020B0503020204020204" pitchFamily="34" charset="-122"/>
              <a:cs typeface="Arial" panose="020B0604020202020204" pitchFamily="34" charset="0"/>
            </a:endParaRPr>
          </a:p>
        </p:txBody>
      </p:sp>
      <p:pic>
        <p:nvPicPr>
          <p:cNvPr id="1035" name="Picture 11">
            <a:extLst>
              <a:ext uri="{FF2B5EF4-FFF2-40B4-BE49-F238E27FC236}">
                <a16:creationId xmlns:a16="http://schemas.microsoft.com/office/drawing/2014/main" id="{B6BFBDA9-8FD5-B244-1501-C6FBF69E603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4500" y="2540000"/>
            <a:ext cx="7932738"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1000"/>
                                        <p:tgtEl>
                                          <p:spTgt spid="11"/>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6152"/>
                                        </p:tgtEl>
                                        <p:attrNameLst>
                                          <p:attrName>style.visibility</p:attrName>
                                        </p:attrNameLst>
                                      </p:cBhvr>
                                      <p:to>
                                        <p:strVal val="visible"/>
                                      </p:to>
                                    </p:set>
                                    <p:animEffect transition="in" filter="wipe(left)">
                                      <p:cBhvr>
                                        <p:cTn id="11" dur="2000"/>
                                        <p:tgtEl>
                                          <p:spTgt spid="615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2" presetClass="entr" presetSubtype="0" fill="hold" nodeType="clickEffect">
                                  <p:stCondLst>
                                    <p:cond delay="0"/>
                                  </p:stCondLst>
                                  <p:childTnLst>
                                    <p:set>
                                      <p:cBhvr>
                                        <p:cTn id="15" dur="1" fill="hold">
                                          <p:stCondLst>
                                            <p:cond delay="0"/>
                                          </p:stCondLst>
                                        </p:cTn>
                                        <p:tgtEl>
                                          <p:spTgt spid="20500">
                                            <p:txEl>
                                              <p:pRg st="0" end="0"/>
                                            </p:txEl>
                                          </p:spTgt>
                                        </p:tgtEl>
                                        <p:attrNameLst>
                                          <p:attrName>style.visibility</p:attrName>
                                        </p:attrNameLst>
                                      </p:cBhvr>
                                      <p:to>
                                        <p:strVal val="visible"/>
                                      </p:to>
                                    </p:set>
                                    <p:animEffect transition="in" filter="fade">
                                      <p:cBhvr>
                                        <p:cTn id="16" dur="1000"/>
                                        <p:tgtEl>
                                          <p:spTgt spid="20500">
                                            <p:txEl>
                                              <p:pRg st="0" end="0"/>
                                            </p:txEl>
                                          </p:spTgt>
                                        </p:tgtEl>
                                      </p:cBhvr>
                                    </p:animEffect>
                                    <p:anim calcmode="lin" valueType="num">
                                      <p:cBhvr>
                                        <p:cTn id="17" dur="1000" fill="hold"/>
                                        <p:tgtEl>
                                          <p:spTgt spid="20500">
                                            <p:txEl>
                                              <p:pRg st="0" end="0"/>
                                            </p:txEl>
                                          </p:spTgt>
                                        </p:tgtEl>
                                        <p:attrNameLst>
                                          <p:attrName>ppt_x</p:attrName>
                                        </p:attrNameLst>
                                      </p:cBhvr>
                                      <p:tavLst>
                                        <p:tav tm="0">
                                          <p:val>
                                            <p:strVal val="#ppt_x"/>
                                          </p:val>
                                        </p:tav>
                                        <p:tav tm="100000">
                                          <p:val>
                                            <p:strVal val="#ppt_x"/>
                                          </p:val>
                                        </p:tav>
                                      </p:tavLst>
                                    </p:anim>
                                    <p:anim calcmode="lin" valueType="num">
                                      <p:cBhvr>
                                        <p:cTn id="18" dur="1000" fill="hold"/>
                                        <p:tgtEl>
                                          <p:spTgt spid="2050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2000"/>
                                        <p:tgtEl>
                                          <p:spTgt spid="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wipe(left)">
                                      <p:cBhvr>
                                        <p:cTn id="28" dur="2000"/>
                                        <p:tgtEl>
                                          <p:spTgt spid="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left)">
                                      <p:cBhvr>
                                        <p:cTn id="33" dur="2000"/>
                                        <p:tgtEl>
                                          <p:spTgt spid="1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1035"/>
                                        </p:tgtEl>
                                        <p:attrNameLst>
                                          <p:attrName>style.visibility</p:attrName>
                                        </p:attrNameLst>
                                      </p:cBhvr>
                                      <p:to>
                                        <p:strVal val="visible"/>
                                      </p:to>
                                    </p:set>
                                    <p:animEffect transition="in" filter="wipe(left)">
                                      <p:cBhvr>
                                        <p:cTn id="38" dur="3000"/>
                                        <p:tgtEl>
                                          <p:spTgt spid="1035"/>
                                        </p:tgtEl>
                                      </p:cBhvr>
                                    </p:animEffect>
                                  </p:childTnLst>
                                </p:cTn>
                              </p:par>
                            </p:childTnLst>
                          </p:cTn>
                        </p:par>
                        <p:par>
                          <p:cTn id="39" fill="hold" nodeType="afterGroup">
                            <p:stCondLst>
                              <p:cond delay="3000"/>
                            </p:stCondLst>
                            <p:childTnLst>
                              <p:par>
                                <p:cTn id="40" presetID="22" presetClass="entr" presetSubtype="8" fill="hold" nodeType="after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2" grpId="0"/>
      <p:bldP spid="13" grpId="0"/>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7">
            <a:extLst>
              <a:ext uri="{FF2B5EF4-FFF2-40B4-BE49-F238E27FC236}">
                <a16:creationId xmlns:a16="http://schemas.microsoft.com/office/drawing/2014/main" id="{313141F0-119E-2906-FE35-5050E3063867}"/>
              </a:ext>
            </a:extLst>
          </p:cNvPr>
          <p:cNvGrpSpPr>
            <a:grpSpLocks/>
          </p:cNvGrpSpPr>
          <p:nvPr/>
        </p:nvGrpSpPr>
        <p:grpSpPr bwMode="auto">
          <a:xfrm>
            <a:off x="1557338" y="2671763"/>
            <a:ext cx="6357937" cy="830262"/>
            <a:chOff x="1557338" y="2672210"/>
            <a:chExt cx="6357937" cy="829815"/>
          </a:xfrm>
        </p:grpSpPr>
        <p:pic>
          <p:nvPicPr>
            <p:cNvPr id="2063" name="图片 3">
              <a:extLst>
                <a:ext uri="{FF2B5EF4-FFF2-40B4-BE49-F238E27FC236}">
                  <a16:creationId xmlns:a16="http://schemas.microsoft.com/office/drawing/2014/main" id="{2573D1FC-752D-A226-F00D-8A9A148F266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57338" y="2746375"/>
              <a:ext cx="6357937"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矩形 16">
              <a:extLst>
                <a:ext uri="{FF2B5EF4-FFF2-40B4-BE49-F238E27FC236}">
                  <a16:creationId xmlns:a16="http://schemas.microsoft.com/office/drawing/2014/main" id="{A8C607C5-6E02-3063-15A2-13C972506BD1}"/>
                </a:ext>
              </a:extLst>
            </p:cNvPr>
            <p:cNvSpPr/>
            <p:nvPr/>
          </p:nvSpPr>
          <p:spPr bwMode="auto">
            <a:xfrm>
              <a:off x="3614738" y="2672210"/>
              <a:ext cx="500062" cy="356995"/>
            </a:xfrm>
            <a:prstGeom prst="rect">
              <a:avLst/>
            </a:prstGeom>
            <a:solidFill>
              <a:schemeClr val="bg1">
                <a:lumMod val="95000"/>
              </a:schemeClr>
            </a:solidFill>
            <a:ln w="9525" cap="flat" cmpd="sng" algn="ctr">
              <a:noFill/>
              <a:prstDash val="solid"/>
              <a:miter lim="800000"/>
              <a:headEnd type="none" w="med" len="med"/>
              <a:tailEnd type="none" w="med" len="med"/>
            </a:ln>
            <a:effectLst/>
          </p:spPr>
          <p:txBody>
            <a:bodyPr wrap="none"/>
            <a:lstStyle/>
            <a:p>
              <a:pPr>
                <a:defRPr/>
              </a:pPr>
              <a:endParaRPr lang="zh-CN" altLang="en-US">
                <a:ea typeface="宋体" charset="-122"/>
              </a:endParaRPr>
            </a:p>
          </p:txBody>
        </p:sp>
      </p:grpSp>
      <p:sp>
        <p:nvSpPr>
          <p:cNvPr id="66564" name="Rectangle 4">
            <a:extLst>
              <a:ext uri="{FF2B5EF4-FFF2-40B4-BE49-F238E27FC236}">
                <a16:creationId xmlns:a16="http://schemas.microsoft.com/office/drawing/2014/main" id="{4956DE02-7DCC-8823-27A1-F8CCC7C71AA8}"/>
              </a:ext>
            </a:extLst>
          </p:cNvPr>
          <p:cNvSpPr>
            <a:spLocks noChangeArrowheads="1"/>
          </p:cNvSpPr>
          <p:nvPr/>
        </p:nvSpPr>
        <p:spPr bwMode="auto">
          <a:xfrm>
            <a:off x="0" y="0"/>
            <a:ext cx="9144000" cy="0"/>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ea typeface="宋体" charset="-122"/>
            </a:endParaRPr>
          </a:p>
        </p:txBody>
      </p:sp>
      <p:sp>
        <p:nvSpPr>
          <p:cNvPr id="66565" name="Rectangle 5">
            <a:extLst>
              <a:ext uri="{FF2B5EF4-FFF2-40B4-BE49-F238E27FC236}">
                <a16:creationId xmlns:a16="http://schemas.microsoft.com/office/drawing/2014/main" id="{92BDF5E2-EBD9-F698-715F-239814DD885B}"/>
              </a:ext>
            </a:extLst>
          </p:cNvPr>
          <p:cNvSpPr>
            <a:spLocks noChangeArrowheads="1"/>
          </p:cNvSpPr>
          <p:nvPr/>
        </p:nvSpPr>
        <p:spPr bwMode="auto">
          <a:xfrm>
            <a:off x="0" y="3233738"/>
            <a:ext cx="9144000" cy="0"/>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ea typeface="宋体" charset="-122"/>
            </a:endParaRPr>
          </a:p>
        </p:txBody>
      </p:sp>
      <p:graphicFrame>
        <p:nvGraphicFramePr>
          <p:cNvPr id="66579" name="Object 19">
            <a:extLst>
              <a:ext uri="{FF2B5EF4-FFF2-40B4-BE49-F238E27FC236}">
                <a16:creationId xmlns:a16="http://schemas.microsoft.com/office/drawing/2014/main" id="{EFB50781-427A-1FF1-837A-109462CE9E1E}"/>
              </a:ext>
            </a:extLst>
          </p:cNvPr>
          <p:cNvGraphicFramePr>
            <a:graphicFrameLocks noChangeAspect="1"/>
          </p:cNvGraphicFramePr>
          <p:nvPr/>
        </p:nvGraphicFramePr>
        <p:xfrm>
          <a:off x="4562475" y="1714500"/>
          <a:ext cx="3438525" cy="714375"/>
        </p:xfrm>
        <a:graphic>
          <a:graphicData uri="http://schemas.openxmlformats.org/presentationml/2006/ole">
            <mc:AlternateContent xmlns:mc="http://schemas.openxmlformats.org/markup-compatibility/2006">
              <mc:Choice xmlns:v="urn:schemas-microsoft-com:vml" Requires="v">
                <p:oleObj name="Equation" r:id="rId3" imgW="1752480" imgH="393480" progId="Equation.DSMT4">
                  <p:embed/>
                </p:oleObj>
              </mc:Choice>
              <mc:Fallback>
                <p:oleObj name="Equation" r:id="rId3" imgW="1752480" imgH="393480" progId="Equation.DSMT4">
                  <p:embed/>
                  <p:pic>
                    <p:nvPicPr>
                      <p:cNvPr id="0"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62475" y="1714500"/>
                        <a:ext cx="3438525" cy="714375"/>
                      </a:xfrm>
                      <a:prstGeom prst="rect">
                        <a:avLst/>
                      </a:prstGeom>
                      <a:solidFill>
                        <a:srgbClr val="EAEAEA"/>
                      </a:solidFill>
                      <a:effectLst>
                        <a:prstShdw prst="shdw17" dist="17961" dir="2700000">
                          <a:srgbClr val="99997D"/>
                        </a:prstShdw>
                      </a:effectLst>
                    </p:spPr>
                  </p:pic>
                </p:oleObj>
              </mc:Fallback>
            </mc:AlternateContent>
          </a:graphicData>
        </a:graphic>
      </p:graphicFrame>
      <p:sp>
        <p:nvSpPr>
          <p:cNvPr id="66581" name="Oval 21">
            <a:extLst>
              <a:ext uri="{FF2B5EF4-FFF2-40B4-BE49-F238E27FC236}">
                <a16:creationId xmlns:a16="http://schemas.microsoft.com/office/drawing/2014/main" id="{3B488C9A-C004-17D8-0B12-A446514635B8}"/>
              </a:ext>
            </a:extLst>
          </p:cNvPr>
          <p:cNvSpPr>
            <a:spLocks noChangeArrowheads="1"/>
          </p:cNvSpPr>
          <p:nvPr/>
        </p:nvSpPr>
        <p:spPr bwMode="auto">
          <a:xfrm>
            <a:off x="6072188" y="1714500"/>
            <a:ext cx="2000250" cy="649288"/>
          </a:xfrm>
          <a:prstGeom prst="ellipse">
            <a:avLst/>
          </a:prstGeom>
          <a:noFill/>
          <a:ln w="9525">
            <a:solidFill>
              <a:srgbClr val="CC0000"/>
            </a:solidFill>
            <a:prstDash val="sysDash"/>
            <a:round/>
            <a:headEnd/>
            <a:tailEnd/>
          </a:ln>
          <a:effectLst>
            <a:outerShdw blurRad="50800" dist="38100" dir="2700000" algn="tl" rotWithShape="0">
              <a:prstClr val="black">
                <a:alpha val="40000"/>
              </a:prstClr>
            </a:outerShdw>
          </a:effectLst>
        </p:spPr>
        <p:txBody>
          <a:bodyPr wrap="none" anchor="ctr"/>
          <a:lstStyle/>
          <a:p>
            <a:pPr>
              <a:defRPr/>
            </a:pPr>
            <a:endParaRPr lang="zh-CN" altLang="en-US">
              <a:ea typeface="宋体" charset="-122"/>
            </a:endParaRPr>
          </a:p>
        </p:txBody>
      </p:sp>
      <p:sp>
        <p:nvSpPr>
          <p:cNvPr id="66582" name="AutoShape 22">
            <a:extLst>
              <a:ext uri="{FF2B5EF4-FFF2-40B4-BE49-F238E27FC236}">
                <a16:creationId xmlns:a16="http://schemas.microsoft.com/office/drawing/2014/main" id="{E120D9E3-30BF-6F33-0990-95C6A4199035}"/>
              </a:ext>
            </a:extLst>
          </p:cNvPr>
          <p:cNvSpPr>
            <a:spLocks noChangeArrowheads="1"/>
          </p:cNvSpPr>
          <p:nvPr/>
        </p:nvSpPr>
        <p:spPr bwMode="auto">
          <a:xfrm>
            <a:off x="4225925" y="2743200"/>
            <a:ext cx="1060450" cy="714375"/>
          </a:xfrm>
          <a:prstGeom prst="wedgeRectCallout">
            <a:avLst>
              <a:gd name="adj1" fmla="val -33852"/>
              <a:gd name="adj2" fmla="val 48528"/>
            </a:avLst>
          </a:prstGeom>
          <a:noFill/>
          <a:ln w="28575">
            <a:solidFill>
              <a:srgbClr val="CC0000"/>
            </a:solidFill>
            <a:prstDash val="sysDash"/>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endParaRPr lang="zh-CN" altLang="en-US"/>
          </a:p>
        </p:txBody>
      </p:sp>
      <p:sp>
        <p:nvSpPr>
          <p:cNvPr id="15" name="矩形 14">
            <a:extLst>
              <a:ext uri="{FF2B5EF4-FFF2-40B4-BE49-F238E27FC236}">
                <a16:creationId xmlns:a16="http://schemas.microsoft.com/office/drawing/2014/main" id="{4239C580-1B43-2DE2-476F-F13BE30DB194}"/>
              </a:ext>
            </a:extLst>
          </p:cNvPr>
          <p:cNvSpPr>
            <a:spLocks noChangeArrowheads="1"/>
          </p:cNvSpPr>
          <p:nvPr/>
        </p:nvSpPr>
        <p:spPr bwMode="auto">
          <a:xfrm>
            <a:off x="320675" y="446088"/>
            <a:ext cx="2520950" cy="523875"/>
          </a:xfrm>
          <a:prstGeom prst="rect">
            <a:avLst/>
          </a:prstGeom>
          <a:noFill/>
          <a:ln w="9525">
            <a:noFill/>
            <a:miter lim="800000"/>
            <a:headEnd/>
            <a:tailEnd/>
          </a:ln>
          <a:effectLst>
            <a:outerShdw blurRad="50800" dist="38100" dir="5400000" algn="t" rotWithShape="0">
              <a:prstClr val="black">
                <a:alpha val="40000"/>
              </a:prstClr>
            </a:outerShdw>
          </a:effectLst>
        </p:spPr>
        <p:txBody>
          <a:bodyPr>
            <a:spAutoFit/>
          </a:bodyPr>
          <a:lstStyle/>
          <a:p>
            <a:pPr>
              <a:defRPr/>
            </a:pPr>
            <a:r>
              <a:rPr lang="en-US" altLang="zh-CN" sz="2800" b="1" dirty="0">
                <a:solidFill>
                  <a:srgbClr val="800080"/>
                </a:solidFill>
                <a:latin typeface="微软雅黑" pitchFamily="34" charset="-122"/>
                <a:ea typeface="微软雅黑" pitchFamily="34" charset="-122"/>
              </a:rPr>
              <a:t>1.  </a:t>
            </a:r>
            <a:r>
              <a:rPr lang="zh-CN" altLang="en-US" sz="2800" b="1" dirty="0">
                <a:solidFill>
                  <a:srgbClr val="0000CC"/>
                </a:solidFill>
                <a:latin typeface="微软雅黑" pitchFamily="34" charset="-122"/>
                <a:ea typeface="微软雅黑" pitchFamily="34" charset="-122"/>
              </a:rPr>
              <a:t>平方变换法</a:t>
            </a:r>
          </a:p>
        </p:txBody>
      </p:sp>
      <p:sp>
        <p:nvSpPr>
          <p:cNvPr id="16" name="矩形 15">
            <a:extLst>
              <a:ext uri="{FF2B5EF4-FFF2-40B4-BE49-F238E27FC236}">
                <a16:creationId xmlns:a16="http://schemas.microsoft.com/office/drawing/2014/main" id="{CD8F7BC4-15E0-3FD5-B013-D2B58289832B}"/>
              </a:ext>
            </a:extLst>
          </p:cNvPr>
          <p:cNvSpPr>
            <a:spLocks noChangeArrowheads="1"/>
          </p:cNvSpPr>
          <p:nvPr/>
        </p:nvSpPr>
        <p:spPr bwMode="auto">
          <a:xfrm>
            <a:off x="2787650" y="447675"/>
            <a:ext cx="2141538" cy="522288"/>
          </a:xfrm>
          <a:prstGeom prst="rect">
            <a:avLst/>
          </a:prstGeom>
          <a:noFill/>
          <a:ln w="9525">
            <a:noFill/>
            <a:miter lim="800000"/>
            <a:headEnd/>
            <a:tailEnd/>
          </a:ln>
          <a:effectLst>
            <a:outerShdw blurRad="50800" dist="38100" dir="2700000" algn="tl" rotWithShape="0">
              <a:prstClr val="black">
                <a:alpha val="40000"/>
              </a:prstClr>
            </a:outerShdw>
          </a:effectLst>
        </p:spPr>
        <p:txBody>
          <a:bodyPr>
            <a:spAutoFit/>
          </a:bodyPr>
          <a:lstStyle/>
          <a:p>
            <a:pPr>
              <a:defRPr/>
            </a:pPr>
            <a:r>
              <a:rPr lang="zh-CN" altLang="en-US" sz="2800" b="1" dirty="0">
                <a:solidFill>
                  <a:srgbClr val="0000CC"/>
                </a:solidFill>
                <a:latin typeface="微软雅黑" pitchFamily="34" charset="-122"/>
                <a:ea typeface="微软雅黑" pitchFamily="34" charset="-122"/>
              </a:rPr>
              <a:t>和 平方环法</a:t>
            </a:r>
          </a:p>
        </p:txBody>
      </p:sp>
      <p:sp>
        <p:nvSpPr>
          <p:cNvPr id="19" name="矩形 18">
            <a:extLst>
              <a:ext uri="{FF2B5EF4-FFF2-40B4-BE49-F238E27FC236}">
                <a16:creationId xmlns:a16="http://schemas.microsoft.com/office/drawing/2014/main" id="{EA5E7DC8-841D-11B6-B5D4-28742A8FEF09}"/>
              </a:ext>
            </a:extLst>
          </p:cNvPr>
          <p:cNvSpPr/>
          <p:nvPr/>
        </p:nvSpPr>
        <p:spPr>
          <a:xfrm>
            <a:off x="642938" y="1301750"/>
            <a:ext cx="2071687" cy="400050"/>
          </a:xfrm>
          <a:prstGeom prst="rect">
            <a:avLst/>
          </a:prstGeom>
        </p:spPr>
        <p:txBody>
          <a:bodyPr>
            <a:spAutoFit/>
          </a:bodyPr>
          <a:lstStyle/>
          <a:p>
            <a:pPr>
              <a:buClr>
                <a:schemeClr val="tx1">
                  <a:lumMod val="50000"/>
                  <a:lumOff val="50000"/>
                </a:schemeClr>
              </a:buClr>
              <a:buSzPct val="88000"/>
              <a:buFont typeface="Wingdings" pitchFamily="2" charset="2"/>
              <a:buChar char="n"/>
              <a:defRPr/>
            </a:pPr>
            <a:r>
              <a:rPr lang="zh-CN" altLang="en-US" sz="2000" dirty="0">
                <a:latin typeface="Arial" pitchFamily="34" charset="0"/>
                <a:ea typeface="微软雅黑" pitchFamily="34" charset="-122"/>
                <a:cs typeface="Arial" pitchFamily="34" charset="0"/>
              </a:rPr>
              <a:t> 设</a:t>
            </a:r>
            <a:r>
              <a:rPr lang="en-US" altLang="zh-CN" sz="2000" b="1" dirty="0">
                <a:solidFill>
                  <a:srgbClr val="0000CC"/>
                </a:solidFill>
                <a:latin typeface="Arial" pitchFamily="34" charset="0"/>
                <a:ea typeface="微软雅黑" pitchFamily="34" charset="-122"/>
                <a:cs typeface="Arial" pitchFamily="34" charset="0"/>
              </a:rPr>
              <a:t>2PSK</a:t>
            </a:r>
            <a:r>
              <a:rPr lang="zh-CN" altLang="en-US" sz="2000" dirty="0">
                <a:latin typeface="Arial" pitchFamily="34" charset="0"/>
                <a:ea typeface="微软雅黑" pitchFamily="34" charset="-122"/>
                <a:cs typeface="Arial" pitchFamily="34" charset="0"/>
              </a:rPr>
              <a:t>信号</a:t>
            </a:r>
          </a:p>
        </p:txBody>
      </p:sp>
      <p:sp>
        <p:nvSpPr>
          <p:cNvPr id="20" name="矩形 19">
            <a:extLst>
              <a:ext uri="{FF2B5EF4-FFF2-40B4-BE49-F238E27FC236}">
                <a16:creationId xmlns:a16="http://schemas.microsoft.com/office/drawing/2014/main" id="{D715C549-F6EC-8046-E94E-2B4BF1D28CEB}"/>
              </a:ext>
            </a:extLst>
          </p:cNvPr>
          <p:cNvSpPr/>
          <p:nvPr/>
        </p:nvSpPr>
        <p:spPr>
          <a:xfrm>
            <a:off x="3786188" y="1285875"/>
            <a:ext cx="4500562" cy="400050"/>
          </a:xfrm>
          <a:prstGeom prst="rect">
            <a:avLst/>
          </a:prstGeom>
        </p:spPr>
        <p:txBody>
          <a:bodyPr>
            <a:spAutoFit/>
          </a:bodyPr>
          <a:lstStyle/>
          <a:p>
            <a:pPr>
              <a:buClr>
                <a:schemeClr val="tx1">
                  <a:lumMod val="50000"/>
                  <a:lumOff val="50000"/>
                </a:schemeClr>
              </a:buClr>
              <a:buSzPct val="88000"/>
              <a:buFont typeface="Wingdings" pitchFamily="2" charset="2"/>
              <a:buChar char="n"/>
              <a:defRPr/>
            </a:pPr>
            <a:r>
              <a:rPr lang="zh-CN" altLang="en-US" sz="2000" dirty="0">
                <a:latin typeface="Arial" pitchFamily="34" charset="0"/>
                <a:ea typeface="微软雅黑" pitchFamily="34" charset="-122"/>
                <a:cs typeface="Arial" pitchFamily="34" charset="0"/>
              </a:rPr>
              <a:t> 当</a:t>
            </a:r>
            <a:r>
              <a:rPr lang="en-US" altLang="zh-CN" sz="2000" i="1" dirty="0">
                <a:solidFill>
                  <a:srgbClr val="0000CC"/>
                </a:solidFill>
                <a:latin typeface="Arial" pitchFamily="34" charset="0"/>
                <a:ea typeface="微软雅黑" pitchFamily="34" charset="-122"/>
                <a:cs typeface="Arial" pitchFamily="34" charset="0"/>
              </a:rPr>
              <a:t>m</a:t>
            </a:r>
            <a:r>
              <a:rPr lang="en-US" altLang="zh-CN" sz="2000" dirty="0">
                <a:solidFill>
                  <a:srgbClr val="0000CC"/>
                </a:solidFill>
                <a:latin typeface="Arial" pitchFamily="34" charset="0"/>
                <a:ea typeface="微软雅黑" pitchFamily="34" charset="-122"/>
                <a:cs typeface="Arial" pitchFamily="34" charset="0"/>
              </a:rPr>
              <a:t>(</a:t>
            </a:r>
            <a:r>
              <a:rPr lang="en-US" altLang="zh-CN" sz="2000" i="1" dirty="0">
                <a:solidFill>
                  <a:srgbClr val="0000CC"/>
                </a:solidFill>
                <a:latin typeface="Arial" pitchFamily="34" charset="0"/>
                <a:ea typeface="微软雅黑" pitchFamily="34" charset="-122"/>
                <a:cs typeface="Arial" pitchFamily="34" charset="0"/>
              </a:rPr>
              <a:t>t</a:t>
            </a:r>
            <a:r>
              <a:rPr lang="en-US" altLang="zh-CN" sz="2000" dirty="0">
                <a:solidFill>
                  <a:srgbClr val="0000CC"/>
                </a:solidFill>
                <a:latin typeface="Arial" pitchFamily="34" charset="0"/>
                <a:ea typeface="微软雅黑" pitchFamily="34" charset="-122"/>
                <a:cs typeface="Arial" pitchFamily="34" charset="0"/>
              </a:rPr>
              <a:t>)</a:t>
            </a:r>
            <a:r>
              <a:rPr lang="zh-CN" altLang="en-US" sz="2000" dirty="0">
                <a:latin typeface="Arial" pitchFamily="34" charset="0"/>
                <a:ea typeface="微软雅黑" pitchFamily="34" charset="-122"/>
                <a:cs typeface="Arial" pitchFamily="34" charset="0"/>
              </a:rPr>
              <a:t>取 </a:t>
            </a:r>
            <a:r>
              <a:rPr lang="en-US" altLang="zh-CN" sz="2000" dirty="0">
                <a:latin typeface="Arial" pitchFamily="34" charset="0"/>
                <a:ea typeface="微软雅黑" pitchFamily="34" charset="-122"/>
                <a:cs typeface="Arial" pitchFamily="34" charset="0"/>
              </a:rPr>
              <a:t>+1</a:t>
            </a:r>
            <a:r>
              <a:rPr lang="zh-CN" altLang="en-US" sz="2000" dirty="0">
                <a:latin typeface="Arial" pitchFamily="34" charset="0"/>
                <a:ea typeface="微软雅黑" pitchFamily="34" charset="-122"/>
                <a:cs typeface="Arial" pitchFamily="34" charset="0"/>
              </a:rPr>
              <a:t>和 </a:t>
            </a:r>
            <a:r>
              <a:rPr lang="en-US" altLang="zh-CN" sz="2000" dirty="0">
                <a:latin typeface="Arial" pitchFamily="34" charset="0"/>
                <a:ea typeface="微软雅黑" pitchFamily="34" charset="-122"/>
                <a:cs typeface="Arial" pitchFamily="34" charset="0"/>
              </a:rPr>
              <a:t>-1</a:t>
            </a:r>
            <a:r>
              <a:rPr lang="zh-CN" altLang="en-US" sz="2000" dirty="0">
                <a:latin typeface="Arial" pitchFamily="34" charset="0"/>
                <a:ea typeface="微软雅黑" pitchFamily="34" charset="-122"/>
                <a:cs typeface="Arial" pitchFamily="34" charset="0"/>
              </a:rPr>
              <a:t>的</a:t>
            </a:r>
            <a:r>
              <a:rPr lang="zh-CN" altLang="en-US" sz="2000" b="1" dirty="0">
                <a:latin typeface="Arial" pitchFamily="34" charset="0"/>
                <a:ea typeface="微软雅黑" pitchFamily="34" charset="-122"/>
                <a:cs typeface="Arial" pitchFamily="34" charset="0"/>
              </a:rPr>
              <a:t>概率相等</a:t>
            </a:r>
            <a:r>
              <a:rPr lang="zh-CN" altLang="en-US" sz="2000" dirty="0">
                <a:latin typeface="Arial" pitchFamily="34" charset="0"/>
                <a:ea typeface="微软雅黑" pitchFamily="34" charset="-122"/>
                <a:cs typeface="Arial" pitchFamily="34" charset="0"/>
              </a:rPr>
              <a:t>时</a:t>
            </a:r>
          </a:p>
        </p:txBody>
      </p:sp>
      <p:sp>
        <p:nvSpPr>
          <p:cNvPr id="21" name="矩形 20">
            <a:extLst>
              <a:ext uri="{FF2B5EF4-FFF2-40B4-BE49-F238E27FC236}">
                <a16:creationId xmlns:a16="http://schemas.microsoft.com/office/drawing/2014/main" id="{09645FA2-DB2F-0FAC-BD28-444FF18C63E2}"/>
              </a:ext>
            </a:extLst>
          </p:cNvPr>
          <p:cNvSpPr/>
          <p:nvPr/>
        </p:nvSpPr>
        <p:spPr>
          <a:xfrm>
            <a:off x="642938" y="3729038"/>
            <a:ext cx="7643812" cy="400050"/>
          </a:xfrm>
          <a:prstGeom prst="rect">
            <a:avLst/>
          </a:prstGeom>
        </p:spPr>
        <p:txBody>
          <a:bodyPr>
            <a:spAutoFit/>
          </a:bodyPr>
          <a:lstStyle/>
          <a:p>
            <a:pPr>
              <a:buClr>
                <a:schemeClr val="tx1">
                  <a:lumMod val="50000"/>
                  <a:lumOff val="50000"/>
                </a:schemeClr>
              </a:buClr>
              <a:buSzPct val="88000"/>
              <a:buFont typeface="Wingdings" pitchFamily="2" charset="2"/>
              <a:buChar char="n"/>
              <a:defRPr/>
            </a:pPr>
            <a:r>
              <a:rPr lang="zh-CN" altLang="en-US" sz="2000" dirty="0">
                <a:latin typeface="微软雅黑" pitchFamily="34" charset="-122"/>
                <a:ea typeface="微软雅黑" pitchFamily="34" charset="-122"/>
              </a:rPr>
              <a:t> 滤波器提取载频的</a:t>
            </a:r>
            <a:r>
              <a:rPr lang="en-US" altLang="zh-CN" sz="2000" dirty="0">
                <a:latin typeface="微软雅黑" pitchFamily="34" charset="-122"/>
                <a:ea typeface="微软雅黑" pitchFamily="34" charset="-122"/>
              </a:rPr>
              <a:t>2</a:t>
            </a:r>
            <a:r>
              <a:rPr lang="zh-CN" altLang="en-US" sz="2000" dirty="0">
                <a:latin typeface="微软雅黑" pitchFamily="34" charset="-122"/>
                <a:ea typeface="微软雅黑" pitchFamily="34" charset="-122"/>
              </a:rPr>
              <a:t>次谐波后，再作</a:t>
            </a:r>
            <a:r>
              <a:rPr lang="en-US" altLang="zh-CN" sz="2000" dirty="0">
                <a:latin typeface="微软雅黑" pitchFamily="34" charset="-122"/>
                <a:ea typeface="微软雅黑" pitchFamily="34" charset="-122"/>
              </a:rPr>
              <a:t>2</a:t>
            </a:r>
            <a:r>
              <a:rPr lang="zh-CN" altLang="en-US" sz="2000" dirty="0">
                <a:latin typeface="微软雅黑" pitchFamily="34" charset="-122"/>
                <a:ea typeface="微软雅黑" pitchFamily="34" charset="-122"/>
              </a:rPr>
              <a:t>分频，即可得到所需的载波。</a:t>
            </a:r>
          </a:p>
        </p:txBody>
      </p:sp>
      <p:graphicFrame>
        <p:nvGraphicFramePr>
          <p:cNvPr id="2" name="Object 20">
            <a:extLst>
              <a:ext uri="{FF2B5EF4-FFF2-40B4-BE49-F238E27FC236}">
                <a16:creationId xmlns:a16="http://schemas.microsoft.com/office/drawing/2014/main" id="{47A061D8-B219-48B9-0753-7773D66887BF}"/>
              </a:ext>
            </a:extLst>
          </p:cNvPr>
          <p:cNvGraphicFramePr>
            <a:graphicFrameLocks noChangeAspect="1"/>
          </p:cNvGraphicFramePr>
          <p:nvPr/>
        </p:nvGraphicFramePr>
        <p:xfrm>
          <a:off x="1000125" y="1857375"/>
          <a:ext cx="2928938" cy="514350"/>
        </p:xfrm>
        <a:graphic>
          <a:graphicData uri="http://schemas.openxmlformats.org/presentationml/2006/ole">
            <mc:AlternateContent xmlns:mc="http://schemas.openxmlformats.org/markup-compatibility/2006">
              <mc:Choice xmlns:v="urn:schemas-microsoft-com:vml" Requires="v">
                <p:oleObj name="Equation" r:id="rId5" imgW="1460160" imgH="253800" progId="Equation.DSMT4">
                  <p:embed/>
                </p:oleObj>
              </mc:Choice>
              <mc:Fallback>
                <p:oleObj name="Equation" r:id="rId5" imgW="1460160" imgH="253800" progId="Equation.DSMT4">
                  <p:embed/>
                  <p:pic>
                    <p:nvPicPr>
                      <p:cNvPr id="0"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0125" y="1857375"/>
                        <a:ext cx="2928938" cy="514350"/>
                      </a:xfrm>
                      <a:prstGeom prst="rect">
                        <a:avLst/>
                      </a:prstGeom>
                      <a:solidFill>
                        <a:srgbClr val="EAEAEA"/>
                      </a:solidFill>
                      <a:effectLst>
                        <a:prstShdw prst="shdw17" dist="17961" dir="2700000">
                          <a:srgbClr val="99997D"/>
                        </a:prstShdw>
                      </a:effectLst>
                    </p:spPr>
                  </p:pic>
                </p:oleObj>
              </mc:Fallback>
            </mc:AlternateContent>
          </a:graphicData>
        </a:graphic>
      </p:graphicFrame>
      <p:pic>
        <p:nvPicPr>
          <p:cNvPr id="4101" name="Picture 5">
            <a:extLst>
              <a:ext uri="{FF2B5EF4-FFF2-40B4-BE49-F238E27FC236}">
                <a16:creationId xmlns:a16="http://schemas.microsoft.com/office/drawing/2014/main" id="{2F446CEB-E432-F344-7B2F-8F9164DCC45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0075" y="4286250"/>
            <a:ext cx="7972425" cy="199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up)">
                                      <p:cBhvr>
                                        <p:cTn id="7" dur="1000"/>
                                        <p:tgtEl>
                                          <p:spTgt spid="15"/>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1000"/>
                                        <p:tgtEl>
                                          <p:spTgt spid="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up)">
                                      <p:cBhvr>
                                        <p:cTn id="16" dur="1000"/>
                                        <p:tgtEl>
                                          <p:spTgt spid="19"/>
                                        </p:tgtEl>
                                      </p:cBhvr>
                                    </p:animEffect>
                                  </p:childTnLst>
                                </p:cTn>
                              </p:par>
                            </p:childTnLst>
                          </p:cTn>
                        </p:par>
                        <p:par>
                          <p:cTn id="17" fill="hold" nodeType="afterGroup">
                            <p:stCondLst>
                              <p:cond delay="1000"/>
                            </p:stCondLst>
                            <p:childTnLst>
                              <p:par>
                                <p:cTn id="18" presetID="22" presetClass="entr" presetSubtype="1"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up)">
                                      <p:cBhvr>
                                        <p:cTn id="20" dur="1000"/>
                                        <p:tgtEl>
                                          <p:spTgt spid="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wipe(up)">
                                      <p:cBhvr>
                                        <p:cTn id="25" dur="1000"/>
                                        <p:tgtEl>
                                          <p:spTgt spid="20"/>
                                        </p:tgtEl>
                                      </p:cBhvr>
                                    </p:animEffect>
                                  </p:childTnLst>
                                </p:cTn>
                              </p:par>
                            </p:childTnLst>
                          </p:cTn>
                        </p:par>
                        <p:par>
                          <p:cTn id="26" fill="hold" nodeType="afterGroup">
                            <p:stCondLst>
                              <p:cond delay="1000"/>
                            </p:stCondLst>
                            <p:childTnLst>
                              <p:par>
                                <p:cTn id="27" presetID="22" presetClass="entr" presetSubtype="8" fill="hold" nodeType="afterEffect">
                                  <p:stCondLst>
                                    <p:cond delay="0"/>
                                  </p:stCondLst>
                                  <p:childTnLst>
                                    <p:set>
                                      <p:cBhvr>
                                        <p:cTn id="28" dur="1" fill="hold">
                                          <p:stCondLst>
                                            <p:cond delay="0"/>
                                          </p:stCondLst>
                                        </p:cTn>
                                        <p:tgtEl>
                                          <p:spTgt spid="66579"/>
                                        </p:tgtEl>
                                        <p:attrNameLst>
                                          <p:attrName>style.visibility</p:attrName>
                                        </p:attrNameLst>
                                      </p:cBhvr>
                                      <p:to>
                                        <p:strVal val="visible"/>
                                      </p:to>
                                    </p:set>
                                    <p:animEffect transition="in" filter="wipe(left)">
                                      <p:cBhvr>
                                        <p:cTn id="29" dur="2000"/>
                                        <p:tgtEl>
                                          <p:spTgt spid="66579"/>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1" presetClass="entr" presetSubtype="4" fill="hold" nodeType="clickEffect">
                                  <p:stCondLst>
                                    <p:cond delay="0"/>
                                  </p:stCondLst>
                                  <p:childTnLst>
                                    <p:set>
                                      <p:cBhvr>
                                        <p:cTn id="33" dur="1" fill="hold">
                                          <p:stCondLst>
                                            <p:cond delay="0"/>
                                          </p:stCondLst>
                                        </p:cTn>
                                        <p:tgtEl>
                                          <p:spTgt spid="66582"/>
                                        </p:tgtEl>
                                        <p:attrNameLst>
                                          <p:attrName>style.visibility</p:attrName>
                                        </p:attrNameLst>
                                      </p:cBhvr>
                                      <p:to>
                                        <p:strVal val="visible"/>
                                      </p:to>
                                    </p:set>
                                    <p:animEffect transition="in" filter="wheel(4)">
                                      <p:cBhvr>
                                        <p:cTn id="34" dur="1000"/>
                                        <p:tgtEl>
                                          <p:spTgt spid="66582"/>
                                        </p:tgtEl>
                                      </p:cBhvr>
                                    </p:animEffect>
                                  </p:childTnLst>
                                </p:cTn>
                              </p:par>
                            </p:childTnLst>
                          </p:cTn>
                        </p:par>
                        <p:par>
                          <p:cTn id="35" fill="hold" nodeType="afterGroup">
                            <p:stCondLst>
                              <p:cond delay="1000"/>
                            </p:stCondLst>
                            <p:childTnLst>
                              <p:par>
                                <p:cTn id="36" presetID="21" presetClass="entr" presetSubtype="4" fill="hold" nodeType="afterEffect">
                                  <p:stCondLst>
                                    <p:cond delay="0"/>
                                  </p:stCondLst>
                                  <p:childTnLst>
                                    <p:set>
                                      <p:cBhvr>
                                        <p:cTn id="37" dur="1" fill="hold">
                                          <p:stCondLst>
                                            <p:cond delay="0"/>
                                          </p:stCondLst>
                                        </p:cTn>
                                        <p:tgtEl>
                                          <p:spTgt spid="66581"/>
                                        </p:tgtEl>
                                        <p:attrNameLst>
                                          <p:attrName>style.visibility</p:attrName>
                                        </p:attrNameLst>
                                      </p:cBhvr>
                                      <p:to>
                                        <p:strVal val="visible"/>
                                      </p:to>
                                    </p:set>
                                    <p:animEffect transition="in" filter="wheel(4)">
                                      <p:cBhvr>
                                        <p:cTn id="38" dur="1000"/>
                                        <p:tgtEl>
                                          <p:spTgt spid="66581"/>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wipe(up)">
                                      <p:cBhvr>
                                        <p:cTn id="43" dur="1000"/>
                                        <p:tgtEl>
                                          <p:spTgt spid="21"/>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1" fill="hold" nodeType="clickEffect">
                                  <p:stCondLst>
                                    <p:cond delay="0"/>
                                  </p:stCondLst>
                                  <p:childTnLst>
                                    <p:set>
                                      <p:cBhvr>
                                        <p:cTn id="47" dur="1" fill="hold">
                                          <p:stCondLst>
                                            <p:cond delay="0"/>
                                          </p:stCondLst>
                                        </p:cTn>
                                        <p:tgtEl>
                                          <p:spTgt spid="4101"/>
                                        </p:tgtEl>
                                        <p:attrNameLst>
                                          <p:attrName>style.visibility</p:attrName>
                                        </p:attrNameLst>
                                      </p:cBhvr>
                                      <p:to>
                                        <p:strVal val="visible"/>
                                      </p:to>
                                    </p:set>
                                    <p:animEffect transition="in" filter="wipe(up)">
                                      <p:cBhvr>
                                        <p:cTn id="48" dur="2000"/>
                                        <p:tgtEl>
                                          <p:spTgt spid="4101"/>
                                        </p:tgtEl>
                                      </p:cBhvr>
                                    </p:animEffect>
                                  </p:childTnLst>
                                </p:cTn>
                              </p:par>
                              <p:par>
                                <p:cTn id="49" presetID="22" presetClass="entr" presetSubtype="8" fill="hold" nodeType="with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wipe(left)">
                                      <p:cBhvr>
                                        <p:cTn id="51"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81" grpId="0" animBg="1"/>
      <p:bldP spid="66582" grpId="0" animBg="1"/>
      <p:bldP spid="15" grpId="0"/>
      <p:bldP spid="16" grpId="0"/>
      <p:bldP spid="19" grpId="0"/>
      <p:bldP spid="20" grpId="0"/>
      <p:bldP spid="2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4">
            <a:extLst>
              <a:ext uri="{FF2B5EF4-FFF2-40B4-BE49-F238E27FC236}">
                <a16:creationId xmlns:a16="http://schemas.microsoft.com/office/drawing/2014/main" id="{240BF024-C46A-77DE-876D-931CB78BF74E}"/>
              </a:ext>
            </a:extLst>
          </p:cNvPr>
          <p:cNvSpPr>
            <a:spLocks noChangeArrowheads="1"/>
          </p:cNvSpPr>
          <p:nvPr/>
        </p:nvSpPr>
        <p:spPr bwMode="auto">
          <a:xfrm>
            <a:off x="714375" y="2490788"/>
            <a:ext cx="4500563" cy="646112"/>
          </a:xfrm>
          <a:prstGeom prst="rect">
            <a:avLst/>
          </a:prstGeom>
          <a:noFill/>
          <a:ln w="9525">
            <a:noFill/>
            <a:miter lim="800000"/>
            <a:headEnd/>
            <a:tailEnd/>
          </a:ln>
          <a:effectLst>
            <a:prstShdw prst="shdw17" dist="17961" dir="2700000">
              <a:schemeClr val="accent1">
                <a:gamma/>
                <a:shade val="60000"/>
                <a:invGamma/>
              </a:schemeClr>
            </a:prstShdw>
          </a:effectLst>
        </p:spPr>
        <p:txBody>
          <a:bodyPr>
            <a:spAutoFit/>
          </a:bodyPr>
          <a:lstStyle/>
          <a:p>
            <a:pPr>
              <a:lnSpc>
                <a:spcPct val="150000"/>
              </a:lnSpc>
              <a:buClr>
                <a:srgbClr val="FF0000"/>
              </a:buClr>
              <a:buSzPct val="86000"/>
              <a:buFont typeface="Wingdings" pitchFamily="2" charset="2"/>
              <a:buChar char="n"/>
              <a:defRPr/>
            </a:pPr>
            <a:r>
              <a:rPr lang="zh-CN" altLang="en-US" sz="2000" dirty="0">
                <a:solidFill>
                  <a:srgbClr val="800080"/>
                </a:solidFill>
                <a:latin typeface="微软雅黑" pitchFamily="34" charset="-122"/>
                <a:ea typeface="微软雅黑" pitchFamily="34" charset="-122"/>
              </a:rPr>
              <a:t> </a:t>
            </a:r>
            <a:r>
              <a:rPr lang="zh-CN" altLang="en-US" sz="2400" b="1" dirty="0">
                <a:latin typeface="微软雅黑" pitchFamily="34" charset="-122"/>
                <a:ea typeface="微软雅黑" pitchFamily="34" charset="-122"/>
              </a:rPr>
              <a:t>解决方法</a:t>
            </a:r>
            <a:r>
              <a:rPr lang="zh-CN" altLang="en-US" sz="2000" dirty="0">
                <a:solidFill>
                  <a:srgbClr val="003399"/>
                </a:solidFill>
                <a:latin typeface="微软雅黑" pitchFamily="34" charset="-122"/>
                <a:ea typeface="微软雅黑" pitchFamily="34" charset="-122"/>
              </a:rPr>
              <a:t>：</a:t>
            </a:r>
            <a:r>
              <a:rPr lang="zh-CN" altLang="en-US" sz="2000" dirty="0">
                <a:latin typeface="微软雅黑" pitchFamily="34" charset="-122"/>
                <a:ea typeface="微软雅黑" pitchFamily="34" charset="-122"/>
              </a:rPr>
              <a:t>采用</a:t>
            </a:r>
            <a:r>
              <a:rPr lang="en-US" altLang="zh-CN" sz="2000" dirty="0">
                <a:solidFill>
                  <a:srgbClr val="0000CC"/>
                </a:solidFill>
                <a:latin typeface="微软雅黑" pitchFamily="34" charset="-122"/>
                <a:ea typeface="微软雅黑" pitchFamily="34" charset="-122"/>
              </a:rPr>
              <a:t>2</a:t>
            </a:r>
            <a:r>
              <a:rPr lang="en-US" altLang="zh-CN" sz="2000" dirty="0">
                <a:solidFill>
                  <a:srgbClr val="FF0000"/>
                </a:solidFill>
                <a:latin typeface="微软雅黑" pitchFamily="34" charset="-122"/>
                <a:ea typeface="微软雅黑" pitchFamily="34" charset="-122"/>
              </a:rPr>
              <a:t>D</a:t>
            </a:r>
            <a:r>
              <a:rPr lang="en-US" altLang="zh-CN" sz="2000" dirty="0">
                <a:solidFill>
                  <a:srgbClr val="0000CC"/>
                </a:solidFill>
                <a:latin typeface="微软雅黑" pitchFamily="34" charset="-122"/>
                <a:ea typeface="微软雅黑" pitchFamily="34" charset="-122"/>
              </a:rPr>
              <a:t>PSK</a:t>
            </a:r>
            <a:r>
              <a:rPr lang="zh-CN" altLang="en-US" sz="2000" dirty="0">
                <a:latin typeface="微软雅黑" pitchFamily="34" charset="-122"/>
                <a:ea typeface="微软雅黑" pitchFamily="34" charset="-122"/>
              </a:rPr>
              <a:t>方式。</a:t>
            </a:r>
          </a:p>
        </p:txBody>
      </p:sp>
      <p:sp>
        <p:nvSpPr>
          <p:cNvPr id="5" name="Rectangle 24">
            <a:extLst>
              <a:ext uri="{FF2B5EF4-FFF2-40B4-BE49-F238E27FC236}">
                <a16:creationId xmlns:a16="http://schemas.microsoft.com/office/drawing/2014/main" id="{F0AA5FA9-78B3-C940-F16D-AF5479C7367F}"/>
              </a:ext>
            </a:extLst>
          </p:cNvPr>
          <p:cNvSpPr>
            <a:spLocks noChangeArrowheads="1"/>
          </p:cNvSpPr>
          <p:nvPr/>
        </p:nvSpPr>
        <p:spPr bwMode="auto">
          <a:xfrm>
            <a:off x="714375" y="1303338"/>
            <a:ext cx="6715125" cy="646112"/>
          </a:xfrm>
          <a:prstGeom prst="rect">
            <a:avLst/>
          </a:prstGeom>
          <a:noFill/>
          <a:ln w="9525">
            <a:noFill/>
            <a:miter lim="800000"/>
            <a:headEnd/>
            <a:tailEnd/>
          </a:ln>
          <a:effectLst>
            <a:prstShdw prst="shdw17" dist="17961" dir="2700000">
              <a:schemeClr val="accent1">
                <a:gamma/>
                <a:shade val="60000"/>
                <a:invGamma/>
              </a:schemeClr>
            </a:prstShdw>
          </a:effectLst>
        </p:spPr>
        <p:txBody>
          <a:bodyPr>
            <a:spAutoFit/>
          </a:bodyPr>
          <a:lstStyle/>
          <a:p>
            <a:pPr>
              <a:lnSpc>
                <a:spcPct val="150000"/>
              </a:lnSpc>
              <a:buClr>
                <a:srgbClr val="FF0000"/>
              </a:buClr>
              <a:buSzPct val="86000"/>
              <a:buFont typeface="Wingdings" pitchFamily="2" charset="2"/>
              <a:buChar char="n"/>
              <a:defRPr/>
            </a:pPr>
            <a:r>
              <a:rPr lang="zh-CN" altLang="en-US" sz="2000" dirty="0">
                <a:solidFill>
                  <a:srgbClr val="800080"/>
                </a:solidFill>
                <a:latin typeface="微软雅黑" pitchFamily="34" charset="-122"/>
                <a:ea typeface="微软雅黑" pitchFamily="34" charset="-122"/>
              </a:rPr>
              <a:t> </a:t>
            </a:r>
            <a:r>
              <a:rPr lang="zh-CN" altLang="en-US" sz="2400" b="1" dirty="0">
                <a:latin typeface="微软雅黑" pitchFamily="34" charset="-122"/>
                <a:ea typeface="微软雅黑" pitchFamily="34" charset="-122"/>
              </a:rPr>
              <a:t>存在问题</a:t>
            </a:r>
            <a:r>
              <a:rPr lang="zh-CN" altLang="en-US" sz="2000" dirty="0">
                <a:solidFill>
                  <a:srgbClr val="003399"/>
                </a:solidFill>
                <a:latin typeface="微软雅黑" pitchFamily="34" charset="-122"/>
                <a:ea typeface="微软雅黑" pitchFamily="34" charset="-122"/>
              </a:rPr>
              <a:t>：</a:t>
            </a:r>
            <a:r>
              <a:rPr lang="zh-CN" altLang="en-US" sz="2000" dirty="0">
                <a:latin typeface="微软雅黑" pitchFamily="34" charset="-122"/>
                <a:ea typeface="微软雅黑" pitchFamily="34" charset="-122"/>
              </a:rPr>
              <a:t>提取的载波存在 </a:t>
            </a:r>
            <a:r>
              <a:rPr lang="en-US" altLang="zh-CN" sz="2000" dirty="0">
                <a:solidFill>
                  <a:srgbClr val="FF0000"/>
                </a:solidFill>
                <a:latin typeface="微软雅黑" pitchFamily="34" charset="-122"/>
                <a:ea typeface="微软雅黑" pitchFamily="34" charset="-122"/>
              </a:rPr>
              <a:t>180</a:t>
            </a:r>
            <a:r>
              <a:rPr lang="en-US" altLang="zh-CN" sz="2000" baseline="30000" dirty="0">
                <a:solidFill>
                  <a:srgbClr val="FF0000"/>
                </a:solidFill>
                <a:latin typeface="微软雅黑" pitchFamily="34" charset="-122"/>
                <a:ea typeface="微软雅黑" pitchFamily="34" charset="-122"/>
              </a:rPr>
              <a:t>o </a:t>
            </a:r>
            <a:r>
              <a:rPr lang="zh-CN" altLang="en-US" sz="2000" dirty="0">
                <a:latin typeface="微软雅黑" pitchFamily="34" charset="-122"/>
                <a:ea typeface="微软雅黑" pitchFamily="34" charset="-122"/>
              </a:rPr>
              <a:t>相位模糊，</a:t>
            </a:r>
            <a:endParaRPr lang="en-US" altLang="zh-CN" sz="2000" dirty="0">
              <a:latin typeface="微软雅黑" pitchFamily="34" charset="-122"/>
              <a:ea typeface="微软雅黑" pitchFamily="34" charset="-122"/>
            </a:endParaRPr>
          </a:p>
        </p:txBody>
      </p:sp>
      <p:sp>
        <p:nvSpPr>
          <p:cNvPr id="6" name="Rectangle 24">
            <a:extLst>
              <a:ext uri="{FF2B5EF4-FFF2-40B4-BE49-F238E27FC236}">
                <a16:creationId xmlns:a16="http://schemas.microsoft.com/office/drawing/2014/main" id="{7685E315-3F84-E081-E6E4-29B8B1CF9A23}"/>
              </a:ext>
            </a:extLst>
          </p:cNvPr>
          <p:cNvSpPr>
            <a:spLocks noChangeArrowheads="1"/>
          </p:cNvSpPr>
          <p:nvPr/>
        </p:nvSpPr>
        <p:spPr bwMode="auto">
          <a:xfrm>
            <a:off x="1857375" y="1874838"/>
            <a:ext cx="5715000" cy="554037"/>
          </a:xfrm>
          <a:prstGeom prst="rect">
            <a:avLst/>
          </a:prstGeom>
          <a:noFill/>
          <a:ln w="9525">
            <a:noFill/>
            <a:miter lim="800000"/>
            <a:headEnd/>
            <a:tailEnd/>
          </a:ln>
          <a:effectLst>
            <a:prstShdw prst="shdw17" dist="17961" dir="2700000">
              <a:schemeClr val="accent1">
                <a:gamma/>
                <a:shade val="60000"/>
                <a:invGamma/>
              </a:schemeClr>
            </a:prstShdw>
          </a:effectLst>
        </p:spPr>
        <p:txBody>
          <a:bodyPr>
            <a:spAutoFit/>
          </a:bodyPr>
          <a:lstStyle/>
          <a:p>
            <a:pPr>
              <a:lnSpc>
                <a:spcPct val="150000"/>
              </a:lnSpc>
              <a:buClr>
                <a:srgbClr val="0000CC"/>
              </a:buClr>
              <a:buSzPct val="60000"/>
              <a:defRPr/>
            </a:pPr>
            <a:r>
              <a:rPr lang="en-US" altLang="zh-CN" sz="2000" dirty="0">
                <a:latin typeface="微软雅黑" pitchFamily="34" charset="-122"/>
                <a:ea typeface="微软雅黑" pitchFamily="34" charset="-122"/>
              </a:rPr>
              <a:t>        </a:t>
            </a:r>
            <a:r>
              <a:rPr lang="zh-CN" altLang="en-US" sz="2000" dirty="0">
                <a:latin typeface="微软雅黑" pitchFamily="34" charset="-122"/>
                <a:ea typeface="微软雅黑" pitchFamily="34" charset="-122"/>
              </a:rPr>
              <a:t>可能导致</a:t>
            </a:r>
            <a:r>
              <a:rPr lang="en-US" altLang="zh-CN" sz="2000" dirty="0">
                <a:solidFill>
                  <a:srgbClr val="0000CC"/>
                </a:solidFill>
                <a:latin typeface="微软雅黑" pitchFamily="34" charset="-122"/>
                <a:ea typeface="微软雅黑" pitchFamily="34" charset="-122"/>
              </a:rPr>
              <a:t>2PSK</a:t>
            </a:r>
            <a:r>
              <a:rPr lang="zh-CN" altLang="en-US" sz="2000" dirty="0">
                <a:latin typeface="微软雅黑" pitchFamily="34" charset="-122"/>
                <a:ea typeface="微软雅黑" pitchFamily="34" charset="-122"/>
              </a:rPr>
              <a:t>相干解调后出现反相工作。</a:t>
            </a:r>
          </a:p>
        </p:txBody>
      </p:sp>
      <p:sp>
        <p:nvSpPr>
          <p:cNvPr id="7" name="矩形 6">
            <a:extLst>
              <a:ext uri="{FF2B5EF4-FFF2-40B4-BE49-F238E27FC236}">
                <a16:creationId xmlns:a16="http://schemas.microsoft.com/office/drawing/2014/main" id="{D4EA8D21-CEDB-492A-1445-E1AAF37C9744}"/>
              </a:ext>
            </a:extLst>
          </p:cNvPr>
          <p:cNvSpPr/>
          <p:nvPr/>
        </p:nvSpPr>
        <p:spPr>
          <a:xfrm>
            <a:off x="7299325" y="528638"/>
            <a:ext cx="1211263" cy="400050"/>
          </a:xfrm>
          <a:prstGeom prst="rect">
            <a:avLst/>
          </a:prstGeom>
          <a:effectLst>
            <a:outerShdw blurRad="50800" dist="38100" dir="2700000" algn="tl" rotWithShape="0">
              <a:prstClr val="black">
                <a:alpha val="40000"/>
              </a:prstClr>
            </a:outerShdw>
          </a:effectLst>
        </p:spPr>
        <p:txBody>
          <a:bodyPr wrap="none">
            <a:spAutoFit/>
          </a:bodyPr>
          <a:lstStyle/>
          <a:p>
            <a:pPr>
              <a:defRPr/>
            </a:pPr>
            <a:r>
              <a:rPr lang="zh-CN" altLang="zh-CN" sz="2000" dirty="0">
                <a:latin typeface="微软雅黑" pitchFamily="34" charset="-122"/>
                <a:ea typeface="微软雅黑" pitchFamily="34" charset="-122"/>
              </a:rPr>
              <a:t>载波同步</a:t>
            </a:r>
            <a:endParaRPr lang="zh-CN" altLang="en-US" sz="2000" dirty="0">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1000"/>
                                        <p:tgtEl>
                                          <p:spTgt spid="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up)">
                                      <p:cBhvr>
                                        <p:cTn id="12" dur="1000"/>
                                        <p:tgtEl>
                                          <p:spTgt spid="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wipe(up)">
                                      <p:cBhvr>
                                        <p:cTn id="17" dur="1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6">
            <a:extLst>
              <a:ext uri="{FF2B5EF4-FFF2-40B4-BE49-F238E27FC236}">
                <a16:creationId xmlns:a16="http://schemas.microsoft.com/office/drawing/2014/main" id="{08B7CAFF-A015-B12E-38B4-0F0299276B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8511" t="21466" r="4185"/>
          <a:stretch>
            <a:fillRect/>
          </a:stretch>
        </p:blipFill>
        <p:spPr bwMode="auto">
          <a:xfrm>
            <a:off x="2674938" y="1243013"/>
            <a:ext cx="5808662" cy="298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6580" name="Object 20">
            <a:extLst>
              <a:ext uri="{FF2B5EF4-FFF2-40B4-BE49-F238E27FC236}">
                <a16:creationId xmlns:a16="http://schemas.microsoft.com/office/drawing/2014/main" id="{980CCC8D-8075-2228-9AAA-FDE6E807938A}"/>
              </a:ext>
            </a:extLst>
          </p:cNvPr>
          <p:cNvGraphicFramePr>
            <a:graphicFrameLocks noChangeAspect="1"/>
          </p:cNvGraphicFramePr>
          <p:nvPr/>
        </p:nvGraphicFramePr>
        <p:xfrm>
          <a:off x="615950" y="3162300"/>
          <a:ext cx="2928938" cy="514350"/>
        </p:xfrm>
        <a:graphic>
          <a:graphicData uri="http://schemas.openxmlformats.org/presentationml/2006/ole">
            <mc:AlternateContent xmlns:mc="http://schemas.openxmlformats.org/markup-compatibility/2006">
              <mc:Choice xmlns:v="urn:schemas-microsoft-com:vml" Requires="v">
                <p:oleObj name="Equation" r:id="rId3" imgW="1460160" imgH="253800" progId="Equation.DSMT4">
                  <p:embed/>
                </p:oleObj>
              </mc:Choice>
              <mc:Fallback>
                <p:oleObj name="Equation" r:id="rId3" imgW="1460160" imgH="253800" progId="Equation.DSMT4">
                  <p:embed/>
                  <p:pic>
                    <p:nvPicPr>
                      <p:cNvPr id="0"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5950" y="3162300"/>
                        <a:ext cx="2928938" cy="514350"/>
                      </a:xfrm>
                      <a:prstGeom prst="rect">
                        <a:avLst/>
                      </a:prstGeom>
                      <a:solidFill>
                        <a:srgbClr val="EAEAEA"/>
                      </a:solidFill>
                      <a:effectLst>
                        <a:prstShdw prst="shdw17" dist="17961" dir="2700000">
                          <a:srgbClr val="99997D"/>
                        </a:prstShdw>
                      </a:effectLst>
                    </p:spPr>
                  </p:pic>
                </p:oleObj>
              </mc:Fallback>
            </mc:AlternateContent>
          </a:graphicData>
        </a:graphic>
      </p:graphicFrame>
      <p:sp>
        <p:nvSpPr>
          <p:cNvPr id="7174" name="Rectangle 3">
            <a:extLst>
              <a:ext uri="{FF2B5EF4-FFF2-40B4-BE49-F238E27FC236}">
                <a16:creationId xmlns:a16="http://schemas.microsoft.com/office/drawing/2014/main" id="{EEFFFD72-37C8-1A4B-CA72-CF821DB34CFB}"/>
              </a:ext>
            </a:extLst>
          </p:cNvPr>
          <p:cNvSpPr>
            <a:spLocks noGrp="1" noChangeArrowheads="1"/>
          </p:cNvSpPr>
          <p:nvPr>
            <p:ph type="body" sz="half" idx="1"/>
          </p:nvPr>
        </p:nvSpPr>
        <p:spPr bwMode="auto">
          <a:xfrm>
            <a:off x="2843213" y="547688"/>
            <a:ext cx="2159000" cy="3603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buFont typeface="Wingdings" panose="05000000000000000000" pitchFamily="2" charset="2"/>
              <a:buNone/>
            </a:pPr>
            <a:r>
              <a:rPr lang="zh-CN" altLang="en-US" sz="2400">
                <a:latin typeface="微软雅黑" panose="020B0503020204020204" pitchFamily="34" charset="-122"/>
                <a:ea typeface="微软雅黑" panose="020B0503020204020204" pitchFamily="34" charset="-122"/>
              </a:rPr>
              <a:t>（</a:t>
            </a:r>
            <a:r>
              <a:rPr lang="en-US" altLang="zh-CN" sz="2400">
                <a:solidFill>
                  <a:srgbClr val="0000CC"/>
                </a:solidFill>
                <a:latin typeface="微软雅黑" panose="020B0503020204020204" pitchFamily="34" charset="-122"/>
                <a:ea typeface="微软雅黑" panose="020B0503020204020204" pitchFamily="34" charset="-122"/>
              </a:rPr>
              <a:t>Costas</a:t>
            </a:r>
            <a:r>
              <a:rPr lang="zh-CN" altLang="en-US" sz="2400">
                <a:solidFill>
                  <a:srgbClr val="0000CC"/>
                </a:solidFill>
                <a:latin typeface="微软雅黑" panose="020B0503020204020204" pitchFamily="34" charset="-122"/>
                <a:ea typeface="微软雅黑" panose="020B0503020204020204" pitchFamily="34" charset="-122"/>
              </a:rPr>
              <a:t>环</a:t>
            </a:r>
            <a:r>
              <a:rPr lang="zh-CN" altLang="en-US" sz="2400">
                <a:latin typeface="微软雅黑" panose="020B0503020204020204" pitchFamily="34" charset="-122"/>
                <a:ea typeface="微软雅黑" panose="020B0503020204020204" pitchFamily="34" charset="-122"/>
              </a:rPr>
              <a:t>）</a:t>
            </a:r>
          </a:p>
        </p:txBody>
      </p:sp>
      <p:sp>
        <p:nvSpPr>
          <p:cNvPr id="48136" name="Rectangle 8">
            <a:extLst>
              <a:ext uri="{FF2B5EF4-FFF2-40B4-BE49-F238E27FC236}">
                <a16:creationId xmlns:a16="http://schemas.microsoft.com/office/drawing/2014/main" id="{4DB7493A-B57B-538E-4D19-7A5C182A5813}"/>
              </a:ext>
            </a:extLst>
          </p:cNvPr>
          <p:cNvSpPr>
            <a:spLocks noChangeArrowheads="1"/>
          </p:cNvSpPr>
          <p:nvPr/>
        </p:nvSpPr>
        <p:spPr bwMode="auto">
          <a:xfrm>
            <a:off x="0" y="0"/>
            <a:ext cx="9144000" cy="0"/>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ea typeface="宋体" charset="-122"/>
            </a:endParaRPr>
          </a:p>
        </p:txBody>
      </p:sp>
      <p:sp>
        <p:nvSpPr>
          <p:cNvPr id="48138" name="Rectangle 10">
            <a:extLst>
              <a:ext uri="{FF2B5EF4-FFF2-40B4-BE49-F238E27FC236}">
                <a16:creationId xmlns:a16="http://schemas.microsoft.com/office/drawing/2014/main" id="{1F258000-E55F-C779-B267-92CFD028C465}"/>
              </a:ext>
            </a:extLst>
          </p:cNvPr>
          <p:cNvSpPr>
            <a:spLocks noChangeArrowheads="1"/>
          </p:cNvSpPr>
          <p:nvPr/>
        </p:nvSpPr>
        <p:spPr bwMode="auto">
          <a:xfrm>
            <a:off x="0" y="0"/>
            <a:ext cx="9144000" cy="0"/>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ea typeface="宋体" charset="-122"/>
            </a:endParaRPr>
          </a:p>
        </p:txBody>
      </p:sp>
      <p:sp>
        <p:nvSpPr>
          <p:cNvPr id="48143" name="Rectangle 15">
            <a:extLst>
              <a:ext uri="{FF2B5EF4-FFF2-40B4-BE49-F238E27FC236}">
                <a16:creationId xmlns:a16="http://schemas.microsoft.com/office/drawing/2014/main" id="{9E86F24A-09EF-3CC9-EBE5-5AAE7CB3ECB2}"/>
              </a:ext>
            </a:extLst>
          </p:cNvPr>
          <p:cNvSpPr>
            <a:spLocks noChangeArrowheads="1"/>
          </p:cNvSpPr>
          <p:nvPr/>
        </p:nvSpPr>
        <p:spPr bwMode="auto">
          <a:xfrm>
            <a:off x="514350" y="4140200"/>
            <a:ext cx="3376613" cy="400050"/>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spAutoFit/>
          </a:bodyPr>
          <a:lstStyle/>
          <a:p>
            <a:pPr>
              <a:defRPr/>
            </a:pPr>
            <a:r>
              <a:rPr lang="zh-CN" altLang="en-US" sz="2000" dirty="0">
                <a:latin typeface="微软雅黑" panose="020B0503020204020204" pitchFamily="34" charset="-122"/>
                <a:ea typeface="微软雅黑" panose="020B0503020204020204" pitchFamily="34" charset="-122"/>
              </a:rPr>
              <a:t>当</a:t>
            </a:r>
            <a:r>
              <a:rPr lang="zh-CN" altLang="en-US" sz="20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环路锁定</a:t>
            </a:r>
            <a:r>
              <a:rPr lang="zh-CN" altLang="en-US" sz="2000" dirty="0">
                <a:latin typeface="微软雅黑" panose="020B0503020204020204" pitchFamily="34" charset="-122"/>
                <a:ea typeface="微软雅黑" panose="020B0503020204020204" pitchFamily="34" charset="-122"/>
              </a:rPr>
              <a:t>时，</a:t>
            </a:r>
            <a:r>
              <a:rPr lang="en-US" altLang="zh-CN" sz="2000" dirty="0">
                <a:effectLst>
                  <a:outerShdw blurRad="38100" dist="38100" dir="2700000" algn="tl">
                    <a:srgbClr val="000000">
                      <a:alpha val="43137"/>
                    </a:srgbClr>
                  </a:outerShdw>
                </a:effectLst>
                <a:latin typeface="Arial" pitchFamily="34" charset="0"/>
                <a:ea typeface="微软雅黑" panose="020B0503020204020204" pitchFamily="34" charset="-122"/>
                <a:cs typeface="Arial" pitchFamily="34" charset="0"/>
              </a:rPr>
              <a:t>VCO </a:t>
            </a:r>
            <a:r>
              <a:rPr lang="zh-CN" altLang="en-US" sz="2000" dirty="0">
                <a:latin typeface="微软雅黑" panose="020B0503020204020204" pitchFamily="34" charset="-122"/>
                <a:ea typeface="微软雅黑" panose="020B0503020204020204" pitchFamily="34" charset="-122"/>
              </a:rPr>
              <a:t>输出：</a:t>
            </a:r>
          </a:p>
        </p:txBody>
      </p:sp>
      <p:sp>
        <p:nvSpPr>
          <p:cNvPr id="12" name="矩形 11">
            <a:extLst>
              <a:ext uri="{FF2B5EF4-FFF2-40B4-BE49-F238E27FC236}">
                <a16:creationId xmlns:a16="http://schemas.microsoft.com/office/drawing/2014/main" id="{6DFA83B2-EFDD-9D35-1BA8-8F857533598D}"/>
              </a:ext>
            </a:extLst>
          </p:cNvPr>
          <p:cNvSpPr>
            <a:spLocks noChangeArrowheads="1"/>
          </p:cNvSpPr>
          <p:nvPr/>
        </p:nvSpPr>
        <p:spPr bwMode="auto">
          <a:xfrm>
            <a:off x="395288" y="446088"/>
            <a:ext cx="2520950" cy="523875"/>
          </a:xfrm>
          <a:prstGeom prst="rect">
            <a:avLst/>
          </a:prstGeom>
          <a:noFill/>
          <a:ln w="9525">
            <a:noFill/>
            <a:miter lim="800000"/>
            <a:headEnd/>
            <a:tailEnd/>
          </a:ln>
          <a:effectLst>
            <a:outerShdw blurRad="50800" dist="38100" dir="2700000" algn="tl" rotWithShape="0">
              <a:prstClr val="black">
                <a:alpha val="40000"/>
              </a:prstClr>
            </a:outerShdw>
          </a:effectLst>
        </p:spPr>
        <p:txBody>
          <a:bodyPr>
            <a:spAutoFit/>
          </a:bodyPr>
          <a:lstStyle/>
          <a:p>
            <a:pPr>
              <a:defRPr/>
            </a:pPr>
            <a:r>
              <a:rPr lang="en-US" altLang="zh-CN" sz="2800" b="1" dirty="0">
                <a:solidFill>
                  <a:srgbClr val="990099"/>
                </a:solidFill>
                <a:latin typeface="微软雅黑" pitchFamily="34" charset="-122"/>
                <a:ea typeface="微软雅黑" pitchFamily="34" charset="-122"/>
              </a:rPr>
              <a:t>2.  </a:t>
            </a:r>
            <a:r>
              <a:rPr lang="zh-CN" altLang="en-US" sz="2800" b="1" dirty="0">
                <a:solidFill>
                  <a:srgbClr val="0000CC"/>
                </a:solidFill>
                <a:latin typeface="微软雅黑" pitchFamily="34" charset="-122"/>
                <a:ea typeface="微软雅黑" pitchFamily="34" charset="-122"/>
              </a:rPr>
              <a:t>同相正交环</a:t>
            </a:r>
          </a:p>
        </p:txBody>
      </p:sp>
      <p:sp>
        <p:nvSpPr>
          <p:cNvPr id="15" name="Rectangle 17">
            <a:extLst>
              <a:ext uri="{FF2B5EF4-FFF2-40B4-BE49-F238E27FC236}">
                <a16:creationId xmlns:a16="http://schemas.microsoft.com/office/drawing/2014/main" id="{1B7D2AE2-7009-734C-D93B-4FB2338C3F39}"/>
              </a:ext>
            </a:extLst>
          </p:cNvPr>
          <p:cNvSpPr>
            <a:spLocks noChangeArrowheads="1"/>
          </p:cNvSpPr>
          <p:nvPr/>
        </p:nvSpPr>
        <p:spPr bwMode="auto">
          <a:xfrm>
            <a:off x="5643563" y="4718050"/>
            <a:ext cx="2535237" cy="400050"/>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spAutoFit/>
          </a:bodyPr>
          <a:lstStyle/>
          <a:p>
            <a:pPr>
              <a:defRPr/>
            </a:pPr>
            <a:r>
              <a:rPr lang="en-US" altLang="zh-CN" dirty="0">
                <a:solidFill>
                  <a:srgbClr val="0000CC"/>
                </a:solidFill>
                <a:effectLst>
                  <a:outerShdw blurRad="38100" dist="38100" dir="2700000" algn="tl">
                    <a:srgbClr val="000000">
                      <a:alpha val="43137"/>
                    </a:srgbClr>
                  </a:outerShdw>
                </a:effectLst>
                <a:latin typeface="Arial" pitchFamily="34" charset="0"/>
                <a:ea typeface="微软雅黑" panose="020B0503020204020204" pitchFamily="34" charset="-122"/>
                <a:cs typeface="Arial" pitchFamily="34" charset="0"/>
              </a:rPr>
              <a:t>—— </a:t>
            </a:r>
            <a:r>
              <a:rPr lang="zh-CN" altLang="en-US" sz="2000" dirty="0">
                <a:latin typeface="微软雅黑" panose="020B0503020204020204" pitchFamily="34" charset="-122"/>
                <a:ea typeface="微软雅黑" panose="020B0503020204020204" pitchFamily="34" charset="-122"/>
              </a:rPr>
              <a:t>所需的同步载波</a:t>
            </a:r>
          </a:p>
        </p:txBody>
      </p:sp>
      <p:graphicFrame>
        <p:nvGraphicFramePr>
          <p:cNvPr id="8196" name="Object 7">
            <a:extLst>
              <a:ext uri="{FF2B5EF4-FFF2-40B4-BE49-F238E27FC236}">
                <a16:creationId xmlns:a16="http://schemas.microsoft.com/office/drawing/2014/main" id="{05AA99D8-C654-BF61-8C68-DDCDC05D0812}"/>
              </a:ext>
            </a:extLst>
          </p:cNvPr>
          <p:cNvGraphicFramePr>
            <a:graphicFrameLocks noChangeAspect="1"/>
          </p:cNvGraphicFramePr>
          <p:nvPr/>
        </p:nvGraphicFramePr>
        <p:xfrm>
          <a:off x="3000375" y="4673600"/>
          <a:ext cx="2295525" cy="498475"/>
        </p:xfrm>
        <a:graphic>
          <a:graphicData uri="http://schemas.openxmlformats.org/presentationml/2006/ole">
            <mc:AlternateContent xmlns:mc="http://schemas.openxmlformats.org/markup-compatibility/2006">
              <mc:Choice xmlns:v="urn:schemas-microsoft-com:vml" Requires="v">
                <p:oleObj name="Equation" r:id="rId5" imgW="1054080" imgH="228600" progId="Equation.DSMT4">
                  <p:embed/>
                </p:oleObj>
              </mc:Choice>
              <mc:Fallback>
                <p:oleObj name="Equation" r:id="rId5" imgW="1054080" imgH="2286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00375" y="4673600"/>
                        <a:ext cx="2295525" cy="498475"/>
                      </a:xfrm>
                      <a:prstGeom prst="rect">
                        <a:avLst/>
                      </a:prstGeom>
                      <a:noFill/>
                      <a:ln w="38100" cmpd="dbl">
                        <a:solidFill>
                          <a:srgbClr val="66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rgbClr val="6666FF">
                                  <a:gamma/>
                                  <a:shade val="60000"/>
                                  <a:invGamma/>
                                </a:srgbClr>
                              </a:outerShdw>
                            </a:effectLst>
                          </a14:hiddenEffects>
                        </a:ext>
                      </a:extLst>
                    </p:spPr>
                  </p:pic>
                </p:oleObj>
              </mc:Fallback>
            </mc:AlternateContent>
          </a:graphicData>
        </a:graphic>
      </p:graphicFrame>
      <p:sp>
        <p:nvSpPr>
          <p:cNvPr id="8205" name="矩形 15">
            <a:extLst>
              <a:ext uri="{FF2B5EF4-FFF2-40B4-BE49-F238E27FC236}">
                <a16:creationId xmlns:a16="http://schemas.microsoft.com/office/drawing/2014/main" id="{BF5CDEB6-ED8C-E75B-31E4-55F1724792B1}"/>
              </a:ext>
            </a:extLst>
          </p:cNvPr>
          <p:cNvSpPr>
            <a:spLocks noChangeArrowheads="1"/>
          </p:cNvSpPr>
          <p:nvPr/>
        </p:nvSpPr>
        <p:spPr bwMode="auto">
          <a:xfrm>
            <a:off x="642938" y="1357313"/>
            <a:ext cx="17859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buClr>
                <a:srgbClr val="FF0000"/>
              </a:buClr>
              <a:buSzPct val="89000"/>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 </a:t>
            </a:r>
            <a:r>
              <a:rPr lang="zh-CN" altLang="en-US" sz="2400" b="1">
                <a:latin typeface="微软雅黑" panose="020B0503020204020204" pitchFamily="34" charset="-122"/>
                <a:ea typeface="微软雅黑" panose="020B0503020204020204" pitchFamily="34" charset="-122"/>
              </a:rPr>
              <a:t>原理框图</a:t>
            </a:r>
          </a:p>
        </p:txBody>
      </p:sp>
      <p:sp>
        <p:nvSpPr>
          <p:cNvPr id="14" name="矩形 13">
            <a:extLst>
              <a:ext uri="{FF2B5EF4-FFF2-40B4-BE49-F238E27FC236}">
                <a16:creationId xmlns:a16="http://schemas.microsoft.com/office/drawing/2014/main" id="{FF7CFAF9-5119-F0CA-3590-849B37032571}"/>
              </a:ext>
            </a:extLst>
          </p:cNvPr>
          <p:cNvSpPr/>
          <p:nvPr/>
        </p:nvSpPr>
        <p:spPr>
          <a:xfrm>
            <a:off x="7299325" y="528638"/>
            <a:ext cx="1211263" cy="400050"/>
          </a:xfrm>
          <a:prstGeom prst="rect">
            <a:avLst/>
          </a:prstGeom>
          <a:effectLst>
            <a:outerShdw blurRad="50800" dist="38100" dir="2700000" algn="tl" rotWithShape="0">
              <a:prstClr val="black">
                <a:alpha val="40000"/>
              </a:prstClr>
            </a:outerShdw>
          </a:effectLst>
        </p:spPr>
        <p:txBody>
          <a:bodyPr wrap="none">
            <a:spAutoFit/>
          </a:bodyPr>
          <a:lstStyle/>
          <a:p>
            <a:pPr>
              <a:defRPr/>
            </a:pPr>
            <a:r>
              <a:rPr lang="zh-CN" altLang="zh-CN" sz="2000" dirty="0">
                <a:latin typeface="微软雅黑" pitchFamily="34" charset="-122"/>
                <a:ea typeface="微软雅黑" pitchFamily="34" charset="-122"/>
              </a:rPr>
              <a:t>载波同步</a:t>
            </a:r>
            <a:endParaRPr lang="zh-CN" altLang="en-US" sz="2000" dirty="0">
              <a:latin typeface="微软雅黑" pitchFamily="34" charset="-122"/>
              <a:ea typeface="微软雅黑" pitchFamily="34" charset="-122"/>
            </a:endParaRPr>
          </a:p>
        </p:txBody>
      </p:sp>
      <p:pic>
        <p:nvPicPr>
          <p:cNvPr id="5136" name="Picture 16">
            <a:extLst>
              <a:ext uri="{FF2B5EF4-FFF2-40B4-BE49-F238E27FC236}">
                <a16:creationId xmlns:a16="http://schemas.microsoft.com/office/drawing/2014/main" id="{A63E9E75-623F-3F8A-9877-6D68EFBE4A0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l="70428"/>
          <a:stretch>
            <a:fillRect/>
          </a:stretch>
        </p:blipFill>
        <p:spPr bwMode="auto">
          <a:xfrm>
            <a:off x="6429375" y="5457825"/>
            <a:ext cx="1785938"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6">
            <a:extLst>
              <a:ext uri="{FF2B5EF4-FFF2-40B4-BE49-F238E27FC236}">
                <a16:creationId xmlns:a16="http://schemas.microsoft.com/office/drawing/2014/main" id="{F836DB25-45D6-278A-B310-6E24FCC4F79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l="-2911" r="29572"/>
          <a:stretch>
            <a:fillRect/>
          </a:stretch>
        </p:blipFill>
        <p:spPr bwMode="auto">
          <a:xfrm>
            <a:off x="1985963" y="5473700"/>
            <a:ext cx="4443412" cy="90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1000"/>
                                        <p:tgtEl>
                                          <p:spTgt spid="12"/>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7174">
                                            <p:txEl>
                                              <p:pRg st="0" end="0"/>
                                            </p:txEl>
                                          </p:spTgt>
                                        </p:tgtEl>
                                        <p:attrNameLst>
                                          <p:attrName>style.visibility</p:attrName>
                                        </p:attrNameLst>
                                      </p:cBhvr>
                                      <p:to>
                                        <p:strVal val="visible"/>
                                      </p:to>
                                    </p:set>
                                    <p:animEffect transition="in" filter="wipe(left)">
                                      <p:cBhvr>
                                        <p:cTn id="11" dur="2000"/>
                                        <p:tgtEl>
                                          <p:spTgt spid="7174">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8205"/>
                                        </p:tgtEl>
                                        <p:attrNameLst>
                                          <p:attrName>style.visibility</p:attrName>
                                        </p:attrNameLst>
                                      </p:cBhvr>
                                      <p:to>
                                        <p:strVal val="visible"/>
                                      </p:to>
                                    </p:set>
                                    <p:animEffect transition="in" filter="wipe(left)">
                                      <p:cBhvr>
                                        <p:cTn id="16" dur="1000"/>
                                        <p:tgtEl>
                                          <p:spTgt spid="820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nodeType="clickEffect">
                                  <p:stCondLst>
                                    <p:cond delay="0"/>
                                  </p:stCondLst>
                                  <p:childTnLst>
                                    <p:set>
                                      <p:cBhvr>
                                        <p:cTn id="20" dur="1" fill="hold">
                                          <p:stCondLst>
                                            <p:cond delay="0"/>
                                          </p:stCondLst>
                                        </p:cTn>
                                        <p:tgtEl>
                                          <p:spTgt spid="66580"/>
                                        </p:tgtEl>
                                        <p:attrNameLst>
                                          <p:attrName>style.visibility</p:attrName>
                                        </p:attrNameLst>
                                      </p:cBhvr>
                                      <p:to>
                                        <p:strVal val="visible"/>
                                      </p:to>
                                    </p:set>
                                    <p:anim calcmode="lin" valueType="num">
                                      <p:cBhvr additive="base">
                                        <p:cTn id="21" dur="1000" fill="hold"/>
                                        <p:tgtEl>
                                          <p:spTgt spid="66580"/>
                                        </p:tgtEl>
                                        <p:attrNameLst>
                                          <p:attrName>ppt_x</p:attrName>
                                        </p:attrNameLst>
                                      </p:cBhvr>
                                      <p:tavLst>
                                        <p:tav tm="0">
                                          <p:val>
                                            <p:strVal val="0-#ppt_w/2"/>
                                          </p:val>
                                        </p:tav>
                                        <p:tav tm="100000">
                                          <p:val>
                                            <p:strVal val="#ppt_x"/>
                                          </p:val>
                                        </p:tav>
                                      </p:tavLst>
                                    </p:anim>
                                    <p:anim calcmode="lin" valueType="num">
                                      <p:cBhvr additive="base">
                                        <p:cTn id="22" dur="1000" fill="hold"/>
                                        <p:tgtEl>
                                          <p:spTgt spid="66580"/>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8143"/>
                                        </p:tgtEl>
                                        <p:attrNameLst>
                                          <p:attrName>style.visibility</p:attrName>
                                        </p:attrNameLst>
                                      </p:cBhvr>
                                      <p:to>
                                        <p:strVal val="visible"/>
                                      </p:to>
                                    </p:set>
                                    <p:animEffect transition="in" filter="wipe(left)">
                                      <p:cBhvr>
                                        <p:cTn id="27" dur="2000"/>
                                        <p:tgtEl>
                                          <p:spTgt spid="48143"/>
                                        </p:tgtEl>
                                      </p:cBhvr>
                                    </p:animEffect>
                                  </p:childTnLst>
                                </p:cTn>
                              </p:par>
                            </p:childTnLst>
                          </p:cTn>
                        </p:par>
                        <p:par>
                          <p:cTn id="28" fill="hold" nodeType="afterGroup">
                            <p:stCondLst>
                              <p:cond delay="2000"/>
                            </p:stCondLst>
                            <p:childTnLst>
                              <p:par>
                                <p:cTn id="29" presetID="22" presetClass="entr" presetSubtype="1" fill="hold" nodeType="afterEffect">
                                  <p:stCondLst>
                                    <p:cond delay="0"/>
                                  </p:stCondLst>
                                  <p:childTnLst>
                                    <p:set>
                                      <p:cBhvr>
                                        <p:cTn id="30" dur="1" fill="hold">
                                          <p:stCondLst>
                                            <p:cond delay="0"/>
                                          </p:stCondLst>
                                        </p:cTn>
                                        <p:tgtEl>
                                          <p:spTgt spid="8196"/>
                                        </p:tgtEl>
                                        <p:attrNameLst>
                                          <p:attrName>style.visibility</p:attrName>
                                        </p:attrNameLst>
                                      </p:cBhvr>
                                      <p:to>
                                        <p:strVal val="visible"/>
                                      </p:to>
                                    </p:set>
                                    <p:animEffect transition="in" filter="wipe(up)">
                                      <p:cBhvr>
                                        <p:cTn id="31" dur="1000"/>
                                        <p:tgtEl>
                                          <p:spTgt spid="8196"/>
                                        </p:tgtEl>
                                      </p:cBhvr>
                                    </p:animEffect>
                                  </p:childTnLst>
                                </p:cTn>
                              </p:par>
                            </p:childTnLst>
                          </p:cTn>
                        </p:par>
                        <p:par>
                          <p:cTn id="32" fill="hold" nodeType="afterGroup">
                            <p:stCondLst>
                              <p:cond delay="3000"/>
                            </p:stCondLst>
                            <p:childTnLst>
                              <p:par>
                                <p:cTn id="33" presetID="22" presetClass="entr" presetSubtype="8" fill="hold"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ipe(left)">
                                      <p:cBhvr>
                                        <p:cTn id="35" dur="2000"/>
                                        <p:tgtEl>
                                          <p:spTgt spid="1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up)">
                                      <p:cBhvr>
                                        <p:cTn id="40" dur="1000"/>
                                        <p:tgtEl>
                                          <p:spTgt spid="17"/>
                                        </p:tgtEl>
                                      </p:cBhvr>
                                    </p:animEffect>
                                  </p:childTnLst>
                                </p:cTn>
                              </p:par>
                            </p:childTnLst>
                          </p:cTn>
                        </p:par>
                        <p:par>
                          <p:cTn id="41" fill="hold" nodeType="afterGroup">
                            <p:stCondLst>
                              <p:cond delay="1000"/>
                            </p:stCondLst>
                            <p:childTnLst>
                              <p:par>
                                <p:cTn id="42" presetID="22" presetClass="entr" presetSubtype="8" fill="hold" nodeType="afterEffect">
                                  <p:stCondLst>
                                    <p:cond delay="0"/>
                                  </p:stCondLst>
                                  <p:childTnLst>
                                    <p:set>
                                      <p:cBhvr>
                                        <p:cTn id="43" dur="1" fill="hold">
                                          <p:stCondLst>
                                            <p:cond delay="0"/>
                                          </p:stCondLst>
                                        </p:cTn>
                                        <p:tgtEl>
                                          <p:spTgt spid="5136"/>
                                        </p:tgtEl>
                                        <p:attrNameLst>
                                          <p:attrName>style.visibility</p:attrName>
                                        </p:attrNameLst>
                                      </p:cBhvr>
                                      <p:to>
                                        <p:strVal val="visible"/>
                                      </p:to>
                                    </p:set>
                                    <p:animEffect transition="in" filter="wipe(left)">
                                      <p:cBhvr>
                                        <p:cTn id="44" dur="2000"/>
                                        <p:tgtEl>
                                          <p:spTgt spid="5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4" grpId="0" build="p"/>
      <p:bldP spid="48143" grpId="0"/>
      <p:bldP spid="12" grpId="0"/>
      <p:bldP spid="15" grpId="0"/>
      <p:bldP spid="820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5" name="Picture 6">
            <a:extLst>
              <a:ext uri="{FF2B5EF4-FFF2-40B4-BE49-F238E27FC236}">
                <a16:creationId xmlns:a16="http://schemas.microsoft.com/office/drawing/2014/main" id="{A5E645EC-A26D-5AD8-1A8E-0406328F81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8511" t="21466" r="4185"/>
          <a:stretch>
            <a:fillRect/>
          </a:stretch>
        </p:blipFill>
        <p:spPr bwMode="auto">
          <a:xfrm>
            <a:off x="3460750" y="628650"/>
            <a:ext cx="5022850" cy="258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6580" name="Object 20">
            <a:extLst>
              <a:ext uri="{FF2B5EF4-FFF2-40B4-BE49-F238E27FC236}">
                <a16:creationId xmlns:a16="http://schemas.microsoft.com/office/drawing/2014/main" id="{F7B31C69-6869-5773-3A69-A64E399A9F61}"/>
              </a:ext>
            </a:extLst>
          </p:cNvPr>
          <p:cNvGraphicFramePr>
            <a:graphicFrameLocks noChangeAspect="1"/>
          </p:cNvGraphicFramePr>
          <p:nvPr/>
        </p:nvGraphicFramePr>
        <p:xfrm>
          <a:off x="1198563" y="2362200"/>
          <a:ext cx="2928937" cy="514350"/>
        </p:xfrm>
        <a:graphic>
          <a:graphicData uri="http://schemas.openxmlformats.org/presentationml/2006/ole">
            <mc:AlternateContent xmlns:mc="http://schemas.openxmlformats.org/markup-compatibility/2006">
              <mc:Choice xmlns:v="urn:schemas-microsoft-com:vml" Requires="v">
                <p:oleObj name="Equation" r:id="rId3" imgW="1460160" imgH="253800" progId="Equation.DSMT4">
                  <p:embed/>
                </p:oleObj>
              </mc:Choice>
              <mc:Fallback>
                <p:oleObj name="Equation" r:id="rId3" imgW="1460160" imgH="253800" progId="Equation.DSMT4">
                  <p:embed/>
                  <p:pic>
                    <p:nvPicPr>
                      <p:cNvPr id="0"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8563" y="2362200"/>
                        <a:ext cx="2928937" cy="514350"/>
                      </a:xfrm>
                      <a:prstGeom prst="rect">
                        <a:avLst/>
                      </a:prstGeom>
                      <a:solidFill>
                        <a:srgbClr val="EAEAEA"/>
                      </a:solidFill>
                      <a:effectLst>
                        <a:prstShdw prst="shdw17" dist="17961" dir="2700000">
                          <a:srgbClr val="99997D"/>
                        </a:prstShdw>
                      </a:effectLst>
                    </p:spPr>
                  </p:pic>
                </p:oleObj>
              </mc:Fallback>
            </mc:AlternateContent>
          </a:graphicData>
        </a:graphic>
      </p:graphicFrame>
      <p:sp>
        <p:nvSpPr>
          <p:cNvPr id="48136" name="Rectangle 8">
            <a:extLst>
              <a:ext uri="{FF2B5EF4-FFF2-40B4-BE49-F238E27FC236}">
                <a16:creationId xmlns:a16="http://schemas.microsoft.com/office/drawing/2014/main" id="{5246CD6C-7C5C-4588-61BD-5B0300228FE7}"/>
              </a:ext>
            </a:extLst>
          </p:cNvPr>
          <p:cNvSpPr>
            <a:spLocks noChangeArrowheads="1"/>
          </p:cNvSpPr>
          <p:nvPr/>
        </p:nvSpPr>
        <p:spPr bwMode="auto">
          <a:xfrm>
            <a:off x="0" y="0"/>
            <a:ext cx="9144000" cy="0"/>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ea typeface="宋体" charset="-122"/>
            </a:endParaRPr>
          </a:p>
        </p:txBody>
      </p:sp>
      <p:sp>
        <p:nvSpPr>
          <p:cNvPr id="48138" name="Rectangle 10">
            <a:extLst>
              <a:ext uri="{FF2B5EF4-FFF2-40B4-BE49-F238E27FC236}">
                <a16:creationId xmlns:a16="http://schemas.microsoft.com/office/drawing/2014/main" id="{86970A1E-DE0F-C13C-6322-361BBF886D27}"/>
              </a:ext>
            </a:extLst>
          </p:cNvPr>
          <p:cNvSpPr>
            <a:spLocks noChangeArrowheads="1"/>
          </p:cNvSpPr>
          <p:nvPr/>
        </p:nvSpPr>
        <p:spPr bwMode="auto">
          <a:xfrm>
            <a:off x="0" y="0"/>
            <a:ext cx="9144000" cy="0"/>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ea typeface="宋体" charset="-122"/>
            </a:endParaRPr>
          </a:p>
        </p:txBody>
      </p:sp>
      <p:sp>
        <p:nvSpPr>
          <p:cNvPr id="9228" name="矩形 13">
            <a:extLst>
              <a:ext uri="{FF2B5EF4-FFF2-40B4-BE49-F238E27FC236}">
                <a16:creationId xmlns:a16="http://schemas.microsoft.com/office/drawing/2014/main" id="{7C6E2622-B8CB-2D83-D228-1C36DC699D5B}"/>
              </a:ext>
            </a:extLst>
          </p:cNvPr>
          <p:cNvSpPr>
            <a:spLocks noChangeArrowheads="1"/>
          </p:cNvSpPr>
          <p:nvPr/>
        </p:nvSpPr>
        <p:spPr bwMode="auto">
          <a:xfrm>
            <a:off x="642938" y="1109663"/>
            <a:ext cx="17859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buClr>
                <a:srgbClr val="FF0000"/>
              </a:buClr>
              <a:buSzPct val="89000"/>
              <a:buFont typeface="Wingdings" panose="05000000000000000000" pitchFamily="2" charset="2"/>
              <a:buChar char="n"/>
            </a:pPr>
            <a:r>
              <a:rPr lang="zh-CN" altLang="en-US" sz="2400" b="1">
                <a:latin typeface="微软雅黑" panose="020B0503020204020204" pitchFamily="34" charset="-122"/>
                <a:ea typeface="微软雅黑" panose="020B0503020204020204" pitchFamily="34" charset="-122"/>
              </a:rPr>
              <a:t> 工作过程</a:t>
            </a:r>
          </a:p>
        </p:txBody>
      </p:sp>
      <p:graphicFrame>
        <p:nvGraphicFramePr>
          <p:cNvPr id="9220" name="Object 9">
            <a:extLst>
              <a:ext uri="{FF2B5EF4-FFF2-40B4-BE49-F238E27FC236}">
                <a16:creationId xmlns:a16="http://schemas.microsoft.com/office/drawing/2014/main" id="{94E99D81-BBC9-B0DE-76C1-BA95CCD9785F}"/>
              </a:ext>
            </a:extLst>
          </p:cNvPr>
          <p:cNvGraphicFramePr>
            <a:graphicFrameLocks noChangeAspect="1"/>
          </p:cNvGraphicFramePr>
          <p:nvPr/>
        </p:nvGraphicFramePr>
        <p:xfrm>
          <a:off x="4360863" y="3357563"/>
          <a:ext cx="2568575" cy="571500"/>
        </p:xfrm>
        <a:graphic>
          <a:graphicData uri="http://schemas.openxmlformats.org/presentationml/2006/ole">
            <mc:AlternateContent xmlns:mc="http://schemas.openxmlformats.org/markup-compatibility/2006">
              <mc:Choice xmlns:v="urn:schemas-microsoft-com:vml" Requires="v">
                <p:oleObj name="Equation" r:id="rId5" imgW="1028520" imgH="228600" progId="Equation.DSMT4">
                  <p:embed/>
                </p:oleObj>
              </mc:Choice>
              <mc:Fallback>
                <p:oleObj name="Equation" r:id="rId5" imgW="1028520" imgH="2286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60863" y="3357563"/>
                        <a:ext cx="2568575"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mpd="dbl">
                            <a:solidFill>
                              <a:srgbClr val="6666FF"/>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graphicFrame>
        <p:nvGraphicFramePr>
          <p:cNvPr id="9221" name="Object 10">
            <a:extLst>
              <a:ext uri="{FF2B5EF4-FFF2-40B4-BE49-F238E27FC236}">
                <a16:creationId xmlns:a16="http://schemas.microsoft.com/office/drawing/2014/main" id="{33F6D4AA-6326-145A-AA30-3E60F913ADB6}"/>
              </a:ext>
            </a:extLst>
          </p:cNvPr>
          <p:cNvGraphicFramePr>
            <a:graphicFrameLocks noChangeAspect="1"/>
          </p:cNvGraphicFramePr>
          <p:nvPr/>
        </p:nvGraphicFramePr>
        <p:xfrm>
          <a:off x="1285875" y="3417888"/>
          <a:ext cx="2357438" cy="511175"/>
        </p:xfrm>
        <a:graphic>
          <a:graphicData uri="http://schemas.openxmlformats.org/presentationml/2006/ole">
            <mc:AlternateContent xmlns:mc="http://schemas.openxmlformats.org/markup-compatibility/2006">
              <mc:Choice xmlns:v="urn:schemas-microsoft-com:vml" Requires="v">
                <p:oleObj name="Equation" r:id="rId7" imgW="1054080" imgH="228600" progId="Equation.DSMT4">
                  <p:embed/>
                </p:oleObj>
              </mc:Choice>
              <mc:Fallback>
                <p:oleObj name="Equation" r:id="rId7" imgW="1054080" imgH="2286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85875" y="3417888"/>
                        <a:ext cx="2357438" cy="511175"/>
                      </a:xfrm>
                      <a:prstGeom prst="rect">
                        <a:avLst/>
                      </a:prstGeom>
                      <a:noFill/>
                      <a:ln w="38100" cmpd="dbl">
                        <a:solidFill>
                          <a:srgbClr val="66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rgbClr val="6666FF">
                                  <a:gamma/>
                                  <a:shade val="60000"/>
                                  <a:invGamma/>
                                </a:srgbClr>
                              </a:outerShdw>
                            </a:effectLst>
                          </a14:hiddenEffects>
                        </a:ext>
                      </a:extLst>
                    </p:spPr>
                  </p:pic>
                </p:oleObj>
              </mc:Fallback>
            </mc:AlternateContent>
          </a:graphicData>
        </a:graphic>
      </p:graphicFrame>
      <p:graphicFrame>
        <p:nvGraphicFramePr>
          <p:cNvPr id="81931" name="Object 11">
            <a:extLst>
              <a:ext uri="{FF2B5EF4-FFF2-40B4-BE49-F238E27FC236}">
                <a16:creationId xmlns:a16="http://schemas.microsoft.com/office/drawing/2014/main" id="{32B93A0F-D836-13C8-938A-FC474B4FC279}"/>
              </a:ext>
            </a:extLst>
          </p:cNvPr>
          <p:cNvGraphicFramePr>
            <a:graphicFrameLocks noChangeAspect="1"/>
          </p:cNvGraphicFramePr>
          <p:nvPr/>
        </p:nvGraphicFramePr>
        <p:xfrm>
          <a:off x="539750" y="4033838"/>
          <a:ext cx="8318500" cy="752475"/>
        </p:xfrm>
        <a:graphic>
          <a:graphicData uri="http://schemas.openxmlformats.org/presentationml/2006/ole">
            <mc:AlternateContent xmlns:mc="http://schemas.openxmlformats.org/markup-compatibility/2006">
              <mc:Choice xmlns:v="urn:schemas-microsoft-com:vml" Requires="v">
                <p:oleObj name="公式" r:id="rId9" imgW="4597400" imgH="393700" progId="Equation.3">
                  <p:embed/>
                </p:oleObj>
              </mc:Choice>
              <mc:Fallback>
                <p:oleObj name="公式" r:id="rId9" imgW="4597400" imgH="39370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9750" y="4033838"/>
                        <a:ext cx="8318500" cy="752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32" name="Object 7">
            <a:extLst>
              <a:ext uri="{FF2B5EF4-FFF2-40B4-BE49-F238E27FC236}">
                <a16:creationId xmlns:a16="http://schemas.microsoft.com/office/drawing/2014/main" id="{5AFF2E26-9DD4-2493-2009-E97270C470B7}"/>
              </a:ext>
            </a:extLst>
          </p:cNvPr>
          <p:cNvGraphicFramePr>
            <a:graphicFrameLocks noChangeAspect="1"/>
          </p:cNvGraphicFramePr>
          <p:nvPr/>
        </p:nvGraphicFramePr>
        <p:xfrm>
          <a:off x="539750" y="4881563"/>
          <a:ext cx="8289925" cy="762000"/>
        </p:xfrm>
        <a:graphic>
          <a:graphicData uri="http://schemas.openxmlformats.org/presentationml/2006/ole">
            <mc:AlternateContent xmlns:mc="http://schemas.openxmlformats.org/markup-compatibility/2006">
              <mc:Choice xmlns:v="urn:schemas-microsoft-com:vml" Requires="v">
                <p:oleObj name="公式" r:id="rId11" imgW="4533900" imgH="393700" progId="Equation.3">
                  <p:embed/>
                </p:oleObj>
              </mc:Choice>
              <mc:Fallback>
                <p:oleObj name="公式" r:id="rId11" imgW="4533900" imgH="393700"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9750" y="4881563"/>
                        <a:ext cx="8289925"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33" name="Object 13">
            <a:extLst>
              <a:ext uri="{FF2B5EF4-FFF2-40B4-BE49-F238E27FC236}">
                <a16:creationId xmlns:a16="http://schemas.microsoft.com/office/drawing/2014/main" id="{FB407D59-EF49-0423-81FE-BFDB5BED734A}"/>
              </a:ext>
            </a:extLst>
          </p:cNvPr>
          <p:cNvGraphicFramePr>
            <a:graphicFrameLocks noChangeAspect="1"/>
          </p:cNvGraphicFramePr>
          <p:nvPr/>
        </p:nvGraphicFramePr>
        <p:xfrm>
          <a:off x="1285875" y="5621338"/>
          <a:ext cx="2843213" cy="808037"/>
        </p:xfrm>
        <a:graphic>
          <a:graphicData uri="http://schemas.openxmlformats.org/presentationml/2006/ole">
            <mc:AlternateContent xmlns:mc="http://schemas.openxmlformats.org/markup-compatibility/2006">
              <mc:Choice xmlns:v="urn:schemas-microsoft-com:vml" Requires="v">
                <p:oleObj name="公式" r:id="rId13" imgW="1371600" imgH="393700" progId="Equation.3">
                  <p:embed/>
                </p:oleObj>
              </mc:Choice>
              <mc:Fallback>
                <p:oleObj name="公式" r:id="rId13" imgW="1371600" imgH="393700" progId="Equation.3">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85875" y="5621338"/>
                        <a:ext cx="2843213" cy="808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34" name="Object 14">
            <a:extLst>
              <a:ext uri="{FF2B5EF4-FFF2-40B4-BE49-F238E27FC236}">
                <a16:creationId xmlns:a16="http://schemas.microsoft.com/office/drawing/2014/main" id="{FD0C6EF6-5FFE-B6FD-89E2-9C0E2A5C515E}"/>
              </a:ext>
            </a:extLst>
          </p:cNvPr>
          <p:cNvGraphicFramePr>
            <a:graphicFrameLocks noChangeAspect="1"/>
          </p:cNvGraphicFramePr>
          <p:nvPr/>
        </p:nvGraphicFramePr>
        <p:xfrm>
          <a:off x="4500563" y="5621338"/>
          <a:ext cx="2843212" cy="808037"/>
        </p:xfrm>
        <a:graphic>
          <a:graphicData uri="http://schemas.openxmlformats.org/presentationml/2006/ole">
            <mc:AlternateContent xmlns:mc="http://schemas.openxmlformats.org/markup-compatibility/2006">
              <mc:Choice xmlns:v="urn:schemas-microsoft-com:vml" Requires="v">
                <p:oleObj name="公式" r:id="rId15" imgW="1371600" imgH="393700" progId="Equation.3">
                  <p:embed/>
                </p:oleObj>
              </mc:Choice>
              <mc:Fallback>
                <p:oleObj name="公式" r:id="rId15" imgW="1371600" imgH="393700" progId="Equation.3">
                  <p:embed/>
                  <p:pic>
                    <p:nvPicPr>
                      <p:cNvPr id="0"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500563" y="5621338"/>
                        <a:ext cx="2843212" cy="808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9228"/>
                                        </p:tgtEl>
                                        <p:attrNameLst>
                                          <p:attrName>style.visibility</p:attrName>
                                        </p:attrNameLst>
                                      </p:cBhvr>
                                      <p:to>
                                        <p:strVal val="visible"/>
                                      </p:to>
                                    </p:set>
                                    <p:animEffect transition="in" filter="wipe(up)">
                                      <p:cBhvr>
                                        <p:cTn id="7" dur="1000"/>
                                        <p:tgtEl>
                                          <p:spTgt spid="92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66580"/>
                                        </p:tgtEl>
                                        <p:attrNameLst>
                                          <p:attrName>style.visibility</p:attrName>
                                        </p:attrNameLst>
                                      </p:cBhvr>
                                      <p:to>
                                        <p:strVal val="visible"/>
                                      </p:to>
                                    </p:set>
                                    <p:anim calcmode="lin" valueType="num">
                                      <p:cBhvr additive="base">
                                        <p:cTn id="12" dur="1000" fill="hold"/>
                                        <p:tgtEl>
                                          <p:spTgt spid="66580"/>
                                        </p:tgtEl>
                                        <p:attrNameLst>
                                          <p:attrName>ppt_x</p:attrName>
                                        </p:attrNameLst>
                                      </p:cBhvr>
                                      <p:tavLst>
                                        <p:tav tm="0">
                                          <p:val>
                                            <p:strVal val="0-#ppt_w/2"/>
                                          </p:val>
                                        </p:tav>
                                        <p:tav tm="100000">
                                          <p:val>
                                            <p:strVal val="#ppt_x"/>
                                          </p:val>
                                        </p:tav>
                                      </p:tavLst>
                                    </p:anim>
                                    <p:anim calcmode="lin" valueType="num">
                                      <p:cBhvr additive="base">
                                        <p:cTn id="13" dur="1000" fill="hold"/>
                                        <p:tgtEl>
                                          <p:spTgt spid="66580"/>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9221"/>
                                        </p:tgtEl>
                                        <p:attrNameLst>
                                          <p:attrName>style.visibility</p:attrName>
                                        </p:attrNameLst>
                                      </p:cBhvr>
                                      <p:to>
                                        <p:strVal val="visible"/>
                                      </p:to>
                                    </p:set>
                                    <p:animEffect transition="in" filter="wipe(up)">
                                      <p:cBhvr>
                                        <p:cTn id="18" dur="1000"/>
                                        <p:tgtEl>
                                          <p:spTgt spid="9221"/>
                                        </p:tgtEl>
                                      </p:cBhvr>
                                    </p:animEffect>
                                  </p:childTnLst>
                                </p:cTn>
                              </p:par>
                            </p:childTnLst>
                          </p:cTn>
                        </p:par>
                        <p:par>
                          <p:cTn id="19" fill="hold" nodeType="afterGroup">
                            <p:stCondLst>
                              <p:cond delay="1000"/>
                            </p:stCondLst>
                            <p:childTnLst>
                              <p:par>
                                <p:cTn id="20" presetID="22" presetClass="entr" presetSubtype="1" fill="hold" nodeType="afterEffect">
                                  <p:stCondLst>
                                    <p:cond delay="0"/>
                                  </p:stCondLst>
                                  <p:childTnLst>
                                    <p:set>
                                      <p:cBhvr>
                                        <p:cTn id="21" dur="1" fill="hold">
                                          <p:stCondLst>
                                            <p:cond delay="0"/>
                                          </p:stCondLst>
                                        </p:cTn>
                                        <p:tgtEl>
                                          <p:spTgt spid="9220"/>
                                        </p:tgtEl>
                                        <p:attrNameLst>
                                          <p:attrName>style.visibility</p:attrName>
                                        </p:attrNameLst>
                                      </p:cBhvr>
                                      <p:to>
                                        <p:strVal val="visible"/>
                                      </p:to>
                                    </p:set>
                                    <p:animEffect transition="in" filter="wipe(up)">
                                      <p:cBhvr>
                                        <p:cTn id="22" dur="1000"/>
                                        <p:tgtEl>
                                          <p:spTgt spid="922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81931"/>
                                        </p:tgtEl>
                                        <p:attrNameLst>
                                          <p:attrName>style.visibility</p:attrName>
                                        </p:attrNameLst>
                                      </p:cBhvr>
                                      <p:to>
                                        <p:strVal val="visible"/>
                                      </p:to>
                                    </p:set>
                                    <p:animEffect transition="in" filter="wipe(up)">
                                      <p:cBhvr>
                                        <p:cTn id="27" dur="1000"/>
                                        <p:tgtEl>
                                          <p:spTgt spid="8193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81932"/>
                                        </p:tgtEl>
                                        <p:attrNameLst>
                                          <p:attrName>style.visibility</p:attrName>
                                        </p:attrNameLst>
                                      </p:cBhvr>
                                      <p:to>
                                        <p:strVal val="visible"/>
                                      </p:to>
                                    </p:set>
                                    <p:animEffect transition="in" filter="wipe(up)">
                                      <p:cBhvr>
                                        <p:cTn id="32" dur="1000"/>
                                        <p:tgtEl>
                                          <p:spTgt spid="8193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81933"/>
                                        </p:tgtEl>
                                        <p:attrNameLst>
                                          <p:attrName>style.visibility</p:attrName>
                                        </p:attrNameLst>
                                      </p:cBhvr>
                                      <p:to>
                                        <p:strVal val="visible"/>
                                      </p:to>
                                    </p:set>
                                    <p:animEffect transition="in" filter="wipe(up)">
                                      <p:cBhvr>
                                        <p:cTn id="37" dur="1000"/>
                                        <p:tgtEl>
                                          <p:spTgt spid="8193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81934"/>
                                        </p:tgtEl>
                                        <p:attrNameLst>
                                          <p:attrName>style.visibility</p:attrName>
                                        </p:attrNameLst>
                                      </p:cBhvr>
                                      <p:to>
                                        <p:strVal val="visible"/>
                                      </p:to>
                                    </p:set>
                                    <p:animEffect transition="in" filter="wipe(up)">
                                      <p:cBhvr>
                                        <p:cTn id="42" dur="1000"/>
                                        <p:tgtEl>
                                          <p:spTgt spid="819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6">
            <a:extLst>
              <a:ext uri="{FF2B5EF4-FFF2-40B4-BE49-F238E27FC236}">
                <a16:creationId xmlns:a16="http://schemas.microsoft.com/office/drawing/2014/main" id="{EB8B457B-BEF7-3267-26AE-A2FF1C4D74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8511" t="21466" r="4185"/>
          <a:stretch>
            <a:fillRect/>
          </a:stretch>
        </p:blipFill>
        <p:spPr bwMode="auto">
          <a:xfrm>
            <a:off x="3860800" y="250825"/>
            <a:ext cx="4711700" cy="242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2951" name="Object 7">
            <a:extLst>
              <a:ext uri="{FF2B5EF4-FFF2-40B4-BE49-F238E27FC236}">
                <a16:creationId xmlns:a16="http://schemas.microsoft.com/office/drawing/2014/main" id="{92A696AC-EC8F-31C4-4AC7-25B58A64A7E5}"/>
              </a:ext>
            </a:extLst>
          </p:cNvPr>
          <p:cNvGraphicFramePr>
            <a:graphicFrameLocks noChangeAspect="1"/>
          </p:cNvGraphicFramePr>
          <p:nvPr/>
        </p:nvGraphicFramePr>
        <p:xfrm>
          <a:off x="1428750" y="2500313"/>
          <a:ext cx="4021138" cy="819150"/>
        </p:xfrm>
        <a:graphic>
          <a:graphicData uri="http://schemas.openxmlformats.org/presentationml/2006/ole">
            <mc:AlternateContent xmlns:mc="http://schemas.openxmlformats.org/markup-compatibility/2006">
              <mc:Choice xmlns:v="urn:schemas-microsoft-com:vml" Requires="v">
                <p:oleObj name="公式" r:id="rId3" imgW="1917360" imgH="393480" progId="Equation.3">
                  <p:embed/>
                </p:oleObj>
              </mc:Choice>
              <mc:Fallback>
                <p:oleObj name="公式" r:id="rId3" imgW="1917360" imgH="39348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8750" y="2500313"/>
                        <a:ext cx="4021138" cy="819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20">
            <a:extLst>
              <a:ext uri="{FF2B5EF4-FFF2-40B4-BE49-F238E27FC236}">
                <a16:creationId xmlns:a16="http://schemas.microsoft.com/office/drawing/2014/main" id="{B6F5CFEB-8E1F-81CF-F201-E25CAF9648AC}"/>
              </a:ext>
            </a:extLst>
          </p:cNvPr>
          <p:cNvSpPr>
            <a:spLocks noChangeArrowheads="1"/>
          </p:cNvSpPr>
          <p:nvPr/>
        </p:nvSpPr>
        <p:spPr bwMode="auto">
          <a:xfrm>
            <a:off x="642938" y="1857375"/>
            <a:ext cx="3889375" cy="461963"/>
          </a:xfrm>
          <a:prstGeom prst="rect">
            <a:avLst/>
          </a:prstGeom>
          <a:noFill/>
          <a:ln w="9525">
            <a:noFill/>
            <a:miter lim="800000"/>
            <a:headEnd/>
            <a:tailEnd/>
          </a:ln>
          <a:effectLst>
            <a:prstShdw prst="shdw17" dist="17961" dir="2700000">
              <a:schemeClr val="accent1">
                <a:gamma/>
                <a:shade val="60000"/>
                <a:invGamma/>
              </a:schemeClr>
            </a:prstShdw>
          </a:effectLst>
        </p:spPr>
        <p:txBody>
          <a:bodyPr>
            <a:spAutoFit/>
          </a:bodyPr>
          <a:lstStyle/>
          <a:p>
            <a:pPr>
              <a:spcBef>
                <a:spcPct val="20000"/>
              </a:spcBef>
              <a:buClr>
                <a:schemeClr val="tx1">
                  <a:lumMod val="50000"/>
                  <a:lumOff val="50000"/>
                </a:schemeClr>
              </a:buClr>
              <a:buSzPct val="81000"/>
              <a:defRPr/>
            </a:pPr>
            <a:r>
              <a:rPr lang="en-US" altLang="zh-CN" sz="2400" dirty="0">
                <a:latin typeface="Arial" pitchFamily="34" charset="0"/>
                <a:ea typeface="微软雅黑" pitchFamily="34" charset="-122"/>
                <a:cs typeface="Arial" pitchFamily="34" charset="0"/>
              </a:rPr>
              <a:t> </a:t>
            </a:r>
            <a:r>
              <a:rPr lang="en-US" altLang="zh-CN" sz="2400" dirty="0" err="1">
                <a:effectLst>
                  <a:outerShdw blurRad="38100" dist="38100" dir="2700000" algn="tl">
                    <a:srgbClr val="000000">
                      <a:alpha val="43137"/>
                    </a:srgbClr>
                  </a:outerShdw>
                </a:effectLst>
                <a:latin typeface="Arial" pitchFamily="34" charset="0"/>
                <a:ea typeface="微软雅黑" pitchFamily="34" charset="-122"/>
                <a:cs typeface="Arial" pitchFamily="34" charset="0"/>
              </a:rPr>
              <a:t>v</a:t>
            </a:r>
            <a:r>
              <a:rPr lang="en-US" altLang="zh-CN" sz="2400" baseline="-25000" dirty="0" err="1">
                <a:effectLst>
                  <a:outerShdw blurRad="38100" dist="38100" dir="2700000" algn="tl">
                    <a:srgbClr val="000000">
                      <a:alpha val="43137"/>
                    </a:srgbClr>
                  </a:outerShdw>
                </a:effectLst>
                <a:latin typeface="Arial" pitchFamily="34" charset="0"/>
                <a:ea typeface="微软雅黑" pitchFamily="34" charset="-122"/>
                <a:cs typeface="Arial" pitchFamily="34" charset="0"/>
              </a:rPr>
              <a:t>e</a:t>
            </a:r>
            <a:r>
              <a:rPr lang="en-US" altLang="zh-CN" sz="2400" baseline="-25000" dirty="0">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r>
              <a:rPr lang="zh-CN" altLang="en-US" sz="2000" dirty="0">
                <a:effectLst>
                  <a:outerShdw blurRad="38100" dist="38100" dir="2700000" algn="tl">
                    <a:srgbClr val="000000">
                      <a:alpha val="43137"/>
                    </a:srgbClr>
                  </a:outerShdw>
                </a:effectLst>
                <a:latin typeface="Arial" pitchFamily="34" charset="0"/>
                <a:ea typeface="微软雅黑" pitchFamily="34" charset="-122"/>
                <a:cs typeface="Arial" pitchFamily="34" charset="0"/>
              </a:rPr>
              <a:t>与 </a:t>
            </a:r>
            <a:r>
              <a:rPr lang="en-US" altLang="zh-CN" sz="2400" dirty="0" err="1">
                <a:effectLst>
                  <a:outerShdw blurRad="38100" dist="38100" dir="2700000" algn="tl">
                    <a:srgbClr val="000000">
                      <a:alpha val="43137"/>
                    </a:srgbClr>
                  </a:outerShdw>
                </a:effectLst>
                <a:latin typeface="Arial" pitchFamily="34" charset="0"/>
                <a:ea typeface="微软雅黑" pitchFamily="34" charset="-122"/>
                <a:cs typeface="Arial" pitchFamily="34" charset="0"/>
              </a:rPr>
              <a:t>v</a:t>
            </a:r>
            <a:r>
              <a:rPr lang="en-US" altLang="zh-CN" sz="2400" i="1" baseline="-25000" dirty="0" err="1">
                <a:effectLst>
                  <a:outerShdw blurRad="38100" dist="38100" dir="2700000" algn="tl">
                    <a:srgbClr val="000000">
                      <a:alpha val="43137"/>
                    </a:srgbClr>
                  </a:outerShdw>
                </a:effectLst>
                <a:latin typeface="Arial" pitchFamily="34" charset="0"/>
                <a:ea typeface="微软雅黑" pitchFamily="34" charset="-122"/>
                <a:cs typeface="Arial" pitchFamily="34" charset="0"/>
              </a:rPr>
              <a:t>f</a:t>
            </a:r>
            <a:r>
              <a:rPr lang="en-US" altLang="zh-CN" sz="2400" i="1" baseline="-25000" dirty="0">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r>
              <a:rPr lang="en-US" altLang="zh-CN" sz="2000" dirty="0" err="1">
                <a:effectLst>
                  <a:outerShdw blurRad="38100" dist="38100" dir="2700000" algn="tl">
                    <a:srgbClr val="000000">
                      <a:alpha val="43137"/>
                    </a:srgbClr>
                  </a:outerShdw>
                </a:effectLst>
                <a:latin typeface="Arial" pitchFamily="34" charset="0"/>
                <a:ea typeface="微软雅黑" pitchFamily="34" charset="-122"/>
                <a:cs typeface="Arial" pitchFamily="34" charset="0"/>
              </a:rPr>
              <a:t>相乘产生误差信号</a:t>
            </a:r>
            <a:r>
              <a:rPr lang="en-US" altLang="zh-CN" sz="2000" dirty="0">
                <a:effectLst>
                  <a:outerShdw blurRad="38100" dist="38100" dir="2700000" algn="tl">
                    <a:srgbClr val="000000">
                      <a:alpha val="43137"/>
                    </a:srgbClr>
                  </a:outerShdw>
                </a:effectLst>
                <a:latin typeface="+mn-ea"/>
                <a:ea typeface="+mn-ea"/>
                <a:cs typeface="Arial" pitchFamily="34" charset="0"/>
              </a:rPr>
              <a:t>:</a:t>
            </a:r>
          </a:p>
        </p:txBody>
      </p:sp>
      <p:sp>
        <p:nvSpPr>
          <p:cNvPr id="15" name="Rectangle 21">
            <a:extLst>
              <a:ext uri="{FF2B5EF4-FFF2-40B4-BE49-F238E27FC236}">
                <a16:creationId xmlns:a16="http://schemas.microsoft.com/office/drawing/2014/main" id="{B4A8532C-19BE-F337-E880-AC941E093441}"/>
              </a:ext>
            </a:extLst>
          </p:cNvPr>
          <p:cNvSpPr>
            <a:spLocks noChangeArrowheads="1"/>
          </p:cNvSpPr>
          <p:nvPr/>
        </p:nvSpPr>
        <p:spPr bwMode="auto">
          <a:xfrm>
            <a:off x="642938" y="3500438"/>
            <a:ext cx="6740525" cy="400050"/>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spAutoFit/>
          </a:bodyPr>
          <a:lstStyle/>
          <a:p>
            <a:pPr>
              <a:spcBef>
                <a:spcPct val="20000"/>
              </a:spcBef>
              <a:buClr>
                <a:schemeClr val="tx1">
                  <a:lumMod val="50000"/>
                  <a:lumOff val="50000"/>
                </a:schemeClr>
              </a:buClr>
              <a:buSzPct val="81000"/>
              <a:defRPr/>
            </a:pPr>
            <a:r>
              <a:rPr lang="zh-CN" altLang="en-US" sz="2000" dirty="0">
                <a:effectLst>
                  <a:outerShdw blurRad="38100" dist="38100" dir="2700000" algn="tl">
                    <a:srgbClr val="000000">
                      <a:alpha val="43137"/>
                    </a:srgbClr>
                  </a:outerShdw>
                </a:effectLst>
                <a:latin typeface="+mn-lt"/>
                <a:ea typeface="微软雅黑" panose="020B0503020204020204" pitchFamily="34" charset="-122"/>
              </a:rPr>
              <a:t> 经环路滤波器（低通，只让 </a:t>
            </a:r>
            <a:r>
              <a:rPr lang="en-US" altLang="zh-CN" sz="2000" i="1" dirty="0">
                <a:effectLst>
                  <a:outerShdw blurRad="38100" dist="38100" dir="2700000" algn="tl">
                    <a:srgbClr val="000000">
                      <a:alpha val="43137"/>
                    </a:srgbClr>
                  </a:outerShdw>
                </a:effectLst>
                <a:latin typeface="Times New Roman" pitchFamily="18" charset="0"/>
                <a:ea typeface="微软雅黑" panose="020B0503020204020204" pitchFamily="34" charset="-122"/>
                <a:cs typeface="Times New Roman" pitchFamily="18" charset="0"/>
              </a:rPr>
              <a:t>m</a:t>
            </a:r>
            <a:r>
              <a:rPr lang="en-US" altLang="zh-CN" sz="2000" baseline="30000" dirty="0">
                <a:effectLst>
                  <a:outerShdw blurRad="38100" dist="38100" dir="2700000" algn="tl">
                    <a:srgbClr val="000000">
                      <a:alpha val="43137"/>
                    </a:srgbClr>
                  </a:outerShdw>
                </a:effectLst>
                <a:latin typeface="Times New Roman" pitchFamily="18" charset="0"/>
                <a:ea typeface="微软雅黑" panose="020B0503020204020204" pitchFamily="34" charset="-122"/>
                <a:cs typeface="Times New Roman" pitchFamily="18" charset="0"/>
              </a:rPr>
              <a:t>2</a:t>
            </a:r>
            <a:r>
              <a:rPr lang="en-US" altLang="zh-CN" sz="2000" dirty="0">
                <a:effectLst>
                  <a:outerShdw blurRad="38100" dist="38100" dir="2700000" algn="tl">
                    <a:srgbClr val="000000">
                      <a:alpha val="43137"/>
                    </a:srgbClr>
                  </a:outerShdw>
                </a:effectLst>
                <a:latin typeface="Times New Roman" pitchFamily="18" charset="0"/>
                <a:ea typeface="微软雅黑" panose="020B0503020204020204" pitchFamily="34" charset="-122"/>
                <a:cs typeface="Times New Roman" pitchFamily="18" charset="0"/>
              </a:rPr>
              <a:t>(t) </a:t>
            </a:r>
            <a:r>
              <a:rPr lang="zh-CN" altLang="en-US" sz="2000" dirty="0">
                <a:effectLst>
                  <a:outerShdw blurRad="38100" dist="38100" dir="2700000" algn="tl">
                    <a:srgbClr val="000000">
                      <a:alpha val="43137"/>
                    </a:srgbClr>
                  </a:outerShdw>
                </a:effectLst>
                <a:latin typeface="+mn-lt"/>
                <a:ea typeface="微软雅黑" panose="020B0503020204020204" pitchFamily="34" charset="-122"/>
              </a:rPr>
              <a:t>中的直流分量通过）</a:t>
            </a:r>
            <a:r>
              <a:rPr lang="zh-CN" altLang="en-US" sz="2000" dirty="0">
                <a:effectLst>
                  <a:outerShdw blurRad="38100" dist="38100" dir="2700000" algn="tl">
                    <a:srgbClr val="000000">
                      <a:alpha val="43137"/>
                    </a:srgbClr>
                  </a:outerShdw>
                </a:effectLst>
                <a:latin typeface="+mn-ea"/>
                <a:ea typeface="+mn-ea"/>
              </a:rPr>
              <a:t>：</a:t>
            </a:r>
            <a:endParaRPr lang="en-US" altLang="zh-CN" sz="2000" dirty="0">
              <a:effectLst>
                <a:outerShdw blurRad="38100" dist="38100" dir="2700000" algn="tl">
                  <a:srgbClr val="000000">
                    <a:alpha val="43137"/>
                  </a:srgbClr>
                </a:outerShdw>
              </a:effectLst>
              <a:latin typeface="+mn-ea"/>
              <a:ea typeface="+mn-ea"/>
            </a:endParaRPr>
          </a:p>
        </p:txBody>
      </p:sp>
      <p:sp>
        <p:nvSpPr>
          <p:cNvPr id="17" name="矩形 16">
            <a:extLst>
              <a:ext uri="{FF2B5EF4-FFF2-40B4-BE49-F238E27FC236}">
                <a16:creationId xmlns:a16="http://schemas.microsoft.com/office/drawing/2014/main" id="{09FD6A71-554B-CE81-7092-FCE942BF4846}"/>
              </a:ext>
            </a:extLst>
          </p:cNvPr>
          <p:cNvSpPr/>
          <p:nvPr/>
        </p:nvSpPr>
        <p:spPr>
          <a:xfrm>
            <a:off x="714375" y="5357813"/>
            <a:ext cx="8001000" cy="1017587"/>
          </a:xfrm>
          <a:prstGeom prst="rect">
            <a:avLst/>
          </a:prstGeom>
        </p:spPr>
        <p:txBody>
          <a:bodyPr>
            <a:spAutoFit/>
          </a:bodyPr>
          <a:lstStyle/>
          <a:p>
            <a:pPr>
              <a:lnSpc>
                <a:spcPts val="3800"/>
              </a:lnSpc>
              <a:buClr>
                <a:schemeClr val="tx1">
                  <a:lumMod val="50000"/>
                  <a:lumOff val="50000"/>
                </a:schemeClr>
              </a:buClr>
              <a:buSzPct val="80000"/>
              <a:defRPr/>
            </a:pPr>
            <a:r>
              <a:rPr lang="en-US" altLang="zh-CN" sz="2000" i="1" dirty="0" err="1">
                <a:solidFill>
                  <a:schemeClr val="bg1"/>
                </a:solidFill>
                <a:latin typeface="Times New Roman" pitchFamily="18" charset="0"/>
                <a:ea typeface="微软雅黑" panose="020B0503020204020204" pitchFamily="34" charset="-122"/>
                <a:cs typeface="Times New Roman" pitchFamily="18" charset="0"/>
              </a:rPr>
              <a:t>s</a:t>
            </a:r>
            <a:r>
              <a:rPr lang="en-US" altLang="zh-CN" sz="2800" i="1" dirty="0" err="1">
                <a:solidFill>
                  <a:srgbClr val="000000"/>
                </a:solidFill>
                <a:latin typeface="Times New Roman" pitchFamily="18" charset="0"/>
                <a:ea typeface="微软雅黑" panose="020B0503020204020204" pitchFamily="34" charset="-122"/>
                <a:cs typeface="Times New Roman" pitchFamily="18" charset="0"/>
              </a:rPr>
              <a:t>v</a:t>
            </a:r>
            <a:r>
              <a:rPr lang="en-US" altLang="zh-CN" sz="2800" baseline="-25000" dirty="0" err="1">
                <a:solidFill>
                  <a:srgbClr val="000000"/>
                </a:solidFill>
                <a:latin typeface="Times New Roman" pitchFamily="18" charset="0"/>
                <a:ea typeface="微软雅黑" panose="020B0503020204020204" pitchFamily="34" charset="-122"/>
                <a:cs typeface="Times New Roman" pitchFamily="18" charset="0"/>
              </a:rPr>
              <a:t>g</a:t>
            </a:r>
            <a:r>
              <a:rPr lang="en-US" altLang="zh-CN" sz="2800" baseline="-25000" dirty="0">
                <a:solidFill>
                  <a:srgbClr val="000000"/>
                </a:solidFill>
                <a:latin typeface="Times New Roman" pitchFamily="18" charset="0"/>
                <a:ea typeface="微软雅黑" panose="020B0503020204020204" pitchFamily="34" charset="-122"/>
                <a:cs typeface="Times New Roman" pitchFamily="18" charset="0"/>
              </a:rPr>
              <a:t>  </a:t>
            </a:r>
            <a:r>
              <a:rPr lang="zh-CN" altLang="en-US" sz="2000" dirty="0">
                <a:effectLst>
                  <a:outerShdw blurRad="38100" dist="38100" dir="2700000" algn="tl">
                    <a:srgbClr val="000000">
                      <a:alpha val="43137"/>
                    </a:srgbClr>
                  </a:outerShdw>
                </a:effectLst>
                <a:ea typeface="微软雅黑" panose="020B0503020204020204" pitchFamily="34" charset="-122"/>
              </a:rPr>
              <a:t>正是所需要的控制电压，它</a:t>
            </a:r>
            <a:r>
              <a:rPr lang="zh-CN" altLang="en-US" sz="2000" dirty="0">
                <a:effectLst>
                  <a:outerShdw blurRad="38100" dist="38100" dir="2700000" algn="tl">
                    <a:srgbClr val="000000">
                      <a:alpha val="43137"/>
                    </a:srgbClr>
                  </a:outerShdw>
                </a:effectLst>
                <a:latin typeface="微软雅黑" pitchFamily="34" charset="-122"/>
                <a:ea typeface="微软雅黑" pitchFamily="34" charset="-122"/>
              </a:rPr>
              <a:t>控制调整压控振荡器（</a:t>
            </a:r>
            <a:r>
              <a:rPr lang="en-US" altLang="zh-CN" sz="2000" dirty="0">
                <a:effectLst>
                  <a:outerShdw blurRad="38100" dist="38100" dir="2700000" algn="tl">
                    <a:srgbClr val="000000">
                      <a:alpha val="43137"/>
                    </a:srgbClr>
                  </a:outerShdw>
                </a:effectLst>
                <a:latin typeface="微软雅黑" pitchFamily="34" charset="-122"/>
                <a:ea typeface="微软雅黑" pitchFamily="34" charset="-122"/>
              </a:rPr>
              <a:t>VCO)</a:t>
            </a:r>
            <a:r>
              <a:rPr lang="zh-CN" altLang="en-US" sz="2000" dirty="0">
                <a:effectLst>
                  <a:outerShdw blurRad="38100" dist="38100" dir="2700000" algn="tl">
                    <a:srgbClr val="000000">
                      <a:alpha val="43137"/>
                    </a:srgbClr>
                  </a:outerShdw>
                </a:effectLst>
                <a:latin typeface="微软雅黑" pitchFamily="34" charset="-122"/>
                <a:ea typeface="微软雅黑" pitchFamily="34" charset="-122"/>
              </a:rPr>
              <a:t>的相位和振荡频率，最终使</a:t>
            </a:r>
            <a:r>
              <a:rPr lang="zh-CN" altLang="en-US" sz="2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相位误差</a:t>
            </a:r>
            <a:r>
              <a:rPr lang="en-US" altLang="zh-CN" sz="24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a:t>
            </a:r>
            <a:r>
              <a:rPr lang="en-US" altLang="zh-CN" sz="2400" i="1" dirty="0">
                <a:solidFill>
                  <a:srgbClr val="0000CC"/>
                </a:solidFill>
                <a:effectLst>
                  <a:outerShdw blurRad="38100" dist="38100" dir="2700000" algn="tl">
                    <a:srgbClr val="000000">
                      <a:alpha val="43137"/>
                    </a:srgbClr>
                  </a:outerShdw>
                </a:effectLst>
                <a:latin typeface="微软雅黑" pitchFamily="34" charset="-122"/>
                <a:ea typeface="微软雅黑" pitchFamily="34" charset="-122"/>
                <a:sym typeface="Symbol" pitchFamily="18" charset="2"/>
              </a:rPr>
              <a:t></a:t>
            </a:r>
            <a:r>
              <a:rPr lang="en-US" altLang="zh-CN" sz="2400" dirty="0">
                <a:solidFill>
                  <a:srgbClr val="0000CC"/>
                </a:solidFill>
                <a:effectLst>
                  <a:outerShdw blurRad="38100" dist="38100" dir="2700000" algn="tl">
                    <a:srgbClr val="000000">
                      <a:alpha val="43137"/>
                    </a:srgbClr>
                  </a:outerShdw>
                </a:effectLst>
                <a:latin typeface="微软雅黑" pitchFamily="34" charset="-122"/>
                <a:ea typeface="微软雅黑" pitchFamily="34" charset="-122"/>
              </a:rPr>
              <a:t> - </a:t>
            </a:r>
            <a:r>
              <a:rPr lang="en-US" altLang="zh-CN" sz="2400" i="1" dirty="0">
                <a:solidFill>
                  <a:srgbClr val="0000CC"/>
                </a:solidFill>
                <a:effectLst>
                  <a:outerShdw blurRad="38100" dist="38100" dir="2700000" algn="tl">
                    <a:srgbClr val="000000">
                      <a:alpha val="43137"/>
                    </a:srgbClr>
                  </a:outerShdw>
                </a:effectLst>
                <a:latin typeface="微软雅黑" pitchFamily="34" charset="-122"/>
                <a:ea typeface="微软雅黑" pitchFamily="34" charset="-122"/>
                <a:sym typeface="Symbol" pitchFamily="18" charset="2"/>
              </a:rPr>
              <a:t></a:t>
            </a:r>
            <a:r>
              <a:rPr lang="en-US" altLang="zh-CN" sz="2400" i="1" dirty="0">
                <a:solidFill>
                  <a:srgbClr val="0000CC"/>
                </a:solidFill>
                <a:effectLst>
                  <a:outerShdw blurRad="38100" dist="38100" dir="2700000" algn="tl">
                    <a:srgbClr val="000000">
                      <a:alpha val="43137"/>
                    </a:srgbClr>
                  </a:outerShdw>
                </a:effectLst>
                <a:latin typeface="微软雅黑" pitchFamily="34" charset="-122"/>
                <a:ea typeface="微软雅黑" pitchFamily="34" charset="-122"/>
              </a:rPr>
              <a:t> </a:t>
            </a:r>
            <a:r>
              <a:rPr lang="en-US" altLang="zh-CN" sz="24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a:t>
            </a:r>
            <a:r>
              <a:rPr lang="zh-CN" altLang="en-US" sz="2000" dirty="0">
                <a:effectLst>
                  <a:outerShdw blurRad="38100" dist="38100" dir="2700000" algn="tl">
                    <a:srgbClr val="000000">
                      <a:alpha val="43137"/>
                    </a:srgbClr>
                  </a:outerShdw>
                </a:effectLst>
                <a:latin typeface="微软雅黑" pitchFamily="34" charset="-122"/>
                <a:ea typeface="微软雅黑" pitchFamily="34" charset="-122"/>
              </a:rPr>
              <a:t>尽可能地</a:t>
            </a:r>
            <a:r>
              <a:rPr lang="zh-CN" altLang="en-US" sz="2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小</a:t>
            </a:r>
            <a:r>
              <a:rPr lang="zh-CN" altLang="en-US" sz="2000" dirty="0">
                <a:effectLst>
                  <a:outerShdw blurRad="38100" dist="38100" dir="2700000" algn="tl">
                    <a:srgbClr val="000000">
                      <a:alpha val="43137"/>
                    </a:srgbClr>
                  </a:outerShdw>
                </a:effectLst>
                <a:latin typeface="微软雅黑" pitchFamily="34" charset="-122"/>
                <a:ea typeface="微软雅黑" pitchFamily="34" charset="-122"/>
              </a:rPr>
              <a:t>。</a:t>
            </a:r>
            <a:endParaRPr lang="en-US" altLang="zh-CN" sz="2000" dirty="0">
              <a:effectLst>
                <a:outerShdw blurRad="38100" dist="38100" dir="2700000" algn="tl">
                  <a:srgbClr val="000000">
                    <a:alpha val="43137"/>
                  </a:srgbClr>
                </a:outerShdw>
              </a:effectLst>
              <a:ea typeface="微软雅黑" panose="020B0503020204020204" pitchFamily="34" charset="-122"/>
            </a:endParaRPr>
          </a:p>
        </p:txBody>
      </p:sp>
      <p:graphicFrame>
        <p:nvGraphicFramePr>
          <p:cNvPr id="10244" name="Object 4">
            <a:extLst>
              <a:ext uri="{FF2B5EF4-FFF2-40B4-BE49-F238E27FC236}">
                <a16:creationId xmlns:a16="http://schemas.microsoft.com/office/drawing/2014/main" id="{F7692356-A9A8-971F-3419-2025CD750132}"/>
              </a:ext>
            </a:extLst>
          </p:cNvPr>
          <p:cNvGraphicFramePr>
            <a:graphicFrameLocks noChangeAspect="1"/>
          </p:cNvGraphicFramePr>
          <p:nvPr/>
        </p:nvGraphicFramePr>
        <p:xfrm>
          <a:off x="2000250" y="4286250"/>
          <a:ext cx="2949575" cy="571500"/>
        </p:xfrm>
        <a:graphic>
          <a:graphicData uri="http://schemas.openxmlformats.org/presentationml/2006/ole">
            <mc:AlternateContent xmlns:mc="http://schemas.openxmlformats.org/markup-compatibility/2006">
              <mc:Choice xmlns:v="urn:schemas-microsoft-com:vml" Requires="v">
                <p:oleObj name="Equation" r:id="rId5" imgW="1231560" imgH="241200" progId="Equation.DSMT4">
                  <p:embed/>
                </p:oleObj>
              </mc:Choice>
              <mc:Fallback>
                <p:oleObj name="Equation" r:id="rId5" imgW="1231560" imgH="2412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00250" y="4286250"/>
                        <a:ext cx="2949575" cy="571500"/>
                      </a:xfrm>
                      <a:prstGeom prst="rect">
                        <a:avLst/>
                      </a:prstGeom>
                      <a:noFill/>
                      <a:ln w="38100" cmpd="dbl">
                        <a:solidFill>
                          <a:srgbClr val="FF99CC"/>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8" name="线形标注 2 18">
            <a:extLst>
              <a:ext uri="{FF2B5EF4-FFF2-40B4-BE49-F238E27FC236}">
                <a16:creationId xmlns:a16="http://schemas.microsoft.com/office/drawing/2014/main" id="{1379E577-58AD-A966-852D-2C74EBD380DF}"/>
              </a:ext>
            </a:extLst>
          </p:cNvPr>
          <p:cNvSpPr>
            <a:spLocks/>
          </p:cNvSpPr>
          <p:nvPr/>
        </p:nvSpPr>
        <p:spPr bwMode="auto">
          <a:xfrm>
            <a:off x="5500688" y="4257675"/>
            <a:ext cx="3000375" cy="928688"/>
          </a:xfrm>
          <a:prstGeom prst="borderCallout2">
            <a:avLst>
              <a:gd name="adj1" fmla="val 95329"/>
              <a:gd name="adj2" fmla="val -1560"/>
              <a:gd name="adj3" fmla="val 54694"/>
              <a:gd name="adj4" fmla="val -22954"/>
              <a:gd name="adj5" fmla="val 55065"/>
              <a:gd name="adj6" fmla="val -47755"/>
            </a:avLst>
          </a:prstGeom>
          <a:solidFill>
            <a:schemeClr val="bg1"/>
          </a:solidFill>
          <a:ln w="9525" algn="ctr">
            <a:solidFill>
              <a:srgbClr val="0000CC"/>
            </a:solidFill>
            <a:miter lim="800000"/>
            <a:headEnd/>
            <a:tailEnd/>
          </a:ln>
        </p:spPr>
        <p:txBody>
          <a:bodyPr wrap="none"/>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ct val="150000"/>
              </a:lnSpc>
              <a:buFont typeface="Wingdings" panose="05000000000000000000" pitchFamily="2" charset="2"/>
              <a:buNone/>
            </a:pPr>
            <a:r>
              <a:rPr lang="zh-CN" altLang="en-US">
                <a:latin typeface="微软雅黑" panose="020B0503020204020204" pitchFamily="34" charset="-122"/>
                <a:ea typeface="微软雅黑" panose="020B0503020204020204" pitchFamily="34" charset="-122"/>
              </a:rPr>
              <a:t>是压控振荡器输出电压</a:t>
            </a:r>
            <a:endParaRPr lang="en-US" altLang="zh-CN">
              <a:latin typeface="微软雅黑" panose="020B0503020204020204" pitchFamily="34" charset="-122"/>
              <a:ea typeface="微软雅黑" panose="020B0503020204020204" pitchFamily="34" charset="-122"/>
            </a:endParaRPr>
          </a:p>
          <a:p>
            <a:pPr eaLnBrk="1" hangingPunct="1">
              <a:lnSpc>
                <a:spcPct val="150000"/>
              </a:lnSpc>
              <a:buFont typeface="Wingdings" panose="05000000000000000000" pitchFamily="2" charset="2"/>
              <a:buNone/>
            </a:pPr>
            <a:r>
              <a:rPr lang="zh-CN" altLang="en-US">
                <a:latin typeface="微软雅黑" panose="020B0503020204020204" pitchFamily="34" charset="-122"/>
                <a:ea typeface="微软雅黑" panose="020B0503020204020204" pitchFamily="34" charset="-122"/>
              </a:rPr>
              <a:t>与接收载波之间的</a:t>
            </a:r>
            <a:r>
              <a:rPr lang="zh-CN" altLang="en-US">
                <a:solidFill>
                  <a:srgbClr val="FF0000"/>
                </a:solidFill>
                <a:latin typeface="微软雅黑" panose="020B0503020204020204" pitchFamily="34" charset="-122"/>
                <a:ea typeface="微软雅黑" panose="020B0503020204020204" pitchFamily="34" charset="-122"/>
              </a:rPr>
              <a:t>相位误差</a:t>
            </a:r>
            <a:r>
              <a:rPr lang="zh-CN" altLang="en-US">
                <a:latin typeface="微软雅黑" panose="020B0503020204020204" pitchFamily="34" charset="-122"/>
                <a:ea typeface="微软雅黑" panose="020B0503020204020204" pitchFamily="34" charset="-122"/>
              </a:rPr>
              <a:t> </a:t>
            </a:r>
          </a:p>
        </p:txBody>
      </p:sp>
      <p:sp>
        <p:nvSpPr>
          <p:cNvPr id="10" name="矩形 9">
            <a:extLst>
              <a:ext uri="{FF2B5EF4-FFF2-40B4-BE49-F238E27FC236}">
                <a16:creationId xmlns:a16="http://schemas.microsoft.com/office/drawing/2014/main" id="{5B14A2BA-4B02-4B42-4301-BE29FCD63C5E}"/>
              </a:ext>
            </a:extLst>
          </p:cNvPr>
          <p:cNvSpPr/>
          <p:nvPr/>
        </p:nvSpPr>
        <p:spPr>
          <a:xfrm>
            <a:off x="3786188" y="1473200"/>
            <a:ext cx="800100" cy="3111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1000"/>
                                        <p:tgtEl>
                                          <p:spTgt spid="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82951"/>
                                        </p:tgtEl>
                                        <p:attrNameLst>
                                          <p:attrName>style.visibility</p:attrName>
                                        </p:attrNameLst>
                                      </p:cBhvr>
                                      <p:to>
                                        <p:strVal val="visible"/>
                                      </p:to>
                                    </p:set>
                                    <p:animEffect transition="in" filter="wipe(up)">
                                      <p:cBhvr>
                                        <p:cTn id="12" dur="1000"/>
                                        <p:tgtEl>
                                          <p:spTgt spid="829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up)">
                                      <p:cBhvr>
                                        <p:cTn id="17" dur="1000"/>
                                        <p:tgtEl>
                                          <p:spTgt spid="1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0244"/>
                                        </p:tgtEl>
                                        <p:attrNameLst>
                                          <p:attrName>style.visibility</p:attrName>
                                        </p:attrNameLst>
                                      </p:cBhvr>
                                      <p:to>
                                        <p:strVal val="visible"/>
                                      </p:to>
                                    </p:set>
                                    <p:animEffect transition="in" filter="wipe(up)">
                                      <p:cBhvr>
                                        <p:cTn id="22" dur="1000"/>
                                        <p:tgtEl>
                                          <p:spTgt spid="1024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0248"/>
                                        </p:tgtEl>
                                        <p:attrNameLst>
                                          <p:attrName>style.visibility</p:attrName>
                                        </p:attrNameLst>
                                      </p:cBhvr>
                                      <p:to>
                                        <p:strVal val="visible"/>
                                      </p:to>
                                    </p:set>
                                    <p:animEffect transition="in" filter="wipe(left)">
                                      <p:cBhvr>
                                        <p:cTn id="27" dur="3000"/>
                                        <p:tgtEl>
                                          <p:spTgt spid="1024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wipe(up)">
                                      <p:cBhvr>
                                        <p:cTn id="32"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7" grpId="0"/>
      <p:bldP spid="1024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EB16DCB4-E02C-2E84-8EBD-C225E510D948}"/>
              </a:ext>
            </a:extLst>
          </p:cNvPr>
          <p:cNvSpPr/>
          <p:nvPr/>
        </p:nvSpPr>
        <p:spPr>
          <a:xfrm>
            <a:off x="500063" y="1071563"/>
            <a:ext cx="8251825" cy="954087"/>
          </a:xfrm>
          <a:prstGeom prst="rect">
            <a:avLst/>
          </a:prstGeom>
        </p:spPr>
        <p:txBody>
          <a:bodyPr wrap="none">
            <a:spAutoFit/>
          </a:bodyPr>
          <a:lstStyle/>
          <a:p>
            <a:pPr marL="0" lvl="3">
              <a:defRPr/>
            </a:pPr>
            <a:r>
              <a:rPr lang="zh-CN" altLang="en-US" sz="2000" dirty="0">
                <a:latin typeface="微软雅黑" pitchFamily="34" charset="-122"/>
                <a:ea typeface="微软雅黑" pitchFamily="34" charset="-122"/>
                <a:sym typeface="Symbol" pitchFamily="18" charset="2"/>
              </a:rPr>
              <a:t>即有</a:t>
            </a:r>
            <a:r>
              <a:rPr lang="zh-CN" altLang="en-US" sz="2400" dirty="0">
                <a:latin typeface="微软雅黑" pitchFamily="34" charset="-122"/>
                <a:ea typeface="微软雅黑" pitchFamily="34" charset="-122"/>
                <a:sym typeface="Symbol" pitchFamily="18" charset="2"/>
              </a:rPr>
              <a:t> </a:t>
            </a:r>
            <a:r>
              <a:rPr lang="zh-CN" altLang="en-US" sz="2800" i="1" dirty="0">
                <a:solidFill>
                  <a:srgbClr val="0000CC"/>
                </a:solidFill>
                <a:ea typeface="宋体" charset="-122"/>
                <a:sym typeface="Symbol" pitchFamily="18" charset="2"/>
              </a:rPr>
              <a:t> </a:t>
            </a:r>
            <a:r>
              <a:rPr lang="zh-CN" altLang="en-US" sz="2800" dirty="0">
                <a:solidFill>
                  <a:srgbClr val="0000CC"/>
                </a:solidFill>
                <a:latin typeface="Arial"/>
                <a:ea typeface="宋体" charset="-122"/>
                <a:cs typeface="Arial"/>
              </a:rPr>
              <a:t>≈ </a:t>
            </a:r>
            <a:r>
              <a:rPr lang="zh-CN" altLang="en-US" sz="2800" i="1" dirty="0">
                <a:solidFill>
                  <a:srgbClr val="0000CC"/>
                </a:solidFill>
                <a:ea typeface="宋体" charset="-122"/>
                <a:sym typeface="Symbol" pitchFamily="18" charset="2"/>
              </a:rPr>
              <a:t></a:t>
            </a:r>
            <a:r>
              <a:rPr lang="zh-CN" altLang="en-US" sz="2800" i="1" dirty="0">
                <a:solidFill>
                  <a:srgbClr val="0000CC"/>
                </a:solidFill>
                <a:ea typeface="宋体" charset="-122"/>
              </a:rPr>
              <a:t> </a:t>
            </a:r>
            <a:r>
              <a:rPr lang="zh-CN" altLang="en-US" sz="2400" i="1" dirty="0">
                <a:latin typeface="微软雅黑" pitchFamily="34" charset="-122"/>
                <a:ea typeface="微软雅黑" pitchFamily="34" charset="-122"/>
              </a:rPr>
              <a:t>。</a:t>
            </a:r>
            <a:r>
              <a:rPr lang="zh-CN" altLang="en-US" sz="2000" dirty="0">
                <a:latin typeface="微软雅黑" pitchFamily="34" charset="-122"/>
                <a:ea typeface="微软雅黑" pitchFamily="34" charset="-122"/>
              </a:rPr>
              <a:t>因此，</a:t>
            </a:r>
            <a:r>
              <a:rPr lang="en-US" altLang="zh-CN" sz="2000" dirty="0">
                <a:effectLst>
                  <a:outerShdw blurRad="38100" dist="38100" dir="2700000" algn="tl">
                    <a:srgbClr val="000000">
                      <a:alpha val="43137"/>
                    </a:srgbClr>
                  </a:outerShdw>
                </a:effectLst>
                <a:latin typeface="Arial" pitchFamily="34" charset="0"/>
                <a:ea typeface="微软雅黑" pitchFamily="34" charset="-122"/>
                <a:cs typeface="Arial" pitchFamily="34" charset="0"/>
              </a:rPr>
              <a:t>VCO</a:t>
            </a:r>
            <a:r>
              <a:rPr lang="zh-CN" altLang="en-US" sz="2000" dirty="0">
                <a:latin typeface="微软雅黑" pitchFamily="34" charset="-122"/>
                <a:ea typeface="微软雅黑" pitchFamily="34" charset="-122"/>
              </a:rPr>
              <a:t>的输出 </a:t>
            </a:r>
            <a:r>
              <a:rPr lang="en-US" altLang="zh-CN" sz="3200" i="1" dirty="0" err="1">
                <a:solidFill>
                  <a:srgbClr val="FF0000"/>
                </a:solidFill>
                <a:latin typeface="Times New Roman" pitchFamily="18" charset="0"/>
                <a:ea typeface="微软雅黑" pitchFamily="34" charset="-122"/>
                <a:cs typeface="Times New Roman" pitchFamily="18" charset="0"/>
              </a:rPr>
              <a:t>v</a:t>
            </a:r>
            <a:r>
              <a:rPr lang="en-US" altLang="zh-CN" sz="3200" i="1" baseline="-25000" dirty="0" err="1">
                <a:solidFill>
                  <a:srgbClr val="FF0000"/>
                </a:solidFill>
                <a:latin typeface="Times New Roman" pitchFamily="18" charset="0"/>
                <a:ea typeface="微软雅黑" pitchFamily="34" charset="-122"/>
                <a:cs typeface="Times New Roman" pitchFamily="18" charset="0"/>
              </a:rPr>
              <a:t>a</a:t>
            </a:r>
            <a:r>
              <a:rPr lang="en-US" altLang="zh-CN" sz="3200" i="1" baseline="-25000" dirty="0">
                <a:solidFill>
                  <a:srgbClr val="FF0000"/>
                </a:solidFill>
                <a:latin typeface="Times New Roman" pitchFamily="18" charset="0"/>
                <a:ea typeface="微软雅黑" pitchFamily="34" charset="-122"/>
                <a:cs typeface="Times New Roman" pitchFamily="18" charset="0"/>
              </a:rPr>
              <a:t> </a:t>
            </a:r>
            <a:r>
              <a:rPr lang="zh-CN" altLang="en-US" sz="2000" dirty="0">
                <a:latin typeface="微软雅黑" pitchFamily="34" charset="-122"/>
                <a:ea typeface="微软雅黑" pitchFamily="34" charset="-122"/>
              </a:rPr>
              <a:t>就是</a:t>
            </a:r>
            <a:r>
              <a:rPr lang="en-US" altLang="zh-CN" sz="2000" dirty="0">
                <a:latin typeface="Arial" pitchFamily="34" charset="0"/>
                <a:ea typeface="微软雅黑" pitchFamily="34" charset="-122"/>
                <a:cs typeface="Arial" pitchFamily="34" charset="0"/>
              </a:rPr>
              <a:t>Costas</a:t>
            </a:r>
            <a:r>
              <a:rPr lang="zh-CN" altLang="en-US" sz="2000" dirty="0">
                <a:latin typeface="微软雅黑" pitchFamily="34" charset="-122"/>
                <a:ea typeface="微软雅黑" pitchFamily="34" charset="-122"/>
              </a:rPr>
              <a:t>环提取出的载波</a:t>
            </a:r>
            <a:r>
              <a:rPr lang="zh-CN" altLang="en-US" sz="2000" dirty="0">
                <a:latin typeface="+mn-ea"/>
                <a:ea typeface="+mn-ea"/>
              </a:rPr>
              <a:t>： </a:t>
            </a:r>
          </a:p>
          <a:p>
            <a:pPr>
              <a:defRPr/>
            </a:pPr>
            <a:endParaRPr lang="zh-CN" altLang="en-US" sz="2400" dirty="0">
              <a:latin typeface="微软雅黑" pitchFamily="34" charset="-122"/>
              <a:ea typeface="微软雅黑" pitchFamily="34" charset="-122"/>
            </a:endParaRPr>
          </a:p>
        </p:txBody>
      </p:sp>
      <p:sp>
        <p:nvSpPr>
          <p:cNvPr id="11" name="矩形 10">
            <a:extLst>
              <a:ext uri="{FF2B5EF4-FFF2-40B4-BE49-F238E27FC236}">
                <a16:creationId xmlns:a16="http://schemas.microsoft.com/office/drawing/2014/main" id="{31A2E189-82B6-EE99-563B-8DD23A700C99}"/>
              </a:ext>
            </a:extLst>
          </p:cNvPr>
          <p:cNvSpPr/>
          <p:nvPr/>
        </p:nvSpPr>
        <p:spPr>
          <a:xfrm>
            <a:off x="571500" y="2857500"/>
            <a:ext cx="4572000" cy="523875"/>
          </a:xfrm>
          <a:prstGeom prst="rect">
            <a:avLst/>
          </a:prstGeom>
        </p:spPr>
        <p:txBody>
          <a:bodyPr>
            <a:spAutoFit/>
          </a:bodyPr>
          <a:lstStyle/>
          <a:p>
            <a:pPr>
              <a:defRPr/>
            </a:pPr>
            <a:r>
              <a:rPr lang="en-US" altLang="zh-CN" sz="2800" i="1" dirty="0" err="1">
                <a:solidFill>
                  <a:srgbClr val="FF0000"/>
                </a:solidFill>
                <a:latin typeface="Times New Roman" pitchFamily="18" charset="0"/>
                <a:ea typeface="微软雅黑" panose="020B0503020204020204" pitchFamily="34" charset="-122"/>
                <a:cs typeface="Times New Roman" pitchFamily="18" charset="0"/>
              </a:rPr>
              <a:t>v</a:t>
            </a:r>
            <a:r>
              <a:rPr lang="en-US" altLang="zh-CN" sz="2800" baseline="-25000" dirty="0" err="1">
                <a:solidFill>
                  <a:srgbClr val="FF0000"/>
                </a:solidFill>
                <a:latin typeface="Times New Roman" pitchFamily="18" charset="0"/>
                <a:ea typeface="微软雅黑" panose="020B0503020204020204" pitchFamily="34" charset="-122"/>
                <a:cs typeface="Times New Roman" pitchFamily="18" charset="0"/>
              </a:rPr>
              <a:t>e</a:t>
            </a:r>
            <a:r>
              <a:rPr lang="en-US" altLang="zh-CN" sz="2800" baseline="-25000" dirty="0">
                <a:solidFill>
                  <a:srgbClr val="FF0000"/>
                </a:solidFill>
                <a:latin typeface="Times New Roman" pitchFamily="18" charset="0"/>
                <a:ea typeface="微软雅黑" panose="020B0503020204020204" pitchFamily="34" charset="-122"/>
                <a:cs typeface="Times New Roman" pitchFamily="18" charset="0"/>
              </a:rPr>
              <a:t> </a:t>
            </a:r>
            <a:r>
              <a:rPr lang="en-US" altLang="zh-CN" sz="2000" baseline="-25000" dirty="0">
                <a:solidFill>
                  <a:srgbClr val="000000"/>
                </a:solidFill>
                <a:latin typeface="Times New Roman" pitchFamily="18" charset="0"/>
                <a:ea typeface="微软雅黑" panose="020B0503020204020204" pitchFamily="34" charset="-122"/>
                <a:cs typeface="Times New Roman" pitchFamily="18" charset="0"/>
              </a:rPr>
              <a:t> </a:t>
            </a:r>
            <a:r>
              <a:rPr lang="zh-CN" altLang="en-US" sz="2000" dirty="0">
                <a:ea typeface="微软雅黑" panose="020B0503020204020204" pitchFamily="34" charset="-122"/>
              </a:rPr>
              <a:t>就是解调输出</a:t>
            </a:r>
            <a:r>
              <a:rPr lang="zh-CN" altLang="en-US" sz="2000" dirty="0">
                <a:latin typeface="+mn-ea"/>
                <a:ea typeface="+mn-ea"/>
              </a:rPr>
              <a:t>：</a:t>
            </a:r>
          </a:p>
        </p:txBody>
      </p:sp>
      <p:pic>
        <p:nvPicPr>
          <p:cNvPr id="12" name="Picture 16">
            <a:extLst>
              <a:ext uri="{FF2B5EF4-FFF2-40B4-BE49-F238E27FC236}">
                <a16:creationId xmlns:a16="http://schemas.microsoft.com/office/drawing/2014/main" id="{8C582227-D593-E6A8-C253-1361B2936F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911" r="29572"/>
          <a:stretch>
            <a:fillRect/>
          </a:stretch>
        </p:blipFill>
        <p:spPr bwMode="auto">
          <a:xfrm>
            <a:off x="2557463" y="3500438"/>
            <a:ext cx="4443412" cy="903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5" name="Picture 3">
            <a:extLst>
              <a:ext uri="{FF2B5EF4-FFF2-40B4-BE49-F238E27FC236}">
                <a16:creationId xmlns:a16="http://schemas.microsoft.com/office/drawing/2014/main" id="{A91ECBC0-AF86-C3C9-EA57-02D09C7BEF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74628"/>
          <a:stretch>
            <a:fillRect/>
          </a:stretch>
        </p:blipFill>
        <p:spPr bwMode="auto">
          <a:xfrm>
            <a:off x="2533650" y="1928813"/>
            <a:ext cx="4510088"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6" name="Picture 4">
            <a:extLst>
              <a:ext uri="{FF2B5EF4-FFF2-40B4-BE49-F238E27FC236}">
                <a16:creationId xmlns:a16="http://schemas.microsoft.com/office/drawing/2014/main" id="{E522BE57-AC1F-2E41-48D0-57625B4279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4857750"/>
            <a:ext cx="7929563"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椭圆 13">
            <a:extLst>
              <a:ext uri="{FF2B5EF4-FFF2-40B4-BE49-F238E27FC236}">
                <a16:creationId xmlns:a16="http://schemas.microsoft.com/office/drawing/2014/main" id="{4105F3F3-CD34-2026-D927-5F3BB6C2D6CE}"/>
              </a:ext>
            </a:extLst>
          </p:cNvPr>
          <p:cNvSpPr/>
          <p:nvPr/>
        </p:nvSpPr>
        <p:spPr bwMode="auto">
          <a:xfrm>
            <a:off x="500063" y="4841875"/>
            <a:ext cx="785812" cy="500063"/>
          </a:xfrm>
          <a:prstGeom prst="ellipse">
            <a:avLst/>
          </a:prstGeom>
          <a:noFill/>
          <a:ln w="38100" cap="flat" cmpd="dbl" algn="ctr">
            <a:solidFill>
              <a:srgbClr val="6666FF"/>
            </a:solidFill>
            <a:prstDash val="solid"/>
            <a:miter lim="800000"/>
            <a:headEnd type="none" w="med" len="med"/>
            <a:tailEnd type="none" w="med" len="med"/>
          </a:ln>
          <a:effectLst>
            <a:outerShdw blurRad="50800" dist="38100" dir="2700000" algn="tl" rotWithShape="0">
              <a:prstClr val="black">
                <a:alpha val="40000"/>
              </a:prstClr>
            </a:outerShdw>
          </a:effectLst>
        </p:spPr>
        <p:txBody>
          <a:bodyPr wrap="none"/>
          <a:lstStyle/>
          <a:p>
            <a:pPr>
              <a:defRPr/>
            </a:pPr>
            <a:endParaRPr kumimoji="1" lang="zh-CN" altLang="en-US" sz="8800" b="1">
              <a:solidFill>
                <a:srgbClr val="D0CDCA"/>
              </a:solidFill>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10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8195"/>
                                        </p:tgtEl>
                                        <p:attrNameLst>
                                          <p:attrName>style.visibility</p:attrName>
                                        </p:attrNameLst>
                                      </p:cBhvr>
                                      <p:to>
                                        <p:strVal val="visible"/>
                                      </p:to>
                                    </p:set>
                                    <p:animEffect transition="in" filter="wipe(up)">
                                      <p:cBhvr>
                                        <p:cTn id="12" dur="1000"/>
                                        <p:tgtEl>
                                          <p:spTgt spid="81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1000"/>
                                        <p:tgtEl>
                                          <p:spTgt spid="11"/>
                                        </p:tgtEl>
                                      </p:cBhvr>
                                    </p:animEffect>
                                  </p:childTnLst>
                                </p:cTn>
                              </p:par>
                            </p:childTnLst>
                          </p:cTn>
                        </p:par>
                        <p:par>
                          <p:cTn id="18" fill="hold" nodeType="afterGroup">
                            <p:stCondLst>
                              <p:cond delay="1000"/>
                            </p:stCondLst>
                            <p:childTnLst>
                              <p:par>
                                <p:cTn id="19" presetID="22" presetClass="entr" presetSubtype="1" fill="hold"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up)">
                                      <p:cBhvr>
                                        <p:cTn id="21" dur="1000"/>
                                        <p:tgtEl>
                                          <p:spTgt spid="1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left)">
                                      <p:cBhvr>
                                        <p:cTn id="26" dur="1000"/>
                                        <p:tgtEl>
                                          <p:spTgt spid="14"/>
                                        </p:tgtEl>
                                      </p:cBhvr>
                                    </p:animEffect>
                                  </p:childTnLst>
                                </p:cTn>
                              </p:par>
                              <p:par>
                                <p:cTn id="27" presetID="22" presetClass="entr" presetSubtype="1" fill="hold" nodeType="withEffect">
                                  <p:stCondLst>
                                    <p:cond delay="0"/>
                                  </p:stCondLst>
                                  <p:childTnLst>
                                    <p:set>
                                      <p:cBhvr>
                                        <p:cTn id="28" dur="1" fill="hold">
                                          <p:stCondLst>
                                            <p:cond delay="0"/>
                                          </p:stCondLst>
                                        </p:cTn>
                                        <p:tgtEl>
                                          <p:spTgt spid="8196"/>
                                        </p:tgtEl>
                                        <p:attrNameLst>
                                          <p:attrName>style.visibility</p:attrName>
                                        </p:attrNameLst>
                                      </p:cBhvr>
                                      <p:to>
                                        <p:strVal val="visible"/>
                                      </p:to>
                                    </p:set>
                                    <p:animEffect transition="in" filter="wipe(up)">
                                      <p:cBhvr>
                                        <p:cTn id="29" dur="2000"/>
                                        <p:tgtEl>
                                          <p:spTgt spid="8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62" name="Picture 34">
            <a:extLst>
              <a:ext uri="{FF2B5EF4-FFF2-40B4-BE49-F238E27FC236}">
                <a16:creationId xmlns:a16="http://schemas.microsoft.com/office/drawing/2014/main" id="{702C4706-C2A0-1D6F-F167-B5B25DA882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4475" y="1271588"/>
            <a:ext cx="6475413" cy="335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矩形 12">
            <a:extLst>
              <a:ext uri="{FF2B5EF4-FFF2-40B4-BE49-F238E27FC236}">
                <a16:creationId xmlns:a16="http://schemas.microsoft.com/office/drawing/2014/main" id="{3E3551FB-E03C-9AF0-B732-14002E76A6F3}"/>
              </a:ext>
            </a:extLst>
          </p:cNvPr>
          <p:cNvSpPr/>
          <p:nvPr/>
        </p:nvSpPr>
        <p:spPr>
          <a:xfrm>
            <a:off x="7299325" y="528638"/>
            <a:ext cx="1211263" cy="400050"/>
          </a:xfrm>
          <a:prstGeom prst="rect">
            <a:avLst/>
          </a:prstGeom>
          <a:effectLst>
            <a:outerShdw blurRad="50800" dist="38100" dir="2700000" algn="tl" rotWithShape="0">
              <a:prstClr val="black">
                <a:alpha val="40000"/>
              </a:prstClr>
            </a:outerShdw>
          </a:effectLst>
        </p:spPr>
        <p:txBody>
          <a:bodyPr wrap="none">
            <a:spAutoFit/>
          </a:bodyPr>
          <a:lstStyle/>
          <a:p>
            <a:pPr>
              <a:defRPr/>
            </a:pPr>
            <a:r>
              <a:rPr lang="zh-CN" altLang="zh-CN" sz="2000" dirty="0">
                <a:latin typeface="微软雅黑" pitchFamily="34" charset="-122"/>
                <a:ea typeface="微软雅黑" pitchFamily="34" charset="-122"/>
              </a:rPr>
              <a:t>载波同步</a:t>
            </a:r>
            <a:endParaRPr lang="zh-CN" altLang="en-US" sz="2000" dirty="0">
              <a:latin typeface="微软雅黑" pitchFamily="34" charset="-122"/>
              <a:ea typeface="微软雅黑" pitchFamily="34" charset="-122"/>
            </a:endParaRPr>
          </a:p>
        </p:txBody>
      </p:sp>
      <p:sp>
        <p:nvSpPr>
          <p:cNvPr id="16" name="矩形 15">
            <a:extLst>
              <a:ext uri="{FF2B5EF4-FFF2-40B4-BE49-F238E27FC236}">
                <a16:creationId xmlns:a16="http://schemas.microsoft.com/office/drawing/2014/main" id="{92C5DAEF-C887-101A-1F3A-1CE3EB7829D3}"/>
              </a:ext>
            </a:extLst>
          </p:cNvPr>
          <p:cNvSpPr>
            <a:spLocks noChangeArrowheads="1"/>
          </p:cNvSpPr>
          <p:nvPr/>
        </p:nvSpPr>
        <p:spPr bwMode="auto">
          <a:xfrm>
            <a:off x="7345363" y="1987550"/>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2000">
                <a:solidFill>
                  <a:srgbClr val="FF0000"/>
                </a:solidFill>
                <a:latin typeface="微软雅黑" panose="020B0503020204020204" pitchFamily="34" charset="-122"/>
                <a:ea typeface="微软雅黑" panose="020B0503020204020204" pitchFamily="34" charset="-122"/>
                <a:cs typeface="Arial" panose="020B0604020202020204" pitchFamily="34" charset="0"/>
                <a:sym typeface="Symbol" panose="05050102010706020507" pitchFamily="18" charset="2"/>
              </a:rPr>
              <a:t>①</a:t>
            </a:r>
            <a:endParaRPr lang="zh-CN" altLang="en-US" sz="2000">
              <a:solidFill>
                <a:srgbClr val="FF0000"/>
              </a:solidFill>
              <a:ea typeface="微软雅黑" panose="020B0503020204020204" pitchFamily="34" charset="-122"/>
              <a:cs typeface="Arial" panose="020B0604020202020204" pitchFamily="34" charset="0"/>
            </a:endParaRPr>
          </a:p>
        </p:txBody>
      </p:sp>
      <p:sp>
        <p:nvSpPr>
          <p:cNvPr id="17" name="矩形 16">
            <a:extLst>
              <a:ext uri="{FF2B5EF4-FFF2-40B4-BE49-F238E27FC236}">
                <a16:creationId xmlns:a16="http://schemas.microsoft.com/office/drawing/2014/main" id="{49CF2609-2840-459B-922D-F2822300BCDB}"/>
              </a:ext>
            </a:extLst>
          </p:cNvPr>
          <p:cNvSpPr>
            <a:spLocks noChangeArrowheads="1"/>
          </p:cNvSpPr>
          <p:nvPr/>
        </p:nvSpPr>
        <p:spPr bwMode="auto">
          <a:xfrm>
            <a:off x="7334250" y="4043363"/>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2000">
                <a:solidFill>
                  <a:srgbClr val="FF0000"/>
                </a:solidFill>
                <a:latin typeface="微软雅黑" panose="020B0503020204020204" pitchFamily="34" charset="-122"/>
                <a:ea typeface="微软雅黑" panose="020B0503020204020204" pitchFamily="34" charset="-122"/>
                <a:cs typeface="Arial" panose="020B0604020202020204" pitchFamily="34" charset="0"/>
                <a:sym typeface="Symbol" panose="05050102010706020507" pitchFamily="18" charset="2"/>
              </a:rPr>
              <a:t>②</a:t>
            </a:r>
            <a:endParaRPr lang="zh-CN" altLang="en-US" sz="2000">
              <a:solidFill>
                <a:srgbClr val="FF0000"/>
              </a:solidFill>
              <a:ea typeface="微软雅黑" panose="020B0503020204020204" pitchFamily="34" charset="-122"/>
              <a:cs typeface="Arial" panose="020B0604020202020204" pitchFamily="34" charset="0"/>
            </a:endParaRPr>
          </a:p>
        </p:txBody>
      </p:sp>
      <p:sp>
        <p:nvSpPr>
          <p:cNvPr id="18" name="Rectangle 6">
            <a:extLst>
              <a:ext uri="{FF2B5EF4-FFF2-40B4-BE49-F238E27FC236}">
                <a16:creationId xmlns:a16="http://schemas.microsoft.com/office/drawing/2014/main" id="{F3CDA85E-25D9-C2F5-ED97-B96F5398A0ED}"/>
              </a:ext>
            </a:extLst>
          </p:cNvPr>
          <p:cNvSpPr>
            <a:spLocks noChangeArrowheads="1"/>
          </p:cNvSpPr>
          <p:nvPr/>
        </p:nvSpPr>
        <p:spPr bwMode="auto">
          <a:xfrm>
            <a:off x="617538" y="815975"/>
            <a:ext cx="1454150" cy="498475"/>
          </a:xfrm>
          <a:prstGeom prst="rect">
            <a:avLst/>
          </a:prstGeom>
          <a:solidFill>
            <a:schemeClr val="bg2">
              <a:lumMod val="10000"/>
              <a:lumOff val="90000"/>
            </a:schemeClr>
          </a:solidFill>
          <a:ln>
            <a:noFill/>
          </a:ln>
          <a:effectLst>
            <a:prstShdw prst="shdw17" dist="17961" dir="2700000">
              <a:srgbClr val="999969"/>
            </a:prstShdw>
          </a:effectLst>
        </p:spPr>
        <p:txBody>
          <a:bodyPr wrap="none">
            <a:spAutoFit/>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marL="342900" indent="-342900">
              <a:lnSpc>
                <a:spcPct val="120000"/>
              </a:lnSpc>
              <a:buClr>
                <a:srgbClr val="FF0000"/>
              </a:buClr>
              <a:buSzPct val="81000"/>
              <a:defRPr/>
            </a:pPr>
            <a:r>
              <a:rPr lang="zh-CN" altLang="en-US" sz="2400" b="1" dirty="0">
                <a:latin typeface="微软雅黑" panose="020B0503020204020204" pitchFamily="34" charset="-122"/>
                <a:ea typeface="微软雅黑" panose="020B0503020204020204" pitchFamily="34" charset="-122"/>
              </a:rPr>
              <a:t>比较：</a:t>
            </a:r>
          </a:p>
        </p:txBody>
      </p:sp>
      <p:pic>
        <p:nvPicPr>
          <p:cNvPr id="48163" name="Picture 35">
            <a:extLst>
              <a:ext uri="{FF2B5EF4-FFF2-40B4-BE49-F238E27FC236}">
                <a16:creationId xmlns:a16="http://schemas.microsoft.com/office/drawing/2014/main" id="{D95E6385-9324-9603-5684-C2178C50F4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2061"/>
          <a:stretch>
            <a:fillRect/>
          </a:stretch>
        </p:blipFill>
        <p:spPr bwMode="auto">
          <a:xfrm>
            <a:off x="1285875" y="5376863"/>
            <a:ext cx="6786563" cy="106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689" name="Picture 1">
            <a:extLst>
              <a:ext uri="{FF2B5EF4-FFF2-40B4-BE49-F238E27FC236}">
                <a16:creationId xmlns:a16="http://schemas.microsoft.com/office/drawing/2014/main" id="{A987B199-AA6A-FAC9-E2DE-E9C645E7A8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19484"/>
          <a:stretch>
            <a:fillRect/>
          </a:stretch>
        </p:blipFill>
        <p:spPr bwMode="auto">
          <a:xfrm>
            <a:off x="1214438" y="4786313"/>
            <a:ext cx="7143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up)">
                                      <p:cBhvr>
                                        <p:cTn id="7" dur="1000"/>
                                        <p:tgtEl>
                                          <p:spTgt spid="18"/>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48162"/>
                                        </p:tgtEl>
                                        <p:attrNameLst>
                                          <p:attrName>style.visibility</p:attrName>
                                        </p:attrNameLst>
                                      </p:cBhvr>
                                      <p:to>
                                        <p:strVal val="visible"/>
                                      </p:to>
                                    </p:set>
                                    <p:animEffect transition="in" filter="wipe(up)">
                                      <p:cBhvr>
                                        <p:cTn id="11" dur="2000"/>
                                        <p:tgtEl>
                                          <p:spTgt spid="4816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up)">
                                      <p:cBhvr>
                                        <p:cTn id="16" dur="1000"/>
                                        <p:tgtEl>
                                          <p:spTgt spid="16"/>
                                        </p:tgtEl>
                                      </p:cBhvr>
                                    </p:animEffect>
                                  </p:childTnLst>
                                </p:cTn>
                              </p:par>
                            </p:childTnLst>
                          </p:cTn>
                        </p:par>
                        <p:par>
                          <p:cTn id="17" fill="hold" nodeType="afterGroup">
                            <p:stCondLst>
                              <p:cond delay="1000"/>
                            </p:stCondLst>
                            <p:childTnLst>
                              <p:par>
                                <p:cTn id="18" presetID="22" presetClass="entr" presetSubtype="1" fill="hold" nodeType="afterEffect">
                                  <p:stCondLst>
                                    <p:cond delay="0"/>
                                  </p:stCondLst>
                                  <p:childTnLst>
                                    <p:set>
                                      <p:cBhvr>
                                        <p:cTn id="19" dur="1" fill="hold">
                                          <p:stCondLst>
                                            <p:cond delay="0"/>
                                          </p:stCondLst>
                                        </p:cTn>
                                        <p:tgtEl>
                                          <p:spTgt spid="114689"/>
                                        </p:tgtEl>
                                        <p:attrNameLst>
                                          <p:attrName>style.visibility</p:attrName>
                                        </p:attrNameLst>
                                      </p:cBhvr>
                                      <p:to>
                                        <p:strVal val="visible"/>
                                      </p:to>
                                    </p:set>
                                    <p:animEffect transition="in" filter="wipe(up)">
                                      <p:cBhvr>
                                        <p:cTn id="20" dur="1000"/>
                                        <p:tgtEl>
                                          <p:spTgt spid="11468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wipe(up)">
                                      <p:cBhvr>
                                        <p:cTn id="25" dur="1000"/>
                                        <p:tgtEl>
                                          <p:spTgt spid="17"/>
                                        </p:tgtEl>
                                      </p:cBhvr>
                                    </p:animEffect>
                                  </p:childTnLst>
                                </p:cTn>
                              </p:par>
                            </p:childTnLst>
                          </p:cTn>
                        </p:par>
                        <p:par>
                          <p:cTn id="26" fill="hold" nodeType="afterGroup">
                            <p:stCondLst>
                              <p:cond delay="1000"/>
                            </p:stCondLst>
                            <p:childTnLst>
                              <p:par>
                                <p:cTn id="27" presetID="22" presetClass="entr" presetSubtype="1" fill="hold" nodeType="afterEffect">
                                  <p:stCondLst>
                                    <p:cond delay="0"/>
                                  </p:stCondLst>
                                  <p:childTnLst>
                                    <p:set>
                                      <p:cBhvr>
                                        <p:cTn id="28" dur="1" fill="hold">
                                          <p:stCondLst>
                                            <p:cond delay="0"/>
                                          </p:stCondLst>
                                        </p:cTn>
                                        <p:tgtEl>
                                          <p:spTgt spid="48163"/>
                                        </p:tgtEl>
                                        <p:attrNameLst>
                                          <p:attrName>style.visibility</p:attrName>
                                        </p:attrNameLst>
                                      </p:cBhvr>
                                      <p:to>
                                        <p:strVal val="visible"/>
                                      </p:to>
                                    </p:set>
                                    <p:animEffect transition="in" filter="wipe(up)">
                                      <p:cBhvr>
                                        <p:cTn id="29" dur="1000"/>
                                        <p:tgtEl>
                                          <p:spTgt spid="48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a:extLst>
              <a:ext uri="{FF2B5EF4-FFF2-40B4-BE49-F238E27FC236}">
                <a16:creationId xmlns:a16="http://schemas.microsoft.com/office/drawing/2014/main" id="{C5E23E6C-F41D-5202-E972-2E146FA031F2}"/>
              </a:ext>
            </a:extLst>
          </p:cNvPr>
          <p:cNvSpPr>
            <a:spLocks noChangeArrowheads="1"/>
          </p:cNvSpPr>
          <p:nvPr/>
        </p:nvSpPr>
        <p:spPr bwMode="auto">
          <a:xfrm>
            <a:off x="395288" y="446088"/>
            <a:ext cx="2520950" cy="523875"/>
          </a:xfrm>
          <a:prstGeom prst="rect">
            <a:avLst/>
          </a:prstGeom>
          <a:noFill/>
          <a:ln w="9525">
            <a:noFill/>
            <a:miter lim="800000"/>
            <a:headEnd/>
            <a:tailEnd/>
          </a:ln>
          <a:effectLst>
            <a:outerShdw blurRad="50800" dist="38100" dir="2700000" algn="tl" rotWithShape="0">
              <a:prstClr val="black">
                <a:alpha val="40000"/>
              </a:prstClr>
            </a:outerShdw>
          </a:effectLst>
        </p:spPr>
        <p:txBody>
          <a:bodyPr>
            <a:spAutoFit/>
          </a:bodyPr>
          <a:lstStyle/>
          <a:p>
            <a:pPr>
              <a:defRPr/>
            </a:pPr>
            <a:r>
              <a:rPr lang="en-US" altLang="zh-CN" sz="2800" b="1" dirty="0">
                <a:solidFill>
                  <a:srgbClr val="990099"/>
                </a:solidFill>
                <a:latin typeface="微软雅黑" pitchFamily="34" charset="-122"/>
                <a:ea typeface="微软雅黑" pitchFamily="34" charset="-122"/>
              </a:rPr>
              <a:t>3.  </a:t>
            </a:r>
            <a:r>
              <a:rPr lang="zh-CN" altLang="en-US" sz="2800" b="1" dirty="0">
                <a:solidFill>
                  <a:srgbClr val="0000CC"/>
                </a:solidFill>
                <a:latin typeface="微软雅黑" pitchFamily="34" charset="-122"/>
                <a:ea typeface="微软雅黑" pitchFamily="34" charset="-122"/>
              </a:rPr>
              <a:t>再调制器</a:t>
            </a:r>
          </a:p>
        </p:txBody>
      </p:sp>
      <p:sp>
        <p:nvSpPr>
          <p:cNvPr id="13319" name="矩形 13">
            <a:extLst>
              <a:ext uri="{FF2B5EF4-FFF2-40B4-BE49-F238E27FC236}">
                <a16:creationId xmlns:a16="http://schemas.microsoft.com/office/drawing/2014/main" id="{8888A23D-D7A6-4E7D-4F71-8A69CB680773}"/>
              </a:ext>
            </a:extLst>
          </p:cNvPr>
          <p:cNvSpPr>
            <a:spLocks noChangeArrowheads="1"/>
          </p:cNvSpPr>
          <p:nvPr/>
        </p:nvSpPr>
        <p:spPr bwMode="auto">
          <a:xfrm>
            <a:off x="642938" y="1357313"/>
            <a:ext cx="17859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buClr>
                <a:srgbClr val="FF0000"/>
              </a:buClr>
              <a:buSzPct val="89000"/>
              <a:buFont typeface="Wingdings" panose="05000000000000000000" pitchFamily="2" charset="2"/>
              <a:buChar char="n"/>
            </a:pPr>
            <a:r>
              <a:rPr lang="zh-CN" altLang="en-US" sz="2400" b="1">
                <a:latin typeface="微软雅黑" panose="020B0503020204020204" pitchFamily="34" charset="-122"/>
                <a:ea typeface="微软雅黑" panose="020B0503020204020204" pitchFamily="34" charset="-122"/>
              </a:rPr>
              <a:t> 工作原理</a:t>
            </a:r>
          </a:p>
        </p:txBody>
      </p:sp>
      <p:pic>
        <p:nvPicPr>
          <p:cNvPr id="13320" name="Picture 6">
            <a:extLst>
              <a:ext uri="{FF2B5EF4-FFF2-40B4-BE49-F238E27FC236}">
                <a16:creationId xmlns:a16="http://schemas.microsoft.com/office/drawing/2014/main" id="{50F549E2-2BCE-E013-88D2-52C8EF96F6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8838" y="1071563"/>
            <a:ext cx="5173662" cy="371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314" name="Object 7">
            <a:extLst>
              <a:ext uri="{FF2B5EF4-FFF2-40B4-BE49-F238E27FC236}">
                <a16:creationId xmlns:a16="http://schemas.microsoft.com/office/drawing/2014/main" id="{F41C8000-5F47-300D-B1DB-C0FF2C127307}"/>
              </a:ext>
            </a:extLst>
          </p:cNvPr>
          <p:cNvGraphicFramePr>
            <a:graphicFrameLocks noChangeAspect="1"/>
          </p:cNvGraphicFramePr>
          <p:nvPr/>
        </p:nvGraphicFramePr>
        <p:xfrm>
          <a:off x="857250" y="2214563"/>
          <a:ext cx="3286125" cy="571500"/>
        </p:xfrm>
        <a:graphic>
          <a:graphicData uri="http://schemas.openxmlformats.org/presentationml/2006/ole">
            <mc:AlternateContent xmlns:mc="http://schemas.openxmlformats.org/markup-compatibility/2006">
              <mc:Choice xmlns:v="urn:schemas-microsoft-com:vml" Requires="v">
                <p:oleObj name="Equation" r:id="rId3" imgW="1460160" imgH="253800" progId="Equation.DSMT4">
                  <p:embed/>
                </p:oleObj>
              </mc:Choice>
              <mc:Fallback>
                <p:oleObj name="Equation" r:id="rId3" imgW="1460160" imgH="2538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7250" y="2214563"/>
                        <a:ext cx="3286125"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graphicFrame>
        <p:nvGraphicFramePr>
          <p:cNvPr id="13315" name="Object 10">
            <a:extLst>
              <a:ext uri="{FF2B5EF4-FFF2-40B4-BE49-F238E27FC236}">
                <a16:creationId xmlns:a16="http://schemas.microsoft.com/office/drawing/2014/main" id="{C9CEFF6D-AF87-4F7B-BD94-E186542F4E6F}"/>
              </a:ext>
            </a:extLst>
          </p:cNvPr>
          <p:cNvGraphicFramePr>
            <a:graphicFrameLocks noChangeAspect="1"/>
          </p:cNvGraphicFramePr>
          <p:nvPr/>
        </p:nvGraphicFramePr>
        <p:xfrm>
          <a:off x="1071563" y="2989263"/>
          <a:ext cx="2357437" cy="511175"/>
        </p:xfrm>
        <a:graphic>
          <a:graphicData uri="http://schemas.openxmlformats.org/presentationml/2006/ole">
            <mc:AlternateContent xmlns:mc="http://schemas.openxmlformats.org/markup-compatibility/2006">
              <mc:Choice xmlns:v="urn:schemas-microsoft-com:vml" Requires="v">
                <p:oleObj name="Equation" r:id="rId5" imgW="1054080" imgH="228600" progId="Equation.DSMT4">
                  <p:embed/>
                </p:oleObj>
              </mc:Choice>
              <mc:Fallback>
                <p:oleObj name="Equation" r:id="rId5" imgW="1054080" imgH="228600"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1563" y="2989263"/>
                        <a:ext cx="2357437" cy="511175"/>
                      </a:xfrm>
                      <a:prstGeom prst="rect">
                        <a:avLst/>
                      </a:prstGeom>
                      <a:noFill/>
                      <a:ln w="38100" cmpd="dbl">
                        <a:solidFill>
                          <a:srgbClr val="66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rgbClr val="6666FF">
                                  <a:gamma/>
                                  <a:shade val="60000"/>
                                  <a:invGamma/>
                                </a:srgbClr>
                              </a:outerShdw>
                            </a:effectLst>
                          </a14:hiddenEffects>
                        </a:ext>
                      </a:extLst>
                    </p:spPr>
                  </p:pic>
                </p:oleObj>
              </mc:Fallback>
            </mc:AlternateContent>
          </a:graphicData>
        </a:graphic>
      </p:graphicFrame>
      <p:graphicFrame>
        <p:nvGraphicFramePr>
          <p:cNvPr id="13316" name="Object 9">
            <a:extLst>
              <a:ext uri="{FF2B5EF4-FFF2-40B4-BE49-F238E27FC236}">
                <a16:creationId xmlns:a16="http://schemas.microsoft.com/office/drawing/2014/main" id="{1EF3770C-1293-3927-93C2-292F5874A6C8}"/>
              </a:ext>
            </a:extLst>
          </p:cNvPr>
          <p:cNvGraphicFramePr>
            <a:graphicFrameLocks noChangeAspect="1"/>
          </p:cNvGraphicFramePr>
          <p:nvPr/>
        </p:nvGraphicFramePr>
        <p:xfrm>
          <a:off x="1071563" y="3786188"/>
          <a:ext cx="2500312" cy="555625"/>
        </p:xfrm>
        <a:graphic>
          <a:graphicData uri="http://schemas.openxmlformats.org/presentationml/2006/ole">
            <mc:AlternateContent xmlns:mc="http://schemas.openxmlformats.org/markup-compatibility/2006">
              <mc:Choice xmlns:v="urn:schemas-microsoft-com:vml" Requires="v">
                <p:oleObj name="Equation" r:id="rId7" imgW="1028520" imgH="228600" progId="Equation.DSMT4">
                  <p:embed/>
                </p:oleObj>
              </mc:Choice>
              <mc:Fallback>
                <p:oleObj name="Equation" r:id="rId7" imgW="1028520" imgH="228600"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71563" y="3786188"/>
                        <a:ext cx="2500312" cy="55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mpd="dbl">
                            <a:solidFill>
                              <a:srgbClr val="6666FF"/>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graphicFrame>
        <p:nvGraphicFramePr>
          <p:cNvPr id="9" name="Object 5">
            <a:extLst>
              <a:ext uri="{FF2B5EF4-FFF2-40B4-BE49-F238E27FC236}">
                <a16:creationId xmlns:a16="http://schemas.microsoft.com/office/drawing/2014/main" id="{0967769D-9A86-F58F-8CA2-347A03ADE754}"/>
              </a:ext>
            </a:extLst>
          </p:cNvPr>
          <p:cNvGraphicFramePr>
            <a:graphicFrameLocks noChangeAspect="1"/>
          </p:cNvGraphicFramePr>
          <p:nvPr/>
        </p:nvGraphicFramePr>
        <p:xfrm>
          <a:off x="1071563" y="4986338"/>
          <a:ext cx="6000750" cy="1443037"/>
        </p:xfrm>
        <a:graphic>
          <a:graphicData uri="http://schemas.openxmlformats.org/presentationml/2006/ole">
            <mc:AlternateContent xmlns:mc="http://schemas.openxmlformats.org/markup-compatibility/2006">
              <mc:Choice xmlns:v="urn:schemas-microsoft-com:vml" Requires="v">
                <p:oleObj name="Equation" r:id="rId9" imgW="2641320" imgH="634680" progId="Equation.DSMT4">
                  <p:embed/>
                </p:oleObj>
              </mc:Choice>
              <mc:Fallback>
                <p:oleObj name="Equation" r:id="rId9" imgW="2641320" imgH="634680"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71563" y="4986338"/>
                        <a:ext cx="6000750" cy="1443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mpd="dbl">
                            <a:solidFill>
                              <a:srgbClr val="6666FF"/>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up)">
                                      <p:cBhvr>
                                        <p:cTn id="7" dur="1000"/>
                                        <p:tgtEl>
                                          <p:spTgt spid="47"/>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13320"/>
                                        </p:tgtEl>
                                        <p:attrNameLst>
                                          <p:attrName>style.visibility</p:attrName>
                                        </p:attrNameLst>
                                      </p:cBhvr>
                                      <p:to>
                                        <p:strVal val="visible"/>
                                      </p:to>
                                    </p:set>
                                    <p:animEffect transition="in" filter="wipe(up)">
                                      <p:cBhvr>
                                        <p:cTn id="11" dur="2000"/>
                                        <p:tgtEl>
                                          <p:spTgt spid="1332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13319"/>
                                        </p:tgtEl>
                                        <p:attrNameLst>
                                          <p:attrName>style.visibility</p:attrName>
                                        </p:attrNameLst>
                                      </p:cBhvr>
                                      <p:to>
                                        <p:strVal val="visible"/>
                                      </p:to>
                                    </p:set>
                                    <p:animEffect transition="in" filter="wipe(up)">
                                      <p:cBhvr>
                                        <p:cTn id="16" dur="1000"/>
                                        <p:tgtEl>
                                          <p:spTgt spid="1331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13314"/>
                                        </p:tgtEl>
                                        <p:attrNameLst>
                                          <p:attrName>style.visibility</p:attrName>
                                        </p:attrNameLst>
                                      </p:cBhvr>
                                      <p:to>
                                        <p:strVal val="visible"/>
                                      </p:to>
                                    </p:set>
                                    <p:animEffect transition="in" filter="wipe(up)">
                                      <p:cBhvr>
                                        <p:cTn id="21" dur="1000"/>
                                        <p:tgtEl>
                                          <p:spTgt spid="1331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13315"/>
                                        </p:tgtEl>
                                        <p:attrNameLst>
                                          <p:attrName>style.visibility</p:attrName>
                                        </p:attrNameLst>
                                      </p:cBhvr>
                                      <p:to>
                                        <p:strVal val="visible"/>
                                      </p:to>
                                    </p:set>
                                    <p:animEffect transition="in" filter="wipe(up)">
                                      <p:cBhvr>
                                        <p:cTn id="26" dur="1000"/>
                                        <p:tgtEl>
                                          <p:spTgt spid="1331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13316"/>
                                        </p:tgtEl>
                                        <p:attrNameLst>
                                          <p:attrName>style.visibility</p:attrName>
                                        </p:attrNameLst>
                                      </p:cBhvr>
                                      <p:to>
                                        <p:strVal val="visible"/>
                                      </p:to>
                                    </p:set>
                                    <p:animEffect transition="in" filter="wipe(up)">
                                      <p:cBhvr>
                                        <p:cTn id="31" dur="1000"/>
                                        <p:tgtEl>
                                          <p:spTgt spid="1331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up)">
                                      <p:cBhvr>
                                        <p:cTn id="36"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1331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2" name="Picture 6">
            <a:extLst>
              <a:ext uri="{FF2B5EF4-FFF2-40B4-BE49-F238E27FC236}">
                <a16:creationId xmlns:a16="http://schemas.microsoft.com/office/drawing/2014/main" id="{817D78E1-88EF-B134-2468-4DBA6F2A9A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4750" y="490538"/>
            <a:ext cx="5000625" cy="359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7" name="Rectangle 3">
            <a:extLst>
              <a:ext uri="{FF2B5EF4-FFF2-40B4-BE49-F238E27FC236}">
                <a16:creationId xmlns:a16="http://schemas.microsoft.com/office/drawing/2014/main" id="{2D76EEF8-D582-1515-3B26-544363FCB271}"/>
              </a:ext>
            </a:extLst>
          </p:cNvPr>
          <p:cNvSpPr>
            <a:spLocks noGrp="1" noChangeArrowheads="1"/>
          </p:cNvSpPr>
          <p:nvPr>
            <p:ph type="body" idx="1"/>
          </p:nvPr>
        </p:nvSpPr>
        <p:spPr>
          <a:xfrm>
            <a:off x="642938" y="4000500"/>
            <a:ext cx="6572250" cy="642938"/>
          </a:xfrm>
        </p:spPr>
        <p:txBody>
          <a:bodyPr/>
          <a:lstStyle/>
          <a:p>
            <a:pPr>
              <a:lnSpc>
                <a:spcPct val="130000"/>
              </a:lnSpc>
              <a:buFont typeface="Wingdings" panose="05000000000000000000" pitchFamily="2" charset="2"/>
              <a:buNone/>
              <a:defRPr/>
            </a:pPr>
            <a:r>
              <a:rPr lang="en-US" altLang="zh-CN" sz="2800" i="1" dirty="0" err="1">
                <a:solidFill>
                  <a:srgbClr val="0000CC"/>
                </a:solidFill>
                <a:latin typeface="Arial" pitchFamily="34" charset="0"/>
                <a:ea typeface="微软雅黑" pitchFamily="34" charset="-122"/>
                <a:cs typeface="Arial" pitchFamily="34" charset="0"/>
              </a:rPr>
              <a:t>v</a:t>
            </a:r>
            <a:r>
              <a:rPr lang="en-US" altLang="zh-CN" sz="2800" baseline="-25000" dirty="0" err="1">
                <a:solidFill>
                  <a:srgbClr val="0000CC"/>
                </a:solidFill>
                <a:latin typeface="Arial" pitchFamily="34" charset="0"/>
                <a:ea typeface="微软雅黑" pitchFamily="34" charset="-122"/>
                <a:cs typeface="Arial" pitchFamily="34" charset="0"/>
              </a:rPr>
              <a:t>d</a:t>
            </a:r>
            <a:r>
              <a:rPr lang="en-US" altLang="zh-CN" sz="2800" baseline="-25000" dirty="0">
                <a:solidFill>
                  <a:srgbClr val="0000CC"/>
                </a:solidFill>
                <a:latin typeface="Arial" pitchFamily="34" charset="0"/>
                <a:ea typeface="微软雅黑" pitchFamily="34" charset="-122"/>
                <a:cs typeface="Arial" pitchFamily="34" charset="0"/>
              </a:rPr>
              <a:t> </a:t>
            </a:r>
            <a:r>
              <a:rPr lang="zh-CN" altLang="en-US" sz="2000" dirty="0">
                <a:effectLst>
                  <a:outerShdw blurRad="38100" dist="38100" dir="2700000" algn="tl">
                    <a:srgbClr val="000000">
                      <a:alpha val="43137"/>
                    </a:srgbClr>
                  </a:outerShdw>
                </a:effectLst>
                <a:latin typeface="Arial" pitchFamily="34" charset="0"/>
                <a:ea typeface="微软雅黑" pitchFamily="34" charset="-122"/>
                <a:cs typeface="Arial" pitchFamily="34" charset="0"/>
              </a:rPr>
              <a:t>受</a:t>
            </a:r>
            <a:r>
              <a:rPr lang="zh-CN" altLang="en-US" sz="2400" dirty="0">
                <a:latin typeface="Arial" pitchFamily="34" charset="0"/>
                <a:ea typeface="微软雅黑" pitchFamily="34" charset="-122"/>
                <a:cs typeface="Arial" pitchFamily="34" charset="0"/>
              </a:rPr>
              <a:t> </a:t>
            </a:r>
            <a:r>
              <a:rPr lang="en-US" altLang="zh-CN" sz="2400" i="1" dirty="0">
                <a:latin typeface="Arial" pitchFamily="34" charset="0"/>
                <a:ea typeface="微软雅黑" pitchFamily="34" charset="-122"/>
                <a:cs typeface="Arial" pitchFamily="34" charset="0"/>
              </a:rPr>
              <a:t>b </a:t>
            </a:r>
            <a:r>
              <a:rPr lang="zh-CN" altLang="en-US" sz="2000" dirty="0">
                <a:latin typeface="Arial" pitchFamily="34" charset="0"/>
                <a:ea typeface="微软雅黑" pitchFamily="34" charset="-122"/>
                <a:cs typeface="Arial" pitchFamily="34" charset="0"/>
              </a:rPr>
              <a:t>点的振荡电压</a:t>
            </a:r>
            <a:r>
              <a:rPr lang="zh-CN" altLang="en-US" sz="2000" dirty="0">
                <a:solidFill>
                  <a:srgbClr val="FF0000"/>
                </a:solidFill>
                <a:latin typeface="Arial" pitchFamily="34" charset="0"/>
                <a:ea typeface="微软雅黑" pitchFamily="34" charset="-122"/>
                <a:cs typeface="Arial" pitchFamily="34" charset="0"/>
              </a:rPr>
              <a:t>再调制</a:t>
            </a:r>
            <a:r>
              <a:rPr lang="zh-CN" altLang="en-US" sz="2000" dirty="0">
                <a:latin typeface="Arial" pitchFamily="34" charset="0"/>
                <a:ea typeface="微软雅黑" pitchFamily="34" charset="-122"/>
                <a:cs typeface="Arial" pitchFamily="34" charset="0"/>
              </a:rPr>
              <a:t>后，得出的</a:t>
            </a:r>
            <a:r>
              <a:rPr lang="en-US" altLang="zh-CN" sz="2800" i="1" dirty="0">
                <a:latin typeface="Arial" pitchFamily="34" charset="0"/>
                <a:ea typeface="微软雅黑" pitchFamily="34" charset="-122"/>
                <a:cs typeface="Arial" pitchFamily="34" charset="0"/>
              </a:rPr>
              <a:t>e </a:t>
            </a:r>
            <a:r>
              <a:rPr lang="zh-CN" altLang="en-US" sz="2000" dirty="0">
                <a:latin typeface="Arial" pitchFamily="34" charset="0"/>
                <a:ea typeface="微软雅黑" pitchFamily="34" charset="-122"/>
                <a:cs typeface="Arial" pitchFamily="34" charset="0"/>
              </a:rPr>
              <a:t>点的电压</a:t>
            </a:r>
            <a:r>
              <a:rPr lang="en-US" altLang="zh-CN" sz="2000" dirty="0">
                <a:latin typeface="Arial" pitchFamily="34" charset="0"/>
                <a:cs typeface="Arial" pitchFamily="34" charset="0"/>
              </a:rPr>
              <a:t>:</a:t>
            </a:r>
          </a:p>
        </p:txBody>
      </p:sp>
      <p:sp>
        <p:nvSpPr>
          <p:cNvPr id="7174" name="Rectangle 5">
            <a:extLst>
              <a:ext uri="{FF2B5EF4-FFF2-40B4-BE49-F238E27FC236}">
                <a16:creationId xmlns:a16="http://schemas.microsoft.com/office/drawing/2014/main" id="{8B02D634-C591-6773-885A-08662950C02F}"/>
              </a:ext>
            </a:extLst>
          </p:cNvPr>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7175" name="Rectangle 7">
            <a:extLst>
              <a:ext uri="{FF2B5EF4-FFF2-40B4-BE49-F238E27FC236}">
                <a16:creationId xmlns:a16="http://schemas.microsoft.com/office/drawing/2014/main" id="{1CD04CE6-72D3-C645-977C-54980F8C03D6}"/>
              </a:ext>
            </a:extLst>
          </p:cNvPr>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aphicFrame>
        <p:nvGraphicFramePr>
          <p:cNvPr id="36870" name="Object 3">
            <a:extLst>
              <a:ext uri="{FF2B5EF4-FFF2-40B4-BE49-F238E27FC236}">
                <a16:creationId xmlns:a16="http://schemas.microsoft.com/office/drawing/2014/main" id="{B091A90B-7697-75C8-8F51-6C48512B701C}"/>
              </a:ext>
            </a:extLst>
          </p:cNvPr>
          <p:cNvGraphicFramePr>
            <a:graphicFrameLocks noChangeAspect="1"/>
          </p:cNvGraphicFramePr>
          <p:nvPr/>
        </p:nvGraphicFramePr>
        <p:xfrm>
          <a:off x="1143000" y="2500313"/>
          <a:ext cx="2913063" cy="876300"/>
        </p:xfrm>
        <a:graphic>
          <a:graphicData uri="http://schemas.openxmlformats.org/presentationml/2006/ole">
            <mc:AlternateContent xmlns:mc="http://schemas.openxmlformats.org/markup-compatibility/2006">
              <mc:Choice xmlns:v="urn:schemas-microsoft-com:vml" Requires="v">
                <p:oleObj name="公式" r:id="rId3" imgW="1358640" imgH="393480" progId="Equation.3">
                  <p:embed/>
                </p:oleObj>
              </mc:Choice>
              <mc:Fallback>
                <p:oleObj name="公式" r:id="rId3" imgW="1358640" imgH="39348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2500313"/>
                        <a:ext cx="2913063" cy="876300"/>
                      </a:xfrm>
                      <a:prstGeom prst="rect">
                        <a:avLst/>
                      </a:prstGeom>
                      <a:noFill/>
                      <a:ln w="38100" cmpd="dbl">
                        <a:solidFill>
                          <a:srgbClr val="6666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6" name="Rectangle 9">
            <a:extLst>
              <a:ext uri="{FF2B5EF4-FFF2-40B4-BE49-F238E27FC236}">
                <a16:creationId xmlns:a16="http://schemas.microsoft.com/office/drawing/2014/main" id="{F5350770-A325-85AB-C545-3B5F70ED80F6}"/>
              </a:ext>
            </a:extLst>
          </p:cNvPr>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12" name="矩形 11">
            <a:extLst>
              <a:ext uri="{FF2B5EF4-FFF2-40B4-BE49-F238E27FC236}">
                <a16:creationId xmlns:a16="http://schemas.microsoft.com/office/drawing/2014/main" id="{D4AE4E23-C4E6-F10C-9658-2635A6915050}"/>
              </a:ext>
            </a:extLst>
          </p:cNvPr>
          <p:cNvSpPr/>
          <p:nvPr/>
        </p:nvSpPr>
        <p:spPr>
          <a:xfrm>
            <a:off x="642938" y="1000125"/>
            <a:ext cx="3571875" cy="1200150"/>
          </a:xfrm>
          <a:prstGeom prst="rect">
            <a:avLst/>
          </a:prstGeom>
        </p:spPr>
        <p:txBody>
          <a:bodyPr>
            <a:spAutoFit/>
          </a:bodyPr>
          <a:lstStyle/>
          <a:p>
            <a:pPr>
              <a:lnSpc>
                <a:spcPct val="150000"/>
              </a:lnSpc>
              <a:defRPr/>
            </a:pPr>
            <a:r>
              <a:rPr lang="en-US" altLang="zh-CN" sz="2800" i="1" kern="0" dirty="0" err="1">
                <a:solidFill>
                  <a:srgbClr val="0000CC"/>
                </a:solidFill>
                <a:latin typeface="Arial" pitchFamily="34" charset="0"/>
                <a:ea typeface="微软雅黑" pitchFamily="34" charset="-122"/>
                <a:cs typeface="Arial" pitchFamily="34" charset="0"/>
              </a:rPr>
              <a:t>v</a:t>
            </a:r>
            <a:r>
              <a:rPr lang="en-US" altLang="zh-CN" sz="2800" kern="0" baseline="-25000" dirty="0" err="1">
                <a:solidFill>
                  <a:srgbClr val="0000CC"/>
                </a:solidFill>
                <a:latin typeface="Arial" pitchFamily="34" charset="0"/>
                <a:ea typeface="微软雅黑" pitchFamily="34" charset="-122"/>
                <a:cs typeface="Arial" pitchFamily="34" charset="0"/>
              </a:rPr>
              <a:t>c</a:t>
            </a:r>
            <a:r>
              <a:rPr lang="en-US" altLang="zh-CN" sz="2800" kern="0" baseline="-25000" dirty="0">
                <a:solidFill>
                  <a:srgbClr val="0000CC"/>
                </a:solidFill>
                <a:latin typeface="Arial" pitchFamily="34" charset="0"/>
                <a:ea typeface="微软雅黑" pitchFamily="34" charset="-122"/>
                <a:cs typeface="Arial" pitchFamily="34" charset="0"/>
              </a:rPr>
              <a:t> </a:t>
            </a:r>
            <a:r>
              <a:rPr lang="en-US" altLang="zh-CN" sz="2800" kern="0" baseline="-25000" dirty="0">
                <a:latin typeface="Arial" pitchFamily="34" charset="0"/>
                <a:ea typeface="微软雅黑" pitchFamily="34" charset="-122"/>
                <a:cs typeface="Arial" pitchFamily="34" charset="0"/>
              </a:rPr>
              <a:t> </a:t>
            </a:r>
            <a:r>
              <a:rPr lang="zh-CN" altLang="en-US" sz="200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经过低通滤波后</a:t>
            </a:r>
            <a:r>
              <a:rPr lang="zh-CN" altLang="en-US" sz="2000" kern="0" dirty="0">
                <a:solidFill>
                  <a:srgbClr val="000000"/>
                </a:solidFill>
                <a:latin typeface="微软雅黑" pitchFamily="34" charset="-122"/>
                <a:ea typeface="微软雅黑" pitchFamily="34" charset="-122"/>
              </a:rPr>
              <a:t>，得到</a:t>
            </a:r>
            <a:endParaRPr lang="en-US" altLang="zh-CN" sz="2000" kern="0" dirty="0">
              <a:solidFill>
                <a:srgbClr val="000000"/>
              </a:solidFill>
              <a:latin typeface="微软雅黑" pitchFamily="34" charset="-122"/>
              <a:ea typeface="微软雅黑" pitchFamily="34" charset="-122"/>
            </a:endParaRPr>
          </a:p>
          <a:p>
            <a:pPr>
              <a:lnSpc>
                <a:spcPct val="150000"/>
              </a:lnSpc>
              <a:defRPr/>
            </a:pPr>
            <a:r>
              <a:rPr lang="zh-CN" altLang="en-US" sz="2000" b="1" kern="0" dirty="0">
                <a:solidFill>
                  <a:srgbClr val="000000"/>
                </a:solidFill>
                <a:latin typeface="微软雅黑" pitchFamily="34" charset="-122"/>
                <a:ea typeface="微软雅黑" pitchFamily="34" charset="-122"/>
              </a:rPr>
              <a:t>解调输出</a:t>
            </a:r>
            <a:r>
              <a:rPr lang="zh-CN" altLang="en-US" sz="2000" kern="0" dirty="0">
                <a:solidFill>
                  <a:srgbClr val="000000"/>
                </a:solidFill>
                <a:latin typeface="微软雅黑" pitchFamily="34" charset="-122"/>
                <a:ea typeface="微软雅黑" pitchFamily="34" charset="-122"/>
              </a:rPr>
              <a:t>： </a:t>
            </a:r>
            <a:endParaRPr lang="zh-CN" altLang="en-US" sz="2000" dirty="0">
              <a:latin typeface="微软雅黑" pitchFamily="34" charset="-122"/>
              <a:ea typeface="微软雅黑" pitchFamily="34" charset="-122"/>
            </a:endParaRPr>
          </a:p>
        </p:txBody>
      </p:sp>
      <p:graphicFrame>
        <p:nvGraphicFramePr>
          <p:cNvPr id="2" name="Object 9">
            <a:extLst>
              <a:ext uri="{FF2B5EF4-FFF2-40B4-BE49-F238E27FC236}">
                <a16:creationId xmlns:a16="http://schemas.microsoft.com/office/drawing/2014/main" id="{58A50000-015C-F960-3611-FC99EED7C43B}"/>
              </a:ext>
            </a:extLst>
          </p:cNvPr>
          <p:cNvGraphicFramePr>
            <a:graphicFrameLocks noChangeAspect="1"/>
          </p:cNvGraphicFramePr>
          <p:nvPr/>
        </p:nvGraphicFramePr>
        <p:xfrm>
          <a:off x="1857375" y="4714875"/>
          <a:ext cx="5929313" cy="1814513"/>
        </p:xfrm>
        <a:graphic>
          <a:graphicData uri="http://schemas.openxmlformats.org/presentationml/2006/ole">
            <mc:AlternateContent xmlns:mc="http://schemas.openxmlformats.org/markup-compatibility/2006">
              <mc:Choice xmlns:v="urn:schemas-microsoft-com:vml" Requires="v">
                <p:oleObj name="Equation" r:id="rId5" imgW="2654280" imgH="812520" progId="Equation.DSMT4">
                  <p:embed/>
                </p:oleObj>
              </mc:Choice>
              <mc:Fallback>
                <p:oleObj name="Equation" r:id="rId5" imgW="2654280" imgH="81252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57375" y="4714875"/>
                        <a:ext cx="5929313" cy="181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mpd="dbl">
                            <a:solidFill>
                              <a:srgbClr val="6666FF"/>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10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6870"/>
                                        </p:tgtEl>
                                        <p:attrNameLst>
                                          <p:attrName>style.visibility</p:attrName>
                                        </p:attrNameLst>
                                      </p:cBhvr>
                                      <p:to>
                                        <p:strVal val="visible"/>
                                      </p:to>
                                    </p:set>
                                    <p:animEffect transition="in" filter="wipe(up)">
                                      <p:cBhvr>
                                        <p:cTn id="12" dur="1000"/>
                                        <p:tgtEl>
                                          <p:spTgt spid="3687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36867">
                                            <p:txEl>
                                              <p:pRg st="0" end="0"/>
                                            </p:txEl>
                                          </p:spTgt>
                                        </p:tgtEl>
                                        <p:attrNameLst>
                                          <p:attrName>style.visibility</p:attrName>
                                        </p:attrNameLst>
                                      </p:cBhvr>
                                      <p:to>
                                        <p:strVal val="visible"/>
                                      </p:to>
                                    </p:set>
                                    <p:animEffect transition="in" filter="wipe(up)">
                                      <p:cBhvr>
                                        <p:cTn id="17" dur="1000"/>
                                        <p:tgtEl>
                                          <p:spTgt spid="36867">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up)">
                                      <p:cBhvr>
                                        <p:cTn id="22"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a:extLst>
              <a:ext uri="{FF2B5EF4-FFF2-40B4-BE49-F238E27FC236}">
                <a16:creationId xmlns:a16="http://schemas.microsoft.com/office/drawing/2014/main" id="{566DB4A4-98D0-FFB8-E15B-4B889F585AFE}"/>
              </a:ext>
            </a:extLst>
          </p:cNvPr>
          <p:cNvSpPr>
            <a:spLocks noGrp="1" noChangeArrowheads="1"/>
          </p:cNvSpPr>
          <p:nvPr>
            <p:ph type="body" idx="1"/>
          </p:nvPr>
        </p:nvSpPr>
        <p:spPr bwMode="auto">
          <a:xfrm>
            <a:off x="1500188" y="5857875"/>
            <a:ext cx="6643687" cy="57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ct val="150000"/>
              </a:lnSpc>
              <a:buFont typeface="Wingdings" panose="05000000000000000000" pitchFamily="2" charset="2"/>
              <a:buNone/>
            </a:pPr>
            <a:r>
              <a:rPr lang="en-US" altLang="zh-CN" sz="2000">
                <a:latin typeface="微软雅黑" panose="020B0503020204020204" pitchFamily="34" charset="-122"/>
                <a:ea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rPr>
              <a:t>该控制电压 与 科斯塔斯环的控制电压公式相同。</a:t>
            </a:r>
          </a:p>
        </p:txBody>
      </p:sp>
      <p:sp>
        <p:nvSpPr>
          <p:cNvPr id="8199" name="Rectangle 5">
            <a:extLst>
              <a:ext uri="{FF2B5EF4-FFF2-40B4-BE49-F238E27FC236}">
                <a16:creationId xmlns:a16="http://schemas.microsoft.com/office/drawing/2014/main" id="{EED5BC1C-A48D-8DE7-95EA-DFF2EBDB1DD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aphicFrame>
        <p:nvGraphicFramePr>
          <p:cNvPr id="37892" name="Object 2">
            <a:extLst>
              <a:ext uri="{FF2B5EF4-FFF2-40B4-BE49-F238E27FC236}">
                <a16:creationId xmlns:a16="http://schemas.microsoft.com/office/drawing/2014/main" id="{9D737865-AA24-6B18-11CE-AB564752BF9F}"/>
              </a:ext>
            </a:extLst>
          </p:cNvPr>
          <p:cNvGraphicFramePr>
            <a:graphicFrameLocks noChangeAspect="1"/>
          </p:cNvGraphicFramePr>
          <p:nvPr/>
        </p:nvGraphicFramePr>
        <p:xfrm>
          <a:off x="1255713" y="3297238"/>
          <a:ext cx="6407150" cy="774700"/>
        </p:xfrm>
        <a:graphic>
          <a:graphicData uri="http://schemas.openxmlformats.org/presentationml/2006/ole">
            <mc:AlternateContent xmlns:mc="http://schemas.openxmlformats.org/markup-compatibility/2006">
              <mc:Choice xmlns:v="urn:schemas-microsoft-com:vml" Requires="v">
                <p:oleObj name="公式" r:id="rId2" imgW="3263760" imgH="393480" progId="Equation.3">
                  <p:embed/>
                </p:oleObj>
              </mc:Choice>
              <mc:Fallback>
                <p:oleObj name="公式" r:id="rId2" imgW="3263760" imgH="39348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5713" y="3297238"/>
                        <a:ext cx="6407150"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0" name="Rectangle 7">
            <a:extLst>
              <a:ext uri="{FF2B5EF4-FFF2-40B4-BE49-F238E27FC236}">
                <a16:creationId xmlns:a16="http://schemas.microsoft.com/office/drawing/2014/main" id="{00A384D3-306F-CB8F-C772-434F56C2665A}"/>
              </a:ext>
            </a:extLst>
          </p:cNvPr>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8201" name="Rectangle 9">
            <a:extLst>
              <a:ext uri="{FF2B5EF4-FFF2-40B4-BE49-F238E27FC236}">
                <a16:creationId xmlns:a16="http://schemas.microsoft.com/office/drawing/2014/main" id="{084B710D-C064-902A-37B3-114142F02AF2}"/>
              </a:ext>
            </a:extLst>
          </p:cNvPr>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11" name="矩形 10">
            <a:extLst>
              <a:ext uri="{FF2B5EF4-FFF2-40B4-BE49-F238E27FC236}">
                <a16:creationId xmlns:a16="http://schemas.microsoft.com/office/drawing/2014/main" id="{A4DA02D4-747F-7CC5-F08C-D444FB565370}"/>
              </a:ext>
            </a:extLst>
          </p:cNvPr>
          <p:cNvSpPr/>
          <p:nvPr/>
        </p:nvSpPr>
        <p:spPr>
          <a:xfrm>
            <a:off x="785813" y="4191000"/>
            <a:ext cx="8143875" cy="523875"/>
          </a:xfrm>
          <a:prstGeom prst="rect">
            <a:avLst/>
          </a:prstGeom>
        </p:spPr>
        <p:txBody>
          <a:bodyPr>
            <a:spAutoFit/>
          </a:bodyPr>
          <a:lstStyle/>
          <a:p>
            <a:pPr>
              <a:defRPr/>
            </a:pPr>
            <a:r>
              <a:rPr lang="en-US" altLang="zh-CN" sz="2800" i="1" kern="0" dirty="0" err="1">
                <a:solidFill>
                  <a:srgbClr val="0000CC"/>
                </a:solidFill>
                <a:latin typeface="Arial" pitchFamily="34" charset="0"/>
                <a:ea typeface="微软雅黑" pitchFamily="34" charset="-122"/>
                <a:cs typeface="Arial" pitchFamily="34" charset="0"/>
              </a:rPr>
              <a:t>v</a:t>
            </a:r>
            <a:r>
              <a:rPr lang="en-US" altLang="zh-CN" sz="2800" i="1" kern="0" baseline="-25000" dirty="0" err="1">
                <a:solidFill>
                  <a:srgbClr val="0000CC"/>
                </a:solidFill>
                <a:latin typeface="Arial" pitchFamily="34" charset="0"/>
                <a:ea typeface="微软雅黑" pitchFamily="34" charset="-122"/>
                <a:cs typeface="Arial" pitchFamily="34" charset="0"/>
              </a:rPr>
              <a:t>f</a:t>
            </a:r>
            <a:r>
              <a:rPr lang="en-US" altLang="zh-CN" sz="2800" i="1" kern="0" baseline="-25000" dirty="0">
                <a:solidFill>
                  <a:srgbClr val="0000CC"/>
                </a:solidFill>
                <a:latin typeface="Arial" pitchFamily="34" charset="0"/>
                <a:ea typeface="微软雅黑" pitchFamily="34" charset="-122"/>
                <a:cs typeface="Arial" pitchFamily="34" charset="0"/>
              </a:rPr>
              <a:t> </a:t>
            </a:r>
            <a:r>
              <a:rPr lang="en-US" altLang="zh-CN" sz="2800" i="1" kern="0" baseline="-25000" dirty="0">
                <a:latin typeface="Times New Roman" pitchFamily="18" charset="0"/>
                <a:ea typeface="微软雅黑" pitchFamily="34" charset="-122"/>
                <a:cs typeface="Times New Roman" pitchFamily="18" charset="0"/>
              </a:rPr>
              <a:t> </a:t>
            </a:r>
            <a:r>
              <a:rPr lang="zh-CN" altLang="en-US" sz="2000" kern="0" dirty="0">
                <a:latin typeface="微软雅黑" pitchFamily="34" charset="-122"/>
                <a:ea typeface="微软雅黑" pitchFamily="34" charset="-122"/>
              </a:rPr>
              <a:t>经过窄带低通滤波后，得到压控振荡器的</a:t>
            </a:r>
            <a:r>
              <a:rPr lang="zh-CN" altLang="en-US" sz="2000" kern="0" dirty="0">
                <a:effectLst>
                  <a:outerShdw blurRad="38100" dist="38100" dir="2700000" algn="tl">
                    <a:srgbClr val="000000">
                      <a:alpha val="43137"/>
                    </a:srgbClr>
                  </a:outerShdw>
                </a:effectLst>
                <a:latin typeface="微软雅黑" pitchFamily="34" charset="-122"/>
                <a:ea typeface="微软雅黑" pitchFamily="34" charset="-122"/>
              </a:rPr>
              <a:t>控制电压：</a:t>
            </a:r>
            <a:endParaRPr lang="zh-CN" altLang="en-US" sz="2000" dirty="0">
              <a:effectLst>
                <a:outerShdw blurRad="38100" dist="38100" dir="2700000" algn="tl">
                  <a:srgbClr val="000000">
                    <a:alpha val="43137"/>
                  </a:srgbClr>
                </a:outerShdw>
              </a:effectLst>
              <a:latin typeface="微软雅黑" pitchFamily="34" charset="-122"/>
              <a:ea typeface="微软雅黑" pitchFamily="34" charset="-122"/>
            </a:endParaRPr>
          </a:p>
        </p:txBody>
      </p:sp>
      <p:graphicFrame>
        <p:nvGraphicFramePr>
          <p:cNvPr id="14339" name="Object 4">
            <a:extLst>
              <a:ext uri="{FF2B5EF4-FFF2-40B4-BE49-F238E27FC236}">
                <a16:creationId xmlns:a16="http://schemas.microsoft.com/office/drawing/2014/main" id="{85A436EC-E312-693C-66A6-61BC5A92B321}"/>
              </a:ext>
            </a:extLst>
          </p:cNvPr>
          <p:cNvGraphicFramePr>
            <a:graphicFrameLocks noChangeAspect="1"/>
          </p:cNvGraphicFramePr>
          <p:nvPr/>
        </p:nvGraphicFramePr>
        <p:xfrm>
          <a:off x="1714500" y="4852988"/>
          <a:ext cx="5929313" cy="933450"/>
        </p:xfrm>
        <a:graphic>
          <a:graphicData uri="http://schemas.openxmlformats.org/presentationml/2006/ole">
            <mc:AlternateContent xmlns:mc="http://schemas.openxmlformats.org/markup-compatibility/2006">
              <mc:Choice xmlns:v="urn:schemas-microsoft-com:vml" Requires="v">
                <p:oleObj name="Equation" r:id="rId4" imgW="2476440" imgH="393480" progId="Equation.DSMT4">
                  <p:embed/>
                </p:oleObj>
              </mc:Choice>
              <mc:Fallback>
                <p:oleObj name="Equation" r:id="rId4" imgW="2476440" imgH="39348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14500" y="4852988"/>
                        <a:ext cx="5929313" cy="933450"/>
                      </a:xfrm>
                      <a:prstGeom prst="rect">
                        <a:avLst/>
                      </a:prstGeom>
                      <a:noFill/>
                      <a:ln w="38100" cmpd="dbl">
                        <a:solidFill>
                          <a:srgbClr val="6666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矩形 11">
            <a:extLst>
              <a:ext uri="{FF2B5EF4-FFF2-40B4-BE49-F238E27FC236}">
                <a16:creationId xmlns:a16="http://schemas.microsoft.com/office/drawing/2014/main" id="{0A14E1E4-D50C-094F-A5B0-B885A130C16C}"/>
              </a:ext>
            </a:extLst>
          </p:cNvPr>
          <p:cNvSpPr/>
          <p:nvPr/>
        </p:nvSpPr>
        <p:spPr>
          <a:xfrm>
            <a:off x="857250" y="928688"/>
            <a:ext cx="5805488" cy="652462"/>
          </a:xfrm>
          <a:prstGeom prst="rect">
            <a:avLst/>
          </a:prstGeom>
        </p:spPr>
        <p:txBody>
          <a:bodyPr>
            <a:spAutoFit/>
          </a:bodyPr>
          <a:lstStyle/>
          <a:p>
            <a:pPr marL="342900" indent="-342900" eaLnBrk="0" hangingPunct="0">
              <a:lnSpc>
                <a:spcPct val="130000"/>
              </a:lnSpc>
              <a:spcBef>
                <a:spcPct val="20000"/>
              </a:spcBef>
              <a:buClr>
                <a:srgbClr val="3333CC"/>
              </a:buClr>
              <a:buSzPct val="60000"/>
              <a:defRPr/>
            </a:pPr>
            <a:r>
              <a:rPr lang="en-US" altLang="zh-CN" sz="2800" i="1" kern="0" dirty="0" err="1">
                <a:solidFill>
                  <a:srgbClr val="0000CC"/>
                </a:solidFill>
                <a:latin typeface="Arial" pitchFamily="34" charset="0"/>
                <a:ea typeface="微软雅黑" pitchFamily="34" charset="-122"/>
                <a:cs typeface="Arial" pitchFamily="34" charset="0"/>
              </a:rPr>
              <a:t>v</a:t>
            </a:r>
            <a:r>
              <a:rPr lang="en-US" altLang="zh-CN" sz="2800" i="1" kern="0" baseline="-25000" dirty="0" err="1">
                <a:solidFill>
                  <a:srgbClr val="0000CC"/>
                </a:solidFill>
                <a:latin typeface="Arial" pitchFamily="34" charset="0"/>
                <a:ea typeface="微软雅黑" pitchFamily="34" charset="-122"/>
                <a:cs typeface="Arial" pitchFamily="34" charset="0"/>
              </a:rPr>
              <a:t>e</a:t>
            </a:r>
            <a:r>
              <a:rPr lang="en-US" altLang="zh-CN" sz="2800" i="1" kern="0" baseline="-25000" dirty="0">
                <a:solidFill>
                  <a:srgbClr val="0000CC"/>
                </a:solidFill>
                <a:latin typeface="Arial" pitchFamily="34" charset="0"/>
                <a:ea typeface="微软雅黑" pitchFamily="34" charset="-122"/>
                <a:cs typeface="Arial" pitchFamily="34" charset="0"/>
              </a:rPr>
              <a:t> </a:t>
            </a:r>
            <a:r>
              <a:rPr lang="zh-CN" altLang="en-US" sz="2000" kern="0" dirty="0">
                <a:solidFill>
                  <a:srgbClr val="000000"/>
                </a:solidFill>
                <a:latin typeface="微软雅黑" pitchFamily="34" charset="-122"/>
                <a:ea typeface="微软雅黑" pitchFamily="34" charset="-122"/>
              </a:rPr>
              <a:t>与信号 </a:t>
            </a:r>
            <a:r>
              <a:rPr lang="en-US" altLang="zh-CN" sz="2800" i="1" kern="0" dirty="0">
                <a:solidFill>
                  <a:srgbClr val="000000"/>
                </a:solidFill>
                <a:latin typeface="Times New Roman" pitchFamily="18" charset="0"/>
                <a:ea typeface="微软雅黑" pitchFamily="34" charset="-122"/>
                <a:cs typeface="Times New Roman" pitchFamily="18" charset="0"/>
              </a:rPr>
              <a:t>s</a:t>
            </a:r>
            <a:r>
              <a:rPr lang="en-US" altLang="zh-CN" sz="2800" kern="0" dirty="0">
                <a:solidFill>
                  <a:srgbClr val="000000"/>
                </a:solidFill>
                <a:latin typeface="Times New Roman" pitchFamily="18" charset="0"/>
                <a:ea typeface="微软雅黑" pitchFamily="34" charset="-122"/>
                <a:cs typeface="Times New Roman" pitchFamily="18" charset="0"/>
              </a:rPr>
              <a:t>(</a:t>
            </a:r>
            <a:r>
              <a:rPr lang="en-US" altLang="zh-CN" sz="2800" i="1" kern="0" dirty="0">
                <a:solidFill>
                  <a:srgbClr val="000000"/>
                </a:solidFill>
                <a:latin typeface="Times New Roman" pitchFamily="18" charset="0"/>
                <a:ea typeface="微软雅黑" pitchFamily="34" charset="-122"/>
                <a:cs typeface="Times New Roman" pitchFamily="18" charset="0"/>
              </a:rPr>
              <a:t>t</a:t>
            </a:r>
            <a:r>
              <a:rPr lang="en-US" altLang="zh-CN" sz="2800" kern="0" dirty="0">
                <a:solidFill>
                  <a:srgbClr val="000000"/>
                </a:solidFill>
                <a:latin typeface="Times New Roman" pitchFamily="18" charset="0"/>
                <a:ea typeface="微软雅黑" pitchFamily="34" charset="-122"/>
                <a:cs typeface="Times New Roman" pitchFamily="18" charset="0"/>
              </a:rPr>
              <a:t>) </a:t>
            </a:r>
            <a:r>
              <a:rPr lang="zh-CN" altLang="en-US" sz="2000" kern="0" dirty="0">
                <a:solidFill>
                  <a:srgbClr val="000000"/>
                </a:solidFill>
                <a:latin typeface="微软雅黑" pitchFamily="34" charset="-122"/>
                <a:ea typeface="微软雅黑" pitchFamily="34" charset="-122"/>
              </a:rPr>
              <a:t>再次相乘，得到 </a:t>
            </a:r>
            <a:r>
              <a:rPr lang="en-US" altLang="zh-CN" sz="2800" i="1" kern="0" dirty="0">
                <a:solidFill>
                  <a:srgbClr val="000000"/>
                </a:solidFill>
                <a:latin typeface="Times New Roman" pitchFamily="18" charset="0"/>
                <a:ea typeface="微软雅黑" pitchFamily="34" charset="-122"/>
                <a:cs typeface="Times New Roman" pitchFamily="18" charset="0"/>
              </a:rPr>
              <a:t>f </a:t>
            </a:r>
            <a:r>
              <a:rPr lang="zh-CN" altLang="en-US" sz="2000" kern="0" dirty="0">
                <a:solidFill>
                  <a:srgbClr val="000000"/>
                </a:solidFill>
                <a:latin typeface="微软雅黑" pitchFamily="34" charset="-122"/>
                <a:ea typeface="微软雅黑" pitchFamily="34" charset="-122"/>
              </a:rPr>
              <a:t>点的电压</a:t>
            </a:r>
            <a:r>
              <a:rPr lang="zh-CN" altLang="en-US" sz="2000" kern="0" dirty="0">
                <a:solidFill>
                  <a:srgbClr val="000000"/>
                </a:solidFill>
                <a:latin typeface="+mn-ea"/>
                <a:ea typeface="+mn-ea"/>
              </a:rPr>
              <a:t>： </a:t>
            </a:r>
          </a:p>
        </p:txBody>
      </p:sp>
      <p:graphicFrame>
        <p:nvGraphicFramePr>
          <p:cNvPr id="13316" name="Object 9">
            <a:extLst>
              <a:ext uri="{FF2B5EF4-FFF2-40B4-BE49-F238E27FC236}">
                <a16:creationId xmlns:a16="http://schemas.microsoft.com/office/drawing/2014/main" id="{1139E987-5F7B-8BC8-3D09-A86F7C651283}"/>
              </a:ext>
            </a:extLst>
          </p:cNvPr>
          <p:cNvGraphicFramePr>
            <a:graphicFrameLocks noChangeAspect="1"/>
          </p:cNvGraphicFramePr>
          <p:nvPr/>
        </p:nvGraphicFramePr>
        <p:xfrm>
          <a:off x="933450" y="1643063"/>
          <a:ext cx="7567613" cy="857250"/>
        </p:xfrm>
        <a:graphic>
          <a:graphicData uri="http://schemas.openxmlformats.org/presentationml/2006/ole">
            <mc:AlternateContent xmlns:mc="http://schemas.openxmlformats.org/markup-compatibility/2006">
              <mc:Choice xmlns:v="urn:schemas-microsoft-com:vml" Requires="v">
                <p:oleObj name="Equation" r:id="rId6" imgW="3479760" imgH="393480" progId="Equation.DSMT4">
                  <p:embed/>
                </p:oleObj>
              </mc:Choice>
              <mc:Fallback>
                <p:oleObj name="Equation" r:id="rId6" imgW="3479760" imgH="393480" progId="Equation.DSMT4">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3450" y="1643063"/>
                        <a:ext cx="7567613"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mpd="dbl">
                            <a:solidFill>
                              <a:srgbClr val="6666FF"/>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graphicFrame>
        <p:nvGraphicFramePr>
          <p:cNvPr id="13" name="Object 12">
            <a:extLst>
              <a:ext uri="{FF2B5EF4-FFF2-40B4-BE49-F238E27FC236}">
                <a16:creationId xmlns:a16="http://schemas.microsoft.com/office/drawing/2014/main" id="{39ED2F2F-A04C-F08F-6CDB-523022B0E476}"/>
              </a:ext>
            </a:extLst>
          </p:cNvPr>
          <p:cNvGraphicFramePr>
            <a:graphicFrameLocks noChangeAspect="1"/>
          </p:cNvGraphicFramePr>
          <p:nvPr/>
        </p:nvGraphicFramePr>
        <p:xfrm>
          <a:off x="1285875" y="2500313"/>
          <a:ext cx="7710488" cy="750887"/>
        </p:xfrm>
        <a:graphic>
          <a:graphicData uri="http://schemas.openxmlformats.org/presentationml/2006/ole">
            <mc:AlternateContent xmlns:mc="http://schemas.openxmlformats.org/markup-compatibility/2006">
              <mc:Choice xmlns:v="urn:schemas-microsoft-com:vml" Requires="v">
                <p:oleObj name="Equation" r:id="rId8" imgW="4038480" imgH="393480" progId="Equation.DSMT4">
                  <p:embed/>
                </p:oleObj>
              </mc:Choice>
              <mc:Fallback>
                <p:oleObj name="Equation" r:id="rId8" imgW="4038480" imgH="393480" progId="Equation.DSMT4">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85875" y="2500313"/>
                        <a:ext cx="7710488" cy="75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mpd="dbl">
                            <a:solidFill>
                              <a:srgbClr val="6666FF"/>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10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3316"/>
                                        </p:tgtEl>
                                        <p:attrNameLst>
                                          <p:attrName>style.visibility</p:attrName>
                                        </p:attrNameLst>
                                      </p:cBhvr>
                                      <p:to>
                                        <p:strVal val="visible"/>
                                      </p:to>
                                    </p:set>
                                    <p:animEffect transition="in" filter="wipe(up)">
                                      <p:cBhvr>
                                        <p:cTn id="12" dur="1000"/>
                                        <p:tgtEl>
                                          <p:spTgt spid="133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up)">
                                      <p:cBhvr>
                                        <p:cTn id="17" dur="1000"/>
                                        <p:tgtEl>
                                          <p:spTgt spid="1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37892"/>
                                        </p:tgtEl>
                                        <p:attrNameLst>
                                          <p:attrName>style.visibility</p:attrName>
                                        </p:attrNameLst>
                                      </p:cBhvr>
                                      <p:to>
                                        <p:strVal val="visible"/>
                                      </p:to>
                                    </p:set>
                                    <p:animEffect transition="in" filter="wipe(up)">
                                      <p:cBhvr>
                                        <p:cTn id="22" dur="1000"/>
                                        <p:tgtEl>
                                          <p:spTgt spid="3789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up)">
                                      <p:cBhvr>
                                        <p:cTn id="27" dur="1000"/>
                                        <p:tgtEl>
                                          <p:spTgt spid="1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14339"/>
                                        </p:tgtEl>
                                        <p:attrNameLst>
                                          <p:attrName>style.visibility</p:attrName>
                                        </p:attrNameLst>
                                      </p:cBhvr>
                                      <p:to>
                                        <p:strVal val="visible"/>
                                      </p:to>
                                    </p:set>
                                    <p:animEffect transition="in" filter="wipe(up)">
                                      <p:cBhvr>
                                        <p:cTn id="32" dur="1000"/>
                                        <p:tgtEl>
                                          <p:spTgt spid="1433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37891">
                                            <p:txEl>
                                              <p:pRg st="0" end="0"/>
                                            </p:txEl>
                                          </p:spTgt>
                                        </p:tgtEl>
                                        <p:attrNameLst>
                                          <p:attrName>style.visibility</p:attrName>
                                        </p:attrNameLst>
                                      </p:cBhvr>
                                      <p:to>
                                        <p:strVal val="visible"/>
                                      </p:to>
                                    </p:set>
                                    <p:animEffect transition="in" filter="wipe(up)">
                                      <p:cBhvr>
                                        <p:cTn id="37" dur="1000"/>
                                        <p:tgtEl>
                                          <p:spTgt spid="3789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p:bldP spid="11" grpId="0"/>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6" name="Picture 6">
            <a:extLst>
              <a:ext uri="{FF2B5EF4-FFF2-40B4-BE49-F238E27FC236}">
                <a16:creationId xmlns:a16="http://schemas.microsoft.com/office/drawing/2014/main" id="{A67D6955-2D41-BE35-99C9-130625206979}"/>
              </a:ext>
            </a:extLst>
          </p:cNvPr>
          <p:cNvPicPr>
            <a:picLocks noChangeAspect="1" noChangeArrowheads="1"/>
          </p:cNvPicPr>
          <p:nvPr/>
        </p:nvPicPr>
        <p:blipFill>
          <a:blip r:embed="rId2"/>
          <a:srcRect b="78144"/>
          <a:stretch>
            <a:fillRect/>
          </a:stretch>
        </p:blipFill>
        <p:spPr bwMode="auto">
          <a:xfrm>
            <a:off x="955675" y="1858963"/>
            <a:ext cx="7402513" cy="998537"/>
          </a:xfrm>
          <a:prstGeom prst="rect">
            <a:avLst/>
          </a:prstGeom>
          <a:solidFill>
            <a:schemeClr val="bg1">
              <a:lumMod val="95000"/>
            </a:schemeClr>
          </a:solidFill>
          <a:ln w="9525" cap="flat" cmpd="sng">
            <a:noFill/>
            <a:prstDash val="solid"/>
            <a:miter lim="800000"/>
            <a:headEnd type="none" w="med" len="med"/>
            <a:tailEnd type="none" w="med" len="med"/>
          </a:ln>
          <a:effectLst/>
        </p:spPr>
      </p:pic>
      <p:graphicFrame>
        <p:nvGraphicFramePr>
          <p:cNvPr id="97286" name="Object 4">
            <a:extLst>
              <a:ext uri="{FF2B5EF4-FFF2-40B4-BE49-F238E27FC236}">
                <a16:creationId xmlns:a16="http://schemas.microsoft.com/office/drawing/2014/main" id="{F62CB76A-9EBA-DAF3-A4CC-9B1406410F68}"/>
              </a:ext>
            </a:extLst>
          </p:cNvPr>
          <p:cNvGraphicFramePr>
            <a:graphicFrameLocks noChangeAspect="1"/>
          </p:cNvGraphicFramePr>
          <p:nvPr/>
        </p:nvGraphicFramePr>
        <p:xfrm>
          <a:off x="3500438" y="2570163"/>
          <a:ext cx="2089150" cy="573087"/>
        </p:xfrm>
        <a:graphic>
          <a:graphicData uri="http://schemas.openxmlformats.org/presentationml/2006/ole">
            <mc:AlternateContent xmlns:mc="http://schemas.openxmlformats.org/markup-compatibility/2006">
              <mc:Choice xmlns:v="urn:schemas-microsoft-com:vml" Requires="v">
                <p:oleObj name="Equation" r:id="rId3" imgW="901309" imgH="228501" progId="Equation.DSMT4">
                  <p:embed/>
                </p:oleObj>
              </mc:Choice>
              <mc:Fallback>
                <p:oleObj name="Equation" r:id="rId3" imgW="901309" imgH="228501"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0438" y="2570163"/>
                        <a:ext cx="2089150" cy="573087"/>
                      </a:xfrm>
                      <a:prstGeom prst="rect">
                        <a:avLst/>
                      </a:prstGeom>
                      <a:noFill/>
                      <a:ln w="38100" cmpd="dbl">
                        <a:solidFill>
                          <a:srgbClr val="CCCCFF"/>
                        </a:solidFill>
                        <a:miter lim="800000"/>
                        <a:headEnd/>
                        <a:tailEnd/>
                      </a:ln>
                      <a:extLst>
                        <a:ext uri="{909E8E84-426E-40DD-AFC4-6F175D3DCCD1}">
                          <a14:hiddenFill xmlns:a14="http://schemas.microsoft.com/office/drawing/2010/main">
                            <a:solidFill>
                              <a:srgbClr val="E2E2E2"/>
                            </a:solidFill>
                          </a14:hiddenFill>
                        </a:ext>
                      </a:extLst>
                    </p:spPr>
                  </p:pic>
                </p:oleObj>
              </mc:Fallback>
            </mc:AlternateContent>
          </a:graphicData>
        </a:graphic>
      </p:graphicFrame>
      <p:sp>
        <p:nvSpPr>
          <p:cNvPr id="5" name="矩形 4">
            <a:extLst>
              <a:ext uri="{FF2B5EF4-FFF2-40B4-BE49-F238E27FC236}">
                <a16:creationId xmlns:a16="http://schemas.microsoft.com/office/drawing/2014/main" id="{90E99228-6A8C-3EE8-5726-74D4A3328A49}"/>
              </a:ext>
            </a:extLst>
          </p:cNvPr>
          <p:cNvSpPr>
            <a:spLocks noChangeArrowheads="1"/>
          </p:cNvSpPr>
          <p:nvPr/>
        </p:nvSpPr>
        <p:spPr bwMode="auto">
          <a:xfrm>
            <a:off x="285750" y="446088"/>
            <a:ext cx="4533900" cy="523875"/>
          </a:xfrm>
          <a:prstGeom prst="rect">
            <a:avLst/>
          </a:prstGeom>
          <a:noFill/>
          <a:ln w="9525">
            <a:noFill/>
            <a:miter lim="800000"/>
            <a:headEnd/>
            <a:tailEnd/>
          </a:ln>
          <a:effectLst>
            <a:outerShdw blurRad="50800" dist="38100" dir="2700000" algn="tl" rotWithShape="0">
              <a:prstClr val="black">
                <a:alpha val="40000"/>
              </a:prstClr>
            </a:outerShdw>
          </a:effectLst>
        </p:spPr>
        <p:txBody>
          <a:bodyPr>
            <a:spAutoFit/>
          </a:bodyPr>
          <a:lstStyle/>
          <a:p>
            <a:pPr>
              <a:defRPr/>
            </a:pPr>
            <a:r>
              <a:rPr lang="en-US" altLang="zh-CN" sz="2800" b="1" dirty="0">
                <a:solidFill>
                  <a:srgbClr val="990099"/>
                </a:solidFill>
                <a:latin typeface="微软雅黑" pitchFamily="34" charset="-122"/>
                <a:ea typeface="微软雅黑" pitchFamily="34" charset="-122"/>
              </a:rPr>
              <a:t>4.  </a:t>
            </a:r>
            <a:r>
              <a:rPr lang="en-US" altLang="zh-CN" sz="2800" b="1" kern="0" dirty="0">
                <a:solidFill>
                  <a:srgbClr val="0000CC"/>
                </a:solidFill>
                <a:latin typeface="Arial" pitchFamily="34" charset="0"/>
                <a:ea typeface="微软雅黑" pitchFamily="34" charset="-122"/>
                <a:cs typeface="Arial" pitchFamily="34" charset="0"/>
              </a:rPr>
              <a:t>MPSK</a:t>
            </a:r>
            <a:r>
              <a:rPr lang="zh-CN" altLang="en-US" sz="2800" b="1" kern="0" dirty="0">
                <a:solidFill>
                  <a:srgbClr val="0000CC"/>
                </a:solidFill>
                <a:latin typeface="微软雅黑" pitchFamily="34" charset="-122"/>
                <a:ea typeface="微软雅黑" pitchFamily="34" charset="-122"/>
              </a:rPr>
              <a:t>信号的载频恢复</a:t>
            </a:r>
            <a:endParaRPr lang="zh-CN" altLang="en-US" sz="2800" b="1" dirty="0">
              <a:solidFill>
                <a:srgbClr val="0000CC"/>
              </a:solidFill>
              <a:latin typeface="微软雅黑" pitchFamily="34" charset="-122"/>
              <a:ea typeface="微软雅黑" pitchFamily="34" charset="-122"/>
            </a:endParaRPr>
          </a:p>
        </p:txBody>
      </p:sp>
      <p:sp>
        <p:nvSpPr>
          <p:cNvPr id="6" name="矩形 5">
            <a:extLst>
              <a:ext uri="{FF2B5EF4-FFF2-40B4-BE49-F238E27FC236}">
                <a16:creationId xmlns:a16="http://schemas.microsoft.com/office/drawing/2014/main" id="{8D802FB4-149B-165B-A631-C082F021C833}"/>
              </a:ext>
            </a:extLst>
          </p:cNvPr>
          <p:cNvSpPr/>
          <p:nvPr/>
        </p:nvSpPr>
        <p:spPr>
          <a:xfrm>
            <a:off x="357188" y="1143000"/>
            <a:ext cx="8001000" cy="461963"/>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a:defRPr/>
            </a:pPr>
            <a:r>
              <a:rPr lang="en-US" altLang="zh-CN" sz="2400" b="1" dirty="0">
                <a:solidFill>
                  <a:srgbClr val="990099"/>
                </a:solidFill>
                <a:latin typeface="+mn-ea"/>
                <a:ea typeface="+mn-ea"/>
                <a:cs typeface="Arial" pitchFamily="34" charset="0"/>
              </a:rPr>
              <a:t>(</a:t>
            </a:r>
            <a:r>
              <a:rPr lang="en-US" altLang="zh-CN" sz="2400" b="1" dirty="0">
                <a:solidFill>
                  <a:srgbClr val="990099"/>
                </a:solidFill>
                <a:latin typeface="Arial" pitchFamily="34" charset="0"/>
                <a:ea typeface="+mn-ea"/>
                <a:cs typeface="Arial" pitchFamily="34" charset="0"/>
              </a:rPr>
              <a:t>1</a:t>
            </a:r>
            <a:r>
              <a:rPr lang="en-US" altLang="zh-CN" sz="2400" b="1" dirty="0">
                <a:solidFill>
                  <a:srgbClr val="990099"/>
                </a:solidFill>
                <a:latin typeface="+mn-ea"/>
                <a:ea typeface="+mn-ea"/>
                <a:cs typeface="Arial" pitchFamily="34" charset="0"/>
              </a:rPr>
              <a:t>) </a:t>
            </a:r>
            <a:r>
              <a:rPr lang="en-US" altLang="zh-CN" sz="2400" b="1" dirty="0">
                <a:solidFill>
                  <a:srgbClr val="990099"/>
                </a:solidFill>
                <a:latin typeface="微软雅黑" pitchFamily="34" charset="-122"/>
                <a:ea typeface="微软雅黑" pitchFamily="34" charset="-122"/>
                <a:cs typeface="Arial" pitchFamily="34" charset="0"/>
              </a:rPr>
              <a:t>M</a:t>
            </a:r>
            <a:r>
              <a:rPr lang="zh-CN" altLang="en-US" sz="2400" b="1" dirty="0">
                <a:solidFill>
                  <a:srgbClr val="990099"/>
                </a:solidFill>
                <a:latin typeface="微软雅黑" pitchFamily="34" charset="-122"/>
                <a:ea typeface="微软雅黑" pitchFamily="34" charset="-122"/>
                <a:cs typeface="Arial" pitchFamily="34" charset="0"/>
              </a:rPr>
              <a:t>方环法 </a:t>
            </a:r>
            <a:r>
              <a:rPr lang="en-US" altLang="zh-CN" sz="2400" dirty="0">
                <a:solidFill>
                  <a:srgbClr val="800080"/>
                </a:solidFill>
                <a:latin typeface="黑体" pitchFamily="2" charset="-122"/>
                <a:ea typeface="黑体" pitchFamily="2" charset="-122"/>
              </a:rPr>
              <a:t>——</a:t>
            </a:r>
            <a:r>
              <a:rPr lang="en-US" altLang="zh-CN" sz="2400" dirty="0">
                <a:latin typeface="黑体" pitchFamily="2" charset="-122"/>
                <a:ea typeface="黑体" pitchFamily="2" charset="-122"/>
              </a:rPr>
              <a:t> </a:t>
            </a:r>
            <a:r>
              <a:rPr lang="zh-CN" altLang="en-US" sz="2400" dirty="0">
                <a:latin typeface="黑体" pitchFamily="2" charset="-122"/>
                <a:ea typeface="黑体" pitchFamily="2" charset="-122"/>
              </a:rPr>
              <a:t>一种基于平方环法的推广</a:t>
            </a:r>
          </a:p>
        </p:txBody>
      </p:sp>
      <p:pic>
        <p:nvPicPr>
          <p:cNvPr id="8" name="Picture 6">
            <a:extLst>
              <a:ext uri="{FF2B5EF4-FFF2-40B4-BE49-F238E27FC236}">
                <a16:creationId xmlns:a16="http://schemas.microsoft.com/office/drawing/2014/main" id="{C332666D-8616-BBA0-7E5D-EF2EE9B87736}"/>
              </a:ext>
            </a:extLst>
          </p:cNvPr>
          <p:cNvPicPr>
            <a:picLocks noChangeAspect="1" noChangeArrowheads="1"/>
          </p:cNvPicPr>
          <p:nvPr/>
        </p:nvPicPr>
        <p:blipFill>
          <a:blip r:embed="rId2"/>
          <a:srcRect t="28131" b="48427"/>
          <a:stretch>
            <a:fillRect/>
          </a:stretch>
        </p:blipFill>
        <p:spPr bwMode="auto">
          <a:xfrm>
            <a:off x="1000125" y="3286125"/>
            <a:ext cx="7402513" cy="1071563"/>
          </a:xfrm>
          <a:prstGeom prst="rect">
            <a:avLst/>
          </a:prstGeom>
          <a:noFill/>
          <a:ln w="9525" cap="flat" cmpd="sng">
            <a:noFill/>
            <a:prstDash val="solid"/>
            <a:miter lim="800000"/>
            <a:headEnd type="none" w="med" len="med"/>
            <a:tailEnd type="none" w="med" len="med"/>
          </a:ln>
          <a:effectLst>
            <a:outerShdw blurRad="50800" dist="38100" dir="2700000" algn="tl" rotWithShape="0">
              <a:prstClr val="black">
                <a:alpha val="40000"/>
              </a:prstClr>
            </a:outerShdw>
          </a:effectLst>
        </p:spPr>
      </p:pic>
      <p:pic>
        <p:nvPicPr>
          <p:cNvPr id="9" name="Picture 6">
            <a:extLst>
              <a:ext uri="{FF2B5EF4-FFF2-40B4-BE49-F238E27FC236}">
                <a16:creationId xmlns:a16="http://schemas.microsoft.com/office/drawing/2014/main" id="{3EC55D61-4613-72B4-5CCF-4C76AD5C5E62}"/>
              </a:ext>
            </a:extLst>
          </p:cNvPr>
          <p:cNvPicPr>
            <a:picLocks noChangeAspect="1" noChangeArrowheads="1"/>
          </p:cNvPicPr>
          <p:nvPr/>
        </p:nvPicPr>
        <p:blipFill>
          <a:blip r:embed="rId2"/>
          <a:srcRect t="56262" b="20295"/>
          <a:stretch>
            <a:fillRect/>
          </a:stretch>
        </p:blipFill>
        <p:spPr bwMode="auto">
          <a:xfrm>
            <a:off x="1000125" y="4500563"/>
            <a:ext cx="7402513" cy="1071562"/>
          </a:xfrm>
          <a:prstGeom prst="rect">
            <a:avLst/>
          </a:prstGeom>
          <a:noFill/>
          <a:ln w="9525" cap="flat" cmpd="sng">
            <a:noFill/>
            <a:prstDash val="solid"/>
            <a:miter lim="800000"/>
            <a:headEnd type="none" w="med" len="med"/>
            <a:tailEnd type="none" w="med" len="med"/>
          </a:ln>
          <a:effectLst>
            <a:outerShdw blurRad="50800" dist="38100" dir="2700000" algn="tl" rotWithShape="0">
              <a:prstClr val="black">
                <a:alpha val="40000"/>
              </a:prstClr>
            </a:outerShdw>
          </a:effectLst>
        </p:spPr>
      </p:pic>
      <p:pic>
        <p:nvPicPr>
          <p:cNvPr id="10" name="Picture 6">
            <a:extLst>
              <a:ext uri="{FF2B5EF4-FFF2-40B4-BE49-F238E27FC236}">
                <a16:creationId xmlns:a16="http://schemas.microsoft.com/office/drawing/2014/main" id="{E9740906-3B6A-0B7F-DC94-92247729D1D7}"/>
              </a:ext>
            </a:extLst>
          </p:cNvPr>
          <p:cNvPicPr>
            <a:picLocks noChangeAspect="1" noChangeArrowheads="1"/>
          </p:cNvPicPr>
          <p:nvPr/>
        </p:nvPicPr>
        <p:blipFill>
          <a:blip r:embed="rId2"/>
          <a:srcRect t="87519" b="-22"/>
          <a:stretch>
            <a:fillRect/>
          </a:stretch>
        </p:blipFill>
        <p:spPr bwMode="auto">
          <a:xfrm>
            <a:off x="1000125" y="5786438"/>
            <a:ext cx="7402513" cy="571500"/>
          </a:xfrm>
          <a:prstGeom prst="rect">
            <a:avLst/>
          </a:prstGeom>
          <a:noFill/>
          <a:ln w="9525" cap="flat" cmpd="sng">
            <a:noFill/>
            <a:prstDash val="solid"/>
            <a:miter lim="800000"/>
            <a:headEnd type="none" w="med" len="med"/>
            <a:tailEnd type="none" w="med" len="med"/>
          </a:ln>
          <a:effectLst>
            <a:outerShdw blurRad="50800" dist="38100" dir="2700000" algn="tl" rotWithShape="0">
              <a:prstClr val="black">
                <a:alpha val="40000"/>
              </a:prstClr>
            </a:outerShdw>
          </a:effec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20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10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5366"/>
                                        </p:tgtEl>
                                        <p:attrNameLst>
                                          <p:attrName>style.visibility</p:attrName>
                                        </p:attrNameLst>
                                      </p:cBhvr>
                                      <p:to>
                                        <p:strVal val="visible"/>
                                      </p:to>
                                    </p:set>
                                    <p:animEffect transition="in" filter="wipe(up)">
                                      <p:cBhvr>
                                        <p:cTn id="17" dur="1000"/>
                                        <p:tgtEl>
                                          <p:spTgt spid="15366"/>
                                        </p:tgtEl>
                                      </p:cBhvr>
                                    </p:animEffect>
                                  </p:childTnLst>
                                </p:cTn>
                              </p:par>
                            </p:childTnLst>
                          </p:cTn>
                        </p:par>
                        <p:par>
                          <p:cTn id="18" fill="hold" nodeType="afterGroup">
                            <p:stCondLst>
                              <p:cond delay="1000"/>
                            </p:stCondLst>
                            <p:childTnLst>
                              <p:par>
                                <p:cTn id="19" presetID="20" presetClass="entr" presetSubtype="0" fill="hold" nodeType="afterEffect">
                                  <p:stCondLst>
                                    <p:cond delay="0"/>
                                  </p:stCondLst>
                                  <p:childTnLst>
                                    <p:set>
                                      <p:cBhvr>
                                        <p:cTn id="20" dur="1" fill="hold">
                                          <p:stCondLst>
                                            <p:cond delay="0"/>
                                          </p:stCondLst>
                                        </p:cTn>
                                        <p:tgtEl>
                                          <p:spTgt spid="97286"/>
                                        </p:tgtEl>
                                        <p:attrNameLst>
                                          <p:attrName>style.visibility</p:attrName>
                                        </p:attrNameLst>
                                      </p:cBhvr>
                                      <p:to>
                                        <p:strVal val="visible"/>
                                      </p:to>
                                    </p:set>
                                    <p:animEffect transition="in" filter="wedge">
                                      <p:cBhvr>
                                        <p:cTn id="21" dur="2000"/>
                                        <p:tgtEl>
                                          <p:spTgt spid="9728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up)">
                                      <p:cBhvr>
                                        <p:cTn id="26" dur="1000"/>
                                        <p:tgtEl>
                                          <p:spTgt spid="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up)">
                                      <p:cBhvr>
                                        <p:cTn id="31" dur="1000"/>
                                        <p:tgtEl>
                                          <p:spTgt spid="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up)">
                                      <p:cBhvr>
                                        <p:cTn id="3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7" name="Picture 2">
            <a:extLst>
              <a:ext uri="{FF2B5EF4-FFF2-40B4-BE49-F238E27FC236}">
                <a16:creationId xmlns:a16="http://schemas.microsoft.com/office/drawing/2014/main" id="{68740B82-054B-0600-043D-95C42F604A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063" y="1922463"/>
            <a:ext cx="6619875" cy="439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35">
            <a:extLst>
              <a:ext uri="{FF2B5EF4-FFF2-40B4-BE49-F238E27FC236}">
                <a16:creationId xmlns:a16="http://schemas.microsoft.com/office/drawing/2014/main" id="{58913603-8BED-D830-C646-A9B39CB230FB}"/>
              </a:ext>
            </a:extLst>
          </p:cNvPr>
          <p:cNvSpPr txBox="1">
            <a:spLocks noChangeArrowheads="1"/>
          </p:cNvSpPr>
          <p:nvPr/>
        </p:nvSpPr>
        <p:spPr bwMode="auto">
          <a:xfrm>
            <a:off x="7500938" y="1387475"/>
            <a:ext cx="752475" cy="857250"/>
          </a:xfrm>
          <a:prstGeom prst="rect">
            <a:avLst/>
          </a:prstGeom>
          <a:noFill/>
          <a:ln w="9525">
            <a:noFill/>
            <a:miter lim="800000"/>
            <a:headEnd/>
            <a:tailEnd/>
          </a:ln>
          <a:effectLst>
            <a:outerShdw blurRad="50800" dist="38100" dir="2700000" algn="tl" rotWithShape="0">
              <a:prstClr val="black">
                <a:alpha val="40000"/>
              </a:prstClr>
            </a:outerShdw>
          </a:effectLst>
        </p:spPr>
        <p:txBody>
          <a:bodyPr/>
          <a:lstStyle/>
          <a:p>
            <a:pPr algn="just">
              <a:lnSpc>
                <a:spcPts val="2800"/>
              </a:lnSpc>
              <a:defRPr/>
            </a:pPr>
            <a:r>
              <a:rPr lang="zh-CN" altLang="en-US" sz="2000" dirty="0">
                <a:solidFill>
                  <a:srgbClr val="0000CC"/>
                </a:solidFill>
                <a:latin typeface="微软雅黑" pitchFamily="34" charset="-122"/>
                <a:ea typeface="微软雅黑" pitchFamily="34" charset="-122"/>
              </a:rPr>
              <a:t>解调</a:t>
            </a:r>
            <a:endParaRPr lang="en-US" altLang="zh-CN" sz="2000" dirty="0">
              <a:solidFill>
                <a:srgbClr val="0000CC"/>
              </a:solidFill>
              <a:latin typeface="微软雅黑" pitchFamily="34" charset="-122"/>
              <a:ea typeface="微软雅黑" pitchFamily="34" charset="-122"/>
            </a:endParaRPr>
          </a:p>
          <a:p>
            <a:pPr algn="just">
              <a:lnSpc>
                <a:spcPts val="2800"/>
              </a:lnSpc>
              <a:defRPr/>
            </a:pPr>
            <a:r>
              <a:rPr lang="zh-CN" altLang="en-US" sz="2000" dirty="0">
                <a:solidFill>
                  <a:srgbClr val="0000CC"/>
                </a:solidFill>
                <a:latin typeface="微软雅黑" pitchFamily="34" charset="-122"/>
                <a:ea typeface="微软雅黑" pitchFamily="34" charset="-122"/>
              </a:rPr>
              <a:t>输出</a:t>
            </a:r>
          </a:p>
        </p:txBody>
      </p:sp>
      <p:graphicFrame>
        <p:nvGraphicFramePr>
          <p:cNvPr id="16386" name="Object 6">
            <a:extLst>
              <a:ext uri="{FF2B5EF4-FFF2-40B4-BE49-F238E27FC236}">
                <a16:creationId xmlns:a16="http://schemas.microsoft.com/office/drawing/2014/main" id="{447F2822-BB2A-F0EB-8A61-7F88AF9F4827}"/>
              </a:ext>
            </a:extLst>
          </p:cNvPr>
          <p:cNvGraphicFramePr>
            <a:graphicFrameLocks noChangeAspect="1"/>
          </p:cNvGraphicFramePr>
          <p:nvPr/>
        </p:nvGraphicFramePr>
        <p:xfrm>
          <a:off x="5578475" y="1285875"/>
          <a:ext cx="2036763" cy="2998788"/>
        </p:xfrm>
        <a:graphic>
          <a:graphicData uri="http://schemas.openxmlformats.org/presentationml/2006/ole">
            <mc:AlternateContent xmlns:mc="http://schemas.openxmlformats.org/markup-compatibility/2006">
              <mc:Choice xmlns:v="urn:schemas-microsoft-com:vml" Requires="v">
                <p:oleObj name="Visio" r:id="rId3" imgW="1387774" imgH="2050507" progId="Visio.Drawing.11">
                  <p:embed/>
                </p:oleObj>
              </mc:Choice>
              <mc:Fallback>
                <p:oleObj name="Visio" r:id="rId3" imgW="1387774" imgH="2050507" progId="Visio.Drawing.11">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78475" y="1285875"/>
                        <a:ext cx="2036763" cy="2998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矩形 7">
            <a:extLst>
              <a:ext uri="{FF2B5EF4-FFF2-40B4-BE49-F238E27FC236}">
                <a16:creationId xmlns:a16="http://schemas.microsoft.com/office/drawing/2014/main" id="{47A6F8D4-1824-460F-58CB-5B7F090CEE1A}"/>
              </a:ext>
            </a:extLst>
          </p:cNvPr>
          <p:cNvSpPr/>
          <p:nvPr/>
        </p:nvSpPr>
        <p:spPr>
          <a:xfrm>
            <a:off x="357188" y="785813"/>
            <a:ext cx="8001000" cy="461962"/>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a:defRPr/>
            </a:pPr>
            <a:r>
              <a:rPr lang="en-US" altLang="zh-CN" sz="2400" dirty="0">
                <a:solidFill>
                  <a:srgbClr val="990099"/>
                </a:solidFill>
                <a:latin typeface="+mn-ea"/>
                <a:ea typeface="+mn-ea"/>
                <a:cs typeface="Arial" pitchFamily="34" charset="0"/>
              </a:rPr>
              <a:t>(</a:t>
            </a:r>
            <a:r>
              <a:rPr lang="en-US" altLang="zh-CN" sz="2400" dirty="0">
                <a:solidFill>
                  <a:srgbClr val="990099"/>
                </a:solidFill>
                <a:latin typeface="Arial" pitchFamily="34" charset="0"/>
                <a:ea typeface="+mn-ea"/>
                <a:cs typeface="Arial" pitchFamily="34" charset="0"/>
              </a:rPr>
              <a:t>2</a:t>
            </a:r>
            <a:r>
              <a:rPr lang="en-US" altLang="zh-CN" sz="2400" dirty="0">
                <a:solidFill>
                  <a:srgbClr val="990099"/>
                </a:solidFill>
                <a:latin typeface="+mn-ea"/>
                <a:ea typeface="+mn-ea"/>
                <a:cs typeface="Arial" pitchFamily="34" charset="0"/>
              </a:rPr>
              <a:t>) </a:t>
            </a:r>
            <a:r>
              <a:rPr lang="zh-CN" altLang="en-US" sz="2400" dirty="0">
                <a:solidFill>
                  <a:srgbClr val="800080"/>
                </a:solidFill>
                <a:effectLst>
                  <a:outerShdw blurRad="38100" dist="38100" dir="2700000" algn="tl">
                    <a:srgbClr val="000000">
                      <a:alpha val="43137"/>
                    </a:srgbClr>
                  </a:outerShdw>
                </a:effectLst>
                <a:latin typeface="微软雅黑" pitchFamily="34" charset="-122"/>
                <a:ea typeface="微软雅黑" pitchFamily="34" charset="-122"/>
              </a:rPr>
              <a:t>基于</a:t>
            </a:r>
            <a:r>
              <a:rPr lang="zh-CN" altLang="en-US" sz="2400" b="1" kern="0" dirty="0">
                <a:solidFill>
                  <a:srgbClr val="990099"/>
                </a:solidFill>
                <a:latin typeface="Arial" pitchFamily="34" charset="0"/>
                <a:ea typeface="微软雅黑" pitchFamily="34" charset="-122"/>
                <a:cs typeface="Arial" pitchFamily="34" charset="0"/>
              </a:rPr>
              <a:t>科斯塔斯</a:t>
            </a:r>
            <a:r>
              <a:rPr lang="zh-CN" altLang="en-US" sz="2400" kern="0" dirty="0">
                <a:solidFill>
                  <a:srgbClr val="990099"/>
                </a:solidFill>
                <a:latin typeface="Arial" pitchFamily="34" charset="0"/>
                <a:ea typeface="微软雅黑" pitchFamily="34" charset="-122"/>
                <a:cs typeface="Arial" pitchFamily="34" charset="0"/>
              </a:rPr>
              <a:t>环</a:t>
            </a:r>
            <a:r>
              <a:rPr lang="zh-CN" altLang="en-US" sz="2400" dirty="0">
                <a:solidFill>
                  <a:srgbClr val="800080"/>
                </a:solidFill>
                <a:effectLst>
                  <a:outerShdw blurRad="38100" dist="38100" dir="2700000" algn="tl">
                    <a:srgbClr val="000000">
                      <a:alpha val="43137"/>
                    </a:srgbClr>
                  </a:outerShdw>
                </a:effectLst>
                <a:latin typeface="微软雅黑" pitchFamily="34" charset="-122"/>
                <a:ea typeface="微软雅黑" pitchFamily="34" charset="-122"/>
              </a:rPr>
              <a:t>的推广</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10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6387"/>
                                        </p:tgtEl>
                                        <p:attrNameLst>
                                          <p:attrName>style.visibility</p:attrName>
                                        </p:attrNameLst>
                                      </p:cBhvr>
                                      <p:to>
                                        <p:strVal val="visible"/>
                                      </p:to>
                                    </p:set>
                                    <p:animEffect transition="in" filter="wipe(up)">
                                      <p:cBhvr>
                                        <p:cTn id="12" dur="2000"/>
                                        <p:tgtEl>
                                          <p:spTgt spid="1638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6386"/>
                                        </p:tgtEl>
                                        <p:attrNameLst>
                                          <p:attrName>style.visibility</p:attrName>
                                        </p:attrNameLst>
                                      </p:cBhvr>
                                      <p:to>
                                        <p:strVal val="visible"/>
                                      </p:to>
                                    </p:set>
                                    <p:animEffect transition="in" filter="wipe(left)">
                                      <p:cBhvr>
                                        <p:cTn id="17" dur="2000"/>
                                        <p:tgtEl>
                                          <p:spTgt spid="16386"/>
                                        </p:tgtEl>
                                      </p:cBhvr>
                                    </p:animEffect>
                                  </p:childTnLst>
                                </p:cTn>
                              </p:par>
                            </p:childTnLst>
                          </p:cTn>
                        </p:par>
                        <p:par>
                          <p:cTn id="18" fill="hold" nodeType="afterGroup">
                            <p:stCondLst>
                              <p:cond delay="2000"/>
                            </p:stCondLst>
                            <p:childTnLst>
                              <p:par>
                                <p:cTn id="19" presetID="22" presetClass="entr" presetSubtype="8" fill="hold"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21"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0" name="Rectangle 102">
            <a:extLst>
              <a:ext uri="{FF2B5EF4-FFF2-40B4-BE49-F238E27FC236}">
                <a16:creationId xmlns:a16="http://schemas.microsoft.com/office/drawing/2014/main" id="{4E89F0A3-7409-8FDB-2537-2E542C80B427}"/>
              </a:ext>
            </a:extLst>
          </p:cNvPr>
          <p:cNvSpPr>
            <a:spLocks noChangeArrowheads="1"/>
          </p:cNvSpPr>
          <p:nvPr/>
        </p:nvSpPr>
        <p:spPr bwMode="auto">
          <a:xfrm>
            <a:off x="1897063" y="2382838"/>
            <a:ext cx="2532062" cy="2978150"/>
          </a:xfrm>
          <a:prstGeom prst="rect">
            <a:avLst/>
          </a:prstGeom>
          <a:noFill/>
          <a:ln w="38100" cmpd="dbl">
            <a:solidFill>
              <a:schemeClr val="bg1">
                <a:lumMod val="50000"/>
              </a:schemeClr>
            </a:solidFill>
            <a:miter lim="800000"/>
            <a:headEnd/>
            <a:tailEnd/>
          </a:ln>
        </p:spPr>
        <p:txBody>
          <a:bodyPr>
            <a:spAutoFit/>
          </a:bodyPr>
          <a:lstStyle/>
          <a:p>
            <a:pPr>
              <a:lnSpc>
                <a:spcPts val="4500"/>
              </a:lnSpc>
              <a:buClr>
                <a:srgbClr val="6600FF"/>
              </a:buClr>
              <a:buSzPct val="65000"/>
              <a:buFont typeface="Wingdings" pitchFamily="2" charset="2"/>
              <a:buNone/>
              <a:defRPr/>
            </a:pPr>
            <a:r>
              <a:rPr lang="en-US" altLang="zh-CN" sz="2400" dirty="0">
                <a:solidFill>
                  <a:srgbClr val="800080"/>
                </a:solidFill>
                <a:latin typeface="Arial" charset="0"/>
                <a:ea typeface="微软雅黑" pitchFamily="34" charset="-122"/>
                <a:cs typeface="Arial" charset="0"/>
              </a:rPr>
              <a:t> </a:t>
            </a:r>
            <a:r>
              <a:rPr lang="zh-CN" altLang="zh-CN" sz="2400" b="1" dirty="0">
                <a:solidFill>
                  <a:srgbClr val="800080"/>
                </a:solidFill>
                <a:latin typeface="Arial" charset="0"/>
                <a:ea typeface="微软雅黑" pitchFamily="34" charset="-122"/>
                <a:cs typeface="Arial" charset="0"/>
              </a:rPr>
              <a:t>指标</a:t>
            </a:r>
            <a:r>
              <a:rPr lang="zh-CN" altLang="zh-CN" sz="2400" b="1" dirty="0">
                <a:solidFill>
                  <a:srgbClr val="800080"/>
                </a:solidFill>
                <a:latin typeface="+mn-ea"/>
                <a:ea typeface="+mn-ea"/>
                <a:cs typeface="Arial" charset="0"/>
              </a:rPr>
              <a:t>：</a:t>
            </a:r>
            <a:endParaRPr lang="en-US" altLang="zh-CN" sz="2400" b="1" dirty="0">
              <a:solidFill>
                <a:srgbClr val="800080"/>
              </a:solidFill>
              <a:latin typeface="+mn-ea"/>
              <a:ea typeface="+mn-ea"/>
              <a:cs typeface="Arial" charset="0"/>
            </a:endParaRPr>
          </a:p>
          <a:p>
            <a:pPr>
              <a:lnSpc>
                <a:spcPts val="4500"/>
              </a:lnSpc>
              <a:buClr>
                <a:srgbClr val="6600FF"/>
              </a:buClr>
              <a:buSzPct val="65000"/>
              <a:buFont typeface="Wingdings" pitchFamily="2" charset="2"/>
              <a:buNone/>
              <a:defRPr/>
            </a:pPr>
            <a:r>
              <a:rPr lang="en-US" altLang="zh-CN" sz="2400" dirty="0">
                <a:effectLst>
                  <a:outerShdw blurRad="38100" dist="38100" dir="2700000" algn="tl">
                    <a:srgbClr val="000000">
                      <a:alpha val="43137"/>
                    </a:srgbClr>
                  </a:outerShdw>
                </a:effectLst>
                <a:latin typeface="Arial" charset="0"/>
                <a:ea typeface="微软雅黑" pitchFamily="34" charset="-122"/>
                <a:cs typeface="Arial" charset="0"/>
              </a:rPr>
              <a:t>  </a:t>
            </a:r>
            <a:r>
              <a:rPr lang="zh-CN" altLang="zh-CN" sz="2000" dirty="0">
                <a:effectLst>
                  <a:outerShdw blurRad="38100" dist="38100" dir="2700000" algn="tl">
                    <a:srgbClr val="000000">
                      <a:alpha val="43137"/>
                    </a:srgbClr>
                  </a:outerShdw>
                </a:effectLst>
                <a:latin typeface="Arial" charset="0"/>
                <a:ea typeface="微软雅黑" pitchFamily="34" charset="-122"/>
                <a:cs typeface="Arial" charset="0"/>
              </a:rPr>
              <a:t>效率</a:t>
            </a:r>
            <a:endParaRPr lang="en-US" altLang="zh-CN" sz="2000" dirty="0">
              <a:effectLst>
                <a:outerShdw blurRad="38100" dist="38100" dir="2700000" algn="tl">
                  <a:srgbClr val="000000">
                    <a:alpha val="43137"/>
                  </a:srgbClr>
                </a:outerShdw>
              </a:effectLst>
              <a:latin typeface="Arial" charset="0"/>
              <a:ea typeface="微软雅黑" pitchFamily="34" charset="-122"/>
              <a:cs typeface="Arial" charset="0"/>
            </a:endParaRPr>
          </a:p>
          <a:p>
            <a:pPr>
              <a:lnSpc>
                <a:spcPts val="4500"/>
              </a:lnSpc>
              <a:buClr>
                <a:srgbClr val="6600FF"/>
              </a:buClr>
              <a:buSzPct val="65000"/>
              <a:buFont typeface="Wingdings" pitchFamily="2" charset="2"/>
              <a:buNone/>
              <a:defRPr/>
            </a:pPr>
            <a:r>
              <a:rPr lang="en-US" altLang="zh-CN" sz="2000" dirty="0">
                <a:effectLst>
                  <a:outerShdw blurRad="38100" dist="38100" dir="2700000" algn="tl">
                    <a:srgbClr val="000000">
                      <a:alpha val="43137"/>
                    </a:srgbClr>
                  </a:outerShdw>
                </a:effectLst>
                <a:latin typeface="Arial" charset="0"/>
                <a:ea typeface="微软雅黑" pitchFamily="34" charset="-122"/>
                <a:cs typeface="Arial" charset="0"/>
              </a:rPr>
              <a:t>  </a:t>
            </a:r>
            <a:r>
              <a:rPr lang="zh-CN" altLang="zh-CN" sz="2000" dirty="0">
                <a:effectLst>
                  <a:outerShdw blurRad="38100" dist="38100" dir="2700000" algn="tl">
                    <a:srgbClr val="000000">
                      <a:alpha val="43137"/>
                    </a:srgbClr>
                  </a:outerShdw>
                </a:effectLst>
                <a:latin typeface="Arial" charset="0"/>
                <a:ea typeface="微软雅黑" pitchFamily="34" charset="-122"/>
                <a:cs typeface="Arial" charset="0"/>
              </a:rPr>
              <a:t>精度</a:t>
            </a:r>
            <a:endParaRPr lang="en-US" altLang="zh-CN" sz="2000" dirty="0">
              <a:effectLst>
                <a:outerShdw blurRad="38100" dist="38100" dir="2700000" algn="tl">
                  <a:srgbClr val="000000">
                    <a:alpha val="43137"/>
                  </a:srgbClr>
                </a:outerShdw>
              </a:effectLst>
              <a:latin typeface="Arial" charset="0"/>
              <a:ea typeface="微软雅黑" pitchFamily="34" charset="-122"/>
              <a:cs typeface="Arial" charset="0"/>
            </a:endParaRPr>
          </a:p>
          <a:p>
            <a:pPr>
              <a:lnSpc>
                <a:spcPts val="4500"/>
              </a:lnSpc>
              <a:buClr>
                <a:srgbClr val="6600FF"/>
              </a:buClr>
              <a:buSzPct val="65000"/>
              <a:defRPr/>
            </a:pPr>
            <a:r>
              <a:rPr lang="en-US" altLang="zh-CN" sz="2000" dirty="0">
                <a:effectLst>
                  <a:outerShdw blurRad="38100" dist="38100" dir="2700000" algn="tl">
                    <a:srgbClr val="000000">
                      <a:alpha val="43137"/>
                    </a:srgbClr>
                  </a:outerShdw>
                </a:effectLst>
                <a:latin typeface="Arial" charset="0"/>
                <a:ea typeface="微软雅黑" pitchFamily="34" charset="-122"/>
                <a:cs typeface="Arial" charset="0"/>
              </a:rPr>
              <a:t>  </a:t>
            </a:r>
            <a:r>
              <a:rPr lang="zh-CN" altLang="zh-CN" sz="2000" dirty="0">
                <a:effectLst>
                  <a:outerShdw blurRad="38100" dist="38100" dir="2700000" algn="tl">
                    <a:srgbClr val="000000">
                      <a:alpha val="43137"/>
                    </a:srgbClr>
                  </a:outerShdw>
                </a:effectLst>
                <a:latin typeface="Arial" charset="0"/>
                <a:ea typeface="微软雅黑" pitchFamily="34" charset="-122"/>
                <a:cs typeface="Arial" charset="0"/>
              </a:rPr>
              <a:t>同步建立时间</a:t>
            </a:r>
            <a:r>
              <a:rPr lang="en-US" altLang="zh-CN" sz="2800" i="1" dirty="0" err="1">
                <a:solidFill>
                  <a:srgbClr val="FF0000"/>
                </a:solidFill>
                <a:effectLst>
                  <a:outerShdw blurRad="38100" dist="38100" dir="2700000" algn="tl">
                    <a:srgbClr val="000000">
                      <a:alpha val="43137"/>
                    </a:srgbClr>
                  </a:outerShdw>
                </a:effectLst>
                <a:latin typeface="Arial" charset="0"/>
                <a:ea typeface="微软雅黑" pitchFamily="34" charset="-122"/>
                <a:cs typeface="Arial" charset="0"/>
              </a:rPr>
              <a:t>t</a:t>
            </a:r>
            <a:r>
              <a:rPr lang="en-US" altLang="zh-CN" sz="2800" baseline="-25000" dirty="0" err="1">
                <a:solidFill>
                  <a:srgbClr val="FF0000"/>
                </a:solidFill>
                <a:effectLst>
                  <a:outerShdw blurRad="38100" dist="38100" dir="2700000" algn="tl">
                    <a:srgbClr val="000000">
                      <a:alpha val="43137"/>
                    </a:srgbClr>
                  </a:outerShdw>
                </a:effectLst>
                <a:latin typeface="Arial" charset="0"/>
                <a:ea typeface="微软雅黑" pitchFamily="34" charset="-122"/>
                <a:cs typeface="Arial" charset="0"/>
              </a:rPr>
              <a:t>S</a:t>
            </a:r>
            <a:endParaRPr lang="en-US" altLang="zh-CN" sz="2800" dirty="0">
              <a:effectLst>
                <a:outerShdw blurRad="38100" dist="38100" dir="2700000" algn="tl">
                  <a:srgbClr val="000000">
                    <a:alpha val="43137"/>
                  </a:srgbClr>
                </a:outerShdw>
              </a:effectLst>
              <a:latin typeface="Arial" charset="0"/>
              <a:ea typeface="微软雅黑" pitchFamily="34" charset="-122"/>
              <a:cs typeface="Arial" charset="0"/>
            </a:endParaRPr>
          </a:p>
          <a:p>
            <a:pPr>
              <a:lnSpc>
                <a:spcPts val="4500"/>
              </a:lnSpc>
              <a:buClr>
                <a:srgbClr val="6600FF"/>
              </a:buClr>
              <a:buSzPct val="65000"/>
              <a:buFont typeface="Wingdings" pitchFamily="2" charset="2"/>
              <a:buNone/>
              <a:defRPr/>
            </a:pPr>
            <a:r>
              <a:rPr lang="en-US" altLang="zh-CN" sz="2400" dirty="0">
                <a:effectLst>
                  <a:outerShdw blurRad="38100" dist="38100" dir="2700000" algn="tl">
                    <a:srgbClr val="000000">
                      <a:alpha val="43137"/>
                    </a:srgbClr>
                  </a:outerShdw>
                </a:effectLst>
                <a:latin typeface="Arial" charset="0"/>
                <a:ea typeface="微软雅黑" pitchFamily="34" charset="-122"/>
                <a:cs typeface="Arial" charset="0"/>
              </a:rPr>
              <a:t>  </a:t>
            </a:r>
            <a:r>
              <a:rPr lang="zh-CN" altLang="zh-CN" sz="2000" dirty="0">
                <a:effectLst>
                  <a:outerShdw blurRad="38100" dist="38100" dir="2700000" algn="tl">
                    <a:srgbClr val="000000">
                      <a:alpha val="43137"/>
                    </a:srgbClr>
                  </a:outerShdw>
                </a:effectLst>
                <a:latin typeface="Arial" charset="0"/>
                <a:ea typeface="微软雅黑" pitchFamily="34" charset="-122"/>
                <a:cs typeface="Arial" charset="0"/>
              </a:rPr>
              <a:t>同步保持时间</a:t>
            </a:r>
            <a:r>
              <a:rPr lang="en-US" altLang="zh-CN" sz="2800" i="1" dirty="0" err="1">
                <a:solidFill>
                  <a:srgbClr val="FF0000"/>
                </a:solidFill>
                <a:latin typeface="Arial" charset="0"/>
                <a:ea typeface="微软雅黑" pitchFamily="34" charset="-122"/>
                <a:cs typeface="Arial" charset="0"/>
              </a:rPr>
              <a:t>t</a:t>
            </a:r>
            <a:r>
              <a:rPr lang="en-US" altLang="zh-CN" sz="2800" baseline="-25000" dirty="0" err="1">
                <a:solidFill>
                  <a:srgbClr val="FF0000"/>
                </a:solidFill>
                <a:latin typeface="Arial" charset="0"/>
                <a:ea typeface="微软雅黑" pitchFamily="34" charset="-122"/>
                <a:cs typeface="Arial" charset="0"/>
              </a:rPr>
              <a:t>C</a:t>
            </a:r>
            <a:endParaRPr lang="zh-CN" altLang="en-US" sz="2800" dirty="0">
              <a:latin typeface="Arial" charset="0"/>
              <a:ea typeface="微软雅黑" pitchFamily="34" charset="-122"/>
              <a:cs typeface="Arial" charset="0"/>
            </a:endParaRPr>
          </a:p>
        </p:txBody>
      </p:sp>
      <p:cxnSp>
        <p:nvCxnSpPr>
          <p:cNvPr id="8" name="直接连接符 7">
            <a:extLst>
              <a:ext uri="{FF2B5EF4-FFF2-40B4-BE49-F238E27FC236}">
                <a16:creationId xmlns:a16="http://schemas.microsoft.com/office/drawing/2014/main" id="{2B000363-6B57-35C4-0B35-ECA85F7D35D2}"/>
              </a:ext>
            </a:extLst>
          </p:cNvPr>
          <p:cNvCxnSpPr/>
          <p:nvPr/>
        </p:nvCxnSpPr>
        <p:spPr bwMode="auto">
          <a:xfrm flipH="1">
            <a:off x="4397375" y="2513013"/>
            <a:ext cx="484188" cy="852487"/>
          </a:xfrm>
          <a:prstGeom prst="line">
            <a:avLst/>
          </a:prstGeom>
          <a:solidFill>
            <a:schemeClr val="accent1"/>
          </a:solidFill>
          <a:ln w="9525" cap="flat" cmpd="dbl" algn="ctr">
            <a:noFill/>
            <a:prstDash val="solid"/>
            <a:round/>
            <a:headEnd type="none" w="med" len="med"/>
            <a:tailEnd type="none" w="med" len="med"/>
          </a:ln>
          <a:effectLst>
            <a:prstShdw prst="shdw17" dist="17961" dir="2700000">
              <a:schemeClr val="tx1">
                <a:gamma/>
                <a:shade val="60000"/>
                <a:invGamma/>
              </a:schemeClr>
            </a:prstShdw>
          </a:effectLst>
        </p:spPr>
      </p:cxnSp>
      <p:graphicFrame>
        <p:nvGraphicFramePr>
          <p:cNvPr id="88072" name="Object 8">
            <a:extLst>
              <a:ext uri="{FF2B5EF4-FFF2-40B4-BE49-F238E27FC236}">
                <a16:creationId xmlns:a16="http://schemas.microsoft.com/office/drawing/2014/main" id="{F3BF3738-DA8F-637E-FB0D-AEFD19475519}"/>
              </a:ext>
            </a:extLst>
          </p:cNvPr>
          <p:cNvGraphicFramePr>
            <a:graphicFrameLocks noChangeAspect="1"/>
          </p:cNvGraphicFramePr>
          <p:nvPr/>
        </p:nvGraphicFramePr>
        <p:xfrm>
          <a:off x="6143625" y="3727450"/>
          <a:ext cx="481013" cy="404813"/>
        </p:xfrm>
        <a:graphic>
          <a:graphicData uri="http://schemas.openxmlformats.org/presentationml/2006/ole">
            <mc:AlternateContent xmlns:mc="http://schemas.openxmlformats.org/markup-compatibility/2006">
              <mc:Choice xmlns:v="urn:schemas-microsoft-com:vml" Requires="v">
                <p:oleObj name="Equation" r:id="rId2" imgW="241200" imgH="203040" progId="Equation.DSMT4">
                  <p:embed/>
                </p:oleObj>
              </mc:Choice>
              <mc:Fallback>
                <p:oleObj name="Equation" r:id="rId2" imgW="241200" imgH="203040" progId="Equation.DSMT4">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3625" y="3727450"/>
                        <a:ext cx="481013" cy="404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矩形 11">
            <a:extLst>
              <a:ext uri="{FF2B5EF4-FFF2-40B4-BE49-F238E27FC236}">
                <a16:creationId xmlns:a16="http://schemas.microsoft.com/office/drawing/2014/main" id="{62AA1839-23F7-CA5F-0E62-048C00F48567}"/>
              </a:ext>
            </a:extLst>
          </p:cNvPr>
          <p:cNvSpPr>
            <a:spLocks noChangeArrowheads="1"/>
          </p:cNvSpPr>
          <p:nvPr/>
        </p:nvSpPr>
        <p:spPr bwMode="auto">
          <a:xfrm>
            <a:off x="4000500" y="2927350"/>
            <a:ext cx="4286250" cy="304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4600"/>
              </a:lnSpc>
            </a:pPr>
            <a:r>
              <a:rPr lang="en-US" altLang="zh-CN" sz="20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 </a:t>
            </a:r>
            <a:r>
              <a:rPr lang="zh-CN" altLang="en-US" sz="2000" b="1">
                <a:latin typeface="幼圆" panose="02010509060101010101" pitchFamily="49" charset="-122"/>
                <a:ea typeface="幼圆" panose="02010509060101010101" pitchFamily="49" charset="-122"/>
              </a:rPr>
              <a:t>少消耗发送功率（如直接法）</a:t>
            </a:r>
            <a:endParaRPr lang="en-US" altLang="zh-CN" sz="2000" b="1">
              <a:latin typeface="幼圆" panose="02010509060101010101" pitchFamily="49" charset="-122"/>
              <a:ea typeface="幼圆" panose="02010509060101010101" pitchFamily="49" charset="-122"/>
            </a:endParaRPr>
          </a:p>
          <a:p>
            <a:pPr eaLnBrk="1" hangingPunct="1">
              <a:lnSpc>
                <a:spcPts val="4600"/>
              </a:lnSpc>
            </a:pPr>
            <a:r>
              <a:rPr lang="en-US" altLang="zh-CN" sz="2000" b="1">
                <a:latin typeface="微软雅黑" panose="020B0503020204020204" pitchFamily="34" charset="-122"/>
                <a:ea typeface="微软雅黑" panose="020B0503020204020204" pitchFamily="34" charset="-122"/>
              </a:rPr>
              <a:t>--- </a:t>
            </a:r>
            <a:r>
              <a:rPr lang="zh-CN" altLang="en-US" sz="2000" b="1">
                <a:latin typeface="幼圆" panose="02010509060101010101" pitchFamily="49" charset="-122"/>
                <a:ea typeface="幼圆" panose="02010509060101010101" pitchFamily="49" charset="-122"/>
              </a:rPr>
              <a:t>小的相位误差</a:t>
            </a:r>
            <a:endParaRPr lang="en-US" altLang="zh-CN" sz="2000" b="1">
              <a:latin typeface="幼圆" panose="02010509060101010101" pitchFamily="49" charset="-122"/>
              <a:ea typeface="幼圆" panose="02010509060101010101" pitchFamily="49" charset="-122"/>
            </a:endParaRPr>
          </a:p>
          <a:p>
            <a:pPr eaLnBrk="1" hangingPunct="1">
              <a:lnSpc>
                <a:spcPts val="4600"/>
              </a:lnSpc>
            </a:pPr>
            <a:r>
              <a:rPr lang="en-US" altLang="zh-CN" sz="2000" b="1">
                <a:latin typeface="微软雅黑" panose="020B0503020204020204" pitchFamily="34" charset="-122"/>
                <a:ea typeface="微软雅黑" panose="020B0503020204020204" pitchFamily="34" charset="-122"/>
              </a:rPr>
              <a:t>--- </a:t>
            </a:r>
            <a:r>
              <a:rPr lang="zh-CN" altLang="en-US" sz="2000" b="1">
                <a:latin typeface="幼圆" panose="02010509060101010101" pitchFamily="49" charset="-122"/>
                <a:ea typeface="幼圆" panose="02010509060101010101" pitchFamily="49" charset="-122"/>
              </a:rPr>
              <a:t>开机或失步</a:t>
            </a:r>
            <a:r>
              <a:rPr lang="zh-CN" altLang="en-US" sz="2000" b="1">
                <a:latin typeface="幼圆" panose="02010509060101010101" pitchFamily="49" charset="-122"/>
                <a:ea typeface="幼圆" panose="02010509060101010101" pitchFamily="49" charset="-122"/>
                <a:sym typeface="Symbol" panose="05050102010706020507" pitchFamily="18" charset="2"/>
              </a:rPr>
              <a:t>到</a:t>
            </a:r>
            <a:r>
              <a:rPr lang="zh-CN" altLang="en-US" sz="2000" b="1">
                <a:latin typeface="幼圆" panose="02010509060101010101" pitchFamily="49" charset="-122"/>
                <a:ea typeface="幼圆" panose="02010509060101010101" pitchFamily="49" charset="-122"/>
              </a:rPr>
              <a:t>同步所需时间</a:t>
            </a:r>
            <a:endParaRPr lang="en-US" altLang="zh-CN" sz="2000" b="1">
              <a:latin typeface="幼圆" panose="02010509060101010101" pitchFamily="49" charset="-122"/>
              <a:ea typeface="幼圆" panose="02010509060101010101" pitchFamily="49" charset="-122"/>
            </a:endParaRPr>
          </a:p>
          <a:p>
            <a:pPr eaLnBrk="1" hangingPunct="1">
              <a:lnSpc>
                <a:spcPts val="4600"/>
              </a:lnSpc>
            </a:pPr>
            <a:r>
              <a:rPr lang="en-US" altLang="zh-CN" sz="2000" b="1">
                <a:latin typeface="微软雅黑" panose="020B0503020204020204" pitchFamily="34" charset="-122"/>
                <a:ea typeface="微软雅黑" panose="020B0503020204020204" pitchFamily="34" charset="-122"/>
              </a:rPr>
              <a:t>---</a:t>
            </a:r>
            <a:r>
              <a:rPr lang="en-US" altLang="zh-CN" sz="2400" b="1">
                <a:latin typeface="幼圆" panose="02010509060101010101" pitchFamily="49" charset="-122"/>
                <a:ea typeface="幼圆" panose="02010509060101010101" pitchFamily="49" charset="-122"/>
              </a:rPr>
              <a:t> </a:t>
            </a:r>
            <a:r>
              <a:rPr lang="zh-CN" altLang="en-US" sz="2000" b="1">
                <a:latin typeface="幼圆" panose="02010509060101010101" pitchFamily="49" charset="-122"/>
                <a:ea typeface="幼圆" panose="02010509060101010101" pitchFamily="49" charset="-122"/>
              </a:rPr>
              <a:t>同步建立后，若同步信号消失，</a:t>
            </a:r>
            <a:endParaRPr lang="en-US" altLang="zh-CN" sz="2000" b="1">
              <a:latin typeface="幼圆" panose="02010509060101010101" pitchFamily="49" charset="-122"/>
              <a:ea typeface="幼圆" panose="02010509060101010101" pitchFamily="49" charset="-122"/>
            </a:endParaRPr>
          </a:p>
          <a:p>
            <a:pPr eaLnBrk="1" hangingPunct="1">
              <a:lnSpc>
                <a:spcPts val="4600"/>
              </a:lnSpc>
            </a:pPr>
            <a:r>
              <a:rPr lang="en-US" altLang="zh-CN" sz="2000" b="1">
                <a:latin typeface="幼圆" panose="02010509060101010101" pitchFamily="49" charset="-122"/>
                <a:ea typeface="幼圆" panose="02010509060101010101" pitchFamily="49" charset="-122"/>
              </a:rPr>
              <a:t>    </a:t>
            </a:r>
            <a:r>
              <a:rPr lang="zh-CN" altLang="en-US" sz="2000" b="1">
                <a:latin typeface="幼圆" panose="02010509060101010101" pitchFamily="49" charset="-122"/>
                <a:ea typeface="幼圆" panose="02010509060101010101" pitchFamily="49" charset="-122"/>
              </a:rPr>
              <a:t>系统还能维持同步的时间</a:t>
            </a:r>
          </a:p>
        </p:txBody>
      </p:sp>
      <p:sp>
        <p:nvSpPr>
          <p:cNvPr id="32777" name="矩形 4">
            <a:extLst>
              <a:ext uri="{FF2B5EF4-FFF2-40B4-BE49-F238E27FC236}">
                <a16:creationId xmlns:a16="http://schemas.microsoft.com/office/drawing/2014/main" id="{023CA5C2-FF29-0FC8-B76B-502075168C3F}"/>
              </a:ext>
            </a:extLst>
          </p:cNvPr>
          <p:cNvSpPr>
            <a:spLocks noChangeArrowheads="1"/>
          </p:cNvSpPr>
          <p:nvPr/>
        </p:nvSpPr>
        <p:spPr bwMode="auto">
          <a:xfrm>
            <a:off x="71438" y="415925"/>
            <a:ext cx="44227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en-US" sz="3200" b="1">
                <a:solidFill>
                  <a:srgbClr val="990099"/>
                </a:solidFill>
                <a:latin typeface="Arial" panose="020B0604020202020204" pitchFamily="34" charset="0"/>
                <a:ea typeface="微软雅黑" panose="020B0503020204020204" pitchFamily="34" charset="-122"/>
                <a:cs typeface="Arial" panose="020B0604020202020204" pitchFamily="34" charset="0"/>
              </a:rPr>
              <a:t>13</a:t>
            </a:r>
            <a:r>
              <a:rPr lang="en-US" altLang="zh-CN" sz="3200" b="1">
                <a:solidFill>
                  <a:srgbClr val="990099"/>
                </a:solidFill>
                <a:latin typeface="Arial" panose="020B0604020202020204" pitchFamily="34" charset="0"/>
                <a:ea typeface="微软雅黑" panose="020B0503020204020204" pitchFamily="34" charset="-122"/>
                <a:cs typeface="Arial" panose="020B0604020202020204" pitchFamily="34" charset="0"/>
              </a:rPr>
              <a:t>.2.3 </a:t>
            </a:r>
            <a:r>
              <a:rPr lang="en-US" altLang="zh-CN" sz="3200" b="1">
                <a:solidFill>
                  <a:srgbClr val="800080"/>
                </a:solidFill>
                <a:latin typeface="Arial" panose="020B0604020202020204" pitchFamily="34" charset="0"/>
                <a:ea typeface="微软雅黑" panose="020B0503020204020204" pitchFamily="34" charset="-122"/>
                <a:cs typeface="Arial" panose="020B0604020202020204" pitchFamily="34" charset="0"/>
              </a:rPr>
              <a:t> </a:t>
            </a:r>
            <a:r>
              <a:rPr lang="zh-CN" altLang="zh-CN" sz="3200" b="1">
                <a:solidFill>
                  <a:srgbClr val="003399"/>
                </a:solidFill>
                <a:latin typeface="微软雅黑" panose="020B0503020204020204" pitchFamily="34" charset="-122"/>
                <a:ea typeface="微软雅黑" panose="020B0503020204020204" pitchFamily="34" charset="-122"/>
                <a:cs typeface="Arial" panose="020B0604020202020204" pitchFamily="34" charset="0"/>
              </a:rPr>
              <a:t>载波同步的性能</a:t>
            </a:r>
            <a:endParaRPr lang="zh-CN" altLang="en-US" sz="3200" b="1">
              <a:solidFill>
                <a:srgbClr val="003399"/>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 name="矩形 10">
            <a:extLst>
              <a:ext uri="{FF2B5EF4-FFF2-40B4-BE49-F238E27FC236}">
                <a16:creationId xmlns:a16="http://schemas.microsoft.com/office/drawing/2014/main" id="{B5807755-3A90-0876-46C9-F0AE9912E993}"/>
              </a:ext>
            </a:extLst>
          </p:cNvPr>
          <p:cNvSpPr>
            <a:spLocks noChangeArrowheads="1"/>
          </p:cNvSpPr>
          <p:nvPr/>
        </p:nvSpPr>
        <p:spPr bwMode="auto">
          <a:xfrm>
            <a:off x="871538" y="2357438"/>
            <a:ext cx="1571625" cy="3041650"/>
          </a:xfrm>
          <a:prstGeom prst="rect">
            <a:avLst/>
          </a:prstGeom>
          <a:noFill/>
          <a:ln w="9525">
            <a:noFill/>
            <a:miter lim="800000"/>
            <a:headEnd/>
            <a:tailEnd/>
          </a:ln>
        </p:spPr>
        <p:txBody>
          <a:bodyPr>
            <a:spAutoFit/>
          </a:bodyPr>
          <a:lstStyle/>
          <a:p>
            <a:pPr>
              <a:lnSpc>
                <a:spcPts val="4600"/>
              </a:lnSpc>
              <a:defRPr/>
            </a:pPr>
            <a:r>
              <a:rPr lang="en-US" altLang="zh-CN" sz="2400" dirty="0">
                <a:latin typeface="宋体" pitchFamily="2" charset="-122"/>
                <a:ea typeface="宋体" charset="-122"/>
              </a:rPr>
              <a:t> </a:t>
            </a:r>
            <a:r>
              <a:rPr lang="zh-CN" altLang="zh-CN" sz="2400" b="1" dirty="0">
                <a:solidFill>
                  <a:srgbClr val="0000CC"/>
                </a:solidFill>
                <a:latin typeface="微软雅黑" pitchFamily="34" charset="-122"/>
                <a:ea typeface="微软雅黑" pitchFamily="34" charset="-122"/>
              </a:rPr>
              <a:t>追求</a:t>
            </a:r>
            <a:r>
              <a:rPr lang="zh-CN" altLang="en-US" sz="2400" dirty="0">
                <a:solidFill>
                  <a:srgbClr val="0000CC"/>
                </a:solidFill>
                <a:latin typeface="+mn-ea"/>
                <a:ea typeface="+mn-ea"/>
              </a:rPr>
              <a:t>：</a:t>
            </a:r>
            <a:r>
              <a:rPr lang="zh-CN" altLang="en-US" sz="2400" dirty="0">
                <a:latin typeface="宋体" pitchFamily="2" charset="-122"/>
                <a:ea typeface="宋体" charset="-122"/>
              </a:rPr>
              <a:t>   </a:t>
            </a:r>
            <a:endParaRPr lang="en-US" altLang="zh-CN" sz="2400" dirty="0">
              <a:latin typeface="宋体" pitchFamily="2" charset="-122"/>
              <a:ea typeface="宋体" charset="-122"/>
            </a:endParaRPr>
          </a:p>
          <a:p>
            <a:pPr>
              <a:lnSpc>
                <a:spcPts val="4600"/>
              </a:lnSpc>
              <a:defRPr/>
            </a:pPr>
            <a:r>
              <a:rPr lang="en-US" altLang="zh-CN" sz="2400" dirty="0">
                <a:latin typeface="宋体" pitchFamily="2" charset="-122"/>
                <a:ea typeface="宋体" charset="-122"/>
              </a:rPr>
              <a:t>  </a:t>
            </a:r>
            <a:r>
              <a:rPr lang="zh-CN" altLang="zh-CN" sz="2400" b="1" dirty="0">
                <a:solidFill>
                  <a:srgbClr val="0000CC"/>
                </a:solidFill>
                <a:latin typeface="幼圆" pitchFamily="49" charset="-122"/>
                <a:ea typeface="幼圆" pitchFamily="49" charset="-122"/>
              </a:rPr>
              <a:t>高</a:t>
            </a:r>
            <a:r>
              <a:rPr lang="en-US" altLang="zh-CN" sz="2400" b="1" dirty="0">
                <a:solidFill>
                  <a:srgbClr val="0000CC"/>
                </a:solidFill>
                <a:latin typeface="幼圆" pitchFamily="49" charset="-122"/>
                <a:ea typeface="幼圆" pitchFamily="49" charset="-122"/>
              </a:rPr>
              <a:t>—</a:t>
            </a:r>
          </a:p>
          <a:p>
            <a:pPr>
              <a:lnSpc>
                <a:spcPts val="4600"/>
              </a:lnSpc>
              <a:defRPr/>
            </a:pPr>
            <a:r>
              <a:rPr lang="en-US" altLang="zh-CN" sz="2400" b="1" dirty="0">
                <a:solidFill>
                  <a:srgbClr val="0000CC"/>
                </a:solidFill>
                <a:latin typeface="幼圆" pitchFamily="49" charset="-122"/>
                <a:ea typeface="幼圆" pitchFamily="49" charset="-122"/>
              </a:rPr>
              <a:t>  </a:t>
            </a:r>
            <a:r>
              <a:rPr lang="zh-CN" altLang="zh-CN" sz="2400" b="1" dirty="0">
                <a:solidFill>
                  <a:srgbClr val="0000CC"/>
                </a:solidFill>
                <a:latin typeface="幼圆" pitchFamily="49" charset="-122"/>
                <a:ea typeface="幼圆" pitchFamily="49" charset="-122"/>
              </a:rPr>
              <a:t>高</a:t>
            </a:r>
            <a:r>
              <a:rPr lang="en-US" altLang="zh-CN" sz="2400" b="1" dirty="0">
                <a:solidFill>
                  <a:srgbClr val="0000CC"/>
                </a:solidFill>
                <a:latin typeface="幼圆" pitchFamily="49" charset="-122"/>
                <a:ea typeface="幼圆" pitchFamily="49" charset="-122"/>
              </a:rPr>
              <a:t>—</a:t>
            </a:r>
          </a:p>
          <a:p>
            <a:pPr>
              <a:lnSpc>
                <a:spcPts val="4600"/>
              </a:lnSpc>
              <a:defRPr/>
            </a:pPr>
            <a:r>
              <a:rPr lang="en-US" altLang="zh-CN" sz="2400" b="1" dirty="0">
                <a:solidFill>
                  <a:srgbClr val="0000CC"/>
                </a:solidFill>
                <a:latin typeface="幼圆" pitchFamily="49" charset="-122"/>
                <a:ea typeface="幼圆" pitchFamily="49" charset="-122"/>
              </a:rPr>
              <a:t>  </a:t>
            </a:r>
            <a:r>
              <a:rPr lang="zh-CN" altLang="zh-CN" sz="2400" b="1" dirty="0">
                <a:solidFill>
                  <a:srgbClr val="0000CC"/>
                </a:solidFill>
                <a:latin typeface="幼圆" pitchFamily="49" charset="-122"/>
                <a:ea typeface="幼圆" pitchFamily="49" charset="-122"/>
              </a:rPr>
              <a:t>快</a:t>
            </a:r>
            <a:r>
              <a:rPr lang="en-US" altLang="zh-CN" sz="2400" b="1" dirty="0">
                <a:solidFill>
                  <a:srgbClr val="0000CC"/>
                </a:solidFill>
                <a:latin typeface="幼圆" pitchFamily="49" charset="-122"/>
                <a:ea typeface="幼圆" pitchFamily="49" charset="-122"/>
              </a:rPr>
              <a:t>—</a:t>
            </a:r>
          </a:p>
          <a:p>
            <a:pPr>
              <a:lnSpc>
                <a:spcPts val="4600"/>
              </a:lnSpc>
              <a:defRPr/>
            </a:pPr>
            <a:r>
              <a:rPr lang="en-US" altLang="zh-CN" sz="2400" b="1" dirty="0">
                <a:solidFill>
                  <a:srgbClr val="0000CC"/>
                </a:solidFill>
                <a:latin typeface="幼圆" pitchFamily="49" charset="-122"/>
                <a:ea typeface="幼圆" pitchFamily="49" charset="-122"/>
              </a:rPr>
              <a:t>  </a:t>
            </a:r>
            <a:r>
              <a:rPr lang="zh-CN" altLang="zh-CN" sz="2400" b="1" dirty="0">
                <a:solidFill>
                  <a:srgbClr val="0000CC"/>
                </a:solidFill>
                <a:latin typeface="幼圆" pitchFamily="49" charset="-122"/>
                <a:ea typeface="幼圆" pitchFamily="49" charset="-122"/>
              </a:rPr>
              <a:t>长</a:t>
            </a:r>
            <a:r>
              <a:rPr lang="en-US" altLang="zh-CN" sz="2400" b="1" dirty="0">
                <a:solidFill>
                  <a:srgbClr val="0000CC"/>
                </a:solidFill>
                <a:latin typeface="幼圆" pitchFamily="49" charset="-122"/>
                <a:ea typeface="幼圆" pitchFamily="49" charset="-122"/>
              </a:rPr>
              <a:t>—</a:t>
            </a:r>
            <a:endParaRPr lang="zh-CN" altLang="en-US" sz="2400" b="1" dirty="0">
              <a:solidFill>
                <a:srgbClr val="0000CC"/>
              </a:solidFill>
              <a:latin typeface="幼圆" pitchFamily="49" charset="-122"/>
              <a:ea typeface="幼圆" pitchFamily="49" charset="-122"/>
            </a:endParaRPr>
          </a:p>
        </p:txBody>
      </p:sp>
      <p:sp>
        <p:nvSpPr>
          <p:cNvPr id="17416" name="矩形 13">
            <a:extLst>
              <a:ext uri="{FF2B5EF4-FFF2-40B4-BE49-F238E27FC236}">
                <a16:creationId xmlns:a16="http://schemas.microsoft.com/office/drawing/2014/main" id="{A50BB405-62E4-DF1C-F04C-CBC5A0150A7C}"/>
              </a:ext>
            </a:extLst>
          </p:cNvPr>
          <p:cNvSpPr>
            <a:spLocks noChangeArrowheads="1"/>
          </p:cNvSpPr>
          <p:nvPr/>
        </p:nvSpPr>
        <p:spPr bwMode="auto">
          <a:xfrm>
            <a:off x="642938" y="1285875"/>
            <a:ext cx="2857500" cy="523875"/>
          </a:xfrm>
          <a:prstGeom prst="rect">
            <a:avLst/>
          </a:prstGeom>
          <a:noFill/>
          <a:ln w="9525">
            <a:noFill/>
            <a:miter lim="800000"/>
            <a:headEnd/>
            <a:tailEnd/>
          </a:ln>
        </p:spPr>
        <p:txBody>
          <a:bodyPr>
            <a:spAutoFit/>
          </a:bodyPr>
          <a:lstStyle/>
          <a:p>
            <a:pPr>
              <a:buClr>
                <a:srgbClr val="FF0000"/>
              </a:buClr>
              <a:buSzPct val="89000"/>
              <a:buFont typeface="Wingdings" pitchFamily="2" charset="2"/>
              <a:buChar char="n"/>
              <a:defRPr/>
            </a:pPr>
            <a:r>
              <a:rPr lang="zh-CN" altLang="en-US" sz="2800" b="1" dirty="0">
                <a:latin typeface="黑体" pitchFamily="2" charset="-122"/>
                <a:ea typeface="黑体" pitchFamily="2" charset="-122"/>
                <a:cs typeface="Arial" charset="0"/>
              </a:rPr>
              <a:t> 指标</a:t>
            </a:r>
            <a:r>
              <a:rPr lang="en-US" altLang="zh-CN" sz="2800" b="1" dirty="0">
                <a:solidFill>
                  <a:schemeClr val="tx1">
                    <a:lumMod val="50000"/>
                    <a:lumOff val="50000"/>
                  </a:schemeClr>
                </a:solidFill>
                <a:latin typeface="黑体" pitchFamily="2" charset="-122"/>
                <a:ea typeface="黑体" pitchFamily="2" charset="-122"/>
                <a:cs typeface="Arial" charset="0"/>
              </a:rPr>
              <a:t>&amp;</a:t>
            </a:r>
            <a:r>
              <a:rPr lang="zh-CN" altLang="en-US" sz="2800" b="1" dirty="0">
                <a:latin typeface="黑体" pitchFamily="2" charset="-122"/>
                <a:ea typeface="黑体" pitchFamily="2" charset="-122"/>
                <a:cs typeface="Arial" charset="0"/>
              </a:rPr>
              <a:t>追求</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32777"/>
                                        </p:tgtEl>
                                        <p:attrNameLst>
                                          <p:attrName>style.visibility</p:attrName>
                                        </p:attrNameLst>
                                      </p:cBhvr>
                                      <p:to>
                                        <p:strVal val="visible"/>
                                      </p:to>
                                    </p:set>
                                    <p:animEffect transition="in" filter="wipe(up)">
                                      <p:cBhvr>
                                        <p:cTn id="7" dur="1000"/>
                                        <p:tgtEl>
                                          <p:spTgt spid="32777"/>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17416"/>
                                        </p:tgtEl>
                                        <p:attrNameLst>
                                          <p:attrName>style.visibility</p:attrName>
                                        </p:attrNameLst>
                                      </p:cBhvr>
                                      <p:to>
                                        <p:strVal val="visible"/>
                                      </p:to>
                                    </p:set>
                                    <p:animEffect transition="in" filter="wipe(up)">
                                      <p:cBhvr>
                                        <p:cTn id="11" dur="1000"/>
                                        <p:tgtEl>
                                          <p:spTgt spid="1741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20500">
                                            <p:txEl>
                                              <p:pRg st="0" end="0"/>
                                            </p:txEl>
                                          </p:spTgt>
                                        </p:tgtEl>
                                        <p:attrNameLst>
                                          <p:attrName>style.visibility</p:attrName>
                                        </p:attrNameLst>
                                      </p:cBhvr>
                                      <p:to>
                                        <p:strVal val="visible"/>
                                      </p:to>
                                    </p:set>
                                    <p:animEffect transition="in" filter="wipe(up)">
                                      <p:cBhvr>
                                        <p:cTn id="16" dur="2000"/>
                                        <p:tgtEl>
                                          <p:spTgt spid="20500">
                                            <p:txEl>
                                              <p:pRg st="0" end="0"/>
                                            </p:txEl>
                                          </p:spTgt>
                                        </p:tgtEl>
                                      </p:cBhvr>
                                    </p:animEffect>
                                  </p:childTnLst>
                                </p:cTn>
                              </p:par>
                            </p:childTnLst>
                          </p:cTn>
                        </p:par>
                        <p:par>
                          <p:cTn id="17" fill="hold" nodeType="afterGroup">
                            <p:stCondLst>
                              <p:cond delay="2000"/>
                            </p:stCondLst>
                            <p:childTnLst>
                              <p:par>
                                <p:cTn id="18" presetID="22" presetClass="entr" presetSubtype="1" fill="hold" nodeType="afterEffect">
                                  <p:stCondLst>
                                    <p:cond delay="0"/>
                                  </p:stCondLst>
                                  <p:childTnLst>
                                    <p:set>
                                      <p:cBhvr>
                                        <p:cTn id="19" dur="1" fill="hold">
                                          <p:stCondLst>
                                            <p:cond delay="0"/>
                                          </p:stCondLst>
                                        </p:cTn>
                                        <p:tgtEl>
                                          <p:spTgt spid="20500">
                                            <p:txEl>
                                              <p:pRg st="1" end="1"/>
                                            </p:txEl>
                                          </p:spTgt>
                                        </p:tgtEl>
                                        <p:attrNameLst>
                                          <p:attrName>style.visibility</p:attrName>
                                        </p:attrNameLst>
                                      </p:cBhvr>
                                      <p:to>
                                        <p:strVal val="visible"/>
                                      </p:to>
                                    </p:set>
                                    <p:animEffect transition="in" filter="wipe(up)">
                                      <p:cBhvr>
                                        <p:cTn id="20" dur="1000"/>
                                        <p:tgtEl>
                                          <p:spTgt spid="20500">
                                            <p:txEl>
                                              <p:pRg st="1" end="1"/>
                                            </p:txEl>
                                          </p:spTgt>
                                        </p:tgtEl>
                                      </p:cBhvr>
                                    </p:animEffect>
                                  </p:childTnLst>
                                </p:cTn>
                              </p:par>
                              <p:par>
                                <p:cTn id="21" presetID="22" presetClass="entr" presetSubtype="1" fill="hold" nodeType="withEffect">
                                  <p:stCondLst>
                                    <p:cond delay="0"/>
                                  </p:stCondLst>
                                  <p:childTnLst>
                                    <p:set>
                                      <p:cBhvr>
                                        <p:cTn id="22" dur="1" fill="hold">
                                          <p:stCondLst>
                                            <p:cond delay="0"/>
                                          </p:stCondLst>
                                        </p:cTn>
                                        <p:tgtEl>
                                          <p:spTgt spid="20500">
                                            <p:bg/>
                                          </p:spTgt>
                                        </p:tgtEl>
                                        <p:attrNameLst>
                                          <p:attrName>style.visibility</p:attrName>
                                        </p:attrNameLst>
                                      </p:cBhvr>
                                      <p:to>
                                        <p:strVal val="visible"/>
                                      </p:to>
                                    </p:set>
                                    <p:animEffect transition="in" filter="wipe(up)">
                                      <p:cBhvr>
                                        <p:cTn id="23" dur="1000"/>
                                        <p:tgtEl>
                                          <p:spTgt spid="20500">
                                            <p:bg/>
                                          </p:spTgt>
                                        </p:tgtEl>
                                      </p:cBhvr>
                                    </p:animEffect>
                                  </p:childTnLst>
                                </p:cTn>
                              </p:par>
                            </p:childTnLst>
                          </p:cTn>
                        </p:par>
                        <p:par>
                          <p:cTn id="24" fill="hold" nodeType="afterGroup">
                            <p:stCondLst>
                              <p:cond delay="3000"/>
                            </p:stCondLst>
                            <p:childTnLst>
                              <p:par>
                                <p:cTn id="25" presetID="22" presetClass="entr" presetSubtype="1" fill="hold" nodeType="afterEffect">
                                  <p:stCondLst>
                                    <p:cond delay="0"/>
                                  </p:stCondLst>
                                  <p:childTnLst>
                                    <p:set>
                                      <p:cBhvr>
                                        <p:cTn id="26" dur="1" fill="hold">
                                          <p:stCondLst>
                                            <p:cond delay="0"/>
                                          </p:stCondLst>
                                        </p:cTn>
                                        <p:tgtEl>
                                          <p:spTgt spid="20500">
                                            <p:txEl>
                                              <p:pRg st="2" end="2"/>
                                            </p:txEl>
                                          </p:spTgt>
                                        </p:tgtEl>
                                        <p:attrNameLst>
                                          <p:attrName>style.visibility</p:attrName>
                                        </p:attrNameLst>
                                      </p:cBhvr>
                                      <p:to>
                                        <p:strVal val="visible"/>
                                      </p:to>
                                    </p:set>
                                    <p:animEffect transition="in" filter="wipe(up)">
                                      <p:cBhvr>
                                        <p:cTn id="27" dur="1000"/>
                                        <p:tgtEl>
                                          <p:spTgt spid="20500">
                                            <p:txEl>
                                              <p:pRg st="2" end="2"/>
                                            </p:txEl>
                                          </p:spTgt>
                                        </p:tgtEl>
                                      </p:cBhvr>
                                    </p:animEffect>
                                  </p:childTnLst>
                                </p:cTn>
                              </p:par>
                            </p:childTnLst>
                          </p:cTn>
                        </p:par>
                        <p:par>
                          <p:cTn id="28" fill="hold" nodeType="afterGroup">
                            <p:stCondLst>
                              <p:cond delay="4000"/>
                            </p:stCondLst>
                            <p:childTnLst>
                              <p:par>
                                <p:cTn id="29" presetID="22" presetClass="entr" presetSubtype="1" fill="hold" nodeType="afterEffect">
                                  <p:stCondLst>
                                    <p:cond delay="0"/>
                                  </p:stCondLst>
                                  <p:childTnLst>
                                    <p:set>
                                      <p:cBhvr>
                                        <p:cTn id="30" dur="1" fill="hold">
                                          <p:stCondLst>
                                            <p:cond delay="0"/>
                                          </p:stCondLst>
                                        </p:cTn>
                                        <p:tgtEl>
                                          <p:spTgt spid="20500">
                                            <p:txEl>
                                              <p:pRg st="3" end="3"/>
                                            </p:txEl>
                                          </p:spTgt>
                                        </p:tgtEl>
                                        <p:attrNameLst>
                                          <p:attrName>style.visibility</p:attrName>
                                        </p:attrNameLst>
                                      </p:cBhvr>
                                      <p:to>
                                        <p:strVal val="visible"/>
                                      </p:to>
                                    </p:set>
                                    <p:animEffect transition="in" filter="wipe(up)">
                                      <p:cBhvr>
                                        <p:cTn id="31" dur="1000"/>
                                        <p:tgtEl>
                                          <p:spTgt spid="20500">
                                            <p:txEl>
                                              <p:pRg st="3" end="3"/>
                                            </p:txEl>
                                          </p:spTgt>
                                        </p:tgtEl>
                                      </p:cBhvr>
                                    </p:animEffect>
                                  </p:childTnLst>
                                </p:cTn>
                              </p:par>
                            </p:childTnLst>
                          </p:cTn>
                        </p:par>
                        <p:par>
                          <p:cTn id="32" fill="hold" nodeType="afterGroup">
                            <p:stCondLst>
                              <p:cond delay="5000"/>
                            </p:stCondLst>
                            <p:childTnLst>
                              <p:par>
                                <p:cTn id="33" presetID="22" presetClass="entr" presetSubtype="1" fill="hold" nodeType="afterEffect">
                                  <p:stCondLst>
                                    <p:cond delay="0"/>
                                  </p:stCondLst>
                                  <p:childTnLst>
                                    <p:set>
                                      <p:cBhvr>
                                        <p:cTn id="34" dur="1" fill="hold">
                                          <p:stCondLst>
                                            <p:cond delay="0"/>
                                          </p:stCondLst>
                                        </p:cTn>
                                        <p:tgtEl>
                                          <p:spTgt spid="20500">
                                            <p:txEl>
                                              <p:pRg st="4" end="4"/>
                                            </p:txEl>
                                          </p:spTgt>
                                        </p:tgtEl>
                                        <p:attrNameLst>
                                          <p:attrName>style.visibility</p:attrName>
                                        </p:attrNameLst>
                                      </p:cBhvr>
                                      <p:to>
                                        <p:strVal val="visible"/>
                                      </p:to>
                                    </p:set>
                                    <p:animEffect transition="in" filter="wipe(up)">
                                      <p:cBhvr>
                                        <p:cTn id="35" dur="1000"/>
                                        <p:tgtEl>
                                          <p:spTgt spid="20500">
                                            <p:txEl>
                                              <p:pRg st="4" end="4"/>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nodeType="clickEffect">
                                  <p:stCondLst>
                                    <p:cond delay="0"/>
                                  </p:stCondLst>
                                  <p:childTnLst>
                                    <p:set>
                                      <p:cBhvr>
                                        <p:cTn id="39" dur="1" fill="hold">
                                          <p:stCondLst>
                                            <p:cond delay="0"/>
                                          </p:stCondLst>
                                        </p:cTn>
                                        <p:tgtEl>
                                          <p:spTgt spid="11">
                                            <p:txEl>
                                              <p:pRg st="0" end="0"/>
                                            </p:txEl>
                                          </p:spTgt>
                                        </p:tgtEl>
                                        <p:attrNameLst>
                                          <p:attrName>style.visibility</p:attrName>
                                        </p:attrNameLst>
                                      </p:cBhvr>
                                      <p:to>
                                        <p:strVal val="visible"/>
                                      </p:to>
                                    </p:set>
                                    <p:animEffect transition="in" filter="wipe(up)">
                                      <p:cBhvr>
                                        <p:cTn id="40" dur="1000"/>
                                        <p:tgtEl>
                                          <p:spTgt spid="11">
                                            <p:txEl>
                                              <p:pRg st="0" end="0"/>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2" fill="hold" nodeType="clickEffect">
                                  <p:stCondLst>
                                    <p:cond delay="0"/>
                                  </p:stCondLst>
                                  <p:childTnLst>
                                    <p:set>
                                      <p:cBhvr>
                                        <p:cTn id="44" dur="1" fill="hold">
                                          <p:stCondLst>
                                            <p:cond delay="0"/>
                                          </p:stCondLst>
                                        </p:cTn>
                                        <p:tgtEl>
                                          <p:spTgt spid="11">
                                            <p:txEl>
                                              <p:pRg st="1" end="1"/>
                                            </p:txEl>
                                          </p:spTgt>
                                        </p:tgtEl>
                                        <p:attrNameLst>
                                          <p:attrName>style.visibility</p:attrName>
                                        </p:attrNameLst>
                                      </p:cBhvr>
                                      <p:to>
                                        <p:strVal val="visible"/>
                                      </p:to>
                                    </p:set>
                                    <p:animEffect transition="in" filter="wipe(right)">
                                      <p:cBhvr>
                                        <p:cTn id="45" dur="1000"/>
                                        <p:tgtEl>
                                          <p:spTgt spid="11">
                                            <p:txEl>
                                              <p:pRg st="1" end="1"/>
                                            </p:txEl>
                                          </p:spTgt>
                                        </p:tgtEl>
                                      </p:cBhvr>
                                    </p:animEffect>
                                  </p:childTnLst>
                                </p:cTn>
                              </p:par>
                              <p:par>
                                <p:cTn id="46" presetID="22" presetClass="entr" presetSubtype="8" fill="hold" nodeType="withEffect">
                                  <p:stCondLst>
                                    <p:cond delay="0"/>
                                  </p:stCondLst>
                                  <p:childTnLst>
                                    <p:set>
                                      <p:cBhvr>
                                        <p:cTn id="47" dur="1" fill="hold">
                                          <p:stCondLst>
                                            <p:cond delay="0"/>
                                          </p:stCondLst>
                                        </p:cTn>
                                        <p:tgtEl>
                                          <p:spTgt spid="12">
                                            <p:txEl>
                                              <p:pRg st="0" end="0"/>
                                            </p:txEl>
                                          </p:spTgt>
                                        </p:tgtEl>
                                        <p:attrNameLst>
                                          <p:attrName>style.visibility</p:attrName>
                                        </p:attrNameLst>
                                      </p:cBhvr>
                                      <p:to>
                                        <p:strVal val="visible"/>
                                      </p:to>
                                    </p:set>
                                    <p:animEffect transition="in" filter="wipe(left)">
                                      <p:cBhvr>
                                        <p:cTn id="48" dur="2000"/>
                                        <p:tgtEl>
                                          <p:spTgt spid="12">
                                            <p:txEl>
                                              <p:pRg st="0" end="0"/>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2" fill="hold" nodeType="clickEffect">
                                  <p:stCondLst>
                                    <p:cond delay="0"/>
                                  </p:stCondLst>
                                  <p:childTnLst>
                                    <p:set>
                                      <p:cBhvr>
                                        <p:cTn id="52" dur="1" fill="hold">
                                          <p:stCondLst>
                                            <p:cond delay="0"/>
                                          </p:stCondLst>
                                        </p:cTn>
                                        <p:tgtEl>
                                          <p:spTgt spid="11">
                                            <p:txEl>
                                              <p:pRg st="2" end="2"/>
                                            </p:txEl>
                                          </p:spTgt>
                                        </p:tgtEl>
                                        <p:attrNameLst>
                                          <p:attrName>style.visibility</p:attrName>
                                        </p:attrNameLst>
                                      </p:cBhvr>
                                      <p:to>
                                        <p:strVal val="visible"/>
                                      </p:to>
                                    </p:set>
                                    <p:animEffect transition="in" filter="wipe(right)">
                                      <p:cBhvr>
                                        <p:cTn id="53" dur="1000"/>
                                        <p:tgtEl>
                                          <p:spTgt spid="11">
                                            <p:txEl>
                                              <p:pRg st="2" end="2"/>
                                            </p:txEl>
                                          </p:spTgt>
                                        </p:tgtEl>
                                      </p:cBhvr>
                                    </p:animEffect>
                                  </p:childTnLst>
                                </p:cTn>
                              </p:par>
                            </p:childTnLst>
                          </p:cTn>
                        </p:par>
                        <p:par>
                          <p:cTn id="54" fill="hold" nodeType="afterGroup">
                            <p:stCondLst>
                              <p:cond delay="1000"/>
                            </p:stCondLst>
                            <p:childTnLst>
                              <p:par>
                                <p:cTn id="55" presetID="22" presetClass="entr" presetSubtype="8" fill="hold" nodeType="afterEffect">
                                  <p:stCondLst>
                                    <p:cond delay="0"/>
                                  </p:stCondLst>
                                  <p:childTnLst>
                                    <p:set>
                                      <p:cBhvr>
                                        <p:cTn id="56" dur="1" fill="hold">
                                          <p:stCondLst>
                                            <p:cond delay="0"/>
                                          </p:stCondLst>
                                        </p:cTn>
                                        <p:tgtEl>
                                          <p:spTgt spid="12">
                                            <p:txEl>
                                              <p:pRg st="1" end="1"/>
                                            </p:txEl>
                                          </p:spTgt>
                                        </p:tgtEl>
                                        <p:attrNameLst>
                                          <p:attrName>style.visibility</p:attrName>
                                        </p:attrNameLst>
                                      </p:cBhvr>
                                      <p:to>
                                        <p:strVal val="visible"/>
                                      </p:to>
                                    </p:set>
                                    <p:animEffect transition="in" filter="wipe(left)">
                                      <p:cBhvr>
                                        <p:cTn id="57" dur="2000"/>
                                        <p:tgtEl>
                                          <p:spTgt spid="12">
                                            <p:txEl>
                                              <p:pRg st="1" end="1"/>
                                            </p:txEl>
                                          </p:spTgt>
                                        </p:tgtEl>
                                      </p:cBhvr>
                                    </p:animEffect>
                                  </p:childTnLst>
                                </p:cTn>
                              </p:par>
                            </p:childTnLst>
                          </p:cTn>
                        </p:par>
                        <p:par>
                          <p:cTn id="58" fill="hold" nodeType="afterGroup">
                            <p:stCondLst>
                              <p:cond delay="3000"/>
                            </p:stCondLst>
                            <p:childTnLst>
                              <p:par>
                                <p:cTn id="59" presetID="20" presetClass="entr" presetSubtype="0" fill="hold" nodeType="afterEffect">
                                  <p:stCondLst>
                                    <p:cond delay="0"/>
                                  </p:stCondLst>
                                  <p:childTnLst>
                                    <p:set>
                                      <p:cBhvr>
                                        <p:cTn id="60" dur="1" fill="hold">
                                          <p:stCondLst>
                                            <p:cond delay="0"/>
                                          </p:stCondLst>
                                        </p:cTn>
                                        <p:tgtEl>
                                          <p:spTgt spid="88072"/>
                                        </p:tgtEl>
                                        <p:attrNameLst>
                                          <p:attrName>style.visibility</p:attrName>
                                        </p:attrNameLst>
                                      </p:cBhvr>
                                      <p:to>
                                        <p:strVal val="visible"/>
                                      </p:to>
                                    </p:set>
                                    <p:animEffect transition="in" filter="wedge">
                                      <p:cBhvr>
                                        <p:cTn id="61" dur="1000"/>
                                        <p:tgtEl>
                                          <p:spTgt spid="88072"/>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2" fill="hold" nodeType="clickEffect">
                                  <p:stCondLst>
                                    <p:cond delay="0"/>
                                  </p:stCondLst>
                                  <p:childTnLst>
                                    <p:set>
                                      <p:cBhvr>
                                        <p:cTn id="65" dur="1" fill="hold">
                                          <p:stCondLst>
                                            <p:cond delay="0"/>
                                          </p:stCondLst>
                                        </p:cTn>
                                        <p:tgtEl>
                                          <p:spTgt spid="11">
                                            <p:txEl>
                                              <p:pRg st="3" end="3"/>
                                            </p:txEl>
                                          </p:spTgt>
                                        </p:tgtEl>
                                        <p:attrNameLst>
                                          <p:attrName>style.visibility</p:attrName>
                                        </p:attrNameLst>
                                      </p:cBhvr>
                                      <p:to>
                                        <p:strVal val="visible"/>
                                      </p:to>
                                    </p:set>
                                    <p:animEffect transition="in" filter="wipe(right)">
                                      <p:cBhvr>
                                        <p:cTn id="66" dur="1000"/>
                                        <p:tgtEl>
                                          <p:spTgt spid="11">
                                            <p:txEl>
                                              <p:pRg st="3" end="3"/>
                                            </p:txEl>
                                          </p:spTgt>
                                        </p:tgtEl>
                                      </p:cBhvr>
                                    </p:animEffect>
                                  </p:childTnLst>
                                </p:cTn>
                              </p:par>
                            </p:childTnLst>
                          </p:cTn>
                        </p:par>
                        <p:par>
                          <p:cTn id="67" fill="hold" nodeType="afterGroup">
                            <p:stCondLst>
                              <p:cond delay="1000"/>
                            </p:stCondLst>
                            <p:childTnLst>
                              <p:par>
                                <p:cTn id="68" presetID="22" presetClass="entr" presetSubtype="8" fill="hold" nodeType="afterEffect">
                                  <p:stCondLst>
                                    <p:cond delay="0"/>
                                  </p:stCondLst>
                                  <p:childTnLst>
                                    <p:set>
                                      <p:cBhvr>
                                        <p:cTn id="69" dur="1" fill="hold">
                                          <p:stCondLst>
                                            <p:cond delay="0"/>
                                          </p:stCondLst>
                                        </p:cTn>
                                        <p:tgtEl>
                                          <p:spTgt spid="12">
                                            <p:txEl>
                                              <p:pRg st="2" end="2"/>
                                            </p:txEl>
                                          </p:spTgt>
                                        </p:tgtEl>
                                        <p:attrNameLst>
                                          <p:attrName>style.visibility</p:attrName>
                                        </p:attrNameLst>
                                      </p:cBhvr>
                                      <p:to>
                                        <p:strVal val="visible"/>
                                      </p:to>
                                    </p:set>
                                    <p:animEffect transition="in" filter="wipe(left)">
                                      <p:cBhvr>
                                        <p:cTn id="70" dur="2000"/>
                                        <p:tgtEl>
                                          <p:spTgt spid="12">
                                            <p:txEl>
                                              <p:pRg st="2" end="2"/>
                                            </p:txEl>
                                          </p:spTgt>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2" fill="hold" nodeType="clickEffect">
                                  <p:stCondLst>
                                    <p:cond delay="0"/>
                                  </p:stCondLst>
                                  <p:childTnLst>
                                    <p:set>
                                      <p:cBhvr>
                                        <p:cTn id="74" dur="1" fill="hold">
                                          <p:stCondLst>
                                            <p:cond delay="0"/>
                                          </p:stCondLst>
                                        </p:cTn>
                                        <p:tgtEl>
                                          <p:spTgt spid="11">
                                            <p:txEl>
                                              <p:pRg st="4" end="4"/>
                                            </p:txEl>
                                          </p:spTgt>
                                        </p:tgtEl>
                                        <p:attrNameLst>
                                          <p:attrName>style.visibility</p:attrName>
                                        </p:attrNameLst>
                                      </p:cBhvr>
                                      <p:to>
                                        <p:strVal val="visible"/>
                                      </p:to>
                                    </p:set>
                                    <p:animEffect transition="in" filter="wipe(right)">
                                      <p:cBhvr>
                                        <p:cTn id="75" dur="1000"/>
                                        <p:tgtEl>
                                          <p:spTgt spid="11">
                                            <p:txEl>
                                              <p:pRg st="4" end="4"/>
                                            </p:txEl>
                                          </p:spTgt>
                                        </p:tgtEl>
                                      </p:cBhvr>
                                    </p:animEffect>
                                  </p:childTnLst>
                                </p:cTn>
                              </p:par>
                            </p:childTnLst>
                          </p:cTn>
                        </p:par>
                        <p:par>
                          <p:cTn id="76" fill="hold" nodeType="afterGroup">
                            <p:stCondLst>
                              <p:cond delay="1000"/>
                            </p:stCondLst>
                            <p:childTnLst>
                              <p:par>
                                <p:cTn id="77" presetID="22" presetClass="entr" presetSubtype="8" fill="hold" nodeType="afterEffect">
                                  <p:stCondLst>
                                    <p:cond delay="0"/>
                                  </p:stCondLst>
                                  <p:childTnLst>
                                    <p:set>
                                      <p:cBhvr>
                                        <p:cTn id="78" dur="1" fill="hold">
                                          <p:stCondLst>
                                            <p:cond delay="0"/>
                                          </p:stCondLst>
                                        </p:cTn>
                                        <p:tgtEl>
                                          <p:spTgt spid="12">
                                            <p:txEl>
                                              <p:pRg st="3" end="3"/>
                                            </p:txEl>
                                          </p:spTgt>
                                        </p:tgtEl>
                                        <p:attrNameLst>
                                          <p:attrName>style.visibility</p:attrName>
                                        </p:attrNameLst>
                                      </p:cBhvr>
                                      <p:to>
                                        <p:strVal val="visible"/>
                                      </p:to>
                                    </p:set>
                                    <p:animEffect transition="in" filter="wipe(left)">
                                      <p:cBhvr>
                                        <p:cTn id="79" dur="2000"/>
                                        <p:tgtEl>
                                          <p:spTgt spid="12">
                                            <p:txEl>
                                              <p:pRg st="3" end="3"/>
                                            </p:txEl>
                                          </p:spTgt>
                                        </p:tgtEl>
                                      </p:cBhvr>
                                    </p:animEffect>
                                  </p:childTnLst>
                                </p:cTn>
                              </p:par>
                            </p:childTnLst>
                          </p:cTn>
                        </p:par>
                        <p:par>
                          <p:cTn id="80" fill="hold" nodeType="afterGroup">
                            <p:stCondLst>
                              <p:cond delay="3000"/>
                            </p:stCondLst>
                            <p:childTnLst>
                              <p:par>
                                <p:cTn id="81" presetID="22" presetClass="entr" presetSubtype="1" fill="hold" nodeType="afterEffect">
                                  <p:stCondLst>
                                    <p:cond delay="0"/>
                                  </p:stCondLst>
                                  <p:childTnLst>
                                    <p:set>
                                      <p:cBhvr>
                                        <p:cTn id="82" dur="1" fill="hold">
                                          <p:stCondLst>
                                            <p:cond delay="0"/>
                                          </p:stCondLst>
                                        </p:cTn>
                                        <p:tgtEl>
                                          <p:spTgt spid="12">
                                            <p:txEl>
                                              <p:pRg st="4" end="4"/>
                                            </p:txEl>
                                          </p:spTgt>
                                        </p:tgtEl>
                                        <p:attrNameLst>
                                          <p:attrName>style.visibility</p:attrName>
                                        </p:attrNameLst>
                                      </p:cBhvr>
                                      <p:to>
                                        <p:strVal val="visible"/>
                                      </p:to>
                                    </p:set>
                                    <p:animEffect transition="in" filter="wipe(up)">
                                      <p:cBhvr>
                                        <p:cTn id="83" dur="2000"/>
                                        <p:tgtEl>
                                          <p:spTgt spid="1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0" grpId="0" build="allAtOnce" animBg="1"/>
      <p:bldP spid="32777" grpId="0"/>
      <p:bldP spid="17416" grpId="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2295" name="Picture 9">
            <a:extLst>
              <a:ext uri="{FF2B5EF4-FFF2-40B4-BE49-F238E27FC236}">
                <a16:creationId xmlns:a16="http://schemas.microsoft.com/office/drawing/2014/main" id="{6F5A6DC5-A11E-4BAD-261B-638D96AD7F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1068"/>
          <a:stretch>
            <a:fillRect/>
          </a:stretch>
        </p:blipFill>
        <p:spPr bwMode="auto">
          <a:xfrm>
            <a:off x="4705350" y="1395413"/>
            <a:ext cx="3911600" cy="181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3189" name="Object 5">
            <a:extLst>
              <a:ext uri="{FF2B5EF4-FFF2-40B4-BE49-F238E27FC236}">
                <a16:creationId xmlns:a16="http://schemas.microsoft.com/office/drawing/2014/main" id="{5301BC45-498E-0F66-DE6D-1E60F1370DD4}"/>
              </a:ext>
            </a:extLst>
          </p:cNvPr>
          <p:cNvGraphicFramePr>
            <a:graphicFrameLocks noChangeAspect="1"/>
          </p:cNvGraphicFramePr>
          <p:nvPr/>
        </p:nvGraphicFramePr>
        <p:xfrm>
          <a:off x="1071563" y="2209800"/>
          <a:ext cx="3357562" cy="504825"/>
        </p:xfrm>
        <a:graphic>
          <a:graphicData uri="http://schemas.openxmlformats.org/presentationml/2006/ole">
            <mc:AlternateContent xmlns:mc="http://schemas.openxmlformats.org/markup-compatibility/2006">
              <mc:Choice xmlns:v="urn:schemas-microsoft-com:vml" Requires="v">
                <p:oleObj name="Equation" r:id="rId4" imgW="1765080" imgH="266400" progId="Equation.DSMT4">
                  <p:embed/>
                </p:oleObj>
              </mc:Choice>
              <mc:Fallback>
                <p:oleObj name="Equation" r:id="rId4" imgW="1765080" imgH="2664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1563" y="2209800"/>
                        <a:ext cx="3357562"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96" name="Rectangle 6">
            <a:extLst>
              <a:ext uri="{FF2B5EF4-FFF2-40B4-BE49-F238E27FC236}">
                <a16:creationId xmlns:a16="http://schemas.microsoft.com/office/drawing/2014/main" id="{6FE8D516-56FF-FB5A-C953-76F1D7A56DA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aphicFrame>
        <p:nvGraphicFramePr>
          <p:cNvPr id="93191" name="Object 7">
            <a:extLst>
              <a:ext uri="{FF2B5EF4-FFF2-40B4-BE49-F238E27FC236}">
                <a16:creationId xmlns:a16="http://schemas.microsoft.com/office/drawing/2014/main" id="{6340522A-C91E-2B1D-D1D9-81A8DCE9E3C1}"/>
              </a:ext>
            </a:extLst>
          </p:cNvPr>
          <p:cNvGraphicFramePr>
            <a:graphicFrameLocks noChangeAspect="1"/>
          </p:cNvGraphicFramePr>
          <p:nvPr/>
        </p:nvGraphicFramePr>
        <p:xfrm>
          <a:off x="6416675" y="2671763"/>
          <a:ext cx="1917700" cy="490537"/>
        </p:xfrm>
        <a:graphic>
          <a:graphicData uri="http://schemas.openxmlformats.org/presentationml/2006/ole">
            <mc:AlternateContent xmlns:mc="http://schemas.openxmlformats.org/markup-compatibility/2006">
              <mc:Choice xmlns:v="urn:schemas-microsoft-com:vml" Requires="v">
                <p:oleObj name="Equation" r:id="rId6" imgW="888840" imgH="228600" progId="Equation.DSMT4">
                  <p:embed/>
                </p:oleObj>
              </mc:Choice>
              <mc:Fallback>
                <p:oleObj name="Equation" r:id="rId6" imgW="888840" imgH="22860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16675" y="2671763"/>
                        <a:ext cx="1917700" cy="490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97" name="Rectangle 8">
            <a:extLst>
              <a:ext uri="{FF2B5EF4-FFF2-40B4-BE49-F238E27FC236}">
                <a16:creationId xmlns:a16="http://schemas.microsoft.com/office/drawing/2014/main" id="{16BD7672-1EBE-2FE9-B1F0-E0B3109F2A12}"/>
              </a:ext>
            </a:extLst>
          </p:cNvPr>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aphicFrame>
        <p:nvGraphicFramePr>
          <p:cNvPr id="93193" name="Object 9">
            <a:extLst>
              <a:ext uri="{FF2B5EF4-FFF2-40B4-BE49-F238E27FC236}">
                <a16:creationId xmlns:a16="http://schemas.microsoft.com/office/drawing/2014/main" id="{98AEADA0-68A6-3070-A0CB-5CB26964C4C8}"/>
              </a:ext>
            </a:extLst>
          </p:cNvPr>
          <p:cNvGraphicFramePr>
            <a:graphicFrameLocks noChangeAspect="1"/>
          </p:cNvGraphicFramePr>
          <p:nvPr/>
        </p:nvGraphicFramePr>
        <p:xfrm>
          <a:off x="2286000" y="4143375"/>
          <a:ext cx="4027488" cy="481013"/>
        </p:xfrm>
        <a:graphic>
          <a:graphicData uri="http://schemas.openxmlformats.org/presentationml/2006/ole">
            <mc:AlternateContent xmlns:mc="http://schemas.openxmlformats.org/markup-compatibility/2006">
              <mc:Choice xmlns:v="urn:schemas-microsoft-com:vml" Requires="v">
                <p:oleObj name="Equation" r:id="rId8" imgW="2222280" imgH="266400" progId="Equation.DSMT4">
                  <p:embed/>
                </p:oleObj>
              </mc:Choice>
              <mc:Fallback>
                <p:oleObj name="Equation" r:id="rId8" imgW="2222280" imgH="266400"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86000" y="4143375"/>
                        <a:ext cx="4027488"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3206" name="Rectangle 22">
            <a:extLst>
              <a:ext uri="{FF2B5EF4-FFF2-40B4-BE49-F238E27FC236}">
                <a16:creationId xmlns:a16="http://schemas.microsoft.com/office/drawing/2014/main" id="{E66C6644-1B13-9154-B5EE-C987C95E914F}"/>
              </a:ext>
            </a:extLst>
          </p:cNvPr>
          <p:cNvSpPr>
            <a:spLocks noChangeArrowheads="1"/>
          </p:cNvSpPr>
          <p:nvPr/>
        </p:nvSpPr>
        <p:spPr bwMode="auto">
          <a:xfrm>
            <a:off x="682625" y="1428750"/>
            <a:ext cx="2532063" cy="461963"/>
          </a:xfrm>
          <a:prstGeom prst="rect">
            <a:avLst/>
          </a:prstGeom>
          <a:solidFill>
            <a:schemeClr val="bg2">
              <a:lumMod val="10000"/>
              <a:lumOff val="90000"/>
            </a:schemeClr>
          </a:solidFill>
          <a:ln>
            <a:noFill/>
          </a:ln>
          <a:effectLst>
            <a:prstShdw prst="shdw17" dist="17961" dir="2700000">
              <a:srgbClr val="99997A"/>
            </a:prstShdw>
          </a:effectLst>
        </p:spPr>
        <p:txBody>
          <a:bodyPr>
            <a:spAutoFit/>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marL="342900" indent="-342900" eaLnBrk="1" hangingPunct="1">
              <a:spcBef>
                <a:spcPct val="0"/>
              </a:spcBef>
              <a:buClrTx/>
              <a:buSzTx/>
              <a:buFont typeface="Wingdings" pitchFamily="2" charset="2"/>
              <a:buChar char="Ø"/>
              <a:defRPr/>
            </a:pPr>
            <a:r>
              <a:rPr lang="zh-CN" altLang="en-US" sz="2400" b="1" dirty="0">
                <a:solidFill>
                  <a:srgbClr val="0000CC"/>
                </a:solidFill>
                <a:latin typeface="微软雅黑" panose="020B0503020204020204" pitchFamily="34" charset="-122"/>
                <a:ea typeface="微软雅黑" panose="020B0503020204020204" pitchFamily="34" charset="-122"/>
              </a:rPr>
              <a:t>对于</a:t>
            </a:r>
            <a:r>
              <a:rPr lang="en-US" altLang="zh-CN" sz="2400" b="1" dirty="0">
                <a:solidFill>
                  <a:srgbClr val="0000CC"/>
                </a:solidFill>
                <a:latin typeface="微软雅黑" panose="020B0503020204020204" pitchFamily="34" charset="-122"/>
                <a:ea typeface="微软雅黑" panose="020B0503020204020204" pitchFamily="34" charset="-122"/>
              </a:rPr>
              <a:t>DSB</a:t>
            </a:r>
            <a:r>
              <a:rPr lang="zh-CN" altLang="en-US" sz="2400" b="1" dirty="0">
                <a:solidFill>
                  <a:srgbClr val="0000CC"/>
                </a:solidFill>
                <a:latin typeface="微软雅黑" panose="020B0503020204020204" pitchFamily="34" charset="-122"/>
                <a:ea typeface="微软雅黑" panose="020B0503020204020204" pitchFamily="34" charset="-122"/>
              </a:rPr>
              <a:t>信号</a:t>
            </a:r>
            <a:r>
              <a:rPr lang="zh-CN" altLang="en-US" sz="2400" b="1" dirty="0">
                <a:solidFill>
                  <a:srgbClr val="0000CC"/>
                </a:solidFill>
                <a:latin typeface="+mn-ea"/>
                <a:ea typeface="+mn-ea"/>
              </a:rPr>
              <a:t>：</a:t>
            </a:r>
          </a:p>
        </p:txBody>
      </p:sp>
      <p:sp>
        <p:nvSpPr>
          <p:cNvPr id="93207" name="Rectangle 23">
            <a:extLst>
              <a:ext uri="{FF2B5EF4-FFF2-40B4-BE49-F238E27FC236}">
                <a16:creationId xmlns:a16="http://schemas.microsoft.com/office/drawing/2014/main" id="{D6A88EC2-4CEF-C359-5765-A50839C8ABA8}"/>
              </a:ext>
            </a:extLst>
          </p:cNvPr>
          <p:cNvSpPr>
            <a:spLocks noChangeArrowheads="1"/>
          </p:cNvSpPr>
          <p:nvPr/>
        </p:nvSpPr>
        <p:spPr bwMode="auto">
          <a:xfrm>
            <a:off x="6284913" y="3214688"/>
            <a:ext cx="2287587" cy="400050"/>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spAutoFit/>
          </a:bodyPr>
          <a:lstStyle/>
          <a:p>
            <a:pPr>
              <a:defRPr/>
            </a:pPr>
            <a:r>
              <a:rPr lang="zh-CN" altLang="en-US" sz="20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提取的相干载波</a:t>
            </a:r>
          </a:p>
        </p:txBody>
      </p:sp>
      <p:sp>
        <p:nvSpPr>
          <p:cNvPr id="93208" name="Rectangle 24">
            <a:extLst>
              <a:ext uri="{FF2B5EF4-FFF2-40B4-BE49-F238E27FC236}">
                <a16:creationId xmlns:a16="http://schemas.microsoft.com/office/drawing/2014/main" id="{DE5510F9-7149-651A-C904-A074A68B43BA}"/>
              </a:ext>
            </a:extLst>
          </p:cNvPr>
          <p:cNvSpPr>
            <a:spLocks noChangeArrowheads="1"/>
          </p:cNvSpPr>
          <p:nvPr/>
        </p:nvSpPr>
        <p:spPr bwMode="auto">
          <a:xfrm>
            <a:off x="928688" y="3429000"/>
            <a:ext cx="1724025" cy="400050"/>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spAutoFit/>
          </a:bodyPr>
          <a:lstStyle/>
          <a:p>
            <a:pPr>
              <a:defRPr/>
            </a:pPr>
            <a:r>
              <a:rPr lang="zh-CN" altLang="en-US" sz="20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相乘器输出</a:t>
            </a:r>
            <a:r>
              <a:rPr lang="zh-CN" altLang="en-US" sz="2000" dirty="0">
                <a:effectLst>
                  <a:outerShdw blurRad="38100" dist="38100" dir="2700000" algn="tl">
                    <a:srgbClr val="000000">
                      <a:alpha val="43137"/>
                    </a:srgbClr>
                  </a:outerShdw>
                </a:effectLst>
                <a:latin typeface="+mn-ea"/>
                <a:ea typeface="+mn-ea"/>
              </a:rPr>
              <a:t>：</a:t>
            </a:r>
          </a:p>
        </p:txBody>
      </p:sp>
      <p:graphicFrame>
        <p:nvGraphicFramePr>
          <p:cNvPr id="24" name="Object 11">
            <a:extLst>
              <a:ext uri="{FF2B5EF4-FFF2-40B4-BE49-F238E27FC236}">
                <a16:creationId xmlns:a16="http://schemas.microsoft.com/office/drawing/2014/main" id="{24AC835E-01E2-0CC6-6679-A27BE97FD5D0}"/>
              </a:ext>
            </a:extLst>
          </p:cNvPr>
          <p:cNvGraphicFramePr>
            <a:graphicFrameLocks noChangeAspect="1"/>
          </p:cNvGraphicFramePr>
          <p:nvPr/>
        </p:nvGraphicFramePr>
        <p:xfrm>
          <a:off x="3571875" y="5786438"/>
          <a:ext cx="1785938" cy="517525"/>
        </p:xfrm>
        <a:graphic>
          <a:graphicData uri="http://schemas.openxmlformats.org/presentationml/2006/ole">
            <mc:AlternateContent xmlns:mc="http://schemas.openxmlformats.org/markup-compatibility/2006">
              <mc:Choice xmlns:v="urn:schemas-microsoft-com:vml" Requires="v">
                <p:oleObj name="Equation" r:id="rId10" imgW="914400" imgH="266400" progId="Equation.DSMT4">
                  <p:embed/>
                </p:oleObj>
              </mc:Choice>
              <mc:Fallback>
                <p:oleObj name="Equation" r:id="rId10" imgW="914400" imgH="266400" progId="Equation.DSMT4">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71875" y="5786438"/>
                        <a:ext cx="1785938" cy="517525"/>
                      </a:xfrm>
                      <a:prstGeom prst="rect">
                        <a:avLst/>
                      </a:prstGeom>
                      <a:solidFill>
                        <a:srgbClr val="FFFFCC"/>
                      </a:solidFill>
                      <a:ln w="9525">
                        <a:solidFill>
                          <a:srgbClr val="B2B2B2"/>
                        </a:solidFill>
                        <a:miter lim="800000"/>
                        <a:headEnd/>
                        <a:tailEnd/>
                      </a:ln>
                    </p:spPr>
                  </p:pic>
                </p:oleObj>
              </mc:Fallback>
            </mc:AlternateContent>
          </a:graphicData>
        </a:graphic>
      </p:graphicFrame>
      <p:graphicFrame>
        <p:nvGraphicFramePr>
          <p:cNvPr id="25" name="Object 8">
            <a:extLst>
              <a:ext uri="{FF2B5EF4-FFF2-40B4-BE49-F238E27FC236}">
                <a16:creationId xmlns:a16="http://schemas.microsoft.com/office/drawing/2014/main" id="{496B3F74-EEC9-19FE-4DAD-8BBDD57085AA}"/>
              </a:ext>
            </a:extLst>
          </p:cNvPr>
          <p:cNvGraphicFramePr>
            <a:graphicFrameLocks noChangeAspect="1"/>
          </p:cNvGraphicFramePr>
          <p:nvPr/>
        </p:nvGraphicFramePr>
        <p:xfrm>
          <a:off x="2000250" y="4786313"/>
          <a:ext cx="4718050" cy="801687"/>
        </p:xfrm>
        <a:graphic>
          <a:graphicData uri="http://schemas.openxmlformats.org/presentationml/2006/ole">
            <mc:AlternateContent xmlns:mc="http://schemas.openxmlformats.org/markup-compatibility/2006">
              <mc:Choice xmlns:v="urn:schemas-microsoft-com:vml" Requires="v">
                <p:oleObj name="Equation" r:id="rId12" imgW="2603160" imgH="444240" progId="Equation.DSMT4">
                  <p:embed/>
                </p:oleObj>
              </mc:Choice>
              <mc:Fallback>
                <p:oleObj name="Equation" r:id="rId12" imgW="2603160" imgH="444240" progId="Equation.DSMT4">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00250" y="4786313"/>
                        <a:ext cx="4718050" cy="801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矩形 25">
            <a:extLst>
              <a:ext uri="{FF2B5EF4-FFF2-40B4-BE49-F238E27FC236}">
                <a16:creationId xmlns:a16="http://schemas.microsoft.com/office/drawing/2014/main" id="{EBA5B2B6-B03B-0D8C-F88C-309F1CF59518}"/>
              </a:ext>
            </a:extLst>
          </p:cNvPr>
          <p:cNvSpPr>
            <a:spLocks noChangeArrowheads="1"/>
          </p:cNvSpPr>
          <p:nvPr/>
        </p:nvSpPr>
        <p:spPr bwMode="auto">
          <a:xfrm>
            <a:off x="5357813" y="5786438"/>
            <a:ext cx="32146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2400">
                <a:latin typeface="黑体" panose="02010609060101010101" pitchFamily="49" charset="-122"/>
                <a:ea typeface="黑体" panose="02010609060101010101" pitchFamily="49" charset="-122"/>
              </a:rPr>
              <a:t>——</a:t>
            </a:r>
            <a:r>
              <a:rPr lang="zh-CN" altLang="en-US" sz="2400">
                <a:latin typeface="黑体" panose="02010609060101010101" pitchFamily="49" charset="-122"/>
                <a:ea typeface="黑体" panose="02010609060101010101" pitchFamily="49" charset="-122"/>
              </a:rPr>
              <a:t>载波相位误差 </a:t>
            </a:r>
            <a:endParaRPr lang="zh-CN" altLang="en-US" sz="2400"/>
          </a:p>
        </p:txBody>
      </p:sp>
      <p:pic>
        <p:nvPicPr>
          <p:cNvPr id="12302" name="Picture 8">
            <a:extLst>
              <a:ext uri="{FF2B5EF4-FFF2-40B4-BE49-F238E27FC236}">
                <a16:creationId xmlns:a16="http://schemas.microsoft.com/office/drawing/2014/main" id="{CC19ADFC-0179-12AC-E014-01D1520D687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l="9912" r="9776" b="34947"/>
          <a:stretch>
            <a:fillRect/>
          </a:stretch>
        </p:blipFill>
        <p:spPr bwMode="auto">
          <a:xfrm>
            <a:off x="482600" y="361950"/>
            <a:ext cx="59563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nodeType="clickEffect">
                                  <p:stCondLst>
                                    <p:cond delay="0"/>
                                  </p:stCondLst>
                                  <p:childTnLst>
                                    <p:set>
                                      <p:cBhvr>
                                        <p:cTn id="6" dur="1" fill="hold">
                                          <p:stCondLst>
                                            <p:cond delay="0"/>
                                          </p:stCondLst>
                                        </p:cTn>
                                        <p:tgtEl>
                                          <p:spTgt spid="93206"/>
                                        </p:tgtEl>
                                        <p:attrNameLst>
                                          <p:attrName>style.visibility</p:attrName>
                                        </p:attrNameLst>
                                      </p:cBhvr>
                                      <p:to>
                                        <p:strVal val="visible"/>
                                      </p:to>
                                    </p:set>
                                    <p:anim calcmode="lin" valueType="num">
                                      <p:cBhvr>
                                        <p:cTn id="7" dur="1000" fill="hold"/>
                                        <p:tgtEl>
                                          <p:spTgt spid="93206"/>
                                        </p:tgtEl>
                                        <p:attrNameLst>
                                          <p:attrName>ppt_x</p:attrName>
                                        </p:attrNameLst>
                                      </p:cBhvr>
                                      <p:tavLst>
                                        <p:tav tm="0">
                                          <p:val>
                                            <p:strVal val="#ppt_x-.2"/>
                                          </p:val>
                                        </p:tav>
                                        <p:tav tm="100000">
                                          <p:val>
                                            <p:strVal val="#ppt_x"/>
                                          </p:val>
                                        </p:tav>
                                      </p:tavLst>
                                    </p:anim>
                                    <p:anim calcmode="lin" valueType="num">
                                      <p:cBhvr>
                                        <p:cTn id="8" dur="1000" fill="hold"/>
                                        <p:tgtEl>
                                          <p:spTgt spid="93206"/>
                                        </p:tgtEl>
                                        <p:attrNameLst>
                                          <p:attrName>ppt_y</p:attrName>
                                        </p:attrNameLst>
                                      </p:cBhvr>
                                      <p:tavLst>
                                        <p:tav tm="0">
                                          <p:val>
                                            <p:strVal val="#ppt_y"/>
                                          </p:val>
                                        </p:tav>
                                        <p:tav tm="100000">
                                          <p:val>
                                            <p:strVal val="#ppt_y"/>
                                          </p:val>
                                        </p:tav>
                                      </p:tavLst>
                                    </p:anim>
                                    <p:animEffect transition="in" filter="wipe(right)" prLst="gradientSize: 0.1">
                                      <p:cBhvr>
                                        <p:cTn id="9" dur="1000"/>
                                        <p:tgtEl>
                                          <p:spTgt spid="93206"/>
                                        </p:tgtEl>
                                      </p:cBhvr>
                                    </p:animEffect>
                                  </p:childTnLst>
                                </p:cTn>
                              </p:par>
                            </p:childTnLst>
                          </p:cTn>
                        </p:par>
                        <p:par>
                          <p:cTn id="10" fill="hold" nodeType="afterGroup">
                            <p:stCondLst>
                              <p:cond delay="1000"/>
                            </p:stCondLst>
                            <p:childTnLst>
                              <p:par>
                                <p:cTn id="11" presetID="20" presetClass="entr" presetSubtype="0" fill="hold" nodeType="afterEffect">
                                  <p:stCondLst>
                                    <p:cond delay="0"/>
                                  </p:stCondLst>
                                  <p:childTnLst>
                                    <p:set>
                                      <p:cBhvr>
                                        <p:cTn id="12" dur="1" fill="hold">
                                          <p:stCondLst>
                                            <p:cond delay="0"/>
                                          </p:stCondLst>
                                        </p:cTn>
                                        <p:tgtEl>
                                          <p:spTgt spid="93189"/>
                                        </p:tgtEl>
                                        <p:attrNameLst>
                                          <p:attrName>style.visibility</p:attrName>
                                        </p:attrNameLst>
                                      </p:cBhvr>
                                      <p:to>
                                        <p:strVal val="visible"/>
                                      </p:to>
                                    </p:set>
                                    <p:animEffect transition="in" filter="wedge">
                                      <p:cBhvr>
                                        <p:cTn id="13" dur="1000"/>
                                        <p:tgtEl>
                                          <p:spTgt spid="93189"/>
                                        </p:tgtEl>
                                      </p:cBhvr>
                                    </p:animEffect>
                                  </p:childTnLst>
                                </p:cTn>
                              </p:par>
                            </p:childTnLst>
                          </p:cTn>
                        </p:par>
                        <p:par>
                          <p:cTn id="14" fill="hold" nodeType="afterGroup">
                            <p:stCondLst>
                              <p:cond delay="2000"/>
                            </p:stCondLst>
                            <p:childTnLst>
                              <p:par>
                                <p:cTn id="15" presetID="22" presetClass="entr" presetSubtype="1" fill="hold" nodeType="afterEffect">
                                  <p:stCondLst>
                                    <p:cond delay="0"/>
                                  </p:stCondLst>
                                  <p:childTnLst>
                                    <p:set>
                                      <p:cBhvr>
                                        <p:cTn id="16" dur="1" fill="hold">
                                          <p:stCondLst>
                                            <p:cond delay="0"/>
                                          </p:stCondLst>
                                        </p:cTn>
                                        <p:tgtEl>
                                          <p:spTgt spid="93191"/>
                                        </p:tgtEl>
                                        <p:attrNameLst>
                                          <p:attrName>style.visibility</p:attrName>
                                        </p:attrNameLst>
                                      </p:cBhvr>
                                      <p:to>
                                        <p:strVal val="visible"/>
                                      </p:to>
                                    </p:set>
                                    <p:animEffect transition="in" filter="wipe(up)">
                                      <p:cBhvr>
                                        <p:cTn id="17" dur="1000"/>
                                        <p:tgtEl>
                                          <p:spTgt spid="93191"/>
                                        </p:tgtEl>
                                      </p:cBhvr>
                                    </p:animEffect>
                                  </p:childTnLst>
                                </p:cTn>
                              </p:par>
                            </p:childTnLst>
                          </p:cTn>
                        </p:par>
                        <p:par>
                          <p:cTn id="18" fill="hold" nodeType="afterGroup">
                            <p:stCondLst>
                              <p:cond delay="3000"/>
                            </p:stCondLst>
                            <p:childTnLst>
                              <p:par>
                                <p:cTn id="19" presetID="22" presetClass="entr" presetSubtype="1" fill="hold" nodeType="afterEffect">
                                  <p:stCondLst>
                                    <p:cond delay="0"/>
                                  </p:stCondLst>
                                  <p:childTnLst>
                                    <p:set>
                                      <p:cBhvr>
                                        <p:cTn id="20" dur="1" fill="hold">
                                          <p:stCondLst>
                                            <p:cond delay="0"/>
                                          </p:stCondLst>
                                        </p:cTn>
                                        <p:tgtEl>
                                          <p:spTgt spid="93207"/>
                                        </p:tgtEl>
                                        <p:attrNameLst>
                                          <p:attrName>style.visibility</p:attrName>
                                        </p:attrNameLst>
                                      </p:cBhvr>
                                      <p:to>
                                        <p:strVal val="visible"/>
                                      </p:to>
                                    </p:set>
                                    <p:animEffect transition="in" filter="wipe(up)">
                                      <p:cBhvr>
                                        <p:cTn id="21" dur="1000"/>
                                        <p:tgtEl>
                                          <p:spTgt spid="9320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93208">
                                            <p:txEl>
                                              <p:pRg st="0" end="0"/>
                                            </p:txEl>
                                          </p:spTgt>
                                        </p:tgtEl>
                                        <p:attrNameLst>
                                          <p:attrName>style.visibility</p:attrName>
                                        </p:attrNameLst>
                                      </p:cBhvr>
                                      <p:to>
                                        <p:strVal val="visible"/>
                                      </p:to>
                                    </p:set>
                                    <p:animEffect transition="in" filter="wipe(up)">
                                      <p:cBhvr>
                                        <p:cTn id="26" dur="1000"/>
                                        <p:tgtEl>
                                          <p:spTgt spid="93208">
                                            <p:txEl>
                                              <p:pRg st="0" end="0"/>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93193"/>
                                        </p:tgtEl>
                                        <p:attrNameLst>
                                          <p:attrName>style.visibility</p:attrName>
                                        </p:attrNameLst>
                                      </p:cBhvr>
                                      <p:to>
                                        <p:strVal val="visible"/>
                                      </p:to>
                                    </p:set>
                                    <p:animEffect transition="in" filter="wipe(up)">
                                      <p:cBhvr>
                                        <p:cTn id="31" dur="1000"/>
                                        <p:tgtEl>
                                          <p:spTgt spid="9319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wipe(up)">
                                      <p:cBhvr>
                                        <p:cTn id="36" dur="1000"/>
                                        <p:tgtEl>
                                          <p:spTgt spid="2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0" presetClass="entr" presetSubtype="0" fill="hold" nodeType="click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wedge">
                                      <p:cBhvr>
                                        <p:cTn id="41" dur="1000"/>
                                        <p:tgtEl>
                                          <p:spTgt spid="24"/>
                                        </p:tgtEl>
                                      </p:cBhvr>
                                    </p:animEffect>
                                  </p:childTnLst>
                                </p:cTn>
                              </p:par>
                            </p:childTnLst>
                          </p:cTn>
                        </p:par>
                        <p:par>
                          <p:cTn id="42" fill="hold" nodeType="afterGroup">
                            <p:stCondLst>
                              <p:cond delay="1000"/>
                            </p:stCondLst>
                            <p:childTnLst>
                              <p:par>
                                <p:cTn id="43" presetID="22" presetClass="entr" presetSubtype="8" fill="hold" nodeType="after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wipe(left)">
                                      <p:cBhvr>
                                        <p:cTn id="45" dur="2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206" grpId="0" animBg="1"/>
      <p:bldP spid="93207" grpId="0"/>
      <p:bldP spid="26" grpId="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212" name="Rectangle 3">
            <a:extLst>
              <a:ext uri="{FF2B5EF4-FFF2-40B4-BE49-F238E27FC236}">
                <a16:creationId xmlns:a16="http://schemas.microsoft.com/office/drawing/2014/main" id="{3316A731-397F-FD18-ECEB-5FDF5D5218E7}"/>
              </a:ext>
            </a:extLst>
          </p:cNvPr>
          <p:cNvSpPr>
            <a:spLocks noGrp="1" noChangeArrowheads="1"/>
          </p:cNvSpPr>
          <p:nvPr>
            <p:ph type="body" idx="4294967295"/>
          </p:nvPr>
        </p:nvSpPr>
        <p:spPr>
          <a:xfrm>
            <a:off x="2857500" y="5892800"/>
            <a:ext cx="5357813" cy="504825"/>
          </a:xfrm>
          <a:prstGeom prst="rect">
            <a:avLst/>
          </a:prstGeom>
        </p:spPr>
        <p:txBody>
          <a:bodyPr/>
          <a:lstStyle/>
          <a:p>
            <a:pPr eaLnBrk="1" hangingPunct="1">
              <a:buClr>
                <a:srgbClr val="CC0000"/>
              </a:buClr>
              <a:buSzPct val="55000"/>
              <a:buFont typeface="Wingdings" panose="05000000000000000000" pitchFamily="2" charset="2"/>
              <a:buNone/>
              <a:defRPr/>
            </a:pPr>
            <a:r>
              <a:rPr lang="en-US" altLang="zh-CN" sz="2000" dirty="0">
                <a:effectLst>
                  <a:outerShdw blurRad="38100" dist="38100" dir="2700000" algn="tl">
                    <a:srgbClr val="000000">
                      <a:alpha val="43137"/>
                    </a:srgbClr>
                  </a:outerShdw>
                </a:effectLst>
                <a:latin typeface="微软雅黑" pitchFamily="34" charset="-122"/>
                <a:ea typeface="微软雅黑" pitchFamily="34" charset="-122"/>
              </a:rPr>
              <a:t>—— </a:t>
            </a:r>
            <a:r>
              <a:rPr lang="zh-CN" altLang="en-US" sz="2400" dirty="0">
                <a:effectLst>
                  <a:outerShdw blurRad="38100" dist="38100" dir="2700000" algn="tl">
                    <a:srgbClr val="000000">
                      <a:alpha val="43137"/>
                    </a:srgbClr>
                  </a:outerShdw>
                </a:effectLst>
                <a:latin typeface="微软雅黑" pitchFamily="34" charset="-122"/>
                <a:ea typeface="微软雅黑" pitchFamily="34" charset="-122"/>
              </a:rPr>
              <a:t>信噪功率比</a:t>
            </a:r>
            <a:r>
              <a:rPr lang="zh-CN" altLang="en-US" sz="2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下降</a:t>
            </a:r>
            <a:r>
              <a:rPr lang="zh-CN" altLang="en-US" sz="2000" dirty="0">
                <a:effectLst>
                  <a:outerShdw blurRad="38100" dist="38100" dir="2700000" algn="tl">
                    <a:srgbClr val="000000">
                      <a:alpha val="43137"/>
                    </a:srgbClr>
                  </a:outerShdw>
                </a:effectLst>
                <a:latin typeface="微软雅黑" pitchFamily="34" charset="-122"/>
                <a:ea typeface="微软雅黑" pitchFamily="34" charset="-122"/>
              </a:rPr>
              <a:t> 将使 </a:t>
            </a:r>
            <a:r>
              <a:rPr lang="zh-CN" altLang="en-US" sz="2400" dirty="0">
                <a:effectLst>
                  <a:outerShdw blurRad="38100" dist="38100" dir="2700000" algn="tl">
                    <a:srgbClr val="000000">
                      <a:alpha val="43137"/>
                    </a:srgbClr>
                  </a:outerShdw>
                </a:effectLst>
                <a:latin typeface="微软雅黑" pitchFamily="34" charset="-122"/>
                <a:ea typeface="微软雅黑" pitchFamily="34" charset="-122"/>
              </a:rPr>
              <a:t>误码率</a:t>
            </a:r>
            <a:r>
              <a:rPr lang="zh-CN" altLang="en-US" sz="2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增加</a:t>
            </a:r>
            <a:r>
              <a:rPr lang="zh-CN" altLang="en-US" sz="2000" dirty="0">
                <a:solidFill>
                  <a:srgbClr val="990099"/>
                </a:solidFill>
                <a:effectLst>
                  <a:outerShdw blurRad="38100" dist="38100" dir="2700000" algn="tl">
                    <a:srgbClr val="000000">
                      <a:alpha val="43137"/>
                    </a:srgbClr>
                  </a:outerShdw>
                </a:effectLst>
                <a:latin typeface="微软雅黑" pitchFamily="34" charset="-122"/>
                <a:ea typeface="微软雅黑" pitchFamily="34" charset="-122"/>
              </a:rPr>
              <a:t> </a:t>
            </a:r>
            <a:r>
              <a:rPr lang="zh-CN" altLang="en-US" sz="2000" dirty="0">
                <a:effectLst>
                  <a:outerShdw blurRad="38100" dist="38100" dir="2700000" algn="tl">
                    <a:srgbClr val="000000">
                      <a:alpha val="43137"/>
                    </a:srgbClr>
                  </a:outerShdw>
                </a:effectLst>
                <a:latin typeface="微软雅黑" pitchFamily="34" charset="-122"/>
                <a:ea typeface="微软雅黑" pitchFamily="34" charset="-122"/>
              </a:rPr>
              <a:t>。 </a:t>
            </a:r>
          </a:p>
          <a:p>
            <a:pPr eaLnBrk="1" hangingPunct="1">
              <a:buSzPct val="65000"/>
              <a:buFont typeface="Wingdings" panose="05000000000000000000" pitchFamily="2" charset="2"/>
              <a:buNone/>
              <a:defRPr/>
            </a:pPr>
            <a:r>
              <a:rPr lang="en-US" altLang="zh-CN" sz="2000" dirty="0">
                <a:effectLst>
                  <a:outerShdw blurRad="38100" dist="38100" dir="2700000" algn="tl">
                    <a:srgbClr val="000000">
                      <a:alpha val="43137"/>
                    </a:srgbClr>
                  </a:outerShdw>
                </a:effectLst>
                <a:latin typeface="微软雅黑" pitchFamily="34" charset="-122"/>
                <a:ea typeface="微软雅黑" pitchFamily="34" charset="-122"/>
              </a:rPr>
              <a:t>              </a:t>
            </a:r>
            <a:endParaRPr lang="zh-CN" altLang="en-US" sz="2000" dirty="0">
              <a:effectLst>
                <a:outerShdw blurRad="38100" dist="38100" dir="2700000" algn="tl">
                  <a:srgbClr val="000000">
                    <a:alpha val="43137"/>
                  </a:srgbClr>
                </a:outerShdw>
              </a:effectLst>
              <a:latin typeface="微软雅黑" pitchFamily="34" charset="-122"/>
              <a:ea typeface="微软雅黑" pitchFamily="34" charset="-122"/>
            </a:endParaRPr>
          </a:p>
          <a:p>
            <a:pPr eaLnBrk="1" hangingPunct="1">
              <a:buSzPct val="65000"/>
              <a:buFont typeface="Wingdings" panose="05000000000000000000" pitchFamily="2" charset="2"/>
              <a:buChar char="v"/>
              <a:defRPr/>
            </a:pPr>
            <a:endParaRPr lang="zh-CN" altLang="en-US" sz="2000" dirty="0">
              <a:effectLst>
                <a:outerShdw blurRad="38100" dist="38100" dir="2700000" algn="tl">
                  <a:srgbClr val="000000">
                    <a:alpha val="43137"/>
                  </a:srgbClr>
                </a:outerShdw>
              </a:effectLst>
              <a:latin typeface="微软雅黑" pitchFamily="34" charset="-122"/>
              <a:ea typeface="微软雅黑" pitchFamily="34" charset="-122"/>
            </a:endParaRPr>
          </a:p>
          <a:p>
            <a:pPr eaLnBrk="1" hangingPunct="1">
              <a:buSzPct val="65000"/>
              <a:buFont typeface="Wingdings" panose="05000000000000000000" pitchFamily="2" charset="2"/>
              <a:buChar char="v"/>
              <a:defRPr/>
            </a:pPr>
            <a:endParaRPr lang="zh-CN" altLang="en-US" sz="2000" dirty="0">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13323" name="Rectangle 5">
            <a:extLst>
              <a:ext uri="{FF2B5EF4-FFF2-40B4-BE49-F238E27FC236}">
                <a16:creationId xmlns:a16="http://schemas.microsoft.com/office/drawing/2014/main" id="{92981197-0FD3-DF24-83A7-5CBECDC3CB29}"/>
              </a:ext>
            </a:extLst>
          </p:cNvPr>
          <p:cNvSpPr>
            <a:spLocks noChangeArrowheads="1"/>
          </p:cNvSpPr>
          <p:nvPr/>
        </p:nvSpPr>
        <p:spPr bwMode="auto">
          <a:xfrm>
            <a:off x="0"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aphicFrame>
        <p:nvGraphicFramePr>
          <p:cNvPr id="94214" name="Object 6">
            <a:extLst>
              <a:ext uri="{FF2B5EF4-FFF2-40B4-BE49-F238E27FC236}">
                <a16:creationId xmlns:a16="http://schemas.microsoft.com/office/drawing/2014/main" id="{E94F477E-DAE4-5BA4-7ED1-404CBE71E608}"/>
              </a:ext>
            </a:extLst>
          </p:cNvPr>
          <p:cNvGraphicFramePr>
            <a:graphicFrameLocks noChangeAspect="1"/>
          </p:cNvGraphicFramePr>
          <p:nvPr/>
        </p:nvGraphicFramePr>
        <p:xfrm>
          <a:off x="1314450" y="4330700"/>
          <a:ext cx="1447800" cy="466725"/>
        </p:xfrm>
        <a:graphic>
          <a:graphicData uri="http://schemas.openxmlformats.org/presentationml/2006/ole">
            <mc:AlternateContent xmlns:mc="http://schemas.openxmlformats.org/markup-compatibility/2006">
              <mc:Choice xmlns:v="urn:schemas-microsoft-com:vml" Requires="v">
                <p:oleObj name="Equation" r:id="rId2" imgW="799920" imgH="253800" progId="Equation.DSMT4">
                  <p:embed/>
                </p:oleObj>
              </mc:Choice>
              <mc:Fallback>
                <p:oleObj name="Equation" r:id="rId2" imgW="799920" imgH="253800" progId="Equation.DSMT4">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4450" y="4330700"/>
                        <a:ext cx="1447800"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216" name="Object 8">
            <a:extLst>
              <a:ext uri="{FF2B5EF4-FFF2-40B4-BE49-F238E27FC236}">
                <a16:creationId xmlns:a16="http://schemas.microsoft.com/office/drawing/2014/main" id="{EF7F3150-E13E-4BFC-1657-49B2BC82F0D4}"/>
              </a:ext>
            </a:extLst>
          </p:cNvPr>
          <p:cNvGraphicFramePr>
            <a:graphicFrameLocks noChangeAspect="1"/>
          </p:cNvGraphicFramePr>
          <p:nvPr/>
        </p:nvGraphicFramePr>
        <p:xfrm>
          <a:off x="3494088" y="4071938"/>
          <a:ext cx="2795587" cy="862012"/>
        </p:xfrm>
        <a:graphic>
          <a:graphicData uri="http://schemas.openxmlformats.org/presentationml/2006/ole">
            <mc:AlternateContent xmlns:mc="http://schemas.openxmlformats.org/markup-compatibility/2006">
              <mc:Choice xmlns:v="urn:schemas-microsoft-com:vml" Requires="v">
                <p:oleObj name="Equation" r:id="rId4" imgW="1269449" imgH="393529" progId="Equation.DSMT4">
                  <p:embed/>
                </p:oleObj>
              </mc:Choice>
              <mc:Fallback>
                <p:oleObj name="Equation" r:id="rId4" imgW="1269449" imgH="393529" progId="Equation.DSMT4">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4088" y="4071938"/>
                        <a:ext cx="2795587" cy="862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24" name="Rectangle 9">
            <a:extLst>
              <a:ext uri="{FF2B5EF4-FFF2-40B4-BE49-F238E27FC236}">
                <a16:creationId xmlns:a16="http://schemas.microsoft.com/office/drawing/2014/main" id="{2D355171-75A4-2EA0-D856-C410E85D0C94}"/>
              </a:ext>
            </a:extLst>
          </p:cNvPr>
          <p:cNvSpPr>
            <a:spLocks noChangeArrowheads="1"/>
          </p:cNvSpPr>
          <p:nvPr/>
        </p:nvSpPr>
        <p:spPr bwMode="auto">
          <a:xfrm>
            <a:off x="0"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aphicFrame>
        <p:nvGraphicFramePr>
          <p:cNvPr id="94218" name="Object 10">
            <a:extLst>
              <a:ext uri="{FF2B5EF4-FFF2-40B4-BE49-F238E27FC236}">
                <a16:creationId xmlns:a16="http://schemas.microsoft.com/office/drawing/2014/main" id="{F3CCD4E7-4518-2545-AFF8-557517EBBC80}"/>
              </a:ext>
            </a:extLst>
          </p:cNvPr>
          <p:cNvGraphicFramePr>
            <a:graphicFrameLocks noChangeAspect="1"/>
          </p:cNvGraphicFramePr>
          <p:nvPr/>
        </p:nvGraphicFramePr>
        <p:xfrm>
          <a:off x="1320800" y="5091113"/>
          <a:ext cx="1397000" cy="449262"/>
        </p:xfrm>
        <a:graphic>
          <a:graphicData uri="http://schemas.openxmlformats.org/presentationml/2006/ole">
            <mc:AlternateContent xmlns:mc="http://schemas.openxmlformats.org/markup-compatibility/2006">
              <mc:Choice xmlns:v="urn:schemas-microsoft-com:vml" Requires="v">
                <p:oleObj name="Equation" r:id="rId6" imgW="799920" imgH="253800" progId="Equation.DSMT4">
                  <p:embed/>
                </p:oleObj>
              </mc:Choice>
              <mc:Fallback>
                <p:oleObj name="Equation" r:id="rId6" imgW="799920" imgH="25380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20800" y="5091113"/>
                        <a:ext cx="1397000" cy="449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219" name="Object 11">
            <a:extLst>
              <a:ext uri="{FF2B5EF4-FFF2-40B4-BE49-F238E27FC236}">
                <a16:creationId xmlns:a16="http://schemas.microsoft.com/office/drawing/2014/main" id="{B9B112A2-2AD6-5172-EF88-B77BA9855EDE}"/>
              </a:ext>
            </a:extLst>
          </p:cNvPr>
          <p:cNvGraphicFramePr>
            <a:graphicFrameLocks noChangeAspect="1"/>
          </p:cNvGraphicFramePr>
          <p:nvPr/>
        </p:nvGraphicFramePr>
        <p:xfrm>
          <a:off x="3532188" y="4933950"/>
          <a:ext cx="3754437" cy="873125"/>
        </p:xfrm>
        <a:graphic>
          <a:graphicData uri="http://schemas.openxmlformats.org/presentationml/2006/ole">
            <mc:AlternateContent xmlns:mc="http://schemas.openxmlformats.org/markup-compatibility/2006">
              <mc:Choice xmlns:v="urn:schemas-microsoft-com:vml" Requires="v">
                <p:oleObj name="Equation" r:id="rId8" imgW="1676160" imgH="393480" progId="Equation.DSMT4">
                  <p:embed/>
                </p:oleObj>
              </mc:Choice>
              <mc:Fallback>
                <p:oleObj name="Equation" r:id="rId8" imgW="1676160" imgH="393480" progId="Equation.DSMT4">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32188" y="4933950"/>
                        <a:ext cx="3754437" cy="873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22">
            <a:extLst>
              <a:ext uri="{FF2B5EF4-FFF2-40B4-BE49-F238E27FC236}">
                <a16:creationId xmlns:a16="http://schemas.microsoft.com/office/drawing/2014/main" id="{465B763F-1F5E-D0F3-226C-E3A696BA9639}"/>
              </a:ext>
            </a:extLst>
          </p:cNvPr>
          <p:cNvSpPr>
            <a:spLocks noChangeArrowheads="1"/>
          </p:cNvSpPr>
          <p:nvPr/>
        </p:nvSpPr>
        <p:spPr bwMode="auto">
          <a:xfrm>
            <a:off x="550863" y="3571875"/>
            <a:ext cx="2663825" cy="461963"/>
          </a:xfrm>
          <a:prstGeom prst="rect">
            <a:avLst/>
          </a:prstGeom>
          <a:solidFill>
            <a:schemeClr val="bg2">
              <a:lumMod val="10000"/>
              <a:lumOff val="90000"/>
            </a:schemeClr>
          </a:solidFill>
          <a:ln>
            <a:noFill/>
          </a:ln>
          <a:effectLst>
            <a:prstShdw prst="shdw17" dist="17961" dir="2700000">
              <a:srgbClr val="99997A"/>
            </a:prstShdw>
          </a:effectLst>
        </p:spPr>
        <p:txBody>
          <a:bodyPr>
            <a:spAutoFit/>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marL="342900" indent="-342900" eaLnBrk="1" hangingPunct="1">
              <a:spcBef>
                <a:spcPct val="0"/>
              </a:spcBef>
              <a:buClrTx/>
              <a:buSzTx/>
              <a:buFont typeface="Wingdings" pitchFamily="2" charset="2"/>
              <a:buChar char="Ø"/>
              <a:defRPr/>
            </a:pPr>
            <a:r>
              <a:rPr lang="zh-CN" altLang="en-US" sz="2400" dirty="0">
                <a:solidFill>
                  <a:srgbClr val="0000CC"/>
                </a:solidFill>
                <a:latin typeface="微软雅黑" panose="020B0503020204020204" pitchFamily="34" charset="-122"/>
                <a:ea typeface="微软雅黑" panose="020B0503020204020204" pitchFamily="34" charset="-122"/>
              </a:rPr>
              <a:t>对于</a:t>
            </a:r>
            <a:r>
              <a:rPr lang="en-US" altLang="zh-CN" sz="2400" dirty="0">
                <a:solidFill>
                  <a:srgbClr val="0000CC"/>
                </a:solidFill>
                <a:latin typeface="微软雅黑" panose="020B0503020204020204" pitchFamily="34" charset="-122"/>
                <a:ea typeface="微软雅黑" panose="020B0503020204020204" pitchFamily="34" charset="-122"/>
              </a:rPr>
              <a:t>2PSK</a:t>
            </a:r>
            <a:r>
              <a:rPr lang="zh-CN" altLang="en-US" sz="2400" dirty="0">
                <a:solidFill>
                  <a:srgbClr val="0000CC"/>
                </a:solidFill>
                <a:latin typeface="微软雅黑" panose="020B0503020204020204" pitchFamily="34" charset="-122"/>
                <a:ea typeface="微软雅黑" panose="020B0503020204020204" pitchFamily="34" charset="-122"/>
              </a:rPr>
              <a:t>信号：</a:t>
            </a:r>
          </a:p>
        </p:txBody>
      </p:sp>
      <p:cxnSp>
        <p:nvCxnSpPr>
          <p:cNvPr id="26" name="直接连接符 25">
            <a:extLst>
              <a:ext uri="{FF2B5EF4-FFF2-40B4-BE49-F238E27FC236}">
                <a16:creationId xmlns:a16="http://schemas.microsoft.com/office/drawing/2014/main" id="{DE215ACA-2C9B-9C8F-9833-7F92966C69E7}"/>
              </a:ext>
            </a:extLst>
          </p:cNvPr>
          <p:cNvCxnSpPr/>
          <p:nvPr/>
        </p:nvCxnSpPr>
        <p:spPr bwMode="auto">
          <a:xfrm>
            <a:off x="1357313" y="4970463"/>
            <a:ext cx="5000625" cy="1587"/>
          </a:xfrm>
          <a:prstGeom prst="line">
            <a:avLst/>
          </a:prstGeom>
          <a:solidFill>
            <a:schemeClr val="accent1"/>
          </a:solidFill>
          <a:ln w="9525" cap="flat" cmpd="sng" algn="ctr">
            <a:solidFill>
              <a:schemeClr val="bg1">
                <a:lumMod val="75000"/>
              </a:schemeClr>
            </a:solidFill>
            <a:prstDash val="solid"/>
            <a:miter lim="800000"/>
            <a:headEnd type="none" w="med" len="med"/>
            <a:tailEnd type="none" w="med" len="med"/>
          </a:ln>
          <a:effectLst/>
        </p:spPr>
      </p:cxnSp>
      <p:graphicFrame>
        <p:nvGraphicFramePr>
          <p:cNvPr id="25" name="Object 6">
            <a:extLst>
              <a:ext uri="{FF2B5EF4-FFF2-40B4-BE49-F238E27FC236}">
                <a16:creationId xmlns:a16="http://schemas.microsoft.com/office/drawing/2014/main" id="{0D0483A1-2D93-5A15-E174-A7981B6DC145}"/>
              </a:ext>
            </a:extLst>
          </p:cNvPr>
          <p:cNvGraphicFramePr>
            <a:graphicFrameLocks noChangeAspect="1"/>
          </p:cNvGraphicFramePr>
          <p:nvPr/>
        </p:nvGraphicFramePr>
        <p:xfrm>
          <a:off x="3714750" y="1143000"/>
          <a:ext cx="2820988" cy="836613"/>
        </p:xfrm>
        <a:graphic>
          <a:graphicData uri="http://schemas.openxmlformats.org/presentationml/2006/ole">
            <mc:AlternateContent xmlns:mc="http://schemas.openxmlformats.org/markup-compatibility/2006">
              <mc:Choice xmlns:v="urn:schemas-microsoft-com:vml" Requires="v">
                <p:oleObj name="Equation" r:id="rId10" imgW="1320480" imgH="393480" progId="Equation.DSMT4">
                  <p:embed/>
                </p:oleObj>
              </mc:Choice>
              <mc:Fallback>
                <p:oleObj name="Equation" r:id="rId10" imgW="1320480" imgH="393480" progId="Equation.DSMT4">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14750" y="1143000"/>
                        <a:ext cx="2820988" cy="836613"/>
                      </a:xfrm>
                      <a:prstGeom prst="rect">
                        <a:avLst/>
                      </a:prstGeom>
                      <a:noFill/>
                      <a:ln w="38100" cmpd="dbl">
                        <a:solidFill>
                          <a:srgbClr val="6666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Object 13">
            <a:extLst>
              <a:ext uri="{FF2B5EF4-FFF2-40B4-BE49-F238E27FC236}">
                <a16:creationId xmlns:a16="http://schemas.microsoft.com/office/drawing/2014/main" id="{19AC3C8C-441B-441F-661C-F89048417FDE}"/>
              </a:ext>
            </a:extLst>
          </p:cNvPr>
          <p:cNvGraphicFramePr>
            <a:graphicFrameLocks noChangeAspect="1"/>
          </p:cNvGraphicFramePr>
          <p:nvPr/>
        </p:nvGraphicFramePr>
        <p:xfrm>
          <a:off x="990600" y="2214563"/>
          <a:ext cx="1492250" cy="482600"/>
        </p:xfrm>
        <a:graphic>
          <a:graphicData uri="http://schemas.openxmlformats.org/presentationml/2006/ole">
            <mc:AlternateContent xmlns:mc="http://schemas.openxmlformats.org/markup-compatibility/2006">
              <mc:Choice xmlns:v="urn:schemas-microsoft-com:vml" Requires="v">
                <p:oleObj name="Equation" r:id="rId12" imgW="787320" imgH="253800" progId="Equation.DSMT4">
                  <p:embed/>
                </p:oleObj>
              </mc:Choice>
              <mc:Fallback>
                <p:oleObj name="Equation" r:id="rId12" imgW="787320" imgH="253800" progId="Equation.DSMT4">
                  <p:embed/>
                  <p:pic>
                    <p:nvPicPr>
                      <p:cNvPr id="0"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90600" y="2214563"/>
                        <a:ext cx="149225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Object 15">
            <a:extLst>
              <a:ext uri="{FF2B5EF4-FFF2-40B4-BE49-F238E27FC236}">
                <a16:creationId xmlns:a16="http://schemas.microsoft.com/office/drawing/2014/main" id="{CA43F62C-7A8E-413D-9981-6D40C9CCD2DB}"/>
              </a:ext>
            </a:extLst>
          </p:cNvPr>
          <p:cNvGraphicFramePr>
            <a:graphicFrameLocks noChangeAspect="1"/>
          </p:cNvGraphicFramePr>
          <p:nvPr/>
        </p:nvGraphicFramePr>
        <p:xfrm>
          <a:off x="2382838" y="2236788"/>
          <a:ext cx="1874837" cy="468312"/>
        </p:xfrm>
        <a:graphic>
          <a:graphicData uri="http://schemas.openxmlformats.org/presentationml/2006/ole">
            <mc:AlternateContent xmlns:mc="http://schemas.openxmlformats.org/markup-compatibility/2006">
              <mc:Choice xmlns:v="urn:schemas-microsoft-com:vml" Requires="v">
                <p:oleObj name="Equation" r:id="rId14" imgW="1066680" imgH="266400" progId="Equation.DSMT4">
                  <p:embed/>
                </p:oleObj>
              </mc:Choice>
              <mc:Fallback>
                <p:oleObj name="Equation" r:id="rId14" imgW="1066680" imgH="266400" progId="Equation.DSMT4">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382838" y="2236788"/>
                        <a:ext cx="1874837" cy="468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Object 17">
            <a:extLst>
              <a:ext uri="{FF2B5EF4-FFF2-40B4-BE49-F238E27FC236}">
                <a16:creationId xmlns:a16="http://schemas.microsoft.com/office/drawing/2014/main" id="{D47E65F6-AA65-268F-0844-3D9961FECC50}"/>
              </a:ext>
            </a:extLst>
          </p:cNvPr>
          <p:cNvGraphicFramePr>
            <a:graphicFrameLocks noChangeAspect="1"/>
          </p:cNvGraphicFramePr>
          <p:nvPr/>
        </p:nvGraphicFramePr>
        <p:xfrm>
          <a:off x="6080125" y="2714625"/>
          <a:ext cx="1139825" cy="571500"/>
        </p:xfrm>
        <a:graphic>
          <a:graphicData uri="http://schemas.openxmlformats.org/presentationml/2006/ole">
            <mc:AlternateContent xmlns:mc="http://schemas.openxmlformats.org/markup-compatibility/2006">
              <mc:Choice xmlns:v="urn:schemas-microsoft-com:vml" Requires="v">
                <p:oleObj name="Equation" r:id="rId16" imgW="596880" imgH="253800" progId="Equation.DSMT4">
                  <p:embed/>
                </p:oleObj>
              </mc:Choice>
              <mc:Fallback>
                <p:oleObj name="Equation" r:id="rId16" imgW="596880" imgH="253800" progId="Equation.DSMT4">
                  <p:embed/>
                  <p:pic>
                    <p:nvPicPr>
                      <p:cNvPr id="0" name="Object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080125" y="2714625"/>
                        <a:ext cx="1139825"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Rectangle 20">
            <a:extLst>
              <a:ext uri="{FF2B5EF4-FFF2-40B4-BE49-F238E27FC236}">
                <a16:creationId xmlns:a16="http://schemas.microsoft.com/office/drawing/2014/main" id="{A5FB59A3-5ACB-3716-5D33-9C523AE84E41}"/>
              </a:ext>
            </a:extLst>
          </p:cNvPr>
          <p:cNvSpPr>
            <a:spLocks noChangeArrowheads="1"/>
          </p:cNvSpPr>
          <p:nvPr/>
        </p:nvSpPr>
        <p:spPr bwMode="auto">
          <a:xfrm>
            <a:off x="4433888" y="2230438"/>
            <a:ext cx="3365500" cy="46196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spAutoFit/>
          </a:bodyPr>
          <a:lstStyle/>
          <a:p>
            <a:pPr>
              <a:defRPr/>
            </a:pPr>
            <a:r>
              <a:rPr lang="zh-CN" altLang="en-US" sz="20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导致解调后信号</a:t>
            </a:r>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幅度</a:t>
            </a:r>
            <a:r>
              <a:rPr lang="zh-CN" altLang="en-US" sz="20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下降，</a:t>
            </a:r>
          </a:p>
        </p:txBody>
      </p:sp>
      <p:sp>
        <p:nvSpPr>
          <p:cNvPr id="31" name="Rectangle 21">
            <a:extLst>
              <a:ext uri="{FF2B5EF4-FFF2-40B4-BE49-F238E27FC236}">
                <a16:creationId xmlns:a16="http://schemas.microsoft.com/office/drawing/2014/main" id="{7E2D1E50-7498-1D27-E667-D5956CF9072A}"/>
              </a:ext>
            </a:extLst>
          </p:cNvPr>
          <p:cNvSpPr>
            <a:spLocks noChangeArrowheads="1"/>
          </p:cNvSpPr>
          <p:nvPr/>
        </p:nvSpPr>
        <p:spPr bwMode="auto">
          <a:xfrm>
            <a:off x="2933700" y="2786063"/>
            <a:ext cx="5141913" cy="46196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spAutoFit/>
          </a:bodyPr>
          <a:lstStyle/>
          <a:p>
            <a:pPr>
              <a:defRPr/>
            </a:pPr>
            <a:r>
              <a:rPr lang="en-US" altLang="zh-CN" sz="20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20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使 </a:t>
            </a:r>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信噪功率比</a:t>
            </a:r>
            <a:r>
              <a:rPr lang="zh-CN" altLang="en-US" sz="20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下降                  倍 。</a:t>
            </a:r>
          </a:p>
        </p:txBody>
      </p:sp>
      <p:sp>
        <p:nvSpPr>
          <p:cNvPr id="32" name="Rectangle 25">
            <a:extLst>
              <a:ext uri="{FF2B5EF4-FFF2-40B4-BE49-F238E27FC236}">
                <a16:creationId xmlns:a16="http://schemas.microsoft.com/office/drawing/2014/main" id="{35EDC883-8932-0966-59B6-4B738557C34D}"/>
              </a:ext>
            </a:extLst>
          </p:cNvPr>
          <p:cNvSpPr>
            <a:spLocks noChangeArrowheads="1"/>
          </p:cNvSpPr>
          <p:nvPr/>
        </p:nvSpPr>
        <p:spPr bwMode="auto">
          <a:xfrm>
            <a:off x="955675" y="1100138"/>
            <a:ext cx="2687638" cy="400050"/>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spAutoFit/>
          </a:bodyPr>
          <a:lstStyle/>
          <a:p>
            <a:pPr>
              <a:defRPr/>
            </a:pPr>
            <a:r>
              <a:rPr lang="zh-CN" altLang="en-US" sz="20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经</a:t>
            </a:r>
            <a:r>
              <a:rPr lang="en-US" altLang="zh-CN" sz="2000" dirty="0">
                <a:latin typeface="微软雅黑" panose="020B0503020204020204" pitchFamily="34" charset="-122"/>
                <a:ea typeface="微软雅黑" panose="020B0503020204020204" pitchFamily="34" charset="-122"/>
              </a:rPr>
              <a:t>LPF</a:t>
            </a:r>
            <a:r>
              <a:rPr lang="zh-CN" altLang="en-US" sz="20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后，解调输出：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up)">
                                      <p:cBhvr>
                                        <p:cTn id="7" dur="1000"/>
                                        <p:tgtEl>
                                          <p:spTgt spid="32"/>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up)">
                                      <p:cBhvr>
                                        <p:cTn id="11" dur="1000"/>
                                        <p:tgtEl>
                                          <p:spTgt spid="2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wipe(left)">
                                      <p:cBhvr>
                                        <p:cTn id="16" dur="2000"/>
                                        <p:tgtEl>
                                          <p:spTgt spid="2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wipe(left)">
                                      <p:cBhvr>
                                        <p:cTn id="21" dur="2000"/>
                                        <p:tgtEl>
                                          <p:spTgt spid="2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wipe(left)">
                                      <p:cBhvr>
                                        <p:cTn id="26" dur="2000"/>
                                        <p:tgtEl>
                                          <p:spTgt spid="30"/>
                                        </p:tgtEl>
                                      </p:cBhvr>
                                    </p:animEffect>
                                  </p:childTnLst>
                                </p:cTn>
                              </p:par>
                            </p:childTnLst>
                          </p:cTn>
                        </p:par>
                        <p:par>
                          <p:cTn id="27" fill="hold" nodeType="afterGroup">
                            <p:stCondLst>
                              <p:cond delay="2000"/>
                            </p:stCondLst>
                            <p:childTnLst>
                              <p:par>
                                <p:cTn id="28" presetID="22" presetClass="entr" presetSubtype="1" fill="hold" nodeType="after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wipe(up)">
                                      <p:cBhvr>
                                        <p:cTn id="30" dur="1000"/>
                                        <p:tgtEl>
                                          <p:spTgt spid="31"/>
                                        </p:tgtEl>
                                      </p:cBhvr>
                                    </p:animEffect>
                                  </p:childTnLst>
                                </p:cTn>
                              </p:par>
                            </p:childTnLst>
                          </p:cTn>
                        </p:par>
                        <p:par>
                          <p:cTn id="31" fill="hold" nodeType="afterGroup">
                            <p:stCondLst>
                              <p:cond delay="3000"/>
                            </p:stCondLst>
                            <p:childTnLst>
                              <p:par>
                                <p:cTn id="32" presetID="21" presetClass="entr" presetSubtype="4" fill="hold" nodeType="after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wheel(4)">
                                      <p:cBhvr>
                                        <p:cTn id="34" dur="1000"/>
                                        <p:tgtEl>
                                          <p:spTgt spid="2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9"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 calcmode="lin" valueType="num">
                                      <p:cBhvr>
                                        <p:cTn id="39" dur="1000" fill="hold"/>
                                        <p:tgtEl>
                                          <p:spTgt spid="18"/>
                                        </p:tgtEl>
                                        <p:attrNameLst>
                                          <p:attrName>ppt_x</p:attrName>
                                        </p:attrNameLst>
                                      </p:cBhvr>
                                      <p:tavLst>
                                        <p:tav tm="0">
                                          <p:val>
                                            <p:strVal val="#ppt_x-.2"/>
                                          </p:val>
                                        </p:tav>
                                        <p:tav tm="100000">
                                          <p:val>
                                            <p:strVal val="#ppt_x"/>
                                          </p:val>
                                        </p:tav>
                                      </p:tavLst>
                                    </p:anim>
                                    <p:anim calcmode="lin" valueType="num">
                                      <p:cBhvr>
                                        <p:cTn id="40" dur="1000" fill="hold"/>
                                        <p:tgtEl>
                                          <p:spTgt spid="18"/>
                                        </p:tgtEl>
                                        <p:attrNameLst>
                                          <p:attrName>ppt_y</p:attrName>
                                        </p:attrNameLst>
                                      </p:cBhvr>
                                      <p:tavLst>
                                        <p:tav tm="0">
                                          <p:val>
                                            <p:strVal val="#ppt_y"/>
                                          </p:val>
                                        </p:tav>
                                        <p:tav tm="100000">
                                          <p:val>
                                            <p:strVal val="#ppt_y"/>
                                          </p:val>
                                        </p:tav>
                                      </p:tavLst>
                                    </p:anim>
                                    <p:animEffect transition="in" filter="wipe(right)" prLst="gradientSize: 0.1">
                                      <p:cBhvr>
                                        <p:cTn id="41" dur="1000"/>
                                        <p:tgtEl>
                                          <p:spTgt spid="18"/>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nodeType="clickEffect">
                                  <p:stCondLst>
                                    <p:cond delay="0"/>
                                  </p:stCondLst>
                                  <p:childTnLst>
                                    <p:set>
                                      <p:cBhvr>
                                        <p:cTn id="45" dur="1" fill="hold">
                                          <p:stCondLst>
                                            <p:cond delay="0"/>
                                          </p:stCondLst>
                                        </p:cTn>
                                        <p:tgtEl>
                                          <p:spTgt spid="94214"/>
                                        </p:tgtEl>
                                        <p:attrNameLst>
                                          <p:attrName>style.visibility</p:attrName>
                                        </p:attrNameLst>
                                      </p:cBhvr>
                                      <p:to>
                                        <p:strVal val="visible"/>
                                      </p:to>
                                    </p:set>
                                    <p:animEffect transition="in" filter="wipe(up)">
                                      <p:cBhvr>
                                        <p:cTn id="46" dur="1000"/>
                                        <p:tgtEl>
                                          <p:spTgt spid="94214"/>
                                        </p:tgtEl>
                                      </p:cBhvr>
                                    </p:animEffect>
                                  </p:childTnLst>
                                </p:cTn>
                              </p:par>
                            </p:childTnLst>
                          </p:cTn>
                        </p:par>
                        <p:par>
                          <p:cTn id="47" fill="hold" nodeType="afterGroup">
                            <p:stCondLst>
                              <p:cond delay="1000"/>
                            </p:stCondLst>
                            <p:childTnLst>
                              <p:par>
                                <p:cTn id="48" presetID="22" presetClass="entr" presetSubtype="8" fill="hold" nodeType="afterEffect">
                                  <p:stCondLst>
                                    <p:cond delay="0"/>
                                  </p:stCondLst>
                                  <p:childTnLst>
                                    <p:set>
                                      <p:cBhvr>
                                        <p:cTn id="49" dur="1" fill="hold">
                                          <p:stCondLst>
                                            <p:cond delay="0"/>
                                          </p:stCondLst>
                                        </p:cTn>
                                        <p:tgtEl>
                                          <p:spTgt spid="94216"/>
                                        </p:tgtEl>
                                        <p:attrNameLst>
                                          <p:attrName>style.visibility</p:attrName>
                                        </p:attrNameLst>
                                      </p:cBhvr>
                                      <p:to>
                                        <p:strVal val="visible"/>
                                      </p:to>
                                    </p:set>
                                    <p:animEffect transition="in" filter="wipe(left)">
                                      <p:cBhvr>
                                        <p:cTn id="50" dur="2000"/>
                                        <p:tgtEl>
                                          <p:spTgt spid="94216"/>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1" fill="hold" nodeType="clickEffect">
                                  <p:stCondLst>
                                    <p:cond delay="0"/>
                                  </p:stCondLst>
                                  <p:childTnLst>
                                    <p:set>
                                      <p:cBhvr>
                                        <p:cTn id="54" dur="1" fill="hold">
                                          <p:stCondLst>
                                            <p:cond delay="0"/>
                                          </p:stCondLst>
                                        </p:cTn>
                                        <p:tgtEl>
                                          <p:spTgt spid="94218"/>
                                        </p:tgtEl>
                                        <p:attrNameLst>
                                          <p:attrName>style.visibility</p:attrName>
                                        </p:attrNameLst>
                                      </p:cBhvr>
                                      <p:to>
                                        <p:strVal val="visible"/>
                                      </p:to>
                                    </p:set>
                                    <p:animEffect transition="in" filter="wipe(up)">
                                      <p:cBhvr>
                                        <p:cTn id="55" dur="1000"/>
                                        <p:tgtEl>
                                          <p:spTgt spid="94218"/>
                                        </p:tgtEl>
                                      </p:cBhvr>
                                    </p:animEffect>
                                  </p:childTnLst>
                                </p:cTn>
                              </p:par>
                            </p:childTnLst>
                          </p:cTn>
                        </p:par>
                        <p:par>
                          <p:cTn id="56" fill="hold" nodeType="afterGroup">
                            <p:stCondLst>
                              <p:cond delay="1000"/>
                            </p:stCondLst>
                            <p:childTnLst>
                              <p:par>
                                <p:cTn id="57" presetID="22" presetClass="entr" presetSubtype="8" fill="hold" nodeType="afterEffect">
                                  <p:stCondLst>
                                    <p:cond delay="0"/>
                                  </p:stCondLst>
                                  <p:childTnLst>
                                    <p:set>
                                      <p:cBhvr>
                                        <p:cTn id="58" dur="1" fill="hold">
                                          <p:stCondLst>
                                            <p:cond delay="0"/>
                                          </p:stCondLst>
                                        </p:cTn>
                                        <p:tgtEl>
                                          <p:spTgt spid="94219"/>
                                        </p:tgtEl>
                                        <p:attrNameLst>
                                          <p:attrName>style.visibility</p:attrName>
                                        </p:attrNameLst>
                                      </p:cBhvr>
                                      <p:to>
                                        <p:strVal val="visible"/>
                                      </p:to>
                                    </p:set>
                                    <p:animEffect transition="in" filter="wipe(left)">
                                      <p:cBhvr>
                                        <p:cTn id="59" dur="2000"/>
                                        <p:tgtEl>
                                          <p:spTgt spid="94219"/>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1" fill="hold" nodeType="clickEffect">
                                  <p:stCondLst>
                                    <p:cond delay="0"/>
                                  </p:stCondLst>
                                  <p:childTnLst>
                                    <p:set>
                                      <p:cBhvr>
                                        <p:cTn id="63" dur="1" fill="hold">
                                          <p:stCondLst>
                                            <p:cond delay="0"/>
                                          </p:stCondLst>
                                        </p:cTn>
                                        <p:tgtEl>
                                          <p:spTgt spid="94212">
                                            <p:txEl>
                                              <p:pRg st="0" end="0"/>
                                            </p:txEl>
                                          </p:spTgt>
                                        </p:tgtEl>
                                        <p:attrNameLst>
                                          <p:attrName>style.visibility</p:attrName>
                                        </p:attrNameLst>
                                      </p:cBhvr>
                                      <p:to>
                                        <p:strVal val="visible"/>
                                      </p:to>
                                    </p:set>
                                    <p:animEffect transition="in" filter="wipe(up)">
                                      <p:cBhvr>
                                        <p:cTn id="64" dur="1000"/>
                                        <p:tgtEl>
                                          <p:spTgt spid="942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2" grpId="0" build="p"/>
      <p:bldP spid="18" grpId="0" animBg="1"/>
      <p:bldP spid="30" grpId="0"/>
      <p:bldP spid="31" grpId="0"/>
      <p:bldP spid="3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9" name="Picture 3">
            <a:extLst>
              <a:ext uri="{FF2B5EF4-FFF2-40B4-BE49-F238E27FC236}">
                <a16:creationId xmlns:a16="http://schemas.microsoft.com/office/drawing/2014/main" id="{B4B332E4-D6B0-F6B6-3032-59AEB89869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2700" y="5118100"/>
            <a:ext cx="7208838"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36">
            <a:extLst>
              <a:ext uri="{FF2B5EF4-FFF2-40B4-BE49-F238E27FC236}">
                <a16:creationId xmlns:a16="http://schemas.microsoft.com/office/drawing/2014/main" id="{03376C21-3935-9CD0-8395-9A7EBA97E525}"/>
              </a:ext>
            </a:extLst>
          </p:cNvPr>
          <p:cNvSpPr txBox="1">
            <a:spLocks noChangeArrowheads="1"/>
          </p:cNvSpPr>
          <p:nvPr/>
        </p:nvSpPr>
        <p:spPr bwMode="gray">
          <a:xfrm>
            <a:off x="2714625" y="2857500"/>
            <a:ext cx="5000625" cy="630238"/>
          </a:xfrm>
          <a:prstGeom prst="rect">
            <a:avLst/>
          </a:prstGeom>
          <a:noFill/>
          <a:ln w="9525">
            <a:noFill/>
            <a:miter lim="800000"/>
            <a:headEnd/>
            <a:tailEnd/>
          </a:ln>
          <a:effectLst>
            <a:outerShdw blurRad="50800" dist="38100" dir="2700000" algn="tl" rotWithShape="0">
              <a:prstClr val="black">
                <a:alpha val="40000"/>
              </a:prstClr>
            </a:outerShdw>
          </a:effectLst>
        </p:spPr>
        <p:txBody>
          <a:bodyPr>
            <a:spAutoFit/>
          </a:bodyPr>
          <a:lstStyle/>
          <a:p>
            <a:pPr>
              <a:lnSpc>
                <a:spcPts val="4200"/>
              </a:lnSpc>
              <a:buClr>
                <a:srgbClr val="969696"/>
              </a:buClr>
              <a:buSzPct val="65000"/>
              <a:defRPr/>
            </a:pPr>
            <a:r>
              <a:rPr lang="zh-CN" altLang="en-US" sz="4400" b="1" dirty="0">
                <a:solidFill>
                  <a:srgbClr val="003399"/>
                </a:solidFill>
                <a:ea typeface="微软雅黑" pitchFamily="34" charset="-122"/>
              </a:rPr>
              <a:t>   码元</a:t>
            </a:r>
            <a:r>
              <a:rPr lang="zh-CN" altLang="en-US" sz="4400" b="1" dirty="0">
                <a:solidFill>
                  <a:srgbClr val="003399"/>
                </a:solidFill>
                <a:latin typeface="微软雅黑" pitchFamily="34" charset="-122"/>
                <a:ea typeface="微软雅黑" pitchFamily="34" charset="-122"/>
              </a:rPr>
              <a:t>同步</a:t>
            </a:r>
            <a:endParaRPr lang="en-US" altLang="zh-CN" sz="4400" b="1" dirty="0">
              <a:solidFill>
                <a:srgbClr val="990099"/>
              </a:solidFill>
              <a:ea typeface="微软雅黑" pitchFamily="34" charset="-122"/>
            </a:endParaRPr>
          </a:p>
        </p:txBody>
      </p:sp>
      <p:sp>
        <p:nvSpPr>
          <p:cNvPr id="45059" name="矩形 4">
            <a:extLst>
              <a:ext uri="{FF2B5EF4-FFF2-40B4-BE49-F238E27FC236}">
                <a16:creationId xmlns:a16="http://schemas.microsoft.com/office/drawing/2014/main" id="{52903F05-A34A-48E8-E4E1-0C0ED8156B3E}"/>
              </a:ext>
            </a:extLst>
          </p:cNvPr>
          <p:cNvSpPr>
            <a:spLocks noChangeArrowheads="1"/>
          </p:cNvSpPr>
          <p:nvPr/>
        </p:nvSpPr>
        <p:spPr bwMode="auto">
          <a:xfrm>
            <a:off x="714375" y="1714500"/>
            <a:ext cx="1735138" cy="708025"/>
          </a:xfrm>
          <a:prstGeom prst="rect">
            <a:avLst/>
          </a:prstGeom>
          <a:noFill/>
          <a:ln w="9525">
            <a:noFill/>
            <a:miter lim="800000"/>
            <a:headEnd/>
            <a:tailEnd/>
          </a:ln>
          <a:effectLst>
            <a:outerShdw blurRad="50800" dist="38100" dir="2700000" algn="tl" rotWithShape="0">
              <a:prstClr val="black">
                <a:alpha val="40000"/>
              </a:prstClr>
            </a:outerShdw>
          </a:effectLst>
        </p:spPr>
        <p:txBody>
          <a:bodyPr wrap="none">
            <a:spAutoFit/>
          </a:bodyPr>
          <a:lstStyle/>
          <a:p>
            <a:pPr>
              <a:defRPr/>
            </a:pPr>
            <a:r>
              <a:rPr lang="en-US" altLang="en-US" sz="4000" b="1" u="sng" dirty="0">
                <a:solidFill>
                  <a:srgbClr val="800080"/>
                </a:solidFill>
                <a:latin typeface="Arial" pitchFamily="34" charset="0"/>
                <a:ea typeface="微软雅黑" pitchFamily="34" charset="-122"/>
                <a:cs typeface="Arial" pitchFamily="34" charset="0"/>
              </a:rPr>
              <a:t>§ 13</a:t>
            </a:r>
            <a:r>
              <a:rPr lang="en-US" altLang="zh-CN" sz="4000" b="1" u="sng" dirty="0">
                <a:solidFill>
                  <a:srgbClr val="800080"/>
                </a:solidFill>
                <a:latin typeface="Arial" pitchFamily="34" charset="0"/>
                <a:ea typeface="微软雅黑" pitchFamily="34" charset="-122"/>
                <a:cs typeface="Arial" pitchFamily="34" charset="0"/>
              </a:rPr>
              <a:t>.3 </a:t>
            </a:r>
            <a:endParaRPr lang="zh-CN" altLang="en-US" sz="4000" b="1" u="sng" dirty="0">
              <a:solidFill>
                <a:srgbClr val="800080"/>
              </a:solidFill>
              <a:latin typeface="Arial" pitchFamily="34" charset="0"/>
              <a:ea typeface="微软雅黑" pitchFamily="34" charset="-122"/>
              <a:cs typeface="Arial" pitchFamily="34" charset="0"/>
            </a:endParaRPr>
          </a:p>
        </p:txBody>
      </p:sp>
      <p:sp>
        <p:nvSpPr>
          <p:cNvPr id="51206" name="矩形 5">
            <a:extLst>
              <a:ext uri="{FF2B5EF4-FFF2-40B4-BE49-F238E27FC236}">
                <a16:creationId xmlns:a16="http://schemas.microsoft.com/office/drawing/2014/main" id="{1EB7826C-0467-2C73-C1AB-41EDEC6369A0}"/>
              </a:ext>
            </a:extLst>
          </p:cNvPr>
          <p:cNvSpPr>
            <a:spLocks noChangeArrowheads="1"/>
          </p:cNvSpPr>
          <p:nvPr/>
        </p:nvSpPr>
        <p:spPr bwMode="auto">
          <a:xfrm>
            <a:off x="6643688" y="5651500"/>
            <a:ext cx="2032000" cy="368300"/>
          </a:xfrm>
          <a:prstGeom prst="rect">
            <a:avLst/>
          </a:prstGeom>
          <a:solidFill>
            <a:schemeClr val="bg2">
              <a:lumMod val="10000"/>
              <a:lumOff val="90000"/>
            </a:schemeClr>
          </a:solidFill>
          <a:ln w="9525">
            <a:noFill/>
            <a:miter lim="800000"/>
            <a:headEnd/>
            <a:tailEnd/>
          </a:ln>
          <a:effectLst>
            <a:outerShdw blurRad="50800" dist="38100" dir="5400000" algn="t" rotWithShape="0">
              <a:prstClr val="black">
                <a:alpha val="40000"/>
              </a:prstClr>
            </a:outerShdw>
          </a:effectLst>
        </p:spPr>
        <p:txBody>
          <a:bodyPr wrap="none">
            <a:spAutoFit/>
          </a:bodyPr>
          <a:lstStyle/>
          <a:p>
            <a:pPr>
              <a:defRPr/>
            </a:pPr>
            <a:r>
              <a:rPr lang="zh-CN" altLang="en-US" dirty="0">
                <a:solidFill>
                  <a:srgbClr val="0000CC"/>
                </a:solidFill>
                <a:latin typeface="微软雅黑" pitchFamily="34" charset="-122"/>
                <a:ea typeface="微软雅黑" pitchFamily="34" charset="-122"/>
              </a:rPr>
              <a:t>对二进制信号而言</a:t>
            </a:r>
            <a:endParaRPr lang="zh-CN" altLang="en-US" dirty="0">
              <a:solidFill>
                <a:srgbClr val="0000CC"/>
              </a:solidFill>
              <a:ea typeface="宋体" charset="-122"/>
            </a:endParaRPr>
          </a:p>
        </p:txBody>
      </p:sp>
      <p:sp>
        <p:nvSpPr>
          <p:cNvPr id="7" name="矩形 6">
            <a:extLst>
              <a:ext uri="{FF2B5EF4-FFF2-40B4-BE49-F238E27FC236}">
                <a16:creationId xmlns:a16="http://schemas.microsoft.com/office/drawing/2014/main" id="{7A07E478-E25B-C895-5F73-F289A1255742}"/>
              </a:ext>
            </a:extLst>
          </p:cNvPr>
          <p:cNvSpPr>
            <a:spLocks noChangeArrowheads="1"/>
          </p:cNvSpPr>
          <p:nvPr/>
        </p:nvSpPr>
        <p:spPr bwMode="auto">
          <a:xfrm>
            <a:off x="3684588" y="5780088"/>
            <a:ext cx="1211262" cy="400050"/>
          </a:xfrm>
          <a:prstGeom prst="rect">
            <a:avLst/>
          </a:prstGeom>
          <a:noFill/>
          <a:ln w="9525">
            <a:noFill/>
            <a:miter lim="800000"/>
            <a:headEnd/>
            <a:tailEnd/>
          </a:ln>
        </p:spPr>
        <p:txBody>
          <a:bodyPr wrap="none">
            <a:spAutoFit/>
          </a:bodyPr>
          <a:lstStyle/>
          <a:p>
            <a:pPr>
              <a:defRPr/>
            </a:pPr>
            <a:r>
              <a:rPr lang="zh-CN" altLang="en-US" sz="20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应满足：</a:t>
            </a:r>
            <a:endParaRPr lang="zh-CN" altLang="en-US" dirty="0">
              <a:effectLst>
                <a:outerShdw blurRad="38100" dist="38100" dir="2700000" algn="tl">
                  <a:srgbClr val="000000">
                    <a:alpha val="43137"/>
                  </a:srgbClr>
                </a:outerShdw>
              </a:effectLst>
              <a:ea typeface="宋体" charset="-122"/>
            </a:endParaRPr>
          </a:p>
        </p:txBody>
      </p:sp>
      <p:pic>
        <p:nvPicPr>
          <p:cNvPr id="80898" name="Picture 2">
            <a:extLst>
              <a:ext uri="{FF2B5EF4-FFF2-40B4-BE49-F238E27FC236}">
                <a16:creationId xmlns:a16="http://schemas.microsoft.com/office/drawing/2014/main" id="{2C8A0280-2F8E-C00B-0267-50DBF81D78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9213" y="3873500"/>
            <a:ext cx="7005637" cy="101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3"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upRight)">
                                      <p:cBhvr>
                                        <p:cTn id="7" dur="2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80898"/>
                                        </p:tgtEl>
                                        <p:attrNameLst>
                                          <p:attrName>style.visibility</p:attrName>
                                        </p:attrNameLst>
                                      </p:cBhvr>
                                      <p:to>
                                        <p:strVal val="visible"/>
                                      </p:to>
                                    </p:set>
                                    <p:animEffect transition="in" filter="wipe(up)">
                                      <p:cBhvr>
                                        <p:cTn id="12" dur="1000"/>
                                        <p:tgtEl>
                                          <p:spTgt spid="808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80899"/>
                                        </p:tgtEl>
                                        <p:attrNameLst>
                                          <p:attrName>style.visibility</p:attrName>
                                        </p:attrNameLst>
                                      </p:cBhvr>
                                      <p:to>
                                        <p:strVal val="visible"/>
                                      </p:to>
                                    </p:set>
                                    <p:animEffect transition="in" filter="wipe(up)">
                                      <p:cBhvr>
                                        <p:cTn id="17" dur="1000"/>
                                        <p:tgtEl>
                                          <p:spTgt spid="80899"/>
                                        </p:tgtEl>
                                      </p:cBhvr>
                                    </p:animEffect>
                                  </p:childTnLst>
                                </p:cTn>
                              </p:par>
                            </p:childTnLst>
                          </p:cTn>
                        </p:par>
                        <p:par>
                          <p:cTn id="18" fill="hold" nodeType="afterGroup">
                            <p:stCondLst>
                              <p:cond delay="1000"/>
                            </p:stCondLst>
                            <p:childTnLst>
                              <p:par>
                                <p:cTn id="19" presetID="22" presetClass="entr" presetSubtype="1" fill="hold" nodeType="afterEffect">
                                  <p:stCondLst>
                                    <p:cond delay="0"/>
                                  </p:stCondLst>
                                  <p:childTnLst>
                                    <p:set>
                                      <p:cBhvr>
                                        <p:cTn id="20" dur="1" fill="hold">
                                          <p:stCondLst>
                                            <p:cond delay="0"/>
                                          </p:stCondLst>
                                        </p:cTn>
                                        <p:tgtEl>
                                          <p:spTgt spid="51206"/>
                                        </p:tgtEl>
                                        <p:attrNameLst>
                                          <p:attrName>style.visibility</p:attrName>
                                        </p:attrNameLst>
                                      </p:cBhvr>
                                      <p:to>
                                        <p:strVal val="visible"/>
                                      </p:to>
                                    </p:set>
                                    <p:animEffect transition="in" filter="wipe(up)">
                                      <p:cBhvr>
                                        <p:cTn id="21" dur="1000"/>
                                        <p:tgtEl>
                                          <p:spTgt spid="5120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up)">
                                      <p:cBhvr>
                                        <p:cTn id="2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1206" grpId="0" animBg="1"/>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8E7BD0E0-45CF-44C8-EE0E-F62A2D05C08D}"/>
              </a:ext>
            </a:extLst>
          </p:cNvPr>
          <p:cNvSpPr/>
          <p:nvPr/>
        </p:nvSpPr>
        <p:spPr>
          <a:xfrm>
            <a:off x="1214438" y="1214438"/>
            <a:ext cx="4357687" cy="1054100"/>
          </a:xfrm>
          <a:prstGeom prst="rect">
            <a:avLst/>
          </a:prstGeom>
          <a:solidFill>
            <a:schemeClr val="bg2">
              <a:lumMod val="10000"/>
              <a:lumOff val="90000"/>
            </a:schemeClr>
          </a:solidFill>
          <a:ln>
            <a:solidFill>
              <a:schemeClr val="bg1">
                <a:lumMod val="75000"/>
              </a:schemeClr>
            </a:solidFill>
          </a:ln>
          <a:effectLst>
            <a:outerShdw blurRad="50800" dist="38100" dir="2700000" algn="tl" rotWithShape="0">
              <a:prstClr val="black">
                <a:alpha val="40000"/>
              </a:prstClr>
            </a:outerShdw>
          </a:effectLst>
        </p:spPr>
        <p:txBody>
          <a:bodyPr>
            <a:spAutoFit/>
          </a:bodyPr>
          <a:lstStyle/>
          <a:p>
            <a:pPr>
              <a:lnSpc>
                <a:spcPct val="150000"/>
              </a:lnSpc>
              <a:spcBef>
                <a:spcPct val="50000"/>
              </a:spcBef>
              <a:buClr>
                <a:srgbClr val="FF0000"/>
              </a:buClr>
              <a:buFont typeface="Wingdings" pitchFamily="2" charset="2"/>
              <a:buChar char="Ø"/>
              <a:defRPr/>
            </a:pPr>
            <a:r>
              <a:rPr lang="zh-CN" altLang="en-US" sz="2000" dirty="0">
                <a:solidFill>
                  <a:srgbClr val="000000"/>
                </a:solidFill>
                <a:latin typeface="微软雅黑" pitchFamily="34" charset="-122"/>
                <a:ea typeface="微软雅黑" pitchFamily="34" charset="-122"/>
              </a:rPr>
              <a:t>  </a:t>
            </a:r>
            <a:r>
              <a:rPr lang="zh-CN" altLang="en-US" sz="2000" dirty="0">
                <a:latin typeface="微软雅黑" pitchFamily="34" charset="-122"/>
                <a:ea typeface="微软雅黑" pitchFamily="34" charset="-122"/>
              </a:rPr>
              <a:t>重复频率 与 接收码元速率  相同</a:t>
            </a:r>
            <a:endParaRPr lang="en-US" altLang="zh-CN" sz="2000" dirty="0">
              <a:latin typeface="微软雅黑" pitchFamily="34" charset="-122"/>
              <a:ea typeface="微软雅黑" pitchFamily="34" charset="-122"/>
            </a:endParaRPr>
          </a:p>
          <a:p>
            <a:pPr>
              <a:lnSpc>
                <a:spcPts val="2700"/>
              </a:lnSpc>
              <a:spcBef>
                <a:spcPct val="50000"/>
              </a:spcBef>
              <a:buClr>
                <a:srgbClr val="FF0000"/>
              </a:buClr>
              <a:buFont typeface="Wingdings" pitchFamily="2" charset="2"/>
              <a:buChar char="Ø"/>
              <a:defRPr/>
            </a:pPr>
            <a:r>
              <a:rPr lang="zh-CN" altLang="en-US" sz="2000" dirty="0">
                <a:latin typeface="微软雅黑" pitchFamily="34" charset="-122"/>
                <a:ea typeface="微软雅黑" pitchFamily="34" charset="-122"/>
              </a:rPr>
              <a:t>        相 位 与 最佳抽判时刻  一致</a:t>
            </a:r>
            <a:endParaRPr lang="en-US" altLang="zh-CN" sz="2000" dirty="0">
              <a:latin typeface="微软雅黑" pitchFamily="34" charset="-122"/>
              <a:ea typeface="微软雅黑" pitchFamily="34" charset="-122"/>
            </a:endParaRPr>
          </a:p>
        </p:txBody>
      </p:sp>
      <p:cxnSp>
        <p:nvCxnSpPr>
          <p:cNvPr id="17413" name="直接连接符 11">
            <a:extLst>
              <a:ext uri="{FF2B5EF4-FFF2-40B4-BE49-F238E27FC236}">
                <a16:creationId xmlns:a16="http://schemas.microsoft.com/office/drawing/2014/main" id="{A58ABCE3-CAC9-0E2E-180C-FD00194217FD}"/>
              </a:ext>
            </a:extLst>
          </p:cNvPr>
          <p:cNvCxnSpPr>
            <a:cxnSpLocks noChangeShapeType="1"/>
          </p:cNvCxnSpPr>
          <p:nvPr/>
        </p:nvCxnSpPr>
        <p:spPr bwMode="auto">
          <a:xfrm>
            <a:off x="2143125" y="2257425"/>
            <a:ext cx="571500" cy="1588"/>
          </a:xfrm>
          <a:prstGeom prst="line">
            <a:avLst/>
          </a:prstGeom>
          <a:noFill/>
          <a:ln w="38100" algn="ctr">
            <a:solidFill>
              <a:srgbClr val="0000CC"/>
            </a:solidFill>
            <a:miter lim="800000"/>
            <a:headEnd/>
            <a:tailEnd/>
          </a:ln>
          <a:extLst>
            <a:ext uri="{909E8E84-426E-40DD-AFC4-6F175D3DCCD1}">
              <a14:hiddenFill xmlns:a14="http://schemas.microsoft.com/office/drawing/2010/main">
                <a:noFill/>
              </a14:hiddenFill>
            </a:ext>
          </a:extLst>
        </p:spPr>
      </p:cxnSp>
      <p:cxnSp>
        <p:nvCxnSpPr>
          <p:cNvPr id="17414" name="直接连接符 13">
            <a:extLst>
              <a:ext uri="{FF2B5EF4-FFF2-40B4-BE49-F238E27FC236}">
                <a16:creationId xmlns:a16="http://schemas.microsoft.com/office/drawing/2014/main" id="{8A948034-9120-8CA0-49AB-0F58D709F894}"/>
              </a:ext>
            </a:extLst>
          </p:cNvPr>
          <p:cNvCxnSpPr>
            <a:cxnSpLocks noChangeShapeType="1"/>
          </p:cNvCxnSpPr>
          <p:nvPr/>
        </p:nvCxnSpPr>
        <p:spPr bwMode="auto">
          <a:xfrm rot="5400000">
            <a:off x="2213769" y="2499519"/>
            <a:ext cx="428625" cy="1587"/>
          </a:xfrm>
          <a:prstGeom prst="line">
            <a:avLst/>
          </a:prstGeom>
          <a:noFill/>
          <a:ln w="28575" algn="ctr">
            <a:solidFill>
              <a:srgbClr val="0000CC"/>
            </a:solidFill>
            <a:miter lim="800000"/>
            <a:headEnd/>
            <a:tailEnd/>
          </a:ln>
          <a:extLst>
            <a:ext uri="{909E8E84-426E-40DD-AFC4-6F175D3DCCD1}">
              <a14:hiddenFill xmlns:a14="http://schemas.microsoft.com/office/drawing/2010/main">
                <a:noFill/>
              </a14:hiddenFill>
            </a:ext>
          </a:extLst>
        </p:spPr>
      </p:cxnSp>
      <p:pic>
        <p:nvPicPr>
          <p:cNvPr id="17411" name="Picture 3">
            <a:extLst>
              <a:ext uri="{FF2B5EF4-FFF2-40B4-BE49-F238E27FC236}">
                <a16:creationId xmlns:a16="http://schemas.microsoft.com/office/drawing/2014/main" id="{64916E09-BFA8-7C69-E50E-CB4973AD09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87033"/>
          <a:stretch>
            <a:fillRect/>
          </a:stretch>
        </p:blipFill>
        <p:spPr bwMode="auto">
          <a:xfrm>
            <a:off x="857250" y="5643563"/>
            <a:ext cx="7967663"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
            <a:extLst>
              <a:ext uri="{FF2B5EF4-FFF2-40B4-BE49-F238E27FC236}">
                <a16:creationId xmlns:a16="http://schemas.microsoft.com/office/drawing/2014/main" id="{318401F0-52F5-6649-C864-0E5963D382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4551" t="8212" r="1379" b="40883"/>
          <a:stretch>
            <a:fillRect/>
          </a:stretch>
        </p:blipFill>
        <p:spPr bwMode="auto">
          <a:xfrm>
            <a:off x="6143625" y="2857500"/>
            <a:ext cx="2714625" cy="221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2" name="Picture 4">
            <a:extLst>
              <a:ext uri="{FF2B5EF4-FFF2-40B4-BE49-F238E27FC236}">
                <a16:creationId xmlns:a16="http://schemas.microsoft.com/office/drawing/2014/main" id="{9F8D6599-23A7-69AC-08AD-70026B0D57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50000"/>
          <a:stretch>
            <a:fillRect/>
          </a:stretch>
        </p:blipFill>
        <p:spPr bwMode="auto">
          <a:xfrm>
            <a:off x="1700213" y="2714625"/>
            <a:ext cx="3937000"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4">
            <a:extLst>
              <a:ext uri="{FF2B5EF4-FFF2-40B4-BE49-F238E27FC236}">
                <a16:creationId xmlns:a16="http://schemas.microsoft.com/office/drawing/2014/main" id="{193BA778-97A4-3894-A4CF-94E7D3920D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2940"/>
          <a:stretch>
            <a:fillRect/>
          </a:stretch>
        </p:blipFill>
        <p:spPr bwMode="auto">
          <a:xfrm>
            <a:off x="1700213" y="4000500"/>
            <a:ext cx="3937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up)">
                                      <p:cBhvr>
                                        <p:cTn id="7" dur="1000"/>
                                        <p:tgtEl>
                                          <p:spTgt spid="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up)">
                                      <p:cBhvr>
                                        <p:cTn id="12" dur="1000"/>
                                        <p:tgtEl>
                                          <p:spTgt spid="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7413"/>
                                        </p:tgtEl>
                                        <p:attrNameLst>
                                          <p:attrName>style.visibility</p:attrName>
                                        </p:attrNameLst>
                                      </p:cBhvr>
                                      <p:to>
                                        <p:strVal val="visible"/>
                                      </p:to>
                                    </p:set>
                                    <p:animEffect transition="in" filter="wipe(left)">
                                      <p:cBhvr>
                                        <p:cTn id="17" dur="1000"/>
                                        <p:tgtEl>
                                          <p:spTgt spid="17413"/>
                                        </p:tgtEl>
                                      </p:cBhvr>
                                    </p:animEffect>
                                  </p:childTnLst>
                                </p:cTn>
                              </p:par>
                            </p:childTnLst>
                          </p:cTn>
                        </p:par>
                        <p:par>
                          <p:cTn id="18" fill="hold" nodeType="afterGroup">
                            <p:stCondLst>
                              <p:cond delay="1000"/>
                            </p:stCondLst>
                            <p:childTnLst>
                              <p:par>
                                <p:cTn id="19" presetID="22" presetClass="entr" presetSubtype="1" fill="hold" nodeType="afterEffect">
                                  <p:stCondLst>
                                    <p:cond delay="0"/>
                                  </p:stCondLst>
                                  <p:childTnLst>
                                    <p:set>
                                      <p:cBhvr>
                                        <p:cTn id="20" dur="1" fill="hold">
                                          <p:stCondLst>
                                            <p:cond delay="0"/>
                                          </p:stCondLst>
                                        </p:cTn>
                                        <p:tgtEl>
                                          <p:spTgt spid="17414"/>
                                        </p:tgtEl>
                                        <p:attrNameLst>
                                          <p:attrName>style.visibility</p:attrName>
                                        </p:attrNameLst>
                                      </p:cBhvr>
                                      <p:to>
                                        <p:strVal val="visible"/>
                                      </p:to>
                                    </p:set>
                                    <p:animEffect transition="in" filter="wipe(up)">
                                      <p:cBhvr>
                                        <p:cTn id="21" dur="1000"/>
                                        <p:tgtEl>
                                          <p:spTgt spid="17414"/>
                                        </p:tgtEl>
                                      </p:cBhvr>
                                    </p:animEffect>
                                  </p:childTnLst>
                                </p:cTn>
                              </p:par>
                            </p:childTnLst>
                          </p:cTn>
                        </p:par>
                        <p:par>
                          <p:cTn id="22" fill="hold" nodeType="afterGroup">
                            <p:stCondLst>
                              <p:cond delay="2000"/>
                            </p:stCondLst>
                            <p:childTnLst>
                              <p:par>
                                <p:cTn id="23" presetID="22" presetClass="entr" presetSubtype="1" fill="hold" nodeType="afterEffect">
                                  <p:stCondLst>
                                    <p:cond delay="0"/>
                                  </p:stCondLst>
                                  <p:childTnLst>
                                    <p:set>
                                      <p:cBhvr>
                                        <p:cTn id="24" dur="1" fill="hold">
                                          <p:stCondLst>
                                            <p:cond delay="0"/>
                                          </p:stCondLst>
                                        </p:cTn>
                                        <p:tgtEl>
                                          <p:spTgt spid="17412"/>
                                        </p:tgtEl>
                                        <p:attrNameLst>
                                          <p:attrName>style.visibility</p:attrName>
                                        </p:attrNameLst>
                                      </p:cBhvr>
                                      <p:to>
                                        <p:strVal val="visible"/>
                                      </p:to>
                                    </p:set>
                                    <p:animEffect transition="in" filter="wipe(up)">
                                      <p:cBhvr>
                                        <p:cTn id="25" dur="2000"/>
                                        <p:tgtEl>
                                          <p:spTgt spid="1741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up)">
                                      <p:cBhvr>
                                        <p:cTn id="30" dur="2000"/>
                                        <p:tgtEl>
                                          <p:spTgt spid="14"/>
                                        </p:tgtEl>
                                      </p:cBhvr>
                                    </p:animEffect>
                                  </p:childTnLst>
                                </p:cTn>
                              </p:par>
                              <p:par>
                                <p:cTn id="31" presetID="6" presetClass="entr" presetSubtype="32"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circle(out)">
                                      <p:cBhvr>
                                        <p:cTn id="33" dur="2000"/>
                                        <p:tgtEl>
                                          <p:spTgt spid="1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nodeType="clickEffect">
                                  <p:stCondLst>
                                    <p:cond delay="0"/>
                                  </p:stCondLst>
                                  <p:childTnLst>
                                    <p:set>
                                      <p:cBhvr>
                                        <p:cTn id="37" dur="1" fill="hold">
                                          <p:stCondLst>
                                            <p:cond delay="0"/>
                                          </p:stCondLst>
                                        </p:cTn>
                                        <p:tgtEl>
                                          <p:spTgt spid="17411"/>
                                        </p:tgtEl>
                                        <p:attrNameLst>
                                          <p:attrName>style.visibility</p:attrName>
                                        </p:attrNameLst>
                                      </p:cBhvr>
                                      <p:to>
                                        <p:strVal val="visible"/>
                                      </p:to>
                                    </p:set>
                                    <p:animEffect transition="in" filter="wipe(up)">
                                      <p:cBhvr>
                                        <p:cTn id="38" dur="500"/>
                                        <p:tgtEl>
                                          <p:spTgt spid="17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25602" name="Object 4">
            <a:extLst>
              <a:ext uri="{FF2B5EF4-FFF2-40B4-BE49-F238E27FC236}">
                <a16:creationId xmlns:a16="http://schemas.microsoft.com/office/drawing/2014/main" id="{90A04B6A-36D0-A5F8-F0DA-663BCF3CB23E}"/>
              </a:ext>
            </a:extLst>
          </p:cNvPr>
          <p:cNvGraphicFramePr>
            <a:graphicFrameLocks noChangeAspect="1"/>
          </p:cNvGraphicFramePr>
          <p:nvPr/>
        </p:nvGraphicFramePr>
        <p:xfrm>
          <a:off x="5327650" y="2905125"/>
          <a:ext cx="2143125" cy="2000250"/>
        </p:xfrm>
        <a:graphic>
          <a:graphicData uri="http://schemas.openxmlformats.org/presentationml/2006/ole">
            <mc:AlternateContent xmlns:mc="http://schemas.openxmlformats.org/markup-compatibility/2006">
              <mc:Choice xmlns:v="urn:schemas-microsoft-com:vml" Requires="v">
                <p:oleObj name="Visio" r:id="rId2" imgW="859501" imgH="804391" progId="Visio.Drawing.11">
                  <p:embed/>
                </p:oleObj>
              </mc:Choice>
              <mc:Fallback>
                <p:oleObj name="Visio" r:id="rId2" imgW="859501" imgH="804391" progId="Visio.Drawing.11">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7650" y="2905125"/>
                        <a:ext cx="2143125" cy="2000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00" name="Rectangle 102">
            <a:extLst>
              <a:ext uri="{FF2B5EF4-FFF2-40B4-BE49-F238E27FC236}">
                <a16:creationId xmlns:a16="http://schemas.microsoft.com/office/drawing/2014/main" id="{47918F92-873C-2869-822E-ACC7C638FD8E}"/>
              </a:ext>
            </a:extLst>
          </p:cNvPr>
          <p:cNvSpPr>
            <a:spLocks noChangeArrowheads="1"/>
          </p:cNvSpPr>
          <p:nvPr/>
        </p:nvSpPr>
        <p:spPr bwMode="auto">
          <a:xfrm>
            <a:off x="714375" y="1203325"/>
            <a:ext cx="1928813"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ct val="125000"/>
              </a:lnSpc>
              <a:buClr>
                <a:srgbClr val="FF0000"/>
              </a:buClr>
              <a:buSzPct val="90000"/>
              <a:buFont typeface="Wingdings" panose="05000000000000000000" pitchFamily="2" charset="2"/>
              <a:buChar char="n"/>
            </a:pPr>
            <a:r>
              <a:rPr lang="zh-CN" altLang="en-US" sz="2400" b="1">
                <a:latin typeface="微软雅黑" panose="020B0503020204020204" pitchFamily="34" charset="-122"/>
                <a:ea typeface="微软雅黑" panose="020B0503020204020204" pitchFamily="34" charset="-122"/>
                <a:cs typeface="Arial" panose="020B0604020202020204" pitchFamily="34" charset="0"/>
              </a:rPr>
              <a:t>频域</a:t>
            </a:r>
            <a:r>
              <a:rPr lang="zh-CN" altLang="zh-CN" sz="2400" b="1">
                <a:latin typeface="微软雅黑" panose="020B0503020204020204" pitchFamily="34" charset="-122"/>
                <a:ea typeface="微软雅黑" panose="020B0503020204020204" pitchFamily="34" charset="-122"/>
                <a:cs typeface="Arial" panose="020B0604020202020204" pitchFamily="34" charset="0"/>
              </a:rPr>
              <a:t>插入</a:t>
            </a:r>
            <a:endParaRPr lang="en-US" altLang="zh-CN" sz="2400" b="1">
              <a:latin typeface="微软雅黑" panose="020B0503020204020204" pitchFamily="34" charset="-122"/>
              <a:ea typeface="微软雅黑" panose="020B0503020204020204" pitchFamily="34" charset="-122"/>
              <a:cs typeface="Arial" panose="020B0604020202020204" pitchFamily="34" charset="0"/>
            </a:endParaRPr>
          </a:p>
        </p:txBody>
      </p:sp>
      <p:sp>
        <p:nvSpPr>
          <p:cNvPr id="23556" name="矩形 4">
            <a:extLst>
              <a:ext uri="{FF2B5EF4-FFF2-40B4-BE49-F238E27FC236}">
                <a16:creationId xmlns:a16="http://schemas.microsoft.com/office/drawing/2014/main" id="{2216CB56-B003-49D0-46A4-9B980BAD3AC8}"/>
              </a:ext>
            </a:extLst>
          </p:cNvPr>
          <p:cNvSpPr>
            <a:spLocks noChangeArrowheads="1"/>
          </p:cNvSpPr>
          <p:nvPr/>
        </p:nvSpPr>
        <p:spPr bwMode="auto">
          <a:xfrm>
            <a:off x="142875" y="428625"/>
            <a:ext cx="56372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en-US" sz="3200" b="1">
                <a:solidFill>
                  <a:srgbClr val="800080"/>
                </a:solidFill>
                <a:latin typeface="Arial" panose="020B0604020202020204" pitchFamily="34" charset="0"/>
                <a:ea typeface="微软雅黑" panose="020B0503020204020204" pitchFamily="34" charset="-122"/>
                <a:cs typeface="Arial" panose="020B0604020202020204" pitchFamily="34" charset="0"/>
              </a:rPr>
              <a:t>13</a:t>
            </a:r>
            <a:r>
              <a:rPr lang="en-US" altLang="zh-CN" sz="3200" b="1">
                <a:solidFill>
                  <a:srgbClr val="800080"/>
                </a:solidFill>
                <a:latin typeface="Arial" panose="020B0604020202020204" pitchFamily="34" charset="0"/>
                <a:ea typeface="微软雅黑" panose="020B0503020204020204" pitchFamily="34" charset="-122"/>
                <a:cs typeface="Arial" panose="020B0604020202020204" pitchFamily="34" charset="0"/>
              </a:rPr>
              <a:t>.3.1</a:t>
            </a:r>
            <a:r>
              <a:rPr lang="zh-CN" altLang="en-US" sz="3200" b="1">
                <a:solidFill>
                  <a:srgbClr val="800080"/>
                </a:solidFill>
                <a:latin typeface="Arial" panose="020B0604020202020204" pitchFamily="34" charset="0"/>
                <a:ea typeface="微软雅黑" panose="020B0503020204020204" pitchFamily="34" charset="-122"/>
                <a:cs typeface="Arial" panose="020B0604020202020204" pitchFamily="34" charset="0"/>
              </a:rPr>
              <a:t>   </a:t>
            </a:r>
            <a:r>
              <a:rPr lang="zh-CN" altLang="en-US" sz="3200" b="1">
                <a:solidFill>
                  <a:srgbClr val="003399"/>
                </a:solidFill>
                <a:latin typeface="微软雅黑" panose="020B0503020204020204" pitchFamily="34" charset="-122"/>
                <a:ea typeface="微软雅黑" panose="020B0503020204020204" pitchFamily="34" charset="-122"/>
                <a:cs typeface="Arial" panose="020B0604020202020204" pitchFamily="34" charset="0"/>
              </a:rPr>
              <a:t>外同步法</a:t>
            </a:r>
            <a:r>
              <a:rPr lang="zh-CN" altLang="zh-CN" sz="3200" b="1">
                <a:solidFill>
                  <a:srgbClr val="003399"/>
                </a:solidFill>
                <a:latin typeface="微软雅黑" panose="020B0503020204020204" pitchFamily="34" charset="-122"/>
                <a:ea typeface="微软雅黑" panose="020B0503020204020204" pitchFamily="34" charset="-122"/>
                <a:cs typeface="Arial" panose="020B0604020202020204" pitchFamily="34" charset="0"/>
              </a:rPr>
              <a:t> </a:t>
            </a:r>
            <a:r>
              <a:rPr lang="en-US" altLang="zh-CN" sz="2800" b="1">
                <a:latin typeface="微软雅黑" panose="020B0503020204020204" pitchFamily="34" charset="-122"/>
                <a:ea typeface="微软雅黑" panose="020B0503020204020204" pitchFamily="34" charset="-122"/>
                <a:cs typeface="Arial" panose="020B0604020202020204" pitchFamily="34" charset="0"/>
              </a:rPr>
              <a:t>(</a:t>
            </a:r>
            <a:r>
              <a:rPr lang="zh-CN" altLang="en-US" sz="2800" b="1">
                <a:latin typeface="微软雅黑" panose="020B0503020204020204" pitchFamily="34" charset="-122"/>
                <a:ea typeface="微软雅黑" panose="020B0503020204020204" pitchFamily="34" charset="-122"/>
                <a:cs typeface="Arial" panose="020B0604020202020204" pitchFamily="34" charset="0"/>
              </a:rPr>
              <a:t> </a:t>
            </a:r>
            <a:r>
              <a:rPr lang="zh-CN" altLang="zh-CN" sz="2400" b="1">
                <a:solidFill>
                  <a:srgbClr val="003399"/>
                </a:solidFill>
                <a:latin typeface="微软雅黑" panose="020B0503020204020204" pitchFamily="34" charset="-122"/>
                <a:ea typeface="微软雅黑" panose="020B0503020204020204" pitchFamily="34" charset="-122"/>
                <a:cs typeface="Arial" panose="020B0604020202020204" pitchFamily="34" charset="0"/>
              </a:rPr>
              <a:t>插入导频法</a:t>
            </a:r>
            <a:r>
              <a:rPr lang="zh-CN" altLang="en-US" sz="2800" b="1">
                <a:latin typeface="微软雅黑" panose="020B0503020204020204" pitchFamily="34" charset="-122"/>
                <a:ea typeface="微软雅黑" panose="020B0503020204020204" pitchFamily="34" charset="-122"/>
                <a:cs typeface="Arial" panose="020B0604020202020204" pitchFamily="34" charset="0"/>
              </a:rPr>
              <a:t>）</a:t>
            </a:r>
            <a:endParaRPr lang="zh-CN" altLang="en-US" sz="2800" b="1">
              <a:solidFill>
                <a:srgbClr val="800080"/>
              </a:solidFill>
              <a:latin typeface="Arial" panose="020B0604020202020204" pitchFamily="34" charset="0"/>
              <a:ea typeface="微软雅黑" panose="020B0503020204020204" pitchFamily="34" charset="-122"/>
              <a:cs typeface="Arial" panose="020B0604020202020204" pitchFamily="34" charset="0"/>
            </a:endParaRPr>
          </a:p>
        </p:txBody>
      </p:sp>
      <p:sp>
        <p:nvSpPr>
          <p:cNvPr id="8" name="矩形 7">
            <a:extLst>
              <a:ext uri="{FF2B5EF4-FFF2-40B4-BE49-F238E27FC236}">
                <a16:creationId xmlns:a16="http://schemas.microsoft.com/office/drawing/2014/main" id="{6A4AD320-EA02-1BAD-9ED3-51E859460BF7}"/>
              </a:ext>
            </a:extLst>
          </p:cNvPr>
          <p:cNvSpPr/>
          <p:nvPr/>
        </p:nvSpPr>
        <p:spPr>
          <a:xfrm>
            <a:off x="7392988" y="538163"/>
            <a:ext cx="1108075" cy="461962"/>
          </a:xfrm>
          <a:prstGeom prst="rect">
            <a:avLst/>
          </a:prstGeom>
        </p:spPr>
        <p:txBody>
          <a:bodyPr wrap="none">
            <a:spAutoFit/>
          </a:bodyPr>
          <a:lstStyle/>
          <a:p>
            <a:pPr>
              <a:defRPr/>
            </a:pPr>
            <a:r>
              <a:rPr lang="zh-CN" altLang="en-US" sz="2400" dirty="0">
                <a:effectLst>
                  <a:outerShdw blurRad="38100" dist="38100" dir="2700000" algn="tl">
                    <a:srgbClr val="000000">
                      <a:alpha val="43137"/>
                    </a:srgbClr>
                  </a:outerShdw>
                </a:effectLst>
                <a:latin typeface="微软雅黑" pitchFamily="34" charset="-122"/>
                <a:ea typeface="微软雅黑" pitchFamily="34" charset="-122"/>
              </a:rPr>
              <a:t>位</a:t>
            </a:r>
            <a:r>
              <a:rPr lang="zh-CN" altLang="zh-CN" sz="2400" dirty="0">
                <a:effectLst>
                  <a:outerShdw blurRad="38100" dist="38100" dir="2700000" algn="tl">
                    <a:srgbClr val="000000">
                      <a:alpha val="43137"/>
                    </a:srgbClr>
                  </a:outerShdw>
                </a:effectLst>
                <a:latin typeface="微软雅黑" pitchFamily="34" charset="-122"/>
                <a:ea typeface="微软雅黑" pitchFamily="34" charset="-122"/>
              </a:rPr>
              <a:t>同步</a:t>
            </a:r>
            <a:endParaRPr lang="zh-CN" altLang="en-US" sz="2400" dirty="0">
              <a:effectLst>
                <a:outerShdw blurRad="38100" dist="38100" dir="2700000" algn="tl">
                  <a:srgbClr val="000000">
                    <a:alpha val="43137"/>
                  </a:srgbClr>
                </a:outerShdw>
              </a:effectLst>
              <a:latin typeface="微软雅黑" pitchFamily="34" charset="-122"/>
              <a:ea typeface="微软雅黑" pitchFamily="34" charset="-122"/>
            </a:endParaRPr>
          </a:p>
        </p:txBody>
      </p:sp>
      <p:graphicFrame>
        <p:nvGraphicFramePr>
          <p:cNvPr id="5" name="Object 10">
            <a:extLst>
              <a:ext uri="{FF2B5EF4-FFF2-40B4-BE49-F238E27FC236}">
                <a16:creationId xmlns:a16="http://schemas.microsoft.com/office/drawing/2014/main" id="{B322D7A4-3CDD-B256-1326-B1904F0EDCE7}"/>
              </a:ext>
            </a:extLst>
          </p:cNvPr>
          <p:cNvGraphicFramePr>
            <a:graphicFrameLocks noChangeAspect="1"/>
          </p:cNvGraphicFramePr>
          <p:nvPr/>
        </p:nvGraphicFramePr>
        <p:xfrm>
          <a:off x="1285875" y="2857500"/>
          <a:ext cx="4824413" cy="2071688"/>
        </p:xfrm>
        <a:graphic>
          <a:graphicData uri="http://schemas.openxmlformats.org/presentationml/2006/ole">
            <mc:AlternateContent xmlns:mc="http://schemas.openxmlformats.org/markup-compatibility/2006">
              <mc:Choice xmlns:v="urn:schemas-microsoft-com:vml" Requires="v">
                <p:oleObj name="Visio" r:id="rId4" imgW="1939444" imgH="835340" progId="Visio.Drawing.11">
                  <p:embed/>
                </p:oleObj>
              </mc:Choice>
              <mc:Fallback>
                <p:oleObj name="Visio" r:id="rId4" imgW="1939444" imgH="835340" progId="Visio.Drawing.11">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5875" y="2857500"/>
                        <a:ext cx="4824413" cy="2071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008965"/>
                              </a:outerShdw>
                            </a:effectLst>
                          </a14:hiddenEffects>
                        </a:ext>
                      </a:extLst>
                    </p:spPr>
                  </p:pic>
                </p:oleObj>
              </mc:Fallback>
            </mc:AlternateContent>
          </a:graphicData>
        </a:graphic>
      </p:graphicFrame>
      <p:sp>
        <p:nvSpPr>
          <p:cNvPr id="6" name="圆角矩形标注 5">
            <a:extLst>
              <a:ext uri="{FF2B5EF4-FFF2-40B4-BE49-F238E27FC236}">
                <a16:creationId xmlns:a16="http://schemas.microsoft.com/office/drawing/2014/main" id="{6D22BDB7-AB1C-8072-A33C-7A507AAE109D}"/>
              </a:ext>
            </a:extLst>
          </p:cNvPr>
          <p:cNvSpPr>
            <a:spLocks noChangeArrowheads="1"/>
          </p:cNvSpPr>
          <p:nvPr/>
        </p:nvSpPr>
        <p:spPr bwMode="auto">
          <a:xfrm>
            <a:off x="6942138" y="3475038"/>
            <a:ext cx="763587" cy="487362"/>
          </a:xfrm>
          <a:prstGeom prst="wedgeRoundRectCallout">
            <a:avLst>
              <a:gd name="adj1" fmla="val -146986"/>
              <a:gd name="adj2" fmla="val 55083"/>
              <a:gd name="adj3" fmla="val 16667"/>
            </a:avLst>
          </a:prstGeom>
          <a:noFill/>
          <a:ln w="9525" algn="ctr">
            <a:solidFill>
              <a:schemeClr val="bg1">
                <a:lumMod val="50000"/>
              </a:schemeClr>
            </a:solidFill>
            <a:round/>
            <a:headEnd/>
            <a:tailEnd/>
          </a:ln>
        </p:spPr>
        <p:txBody>
          <a:bodyPr/>
          <a:lstStyle/>
          <a:p>
            <a:pPr>
              <a:defRPr/>
            </a:pPr>
            <a:r>
              <a:rPr lang="zh-CN" altLang="en-US" sz="2000" dirty="0">
                <a:solidFill>
                  <a:srgbClr val="FF0000"/>
                </a:solidFill>
                <a:latin typeface="微软雅黑" pitchFamily="34" charset="-122"/>
                <a:ea typeface="微软雅黑" pitchFamily="34" charset="-122"/>
              </a:rPr>
              <a:t>导频</a:t>
            </a:r>
          </a:p>
        </p:txBody>
      </p:sp>
      <p:sp>
        <p:nvSpPr>
          <p:cNvPr id="7" name="圆角矩形标注 1">
            <a:extLst>
              <a:ext uri="{FF2B5EF4-FFF2-40B4-BE49-F238E27FC236}">
                <a16:creationId xmlns:a16="http://schemas.microsoft.com/office/drawing/2014/main" id="{A5D4033F-E4D3-6D00-AD77-4022735D8E6D}"/>
              </a:ext>
            </a:extLst>
          </p:cNvPr>
          <p:cNvSpPr>
            <a:spLocks noChangeArrowheads="1"/>
          </p:cNvSpPr>
          <p:nvPr/>
        </p:nvSpPr>
        <p:spPr bwMode="auto">
          <a:xfrm>
            <a:off x="3133725" y="3460750"/>
            <a:ext cx="795338" cy="500063"/>
          </a:xfrm>
          <a:prstGeom prst="wedgeRoundRectCallout">
            <a:avLst>
              <a:gd name="adj1" fmla="val -143792"/>
              <a:gd name="adj2" fmla="val 69296"/>
              <a:gd name="adj3" fmla="val 16667"/>
            </a:avLst>
          </a:prstGeom>
          <a:noFill/>
          <a:ln w="9525" algn="ctr">
            <a:solidFill>
              <a:schemeClr val="bg1">
                <a:lumMod val="50000"/>
              </a:schemeClr>
            </a:solidFill>
            <a:round/>
            <a:headEnd/>
            <a:tailEnd/>
          </a:ln>
        </p:spPr>
        <p:txBody>
          <a:bodyPr/>
          <a:lstStyle/>
          <a:p>
            <a:pPr>
              <a:defRPr/>
            </a:pPr>
            <a:r>
              <a:rPr lang="zh-CN" altLang="en-US" sz="2000" dirty="0">
                <a:solidFill>
                  <a:srgbClr val="FF0000"/>
                </a:solidFill>
                <a:latin typeface="微软雅黑" pitchFamily="34" charset="-122"/>
                <a:ea typeface="微软雅黑" pitchFamily="34" charset="-122"/>
              </a:rPr>
              <a:t>导频</a:t>
            </a:r>
          </a:p>
        </p:txBody>
      </p:sp>
      <p:cxnSp>
        <p:nvCxnSpPr>
          <p:cNvPr id="9" name="直接箭头连接符 8">
            <a:extLst>
              <a:ext uri="{FF2B5EF4-FFF2-40B4-BE49-F238E27FC236}">
                <a16:creationId xmlns:a16="http://schemas.microsoft.com/office/drawing/2014/main" id="{BC2518EC-1A98-A860-5DB6-6564F3D3D87C}"/>
              </a:ext>
            </a:extLst>
          </p:cNvPr>
          <p:cNvCxnSpPr>
            <a:cxnSpLocks noChangeShapeType="1"/>
          </p:cNvCxnSpPr>
          <p:nvPr/>
        </p:nvCxnSpPr>
        <p:spPr bwMode="auto">
          <a:xfrm flipV="1">
            <a:off x="2341563" y="3846513"/>
            <a:ext cx="0" cy="576262"/>
          </a:xfrm>
          <a:prstGeom prst="straightConnector1">
            <a:avLst/>
          </a:prstGeom>
          <a:noFill/>
          <a:ln w="28575" algn="ctr">
            <a:solidFill>
              <a:srgbClr val="CC0000"/>
            </a:solidFill>
            <a:round/>
            <a:headEnd/>
            <a:tailEnd type="triangle" w="med" len="med"/>
          </a:ln>
          <a:effectLst>
            <a:outerShdw dist="23000" dir="5400000" rotWithShape="0">
              <a:srgbClr val="000000">
                <a:alpha val="34998"/>
              </a:srgbClr>
            </a:outerShdw>
          </a:effectLst>
        </p:spPr>
      </p:cxnSp>
      <p:cxnSp>
        <p:nvCxnSpPr>
          <p:cNvPr id="10" name="直接箭头连接符 9">
            <a:extLst>
              <a:ext uri="{FF2B5EF4-FFF2-40B4-BE49-F238E27FC236}">
                <a16:creationId xmlns:a16="http://schemas.microsoft.com/office/drawing/2014/main" id="{94A4A642-E567-EE1A-0669-A951FB716881}"/>
              </a:ext>
            </a:extLst>
          </p:cNvPr>
          <p:cNvCxnSpPr>
            <a:cxnSpLocks noChangeShapeType="1"/>
          </p:cNvCxnSpPr>
          <p:nvPr/>
        </p:nvCxnSpPr>
        <p:spPr bwMode="auto">
          <a:xfrm flipV="1">
            <a:off x="6164263" y="3786188"/>
            <a:ext cx="0" cy="576262"/>
          </a:xfrm>
          <a:prstGeom prst="straightConnector1">
            <a:avLst/>
          </a:prstGeom>
          <a:noFill/>
          <a:ln w="28575" algn="ctr">
            <a:solidFill>
              <a:srgbClr val="CC0000"/>
            </a:solidFill>
            <a:round/>
            <a:headEnd/>
            <a:tailEnd type="triangle" w="med" len="med"/>
          </a:ln>
          <a:effectLst>
            <a:outerShdw dist="23000" dir="5400000" rotWithShape="0">
              <a:srgbClr val="000000">
                <a:alpha val="34998"/>
              </a:srgbClr>
            </a:outerShdw>
          </a:effectLst>
        </p:spPr>
      </p:cxnSp>
      <p:sp>
        <p:nvSpPr>
          <p:cNvPr id="11" name="Rectangle 11">
            <a:extLst>
              <a:ext uri="{FF2B5EF4-FFF2-40B4-BE49-F238E27FC236}">
                <a16:creationId xmlns:a16="http://schemas.microsoft.com/office/drawing/2014/main" id="{003FF0D6-0564-54AC-B90B-2AAAEB136C41}"/>
              </a:ext>
            </a:extLst>
          </p:cNvPr>
          <p:cNvSpPr>
            <a:spLocks noChangeArrowheads="1"/>
          </p:cNvSpPr>
          <p:nvPr/>
        </p:nvSpPr>
        <p:spPr bwMode="auto">
          <a:xfrm>
            <a:off x="714375" y="4786313"/>
            <a:ext cx="4000500" cy="490537"/>
          </a:xfrm>
          <a:prstGeom prst="rect">
            <a:avLst/>
          </a:prstGeom>
          <a:noFill/>
          <a:ln w="9525">
            <a:noFill/>
            <a:miter lim="800000"/>
            <a:headEnd/>
            <a:tailEnd/>
          </a:ln>
          <a:effectLst>
            <a:prstShdw prst="shdw17" dist="17961" dir="2700000">
              <a:schemeClr val="accent1">
                <a:gamma/>
                <a:shade val="60000"/>
                <a:invGamma/>
              </a:schemeClr>
            </a:prstShdw>
          </a:effectLst>
        </p:spPr>
        <p:txBody>
          <a:bodyPr>
            <a:spAutoFit/>
          </a:bodyPr>
          <a:lstStyle/>
          <a:p>
            <a:pPr marL="342900" indent="-342900">
              <a:lnSpc>
                <a:spcPts val="3100"/>
              </a:lnSpc>
              <a:buFontTx/>
              <a:buAutoNum type="alphaLcParenBoth"/>
              <a:defRPr/>
            </a:pPr>
            <a:r>
              <a:rPr lang="zh-CN" altLang="en-US" sz="2000" dirty="0">
                <a:latin typeface="微软雅黑" pitchFamily="34" charset="-122"/>
                <a:ea typeface="微软雅黑" pitchFamily="34" charset="-122"/>
              </a:rPr>
              <a:t> </a:t>
            </a:r>
            <a:r>
              <a:rPr lang="zh-CN" altLang="zh-CN" dirty="0">
                <a:effectLst>
                  <a:outerShdw blurRad="38100" dist="38100" dir="2700000" algn="tl">
                    <a:srgbClr val="000000">
                      <a:alpha val="43137"/>
                    </a:srgbClr>
                  </a:outerShdw>
                </a:effectLst>
                <a:latin typeface="微软雅黑" pitchFamily="34" charset="-122"/>
                <a:ea typeface="微软雅黑" pitchFamily="34" charset="-122"/>
              </a:rPr>
              <a:t>双极性不归零基带信号功率谱</a:t>
            </a:r>
          </a:p>
        </p:txBody>
      </p:sp>
      <p:sp>
        <p:nvSpPr>
          <p:cNvPr id="12" name="Rectangle 12">
            <a:extLst>
              <a:ext uri="{FF2B5EF4-FFF2-40B4-BE49-F238E27FC236}">
                <a16:creationId xmlns:a16="http://schemas.microsoft.com/office/drawing/2014/main" id="{0341E4DA-60D9-16C4-2331-310FA5B509CB}"/>
              </a:ext>
            </a:extLst>
          </p:cNvPr>
          <p:cNvSpPr>
            <a:spLocks noChangeArrowheads="1"/>
          </p:cNvSpPr>
          <p:nvPr/>
        </p:nvSpPr>
        <p:spPr bwMode="auto">
          <a:xfrm>
            <a:off x="4786313" y="4786313"/>
            <a:ext cx="4000500" cy="490537"/>
          </a:xfrm>
          <a:prstGeom prst="rect">
            <a:avLst/>
          </a:prstGeom>
          <a:noFill/>
          <a:ln w="9525">
            <a:noFill/>
            <a:miter lim="800000"/>
            <a:headEnd/>
            <a:tailEnd/>
          </a:ln>
          <a:effectLst>
            <a:prstShdw prst="shdw17" dist="17961" dir="2700000">
              <a:schemeClr val="accent1">
                <a:gamma/>
                <a:shade val="60000"/>
                <a:invGamma/>
              </a:schemeClr>
            </a:prstShdw>
          </a:effectLst>
        </p:spPr>
        <p:txBody>
          <a:bodyPr>
            <a:spAutoFit/>
          </a:bodyPr>
          <a:lstStyle/>
          <a:p>
            <a:pPr>
              <a:lnSpc>
                <a:spcPts val="3100"/>
              </a:lnSpc>
              <a:defRPr/>
            </a:pPr>
            <a:r>
              <a:rPr lang="en-US" altLang="zh-CN" sz="2000" dirty="0">
                <a:latin typeface="微软雅黑" pitchFamily="34" charset="-122"/>
                <a:ea typeface="微软雅黑" pitchFamily="34" charset="-122"/>
              </a:rPr>
              <a:t>(b) </a:t>
            </a:r>
            <a:r>
              <a:rPr lang="zh-CN" altLang="zh-CN" dirty="0">
                <a:effectLst>
                  <a:outerShdw blurRad="38100" dist="38100" dir="2700000" algn="tl">
                    <a:srgbClr val="000000">
                      <a:alpha val="43137"/>
                    </a:srgbClr>
                  </a:outerShdw>
                </a:effectLst>
                <a:latin typeface="微软雅黑" pitchFamily="34" charset="-122"/>
                <a:ea typeface="微软雅黑" pitchFamily="34" charset="-122"/>
              </a:rPr>
              <a:t>某种</a:t>
            </a:r>
            <a:r>
              <a:rPr lang="zh-CN" altLang="en-US" dirty="0">
                <a:effectLst>
                  <a:outerShdw blurRad="38100" dist="38100" dir="2700000" algn="tl">
                    <a:srgbClr val="000000">
                      <a:alpha val="43137"/>
                    </a:srgbClr>
                  </a:outerShdw>
                </a:effectLst>
                <a:latin typeface="微软雅黑" pitchFamily="34" charset="-122"/>
                <a:ea typeface="微软雅黑" pitchFamily="34" charset="-122"/>
              </a:rPr>
              <a:t>相关</a:t>
            </a:r>
            <a:r>
              <a:rPr lang="zh-CN" altLang="zh-CN" dirty="0">
                <a:effectLst>
                  <a:outerShdw blurRad="38100" dist="38100" dir="2700000" algn="tl">
                    <a:srgbClr val="000000">
                      <a:alpha val="43137"/>
                    </a:srgbClr>
                  </a:outerShdw>
                </a:effectLst>
                <a:latin typeface="微软雅黑" pitchFamily="34" charset="-122"/>
                <a:ea typeface="微软雅黑" pitchFamily="34" charset="-122"/>
              </a:rPr>
              <a:t>变换后基带信号功率谱</a:t>
            </a:r>
          </a:p>
        </p:txBody>
      </p:sp>
      <p:sp>
        <p:nvSpPr>
          <p:cNvPr id="87045" name="Rectangle 5">
            <a:extLst>
              <a:ext uri="{FF2B5EF4-FFF2-40B4-BE49-F238E27FC236}">
                <a16:creationId xmlns:a16="http://schemas.microsoft.com/office/drawing/2014/main" id="{1FF3EB31-C768-4432-B891-C01B1110D8D3}"/>
              </a:ext>
            </a:extLst>
          </p:cNvPr>
          <p:cNvSpPr>
            <a:spLocks noChangeArrowheads="1"/>
          </p:cNvSpPr>
          <p:nvPr/>
        </p:nvSpPr>
        <p:spPr bwMode="auto">
          <a:xfrm>
            <a:off x="0" y="0"/>
            <a:ext cx="9144000" cy="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wrap="none" anchor="ctr">
            <a:spAutoFit/>
          </a:bodyPr>
          <a:lstStyle/>
          <a:p>
            <a:pPr>
              <a:defRPr/>
            </a:pPr>
            <a:endParaRPr lang="zh-CN" altLang="en-US">
              <a:ea typeface="宋体" charset="-122"/>
            </a:endParaRPr>
          </a:p>
        </p:txBody>
      </p:sp>
      <p:sp>
        <p:nvSpPr>
          <p:cNvPr id="25614" name="矩形 14">
            <a:extLst>
              <a:ext uri="{FF2B5EF4-FFF2-40B4-BE49-F238E27FC236}">
                <a16:creationId xmlns:a16="http://schemas.microsoft.com/office/drawing/2014/main" id="{551CAE38-26EF-6B98-7312-C3B5A1C66AB3}"/>
              </a:ext>
            </a:extLst>
          </p:cNvPr>
          <p:cNvSpPr>
            <a:spLocks noChangeArrowheads="1"/>
          </p:cNvSpPr>
          <p:nvPr/>
        </p:nvSpPr>
        <p:spPr bwMode="auto">
          <a:xfrm>
            <a:off x="1114425" y="1746250"/>
            <a:ext cx="7529513" cy="554038"/>
          </a:xfrm>
          <a:prstGeom prst="rect">
            <a:avLst/>
          </a:prstGeom>
          <a:noFill/>
          <a:ln w="9525">
            <a:noFill/>
            <a:miter lim="800000"/>
            <a:headEnd/>
            <a:tailEnd/>
          </a:ln>
        </p:spPr>
        <p:txBody>
          <a:bodyPr>
            <a:spAutoFit/>
          </a:bodyPr>
          <a:lstStyle/>
          <a:p>
            <a:pPr>
              <a:lnSpc>
                <a:spcPct val="150000"/>
              </a:lnSpc>
              <a:defRPr/>
            </a:pPr>
            <a:r>
              <a:rPr lang="zh-CN" altLang="en-US" sz="2000" dirty="0">
                <a:latin typeface="Arial" pitchFamily="34" charset="0"/>
                <a:ea typeface="微软雅黑" pitchFamily="34" charset="-122"/>
                <a:cs typeface="Arial" pitchFamily="34" charset="0"/>
              </a:rPr>
              <a:t>在</a:t>
            </a:r>
            <a:r>
              <a:rPr lang="zh-CN" altLang="en-US" sz="2000" dirty="0">
                <a:effectLst>
                  <a:outerShdw blurRad="38100" dist="38100" dir="2700000" algn="tl">
                    <a:srgbClr val="000000">
                      <a:alpha val="43137"/>
                    </a:srgbClr>
                  </a:outerShdw>
                </a:effectLst>
                <a:latin typeface="Arial" pitchFamily="34" charset="0"/>
                <a:ea typeface="微软雅黑" pitchFamily="34" charset="-122"/>
                <a:cs typeface="Arial" pitchFamily="34" charset="0"/>
              </a:rPr>
              <a:t>发送</a:t>
            </a:r>
            <a:r>
              <a:rPr lang="zh-CN" altLang="en-US" sz="2000" dirty="0">
                <a:latin typeface="Arial" pitchFamily="34" charset="0"/>
                <a:ea typeface="微软雅黑" pitchFamily="34" charset="-122"/>
                <a:cs typeface="Arial" pitchFamily="34" charset="0"/>
              </a:rPr>
              <a:t>信号中</a:t>
            </a:r>
            <a:r>
              <a:rPr lang="zh-CN" altLang="en-US" sz="2000" dirty="0">
                <a:effectLst>
                  <a:outerShdw blurRad="38100" dist="38100" dir="2700000" algn="tl">
                    <a:srgbClr val="000000">
                      <a:alpha val="43137"/>
                    </a:srgbClr>
                  </a:outerShdw>
                </a:effectLst>
                <a:latin typeface="Arial" pitchFamily="34" charset="0"/>
                <a:ea typeface="微软雅黑" pitchFamily="34" charset="-122"/>
                <a:cs typeface="Arial" pitchFamily="34" charset="0"/>
              </a:rPr>
              <a:t>插入</a:t>
            </a:r>
            <a:r>
              <a:rPr lang="zh-CN" altLang="en-US" sz="2000" dirty="0">
                <a:latin typeface="Arial" pitchFamily="34" charset="0"/>
                <a:ea typeface="微软雅黑" pitchFamily="34" charset="-122"/>
                <a:cs typeface="Arial" pitchFamily="34" charset="0"/>
              </a:rPr>
              <a:t>频率为码元速率 </a:t>
            </a:r>
            <a:r>
              <a:rPr lang="en-US" altLang="zh-CN" sz="2000" dirty="0">
                <a:solidFill>
                  <a:srgbClr val="FF0000"/>
                </a:solidFill>
                <a:effectLst>
                  <a:outerShdw blurRad="38100" dist="38100" dir="2700000" algn="tl">
                    <a:srgbClr val="000000">
                      <a:alpha val="43137"/>
                    </a:srgbClr>
                  </a:outerShdw>
                </a:effectLst>
                <a:latin typeface="Arial" pitchFamily="34" charset="0"/>
                <a:ea typeface="宋体"/>
                <a:cs typeface="Arial" pitchFamily="34" charset="0"/>
              </a:rPr>
              <a:t>1</a:t>
            </a:r>
            <a:r>
              <a:rPr lang="en-US" altLang="zh-CN" sz="200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a:t>
            </a:r>
            <a:r>
              <a:rPr lang="en-US" altLang="zh-CN" sz="2000" i="1"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T  </a:t>
            </a:r>
            <a:r>
              <a:rPr lang="zh-CN" altLang="en-US" sz="2000" dirty="0">
                <a:latin typeface="Arial" pitchFamily="34" charset="0"/>
                <a:ea typeface="微软雅黑" pitchFamily="34" charset="-122"/>
                <a:cs typeface="Arial" pitchFamily="34" charset="0"/>
              </a:rPr>
              <a:t>或 </a:t>
            </a:r>
            <a:r>
              <a:rPr lang="en-US" altLang="zh-CN" sz="2000" dirty="0">
                <a:solidFill>
                  <a:srgbClr val="FF0000"/>
                </a:solidFill>
                <a:effectLst>
                  <a:outerShdw blurRad="38100" dist="38100" dir="2700000" algn="tl">
                    <a:srgbClr val="000000">
                      <a:alpha val="43137"/>
                    </a:srgbClr>
                  </a:outerShdw>
                </a:effectLst>
                <a:latin typeface="Arial" pitchFamily="34" charset="0"/>
                <a:ea typeface="+mn-ea"/>
                <a:cs typeface="Arial" pitchFamily="34" charset="0"/>
              </a:rPr>
              <a:t>1</a:t>
            </a:r>
            <a:r>
              <a:rPr lang="en-US" altLang="zh-CN" sz="200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a:t>
            </a:r>
            <a:r>
              <a:rPr lang="en-US" altLang="zh-CN" sz="2000" i="1"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T </a:t>
            </a:r>
            <a:r>
              <a:rPr lang="zh-CN" altLang="en-US" sz="2000" dirty="0">
                <a:effectLst>
                  <a:outerShdw blurRad="38100" dist="38100" dir="2700000" algn="tl">
                    <a:srgbClr val="000000">
                      <a:alpha val="43137"/>
                    </a:srgbClr>
                  </a:outerShdw>
                </a:effectLst>
                <a:latin typeface="Arial" pitchFamily="34" charset="0"/>
                <a:ea typeface="微软雅黑" pitchFamily="34" charset="-122"/>
                <a:cs typeface="Arial" pitchFamily="34" charset="0"/>
              </a:rPr>
              <a:t>倍数 </a:t>
            </a:r>
            <a:r>
              <a:rPr lang="zh-CN" altLang="en-US" sz="2000" dirty="0">
                <a:latin typeface="Arial" pitchFamily="34" charset="0"/>
                <a:ea typeface="微软雅黑" pitchFamily="34" charset="-122"/>
                <a:cs typeface="Arial" pitchFamily="34" charset="0"/>
              </a:rPr>
              <a:t>的同步信号</a:t>
            </a:r>
            <a:r>
              <a:rPr lang="zh-CN" altLang="zh-CN" sz="2000" dirty="0">
                <a:latin typeface="+mn-ea"/>
                <a:ea typeface="宋体" charset="-122"/>
              </a:rPr>
              <a:t>；</a:t>
            </a:r>
            <a:endParaRPr lang="en-US" altLang="zh-CN" sz="2000" dirty="0">
              <a:latin typeface="Arial" pitchFamily="34" charset="0"/>
              <a:ea typeface="微软雅黑" pitchFamily="34" charset="-122"/>
              <a:cs typeface="Arial" pitchFamily="34" charset="0"/>
            </a:endParaRPr>
          </a:p>
        </p:txBody>
      </p:sp>
      <p:sp>
        <p:nvSpPr>
          <p:cNvPr id="25615" name="矩形 16">
            <a:extLst>
              <a:ext uri="{FF2B5EF4-FFF2-40B4-BE49-F238E27FC236}">
                <a16:creationId xmlns:a16="http://schemas.microsoft.com/office/drawing/2014/main" id="{3938FCD9-A2F4-8E5C-BCC6-A7239BBFC4CA}"/>
              </a:ext>
            </a:extLst>
          </p:cNvPr>
          <p:cNvSpPr>
            <a:spLocks noChangeArrowheads="1"/>
          </p:cNvSpPr>
          <p:nvPr/>
        </p:nvSpPr>
        <p:spPr bwMode="auto">
          <a:xfrm>
            <a:off x="984250" y="2257425"/>
            <a:ext cx="7445375" cy="498475"/>
          </a:xfrm>
          <a:prstGeom prst="rect">
            <a:avLst/>
          </a:prstGeom>
          <a:noFill/>
          <a:ln w="9525">
            <a:noFill/>
            <a:miter lim="800000"/>
            <a:headEnd/>
            <a:tailEnd/>
          </a:ln>
        </p:spPr>
        <p:txBody>
          <a:bodyPr>
            <a:spAutoFit/>
          </a:bodyPr>
          <a:lstStyle/>
          <a:p>
            <a:pPr>
              <a:lnSpc>
                <a:spcPct val="150000"/>
              </a:lnSpc>
              <a:defRPr/>
            </a:pPr>
            <a:r>
              <a:rPr lang="zh-CN" altLang="en-US" sz="2000" dirty="0">
                <a:latin typeface="微软雅黑" pitchFamily="34" charset="-122"/>
                <a:ea typeface="微软雅黑" pitchFamily="34" charset="-122"/>
              </a:rPr>
              <a:t>  在</a:t>
            </a:r>
            <a:r>
              <a:rPr lang="zh-CN" altLang="en-US" sz="2000" dirty="0">
                <a:effectLst>
                  <a:outerShdw blurRad="38100" dist="38100" dir="2700000" algn="tl">
                    <a:srgbClr val="000000">
                      <a:alpha val="43137"/>
                    </a:srgbClr>
                  </a:outerShdw>
                </a:effectLst>
                <a:latin typeface="微软雅黑" pitchFamily="34" charset="-122"/>
                <a:ea typeface="微软雅黑" pitchFamily="34" charset="-122"/>
              </a:rPr>
              <a:t>接收</a:t>
            </a:r>
            <a:r>
              <a:rPr lang="zh-CN" altLang="en-US" sz="2000" dirty="0">
                <a:latin typeface="微软雅黑" pitchFamily="34" charset="-122"/>
                <a:ea typeface="微软雅黑" pitchFamily="34" charset="-122"/>
              </a:rPr>
              <a:t>端利用窄带滤波器将 </a:t>
            </a:r>
            <a:r>
              <a:rPr lang="zh-CN" altLang="en-US" sz="2000" dirty="0">
                <a:solidFill>
                  <a:srgbClr val="FF0000"/>
                </a:solidFill>
                <a:latin typeface="微软雅黑" pitchFamily="34" charset="-122"/>
                <a:ea typeface="微软雅黑" pitchFamily="34" charset="-122"/>
              </a:rPr>
              <a:t>其 </a:t>
            </a:r>
            <a:r>
              <a:rPr lang="zh-CN" altLang="en-US" sz="2000" dirty="0">
                <a:latin typeface="微软雅黑" pitchFamily="34" charset="-122"/>
                <a:ea typeface="微软雅黑" pitchFamily="34" charset="-122"/>
              </a:rPr>
              <a:t>分离出来，并形成 码元定时脉冲。 </a:t>
            </a:r>
          </a:p>
        </p:txBody>
      </p:sp>
      <p:sp>
        <p:nvSpPr>
          <p:cNvPr id="16" name="Rectangle 102">
            <a:extLst>
              <a:ext uri="{FF2B5EF4-FFF2-40B4-BE49-F238E27FC236}">
                <a16:creationId xmlns:a16="http://schemas.microsoft.com/office/drawing/2014/main" id="{27113ABC-4246-15C2-FD65-479F56A67D44}"/>
              </a:ext>
            </a:extLst>
          </p:cNvPr>
          <p:cNvSpPr>
            <a:spLocks noChangeArrowheads="1"/>
          </p:cNvSpPr>
          <p:nvPr/>
        </p:nvSpPr>
        <p:spPr bwMode="auto">
          <a:xfrm>
            <a:off x="1057275" y="5386388"/>
            <a:ext cx="7200900" cy="541337"/>
          </a:xfrm>
          <a:prstGeom prst="rect">
            <a:avLst/>
          </a:prstGeom>
          <a:noFill/>
          <a:ln w="9525" algn="ctr">
            <a:noFill/>
            <a:miter lim="800000"/>
            <a:headEnd/>
            <a:tailEnd/>
          </a:ln>
          <a:effectLst/>
        </p:spPr>
        <p:txBody>
          <a:bodyPr>
            <a:spAutoFit/>
          </a:bodyPr>
          <a:lstStyle/>
          <a:p>
            <a:pPr>
              <a:lnSpc>
                <a:spcPts val="3500"/>
              </a:lnSpc>
              <a:buClr>
                <a:schemeClr val="hlink"/>
              </a:buClr>
              <a:buSzPct val="65000"/>
              <a:defRPr/>
            </a:pPr>
            <a:r>
              <a:rPr lang="zh-CN" altLang="en-US" sz="2000" dirty="0">
                <a:latin typeface="微软雅黑" pitchFamily="34" charset="-122"/>
                <a:ea typeface="微软雅黑" pitchFamily="34" charset="-122"/>
              </a:rPr>
              <a:t> </a:t>
            </a:r>
            <a:r>
              <a:rPr lang="zh-CN" altLang="zh-CN" sz="2000" dirty="0">
                <a:latin typeface="微软雅黑" pitchFamily="34" charset="-122"/>
                <a:ea typeface="微软雅黑" pitchFamily="34" charset="-122"/>
              </a:rPr>
              <a:t>对</a:t>
            </a:r>
            <a:r>
              <a:rPr lang="zh-CN" altLang="en-US" sz="2000" dirty="0">
                <a:latin typeface="微软雅黑" pitchFamily="34" charset="-122"/>
                <a:ea typeface="微软雅黑" pitchFamily="34" charset="-122"/>
              </a:rPr>
              <a:t>(</a:t>
            </a:r>
            <a:r>
              <a:rPr lang="en-US" altLang="zh-CN" sz="2000" dirty="0">
                <a:latin typeface="微软雅黑" pitchFamily="34" charset="-122"/>
                <a:ea typeface="微软雅黑" pitchFamily="34" charset="-122"/>
              </a:rPr>
              <a:t>a)</a:t>
            </a:r>
            <a:r>
              <a:rPr lang="zh-CN" altLang="en-US" sz="2000" dirty="0">
                <a:latin typeface="+mn-ea"/>
                <a:ea typeface="+mn-ea"/>
              </a:rPr>
              <a:t>，</a:t>
            </a:r>
            <a:r>
              <a:rPr lang="zh-CN" altLang="zh-CN" sz="2000" dirty="0">
                <a:latin typeface="微软雅黑" pitchFamily="34" charset="-122"/>
                <a:ea typeface="微软雅黑" pitchFamily="34" charset="-122"/>
              </a:rPr>
              <a:t>接收端用中心频率为</a:t>
            </a:r>
            <a:r>
              <a:rPr lang="en-US" altLang="zh-CN" sz="2000" dirty="0">
                <a:latin typeface="微软雅黑" pitchFamily="34" charset="-122"/>
                <a:ea typeface="微软雅黑" pitchFamily="34" charset="-122"/>
              </a:rPr>
              <a:t> </a:t>
            </a:r>
            <a:r>
              <a:rPr lang="en-US" altLang="zh-CN" sz="200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1/</a:t>
            </a:r>
            <a:r>
              <a:rPr lang="en-US" altLang="zh-CN" sz="2000" i="1"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T </a:t>
            </a:r>
            <a:r>
              <a:rPr lang="zh-CN" altLang="zh-CN" sz="2000" dirty="0">
                <a:latin typeface="微软雅黑" pitchFamily="34" charset="-122"/>
                <a:ea typeface="微软雅黑" pitchFamily="34" charset="-122"/>
              </a:rPr>
              <a:t>的</a:t>
            </a:r>
            <a:r>
              <a:rPr lang="en-US" altLang="zh-CN" sz="2000" dirty="0">
                <a:latin typeface="微软雅黑" pitchFamily="34" charset="-122"/>
                <a:ea typeface="微软雅黑" pitchFamily="34" charset="-122"/>
              </a:rPr>
              <a:t> </a:t>
            </a:r>
            <a:r>
              <a:rPr lang="zh-CN" altLang="zh-CN" sz="2000" dirty="0">
                <a:latin typeface="微软雅黑" pitchFamily="34" charset="-122"/>
                <a:ea typeface="微软雅黑" pitchFamily="34" charset="-122"/>
              </a:rPr>
              <a:t>窄带滤波器</a:t>
            </a:r>
            <a:r>
              <a:rPr lang="en-US" altLang="zh-CN" sz="2000" dirty="0">
                <a:latin typeface="微软雅黑" pitchFamily="34" charset="-122"/>
                <a:ea typeface="微软雅黑" pitchFamily="34" charset="-122"/>
              </a:rPr>
              <a:t> </a:t>
            </a:r>
            <a:r>
              <a:rPr lang="zh-CN" altLang="zh-CN" sz="2000" dirty="0">
                <a:latin typeface="微软雅黑" pitchFamily="34" charset="-122"/>
                <a:ea typeface="微软雅黑" pitchFamily="34" charset="-122"/>
              </a:rPr>
              <a:t>提取</a:t>
            </a:r>
            <a:r>
              <a:rPr lang="en-US" altLang="zh-CN" sz="2000" dirty="0">
                <a:latin typeface="微软雅黑" pitchFamily="34" charset="-122"/>
                <a:ea typeface="微软雅黑" pitchFamily="34" charset="-122"/>
              </a:rPr>
              <a:t> </a:t>
            </a:r>
            <a:r>
              <a:rPr lang="zh-CN" altLang="zh-CN" sz="2000" dirty="0">
                <a:latin typeface="微软雅黑" pitchFamily="34" charset="-122"/>
                <a:ea typeface="微软雅黑" pitchFamily="34" charset="-122"/>
              </a:rPr>
              <a:t>导频</a:t>
            </a:r>
            <a:r>
              <a:rPr lang="en-US" altLang="zh-CN" sz="2000" dirty="0">
                <a:latin typeface="微软雅黑" pitchFamily="34" charset="-122"/>
                <a:ea typeface="微软雅黑" pitchFamily="34" charset="-122"/>
              </a:rPr>
              <a:t> </a:t>
            </a:r>
            <a:r>
              <a:rPr lang="zh-CN" altLang="zh-CN" sz="2000" dirty="0">
                <a:latin typeface="+mn-ea"/>
                <a:ea typeface="+mn-ea"/>
              </a:rPr>
              <a:t>；</a:t>
            </a:r>
            <a:endParaRPr lang="zh-CN" altLang="en-US" sz="2000" dirty="0">
              <a:latin typeface="+mn-ea"/>
              <a:ea typeface="+mn-ea"/>
            </a:endParaRPr>
          </a:p>
        </p:txBody>
      </p:sp>
      <p:sp>
        <p:nvSpPr>
          <p:cNvPr id="17" name="Rectangle 102">
            <a:extLst>
              <a:ext uri="{FF2B5EF4-FFF2-40B4-BE49-F238E27FC236}">
                <a16:creationId xmlns:a16="http://schemas.microsoft.com/office/drawing/2014/main" id="{490F65DC-7F6B-B24E-611E-E9B1185E1EB0}"/>
              </a:ext>
            </a:extLst>
          </p:cNvPr>
          <p:cNvSpPr>
            <a:spLocks noChangeArrowheads="1"/>
          </p:cNvSpPr>
          <p:nvPr/>
        </p:nvSpPr>
        <p:spPr bwMode="auto">
          <a:xfrm>
            <a:off x="971550" y="5883275"/>
            <a:ext cx="7643813" cy="539750"/>
          </a:xfrm>
          <a:prstGeom prst="rect">
            <a:avLst/>
          </a:prstGeom>
          <a:noFill/>
          <a:ln w="9525" algn="ctr">
            <a:noFill/>
            <a:miter lim="800000"/>
            <a:headEnd/>
            <a:tailEnd/>
          </a:ln>
          <a:effectLst/>
        </p:spPr>
        <p:txBody>
          <a:bodyPr>
            <a:spAutoFit/>
          </a:bodyPr>
          <a:lstStyle/>
          <a:p>
            <a:pPr>
              <a:lnSpc>
                <a:spcPts val="3500"/>
              </a:lnSpc>
              <a:buClr>
                <a:schemeClr val="hlink"/>
              </a:buClr>
              <a:buSzPct val="65000"/>
              <a:defRPr/>
            </a:pPr>
            <a:r>
              <a:rPr lang="zh-CN" altLang="en-US" sz="2000" dirty="0">
                <a:latin typeface="微软雅黑" pitchFamily="34" charset="-122"/>
                <a:ea typeface="微软雅黑" pitchFamily="34" charset="-122"/>
              </a:rPr>
              <a:t>  </a:t>
            </a:r>
            <a:r>
              <a:rPr lang="zh-CN" altLang="zh-CN" sz="2000" dirty="0">
                <a:latin typeface="微软雅黑" pitchFamily="34" charset="-122"/>
                <a:ea typeface="微软雅黑" pitchFamily="34" charset="-122"/>
              </a:rPr>
              <a:t>对</a:t>
            </a:r>
            <a:r>
              <a:rPr lang="zh-CN" altLang="en-US" sz="2000" dirty="0">
                <a:latin typeface="微软雅黑" pitchFamily="34" charset="-122"/>
                <a:ea typeface="微软雅黑" pitchFamily="34" charset="-122"/>
              </a:rPr>
              <a:t>(</a:t>
            </a:r>
            <a:r>
              <a:rPr lang="en-US" altLang="zh-CN" sz="2000" dirty="0">
                <a:latin typeface="微软雅黑" pitchFamily="34" charset="-122"/>
                <a:ea typeface="微软雅黑" pitchFamily="34" charset="-122"/>
              </a:rPr>
              <a:t>b)</a:t>
            </a:r>
            <a:r>
              <a:rPr lang="zh-CN" altLang="en-US" sz="2000" dirty="0">
                <a:latin typeface="+mn-ea"/>
                <a:ea typeface="宋体" charset="-122"/>
              </a:rPr>
              <a:t>，</a:t>
            </a:r>
            <a:r>
              <a:rPr lang="zh-CN" altLang="zh-CN" sz="2000" dirty="0">
                <a:latin typeface="微软雅黑" pitchFamily="34" charset="-122"/>
                <a:ea typeface="微软雅黑" pitchFamily="34" charset="-122"/>
              </a:rPr>
              <a:t>中心频率</a:t>
            </a:r>
            <a:r>
              <a:rPr lang="en-US" altLang="zh-CN" sz="200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1/2</a:t>
            </a:r>
            <a:r>
              <a:rPr lang="en-US" altLang="zh-CN" sz="2000" i="1"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T</a:t>
            </a:r>
            <a:r>
              <a:rPr lang="en-US" altLang="zh-CN" sz="200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 </a:t>
            </a:r>
            <a:r>
              <a:rPr lang="zh-CN" altLang="zh-CN" sz="2000" dirty="0">
                <a:latin typeface="+mn-ea"/>
                <a:ea typeface="+mn-ea"/>
              </a:rPr>
              <a:t>，</a:t>
            </a:r>
            <a:r>
              <a:rPr lang="zh-CN" altLang="zh-CN" sz="2000" dirty="0">
                <a:latin typeface="微软雅黑" pitchFamily="34" charset="-122"/>
                <a:ea typeface="微软雅黑" pitchFamily="34" charset="-122"/>
              </a:rPr>
              <a:t>提取的导频</a:t>
            </a:r>
            <a:r>
              <a:rPr lang="en-US" altLang="zh-CN" sz="2400" dirty="0">
                <a:solidFill>
                  <a:srgbClr val="FF0000"/>
                </a:solidFill>
                <a:latin typeface="Times New Roman" pitchFamily="18" charset="0"/>
                <a:cs typeface="Times New Roman" pitchFamily="18" charset="0"/>
                <a:sym typeface="Wingdings" pitchFamily="2" charset="2"/>
              </a:rPr>
              <a:t></a:t>
            </a:r>
            <a:r>
              <a:rPr lang="zh-CN" altLang="zh-CN" sz="2000" dirty="0">
                <a:effectLst>
                  <a:outerShdw blurRad="38100" dist="38100" dir="2700000" algn="tl">
                    <a:srgbClr val="000000">
                      <a:alpha val="43137"/>
                    </a:srgbClr>
                  </a:outerShdw>
                </a:effectLst>
                <a:latin typeface="微软雅黑" pitchFamily="34" charset="-122"/>
                <a:ea typeface="微软雅黑" pitchFamily="34" charset="-122"/>
              </a:rPr>
              <a:t>倍频</a:t>
            </a:r>
            <a:r>
              <a:rPr lang="en-US" altLang="zh-CN" sz="2400" dirty="0">
                <a:solidFill>
                  <a:srgbClr val="FF0000"/>
                </a:solidFill>
                <a:latin typeface="Times New Roman" pitchFamily="18" charset="0"/>
                <a:cs typeface="Times New Roman" pitchFamily="18" charset="0"/>
                <a:sym typeface="Wingdings" pitchFamily="2" charset="2"/>
              </a:rPr>
              <a:t></a:t>
            </a:r>
            <a:r>
              <a:rPr lang="zh-CN" altLang="zh-CN" sz="2000" dirty="0">
                <a:latin typeface="微软雅黑" pitchFamily="34" charset="-122"/>
                <a:ea typeface="微软雅黑" pitchFamily="34" charset="-122"/>
              </a:rPr>
              <a:t>所需的位同步脉冲。</a:t>
            </a:r>
            <a:endParaRPr lang="en-US" altLang="zh-CN" sz="2000" dirty="0">
              <a:latin typeface="微软雅黑" pitchFamily="34" charset="-122"/>
              <a:ea typeface="微软雅黑" pitchFamily="34"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3556"/>
                                        </p:tgtEl>
                                        <p:attrNameLst>
                                          <p:attrName>style.visibility</p:attrName>
                                        </p:attrNameLst>
                                      </p:cBhvr>
                                      <p:to>
                                        <p:strVal val="visible"/>
                                      </p:to>
                                    </p:set>
                                    <p:animEffect transition="in" filter="wipe(up)">
                                      <p:cBhvr>
                                        <p:cTn id="7" dur="1000"/>
                                        <p:tgtEl>
                                          <p:spTgt spid="235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20500">
                                            <p:txEl>
                                              <p:pRg st="0" end="0"/>
                                            </p:txEl>
                                          </p:spTgt>
                                        </p:tgtEl>
                                        <p:attrNameLst>
                                          <p:attrName>style.visibility</p:attrName>
                                        </p:attrNameLst>
                                      </p:cBhvr>
                                      <p:to>
                                        <p:strVal val="visible"/>
                                      </p:to>
                                    </p:set>
                                    <p:animEffect transition="in" filter="strips(downRight)">
                                      <p:cBhvr>
                                        <p:cTn id="12" dur="2000"/>
                                        <p:tgtEl>
                                          <p:spTgt spid="20500">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1000"/>
                                        <p:tgtEl>
                                          <p:spTgt spid="5"/>
                                        </p:tgtEl>
                                      </p:cBhvr>
                                    </p:animEffect>
                                  </p:childTnLst>
                                </p:cTn>
                              </p:par>
                            </p:childTnLst>
                          </p:cTn>
                        </p:par>
                        <p:par>
                          <p:cTn id="18" fill="hold" nodeType="afterGroup">
                            <p:stCondLst>
                              <p:cond delay="1000"/>
                            </p:stCondLst>
                            <p:childTnLst>
                              <p:par>
                                <p:cTn id="19" presetID="22" presetClass="entr" presetSubtype="1" fill="hold"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up)">
                                      <p:cBhvr>
                                        <p:cTn id="21" dur="1000"/>
                                        <p:tgtEl>
                                          <p:spTgt spid="1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4"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down)">
                                      <p:cBhvr>
                                        <p:cTn id="26" dur="2000"/>
                                        <p:tgtEl>
                                          <p:spTgt spid="9"/>
                                        </p:tgtEl>
                                      </p:cBhvr>
                                    </p:animEffect>
                                  </p:childTnLst>
                                </p:cTn>
                              </p:par>
                              <p:par>
                                <p:cTn id="27" presetID="42"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1000"/>
                                        <p:tgtEl>
                                          <p:spTgt spid="7"/>
                                        </p:tgtEl>
                                      </p:cBhvr>
                                    </p:animEffect>
                                    <p:anim calcmode="lin" valueType="num">
                                      <p:cBhvr>
                                        <p:cTn id="30" dur="1000" fill="hold"/>
                                        <p:tgtEl>
                                          <p:spTgt spid="7"/>
                                        </p:tgtEl>
                                        <p:attrNameLst>
                                          <p:attrName>ppt_x</p:attrName>
                                        </p:attrNameLst>
                                      </p:cBhvr>
                                      <p:tavLst>
                                        <p:tav tm="0">
                                          <p:val>
                                            <p:strVal val="#ppt_x"/>
                                          </p:val>
                                        </p:tav>
                                        <p:tav tm="100000">
                                          <p:val>
                                            <p:strVal val="#ppt_x"/>
                                          </p:val>
                                        </p:tav>
                                      </p:tavLst>
                                    </p:anim>
                                    <p:anim calcmode="lin" valueType="num">
                                      <p:cBhvr>
                                        <p:cTn id="3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25614"/>
                                        </p:tgtEl>
                                        <p:attrNameLst>
                                          <p:attrName>style.visibility</p:attrName>
                                        </p:attrNameLst>
                                      </p:cBhvr>
                                      <p:to>
                                        <p:strVal val="visible"/>
                                      </p:to>
                                    </p:set>
                                    <p:animEffect transition="in" filter="wipe(up)">
                                      <p:cBhvr>
                                        <p:cTn id="36" dur="1000"/>
                                        <p:tgtEl>
                                          <p:spTgt spid="2561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nodeType="clickEffect">
                                  <p:stCondLst>
                                    <p:cond delay="0"/>
                                  </p:stCondLst>
                                  <p:childTnLst>
                                    <p:set>
                                      <p:cBhvr>
                                        <p:cTn id="40" dur="1" fill="hold">
                                          <p:stCondLst>
                                            <p:cond delay="0"/>
                                          </p:stCondLst>
                                        </p:cTn>
                                        <p:tgtEl>
                                          <p:spTgt spid="25602"/>
                                        </p:tgtEl>
                                        <p:attrNameLst>
                                          <p:attrName>style.visibility</p:attrName>
                                        </p:attrNameLst>
                                      </p:cBhvr>
                                      <p:to>
                                        <p:strVal val="visible"/>
                                      </p:to>
                                    </p:set>
                                    <p:animEffect transition="in" filter="wipe(up)">
                                      <p:cBhvr>
                                        <p:cTn id="41" dur="1000"/>
                                        <p:tgtEl>
                                          <p:spTgt spid="25602"/>
                                        </p:tgtEl>
                                      </p:cBhvr>
                                    </p:animEffect>
                                  </p:childTnLst>
                                </p:cTn>
                              </p:par>
                            </p:childTnLst>
                          </p:cTn>
                        </p:par>
                        <p:par>
                          <p:cTn id="42" fill="hold" nodeType="afterGroup">
                            <p:stCondLst>
                              <p:cond delay="1000"/>
                            </p:stCondLst>
                            <p:childTnLst>
                              <p:par>
                                <p:cTn id="43" presetID="22" presetClass="entr" presetSubtype="1" fill="hold" nodeType="after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wipe(up)">
                                      <p:cBhvr>
                                        <p:cTn id="45" dur="1000"/>
                                        <p:tgtEl>
                                          <p:spTgt spid="12"/>
                                        </p:tgtEl>
                                      </p:cBhvr>
                                    </p:animEffect>
                                  </p:childTnLst>
                                </p:cTn>
                              </p:par>
                            </p:childTnLst>
                          </p:cTn>
                        </p:par>
                        <p:par>
                          <p:cTn id="46" fill="hold" nodeType="afterGroup">
                            <p:stCondLst>
                              <p:cond delay="2000"/>
                            </p:stCondLst>
                            <p:childTnLst>
                              <p:par>
                                <p:cTn id="47" presetID="22" presetClass="entr" presetSubtype="4" fill="hold" nodeType="after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wipe(down)">
                                      <p:cBhvr>
                                        <p:cTn id="49" dur="1000"/>
                                        <p:tgtEl>
                                          <p:spTgt spid="10"/>
                                        </p:tgtEl>
                                      </p:cBhvr>
                                    </p:animEffect>
                                  </p:childTnLst>
                                </p:cTn>
                              </p:par>
                              <p:par>
                                <p:cTn id="50" presetID="42" presetClass="entr" presetSubtype="0" fill="hold" nodeType="with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fade">
                                      <p:cBhvr>
                                        <p:cTn id="52" dur="1000"/>
                                        <p:tgtEl>
                                          <p:spTgt spid="6"/>
                                        </p:tgtEl>
                                      </p:cBhvr>
                                    </p:animEffect>
                                    <p:anim calcmode="lin" valueType="num">
                                      <p:cBhvr>
                                        <p:cTn id="53" dur="1000" fill="hold"/>
                                        <p:tgtEl>
                                          <p:spTgt spid="6"/>
                                        </p:tgtEl>
                                        <p:attrNameLst>
                                          <p:attrName>ppt_x</p:attrName>
                                        </p:attrNameLst>
                                      </p:cBhvr>
                                      <p:tavLst>
                                        <p:tav tm="0">
                                          <p:val>
                                            <p:strVal val="#ppt_x"/>
                                          </p:val>
                                        </p:tav>
                                        <p:tav tm="100000">
                                          <p:val>
                                            <p:strVal val="#ppt_x"/>
                                          </p:val>
                                        </p:tav>
                                      </p:tavLst>
                                    </p:anim>
                                    <p:anim calcmode="lin" valueType="num">
                                      <p:cBhvr>
                                        <p:cTn id="5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1" fill="hold" nodeType="clickEffect">
                                  <p:stCondLst>
                                    <p:cond delay="0"/>
                                  </p:stCondLst>
                                  <p:childTnLst>
                                    <p:set>
                                      <p:cBhvr>
                                        <p:cTn id="58" dur="1" fill="hold">
                                          <p:stCondLst>
                                            <p:cond delay="0"/>
                                          </p:stCondLst>
                                        </p:cTn>
                                        <p:tgtEl>
                                          <p:spTgt spid="25615"/>
                                        </p:tgtEl>
                                        <p:attrNameLst>
                                          <p:attrName>style.visibility</p:attrName>
                                        </p:attrNameLst>
                                      </p:cBhvr>
                                      <p:to>
                                        <p:strVal val="visible"/>
                                      </p:to>
                                    </p:set>
                                    <p:animEffect transition="in" filter="wipe(up)">
                                      <p:cBhvr>
                                        <p:cTn id="59" dur="1000"/>
                                        <p:tgtEl>
                                          <p:spTgt spid="25615"/>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1" fill="hold" nodeType="click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wipe(up)">
                                      <p:cBhvr>
                                        <p:cTn id="64" dur="1000"/>
                                        <p:tgtEl>
                                          <p:spTgt spid="16"/>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1" fill="hold" nodeType="clickEffect">
                                  <p:stCondLst>
                                    <p:cond delay="0"/>
                                  </p:stCondLst>
                                  <p:childTnLst>
                                    <p:set>
                                      <p:cBhvr>
                                        <p:cTn id="68" dur="1" fill="hold">
                                          <p:stCondLst>
                                            <p:cond delay="0"/>
                                          </p:stCondLst>
                                        </p:cTn>
                                        <p:tgtEl>
                                          <p:spTgt spid="17"/>
                                        </p:tgtEl>
                                        <p:attrNameLst>
                                          <p:attrName>style.visibility</p:attrName>
                                        </p:attrNameLst>
                                      </p:cBhvr>
                                      <p:to>
                                        <p:strVal val="visible"/>
                                      </p:to>
                                    </p:set>
                                    <p:animEffect transition="in" filter="wipe(up)">
                                      <p:cBhvr>
                                        <p:cTn id="69"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p:bldP spid="6" grpId="0" animBg="1"/>
      <p:bldP spid="7" grpId="0" animBg="1"/>
      <p:bldP spid="11" grpId="0"/>
      <p:bldP spid="12" grpId="0"/>
      <p:bldP spid="25614" grpId="0"/>
      <p:bldP spid="25615" grpId="0"/>
      <p:bldP spid="16" grpId="0"/>
      <p:bldP spid="1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
            <a:extLst>
              <a:ext uri="{FF2B5EF4-FFF2-40B4-BE49-F238E27FC236}">
                <a16:creationId xmlns:a16="http://schemas.microsoft.com/office/drawing/2014/main" id="{0204997B-6505-C94A-A12F-90C9D6772797}"/>
              </a:ext>
            </a:extLst>
          </p:cNvPr>
          <p:cNvSpPr>
            <a:spLocks noChangeArrowheads="1"/>
          </p:cNvSpPr>
          <p:nvPr/>
        </p:nvSpPr>
        <p:spPr bwMode="auto">
          <a:xfrm>
            <a:off x="2371725" y="1214438"/>
            <a:ext cx="5414963" cy="1200150"/>
          </a:xfrm>
          <a:prstGeom prst="rect">
            <a:avLst/>
          </a:prstGeom>
          <a:solidFill>
            <a:schemeClr val="bg2">
              <a:lumMod val="10000"/>
              <a:lumOff val="90000"/>
            </a:schemeClr>
          </a:solidFill>
          <a:ln w="9525" algn="ctr">
            <a:noFill/>
            <a:miter lim="800000"/>
            <a:headEnd/>
            <a:tailEnd/>
          </a:ln>
          <a:effectLst>
            <a:outerShdw blurRad="50800" dist="38100" dir="2700000" algn="tl" rotWithShape="0">
              <a:prstClr val="black">
                <a:alpha val="40000"/>
              </a:prstClr>
            </a:outerShdw>
          </a:effectLst>
        </p:spPr>
        <p:txBody>
          <a:bodyPr>
            <a:spAutoFit/>
          </a:bodyPr>
          <a:lstStyle/>
          <a:p>
            <a:pPr>
              <a:lnSpc>
                <a:spcPct val="150000"/>
              </a:lnSpc>
              <a:defRPr/>
            </a:pPr>
            <a:r>
              <a:rPr lang="zh-CN" altLang="en-US" sz="2000" dirty="0">
                <a:solidFill>
                  <a:srgbClr val="0000CC"/>
                </a:solidFill>
                <a:latin typeface="微软雅黑" pitchFamily="34" charset="-122"/>
                <a:ea typeface="微软雅黑" pitchFamily="34" charset="-122"/>
              </a:rPr>
              <a:t>优</a:t>
            </a:r>
            <a:r>
              <a:rPr lang="zh-CN" altLang="en-US" sz="2000" dirty="0">
                <a:solidFill>
                  <a:srgbClr val="0000CC"/>
                </a:solidFill>
                <a:effectLst>
                  <a:outerShdw blurRad="38100" dist="38100" dir="2700000" algn="tl">
                    <a:srgbClr val="000000">
                      <a:alpha val="43137"/>
                    </a:srgbClr>
                  </a:outerShdw>
                </a:effectLst>
                <a:latin typeface="微软雅黑" pitchFamily="34" charset="-122"/>
                <a:ea typeface="微软雅黑" pitchFamily="34" charset="-122"/>
              </a:rPr>
              <a:t>点</a:t>
            </a:r>
            <a:r>
              <a:rPr lang="zh-CN" altLang="en-US" sz="2400" dirty="0">
                <a:solidFill>
                  <a:srgbClr val="0000CC"/>
                </a:solidFill>
                <a:latin typeface="+mn-ea"/>
                <a:ea typeface="+mn-ea"/>
              </a:rPr>
              <a:t>：</a:t>
            </a:r>
            <a:r>
              <a:rPr lang="zh-CN" altLang="en-US" sz="2000" dirty="0">
                <a:latin typeface="微软雅黑" pitchFamily="34" charset="-122"/>
                <a:ea typeface="微软雅黑" pitchFamily="34" charset="-122"/>
              </a:rPr>
              <a:t>设备较简单</a:t>
            </a:r>
            <a:r>
              <a:rPr lang="zh-CN" altLang="en-US" sz="2000" dirty="0">
                <a:latin typeface="+mn-ea"/>
                <a:ea typeface="+mn-ea"/>
              </a:rPr>
              <a:t>；</a:t>
            </a:r>
            <a:endParaRPr lang="en-US" altLang="zh-CN" sz="2000" dirty="0">
              <a:latin typeface="+mn-ea"/>
              <a:ea typeface="+mn-ea"/>
            </a:endParaRPr>
          </a:p>
          <a:p>
            <a:pPr>
              <a:lnSpc>
                <a:spcPct val="150000"/>
              </a:lnSpc>
              <a:defRPr/>
            </a:pPr>
            <a:r>
              <a:rPr lang="zh-CN" altLang="en-US" sz="2000" dirty="0">
                <a:solidFill>
                  <a:srgbClr val="0000CC"/>
                </a:solidFill>
                <a:latin typeface="微软雅黑" pitchFamily="34" charset="-122"/>
                <a:ea typeface="微软雅黑" pitchFamily="34" charset="-122"/>
              </a:rPr>
              <a:t>缺</a:t>
            </a:r>
            <a:r>
              <a:rPr lang="zh-CN" altLang="en-US" sz="2000" dirty="0">
                <a:solidFill>
                  <a:srgbClr val="0000CC"/>
                </a:solidFill>
                <a:effectLst>
                  <a:outerShdw blurRad="38100" dist="38100" dir="2700000" algn="tl">
                    <a:srgbClr val="000000">
                      <a:alpha val="43137"/>
                    </a:srgbClr>
                  </a:outerShdw>
                </a:effectLst>
                <a:latin typeface="微软雅黑" pitchFamily="34" charset="-122"/>
                <a:ea typeface="微软雅黑" pitchFamily="34" charset="-122"/>
              </a:rPr>
              <a:t>点</a:t>
            </a:r>
            <a:r>
              <a:rPr lang="zh-CN" altLang="en-US" sz="2400" dirty="0">
                <a:solidFill>
                  <a:srgbClr val="0000CC"/>
                </a:solidFill>
                <a:latin typeface="+mn-ea"/>
                <a:ea typeface="+mn-ea"/>
              </a:rPr>
              <a:t>：</a:t>
            </a:r>
            <a:r>
              <a:rPr lang="zh-CN" altLang="en-US" sz="2000" dirty="0">
                <a:latin typeface="微软雅黑" pitchFamily="34" charset="-122"/>
                <a:ea typeface="微软雅黑" pitchFamily="34" charset="-122"/>
              </a:rPr>
              <a:t>需要占用一定的频带宽带和发送功率。 </a:t>
            </a:r>
          </a:p>
        </p:txBody>
      </p:sp>
      <p:sp>
        <p:nvSpPr>
          <p:cNvPr id="7" name="Rectangle 102">
            <a:extLst>
              <a:ext uri="{FF2B5EF4-FFF2-40B4-BE49-F238E27FC236}">
                <a16:creationId xmlns:a16="http://schemas.microsoft.com/office/drawing/2014/main" id="{FB932C81-9A26-3B7A-3F54-67D58EEE80EC}"/>
              </a:ext>
            </a:extLst>
          </p:cNvPr>
          <p:cNvSpPr>
            <a:spLocks noChangeArrowheads="1"/>
          </p:cNvSpPr>
          <p:nvPr/>
        </p:nvSpPr>
        <p:spPr bwMode="auto">
          <a:xfrm>
            <a:off x="714375" y="3089275"/>
            <a:ext cx="1928813"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ct val="125000"/>
              </a:lnSpc>
              <a:buClr>
                <a:srgbClr val="FF0000"/>
              </a:buClr>
              <a:buSzPct val="90000"/>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cs typeface="Arial" panose="020B0604020202020204" pitchFamily="34" charset="0"/>
              </a:rPr>
              <a:t>时域</a:t>
            </a:r>
            <a:r>
              <a:rPr lang="zh-CN" altLang="zh-CN" sz="2400">
                <a:latin typeface="微软雅黑" panose="020B0503020204020204" pitchFamily="34" charset="-122"/>
                <a:ea typeface="微软雅黑" panose="020B0503020204020204" pitchFamily="34" charset="-122"/>
                <a:cs typeface="Arial" panose="020B0604020202020204" pitchFamily="34" charset="0"/>
              </a:rPr>
              <a:t>插入</a:t>
            </a:r>
            <a:endParaRPr lang="en-US" altLang="zh-CN" sz="2400">
              <a:latin typeface="微软雅黑" panose="020B0503020204020204" pitchFamily="34" charset="-122"/>
              <a:ea typeface="微软雅黑" panose="020B0503020204020204" pitchFamily="34" charset="-122"/>
              <a:cs typeface="Arial" panose="020B0604020202020204" pitchFamily="34" charset="0"/>
            </a:endParaRPr>
          </a:p>
        </p:txBody>
      </p:sp>
      <p:sp>
        <p:nvSpPr>
          <p:cNvPr id="8" name="Rectangle 102">
            <a:extLst>
              <a:ext uri="{FF2B5EF4-FFF2-40B4-BE49-F238E27FC236}">
                <a16:creationId xmlns:a16="http://schemas.microsoft.com/office/drawing/2014/main" id="{3DECB899-FC40-DE0D-AE13-59A18FAEA12C}"/>
              </a:ext>
            </a:extLst>
          </p:cNvPr>
          <p:cNvSpPr>
            <a:spLocks noChangeArrowheads="1"/>
          </p:cNvSpPr>
          <p:nvPr/>
        </p:nvSpPr>
        <p:spPr bwMode="auto">
          <a:xfrm>
            <a:off x="2371725" y="4014788"/>
            <a:ext cx="5414963" cy="1230312"/>
          </a:xfrm>
          <a:prstGeom prst="rect">
            <a:avLst/>
          </a:prstGeom>
          <a:solidFill>
            <a:schemeClr val="bg2">
              <a:lumMod val="10000"/>
              <a:lumOff val="90000"/>
            </a:schemeClr>
          </a:solidFill>
          <a:ln w="9525" algn="ctr">
            <a:noFill/>
            <a:miter lim="800000"/>
            <a:headEnd/>
            <a:tailEnd/>
          </a:ln>
          <a:effectLst>
            <a:outerShdw blurRad="50800" dist="38100" dir="2700000" algn="tl" rotWithShape="0">
              <a:prstClr val="black">
                <a:alpha val="40000"/>
              </a:prstClr>
            </a:outerShdw>
          </a:effectLst>
        </p:spPr>
        <p:txBody>
          <a:bodyPr>
            <a:spAutoFit/>
          </a:bodyPr>
          <a:lstStyle/>
          <a:p>
            <a:pPr>
              <a:lnSpc>
                <a:spcPct val="200000"/>
              </a:lnSpc>
              <a:defRPr/>
            </a:pPr>
            <a:r>
              <a:rPr lang="zh-CN" altLang="en-US" sz="2000" dirty="0">
                <a:latin typeface="微软雅黑" pitchFamily="34" charset="-122"/>
                <a:ea typeface="微软雅黑" pitchFamily="34" charset="-122"/>
              </a:rPr>
              <a:t>连续插入</a:t>
            </a:r>
          </a:p>
          <a:p>
            <a:pPr>
              <a:lnSpc>
                <a:spcPct val="200000"/>
              </a:lnSpc>
              <a:defRPr/>
            </a:pPr>
            <a:r>
              <a:rPr lang="zh-CN" altLang="en-US" sz="2000" dirty="0">
                <a:latin typeface="微软雅黑" pitchFamily="34" charset="-122"/>
                <a:ea typeface="微软雅黑" pitchFamily="34" charset="-122"/>
              </a:rPr>
              <a:t>增加“同步头”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10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strips(downRight)">
                                      <p:cBhvr>
                                        <p:cTn id="12" dur="2000"/>
                                        <p:tgtEl>
                                          <p:spTgt spid="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3249" name="Picture 1">
            <a:extLst>
              <a:ext uri="{FF2B5EF4-FFF2-40B4-BE49-F238E27FC236}">
                <a16:creationId xmlns:a16="http://schemas.microsoft.com/office/drawing/2014/main" id="{05FED79F-9492-0B04-5A63-004038E1BC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463" y="2500313"/>
            <a:ext cx="81502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6" name="矩形 4">
            <a:extLst>
              <a:ext uri="{FF2B5EF4-FFF2-40B4-BE49-F238E27FC236}">
                <a16:creationId xmlns:a16="http://schemas.microsoft.com/office/drawing/2014/main" id="{6AAEDBB5-603A-0C1C-D43F-6DC24A05D111}"/>
              </a:ext>
            </a:extLst>
          </p:cNvPr>
          <p:cNvSpPr>
            <a:spLocks noChangeArrowheads="1"/>
          </p:cNvSpPr>
          <p:nvPr/>
        </p:nvSpPr>
        <p:spPr bwMode="auto">
          <a:xfrm>
            <a:off x="144463" y="428625"/>
            <a:ext cx="34274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en-US" sz="3200" b="1">
                <a:solidFill>
                  <a:srgbClr val="800080"/>
                </a:solidFill>
                <a:latin typeface="Arial" panose="020B0604020202020204" pitchFamily="34" charset="0"/>
                <a:ea typeface="微软雅黑" panose="020B0503020204020204" pitchFamily="34" charset="-122"/>
                <a:cs typeface="Arial" panose="020B0604020202020204" pitchFamily="34" charset="0"/>
              </a:rPr>
              <a:t>13</a:t>
            </a:r>
            <a:r>
              <a:rPr lang="en-US" altLang="zh-CN" sz="3200" b="1">
                <a:solidFill>
                  <a:srgbClr val="800080"/>
                </a:solidFill>
                <a:latin typeface="Arial" panose="020B0604020202020204" pitchFamily="34" charset="0"/>
                <a:ea typeface="微软雅黑" panose="020B0503020204020204" pitchFamily="34" charset="-122"/>
                <a:cs typeface="Arial" panose="020B0604020202020204" pitchFamily="34" charset="0"/>
              </a:rPr>
              <a:t>.3.2</a:t>
            </a:r>
            <a:r>
              <a:rPr lang="zh-CN" altLang="en-US" sz="3200" b="1">
                <a:solidFill>
                  <a:srgbClr val="800080"/>
                </a:solidFill>
                <a:latin typeface="Arial" panose="020B0604020202020204" pitchFamily="34" charset="0"/>
                <a:ea typeface="微软雅黑" panose="020B0503020204020204" pitchFamily="34" charset="-122"/>
                <a:cs typeface="Arial" panose="020B0604020202020204" pitchFamily="34" charset="0"/>
              </a:rPr>
              <a:t>   </a:t>
            </a:r>
            <a:r>
              <a:rPr lang="zh-CN" altLang="en-US" sz="3200" b="1">
                <a:solidFill>
                  <a:srgbClr val="003399"/>
                </a:solidFill>
                <a:latin typeface="微软雅黑" panose="020B0503020204020204" pitchFamily="34" charset="-122"/>
                <a:ea typeface="微软雅黑" panose="020B0503020204020204" pitchFamily="34" charset="-122"/>
                <a:cs typeface="Arial" panose="020B0604020202020204" pitchFamily="34" charset="0"/>
              </a:rPr>
              <a:t>自同步法</a:t>
            </a:r>
            <a:r>
              <a:rPr lang="zh-CN" altLang="zh-CN" sz="3200" b="1">
                <a:solidFill>
                  <a:srgbClr val="003399"/>
                </a:solidFill>
                <a:latin typeface="微软雅黑" panose="020B0503020204020204" pitchFamily="34" charset="-122"/>
                <a:ea typeface="微软雅黑" panose="020B0503020204020204" pitchFamily="34" charset="-122"/>
                <a:cs typeface="Arial" panose="020B0604020202020204" pitchFamily="34" charset="0"/>
              </a:rPr>
              <a:t> </a:t>
            </a:r>
            <a:endParaRPr lang="zh-CN" altLang="en-US" sz="3200" b="1">
              <a:solidFill>
                <a:srgbClr val="800080"/>
              </a:solidFill>
              <a:latin typeface="Arial" panose="020B0604020202020204" pitchFamily="34" charset="0"/>
              <a:ea typeface="微软雅黑" panose="020B0503020204020204" pitchFamily="34" charset="-122"/>
              <a:cs typeface="Arial" panose="020B0604020202020204" pitchFamily="34" charset="0"/>
            </a:endParaRPr>
          </a:p>
        </p:txBody>
      </p:sp>
      <p:sp>
        <p:nvSpPr>
          <p:cNvPr id="9" name="矩形 8">
            <a:extLst>
              <a:ext uri="{FF2B5EF4-FFF2-40B4-BE49-F238E27FC236}">
                <a16:creationId xmlns:a16="http://schemas.microsoft.com/office/drawing/2014/main" id="{A0933A97-9BE1-28A0-6E77-0DE519A050F9}"/>
              </a:ext>
            </a:extLst>
          </p:cNvPr>
          <p:cNvSpPr/>
          <p:nvPr/>
        </p:nvSpPr>
        <p:spPr>
          <a:xfrm>
            <a:off x="7392988" y="538163"/>
            <a:ext cx="1108075" cy="461962"/>
          </a:xfrm>
          <a:prstGeom prst="rect">
            <a:avLst/>
          </a:prstGeom>
        </p:spPr>
        <p:txBody>
          <a:bodyPr wrap="none">
            <a:spAutoFit/>
          </a:bodyPr>
          <a:lstStyle/>
          <a:p>
            <a:pPr>
              <a:defRPr/>
            </a:pPr>
            <a:r>
              <a:rPr lang="zh-CN" altLang="en-US" sz="2400" dirty="0">
                <a:effectLst>
                  <a:outerShdw blurRad="38100" dist="38100" dir="2700000" algn="tl">
                    <a:srgbClr val="000000">
                      <a:alpha val="43137"/>
                    </a:srgbClr>
                  </a:outerShdw>
                </a:effectLst>
                <a:latin typeface="微软雅黑" pitchFamily="34" charset="-122"/>
                <a:ea typeface="微软雅黑" pitchFamily="34" charset="-122"/>
              </a:rPr>
              <a:t>位</a:t>
            </a:r>
            <a:r>
              <a:rPr lang="zh-CN" altLang="zh-CN" sz="2400" dirty="0">
                <a:effectLst>
                  <a:outerShdw blurRad="38100" dist="38100" dir="2700000" algn="tl">
                    <a:srgbClr val="000000">
                      <a:alpha val="43137"/>
                    </a:srgbClr>
                  </a:outerShdw>
                </a:effectLst>
                <a:latin typeface="微软雅黑" pitchFamily="34" charset="-122"/>
                <a:ea typeface="微软雅黑" pitchFamily="34" charset="-122"/>
              </a:rPr>
              <a:t>同步</a:t>
            </a:r>
            <a:endParaRPr lang="zh-CN" altLang="en-US" sz="2400" dirty="0">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10" name="Rectangle 102">
            <a:extLst>
              <a:ext uri="{FF2B5EF4-FFF2-40B4-BE49-F238E27FC236}">
                <a16:creationId xmlns:a16="http://schemas.microsoft.com/office/drawing/2014/main" id="{7A1C6EB7-CE03-3052-6392-F020816AF425}"/>
              </a:ext>
            </a:extLst>
          </p:cNvPr>
          <p:cNvSpPr>
            <a:spLocks noChangeArrowheads="1"/>
          </p:cNvSpPr>
          <p:nvPr/>
        </p:nvSpPr>
        <p:spPr bwMode="auto">
          <a:xfrm>
            <a:off x="714375" y="1357313"/>
            <a:ext cx="7786688" cy="523875"/>
          </a:xfrm>
          <a:prstGeom prst="rect">
            <a:avLst/>
          </a:prstGeom>
          <a:noFill/>
          <a:ln w="9525">
            <a:noFill/>
            <a:miter lim="800000"/>
            <a:headEnd/>
            <a:tailEnd/>
          </a:ln>
          <a:effectLst/>
        </p:spPr>
        <p:txBody>
          <a:bodyPr>
            <a:spAutoFit/>
          </a:bodyPr>
          <a:lstStyle/>
          <a:p>
            <a:pPr marL="342900" indent="-342900">
              <a:buClr>
                <a:srgbClr val="6600FF"/>
              </a:buClr>
              <a:buSzPct val="65000"/>
              <a:buFont typeface="Wingdings" pitchFamily="2" charset="2"/>
              <a:buNone/>
              <a:defRPr/>
            </a:pPr>
            <a:r>
              <a:rPr lang="en-US" altLang="zh-CN" sz="2800" b="1" dirty="0">
                <a:solidFill>
                  <a:srgbClr val="990099"/>
                </a:solidFill>
                <a:latin typeface="Arial" charset="0"/>
                <a:ea typeface="黑体" pitchFamily="2" charset="-122"/>
                <a:cs typeface="Arial" charset="0"/>
              </a:rPr>
              <a:t>1. </a:t>
            </a:r>
            <a:r>
              <a:rPr lang="zh-CN" altLang="en-US" sz="2800" b="1" dirty="0">
                <a:solidFill>
                  <a:srgbClr val="0000CC"/>
                </a:solidFill>
                <a:effectLst>
                  <a:outerShdw blurRad="38100" dist="38100" dir="2700000" algn="tl">
                    <a:srgbClr val="000000">
                      <a:alpha val="43137"/>
                    </a:srgbClr>
                  </a:outerShdw>
                </a:effectLst>
                <a:latin typeface="黑体" pitchFamily="2" charset="-122"/>
                <a:ea typeface="黑体" pitchFamily="2" charset="-122"/>
                <a:cs typeface="Arial" charset="0"/>
              </a:rPr>
              <a:t>开环码元同步法</a:t>
            </a:r>
            <a:endParaRPr lang="en-US" altLang="zh-CN" sz="2800" b="1" dirty="0">
              <a:solidFill>
                <a:srgbClr val="0000CC"/>
              </a:solidFill>
              <a:effectLst>
                <a:outerShdw blurRad="38100" dist="38100" dir="2700000" algn="tl">
                  <a:srgbClr val="000000">
                    <a:alpha val="43137"/>
                  </a:srgbClr>
                </a:outerShdw>
              </a:effectLst>
              <a:latin typeface="黑体" pitchFamily="2" charset="-122"/>
              <a:ea typeface="黑体" pitchFamily="2" charset="-122"/>
              <a:cs typeface="Arial" charset="0"/>
            </a:endParaRPr>
          </a:p>
        </p:txBody>
      </p:sp>
      <p:sp>
        <p:nvSpPr>
          <p:cNvPr id="11" name="Rectangle 102">
            <a:extLst>
              <a:ext uri="{FF2B5EF4-FFF2-40B4-BE49-F238E27FC236}">
                <a16:creationId xmlns:a16="http://schemas.microsoft.com/office/drawing/2014/main" id="{75E49A9B-0769-AF64-1555-8A3FAD14E3E4}"/>
              </a:ext>
            </a:extLst>
          </p:cNvPr>
          <p:cNvSpPr>
            <a:spLocks noChangeArrowheads="1"/>
          </p:cNvSpPr>
          <p:nvPr/>
        </p:nvSpPr>
        <p:spPr bwMode="auto">
          <a:xfrm>
            <a:off x="714375" y="4572000"/>
            <a:ext cx="7786688" cy="1016000"/>
          </a:xfrm>
          <a:prstGeom prst="rect">
            <a:avLst/>
          </a:prstGeom>
          <a:solidFill>
            <a:schemeClr val="bg2">
              <a:lumMod val="10000"/>
              <a:lumOff val="90000"/>
            </a:schemeClr>
          </a:solidFill>
          <a:ln w="9525">
            <a:noFill/>
            <a:miter lim="800000"/>
            <a:headEnd/>
            <a:tailEnd/>
          </a:ln>
          <a:effectLst>
            <a:outerShdw blurRad="50800" dist="38100" dir="2700000" algn="tl" rotWithShape="0">
              <a:prstClr val="black">
                <a:alpha val="40000"/>
              </a:prstClr>
            </a:outerShdw>
          </a:effectLst>
        </p:spPr>
        <p:txBody>
          <a:bodyPr>
            <a:spAutoFit/>
          </a:bodyPr>
          <a:lstStyle/>
          <a:p>
            <a:pPr marL="1714500" lvl="4" indent="-342900">
              <a:lnSpc>
                <a:spcPts val="3600"/>
              </a:lnSpc>
              <a:buClr>
                <a:srgbClr val="FF0000"/>
              </a:buClr>
              <a:buSzPct val="80000"/>
              <a:buFont typeface="Wingdings" pitchFamily="2" charset="2"/>
              <a:buChar char="n"/>
              <a:defRPr/>
            </a:pPr>
            <a:r>
              <a:rPr lang="zh-CN" altLang="en-US" sz="2400" dirty="0">
                <a:latin typeface="微软雅黑" pitchFamily="34" charset="-122"/>
                <a:ea typeface="微软雅黑" pitchFamily="34" charset="-122"/>
              </a:rPr>
              <a:t>延迟相乘法</a:t>
            </a:r>
            <a:endParaRPr lang="en-US" altLang="zh-CN" sz="2400" dirty="0">
              <a:latin typeface="微软雅黑" pitchFamily="34" charset="-122"/>
              <a:ea typeface="微软雅黑" pitchFamily="34" charset="-122"/>
            </a:endParaRPr>
          </a:p>
          <a:p>
            <a:pPr marL="1714500" lvl="4" indent="-342900">
              <a:lnSpc>
                <a:spcPts val="3600"/>
              </a:lnSpc>
              <a:buClr>
                <a:srgbClr val="FF0000"/>
              </a:buClr>
              <a:buSzPct val="80000"/>
              <a:buFont typeface="Wingdings" pitchFamily="2" charset="2"/>
              <a:buChar char="n"/>
              <a:defRPr/>
            </a:pPr>
            <a:r>
              <a:rPr lang="zh-CN" altLang="en-US" sz="2400" kern="0" dirty="0">
                <a:latin typeface="微软雅黑" pitchFamily="34" charset="-122"/>
                <a:ea typeface="微软雅黑" pitchFamily="34" charset="-122"/>
              </a:rPr>
              <a:t>微分整流法</a:t>
            </a:r>
            <a:endParaRPr lang="en-US" altLang="zh-CN" sz="2400" kern="0" dirty="0">
              <a:latin typeface="微软雅黑" pitchFamily="34" charset="-122"/>
              <a:ea typeface="微软雅黑" pitchFamily="34" charset="-122"/>
            </a:endParaRPr>
          </a:p>
        </p:txBody>
      </p:sp>
      <p:grpSp>
        <p:nvGrpSpPr>
          <p:cNvPr id="2" name="组合 57">
            <a:extLst>
              <a:ext uri="{FF2B5EF4-FFF2-40B4-BE49-F238E27FC236}">
                <a16:creationId xmlns:a16="http://schemas.microsoft.com/office/drawing/2014/main" id="{8B6F609E-D49D-68AD-2E4E-193EA417D751}"/>
              </a:ext>
            </a:extLst>
          </p:cNvPr>
          <p:cNvGrpSpPr>
            <a:grpSpLocks/>
          </p:cNvGrpSpPr>
          <p:nvPr/>
        </p:nvGrpSpPr>
        <p:grpSpPr bwMode="auto">
          <a:xfrm>
            <a:off x="642938" y="2428875"/>
            <a:ext cx="1000125" cy="571500"/>
            <a:chOff x="2686190" y="3242575"/>
            <a:chExt cx="999682" cy="571508"/>
          </a:xfrm>
        </p:grpSpPr>
        <p:sp>
          <p:nvSpPr>
            <p:cNvPr id="12" name="椭圆 11">
              <a:extLst>
                <a:ext uri="{FF2B5EF4-FFF2-40B4-BE49-F238E27FC236}">
                  <a16:creationId xmlns:a16="http://schemas.microsoft.com/office/drawing/2014/main" id="{70BACEEC-8BF0-A293-0CB2-ED8D507D3A00}"/>
                </a:ext>
              </a:extLst>
            </p:cNvPr>
            <p:cNvSpPr/>
            <p:nvPr/>
          </p:nvSpPr>
          <p:spPr bwMode="auto">
            <a:xfrm>
              <a:off x="2686190" y="3242575"/>
              <a:ext cx="999682" cy="571508"/>
            </a:xfrm>
            <a:prstGeom prst="ellipse">
              <a:avLst/>
            </a:prstGeom>
            <a:solidFill>
              <a:schemeClr val="bg2">
                <a:lumMod val="10000"/>
                <a:lumOff val="90000"/>
              </a:schemeClr>
            </a:solidFill>
            <a:ln w="9525" cap="flat" cmpd="sng" algn="ctr">
              <a:solidFill>
                <a:schemeClr val="tx2">
                  <a:lumMod val="60000"/>
                  <a:lumOff val="40000"/>
                </a:schemeClr>
              </a:solidFill>
              <a:prstDash val="solid"/>
              <a:miter lim="800000"/>
              <a:headEnd type="none" w="med" len="med"/>
              <a:tailEnd type="none" w="med" len="med"/>
            </a:ln>
            <a:effectLst>
              <a:outerShdw blurRad="50800" dist="38100" dir="18900000" algn="bl" rotWithShape="0">
                <a:prstClr val="black">
                  <a:alpha val="40000"/>
                </a:prstClr>
              </a:outerShdw>
            </a:effectLst>
          </p:spPr>
          <p:txBody>
            <a:bodyPr wrap="none"/>
            <a:lstStyle/>
            <a:p>
              <a:pPr>
                <a:defRPr/>
              </a:pPr>
              <a:endParaRPr lang="zh-CN" altLang="en-US" dirty="0">
                <a:solidFill>
                  <a:srgbClr val="0000CC"/>
                </a:solidFill>
                <a:effectLst>
                  <a:outerShdw blurRad="38100" dist="38100" dir="2700000" algn="tl">
                    <a:srgbClr val="000000">
                      <a:alpha val="43137"/>
                    </a:srgbClr>
                  </a:outerShdw>
                </a:effectLst>
                <a:ea typeface="宋体" charset="-122"/>
              </a:endParaRPr>
            </a:p>
          </p:txBody>
        </p:sp>
        <p:sp>
          <p:nvSpPr>
            <p:cNvPr id="52237" name="矩形 12">
              <a:extLst>
                <a:ext uri="{FF2B5EF4-FFF2-40B4-BE49-F238E27FC236}">
                  <a16:creationId xmlns:a16="http://schemas.microsoft.com/office/drawing/2014/main" id="{C9BD5F10-7A4E-B04E-E736-017C3F6E9309}"/>
                </a:ext>
              </a:extLst>
            </p:cNvPr>
            <p:cNvSpPr>
              <a:spLocks noChangeArrowheads="1"/>
            </p:cNvSpPr>
            <p:nvPr/>
          </p:nvSpPr>
          <p:spPr bwMode="auto">
            <a:xfrm>
              <a:off x="2743315" y="3285439"/>
              <a:ext cx="799746" cy="461968"/>
            </a:xfrm>
            <a:prstGeom prst="rect">
              <a:avLst/>
            </a:prstGeom>
            <a:noFill/>
            <a:ln w="9525">
              <a:noFill/>
              <a:miter lim="800000"/>
              <a:headEnd/>
              <a:tailEnd/>
            </a:ln>
          </p:spPr>
          <p:txBody>
            <a:bodyPr wrap="none">
              <a:spAutoFit/>
            </a:bodyPr>
            <a:lstStyle/>
            <a:p>
              <a:pPr>
                <a:defRPr/>
              </a:pPr>
              <a:r>
                <a:rPr lang="zh-CN" altLang="en-US" sz="2400" dirty="0">
                  <a:solidFill>
                    <a:srgbClr val="990099"/>
                  </a:solidFill>
                  <a:effectLst>
                    <a:outerShdw blurRad="38100" dist="38100" dir="2700000" algn="tl">
                      <a:srgbClr val="000000">
                        <a:alpha val="43137"/>
                      </a:srgbClr>
                    </a:outerShdw>
                  </a:effectLst>
                  <a:latin typeface="黑体" pitchFamily="2" charset="-122"/>
                  <a:ea typeface="黑体" pitchFamily="2" charset="-122"/>
                  <a:cs typeface="Arial" charset="0"/>
                </a:rPr>
                <a:t>思路</a:t>
              </a:r>
            </a:p>
          </p:txBody>
        </p:sp>
      </p:grpSp>
      <p:grpSp>
        <p:nvGrpSpPr>
          <p:cNvPr id="3" name="组合 57">
            <a:extLst>
              <a:ext uri="{FF2B5EF4-FFF2-40B4-BE49-F238E27FC236}">
                <a16:creationId xmlns:a16="http://schemas.microsoft.com/office/drawing/2014/main" id="{1510F0C3-58A9-DC60-47CB-BBFA62D5E93D}"/>
              </a:ext>
            </a:extLst>
          </p:cNvPr>
          <p:cNvGrpSpPr>
            <a:grpSpLocks/>
          </p:cNvGrpSpPr>
          <p:nvPr/>
        </p:nvGrpSpPr>
        <p:grpSpPr bwMode="auto">
          <a:xfrm>
            <a:off x="642938" y="4286250"/>
            <a:ext cx="1000125" cy="571500"/>
            <a:chOff x="2657626" y="3242594"/>
            <a:chExt cx="999680" cy="571508"/>
          </a:xfrm>
        </p:grpSpPr>
        <p:sp>
          <p:nvSpPr>
            <p:cNvPr id="15" name="椭圆 14">
              <a:extLst>
                <a:ext uri="{FF2B5EF4-FFF2-40B4-BE49-F238E27FC236}">
                  <a16:creationId xmlns:a16="http://schemas.microsoft.com/office/drawing/2014/main" id="{3FCEDFCC-AE42-51C7-DDF8-26F15620D74D}"/>
                </a:ext>
              </a:extLst>
            </p:cNvPr>
            <p:cNvSpPr/>
            <p:nvPr/>
          </p:nvSpPr>
          <p:spPr bwMode="auto">
            <a:xfrm>
              <a:off x="2657626" y="3242594"/>
              <a:ext cx="999680" cy="571508"/>
            </a:xfrm>
            <a:prstGeom prst="ellipse">
              <a:avLst/>
            </a:prstGeom>
            <a:solidFill>
              <a:schemeClr val="bg2">
                <a:lumMod val="10000"/>
                <a:lumOff val="90000"/>
              </a:schemeClr>
            </a:solidFill>
            <a:ln w="9525" cap="flat" cmpd="sng" algn="ctr">
              <a:solidFill>
                <a:schemeClr val="tx2">
                  <a:lumMod val="60000"/>
                  <a:lumOff val="40000"/>
                </a:schemeClr>
              </a:solidFill>
              <a:prstDash val="solid"/>
              <a:miter lim="800000"/>
              <a:headEnd type="none" w="med" len="med"/>
              <a:tailEnd type="none" w="med" len="med"/>
            </a:ln>
            <a:effectLst>
              <a:outerShdw blurRad="50800" dist="38100" dir="18900000" algn="bl" rotWithShape="0">
                <a:prstClr val="black">
                  <a:alpha val="40000"/>
                </a:prstClr>
              </a:outerShdw>
            </a:effectLst>
          </p:spPr>
          <p:txBody>
            <a:bodyPr wrap="none"/>
            <a:lstStyle/>
            <a:p>
              <a:pPr>
                <a:defRPr/>
              </a:pPr>
              <a:endParaRPr lang="zh-CN" altLang="en-US" dirty="0">
                <a:solidFill>
                  <a:srgbClr val="0000CC"/>
                </a:solidFill>
                <a:effectLst>
                  <a:outerShdw blurRad="38100" dist="38100" dir="2700000" algn="tl">
                    <a:srgbClr val="000000">
                      <a:alpha val="43137"/>
                    </a:srgbClr>
                  </a:outerShdw>
                </a:effectLst>
                <a:ea typeface="宋体" charset="-122"/>
              </a:endParaRPr>
            </a:p>
          </p:txBody>
        </p:sp>
        <p:sp>
          <p:nvSpPr>
            <p:cNvPr id="52235" name="矩形 15">
              <a:extLst>
                <a:ext uri="{FF2B5EF4-FFF2-40B4-BE49-F238E27FC236}">
                  <a16:creationId xmlns:a16="http://schemas.microsoft.com/office/drawing/2014/main" id="{01F2A011-CA17-C325-92E4-92EAD50777B9}"/>
                </a:ext>
              </a:extLst>
            </p:cNvPr>
            <p:cNvSpPr>
              <a:spLocks noChangeArrowheads="1"/>
            </p:cNvSpPr>
            <p:nvPr/>
          </p:nvSpPr>
          <p:spPr bwMode="auto">
            <a:xfrm>
              <a:off x="2714751" y="3285458"/>
              <a:ext cx="799744" cy="461968"/>
            </a:xfrm>
            <a:prstGeom prst="rect">
              <a:avLst/>
            </a:prstGeom>
            <a:noFill/>
            <a:ln w="9525">
              <a:noFill/>
              <a:miter lim="800000"/>
              <a:headEnd/>
              <a:tailEnd/>
            </a:ln>
          </p:spPr>
          <p:txBody>
            <a:bodyPr wrap="none">
              <a:spAutoFit/>
            </a:bodyPr>
            <a:lstStyle/>
            <a:p>
              <a:pPr>
                <a:defRPr/>
              </a:pPr>
              <a:r>
                <a:rPr lang="zh-CN" altLang="en-US" sz="2400" dirty="0">
                  <a:solidFill>
                    <a:srgbClr val="990099"/>
                  </a:solidFill>
                  <a:effectLst>
                    <a:outerShdw blurRad="38100" dist="38100" dir="2700000" algn="tl">
                      <a:srgbClr val="000000">
                        <a:alpha val="43137"/>
                      </a:srgbClr>
                    </a:outerShdw>
                  </a:effectLst>
                  <a:latin typeface="黑体" pitchFamily="2" charset="-122"/>
                  <a:ea typeface="黑体" pitchFamily="2" charset="-122"/>
                  <a:cs typeface="Arial" charset="0"/>
                </a:rPr>
                <a:t>方案</a:t>
              </a:r>
            </a:p>
          </p:txBody>
        </p:sp>
      </p:grpSp>
      <p:sp>
        <p:nvSpPr>
          <p:cNvPr id="13" name="矩形 12">
            <a:extLst>
              <a:ext uri="{FF2B5EF4-FFF2-40B4-BE49-F238E27FC236}">
                <a16:creationId xmlns:a16="http://schemas.microsoft.com/office/drawing/2014/main" id="{AA991CDE-728E-2D76-1D7D-A466008EAFF3}"/>
              </a:ext>
            </a:extLst>
          </p:cNvPr>
          <p:cNvSpPr/>
          <p:nvPr/>
        </p:nvSpPr>
        <p:spPr>
          <a:xfrm>
            <a:off x="5969000" y="4857750"/>
            <a:ext cx="2032000" cy="461963"/>
          </a:xfrm>
          <a:prstGeom prst="rect">
            <a:avLst/>
          </a:prstGeom>
        </p:spPr>
        <p:txBody>
          <a:bodyPr wrap="none">
            <a:spAutoFit/>
          </a:bodyPr>
          <a:lstStyle/>
          <a:p>
            <a:pPr>
              <a:defRPr/>
            </a:pPr>
            <a:r>
              <a:rPr lang="zh-CN" altLang="en-US" sz="2400" kern="0" dirty="0">
                <a:solidFill>
                  <a:srgbClr val="990099"/>
                </a:solidFill>
                <a:effectLst>
                  <a:outerShdw blurRad="38100" dist="38100" dir="2700000" algn="tl">
                    <a:srgbClr val="000000">
                      <a:alpha val="43137"/>
                    </a:srgbClr>
                  </a:outerShdw>
                </a:effectLst>
                <a:latin typeface="微软雅黑" pitchFamily="34" charset="-122"/>
                <a:ea typeface="微软雅黑" pitchFamily="34" charset="-122"/>
              </a:rPr>
              <a:t>“异曲同工”</a:t>
            </a:r>
            <a:endParaRPr lang="zh-CN" altLang="en-US" sz="2400" dirty="0">
              <a:solidFill>
                <a:srgbClr val="990099"/>
              </a:solidFill>
              <a:effectLst>
                <a:outerShdw blurRad="38100" dist="38100" dir="2700000" algn="tl">
                  <a:srgbClr val="000000">
                    <a:alpha val="43137"/>
                  </a:srgbClr>
                </a:outerShdw>
              </a:effectLst>
              <a:ea typeface="宋体"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2226"/>
                                        </p:tgtEl>
                                        <p:attrNameLst>
                                          <p:attrName>style.visibility</p:attrName>
                                        </p:attrNameLst>
                                      </p:cBhvr>
                                      <p:to>
                                        <p:strVal val="visible"/>
                                      </p:to>
                                    </p:set>
                                    <p:animEffect transition="in" filter="wipe(left)">
                                      <p:cBhvr>
                                        <p:cTn id="7" dur="1000"/>
                                        <p:tgtEl>
                                          <p:spTgt spid="522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up)">
                                      <p:cBhvr>
                                        <p:cTn id="12" dur="10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up)">
                                      <p:cBhvr>
                                        <p:cTn id="17" dur="10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53249"/>
                                        </p:tgtEl>
                                        <p:attrNameLst>
                                          <p:attrName>style.visibility</p:attrName>
                                        </p:attrNameLst>
                                      </p:cBhvr>
                                      <p:to>
                                        <p:strVal val="visible"/>
                                      </p:to>
                                    </p:set>
                                    <p:animEffect transition="in" filter="wipe(up)">
                                      <p:cBhvr>
                                        <p:cTn id="22" dur="1000"/>
                                        <p:tgtEl>
                                          <p:spTgt spid="5324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up)">
                                      <p:cBhvr>
                                        <p:cTn id="27" dur="1000"/>
                                        <p:tgtEl>
                                          <p:spTgt spid="3"/>
                                        </p:tgtEl>
                                      </p:cBhvr>
                                    </p:animEffect>
                                  </p:childTnLst>
                                </p:cTn>
                              </p:par>
                              <p:par>
                                <p:cTn id="28" presetID="22" presetClass="entr" presetSubtype="1"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up)">
                                      <p:cBhvr>
                                        <p:cTn id="30" dur="2000"/>
                                        <p:tgtEl>
                                          <p:spTgt spid="11"/>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left)">
                                      <p:cBhvr>
                                        <p:cTn id="35"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p:bldP spid="10" grpId="0"/>
      <p:bldP spid="11" grpId="0" animBg="1"/>
      <p:bldP spid="13" grpId="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7357" name="Picture 13">
            <a:extLst>
              <a:ext uri="{FF2B5EF4-FFF2-40B4-BE49-F238E27FC236}">
                <a16:creationId xmlns:a16="http://schemas.microsoft.com/office/drawing/2014/main" id="{AF035D79-8773-72B2-C52F-7ED1719EB1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1688" y="1373188"/>
            <a:ext cx="5856287" cy="1341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61C17812-F521-AF41-F334-42378F99B47E}"/>
              </a:ext>
            </a:extLst>
          </p:cNvPr>
          <p:cNvSpPr/>
          <p:nvPr/>
        </p:nvSpPr>
        <p:spPr>
          <a:xfrm>
            <a:off x="142875" y="998538"/>
            <a:ext cx="2571750" cy="501650"/>
          </a:xfrm>
          <a:prstGeom prst="rect">
            <a:avLst/>
          </a:prstGeom>
        </p:spPr>
        <p:txBody>
          <a:bodyPr>
            <a:spAutoFit/>
          </a:bodyPr>
          <a:lstStyle/>
          <a:p>
            <a:pPr marL="742950" lvl="1" indent="-285750" eaLnBrk="0" hangingPunct="0">
              <a:lnSpc>
                <a:spcPts val="3500"/>
              </a:lnSpc>
              <a:spcBef>
                <a:spcPct val="20000"/>
              </a:spcBef>
              <a:buClr>
                <a:srgbClr val="FF0000"/>
              </a:buClr>
              <a:buSzPct val="80000"/>
              <a:buFont typeface="Wingdings" pitchFamily="2" charset="2"/>
              <a:buChar char="n"/>
              <a:defRPr/>
            </a:pPr>
            <a:r>
              <a:rPr lang="zh-CN" altLang="en-US" sz="2400" b="1" dirty="0">
                <a:latin typeface="微软雅黑" pitchFamily="34" charset="-122"/>
                <a:ea typeface="微软雅黑" pitchFamily="34" charset="-122"/>
              </a:rPr>
              <a:t>延迟相乘法</a:t>
            </a:r>
            <a:endParaRPr lang="zh-CN" altLang="en-US" sz="2400" b="1" kern="0" dirty="0">
              <a:solidFill>
                <a:srgbClr val="000099"/>
              </a:solidFill>
              <a:latin typeface="微软雅黑" pitchFamily="34" charset="-122"/>
              <a:ea typeface="微软雅黑" pitchFamily="34" charset="-122"/>
            </a:endParaRPr>
          </a:p>
        </p:txBody>
      </p:sp>
      <p:sp>
        <p:nvSpPr>
          <p:cNvPr id="49156" name="矩形 5">
            <a:extLst>
              <a:ext uri="{FF2B5EF4-FFF2-40B4-BE49-F238E27FC236}">
                <a16:creationId xmlns:a16="http://schemas.microsoft.com/office/drawing/2014/main" id="{9CFD5DC8-087D-57CE-33E2-E33C5E37E5E1}"/>
              </a:ext>
            </a:extLst>
          </p:cNvPr>
          <p:cNvSpPr>
            <a:spLocks noChangeArrowheads="1"/>
          </p:cNvSpPr>
          <p:nvPr/>
        </p:nvSpPr>
        <p:spPr bwMode="auto">
          <a:xfrm>
            <a:off x="2286000" y="-25868313"/>
            <a:ext cx="4572000"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lvl="3" eaLnBrk="1" hangingPunct="1">
              <a:lnSpc>
                <a:spcPct val="90000"/>
              </a:lnSpc>
            </a:pPr>
            <a:r>
              <a:rPr lang="zh-CN" altLang="en-US" sz="2000">
                <a:latin typeface="微软雅黑" panose="020B0503020204020204" pitchFamily="34" charset="-122"/>
                <a:ea typeface="微软雅黑" panose="020B0503020204020204" pitchFamily="34" charset="-122"/>
              </a:rPr>
              <a:t>相乘器输入和输出的波形：</a:t>
            </a:r>
          </a:p>
          <a:p>
            <a:pPr lvl="3" eaLnBrk="1" hangingPunct="1">
              <a:lnSpc>
                <a:spcPct val="90000"/>
              </a:lnSpc>
              <a:buFont typeface="Wingdings" panose="05000000000000000000" pitchFamily="2" charset="2"/>
              <a:buNone/>
            </a:pPr>
            <a:r>
              <a:rPr lang="zh-CN" altLang="en-US" sz="2000">
                <a:latin typeface="微软雅黑" panose="020B0503020204020204" pitchFamily="34" charset="-122"/>
                <a:ea typeface="微软雅黑" panose="020B0503020204020204" pitchFamily="34" charset="-122"/>
              </a:rPr>
              <a:t>	延迟相乘后码元波形的后一</a:t>
            </a:r>
          </a:p>
          <a:p>
            <a:pPr lvl="3" eaLnBrk="1" hangingPunct="1">
              <a:lnSpc>
                <a:spcPct val="90000"/>
              </a:lnSpc>
              <a:buFont typeface="Wingdings" panose="05000000000000000000" pitchFamily="2" charset="2"/>
              <a:buNone/>
            </a:pPr>
            <a:r>
              <a:rPr lang="zh-CN" altLang="en-US" sz="2000">
                <a:latin typeface="微软雅黑" panose="020B0503020204020204" pitchFamily="34" charset="-122"/>
                <a:ea typeface="微软雅黑" panose="020B0503020204020204" pitchFamily="34" charset="-122"/>
              </a:rPr>
              <a:t>	半永远是正值；而前一半则</a:t>
            </a:r>
          </a:p>
          <a:p>
            <a:pPr lvl="3" eaLnBrk="1" hangingPunct="1">
              <a:lnSpc>
                <a:spcPct val="90000"/>
              </a:lnSpc>
              <a:buFont typeface="Wingdings" panose="05000000000000000000" pitchFamily="2" charset="2"/>
              <a:buNone/>
            </a:pPr>
            <a:r>
              <a:rPr lang="zh-CN" altLang="en-US" sz="2000">
                <a:latin typeface="微软雅黑" panose="020B0503020204020204" pitchFamily="34" charset="-122"/>
                <a:ea typeface="微软雅黑" panose="020B0503020204020204" pitchFamily="34" charset="-122"/>
              </a:rPr>
              <a:t>	当输入状态有改变时为负值。</a:t>
            </a:r>
          </a:p>
          <a:p>
            <a:pPr lvl="3" eaLnBrk="1" hangingPunct="1">
              <a:lnSpc>
                <a:spcPct val="90000"/>
              </a:lnSpc>
              <a:buFont typeface="Wingdings" panose="05000000000000000000" pitchFamily="2" charset="2"/>
              <a:buNone/>
            </a:pPr>
            <a:r>
              <a:rPr lang="zh-CN" altLang="en-US" sz="2000">
                <a:latin typeface="微软雅黑" panose="020B0503020204020204" pitchFamily="34" charset="-122"/>
                <a:ea typeface="微软雅黑" panose="020B0503020204020204" pitchFamily="34" charset="-122"/>
              </a:rPr>
              <a:t>	因此，变换后的码元序列的</a:t>
            </a:r>
          </a:p>
          <a:p>
            <a:pPr lvl="3" eaLnBrk="1" hangingPunct="1">
              <a:lnSpc>
                <a:spcPct val="90000"/>
              </a:lnSpc>
              <a:buFont typeface="Wingdings" panose="05000000000000000000" pitchFamily="2" charset="2"/>
              <a:buNone/>
            </a:pPr>
            <a:r>
              <a:rPr lang="zh-CN" altLang="en-US" sz="2000">
                <a:latin typeface="微软雅黑" panose="020B0503020204020204" pitchFamily="34" charset="-122"/>
                <a:ea typeface="微软雅黑" panose="020B0503020204020204" pitchFamily="34" charset="-122"/>
              </a:rPr>
              <a:t>	频谱中就产生了码元速率的</a:t>
            </a:r>
          </a:p>
          <a:p>
            <a:pPr lvl="3" eaLnBrk="1" hangingPunct="1">
              <a:lnSpc>
                <a:spcPct val="90000"/>
              </a:lnSpc>
              <a:buFont typeface="Wingdings" panose="05000000000000000000" pitchFamily="2" charset="2"/>
              <a:buNone/>
            </a:pPr>
            <a:r>
              <a:rPr lang="zh-CN" altLang="en-US" sz="2000">
                <a:latin typeface="微软雅黑" panose="020B0503020204020204" pitchFamily="34" charset="-122"/>
                <a:ea typeface="微软雅黑" panose="020B0503020204020204" pitchFamily="34" charset="-122"/>
              </a:rPr>
              <a:t>	分量。</a:t>
            </a:r>
          </a:p>
          <a:p>
            <a:pPr lvl="3" eaLnBrk="1" hangingPunct="1">
              <a:lnSpc>
                <a:spcPct val="90000"/>
              </a:lnSpc>
            </a:pPr>
            <a:r>
              <a:rPr lang="zh-CN" altLang="en-US" sz="2000">
                <a:latin typeface="微软雅黑" panose="020B0503020204020204" pitchFamily="34" charset="-122"/>
                <a:ea typeface="微软雅黑" panose="020B0503020204020204" pitchFamily="34" charset="-122"/>
              </a:rPr>
              <a:t>延迟时间等于码元时间一半</a:t>
            </a:r>
          </a:p>
          <a:p>
            <a:pPr lvl="3" eaLnBrk="1" hangingPunct="1">
              <a:lnSpc>
                <a:spcPct val="90000"/>
              </a:lnSpc>
              <a:buFont typeface="Wingdings" panose="05000000000000000000" pitchFamily="2" charset="2"/>
              <a:buNone/>
            </a:pPr>
            <a:r>
              <a:rPr lang="zh-CN" altLang="en-US" sz="2000">
                <a:latin typeface="微软雅黑" panose="020B0503020204020204" pitchFamily="34" charset="-122"/>
                <a:ea typeface="微软雅黑" panose="020B0503020204020204" pitchFamily="34" charset="-122"/>
              </a:rPr>
              <a:t>	时，码元速率分量最强。</a:t>
            </a:r>
          </a:p>
        </p:txBody>
      </p:sp>
      <p:grpSp>
        <p:nvGrpSpPr>
          <p:cNvPr id="2" name="组合 94">
            <a:extLst>
              <a:ext uri="{FF2B5EF4-FFF2-40B4-BE49-F238E27FC236}">
                <a16:creationId xmlns:a16="http://schemas.microsoft.com/office/drawing/2014/main" id="{E0A8FF77-39E2-B3CE-A756-FBE038A2D1D6}"/>
              </a:ext>
            </a:extLst>
          </p:cNvPr>
          <p:cNvGrpSpPr>
            <a:grpSpLocks/>
          </p:cNvGrpSpPr>
          <p:nvPr/>
        </p:nvGrpSpPr>
        <p:grpSpPr bwMode="auto">
          <a:xfrm>
            <a:off x="642938" y="3186113"/>
            <a:ext cx="3000375" cy="2884487"/>
            <a:chOff x="642910" y="3186860"/>
            <a:chExt cx="3000396" cy="2882966"/>
          </a:xfrm>
        </p:grpSpPr>
        <p:grpSp>
          <p:nvGrpSpPr>
            <p:cNvPr id="3" name="组合 107">
              <a:extLst>
                <a:ext uri="{FF2B5EF4-FFF2-40B4-BE49-F238E27FC236}">
                  <a16:creationId xmlns:a16="http://schemas.microsoft.com/office/drawing/2014/main" id="{539C558C-E82D-7E70-A73F-B84420B463ED}"/>
                </a:ext>
              </a:extLst>
            </p:cNvPr>
            <p:cNvGrpSpPr/>
            <p:nvPr/>
          </p:nvGrpSpPr>
          <p:grpSpPr>
            <a:xfrm>
              <a:off x="642910" y="3186860"/>
              <a:ext cx="3000396" cy="2882966"/>
              <a:chOff x="928662" y="3186863"/>
              <a:chExt cx="3000396" cy="2882966"/>
            </a:xfrm>
            <a:effectLst>
              <a:glow rad="63500">
                <a:schemeClr val="accent2">
                  <a:satMod val="175000"/>
                  <a:alpha val="40000"/>
                </a:schemeClr>
              </a:glow>
            </a:effectLst>
          </p:grpSpPr>
          <p:grpSp>
            <p:nvGrpSpPr>
              <p:cNvPr id="4" name="Group 8">
                <a:extLst>
                  <a:ext uri="{FF2B5EF4-FFF2-40B4-BE49-F238E27FC236}">
                    <a16:creationId xmlns:a16="http://schemas.microsoft.com/office/drawing/2014/main" id="{4853C8AE-3C98-BCDC-CA74-0D6D81637931}"/>
                  </a:ext>
                </a:extLst>
              </p:cNvPr>
              <p:cNvGrpSpPr>
                <a:grpSpLocks/>
              </p:cNvGrpSpPr>
              <p:nvPr/>
            </p:nvGrpSpPr>
            <p:grpSpPr bwMode="auto">
              <a:xfrm>
                <a:off x="1313353" y="3328382"/>
                <a:ext cx="2142117" cy="690131"/>
                <a:chOff x="6424" y="8621"/>
                <a:chExt cx="2693" cy="868"/>
              </a:xfrm>
            </p:grpSpPr>
            <p:sp>
              <p:nvSpPr>
                <p:cNvPr id="57354" name="Line 10">
                  <a:extLst>
                    <a:ext uri="{FF2B5EF4-FFF2-40B4-BE49-F238E27FC236}">
                      <a16:creationId xmlns:a16="http://schemas.microsoft.com/office/drawing/2014/main" id="{900B5533-5EF5-70D7-6F87-D0BA0A895E83}"/>
                    </a:ext>
                  </a:extLst>
                </p:cNvPr>
                <p:cNvSpPr>
                  <a:spLocks noChangeShapeType="1"/>
                </p:cNvSpPr>
                <p:nvPr/>
              </p:nvSpPr>
              <p:spPr bwMode="auto">
                <a:xfrm>
                  <a:off x="6424" y="9474"/>
                  <a:ext cx="376" cy="0"/>
                </a:xfrm>
                <a:prstGeom prst="line">
                  <a:avLst/>
                </a:prstGeom>
                <a:noFill/>
                <a:ln w="28575">
                  <a:solidFill>
                    <a:schemeClr val="tx1"/>
                  </a:solidFill>
                  <a:round/>
                  <a:headEnd/>
                  <a:tailEnd/>
                </a:ln>
              </p:spPr>
              <p:txBody>
                <a:bodyPr/>
                <a:lstStyle/>
                <a:p>
                  <a:pPr>
                    <a:defRPr/>
                  </a:pPr>
                  <a:endParaRPr lang="zh-CN" altLang="en-US">
                    <a:ea typeface="宋体" charset="-122"/>
                  </a:endParaRPr>
                </a:p>
              </p:txBody>
            </p:sp>
            <p:sp>
              <p:nvSpPr>
                <p:cNvPr id="57358" name="Line 14">
                  <a:extLst>
                    <a:ext uri="{FF2B5EF4-FFF2-40B4-BE49-F238E27FC236}">
                      <a16:creationId xmlns:a16="http://schemas.microsoft.com/office/drawing/2014/main" id="{73B5A2EB-7C89-6E72-4446-9005824E9CEC}"/>
                    </a:ext>
                  </a:extLst>
                </p:cNvPr>
                <p:cNvSpPr>
                  <a:spLocks noChangeShapeType="1"/>
                </p:cNvSpPr>
                <p:nvPr/>
              </p:nvSpPr>
              <p:spPr bwMode="auto">
                <a:xfrm flipH="1" flipV="1">
                  <a:off x="7557" y="8638"/>
                  <a:ext cx="2" cy="831"/>
                </a:xfrm>
                <a:prstGeom prst="line">
                  <a:avLst/>
                </a:prstGeom>
                <a:noFill/>
                <a:ln w="28575">
                  <a:solidFill>
                    <a:schemeClr val="tx1"/>
                  </a:solidFill>
                  <a:round/>
                  <a:headEnd/>
                  <a:tailEnd/>
                </a:ln>
              </p:spPr>
              <p:txBody>
                <a:bodyPr/>
                <a:lstStyle/>
                <a:p>
                  <a:pPr>
                    <a:defRPr/>
                  </a:pPr>
                  <a:endParaRPr lang="zh-CN" altLang="en-US">
                    <a:ea typeface="宋体" charset="-122"/>
                  </a:endParaRPr>
                </a:p>
              </p:txBody>
            </p:sp>
            <p:sp>
              <p:nvSpPr>
                <p:cNvPr id="57359" name="Line 15">
                  <a:extLst>
                    <a:ext uri="{FF2B5EF4-FFF2-40B4-BE49-F238E27FC236}">
                      <a16:creationId xmlns:a16="http://schemas.microsoft.com/office/drawing/2014/main" id="{32E79C5F-1F19-DA2F-E718-3BA14E1D4E5E}"/>
                    </a:ext>
                  </a:extLst>
                </p:cNvPr>
                <p:cNvSpPr>
                  <a:spLocks noChangeShapeType="1"/>
                </p:cNvSpPr>
                <p:nvPr/>
              </p:nvSpPr>
              <p:spPr bwMode="auto">
                <a:xfrm>
                  <a:off x="8741" y="8635"/>
                  <a:ext cx="376" cy="0"/>
                </a:xfrm>
                <a:prstGeom prst="line">
                  <a:avLst/>
                </a:prstGeom>
                <a:noFill/>
                <a:ln w="28575">
                  <a:solidFill>
                    <a:schemeClr val="tx1"/>
                  </a:solidFill>
                  <a:round/>
                  <a:headEnd/>
                  <a:tailEnd/>
                </a:ln>
              </p:spPr>
              <p:txBody>
                <a:bodyPr/>
                <a:lstStyle/>
                <a:p>
                  <a:pPr>
                    <a:defRPr/>
                  </a:pPr>
                  <a:endParaRPr lang="zh-CN" altLang="en-US">
                    <a:ea typeface="宋体" charset="-122"/>
                  </a:endParaRPr>
                </a:p>
              </p:txBody>
            </p:sp>
            <p:sp>
              <p:nvSpPr>
                <p:cNvPr id="57361" name="Line 17">
                  <a:extLst>
                    <a:ext uri="{FF2B5EF4-FFF2-40B4-BE49-F238E27FC236}">
                      <a16:creationId xmlns:a16="http://schemas.microsoft.com/office/drawing/2014/main" id="{E146ECAE-82A9-B04C-3D1F-6E2B195AEBC0}"/>
                    </a:ext>
                  </a:extLst>
                </p:cNvPr>
                <p:cNvSpPr>
                  <a:spLocks noChangeShapeType="1"/>
                </p:cNvSpPr>
                <p:nvPr/>
              </p:nvSpPr>
              <p:spPr bwMode="auto">
                <a:xfrm>
                  <a:off x="7575" y="9475"/>
                  <a:ext cx="376" cy="0"/>
                </a:xfrm>
                <a:prstGeom prst="line">
                  <a:avLst/>
                </a:prstGeom>
                <a:noFill/>
                <a:ln w="28575">
                  <a:solidFill>
                    <a:schemeClr val="tx1"/>
                  </a:solidFill>
                  <a:round/>
                  <a:headEnd/>
                  <a:tailEnd/>
                </a:ln>
              </p:spPr>
              <p:txBody>
                <a:bodyPr/>
                <a:lstStyle/>
                <a:p>
                  <a:pPr>
                    <a:defRPr/>
                  </a:pPr>
                  <a:endParaRPr lang="zh-CN" altLang="en-US">
                    <a:ea typeface="宋体" charset="-122"/>
                  </a:endParaRPr>
                </a:p>
              </p:txBody>
            </p:sp>
            <p:sp>
              <p:nvSpPr>
                <p:cNvPr id="57364" name="Line 20">
                  <a:extLst>
                    <a:ext uri="{FF2B5EF4-FFF2-40B4-BE49-F238E27FC236}">
                      <a16:creationId xmlns:a16="http://schemas.microsoft.com/office/drawing/2014/main" id="{4E56F787-2E4D-111F-6AD9-D9C9AA3EA3D7}"/>
                    </a:ext>
                  </a:extLst>
                </p:cNvPr>
                <p:cNvSpPr>
                  <a:spLocks noChangeShapeType="1"/>
                </p:cNvSpPr>
                <p:nvPr/>
              </p:nvSpPr>
              <p:spPr bwMode="auto">
                <a:xfrm>
                  <a:off x="7970" y="8644"/>
                  <a:ext cx="376" cy="0"/>
                </a:xfrm>
                <a:prstGeom prst="line">
                  <a:avLst/>
                </a:prstGeom>
                <a:noFill/>
                <a:ln w="28575">
                  <a:solidFill>
                    <a:schemeClr val="tx1"/>
                  </a:solidFill>
                  <a:round/>
                  <a:headEnd/>
                  <a:tailEnd/>
                </a:ln>
              </p:spPr>
              <p:txBody>
                <a:bodyPr/>
                <a:lstStyle/>
                <a:p>
                  <a:pPr>
                    <a:defRPr/>
                  </a:pPr>
                  <a:endParaRPr lang="zh-CN" altLang="en-US">
                    <a:ea typeface="宋体" charset="-122"/>
                  </a:endParaRPr>
                </a:p>
              </p:txBody>
            </p:sp>
            <p:sp>
              <p:nvSpPr>
                <p:cNvPr id="57367" name="Line 23">
                  <a:extLst>
                    <a:ext uri="{FF2B5EF4-FFF2-40B4-BE49-F238E27FC236}">
                      <a16:creationId xmlns:a16="http://schemas.microsoft.com/office/drawing/2014/main" id="{1B0C9D5F-73C0-A1AB-8750-F80E2315FA56}"/>
                    </a:ext>
                  </a:extLst>
                </p:cNvPr>
                <p:cNvSpPr>
                  <a:spLocks noChangeShapeType="1"/>
                </p:cNvSpPr>
                <p:nvPr/>
              </p:nvSpPr>
              <p:spPr bwMode="auto">
                <a:xfrm>
                  <a:off x="8365" y="9475"/>
                  <a:ext cx="376" cy="0"/>
                </a:xfrm>
                <a:prstGeom prst="line">
                  <a:avLst/>
                </a:prstGeom>
                <a:noFill/>
                <a:ln w="28575">
                  <a:solidFill>
                    <a:schemeClr val="tx1"/>
                  </a:solidFill>
                  <a:round/>
                  <a:headEnd/>
                  <a:tailEnd/>
                </a:ln>
              </p:spPr>
              <p:txBody>
                <a:bodyPr/>
                <a:lstStyle/>
                <a:p>
                  <a:pPr>
                    <a:defRPr/>
                  </a:pPr>
                  <a:endParaRPr lang="zh-CN" altLang="en-US">
                    <a:ea typeface="宋体" charset="-122"/>
                  </a:endParaRPr>
                </a:p>
              </p:txBody>
            </p:sp>
            <p:sp>
              <p:nvSpPr>
                <p:cNvPr id="92" name="Line 14">
                  <a:extLst>
                    <a:ext uri="{FF2B5EF4-FFF2-40B4-BE49-F238E27FC236}">
                      <a16:creationId xmlns:a16="http://schemas.microsoft.com/office/drawing/2014/main" id="{3BB5289E-AD52-F5BC-8CA2-B9BFDE9DF16F}"/>
                    </a:ext>
                  </a:extLst>
                </p:cNvPr>
                <p:cNvSpPr>
                  <a:spLocks noChangeShapeType="1"/>
                </p:cNvSpPr>
                <p:nvPr/>
              </p:nvSpPr>
              <p:spPr bwMode="auto">
                <a:xfrm flipH="1" flipV="1">
                  <a:off x="7952" y="8640"/>
                  <a:ext cx="2" cy="831"/>
                </a:xfrm>
                <a:prstGeom prst="line">
                  <a:avLst/>
                </a:prstGeom>
                <a:noFill/>
                <a:ln w="28575">
                  <a:solidFill>
                    <a:schemeClr val="tx1"/>
                  </a:solidFill>
                  <a:round/>
                  <a:headEnd/>
                  <a:tailEnd/>
                </a:ln>
              </p:spPr>
              <p:txBody>
                <a:bodyPr/>
                <a:lstStyle/>
                <a:p>
                  <a:pPr>
                    <a:defRPr/>
                  </a:pPr>
                  <a:endParaRPr lang="zh-CN" altLang="en-US">
                    <a:ea typeface="宋体" charset="-122"/>
                  </a:endParaRPr>
                </a:p>
              </p:txBody>
            </p:sp>
            <p:sp>
              <p:nvSpPr>
                <p:cNvPr id="93" name="Line 14">
                  <a:extLst>
                    <a:ext uri="{FF2B5EF4-FFF2-40B4-BE49-F238E27FC236}">
                      <a16:creationId xmlns:a16="http://schemas.microsoft.com/office/drawing/2014/main" id="{B816E834-177D-B7F4-6E4A-17E063AF75BE}"/>
                    </a:ext>
                  </a:extLst>
                </p:cNvPr>
                <p:cNvSpPr>
                  <a:spLocks noChangeShapeType="1"/>
                </p:cNvSpPr>
                <p:nvPr/>
              </p:nvSpPr>
              <p:spPr bwMode="auto">
                <a:xfrm flipH="1" flipV="1">
                  <a:off x="8743" y="8621"/>
                  <a:ext cx="2" cy="831"/>
                </a:xfrm>
                <a:prstGeom prst="line">
                  <a:avLst/>
                </a:prstGeom>
                <a:noFill/>
                <a:ln w="28575">
                  <a:solidFill>
                    <a:schemeClr val="tx1"/>
                  </a:solidFill>
                  <a:round/>
                  <a:headEnd/>
                  <a:tailEnd/>
                </a:ln>
              </p:spPr>
              <p:txBody>
                <a:bodyPr/>
                <a:lstStyle/>
                <a:p>
                  <a:pPr>
                    <a:defRPr/>
                  </a:pPr>
                  <a:endParaRPr lang="zh-CN" altLang="en-US">
                    <a:ea typeface="宋体" charset="-122"/>
                  </a:endParaRPr>
                </a:p>
              </p:txBody>
            </p:sp>
            <p:sp>
              <p:nvSpPr>
                <p:cNvPr id="94" name="Line 14">
                  <a:extLst>
                    <a:ext uri="{FF2B5EF4-FFF2-40B4-BE49-F238E27FC236}">
                      <a16:creationId xmlns:a16="http://schemas.microsoft.com/office/drawing/2014/main" id="{243FE766-3676-07E4-A363-A02928BB71AE}"/>
                    </a:ext>
                  </a:extLst>
                </p:cNvPr>
                <p:cNvSpPr>
                  <a:spLocks noChangeShapeType="1"/>
                </p:cNvSpPr>
                <p:nvPr/>
              </p:nvSpPr>
              <p:spPr bwMode="auto">
                <a:xfrm flipH="1" flipV="1">
                  <a:off x="8366" y="8658"/>
                  <a:ext cx="2" cy="831"/>
                </a:xfrm>
                <a:prstGeom prst="line">
                  <a:avLst/>
                </a:prstGeom>
                <a:noFill/>
                <a:ln w="28575">
                  <a:solidFill>
                    <a:schemeClr val="tx1"/>
                  </a:solidFill>
                  <a:round/>
                  <a:headEnd/>
                  <a:tailEnd/>
                </a:ln>
              </p:spPr>
              <p:txBody>
                <a:bodyPr/>
                <a:lstStyle/>
                <a:p>
                  <a:pPr>
                    <a:defRPr/>
                  </a:pPr>
                  <a:endParaRPr lang="zh-CN" altLang="en-US">
                    <a:ea typeface="宋体" charset="-122"/>
                  </a:endParaRPr>
                </a:p>
              </p:txBody>
            </p:sp>
          </p:grpSp>
          <p:grpSp>
            <p:nvGrpSpPr>
              <p:cNvPr id="5" name="Group 27">
                <a:extLst>
                  <a:ext uri="{FF2B5EF4-FFF2-40B4-BE49-F238E27FC236}">
                    <a16:creationId xmlns:a16="http://schemas.microsoft.com/office/drawing/2014/main" id="{D6541C8E-C06B-C570-F452-1859DD7CB25C}"/>
                  </a:ext>
                </a:extLst>
              </p:cNvPr>
              <p:cNvGrpSpPr>
                <a:grpSpLocks/>
              </p:cNvGrpSpPr>
              <p:nvPr/>
            </p:nvGrpSpPr>
            <p:grpSpPr bwMode="auto">
              <a:xfrm>
                <a:off x="928662" y="3186863"/>
                <a:ext cx="3000396" cy="2882966"/>
                <a:chOff x="6120" y="8443"/>
                <a:chExt cx="3772" cy="3626"/>
              </a:xfrm>
            </p:grpSpPr>
            <p:sp>
              <p:nvSpPr>
                <p:cNvPr id="57372" name="Line 28">
                  <a:extLst>
                    <a:ext uri="{FF2B5EF4-FFF2-40B4-BE49-F238E27FC236}">
                      <a16:creationId xmlns:a16="http://schemas.microsoft.com/office/drawing/2014/main" id="{78B7E1C4-CD65-AA87-BEF2-A27EA19BEF31}"/>
                    </a:ext>
                  </a:extLst>
                </p:cNvPr>
                <p:cNvSpPr>
                  <a:spLocks noChangeShapeType="1"/>
                </p:cNvSpPr>
                <p:nvPr/>
              </p:nvSpPr>
              <p:spPr bwMode="auto">
                <a:xfrm>
                  <a:off x="6988" y="12054"/>
                  <a:ext cx="176" cy="0"/>
                </a:xfrm>
                <a:prstGeom prst="line">
                  <a:avLst/>
                </a:prstGeom>
                <a:noFill/>
                <a:ln w="28575">
                  <a:solidFill>
                    <a:srgbClr val="993366"/>
                  </a:solidFill>
                  <a:round/>
                  <a:headEnd/>
                  <a:tailEnd/>
                </a:ln>
              </p:spPr>
              <p:txBody>
                <a:bodyPr/>
                <a:lstStyle/>
                <a:p>
                  <a:pPr>
                    <a:defRPr/>
                  </a:pPr>
                  <a:endParaRPr lang="zh-CN" altLang="en-US">
                    <a:ea typeface="宋体" charset="-122"/>
                  </a:endParaRPr>
                </a:p>
              </p:txBody>
            </p:sp>
            <p:sp>
              <p:nvSpPr>
                <p:cNvPr id="57373" name="Line 29">
                  <a:extLst>
                    <a:ext uri="{FF2B5EF4-FFF2-40B4-BE49-F238E27FC236}">
                      <a16:creationId xmlns:a16="http://schemas.microsoft.com/office/drawing/2014/main" id="{6DCB900D-D03E-6611-968E-077FFD78F80A}"/>
                    </a:ext>
                  </a:extLst>
                </p:cNvPr>
                <p:cNvSpPr>
                  <a:spLocks noChangeShapeType="1"/>
                </p:cNvSpPr>
                <p:nvPr/>
              </p:nvSpPr>
              <p:spPr bwMode="auto">
                <a:xfrm>
                  <a:off x="7770" y="12054"/>
                  <a:ext cx="176" cy="0"/>
                </a:xfrm>
                <a:prstGeom prst="line">
                  <a:avLst/>
                </a:prstGeom>
                <a:noFill/>
                <a:ln w="28575">
                  <a:solidFill>
                    <a:srgbClr val="993366"/>
                  </a:solidFill>
                  <a:round/>
                  <a:headEnd/>
                  <a:tailEnd/>
                </a:ln>
              </p:spPr>
              <p:txBody>
                <a:bodyPr/>
                <a:lstStyle/>
                <a:p>
                  <a:pPr>
                    <a:defRPr/>
                  </a:pPr>
                  <a:endParaRPr lang="zh-CN" altLang="en-US">
                    <a:ea typeface="宋体" charset="-122"/>
                  </a:endParaRPr>
                </a:p>
              </p:txBody>
            </p:sp>
            <p:grpSp>
              <p:nvGrpSpPr>
                <p:cNvPr id="6" name="Group 30">
                  <a:extLst>
                    <a:ext uri="{FF2B5EF4-FFF2-40B4-BE49-F238E27FC236}">
                      <a16:creationId xmlns:a16="http://schemas.microsoft.com/office/drawing/2014/main" id="{CF1D3322-C77D-1FFB-2DA7-71A50CC6F189}"/>
                    </a:ext>
                  </a:extLst>
                </p:cNvPr>
                <p:cNvGrpSpPr>
                  <a:grpSpLocks/>
                </p:cNvGrpSpPr>
                <p:nvPr/>
              </p:nvGrpSpPr>
              <p:grpSpPr bwMode="auto">
                <a:xfrm>
                  <a:off x="6120" y="8443"/>
                  <a:ext cx="3772" cy="3626"/>
                  <a:chOff x="6120" y="8443"/>
                  <a:chExt cx="3772" cy="3626"/>
                </a:xfrm>
              </p:grpSpPr>
              <p:grpSp>
                <p:nvGrpSpPr>
                  <p:cNvPr id="7" name="Group 31">
                    <a:extLst>
                      <a:ext uri="{FF2B5EF4-FFF2-40B4-BE49-F238E27FC236}">
                        <a16:creationId xmlns:a16="http://schemas.microsoft.com/office/drawing/2014/main" id="{11F87317-5C8D-8D67-A22B-B5053B99D6FF}"/>
                      </a:ext>
                    </a:extLst>
                  </p:cNvPr>
                  <p:cNvGrpSpPr>
                    <a:grpSpLocks/>
                  </p:cNvGrpSpPr>
                  <p:nvPr/>
                </p:nvGrpSpPr>
                <p:grpSpPr bwMode="auto">
                  <a:xfrm>
                    <a:off x="6818" y="11223"/>
                    <a:ext cx="2500" cy="846"/>
                    <a:chOff x="4466" y="4398"/>
                    <a:chExt cx="2500" cy="846"/>
                  </a:xfrm>
                </p:grpSpPr>
                <p:sp>
                  <p:nvSpPr>
                    <p:cNvPr id="57378" name="Line 34">
                      <a:extLst>
                        <a:ext uri="{FF2B5EF4-FFF2-40B4-BE49-F238E27FC236}">
                          <a16:creationId xmlns:a16="http://schemas.microsoft.com/office/drawing/2014/main" id="{33A41909-6D64-AE3A-D778-F5D91B00264B}"/>
                        </a:ext>
                      </a:extLst>
                    </p:cNvPr>
                    <p:cNvSpPr>
                      <a:spLocks noChangeShapeType="1"/>
                    </p:cNvSpPr>
                    <p:nvPr/>
                  </p:nvSpPr>
                  <p:spPr bwMode="auto">
                    <a:xfrm>
                      <a:off x="4466" y="4404"/>
                      <a:ext cx="176" cy="0"/>
                    </a:xfrm>
                    <a:prstGeom prst="line">
                      <a:avLst/>
                    </a:prstGeom>
                    <a:noFill/>
                    <a:ln w="28575">
                      <a:solidFill>
                        <a:srgbClr val="993366"/>
                      </a:solidFill>
                      <a:round/>
                      <a:headEnd/>
                      <a:tailEnd/>
                    </a:ln>
                  </p:spPr>
                  <p:txBody>
                    <a:bodyPr/>
                    <a:lstStyle/>
                    <a:p>
                      <a:pPr>
                        <a:defRPr/>
                      </a:pPr>
                      <a:endParaRPr lang="zh-CN" altLang="en-US">
                        <a:ea typeface="宋体" charset="-122"/>
                      </a:endParaRPr>
                    </a:p>
                  </p:txBody>
                </p:sp>
                <p:sp>
                  <p:nvSpPr>
                    <p:cNvPr id="57379" name="Line 35">
                      <a:extLst>
                        <a:ext uri="{FF2B5EF4-FFF2-40B4-BE49-F238E27FC236}">
                          <a16:creationId xmlns:a16="http://schemas.microsoft.com/office/drawing/2014/main" id="{AA74FA4C-7934-84E4-B0EE-C26BD7A93FD6}"/>
                        </a:ext>
                      </a:extLst>
                    </p:cNvPr>
                    <p:cNvSpPr>
                      <a:spLocks noChangeShapeType="1"/>
                    </p:cNvSpPr>
                    <p:nvPr/>
                  </p:nvSpPr>
                  <p:spPr bwMode="auto">
                    <a:xfrm flipH="1" flipV="1">
                      <a:off x="4818" y="4404"/>
                      <a:ext cx="2" cy="831"/>
                    </a:xfrm>
                    <a:prstGeom prst="line">
                      <a:avLst/>
                    </a:prstGeom>
                    <a:noFill/>
                    <a:ln w="28575">
                      <a:solidFill>
                        <a:srgbClr val="993366"/>
                      </a:solidFill>
                      <a:round/>
                      <a:headEnd/>
                      <a:tailEnd/>
                    </a:ln>
                  </p:spPr>
                  <p:txBody>
                    <a:bodyPr/>
                    <a:lstStyle/>
                    <a:p>
                      <a:pPr>
                        <a:defRPr/>
                      </a:pPr>
                      <a:endParaRPr lang="zh-CN" altLang="en-US">
                        <a:ea typeface="宋体" charset="-122"/>
                      </a:endParaRPr>
                    </a:p>
                  </p:txBody>
                </p:sp>
                <p:sp>
                  <p:nvSpPr>
                    <p:cNvPr id="57380" name="Line 36">
                      <a:extLst>
                        <a:ext uri="{FF2B5EF4-FFF2-40B4-BE49-F238E27FC236}">
                          <a16:creationId xmlns:a16="http://schemas.microsoft.com/office/drawing/2014/main" id="{59E0B14A-CCCF-BCC2-A5FF-42B78A4D70A2}"/>
                        </a:ext>
                      </a:extLst>
                    </p:cNvPr>
                    <p:cNvSpPr>
                      <a:spLocks noChangeShapeType="1"/>
                    </p:cNvSpPr>
                    <p:nvPr/>
                  </p:nvSpPr>
                  <p:spPr bwMode="auto">
                    <a:xfrm>
                      <a:off x="4824" y="4404"/>
                      <a:ext cx="564" cy="0"/>
                    </a:xfrm>
                    <a:prstGeom prst="line">
                      <a:avLst/>
                    </a:prstGeom>
                    <a:noFill/>
                    <a:ln w="28575">
                      <a:solidFill>
                        <a:srgbClr val="993366"/>
                      </a:solidFill>
                      <a:round/>
                      <a:headEnd/>
                      <a:tailEnd/>
                    </a:ln>
                  </p:spPr>
                  <p:txBody>
                    <a:bodyPr/>
                    <a:lstStyle/>
                    <a:p>
                      <a:pPr>
                        <a:defRPr/>
                      </a:pPr>
                      <a:endParaRPr lang="zh-CN" altLang="en-US">
                        <a:ea typeface="宋体" charset="-122"/>
                      </a:endParaRPr>
                    </a:p>
                  </p:txBody>
                </p:sp>
                <p:sp>
                  <p:nvSpPr>
                    <p:cNvPr id="57383" name="Line 39">
                      <a:extLst>
                        <a:ext uri="{FF2B5EF4-FFF2-40B4-BE49-F238E27FC236}">
                          <a16:creationId xmlns:a16="http://schemas.microsoft.com/office/drawing/2014/main" id="{303CC876-DF98-ACA3-7863-25A832D4982E}"/>
                        </a:ext>
                      </a:extLst>
                    </p:cNvPr>
                    <p:cNvSpPr>
                      <a:spLocks noChangeShapeType="1"/>
                    </p:cNvSpPr>
                    <p:nvPr/>
                  </p:nvSpPr>
                  <p:spPr bwMode="auto">
                    <a:xfrm>
                      <a:off x="5600" y="4404"/>
                      <a:ext cx="176" cy="0"/>
                    </a:xfrm>
                    <a:prstGeom prst="line">
                      <a:avLst/>
                    </a:prstGeom>
                    <a:noFill/>
                    <a:ln w="28575">
                      <a:solidFill>
                        <a:srgbClr val="993366"/>
                      </a:solidFill>
                      <a:round/>
                      <a:headEnd/>
                      <a:tailEnd/>
                    </a:ln>
                  </p:spPr>
                  <p:txBody>
                    <a:bodyPr/>
                    <a:lstStyle/>
                    <a:p>
                      <a:pPr>
                        <a:defRPr/>
                      </a:pPr>
                      <a:endParaRPr lang="zh-CN" altLang="en-US">
                        <a:ea typeface="宋体" charset="-122"/>
                      </a:endParaRPr>
                    </a:p>
                  </p:txBody>
                </p:sp>
                <p:sp>
                  <p:nvSpPr>
                    <p:cNvPr id="57384" name="Line 40">
                      <a:extLst>
                        <a:ext uri="{FF2B5EF4-FFF2-40B4-BE49-F238E27FC236}">
                          <a16:creationId xmlns:a16="http://schemas.microsoft.com/office/drawing/2014/main" id="{06E3A1AB-1D17-8682-9B90-7C144DA51FA8}"/>
                        </a:ext>
                      </a:extLst>
                    </p:cNvPr>
                    <p:cNvSpPr>
                      <a:spLocks noChangeShapeType="1"/>
                    </p:cNvSpPr>
                    <p:nvPr/>
                  </p:nvSpPr>
                  <p:spPr bwMode="auto">
                    <a:xfrm flipH="1" flipV="1">
                      <a:off x="5782" y="4404"/>
                      <a:ext cx="2" cy="831"/>
                    </a:xfrm>
                    <a:prstGeom prst="line">
                      <a:avLst/>
                    </a:prstGeom>
                    <a:noFill/>
                    <a:ln w="28575">
                      <a:solidFill>
                        <a:srgbClr val="993366"/>
                      </a:solidFill>
                      <a:round/>
                      <a:headEnd/>
                      <a:tailEnd/>
                    </a:ln>
                  </p:spPr>
                  <p:txBody>
                    <a:bodyPr/>
                    <a:lstStyle/>
                    <a:p>
                      <a:pPr>
                        <a:defRPr/>
                      </a:pPr>
                      <a:endParaRPr lang="zh-CN" altLang="en-US">
                        <a:ea typeface="宋体" charset="-122"/>
                      </a:endParaRPr>
                    </a:p>
                  </p:txBody>
                </p:sp>
                <p:sp>
                  <p:nvSpPr>
                    <p:cNvPr id="57385" name="Line 41">
                      <a:extLst>
                        <a:ext uri="{FF2B5EF4-FFF2-40B4-BE49-F238E27FC236}">
                          <a16:creationId xmlns:a16="http://schemas.microsoft.com/office/drawing/2014/main" id="{C833E533-07EB-2CC7-8B8C-913E72CB1ED0}"/>
                        </a:ext>
                      </a:extLst>
                    </p:cNvPr>
                    <p:cNvSpPr>
                      <a:spLocks noChangeShapeType="1"/>
                    </p:cNvSpPr>
                    <p:nvPr/>
                  </p:nvSpPr>
                  <p:spPr bwMode="auto">
                    <a:xfrm>
                      <a:off x="6002" y="4404"/>
                      <a:ext cx="176" cy="0"/>
                    </a:xfrm>
                    <a:prstGeom prst="line">
                      <a:avLst/>
                    </a:prstGeom>
                    <a:noFill/>
                    <a:ln w="12700">
                      <a:solidFill>
                        <a:srgbClr val="993366"/>
                      </a:solidFill>
                      <a:round/>
                      <a:headEnd/>
                      <a:tailEnd/>
                    </a:ln>
                  </p:spPr>
                  <p:txBody>
                    <a:bodyPr/>
                    <a:lstStyle/>
                    <a:p>
                      <a:pPr>
                        <a:defRPr/>
                      </a:pPr>
                      <a:endParaRPr lang="zh-CN" altLang="en-US">
                        <a:ea typeface="宋体" charset="-122"/>
                      </a:endParaRPr>
                    </a:p>
                  </p:txBody>
                </p:sp>
                <p:grpSp>
                  <p:nvGrpSpPr>
                    <p:cNvPr id="9" name="Group 42">
                      <a:extLst>
                        <a:ext uri="{FF2B5EF4-FFF2-40B4-BE49-F238E27FC236}">
                          <a16:creationId xmlns:a16="http://schemas.microsoft.com/office/drawing/2014/main" id="{B0EB988C-5088-3957-E1E4-226EB4622A9B}"/>
                        </a:ext>
                      </a:extLst>
                    </p:cNvPr>
                    <p:cNvGrpSpPr>
                      <a:grpSpLocks/>
                    </p:cNvGrpSpPr>
                    <p:nvPr/>
                  </p:nvGrpSpPr>
                  <p:grpSpPr bwMode="auto">
                    <a:xfrm>
                      <a:off x="5599" y="4398"/>
                      <a:ext cx="385" cy="837"/>
                      <a:chOff x="5599" y="4398"/>
                      <a:chExt cx="385" cy="837"/>
                    </a:xfrm>
                  </p:grpSpPr>
                  <p:sp>
                    <p:nvSpPr>
                      <p:cNvPr id="57387" name="Line 43">
                        <a:extLst>
                          <a:ext uri="{FF2B5EF4-FFF2-40B4-BE49-F238E27FC236}">
                            <a16:creationId xmlns:a16="http://schemas.microsoft.com/office/drawing/2014/main" id="{7C5385A7-72A7-22CA-73E2-DFEFD06AE60A}"/>
                          </a:ext>
                        </a:extLst>
                      </p:cNvPr>
                      <p:cNvSpPr>
                        <a:spLocks noChangeShapeType="1"/>
                      </p:cNvSpPr>
                      <p:nvPr/>
                    </p:nvSpPr>
                    <p:spPr bwMode="auto">
                      <a:xfrm>
                        <a:off x="5782" y="5217"/>
                        <a:ext cx="176" cy="0"/>
                      </a:xfrm>
                      <a:prstGeom prst="line">
                        <a:avLst/>
                      </a:prstGeom>
                      <a:noFill/>
                      <a:ln w="28575">
                        <a:solidFill>
                          <a:srgbClr val="990099"/>
                        </a:solidFill>
                        <a:round/>
                        <a:headEnd/>
                        <a:tailEnd/>
                      </a:ln>
                    </p:spPr>
                    <p:txBody>
                      <a:bodyPr/>
                      <a:lstStyle/>
                      <a:p>
                        <a:pPr>
                          <a:defRPr/>
                        </a:pPr>
                        <a:endParaRPr lang="zh-CN" altLang="en-US">
                          <a:ea typeface="宋体" charset="-122"/>
                        </a:endParaRPr>
                      </a:p>
                    </p:txBody>
                  </p:sp>
                  <p:sp>
                    <p:nvSpPr>
                      <p:cNvPr id="57388" name="Line 44">
                        <a:extLst>
                          <a:ext uri="{FF2B5EF4-FFF2-40B4-BE49-F238E27FC236}">
                            <a16:creationId xmlns:a16="http://schemas.microsoft.com/office/drawing/2014/main" id="{74436CE7-2352-0210-DA0A-7870FDD026A1}"/>
                          </a:ext>
                        </a:extLst>
                      </p:cNvPr>
                      <p:cNvSpPr>
                        <a:spLocks noChangeShapeType="1"/>
                      </p:cNvSpPr>
                      <p:nvPr/>
                    </p:nvSpPr>
                    <p:spPr bwMode="auto">
                      <a:xfrm flipH="1" flipV="1">
                        <a:off x="5982" y="4404"/>
                        <a:ext cx="2" cy="831"/>
                      </a:xfrm>
                      <a:prstGeom prst="line">
                        <a:avLst/>
                      </a:prstGeom>
                      <a:noFill/>
                      <a:ln w="28575">
                        <a:solidFill>
                          <a:srgbClr val="993366"/>
                        </a:solidFill>
                        <a:round/>
                        <a:headEnd/>
                        <a:tailEnd/>
                      </a:ln>
                    </p:spPr>
                    <p:txBody>
                      <a:bodyPr/>
                      <a:lstStyle/>
                      <a:p>
                        <a:pPr>
                          <a:defRPr/>
                        </a:pPr>
                        <a:endParaRPr lang="zh-CN" altLang="en-US">
                          <a:ea typeface="宋体" charset="-122"/>
                        </a:endParaRPr>
                      </a:p>
                    </p:txBody>
                  </p:sp>
                  <p:sp>
                    <p:nvSpPr>
                      <p:cNvPr id="112" name="Line 44">
                        <a:extLst>
                          <a:ext uri="{FF2B5EF4-FFF2-40B4-BE49-F238E27FC236}">
                            <a16:creationId xmlns:a16="http://schemas.microsoft.com/office/drawing/2014/main" id="{95EC0A45-D819-F140-719E-D19338916CF7}"/>
                          </a:ext>
                        </a:extLst>
                      </p:cNvPr>
                      <p:cNvSpPr>
                        <a:spLocks noChangeShapeType="1"/>
                      </p:cNvSpPr>
                      <p:nvPr/>
                    </p:nvSpPr>
                    <p:spPr bwMode="auto">
                      <a:xfrm flipH="1" flipV="1">
                        <a:off x="5599" y="4398"/>
                        <a:ext cx="2" cy="831"/>
                      </a:xfrm>
                      <a:prstGeom prst="line">
                        <a:avLst/>
                      </a:prstGeom>
                      <a:noFill/>
                      <a:ln w="28575">
                        <a:solidFill>
                          <a:srgbClr val="993366"/>
                        </a:solidFill>
                        <a:round/>
                        <a:headEnd/>
                        <a:tailEnd/>
                      </a:ln>
                    </p:spPr>
                    <p:txBody>
                      <a:bodyPr/>
                      <a:lstStyle/>
                      <a:p>
                        <a:pPr>
                          <a:defRPr/>
                        </a:pPr>
                        <a:endParaRPr lang="zh-CN" altLang="en-US">
                          <a:ea typeface="宋体" charset="-122"/>
                        </a:endParaRPr>
                      </a:p>
                    </p:txBody>
                  </p:sp>
                </p:grpSp>
                <p:grpSp>
                  <p:nvGrpSpPr>
                    <p:cNvPr id="10" name="Group 45">
                      <a:extLst>
                        <a:ext uri="{FF2B5EF4-FFF2-40B4-BE49-F238E27FC236}">
                          <a16:creationId xmlns:a16="http://schemas.microsoft.com/office/drawing/2014/main" id="{A5C2132F-12B0-CA61-C5DA-8247E0A229FB}"/>
                        </a:ext>
                      </a:extLst>
                    </p:cNvPr>
                    <p:cNvGrpSpPr>
                      <a:grpSpLocks/>
                    </p:cNvGrpSpPr>
                    <p:nvPr/>
                  </p:nvGrpSpPr>
                  <p:grpSpPr bwMode="auto">
                    <a:xfrm>
                      <a:off x="6196" y="4404"/>
                      <a:ext cx="202" cy="831"/>
                      <a:chOff x="5782" y="4404"/>
                      <a:chExt cx="202" cy="831"/>
                    </a:xfrm>
                  </p:grpSpPr>
                  <p:sp>
                    <p:nvSpPr>
                      <p:cNvPr id="57390" name="Line 46">
                        <a:extLst>
                          <a:ext uri="{FF2B5EF4-FFF2-40B4-BE49-F238E27FC236}">
                            <a16:creationId xmlns:a16="http://schemas.microsoft.com/office/drawing/2014/main" id="{63392BF3-CCA9-B292-2EA1-BE5A0A27E3B5}"/>
                          </a:ext>
                        </a:extLst>
                      </p:cNvPr>
                      <p:cNvSpPr>
                        <a:spLocks noChangeShapeType="1"/>
                      </p:cNvSpPr>
                      <p:nvPr/>
                    </p:nvSpPr>
                    <p:spPr bwMode="auto">
                      <a:xfrm>
                        <a:off x="5782" y="5217"/>
                        <a:ext cx="176" cy="0"/>
                      </a:xfrm>
                      <a:prstGeom prst="line">
                        <a:avLst/>
                      </a:prstGeom>
                      <a:noFill/>
                      <a:ln w="28575">
                        <a:solidFill>
                          <a:srgbClr val="993366"/>
                        </a:solidFill>
                        <a:round/>
                        <a:headEnd/>
                        <a:tailEnd/>
                      </a:ln>
                    </p:spPr>
                    <p:txBody>
                      <a:bodyPr/>
                      <a:lstStyle/>
                      <a:p>
                        <a:pPr>
                          <a:defRPr/>
                        </a:pPr>
                        <a:endParaRPr lang="zh-CN" altLang="en-US">
                          <a:ea typeface="宋体" charset="-122"/>
                        </a:endParaRPr>
                      </a:p>
                    </p:txBody>
                  </p:sp>
                  <p:sp>
                    <p:nvSpPr>
                      <p:cNvPr id="57391" name="Line 47">
                        <a:extLst>
                          <a:ext uri="{FF2B5EF4-FFF2-40B4-BE49-F238E27FC236}">
                            <a16:creationId xmlns:a16="http://schemas.microsoft.com/office/drawing/2014/main" id="{5325D0BB-D596-2619-C6D7-26B7782DE95E}"/>
                          </a:ext>
                        </a:extLst>
                      </p:cNvPr>
                      <p:cNvSpPr>
                        <a:spLocks noChangeShapeType="1"/>
                      </p:cNvSpPr>
                      <p:nvPr/>
                    </p:nvSpPr>
                    <p:spPr bwMode="auto">
                      <a:xfrm flipH="1" flipV="1">
                        <a:off x="5982" y="4404"/>
                        <a:ext cx="2" cy="831"/>
                      </a:xfrm>
                      <a:prstGeom prst="line">
                        <a:avLst/>
                      </a:prstGeom>
                      <a:noFill/>
                      <a:ln w="28575">
                        <a:solidFill>
                          <a:srgbClr val="993366"/>
                        </a:solidFill>
                        <a:round/>
                        <a:headEnd/>
                        <a:tailEnd/>
                      </a:ln>
                    </p:spPr>
                    <p:txBody>
                      <a:bodyPr/>
                      <a:lstStyle/>
                      <a:p>
                        <a:pPr>
                          <a:defRPr/>
                        </a:pPr>
                        <a:endParaRPr lang="zh-CN" altLang="en-US">
                          <a:ea typeface="宋体" charset="-122"/>
                        </a:endParaRPr>
                      </a:p>
                    </p:txBody>
                  </p:sp>
                </p:grpSp>
                <p:sp>
                  <p:nvSpPr>
                    <p:cNvPr id="57392" name="Line 48">
                      <a:extLst>
                        <a:ext uri="{FF2B5EF4-FFF2-40B4-BE49-F238E27FC236}">
                          <a16:creationId xmlns:a16="http://schemas.microsoft.com/office/drawing/2014/main" id="{95CE2BAF-0646-6FDB-0444-89FA42763D6E}"/>
                        </a:ext>
                      </a:extLst>
                    </p:cNvPr>
                    <p:cNvSpPr>
                      <a:spLocks noChangeShapeType="1"/>
                    </p:cNvSpPr>
                    <p:nvPr/>
                  </p:nvSpPr>
                  <p:spPr bwMode="auto">
                    <a:xfrm flipH="1" flipV="1">
                      <a:off x="6184" y="4404"/>
                      <a:ext cx="2" cy="831"/>
                    </a:xfrm>
                    <a:prstGeom prst="line">
                      <a:avLst/>
                    </a:prstGeom>
                    <a:noFill/>
                    <a:ln w="28575">
                      <a:solidFill>
                        <a:srgbClr val="993366"/>
                      </a:solidFill>
                      <a:round/>
                      <a:headEnd/>
                      <a:tailEnd/>
                    </a:ln>
                  </p:spPr>
                  <p:txBody>
                    <a:bodyPr/>
                    <a:lstStyle/>
                    <a:p>
                      <a:pPr>
                        <a:defRPr/>
                      </a:pPr>
                      <a:endParaRPr lang="zh-CN" altLang="en-US">
                        <a:ea typeface="宋体" charset="-122"/>
                      </a:endParaRPr>
                    </a:p>
                  </p:txBody>
                </p:sp>
                <p:grpSp>
                  <p:nvGrpSpPr>
                    <p:cNvPr id="11" name="Group 49">
                      <a:extLst>
                        <a:ext uri="{FF2B5EF4-FFF2-40B4-BE49-F238E27FC236}">
                          <a16:creationId xmlns:a16="http://schemas.microsoft.com/office/drawing/2014/main" id="{8A804F66-96A2-C105-2DCE-5025B4659E99}"/>
                        </a:ext>
                      </a:extLst>
                    </p:cNvPr>
                    <p:cNvGrpSpPr>
                      <a:grpSpLocks/>
                    </p:cNvGrpSpPr>
                    <p:nvPr/>
                  </p:nvGrpSpPr>
                  <p:grpSpPr bwMode="auto">
                    <a:xfrm>
                      <a:off x="6414" y="4404"/>
                      <a:ext cx="176" cy="840"/>
                      <a:chOff x="4448" y="4419"/>
                      <a:chExt cx="176" cy="840"/>
                    </a:xfrm>
                  </p:grpSpPr>
                  <p:sp>
                    <p:nvSpPr>
                      <p:cNvPr id="57394" name="Line 50">
                        <a:extLst>
                          <a:ext uri="{FF2B5EF4-FFF2-40B4-BE49-F238E27FC236}">
                            <a16:creationId xmlns:a16="http://schemas.microsoft.com/office/drawing/2014/main" id="{CE8457B7-C7D3-FAEA-3621-205617F36BE7}"/>
                          </a:ext>
                        </a:extLst>
                      </p:cNvPr>
                      <p:cNvSpPr>
                        <a:spLocks noChangeShapeType="1"/>
                      </p:cNvSpPr>
                      <p:nvPr/>
                    </p:nvSpPr>
                    <p:spPr bwMode="auto">
                      <a:xfrm flipH="1" flipV="1">
                        <a:off x="4618" y="4428"/>
                        <a:ext cx="2" cy="831"/>
                      </a:xfrm>
                      <a:prstGeom prst="line">
                        <a:avLst/>
                      </a:prstGeom>
                      <a:noFill/>
                      <a:ln w="28575">
                        <a:solidFill>
                          <a:srgbClr val="993366"/>
                        </a:solidFill>
                        <a:round/>
                        <a:headEnd/>
                        <a:tailEnd/>
                      </a:ln>
                    </p:spPr>
                    <p:txBody>
                      <a:bodyPr/>
                      <a:lstStyle/>
                      <a:p>
                        <a:pPr>
                          <a:defRPr/>
                        </a:pPr>
                        <a:endParaRPr lang="zh-CN" altLang="en-US">
                          <a:ea typeface="宋体" charset="-122"/>
                        </a:endParaRPr>
                      </a:p>
                    </p:txBody>
                  </p:sp>
                  <p:sp>
                    <p:nvSpPr>
                      <p:cNvPr id="57395" name="Line 51">
                        <a:extLst>
                          <a:ext uri="{FF2B5EF4-FFF2-40B4-BE49-F238E27FC236}">
                            <a16:creationId xmlns:a16="http://schemas.microsoft.com/office/drawing/2014/main" id="{79F5A2FA-B578-9B41-E40E-0F34BBBFF5EA}"/>
                          </a:ext>
                        </a:extLst>
                      </p:cNvPr>
                      <p:cNvSpPr>
                        <a:spLocks noChangeShapeType="1"/>
                      </p:cNvSpPr>
                      <p:nvPr/>
                    </p:nvSpPr>
                    <p:spPr bwMode="auto">
                      <a:xfrm>
                        <a:off x="4448" y="4419"/>
                        <a:ext cx="176" cy="0"/>
                      </a:xfrm>
                      <a:prstGeom prst="line">
                        <a:avLst/>
                      </a:prstGeom>
                      <a:noFill/>
                      <a:ln w="12700">
                        <a:solidFill>
                          <a:srgbClr val="993366"/>
                        </a:solidFill>
                        <a:round/>
                        <a:headEnd/>
                        <a:tailEnd/>
                      </a:ln>
                    </p:spPr>
                    <p:txBody>
                      <a:bodyPr/>
                      <a:lstStyle/>
                      <a:p>
                        <a:pPr>
                          <a:defRPr/>
                        </a:pPr>
                        <a:endParaRPr lang="zh-CN" altLang="en-US">
                          <a:ea typeface="宋体" charset="-122"/>
                        </a:endParaRPr>
                      </a:p>
                    </p:txBody>
                  </p:sp>
                </p:grpSp>
                <p:grpSp>
                  <p:nvGrpSpPr>
                    <p:cNvPr id="12" name="Group 52">
                      <a:extLst>
                        <a:ext uri="{FF2B5EF4-FFF2-40B4-BE49-F238E27FC236}">
                          <a16:creationId xmlns:a16="http://schemas.microsoft.com/office/drawing/2014/main" id="{AFBECDAC-8DE6-88EA-4A21-61F7CC74CD66}"/>
                        </a:ext>
                      </a:extLst>
                    </p:cNvPr>
                    <p:cNvGrpSpPr>
                      <a:grpSpLocks/>
                    </p:cNvGrpSpPr>
                    <p:nvPr/>
                  </p:nvGrpSpPr>
                  <p:grpSpPr bwMode="auto">
                    <a:xfrm>
                      <a:off x="6584" y="4404"/>
                      <a:ext cx="202" cy="831"/>
                      <a:chOff x="5782" y="4404"/>
                      <a:chExt cx="202" cy="831"/>
                    </a:xfrm>
                  </p:grpSpPr>
                  <p:sp>
                    <p:nvSpPr>
                      <p:cNvPr id="57397" name="Line 53">
                        <a:extLst>
                          <a:ext uri="{FF2B5EF4-FFF2-40B4-BE49-F238E27FC236}">
                            <a16:creationId xmlns:a16="http://schemas.microsoft.com/office/drawing/2014/main" id="{0533F055-0460-E4E4-E934-7A6EC27C68E2}"/>
                          </a:ext>
                        </a:extLst>
                      </p:cNvPr>
                      <p:cNvSpPr>
                        <a:spLocks noChangeShapeType="1"/>
                      </p:cNvSpPr>
                      <p:nvPr/>
                    </p:nvSpPr>
                    <p:spPr bwMode="auto">
                      <a:xfrm>
                        <a:off x="5782" y="5217"/>
                        <a:ext cx="176" cy="0"/>
                      </a:xfrm>
                      <a:prstGeom prst="line">
                        <a:avLst/>
                      </a:prstGeom>
                      <a:noFill/>
                      <a:ln w="28575">
                        <a:solidFill>
                          <a:srgbClr val="993366"/>
                        </a:solidFill>
                        <a:round/>
                        <a:headEnd/>
                        <a:tailEnd/>
                      </a:ln>
                    </p:spPr>
                    <p:txBody>
                      <a:bodyPr/>
                      <a:lstStyle/>
                      <a:p>
                        <a:pPr>
                          <a:defRPr/>
                        </a:pPr>
                        <a:endParaRPr lang="zh-CN" altLang="en-US">
                          <a:ea typeface="宋体" charset="-122"/>
                        </a:endParaRPr>
                      </a:p>
                    </p:txBody>
                  </p:sp>
                  <p:sp>
                    <p:nvSpPr>
                      <p:cNvPr id="57398" name="Line 54">
                        <a:extLst>
                          <a:ext uri="{FF2B5EF4-FFF2-40B4-BE49-F238E27FC236}">
                            <a16:creationId xmlns:a16="http://schemas.microsoft.com/office/drawing/2014/main" id="{1FC85F84-0B04-99BE-7611-49C5C2B256E3}"/>
                          </a:ext>
                        </a:extLst>
                      </p:cNvPr>
                      <p:cNvSpPr>
                        <a:spLocks noChangeShapeType="1"/>
                      </p:cNvSpPr>
                      <p:nvPr/>
                    </p:nvSpPr>
                    <p:spPr bwMode="auto">
                      <a:xfrm flipH="1" flipV="1">
                        <a:off x="5982" y="4404"/>
                        <a:ext cx="2" cy="831"/>
                      </a:xfrm>
                      <a:prstGeom prst="line">
                        <a:avLst/>
                      </a:prstGeom>
                      <a:noFill/>
                      <a:ln w="28575">
                        <a:solidFill>
                          <a:srgbClr val="993366"/>
                        </a:solidFill>
                        <a:round/>
                        <a:headEnd/>
                        <a:tailEnd/>
                      </a:ln>
                    </p:spPr>
                    <p:txBody>
                      <a:bodyPr/>
                      <a:lstStyle/>
                      <a:p>
                        <a:pPr>
                          <a:defRPr/>
                        </a:pPr>
                        <a:endParaRPr lang="zh-CN" altLang="en-US">
                          <a:ea typeface="宋体" charset="-122"/>
                        </a:endParaRPr>
                      </a:p>
                    </p:txBody>
                  </p:sp>
                </p:grpSp>
                <p:sp>
                  <p:nvSpPr>
                    <p:cNvPr id="57399" name="Line 55">
                      <a:extLst>
                        <a:ext uri="{FF2B5EF4-FFF2-40B4-BE49-F238E27FC236}">
                          <a16:creationId xmlns:a16="http://schemas.microsoft.com/office/drawing/2014/main" id="{165F3977-C782-9443-5AD6-76963F5B5C93}"/>
                        </a:ext>
                      </a:extLst>
                    </p:cNvPr>
                    <p:cNvSpPr>
                      <a:spLocks noChangeShapeType="1"/>
                    </p:cNvSpPr>
                    <p:nvPr/>
                  </p:nvSpPr>
                  <p:spPr bwMode="auto">
                    <a:xfrm>
                      <a:off x="6790" y="4404"/>
                      <a:ext cx="176" cy="0"/>
                    </a:xfrm>
                    <a:prstGeom prst="line">
                      <a:avLst/>
                    </a:prstGeom>
                    <a:noFill/>
                    <a:ln w="12700">
                      <a:solidFill>
                        <a:srgbClr val="990099"/>
                      </a:solidFill>
                      <a:round/>
                      <a:headEnd/>
                      <a:tailEnd/>
                    </a:ln>
                  </p:spPr>
                  <p:txBody>
                    <a:bodyPr/>
                    <a:lstStyle/>
                    <a:p>
                      <a:pPr>
                        <a:defRPr/>
                      </a:pPr>
                      <a:endParaRPr lang="zh-CN" altLang="en-US">
                        <a:ea typeface="宋体" charset="-122"/>
                      </a:endParaRPr>
                    </a:p>
                  </p:txBody>
                </p:sp>
                <p:sp>
                  <p:nvSpPr>
                    <p:cNvPr id="102" name="Line 38">
                      <a:extLst>
                        <a:ext uri="{FF2B5EF4-FFF2-40B4-BE49-F238E27FC236}">
                          <a16:creationId xmlns:a16="http://schemas.microsoft.com/office/drawing/2014/main" id="{2D693AD4-849E-3480-A248-D171980AE3BC}"/>
                        </a:ext>
                      </a:extLst>
                    </p:cNvPr>
                    <p:cNvSpPr>
                      <a:spLocks noChangeShapeType="1"/>
                    </p:cNvSpPr>
                    <p:nvPr/>
                  </p:nvSpPr>
                  <p:spPr bwMode="auto">
                    <a:xfrm flipH="1" flipV="1">
                      <a:off x="4631" y="4402"/>
                      <a:ext cx="2" cy="831"/>
                    </a:xfrm>
                    <a:prstGeom prst="line">
                      <a:avLst/>
                    </a:prstGeom>
                    <a:noFill/>
                    <a:ln w="28575">
                      <a:solidFill>
                        <a:srgbClr val="993366"/>
                      </a:solidFill>
                      <a:round/>
                      <a:headEnd/>
                      <a:tailEnd/>
                    </a:ln>
                  </p:spPr>
                  <p:txBody>
                    <a:bodyPr/>
                    <a:lstStyle/>
                    <a:p>
                      <a:pPr>
                        <a:defRPr/>
                      </a:pPr>
                      <a:endParaRPr lang="zh-CN" altLang="en-US">
                        <a:ea typeface="宋体" charset="-122"/>
                      </a:endParaRPr>
                    </a:p>
                  </p:txBody>
                </p:sp>
                <p:sp>
                  <p:nvSpPr>
                    <p:cNvPr id="109" name="Line 35">
                      <a:extLst>
                        <a:ext uri="{FF2B5EF4-FFF2-40B4-BE49-F238E27FC236}">
                          <a16:creationId xmlns:a16="http://schemas.microsoft.com/office/drawing/2014/main" id="{27B69C4A-B4BE-B43C-7C03-49E483906C29}"/>
                        </a:ext>
                      </a:extLst>
                    </p:cNvPr>
                    <p:cNvSpPr>
                      <a:spLocks noChangeShapeType="1"/>
                    </p:cNvSpPr>
                    <p:nvPr/>
                  </p:nvSpPr>
                  <p:spPr bwMode="auto">
                    <a:xfrm flipH="1" flipV="1">
                      <a:off x="5403" y="4402"/>
                      <a:ext cx="2" cy="831"/>
                    </a:xfrm>
                    <a:prstGeom prst="line">
                      <a:avLst/>
                    </a:prstGeom>
                    <a:noFill/>
                    <a:ln w="28575">
                      <a:solidFill>
                        <a:srgbClr val="993366"/>
                      </a:solidFill>
                      <a:round/>
                      <a:headEnd/>
                      <a:tailEnd/>
                    </a:ln>
                  </p:spPr>
                  <p:txBody>
                    <a:bodyPr/>
                    <a:lstStyle/>
                    <a:p>
                      <a:pPr>
                        <a:defRPr/>
                      </a:pPr>
                      <a:endParaRPr lang="zh-CN" altLang="en-US">
                        <a:ea typeface="宋体" charset="-122"/>
                      </a:endParaRPr>
                    </a:p>
                  </p:txBody>
                </p:sp>
              </p:grpSp>
              <p:grpSp>
                <p:nvGrpSpPr>
                  <p:cNvPr id="13" name="Group 56">
                    <a:extLst>
                      <a:ext uri="{FF2B5EF4-FFF2-40B4-BE49-F238E27FC236}">
                        <a16:creationId xmlns:a16="http://schemas.microsoft.com/office/drawing/2014/main" id="{A0EDCB4D-77A6-F4B9-AC25-D9833B2B2866}"/>
                      </a:ext>
                    </a:extLst>
                  </p:cNvPr>
                  <p:cNvGrpSpPr>
                    <a:grpSpLocks/>
                  </p:cNvGrpSpPr>
                  <p:nvPr/>
                </p:nvGrpSpPr>
                <p:grpSpPr bwMode="auto">
                  <a:xfrm>
                    <a:off x="6120" y="8443"/>
                    <a:ext cx="3772" cy="3239"/>
                    <a:chOff x="6120" y="8443"/>
                    <a:chExt cx="3772" cy="3239"/>
                  </a:xfrm>
                </p:grpSpPr>
                <p:grpSp>
                  <p:nvGrpSpPr>
                    <p:cNvPr id="14" name="Group 57">
                      <a:extLst>
                        <a:ext uri="{FF2B5EF4-FFF2-40B4-BE49-F238E27FC236}">
                          <a16:creationId xmlns:a16="http://schemas.microsoft.com/office/drawing/2014/main" id="{E96449F4-BFB3-A70D-5C44-0BEB288C23D2}"/>
                        </a:ext>
                      </a:extLst>
                    </p:cNvPr>
                    <p:cNvGrpSpPr>
                      <a:grpSpLocks/>
                    </p:cNvGrpSpPr>
                    <p:nvPr/>
                  </p:nvGrpSpPr>
                  <p:grpSpPr bwMode="auto">
                    <a:xfrm>
                      <a:off x="6246" y="9054"/>
                      <a:ext cx="3646" cy="2616"/>
                      <a:chOff x="6246" y="9054"/>
                      <a:chExt cx="3646" cy="2616"/>
                    </a:xfrm>
                  </p:grpSpPr>
                  <p:sp>
                    <p:nvSpPr>
                      <p:cNvPr id="57402" name="Line 58">
                        <a:extLst>
                          <a:ext uri="{FF2B5EF4-FFF2-40B4-BE49-F238E27FC236}">
                            <a16:creationId xmlns:a16="http://schemas.microsoft.com/office/drawing/2014/main" id="{72120926-7A1D-B5DB-C3A1-46BD2A373AEB}"/>
                          </a:ext>
                        </a:extLst>
                      </p:cNvPr>
                      <p:cNvSpPr>
                        <a:spLocks noChangeShapeType="1"/>
                      </p:cNvSpPr>
                      <p:nvPr/>
                    </p:nvSpPr>
                    <p:spPr bwMode="auto">
                      <a:xfrm flipV="1">
                        <a:off x="6246" y="9054"/>
                        <a:ext cx="3646" cy="12"/>
                      </a:xfrm>
                      <a:prstGeom prst="line">
                        <a:avLst/>
                      </a:prstGeom>
                      <a:noFill/>
                      <a:ln w="9525">
                        <a:solidFill>
                          <a:srgbClr val="000000"/>
                        </a:solidFill>
                        <a:round/>
                        <a:headEnd/>
                        <a:tailEnd type="triangle" w="med" len="med"/>
                      </a:ln>
                    </p:spPr>
                    <p:txBody>
                      <a:bodyPr/>
                      <a:lstStyle/>
                      <a:p>
                        <a:pPr>
                          <a:defRPr/>
                        </a:pPr>
                        <a:endParaRPr lang="zh-CN" altLang="en-US">
                          <a:ea typeface="宋体" charset="-122"/>
                        </a:endParaRPr>
                      </a:p>
                    </p:txBody>
                  </p:sp>
                  <p:sp>
                    <p:nvSpPr>
                      <p:cNvPr id="57403" name="Line 59">
                        <a:extLst>
                          <a:ext uri="{FF2B5EF4-FFF2-40B4-BE49-F238E27FC236}">
                            <a16:creationId xmlns:a16="http://schemas.microsoft.com/office/drawing/2014/main" id="{0CDC1E89-AB3E-2A7A-C8E5-D20185E079A2}"/>
                          </a:ext>
                        </a:extLst>
                      </p:cNvPr>
                      <p:cNvSpPr>
                        <a:spLocks noChangeShapeType="1"/>
                      </p:cNvSpPr>
                      <p:nvPr/>
                    </p:nvSpPr>
                    <p:spPr bwMode="auto">
                      <a:xfrm flipV="1">
                        <a:off x="6246" y="10380"/>
                        <a:ext cx="3646" cy="12"/>
                      </a:xfrm>
                      <a:prstGeom prst="line">
                        <a:avLst/>
                      </a:prstGeom>
                      <a:noFill/>
                      <a:ln w="9525">
                        <a:solidFill>
                          <a:srgbClr val="000000"/>
                        </a:solidFill>
                        <a:round/>
                        <a:headEnd/>
                        <a:tailEnd type="triangle" w="med" len="med"/>
                      </a:ln>
                    </p:spPr>
                    <p:txBody>
                      <a:bodyPr/>
                      <a:lstStyle/>
                      <a:p>
                        <a:pPr>
                          <a:defRPr/>
                        </a:pPr>
                        <a:endParaRPr lang="zh-CN" altLang="en-US">
                          <a:ea typeface="宋体" charset="-122"/>
                        </a:endParaRPr>
                      </a:p>
                    </p:txBody>
                  </p:sp>
                  <p:sp>
                    <p:nvSpPr>
                      <p:cNvPr id="57404" name="Line 60">
                        <a:extLst>
                          <a:ext uri="{FF2B5EF4-FFF2-40B4-BE49-F238E27FC236}">
                            <a16:creationId xmlns:a16="http://schemas.microsoft.com/office/drawing/2014/main" id="{DE6FFB0D-C584-5ED9-39D7-303FC5CC0E1E}"/>
                          </a:ext>
                        </a:extLst>
                      </p:cNvPr>
                      <p:cNvSpPr>
                        <a:spLocks noChangeShapeType="1"/>
                      </p:cNvSpPr>
                      <p:nvPr/>
                    </p:nvSpPr>
                    <p:spPr bwMode="auto">
                      <a:xfrm flipV="1">
                        <a:off x="6246" y="11658"/>
                        <a:ext cx="3646" cy="12"/>
                      </a:xfrm>
                      <a:prstGeom prst="line">
                        <a:avLst/>
                      </a:prstGeom>
                      <a:noFill/>
                      <a:ln w="9525">
                        <a:solidFill>
                          <a:srgbClr val="000000"/>
                        </a:solidFill>
                        <a:round/>
                        <a:headEnd/>
                        <a:tailEnd type="triangle" w="med" len="med"/>
                      </a:ln>
                    </p:spPr>
                    <p:txBody>
                      <a:bodyPr/>
                      <a:lstStyle/>
                      <a:p>
                        <a:pPr>
                          <a:defRPr/>
                        </a:pPr>
                        <a:endParaRPr lang="zh-CN" altLang="en-US">
                          <a:ea typeface="宋体" charset="-122"/>
                        </a:endParaRPr>
                      </a:p>
                    </p:txBody>
                  </p:sp>
                </p:grpSp>
                <p:grpSp>
                  <p:nvGrpSpPr>
                    <p:cNvPr id="15" name="Group 61">
                      <a:extLst>
                        <a:ext uri="{FF2B5EF4-FFF2-40B4-BE49-F238E27FC236}">
                          <a16:creationId xmlns:a16="http://schemas.microsoft.com/office/drawing/2014/main" id="{186FF3D4-01EF-5946-BBAA-7550D9415512}"/>
                        </a:ext>
                      </a:extLst>
                    </p:cNvPr>
                    <p:cNvGrpSpPr>
                      <a:grpSpLocks/>
                    </p:cNvGrpSpPr>
                    <p:nvPr/>
                  </p:nvGrpSpPr>
                  <p:grpSpPr bwMode="auto">
                    <a:xfrm>
                      <a:off x="6120" y="8547"/>
                      <a:ext cx="530" cy="3024"/>
                      <a:chOff x="6120" y="8547"/>
                      <a:chExt cx="530" cy="3024"/>
                    </a:xfrm>
                  </p:grpSpPr>
                  <p:sp>
                    <p:nvSpPr>
                      <p:cNvPr id="57406" name="Text Box 62">
                        <a:extLst>
                          <a:ext uri="{FF2B5EF4-FFF2-40B4-BE49-F238E27FC236}">
                            <a16:creationId xmlns:a16="http://schemas.microsoft.com/office/drawing/2014/main" id="{240FB832-5B6D-C98B-E8A5-2DA0A7CFEAE1}"/>
                          </a:ext>
                        </a:extLst>
                      </p:cNvPr>
                      <p:cNvSpPr txBox="1">
                        <a:spLocks noChangeArrowheads="1"/>
                      </p:cNvSpPr>
                      <p:nvPr/>
                    </p:nvSpPr>
                    <p:spPr bwMode="auto">
                      <a:xfrm>
                        <a:off x="6140" y="11133"/>
                        <a:ext cx="510" cy="438"/>
                      </a:xfrm>
                      <a:prstGeom prst="rect">
                        <a:avLst/>
                      </a:prstGeom>
                      <a:noFill/>
                      <a:ln w="9525">
                        <a:noFill/>
                        <a:miter lim="800000"/>
                        <a:headEnd/>
                        <a:tailEnd/>
                      </a:ln>
                    </p:spPr>
                    <p:txBody>
                      <a:bodyPr/>
                      <a:lstStyle/>
                      <a:p>
                        <a:pPr algn="just">
                          <a:defRPr/>
                        </a:pPr>
                        <a:r>
                          <a:rPr lang="en-US" altLang="zh-CN" sz="2000" dirty="0">
                            <a:solidFill>
                              <a:srgbClr val="FF0000"/>
                            </a:solidFill>
                            <a:latin typeface="Calibri" pitchFamily="34" charset="0"/>
                            <a:ea typeface="宋体" charset="-122"/>
                          </a:rPr>
                          <a:t>c</a:t>
                        </a:r>
                        <a:endParaRPr lang="zh-CN" altLang="zh-CN" sz="2000" dirty="0">
                          <a:solidFill>
                            <a:srgbClr val="FF0000"/>
                          </a:solidFill>
                          <a:ea typeface="宋体" charset="-122"/>
                        </a:endParaRPr>
                      </a:p>
                    </p:txBody>
                  </p:sp>
                  <p:sp>
                    <p:nvSpPr>
                      <p:cNvPr id="57407" name="Text Box 63">
                        <a:extLst>
                          <a:ext uri="{FF2B5EF4-FFF2-40B4-BE49-F238E27FC236}">
                            <a16:creationId xmlns:a16="http://schemas.microsoft.com/office/drawing/2014/main" id="{435C3A13-C5CA-B868-FB65-2F241AC8AB43}"/>
                          </a:ext>
                        </a:extLst>
                      </p:cNvPr>
                      <p:cNvSpPr txBox="1">
                        <a:spLocks noChangeArrowheads="1"/>
                      </p:cNvSpPr>
                      <p:nvPr/>
                    </p:nvSpPr>
                    <p:spPr bwMode="auto">
                      <a:xfrm>
                        <a:off x="6120" y="9861"/>
                        <a:ext cx="510" cy="438"/>
                      </a:xfrm>
                      <a:prstGeom prst="rect">
                        <a:avLst/>
                      </a:prstGeom>
                      <a:noFill/>
                      <a:ln w="9525">
                        <a:noFill/>
                        <a:miter lim="800000"/>
                        <a:headEnd/>
                        <a:tailEnd/>
                      </a:ln>
                    </p:spPr>
                    <p:txBody>
                      <a:bodyPr/>
                      <a:lstStyle/>
                      <a:p>
                        <a:pPr algn="just">
                          <a:defRPr/>
                        </a:pPr>
                        <a:r>
                          <a:rPr lang="en-US" altLang="zh-CN" sz="2000" dirty="0">
                            <a:latin typeface="Calibri" pitchFamily="34" charset="0"/>
                            <a:ea typeface="宋体" charset="-122"/>
                          </a:rPr>
                          <a:t>b</a:t>
                        </a:r>
                        <a:endParaRPr lang="zh-CN" altLang="zh-CN" sz="2000" dirty="0">
                          <a:ea typeface="宋体" charset="-122"/>
                        </a:endParaRPr>
                      </a:p>
                    </p:txBody>
                  </p:sp>
                  <p:sp>
                    <p:nvSpPr>
                      <p:cNvPr id="57408" name="Text Box 64">
                        <a:extLst>
                          <a:ext uri="{FF2B5EF4-FFF2-40B4-BE49-F238E27FC236}">
                            <a16:creationId xmlns:a16="http://schemas.microsoft.com/office/drawing/2014/main" id="{BE04A774-F7A6-5BF5-DFAF-82F697DD0298}"/>
                          </a:ext>
                        </a:extLst>
                      </p:cNvPr>
                      <p:cNvSpPr txBox="1">
                        <a:spLocks noChangeArrowheads="1"/>
                      </p:cNvSpPr>
                      <p:nvPr/>
                    </p:nvSpPr>
                    <p:spPr bwMode="auto">
                      <a:xfrm>
                        <a:off x="6130" y="8547"/>
                        <a:ext cx="510" cy="438"/>
                      </a:xfrm>
                      <a:prstGeom prst="rect">
                        <a:avLst/>
                      </a:prstGeom>
                      <a:noFill/>
                      <a:ln w="9525">
                        <a:noFill/>
                        <a:miter lim="800000"/>
                        <a:headEnd/>
                        <a:tailEnd/>
                      </a:ln>
                    </p:spPr>
                    <p:txBody>
                      <a:bodyPr/>
                      <a:lstStyle/>
                      <a:p>
                        <a:pPr algn="just">
                          <a:defRPr/>
                        </a:pPr>
                        <a:r>
                          <a:rPr lang="en-US" altLang="zh-CN" sz="2000" dirty="0">
                            <a:latin typeface="Calibri" pitchFamily="34" charset="0"/>
                            <a:ea typeface="宋体" charset="-122"/>
                          </a:rPr>
                          <a:t>a</a:t>
                        </a:r>
                        <a:endParaRPr lang="zh-CN" altLang="zh-CN" sz="2000" dirty="0">
                          <a:ea typeface="宋体" charset="-122"/>
                        </a:endParaRPr>
                      </a:p>
                    </p:txBody>
                  </p:sp>
                </p:grpSp>
                <p:grpSp>
                  <p:nvGrpSpPr>
                    <p:cNvPr id="16" name="Group 65">
                      <a:extLst>
                        <a:ext uri="{FF2B5EF4-FFF2-40B4-BE49-F238E27FC236}">
                          <a16:creationId xmlns:a16="http://schemas.microsoft.com/office/drawing/2014/main" id="{C95D6EC0-F477-B495-6BDF-A713027C2327}"/>
                        </a:ext>
                      </a:extLst>
                    </p:cNvPr>
                    <p:cNvGrpSpPr>
                      <a:grpSpLocks/>
                    </p:cNvGrpSpPr>
                    <p:nvPr/>
                  </p:nvGrpSpPr>
                  <p:grpSpPr bwMode="auto">
                    <a:xfrm>
                      <a:off x="6584" y="8443"/>
                      <a:ext cx="2922" cy="3239"/>
                      <a:chOff x="6584" y="8443"/>
                      <a:chExt cx="2922" cy="3239"/>
                    </a:xfrm>
                  </p:grpSpPr>
                  <p:grpSp>
                    <p:nvGrpSpPr>
                      <p:cNvPr id="17" name="Group 66">
                        <a:extLst>
                          <a:ext uri="{FF2B5EF4-FFF2-40B4-BE49-F238E27FC236}">
                            <a16:creationId xmlns:a16="http://schemas.microsoft.com/office/drawing/2014/main" id="{FB97C15F-47F9-5243-E924-CBDACBC2FE12}"/>
                          </a:ext>
                        </a:extLst>
                      </p:cNvPr>
                      <p:cNvGrpSpPr>
                        <a:grpSpLocks/>
                      </p:cNvGrpSpPr>
                      <p:nvPr/>
                    </p:nvGrpSpPr>
                    <p:grpSpPr bwMode="auto">
                      <a:xfrm>
                        <a:off x="6810" y="8640"/>
                        <a:ext cx="2696" cy="2161"/>
                        <a:chOff x="6810" y="8640"/>
                        <a:chExt cx="2696" cy="2161"/>
                      </a:xfrm>
                    </p:grpSpPr>
                    <p:sp>
                      <p:nvSpPr>
                        <p:cNvPr id="57413" name="Line 69">
                          <a:extLst>
                            <a:ext uri="{FF2B5EF4-FFF2-40B4-BE49-F238E27FC236}">
                              <a16:creationId xmlns:a16="http://schemas.microsoft.com/office/drawing/2014/main" id="{C8D16A8C-6876-4BF7-B42F-C6431B68CCA4}"/>
                            </a:ext>
                          </a:extLst>
                        </p:cNvPr>
                        <p:cNvSpPr>
                          <a:spLocks noChangeShapeType="1"/>
                        </p:cNvSpPr>
                        <p:nvPr/>
                      </p:nvSpPr>
                      <p:spPr bwMode="auto">
                        <a:xfrm flipH="1" flipV="1">
                          <a:off x="7940" y="9957"/>
                          <a:ext cx="2" cy="831"/>
                        </a:xfrm>
                        <a:prstGeom prst="line">
                          <a:avLst/>
                        </a:prstGeom>
                        <a:noFill/>
                        <a:ln w="28575">
                          <a:solidFill>
                            <a:srgbClr val="3366FF"/>
                          </a:solidFill>
                          <a:round/>
                          <a:headEnd/>
                          <a:tailEnd/>
                        </a:ln>
                      </p:spPr>
                      <p:txBody>
                        <a:bodyPr/>
                        <a:lstStyle/>
                        <a:p>
                          <a:pPr>
                            <a:defRPr/>
                          </a:pPr>
                          <a:endParaRPr lang="zh-CN" altLang="en-US">
                            <a:ea typeface="宋体" charset="-122"/>
                          </a:endParaRPr>
                        </a:p>
                      </p:txBody>
                    </p:sp>
                    <p:grpSp>
                      <p:nvGrpSpPr>
                        <p:cNvPr id="18" name="Group 71">
                          <a:extLst>
                            <a:ext uri="{FF2B5EF4-FFF2-40B4-BE49-F238E27FC236}">
                              <a16:creationId xmlns:a16="http://schemas.microsoft.com/office/drawing/2014/main" id="{93FCDC89-D7AD-4412-39FD-CC58FF079114}"/>
                            </a:ext>
                          </a:extLst>
                        </p:cNvPr>
                        <p:cNvGrpSpPr>
                          <a:grpSpLocks/>
                        </p:cNvGrpSpPr>
                        <p:nvPr/>
                      </p:nvGrpSpPr>
                      <p:grpSpPr bwMode="auto">
                        <a:xfrm>
                          <a:off x="6810" y="8640"/>
                          <a:ext cx="2696" cy="2161"/>
                          <a:chOff x="6810" y="8640"/>
                          <a:chExt cx="2696" cy="2161"/>
                        </a:xfrm>
                      </p:grpSpPr>
                      <p:grpSp>
                        <p:nvGrpSpPr>
                          <p:cNvPr id="19" name="Group 72">
                            <a:extLst>
                              <a:ext uri="{FF2B5EF4-FFF2-40B4-BE49-F238E27FC236}">
                                <a16:creationId xmlns:a16="http://schemas.microsoft.com/office/drawing/2014/main" id="{1DAA5A8A-AEA7-0D75-6E75-2708C37A4800}"/>
                              </a:ext>
                            </a:extLst>
                          </p:cNvPr>
                          <p:cNvGrpSpPr>
                            <a:grpSpLocks/>
                          </p:cNvGrpSpPr>
                          <p:nvPr/>
                        </p:nvGrpSpPr>
                        <p:grpSpPr bwMode="auto">
                          <a:xfrm>
                            <a:off x="6810" y="8640"/>
                            <a:ext cx="376" cy="2151"/>
                            <a:chOff x="4270" y="504"/>
                            <a:chExt cx="376" cy="2151"/>
                          </a:xfrm>
                        </p:grpSpPr>
                        <p:sp>
                          <p:nvSpPr>
                            <p:cNvPr id="57417" name="Line 73">
                              <a:extLst>
                                <a:ext uri="{FF2B5EF4-FFF2-40B4-BE49-F238E27FC236}">
                                  <a16:creationId xmlns:a16="http://schemas.microsoft.com/office/drawing/2014/main" id="{36AAE7FC-D473-CDA6-D54B-38BF70A13FDE}"/>
                                </a:ext>
                              </a:extLst>
                            </p:cNvPr>
                            <p:cNvSpPr>
                              <a:spLocks noChangeShapeType="1"/>
                            </p:cNvSpPr>
                            <p:nvPr/>
                          </p:nvSpPr>
                          <p:spPr bwMode="auto">
                            <a:xfrm>
                              <a:off x="4270" y="2655"/>
                              <a:ext cx="376" cy="0"/>
                            </a:xfrm>
                            <a:prstGeom prst="line">
                              <a:avLst/>
                            </a:prstGeom>
                            <a:noFill/>
                            <a:ln w="28575">
                              <a:solidFill>
                                <a:srgbClr val="3366FF"/>
                              </a:solidFill>
                              <a:round/>
                              <a:headEnd/>
                              <a:tailEnd/>
                            </a:ln>
                          </p:spPr>
                          <p:txBody>
                            <a:bodyPr/>
                            <a:lstStyle/>
                            <a:p>
                              <a:pPr>
                                <a:defRPr/>
                              </a:pPr>
                              <a:endParaRPr lang="zh-CN" altLang="en-US">
                                <a:ea typeface="宋体" charset="-122"/>
                              </a:endParaRPr>
                            </a:p>
                          </p:txBody>
                        </p:sp>
                        <p:sp>
                          <p:nvSpPr>
                            <p:cNvPr id="57418" name="Line 74">
                              <a:extLst>
                                <a:ext uri="{FF2B5EF4-FFF2-40B4-BE49-F238E27FC236}">
                                  <a16:creationId xmlns:a16="http://schemas.microsoft.com/office/drawing/2014/main" id="{FC06E9FC-F5B2-9A79-DF5D-D82C45BB38C0}"/>
                                </a:ext>
                              </a:extLst>
                            </p:cNvPr>
                            <p:cNvSpPr>
                              <a:spLocks noChangeShapeType="1"/>
                            </p:cNvSpPr>
                            <p:nvPr/>
                          </p:nvSpPr>
                          <p:spPr bwMode="auto">
                            <a:xfrm flipH="1" flipV="1">
                              <a:off x="4636" y="1824"/>
                              <a:ext cx="2" cy="831"/>
                            </a:xfrm>
                            <a:prstGeom prst="line">
                              <a:avLst/>
                            </a:prstGeom>
                            <a:noFill/>
                            <a:ln w="28575">
                              <a:solidFill>
                                <a:srgbClr val="3366FF"/>
                              </a:solidFill>
                              <a:round/>
                              <a:headEnd/>
                              <a:tailEnd/>
                            </a:ln>
                          </p:spPr>
                          <p:txBody>
                            <a:bodyPr/>
                            <a:lstStyle/>
                            <a:p>
                              <a:pPr>
                                <a:defRPr/>
                              </a:pPr>
                              <a:endParaRPr lang="zh-CN" altLang="en-US">
                                <a:ea typeface="宋体" charset="-122"/>
                              </a:endParaRPr>
                            </a:p>
                          </p:txBody>
                        </p:sp>
                        <p:sp>
                          <p:nvSpPr>
                            <p:cNvPr id="103" name="Line 74">
                              <a:extLst>
                                <a:ext uri="{FF2B5EF4-FFF2-40B4-BE49-F238E27FC236}">
                                  <a16:creationId xmlns:a16="http://schemas.microsoft.com/office/drawing/2014/main" id="{1E42ECFB-86EB-076E-CF72-A49D7266A506}"/>
                                </a:ext>
                              </a:extLst>
                            </p:cNvPr>
                            <p:cNvSpPr>
                              <a:spLocks noChangeShapeType="1"/>
                            </p:cNvSpPr>
                            <p:nvPr/>
                          </p:nvSpPr>
                          <p:spPr bwMode="auto">
                            <a:xfrm flipH="1" flipV="1">
                              <a:off x="4425" y="504"/>
                              <a:ext cx="2" cy="831"/>
                            </a:xfrm>
                            <a:prstGeom prst="line">
                              <a:avLst/>
                            </a:prstGeom>
                            <a:noFill/>
                            <a:ln w="28575">
                              <a:solidFill>
                                <a:schemeClr val="tx1"/>
                              </a:solidFill>
                              <a:round/>
                              <a:headEnd/>
                              <a:tailEnd/>
                            </a:ln>
                          </p:spPr>
                          <p:txBody>
                            <a:bodyPr/>
                            <a:lstStyle/>
                            <a:p>
                              <a:pPr>
                                <a:defRPr/>
                              </a:pPr>
                              <a:endParaRPr lang="zh-CN" altLang="en-US">
                                <a:ea typeface="宋体" charset="-122"/>
                              </a:endParaRPr>
                            </a:p>
                          </p:txBody>
                        </p:sp>
                      </p:grpSp>
                      <p:sp>
                        <p:nvSpPr>
                          <p:cNvPr id="57419" name="Line 75">
                            <a:extLst>
                              <a:ext uri="{FF2B5EF4-FFF2-40B4-BE49-F238E27FC236}">
                                <a16:creationId xmlns:a16="http://schemas.microsoft.com/office/drawing/2014/main" id="{EC60D5D5-28AE-8A72-7A88-2C2CCFFEF054}"/>
                              </a:ext>
                            </a:extLst>
                          </p:cNvPr>
                          <p:cNvSpPr>
                            <a:spLocks noChangeShapeType="1"/>
                          </p:cNvSpPr>
                          <p:nvPr/>
                        </p:nvSpPr>
                        <p:spPr bwMode="auto">
                          <a:xfrm>
                            <a:off x="9130" y="9970"/>
                            <a:ext cx="376" cy="0"/>
                          </a:xfrm>
                          <a:prstGeom prst="line">
                            <a:avLst/>
                          </a:prstGeom>
                          <a:noFill/>
                          <a:ln w="28575">
                            <a:solidFill>
                              <a:srgbClr val="3366FF"/>
                            </a:solidFill>
                            <a:round/>
                            <a:headEnd/>
                            <a:tailEnd/>
                          </a:ln>
                        </p:spPr>
                        <p:txBody>
                          <a:bodyPr/>
                          <a:lstStyle/>
                          <a:p>
                            <a:pPr>
                              <a:defRPr/>
                            </a:pPr>
                            <a:endParaRPr lang="zh-CN" altLang="en-US">
                              <a:ea typeface="宋体" charset="-122"/>
                            </a:endParaRPr>
                          </a:p>
                        </p:txBody>
                      </p:sp>
                      <p:grpSp>
                        <p:nvGrpSpPr>
                          <p:cNvPr id="20" name="Group 76">
                            <a:extLst>
                              <a:ext uri="{FF2B5EF4-FFF2-40B4-BE49-F238E27FC236}">
                                <a16:creationId xmlns:a16="http://schemas.microsoft.com/office/drawing/2014/main" id="{AA99C81D-5023-69C0-8876-8774454C84CD}"/>
                              </a:ext>
                            </a:extLst>
                          </p:cNvPr>
                          <p:cNvGrpSpPr>
                            <a:grpSpLocks/>
                          </p:cNvGrpSpPr>
                          <p:nvPr/>
                        </p:nvGrpSpPr>
                        <p:grpSpPr bwMode="auto">
                          <a:xfrm>
                            <a:off x="7938" y="9961"/>
                            <a:ext cx="1201" cy="840"/>
                            <a:chOff x="4234" y="1824"/>
                            <a:chExt cx="1201" cy="840"/>
                          </a:xfrm>
                        </p:grpSpPr>
                        <p:sp>
                          <p:nvSpPr>
                            <p:cNvPr id="57421" name="Line 77">
                              <a:extLst>
                                <a:ext uri="{FF2B5EF4-FFF2-40B4-BE49-F238E27FC236}">
                                  <a16:creationId xmlns:a16="http://schemas.microsoft.com/office/drawing/2014/main" id="{4E5401B1-DCF6-A5AB-2D67-94D92038888A}"/>
                                </a:ext>
                              </a:extLst>
                            </p:cNvPr>
                            <p:cNvSpPr>
                              <a:spLocks noChangeShapeType="1"/>
                            </p:cNvSpPr>
                            <p:nvPr/>
                          </p:nvSpPr>
                          <p:spPr bwMode="auto">
                            <a:xfrm>
                              <a:off x="4234" y="2655"/>
                              <a:ext cx="376" cy="0"/>
                            </a:xfrm>
                            <a:prstGeom prst="line">
                              <a:avLst/>
                            </a:prstGeom>
                            <a:noFill/>
                            <a:ln w="28575">
                              <a:solidFill>
                                <a:srgbClr val="3366FF"/>
                              </a:solidFill>
                              <a:round/>
                              <a:headEnd/>
                              <a:tailEnd/>
                            </a:ln>
                          </p:spPr>
                          <p:txBody>
                            <a:bodyPr/>
                            <a:lstStyle/>
                            <a:p>
                              <a:pPr>
                                <a:defRPr/>
                              </a:pPr>
                              <a:endParaRPr lang="zh-CN" altLang="en-US">
                                <a:ea typeface="宋体" charset="-122"/>
                              </a:endParaRPr>
                            </a:p>
                          </p:txBody>
                        </p:sp>
                        <p:sp>
                          <p:nvSpPr>
                            <p:cNvPr id="57422" name="Line 78">
                              <a:extLst>
                                <a:ext uri="{FF2B5EF4-FFF2-40B4-BE49-F238E27FC236}">
                                  <a16:creationId xmlns:a16="http://schemas.microsoft.com/office/drawing/2014/main" id="{3D98333E-25C2-504D-02F6-ED2AD5CD132D}"/>
                                </a:ext>
                              </a:extLst>
                            </p:cNvPr>
                            <p:cNvSpPr>
                              <a:spLocks noChangeShapeType="1"/>
                            </p:cNvSpPr>
                            <p:nvPr/>
                          </p:nvSpPr>
                          <p:spPr bwMode="auto">
                            <a:xfrm flipH="1" flipV="1">
                              <a:off x="4618" y="1824"/>
                              <a:ext cx="2" cy="831"/>
                            </a:xfrm>
                            <a:prstGeom prst="line">
                              <a:avLst/>
                            </a:prstGeom>
                            <a:noFill/>
                            <a:ln w="28575">
                              <a:solidFill>
                                <a:srgbClr val="3366FF"/>
                              </a:solidFill>
                              <a:round/>
                              <a:headEnd/>
                              <a:tailEnd/>
                            </a:ln>
                          </p:spPr>
                          <p:txBody>
                            <a:bodyPr/>
                            <a:lstStyle/>
                            <a:p>
                              <a:pPr>
                                <a:defRPr/>
                              </a:pPr>
                              <a:endParaRPr lang="zh-CN" altLang="en-US">
                                <a:ea typeface="宋体" charset="-122"/>
                              </a:endParaRPr>
                            </a:p>
                          </p:txBody>
                        </p:sp>
                        <p:sp>
                          <p:nvSpPr>
                            <p:cNvPr id="100" name="Line 78">
                              <a:extLst>
                                <a:ext uri="{FF2B5EF4-FFF2-40B4-BE49-F238E27FC236}">
                                  <a16:creationId xmlns:a16="http://schemas.microsoft.com/office/drawing/2014/main" id="{62880FD5-B14F-5C76-D8B9-5D43F5CBBD2E}"/>
                                </a:ext>
                              </a:extLst>
                            </p:cNvPr>
                            <p:cNvSpPr>
                              <a:spLocks noChangeShapeType="1"/>
                            </p:cNvSpPr>
                            <p:nvPr/>
                          </p:nvSpPr>
                          <p:spPr bwMode="auto">
                            <a:xfrm flipH="1" flipV="1">
                              <a:off x="5433" y="1833"/>
                              <a:ext cx="2" cy="831"/>
                            </a:xfrm>
                            <a:prstGeom prst="line">
                              <a:avLst/>
                            </a:prstGeom>
                            <a:noFill/>
                            <a:ln w="28575">
                              <a:solidFill>
                                <a:srgbClr val="3366FF"/>
                              </a:solidFill>
                              <a:round/>
                              <a:headEnd/>
                              <a:tailEnd/>
                            </a:ln>
                          </p:spPr>
                          <p:txBody>
                            <a:bodyPr/>
                            <a:lstStyle/>
                            <a:p>
                              <a:pPr>
                                <a:defRPr/>
                              </a:pPr>
                              <a:endParaRPr lang="zh-CN" altLang="en-US">
                                <a:ea typeface="宋体" charset="-122"/>
                              </a:endParaRPr>
                            </a:p>
                          </p:txBody>
                        </p:sp>
                        <p:sp>
                          <p:nvSpPr>
                            <p:cNvPr id="101" name="Line 78">
                              <a:extLst>
                                <a:ext uri="{FF2B5EF4-FFF2-40B4-BE49-F238E27FC236}">
                                  <a16:creationId xmlns:a16="http://schemas.microsoft.com/office/drawing/2014/main" id="{CB1AEA36-17C9-C1AE-B53D-05AB5277274C}"/>
                                </a:ext>
                              </a:extLst>
                            </p:cNvPr>
                            <p:cNvSpPr>
                              <a:spLocks noChangeShapeType="1"/>
                            </p:cNvSpPr>
                            <p:nvPr/>
                          </p:nvSpPr>
                          <p:spPr bwMode="auto">
                            <a:xfrm flipH="1" flipV="1">
                              <a:off x="5020" y="1832"/>
                              <a:ext cx="2" cy="831"/>
                            </a:xfrm>
                            <a:prstGeom prst="line">
                              <a:avLst/>
                            </a:prstGeom>
                            <a:noFill/>
                            <a:ln w="28575">
                              <a:solidFill>
                                <a:srgbClr val="3366FF"/>
                              </a:solidFill>
                              <a:round/>
                              <a:headEnd/>
                              <a:tailEnd/>
                            </a:ln>
                          </p:spPr>
                          <p:txBody>
                            <a:bodyPr/>
                            <a:lstStyle/>
                            <a:p>
                              <a:pPr>
                                <a:defRPr/>
                              </a:pPr>
                              <a:endParaRPr lang="zh-CN" altLang="en-US">
                                <a:ea typeface="宋体" charset="-122"/>
                              </a:endParaRPr>
                            </a:p>
                          </p:txBody>
                        </p:sp>
                      </p:grpSp>
                      <p:sp>
                        <p:nvSpPr>
                          <p:cNvPr id="57424" name="Line 80">
                            <a:extLst>
                              <a:ext uri="{FF2B5EF4-FFF2-40B4-BE49-F238E27FC236}">
                                <a16:creationId xmlns:a16="http://schemas.microsoft.com/office/drawing/2014/main" id="{BC4F0560-E162-4547-F0E6-333FFCB3707C}"/>
                              </a:ext>
                            </a:extLst>
                          </p:cNvPr>
                          <p:cNvSpPr>
                            <a:spLocks noChangeShapeType="1"/>
                          </p:cNvSpPr>
                          <p:nvPr/>
                        </p:nvSpPr>
                        <p:spPr bwMode="auto">
                          <a:xfrm>
                            <a:off x="8340" y="9961"/>
                            <a:ext cx="376" cy="0"/>
                          </a:xfrm>
                          <a:prstGeom prst="line">
                            <a:avLst/>
                          </a:prstGeom>
                          <a:noFill/>
                          <a:ln w="28575">
                            <a:solidFill>
                              <a:srgbClr val="3366FF"/>
                            </a:solidFill>
                            <a:round/>
                            <a:headEnd/>
                            <a:tailEnd/>
                          </a:ln>
                        </p:spPr>
                        <p:txBody>
                          <a:bodyPr/>
                          <a:lstStyle/>
                          <a:p>
                            <a:pPr>
                              <a:defRPr/>
                            </a:pPr>
                            <a:endParaRPr lang="zh-CN" altLang="en-US">
                              <a:ea typeface="宋体" charset="-122"/>
                            </a:endParaRPr>
                          </a:p>
                        </p:txBody>
                      </p:sp>
                      <p:sp>
                        <p:nvSpPr>
                          <p:cNvPr id="57427" name="Line 83">
                            <a:extLst>
                              <a:ext uri="{FF2B5EF4-FFF2-40B4-BE49-F238E27FC236}">
                                <a16:creationId xmlns:a16="http://schemas.microsoft.com/office/drawing/2014/main" id="{9E7E792E-2B04-7803-0241-08506B91F020}"/>
                              </a:ext>
                            </a:extLst>
                          </p:cNvPr>
                          <p:cNvSpPr>
                            <a:spLocks noChangeShapeType="1"/>
                          </p:cNvSpPr>
                          <p:nvPr/>
                        </p:nvSpPr>
                        <p:spPr bwMode="auto">
                          <a:xfrm>
                            <a:off x="8740" y="10792"/>
                            <a:ext cx="376" cy="0"/>
                          </a:xfrm>
                          <a:prstGeom prst="line">
                            <a:avLst/>
                          </a:prstGeom>
                          <a:noFill/>
                          <a:ln w="28575">
                            <a:solidFill>
                              <a:srgbClr val="3366FF"/>
                            </a:solidFill>
                            <a:round/>
                            <a:headEnd/>
                            <a:tailEnd/>
                          </a:ln>
                        </p:spPr>
                        <p:txBody>
                          <a:bodyPr/>
                          <a:lstStyle/>
                          <a:p>
                            <a:pPr>
                              <a:defRPr/>
                            </a:pPr>
                            <a:endParaRPr lang="zh-CN" altLang="en-US">
                              <a:ea typeface="宋体" charset="-122"/>
                            </a:endParaRPr>
                          </a:p>
                        </p:txBody>
                      </p:sp>
                    </p:grpSp>
                  </p:grpSp>
                  <p:grpSp>
                    <p:nvGrpSpPr>
                      <p:cNvPr id="21" name="Group 85">
                        <a:extLst>
                          <a:ext uri="{FF2B5EF4-FFF2-40B4-BE49-F238E27FC236}">
                            <a16:creationId xmlns:a16="http://schemas.microsoft.com/office/drawing/2014/main" id="{AE7F3CAC-D309-89D2-3703-AB4F76A5A486}"/>
                          </a:ext>
                        </a:extLst>
                      </p:cNvPr>
                      <p:cNvGrpSpPr>
                        <a:grpSpLocks/>
                      </p:cNvGrpSpPr>
                      <p:nvPr/>
                    </p:nvGrpSpPr>
                    <p:grpSpPr bwMode="auto">
                      <a:xfrm>
                        <a:off x="6584" y="8443"/>
                        <a:ext cx="2730" cy="3239"/>
                        <a:chOff x="6584" y="1891"/>
                        <a:chExt cx="2730" cy="3239"/>
                      </a:xfrm>
                    </p:grpSpPr>
                    <p:grpSp>
                      <p:nvGrpSpPr>
                        <p:cNvPr id="22" name="Group 86">
                          <a:extLst>
                            <a:ext uri="{FF2B5EF4-FFF2-40B4-BE49-F238E27FC236}">
                              <a16:creationId xmlns:a16="http://schemas.microsoft.com/office/drawing/2014/main" id="{92139ADA-458A-312F-9184-6A1260880A78}"/>
                            </a:ext>
                          </a:extLst>
                        </p:cNvPr>
                        <p:cNvGrpSpPr>
                          <a:grpSpLocks/>
                        </p:cNvGrpSpPr>
                        <p:nvPr/>
                      </p:nvGrpSpPr>
                      <p:grpSpPr bwMode="auto">
                        <a:xfrm>
                          <a:off x="6584" y="1891"/>
                          <a:ext cx="2338" cy="3215"/>
                          <a:chOff x="4232" y="1618"/>
                          <a:chExt cx="2338" cy="3215"/>
                        </a:xfrm>
                      </p:grpSpPr>
                      <p:sp>
                        <p:nvSpPr>
                          <p:cNvPr id="57431" name="Line 87">
                            <a:extLst>
                              <a:ext uri="{FF2B5EF4-FFF2-40B4-BE49-F238E27FC236}">
                                <a16:creationId xmlns:a16="http://schemas.microsoft.com/office/drawing/2014/main" id="{90D6D40E-FCAB-507A-DC34-4A94518D0749}"/>
                              </a:ext>
                            </a:extLst>
                          </p:cNvPr>
                          <p:cNvSpPr>
                            <a:spLocks noChangeShapeType="1"/>
                          </p:cNvSpPr>
                          <p:nvPr/>
                        </p:nvSpPr>
                        <p:spPr bwMode="auto">
                          <a:xfrm>
                            <a:off x="4232" y="1653"/>
                            <a:ext cx="0" cy="3180"/>
                          </a:xfrm>
                          <a:prstGeom prst="line">
                            <a:avLst/>
                          </a:prstGeom>
                          <a:noFill/>
                          <a:ln w="9525">
                            <a:solidFill>
                              <a:srgbClr val="000000"/>
                            </a:solidFill>
                            <a:prstDash val="dash"/>
                            <a:round/>
                            <a:headEnd/>
                            <a:tailEnd/>
                          </a:ln>
                        </p:spPr>
                        <p:txBody>
                          <a:bodyPr/>
                          <a:lstStyle/>
                          <a:p>
                            <a:pPr>
                              <a:defRPr/>
                            </a:pPr>
                            <a:endParaRPr lang="zh-CN" altLang="en-US">
                              <a:ea typeface="宋体" charset="-122"/>
                            </a:endParaRPr>
                          </a:p>
                        </p:txBody>
                      </p:sp>
                      <p:sp>
                        <p:nvSpPr>
                          <p:cNvPr id="57433" name="Line 89">
                            <a:extLst>
                              <a:ext uri="{FF2B5EF4-FFF2-40B4-BE49-F238E27FC236}">
                                <a16:creationId xmlns:a16="http://schemas.microsoft.com/office/drawing/2014/main" id="{BB2845E8-2012-1945-C6D8-E6D18118B4B4}"/>
                              </a:ext>
                            </a:extLst>
                          </p:cNvPr>
                          <p:cNvSpPr>
                            <a:spLocks noChangeShapeType="1"/>
                          </p:cNvSpPr>
                          <p:nvPr/>
                        </p:nvSpPr>
                        <p:spPr bwMode="auto">
                          <a:xfrm>
                            <a:off x="5008" y="1653"/>
                            <a:ext cx="0" cy="3180"/>
                          </a:xfrm>
                          <a:prstGeom prst="line">
                            <a:avLst/>
                          </a:prstGeom>
                          <a:noFill/>
                          <a:ln w="9525">
                            <a:solidFill>
                              <a:srgbClr val="000000"/>
                            </a:solidFill>
                            <a:prstDash val="dash"/>
                            <a:round/>
                            <a:headEnd/>
                            <a:tailEnd/>
                          </a:ln>
                        </p:spPr>
                        <p:txBody>
                          <a:bodyPr/>
                          <a:lstStyle/>
                          <a:p>
                            <a:pPr>
                              <a:defRPr/>
                            </a:pPr>
                            <a:endParaRPr lang="zh-CN" altLang="en-US">
                              <a:ea typeface="宋体" charset="-122"/>
                            </a:endParaRPr>
                          </a:p>
                        </p:txBody>
                      </p:sp>
                      <p:sp>
                        <p:nvSpPr>
                          <p:cNvPr id="57434" name="Line 90">
                            <a:extLst>
                              <a:ext uri="{FF2B5EF4-FFF2-40B4-BE49-F238E27FC236}">
                                <a16:creationId xmlns:a16="http://schemas.microsoft.com/office/drawing/2014/main" id="{1729AC1A-9236-76C5-CF71-511899B14281}"/>
                              </a:ext>
                            </a:extLst>
                          </p:cNvPr>
                          <p:cNvSpPr>
                            <a:spLocks noChangeShapeType="1"/>
                          </p:cNvSpPr>
                          <p:nvPr/>
                        </p:nvSpPr>
                        <p:spPr bwMode="auto">
                          <a:xfrm>
                            <a:off x="5385" y="1653"/>
                            <a:ext cx="0" cy="3180"/>
                          </a:xfrm>
                          <a:prstGeom prst="line">
                            <a:avLst/>
                          </a:prstGeom>
                          <a:noFill/>
                          <a:ln w="9525">
                            <a:solidFill>
                              <a:srgbClr val="000000"/>
                            </a:solidFill>
                            <a:prstDash val="dash"/>
                            <a:round/>
                            <a:headEnd/>
                            <a:tailEnd/>
                          </a:ln>
                        </p:spPr>
                        <p:txBody>
                          <a:bodyPr/>
                          <a:lstStyle/>
                          <a:p>
                            <a:pPr>
                              <a:defRPr/>
                            </a:pPr>
                            <a:endParaRPr lang="zh-CN" altLang="en-US">
                              <a:ea typeface="宋体" charset="-122"/>
                            </a:endParaRPr>
                          </a:p>
                        </p:txBody>
                      </p:sp>
                      <p:sp>
                        <p:nvSpPr>
                          <p:cNvPr id="57435" name="Line 91">
                            <a:extLst>
                              <a:ext uri="{FF2B5EF4-FFF2-40B4-BE49-F238E27FC236}">
                                <a16:creationId xmlns:a16="http://schemas.microsoft.com/office/drawing/2014/main" id="{2998FD3E-A86D-BD3B-1D8D-E12FF90A260C}"/>
                              </a:ext>
                            </a:extLst>
                          </p:cNvPr>
                          <p:cNvSpPr>
                            <a:spLocks noChangeShapeType="1"/>
                          </p:cNvSpPr>
                          <p:nvPr/>
                        </p:nvSpPr>
                        <p:spPr bwMode="auto">
                          <a:xfrm>
                            <a:off x="5779" y="1653"/>
                            <a:ext cx="0" cy="3180"/>
                          </a:xfrm>
                          <a:prstGeom prst="line">
                            <a:avLst/>
                          </a:prstGeom>
                          <a:noFill/>
                          <a:ln w="9525">
                            <a:solidFill>
                              <a:srgbClr val="000000"/>
                            </a:solidFill>
                            <a:prstDash val="dash"/>
                            <a:round/>
                            <a:headEnd/>
                            <a:tailEnd/>
                          </a:ln>
                        </p:spPr>
                        <p:txBody>
                          <a:bodyPr/>
                          <a:lstStyle/>
                          <a:p>
                            <a:pPr>
                              <a:defRPr/>
                            </a:pPr>
                            <a:endParaRPr lang="zh-CN" altLang="en-US">
                              <a:ea typeface="宋体" charset="-122"/>
                            </a:endParaRPr>
                          </a:p>
                        </p:txBody>
                      </p:sp>
                      <p:sp>
                        <p:nvSpPr>
                          <p:cNvPr id="57436" name="Line 92">
                            <a:extLst>
                              <a:ext uri="{FF2B5EF4-FFF2-40B4-BE49-F238E27FC236}">
                                <a16:creationId xmlns:a16="http://schemas.microsoft.com/office/drawing/2014/main" id="{78120DA8-9C38-4219-430B-D78E380FB92D}"/>
                              </a:ext>
                            </a:extLst>
                          </p:cNvPr>
                          <p:cNvSpPr>
                            <a:spLocks noChangeShapeType="1"/>
                          </p:cNvSpPr>
                          <p:nvPr/>
                        </p:nvSpPr>
                        <p:spPr bwMode="auto">
                          <a:xfrm>
                            <a:off x="6193" y="1653"/>
                            <a:ext cx="0" cy="3180"/>
                          </a:xfrm>
                          <a:prstGeom prst="line">
                            <a:avLst/>
                          </a:prstGeom>
                          <a:noFill/>
                          <a:ln w="9525">
                            <a:solidFill>
                              <a:srgbClr val="000000"/>
                            </a:solidFill>
                            <a:prstDash val="dash"/>
                            <a:round/>
                            <a:headEnd/>
                            <a:tailEnd/>
                          </a:ln>
                        </p:spPr>
                        <p:txBody>
                          <a:bodyPr/>
                          <a:lstStyle/>
                          <a:p>
                            <a:pPr>
                              <a:defRPr/>
                            </a:pPr>
                            <a:endParaRPr lang="zh-CN" altLang="en-US">
                              <a:ea typeface="宋体" charset="-122"/>
                            </a:endParaRPr>
                          </a:p>
                        </p:txBody>
                      </p:sp>
                      <p:sp>
                        <p:nvSpPr>
                          <p:cNvPr id="57437" name="Line 93">
                            <a:extLst>
                              <a:ext uri="{FF2B5EF4-FFF2-40B4-BE49-F238E27FC236}">
                                <a16:creationId xmlns:a16="http://schemas.microsoft.com/office/drawing/2014/main" id="{8DDCB3ED-F2EF-88B5-03EE-75266D15A38D}"/>
                              </a:ext>
                            </a:extLst>
                          </p:cNvPr>
                          <p:cNvSpPr>
                            <a:spLocks noChangeShapeType="1"/>
                          </p:cNvSpPr>
                          <p:nvPr/>
                        </p:nvSpPr>
                        <p:spPr bwMode="auto">
                          <a:xfrm>
                            <a:off x="6570" y="1653"/>
                            <a:ext cx="0" cy="3180"/>
                          </a:xfrm>
                          <a:prstGeom prst="line">
                            <a:avLst/>
                          </a:prstGeom>
                          <a:noFill/>
                          <a:ln w="9525">
                            <a:solidFill>
                              <a:srgbClr val="000000"/>
                            </a:solidFill>
                            <a:prstDash val="dash"/>
                            <a:round/>
                            <a:headEnd/>
                            <a:tailEnd/>
                          </a:ln>
                        </p:spPr>
                        <p:txBody>
                          <a:bodyPr/>
                          <a:lstStyle/>
                          <a:p>
                            <a:pPr>
                              <a:defRPr/>
                            </a:pPr>
                            <a:endParaRPr lang="zh-CN" altLang="en-US">
                              <a:ea typeface="宋体" charset="-122"/>
                            </a:endParaRPr>
                          </a:p>
                        </p:txBody>
                      </p:sp>
                      <p:sp>
                        <p:nvSpPr>
                          <p:cNvPr id="89" name="Line 89">
                            <a:extLst>
                              <a:ext uri="{FF2B5EF4-FFF2-40B4-BE49-F238E27FC236}">
                                <a16:creationId xmlns:a16="http://schemas.microsoft.com/office/drawing/2014/main" id="{78280C48-A291-6177-7D5B-245DDF79E9E0}"/>
                              </a:ext>
                            </a:extLst>
                          </p:cNvPr>
                          <p:cNvSpPr>
                            <a:spLocks noChangeShapeType="1"/>
                          </p:cNvSpPr>
                          <p:nvPr/>
                        </p:nvSpPr>
                        <p:spPr bwMode="auto">
                          <a:xfrm>
                            <a:off x="4613" y="1618"/>
                            <a:ext cx="0" cy="3180"/>
                          </a:xfrm>
                          <a:prstGeom prst="line">
                            <a:avLst/>
                          </a:prstGeom>
                          <a:noFill/>
                          <a:ln w="9525">
                            <a:solidFill>
                              <a:srgbClr val="000000"/>
                            </a:solidFill>
                            <a:prstDash val="dash"/>
                            <a:round/>
                            <a:headEnd/>
                            <a:tailEnd/>
                          </a:ln>
                        </p:spPr>
                        <p:txBody>
                          <a:bodyPr/>
                          <a:lstStyle/>
                          <a:p>
                            <a:pPr>
                              <a:defRPr/>
                            </a:pPr>
                            <a:endParaRPr lang="zh-CN" altLang="en-US">
                              <a:ea typeface="宋体" charset="-122"/>
                            </a:endParaRPr>
                          </a:p>
                        </p:txBody>
                      </p:sp>
                    </p:grpSp>
                    <p:sp>
                      <p:nvSpPr>
                        <p:cNvPr id="57438" name="Line 94">
                          <a:extLst>
                            <a:ext uri="{FF2B5EF4-FFF2-40B4-BE49-F238E27FC236}">
                              <a16:creationId xmlns:a16="http://schemas.microsoft.com/office/drawing/2014/main" id="{A9F0921F-C09D-EA5B-AE4F-AAF6825FE94B}"/>
                            </a:ext>
                          </a:extLst>
                        </p:cNvPr>
                        <p:cNvSpPr>
                          <a:spLocks noChangeShapeType="1"/>
                        </p:cNvSpPr>
                        <p:nvPr/>
                      </p:nvSpPr>
                      <p:spPr bwMode="auto">
                        <a:xfrm>
                          <a:off x="9314" y="1926"/>
                          <a:ext cx="0" cy="3204"/>
                        </a:xfrm>
                        <a:prstGeom prst="line">
                          <a:avLst/>
                        </a:prstGeom>
                        <a:noFill/>
                        <a:ln w="9525">
                          <a:solidFill>
                            <a:srgbClr val="000000"/>
                          </a:solidFill>
                          <a:prstDash val="dash"/>
                          <a:round/>
                          <a:headEnd/>
                          <a:tailEnd/>
                        </a:ln>
                      </p:spPr>
                      <p:txBody>
                        <a:bodyPr/>
                        <a:lstStyle/>
                        <a:p>
                          <a:pPr>
                            <a:defRPr/>
                          </a:pPr>
                          <a:endParaRPr lang="zh-CN" altLang="en-US">
                            <a:ea typeface="宋体" charset="-122"/>
                          </a:endParaRPr>
                        </a:p>
                      </p:txBody>
                    </p:sp>
                  </p:grpSp>
                </p:grpSp>
              </p:grpSp>
            </p:grpSp>
          </p:grpSp>
        </p:grpSp>
        <p:cxnSp>
          <p:nvCxnSpPr>
            <p:cNvPr id="49162" name="直接连接符 113">
              <a:extLst>
                <a:ext uri="{FF2B5EF4-FFF2-40B4-BE49-F238E27FC236}">
                  <a16:creationId xmlns:a16="http://schemas.microsoft.com/office/drawing/2014/main" id="{6D776272-2DC3-FEF8-A84F-E764E9164D06}"/>
                </a:ext>
              </a:extLst>
            </p:cNvPr>
            <p:cNvCxnSpPr>
              <a:cxnSpLocks noChangeShapeType="1"/>
            </p:cNvCxnSpPr>
            <p:nvPr/>
          </p:nvCxnSpPr>
          <p:spPr bwMode="auto">
            <a:xfrm>
              <a:off x="1328262" y="3355975"/>
              <a:ext cx="585788" cy="1588"/>
            </a:xfrm>
            <a:prstGeom prst="line">
              <a:avLst/>
            </a:prstGeom>
            <a:noFill/>
            <a:ln w="2857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49163" name="直接连接符 115">
              <a:extLst>
                <a:ext uri="{FF2B5EF4-FFF2-40B4-BE49-F238E27FC236}">
                  <a16:creationId xmlns:a16="http://schemas.microsoft.com/office/drawing/2014/main" id="{3518CFC2-C8EB-CFC8-5303-22E1736901AE}"/>
                </a:ext>
              </a:extLst>
            </p:cNvPr>
            <p:cNvCxnSpPr>
              <a:cxnSpLocks noChangeShapeType="1"/>
            </p:cNvCxnSpPr>
            <p:nvPr/>
          </p:nvCxnSpPr>
          <p:spPr bwMode="auto">
            <a:xfrm>
              <a:off x="1498600" y="4413250"/>
              <a:ext cx="585788" cy="1588"/>
            </a:xfrm>
            <a:prstGeom prst="line">
              <a:avLst/>
            </a:prstGeom>
            <a:noFill/>
            <a:ln w="28575" algn="ctr">
              <a:solidFill>
                <a:srgbClr val="003399"/>
              </a:solidFill>
              <a:miter lim="800000"/>
              <a:headEnd/>
              <a:tailEnd/>
            </a:ln>
            <a:extLst>
              <a:ext uri="{909E8E84-426E-40DD-AFC4-6F175D3DCCD1}">
                <a14:hiddenFill xmlns:a14="http://schemas.microsoft.com/office/drawing/2010/main">
                  <a:noFill/>
                </a14:hiddenFill>
              </a:ext>
            </a:extLst>
          </p:spPr>
        </p:cxnSp>
      </p:grpSp>
      <p:sp>
        <p:nvSpPr>
          <p:cNvPr id="52232" name="Text Box 62">
            <a:extLst>
              <a:ext uri="{FF2B5EF4-FFF2-40B4-BE49-F238E27FC236}">
                <a16:creationId xmlns:a16="http://schemas.microsoft.com/office/drawing/2014/main" id="{2B867ACA-A058-7763-AFAB-2F2E4E54EB1D}"/>
              </a:ext>
            </a:extLst>
          </p:cNvPr>
          <p:cNvSpPr txBox="1">
            <a:spLocks noChangeArrowheads="1"/>
          </p:cNvSpPr>
          <p:nvPr/>
        </p:nvSpPr>
        <p:spPr bwMode="auto">
          <a:xfrm>
            <a:off x="4373563" y="1343025"/>
            <a:ext cx="40640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400">
                <a:solidFill>
                  <a:srgbClr val="FF0000"/>
                </a:solidFill>
                <a:latin typeface="Calibri" panose="020F0502020204030204" pitchFamily="34" charset="0"/>
              </a:rPr>
              <a:t>c</a:t>
            </a:r>
            <a:endParaRPr lang="zh-CN" altLang="zh-CN" sz="2400">
              <a:solidFill>
                <a:srgbClr val="FF0000"/>
              </a:solidFill>
            </a:endParaRPr>
          </a:p>
        </p:txBody>
      </p:sp>
      <p:sp>
        <p:nvSpPr>
          <p:cNvPr id="119" name="内容占位符 4">
            <a:extLst>
              <a:ext uri="{FF2B5EF4-FFF2-40B4-BE49-F238E27FC236}">
                <a16:creationId xmlns:a16="http://schemas.microsoft.com/office/drawing/2014/main" id="{C36285CF-3DDD-E081-644E-D75677A8B2E6}"/>
              </a:ext>
            </a:extLst>
          </p:cNvPr>
          <p:cNvSpPr txBox="1">
            <a:spLocks/>
          </p:cNvSpPr>
          <p:nvPr/>
        </p:nvSpPr>
        <p:spPr>
          <a:xfrm>
            <a:off x="3929063" y="5429250"/>
            <a:ext cx="4572000" cy="811213"/>
          </a:xfrm>
          <a:prstGeom prst="rect">
            <a:avLst/>
          </a:prstGeom>
          <a:solidFill>
            <a:schemeClr val="bg1">
              <a:lumMod val="95000"/>
            </a:schemeClr>
          </a:solidFill>
          <a:ln>
            <a:solidFill>
              <a:schemeClr val="bg1">
                <a:lumMod val="85000"/>
              </a:schemeClr>
            </a:solidFill>
          </a:ln>
          <a:effectLst>
            <a:outerShdw blurRad="50800" dist="38100" dir="2700000" algn="tl" rotWithShape="0">
              <a:prstClr val="black">
                <a:alpha val="40000"/>
              </a:prstClr>
            </a:outerShdw>
          </a:effectLst>
        </p:spPr>
        <p:txBody>
          <a:bodyPr>
            <a:spAutoFit/>
          </a:bodyPr>
          <a:lstStyle/>
          <a:p>
            <a:pPr marL="342900" indent="-342900" eaLnBrk="0" hangingPunct="0">
              <a:lnSpc>
                <a:spcPts val="2800"/>
              </a:lnSpc>
              <a:spcBef>
                <a:spcPct val="20000"/>
              </a:spcBef>
              <a:buClr>
                <a:srgbClr val="0000CC"/>
              </a:buClr>
              <a:buSzPct val="73000"/>
              <a:buFont typeface="Wingdings" pitchFamily="2" charset="2"/>
              <a:buChar char="u"/>
              <a:defRPr/>
            </a:pPr>
            <a:r>
              <a:rPr lang="zh-CN" altLang="en-US" sz="2000" kern="0" dirty="0">
                <a:latin typeface="微软雅黑" pitchFamily="34" charset="-122"/>
                <a:ea typeface="微软雅黑" pitchFamily="34" charset="-122"/>
              </a:rPr>
              <a:t>延迟时间等于码元时间一半时，码元速率分量最强。</a:t>
            </a:r>
          </a:p>
        </p:txBody>
      </p:sp>
      <p:pic>
        <p:nvPicPr>
          <p:cNvPr id="81922" name="Picture 2">
            <a:extLst>
              <a:ext uri="{FF2B5EF4-FFF2-40B4-BE49-F238E27FC236}">
                <a16:creationId xmlns:a16="http://schemas.microsoft.com/office/drawing/2014/main" id="{A8AC2C8A-D64D-04A9-79F7-8BCA04D96D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6350" y="3028950"/>
            <a:ext cx="4845050" cy="22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Right)">
                                      <p:cBhvr>
                                        <p:cTn id="7" dur="10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nodeType="clickEffect">
                                  <p:stCondLst>
                                    <p:cond delay="0"/>
                                  </p:stCondLst>
                                  <p:childTnLst>
                                    <p:set>
                                      <p:cBhvr>
                                        <p:cTn id="11" dur="1" fill="hold">
                                          <p:stCondLst>
                                            <p:cond delay="0"/>
                                          </p:stCondLst>
                                        </p:cTn>
                                        <p:tgtEl>
                                          <p:spTgt spid="57357"/>
                                        </p:tgtEl>
                                        <p:attrNameLst>
                                          <p:attrName>style.visibility</p:attrName>
                                        </p:attrNameLst>
                                      </p:cBhvr>
                                      <p:to>
                                        <p:strVal val="visible"/>
                                      </p:to>
                                    </p:set>
                                    <p:animEffect transition="in" filter="strips(upRight)">
                                      <p:cBhvr>
                                        <p:cTn id="12" dur="2000"/>
                                        <p:tgtEl>
                                          <p:spTgt spid="5735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2000"/>
                                        <p:tgtEl>
                                          <p:spTgt spid="2"/>
                                        </p:tgtEl>
                                      </p:cBhvr>
                                    </p:animEffect>
                                  </p:childTnLst>
                                </p:cTn>
                              </p:par>
                              <p:par>
                                <p:cTn id="18" presetID="22" presetClass="entr" presetSubtype="4" fill="hold" nodeType="withEffect">
                                  <p:stCondLst>
                                    <p:cond delay="0"/>
                                  </p:stCondLst>
                                  <p:childTnLst>
                                    <p:set>
                                      <p:cBhvr>
                                        <p:cTn id="19" dur="1" fill="hold">
                                          <p:stCondLst>
                                            <p:cond delay="0"/>
                                          </p:stCondLst>
                                        </p:cTn>
                                        <p:tgtEl>
                                          <p:spTgt spid="52232"/>
                                        </p:tgtEl>
                                        <p:attrNameLst>
                                          <p:attrName>style.visibility</p:attrName>
                                        </p:attrNameLst>
                                      </p:cBhvr>
                                      <p:to>
                                        <p:strVal val="visible"/>
                                      </p:to>
                                    </p:set>
                                    <p:animEffect transition="in" filter="wipe(down)">
                                      <p:cBhvr>
                                        <p:cTn id="20" dur="1000"/>
                                        <p:tgtEl>
                                          <p:spTgt spid="5223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81922"/>
                                        </p:tgtEl>
                                        <p:attrNameLst>
                                          <p:attrName>style.visibility</p:attrName>
                                        </p:attrNameLst>
                                      </p:cBhvr>
                                      <p:to>
                                        <p:strVal val="visible"/>
                                      </p:to>
                                    </p:set>
                                    <p:animEffect transition="in" filter="wipe(up)">
                                      <p:cBhvr>
                                        <p:cTn id="25" dur="2000"/>
                                        <p:tgtEl>
                                          <p:spTgt spid="8192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119"/>
                                        </p:tgtEl>
                                        <p:attrNameLst>
                                          <p:attrName>style.visibility</p:attrName>
                                        </p:attrNameLst>
                                      </p:cBhvr>
                                      <p:to>
                                        <p:strVal val="visible"/>
                                      </p:to>
                                    </p:set>
                                    <p:animEffect transition="in" filter="wipe(up)">
                                      <p:cBhvr>
                                        <p:cTn id="30" dur="10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2232" grpId="0"/>
      <p:bldP spid="119"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矩形 5">
            <a:extLst>
              <a:ext uri="{FF2B5EF4-FFF2-40B4-BE49-F238E27FC236}">
                <a16:creationId xmlns:a16="http://schemas.microsoft.com/office/drawing/2014/main" id="{949BB12C-002A-5AF6-7C2A-18A69C22F9F2}"/>
              </a:ext>
            </a:extLst>
          </p:cNvPr>
          <p:cNvSpPr>
            <a:spLocks noChangeArrowheads="1"/>
          </p:cNvSpPr>
          <p:nvPr/>
        </p:nvSpPr>
        <p:spPr bwMode="auto">
          <a:xfrm>
            <a:off x="2286000" y="-25868313"/>
            <a:ext cx="4572000"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lvl="3" eaLnBrk="1" hangingPunct="1">
              <a:lnSpc>
                <a:spcPct val="90000"/>
              </a:lnSpc>
            </a:pPr>
            <a:r>
              <a:rPr lang="zh-CN" altLang="en-US" sz="2000">
                <a:latin typeface="微软雅黑" panose="020B0503020204020204" pitchFamily="34" charset="-122"/>
                <a:ea typeface="微软雅黑" panose="020B0503020204020204" pitchFamily="34" charset="-122"/>
              </a:rPr>
              <a:t>相乘器输入和输出的波形：</a:t>
            </a:r>
          </a:p>
          <a:p>
            <a:pPr lvl="3" eaLnBrk="1" hangingPunct="1">
              <a:lnSpc>
                <a:spcPct val="90000"/>
              </a:lnSpc>
              <a:buFont typeface="Wingdings" panose="05000000000000000000" pitchFamily="2" charset="2"/>
              <a:buNone/>
            </a:pPr>
            <a:r>
              <a:rPr lang="zh-CN" altLang="en-US" sz="2000">
                <a:latin typeface="微软雅黑" panose="020B0503020204020204" pitchFamily="34" charset="-122"/>
                <a:ea typeface="微软雅黑" panose="020B0503020204020204" pitchFamily="34" charset="-122"/>
              </a:rPr>
              <a:t>	延迟相乘后码元波形的后一</a:t>
            </a:r>
          </a:p>
          <a:p>
            <a:pPr lvl="3" eaLnBrk="1" hangingPunct="1">
              <a:lnSpc>
                <a:spcPct val="90000"/>
              </a:lnSpc>
              <a:buFont typeface="Wingdings" panose="05000000000000000000" pitchFamily="2" charset="2"/>
              <a:buNone/>
            </a:pPr>
            <a:r>
              <a:rPr lang="zh-CN" altLang="en-US" sz="2000">
                <a:latin typeface="微软雅黑" panose="020B0503020204020204" pitchFamily="34" charset="-122"/>
                <a:ea typeface="微软雅黑" panose="020B0503020204020204" pitchFamily="34" charset="-122"/>
              </a:rPr>
              <a:t>	半永远是正值；而前一半则</a:t>
            </a:r>
          </a:p>
          <a:p>
            <a:pPr lvl="3" eaLnBrk="1" hangingPunct="1">
              <a:lnSpc>
                <a:spcPct val="90000"/>
              </a:lnSpc>
              <a:buFont typeface="Wingdings" panose="05000000000000000000" pitchFamily="2" charset="2"/>
              <a:buNone/>
            </a:pPr>
            <a:r>
              <a:rPr lang="zh-CN" altLang="en-US" sz="2000">
                <a:latin typeface="微软雅黑" panose="020B0503020204020204" pitchFamily="34" charset="-122"/>
                <a:ea typeface="微软雅黑" panose="020B0503020204020204" pitchFamily="34" charset="-122"/>
              </a:rPr>
              <a:t>	当输入状态有改变时为负值。</a:t>
            </a:r>
          </a:p>
          <a:p>
            <a:pPr lvl="3" eaLnBrk="1" hangingPunct="1">
              <a:lnSpc>
                <a:spcPct val="90000"/>
              </a:lnSpc>
              <a:buFont typeface="Wingdings" panose="05000000000000000000" pitchFamily="2" charset="2"/>
              <a:buNone/>
            </a:pPr>
            <a:r>
              <a:rPr lang="zh-CN" altLang="en-US" sz="2000">
                <a:latin typeface="微软雅黑" panose="020B0503020204020204" pitchFamily="34" charset="-122"/>
                <a:ea typeface="微软雅黑" panose="020B0503020204020204" pitchFamily="34" charset="-122"/>
              </a:rPr>
              <a:t>	因此，变换后的码元序列的</a:t>
            </a:r>
          </a:p>
          <a:p>
            <a:pPr lvl="3" eaLnBrk="1" hangingPunct="1">
              <a:lnSpc>
                <a:spcPct val="90000"/>
              </a:lnSpc>
              <a:buFont typeface="Wingdings" panose="05000000000000000000" pitchFamily="2" charset="2"/>
              <a:buNone/>
            </a:pPr>
            <a:r>
              <a:rPr lang="zh-CN" altLang="en-US" sz="2000">
                <a:latin typeface="微软雅黑" panose="020B0503020204020204" pitchFamily="34" charset="-122"/>
                <a:ea typeface="微软雅黑" panose="020B0503020204020204" pitchFamily="34" charset="-122"/>
              </a:rPr>
              <a:t>	频谱中就产生了码元速率的</a:t>
            </a:r>
          </a:p>
          <a:p>
            <a:pPr lvl="3" eaLnBrk="1" hangingPunct="1">
              <a:lnSpc>
                <a:spcPct val="90000"/>
              </a:lnSpc>
              <a:buFont typeface="Wingdings" panose="05000000000000000000" pitchFamily="2" charset="2"/>
              <a:buNone/>
            </a:pPr>
            <a:r>
              <a:rPr lang="zh-CN" altLang="en-US" sz="2000">
                <a:latin typeface="微软雅黑" panose="020B0503020204020204" pitchFamily="34" charset="-122"/>
                <a:ea typeface="微软雅黑" panose="020B0503020204020204" pitchFamily="34" charset="-122"/>
              </a:rPr>
              <a:t>	分量。</a:t>
            </a:r>
          </a:p>
          <a:p>
            <a:pPr lvl="3" eaLnBrk="1" hangingPunct="1">
              <a:lnSpc>
                <a:spcPct val="90000"/>
              </a:lnSpc>
            </a:pPr>
            <a:r>
              <a:rPr lang="zh-CN" altLang="en-US" sz="2000">
                <a:latin typeface="微软雅黑" panose="020B0503020204020204" pitchFamily="34" charset="-122"/>
                <a:ea typeface="微软雅黑" panose="020B0503020204020204" pitchFamily="34" charset="-122"/>
              </a:rPr>
              <a:t>延迟时间等于码元时间一半</a:t>
            </a:r>
          </a:p>
          <a:p>
            <a:pPr lvl="3" eaLnBrk="1" hangingPunct="1">
              <a:lnSpc>
                <a:spcPct val="90000"/>
              </a:lnSpc>
              <a:buFont typeface="Wingdings" panose="05000000000000000000" pitchFamily="2" charset="2"/>
              <a:buNone/>
            </a:pPr>
            <a:r>
              <a:rPr lang="zh-CN" altLang="en-US" sz="2000">
                <a:latin typeface="微软雅黑" panose="020B0503020204020204" pitchFamily="34" charset="-122"/>
                <a:ea typeface="微软雅黑" panose="020B0503020204020204" pitchFamily="34" charset="-122"/>
              </a:rPr>
              <a:t>	时，码元速率分量最强。</a:t>
            </a:r>
          </a:p>
        </p:txBody>
      </p:sp>
      <p:sp>
        <p:nvSpPr>
          <p:cNvPr id="87" name="矩形 86">
            <a:extLst>
              <a:ext uri="{FF2B5EF4-FFF2-40B4-BE49-F238E27FC236}">
                <a16:creationId xmlns:a16="http://schemas.microsoft.com/office/drawing/2014/main" id="{254920D0-D715-4AE4-A9BF-30B93BF313BC}"/>
              </a:ext>
            </a:extLst>
          </p:cNvPr>
          <p:cNvSpPr/>
          <p:nvPr/>
        </p:nvSpPr>
        <p:spPr>
          <a:xfrm>
            <a:off x="142875" y="1071563"/>
            <a:ext cx="2643188" cy="501650"/>
          </a:xfrm>
          <a:prstGeom prst="rect">
            <a:avLst/>
          </a:prstGeom>
        </p:spPr>
        <p:txBody>
          <a:bodyPr>
            <a:spAutoFit/>
          </a:bodyPr>
          <a:lstStyle/>
          <a:p>
            <a:pPr marL="742950" lvl="1" indent="-285750" eaLnBrk="0" hangingPunct="0">
              <a:lnSpc>
                <a:spcPts val="3500"/>
              </a:lnSpc>
              <a:spcBef>
                <a:spcPct val="20000"/>
              </a:spcBef>
              <a:buClr>
                <a:srgbClr val="FF0000"/>
              </a:buClr>
              <a:buSzPct val="80000"/>
              <a:buFont typeface="Wingdings" pitchFamily="2" charset="2"/>
              <a:buChar char="n"/>
              <a:defRPr/>
            </a:pPr>
            <a:r>
              <a:rPr lang="zh-CN" altLang="en-US" sz="2400" b="1" dirty="0">
                <a:latin typeface="微软雅黑" pitchFamily="34" charset="-122"/>
                <a:ea typeface="微软雅黑" pitchFamily="34" charset="-122"/>
              </a:rPr>
              <a:t>微分整流法</a:t>
            </a:r>
            <a:endParaRPr lang="zh-CN" altLang="en-US" sz="2400" b="1" kern="0" dirty="0">
              <a:solidFill>
                <a:srgbClr val="000099"/>
              </a:solidFill>
              <a:latin typeface="微软雅黑" pitchFamily="34" charset="-122"/>
              <a:ea typeface="微软雅黑" pitchFamily="34" charset="-122"/>
            </a:endParaRPr>
          </a:p>
        </p:txBody>
      </p:sp>
      <p:grpSp>
        <p:nvGrpSpPr>
          <p:cNvPr id="2" name="组合 147">
            <a:extLst>
              <a:ext uri="{FF2B5EF4-FFF2-40B4-BE49-F238E27FC236}">
                <a16:creationId xmlns:a16="http://schemas.microsoft.com/office/drawing/2014/main" id="{4234579E-8F3A-DAFA-2F4B-1DDD0D0F77A3}"/>
              </a:ext>
            </a:extLst>
          </p:cNvPr>
          <p:cNvGrpSpPr>
            <a:grpSpLocks/>
          </p:cNvGrpSpPr>
          <p:nvPr/>
        </p:nvGrpSpPr>
        <p:grpSpPr bwMode="auto">
          <a:xfrm>
            <a:off x="1285875" y="3214688"/>
            <a:ext cx="3000375" cy="2668587"/>
            <a:chOff x="642910" y="3269545"/>
            <a:chExt cx="3000396" cy="2668858"/>
          </a:xfrm>
        </p:grpSpPr>
        <p:grpSp>
          <p:nvGrpSpPr>
            <p:cNvPr id="50184" name="组合 94">
              <a:extLst>
                <a:ext uri="{FF2B5EF4-FFF2-40B4-BE49-F238E27FC236}">
                  <a16:creationId xmlns:a16="http://schemas.microsoft.com/office/drawing/2014/main" id="{643C1A81-CD81-99D7-AABB-C2D0C8706090}"/>
                </a:ext>
              </a:extLst>
            </p:cNvPr>
            <p:cNvGrpSpPr>
              <a:grpSpLocks/>
            </p:cNvGrpSpPr>
            <p:nvPr/>
          </p:nvGrpSpPr>
          <p:grpSpPr bwMode="auto">
            <a:xfrm>
              <a:off x="642910" y="3269545"/>
              <a:ext cx="3000396" cy="2659547"/>
              <a:chOff x="642910" y="3269545"/>
              <a:chExt cx="3000396" cy="2659547"/>
            </a:xfrm>
          </p:grpSpPr>
          <p:grpSp>
            <p:nvGrpSpPr>
              <p:cNvPr id="5" name="组合 107">
                <a:extLst>
                  <a:ext uri="{FF2B5EF4-FFF2-40B4-BE49-F238E27FC236}">
                    <a16:creationId xmlns:a16="http://schemas.microsoft.com/office/drawing/2014/main" id="{A01D80FC-31E8-55D9-4D58-ADC4AF083EE1}"/>
                  </a:ext>
                </a:extLst>
              </p:cNvPr>
              <p:cNvGrpSpPr/>
              <p:nvPr/>
            </p:nvGrpSpPr>
            <p:grpSpPr>
              <a:xfrm>
                <a:off x="642910" y="3269545"/>
                <a:ext cx="3000396" cy="2659547"/>
                <a:chOff x="928662" y="3269548"/>
                <a:chExt cx="3000396" cy="2659547"/>
              </a:xfrm>
              <a:effectLst>
                <a:glow rad="63500">
                  <a:schemeClr val="accent2">
                    <a:satMod val="175000"/>
                    <a:alpha val="40000"/>
                  </a:schemeClr>
                </a:glow>
              </a:effectLst>
            </p:grpSpPr>
            <p:grpSp>
              <p:nvGrpSpPr>
                <p:cNvPr id="6" name="Group 8">
                  <a:extLst>
                    <a:ext uri="{FF2B5EF4-FFF2-40B4-BE49-F238E27FC236}">
                      <a16:creationId xmlns:a16="http://schemas.microsoft.com/office/drawing/2014/main" id="{AEC768A8-7615-C650-4E1D-4F40A8669E9A}"/>
                    </a:ext>
                  </a:extLst>
                </p:cNvPr>
                <p:cNvGrpSpPr>
                  <a:grpSpLocks/>
                </p:cNvGrpSpPr>
                <p:nvPr/>
              </p:nvGrpSpPr>
              <p:grpSpPr bwMode="auto">
                <a:xfrm>
                  <a:off x="1313353" y="3328382"/>
                  <a:ext cx="2142117" cy="690131"/>
                  <a:chOff x="6424" y="8621"/>
                  <a:chExt cx="2693" cy="868"/>
                </a:xfrm>
              </p:grpSpPr>
              <p:sp>
                <p:nvSpPr>
                  <p:cNvPr id="3" name="Line 10">
                    <a:extLst>
                      <a:ext uri="{FF2B5EF4-FFF2-40B4-BE49-F238E27FC236}">
                        <a16:creationId xmlns:a16="http://schemas.microsoft.com/office/drawing/2014/main" id="{6DAD25BA-4259-163C-DAEB-EB9199246332}"/>
                      </a:ext>
                    </a:extLst>
                  </p:cNvPr>
                  <p:cNvSpPr>
                    <a:spLocks noChangeShapeType="1"/>
                  </p:cNvSpPr>
                  <p:nvPr/>
                </p:nvSpPr>
                <p:spPr bwMode="auto">
                  <a:xfrm>
                    <a:off x="6424" y="9474"/>
                    <a:ext cx="376" cy="0"/>
                  </a:xfrm>
                  <a:prstGeom prst="line">
                    <a:avLst/>
                  </a:prstGeom>
                  <a:noFill/>
                  <a:ln w="28575">
                    <a:solidFill>
                      <a:schemeClr val="tx1"/>
                    </a:solidFill>
                    <a:round/>
                    <a:headEnd/>
                    <a:tailEnd/>
                  </a:ln>
                </p:spPr>
                <p:txBody>
                  <a:bodyPr/>
                  <a:lstStyle/>
                  <a:p>
                    <a:pPr>
                      <a:defRPr/>
                    </a:pPr>
                    <a:endParaRPr lang="zh-CN" altLang="en-US">
                      <a:ea typeface="宋体" charset="-122"/>
                    </a:endParaRPr>
                  </a:p>
                </p:txBody>
              </p:sp>
              <p:sp>
                <p:nvSpPr>
                  <p:cNvPr id="13" name="Line 14">
                    <a:extLst>
                      <a:ext uri="{FF2B5EF4-FFF2-40B4-BE49-F238E27FC236}">
                        <a16:creationId xmlns:a16="http://schemas.microsoft.com/office/drawing/2014/main" id="{594E9BEA-81A0-5A83-20AC-D5ABC78D55AA}"/>
                      </a:ext>
                    </a:extLst>
                  </p:cNvPr>
                  <p:cNvSpPr>
                    <a:spLocks noChangeShapeType="1"/>
                  </p:cNvSpPr>
                  <p:nvPr/>
                </p:nvSpPr>
                <p:spPr bwMode="auto">
                  <a:xfrm flipH="1" flipV="1">
                    <a:off x="7557" y="8638"/>
                    <a:ext cx="2" cy="831"/>
                  </a:xfrm>
                  <a:prstGeom prst="line">
                    <a:avLst/>
                  </a:prstGeom>
                  <a:noFill/>
                  <a:ln w="28575">
                    <a:solidFill>
                      <a:schemeClr val="tx1"/>
                    </a:solidFill>
                    <a:round/>
                    <a:headEnd/>
                    <a:tailEnd/>
                  </a:ln>
                </p:spPr>
                <p:txBody>
                  <a:bodyPr/>
                  <a:lstStyle/>
                  <a:p>
                    <a:pPr>
                      <a:defRPr/>
                    </a:pPr>
                    <a:endParaRPr lang="zh-CN" altLang="en-US">
                      <a:ea typeface="宋体" charset="-122"/>
                    </a:endParaRPr>
                  </a:p>
                </p:txBody>
              </p:sp>
              <p:sp>
                <p:nvSpPr>
                  <p:cNvPr id="14" name="Line 15">
                    <a:extLst>
                      <a:ext uri="{FF2B5EF4-FFF2-40B4-BE49-F238E27FC236}">
                        <a16:creationId xmlns:a16="http://schemas.microsoft.com/office/drawing/2014/main" id="{79132F32-51C5-28C4-BA35-649FAD966600}"/>
                      </a:ext>
                    </a:extLst>
                  </p:cNvPr>
                  <p:cNvSpPr>
                    <a:spLocks noChangeShapeType="1"/>
                  </p:cNvSpPr>
                  <p:nvPr/>
                </p:nvSpPr>
                <p:spPr bwMode="auto">
                  <a:xfrm>
                    <a:off x="8741" y="8635"/>
                    <a:ext cx="376" cy="0"/>
                  </a:xfrm>
                  <a:prstGeom prst="line">
                    <a:avLst/>
                  </a:prstGeom>
                  <a:noFill/>
                  <a:ln w="28575">
                    <a:solidFill>
                      <a:schemeClr val="tx1"/>
                    </a:solidFill>
                    <a:round/>
                    <a:headEnd/>
                    <a:tailEnd/>
                  </a:ln>
                </p:spPr>
                <p:txBody>
                  <a:bodyPr/>
                  <a:lstStyle/>
                  <a:p>
                    <a:pPr>
                      <a:defRPr/>
                    </a:pPr>
                    <a:endParaRPr lang="zh-CN" altLang="en-US">
                      <a:ea typeface="宋体" charset="-122"/>
                    </a:endParaRPr>
                  </a:p>
                </p:txBody>
              </p:sp>
              <p:sp>
                <p:nvSpPr>
                  <p:cNvPr id="15" name="Line 17">
                    <a:extLst>
                      <a:ext uri="{FF2B5EF4-FFF2-40B4-BE49-F238E27FC236}">
                        <a16:creationId xmlns:a16="http://schemas.microsoft.com/office/drawing/2014/main" id="{D4CFEAA6-16F1-1E37-AE1B-4AA61824D6D5}"/>
                      </a:ext>
                    </a:extLst>
                  </p:cNvPr>
                  <p:cNvSpPr>
                    <a:spLocks noChangeShapeType="1"/>
                  </p:cNvSpPr>
                  <p:nvPr/>
                </p:nvSpPr>
                <p:spPr bwMode="auto">
                  <a:xfrm>
                    <a:off x="7575" y="9475"/>
                    <a:ext cx="376" cy="0"/>
                  </a:xfrm>
                  <a:prstGeom prst="line">
                    <a:avLst/>
                  </a:prstGeom>
                  <a:noFill/>
                  <a:ln w="28575">
                    <a:solidFill>
                      <a:schemeClr val="tx1"/>
                    </a:solidFill>
                    <a:round/>
                    <a:headEnd/>
                    <a:tailEnd/>
                  </a:ln>
                </p:spPr>
                <p:txBody>
                  <a:bodyPr/>
                  <a:lstStyle/>
                  <a:p>
                    <a:pPr>
                      <a:defRPr/>
                    </a:pPr>
                    <a:endParaRPr lang="zh-CN" altLang="en-US">
                      <a:ea typeface="宋体" charset="-122"/>
                    </a:endParaRPr>
                  </a:p>
                </p:txBody>
              </p:sp>
              <p:sp>
                <p:nvSpPr>
                  <p:cNvPr id="16" name="Line 20">
                    <a:extLst>
                      <a:ext uri="{FF2B5EF4-FFF2-40B4-BE49-F238E27FC236}">
                        <a16:creationId xmlns:a16="http://schemas.microsoft.com/office/drawing/2014/main" id="{C4E25FD5-0392-B903-0250-EF9B7BAAA857}"/>
                      </a:ext>
                    </a:extLst>
                  </p:cNvPr>
                  <p:cNvSpPr>
                    <a:spLocks noChangeShapeType="1"/>
                  </p:cNvSpPr>
                  <p:nvPr/>
                </p:nvSpPr>
                <p:spPr bwMode="auto">
                  <a:xfrm>
                    <a:off x="7970" y="8644"/>
                    <a:ext cx="376" cy="0"/>
                  </a:xfrm>
                  <a:prstGeom prst="line">
                    <a:avLst/>
                  </a:prstGeom>
                  <a:noFill/>
                  <a:ln w="28575">
                    <a:solidFill>
                      <a:schemeClr val="tx1"/>
                    </a:solidFill>
                    <a:round/>
                    <a:headEnd/>
                    <a:tailEnd/>
                  </a:ln>
                </p:spPr>
                <p:txBody>
                  <a:bodyPr/>
                  <a:lstStyle/>
                  <a:p>
                    <a:pPr>
                      <a:defRPr/>
                    </a:pPr>
                    <a:endParaRPr lang="zh-CN" altLang="en-US">
                      <a:ea typeface="宋体" charset="-122"/>
                    </a:endParaRPr>
                  </a:p>
                </p:txBody>
              </p:sp>
              <p:sp>
                <p:nvSpPr>
                  <p:cNvPr id="17" name="Line 23">
                    <a:extLst>
                      <a:ext uri="{FF2B5EF4-FFF2-40B4-BE49-F238E27FC236}">
                        <a16:creationId xmlns:a16="http://schemas.microsoft.com/office/drawing/2014/main" id="{B722D8E0-4BD2-D2E7-D3D1-E8E5D31B9D0B}"/>
                      </a:ext>
                    </a:extLst>
                  </p:cNvPr>
                  <p:cNvSpPr>
                    <a:spLocks noChangeShapeType="1"/>
                  </p:cNvSpPr>
                  <p:nvPr/>
                </p:nvSpPr>
                <p:spPr bwMode="auto">
                  <a:xfrm>
                    <a:off x="8365" y="9475"/>
                    <a:ext cx="376" cy="0"/>
                  </a:xfrm>
                  <a:prstGeom prst="line">
                    <a:avLst/>
                  </a:prstGeom>
                  <a:noFill/>
                  <a:ln w="28575">
                    <a:solidFill>
                      <a:schemeClr val="tx1"/>
                    </a:solidFill>
                    <a:round/>
                    <a:headEnd/>
                    <a:tailEnd/>
                  </a:ln>
                </p:spPr>
                <p:txBody>
                  <a:bodyPr/>
                  <a:lstStyle/>
                  <a:p>
                    <a:pPr>
                      <a:defRPr/>
                    </a:pPr>
                    <a:endParaRPr lang="zh-CN" altLang="en-US">
                      <a:ea typeface="宋体" charset="-122"/>
                    </a:endParaRPr>
                  </a:p>
                </p:txBody>
              </p:sp>
              <p:sp>
                <p:nvSpPr>
                  <p:cNvPr id="92" name="Line 14">
                    <a:extLst>
                      <a:ext uri="{FF2B5EF4-FFF2-40B4-BE49-F238E27FC236}">
                        <a16:creationId xmlns:a16="http://schemas.microsoft.com/office/drawing/2014/main" id="{C2936D30-4698-F7E7-02E7-C3332A6F7005}"/>
                      </a:ext>
                    </a:extLst>
                  </p:cNvPr>
                  <p:cNvSpPr>
                    <a:spLocks noChangeShapeType="1"/>
                  </p:cNvSpPr>
                  <p:nvPr/>
                </p:nvSpPr>
                <p:spPr bwMode="auto">
                  <a:xfrm flipH="1" flipV="1">
                    <a:off x="7952" y="8640"/>
                    <a:ext cx="2" cy="831"/>
                  </a:xfrm>
                  <a:prstGeom prst="line">
                    <a:avLst/>
                  </a:prstGeom>
                  <a:noFill/>
                  <a:ln w="28575">
                    <a:solidFill>
                      <a:schemeClr val="tx1"/>
                    </a:solidFill>
                    <a:round/>
                    <a:headEnd/>
                    <a:tailEnd/>
                  </a:ln>
                </p:spPr>
                <p:txBody>
                  <a:bodyPr/>
                  <a:lstStyle/>
                  <a:p>
                    <a:pPr>
                      <a:defRPr/>
                    </a:pPr>
                    <a:endParaRPr lang="zh-CN" altLang="en-US">
                      <a:ea typeface="宋体" charset="-122"/>
                    </a:endParaRPr>
                  </a:p>
                </p:txBody>
              </p:sp>
              <p:sp>
                <p:nvSpPr>
                  <p:cNvPr id="93" name="Line 14">
                    <a:extLst>
                      <a:ext uri="{FF2B5EF4-FFF2-40B4-BE49-F238E27FC236}">
                        <a16:creationId xmlns:a16="http://schemas.microsoft.com/office/drawing/2014/main" id="{E12153DF-D89C-D670-A91A-5149993609B1}"/>
                      </a:ext>
                    </a:extLst>
                  </p:cNvPr>
                  <p:cNvSpPr>
                    <a:spLocks noChangeShapeType="1"/>
                  </p:cNvSpPr>
                  <p:nvPr/>
                </p:nvSpPr>
                <p:spPr bwMode="auto">
                  <a:xfrm flipH="1" flipV="1">
                    <a:off x="8743" y="8621"/>
                    <a:ext cx="2" cy="831"/>
                  </a:xfrm>
                  <a:prstGeom prst="line">
                    <a:avLst/>
                  </a:prstGeom>
                  <a:noFill/>
                  <a:ln w="28575">
                    <a:solidFill>
                      <a:schemeClr val="tx1"/>
                    </a:solidFill>
                    <a:round/>
                    <a:headEnd/>
                    <a:tailEnd/>
                  </a:ln>
                </p:spPr>
                <p:txBody>
                  <a:bodyPr/>
                  <a:lstStyle/>
                  <a:p>
                    <a:pPr>
                      <a:defRPr/>
                    </a:pPr>
                    <a:endParaRPr lang="zh-CN" altLang="en-US">
                      <a:ea typeface="宋体" charset="-122"/>
                    </a:endParaRPr>
                  </a:p>
                </p:txBody>
              </p:sp>
              <p:sp>
                <p:nvSpPr>
                  <p:cNvPr id="94" name="Line 14">
                    <a:extLst>
                      <a:ext uri="{FF2B5EF4-FFF2-40B4-BE49-F238E27FC236}">
                        <a16:creationId xmlns:a16="http://schemas.microsoft.com/office/drawing/2014/main" id="{2669A149-B607-B34B-8A8B-2EB4F0656893}"/>
                      </a:ext>
                    </a:extLst>
                  </p:cNvPr>
                  <p:cNvSpPr>
                    <a:spLocks noChangeShapeType="1"/>
                  </p:cNvSpPr>
                  <p:nvPr/>
                </p:nvSpPr>
                <p:spPr bwMode="auto">
                  <a:xfrm flipH="1" flipV="1">
                    <a:off x="8366" y="8658"/>
                    <a:ext cx="2" cy="831"/>
                  </a:xfrm>
                  <a:prstGeom prst="line">
                    <a:avLst/>
                  </a:prstGeom>
                  <a:noFill/>
                  <a:ln w="28575">
                    <a:solidFill>
                      <a:schemeClr val="tx1"/>
                    </a:solidFill>
                    <a:round/>
                    <a:headEnd/>
                    <a:tailEnd/>
                  </a:ln>
                </p:spPr>
                <p:txBody>
                  <a:bodyPr/>
                  <a:lstStyle/>
                  <a:p>
                    <a:pPr>
                      <a:defRPr/>
                    </a:pPr>
                    <a:endParaRPr lang="zh-CN" altLang="en-US">
                      <a:ea typeface="宋体" charset="-122"/>
                    </a:endParaRPr>
                  </a:p>
                </p:txBody>
              </p:sp>
            </p:grpSp>
            <p:grpSp>
              <p:nvGrpSpPr>
                <p:cNvPr id="7" name="Group 56">
                  <a:extLst>
                    <a:ext uri="{FF2B5EF4-FFF2-40B4-BE49-F238E27FC236}">
                      <a16:creationId xmlns:a16="http://schemas.microsoft.com/office/drawing/2014/main" id="{354F7337-3B85-9F40-2C07-1659F57E1BB8}"/>
                    </a:ext>
                  </a:extLst>
                </p:cNvPr>
                <p:cNvGrpSpPr>
                  <a:grpSpLocks/>
                </p:cNvGrpSpPr>
                <p:nvPr/>
              </p:nvGrpSpPr>
              <p:grpSpPr bwMode="auto">
                <a:xfrm>
                  <a:off x="928662" y="3269548"/>
                  <a:ext cx="3000396" cy="2659547"/>
                  <a:chOff x="6120" y="8547"/>
                  <a:chExt cx="3772" cy="3345"/>
                </a:xfrm>
              </p:grpSpPr>
              <p:grpSp>
                <p:nvGrpSpPr>
                  <p:cNvPr id="8" name="Group 57">
                    <a:extLst>
                      <a:ext uri="{FF2B5EF4-FFF2-40B4-BE49-F238E27FC236}">
                        <a16:creationId xmlns:a16="http://schemas.microsoft.com/office/drawing/2014/main" id="{E18A4963-3AF5-53DA-E5F2-11C0EDEAB2DB}"/>
                      </a:ext>
                    </a:extLst>
                  </p:cNvPr>
                  <p:cNvGrpSpPr>
                    <a:grpSpLocks/>
                  </p:cNvGrpSpPr>
                  <p:nvPr/>
                </p:nvGrpSpPr>
                <p:grpSpPr bwMode="auto">
                  <a:xfrm>
                    <a:off x="6246" y="9054"/>
                    <a:ext cx="3646" cy="2838"/>
                    <a:chOff x="6246" y="9054"/>
                    <a:chExt cx="3646" cy="2838"/>
                  </a:xfrm>
                </p:grpSpPr>
                <p:sp>
                  <p:nvSpPr>
                    <p:cNvPr id="57402" name="Line 58">
                      <a:extLst>
                        <a:ext uri="{FF2B5EF4-FFF2-40B4-BE49-F238E27FC236}">
                          <a16:creationId xmlns:a16="http://schemas.microsoft.com/office/drawing/2014/main" id="{1017B5C4-6BF2-DD21-4F64-284AE7272179}"/>
                        </a:ext>
                      </a:extLst>
                    </p:cNvPr>
                    <p:cNvSpPr>
                      <a:spLocks noChangeShapeType="1"/>
                    </p:cNvSpPr>
                    <p:nvPr/>
                  </p:nvSpPr>
                  <p:spPr bwMode="auto">
                    <a:xfrm flipV="1">
                      <a:off x="6246" y="9054"/>
                      <a:ext cx="3646" cy="12"/>
                    </a:xfrm>
                    <a:prstGeom prst="line">
                      <a:avLst/>
                    </a:prstGeom>
                    <a:noFill/>
                    <a:ln w="9525">
                      <a:solidFill>
                        <a:srgbClr val="000000"/>
                      </a:solidFill>
                      <a:round/>
                      <a:headEnd/>
                      <a:tailEnd type="triangle" w="med" len="med"/>
                    </a:ln>
                  </p:spPr>
                  <p:txBody>
                    <a:bodyPr/>
                    <a:lstStyle/>
                    <a:p>
                      <a:pPr>
                        <a:defRPr/>
                      </a:pPr>
                      <a:endParaRPr lang="zh-CN" altLang="en-US">
                        <a:ea typeface="宋体" charset="-122"/>
                      </a:endParaRPr>
                    </a:p>
                  </p:txBody>
                </p:sp>
                <p:sp>
                  <p:nvSpPr>
                    <p:cNvPr id="57403" name="Line 59">
                      <a:extLst>
                        <a:ext uri="{FF2B5EF4-FFF2-40B4-BE49-F238E27FC236}">
                          <a16:creationId xmlns:a16="http://schemas.microsoft.com/office/drawing/2014/main" id="{6F73AC88-1E09-B543-5F5B-6CD0ED69F840}"/>
                        </a:ext>
                      </a:extLst>
                    </p:cNvPr>
                    <p:cNvSpPr>
                      <a:spLocks noChangeShapeType="1"/>
                    </p:cNvSpPr>
                    <p:nvPr/>
                  </p:nvSpPr>
                  <p:spPr bwMode="auto">
                    <a:xfrm flipV="1">
                      <a:off x="6246" y="10380"/>
                      <a:ext cx="3646" cy="12"/>
                    </a:xfrm>
                    <a:prstGeom prst="line">
                      <a:avLst/>
                    </a:prstGeom>
                    <a:noFill/>
                    <a:ln w="9525">
                      <a:solidFill>
                        <a:srgbClr val="000000"/>
                      </a:solidFill>
                      <a:round/>
                      <a:headEnd/>
                      <a:tailEnd type="triangle" w="med" len="med"/>
                    </a:ln>
                  </p:spPr>
                  <p:txBody>
                    <a:bodyPr/>
                    <a:lstStyle/>
                    <a:p>
                      <a:pPr>
                        <a:defRPr/>
                      </a:pPr>
                      <a:endParaRPr lang="zh-CN" altLang="en-US">
                        <a:ea typeface="宋体" charset="-122"/>
                      </a:endParaRPr>
                    </a:p>
                  </p:txBody>
                </p:sp>
                <p:sp>
                  <p:nvSpPr>
                    <p:cNvPr id="57404" name="Line 60">
                      <a:extLst>
                        <a:ext uri="{FF2B5EF4-FFF2-40B4-BE49-F238E27FC236}">
                          <a16:creationId xmlns:a16="http://schemas.microsoft.com/office/drawing/2014/main" id="{35D527F1-6446-B986-9EC9-A9FBC6FCAE8F}"/>
                        </a:ext>
                      </a:extLst>
                    </p:cNvPr>
                    <p:cNvSpPr>
                      <a:spLocks noChangeShapeType="1"/>
                    </p:cNvSpPr>
                    <p:nvPr/>
                  </p:nvSpPr>
                  <p:spPr bwMode="auto">
                    <a:xfrm flipV="1">
                      <a:off x="6246" y="11880"/>
                      <a:ext cx="3646" cy="12"/>
                    </a:xfrm>
                    <a:prstGeom prst="line">
                      <a:avLst/>
                    </a:prstGeom>
                    <a:noFill/>
                    <a:ln w="9525">
                      <a:solidFill>
                        <a:srgbClr val="000000"/>
                      </a:solidFill>
                      <a:round/>
                      <a:headEnd/>
                      <a:tailEnd type="triangle" w="med" len="med"/>
                    </a:ln>
                  </p:spPr>
                  <p:txBody>
                    <a:bodyPr/>
                    <a:lstStyle/>
                    <a:p>
                      <a:pPr>
                        <a:defRPr/>
                      </a:pPr>
                      <a:endParaRPr lang="zh-CN" altLang="en-US">
                        <a:ea typeface="宋体" charset="-122"/>
                      </a:endParaRPr>
                    </a:p>
                  </p:txBody>
                </p:sp>
              </p:grpSp>
              <p:grpSp>
                <p:nvGrpSpPr>
                  <p:cNvPr id="9" name="Group 61">
                    <a:extLst>
                      <a:ext uri="{FF2B5EF4-FFF2-40B4-BE49-F238E27FC236}">
                        <a16:creationId xmlns:a16="http://schemas.microsoft.com/office/drawing/2014/main" id="{5095C6F8-41F6-4FFA-BE78-7C1C3DC185D9}"/>
                      </a:ext>
                    </a:extLst>
                  </p:cNvPr>
                  <p:cNvGrpSpPr>
                    <a:grpSpLocks/>
                  </p:cNvGrpSpPr>
                  <p:nvPr/>
                </p:nvGrpSpPr>
                <p:grpSpPr bwMode="auto">
                  <a:xfrm>
                    <a:off x="6120" y="8547"/>
                    <a:ext cx="530" cy="3255"/>
                    <a:chOff x="6120" y="8547"/>
                    <a:chExt cx="530" cy="3255"/>
                  </a:xfrm>
                </p:grpSpPr>
                <p:sp>
                  <p:nvSpPr>
                    <p:cNvPr id="57406" name="Text Box 62">
                      <a:extLst>
                        <a:ext uri="{FF2B5EF4-FFF2-40B4-BE49-F238E27FC236}">
                          <a16:creationId xmlns:a16="http://schemas.microsoft.com/office/drawing/2014/main" id="{9F78845B-EBEB-89C5-C342-9612C5908719}"/>
                        </a:ext>
                      </a:extLst>
                    </p:cNvPr>
                    <p:cNvSpPr txBox="1">
                      <a:spLocks noChangeArrowheads="1"/>
                    </p:cNvSpPr>
                    <p:nvPr/>
                  </p:nvSpPr>
                  <p:spPr bwMode="auto">
                    <a:xfrm>
                      <a:off x="6140" y="11364"/>
                      <a:ext cx="510" cy="438"/>
                    </a:xfrm>
                    <a:prstGeom prst="rect">
                      <a:avLst/>
                    </a:prstGeom>
                    <a:noFill/>
                    <a:ln w="9525">
                      <a:noFill/>
                      <a:miter lim="800000"/>
                      <a:headEnd/>
                      <a:tailEnd/>
                    </a:ln>
                  </p:spPr>
                  <p:txBody>
                    <a:bodyPr/>
                    <a:lstStyle/>
                    <a:p>
                      <a:pPr algn="just">
                        <a:defRPr/>
                      </a:pPr>
                      <a:r>
                        <a:rPr lang="en-US" altLang="zh-CN" sz="2000" dirty="0">
                          <a:solidFill>
                            <a:srgbClr val="FF0000"/>
                          </a:solidFill>
                          <a:latin typeface="Calibri" pitchFamily="34" charset="0"/>
                          <a:ea typeface="宋体" charset="-122"/>
                        </a:rPr>
                        <a:t>c</a:t>
                      </a:r>
                      <a:endParaRPr lang="zh-CN" altLang="zh-CN" sz="2000" dirty="0">
                        <a:solidFill>
                          <a:srgbClr val="FF0000"/>
                        </a:solidFill>
                        <a:ea typeface="宋体" charset="-122"/>
                      </a:endParaRPr>
                    </a:p>
                  </p:txBody>
                </p:sp>
                <p:sp>
                  <p:nvSpPr>
                    <p:cNvPr id="57407" name="Text Box 63">
                      <a:extLst>
                        <a:ext uri="{FF2B5EF4-FFF2-40B4-BE49-F238E27FC236}">
                          <a16:creationId xmlns:a16="http://schemas.microsoft.com/office/drawing/2014/main" id="{075A3551-282F-99DC-5A63-73D104580A03}"/>
                        </a:ext>
                      </a:extLst>
                    </p:cNvPr>
                    <p:cNvSpPr txBox="1">
                      <a:spLocks noChangeArrowheads="1"/>
                    </p:cNvSpPr>
                    <p:nvPr/>
                  </p:nvSpPr>
                  <p:spPr bwMode="auto">
                    <a:xfrm>
                      <a:off x="6120" y="9861"/>
                      <a:ext cx="510" cy="438"/>
                    </a:xfrm>
                    <a:prstGeom prst="rect">
                      <a:avLst/>
                    </a:prstGeom>
                    <a:noFill/>
                    <a:ln w="9525">
                      <a:noFill/>
                      <a:miter lim="800000"/>
                      <a:headEnd/>
                      <a:tailEnd/>
                    </a:ln>
                  </p:spPr>
                  <p:txBody>
                    <a:bodyPr/>
                    <a:lstStyle/>
                    <a:p>
                      <a:pPr algn="just">
                        <a:defRPr/>
                      </a:pPr>
                      <a:r>
                        <a:rPr lang="en-US" altLang="zh-CN" sz="2000" dirty="0">
                          <a:latin typeface="Calibri" pitchFamily="34" charset="0"/>
                          <a:ea typeface="宋体" charset="-122"/>
                        </a:rPr>
                        <a:t>b</a:t>
                      </a:r>
                      <a:endParaRPr lang="zh-CN" altLang="zh-CN" sz="2000" dirty="0">
                        <a:ea typeface="宋体" charset="-122"/>
                      </a:endParaRPr>
                    </a:p>
                  </p:txBody>
                </p:sp>
                <p:sp>
                  <p:nvSpPr>
                    <p:cNvPr id="57408" name="Text Box 64">
                      <a:extLst>
                        <a:ext uri="{FF2B5EF4-FFF2-40B4-BE49-F238E27FC236}">
                          <a16:creationId xmlns:a16="http://schemas.microsoft.com/office/drawing/2014/main" id="{B1B28954-5DD1-FBA3-3AD9-C3A8E71BFE15}"/>
                        </a:ext>
                      </a:extLst>
                    </p:cNvPr>
                    <p:cNvSpPr txBox="1">
                      <a:spLocks noChangeArrowheads="1"/>
                    </p:cNvSpPr>
                    <p:nvPr/>
                  </p:nvSpPr>
                  <p:spPr bwMode="auto">
                    <a:xfrm>
                      <a:off x="6130" y="8547"/>
                      <a:ext cx="510" cy="438"/>
                    </a:xfrm>
                    <a:prstGeom prst="rect">
                      <a:avLst/>
                    </a:prstGeom>
                    <a:noFill/>
                    <a:ln w="9525">
                      <a:noFill/>
                      <a:miter lim="800000"/>
                      <a:headEnd/>
                      <a:tailEnd/>
                    </a:ln>
                  </p:spPr>
                  <p:txBody>
                    <a:bodyPr/>
                    <a:lstStyle/>
                    <a:p>
                      <a:pPr algn="just">
                        <a:defRPr/>
                      </a:pPr>
                      <a:r>
                        <a:rPr lang="en-US" altLang="zh-CN" sz="2000" dirty="0">
                          <a:latin typeface="Calibri" pitchFamily="34" charset="0"/>
                          <a:ea typeface="宋体" charset="-122"/>
                        </a:rPr>
                        <a:t>a</a:t>
                      </a:r>
                      <a:endParaRPr lang="zh-CN" altLang="zh-CN" sz="2000" dirty="0">
                        <a:ea typeface="宋体" charset="-122"/>
                      </a:endParaRPr>
                    </a:p>
                  </p:txBody>
                </p:sp>
              </p:grpSp>
              <p:grpSp>
                <p:nvGrpSpPr>
                  <p:cNvPr id="10" name="Group 65">
                    <a:extLst>
                      <a:ext uri="{FF2B5EF4-FFF2-40B4-BE49-F238E27FC236}">
                        <a16:creationId xmlns:a16="http://schemas.microsoft.com/office/drawing/2014/main" id="{3E6186B1-A80E-3B65-6E72-328182B919B1}"/>
                      </a:ext>
                    </a:extLst>
                  </p:cNvPr>
                  <p:cNvGrpSpPr>
                    <a:grpSpLocks/>
                  </p:cNvGrpSpPr>
                  <p:nvPr/>
                </p:nvGrpSpPr>
                <p:grpSpPr bwMode="auto">
                  <a:xfrm>
                    <a:off x="6584" y="8640"/>
                    <a:ext cx="2730" cy="3252"/>
                    <a:chOff x="6584" y="8640"/>
                    <a:chExt cx="2730" cy="3252"/>
                  </a:xfrm>
                </p:grpSpPr>
                <p:sp>
                  <p:nvSpPr>
                    <p:cNvPr id="103" name="Line 74">
                      <a:extLst>
                        <a:ext uri="{FF2B5EF4-FFF2-40B4-BE49-F238E27FC236}">
                          <a16:creationId xmlns:a16="http://schemas.microsoft.com/office/drawing/2014/main" id="{55DC5111-BA78-EB08-1840-D5F05C41F098}"/>
                        </a:ext>
                      </a:extLst>
                    </p:cNvPr>
                    <p:cNvSpPr>
                      <a:spLocks noChangeShapeType="1"/>
                    </p:cNvSpPr>
                    <p:nvPr/>
                  </p:nvSpPr>
                  <p:spPr bwMode="auto">
                    <a:xfrm flipH="1" flipV="1">
                      <a:off x="6965" y="8640"/>
                      <a:ext cx="2" cy="831"/>
                    </a:xfrm>
                    <a:prstGeom prst="line">
                      <a:avLst/>
                    </a:prstGeom>
                    <a:noFill/>
                    <a:ln w="28575">
                      <a:solidFill>
                        <a:schemeClr val="tx1"/>
                      </a:solidFill>
                      <a:round/>
                      <a:headEnd/>
                      <a:tailEnd/>
                    </a:ln>
                  </p:spPr>
                  <p:txBody>
                    <a:bodyPr/>
                    <a:lstStyle/>
                    <a:p>
                      <a:pPr>
                        <a:defRPr/>
                      </a:pPr>
                      <a:endParaRPr lang="zh-CN" altLang="en-US">
                        <a:ea typeface="宋体" charset="-122"/>
                      </a:endParaRPr>
                    </a:p>
                  </p:txBody>
                </p:sp>
                <p:grpSp>
                  <p:nvGrpSpPr>
                    <p:cNvPr id="11" name="Group 85">
                      <a:extLst>
                        <a:ext uri="{FF2B5EF4-FFF2-40B4-BE49-F238E27FC236}">
                          <a16:creationId xmlns:a16="http://schemas.microsoft.com/office/drawing/2014/main" id="{F5CA26A0-5B7D-8936-49C1-17CBD91960B8}"/>
                        </a:ext>
                      </a:extLst>
                    </p:cNvPr>
                    <p:cNvGrpSpPr>
                      <a:grpSpLocks/>
                    </p:cNvGrpSpPr>
                    <p:nvPr/>
                  </p:nvGrpSpPr>
                  <p:grpSpPr bwMode="auto">
                    <a:xfrm>
                      <a:off x="6584" y="8677"/>
                      <a:ext cx="2730" cy="3215"/>
                      <a:chOff x="6584" y="2125"/>
                      <a:chExt cx="2730" cy="3215"/>
                    </a:xfrm>
                  </p:grpSpPr>
                  <p:grpSp>
                    <p:nvGrpSpPr>
                      <p:cNvPr id="12" name="Group 86">
                        <a:extLst>
                          <a:ext uri="{FF2B5EF4-FFF2-40B4-BE49-F238E27FC236}">
                            <a16:creationId xmlns:a16="http://schemas.microsoft.com/office/drawing/2014/main" id="{A817743B-6AF6-F84D-0E6E-CA09ED637DFF}"/>
                          </a:ext>
                        </a:extLst>
                      </p:cNvPr>
                      <p:cNvGrpSpPr>
                        <a:grpSpLocks/>
                      </p:cNvGrpSpPr>
                      <p:nvPr/>
                    </p:nvGrpSpPr>
                    <p:grpSpPr bwMode="auto">
                      <a:xfrm>
                        <a:off x="6584" y="2125"/>
                        <a:ext cx="2338" cy="3215"/>
                        <a:chOff x="4232" y="1852"/>
                        <a:chExt cx="2338" cy="3215"/>
                      </a:xfrm>
                    </p:grpSpPr>
                    <p:sp>
                      <p:nvSpPr>
                        <p:cNvPr id="57431" name="Line 87">
                          <a:extLst>
                            <a:ext uri="{FF2B5EF4-FFF2-40B4-BE49-F238E27FC236}">
                              <a16:creationId xmlns:a16="http://schemas.microsoft.com/office/drawing/2014/main" id="{2088377F-FD7B-EC1C-0D3D-F22539ECFE0A}"/>
                            </a:ext>
                          </a:extLst>
                        </p:cNvPr>
                        <p:cNvSpPr>
                          <a:spLocks noChangeShapeType="1"/>
                        </p:cNvSpPr>
                        <p:nvPr/>
                      </p:nvSpPr>
                      <p:spPr bwMode="auto">
                        <a:xfrm>
                          <a:off x="4232" y="1863"/>
                          <a:ext cx="0" cy="3180"/>
                        </a:xfrm>
                        <a:prstGeom prst="line">
                          <a:avLst/>
                        </a:prstGeom>
                        <a:noFill/>
                        <a:ln w="9525">
                          <a:solidFill>
                            <a:srgbClr val="000000"/>
                          </a:solidFill>
                          <a:prstDash val="dash"/>
                          <a:round/>
                          <a:headEnd/>
                          <a:tailEnd/>
                        </a:ln>
                      </p:spPr>
                      <p:txBody>
                        <a:bodyPr/>
                        <a:lstStyle/>
                        <a:p>
                          <a:pPr>
                            <a:defRPr/>
                          </a:pPr>
                          <a:endParaRPr lang="zh-CN" altLang="en-US">
                            <a:ea typeface="宋体" charset="-122"/>
                          </a:endParaRPr>
                        </a:p>
                      </p:txBody>
                    </p:sp>
                    <p:sp>
                      <p:nvSpPr>
                        <p:cNvPr id="57433" name="Line 89">
                          <a:extLst>
                            <a:ext uri="{FF2B5EF4-FFF2-40B4-BE49-F238E27FC236}">
                              <a16:creationId xmlns:a16="http://schemas.microsoft.com/office/drawing/2014/main" id="{D8ACCA74-BE5C-FC0E-083B-8C241EB88104}"/>
                            </a:ext>
                          </a:extLst>
                        </p:cNvPr>
                        <p:cNvSpPr>
                          <a:spLocks noChangeShapeType="1"/>
                        </p:cNvSpPr>
                        <p:nvPr/>
                      </p:nvSpPr>
                      <p:spPr bwMode="auto">
                        <a:xfrm>
                          <a:off x="5008" y="1863"/>
                          <a:ext cx="0" cy="3180"/>
                        </a:xfrm>
                        <a:prstGeom prst="line">
                          <a:avLst/>
                        </a:prstGeom>
                        <a:noFill/>
                        <a:ln w="9525">
                          <a:solidFill>
                            <a:srgbClr val="000000"/>
                          </a:solidFill>
                          <a:prstDash val="dash"/>
                          <a:round/>
                          <a:headEnd/>
                          <a:tailEnd/>
                        </a:ln>
                      </p:spPr>
                      <p:txBody>
                        <a:bodyPr/>
                        <a:lstStyle/>
                        <a:p>
                          <a:pPr>
                            <a:defRPr/>
                          </a:pPr>
                          <a:endParaRPr lang="zh-CN" altLang="en-US">
                            <a:ea typeface="宋体" charset="-122"/>
                          </a:endParaRPr>
                        </a:p>
                      </p:txBody>
                    </p:sp>
                    <p:sp>
                      <p:nvSpPr>
                        <p:cNvPr id="57434" name="Line 90">
                          <a:extLst>
                            <a:ext uri="{FF2B5EF4-FFF2-40B4-BE49-F238E27FC236}">
                              <a16:creationId xmlns:a16="http://schemas.microsoft.com/office/drawing/2014/main" id="{B98A68F0-6571-C47A-7719-2A9C5D07FA75}"/>
                            </a:ext>
                          </a:extLst>
                        </p:cNvPr>
                        <p:cNvSpPr>
                          <a:spLocks noChangeShapeType="1"/>
                        </p:cNvSpPr>
                        <p:nvPr/>
                      </p:nvSpPr>
                      <p:spPr bwMode="auto">
                        <a:xfrm>
                          <a:off x="5385" y="1887"/>
                          <a:ext cx="0" cy="3180"/>
                        </a:xfrm>
                        <a:prstGeom prst="line">
                          <a:avLst/>
                        </a:prstGeom>
                        <a:noFill/>
                        <a:ln w="9525">
                          <a:solidFill>
                            <a:srgbClr val="000000"/>
                          </a:solidFill>
                          <a:prstDash val="dash"/>
                          <a:round/>
                          <a:headEnd/>
                          <a:tailEnd/>
                        </a:ln>
                      </p:spPr>
                      <p:txBody>
                        <a:bodyPr/>
                        <a:lstStyle/>
                        <a:p>
                          <a:pPr>
                            <a:defRPr/>
                          </a:pPr>
                          <a:endParaRPr lang="zh-CN" altLang="en-US">
                            <a:ea typeface="宋体" charset="-122"/>
                          </a:endParaRPr>
                        </a:p>
                      </p:txBody>
                    </p:sp>
                    <p:sp>
                      <p:nvSpPr>
                        <p:cNvPr id="57435" name="Line 91">
                          <a:extLst>
                            <a:ext uri="{FF2B5EF4-FFF2-40B4-BE49-F238E27FC236}">
                              <a16:creationId xmlns:a16="http://schemas.microsoft.com/office/drawing/2014/main" id="{FC3D60E0-24AB-2C61-DA6E-C91CD92BF06E}"/>
                            </a:ext>
                          </a:extLst>
                        </p:cNvPr>
                        <p:cNvSpPr>
                          <a:spLocks noChangeShapeType="1"/>
                        </p:cNvSpPr>
                        <p:nvPr/>
                      </p:nvSpPr>
                      <p:spPr bwMode="auto">
                        <a:xfrm>
                          <a:off x="5779" y="1887"/>
                          <a:ext cx="0" cy="3180"/>
                        </a:xfrm>
                        <a:prstGeom prst="line">
                          <a:avLst/>
                        </a:prstGeom>
                        <a:noFill/>
                        <a:ln w="9525">
                          <a:solidFill>
                            <a:srgbClr val="000000"/>
                          </a:solidFill>
                          <a:prstDash val="dash"/>
                          <a:round/>
                          <a:headEnd/>
                          <a:tailEnd/>
                        </a:ln>
                      </p:spPr>
                      <p:txBody>
                        <a:bodyPr/>
                        <a:lstStyle/>
                        <a:p>
                          <a:pPr>
                            <a:defRPr/>
                          </a:pPr>
                          <a:endParaRPr lang="zh-CN" altLang="en-US">
                            <a:ea typeface="宋体" charset="-122"/>
                          </a:endParaRPr>
                        </a:p>
                      </p:txBody>
                    </p:sp>
                    <p:sp>
                      <p:nvSpPr>
                        <p:cNvPr id="57436" name="Line 92">
                          <a:extLst>
                            <a:ext uri="{FF2B5EF4-FFF2-40B4-BE49-F238E27FC236}">
                              <a16:creationId xmlns:a16="http://schemas.microsoft.com/office/drawing/2014/main" id="{1508FF4E-F659-CCAD-8DB7-923507C0785F}"/>
                            </a:ext>
                          </a:extLst>
                        </p:cNvPr>
                        <p:cNvSpPr>
                          <a:spLocks noChangeShapeType="1"/>
                        </p:cNvSpPr>
                        <p:nvPr/>
                      </p:nvSpPr>
                      <p:spPr bwMode="auto">
                        <a:xfrm>
                          <a:off x="6193" y="1887"/>
                          <a:ext cx="0" cy="3180"/>
                        </a:xfrm>
                        <a:prstGeom prst="line">
                          <a:avLst/>
                        </a:prstGeom>
                        <a:noFill/>
                        <a:ln w="9525">
                          <a:solidFill>
                            <a:srgbClr val="000000"/>
                          </a:solidFill>
                          <a:prstDash val="dash"/>
                          <a:round/>
                          <a:headEnd/>
                          <a:tailEnd/>
                        </a:ln>
                      </p:spPr>
                      <p:txBody>
                        <a:bodyPr/>
                        <a:lstStyle/>
                        <a:p>
                          <a:pPr>
                            <a:defRPr/>
                          </a:pPr>
                          <a:endParaRPr lang="zh-CN" altLang="en-US">
                            <a:ea typeface="宋体" charset="-122"/>
                          </a:endParaRPr>
                        </a:p>
                      </p:txBody>
                    </p:sp>
                    <p:sp>
                      <p:nvSpPr>
                        <p:cNvPr id="57437" name="Line 93">
                          <a:extLst>
                            <a:ext uri="{FF2B5EF4-FFF2-40B4-BE49-F238E27FC236}">
                              <a16:creationId xmlns:a16="http://schemas.microsoft.com/office/drawing/2014/main" id="{BE5F3000-8B44-BBFD-82FF-66B0464D0310}"/>
                            </a:ext>
                          </a:extLst>
                        </p:cNvPr>
                        <p:cNvSpPr>
                          <a:spLocks noChangeShapeType="1"/>
                        </p:cNvSpPr>
                        <p:nvPr/>
                      </p:nvSpPr>
                      <p:spPr bwMode="auto">
                        <a:xfrm>
                          <a:off x="6570" y="1887"/>
                          <a:ext cx="0" cy="3180"/>
                        </a:xfrm>
                        <a:prstGeom prst="line">
                          <a:avLst/>
                        </a:prstGeom>
                        <a:noFill/>
                        <a:ln w="9525">
                          <a:solidFill>
                            <a:srgbClr val="000000"/>
                          </a:solidFill>
                          <a:prstDash val="dash"/>
                          <a:round/>
                          <a:headEnd/>
                          <a:tailEnd/>
                        </a:ln>
                      </p:spPr>
                      <p:txBody>
                        <a:bodyPr/>
                        <a:lstStyle/>
                        <a:p>
                          <a:pPr>
                            <a:defRPr/>
                          </a:pPr>
                          <a:endParaRPr lang="zh-CN" altLang="en-US">
                            <a:ea typeface="宋体" charset="-122"/>
                          </a:endParaRPr>
                        </a:p>
                      </p:txBody>
                    </p:sp>
                    <p:sp>
                      <p:nvSpPr>
                        <p:cNvPr id="89" name="Line 89">
                          <a:extLst>
                            <a:ext uri="{FF2B5EF4-FFF2-40B4-BE49-F238E27FC236}">
                              <a16:creationId xmlns:a16="http://schemas.microsoft.com/office/drawing/2014/main" id="{E9F30132-8415-9D8C-6076-CE4EB987E737}"/>
                            </a:ext>
                          </a:extLst>
                        </p:cNvPr>
                        <p:cNvSpPr>
                          <a:spLocks noChangeShapeType="1"/>
                        </p:cNvSpPr>
                        <p:nvPr/>
                      </p:nvSpPr>
                      <p:spPr bwMode="auto">
                        <a:xfrm>
                          <a:off x="4613" y="1852"/>
                          <a:ext cx="0" cy="3180"/>
                        </a:xfrm>
                        <a:prstGeom prst="line">
                          <a:avLst/>
                        </a:prstGeom>
                        <a:noFill/>
                        <a:ln w="9525">
                          <a:solidFill>
                            <a:srgbClr val="000000"/>
                          </a:solidFill>
                          <a:prstDash val="dash"/>
                          <a:round/>
                          <a:headEnd/>
                          <a:tailEnd/>
                        </a:ln>
                      </p:spPr>
                      <p:txBody>
                        <a:bodyPr/>
                        <a:lstStyle/>
                        <a:p>
                          <a:pPr>
                            <a:defRPr/>
                          </a:pPr>
                          <a:endParaRPr lang="zh-CN" altLang="en-US">
                            <a:ea typeface="宋体" charset="-122"/>
                          </a:endParaRPr>
                        </a:p>
                      </p:txBody>
                    </p:sp>
                  </p:grpSp>
                  <p:sp>
                    <p:nvSpPr>
                      <p:cNvPr id="57438" name="Line 94">
                        <a:extLst>
                          <a:ext uri="{FF2B5EF4-FFF2-40B4-BE49-F238E27FC236}">
                            <a16:creationId xmlns:a16="http://schemas.microsoft.com/office/drawing/2014/main" id="{94BB7A87-3A8F-489B-3DA6-E7AC83AA03BC}"/>
                          </a:ext>
                        </a:extLst>
                      </p:cNvPr>
                      <p:cNvSpPr>
                        <a:spLocks noChangeShapeType="1"/>
                      </p:cNvSpPr>
                      <p:nvPr/>
                    </p:nvSpPr>
                    <p:spPr bwMode="auto">
                      <a:xfrm>
                        <a:off x="9314" y="2136"/>
                        <a:ext cx="0" cy="3204"/>
                      </a:xfrm>
                      <a:prstGeom prst="line">
                        <a:avLst/>
                      </a:prstGeom>
                      <a:noFill/>
                      <a:ln w="9525">
                        <a:solidFill>
                          <a:srgbClr val="000000"/>
                        </a:solidFill>
                        <a:prstDash val="dash"/>
                        <a:round/>
                        <a:headEnd/>
                        <a:tailEnd/>
                      </a:ln>
                    </p:spPr>
                    <p:txBody>
                      <a:bodyPr/>
                      <a:lstStyle/>
                      <a:p>
                        <a:pPr>
                          <a:defRPr/>
                        </a:pPr>
                        <a:endParaRPr lang="zh-CN" altLang="en-US">
                          <a:ea typeface="宋体" charset="-122"/>
                        </a:endParaRPr>
                      </a:p>
                    </p:txBody>
                  </p:sp>
                </p:grpSp>
              </p:grpSp>
            </p:grpSp>
          </p:grpSp>
          <p:cxnSp>
            <p:nvCxnSpPr>
              <p:cNvPr id="50216" name="直接连接符 113">
                <a:extLst>
                  <a:ext uri="{FF2B5EF4-FFF2-40B4-BE49-F238E27FC236}">
                    <a16:creationId xmlns:a16="http://schemas.microsoft.com/office/drawing/2014/main" id="{180B1790-106B-3F69-4928-1D12D7005A5C}"/>
                  </a:ext>
                </a:extLst>
              </p:cNvPr>
              <p:cNvCxnSpPr>
                <a:cxnSpLocks noChangeShapeType="1"/>
              </p:cNvCxnSpPr>
              <p:nvPr/>
            </p:nvCxnSpPr>
            <p:spPr bwMode="auto">
              <a:xfrm>
                <a:off x="1328262" y="3355975"/>
                <a:ext cx="585788" cy="1588"/>
              </a:xfrm>
              <a:prstGeom prst="line">
                <a:avLst/>
              </a:prstGeom>
              <a:noFill/>
              <a:ln w="28575" algn="ctr">
                <a:solidFill>
                  <a:schemeClr val="tx1"/>
                </a:solidFill>
                <a:miter lim="800000"/>
                <a:headEnd/>
                <a:tailEnd/>
              </a:ln>
              <a:extLst>
                <a:ext uri="{909E8E84-426E-40DD-AFC4-6F175D3DCCD1}">
                  <a14:hiddenFill xmlns:a14="http://schemas.microsoft.com/office/drawing/2010/main">
                    <a:noFill/>
                  </a14:hiddenFill>
                </a:ext>
              </a:extLst>
            </p:spPr>
          </p:cxnSp>
        </p:grpSp>
        <p:grpSp>
          <p:nvGrpSpPr>
            <p:cNvPr id="50185" name="组合 109">
              <a:extLst>
                <a:ext uri="{FF2B5EF4-FFF2-40B4-BE49-F238E27FC236}">
                  <a16:creationId xmlns:a16="http://schemas.microsoft.com/office/drawing/2014/main" id="{1462ACB7-869E-757C-675A-7E2245510416}"/>
                </a:ext>
              </a:extLst>
            </p:cNvPr>
            <p:cNvGrpSpPr>
              <a:grpSpLocks/>
            </p:cNvGrpSpPr>
            <p:nvPr/>
          </p:nvGrpSpPr>
          <p:grpSpPr bwMode="auto">
            <a:xfrm>
              <a:off x="1334590" y="4229332"/>
              <a:ext cx="122034" cy="521389"/>
              <a:chOff x="1285852" y="4122057"/>
              <a:chExt cx="122034" cy="664265"/>
            </a:xfrm>
          </p:grpSpPr>
          <p:sp>
            <p:nvSpPr>
              <p:cNvPr id="50213" name="任意多边形 110">
                <a:extLst>
                  <a:ext uri="{FF2B5EF4-FFF2-40B4-BE49-F238E27FC236}">
                    <a16:creationId xmlns:a16="http://schemas.microsoft.com/office/drawing/2014/main" id="{EED92376-7818-FD55-9217-9A03D7CF8089}"/>
                  </a:ext>
                </a:extLst>
              </p:cNvPr>
              <p:cNvSpPr>
                <a:spLocks noChangeArrowheads="1"/>
              </p:cNvSpPr>
              <p:nvPr/>
            </p:nvSpPr>
            <p:spPr bwMode="auto">
              <a:xfrm>
                <a:off x="1291772" y="4122057"/>
                <a:ext cx="116114" cy="638628"/>
              </a:xfrm>
              <a:custGeom>
                <a:avLst/>
                <a:gdLst>
                  <a:gd name="T0" fmla="*/ 0 w 116114"/>
                  <a:gd name="T1" fmla="*/ 0 h 638628"/>
                  <a:gd name="T2" fmla="*/ 116114 w 116114"/>
                  <a:gd name="T3" fmla="*/ 638628 h 638628"/>
                  <a:gd name="T4" fmla="*/ 0 60000 65536"/>
                  <a:gd name="T5" fmla="*/ 0 60000 65536"/>
                  <a:gd name="T6" fmla="*/ 0 w 116114"/>
                  <a:gd name="T7" fmla="*/ 0 h 638628"/>
                  <a:gd name="T8" fmla="*/ 116114 w 116114"/>
                  <a:gd name="T9" fmla="*/ 638628 h 638628"/>
                </a:gdLst>
                <a:ahLst/>
                <a:cxnLst>
                  <a:cxn ang="T4">
                    <a:pos x="T0" y="T1"/>
                  </a:cxn>
                  <a:cxn ang="T5">
                    <a:pos x="T2" y="T3"/>
                  </a:cxn>
                </a:cxnLst>
                <a:rect l="T6" t="T7" r="T8" b="T9"/>
                <a:pathLst>
                  <a:path w="116114" h="638628">
                    <a:moveTo>
                      <a:pt x="0" y="0"/>
                    </a:moveTo>
                    <a:cubicBezTo>
                      <a:pt x="45962" y="286657"/>
                      <a:pt x="91924" y="573314"/>
                      <a:pt x="116114" y="638628"/>
                    </a:cubicBezTo>
                  </a:path>
                </a:pathLst>
              </a:custGeom>
              <a:solidFill>
                <a:schemeClr val="accent1"/>
              </a:solidFill>
              <a:ln w="28575" algn="ctr">
                <a:solidFill>
                  <a:srgbClr val="003399"/>
                </a:solidFill>
                <a:miter lim="800000"/>
                <a:headEnd/>
                <a:tailEnd/>
              </a:ln>
            </p:spPr>
            <p:txBody>
              <a:bodyPr wrap="none"/>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cxnSp>
            <p:nvCxnSpPr>
              <p:cNvPr id="50214" name="直接连接符 112">
                <a:extLst>
                  <a:ext uri="{FF2B5EF4-FFF2-40B4-BE49-F238E27FC236}">
                    <a16:creationId xmlns:a16="http://schemas.microsoft.com/office/drawing/2014/main" id="{993FA9D5-FB86-54A4-5B96-8A8685A444D8}"/>
                  </a:ext>
                </a:extLst>
              </p:cNvPr>
              <p:cNvCxnSpPr>
                <a:cxnSpLocks noChangeShapeType="1"/>
              </p:cNvCxnSpPr>
              <p:nvPr/>
            </p:nvCxnSpPr>
            <p:spPr bwMode="auto">
              <a:xfrm rot="5400000">
                <a:off x="965175" y="4464057"/>
                <a:ext cx="642942" cy="1588"/>
              </a:xfrm>
              <a:prstGeom prst="line">
                <a:avLst/>
              </a:prstGeom>
              <a:noFill/>
              <a:ln w="28575" algn="ctr">
                <a:solidFill>
                  <a:srgbClr val="003399"/>
                </a:solidFill>
                <a:miter lim="800000"/>
                <a:headEnd/>
                <a:tailEnd/>
              </a:ln>
              <a:extLst>
                <a:ext uri="{909E8E84-426E-40DD-AFC4-6F175D3DCCD1}">
                  <a14:hiddenFill xmlns:a14="http://schemas.microsoft.com/office/drawing/2010/main">
                    <a:noFill/>
                  </a14:hiddenFill>
                </a:ext>
              </a:extLst>
            </p:spPr>
          </p:cxnSp>
        </p:grpSp>
        <p:grpSp>
          <p:nvGrpSpPr>
            <p:cNvPr id="50186" name="组合 113">
              <a:extLst>
                <a:ext uri="{FF2B5EF4-FFF2-40B4-BE49-F238E27FC236}">
                  <a16:creationId xmlns:a16="http://schemas.microsoft.com/office/drawing/2014/main" id="{28746193-73C0-FB63-AE83-4C7F279FA97A}"/>
                </a:ext>
              </a:extLst>
            </p:cNvPr>
            <p:cNvGrpSpPr>
              <a:grpSpLocks/>
            </p:cNvGrpSpPr>
            <p:nvPr/>
          </p:nvGrpSpPr>
          <p:grpSpPr bwMode="auto">
            <a:xfrm>
              <a:off x="2263284" y="4229332"/>
              <a:ext cx="122034" cy="521389"/>
              <a:chOff x="1285852" y="4122057"/>
              <a:chExt cx="122034" cy="664265"/>
            </a:xfrm>
          </p:grpSpPr>
          <p:sp>
            <p:nvSpPr>
              <p:cNvPr id="50211" name="任意多边形 114">
                <a:extLst>
                  <a:ext uri="{FF2B5EF4-FFF2-40B4-BE49-F238E27FC236}">
                    <a16:creationId xmlns:a16="http://schemas.microsoft.com/office/drawing/2014/main" id="{68AE979B-4CF3-E5A8-BE15-4CBE8A40FF19}"/>
                  </a:ext>
                </a:extLst>
              </p:cNvPr>
              <p:cNvSpPr>
                <a:spLocks noChangeArrowheads="1"/>
              </p:cNvSpPr>
              <p:nvPr/>
            </p:nvSpPr>
            <p:spPr bwMode="auto">
              <a:xfrm>
                <a:off x="1291772" y="4122057"/>
                <a:ext cx="116114" cy="638628"/>
              </a:xfrm>
              <a:custGeom>
                <a:avLst/>
                <a:gdLst>
                  <a:gd name="T0" fmla="*/ 0 w 116114"/>
                  <a:gd name="T1" fmla="*/ 0 h 638628"/>
                  <a:gd name="T2" fmla="*/ 116114 w 116114"/>
                  <a:gd name="T3" fmla="*/ 638628 h 638628"/>
                  <a:gd name="T4" fmla="*/ 0 60000 65536"/>
                  <a:gd name="T5" fmla="*/ 0 60000 65536"/>
                  <a:gd name="T6" fmla="*/ 0 w 116114"/>
                  <a:gd name="T7" fmla="*/ 0 h 638628"/>
                  <a:gd name="T8" fmla="*/ 116114 w 116114"/>
                  <a:gd name="T9" fmla="*/ 638628 h 638628"/>
                </a:gdLst>
                <a:ahLst/>
                <a:cxnLst>
                  <a:cxn ang="T4">
                    <a:pos x="T0" y="T1"/>
                  </a:cxn>
                  <a:cxn ang="T5">
                    <a:pos x="T2" y="T3"/>
                  </a:cxn>
                </a:cxnLst>
                <a:rect l="T6" t="T7" r="T8" b="T9"/>
                <a:pathLst>
                  <a:path w="116114" h="638628">
                    <a:moveTo>
                      <a:pt x="0" y="0"/>
                    </a:moveTo>
                    <a:cubicBezTo>
                      <a:pt x="45962" y="286657"/>
                      <a:pt x="91924" y="573314"/>
                      <a:pt x="116114" y="638628"/>
                    </a:cubicBezTo>
                  </a:path>
                </a:pathLst>
              </a:custGeom>
              <a:solidFill>
                <a:schemeClr val="accent1"/>
              </a:solidFill>
              <a:ln w="28575" algn="ctr">
                <a:solidFill>
                  <a:srgbClr val="003399"/>
                </a:solidFill>
                <a:miter lim="800000"/>
                <a:headEnd/>
                <a:tailEnd/>
              </a:ln>
            </p:spPr>
            <p:txBody>
              <a:bodyPr wrap="none"/>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cxnSp>
            <p:nvCxnSpPr>
              <p:cNvPr id="50212" name="直接连接符 115">
                <a:extLst>
                  <a:ext uri="{FF2B5EF4-FFF2-40B4-BE49-F238E27FC236}">
                    <a16:creationId xmlns:a16="http://schemas.microsoft.com/office/drawing/2014/main" id="{600A439B-A7FE-E3DB-114E-87F1737AE381}"/>
                  </a:ext>
                </a:extLst>
              </p:cNvPr>
              <p:cNvCxnSpPr>
                <a:cxnSpLocks noChangeShapeType="1"/>
              </p:cNvCxnSpPr>
              <p:nvPr/>
            </p:nvCxnSpPr>
            <p:spPr bwMode="auto">
              <a:xfrm rot="5400000">
                <a:off x="965175" y="4464057"/>
                <a:ext cx="642942" cy="1588"/>
              </a:xfrm>
              <a:prstGeom prst="line">
                <a:avLst/>
              </a:prstGeom>
              <a:noFill/>
              <a:ln w="28575" algn="ctr">
                <a:solidFill>
                  <a:srgbClr val="003399"/>
                </a:solidFill>
                <a:miter lim="800000"/>
                <a:headEnd/>
                <a:tailEnd/>
              </a:ln>
              <a:extLst>
                <a:ext uri="{909E8E84-426E-40DD-AFC4-6F175D3DCCD1}">
                  <a14:hiddenFill xmlns:a14="http://schemas.microsoft.com/office/drawing/2010/main">
                    <a:noFill/>
                  </a14:hiddenFill>
                </a:ext>
              </a:extLst>
            </p:spPr>
          </p:cxnSp>
        </p:grpSp>
        <p:grpSp>
          <p:nvGrpSpPr>
            <p:cNvPr id="50187" name="组合 116">
              <a:extLst>
                <a:ext uri="{FF2B5EF4-FFF2-40B4-BE49-F238E27FC236}">
                  <a16:creationId xmlns:a16="http://schemas.microsoft.com/office/drawing/2014/main" id="{28D7DB13-69AB-5387-B6C4-FBB636AC2680}"/>
                </a:ext>
              </a:extLst>
            </p:cNvPr>
            <p:cNvGrpSpPr>
              <a:grpSpLocks/>
            </p:cNvGrpSpPr>
            <p:nvPr/>
          </p:nvGrpSpPr>
          <p:grpSpPr bwMode="auto">
            <a:xfrm>
              <a:off x="2886516" y="4229332"/>
              <a:ext cx="122034" cy="521389"/>
              <a:chOff x="1285852" y="4122057"/>
              <a:chExt cx="122034" cy="664265"/>
            </a:xfrm>
          </p:grpSpPr>
          <p:sp>
            <p:nvSpPr>
              <p:cNvPr id="50209" name="任意多边形 117">
                <a:extLst>
                  <a:ext uri="{FF2B5EF4-FFF2-40B4-BE49-F238E27FC236}">
                    <a16:creationId xmlns:a16="http://schemas.microsoft.com/office/drawing/2014/main" id="{AC30BE75-7D30-DDAE-70B3-02AF67B658FF}"/>
                  </a:ext>
                </a:extLst>
              </p:cNvPr>
              <p:cNvSpPr>
                <a:spLocks noChangeArrowheads="1"/>
              </p:cNvSpPr>
              <p:nvPr/>
            </p:nvSpPr>
            <p:spPr bwMode="auto">
              <a:xfrm>
                <a:off x="1291772" y="4122057"/>
                <a:ext cx="116114" cy="638628"/>
              </a:xfrm>
              <a:custGeom>
                <a:avLst/>
                <a:gdLst>
                  <a:gd name="T0" fmla="*/ 0 w 116114"/>
                  <a:gd name="T1" fmla="*/ 0 h 638628"/>
                  <a:gd name="T2" fmla="*/ 116114 w 116114"/>
                  <a:gd name="T3" fmla="*/ 638628 h 638628"/>
                  <a:gd name="T4" fmla="*/ 0 60000 65536"/>
                  <a:gd name="T5" fmla="*/ 0 60000 65536"/>
                  <a:gd name="T6" fmla="*/ 0 w 116114"/>
                  <a:gd name="T7" fmla="*/ 0 h 638628"/>
                  <a:gd name="T8" fmla="*/ 116114 w 116114"/>
                  <a:gd name="T9" fmla="*/ 638628 h 638628"/>
                </a:gdLst>
                <a:ahLst/>
                <a:cxnLst>
                  <a:cxn ang="T4">
                    <a:pos x="T0" y="T1"/>
                  </a:cxn>
                  <a:cxn ang="T5">
                    <a:pos x="T2" y="T3"/>
                  </a:cxn>
                </a:cxnLst>
                <a:rect l="T6" t="T7" r="T8" b="T9"/>
                <a:pathLst>
                  <a:path w="116114" h="638628">
                    <a:moveTo>
                      <a:pt x="0" y="0"/>
                    </a:moveTo>
                    <a:cubicBezTo>
                      <a:pt x="45962" y="286657"/>
                      <a:pt x="91924" y="573314"/>
                      <a:pt x="116114" y="638628"/>
                    </a:cubicBezTo>
                  </a:path>
                </a:pathLst>
              </a:custGeom>
              <a:solidFill>
                <a:schemeClr val="accent1"/>
              </a:solidFill>
              <a:ln w="28575" algn="ctr">
                <a:solidFill>
                  <a:srgbClr val="003399"/>
                </a:solidFill>
                <a:miter lim="800000"/>
                <a:headEnd/>
                <a:tailEnd/>
              </a:ln>
            </p:spPr>
            <p:txBody>
              <a:bodyPr wrap="none"/>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cxnSp>
            <p:nvCxnSpPr>
              <p:cNvPr id="50210" name="直接连接符 119">
                <a:extLst>
                  <a:ext uri="{FF2B5EF4-FFF2-40B4-BE49-F238E27FC236}">
                    <a16:creationId xmlns:a16="http://schemas.microsoft.com/office/drawing/2014/main" id="{0A90DA6A-2B6F-20BF-6B15-3026DD1C8F1E}"/>
                  </a:ext>
                </a:extLst>
              </p:cNvPr>
              <p:cNvCxnSpPr>
                <a:cxnSpLocks noChangeShapeType="1"/>
              </p:cNvCxnSpPr>
              <p:nvPr/>
            </p:nvCxnSpPr>
            <p:spPr bwMode="auto">
              <a:xfrm rot="5400000">
                <a:off x="965175" y="4464057"/>
                <a:ext cx="642942" cy="1588"/>
              </a:xfrm>
              <a:prstGeom prst="line">
                <a:avLst/>
              </a:prstGeom>
              <a:noFill/>
              <a:ln w="28575" algn="ctr">
                <a:solidFill>
                  <a:srgbClr val="003399"/>
                </a:solidFill>
                <a:miter lim="800000"/>
                <a:headEnd/>
                <a:tailEnd/>
              </a:ln>
              <a:extLst>
                <a:ext uri="{909E8E84-426E-40DD-AFC4-6F175D3DCCD1}">
                  <a14:hiddenFill xmlns:a14="http://schemas.microsoft.com/office/drawing/2010/main">
                    <a:noFill/>
                  </a14:hiddenFill>
                </a:ext>
              </a:extLst>
            </p:spPr>
          </p:cxnSp>
        </p:grpSp>
        <p:grpSp>
          <p:nvGrpSpPr>
            <p:cNvPr id="50188" name="组合 123">
              <a:extLst>
                <a:ext uri="{FF2B5EF4-FFF2-40B4-BE49-F238E27FC236}">
                  <a16:creationId xmlns:a16="http://schemas.microsoft.com/office/drawing/2014/main" id="{8D27270F-C838-9791-144E-E701094BD265}"/>
                </a:ext>
              </a:extLst>
            </p:cNvPr>
            <p:cNvGrpSpPr>
              <a:grpSpLocks/>
            </p:cNvGrpSpPr>
            <p:nvPr/>
          </p:nvGrpSpPr>
          <p:grpSpPr bwMode="auto">
            <a:xfrm flipV="1">
              <a:off x="1943308" y="4714884"/>
              <a:ext cx="123756" cy="500067"/>
              <a:chOff x="1285852" y="4122057"/>
              <a:chExt cx="122034" cy="664265"/>
            </a:xfrm>
          </p:grpSpPr>
          <p:sp>
            <p:nvSpPr>
              <p:cNvPr id="50207" name="任意多边形 124">
                <a:extLst>
                  <a:ext uri="{FF2B5EF4-FFF2-40B4-BE49-F238E27FC236}">
                    <a16:creationId xmlns:a16="http://schemas.microsoft.com/office/drawing/2014/main" id="{96838A30-8E76-F71A-0B7E-5D4993D1310F}"/>
                  </a:ext>
                </a:extLst>
              </p:cNvPr>
              <p:cNvSpPr>
                <a:spLocks noChangeArrowheads="1"/>
              </p:cNvSpPr>
              <p:nvPr/>
            </p:nvSpPr>
            <p:spPr bwMode="auto">
              <a:xfrm>
                <a:off x="1291772" y="4122057"/>
                <a:ext cx="116114" cy="638628"/>
              </a:xfrm>
              <a:custGeom>
                <a:avLst/>
                <a:gdLst>
                  <a:gd name="T0" fmla="*/ 0 w 116114"/>
                  <a:gd name="T1" fmla="*/ 0 h 638628"/>
                  <a:gd name="T2" fmla="*/ 116114 w 116114"/>
                  <a:gd name="T3" fmla="*/ 638628 h 638628"/>
                  <a:gd name="T4" fmla="*/ 0 60000 65536"/>
                  <a:gd name="T5" fmla="*/ 0 60000 65536"/>
                  <a:gd name="T6" fmla="*/ 0 w 116114"/>
                  <a:gd name="T7" fmla="*/ 0 h 638628"/>
                  <a:gd name="T8" fmla="*/ 116114 w 116114"/>
                  <a:gd name="T9" fmla="*/ 638628 h 638628"/>
                </a:gdLst>
                <a:ahLst/>
                <a:cxnLst>
                  <a:cxn ang="T4">
                    <a:pos x="T0" y="T1"/>
                  </a:cxn>
                  <a:cxn ang="T5">
                    <a:pos x="T2" y="T3"/>
                  </a:cxn>
                </a:cxnLst>
                <a:rect l="T6" t="T7" r="T8" b="T9"/>
                <a:pathLst>
                  <a:path w="116114" h="638628">
                    <a:moveTo>
                      <a:pt x="0" y="0"/>
                    </a:moveTo>
                    <a:cubicBezTo>
                      <a:pt x="45962" y="286657"/>
                      <a:pt x="91924" y="573314"/>
                      <a:pt x="116114" y="638628"/>
                    </a:cubicBezTo>
                  </a:path>
                </a:pathLst>
              </a:custGeom>
              <a:solidFill>
                <a:schemeClr val="accent1"/>
              </a:solidFill>
              <a:ln w="28575" algn="ctr">
                <a:solidFill>
                  <a:srgbClr val="003399"/>
                </a:solidFill>
                <a:miter lim="800000"/>
                <a:headEnd/>
                <a:tailEnd/>
              </a:ln>
            </p:spPr>
            <p:txBody>
              <a:bodyPr wrap="none"/>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cxnSp>
            <p:nvCxnSpPr>
              <p:cNvPr id="50208" name="直接连接符 125">
                <a:extLst>
                  <a:ext uri="{FF2B5EF4-FFF2-40B4-BE49-F238E27FC236}">
                    <a16:creationId xmlns:a16="http://schemas.microsoft.com/office/drawing/2014/main" id="{056FF78F-442D-D5FE-6158-A98E4B6D8979}"/>
                  </a:ext>
                </a:extLst>
              </p:cNvPr>
              <p:cNvCxnSpPr>
                <a:cxnSpLocks noChangeShapeType="1"/>
              </p:cNvCxnSpPr>
              <p:nvPr/>
            </p:nvCxnSpPr>
            <p:spPr bwMode="auto">
              <a:xfrm rot="5400000">
                <a:off x="965175" y="4464057"/>
                <a:ext cx="642942" cy="1588"/>
              </a:xfrm>
              <a:prstGeom prst="line">
                <a:avLst/>
              </a:prstGeom>
              <a:noFill/>
              <a:ln w="28575" algn="ctr">
                <a:solidFill>
                  <a:srgbClr val="003399"/>
                </a:solidFill>
                <a:miter lim="800000"/>
                <a:headEnd/>
                <a:tailEnd/>
              </a:ln>
              <a:extLst>
                <a:ext uri="{909E8E84-426E-40DD-AFC4-6F175D3DCCD1}">
                  <a14:hiddenFill xmlns:a14="http://schemas.microsoft.com/office/drawing/2010/main">
                    <a:noFill/>
                  </a14:hiddenFill>
                </a:ext>
              </a:extLst>
            </p:spPr>
          </p:cxnSp>
        </p:grpSp>
        <p:grpSp>
          <p:nvGrpSpPr>
            <p:cNvPr id="50189" name="组合 126">
              <a:extLst>
                <a:ext uri="{FF2B5EF4-FFF2-40B4-BE49-F238E27FC236}">
                  <a16:creationId xmlns:a16="http://schemas.microsoft.com/office/drawing/2014/main" id="{16480A77-D9E8-6853-4897-DA818E51824B}"/>
                </a:ext>
              </a:extLst>
            </p:cNvPr>
            <p:cNvGrpSpPr>
              <a:grpSpLocks/>
            </p:cNvGrpSpPr>
            <p:nvPr/>
          </p:nvGrpSpPr>
          <p:grpSpPr bwMode="auto">
            <a:xfrm flipV="1">
              <a:off x="2571736" y="4728266"/>
              <a:ext cx="123756" cy="500067"/>
              <a:chOff x="1285852" y="4122057"/>
              <a:chExt cx="122034" cy="664265"/>
            </a:xfrm>
          </p:grpSpPr>
          <p:sp>
            <p:nvSpPr>
              <p:cNvPr id="50205" name="任意多边形 127">
                <a:extLst>
                  <a:ext uri="{FF2B5EF4-FFF2-40B4-BE49-F238E27FC236}">
                    <a16:creationId xmlns:a16="http://schemas.microsoft.com/office/drawing/2014/main" id="{470C1120-4B0C-119F-C2E8-78E59A849183}"/>
                  </a:ext>
                </a:extLst>
              </p:cNvPr>
              <p:cNvSpPr>
                <a:spLocks noChangeArrowheads="1"/>
              </p:cNvSpPr>
              <p:nvPr/>
            </p:nvSpPr>
            <p:spPr bwMode="auto">
              <a:xfrm>
                <a:off x="1291772" y="4122057"/>
                <a:ext cx="116114" cy="638628"/>
              </a:xfrm>
              <a:custGeom>
                <a:avLst/>
                <a:gdLst>
                  <a:gd name="T0" fmla="*/ 0 w 116114"/>
                  <a:gd name="T1" fmla="*/ 0 h 638628"/>
                  <a:gd name="T2" fmla="*/ 116114 w 116114"/>
                  <a:gd name="T3" fmla="*/ 638628 h 638628"/>
                  <a:gd name="T4" fmla="*/ 0 60000 65536"/>
                  <a:gd name="T5" fmla="*/ 0 60000 65536"/>
                  <a:gd name="T6" fmla="*/ 0 w 116114"/>
                  <a:gd name="T7" fmla="*/ 0 h 638628"/>
                  <a:gd name="T8" fmla="*/ 116114 w 116114"/>
                  <a:gd name="T9" fmla="*/ 638628 h 638628"/>
                </a:gdLst>
                <a:ahLst/>
                <a:cxnLst>
                  <a:cxn ang="T4">
                    <a:pos x="T0" y="T1"/>
                  </a:cxn>
                  <a:cxn ang="T5">
                    <a:pos x="T2" y="T3"/>
                  </a:cxn>
                </a:cxnLst>
                <a:rect l="T6" t="T7" r="T8" b="T9"/>
                <a:pathLst>
                  <a:path w="116114" h="638628">
                    <a:moveTo>
                      <a:pt x="0" y="0"/>
                    </a:moveTo>
                    <a:cubicBezTo>
                      <a:pt x="45962" y="286657"/>
                      <a:pt x="91924" y="573314"/>
                      <a:pt x="116114" y="638628"/>
                    </a:cubicBezTo>
                  </a:path>
                </a:pathLst>
              </a:custGeom>
              <a:solidFill>
                <a:schemeClr val="accent1"/>
              </a:solidFill>
              <a:ln w="28575" algn="ctr">
                <a:solidFill>
                  <a:srgbClr val="003399"/>
                </a:solidFill>
                <a:miter lim="800000"/>
                <a:headEnd/>
                <a:tailEnd/>
              </a:ln>
            </p:spPr>
            <p:txBody>
              <a:bodyPr wrap="none"/>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cxnSp>
            <p:nvCxnSpPr>
              <p:cNvPr id="50206" name="直接连接符 128">
                <a:extLst>
                  <a:ext uri="{FF2B5EF4-FFF2-40B4-BE49-F238E27FC236}">
                    <a16:creationId xmlns:a16="http://schemas.microsoft.com/office/drawing/2014/main" id="{C37B6541-A02F-AEAB-7466-DD25017E4195}"/>
                  </a:ext>
                </a:extLst>
              </p:cNvPr>
              <p:cNvCxnSpPr>
                <a:cxnSpLocks noChangeShapeType="1"/>
              </p:cNvCxnSpPr>
              <p:nvPr/>
            </p:nvCxnSpPr>
            <p:spPr bwMode="auto">
              <a:xfrm rot="5400000">
                <a:off x="965175" y="4464057"/>
                <a:ext cx="642942" cy="1588"/>
              </a:xfrm>
              <a:prstGeom prst="line">
                <a:avLst/>
              </a:prstGeom>
              <a:noFill/>
              <a:ln w="28575" algn="ctr">
                <a:solidFill>
                  <a:srgbClr val="003399"/>
                </a:solidFill>
                <a:miter lim="800000"/>
                <a:headEnd/>
                <a:tailEnd/>
              </a:ln>
              <a:extLst>
                <a:ext uri="{909E8E84-426E-40DD-AFC4-6F175D3DCCD1}">
                  <a14:hiddenFill xmlns:a14="http://schemas.microsoft.com/office/drawing/2010/main">
                    <a:noFill/>
                  </a14:hiddenFill>
                </a:ext>
              </a:extLst>
            </p:spPr>
          </p:cxnSp>
        </p:grpSp>
        <p:grpSp>
          <p:nvGrpSpPr>
            <p:cNvPr id="50190" name="组合 129">
              <a:extLst>
                <a:ext uri="{FF2B5EF4-FFF2-40B4-BE49-F238E27FC236}">
                  <a16:creationId xmlns:a16="http://schemas.microsoft.com/office/drawing/2014/main" id="{414D0C95-0801-6D82-00B0-A26A67AA69B9}"/>
                </a:ext>
              </a:extLst>
            </p:cNvPr>
            <p:cNvGrpSpPr>
              <a:grpSpLocks/>
            </p:cNvGrpSpPr>
            <p:nvPr/>
          </p:nvGrpSpPr>
          <p:grpSpPr bwMode="auto">
            <a:xfrm>
              <a:off x="1329394" y="5417014"/>
              <a:ext cx="122034" cy="521389"/>
              <a:chOff x="1285852" y="4122057"/>
              <a:chExt cx="122034" cy="664265"/>
            </a:xfrm>
          </p:grpSpPr>
          <p:sp>
            <p:nvSpPr>
              <p:cNvPr id="50203" name="任意多边形 130">
                <a:extLst>
                  <a:ext uri="{FF2B5EF4-FFF2-40B4-BE49-F238E27FC236}">
                    <a16:creationId xmlns:a16="http://schemas.microsoft.com/office/drawing/2014/main" id="{35B08ABD-F9EE-5961-4C2D-90E0D445424F}"/>
                  </a:ext>
                </a:extLst>
              </p:cNvPr>
              <p:cNvSpPr>
                <a:spLocks noChangeArrowheads="1"/>
              </p:cNvSpPr>
              <p:nvPr/>
            </p:nvSpPr>
            <p:spPr bwMode="auto">
              <a:xfrm>
                <a:off x="1291772" y="4122057"/>
                <a:ext cx="116114" cy="638628"/>
              </a:xfrm>
              <a:custGeom>
                <a:avLst/>
                <a:gdLst>
                  <a:gd name="T0" fmla="*/ 0 w 116114"/>
                  <a:gd name="T1" fmla="*/ 0 h 638628"/>
                  <a:gd name="T2" fmla="*/ 116114 w 116114"/>
                  <a:gd name="T3" fmla="*/ 638628 h 638628"/>
                  <a:gd name="T4" fmla="*/ 0 60000 65536"/>
                  <a:gd name="T5" fmla="*/ 0 60000 65536"/>
                  <a:gd name="T6" fmla="*/ 0 w 116114"/>
                  <a:gd name="T7" fmla="*/ 0 h 638628"/>
                  <a:gd name="T8" fmla="*/ 116114 w 116114"/>
                  <a:gd name="T9" fmla="*/ 638628 h 638628"/>
                </a:gdLst>
                <a:ahLst/>
                <a:cxnLst>
                  <a:cxn ang="T4">
                    <a:pos x="T0" y="T1"/>
                  </a:cxn>
                  <a:cxn ang="T5">
                    <a:pos x="T2" y="T3"/>
                  </a:cxn>
                </a:cxnLst>
                <a:rect l="T6" t="T7" r="T8" b="T9"/>
                <a:pathLst>
                  <a:path w="116114" h="638628">
                    <a:moveTo>
                      <a:pt x="0" y="0"/>
                    </a:moveTo>
                    <a:cubicBezTo>
                      <a:pt x="45962" y="286657"/>
                      <a:pt x="91924" y="573314"/>
                      <a:pt x="116114" y="638628"/>
                    </a:cubicBezTo>
                  </a:path>
                </a:pathLst>
              </a:custGeom>
              <a:solidFill>
                <a:schemeClr val="accent1"/>
              </a:solidFill>
              <a:ln w="28575" algn="ctr">
                <a:solidFill>
                  <a:srgbClr val="003399"/>
                </a:solidFill>
                <a:miter lim="800000"/>
                <a:headEnd/>
                <a:tailEnd/>
              </a:ln>
            </p:spPr>
            <p:txBody>
              <a:bodyPr wrap="none"/>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cxnSp>
            <p:nvCxnSpPr>
              <p:cNvPr id="50204" name="直接连接符 131">
                <a:extLst>
                  <a:ext uri="{FF2B5EF4-FFF2-40B4-BE49-F238E27FC236}">
                    <a16:creationId xmlns:a16="http://schemas.microsoft.com/office/drawing/2014/main" id="{67AB6E20-C851-8FD5-D504-3C92F3C072DA}"/>
                  </a:ext>
                </a:extLst>
              </p:cNvPr>
              <p:cNvCxnSpPr>
                <a:cxnSpLocks noChangeShapeType="1"/>
              </p:cNvCxnSpPr>
              <p:nvPr/>
            </p:nvCxnSpPr>
            <p:spPr bwMode="auto">
              <a:xfrm rot="5400000">
                <a:off x="965175" y="4464057"/>
                <a:ext cx="642942" cy="1588"/>
              </a:xfrm>
              <a:prstGeom prst="line">
                <a:avLst/>
              </a:prstGeom>
              <a:noFill/>
              <a:ln w="28575" algn="ctr">
                <a:solidFill>
                  <a:srgbClr val="003399"/>
                </a:solidFill>
                <a:miter lim="800000"/>
                <a:headEnd/>
                <a:tailEnd/>
              </a:ln>
              <a:extLst>
                <a:ext uri="{909E8E84-426E-40DD-AFC4-6F175D3DCCD1}">
                  <a14:hiddenFill xmlns:a14="http://schemas.microsoft.com/office/drawing/2010/main">
                    <a:noFill/>
                  </a14:hiddenFill>
                </a:ext>
              </a:extLst>
            </p:spPr>
          </p:cxnSp>
        </p:grpSp>
        <p:grpSp>
          <p:nvGrpSpPr>
            <p:cNvPr id="50191" name="组合 132">
              <a:extLst>
                <a:ext uri="{FF2B5EF4-FFF2-40B4-BE49-F238E27FC236}">
                  <a16:creationId xmlns:a16="http://schemas.microsoft.com/office/drawing/2014/main" id="{C7652F1A-9FD2-6E81-BF5E-9AACBF3E4610}"/>
                </a:ext>
              </a:extLst>
            </p:cNvPr>
            <p:cNvGrpSpPr>
              <a:grpSpLocks/>
            </p:cNvGrpSpPr>
            <p:nvPr/>
          </p:nvGrpSpPr>
          <p:grpSpPr bwMode="auto">
            <a:xfrm>
              <a:off x="1943308" y="5415882"/>
              <a:ext cx="122034" cy="521389"/>
              <a:chOff x="1285852" y="4122057"/>
              <a:chExt cx="122034" cy="664265"/>
            </a:xfrm>
          </p:grpSpPr>
          <p:sp>
            <p:nvSpPr>
              <p:cNvPr id="50201" name="任意多边形 133">
                <a:extLst>
                  <a:ext uri="{FF2B5EF4-FFF2-40B4-BE49-F238E27FC236}">
                    <a16:creationId xmlns:a16="http://schemas.microsoft.com/office/drawing/2014/main" id="{A5454C1F-2A54-6535-4832-49367FFB569A}"/>
                  </a:ext>
                </a:extLst>
              </p:cNvPr>
              <p:cNvSpPr>
                <a:spLocks noChangeArrowheads="1"/>
              </p:cNvSpPr>
              <p:nvPr/>
            </p:nvSpPr>
            <p:spPr bwMode="auto">
              <a:xfrm>
                <a:off x="1291772" y="4122057"/>
                <a:ext cx="116114" cy="638628"/>
              </a:xfrm>
              <a:custGeom>
                <a:avLst/>
                <a:gdLst>
                  <a:gd name="T0" fmla="*/ 0 w 116114"/>
                  <a:gd name="T1" fmla="*/ 0 h 638628"/>
                  <a:gd name="T2" fmla="*/ 116114 w 116114"/>
                  <a:gd name="T3" fmla="*/ 638628 h 638628"/>
                  <a:gd name="T4" fmla="*/ 0 60000 65536"/>
                  <a:gd name="T5" fmla="*/ 0 60000 65536"/>
                  <a:gd name="T6" fmla="*/ 0 w 116114"/>
                  <a:gd name="T7" fmla="*/ 0 h 638628"/>
                  <a:gd name="T8" fmla="*/ 116114 w 116114"/>
                  <a:gd name="T9" fmla="*/ 638628 h 638628"/>
                </a:gdLst>
                <a:ahLst/>
                <a:cxnLst>
                  <a:cxn ang="T4">
                    <a:pos x="T0" y="T1"/>
                  </a:cxn>
                  <a:cxn ang="T5">
                    <a:pos x="T2" y="T3"/>
                  </a:cxn>
                </a:cxnLst>
                <a:rect l="T6" t="T7" r="T8" b="T9"/>
                <a:pathLst>
                  <a:path w="116114" h="638628">
                    <a:moveTo>
                      <a:pt x="0" y="0"/>
                    </a:moveTo>
                    <a:cubicBezTo>
                      <a:pt x="45962" y="286657"/>
                      <a:pt x="91924" y="573314"/>
                      <a:pt x="116114" y="638628"/>
                    </a:cubicBezTo>
                  </a:path>
                </a:pathLst>
              </a:custGeom>
              <a:solidFill>
                <a:schemeClr val="accent1"/>
              </a:solidFill>
              <a:ln w="28575" algn="ctr">
                <a:solidFill>
                  <a:srgbClr val="003399"/>
                </a:solidFill>
                <a:miter lim="800000"/>
                <a:headEnd/>
                <a:tailEnd/>
              </a:ln>
            </p:spPr>
            <p:txBody>
              <a:bodyPr wrap="none"/>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cxnSp>
            <p:nvCxnSpPr>
              <p:cNvPr id="50202" name="直接连接符 134">
                <a:extLst>
                  <a:ext uri="{FF2B5EF4-FFF2-40B4-BE49-F238E27FC236}">
                    <a16:creationId xmlns:a16="http://schemas.microsoft.com/office/drawing/2014/main" id="{92093317-AF19-338C-754E-378219B4AD30}"/>
                  </a:ext>
                </a:extLst>
              </p:cNvPr>
              <p:cNvCxnSpPr>
                <a:cxnSpLocks noChangeShapeType="1"/>
              </p:cNvCxnSpPr>
              <p:nvPr/>
            </p:nvCxnSpPr>
            <p:spPr bwMode="auto">
              <a:xfrm rot="5400000">
                <a:off x="965175" y="4464057"/>
                <a:ext cx="642942" cy="1588"/>
              </a:xfrm>
              <a:prstGeom prst="line">
                <a:avLst/>
              </a:prstGeom>
              <a:noFill/>
              <a:ln w="28575" algn="ctr">
                <a:solidFill>
                  <a:srgbClr val="003399"/>
                </a:solidFill>
                <a:miter lim="800000"/>
                <a:headEnd/>
                <a:tailEnd/>
              </a:ln>
              <a:extLst>
                <a:ext uri="{909E8E84-426E-40DD-AFC4-6F175D3DCCD1}">
                  <a14:hiddenFill xmlns:a14="http://schemas.microsoft.com/office/drawing/2010/main">
                    <a:noFill/>
                  </a14:hiddenFill>
                </a:ext>
              </a:extLst>
            </p:spPr>
          </p:cxnSp>
        </p:grpSp>
        <p:grpSp>
          <p:nvGrpSpPr>
            <p:cNvPr id="50192" name="组合 138">
              <a:extLst>
                <a:ext uri="{FF2B5EF4-FFF2-40B4-BE49-F238E27FC236}">
                  <a16:creationId xmlns:a16="http://schemas.microsoft.com/office/drawing/2014/main" id="{17F5ED54-4F52-5C84-BC6C-7511EC090F5A}"/>
                </a:ext>
              </a:extLst>
            </p:cNvPr>
            <p:cNvGrpSpPr>
              <a:grpSpLocks/>
            </p:cNvGrpSpPr>
            <p:nvPr/>
          </p:nvGrpSpPr>
          <p:grpSpPr bwMode="auto">
            <a:xfrm>
              <a:off x="2256956" y="5415882"/>
              <a:ext cx="122034" cy="521389"/>
              <a:chOff x="1285852" y="4122057"/>
              <a:chExt cx="122034" cy="664265"/>
            </a:xfrm>
          </p:grpSpPr>
          <p:sp>
            <p:nvSpPr>
              <p:cNvPr id="50199" name="任意多边形 139">
                <a:extLst>
                  <a:ext uri="{FF2B5EF4-FFF2-40B4-BE49-F238E27FC236}">
                    <a16:creationId xmlns:a16="http://schemas.microsoft.com/office/drawing/2014/main" id="{6060F8D0-9F7E-862B-DBD7-26809BBB1DF0}"/>
                  </a:ext>
                </a:extLst>
              </p:cNvPr>
              <p:cNvSpPr>
                <a:spLocks noChangeArrowheads="1"/>
              </p:cNvSpPr>
              <p:nvPr/>
            </p:nvSpPr>
            <p:spPr bwMode="auto">
              <a:xfrm>
                <a:off x="1291772" y="4122057"/>
                <a:ext cx="116114" cy="638628"/>
              </a:xfrm>
              <a:custGeom>
                <a:avLst/>
                <a:gdLst>
                  <a:gd name="T0" fmla="*/ 0 w 116114"/>
                  <a:gd name="T1" fmla="*/ 0 h 638628"/>
                  <a:gd name="T2" fmla="*/ 116114 w 116114"/>
                  <a:gd name="T3" fmla="*/ 638628 h 638628"/>
                  <a:gd name="T4" fmla="*/ 0 60000 65536"/>
                  <a:gd name="T5" fmla="*/ 0 60000 65536"/>
                  <a:gd name="T6" fmla="*/ 0 w 116114"/>
                  <a:gd name="T7" fmla="*/ 0 h 638628"/>
                  <a:gd name="T8" fmla="*/ 116114 w 116114"/>
                  <a:gd name="T9" fmla="*/ 638628 h 638628"/>
                </a:gdLst>
                <a:ahLst/>
                <a:cxnLst>
                  <a:cxn ang="T4">
                    <a:pos x="T0" y="T1"/>
                  </a:cxn>
                  <a:cxn ang="T5">
                    <a:pos x="T2" y="T3"/>
                  </a:cxn>
                </a:cxnLst>
                <a:rect l="T6" t="T7" r="T8" b="T9"/>
                <a:pathLst>
                  <a:path w="116114" h="638628">
                    <a:moveTo>
                      <a:pt x="0" y="0"/>
                    </a:moveTo>
                    <a:cubicBezTo>
                      <a:pt x="45962" y="286657"/>
                      <a:pt x="91924" y="573314"/>
                      <a:pt x="116114" y="638628"/>
                    </a:cubicBezTo>
                  </a:path>
                </a:pathLst>
              </a:custGeom>
              <a:solidFill>
                <a:schemeClr val="accent1"/>
              </a:solidFill>
              <a:ln w="28575" algn="ctr">
                <a:solidFill>
                  <a:srgbClr val="003399"/>
                </a:solidFill>
                <a:miter lim="800000"/>
                <a:headEnd/>
                <a:tailEnd/>
              </a:ln>
            </p:spPr>
            <p:txBody>
              <a:bodyPr wrap="none"/>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cxnSp>
            <p:nvCxnSpPr>
              <p:cNvPr id="50200" name="直接连接符 140">
                <a:extLst>
                  <a:ext uri="{FF2B5EF4-FFF2-40B4-BE49-F238E27FC236}">
                    <a16:creationId xmlns:a16="http://schemas.microsoft.com/office/drawing/2014/main" id="{221F3B67-FA27-E74B-F337-893C3776B301}"/>
                  </a:ext>
                </a:extLst>
              </p:cNvPr>
              <p:cNvCxnSpPr>
                <a:cxnSpLocks noChangeShapeType="1"/>
              </p:cNvCxnSpPr>
              <p:nvPr/>
            </p:nvCxnSpPr>
            <p:spPr bwMode="auto">
              <a:xfrm rot="5400000">
                <a:off x="965175" y="4464057"/>
                <a:ext cx="642942" cy="1588"/>
              </a:xfrm>
              <a:prstGeom prst="line">
                <a:avLst/>
              </a:prstGeom>
              <a:noFill/>
              <a:ln w="28575" algn="ctr">
                <a:solidFill>
                  <a:srgbClr val="003399"/>
                </a:solidFill>
                <a:miter lim="800000"/>
                <a:headEnd/>
                <a:tailEnd/>
              </a:ln>
              <a:extLst>
                <a:ext uri="{909E8E84-426E-40DD-AFC4-6F175D3DCCD1}">
                  <a14:hiddenFill xmlns:a14="http://schemas.microsoft.com/office/drawing/2010/main">
                    <a:noFill/>
                  </a14:hiddenFill>
                </a:ext>
              </a:extLst>
            </p:spPr>
          </p:cxnSp>
        </p:grpSp>
        <p:grpSp>
          <p:nvGrpSpPr>
            <p:cNvPr id="50193" name="组合 141">
              <a:extLst>
                <a:ext uri="{FF2B5EF4-FFF2-40B4-BE49-F238E27FC236}">
                  <a16:creationId xmlns:a16="http://schemas.microsoft.com/office/drawing/2014/main" id="{D0F3C2F0-6C53-242B-2CBF-7251826C8DE6}"/>
                </a:ext>
              </a:extLst>
            </p:cNvPr>
            <p:cNvGrpSpPr>
              <a:grpSpLocks/>
            </p:cNvGrpSpPr>
            <p:nvPr/>
          </p:nvGrpSpPr>
          <p:grpSpPr bwMode="auto">
            <a:xfrm>
              <a:off x="2571736" y="5415882"/>
              <a:ext cx="122034" cy="521389"/>
              <a:chOff x="1285852" y="4122057"/>
              <a:chExt cx="122034" cy="664265"/>
            </a:xfrm>
          </p:grpSpPr>
          <p:sp>
            <p:nvSpPr>
              <p:cNvPr id="50197" name="任意多边形 142">
                <a:extLst>
                  <a:ext uri="{FF2B5EF4-FFF2-40B4-BE49-F238E27FC236}">
                    <a16:creationId xmlns:a16="http://schemas.microsoft.com/office/drawing/2014/main" id="{151D7261-20CA-2A7E-1479-B3884C5D3355}"/>
                  </a:ext>
                </a:extLst>
              </p:cNvPr>
              <p:cNvSpPr>
                <a:spLocks noChangeArrowheads="1"/>
              </p:cNvSpPr>
              <p:nvPr/>
            </p:nvSpPr>
            <p:spPr bwMode="auto">
              <a:xfrm>
                <a:off x="1291772" y="4122057"/>
                <a:ext cx="116114" cy="638628"/>
              </a:xfrm>
              <a:custGeom>
                <a:avLst/>
                <a:gdLst>
                  <a:gd name="T0" fmla="*/ 0 w 116114"/>
                  <a:gd name="T1" fmla="*/ 0 h 638628"/>
                  <a:gd name="T2" fmla="*/ 116114 w 116114"/>
                  <a:gd name="T3" fmla="*/ 638628 h 638628"/>
                  <a:gd name="T4" fmla="*/ 0 60000 65536"/>
                  <a:gd name="T5" fmla="*/ 0 60000 65536"/>
                  <a:gd name="T6" fmla="*/ 0 w 116114"/>
                  <a:gd name="T7" fmla="*/ 0 h 638628"/>
                  <a:gd name="T8" fmla="*/ 116114 w 116114"/>
                  <a:gd name="T9" fmla="*/ 638628 h 638628"/>
                </a:gdLst>
                <a:ahLst/>
                <a:cxnLst>
                  <a:cxn ang="T4">
                    <a:pos x="T0" y="T1"/>
                  </a:cxn>
                  <a:cxn ang="T5">
                    <a:pos x="T2" y="T3"/>
                  </a:cxn>
                </a:cxnLst>
                <a:rect l="T6" t="T7" r="T8" b="T9"/>
                <a:pathLst>
                  <a:path w="116114" h="638628">
                    <a:moveTo>
                      <a:pt x="0" y="0"/>
                    </a:moveTo>
                    <a:cubicBezTo>
                      <a:pt x="45962" y="286657"/>
                      <a:pt x="91924" y="573314"/>
                      <a:pt x="116114" y="638628"/>
                    </a:cubicBezTo>
                  </a:path>
                </a:pathLst>
              </a:custGeom>
              <a:solidFill>
                <a:schemeClr val="accent1"/>
              </a:solidFill>
              <a:ln w="28575" algn="ctr">
                <a:solidFill>
                  <a:srgbClr val="003399"/>
                </a:solidFill>
                <a:miter lim="800000"/>
                <a:headEnd/>
                <a:tailEnd/>
              </a:ln>
            </p:spPr>
            <p:txBody>
              <a:bodyPr wrap="none"/>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cxnSp>
            <p:nvCxnSpPr>
              <p:cNvPr id="50198" name="直接连接符 143">
                <a:extLst>
                  <a:ext uri="{FF2B5EF4-FFF2-40B4-BE49-F238E27FC236}">
                    <a16:creationId xmlns:a16="http://schemas.microsoft.com/office/drawing/2014/main" id="{E6B421FE-3318-E78A-5E3F-BE582B5E0657}"/>
                  </a:ext>
                </a:extLst>
              </p:cNvPr>
              <p:cNvCxnSpPr>
                <a:cxnSpLocks noChangeShapeType="1"/>
              </p:cNvCxnSpPr>
              <p:nvPr/>
            </p:nvCxnSpPr>
            <p:spPr bwMode="auto">
              <a:xfrm rot="5400000">
                <a:off x="965175" y="4464057"/>
                <a:ext cx="642942" cy="1588"/>
              </a:xfrm>
              <a:prstGeom prst="line">
                <a:avLst/>
              </a:prstGeom>
              <a:noFill/>
              <a:ln w="28575" algn="ctr">
                <a:solidFill>
                  <a:srgbClr val="003399"/>
                </a:solidFill>
                <a:miter lim="800000"/>
                <a:headEnd/>
                <a:tailEnd/>
              </a:ln>
              <a:extLst>
                <a:ext uri="{909E8E84-426E-40DD-AFC4-6F175D3DCCD1}">
                  <a14:hiddenFill xmlns:a14="http://schemas.microsoft.com/office/drawing/2010/main">
                    <a:noFill/>
                  </a14:hiddenFill>
                </a:ext>
              </a:extLst>
            </p:spPr>
          </p:cxnSp>
        </p:grpSp>
        <p:grpSp>
          <p:nvGrpSpPr>
            <p:cNvPr id="50194" name="组合 144">
              <a:extLst>
                <a:ext uri="{FF2B5EF4-FFF2-40B4-BE49-F238E27FC236}">
                  <a16:creationId xmlns:a16="http://schemas.microsoft.com/office/drawing/2014/main" id="{325E3658-5F84-BB93-DA70-2A3E3EA0F674}"/>
                </a:ext>
              </a:extLst>
            </p:cNvPr>
            <p:cNvGrpSpPr>
              <a:grpSpLocks/>
            </p:cNvGrpSpPr>
            <p:nvPr/>
          </p:nvGrpSpPr>
          <p:grpSpPr bwMode="auto">
            <a:xfrm>
              <a:off x="2886516" y="5415882"/>
              <a:ext cx="122034" cy="521389"/>
              <a:chOff x="1285852" y="4122057"/>
              <a:chExt cx="122034" cy="664265"/>
            </a:xfrm>
          </p:grpSpPr>
          <p:sp>
            <p:nvSpPr>
              <p:cNvPr id="50195" name="任意多边形 145">
                <a:extLst>
                  <a:ext uri="{FF2B5EF4-FFF2-40B4-BE49-F238E27FC236}">
                    <a16:creationId xmlns:a16="http://schemas.microsoft.com/office/drawing/2014/main" id="{262C1DF9-FBFD-E35F-DD40-B49D8E9A5C74}"/>
                  </a:ext>
                </a:extLst>
              </p:cNvPr>
              <p:cNvSpPr>
                <a:spLocks noChangeArrowheads="1"/>
              </p:cNvSpPr>
              <p:nvPr/>
            </p:nvSpPr>
            <p:spPr bwMode="auto">
              <a:xfrm>
                <a:off x="1291772" y="4122057"/>
                <a:ext cx="116114" cy="638628"/>
              </a:xfrm>
              <a:custGeom>
                <a:avLst/>
                <a:gdLst>
                  <a:gd name="T0" fmla="*/ 0 w 116114"/>
                  <a:gd name="T1" fmla="*/ 0 h 638628"/>
                  <a:gd name="T2" fmla="*/ 116114 w 116114"/>
                  <a:gd name="T3" fmla="*/ 638628 h 638628"/>
                  <a:gd name="T4" fmla="*/ 0 60000 65536"/>
                  <a:gd name="T5" fmla="*/ 0 60000 65536"/>
                  <a:gd name="T6" fmla="*/ 0 w 116114"/>
                  <a:gd name="T7" fmla="*/ 0 h 638628"/>
                  <a:gd name="T8" fmla="*/ 116114 w 116114"/>
                  <a:gd name="T9" fmla="*/ 638628 h 638628"/>
                </a:gdLst>
                <a:ahLst/>
                <a:cxnLst>
                  <a:cxn ang="T4">
                    <a:pos x="T0" y="T1"/>
                  </a:cxn>
                  <a:cxn ang="T5">
                    <a:pos x="T2" y="T3"/>
                  </a:cxn>
                </a:cxnLst>
                <a:rect l="T6" t="T7" r="T8" b="T9"/>
                <a:pathLst>
                  <a:path w="116114" h="638628">
                    <a:moveTo>
                      <a:pt x="0" y="0"/>
                    </a:moveTo>
                    <a:cubicBezTo>
                      <a:pt x="45962" y="286657"/>
                      <a:pt x="91924" y="573314"/>
                      <a:pt x="116114" y="638628"/>
                    </a:cubicBezTo>
                  </a:path>
                </a:pathLst>
              </a:custGeom>
              <a:solidFill>
                <a:schemeClr val="accent1"/>
              </a:solidFill>
              <a:ln w="28575" algn="ctr">
                <a:solidFill>
                  <a:srgbClr val="003399"/>
                </a:solidFill>
                <a:miter lim="800000"/>
                <a:headEnd/>
                <a:tailEnd/>
              </a:ln>
            </p:spPr>
            <p:txBody>
              <a:bodyPr wrap="none"/>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cxnSp>
            <p:nvCxnSpPr>
              <p:cNvPr id="50196" name="直接连接符 146">
                <a:extLst>
                  <a:ext uri="{FF2B5EF4-FFF2-40B4-BE49-F238E27FC236}">
                    <a16:creationId xmlns:a16="http://schemas.microsoft.com/office/drawing/2014/main" id="{87C80C74-B0ED-DF9F-6B3B-D93D858F7631}"/>
                  </a:ext>
                </a:extLst>
              </p:cNvPr>
              <p:cNvCxnSpPr>
                <a:cxnSpLocks noChangeShapeType="1"/>
              </p:cNvCxnSpPr>
              <p:nvPr/>
            </p:nvCxnSpPr>
            <p:spPr bwMode="auto">
              <a:xfrm rot="5400000">
                <a:off x="965175" y="4464057"/>
                <a:ext cx="642942" cy="1588"/>
              </a:xfrm>
              <a:prstGeom prst="line">
                <a:avLst/>
              </a:prstGeom>
              <a:noFill/>
              <a:ln w="28575" algn="ctr">
                <a:solidFill>
                  <a:srgbClr val="003399"/>
                </a:solidFill>
                <a:miter lim="800000"/>
                <a:headEnd/>
                <a:tailEnd/>
              </a:ln>
              <a:extLst>
                <a:ext uri="{909E8E84-426E-40DD-AFC4-6F175D3DCCD1}">
                  <a14:hiddenFill xmlns:a14="http://schemas.microsoft.com/office/drawing/2010/main">
                    <a:noFill/>
                  </a14:hiddenFill>
                </a:ext>
              </a:extLst>
            </p:spPr>
          </p:cxnSp>
        </p:grpSp>
      </p:grpSp>
      <p:pic>
        <p:nvPicPr>
          <p:cNvPr id="56326" name="Picture 2">
            <a:extLst>
              <a:ext uri="{FF2B5EF4-FFF2-40B4-BE49-F238E27FC236}">
                <a16:creationId xmlns:a16="http://schemas.microsoft.com/office/drawing/2014/main" id="{26AE514E-38C5-D1F9-39BE-9E8D70B99C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7313" y="1785938"/>
            <a:ext cx="6840537"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内容占位符 4">
            <a:extLst>
              <a:ext uri="{FF2B5EF4-FFF2-40B4-BE49-F238E27FC236}">
                <a16:creationId xmlns:a16="http://schemas.microsoft.com/office/drawing/2014/main" id="{C0FFBBD0-AD74-B21B-A3F4-A8ACA5B2221C}"/>
              </a:ext>
            </a:extLst>
          </p:cNvPr>
          <p:cNvSpPr txBox="1">
            <a:spLocks/>
          </p:cNvSpPr>
          <p:nvPr/>
        </p:nvSpPr>
        <p:spPr>
          <a:xfrm>
            <a:off x="4643438" y="4000500"/>
            <a:ext cx="3643312" cy="450850"/>
          </a:xfrm>
          <a:prstGeom prst="rect">
            <a:avLst/>
          </a:prstGeom>
          <a:solidFill>
            <a:schemeClr val="bg1">
              <a:lumMod val="95000"/>
            </a:schemeClr>
          </a:solidFill>
          <a:ln>
            <a:solidFill>
              <a:schemeClr val="bg1">
                <a:lumMod val="85000"/>
              </a:schemeClr>
            </a:solidFill>
          </a:ln>
          <a:effectLst>
            <a:outerShdw blurRad="50800" dist="38100" dir="2700000" algn="tl" rotWithShape="0">
              <a:prstClr val="black">
                <a:alpha val="40000"/>
              </a:prstClr>
            </a:outerShdw>
          </a:effectLst>
        </p:spPr>
        <p:txBody>
          <a:bodyPr>
            <a:spAutoFit/>
          </a:bodyPr>
          <a:lstStyle/>
          <a:p>
            <a:pPr marL="342900" indent="-342900" eaLnBrk="0" hangingPunct="0">
              <a:lnSpc>
                <a:spcPts val="2800"/>
              </a:lnSpc>
              <a:spcBef>
                <a:spcPct val="20000"/>
              </a:spcBef>
              <a:buClr>
                <a:srgbClr val="0000CC"/>
              </a:buClr>
              <a:buSzPct val="65000"/>
              <a:buFont typeface="Wingdings" pitchFamily="2" charset="2"/>
              <a:buChar char="u"/>
              <a:defRPr/>
            </a:pPr>
            <a:r>
              <a:rPr lang="zh-CN" altLang="en-US" sz="2000" kern="0" dirty="0">
                <a:latin typeface="微软雅黑" pitchFamily="34" charset="-122"/>
                <a:ea typeface="微软雅黑" pitchFamily="34" charset="-122"/>
              </a:rPr>
              <a:t>微分电路完成非线性变换</a:t>
            </a:r>
          </a:p>
        </p:txBody>
      </p:sp>
      <p:sp>
        <p:nvSpPr>
          <p:cNvPr id="72" name="内容占位符 4">
            <a:extLst>
              <a:ext uri="{FF2B5EF4-FFF2-40B4-BE49-F238E27FC236}">
                <a16:creationId xmlns:a16="http://schemas.microsoft.com/office/drawing/2014/main" id="{B7D3ABF5-8BD5-89F0-89B3-E669C7148C7E}"/>
              </a:ext>
            </a:extLst>
          </p:cNvPr>
          <p:cNvSpPr txBox="1">
            <a:spLocks/>
          </p:cNvSpPr>
          <p:nvPr/>
        </p:nvSpPr>
        <p:spPr>
          <a:xfrm>
            <a:off x="4643438" y="4929188"/>
            <a:ext cx="3643312" cy="871537"/>
          </a:xfrm>
          <a:prstGeom prst="rect">
            <a:avLst/>
          </a:prstGeom>
          <a:solidFill>
            <a:schemeClr val="bg1">
              <a:lumMod val="95000"/>
            </a:schemeClr>
          </a:solidFill>
          <a:ln>
            <a:solidFill>
              <a:schemeClr val="bg1">
                <a:lumMod val="85000"/>
              </a:schemeClr>
            </a:solidFill>
          </a:ln>
          <a:effectLst>
            <a:outerShdw blurRad="50800" dist="38100" dir="2700000" algn="tl" rotWithShape="0">
              <a:prstClr val="black">
                <a:alpha val="40000"/>
              </a:prstClr>
            </a:outerShdw>
          </a:effectLst>
        </p:spPr>
        <p:txBody>
          <a:bodyPr>
            <a:spAutoFit/>
          </a:bodyPr>
          <a:lstStyle/>
          <a:p>
            <a:pPr marL="342900" indent="-342900" eaLnBrk="0" hangingPunct="0">
              <a:lnSpc>
                <a:spcPts val="3200"/>
              </a:lnSpc>
              <a:spcBef>
                <a:spcPct val="20000"/>
              </a:spcBef>
              <a:buClr>
                <a:srgbClr val="0000CC"/>
              </a:buClr>
              <a:buSzPct val="58000"/>
              <a:buFont typeface="Wingdings" pitchFamily="2" charset="2"/>
              <a:buChar char="u"/>
              <a:defRPr/>
            </a:pPr>
            <a:r>
              <a:rPr lang="en-US" sz="2400" kern="0" dirty="0">
                <a:solidFill>
                  <a:srgbClr val="FF0000"/>
                </a:solidFill>
                <a:latin typeface="微软雅黑" pitchFamily="34" charset="-122"/>
                <a:ea typeface="微软雅黑" pitchFamily="34" charset="-122"/>
              </a:rPr>
              <a:t>c</a:t>
            </a:r>
            <a:r>
              <a:rPr lang="zh-CN" altLang="en-US" sz="2000" kern="0" dirty="0">
                <a:latin typeface="微软雅黑" pitchFamily="34" charset="-122"/>
                <a:ea typeface="微软雅黑" pitchFamily="34" charset="-122"/>
              </a:rPr>
              <a:t>序列的频谱中含有码元速率的分量。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wipe(up)">
                                      <p:cBhvr>
                                        <p:cTn id="7" dur="2000"/>
                                        <p:tgtEl>
                                          <p:spTgt spid="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56326"/>
                                        </p:tgtEl>
                                        <p:attrNameLst>
                                          <p:attrName>style.visibility</p:attrName>
                                        </p:attrNameLst>
                                      </p:cBhvr>
                                      <p:to>
                                        <p:strVal val="visible"/>
                                      </p:to>
                                    </p:set>
                                    <p:animEffect transition="in" filter="wipe(up)">
                                      <p:cBhvr>
                                        <p:cTn id="12" dur="1000"/>
                                        <p:tgtEl>
                                          <p:spTgt spid="56326"/>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up)">
                                      <p:cBhvr>
                                        <p:cTn id="16" dur="10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71"/>
                                        </p:tgtEl>
                                        <p:attrNameLst>
                                          <p:attrName>style.visibility</p:attrName>
                                        </p:attrNameLst>
                                      </p:cBhvr>
                                      <p:to>
                                        <p:strVal val="visible"/>
                                      </p:to>
                                    </p:set>
                                    <p:animEffect transition="in" filter="wipe(up)">
                                      <p:cBhvr>
                                        <p:cTn id="21" dur="2000"/>
                                        <p:tgtEl>
                                          <p:spTgt spid="7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72"/>
                                        </p:tgtEl>
                                        <p:attrNameLst>
                                          <p:attrName>style.visibility</p:attrName>
                                        </p:attrNameLst>
                                      </p:cBhvr>
                                      <p:to>
                                        <p:strVal val="visible"/>
                                      </p:to>
                                    </p:set>
                                    <p:animEffect transition="in" filter="wipe(up)">
                                      <p:cBhvr>
                                        <p:cTn id="26" dur="10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p:bldP spid="71" grpId="0" animBg="1"/>
      <p:bldP spid="72"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0177" name="Picture 1">
            <a:extLst>
              <a:ext uri="{FF2B5EF4-FFF2-40B4-BE49-F238E27FC236}">
                <a16:creationId xmlns:a16="http://schemas.microsoft.com/office/drawing/2014/main" id="{4EA5EE49-0D02-F88C-7832-5725501545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1563" y="1785938"/>
            <a:ext cx="7500937"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2">
            <a:extLst>
              <a:ext uri="{FF2B5EF4-FFF2-40B4-BE49-F238E27FC236}">
                <a16:creationId xmlns:a16="http://schemas.microsoft.com/office/drawing/2014/main" id="{C582C4D4-8EBF-A0F0-23A1-118E039A2F5C}"/>
              </a:ext>
            </a:extLst>
          </p:cNvPr>
          <p:cNvSpPr>
            <a:spLocks noChangeArrowheads="1"/>
          </p:cNvSpPr>
          <p:nvPr/>
        </p:nvSpPr>
        <p:spPr bwMode="auto">
          <a:xfrm>
            <a:off x="1128713" y="3000375"/>
            <a:ext cx="7358062" cy="554038"/>
          </a:xfrm>
          <a:prstGeom prst="rect">
            <a:avLst/>
          </a:prstGeom>
          <a:solidFill>
            <a:schemeClr val="bg2">
              <a:lumMod val="10000"/>
              <a:lumOff val="90000"/>
            </a:schemeClr>
          </a:solidFill>
          <a:ln w="9525">
            <a:noFill/>
            <a:miter lim="800000"/>
            <a:headEnd/>
            <a:tailEnd/>
          </a:ln>
          <a:effectLst>
            <a:outerShdw blurRad="50800" dist="38100" dir="2700000" algn="tl" rotWithShape="0">
              <a:prstClr val="black">
                <a:alpha val="40000"/>
              </a:prstClr>
            </a:outerShdw>
          </a:effectLst>
        </p:spPr>
        <p:txBody>
          <a:bodyPr>
            <a:spAutoFit/>
          </a:bodyPr>
          <a:lstStyle/>
          <a:p>
            <a:pPr marL="342900" lvl="1" indent="-342900">
              <a:lnSpc>
                <a:spcPts val="3600"/>
              </a:lnSpc>
              <a:buClr>
                <a:srgbClr val="FF0000"/>
              </a:buClr>
              <a:buSzPct val="80000"/>
              <a:defRPr/>
            </a:pPr>
            <a:r>
              <a:rPr lang="en-US" altLang="zh-CN" sz="2000" dirty="0">
                <a:latin typeface="微软雅黑" pitchFamily="34" charset="-122"/>
                <a:ea typeface="微软雅黑" pitchFamily="34" charset="-122"/>
              </a:rPr>
              <a:t>        ——</a:t>
            </a:r>
            <a:r>
              <a:rPr lang="zh-CN" altLang="en-US" sz="2000" dirty="0">
                <a:latin typeface="微软雅黑" pitchFamily="34" charset="-122"/>
                <a:ea typeface="微软雅黑" pitchFamily="34" charset="-122"/>
              </a:rPr>
              <a:t>“超前</a:t>
            </a:r>
            <a:r>
              <a:rPr lang="en-US" altLang="zh-CN" sz="2000" dirty="0">
                <a:latin typeface="微软雅黑" pitchFamily="34" charset="-122"/>
                <a:ea typeface="微软雅黑" pitchFamily="34" charset="-122"/>
              </a:rPr>
              <a:t>/</a:t>
            </a:r>
            <a:r>
              <a:rPr lang="zh-CN" altLang="en-US" sz="2000" dirty="0">
                <a:latin typeface="微软雅黑" pitchFamily="34" charset="-122"/>
                <a:ea typeface="微软雅黑" pitchFamily="34" charset="-122"/>
              </a:rPr>
              <a:t>滞后门同步器</a:t>
            </a:r>
            <a:endParaRPr lang="en-US" altLang="zh-CN" sz="2400" kern="0" dirty="0">
              <a:latin typeface="微软雅黑" pitchFamily="34" charset="-122"/>
              <a:ea typeface="微软雅黑" pitchFamily="34" charset="-122"/>
            </a:endParaRPr>
          </a:p>
        </p:txBody>
      </p:sp>
      <p:sp>
        <p:nvSpPr>
          <p:cNvPr id="10" name="Rectangle 102">
            <a:extLst>
              <a:ext uri="{FF2B5EF4-FFF2-40B4-BE49-F238E27FC236}">
                <a16:creationId xmlns:a16="http://schemas.microsoft.com/office/drawing/2014/main" id="{EE5AFFF3-E41A-84C8-890A-F1D4B49D35FD}"/>
              </a:ext>
            </a:extLst>
          </p:cNvPr>
          <p:cNvSpPr>
            <a:spLocks noChangeArrowheads="1"/>
          </p:cNvSpPr>
          <p:nvPr/>
        </p:nvSpPr>
        <p:spPr bwMode="auto">
          <a:xfrm>
            <a:off x="714375" y="1071563"/>
            <a:ext cx="7786688" cy="523875"/>
          </a:xfrm>
          <a:prstGeom prst="rect">
            <a:avLst/>
          </a:prstGeom>
          <a:noFill/>
          <a:ln w="9525">
            <a:noFill/>
            <a:miter lim="800000"/>
            <a:headEnd/>
            <a:tailEnd/>
          </a:ln>
          <a:effectLst/>
        </p:spPr>
        <p:txBody>
          <a:bodyPr>
            <a:spAutoFit/>
          </a:bodyPr>
          <a:lstStyle/>
          <a:p>
            <a:pPr marL="342900" indent="-342900">
              <a:buClr>
                <a:srgbClr val="6600FF"/>
              </a:buClr>
              <a:buSzPct val="65000"/>
              <a:buFont typeface="Wingdings" pitchFamily="2" charset="2"/>
              <a:buNone/>
              <a:defRPr/>
            </a:pPr>
            <a:r>
              <a:rPr lang="en-US" altLang="zh-CN" sz="2800" b="1" dirty="0">
                <a:solidFill>
                  <a:srgbClr val="990099"/>
                </a:solidFill>
                <a:latin typeface="Arial" charset="0"/>
                <a:ea typeface="黑体" pitchFamily="2" charset="-122"/>
                <a:cs typeface="Arial" charset="0"/>
              </a:rPr>
              <a:t>2. </a:t>
            </a:r>
            <a:r>
              <a:rPr lang="zh-CN" altLang="en-US" sz="2800" b="1" dirty="0">
                <a:solidFill>
                  <a:srgbClr val="0000CC"/>
                </a:solidFill>
                <a:effectLst>
                  <a:outerShdw blurRad="38100" dist="38100" dir="2700000" algn="tl">
                    <a:srgbClr val="000000">
                      <a:alpha val="43137"/>
                    </a:srgbClr>
                  </a:outerShdw>
                </a:effectLst>
                <a:latin typeface="黑体" pitchFamily="2" charset="-122"/>
                <a:ea typeface="黑体" pitchFamily="2" charset="-122"/>
                <a:cs typeface="Arial" charset="0"/>
              </a:rPr>
              <a:t>闭环码元同步法</a:t>
            </a:r>
            <a:endParaRPr lang="en-US" altLang="zh-CN" sz="2800" b="1" dirty="0">
              <a:solidFill>
                <a:srgbClr val="0000CC"/>
              </a:solidFill>
              <a:effectLst>
                <a:outerShdw blurRad="38100" dist="38100" dir="2700000" algn="tl">
                  <a:srgbClr val="000000">
                    <a:alpha val="43137"/>
                  </a:srgbClr>
                </a:outerShdw>
              </a:effectLst>
              <a:latin typeface="黑体" pitchFamily="2" charset="-122"/>
              <a:ea typeface="黑体" pitchFamily="2" charset="-122"/>
              <a:cs typeface="Arial" charset="0"/>
            </a:endParaRPr>
          </a:p>
        </p:txBody>
      </p:sp>
      <p:grpSp>
        <p:nvGrpSpPr>
          <p:cNvPr id="2" name="组合 57">
            <a:extLst>
              <a:ext uri="{FF2B5EF4-FFF2-40B4-BE49-F238E27FC236}">
                <a16:creationId xmlns:a16="http://schemas.microsoft.com/office/drawing/2014/main" id="{5D78885E-D0F4-7A54-9A27-DA61A0CAA711}"/>
              </a:ext>
            </a:extLst>
          </p:cNvPr>
          <p:cNvGrpSpPr>
            <a:grpSpLocks/>
          </p:cNvGrpSpPr>
          <p:nvPr/>
        </p:nvGrpSpPr>
        <p:grpSpPr bwMode="auto">
          <a:xfrm>
            <a:off x="714375" y="1857375"/>
            <a:ext cx="871538" cy="528638"/>
            <a:chOff x="2644279" y="3213536"/>
            <a:chExt cx="870879" cy="529104"/>
          </a:xfrm>
        </p:grpSpPr>
        <p:sp>
          <p:nvSpPr>
            <p:cNvPr id="17" name="椭圆 16">
              <a:extLst>
                <a:ext uri="{FF2B5EF4-FFF2-40B4-BE49-F238E27FC236}">
                  <a16:creationId xmlns:a16="http://schemas.microsoft.com/office/drawing/2014/main" id="{14C7F819-650D-DD13-B558-7990C933D144}"/>
                </a:ext>
              </a:extLst>
            </p:cNvPr>
            <p:cNvSpPr/>
            <p:nvPr/>
          </p:nvSpPr>
          <p:spPr bwMode="auto">
            <a:xfrm>
              <a:off x="2644279" y="3213536"/>
              <a:ext cx="870879" cy="529104"/>
            </a:xfrm>
            <a:prstGeom prst="ellipse">
              <a:avLst/>
            </a:prstGeom>
            <a:solidFill>
              <a:schemeClr val="bg2">
                <a:lumMod val="10000"/>
                <a:lumOff val="90000"/>
              </a:schemeClr>
            </a:solidFill>
            <a:ln w="9525" cap="flat" cmpd="sng" algn="ctr">
              <a:solidFill>
                <a:schemeClr val="tx2">
                  <a:lumMod val="60000"/>
                  <a:lumOff val="40000"/>
                </a:schemeClr>
              </a:solidFill>
              <a:prstDash val="solid"/>
              <a:miter lim="800000"/>
              <a:headEnd type="none" w="med" len="med"/>
              <a:tailEnd type="none" w="med" len="med"/>
            </a:ln>
            <a:effectLst>
              <a:outerShdw blurRad="50800" dist="38100" dir="18900000" algn="bl" rotWithShape="0">
                <a:prstClr val="black">
                  <a:alpha val="40000"/>
                </a:prstClr>
              </a:outerShdw>
            </a:effectLst>
          </p:spPr>
          <p:txBody>
            <a:bodyPr wrap="none"/>
            <a:lstStyle/>
            <a:p>
              <a:pPr>
                <a:defRPr/>
              </a:pPr>
              <a:endParaRPr lang="zh-CN" altLang="en-US" sz="2400" dirty="0">
                <a:solidFill>
                  <a:srgbClr val="0000CC"/>
                </a:solidFill>
                <a:effectLst>
                  <a:outerShdw blurRad="38100" dist="38100" dir="2700000" algn="tl">
                    <a:srgbClr val="000000">
                      <a:alpha val="43137"/>
                    </a:srgbClr>
                  </a:outerShdw>
                </a:effectLst>
                <a:latin typeface="黑体" pitchFamily="2" charset="-122"/>
                <a:ea typeface="黑体" pitchFamily="2" charset="-122"/>
              </a:endParaRPr>
            </a:p>
          </p:txBody>
        </p:sp>
        <p:sp>
          <p:nvSpPr>
            <p:cNvPr id="18" name="矩形 12">
              <a:extLst>
                <a:ext uri="{FF2B5EF4-FFF2-40B4-BE49-F238E27FC236}">
                  <a16:creationId xmlns:a16="http://schemas.microsoft.com/office/drawing/2014/main" id="{1726695E-DB86-D344-482E-01058F5EC9DE}"/>
                </a:ext>
              </a:extLst>
            </p:cNvPr>
            <p:cNvSpPr>
              <a:spLocks noChangeArrowheads="1"/>
            </p:cNvSpPr>
            <p:nvPr/>
          </p:nvSpPr>
          <p:spPr bwMode="auto">
            <a:xfrm>
              <a:off x="2669660" y="3213536"/>
              <a:ext cx="799495" cy="462370"/>
            </a:xfrm>
            <a:prstGeom prst="rect">
              <a:avLst/>
            </a:prstGeom>
            <a:noFill/>
            <a:ln w="9525">
              <a:noFill/>
              <a:miter lim="800000"/>
              <a:headEnd/>
              <a:tailEnd/>
            </a:ln>
          </p:spPr>
          <p:txBody>
            <a:bodyPr wrap="none">
              <a:spAutoFit/>
            </a:bodyPr>
            <a:lstStyle/>
            <a:p>
              <a:pPr>
                <a:defRPr/>
              </a:pPr>
              <a:r>
                <a:rPr lang="zh-CN" altLang="en-US" sz="2400" dirty="0">
                  <a:solidFill>
                    <a:srgbClr val="990099"/>
                  </a:solidFill>
                  <a:effectLst>
                    <a:outerShdw blurRad="38100" dist="38100" dir="2700000" algn="tl">
                      <a:srgbClr val="000000">
                        <a:alpha val="43137"/>
                      </a:srgbClr>
                    </a:outerShdw>
                  </a:effectLst>
                  <a:latin typeface="黑体" pitchFamily="2" charset="-122"/>
                  <a:ea typeface="黑体" pitchFamily="2" charset="-122"/>
                  <a:cs typeface="Arial" charset="0"/>
                </a:rPr>
                <a:t>思路</a:t>
              </a:r>
            </a:p>
          </p:txBody>
        </p:sp>
      </p:grpSp>
      <p:grpSp>
        <p:nvGrpSpPr>
          <p:cNvPr id="3" name="组合 14">
            <a:extLst>
              <a:ext uri="{FF2B5EF4-FFF2-40B4-BE49-F238E27FC236}">
                <a16:creationId xmlns:a16="http://schemas.microsoft.com/office/drawing/2014/main" id="{2BD4302C-567A-84C1-2D6C-F4D2ED1E785C}"/>
              </a:ext>
            </a:extLst>
          </p:cNvPr>
          <p:cNvGrpSpPr>
            <a:grpSpLocks/>
          </p:cNvGrpSpPr>
          <p:nvPr/>
        </p:nvGrpSpPr>
        <p:grpSpPr bwMode="auto">
          <a:xfrm>
            <a:off x="700088" y="3028950"/>
            <a:ext cx="885825" cy="542925"/>
            <a:chOff x="642887" y="2957508"/>
            <a:chExt cx="885826" cy="542930"/>
          </a:xfrm>
        </p:grpSpPr>
        <p:sp>
          <p:nvSpPr>
            <p:cNvPr id="14" name="椭圆 13">
              <a:extLst>
                <a:ext uri="{FF2B5EF4-FFF2-40B4-BE49-F238E27FC236}">
                  <a16:creationId xmlns:a16="http://schemas.microsoft.com/office/drawing/2014/main" id="{B94302AE-2E93-97C8-98EF-354C32DDEFA5}"/>
                </a:ext>
              </a:extLst>
            </p:cNvPr>
            <p:cNvSpPr/>
            <p:nvPr/>
          </p:nvSpPr>
          <p:spPr bwMode="auto">
            <a:xfrm>
              <a:off x="657174" y="2971796"/>
              <a:ext cx="871539" cy="528642"/>
            </a:xfrm>
            <a:prstGeom prst="ellipse">
              <a:avLst/>
            </a:prstGeom>
            <a:solidFill>
              <a:schemeClr val="bg2">
                <a:lumMod val="10000"/>
                <a:lumOff val="90000"/>
              </a:schemeClr>
            </a:solidFill>
            <a:ln w="9525" cap="flat" cmpd="sng" algn="ctr">
              <a:solidFill>
                <a:schemeClr val="tx2">
                  <a:lumMod val="60000"/>
                  <a:lumOff val="40000"/>
                </a:schemeClr>
              </a:solidFill>
              <a:prstDash val="solid"/>
              <a:miter lim="800000"/>
              <a:headEnd type="none" w="med" len="med"/>
              <a:tailEnd type="none" w="med" len="med"/>
            </a:ln>
            <a:effectLst>
              <a:outerShdw blurRad="50800" dist="38100" dir="18900000" algn="bl" rotWithShape="0">
                <a:prstClr val="black">
                  <a:alpha val="40000"/>
                </a:prstClr>
              </a:outerShdw>
            </a:effectLst>
          </p:spPr>
          <p:txBody>
            <a:bodyPr wrap="none"/>
            <a:lstStyle/>
            <a:p>
              <a:pPr>
                <a:defRPr/>
              </a:pPr>
              <a:endParaRPr lang="zh-CN" altLang="en-US" sz="2400" dirty="0">
                <a:solidFill>
                  <a:srgbClr val="0000CC"/>
                </a:solidFill>
                <a:effectLst>
                  <a:outerShdw blurRad="38100" dist="38100" dir="2700000" algn="tl">
                    <a:srgbClr val="000000">
                      <a:alpha val="43137"/>
                    </a:srgbClr>
                  </a:outerShdw>
                </a:effectLst>
                <a:latin typeface="黑体" pitchFamily="2" charset="-122"/>
                <a:ea typeface="黑体" pitchFamily="2" charset="-122"/>
              </a:endParaRPr>
            </a:p>
          </p:txBody>
        </p:sp>
        <p:sp>
          <p:nvSpPr>
            <p:cNvPr id="21" name="矩形 15">
              <a:extLst>
                <a:ext uri="{FF2B5EF4-FFF2-40B4-BE49-F238E27FC236}">
                  <a16:creationId xmlns:a16="http://schemas.microsoft.com/office/drawing/2014/main" id="{7D223E09-073E-A90A-13BE-DF9A39CF3599}"/>
                </a:ext>
              </a:extLst>
            </p:cNvPr>
            <p:cNvSpPr>
              <a:spLocks noChangeArrowheads="1"/>
            </p:cNvSpPr>
            <p:nvPr/>
          </p:nvSpPr>
          <p:spPr bwMode="auto">
            <a:xfrm>
              <a:off x="642887" y="2957508"/>
              <a:ext cx="800101" cy="461967"/>
            </a:xfrm>
            <a:prstGeom prst="rect">
              <a:avLst/>
            </a:prstGeom>
            <a:noFill/>
            <a:ln w="9525">
              <a:noFill/>
              <a:miter lim="800000"/>
              <a:headEnd/>
              <a:tailEnd/>
            </a:ln>
          </p:spPr>
          <p:txBody>
            <a:bodyPr wrap="none">
              <a:spAutoFit/>
            </a:bodyPr>
            <a:lstStyle/>
            <a:p>
              <a:pPr>
                <a:defRPr/>
              </a:pPr>
              <a:r>
                <a:rPr lang="zh-CN" altLang="en-US" sz="2400" dirty="0">
                  <a:solidFill>
                    <a:srgbClr val="990099"/>
                  </a:solidFill>
                  <a:effectLst>
                    <a:outerShdw blurRad="38100" dist="38100" dir="2700000" algn="tl">
                      <a:srgbClr val="000000">
                        <a:alpha val="43137"/>
                      </a:srgbClr>
                    </a:outerShdw>
                  </a:effectLst>
                  <a:latin typeface="黑体" pitchFamily="2" charset="-122"/>
                  <a:ea typeface="黑体" pitchFamily="2" charset="-122"/>
                  <a:cs typeface="Arial" charset="0"/>
                </a:rPr>
                <a:t>方案</a:t>
              </a:r>
            </a:p>
          </p:txBody>
        </p:sp>
      </p:grpSp>
      <p:pic>
        <p:nvPicPr>
          <p:cNvPr id="22" name="Picture 48">
            <a:extLst>
              <a:ext uri="{FF2B5EF4-FFF2-40B4-BE49-F238E27FC236}">
                <a16:creationId xmlns:a16="http://schemas.microsoft.com/office/drawing/2014/main" id="{AD65C90A-14AC-5EF6-44E9-7C0FBDE17B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5168"/>
          <a:stretch>
            <a:fillRect/>
          </a:stretch>
        </p:blipFill>
        <p:spPr bwMode="auto">
          <a:xfrm>
            <a:off x="1857375" y="3806825"/>
            <a:ext cx="6500813" cy="262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53" name="矩形 22">
            <a:extLst>
              <a:ext uri="{FF2B5EF4-FFF2-40B4-BE49-F238E27FC236}">
                <a16:creationId xmlns:a16="http://schemas.microsoft.com/office/drawing/2014/main" id="{DB2C9915-5C8A-BE95-630B-FE82C1B404E1}"/>
              </a:ext>
            </a:extLst>
          </p:cNvPr>
          <p:cNvSpPr>
            <a:spLocks noChangeArrowheads="1"/>
          </p:cNvSpPr>
          <p:nvPr/>
        </p:nvSpPr>
        <p:spPr bwMode="auto">
          <a:xfrm>
            <a:off x="857250" y="4000500"/>
            <a:ext cx="157162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ct val="110000"/>
              </a:lnSpc>
              <a:buClr>
                <a:srgbClr val="FF0000"/>
              </a:buClr>
              <a:buSzPct val="80000"/>
              <a:buFont typeface="Wingdings" panose="05000000000000000000" pitchFamily="2" charset="2"/>
              <a:buChar char="n"/>
            </a:pPr>
            <a:r>
              <a:rPr lang="zh-CN" altLang="en-US" sz="2000">
                <a:latin typeface="微软雅黑" panose="020B0503020204020204" pitchFamily="34" charset="-122"/>
                <a:ea typeface="微软雅黑" panose="020B0503020204020204" pitchFamily="34" charset="-122"/>
              </a:rPr>
              <a:t> 原理框图</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up)">
                                      <p:cBhvr>
                                        <p:cTn id="7" dur="1000"/>
                                        <p:tgtEl>
                                          <p:spTgt spid="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1000"/>
                                        <p:tgtEl>
                                          <p:spTgt spid="2"/>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50177"/>
                                        </p:tgtEl>
                                        <p:attrNameLst>
                                          <p:attrName>style.visibility</p:attrName>
                                        </p:attrNameLst>
                                      </p:cBhvr>
                                      <p:to>
                                        <p:strVal val="visible"/>
                                      </p:to>
                                    </p:set>
                                    <p:animEffect transition="in" filter="wipe(up)">
                                      <p:cBhvr>
                                        <p:cTn id="16" dur="1000"/>
                                        <p:tgtEl>
                                          <p:spTgt spid="5017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1000"/>
                                        <p:tgtEl>
                                          <p:spTgt spid="3"/>
                                        </p:tgtEl>
                                      </p:cBhvr>
                                    </p:animEffect>
                                  </p:childTnLst>
                                </p:cTn>
                              </p:par>
                            </p:childTnLst>
                          </p:cTn>
                        </p:par>
                        <p:par>
                          <p:cTn id="22" fill="hold" nodeType="afterGroup">
                            <p:stCondLst>
                              <p:cond delay="1000"/>
                            </p:stCondLst>
                            <p:childTnLst>
                              <p:par>
                                <p:cTn id="23" presetID="22" presetClass="entr" presetSubtype="8" fill="hold" nodeType="afterEffect">
                                  <p:stCondLst>
                                    <p:cond delay="0"/>
                                  </p:stCondLst>
                                  <p:childTnLst>
                                    <p:set>
                                      <p:cBhvr>
                                        <p:cTn id="24" dur="1" fill="hold">
                                          <p:stCondLst>
                                            <p:cond delay="0"/>
                                          </p:stCondLst>
                                        </p:cTn>
                                        <p:tgtEl>
                                          <p:spTgt spid="11">
                                            <p:bg/>
                                          </p:spTgt>
                                        </p:tgtEl>
                                        <p:attrNameLst>
                                          <p:attrName>style.visibility</p:attrName>
                                        </p:attrNameLst>
                                      </p:cBhvr>
                                      <p:to>
                                        <p:strVal val="visible"/>
                                      </p:to>
                                    </p:set>
                                    <p:animEffect transition="in" filter="wipe(left)">
                                      <p:cBhvr>
                                        <p:cTn id="25" dur="1000"/>
                                        <p:tgtEl>
                                          <p:spTgt spid="11">
                                            <p:bg/>
                                          </p:spTgt>
                                        </p:tgtEl>
                                      </p:cBhvr>
                                    </p:animEffect>
                                  </p:childTnLst>
                                </p:cTn>
                              </p:par>
                            </p:childTnLst>
                          </p:cTn>
                        </p:par>
                        <p:par>
                          <p:cTn id="26" fill="hold" nodeType="afterGroup">
                            <p:stCondLst>
                              <p:cond delay="2000"/>
                            </p:stCondLst>
                            <p:childTnLst>
                              <p:par>
                                <p:cTn id="27" presetID="22" presetClass="entr" presetSubtype="8" fill="hold" nodeType="afterEffect">
                                  <p:stCondLst>
                                    <p:cond delay="0"/>
                                  </p:stCondLst>
                                  <p:childTnLst>
                                    <p:set>
                                      <p:cBhvr>
                                        <p:cTn id="28" dur="1" fill="hold">
                                          <p:stCondLst>
                                            <p:cond delay="0"/>
                                          </p:stCondLst>
                                        </p:cTn>
                                        <p:tgtEl>
                                          <p:spTgt spid="11">
                                            <p:txEl>
                                              <p:pRg st="0" end="0"/>
                                            </p:txEl>
                                          </p:spTgt>
                                        </p:tgtEl>
                                        <p:attrNameLst>
                                          <p:attrName>style.visibility</p:attrName>
                                        </p:attrNameLst>
                                      </p:cBhvr>
                                      <p:to>
                                        <p:strVal val="visible"/>
                                      </p:to>
                                    </p:set>
                                    <p:animEffect transition="in" filter="wipe(left)">
                                      <p:cBhvr>
                                        <p:cTn id="29" dur="1000"/>
                                        <p:tgtEl>
                                          <p:spTgt spid="11">
                                            <p:txEl>
                                              <p:pRg st="0" end="0"/>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57353"/>
                                        </p:tgtEl>
                                        <p:attrNameLst>
                                          <p:attrName>style.visibility</p:attrName>
                                        </p:attrNameLst>
                                      </p:cBhvr>
                                      <p:to>
                                        <p:strVal val="visible"/>
                                      </p:to>
                                    </p:set>
                                    <p:animEffect transition="in" filter="wipe(left)">
                                      <p:cBhvr>
                                        <p:cTn id="34" dur="1000"/>
                                        <p:tgtEl>
                                          <p:spTgt spid="57353"/>
                                        </p:tgtEl>
                                      </p:cBhvr>
                                    </p:animEffect>
                                  </p:childTnLst>
                                </p:cTn>
                              </p:par>
                            </p:childTnLst>
                          </p:cTn>
                        </p:par>
                        <p:par>
                          <p:cTn id="35" fill="hold" nodeType="afterGroup">
                            <p:stCondLst>
                              <p:cond delay="1000"/>
                            </p:stCondLst>
                            <p:childTnLst>
                              <p:par>
                                <p:cTn id="36" presetID="22" presetClass="entr" presetSubtype="1" fill="hold" nodeType="after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wipe(up)">
                                      <p:cBhvr>
                                        <p:cTn id="38" dur="2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allAtOnce" animBg="1"/>
      <p:bldP spid="5735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140">
            <a:extLst>
              <a:ext uri="{FF2B5EF4-FFF2-40B4-BE49-F238E27FC236}">
                <a16:creationId xmlns:a16="http://schemas.microsoft.com/office/drawing/2014/main" id="{6380E2E8-9453-45D2-D7AE-94E1BE1687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0138" y="1143000"/>
            <a:ext cx="5845175"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1" name="矩形 3">
            <a:extLst>
              <a:ext uri="{FF2B5EF4-FFF2-40B4-BE49-F238E27FC236}">
                <a16:creationId xmlns:a16="http://schemas.microsoft.com/office/drawing/2014/main" id="{1D6AA0C5-50B4-CB3E-968C-7810E2FAADC7}"/>
              </a:ext>
            </a:extLst>
          </p:cNvPr>
          <p:cNvSpPr>
            <a:spLocks noChangeArrowheads="1"/>
          </p:cNvSpPr>
          <p:nvPr/>
        </p:nvSpPr>
        <p:spPr bwMode="auto">
          <a:xfrm>
            <a:off x="714375" y="1071563"/>
            <a:ext cx="1571625"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ct val="110000"/>
              </a:lnSpc>
              <a:buClr>
                <a:srgbClr val="FF0000"/>
              </a:buClr>
              <a:buSzPct val="80000"/>
              <a:buFont typeface="Wingdings" panose="05000000000000000000" pitchFamily="2" charset="2"/>
              <a:buChar char="n"/>
            </a:pPr>
            <a:r>
              <a:rPr lang="zh-CN" altLang="en-US" sz="2000" b="1">
                <a:latin typeface="微软雅黑" panose="020B0503020204020204" pitchFamily="34" charset="-122"/>
                <a:ea typeface="微软雅黑" panose="020B0503020204020204" pitchFamily="34" charset="-122"/>
              </a:rPr>
              <a:t> 工作原理</a:t>
            </a:r>
          </a:p>
        </p:txBody>
      </p:sp>
      <p:sp>
        <p:nvSpPr>
          <p:cNvPr id="58372" name="矩形 4">
            <a:extLst>
              <a:ext uri="{FF2B5EF4-FFF2-40B4-BE49-F238E27FC236}">
                <a16:creationId xmlns:a16="http://schemas.microsoft.com/office/drawing/2014/main" id="{F701797B-B1F1-90D4-E808-8341C04B6C99}"/>
              </a:ext>
            </a:extLst>
          </p:cNvPr>
          <p:cNvSpPr>
            <a:spLocks noChangeArrowheads="1"/>
          </p:cNvSpPr>
          <p:nvPr/>
        </p:nvSpPr>
        <p:spPr bwMode="auto">
          <a:xfrm>
            <a:off x="714375" y="4500563"/>
            <a:ext cx="1571625"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ct val="110000"/>
              </a:lnSpc>
              <a:buClr>
                <a:srgbClr val="FF0000"/>
              </a:buClr>
              <a:buSzPct val="80000"/>
              <a:buFont typeface="Wingdings" panose="05000000000000000000" pitchFamily="2" charset="2"/>
              <a:buChar char="n"/>
            </a:pPr>
            <a:r>
              <a:rPr lang="zh-CN" altLang="en-US" sz="2000" b="1">
                <a:latin typeface="微软雅黑" panose="020B0503020204020204" pitchFamily="34" charset="-122"/>
                <a:ea typeface="微软雅黑" panose="020B0503020204020204" pitchFamily="34" charset="-122"/>
              </a:rPr>
              <a:t> 存在问题</a:t>
            </a:r>
          </a:p>
        </p:txBody>
      </p:sp>
      <p:sp>
        <p:nvSpPr>
          <p:cNvPr id="58373" name="矩形 5">
            <a:extLst>
              <a:ext uri="{FF2B5EF4-FFF2-40B4-BE49-F238E27FC236}">
                <a16:creationId xmlns:a16="http://schemas.microsoft.com/office/drawing/2014/main" id="{E5DCD04A-415B-79E0-28E0-9455E1477B58}"/>
              </a:ext>
            </a:extLst>
          </p:cNvPr>
          <p:cNvSpPr>
            <a:spLocks noChangeArrowheads="1"/>
          </p:cNvSpPr>
          <p:nvPr/>
        </p:nvSpPr>
        <p:spPr bwMode="auto">
          <a:xfrm>
            <a:off x="727075" y="5214938"/>
            <a:ext cx="1571625"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ct val="110000"/>
              </a:lnSpc>
              <a:buClr>
                <a:srgbClr val="FF0000"/>
              </a:buClr>
              <a:buSzPct val="80000"/>
              <a:buFont typeface="Wingdings" panose="05000000000000000000" pitchFamily="2" charset="2"/>
              <a:buChar char="n"/>
            </a:pPr>
            <a:r>
              <a:rPr lang="zh-CN" altLang="en-US" sz="2000" b="1">
                <a:latin typeface="微软雅黑" panose="020B0503020204020204" pitchFamily="34" charset="-122"/>
                <a:ea typeface="微软雅黑" panose="020B0503020204020204" pitchFamily="34" charset="-122"/>
              </a:rPr>
              <a:t> 解决方法</a:t>
            </a:r>
          </a:p>
        </p:txBody>
      </p:sp>
      <p:sp>
        <p:nvSpPr>
          <p:cNvPr id="58374" name="矩形 6">
            <a:extLst>
              <a:ext uri="{FF2B5EF4-FFF2-40B4-BE49-F238E27FC236}">
                <a16:creationId xmlns:a16="http://schemas.microsoft.com/office/drawing/2014/main" id="{F81D9DDC-B57B-5F6C-737E-A0F5BA76138B}"/>
              </a:ext>
            </a:extLst>
          </p:cNvPr>
          <p:cNvSpPr>
            <a:spLocks noChangeArrowheads="1"/>
          </p:cNvSpPr>
          <p:nvPr/>
        </p:nvSpPr>
        <p:spPr bwMode="auto">
          <a:xfrm>
            <a:off x="1143000" y="4786313"/>
            <a:ext cx="7643813"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ct val="110000"/>
              </a:lnSpc>
              <a:buClr>
                <a:srgbClr val="FF0000"/>
              </a:buClr>
              <a:buSzPct val="80000"/>
            </a:pPr>
            <a:r>
              <a:rPr lang="zh-CN" altLang="en-US" sz="2000">
                <a:solidFill>
                  <a:srgbClr val="000000"/>
                </a:solidFill>
                <a:latin typeface="微软雅黑" panose="020B0503020204020204" pitchFamily="34" charset="-122"/>
                <a:ea typeface="微软雅黑" panose="020B0503020204020204" pitchFamily="34" charset="-122"/>
              </a:rPr>
              <a:t>             当发送码元序列长时间地没有突跳边沿时，此法不适用。</a:t>
            </a:r>
          </a:p>
        </p:txBody>
      </p:sp>
      <p:sp>
        <p:nvSpPr>
          <p:cNvPr id="58375" name="矩形 7">
            <a:extLst>
              <a:ext uri="{FF2B5EF4-FFF2-40B4-BE49-F238E27FC236}">
                <a16:creationId xmlns:a16="http://schemas.microsoft.com/office/drawing/2014/main" id="{DF80379A-AF26-17A7-2283-C22EB6AB4E93}"/>
              </a:ext>
            </a:extLst>
          </p:cNvPr>
          <p:cNvSpPr>
            <a:spLocks noChangeArrowheads="1"/>
          </p:cNvSpPr>
          <p:nvPr/>
        </p:nvSpPr>
        <p:spPr bwMode="auto">
          <a:xfrm>
            <a:off x="2143125" y="5486400"/>
            <a:ext cx="6286500" cy="87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3200"/>
              </a:lnSpc>
            </a:pPr>
            <a:r>
              <a:rPr lang="zh-CN" altLang="en-US" sz="2000">
                <a:latin typeface="微软雅黑" panose="020B0503020204020204" pitchFamily="34" charset="-122"/>
                <a:ea typeface="微软雅黑" panose="020B0503020204020204" pitchFamily="34" charset="-122"/>
              </a:rPr>
              <a:t>对发送序列的传输码型作某种变换，如改用</a:t>
            </a:r>
            <a:r>
              <a:rPr lang="en-US" altLang="zh-CN" sz="2000">
                <a:latin typeface="微软雅黑" panose="020B0503020204020204" pitchFamily="34" charset="-122"/>
                <a:ea typeface="微软雅黑" panose="020B0503020204020204" pitchFamily="34" charset="-122"/>
              </a:rPr>
              <a:t>HDB</a:t>
            </a:r>
            <a:r>
              <a:rPr lang="en-US" altLang="zh-CN" sz="1600">
                <a:latin typeface="微软雅黑" panose="020B0503020204020204" pitchFamily="34" charset="-122"/>
                <a:ea typeface="微软雅黑" panose="020B0503020204020204" pitchFamily="34" charset="-122"/>
              </a:rPr>
              <a:t>3</a:t>
            </a:r>
            <a:r>
              <a:rPr lang="zh-CN" altLang="en-US" sz="2000">
                <a:latin typeface="微软雅黑" panose="020B0503020204020204" pitchFamily="34" charset="-122"/>
                <a:ea typeface="微软雅黑" panose="020B0503020204020204" pitchFamily="34" charset="-122"/>
              </a:rPr>
              <a:t>码，或用扰乱技术，使</a:t>
            </a:r>
            <a:r>
              <a:rPr lang="zh-CN" altLang="en-US" sz="2000">
                <a:solidFill>
                  <a:srgbClr val="000000"/>
                </a:solidFill>
                <a:latin typeface="微软雅黑" panose="020B0503020204020204" pitchFamily="34" charset="-122"/>
                <a:ea typeface="微软雅黑" panose="020B0503020204020204" pitchFamily="34" charset="-122"/>
              </a:rPr>
              <a:t>发送码元序列有突跳边沿。</a:t>
            </a:r>
            <a:endParaRPr lang="zh-CN" altLang="en-US" sz="200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8371"/>
                                        </p:tgtEl>
                                        <p:attrNameLst>
                                          <p:attrName>style.visibility</p:attrName>
                                        </p:attrNameLst>
                                      </p:cBhvr>
                                      <p:to>
                                        <p:strVal val="visible"/>
                                      </p:to>
                                    </p:set>
                                    <p:animEffect transition="in" filter="wipe(up)">
                                      <p:cBhvr>
                                        <p:cTn id="7" dur="1000"/>
                                        <p:tgtEl>
                                          <p:spTgt spid="58371"/>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58370"/>
                                        </p:tgtEl>
                                        <p:attrNameLst>
                                          <p:attrName>style.visibility</p:attrName>
                                        </p:attrNameLst>
                                      </p:cBhvr>
                                      <p:to>
                                        <p:strVal val="visible"/>
                                      </p:to>
                                    </p:set>
                                    <p:animEffect transition="in" filter="wipe(up)">
                                      <p:cBhvr>
                                        <p:cTn id="11" dur="1000"/>
                                        <p:tgtEl>
                                          <p:spTgt spid="5837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58372"/>
                                        </p:tgtEl>
                                        <p:attrNameLst>
                                          <p:attrName>style.visibility</p:attrName>
                                        </p:attrNameLst>
                                      </p:cBhvr>
                                      <p:to>
                                        <p:strVal val="visible"/>
                                      </p:to>
                                    </p:set>
                                    <p:animEffect transition="in" filter="wipe(up)">
                                      <p:cBhvr>
                                        <p:cTn id="16" dur="1000"/>
                                        <p:tgtEl>
                                          <p:spTgt spid="58372"/>
                                        </p:tgtEl>
                                      </p:cBhvr>
                                    </p:animEffect>
                                  </p:childTnLst>
                                </p:cTn>
                              </p:par>
                            </p:childTnLst>
                          </p:cTn>
                        </p:par>
                        <p:par>
                          <p:cTn id="17" fill="hold" nodeType="afterGroup">
                            <p:stCondLst>
                              <p:cond delay="1000"/>
                            </p:stCondLst>
                            <p:childTnLst>
                              <p:par>
                                <p:cTn id="18" presetID="22" presetClass="entr" presetSubtype="1" fill="hold" nodeType="afterEffect">
                                  <p:stCondLst>
                                    <p:cond delay="0"/>
                                  </p:stCondLst>
                                  <p:childTnLst>
                                    <p:set>
                                      <p:cBhvr>
                                        <p:cTn id="19" dur="1" fill="hold">
                                          <p:stCondLst>
                                            <p:cond delay="0"/>
                                          </p:stCondLst>
                                        </p:cTn>
                                        <p:tgtEl>
                                          <p:spTgt spid="58374"/>
                                        </p:tgtEl>
                                        <p:attrNameLst>
                                          <p:attrName>style.visibility</p:attrName>
                                        </p:attrNameLst>
                                      </p:cBhvr>
                                      <p:to>
                                        <p:strVal val="visible"/>
                                      </p:to>
                                    </p:set>
                                    <p:animEffect transition="in" filter="wipe(up)">
                                      <p:cBhvr>
                                        <p:cTn id="20" dur="1000"/>
                                        <p:tgtEl>
                                          <p:spTgt spid="5837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58373"/>
                                        </p:tgtEl>
                                        <p:attrNameLst>
                                          <p:attrName>style.visibility</p:attrName>
                                        </p:attrNameLst>
                                      </p:cBhvr>
                                      <p:to>
                                        <p:strVal val="visible"/>
                                      </p:to>
                                    </p:set>
                                    <p:animEffect transition="in" filter="wipe(up)">
                                      <p:cBhvr>
                                        <p:cTn id="25" dur="1000"/>
                                        <p:tgtEl>
                                          <p:spTgt spid="58373"/>
                                        </p:tgtEl>
                                      </p:cBhvr>
                                    </p:animEffect>
                                  </p:childTnLst>
                                </p:cTn>
                              </p:par>
                            </p:childTnLst>
                          </p:cTn>
                        </p:par>
                        <p:par>
                          <p:cTn id="26" fill="hold" nodeType="afterGroup">
                            <p:stCondLst>
                              <p:cond delay="1000"/>
                            </p:stCondLst>
                            <p:childTnLst>
                              <p:par>
                                <p:cTn id="27" presetID="22" presetClass="entr" presetSubtype="1" fill="hold" nodeType="afterEffect">
                                  <p:stCondLst>
                                    <p:cond delay="0"/>
                                  </p:stCondLst>
                                  <p:childTnLst>
                                    <p:set>
                                      <p:cBhvr>
                                        <p:cTn id="28" dur="1" fill="hold">
                                          <p:stCondLst>
                                            <p:cond delay="0"/>
                                          </p:stCondLst>
                                        </p:cTn>
                                        <p:tgtEl>
                                          <p:spTgt spid="58375"/>
                                        </p:tgtEl>
                                        <p:attrNameLst>
                                          <p:attrName>style.visibility</p:attrName>
                                        </p:attrNameLst>
                                      </p:cBhvr>
                                      <p:to>
                                        <p:strVal val="visible"/>
                                      </p:to>
                                    </p:set>
                                    <p:animEffect transition="in" filter="wipe(up)">
                                      <p:cBhvr>
                                        <p:cTn id="29" dur="1000"/>
                                        <p:tgtEl>
                                          <p:spTgt spid="583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p:bldP spid="58372" grpId="0"/>
      <p:bldP spid="58373" grpId="0"/>
      <p:bldP spid="58374" grpId="0"/>
      <p:bldP spid="58375" grpId="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9459" name="Picture 3">
            <a:extLst>
              <a:ext uri="{FF2B5EF4-FFF2-40B4-BE49-F238E27FC236}">
                <a16:creationId xmlns:a16="http://schemas.microsoft.com/office/drawing/2014/main" id="{8A75B249-04E3-6E14-FC83-0AF50CE89DC5}"/>
              </a:ext>
            </a:extLst>
          </p:cNvPr>
          <p:cNvPicPr>
            <a:picLocks noChangeAspect="1" noChangeArrowheads="1"/>
          </p:cNvPicPr>
          <p:nvPr/>
        </p:nvPicPr>
        <p:blipFill>
          <a:blip r:embed="rId3"/>
          <a:srcRect l="1358" t="1529" r="1079" b="15880"/>
          <a:stretch>
            <a:fillRect/>
          </a:stretch>
        </p:blipFill>
        <p:spPr bwMode="auto">
          <a:xfrm>
            <a:off x="928688" y="1571625"/>
            <a:ext cx="7215187" cy="3857625"/>
          </a:xfrm>
          <a:prstGeom prst="rect">
            <a:avLst/>
          </a:prstGeom>
          <a:noFill/>
          <a:ln w="9525">
            <a:solidFill>
              <a:schemeClr val="bg1">
                <a:lumMod val="75000"/>
              </a:schemeClr>
            </a:solidFill>
            <a:miter lim="800000"/>
            <a:headEnd/>
            <a:tailEnd/>
          </a:ln>
          <a:effectLst>
            <a:outerShdw blurRad="50800" dist="38100" dir="2700000" algn="tl" rotWithShape="0">
              <a:prstClr val="black">
                <a:alpha val="40000"/>
              </a:prstClr>
            </a:outerShdw>
          </a:effectLst>
        </p:spPr>
      </p:pic>
      <p:pic>
        <p:nvPicPr>
          <p:cNvPr id="19469" name="Picture 13">
            <a:extLst>
              <a:ext uri="{FF2B5EF4-FFF2-40B4-BE49-F238E27FC236}">
                <a16:creationId xmlns:a16="http://schemas.microsoft.com/office/drawing/2014/main" id="{830C2697-B5F0-EE56-1494-4F9107B611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1962"/>
          <a:stretch>
            <a:fillRect/>
          </a:stretch>
        </p:blipFill>
        <p:spPr bwMode="auto">
          <a:xfrm>
            <a:off x="1285875" y="5715000"/>
            <a:ext cx="7072313" cy="65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2" name="矩形 4">
            <a:extLst>
              <a:ext uri="{FF2B5EF4-FFF2-40B4-BE49-F238E27FC236}">
                <a16:creationId xmlns:a16="http://schemas.microsoft.com/office/drawing/2014/main" id="{575EC6B9-0CDF-FC81-98D5-04D4D7C66B98}"/>
              </a:ext>
            </a:extLst>
          </p:cNvPr>
          <p:cNvSpPr>
            <a:spLocks noChangeArrowheads="1"/>
          </p:cNvSpPr>
          <p:nvPr/>
        </p:nvSpPr>
        <p:spPr bwMode="auto">
          <a:xfrm>
            <a:off x="73025" y="428625"/>
            <a:ext cx="7242175" cy="584200"/>
          </a:xfrm>
          <a:prstGeom prst="rect">
            <a:avLst/>
          </a:prstGeom>
          <a:noFill/>
          <a:ln w="9525">
            <a:noFill/>
            <a:miter lim="800000"/>
            <a:headEnd/>
            <a:tailEnd/>
          </a:ln>
        </p:spPr>
        <p:txBody>
          <a:bodyPr wrap="none">
            <a:spAutoFit/>
          </a:bodyPr>
          <a:lstStyle/>
          <a:p>
            <a:pPr>
              <a:defRPr/>
            </a:pPr>
            <a:r>
              <a:rPr lang="en-US" altLang="en-US" sz="3200" b="1" dirty="0">
                <a:solidFill>
                  <a:srgbClr val="800080"/>
                </a:solidFill>
                <a:latin typeface="Arial" charset="0"/>
                <a:ea typeface="微软雅黑" pitchFamily="34" charset="-122"/>
                <a:cs typeface="Arial" charset="0"/>
              </a:rPr>
              <a:t>13</a:t>
            </a:r>
            <a:r>
              <a:rPr lang="en-US" altLang="zh-CN" sz="3200" b="1" dirty="0">
                <a:solidFill>
                  <a:srgbClr val="800080"/>
                </a:solidFill>
                <a:latin typeface="Arial" charset="0"/>
                <a:ea typeface="微软雅黑" pitchFamily="34" charset="-122"/>
                <a:cs typeface="Arial" charset="0"/>
              </a:rPr>
              <a:t>.3.3</a:t>
            </a:r>
            <a:r>
              <a:rPr lang="zh-CN" altLang="en-US" sz="3200" b="1" dirty="0">
                <a:solidFill>
                  <a:srgbClr val="800080"/>
                </a:solidFill>
                <a:latin typeface="Arial" charset="0"/>
                <a:ea typeface="微软雅黑" pitchFamily="34" charset="-122"/>
                <a:cs typeface="Arial" charset="0"/>
              </a:rPr>
              <a:t>   </a:t>
            </a:r>
            <a:r>
              <a:rPr lang="zh-CN" altLang="en-US" sz="3200" b="1" dirty="0">
                <a:solidFill>
                  <a:srgbClr val="003399"/>
                </a:solidFill>
                <a:latin typeface="微软雅黑" pitchFamily="34" charset="-122"/>
                <a:ea typeface="微软雅黑" pitchFamily="34" charset="-122"/>
                <a:cs typeface="Arial" charset="0"/>
              </a:rPr>
              <a:t>码元同步</a:t>
            </a:r>
            <a:r>
              <a:rPr lang="zh-CN" altLang="en-US" sz="3200" b="1" dirty="0">
                <a:solidFill>
                  <a:srgbClr val="FF0000"/>
                </a:solidFill>
                <a:latin typeface="微软雅黑" pitchFamily="34" charset="-122"/>
                <a:ea typeface="微软雅黑" pitchFamily="34" charset="-122"/>
                <a:cs typeface="Arial" charset="0"/>
              </a:rPr>
              <a:t>误差 </a:t>
            </a:r>
            <a:r>
              <a:rPr lang="zh-CN" altLang="en-US" sz="3200" b="1" dirty="0">
                <a:solidFill>
                  <a:srgbClr val="003399"/>
                </a:solidFill>
                <a:effectLst>
                  <a:outerShdw blurRad="38100" dist="38100" dir="2700000" algn="tl">
                    <a:srgbClr val="000000">
                      <a:alpha val="43137"/>
                    </a:srgbClr>
                  </a:outerShdw>
                </a:effectLst>
                <a:latin typeface="微软雅黑" pitchFamily="34" charset="-122"/>
                <a:ea typeface="微软雅黑" pitchFamily="34" charset="-122"/>
                <a:cs typeface="Arial" charset="0"/>
              </a:rPr>
              <a:t>对 </a:t>
            </a:r>
            <a:r>
              <a:rPr lang="zh-CN" altLang="en-US" sz="3200" b="1" dirty="0">
                <a:solidFill>
                  <a:srgbClr val="0000CC"/>
                </a:solidFill>
                <a:latin typeface="微软雅黑" pitchFamily="34" charset="-122"/>
                <a:ea typeface="微软雅黑" pitchFamily="34" charset="-122"/>
                <a:cs typeface="Arial" charset="0"/>
              </a:rPr>
              <a:t>误码率</a:t>
            </a:r>
            <a:r>
              <a:rPr lang="zh-CN" altLang="en-US" sz="3200" b="1" dirty="0">
                <a:solidFill>
                  <a:srgbClr val="003399"/>
                </a:solidFill>
                <a:latin typeface="微软雅黑" pitchFamily="34" charset="-122"/>
                <a:ea typeface="微软雅黑" pitchFamily="34" charset="-122"/>
                <a:cs typeface="Arial" charset="0"/>
              </a:rPr>
              <a:t>的影响</a:t>
            </a:r>
          </a:p>
        </p:txBody>
      </p:sp>
      <p:sp>
        <p:nvSpPr>
          <p:cNvPr id="27653" name="矩形 4">
            <a:extLst>
              <a:ext uri="{FF2B5EF4-FFF2-40B4-BE49-F238E27FC236}">
                <a16:creationId xmlns:a16="http://schemas.microsoft.com/office/drawing/2014/main" id="{16601A33-9292-CF3C-E8B5-DF26CA50A1A6}"/>
              </a:ext>
            </a:extLst>
          </p:cNvPr>
          <p:cNvSpPr>
            <a:spLocks noChangeArrowheads="1"/>
          </p:cNvSpPr>
          <p:nvPr/>
        </p:nvSpPr>
        <p:spPr bwMode="auto">
          <a:xfrm>
            <a:off x="3432175" y="944563"/>
            <a:ext cx="39528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2800">
                <a:solidFill>
                  <a:srgbClr val="FF0000"/>
                </a:solidFill>
                <a:latin typeface="Cambria Math" panose="02040503050406030204" pitchFamily="18" charset="0"/>
              </a:rPr>
              <a:t>∆</a:t>
            </a:r>
            <a:endParaRPr lang="zh-CN" altLang="en-US" sz="2800"/>
          </a:p>
        </p:txBody>
      </p:sp>
      <p:sp>
        <p:nvSpPr>
          <p:cNvPr id="27654" name="矩形 5">
            <a:extLst>
              <a:ext uri="{FF2B5EF4-FFF2-40B4-BE49-F238E27FC236}">
                <a16:creationId xmlns:a16="http://schemas.microsoft.com/office/drawing/2014/main" id="{7947630E-C762-02CC-3B23-A60CBD1A6B88}"/>
              </a:ext>
            </a:extLst>
          </p:cNvPr>
          <p:cNvSpPr>
            <a:spLocks noChangeArrowheads="1"/>
          </p:cNvSpPr>
          <p:nvPr/>
        </p:nvSpPr>
        <p:spPr bwMode="auto">
          <a:xfrm>
            <a:off x="5032375" y="944563"/>
            <a:ext cx="55721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zh-CN" sz="2800" i="1">
                <a:solidFill>
                  <a:srgbClr val="0000CC"/>
                </a:solidFill>
                <a:latin typeface="Arial" panose="020B0604020202020204" pitchFamily="34" charset="0"/>
                <a:cs typeface="Arial" panose="020B0604020202020204" pitchFamily="34" charset="0"/>
              </a:rPr>
              <a:t>P</a:t>
            </a:r>
            <a:r>
              <a:rPr lang="en-US" altLang="zh-CN" sz="2800" baseline="-25000">
                <a:solidFill>
                  <a:srgbClr val="0000CC"/>
                </a:solidFill>
                <a:latin typeface="Arial" panose="020B0604020202020204" pitchFamily="34" charset="0"/>
                <a:cs typeface="Arial" panose="020B0604020202020204" pitchFamily="34" charset="0"/>
              </a:rPr>
              <a:t>e</a:t>
            </a:r>
            <a:endParaRPr lang="zh-CN" altLang="en-US" sz="2800">
              <a:solidFill>
                <a:srgbClr val="0000CC"/>
              </a:solidFill>
            </a:endParaRPr>
          </a:p>
        </p:txBody>
      </p:sp>
      <p:grpSp>
        <p:nvGrpSpPr>
          <p:cNvPr id="2" name="组合 57">
            <a:extLst>
              <a:ext uri="{FF2B5EF4-FFF2-40B4-BE49-F238E27FC236}">
                <a16:creationId xmlns:a16="http://schemas.microsoft.com/office/drawing/2014/main" id="{E0D4C933-141C-ED0A-A9AC-2B08DD3155BF}"/>
              </a:ext>
            </a:extLst>
          </p:cNvPr>
          <p:cNvGrpSpPr>
            <a:grpSpLocks/>
          </p:cNvGrpSpPr>
          <p:nvPr/>
        </p:nvGrpSpPr>
        <p:grpSpPr bwMode="auto">
          <a:xfrm>
            <a:off x="857250" y="5715000"/>
            <a:ext cx="928688" cy="571500"/>
            <a:chOff x="2628599" y="3185659"/>
            <a:chExt cx="928306" cy="571527"/>
          </a:xfrm>
        </p:grpSpPr>
        <p:sp>
          <p:nvSpPr>
            <p:cNvPr id="8" name="椭圆 7">
              <a:extLst>
                <a:ext uri="{FF2B5EF4-FFF2-40B4-BE49-F238E27FC236}">
                  <a16:creationId xmlns:a16="http://schemas.microsoft.com/office/drawing/2014/main" id="{087591E1-E7B8-2BA5-438E-F8369FFAB931}"/>
                </a:ext>
              </a:extLst>
            </p:cNvPr>
            <p:cNvSpPr/>
            <p:nvPr/>
          </p:nvSpPr>
          <p:spPr bwMode="auto">
            <a:xfrm>
              <a:off x="2628599" y="3185659"/>
              <a:ext cx="928306" cy="571527"/>
            </a:xfrm>
            <a:prstGeom prst="ellipse">
              <a:avLst/>
            </a:prstGeom>
            <a:solidFill>
              <a:schemeClr val="bg2">
                <a:lumMod val="10000"/>
                <a:lumOff val="90000"/>
              </a:schemeClr>
            </a:solidFill>
            <a:ln w="9525" cap="flat" cmpd="sng" algn="ctr">
              <a:solidFill>
                <a:schemeClr val="tx2">
                  <a:lumMod val="60000"/>
                  <a:lumOff val="40000"/>
                </a:schemeClr>
              </a:solidFill>
              <a:prstDash val="solid"/>
              <a:miter lim="800000"/>
              <a:headEnd type="none" w="med" len="med"/>
              <a:tailEnd type="none" w="med" len="med"/>
            </a:ln>
            <a:effectLst>
              <a:outerShdw blurRad="50800" dist="38100" dir="18900000" algn="bl" rotWithShape="0">
                <a:prstClr val="black">
                  <a:alpha val="40000"/>
                </a:prstClr>
              </a:outerShdw>
            </a:effectLst>
          </p:spPr>
          <p:txBody>
            <a:bodyPr wrap="none"/>
            <a:lstStyle/>
            <a:p>
              <a:pPr>
                <a:defRPr/>
              </a:pPr>
              <a:endParaRPr lang="zh-CN" altLang="en-US" dirty="0">
                <a:ea typeface="宋体" charset="-122"/>
              </a:endParaRPr>
            </a:p>
          </p:txBody>
        </p:sp>
        <p:sp>
          <p:nvSpPr>
            <p:cNvPr id="27658" name="矩形 15">
              <a:extLst>
                <a:ext uri="{FF2B5EF4-FFF2-40B4-BE49-F238E27FC236}">
                  <a16:creationId xmlns:a16="http://schemas.microsoft.com/office/drawing/2014/main" id="{C14D36C8-6F0F-D26F-00AC-93633ADB4D80}"/>
                </a:ext>
              </a:extLst>
            </p:cNvPr>
            <p:cNvSpPr>
              <a:spLocks noChangeArrowheads="1"/>
            </p:cNvSpPr>
            <p:nvPr/>
          </p:nvSpPr>
          <p:spPr bwMode="auto">
            <a:xfrm>
              <a:off x="2685725" y="3242812"/>
              <a:ext cx="799771" cy="461985"/>
            </a:xfrm>
            <a:prstGeom prst="rect">
              <a:avLst/>
            </a:prstGeom>
            <a:noFill/>
            <a:ln w="9525">
              <a:noFill/>
              <a:miter lim="800000"/>
              <a:headEnd/>
              <a:tailEnd/>
            </a:ln>
          </p:spPr>
          <p:txBody>
            <a:bodyPr wrap="none">
              <a:spAutoFit/>
            </a:bodyPr>
            <a:lstStyle/>
            <a:p>
              <a:pPr>
                <a:defRPr/>
              </a:pPr>
              <a:r>
                <a:rPr lang="zh-CN" altLang="en-US" sz="2400" dirty="0">
                  <a:solidFill>
                    <a:srgbClr val="990099"/>
                  </a:solidFill>
                  <a:effectLst>
                    <a:outerShdw blurRad="38100" dist="38100" dir="2700000" algn="tl">
                      <a:srgbClr val="000000">
                        <a:alpha val="43137"/>
                      </a:srgbClr>
                    </a:outerShdw>
                  </a:effectLst>
                  <a:latin typeface="黑体" pitchFamily="2" charset="-122"/>
                  <a:ea typeface="黑体" pitchFamily="2" charset="-122"/>
                  <a:cs typeface="Arial" charset="0"/>
                </a:rPr>
                <a:t>观察</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7652"/>
                                        </p:tgtEl>
                                        <p:attrNameLst>
                                          <p:attrName>style.visibility</p:attrName>
                                        </p:attrNameLst>
                                      </p:cBhvr>
                                      <p:to>
                                        <p:strVal val="visible"/>
                                      </p:to>
                                    </p:set>
                                    <p:animEffect transition="in" filter="wipe(up)">
                                      <p:cBhvr>
                                        <p:cTn id="7" dur="1000"/>
                                        <p:tgtEl>
                                          <p:spTgt spid="27652"/>
                                        </p:tgtEl>
                                      </p:cBhvr>
                                    </p:animEffect>
                                  </p:childTnLst>
                                </p:cTn>
                              </p:par>
                              <p:par>
                                <p:cTn id="8" presetID="22" presetClass="entr" presetSubtype="1" fill="hold" nodeType="withEffect">
                                  <p:stCondLst>
                                    <p:cond delay="0"/>
                                  </p:stCondLst>
                                  <p:childTnLst>
                                    <p:set>
                                      <p:cBhvr>
                                        <p:cTn id="9" dur="1" fill="hold">
                                          <p:stCondLst>
                                            <p:cond delay="0"/>
                                          </p:stCondLst>
                                        </p:cTn>
                                        <p:tgtEl>
                                          <p:spTgt spid="27653"/>
                                        </p:tgtEl>
                                        <p:attrNameLst>
                                          <p:attrName>style.visibility</p:attrName>
                                        </p:attrNameLst>
                                      </p:cBhvr>
                                      <p:to>
                                        <p:strVal val="visible"/>
                                      </p:to>
                                    </p:set>
                                    <p:animEffect transition="in" filter="wipe(up)">
                                      <p:cBhvr>
                                        <p:cTn id="10" dur="1000"/>
                                        <p:tgtEl>
                                          <p:spTgt spid="27653"/>
                                        </p:tgtEl>
                                      </p:cBhvr>
                                    </p:animEffect>
                                  </p:childTnLst>
                                </p:cTn>
                              </p:par>
                              <p:par>
                                <p:cTn id="11" presetID="22" presetClass="entr" presetSubtype="1" fill="hold" nodeType="withEffect">
                                  <p:stCondLst>
                                    <p:cond delay="0"/>
                                  </p:stCondLst>
                                  <p:childTnLst>
                                    <p:set>
                                      <p:cBhvr>
                                        <p:cTn id="12" dur="1" fill="hold">
                                          <p:stCondLst>
                                            <p:cond delay="0"/>
                                          </p:stCondLst>
                                        </p:cTn>
                                        <p:tgtEl>
                                          <p:spTgt spid="27654"/>
                                        </p:tgtEl>
                                        <p:attrNameLst>
                                          <p:attrName>style.visibility</p:attrName>
                                        </p:attrNameLst>
                                      </p:cBhvr>
                                      <p:to>
                                        <p:strVal val="visible"/>
                                      </p:to>
                                    </p:set>
                                    <p:animEffect transition="in" filter="wipe(up)">
                                      <p:cBhvr>
                                        <p:cTn id="13" dur="1000"/>
                                        <p:tgtEl>
                                          <p:spTgt spid="2765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19459"/>
                                        </p:tgtEl>
                                        <p:attrNameLst>
                                          <p:attrName>style.visibility</p:attrName>
                                        </p:attrNameLst>
                                      </p:cBhvr>
                                      <p:to>
                                        <p:strVal val="visible"/>
                                      </p:to>
                                    </p:set>
                                    <p:animEffect transition="in" filter="wipe(up)">
                                      <p:cBhvr>
                                        <p:cTn id="18" dur="2000"/>
                                        <p:tgtEl>
                                          <p:spTgt spid="1945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1000"/>
                                        <p:tgtEl>
                                          <p:spTgt spid="2"/>
                                        </p:tgtEl>
                                      </p:cBhvr>
                                    </p:animEffect>
                                  </p:childTnLst>
                                </p:cTn>
                              </p:par>
                            </p:childTnLst>
                          </p:cTn>
                        </p:par>
                        <p:par>
                          <p:cTn id="24" fill="hold" nodeType="afterGroup">
                            <p:stCondLst>
                              <p:cond delay="1000"/>
                            </p:stCondLst>
                            <p:childTnLst>
                              <p:par>
                                <p:cTn id="25" presetID="22" presetClass="entr" presetSubtype="4" fill="hold" nodeType="afterEffect">
                                  <p:stCondLst>
                                    <p:cond delay="0"/>
                                  </p:stCondLst>
                                  <p:childTnLst>
                                    <p:set>
                                      <p:cBhvr>
                                        <p:cTn id="26" dur="1" fill="hold">
                                          <p:stCondLst>
                                            <p:cond delay="0"/>
                                          </p:stCondLst>
                                        </p:cTn>
                                        <p:tgtEl>
                                          <p:spTgt spid="19469"/>
                                        </p:tgtEl>
                                        <p:attrNameLst>
                                          <p:attrName>style.visibility</p:attrName>
                                        </p:attrNameLst>
                                      </p:cBhvr>
                                      <p:to>
                                        <p:strVal val="visible"/>
                                      </p:to>
                                    </p:set>
                                    <p:animEffect transition="in" filter="wipe(down)">
                                      <p:cBhvr>
                                        <p:cTn id="27" dur="1000"/>
                                        <p:tgtEl>
                                          <p:spTgt spid="19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p:bldP spid="27653" grpId="0"/>
      <p:bldP spid="27654" grpId="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 name="Picture 3">
            <a:extLst>
              <a:ext uri="{FF2B5EF4-FFF2-40B4-BE49-F238E27FC236}">
                <a16:creationId xmlns:a16="http://schemas.microsoft.com/office/drawing/2014/main" id="{D5383ABC-2261-5BFD-3AF1-18CCDF047CE7}"/>
              </a:ext>
            </a:extLst>
          </p:cNvPr>
          <p:cNvPicPr>
            <a:picLocks noChangeAspect="1" noChangeArrowheads="1"/>
          </p:cNvPicPr>
          <p:nvPr/>
        </p:nvPicPr>
        <p:blipFill>
          <a:blip r:embed="rId3"/>
          <a:srcRect l="1358" t="1529" r="1079" b="15880"/>
          <a:stretch>
            <a:fillRect/>
          </a:stretch>
        </p:blipFill>
        <p:spPr bwMode="auto">
          <a:xfrm>
            <a:off x="714375" y="2357438"/>
            <a:ext cx="7215188" cy="3857625"/>
          </a:xfrm>
          <a:prstGeom prst="rect">
            <a:avLst/>
          </a:prstGeom>
          <a:noFill/>
          <a:ln w="9525">
            <a:solidFill>
              <a:schemeClr val="bg1">
                <a:lumMod val="75000"/>
              </a:schemeClr>
            </a:solidFill>
            <a:miter lim="800000"/>
            <a:headEnd/>
            <a:tailEnd/>
          </a:ln>
          <a:effectLst>
            <a:outerShdw blurRad="50800" dist="38100" dir="2700000" algn="tl" rotWithShape="0">
              <a:prstClr val="black">
                <a:alpha val="40000"/>
              </a:prstClr>
            </a:outerShdw>
          </a:effectLst>
        </p:spPr>
      </p:pic>
      <p:pic>
        <p:nvPicPr>
          <p:cNvPr id="20486" name="Picture 6">
            <a:extLst>
              <a:ext uri="{FF2B5EF4-FFF2-40B4-BE49-F238E27FC236}">
                <a16:creationId xmlns:a16="http://schemas.microsoft.com/office/drawing/2014/main" id="{3AEEBF29-BEAF-591E-16EB-217F87CA16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600" y="1071563"/>
            <a:ext cx="6454775" cy="183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95F9645C-8A33-D3B2-DF18-7B35E54D79A7}"/>
              </a:ext>
            </a:extLst>
          </p:cNvPr>
          <p:cNvSpPr/>
          <p:nvPr/>
        </p:nvSpPr>
        <p:spPr>
          <a:xfrm>
            <a:off x="7535863" y="538163"/>
            <a:ext cx="1108075" cy="461962"/>
          </a:xfrm>
          <a:prstGeom prst="rect">
            <a:avLst/>
          </a:prstGeom>
          <a:effectLst>
            <a:outerShdw blurRad="50800" dist="38100" dir="2700000" algn="tl" rotWithShape="0">
              <a:prstClr val="black">
                <a:alpha val="40000"/>
              </a:prstClr>
            </a:outerShdw>
          </a:effectLst>
        </p:spPr>
        <p:txBody>
          <a:bodyPr wrap="none">
            <a:spAutoFit/>
          </a:bodyPr>
          <a:lstStyle/>
          <a:p>
            <a:pPr>
              <a:defRPr/>
            </a:pPr>
            <a:r>
              <a:rPr lang="zh-CN" altLang="en-US" sz="2400" dirty="0">
                <a:solidFill>
                  <a:schemeClr val="tx1">
                    <a:lumMod val="50000"/>
                    <a:lumOff val="50000"/>
                  </a:schemeClr>
                </a:solidFill>
                <a:latin typeface="微软雅黑" pitchFamily="34" charset="-122"/>
                <a:ea typeface="微软雅黑" pitchFamily="34" charset="-122"/>
              </a:rPr>
              <a:t>位</a:t>
            </a:r>
            <a:r>
              <a:rPr lang="zh-CN" altLang="zh-CN" sz="2400" dirty="0">
                <a:solidFill>
                  <a:schemeClr val="tx1">
                    <a:lumMod val="50000"/>
                    <a:lumOff val="50000"/>
                  </a:schemeClr>
                </a:solidFill>
                <a:latin typeface="微软雅黑" pitchFamily="34" charset="-122"/>
                <a:ea typeface="微软雅黑" pitchFamily="34" charset="-122"/>
              </a:rPr>
              <a:t>同步</a:t>
            </a:r>
            <a:endParaRPr lang="zh-CN" altLang="en-US" sz="2400" dirty="0">
              <a:solidFill>
                <a:schemeClr val="tx1">
                  <a:lumMod val="50000"/>
                  <a:lumOff val="50000"/>
                </a:schemeClr>
              </a:solidFill>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0486"/>
                                        </p:tgtEl>
                                        <p:attrNameLst>
                                          <p:attrName>style.visibility</p:attrName>
                                        </p:attrNameLst>
                                      </p:cBhvr>
                                      <p:to>
                                        <p:strVal val="visible"/>
                                      </p:to>
                                    </p:set>
                                    <p:animEffect transition="in" filter="wipe(up)">
                                      <p:cBhvr>
                                        <p:cTn id="7" dur="2000"/>
                                        <p:tgtEl>
                                          <p:spTgt spid="204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2" name="Picture 3">
            <a:extLst>
              <a:ext uri="{FF2B5EF4-FFF2-40B4-BE49-F238E27FC236}">
                <a16:creationId xmlns:a16="http://schemas.microsoft.com/office/drawing/2014/main" id="{14D55927-E84E-C41F-2756-62A611ED5F6E}"/>
              </a:ext>
            </a:extLst>
          </p:cNvPr>
          <p:cNvPicPr>
            <a:picLocks noChangeAspect="1" noChangeArrowheads="1"/>
          </p:cNvPicPr>
          <p:nvPr/>
        </p:nvPicPr>
        <p:blipFill>
          <a:blip r:embed="rId3"/>
          <a:srcRect l="1358" t="1529" r="1079" b="15880"/>
          <a:stretch>
            <a:fillRect/>
          </a:stretch>
        </p:blipFill>
        <p:spPr bwMode="auto">
          <a:xfrm>
            <a:off x="928688" y="2471738"/>
            <a:ext cx="7215187" cy="3857625"/>
          </a:xfrm>
          <a:prstGeom prst="rect">
            <a:avLst/>
          </a:prstGeom>
          <a:noFill/>
          <a:ln w="9525">
            <a:solidFill>
              <a:schemeClr val="bg1">
                <a:lumMod val="75000"/>
              </a:schemeClr>
            </a:solidFill>
            <a:miter lim="800000"/>
            <a:headEnd/>
            <a:tailEnd/>
          </a:ln>
          <a:effectLst>
            <a:outerShdw blurRad="50800" dist="38100" dir="2700000" algn="tl" rotWithShape="0">
              <a:prstClr val="black">
                <a:alpha val="40000"/>
              </a:prstClr>
            </a:outerShdw>
          </a:effectLst>
        </p:spPr>
      </p:pic>
      <p:pic>
        <p:nvPicPr>
          <p:cNvPr id="21517" name="Picture 13">
            <a:extLst>
              <a:ext uri="{FF2B5EF4-FFF2-40B4-BE49-F238E27FC236}">
                <a16:creationId xmlns:a16="http://schemas.microsoft.com/office/drawing/2014/main" id="{D88D3E29-E3EB-A653-A57F-BABB496AF6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5825" y="1036638"/>
            <a:ext cx="6457950" cy="220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矩形 13">
            <a:extLst>
              <a:ext uri="{FF2B5EF4-FFF2-40B4-BE49-F238E27FC236}">
                <a16:creationId xmlns:a16="http://schemas.microsoft.com/office/drawing/2014/main" id="{8D07EABE-DFB7-EE8D-4891-FB09CBD9775D}"/>
              </a:ext>
            </a:extLst>
          </p:cNvPr>
          <p:cNvSpPr/>
          <p:nvPr/>
        </p:nvSpPr>
        <p:spPr>
          <a:xfrm>
            <a:off x="7593013" y="538163"/>
            <a:ext cx="1108075" cy="461962"/>
          </a:xfrm>
          <a:prstGeom prst="rect">
            <a:avLst/>
          </a:prstGeom>
          <a:effectLst>
            <a:outerShdw blurRad="50800" dist="38100" dir="2700000" algn="tl" rotWithShape="0">
              <a:prstClr val="black">
                <a:alpha val="40000"/>
              </a:prstClr>
            </a:outerShdw>
          </a:effectLst>
        </p:spPr>
        <p:txBody>
          <a:bodyPr wrap="none">
            <a:spAutoFit/>
          </a:bodyPr>
          <a:lstStyle/>
          <a:p>
            <a:pPr>
              <a:defRPr/>
            </a:pPr>
            <a:r>
              <a:rPr lang="zh-CN" altLang="en-US" sz="2400" dirty="0">
                <a:latin typeface="微软雅黑" pitchFamily="34" charset="-122"/>
                <a:ea typeface="微软雅黑" pitchFamily="34" charset="-122"/>
              </a:rPr>
              <a:t>位</a:t>
            </a:r>
            <a:r>
              <a:rPr lang="zh-CN" altLang="zh-CN" sz="2400" dirty="0">
                <a:latin typeface="微软雅黑" pitchFamily="34" charset="-122"/>
                <a:ea typeface="微软雅黑" pitchFamily="34" charset="-122"/>
              </a:rPr>
              <a:t>同步</a:t>
            </a:r>
            <a:endParaRPr lang="zh-CN" altLang="en-US" sz="2400" dirty="0">
              <a:latin typeface="微软雅黑" pitchFamily="34" charset="-122"/>
              <a:ea typeface="微软雅黑" pitchFamily="34" charset="-122"/>
            </a:endParaRPr>
          </a:p>
        </p:txBody>
      </p:sp>
      <p:sp>
        <p:nvSpPr>
          <p:cNvPr id="29703" name="Freeform 12">
            <a:extLst>
              <a:ext uri="{FF2B5EF4-FFF2-40B4-BE49-F238E27FC236}">
                <a16:creationId xmlns:a16="http://schemas.microsoft.com/office/drawing/2014/main" id="{9E5357C8-2501-770F-D054-0DF39E4F7F9C}"/>
              </a:ext>
            </a:extLst>
          </p:cNvPr>
          <p:cNvSpPr>
            <a:spLocks noEditPoints="1"/>
          </p:cNvSpPr>
          <p:nvPr/>
        </p:nvSpPr>
        <p:spPr bwMode="auto">
          <a:xfrm rot="763023" flipV="1">
            <a:off x="3057525" y="1849438"/>
            <a:ext cx="534988" cy="323850"/>
          </a:xfrm>
          <a:custGeom>
            <a:avLst/>
            <a:gdLst>
              <a:gd name="T0" fmla="*/ 0 w 728"/>
              <a:gd name="T1" fmla="*/ 2147483647 h 604"/>
              <a:gd name="T2" fmla="*/ 2147483647 w 728"/>
              <a:gd name="T3" fmla="*/ 2147483647 h 604"/>
              <a:gd name="T4" fmla="*/ 0 w 728"/>
              <a:gd name="T5" fmla="*/ 2147483647 h 604"/>
              <a:gd name="T6" fmla="*/ 2147483647 w 728"/>
              <a:gd name="T7" fmla="*/ 0 h 604"/>
              <a:gd name="T8" fmla="*/ 2147483647 w 728"/>
              <a:gd name="T9" fmla="*/ 2147483647 h 604"/>
              <a:gd name="T10" fmla="*/ 2147483647 w 728"/>
              <a:gd name="T11" fmla="*/ 2147483647 h 604"/>
              <a:gd name="T12" fmla="*/ 2147483647 w 728"/>
              <a:gd name="T13" fmla="*/ 2147483647 h 604"/>
              <a:gd name="T14" fmla="*/ 2147483647 w 728"/>
              <a:gd name="T15" fmla="*/ 2147483647 h 604"/>
              <a:gd name="T16" fmla="*/ 2147483647 w 728"/>
              <a:gd name="T17" fmla="*/ 2147483647 h 604"/>
              <a:gd name="T18" fmla="*/ 2147483647 w 728"/>
              <a:gd name="T19" fmla="*/ 2147483647 h 604"/>
              <a:gd name="T20" fmla="*/ 2147483647 w 728"/>
              <a:gd name="T21" fmla="*/ 2147483647 h 604"/>
              <a:gd name="T22" fmla="*/ 2147483647 w 728"/>
              <a:gd name="T23" fmla="*/ 2147483647 h 604"/>
              <a:gd name="T24" fmla="*/ 2147483647 w 728"/>
              <a:gd name="T25" fmla="*/ 2147483647 h 604"/>
              <a:gd name="T26" fmla="*/ 2147483647 w 728"/>
              <a:gd name="T27" fmla="*/ 2147483647 h 604"/>
              <a:gd name="T28" fmla="*/ 2147483647 w 728"/>
              <a:gd name="T29" fmla="*/ 2147483647 h 604"/>
              <a:gd name="T30" fmla="*/ 2147483647 w 728"/>
              <a:gd name="T31" fmla="*/ 2147483647 h 604"/>
              <a:gd name="T32" fmla="*/ 2147483647 w 728"/>
              <a:gd name="T33" fmla="*/ 2147483647 h 604"/>
              <a:gd name="T34" fmla="*/ 2147483647 w 728"/>
              <a:gd name="T35" fmla="*/ 2147483647 h 604"/>
              <a:gd name="T36" fmla="*/ 2147483647 w 728"/>
              <a:gd name="T37" fmla="*/ 2147483647 h 604"/>
              <a:gd name="T38" fmla="*/ 2147483647 w 728"/>
              <a:gd name="T39" fmla="*/ 2147483647 h 604"/>
              <a:gd name="T40" fmla="*/ 2147483647 w 728"/>
              <a:gd name="T41" fmla="*/ 2147483647 h 604"/>
              <a:gd name="T42" fmla="*/ 2147483647 w 728"/>
              <a:gd name="T43" fmla="*/ 2147483647 h 604"/>
              <a:gd name="T44" fmla="*/ 2147483647 w 728"/>
              <a:gd name="T45" fmla="*/ 2147483647 h 604"/>
              <a:gd name="T46" fmla="*/ 2147483647 w 728"/>
              <a:gd name="T47" fmla="*/ 2147483647 h 604"/>
              <a:gd name="T48" fmla="*/ 2147483647 w 728"/>
              <a:gd name="T49" fmla="*/ 2147483647 h 604"/>
              <a:gd name="T50" fmla="*/ 2147483647 w 728"/>
              <a:gd name="T51" fmla="*/ 2147483647 h 604"/>
              <a:gd name="T52" fmla="*/ 2147483647 w 728"/>
              <a:gd name="T53" fmla="*/ 2147483647 h 604"/>
              <a:gd name="T54" fmla="*/ 2147483647 w 728"/>
              <a:gd name="T55" fmla="*/ 2147483647 h 604"/>
              <a:gd name="T56" fmla="*/ 2147483647 w 728"/>
              <a:gd name="T57" fmla="*/ 2147483647 h 604"/>
              <a:gd name="T58" fmla="*/ 2147483647 w 728"/>
              <a:gd name="T59" fmla="*/ 2147483647 h 604"/>
              <a:gd name="T60" fmla="*/ 2147483647 w 728"/>
              <a:gd name="T61" fmla="*/ 2147483647 h 604"/>
              <a:gd name="T62" fmla="*/ 2147483647 w 728"/>
              <a:gd name="T63" fmla="*/ 2147483647 h 604"/>
              <a:gd name="T64" fmla="*/ 2147483647 w 728"/>
              <a:gd name="T65" fmla="*/ 2147483647 h 604"/>
              <a:gd name="T66" fmla="*/ 2147483647 w 728"/>
              <a:gd name="T67" fmla="*/ 2147483647 h 604"/>
              <a:gd name="T68" fmla="*/ 2147483647 w 728"/>
              <a:gd name="T69" fmla="*/ 2147483647 h 604"/>
              <a:gd name="T70" fmla="*/ 2147483647 w 728"/>
              <a:gd name="T71" fmla="*/ 2147483647 h 604"/>
              <a:gd name="T72" fmla="*/ 2147483647 w 728"/>
              <a:gd name="T73" fmla="*/ 2147483647 h 604"/>
              <a:gd name="T74" fmla="*/ 2147483647 w 728"/>
              <a:gd name="T75" fmla="*/ 2147483647 h 604"/>
              <a:gd name="T76" fmla="*/ 2147483647 w 728"/>
              <a:gd name="T77" fmla="*/ 2147483647 h 604"/>
              <a:gd name="T78" fmla="*/ 2147483647 w 728"/>
              <a:gd name="T79" fmla="*/ 0 h 60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728"/>
              <a:gd name="T121" fmla="*/ 0 h 604"/>
              <a:gd name="T122" fmla="*/ 728 w 728"/>
              <a:gd name="T123" fmla="*/ 604 h 60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728" h="604">
                <a:moveTo>
                  <a:pt x="0" y="590"/>
                </a:moveTo>
                <a:lnTo>
                  <a:pt x="0" y="590"/>
                </a:lnTo>
                <a:lnTo>
                  <a:pt x="12" y="574"/>
                </a:lnTo>
                <a:lnTo>
                  <a:pt x="6" y="582"/>
                </a:lnTo>
                <a:lnTo>
                  <a:pt x="0" y="590"/>
                </a:lnTo>
                <a:close/>
                <a:moveTo>
                  <a:pt x="718" y="0"/>
                </a:moveTo>
                <a:lnTo>
                  <a:pt x="606" y="240"/>
                </a:lnTo>
                <a:lnTo>
                  <a:pt x="656" y="216"/>
                </a:lnTo>
                <a:lnTo>
                  <a:pt x="642" y="272"/>
                </a:lnTo>
                <a:lnTo>
                  <a:pt x="626" y="324"/>
                </a:lnTo>
                <a:lnTo>
                  <a:pt x="608" y="374"/>
                </a:lnTo>
                <a:lnTo>
                  <a:pt x="588" y="418"/>
                </a:lnTo>
                <a:lnTo>
                  <a:pt x="566" y="460"/>
                </a:lnTo>
                <a:lnTo>
                  <a:pt x="542" y="494"/>
                </a:lnTo>
                <a:lnTo>
                  <a:pt x="518" y="524"/>
                </a:lnTo>
                <a:lnTo>
                  <a:pt x="504" y="536"/>
                </a:lnTo>
                <a:lnTo>
                  <a:pt x="492" y="548"/>
                </a:lnTo>
                <a:lnTo>
                  <a:pt x="470" y="562"/>
                </a:lnTo>
                <a:lnTo>
                  <a:pt x="446" y="576"/>
                </a:lnTo>
                <a:lnTo>
                  <a:pt x="420" y="586"/>
                </a:lnTo>
                <a:lnTo>
                  <a:pt x="392" y="594"/>
                </a:lnTo>
                <a:lnTo>
                  <a:pt x="364" y="598"/>
                </a:lnTo>
                <a:lnTo>
                  <a:pt x="336" y="598"/>
                </a:lnTo>
                <a:lnTo>
                  <a:pt x="306" y="592"/>
                </a:lnTo>
                <a:lnTo>
                  <a:pt x="292" y="588"/>
                </a:lnTo>
                <a:lnTo>
                  <a:pt x="278" y="582"/>
                </a:lnTo>
                <a:lnTo>
                  <a:pt x="238" y="566"/>
                </a:lnTo>
                <a:lnTo>
                  <a:pt x="198" y="554"/>
                </a:lnTo>
                <a:lnTo>
                  <a:pt x="160" y="544"/>
                </a:lnTo>
                <a:lnTo>
                  <a:pt x="124" y="540"/>
                </a:lnTo>
                <a:lnTo>
                  <a:pt x="108" y="540"/>
                </a:lnTo>
                <a:lnTo>
                  <a:pt x="92" y="540"/>
                </a:lnTo>
                <a:lnTo>
                  <a:pt x="76" y="542"/>
                </a:lnTo>
                <a:lnTo>
                  <a:pt x="62" y="546"/>
                </a:lnTo>
                <a:lnTo>
                  <a:pt x="48" y="550"/>
                </a:lnTo>
                <a:lnTo>
                  <a:pt x="36" y="556"/>
                </a:lnTo>
                <a:lnTo>
                  <a:pt x="24" y="564"/>
                </a:lnTo>
                <a:lnTo>
                  <a:pt x="12" y="574"/>
                </a:lnTo>
                <a:lnTo>
                  <a:pt x="28" y="562"/>
                </a:lnTo>
                <a:lnTo>
                  <a:pt x="46" y="552"/>
                </a:lnTo>
                <a:lnTo>
                  <a:pt x="58" y="548"/>
                </a:lnTo>
                <a:lnTo>
                  <a:pt x="70" y="544"/>
                </a:lnTo>
                <a:lnTo>
                  <a:pt x="84" y="542"/>
                </a:lnTo>
                <a:lnTo>
                  <a:pt x="100" y="542"/>
                </a:lnTo>
                <a:lnTo>
                  <a:pt x="116" y="542"/>
                </a:lnTo>
                <a:lnTo>
                  <a:pt x="134" y="544"/>
                </a:lnTo>
                <a:lnTo>
                  <a:pt x="154" y="546"/>
                </a:lnTo>
                <a:lnTo>
                  <a:pt x="174" y="550"/>
                </a:lnTo>
                <a:lnTo>
                  <a:pt x="198" y="556"/>
                </a:lnTo>
                <a:lnTo>
                  <a:pt x="222" y="564"/>
                </a:lnTo>
                <a:lnTo>
                  <a:pt x="248" y="574"/>
                </a:lnTo>
                <a:lnTo>
                  <a:pt x="276" y="586"/>
                </a:lnTo>
                <a:lnTo>
                  <a:pt x="298" y="594"/>
                </a:lnTo>
                <a:lnTo>
                  <a:pt x="322" y="600"/>
                </a:lnTo>
                <a:lnTo>
                  <a:pt x="348" y="604"/>
                </a:lnTo>
                <a:lnTo>
                  <a:pt x="376" y="604"/>
                </a:lnTo>
                <a:lnTo>
                  <a:pt x="404" y="600"/>
                </a:lnTo>
                <a:lnTo>
                  <a:pt x="434" y="592"/>
                </a:lnTo>
                <a:lnTo>
                  <a:pt x="466" y="578"/>
                </a:lnTo>
                <a:lnTo>
                  <a:pt x="498" y="560"/>
                </a:lnTo>
                <a:lnTo>
                  <a:pt x="512" y="550"/>
                </a:lnTo>
                <a:lnTo>
                  <a:pt x="526" y="538"/>
                </a:lnTo>
                <a:lnTo>
                  <a:pt x="540" y="524"/>
                </a:lnTo>
                <a:lnTo>
                  <a:pt x="554" y="508"/>
                </a:lnTo>
                <a:lnTo>
                  <a:pt x="580" y="472"/>
                </a:lnTo>
                <a:lnTo>
                  <a:pt x="606" y="430"/>
                </a:lnTo>
                <a:lnTo>
                  <a:pt x="630" y="384"/>
                </a:lnTo>
                <a:lnTo>
                  <a:pt x="650" y="332"/>
                </a:lnTo>
                <a:lnTo>
                  <a:pt x="668" y="278"/>
                </a:lnTo>
                <a:lnTo>
                  <a:pt x="684" y="220"/>
                </a:lnTo>
                <a:lnTo>
                  <a:pt x="728" y="326"/>
                </a:lnTo>
                <a:lnTo>
                  <a:pt x="718" y="0"/>
                </a:lnTo>
                <a:close/>
              </a:path>
            </a:pathLst>
          </a:cu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29704" name="Freeform 12">
            <a:extLst>
              <a:ext uri="{FF2B5EF4-FFF2-40B4-BE49-F238E27FC236}">
                <a16:creationId xmlns:a16="http://schemas.microsoft.com/office/drawing/2014/main" id="{341984BD-97AC-5772-0397-28B280023CE3}"/>
              </a:ext>
            </a:extLst>
          </p:cNvPr>
          <p:cNvSpPr>
            <a:spLocks noEditPoints="1"/>
          </p:cNvSpPr>
          <p:nvPr/>
        </p:nvSpPr>
        <p:spPr bwMode="auto">
          <a:xfrm rot="763023" flipV="1">
            <a:off x="3800475" y="2449513"/>
            <a:ext cx="534988" cy="323850"/>
          </a:xfrm>
          <a:custGeom>
            <a:avLst/>
            <a:gdLst>
              <a:gd name="T0" fmla="*/ 0 w 728"/>
              <a:gd name="T1" fmla="*/ 2147483647 h 604"/>
              <a:gd name="T2" fmla="*/ 2147483647 w 728"/>
              <a:gd name="T3" fmla="*/ 2147483647 h 604"/>
              <a:gd name="T4" fmla="*/ 0 w 728"/>
              <a:gd name="T5" fmla="*/ 2147483647 h 604"/>
              <a:gd name="T6" fmla="*/ 2147483647 w 728"/>
              <a:gd name="T7" fmla="*/ 0 h 604"/>
              <a:gd name="T8" fmla="*/ 2147483647 w 728"/>
              <a:gd name="T9" fmla="*/ 2147483647 h 604"/>
              <a:gd name="T10" fmla="*/ 2147483647 w 728"/>
              <a:gd name="T11" fmla="*/ 2147483647 h 604"/>
              <a:gd name="T12" fmla="*/ 2147483647 w 728"/>
              <a:gd name="T13" fmla="*/ 2147483647 h 604"/>
              <a:gd name="T14" fmla="*/ 2147483647 w 728"/>
              <a:gd name="T15" fmla="*/ 2147483647 h 604"/>
              <a:gd name="T16" fmla="*/ 2147483647 w 728"/>
              <a:gd name="T17" fmla="*/ 2147483647 h 604"/>
              <a:gd name="T18" fmla="*/ 2147483647 w 728"/>
              <a:gd name="T19" fmla="*/ 2147483647 h 604"/>
              <a:gd name="T20" fmla="*/ 2147483647 w 728"/>
              <a:gd name="T21" fmla="*/ 2147483647 h 604"/>
              <a:gd name="T22" fmla="*/ 2147483647 w 728"/>
              <a:gd name="T23" fmla="*/ 2147483647 h 604"/>
              <a:gd name="T24" fmla="*/ 2147483647 w 728"/>
              <a:gd name="T25" fmla="*/ 2147483647 h 604"/>
              <a:gd name="T26" fmla="*/ 2147483647 w 728"/>
              <a:gd name="T27" fmla="*/ 2147483647 h 604"/>
              <a:gd name="T28" fmla="*/ 2147483647 w 728"/>
              <a:gd name="T29" fmla="*/ 2147483647 h 604"/>
              <a:gd name="T30" fmla="*/ 2147483647 w 728"/>
              <a:gd name="T31" fmla="*/ 2147483647 h 604"/>
              <a:gd name="T32" fmla="*/ 2147483647 w 728"/>
              <a:gd name="T33" fmla="*/ 2147483647 h 604"/>
              <a:gd name="T34" fmla="*/ 2147483647 w 728"/>
              <a:gd name="T35" fmla="*/ 2147483647 h 604"/>
              <a:gd name="T36" fmla="*/ 2147483647 w 728"/>
              <a:gd name="T37" fmla="*/ 2147483647 h 604"/>
              <a:gd name="T38" fmla="*/ 2147483647 w 728"/>
              <a:gd name="T39" fmla="*/ 2147483647 h 604"/>
              <a:gd name="T40" fmla="*/ 2147483647 w 728"/>
              <a:gd name="T41" fmla="*/ 2147483647 h 604"/>
              <a:gd name="T42" fmla="*/ 2147483647 w 728"/>
              <a:gd name="T43" fmla="*/ 2147483647 h 604"/>
              <a:gd name="T44" fmla="*/ 2147483647 w 728"/>
              <a:gd name="T45" fmla="*/ 2147483647 h 604"/>
              <a:gd name="T46" fmla="*/ 2147483647 w 728"/>
              <a:gd name="T47" fmla="*/ 2147483647 h 604"/>
              <a:gd name="T48" fmla="*/ 2147483647 w 728"/>
              <a:gd name="T49" fmla="*/ 2147483647 h 604"/>
              <a:gd name="T50" fmla="*/ 2147483647 w 728"/>
              <a:gd name="T51" fmla="*/ 2147483647 h 604"/>
              <a:gd name="T52" fmla="*/ 2147483647 w 728"/>
              <a:gd name="T53" fmla="*/ 2147483647 h 604"/>
              <a:gd name="T54" fmla="*/ 2147483647 w 728"/>
              <a:gd name="T55" fmla="*/ 2147483647 h 604"/>
              <a:gd name="T56" fmla="*/ 2147483647 w 728"/>
              <a:gd name="T57" fmla="*/ 2147483647 h 604"/>
              <a:gd name="T58" fmla="*/ 2147483647 w 728"/>
              <a:gd name="T59" fmla="*/ 2147483647 h 604"/>
              <a:gd name="T60" fmla="*/ 2147483647 w 728"/>
              <a:gd name="T61" fmla="*/ 2147483647 h 604"/>
              <a:gd name="T62" fmla="*/ 2147483647 w 728"/>
              <a:gd name="T63" fmla="*/ 2147483647 h 604"/>
              <a:gd name="T64" fmla="*/ 2147483647 w 728"/>
              <a:gd name="T65" fmla="*/ 2147483647 h 604"/>
              <a:gd name="T66" fmla="*/ 2147483647 w 728"/>
              <a:gd name="T67" fmla="*/ 2147483647 h 604"/>
              <a:gd name="T68" fmla="*/ 2147483647 w 728"/>
              <a:gd name="T69" fmla="*/ 2147483647 h 604"/>
              <a:gd name="T70" fmla="*/ 2147483647 w 728"/>
              <a:gd name="T71" fmla="*/ 2147483647 h 604"/>
              <a:gd name="T72" fmla="*/ 2147483647 w 728"/>
              <a:gd name="T73" fmla="*/ 2147483647 h 604"/>
              <a:gd name="T74" fmla="*/ 2147483647 w 728"/>
              <a:gd name="T75" fmla="*/ 2147483647 h 604"/>
              <a:gd name="T76" fmla="*/ 2147483647 w 728"/>
              <a:gd name="T77" fmla="*/ 2147483647 h 604"/>
              <a:gd name="T78" fmla="*/ 2147483647 w 728"/>
              <a:gd name="T79" fmla="*/ 0 h 60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728"/>
              <a:gd name="T121" fmla="*/ 0 h 604"/>
              <a:gd name="T122" fmla="*/ 728 w 728"/>
              <a:gd name="T123" fmla="*/ 604 h 60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728" h="604">
                <a:moveTo>
                  <a:pt x="0" y="590"/>
                </a:moveTo>
                <a:lnTo>
                  <a:pt x="0" y="590"/>
                </a:lnTo>
                <a:lnTo>
                  <a:pt x="12" y="574"/>
                </a:lnTo>
                <a:lnTo>
                  <a:pt x="6" y="582"/>
                </a:lnTo>
                <a:lnTo>
                  <a:pt x="0" y="590"/>
                </a:lnTo>
                <a:close/>
                <a:moveTo>
                  <a:pt x="718" y="0"/>
                </a:moveTo>
                <a:lnTo>
                  <a:pt x="606" y="240"/>
                </a:lnTo>
                <a:lnTo>
                  <a:pt x="656" y="216"/>
                </a:lnTo>
                <a:lnTo>
                  <a:pt x="642" y="272"/>
                </a:lnTo>
                <a:lnTo>
                  <a:pt x="626" y="324"/>
                </a:lnTo>
                <a:lnTo>
                  <a:pt x="608" y="374"/>
                </a:lnTo>
                <a:lnTo>
                  <a:pt x="588" y="418"/>
                </a:lnTo>
                <a:lnTo>
                  <a:pt x="566" y="460"/>
                </a:lnTo>
                <a:lnTo>
                  <a:pt x="542" y="494"/>
                </a:lnTo>
                <a:lnTo>
                  <a:pt x="518" y="524"/>
                </a:lnTo>
                <a:lnTo>
                  <a:pt x="504" y="536"/>
                </a:lnTo>
                <a:lnTo>
                  <a:pt x="492" y="548"/>
                </a:lnTo>
                <a:lnTo>
                  <a:pt x="470" y="562"/>
                </a:lnTo>
                <a:lnTo>
                  <a:pt x="446" y="576"/>
                </a:lnTo>
                <a:lnTo>
                  <a:pt x="420" y="586"/>
                </a:lnTo>
                <a:lnTo>
                  <a:pt x="392" y="594"/>
                </a:lnTo>
                <a:lnTo>
                  <a:pt x="364" y="598"/>
                </a:lnTo>
                <a:lnTo>
                  <a:pt x="336" y="598"/>
                </a:lnTo>
                <a:lnTo>
                  <a:pt x="306" y="592"/>
                </a:lnTo>
                <a:lnTo>
                  <a:pt x="292" y="588"/>
                </a:lnTo>
                <a:lnTo>
                  <a:pt x="278" y="582"/>
                </a:lnTo>
                <a:lnTo>
                  <a:pt x="238" y="566"/>
                </a:lnTo>
                <a:lnTo>
                  <a:pt x="198" y="554"/>
                </a:lnTo>
                <a:lnTo>
                  <a:pt x="160" y="544"/>
                </a:lnTo>
                <a:lnTo>
                  <a:pt x="124" y="540"/>
                </a:lnTo>
                <a:lnTo>
                  <a:pt x="108" y="540"/>
                </a:lnTo>
                <a:lnTo>
                  <a:pt x="92" y="540"/>
                </a:lnTo>
                <a:lnTo>
                  <a:pt x="76" y="542"/>
                </a:lnTo>
                <a:lnTo>
                  <a:pt x="62" y="546"/>
                </a:lnTo>
                <a:lnTo>
                  <a:pt x="48" y="550"/>
                </a:lnTo>
                <a:lnTo>
                  <a:pt x="36" y="556"/>
                </a:lnTo>
                <a:lnTo>
                  <a:pt x="24" y="564"/>
                </a:lnTo>
                <a:lnTo>
                  <a:pt x="12" y="574"/>
                </a:lnTo>
                <a:lnTo>
                  <a:pt x="28" y="562"/>
                </a:lnTo>
                <a:lnTo>
                  <a:pt x="46" y="552"/>
                </a:lnTo>
                <a:lnTo>
                  <a:pt x="58" y="548"/>
                </a:lnTo>
                <a:lnTo>
                  <a:pt x="70" y="544"/>
                </a:lnTo>
                <a:lnTo>
                  <a:pt x="84" y="542"/>
                </a:lnTo>
                <a:lnTo>
                  <a:pt x="100" y="542"/>
                </a:lnTo>
                <a:lnTo>
                  <a:pt x="116" y="542"/>
                </a:lnTo>
                <a:lnTo>
                  <a:pt x="134" y="544"/>
                </a:lnTo>
                <a:lnTo>
                  <a:pt x="154" y="546"/>
                </a:lnTo>
                <a:lnTo>
                  <a:pt x="174" y="550"/>
                </a:lnTo>
                <a:lnTo>
                  <a:pt x="198" y="556"/>
                </a:lnTo>
                <a:lnTo>
                  <a:pt x="222" y="564"/>
                </a:lnTo>
                <a:lnTo>
                  <a:pt x="248" y="574"/>
                </a:lnTo>
                <a:lnTo>
                  <a:pt x="276" y="586"/>
                </a:lnTo>
                <a:lnTo>
                  <a:pt x="298" y="594"/>
                </a:lnTo>
                <a:lnTo>
                  <a:pt x="322" y="600"/>
                </a:lnTo>
                <a:lnTo>
                  <a:pt x="348" y="604"/>
                </a:lnTo>
                <a:lnTo>
                  <a:pt x="376" y="604"/>
                </a:lnTo>
                <a:lnTo>
                  <a:pt x="404" y="600"/>
                </a:lnTo>
                <a:lnTo>
                  <a:pt x="434" y="592"/>
                </a:lnTo>
                <a:lnTo>
                  <a:pt x="466" y="578"/>
                </a:lnTo>
                <a:lnTo>
                  <a:pt x="498" y="560"/>
                </a:lnTo>
                <a:lnTo>
                  <a:pt x="512" y="550"/>
                </a:lnTo>
                <a:lnTo>
                  <a:pt x="526" y="538"/>
                </a:lnTo>
                <a:lnTo>
                  <a:pt x="540" y="524"/>
                </a:lnTo>
                <a:lnTo>
                  <a:pt x="554" y="508"/>
                </a:lnTo>
                <a:lnTo>
                  <a:pt x="580" y="472"/>
                </a:lnTo>
                <a:lnTo>
                  <a:pt x="606" y="430"/>
                </a:lnTo>
                <a:lnTo>
                  <a:pt x="630" y="384"/>
                </a:lnTo>
                <a:lnTo>
                  <a:pt x="650" y="332"/>
                </a:lnTo>
                <a:lnTo>
                  <a:pt x="668" y="278"/>
                </a:lnTo>
                <a:lnTo>
                  <a:pt x="684" y="220"/>
                </a:lnTo>
                <a:lnTo>
                  <a:pt x="728" y="326"/>
                </a:lnTo>
                <a:lnTo>
                  <a:pt x="718" y="0"/>
                </a:lnTo>
                <a:close/>
              </a:path>
            </a:pathLst>
          </a:cu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aphicFrame>
        <p:nvGraphicFramePr>
          <p:cNvPr id="29699" name="Object 3">
            <a:extLst>
              <a:ext uri="{FF2B5EF4-FFF2-40B4-BE49-F238E27FC236}">
                <a16:creationId xmlns:a16="http://schemas.microsoft.com/office/drawing/2014/main" id="{CB68730E-5769-0E20-FD4D-4782B4CE10C2}"/>
              </a:ext>
            </a:extLst>
          </p:cNvPr>
          <p:cNvGraphicFramePr>
            <a:graphicFrameLocks noChangeAspect="1"/>
          </p:cNvGraphicFramePr>
          <p:nvPr/>
        </p:nvGraphicFramePr>
        <p:xfrm>
          <a:off x="3700463" y="1857375"/>
          <a:ext cx="2428875" cy="438150"/>
        </p:xfrm>
        <a:graphic>
          <a:graphicData uri="http://schemas.openxmlformats.org/presentationml/2006/ole">
            <mc:AlternateContent xmlns:mc="http://schemas.openxmlformats.org/markup-compatibility/2006">
              <mc:Choice xmlns:v="urn:schemas-microsoft-com:vml" Requires="v">
                <p:oleObj name="Equation" r:id="rId5" imgW="1346040" imgH="241200" progId="Equation.DSMT4">
                  <p:embed/>
                </p:oleObj>
              </mc:Choice>
              <mc:Fallback>
                <p:oleObj name="Equation" r:id="rId5" imgW="1346040" imgH="2412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00463" y="1857375"/>
                        <a:ext cx="2428875"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00" name="Object 6">
            <a:extLst>
              <a:ext uri="{FF2B5EF4-FFF2-40B4-BE49-F238E27FC236}">
                <a16:creationId xmlns:a16="http://schemas.microsoft.com/office/drawing/2014/main" id="{508A639D-4D3B-E0FD-4091-D89811D4C450}"/>
              </a:ext>
            </a:extLst>
          </p:cNvPr>
          <p:cNvGraphicFramePr>
            <a:graphicFrameLocks noChangeAspect="1"/>
          </p:cNvGraphicFramePr>
          <p:nvPr/>
        </p:nvGraphicFramePr>
        <p:xfrm>
          <a:off x="4551363" y="2322513"/>
          <a:ext cx="1577975" cy="793750"/>
        </p:xfrm>
        <a:graphic>
          <a:graphicData uri="http://schemas.openxmlformats.org/presentationml/2006/ole">
            <mc:AlternateContent xmlns:mc="http://schemas.openxmlformats.org/markup-compatibility/2006">
              <mc:Choice xmlns:v="urn:schemas-microsoft-com:vml" Requires="v">
                <p:oleObj name="Equation" r:id="rId7" imgW="888840" imgH="444240" progId="Equation.DSMT4">
                  <p:embed/>
                </p:oleObj>
              </mc:Choice>
              <mc:Fallback>
                <p:oleObj name="Equation" r:id="rId7" imgW="888840" imgH="44424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51363" y="2322513"/>
                        <a:ext cx="1577975" cy="793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组合 15">
            <a:extLst>
              <a:ext uri="{FF2B5EF4-FFF2-40B4-BE49-F238E27FC236}">
                <a16:creationId xmlns:a16="http://schemas.microsoft.com/office/drawing/2014/main" id="{9B139189-0A27-6E69-91C8-8611A3228C4D}"/>
              </a:ext>
            </a:extLst>
          </p:cNvPr>
          <p:cNvGrpSpPr>
            <a:grpSpLocks/>
          </p:cNvGrpSpPr>
          <p:nvPr/>
        </p:nvGrpSpPr>
        <p:grpSpPr bwMode="auto">
          <a:xfrm>
            <a:off x="6429389" y="2214554"/>
            <a:ext cx="2000263" cy="1599533"/>
            <a:chOff x="6501958" y="1890586"/>
            <a:chExt cx="1724353" cy="1252662"/>
          </a:xfrm>
          <a:solidFill>
            <a:schemeClr val="accent2">
              <a:lumMod val="20000"/>
              <a:lumOff val="80000"/>
            </a:schemeClr>
          </a:solidFill>
        </p:grpSpPr>
        <p:sp>
          <p:nvSpPr>
            <p:cNvPr id="15" name="椭圆 14">
              <a:extLst>
                <a:ext uri="{FF2B5EF4-FFF2-40B4-BE49-F238E27FC236}">
                  <a16:creationId xmlns:a16="http://schemas.microsoft.com/office/drawing/2014/main" id="{83FEC51F-9B48-16C4-5375-AA2205AD850A}"/>
                </a:ext>
              </a:extLst>
            </p:cNvPr>
            <p:cNvSpPr/>
            <p:nvPr/>
          </p:nvSpPr>
          <p:spPr bwMode="auto">
            <a:xfrm>
              <a:off x="6501958" y="1890586"/>
              <a:ext cx="1724353" cy="1252662"/>
            </a:xfrm>
            <a:prstGeom prst="ellipse">
              <a:avLst/>
            </a:prstGeom>
            <a:grpFill/>
            <a:ln w="9525" cap="flat" cmpd="sng" algn="ctr">
              <a:solidFill>
                <a:schemeClr val="bg1">
                  <a:lumMod val="75000"/>
                </a:schemeClr>
              </a:solidFill>
              <a:prstDash val="solid"/>
              <a:miter lim="800000"/>
              <a:headEnd type="none" w="med" len="med"/>
              <a:tailEnd type="none" w="med" len="med"/>
            </a:ln>
            <a:effectLst>
              <a:outerShdw blurRad="50800" dist="38100" dir="2700000" algn="tl" rotWithShape="0">
                <a:prstClr val="black">
                  <a:alpha val="40000"/>
                </a:prstClr>
              </a:outerShdw>
            </a:effectLst>
          </p:spPr>
          <p:txBody>
            <a:bodyPr wrap="none"/>
            <a:lstStyle/>
            <a:p>
              <a:pPr>
                <a:defRPr/>
              </a:pPr>
              <a:endParaRPr lang="zh-CN" altLang="en-US">
                <a:ea typeface="宋体" charset="-122"/>
              </a:endParaRPr>
            </a:p>
          </p:txBody>
        </p:sp>
        <p:sp>
          <p:nvSpPr>
            <p:cNvPr id="21515" name="矩形 8">
              <a:extLst>
                <a:ext uri="{FF2B5EF4-FFF2-40B4-BE49-F238E27FC236}">
                  <a16:creationId xmlns:a16="http://schemas.microsoft.com/office/drawing/2014/main" id="{99C62995-DF75-D175-8742-9ECD0DAB1C7B}"/>
                </a:ext>
              </a:extLst>
            </p:cNvPr>
            <p:cNvSpPr>
              <a:spLocks noChangeArrowheads="1"/>
            </p:cNvSpPr>
            <p:nvPr/>
          </p:nvSpPr>
          <p:spPr bwMode="auto">
            <a:xfrm>
              <a:off x="6817268" y="2099434"/>
              <a:ext cx="1162707" cy="854129"/>
            </a:xfrm>
            <a:prstGeom prst="rect">
              <a:avLst/>
            </a:prstGeom>
            <a:grpFill/>
            <a:ln w="9525">
              <a:noFill/>
              <a:miter lim="800000"/>
              <a:headEnd/>
              <a:tailEnd/>
            </a:ln>
          </p:spPr>
          <p:txBody>
            <a:bodyPr>
              <a:spAutoFit/>
            </a:bodyPr>
            <a:lstStyle/>
            <a:p>
              <a:pPr>
                <a:defRPr/>
              </a:pPr>
              <a:r>
                <a:rPr lang="zh-CN" altLang="en-US" sz="2000" dirty="0">
                  <a:latin typeface="Arial" charset="0"/>
                  <a:ea typeface="微软雅黑" pitchFamily="34" charset="-122"/>
                  <a:cs typeface="Arial" charset="0"/>
                </a:rPr>
                <a:t>积分能量 </a:t>
              </a:r>
              <a:endParaRPr lang="en-US" altLang="zh-CN" sz="2000" dirty="0">
                <a:latin typeface="Arial" charset="0"/>
                <a:ea typeface="微软雅黑" pitchFamily="34" charset="-122"/>
                <a:cs typeface="Arial" charset="0"/>
              </a:endParaRPr>
            </a:p>
            <a:p>
              <a:pPr>
                <a:defRPr/>
              </a:pPr>
              <a:r>
                <a:rPr lang="zh-CN" altLang="en-US" sz="2000" dirty="0">
                  <a:solidFill>
                    <a:srgbClr val="FF0000"/>
                  </a:solidFill>
                  <a:latin typeface="Cambria Math" pitchFamily="18" charset="0"/>
                  <a:ea typeface="华文中宋" pitchFamily="2" charset="-122"/>
                  <a:cs typeface="Arial" charset="0"/>
                  <a:sym typeface="Bookshelf Symbol 7" pitchFamily="2" charset="2"/>
                </a:rPr>
                <a:t>       </a:t>
              </a:r>
              <a:r>
                <a:rPr lang="zh-CN" altLang="en-US" sz="2400" dirty="0">
                  <a:solidFill>
                    <a:srgbClr val="FF0000"/>
                  </a:solidFill>
                  <a:latin typeface="Cambria Math" pitchFamily="18" charset="0"/>
                  <a:ea typeface="华文中宋" pitchFamily="2" charset="-122"/>
                  <a:cs typeface="Arial" charset="0"/>
                  <a:sym typeface="Bookshelf Symbol 7" pitchFamily="2" charset="2"/>
                </a:rPr>
                <a:t>∝</a:t>
              </a:r>
              <a:r>
                <a:rPr lang="zh-CN" altLang="en-US" sz="2000" dirty="0">
                  <a:solidFill>
                    <a:srgbClr val="FF0000"/>
                  </a:solidFill>
                  <a:latin typeface="Cambria Math" pitchFamily="18" charset="0"/>
                  <a:ea typeface="华文中宋" pitchFamily="2" charset="-122"/>
                  <a:cs typeface="Arial" charset="0"/>
                  <a:sym typeface="Bookshelf Symbol 7" pitchFamily="2" charset="2"/>
                </a:rPr>
                <a:t> </a:t>
              </a:r>
              <a:endParaRPr lang="en-US" altLang="zh-CN" sz="2000" dirty="0">
                <a:solidFill>
                  <a:srgbClr val="FF0000"/>
                </a:solidFill>
                <a:latin typeface="Cambria Math" pitchFamily="18" charset="0"/>
                <a:ea typeface="华文中宋" pitchFamily="2" charset="-122"/>
                <a:cs typeface="Arial" charset="0"/>
                <a:sym typeface="Bookshelf Symbol 7" pitchFamily="2" charset="2"/>
              </a:endParaRPr>
            </a:p>
            <a:p>
              <a:pPr>
                <a:defRPr/>
              </a:pPr>
              <a:r>
                <a:rPr lang="zh-CN" altLang="en-US" sz="2000" dirty="0">
                  <a:latin typeface="Arial" charset="0"/>
                  <a:ea typeface="微软雅黑" pitchFamily="34" charset="-122"/>
                  <a:cs typeface="Arial" charset="0"/>
                </a:rPr>
                <a:t>有效区间</a:t>
              </a:r>
              <a:endParaRPr lang="zh-CN" altLang="en-US" sz="2000" dirty="0">
                <a:ea typeface="宋体" charset="-122"/>
                <a:cs typeface="Arial"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1517"/>
                                        </p:tgtEl>
                                        <p:attrNameLst>
                                          <p:attrName>style.visibility</p:attrName>
                                        </p:attrNameLst>
                                      </p:cBhvr>
                                      <p:to>
                                        <p:strVal val="visible"/>
                                      </p:to>
                                    </p:set>
                                    <p:animEffect transition="in" filter="wipe(up)">
                                      <p:cBhvr>
                                        <p:cTn id="7" dur="2000"/>
                                        <p:tgtEl>
                                          <p:spTgt spid="215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9703"/>
                                        </p:tgtEl>
                                        <p:attrNameLst>
                                          <p:attrName>style.visibility</p:attrName>
                                        </p:attrNameLst>
                                      </p:cBhvr>
                                      <p:to>
                                        <p:strVal val="visible"/>
                                      </p:to>
                                    </p:set>
                                    <p:animEffect transition="in" filter="wipe(left)">
                                      <p:cBhvr>
                                        <p:cTn id="12" dur="2000"/>
                                        <p:tgtEl>
                                          <p:spTgt spid="29703"/>
                                        </p:tgtEl>
                                      </p:cBhvr>
                                    </p:animEffect>
                                  </p:childTnLst>
                                </p:cTn>
                              </p:par>
                            </p:childTnLst>
                          </p:cTn>
                        </p:par>
                        <p:par>
                          <p:cTn id="13" fill="hold" nodeType="afterGroup">
                            <p:stCondLst>
                              <p:cond delay="2000"/>
                            </p:stCondLst>
                            <p:childTnLst>
                              <p:par>
                                <p:cTn id="14" presetID="22" presetClass="entr" presetSubtype="8" fill="hold" nodeType="afterEffect">
                                  <p:stCondLst>
                                    <p:cond delay="0"/>
                                  </p:stCondLst>
                                  <p:childTnLst>
                                    <p:set>
                                      <p:cBhvr>
                                        <p:cTn id="15" dur="1" fill="hold">
                                          <p:stCondLst>
                                            <p:cond delay="0"/>
                                          </p:stCondLst>
                                        </p:cTn>
                                        <p:tgtEl>
                                          <p:spTgt spid="29699"/>
                                        </p:tgtEl>
                                        <p:attrNameLst>
                                          <p:attrName>style.visibility</p:attrName>
                                        </p:attrNameLst>
                                      </p:cBhvr>
                                      <p:to>
                                        <p:strVal val="visible"/>
                                      </p:to>
                                    </p:set>
                                    <p:animEffect transition="in" filter="wipe(left)">
                                      <p:cBhvr>
                                        <p:cTn id="16" dur="2000"/>
                                        <p:tgtEl>
                                          <p:spTgt spid="2969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29704"/>
                                        </p:tgtEl>
                                        <p:attrNameLst>
                                          <p:attrName>style.visibility</p:attrName>
                                        </p:attrNameLst>
                                      </p:cBhvr>
                                      <p:to>
                                        <p:strVal val="visible"/>
                                      </p:to>
                                    </p:set>
                                    <p:animEffect transition="in" filter="wipe(up)">
                                      <p:cBhvr>
                                        <p:cTn id="21" dur="1000"/>
                                        <p:tgtEl>
                                          <p:spTgt spid="2970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29700"/>
                                        </p:tgtEl>
                                        <p:attrNameLst>
                                          <p:attrName>style.visibility</p:attrName>
                                        </p:attrNameLst>
                                      </p:cBhvr>
                                      <p:to>
                                        <p:strVal val="visible"/>
                                      </p:to>
                                    </p:set>
                                    <p:animEffect transition="in" filter="wipe(left)">
                                      <p:cBhvr>
                                        <p:cTn id="26" dur="2000"/>
                                        <p:tgtEl>
                                          <p:spTgt spid="2970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left)">
                                      <p:cBhvr>
                                        <p:cTn id="31"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3" grpId="0" animBg="1"/>
      <p:bldP spid="2970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4">
            <a:extLst>
              <a:ext uri="{FF2B5EF4-FFF2-40B4-BE49-F238E27FC236}">
                <a16:creationId xmlns:a16="http://schemas.microsoft.com/office/drawing/2014/main" id="{7FBE169F-6E94-4AD1-73CD-D776F391F9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61040"/>
          <a:stretch>
            <a:fillRect/>
          </a:stretch>
        </p:blipFill>
        <p:spPr bwMode="auto">
          <a:xfrm>
            <a:off x="1157288" y="5043488"/>
            <a:ext cx="72771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4">
            <a:extLst>
              <a:ext uri="{FF2B5EF4-FFF2-40B4-BE49-F238E27FC236}">
                <a16:creationId xmlns:a16="http://schemas.microsoft.com/office/drawing/2014/main" id="{F1C25CBD-993A-EB3B-5C14-17B9990A10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67046"/>
          <a:stretch>
            <a:fillRect/>
          </a:stretch>
        </p:blipFill>
        <p:spPr bwMode="auto">
          <a:xfrm>
            <a:off x="1157288" y="3243263"/>
            <a:ext cx="7277100" cy="96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0" name="Rectangle 5">
            <a:extLst>
              <a:ext uri="{FF2B5EF4-FFF2-40B4-BE49-F238E27FC236}">
                <a16:creationId xmlns:a16="http://schemas.microsoft.com/office/drawing/2014/main" id="{12141533-BFF6-88FB-C9BF-3EA685C441AE}"/>
              </a:ext>
            </a:extLst>
          </p:cNvPr>
          <p:cNvSpPr>
            <a:spLocks noChangeArrowheads="1"/>
          </p:cNvSpPr>
          <p:nvPr/>
        </p:nvSpPr>
        <p:spPr bwMode="auto">
          <a:xfrm>
            <a:off x="0" y="31813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8" name="圆角矩形 7">
            <a:extLst>
              <a:ext uri="{FF2B5EF4-FFF2-40B4-BE49-F238E27FC236}">
                <a16:creationId xmlns:a16="http://schemas.microsoft.com/office/drawing/2014/main" id="{86CF2158-C5C4-6DFE-ECA6-8DE1A0CB432C}"/>
              </a:ext>
            </a:extLst>
          </p:cNvPr>
          <p:cNvSpPr>
            <a:spLocks noChangeArrowheads="1"/>
          </p:cNvSpPr>
          <p:nvPr/>
        </p:nvSpPr>
        <p:spPr bwMode="auto">
          <a:xfrm>
            <a:off x="2254250" y="3373438"/>
            <a:ext cx="1833563" cy="771525"/>
          </a:xfrm>
          <a:prstGeom prst="roundRect">
            <a:avLst>
              <a:gd name="adj" fmla="val 16667"/>
            </a:avLst>
          </a:prstGeom>
          <a:noFill/>
          <a:ln w="9525" algn="ctr">
            <a:solidFill>
              <a:srgbClr val="0000CC"/>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9" name="圆角矩形 8">
            <a:extLst>
              <a:ext uri="{FF2B5EF4-FFF2-40B4-BE49-F238E27FC236}">
                <a16:creationId xmlns:a16="http://schemas.microsoft.com/office/drawing/2014/main" id="{F7710309-E38B-81E7-A610-39751F16F48B}"/>
              </a:ext>
            </a:extLst>
          </p:cNvPr>
          <p:cNvSpPr>
            <a:spLocks noChangeArrowheads="1"/>
          </p:cNvSpPr>
          <p:nvPr/>
        </p:nvSpPr>
        <p:spPr bwMode="auto">
          <a:xfrm>
            <a:off x="5472113" y="3286125"/>
            <a:ext cx="2970212" cy="928688"/>
          </a:xfrm>
          <a:prstGeom prst="roundRect">
            <a:avLst>
              <a:gd name="adj" fmla="val 16667"/>
            </a:avLst>
          </a:prstGeom>
          <a:noFill/>
          <a:ln w="9525" algn="ctr">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19" name="Rectangle 4">
            <a:extLst>
              <a:ext uri="{FF2B5EF4-FFF2-40B4-BE49-F238E27FC236}">
                <a16:creationId xmlns:a16="http://schemas.microsoft.com/office/drawing/2014/main" id="{5E25B540-CED6-4682-3A5E-3BC6BD7A0DF8}"/>
              </a:ext>
            </a:extLst>
          </p:cNvPr>
          <p:cNvSpPr>
            <a:spLocks noChangeArrowheads="1"/>
          </p:cNvSpPr>
          <p:nvPr/>
        </p:nvSpPr>
        <p:spPr bwMode="auto">
          <a:xfrm>
            <a:off x="571500" y="2609850"/>
            <a:ext cx="4427538" cy="461963"/>
          </a:xfrm>
          <a:prstGeom prst="rect">
            <a:avLst/>
          </a:prstGeom>
          <a:noFill/>
          <a:ln w="9525" cap="flat" cmpd="sng">
            <a:noFill/>
            <a:prstDash val="solid"/>
            <a:miter lim="800000"/>
            <a:headEnd type="none" w="med" len="med"/>
            <a:tailEnd type="none" w="med" len="med"/>
          </a:ln>
          <a:effectLst>
            <a:outerShdw blurRad="50800" dist="38100" dir="2700000" algn="tl" rotWithShape="0">
              <a:prstClr val="black">
                <a:alpha val="40000"/>
              </a:prstClr>
            </a:outerShdw>
          </a:effectLst>
        </p:spPr>
        <p:txBody>
          <a:bodyPr wrap="none" anchor="ctr">
            <a:spAutoFit/>
          </a:bodyPr>
          <a:lstStyle/>
          <a:p>
            <a:pPr indent="304800" eaLnBrk="0" hangingPunct="0">
              <a:buClr>
                <a:srgbClr val="0000CC"/>
              </a:buClr>
              <a:buSzPct val="71000"/>
              <a:buFont typeface="Wingdings" pitchFamily="2" charset="2"/>
              <a:buChar char="u"/>
              <a:defRPr/>
            </a:pPr>
            <a:r>
              <a:rPr lang="zh-CN" altLang="en-US" sz="2000" dirty="0">
                <a:latin typeface="微软雅黑" pitchFamily="34" charset="-122"/>
                <a:ea typeface="微软雅黑" pitchFamily="34" charset="-122"/>
                <a:cs typeface="Times New Roman" pitchFamily="18" charset="0"/>
              </a:rPr>
              <a:t>则 最佳接收</a:t>
            </a:r>
            <a:r>
              <a:rPr lang="en-US" altLang="zh-CN" sz="2000" dirty="0">
                <a:latin typeface="微软雅黑" pitchFamily="34" charset="-122"/>
                <a:ea typeface="微软雅黑" pitchFamily="34" charset="-122"/>
                <a:cs typeface="Times New Roman" pitchFamily="18" charset="0"/>
              </a:rPr>
              <a:t>2PSK</a:t>
            </a:r>
            <a:r>
              <a:rPr lang="zh-CN" altLang="en-US" sz="2000" dirty="0">
                <a:latin typeface="微软雅黑" pitchFamily="34" charset="-122"/>
                <a:ea typeface="微软雅黑" pitchFamily="34" charset="-122"/>
                <a:cs typeface="Times New Roman" pitchFamily="18" charset="0"/>
              </a:rPr>
              <a:t>信号的误码率为</a:t>
            </a:r>
            <a:r>
              <a:rPr lang="en-US" altLang="zh-CN" sz="2400" i="1" dirty="0">
                <a:solidFill>
                  <a:srgbClr val="0000CC"/>
                </a:solidFill>
                <a:latin typeface="Arial" pitchFamily="34" charset="0"/>
                <a:ea typeface="微软雅黑" pitchFamily="34" charset="-122"/>
                <a:cs typeface="Arial" pitchFamily="34" charset="0"/>
              </a:rPr>
              <a:t> </a:t>
            </a:r>
            <a:endParaRPr lang="zh-CN" altLang="en-US" sz="2400" i="1" dirty="0">
              <a:solidFill>
                <a:srgbClr val="0000CC"/>
              </a:solidFill>
              <a:latin typeface="Arial" pitchFamily="34" charset="0"/>
              <a:ea typeface="微软雅黑" pitchFamily="34" charset="-122"/>
              <a:cs typeface="Arial" pitchFamily="34" charset="0"/>
              <a:sym typeface="Symbol" pitchFamily="18" charset="2"/>
            </a:endParaRPr>
          </a:p>
        </p:txBody>
      </p:sp>
      <p:sp>
        <p:nvSpPr>
          <p:cNvPr id="20" name="Rectangle 4">
            <a:extLst>
              <a:ext uri="{FF2B5EF4-FFF2-40B4-BE49-F238E27FC236}">
                <a16:creationId xmlns:a16="http://schemas.microsoft.com/office/drawing/2014/main" id="{96BAD671-1EAE-851E-6D9B-6BFF13D37E63}"/>
              </a:ext>
            </a:extLst>
          </p:cNvPr>
          <p:cNvSpPr>
            <a:spLocks noChangeArrowheads="1"/>
          </p:cNvSpPr>
          <p:nvPr/>
        </p:nvSpPr>
        <p:spPr bwMode="auto">
          <a:xfrm>
            <a:off x="500063" y="4643438"/>
            <a:ext cx="2217737" cy="461962"/>
          </a:xfrm>
          <a:prstGeom prst="rect">
            <a:avLst/>
          </a:prstGeom>
          <a:noFill/>
          <a:ln w="9525" cap="flat" cmpd="sng">
            <a:noFill/>
            <a:prstDash val="solid"/>
            <a:miter lim="800000"/>
            <a:headEnd type="none" w="med" len="med"/>
            <a:tailEnd type="none" w="med" len="med"/>
          </a:ln>
          <a:effectLst>
            <a:outerShdw blurRad="50800" dist="38100" dir="2700000" algn="tl" rotWithShape="0">
              <a:prstClr val="black">
                <a:alpha val="40000"/>
              </a:prstClr>
            </a:outerShdw>
          </a:effectLst>
        </p:spPr>
        <p:txBody>
          <a:bodyPr wrap="none" anchor="ctr">
            <a:spAutoFit/>
          </a:bodyPr>
          <a:lstStyle/>
          <a:p>
            <a:pPr indent="304800" eaLnBrk="0" hangingPunct="0">
              <a:buClr>
                <a:schemeClr val="bg1">
                  <a:lumMod val="50000"/>
                </a:schemeClr>
              </a:buClr>
              <a:buSzPct val="65000"/>
              <a:defRPr/>
            </a:pPr>
            <a:r>
              <a:rPr lang="zh-CN" altLang="en-US" sz="2000" dirty="0">
                <a:latin typeface="Arial" pitchFamily="34" charset="0"/>
                <a:ea typeface="微软雅黑" pitchFamily="34" charset="-122"/>
                <a:cs typeface="Arial" pitchFamily="34" charset="0"/>
              </a:rPr>
              <a:t>当 </a:t>
            </a:r>
            <a:r>
              <a:rPr lang="en-US" altLang="zh-CN" sz="2400" i="1" dirty="0">
                <a:solidFill>
                  <a:srgbClr val="0000CC"/>
                </a:solidFill>
                <a:latin typeface="Arial" pitchFamily="34" charset="0"/>
                <a:ea typeface="微软雅黑" pitchFamily="34" charset="-122"/>
                <a:cs typeface="Arial" pitchFamily="34" charset="0"/>
              </a:rPr>
              <a:t>P = 1/2  </a:t>
            </a:r>
            <a:r>
              <a:rPr lang="zh-CN" altLang="en-US" sz="2000" dirty="0">
                <a:latin typeface="Arial" pitchFamily="34" charset="0"/>
                <a:ea typeface="微软雅黑" pitchFamily="34" charset="-122"/>
                <a:cs typeface="Arial" pitchFamily="34" charset="0"/>
              </a:rPr>
              <a:t>时</a:t>
            </a:r>
            <a:endParaRPr lang="zh-CN" altLang="en-US" sz="2000" dirty="0">
              <a:latin typeface="Arial" pitchFamily="34" charset="0"/>
              <a:ea typeface="微软雅黑" pitchFamily="34" charset="-122"/>
              <a:cs typeface="Arial" pitchFamily="34" charset="0"/>
              <a:sym typeface="Symbol" pitchFamily="18" charset="2"/>
            </a:endParaRPr>
          </a:p>
        </p:txBody>
      </p:sp>
      <p:pic>
        <p:nvPicPr>
          <p:cNvPr id="22542" name="Picture 14">
            <a:extLst>
              <a:ext uri="{FF2B5EF4-FFF2-40B4-BE49-F238E27FC236}">
                <a16:creationId xmlns:a16="http://schemas.microsoft.com/office/drawing/2014/main" id="{5A2D97A2-B111-FE9B-DFCB-B16677F74F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638" y="1042988"/>
            <a:ext cx="8215312"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3" name="Picture 15">
            <a:extLst>
              <a:ext uri="{FF2B5EF4-FFF2-40B4-BE49-F238E27FC236}">
                <a16:creationId xmlns:a16="http://schemas.microsoft.com/office/drawing/2014/main" id="{4D567C0E-5779-CBB9-1461-D76B2BBF2B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7500" y="1619250"/>
            <a:ext cx="5286375"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2542"/>
                                        </p:tgtEl>
                                        <p:attrNameLst>
                                          <p:attrName>style.visibility</p:attrName>
                                        </p:attrNameLst>
                                      </p:cBhvr>
                                      <p:to>
                                        <p:strVal val="visible"/>
                                      </p:to>
                                    </p:set>
                                    <p:animEffect transition="in" filter="wipe(up)">
                                      <p:cBhvr>
                                        <p:cTn id="7" dur="1000"/>
                                        <p:tgtEl>
                                          <p:spTgt spid="22542"/>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22543"/>
                                        </p:tgtEl>
                                        <p:attrNameLst>
                                          <p:attrName>style.visibility</p:attrName>
                                        </p:attrNameLst>
                                      </p:cBhvr>
                                      <p:to>
                                        <p:strVal val="visible"/>
                                      </p:to>
                                    </p:set>
                                    <p:animEffect transition="in" filter="wipe(up)">
                                      <p:cBhvr>
                                        <p:cTn id="11" dur="2000"/>
                                        <p:tgtEl>
                                          <p:spTgt spid="2254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up)">
                                      <p:cBhvr>
                                        <p:cTn id="16" dur="1000"/>
                                        <p:tgtEl>
                                          <p:spTgt spid="19"/>
                                        </p:tgtEl>
                                      </p:cBhvr>
                                    </p:animEffect>
                                  </p:childTnLst>
                                </p:cTn>
                              </p:par>
                            </p:childTnLst>
                          </p:cTn>
                        </p:par>
                        <p:par>
                          <p:cTn id="17" fill="hold" nodeType="afterGroup">
                            <p:stCondLst>
                              <p:cond delay="1000"/>
                            </p:stCondLst>
                            <p:childTnLst>
                              <p:par>
                                <p:cTn id="18" presetID="22" presetClass="entr" presetSubtype="1"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up)">
                                      <p:cBhvr>
                                        <p:cTn id="20" dur="1000"/>
                                        <p:tgtEl>
                                          <p:spTgt spid="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1000"/>
                                        <p:tgtEl>
                                          <p:spTgt spid="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1000"/>
                                        <p:tgtEl>
                                          <p:spTgt spid="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wipe(up)">
                                      <p:cBhvr>
                                        <p:cTn id="35" dur="1000"/>
                                        <p:tgtEl>
                                          <p:spTgt spid="20"/>
                                        </p:tgtEl>
                                      </p:cBhvr>
                                    </p:animEffect>
                                  </p:childTnLst>
                                </p:cTn>
                              </p:par>
                            </p:childTnLst>
                          </p:cTn>
                        </p:par>
                        <p:par>
                          <p:cTn id="36" fill="hold" nodeType="afterGroup">
                            <p:stCondLst>
                              <p:cond delay="2000"/>
                            </p:stCondLst>
                            <p:childTnLst>
                              <p:par>
                                <p:cTn id="37" presetID="22" presetClass="entr" presetSubtype="1" fill="hold" nodeType="after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up)">
                                      <p:cBhvr>
                                        <p:cTn id="39"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9" grpId="0"/>
      <p:bldP spid="2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3" name="Picture 1">
            <a:extLst>
              <a:ext uri="{FF2B5EF4-FFF2-40B4-BE49-F238E27FC236}">
                <a16:creationId xmlns:a16="http://schemas.microsoft.com/office/drawing/2014/main" id="{EBF4BDB5-E886-150C-3F12-A1141CCD21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071688"/>
            <a:ext cx="7572375" cy="239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4F2BD2F8-89D0-D50B-12C9-CD8A394BDED1}"/>
              </a:ext>
            </a:extLst>
          </p:cNvPr>
          <p:cNvSpPr/>
          <p:nvPr/>
        </p:nvSpPr>
        <p:spPr>
          <a:xfrm>
            <a:off x="1357313" y="2782888"/>
            <a:ext cx="7215187" cy="579437"/>
          </a:xfrm>
          <a:prstGeom prst="rect">
            <a:avLst/>
          </a:prstGeom>
        </p:spPr>
        <p:txBody>
          <a:bodyPr>
            <a:spAutoFit/>
          </a:bodyPr>
          <a:lstStyle/>
          <a:p>
            <a:pPr>
              <a:lnSpc>
                <a:spcPts val="3800"/>
              </a:lnSpc>
              <a:defRPr/>
            </a:pPr>
            <a:r>
              <a:rPr lang="zh-CN" altLang="en-US" sz="2000" kern="0" dirty="0">
                <a:solidFill>
                  <a:srgbClr val="000000"/>
                </a:solidFill>
                <a:latin typeface="微软雅黑" pitchFamily="34" charset="-122"/>
                <a:ea typeface="微软雅黑" pitchFamily="34" charset="-122"/>
              </a:rPr>
              <a:t>答</a:t>
            </a:r>
            <a:r>
              <a:rPr lang="zh-CN" altLang="en-US" sz="2000" kern="0" dirty="0">
                <a:solidFill>
                  <a:srgbClr val="000000"/>
                </a:solidFill>
                <a:latin typeface="+mn-ea"/>
                <a:ea typeface="+mn-ea"/>
              </a:rPr>
              <a:t>：</a:t>
            </a:r>
            <a:r>
              <a:rPr lang="zh-CN" altLang="en-US" sz="2000" kern="0" dirty="0">
                <a:solidFill>
                  <a:srgbClr val="000000"/>
                </a:solidFill>
                <a:latin typeface="微软雅黑" pitchFamily="34" charset="-122"/>
                <a:ea typeface="微软雅黑" pitchFamily="34" charset="-122"/>
              </a:rPr>
              <a:t>码元同步是正确取样判决的基础，只有数字通信才需要。</a:t>
            </a:r>
            <a:endParaRPr lang="zh-CN" altLang="en-US" sz="2000" dirty="0">
              <a:ea typeface="宋体" charset="-122"/>
            </a:endParaRPr>
          </a:p>
        </p:txBody>
      </p:sp>
      <p:sp>
        <p:nvSpPr>
          <p:cNvPr id="8" name="内容占位符 2">
            <a:extLst>
              <a:ext uri="{FF2B5EF4-FFF2-40B4-BE49-F238E27FC236}">
                <a16:creationId xmlns:a16="http://schemas.microsoft.com/office/drawing/2014/main" id="{5D0F0248-E471-AF66-82AF-4A4BDEE9C0AD}"/>
              </a:ext>
            </a:extLst>
          </p:cNvPr>
          <p:cNvSpPr txBox="1">
            <a:spLocks/>
          </p:cNvSpPr>
          <p:nvPr/>
        </p:nvSpPr>
        <p:spPr bwMode="auto">
          <a:xfrm>
            <a:off x="1371600" y="4500563"/>
            <a:ext cx="6629400" cy="571500"/>
          </a:xfrm>
          <a:prstGeom prst="rect">
            <a:avLst/>
          </a:prstGeom>
          <a:noFill/>
          <a:ln w="9525">
            <a:noFill/>
            <a:miter lim="800000"/>
            <a:headEnd/>
            <a:tailEnd/>
          </a:ln>
        </p:spPr>
        <p:txBody>
          <a:bodyPr/>
          <a:lstStyle/>
          <a:p>
            <a:pPr marL="342900" indent="-342900" eaLnBrk="0" hangingPunct="0">
              <a:lnSpc>
                <a:spcPts val="3800"/>
              </a:lnSpc>
              <a:spcBef>
                <a:spcPct val="20000"/>
              </a:spcBef>
              <a:buClr>
                <a:schemeClr val="folHlink"/>
              </a:buClr>
              <a:buSzPct val="60000"/>
              <a:defRPr/>
            </a:pPr>
            <a:r>
              <a:rPr lang="zh-CN" altLang="en-US" sz="2000" kern="0" dirty="0">
                <a:solidFill>
                  <a:srgbClr val="000000"/>
                </a:solidFill>
                <a:latin typeface="微软雅黑" pitchFamily="34" charset="-122"/>
                <a:ea typeface="微软雅黑" pitchFamily="34" charset="-122"/>
              </a:rPr>
              <a:t>答</a:t>
            </a:r>
            <a:r>
              <a:rPr lang="zh-CN" altLang="en-US" sz="2000" kern="0" dirty="0">
                <a:solidFill>
                  <a:srgbClr val="000000"/>
                </a:solidFill>
                <a:latin typeface="+mn-ea"/>
                <a:ea typeface="+mn-ea"/>
              </a:rPr>
              <a:t>：</a:t>
            </a:r>
            <a:r>
              <a:rPr lang="zh-CN" altLang="en-US" sz="2000" kern="0" dirty="0">
                <a:solidFill>
                  <a:srgbClr val="000000"/>
                </a:solidFill>
                <a:latin typeface="微软雅黑" pitchFamily="34" charset="-122"/>
                <a:ea typeface="微软雅黑" pitchFamily="34" charset="-122"/>
              </a:rPr>
              <a:t>通常不能。因为。。。</a:t>
            </a:r>
            <a:endParaRPr lang="zh-CN" altLang="en-US" sz="2000" kern="0" dirty="0">
              <a:latin typeface="微软雅黑" pitchFamily="34" charset="-122"/>
              <a:ea typeface="微软雅黑" pitchFamily="34" charset="-122"/>
            </a:endParaRPr>
          </a:p>
        </p:txBody>
      </p:sp>
      <p:grpSp>
        <p:nvGrpSpPr>
          <p:cNvPr id="2" name="组合 57">
            <a:extLst>
              <a:ext uri="{FF2B5EF4-FFF2-40B4-BE49-F238E27FC236}">
                <a16:creationId xmlns:a16="http://schemas.microsoft.com/office/drawing/2014/main" id="{09C44D7E-6417-A043-D7E6-00C9BBCA89FF}"/>
              </a:ext>
            </a:extLst>
          </p:cNvPr>
          <p:cNvGrpSpPr>
            <a:grpSpLocks/>
          </p:cNvGrpSpPr>
          <p:nvPr/>
        </p:nvGrpSpPr>
        <p:grpSpPr bwMode="auto">
          <a:xfrm>
            <a:off x="714375" y="1285875"/>
            <a:ext cx="1143000" cy="642938"/>
            <a:chOff x="2586250" y="3171144"/>
            <a:chExt cx="1142471" cy="642931"/>
          </a:xfrm>
        </p:grpSpPr>
        <p:sp>
          <p:nvSpPr>
            <p:cNvPr id="4" name="椭圆 3">
              <a:extLst>
                <a:ext uri="{FF2B5EF4-FFF2-40B4-BE49-F238E27FC236}">
                  <a16:creationId xmlns:a16="http://schemas.microsoft.com/office/drawing/2014/main" id="{D21046BD-DE2B-35FE-CB55-3217397056D7}"/>
                </a:ext>
              </a:extLst>
            </p:cNvPr>
            <p:cNvSpPr/>
            <p:nvPr/>
          </p:nvSpPr>
          <p:spPr bwMode="auto">
            <a:xfrm>
              <a:off x="2586250" y="3171144"/>
              <a:ext cx="1142471" cy="642931"/>
            </a:xfrm>
            <a:prstGeom prst="ellipse">
              <a:avLst/>
            </a:prstGeom>
            <a:solidFill>
              <a:schemeClr val="bg2">
                <a:lumMod val="10000"/>
                <a:lumOff val="90000"/>
              </a:schemeClr>
            </a:solidFill>
            <a:ln w="9525" cap="flat" cmpd="sng" algn="ctr">
              <a:solidFill>
                <a:schemeClr val="tx2">
                  <a:lumMod val="60000"/>
                  <a:lumOff val="40000"/>
                </a:schemeClr>
              </a:solidFill>
              <a:prstDash val="solid"/>
              <a:miter lim="800000"/>
              <a:headEnd type="none" w="med" len="med"/>
              <a:tailEnd type="none" w="med" len="med"/>
            </a:ln>
            <a:effectLst>
              <a:outerShdw blurRad="50800" dist="38100" dir="18900000" algn="bl" rotWithShape="0">
                <a:prstClr val="black">
                  <a:alpha val="40000"/>
                </a:prstClr>
              </a:outerShdw>
            </a:effectLst>
          </p:spPr>
          <p:txBody>
            <a:bodyPr wrap="none"/>
            <a:lstStyle/>
            <a:p>
              <a:pPr>
                <a:defRPr/>
              </a:pPr>
              <a:endParaRPr lang="zh-CN" altLang="en-US" dirty="0">
                <a:ea typeface="宋体" charset="-122"/>
              </a:endParaRPr>
            </a:p>
          </p:txBody>
        </p:sp>
        <p:sp>
          <p:nvSpPr>
            <p:cNvPr id="68616" name="矩形 15">
              <a:extLst>
                <a:ext uri="{FF2B5EF4-FFF2-40B4-BE49-F238E27FC236}">
                  <a16:creationId xmlns:a16="http://schemas.microsoft.com/office/drawing/2014/main" id="{2D5F3B06-41CF-5CDF-FF2E-6E5C5EDB7C96}"/>
                </a:ext>
              </a:extLst>
            </p:cNvPr>
            <p:cNvSpPr>
              <a:spLocks noChangeArrowheads="1"/>
            </p:cNvSpPr>
            <p:nvPr/>
          </p:nvSpPr>
          <p:spPr bwMode="auto">
            <a:xfrm>
              <a:off x="2686217" y="3228293"/>
              <a:ext cx="901283" cy="522282"/>
            </a:xfrm>
            <a:prstGeom prst="rect">
              <a:avLst/>
            </a:prstGeom>
            <a:noFill/>
            <a:ln w="9525">
              <a:noFill/>
              <a:miter lim="800000"/>
              <a:headEnd/>
              <a:tailEnd/>
            </a:ln>
          </p:spPr>
          <p:txBody>
            <a:bodyPr wrap="none">
              <a:spAutoFit/>
            </a:bodyPr>
            <a:lstStyle/>
            <a:p>
              <a:pPr>
                <a:defRPr/>
              </a:pPr>
              <a:r>
                <a:rPr lang="zh-CN" altLang="en-US" sz="2800" dirty="0">
                  <a:solidFill>
                    <a:srgbClr val="990099"/>
                  </a:solidFill>
                  <a:effectLst>
                    <a:outerShdw blurRad="38100" dist="38100" dir="2700000" algn="tl">
                      <a:srgbClr val="000000">
                        <a:alpha val="43137"/>
                      </a:srgbClr>
                    </a:outerShdw>
                  </a:effectLst>
                  <a:latin typeface="黑体" pitchFamily="2" charset="-122"/>
                  <a:ea typeface="黑体" pitchFamily="2" charset="-122"/>
                  <a:cs typeface="Arial" charset="0"/>
                </a:rPr>
                <a:t>思考</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childTnLst>
                          </p:cTn>
                        </p:par>
                        <p:par>
                          <p:cTn id="8" fill="hold" nodeType="afterGroup">
                            <p:stCondLst>
                              <p:cond delay="2000"/>
                            </p:stCondLst>
                            <p:childTnLst>
                              <p:par>
                                <p:cTn id="9" presetID="22" presetClass="entr" presetSubtype="1" fill="hold" nodeType="afterEffect">
                                  <p:stCondLst>
                                    <p:cond delay="0"/>
                                  </p:stCondLst>
                                  <p:childTnLst>
                                    <p:set>
                                      <p:cBhvr>
                                        <p:cTn id="10" dur="1" fill="hold">
                                          <p:stCondLst>
                                            <p:cond delay="0"/>
                                          </p:stCondLst>
                                        </p:cTn>
                                        <p:tgtEl>
                                          <p:spTgt spid="64513"/>
                                        </p:tgtEl>
                                        <p:attrNameLst>
                                          <p:attrName>style.visibility</p:attrName>
                                        </p:attrNameLst>
                                      </p:cBhvr>
                                      <p:to>
                                        <p:strVal val="visible"/>
                                      </p:to>
                                    </p:set>
                                    <p:animEffect transition="in" filter="wipe(up)">
                                      <p:cBhvr>
                                        <p:cTn id="11" dur="2000"/>
                                        <p:tgtEl>
                                          <p:spTgt spid="6451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1000"/>
                                        <p:tgtEl>
                                          <p:spTgt spid="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up)">
                                      <p:cBhvr>
                                        <p:cTn id="21"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6">
            <a:extLst>
              <a:ext uri="{FF2B5EF4-FFF2-40B4-BE49-F238E27FC236}">
                <a16:creationId xmlns:a16="http://schemas.microsoft.com/office/drawing/2014/main" id="{6B5EE753-5133-5DC7-4651-1FB248131F68}"/>
              </a:ext>
            </a:extLst>
          </p:cNvPr>
          <p:cNvSpPr txBox="1">
            <a:spLocks noChangeArrowheads="1"/>
          </p:cNvSpPr>
          <p:nvPr/>
        </p:nvSpPr>
        <p:spPr bwMode="gray">
          <a:xfrm>
            <a:off x="2786063" y="3155950"/>
            <a:ext cx="5000625" cy="630238"/>
          </a:xfrm>
          <a:prstGeom prst="rect">
            <a:avLst/>
          </a:prstGeom>
          <a:noFill/>
          <a:ln w="9525">
            <a:noFill/>
            <a:miter lim="800000"/>
            <a:headEnd/>
            <a:tailEnd/>
          </a:ln>
          <a:effectLst>
            <a:outerShdw blurRad="50800" dist="38100" dir="2700000" algn="tl" rotWithShape="0">
              <a:prstClr val="black">
                <a:alpha val="40000"/>
              </a:prstClr>
            </a:outerShdw>
          </a:effectLst>
        </p:spPr>
        <p:txBody>
          <a:bodyPr>
            <a:spAutoFit/>
          </a:bodyPr>
          <a:lstStyle/>
          <a:p>
            <a:pPr>
              <a:lnSpc>
                <a:spcPts val="4200"/>
              </a:lnSpc>
              <a:buClr>
                <a:srgbClr val="969696"/>
              </a:buClr>
              <a:buSzPct val="65000"/>
              <a:defRPr/>
            </a:pPr>
            <a:r>
              <a:rPr lang="zh-CN" altLang="en-US" sz="4400" b="1" dirty="0">
                <a:solidFill>
                  <a:srgbClr val="003399"/>
                </a:solidFill>
                <a:ea typeface="微软雅黑" pitchFamily="34" charset="-122"/>
              </a:rPr>
              <a:t>   </a:t>
            </a:r>
            <a:r>
              <a:rPr lang="zh-CN" altLang="en-US" sz="4400" b="1" dirty="0">
                <a:solidFill>
                  <a:srgbClr val="003399"/>
                </a:solidFill>
                <a:latin typeface="微软雅黑" pitchFamily="34" charset="-122"/>
                <a:ea typeface="微软雅黑" pitchFamily="34" charset="-122"/>
              </a:rPr>
              <a:t>群同步</a:t>
            </a:r>
            <a:endParaRPr lang="en-US" altLang="zh-CN" sz="4400" b="1" dirty="0">
              <a:solidFill>
                <a:srgbClr val="990099"/>
              </a:solidFill>
              <a:ea typeface="微软雅黑" pitchFamily="34" charset="-122"/>
            </a:endParaRPr>
          </a:p>
        </p:txBody>
      </p:sp>
      <p:sp>
        <p:nvSpPr>
          <p:cNvPr id="45059" name="矩形 4">
            <a:extLst>
              <a:ext uri="{FF2B5EF4-FFF2-40B4-BE49-F238E27FC236}">
                <a16:creationId xmlns:a16="http://schemas.microsoft.com/office/drawing/2014/main" id="{A38D7A7C-E879-1513-6B47-2AB09BE35020}"/>
              </a:ext>
            </a:extLst>
          </p:cNvPr>
          <p:cNvSpPr>
            <a:spLocks noChangeArrowheads="1"/>
          </p:cNvSpPr>
          <p:nvPr/>
        </p:nvSpPr>
        <p:spPr bwMode="auto">
          <a:xfrm>
            <a:off x="714375" y="2071688"/>
            <a:ext cx="1735138" cy="708025"/>
          </a:xfrm>
          <a:prstGeom prst="rect">
            <a:avLst/>
          </a:prstGeom>
          <a:noFill/>
          <a:ln w="9525">
            <a:noFill/>
            <a:miter lim="800000"/>
            <a:headEnd/>
            <a:tailEnd/>
          </a:ln>
          <a:effectLst>
            <a:outerShdw blurRad="50800" dist="38100" dir="2700000" algn="tl" rotWithShape="0">
              <a:prstClr val="black">
                <a:alpha val="40000"/>
              </a:prstClr>
            </a:outerShdw>
          </a:effectLst>
        </p:spPr>
        <p:txBody>
          <a:bodyPr wrap="none">
            <a:spAutoFit/>
          </a:bodyPr>
          <a:lstStyle/>
          <a:p>
            <a:pPr>
              <a:defRPr/>
            </a:pPr>
            <a:r>
              <a:rPr lang="en-US" altLang="en-US" sz="4000" b="1" u="sng" dirty="0">
                <a:solidFill>
                  <a:srgbClr val="800080"/>
                </a:solidFill>
                <a:latin typeface="Arial" pitchFamily="34" charset="0"/>
                <a:ea typeface="微软雅黑" pitchFamily="34" charset="-122"/>
                <a:cs typeface="Arial" pitchFamily="34" charset="0"/>
              </a:rPr>
              <a:t>§ 13</a:t>
            </a:r>
            <a:r>
              <a:rPr lang="en-US" altLang="zh-CN" sz="4000" b="1" u="sng" dirty="0">
                <a:solidFill>
                  <a:srgbClr val="800080"/>
                </a:solidFill>
                <a:latin typeface="Arial" pitchFamily="34" charset="0"/>
                <a:ea typeface="微软雅黑" pitchFamily="34" charset="-122"/>
                <a:cs typeface="Arial" pitchFamily="34" charset="0"/>
              </a:rPr>
              <a:t>.4 </a:t>
            </a:r>
            <a:endParaRPr lang="zh-CN" altLang="en-US" sz="4000" b="1" u="sng" dirty="0">
              <a:solidFill>
                <a:srgbClr val="800080"/>
              </a:solidFill>
              <a:latin typeface="Arial" pitchFamily="34" charset="0"/>
              <a:ea typeface="微软雅黑" pitchFamily="34" charset="-122"/>
              <a:cs typeface="Arial" pitchFamily="34" charset="0"/>
            </a:endParaRPr>
          </a:p>
        </p:txBody>
      </p:sp>
      <p:pic>
        <p:nvPicPr>
          <p:cNvPr id="57349" name="Picture 5">
            <a:extLst>
              <a:ext uri="{FF2B5EF4-FFF2-40B4-BE49-F238E27FC236}">
                <a16:creationId xmlns:a16="http://schemas.microsoft.com/office/drawing/2014/main" id="{CC051AC4-81F1-B9AC-6FCD-DA10532C0F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8738" y="4476750"/>
            <a:ext cx="7143750" cy="102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3"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upRight)">
                                      <p:cBhvr>
                                        <p:cTn id="7" dur="2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57349"/>
                                        </p:tgtEl>
                                        <p:attrNameLst>
                                          <p:attrName>style.visibility</p:attrName>
                                        </p:attrNameLst>
                                      </p:cBhvr>
                                      <p:to>
                                        <p:strVal val="visible"/>
                                      </p:to>
                                    </p:set>
                                    <p:animEffect transition="in" filter="wipe(up)">
                                      <p:cBhvr>
                                        <p:cTn id="12" dur="2000"/>
                                        <p:tgtEl>
                                          <p:spTgt spid="573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4">
            <a:extLst>
              <a:ext uri="{FF2B5EF4-FFF2-40B4-BE49-F238E27FC236}">
                <a16:creationId xmlns:a16="http://schemas.microsoft.com/office/drawing/2014/main" id="{D00A9BC3-A099-CF33-ED22-FB2DCE413EC7}"/>
              </a:ext>
            </a:extLst>
          </p:cNvPr>
          <p:cNvSpPr>
            <a:spLocks noChangeArrowheads="1"/>
          </p:cNvSpPr>
          <p:nvPr/>
        </p:nvSpPr>
        <p:spPr bwMode="auto">
          <a:xfrm>
            <a:off x="142875" y="415925"/>
            <a:ext cx="2492375" cy="584200"/>
          </a:xfrm>
          <a:prstGeom prst="rect">
            <a:avLst/>
          </a:prstGeom>
          <a:noFill/>
          <a:ln w="9525">
            <a:noFill/>
            <a:miter lim="800000"/>
            <a:headEnd/>
            <a:tailEnd/>
          </a:ln>
          <a:effectLst/>
        </p:spPr>
        <p:txBody>
          <a:bodyPr wrap="none">
            <a:spAutoFit/>
          </a:bodyPr>
          <a:lstStyle/>
          <a:p>
            <a:pPr>
              <a:defRPr/>
            </a:pPr>
            <a:r>
              <a:rPr lang="en-US" altLang="en-US" sz="3200" b="1" dirty="0">
                <a:solidFill>
                  <a:srgbClr val="800080"/>
                </a:solidFill>
                <a:latin typeface="Arial" pitchFamily="34" charset="0"/>
                <a:ea typeface="微软雅黑" pitchFamily="34" charset="-122"/>
                <a:cs typeface="Arial" pitchFamily="34" charset="0"/>
              </a:rPr>
              <a:t>13</a:t>
            </a:r>
            <a:r>
              <a:rPr lang="en-US" altLang="zh-CN" sz="3200" b="1" dirty="0">
                <a:solidFill>
                  <a:srgbClr val="800080"/>
                </a:solidFill>
                <a:latin typeface="Arial" pitchFamily="34" charset="0"/>
                <a:ea typeface="微软雅黑" pitchFamily="34" charset="-122"/>
                <a:cs typeface="Arial" pitchFamily="34" charset="0"/>
              </a:rPr>
              <a:t>.4.1  </a:t>
            </a:r>
            <a:r>
              <a:rPr lang="zh-CN" altLang="en-US" sz="3200" b="1" kern="0" dirty="0">
                <a:solidFill>
                  <a:srgbClr val="003399"/>
                </a:solidFill>
                <a:latin typeface="微软雅黑" pitchFamily="34" charset="-122"/>
                <a:ea typeface="微软雅黑" pitchFamily="34" charset="-122"/>
              </a:rPr>
              <a:t>概 述</a:t>
            </a:r>
            <a:endParaRPr lang="zh-CN" altLang="en-US" sz="3200" b="1" dirty="0">
              <a:solidFill>
                <a:srgbClr val="003399"/>
              </a:solidFill>
              <a:latin typeface="Arial" pitchFamily="34" charset="0"/>
              <a:ea typeface="微软雅黑" pitchFamily="34" charset="-122"/>
              <a:cs typeface="Arial" pitchFamily="34" charset="0"/>
            </a:endParaRPr>
          </a:p>
        </p:txBody>
      </p:sp>
      <p:sp>
        <p:nvSpPr>
          <p:cNvPr id="22" name="矩形 21">
            <a:extLst>
              <a:ext uri="{FF2B5EF4-FFF2-40B4-BE49-F238E27FC236}">
                <a16:creationId xmlns:a16="http://schemas.microsoft.com/office/drawing/2014/main" id="{267C47A3-6D82-7E7D-972A-8DBC9EB18EEC}"/>
              </a:ext>
            </a:extLst>
          </p:cNvPr>
          <p:cNvSpPr/>
          <p:nvPr/>
        </p:nvSpPr>
        <p:spPr>
          <a:xfrm>
            <a:off x="714375" y="1316038"/>
            <a:ext cx="2643188" cy="488950"/>
          </a:xfrm>
          <a:prstGeom prst="rect">
            <a:avLst/>
          </a:prstGeom>
        </p:spPr>
        <p:txBody>
          <a:bodyPr>
            <a:spAutoFit/>
          </a:bodyPr>
          <a:lstStyle/>
          <a:p>
            <a:pPr marL="285750" indent="-285750" eaLnBrk="0" hangingPunct="0">
              <a:lnSpc>
                <a:spcPts val="3500"/>
              </a:lnSpc>
              <a:spcBef>
                <a:spcPct val="20000"/>
              </a:spcBef>
              <a:buClr>
                <a:srgbClr val="FF0000"/>
              </a:buClr>
              <a:buSzPct val="80000"/>
              <a:buFont typeface="Wingdings" pitchFamily="2" charset="2"/>
              <a:buChar char="n"/>
              <a:defRPr/>
            </a:pPr>
            <a:r>
              <a:rPr lang="zh-CN" altLang="en-US" sz="2800" b="1" kern="0" dirty="0">
                <a:solidFill>
                  <a:srgbClr val="000000"/>
                </a:solidFill>
                <a:latin typeface="黑体" pitchFamily="2" charset="-122"/>
                <a:ea typeface="黑体" pitchFamily="2" charset="-122"/>
              </a:rPr>
              <a:t>同步种类</a:t>
            </a:r>
            <a:endParaRPr lang="zh-CN" altLang="en-US" sz="2800" b="1" kern="0" dirty="0">
              <a:solidFill>
                <a:srgbClr val="000099"/>
              </a:solidFill>
              <a:latin typeface="黑体" pitchFamily="2" charset="-122"/>
              <a:ea typeface="黑体" pitchFamily="2" charset="-122"/>
            </a:endParaRPr>
          </a:p>
        </p:txBody>
      </p:sp>
      <p:sp>
        <p:nvSpPr>
          <p:cNvPr id="41" name="矩形 40">
            <a:extLst>
              <a:ext uri="{FF2B5EF4-FFF2-40B4-BE49-F238E27FC236}">
                <a16:creationId xmlns:a16="http://schemas.microsoft.com/office/drawing/2014/main" id="{B0DECBA0-366C-20FC-4CF1-2E00C7858F5A}"/>
              </a:ext>
            </a:extLst>
          </p:cNvPr>
          <p:cNvSpPr/>
          <p:nvPr/>
        </p:nvSpPr>
        <p:spPr>
          <a:xfrm>
            <a:off x="785813" y="4286250"/>
            <a:ext cx="2643187" cy="488950"/>
          </a:xfrm>
          <a:prstGeom prst="rect">
            <a:avLst/>
          </a:prstGeom>
        </p:spPr>
        <p:txBody>
          <a:bodyPr>
            <a:spAutoFit/>
          </a:bodyPr>
          <a:lstStyle/>
          <a:p>
            <a:pPr marL="285750" indent="-285750" eaLnBrk="0" hangingPunct="0">
              <a:lnSpc>
                <a:spcPts val="3500"/>
              </a:lnSpc>
              <a:spcBef>
                <a:spcPct val="20000"/>
              </a:spcBef>
              <a:buClr>
                <a:srgbClr val="FF0000"/>
              </a:buClr>
              <a:buSzPct val="80000"/>
              <a:buFont typeface="Wingdings" pitchFamily="2" charset="2"/>
              <a:buChar char="n"/>
              <a:defRPr/>
            </a:pPr>
            <a:r>
              <a:rPr lang="zh-CN" altLang="en-US" sz="2800" b="1" kern="0" dirty="0">
                <a:solidFill>
                  <a:srgbClr val="000000"/>
                </a:solidFill>
                <a:latin typeface="黑体" pitchFamily="2" charset="-122"/>
                <a:ea typeface="黑体" pitchFamily="2" charset="-122"/>
              </a:rPr>
              <a:t>同步状态</a:t>
            </a:r>
            <a:endParaRPr lang="zh-CN" altLang="en-US" sz="2800" b="1" kern="0" dirty="0">
              <a:solidFill>
                <a:srgbClr val="000099"/>
              </a:solidFill>
              <a:latin typeface="黑体" pitchFamily="2" charset="-122"/>
              <a:ea typeface="黑体" pitchFamily="2" charset="-122"/>
            </a:endParaRPr>
          </a:p>
        </p:txBody>
      </p:sp>
      <p:grpSp>
        <p:nvGrpSpPr>
          <p:cNvPr id="2" name="组合 24">
            <a:extLst>
              <a:ext uri="{FF2B5EF4-FFF2-40B4-BE49-F238E27FC236}">
                <a16:creationId xmlns:a16="http://schemas.microsoft.com/office/drawing/2014/main" id="{5EE94138-8C76-C8D9-1D42-05CF1C74FD87}"/>
              </a:ext>
            </a:extLst>
          </p:cNvPr>
          <p:cNvGrpSpPr>
            <a:grpSpLocks/>
          </p:cNvGrpSpPr>
          <p:nvPr/>
        </p:nvGrpSpPr>
        <p:grpSpPr bwMode="auto">
          <a:xfrm>
            <a:off x="3214688" y="4857750"/>
            <a:ext cx="2947987" cy="1157288"/>
            <a:chOff x="3052763" y="4857750"/>
            <a:chExt cx="2947987" cy="1157288"/>
          </a:xfrm>
        </p:grpSpPr>
        <p:sp>
          <p:nvSpPr>
            <p:cNvPr id="58376" name="左大括号 18">
              <a:extLst>
                <a:ext uri="{FF2B5EF4-FFF2-40B4-BE49-F238E27FC236}">
                  <a16:creationId xmlns:a16="http://schemas.microsoft.com/office/drawing/2014/main" id="{C92464EC-EAB7-883C-5CA4-FD720FD044EE}"/>
                </a:ext>
              </a:extLst>
            </p:cNvPr>
            <p:cNvSpPr>
              <a:spLocks/>
            </p:cNvSpPr>
            <p:nvPr/>
          </p:nvSpPr>
          <p:spPr bwMode="auto">
            <a:xfrm>
              <a:off x="3052763" y="5048250"/>
              <a:ext cx="71437" cy="714375"/>
            </a:xfrm>
            <a:prstGeom prst="leftBrace">
              <a:avLst>
                <a:gd name="adj1" fmla="val 8333"/>
                <a:gd name="adj2" fmla="val 50000"/>
              </a:avLst>
            </a:prstGeom>
            <a:noFill/>
            <a:ln w="9525" algn="ctr">
              <a:solidFill>
                <a:srgbClr val="990099"/>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58377" name="矩形 10">
              <a:extLst>
                <a:ext uri="{FF2B5EF4-FFF2-40B4-BE49-F238E27FC236}">
                  <a16:creationId xmlns:a16="http://schemas.microsoft.com/office/drawing/2014/main" id="{461C15D8-3D6B-19BE-9B47-7DA1164747CB}"/>
                </a:ext>
              </a:extLst>
            </p:cNvPr>
            <p:cNvSpPr>
              <a:spLocks noChangeArrowheads="1"/>
            </p:cNvSpPr>
            <p:nvPr/>
          </p:nvSpPr>
          <p:spPr bwMode="auto">
            <a:xfrm>
              <a:off x="3124200" y="5514975"/>
              <a:ext cx="1108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zh-CN" altLang="en-US" sz="2400">
                  <a:solidFill>
                    <a:srgbClr val="000000"/>
                  </a:solidFill>
                  <a:latin typeface="黑体" panose="02010609060101010101" pitchFamily="49" charset="-122"/>
                  <a:ea typeface="黑体" panose="02010609060101010101" pitchFamily="49" charset="-122"/>
                </a:rPr>
                <a:t>保持态</a:t>
              </a:r>
              <a:endParaRPr lang="zh-CN" altLang="fr-FR" sz="2400">
                <a:solidFill>
                  <a:srgbClr val="000000"/>
                </a:solidFill>
                <a:latin typeface="黑体" panose="02010609060101010101" pitchFamily="49" charset="-122"/>
                <a:ea typeface="黑体" panose="02010609060101010101" pitchFamily="49" charset="-122"/>
              </a:endParaRPr>
            </a:p>
          </p:txBody>
        </p:sp>
        <p:sp>
          <p:nvSpPr>
            <p:cNvPr id="58378" name="矩形 11">
              <a:extLst>
                <a:ext uri="{FF2B5EF4-FFF2-40B4-BE49-F238E27FC236}">
                  <a16:creationId xmlns:a16="http://schemas.microsoft.com/office/drawing/2014/main" id="{B0948D4C-CED0-2E75-385B-6D840C9FFBDB}"/>
                </a:ext>
              </a:extLst>
            </p:cNvPr>
            <p:cNvSpPr>
              <a:spLocks noChangeArrowheads="1"/>
            </p:cNvSpPr>
            <p:nvPr/>
          </p:nvSpPr>
          <p:spPr bwMode="auto">
            <a:xfrm>
              <a:off x="3124200" y="4857750"/>
              <a:ext cx="1108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zh-CN" altLang="en-US" sz="2400">
                  <a:solidFill>
                    <a:srgbClr val="000000"/>
                  </a:solidFill>
                  <a:latin typeface="黑体" panose="02010609060101010101" pitchFamily="49" charset="-122"/>
                  <a:ea typeface="黑体" panose="02010609060101010101" pitchFamily="49" charset="-122"/>
                </a:rPr>
                <a:t>捕获态</a:t>
              </a:r>
              <a:endParaRPr lang="zh-CN" altLang="fr-FR" sz="2400">
                <a:solidFill>
                  <a:srgbClr val="000000"/>
                </a:solidFill>
                <a:latin typeface="黑体" panose="02010609060101010101" pitchFamily="49" charset="-122"/>
                <a:ea typeface="黑体" panose="02010609060101010101" pitchFamily="49" charset="-122"/>
              </a:endParaRPr>
            </a:p>
          </p:txBody>
        </p:sp>
        <p:sp>
          <p:nvSpPr>
            <p:cNvPr id="45" name="矩形 11">
              <a:extLst>
                <a:ext uri="{FF2B5EF4-FFF2-40B4-BE49-F238E27FC236}">
                  <a16:creationId xmlns:a16="http://schemas.microsoft.com/office/drawing/2014/main" id="{056ECA8F-5718-9484-B13E-757DC510A788}"/>
                </a:ext>
              </a:extLst>
            </p:cNvPr>
            <p:cNvSpPr>
              <a:spLocks noChangeArrowheads="1"/>
            </p:cNvSpPr>
            <p:nvPr/>
          </p:nvSpPr>
          <p:spPr bwMode="auto">
            <a:xfrm>
              <a:off x="4276725" y="4929188"/>
              <a:ext cx="1724025" cy="400050"/>
            </a:xfrm>
            <a:prstGeom prst="rect">
              <a:avLst/>
            </a:prstGeom>
            <a:noFill/>
            <a:ln w="9525">
              <a:noFill/>
              <a:miter lim="800000"/>
              <a:headEnd/>
              <a:tailEnd/>
            </a:ln>
          </p:spPr>
          <p:txBody>
            <a:bodyPr wrap="none">
              <a:spAutoFit/>
            </a:bodyPr>
            <a:lstStyle/>
            <a:p>
              <a:pPr>
                <a:defRPr/>
              </a:pPr>
              <a:r>
                <a:rPr lang="zh-CN" altLang="en-US" sz="2000" dirty="0">
                  <a:solidFill>
                    <a:srgbClr val="000000"/>
                  </a:solidFill>
                  <a:latin typeface="微软雅黑" pitchFamily="34" charset="-122"/>
                  <a:ea typeface="微软雅黑" pitchFamily="34" charset="-122"/>
                </a:rPr>
                <a:t>应</a:t>
              </a:r>
              <a:r>
                <a:rPr lang="zh-CN" altLang="en-US" sz="20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防</a:t>
              </a:r>
              <a:r>
                <a:rPr lang="zh-CN" altLang="en-US" sz="2000" dirty="0">
                  <a:solidFill>
                    <a:srgbClr val="000000"/>
                  </a:solidFill>
                  <a:latin typeface="微软雅黑" pitchFamily="34" charset="-122"/>
                  <a:ea typeface="微软雅黑" pitchFamily="34" charset="-122"/>
                </a:rPr>
                <a:t>止</a:t>
              </a:r>
              <a:r>
                <a:rPr lang="zh-CN" altLang="en-US" sz="2000" dirty="0">
                  <a:solidFill>
                    <a:srgbClr val="0000CC"/>
                  </a:solidFill>
                  <a:effectLst>
                    <a:outerShdw blurRad="38100" dist="38100" dir="2700000" algn="tl">
                      <a:srgbClr val="000000">
                        <a:alpha val="43137"/>
                      </a:srgbClr>
                    </a:outerShdw>
                  </a:effectLst>
                  <a:latin typeface="微软雅黑" pitchFamily="34" charset="-122"/>
                  <a:ea typeface="微软雅黑" pitchFamily="34" charset="-122"/>
                </a:rPr>
                <a:t>假</a:t>
              </a:r>
              <a:r>
                <a:rPr lang="zh-CN" altLang="en-US" sz="2000" dirty="0">
                  <a:solidFill>
                    <a:srgbClr val="000000"/>
                  </a:solidFill>
                  <a:latin typeface="微软雅黑" pitchFamily="34" charset="-122"/>
                  <a:ea typeface="微软雅黑" pitchFamily="34" charset="-122"/>
                </a:rPr>
                <a:t>同步</a:t>
              </a:r>
              <a:endParaRPr lang="zh-CN" altLang="fr-FR" sz="2000" dirty="0">
                <a:solidFill>
                  <a:srgbClr val="000000"/>
                </a:solidFill>
                <a:latin typeface="微软雅黑" pitchFamily="34" charset="-122"/>
                <a:ea typeface="微软雅黑" pitchFamily="34" charset="-122"/>
              </a:endParaRPr>
            </a:p>
          </p:txBody>
        </p:sp>
        <p:sp>
          <p:nvSpPr>
            <p:cNvPr id="46" name="矩形 11">
              <a:extLst>
                <a:ext uri="{FF2B5EF4-FFF2-40B4-BE49-F238E27FC236}">
                  <a16:creationId xmlns:a16="http://schemas.microsoft.com/office/drawing/2014/main" id="{CF6CDE62-14E1-EDB9-4FAC-FC4E7937AA45}"/>
                </a:ext>
              </a:extLst>
            </p:cNvPr>
            <p:cNvSpPr>
              <a:spLocks noChangeArrowheads="1"/>
            </p:cNvSpPr>
            <p:nvPr/>
          </p:nvSpPr>
          <p:spPr bwMode="auto">
            <a:xfrm>
              <a:off x="4276725" y="5614988"/>
              <a:ext cx="1724025" cy="400050"/>
            </a:xfrm>
            <a:prstGeom prst="rect">
              <a:avLst/>
            </a:prstGeom>
            <a:noFill/>
            <a:ln w="9525">
              <a:noFill/>
              <a:miter lim="800000"/>
              <a:headEnd/>
              <a:tailEnd/>
            </a:ln>
          </p:spPr>
          <p:txBody>
            <a:bodyPr wrap="none">
              <a:spAutoFit/>
            </a:bodyPr>
            <a:lstStyle/>
            <a:p>
              <a:pPr>
                <a:defRPr/>
              </a:pPr>
              <a:r>
                <a:rPr lang="zh-CN" altLang="en-US" sz="2000" dirty="0">
                  <a:solidFill>
                    <a:srgbClr val="000000"/>
                  </a:solidFill>
                  <a:latin typeface="微软雅黑" pitchFamily="34" charset="-122"/>
                  <a:ea typeface="微软雅黑" pitchFamily="34" charset="-122"/>
                </a:rPr>
                <a:t>应</a:t>
              </a:r>
              <a:r>
                <a:rPr lang="zh-CN" altLang="en-US" sz="20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防</a:t>
              </a:r>
              <a:r>
                <a:rPr lang="zh-CN" altLang="en-US" sz="2000" dirty="0">
                  <a:solidFill>
                    <a:srgbClr val="000000"/>
                  </a:solidFill>
                  <a:latin typeface="微软雅黑" pitchFamily="34" charset="-122"/>
                  <a:ea typeface="微软雅黑" pitchFamily="34" charset="-122"/>
                </a:rPr>
                <a:t>止</a:t>
              </a:r>
              <a:r>
                <a:rPr lang="zh-CN" altLang="en-US" sz="2000" dirty="0">
                  <a:solidFill>
                    <a:srgbClr val="0000CC"/>
                  </a:solidFill>
                  <a:effectLst>
                    <a:outerShdw blurRad="38100" dist="38100" dir="2700000" algn="tl">
                      <a:srgbClr val="000000">
                        <a:alpha val="43137"/>
                      </a:srgbClr>
                    </a:outerShdw>
                  </a:effectLst>
                  <a:latin typeface="微软雅黑" pitchFamily="34" charset="-122"/>
                  <a:ea typeface="微软雅黑" pitchFamily="34" charset="-122"/>
                </a:rPr>
                <a:t>漏</a:t>
              </a:r>
              <a:r>
                <a:rPr lang="zh-CN" altLang="en-US" sz="2000" dirty="0">
                  <a:solidFill>
                    <a:srgbClr val="000000"/>
                  </a:solidFill>
                  <a:latin typeface="微软雅黑" pitchFamily="34" charset="-122"/>
                  <a:ea typeface="微软雅黑" pitchFamily="34" charset="-122"/>
                </a:rPr>
                <a:t>同步</a:t>
              </a:r>
              <a:endParaRPr lang="zh-CN" altLang="fr-FR" sz="2000" dirty="0">
                <a:solidFill>
                  <a:srgbClr val="000000"/>
                </a:solidFill>
                <a:latin typeface="微软雅黑" pitchFamily="34" charset="-122"/>
                <a:ea typeface="微软雅黑" pitchFamily="34" charset="-122"/>
              </a:endParaRPr>
            </a:p>
          </p:txBody>
        </p:sp>
      </p:grpSp>
      <p:sp>
        <p:nvSpPr>
          <p:cNvPr id="23" name="矩形 22">
            <a:extLst>
              <a:ext uri="{FF2B5EF4-FFF2-40B4-BE49-F238E27FC236}">
                <a16:creationId xmlns:a16="http://schemas.microsoft.com/office/drawing/2014/main" id="{90D8B718-A526-1E57-DACC-78D0FEE7545C}"/>
              </a:ext>
            </a:extLst>
          </p:cNvPr>
          <p:cNvSpPr/>
          <p:nvPr/>
        </p:nvSpPr>
        <p:spPr>
          <a:xfrm>
            <a:off x="7546975" y="528638"/>
            <a:ext cx="954088" cy="400050"/>
          </a:xfrm>
          <a:prstGeom prst="rect">
            <a:avLst/>
          </a:prstGeom>
        </p:spPr>
        <p:txBody>
          <a:bodyPr wrap="none">
            <a:spAutoFit/>
          </a:bodyPr>
          <a:lstStyle/>
          <a:p>
            <a:pPr>
              <a:defRPr/>
            </a:pPr>
            <a:r>
              <a:rPr lang="zh-CN" altLang="en-US" sz="2000" kern="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rPr>
              <a:t>群同步</a:t>
            </a:r>
            <a:endParaRPr lang="zh-CN" altLang="en-US" sz="2000" dirty="0">
              <a:solidFill>
                <a:schemeClr val="tx1">
                  <a:lumMod val="65000"/>
                  <a:lumOff val="35000"/>
                </a:schemeClr>
              </a:solidFill>
              <a:effectLst>
                <a:outerShdw blurRad="38100" dist="38100" dir="2700000" algn="tl">
                  <a:srgbClr val="000000">
                    <a:alpha val="43137"/>
                  </a:srgbClr>
                </a:outerShdw>
              </a:effectLst>
              <a:ea typeface="宋体" charset="-122"/>
            </a:endParaRPr>
          </a:p>
        </p:txBody>
      </p:sp>
      <p:pic>
        <p:nvPicPr>
          <p:cNvPr id="58393" name="Picture 25">
            <a:extLst>
              <a:ext uri="{FF2B5EF4-FFF2-40B4-BE49-F238E27FC236}">
                <a16:creationId xmlns:a16="http://schemas.microsoft.com/office/drawing/2014/main" id="{3A72652C-2C19-3FEC-BA0E-F916502CEF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6063" y="2076450"/>
            <a:ext cx="5495925" cy="206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up)">
                                      <p:cBhvr>
                                        <p:cTn id="7" dur="1000"/>
                                        <p:tgtEl>
                                          <p:spTgt spid="22"/>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58393"/>
                                        </p:tgtEl>
                                        <p:attrNameLst>
                                          <p:attrName>style.visibility</p:attrName>
                                        </p:attrNameLst>
                                      </p:cBhvr>
                                      <p:to>
                                        <p:strVal val="visible"/>
                                      </p:to>
                                    </p:set>
                                    <p:animEffect transition="in" filter="wipe(left)">
                                      <p:cBhvr>
                                        <p:cTn id="11" dur="2000"/>
                                        <p:tgtEl>
                                          <p:spTgt spid="5839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wipe(up)">
                                      <p:cBhvr>
                                        <p:cTn id="16" dur="1000"/>
                                        <p:tgtEl>
                                          <p:spTgt spid="41"/>
                                        </p:tgtEl>
                                      </p:cBhvr>
                                    </p:animEffect>
                                  </p:childTnLst>
                                </p:cTn>
                              </p:par>
                            </p:childTnLst>
                          </p:cTn>
                        </p:par>
                        <p:par>
                          <p:cTn id="17" fill="hold" nodeType="afterGroup">
                            <p:stCondLst>
                              <p:cond delay="1000"/>
                            </p:stCondLst>
                            <p:childTnLst>
                              <p:par>
                                <p:cTn id="18" presetID="22" presetClass="entr" presetSubtype="1"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up)">
                                      <p:cBhvr>
                                        <p:cTn id="20"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4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CC2BC92F-1461-9BA6-A6B6-FB00199E5104}"/>
              </a:ext>
            </a:extLst>
          </p:cNvPr>
          <p:cNvGrpSpPr>
            <a:grpSpLocks/>
          </p:cNvGrpSpPr>
          <p:nvPr/>
        </p:nvGrpSpPr>
        <p:grpSpPr bwMode="auto">
          <a:xfrm>
            <a:off x="1625626" y="2143116"/>
            <a:ext cx="6661150" cy="1099327"/>
            <a:chOff x="2508" y="8790"/>
            <a:chExt cx="6253" cy="854"/>
          </a:xfrm>
          <a:effectLst>
            <a:glow rad="63500">
              <a:schemeClr val="accent2">
                <a:satMod val="175000"/>
                <a:alpha val="40000"/>
              </a:schemeClr>
            </a:glow>
          </a:effectLst>
        </p:grpSpPr>
        <p:sp>
          <p:nvSpPr>
            <p:cNvPr id="4" name="Text Box 5">
              <a:extLst>
                <a:ext uri="{FF2B5EF4-FFF2-40B4-BE49-F238E27FC236}">
                  <a16:creationId xmlns:a16="http://schemas.microsoft.com/office/drawing/2014/main" id="{A8E47D70-9404-B333-C70E-56735F81B59F}"/>
                </a:ext>
              </a:extLst>
            </p:cNvPr>
            <p:cNvSpPr txBox="1">
              <a:spLocks noChangeArrowheads="1"/>
            </p:cNvSpPr>
            <p:nvPr/>
          </p:nvSpPr>
          <p:spPr bwMode="auto">
            <a:xfrm>
              <a:off x="7353" y="8829"/>
              <a:ext cx="1178" cy="364"/>
            </a:xfrm>
            <a:prstGeom prst="rect">
              <a:avLst/>
            </a:prstGeom>
            <a:noFill/>
            <a:ln w="9525">
              <a:noFill/>
              <a:miter lim="800000"/>
              <a:headEnd/>
              <a:tailEnd/>
            </a:ln>
          </p:spPr>
          <p:txBody>
            <a:bodyPr/>
            <a:lstStyle/>
            <a:p>
              <a:pPr algn="just">
                <a:defRPr/>
              </a:pPr>
              <a:r>
                <a:rPr lang="zh-CN" altLang="en-US" sz="2000" dirty="0">
                  <a:ea typeface="宋体" charset="-122"/>
                </a:rPr>
                <a:t>信息码组</a:t>
              </a:r>
            </a:p>
          </p:txBody>
        </p:sp>
        <p:grpSp>
          <p:nvGrpSpPr>
            <p:cNvPr id="3" name="Group 6">
              <a:extLst>
                <a:ext uri="{FF2B5EF4-FFF2-40B4-BE49-F238E27FC236}">
                  <a16:creationId xmlns:a16="http://schemas.microsoft.com/office/drawing/2014/main" id="{EC657620-A986-8611-EA7F-909AD526F08C}"/>
                </a:ext>
              </a:extLst>
            </p:cNvPr>
            <p:cNvGrpSpPr>
              <a:grpSpLocks/>
            </p:cNvGrpSpPr>
            <p:nvPr/>
          </p:nvGrpSpPr>
          <p:grpSpPr bwMode="auto">
            <a:xfrm>
              <a:off x="2525" y="8790"/>
              <a:ext cx="6228" cy="375"/>
              <a:chOff x="2849" y="8790"/>
              <a:chExt cx="4067" cy="271"/>
            </a:xfrm>
          </p:grpSpPr>
          <p:sp>
            <p:nvSpPr>
              <p:cNvPr id="23" name="AutoShape 7">
                <a:extLst>
                  <a:ext uri="{FF2B5EF4-FFF2-40B4-BE49-F238E27FC236}">
                    <a16:creationId xmlns:a16="http://schemas.microsoft.com/office/drawing/2014/main" id="{1CEDFF8F-8AAF-962E-1519-54EBA728CBED}"/>
                  </a:ext>
                </a:extLst>
              </p:cNvPr>
              <p:cNvSpPr>
                <a:spLocks noChangeArrowheads="1"/>
              </p:cNvSpPr>
              <p:nvPr/>
            </p:nvSpPr>
            <p:spPr bwMode="auto">
              <a:xfrm>
                <a:off x="2849" y="8790"/>
                <a:ext cx="1026" cy="271"/>
              </a:xfrm>
              <a:prstGeom prst="flowChartPredefinedProcess">
                <a:avLst/>
              </a:prstGeom>
              <a:noFill/>
              <a:ln w="9525">
                <a:solidFill>
                  <a:srgbClr val="000000"/>
                </a:solidFill>
                <a:miter lim="800000"/>
                <a:headEnd/>
                <a:tailEnd/>
              </a:ln>
            </p:spPr>
            <p:txBody>
              <a:bodyPr/>
              <a:lstStyle/>
              <a:p>
                <a:pPr>
                  <a:defRPr/>
                </a:pPr>
                <a:endParaRPr lang="zh-CN" altLang="en-US" sz="2000">
                  <a:ea typeface="宋体" charset="-122"/>
                </a:endParaRPr>
              </a:p>
            </p:txBody>
          </p:sp>
          <p:sp>
            <p:nvSpPr>
              <p:cNvPr id="24" name="AutoShape 8">
                <a:extLst>
                  <a:ext uri="{FF2B5EF4-FFF2-40B4-BE49-F238E27FC236}">
                    <a16:creationId xmlns:a16="http://schemas.microsoft.com/office/drawing/2014/main" id="{52CCBDDA-2E9E-ECBD-E3B6-57EDA88935EC}"/>
                  </a:ext>
                </a:extLst>
              </p:cNvPr>
              <p:cNvSpPr>
                <a:spLocks noChangeArrowheads="1"/>
              </p:cNvSpPr>
              <p:nvPr/>
            </p:nvSpPr>
            <p:spPr bwMode="auto">
              <a:xfrm>
                <a:off x="3863" y="8790"/>
                <a:ext cx="1026" cy="271"/>
              </a:xfrm>
              <a:prstGeom prst="flowChartPredefinedProcess">
                <a:avLst/>
              </a:prstGeom>
              <a:noFill/>
              <a:ln w="9525">
                <a:solidFill>
                  <a:srgbClr val="000000"/>
                </a:solidFill>
                <a:miter lim="800000"/>
                <a:headEnd/>
                <a:tailEnd/>
              </a:ln>
            </p:spPr>
            <p:txBody>
              <a:bodyPr/>
              <a:lstStyle/>
              <a:p>
                <a:pPr>
                  <a:defRPr/>
                </a:pPr>
                <a:endParaRPr lang="zh-CN" altLang="en-US" sz="2000">
                  <a:ea typeface="宋体" charset="-122"/>
                </a:endParaRPr>
              </a:p>
            </p:txBody>
          </p:sp>
          <p:sp>
            <p:nvSpPr>
              <p:cNvPr id="25" name="AutoShape 9">
                <a:extLst>
                  <a:ext uri="{FF2B5EF4-FFF2-40B4-BE49-F238E27FC236}">
                    <a16:creationId xmlns:a16="http://schemas.microsoft.com/office/drawing/2014/main" id="{78B47556-CCB9-7175-E311-D9F11E4A3F25}"/>
                  </a:ext>
                </a:extLst>
              </p:cNvPr>
              <p:cNvSpPr>
                <a:spLocks noChangeArrowheads="1"/>
              </p:cNvSpPr>
              <p:nvPr/>
            </p:nvSpPr>
            <p:spPr bwMode="auto">
              <a:xfrm>
                <a:off x="4878" y="8790"/>
                <a:ext cx="1025" cy="271"/>
              </a:xfrm>
              <a:prstGeom prst="flowChartPredefinedProcess">
                <a:avLst/>
              </a:prstGeom>
              <a:noFill/>
              <a:ln w="9525">
                <a:solidFill>
                  <a:srgbClr val="000000"/>
                </a:solidFill>
                <a:miter lim="800000"/>
                <a:headEnd/>
                <a:tailEnd/>
              </a:ln>
            </p:spPr>
            <p:txBody>
              <a:bodyPr/>
              <a:lstStyle/>
              <a:p>
                <a:pPr>
                  <a:defRPr/>
                </a:pPr>
                <a:endParaRPr lang="zh-CN" altLang="en-US" sz="2000">
                  <a:ea typeface="宋体" charset="-122"/>
                </a:endParaRPr>
              </a:p>
            </p:txBody>
          </p:sp>
          <p:sp>
            <p:nvSpPr>
              <p:cNvPr id="26" name="AutoShape 10">
                <a:extLst>
                  <a:ext uri="{FF2B5EF4-FFF2-40B4-BE49-F238E27FC236}">
                    <a16:creationId xmlns:a16="http://schemas.microsoft.com/office/drawing/2014/main" id="{5734404D-8E15-9B69-CB91-8273D19F951A}"/>
                  </a:ext>
                </a:extLst>
              </p:cNvPr>
              <p:cNvSpPr>
                <a:spLocks noChangeArrowheads="1"/>
              </p:cNvSpPr>
              <p:nvPr/>
            </p:nvSpPr>
            <p:spPr bwMode="auto">
              <a:xfrm>
                <a:off x="5892" y="8790"/>
                <a:ext cx="1024" cy="271"/>
              </a:xfrm>
              <a:prstGeom prst="flowChartPredefinedProcess">
                <a:avLst/>
              </a:prstGeom>
              <a:noFill/>
              <a:ln w="9525">
                <a:solidFill>
                  <a:srgbClr val="000000"/>
                </a:solidFill>
                <a:miter lim="800000"/>
                <a:headEnd/>
                <a:tailEnd/>
              </a:ln>
            </p:spPr>
            <p:txBody>
              <a:bodyPr/>
              <a:lstStyle/>
              <a:p>
                <a:pPr>
                  <a:defRPr/>
                </a:pPr>
                <a:endParaRPr lang="zh-CN" altLang="en-US" sz="2000">
                  <a:ea typeface="宋体" charset="-122"/>
                </a:endParaRPr>
              </a:p>
            </p:txBody>
          </p:sp>
        </p:grpSp>
        <p:sp>
          <p:nvSpPr>
            <p:cNvPr id="6" name="Rectangle 11" descr="浅色上对角线">
              <a:extLst>
                <a:ext uri="{FF2B5EF4-FFF2-40B4-BE49-F238E27FC236}">
                  <a16:creationId xmlns:a16="http://schemas.microsoft.com/office/drawing/2014/main" id="{6E3BA19C-C64D-0998-1D7E-71E6309EF48E}"/>
                </a:ext>
              </a:extLst>
            </p:cNvPr>
            <p:cNvSpPr>
              <a:spLocks noChangeArrowheads="1"/>
            </p:cNvSpPr>
            <p:nvPr/>
          </p:nvSpPr>
          <p:spPr bwMode="auto">
            <a:xfrm>
              <a:off x="3928" y="8809"/>
              <a:ext cx="326" cy="351"/>
            </a:xfrm>
            <a:prstGeom prst="rect">
              <a:avLst/>
            </a:prstGeom>
            <a:solidFill>
              <a:schemeClr val="tx2">
                <a:lumMod val="20000"/>
                <a:lumOff val="80000"/>
              </a:schemeClr>
            </a:solidFill>
            <a:ln w="9525">
              <a:noFill/>
              <a:miter lim="800000"/>
              <a:headEnd/>
              <a:tailEnd/>
            </a:ln>
          </p:spPr>
          <p:txBody>
            <a:bodyPr/>
            <a:lstStyle/>
            <a:p>
              <a:pPr>
                <a:defRPr/>
              </a:pPr>
              <a:endParaRPr lang="zh-CN" altLang="en-US" sz="2000">
                <a:ea typeface="宋体" charset="-122"/>
              </a:endParaRPr>
            </a:p>
          </p:txBody>
        </p:sp>
        <p:sp>
          <p:nvSpPr>
            <p:cNvPr id="7" name="Rectangle 12" descr="浅色上对角线">
              <a:extLst>
                <a:ext uri="{FF2B5EF4-FFF2-40B4-BE49-F238E27FC236}">
                  <a16:creationId xmlns:a16="http://schemas.microsoft.com/office/drawing/2014/main" id="{E9916153-BAE5-572F-4106-8C2ADDE46C79}"/>
                </a:ext>
              </a:extLst>
            </p:cNvPr>
            <p:cNvSpPr>
              <a:spLocks noChangeArrowheads="1"/>
            </p:cNvSpPr>
            <p:nvPr/>
          </p:nvSpPr>
          <p:spPr bwMode="auto">
            <a:xfrm>
              <a:off x="5476" y="8798"/>
              <a:ext cx="338" cy="351"/>
            </a:xfrm>
            <a:prstGeom prst="rect">
              <a:avLst/>
            </a:prstGeom>
            <a:solidFill>
              <a:schemeClr val="tx2">
                <a:lumMod val="20000"/>
                <a:lumOff val="80000"/>
              </a:schemeClr>
            </a:solidFill>
            <a:ln w="9525">
              <a:noFill/>
              <a:miter lim="800000"/>
              <a:headEnd/>
              <a:tailEnd/>
            </a:ln>
          </p:spPr>
          <p:txBody>
            <a:bodyPr/>
            <a:lstStyle/>
            <a:p>
              <a:pPr>
                <a:defRPr/>
              </a:pPr>
              <a:endParaRPr lang="zh-CN" altLang="en-US" sz="2000">
                <a:ea typeface="宋体" charset="-122"/>
              </a:endParaRPr>
            </a:p>
          </p:txBody>
        </p:sp>
        <p:sp>
          <p:nvSpPr>
            <p:cNvPr id="8" name="Rectangle 13" descr="浅色上对角线">
              <a:extLst>
                <a:ext uri="{FF2B5EF4-FFF2-40B4-BE49-F238E27FC236}">
                  <a16:creationId xmlns:a16="http://schemas.microsoft.com/office/drawing/2014/main" id="{10505B55-5FE1-F328-BD33-A1E07E792935}"/>
                </a:ext>
              </a:extLst>
            </p:cNvPr>
            <p:cNvSpPr>
              <a:spLocks noChangeArrowheads="1"/>
            </p:cNvSpPr>
            <p:nvPr/>
          </p:nvSpPr>
          <p:spPr bwMode="auto">
            <a:xfrm>
              <a:off x="7024" y="8809"/>
              <a:ext cx="338" cy="364"/>
            </a:xfrm>
            <a:prstGeom prst="rect">
              <a:avLst/>
            </a:prstGeom>
            <a:solidFill>
              <a:schemeClr val="tx2">
                <a:lumMod val="20000"/>
                <a:lumOff val="80000"/>
              </a:schemeClr>
            </a:solidFill>
            <a:ln w="9525">
              <a:noFill/>
              <a:miter lim="800000"/>
              <a:headEnd/>
              <a:tailEnd/>
            </a:ln>
          </p:spPr>
          <p:txBody>
            <a:bodyPr/>
            <a:lstStyle/>
            <a:p>
              <a:pPr>
                <a:defRPr/>
              </a:pPr>
              <a:endParaRPr lang="zh-CN" altLang="en-US" sz="2000">
                <a:ea typeface="宋体" charset="-122"/>
              </a:endParaRPr>
            </a:p>
          </p:txBody>
        </p:sp>
        <p:sp>
          <p:nvSpPr>
            <p:cNvPr id="9" name="Rectangle 14" descr="浅色上对角线">
              <a:extLst>
                <a:ext uri="{FF2B5EF4-FFF2-40B4-BE49-F238E27FC236}">
                  <a16:creationId xmlns:a16="http://schemas.microsoft.com/office/drawing/2014/main" id="{376F1405-2125-8E8E-B038-3738CDC7B593}"/>
                </a:ext>
              </a:extLst>
            </p:cNvPr>
            <p:cNvSpPr>
              <a:spLocks noChangeArrowheads="1"/>
            </p:cNvSpPr>
            <p:nvPr/>
          </p:nvSpPr>
          <p:spPr bwMode="auto">
            <a:xfrm>
              <a:off x="8593" y="8798"/>
              <a:ext cx="168" cy="364"/>
            </a:xfrm>
            <a:prstGeom prst="rect">
              <a:avLst/>
            </a:prstGeom>
            <a:solidFill>
              <a:schemeClr val="tx2">
                <a:lumMod val="20000"/>
                <a:lumOff val="80000"/>
              </a:schemeClr>
            </a:solidFill>
            <a:ln w="9525">
              <a:noFill/>
              <a:miter lim="800000"/>
              <a:headEnd/>
              <a:tailEnd/>
            </a:ln>
          </p:spPr>
          <p:txBody>
            <a:bodyPr/>
            <a:lstStyle/>
            <a:p>
              <a:pPr>
                <a:defRPr/>
              </a:pPr>
              <a:endParaRPr lang="zh-CN" altLang="en-US" sz="2000">
                <a:ea typeface="宋体" charset="-122"/>
              </a:endParaRPr>
            </a:p>
          </p:txBody>
        </p:sp>
        <p:sp>
          <p:nvSpPr>
            <p:cNvPr id="10" name="Rectangle 15" descr="浅色上对角线">
              <a:extLst>
                <a:ext uri="{FF2B5EF4-FFF2-40B4-BE49-F238E27FC236}">
                  <a16:creationId xmlns:a16="http://schemas.microsoft.com/office/drawing/2014/main" id="{2D9098ED-3C2E-E465-186C-0EB8DE22C7F3}"/>
                </a:ext>
              </a:extLst>
            </p:cNvPr>
            <p:cNvSpPr>
              <a:spLocks noChangeArrowheads="1"/>
            </p:cNvSpPr>
            <p:nvPr/>
          </p:nvSpPr>
          <p:spPr bwMode="auto">
            <a:xfrm>
              <a:off x="2508" y="8811"/>
              <a:ext cx="196" cy="338"/>
            </a:xfrm>
            <a:prstGeom prst="rect">
              <a:avLst/>
            </a:prstGeom>
            <a:solidFill>
              <a:schemeClr val="tx2">
                <a:lumMod val="20000"/>
                <a:lumOff val="80000"/>
              </a:schemeClr>
            </a:solidFill>
            <a:ln w="9525">
              <a:noFill/>
              <a:miter lim="800000"/>
              <a:headEnd/>
              <a:tailEnd/>
            </a:ln>
          </p:spPr>
          <p:txBody>
            <a:bodyPr/>
            <a:lstStyle/>
            <a:p>
              <a:pPr>
                <a:defRPr/>
              </a:pPr>
              <a:endParaRPr lang="zh-CN" altLang="en-US" sz="2000">
                <a:ea typeface="宋体" charset="-122"/>
              </a:endParaRPr>
            </a:p>
          </p:txBody>
        </p:sp>
        <p:grpSp>
          <p:nvGrpSpPr>
            <p:cNvPr id="5" name="Group 16">
              <a:extLst>
                <a:ext uri="{FF2B5EF4-FFF2-40B4-BE49-F238E27FC236}">
                  <a16:creationId xmlns:a16="http://schemas.microsoft.com/office/drawing/2014/main" id="{4E0023E7-EFB1-EF1A-051A-76541EDEAF14}"/>
                </a:ext>
              </a:extLst>
            </p:cNvPr>
            <p:cNvGrpSpPr>
              <a:grpSpLocks/>
            </p:cNvGrpSpPr>
            <p:nvPr/>
          </p:nvGrpSpPr>
          <p:grpSpPr bwMode="auto">
            <a:xfrm>
              <a:off x="6676" y="9188"/>
              <a:ext cx="1178" cy="456"/>
              <a:chOff x="6260" y="9188"/>
              <a:chExt cx="1178" cy="456"/>
            </a:xfrm>
          </p:grpSpPr>
          <p:sp>
            <p:nvSpPr>
              <p:cNvPr id="21" name="Text Box 17">
                <a:extLst>
                  <a:ext uri="{FF2B5EF4-FFF2-40B4-BE49-F238E27FC236}">
                    <a16:creationId xmlns:a16="http://schemas.microsoft.com/office/drawing/2014/main" id="{DD05BF2F-ED7D-333C-77C0-EB8B07A850CB}"/>
                  </a:ext>
                </a:extLst>
              </p:cNvPr>
              <p:cNvSpPr txBox="1">
                <a:spLocks noChangeArrowheads="1"/>
              </p:cNvSpPr>
              <p:nvPr/>
            </p:nvSpPr>
            <p:spPr bwMode="auto">
              <a:xfrm>
                <a:off x="6260" y="9280"/>
                <a:ext cx="1178" cy="364"/>
              </a:xfrm>
              <a:prstGeom prst="rect">
                <a:avLst/>
              </a:prstGeom>
              <a:noFill/>
              <a:ln w="9525">
                <a:noFill/>
                <a:miter lim="800000"/>
                <a:headEnd/>
                <a:tailEnd/>
              </a:ln>
            </p:spPr>
            <p:txBody>
              <a:bodyPr/>
              <a:lstStyle/>
              <a:p>
                <a:pPr algn="just">
                  <a:defRPr/>
                </a:pPr>
                <a:r>
                  <a:rPr lang="zh-CN" altLang="en-US" sz="2000">
                    <a:solidFill>
                      <a:srgbClr val="0000CC"/>
                    </a:solidFill>
                    <a:ea typeface="宋体" charset="-122"/>
                  </a:rPr>
                  <a:t>同步码组</a:t>
                </a:r>
              </a:p>
            </p:txBody>
          </p:sp>
          <p:sp>
            <p:nvSpPr>
              <p:cNvPr id="22" name="AutoShape 18">
                <a:extLst>
                  <a:ext uri="{FF2B5EF4-FFF2-40B4-BE49-F238E27FC236}">
                    <a16:creationId xmlns:a16="http://schemas.microsoft.com/office/drawing/2014/main" id="{EBC6F28E-0795-4054-03CC-E097CB1A9F03}"/>
                  </a:ext>
                </a:extLst>
              </p:cNvPr>
              <p:cNvSpPr>
                <a:spLocks/>
              </p:cNvSpPr>
              <p:nvPr/>
            </p:nvSpPr>
            <p:spPr bwMode="auto">
              <a:xfrm rot="-5400000">
                <a:off x="6698" y="9084"/>
                <a:ext cx="114" cy="322"/>
              </a:xfrm>
              <a:prstGeom prst="leftBrace">
                <a:avLst>
                  <a:gd name="adj1" fmla="val 23538"/>
                  <a:gd name="adj2" fmla="val 50000"/>
                </a:avLst>
              </a:prstGeom>
              <a:noFill/>
              <a:ln w="9525">
                <a:solidFill>
                  <a:srgbClr val="000000"/>
                </a:solidFill>
                <a:round/>
                <a:headEnd/>
                <a:tailEnd/>
              </a:ln>
            </p:spPr>
            <p:txBody>
              <a:bodyPr/>
              <a:lstStyle/>
              <a:p>
                <a:pPr>
                  <a:defRPr/>
                </a:pPr>
                <a:endParaRPr lang="zh-CN" altLang="en-US" sz="2000">
                  <a:ea typeface="宋体" charset="-122"/>
                </a:endParaRPr>
              </a:p>
            </p:txBody>
          </p:sp>
        </p:grpSp>
        <p:sp>
          <p:nvSpPr>
            <p:cNvPr id="12" name="Text Box 19">
              <a:extLst>
                <a:ext uri="{FF2B5EF4-FFF2-40B4-BE49-F238E27FC236}">
                  <a16:creationId xmlns:a16="http://schemas.microsoft.com/office/drawing/2014/main" id="{88E54E21-D3C5-2F81-3176-546D1F85E3F3}"/>
                </a:ext>
              </a:extLst>
            </p:cNvPr>
            <p:cNvSpPr txBox="1">
              <a:spLocks noChangeArrowheads="1"/>
            </p:cNvSpPr>
            <p:nvPr/>
          </p:nvSpPr>
          <p:spPr bwMode="auto">
            <a:xfrm>
              <a:off x="4268" y="8829"/>
              <a:ext cx="1167" cy="364"/>
            </a:xfrm>
            <a:prstGeom prst="rect">
              <a:avLst/>
            </a:prstGeom>
            <a:noFill/>
            <a:ln w="9525">
              <a:noFill/>
              <a:miter lim="800000"/>
              <a:headEnd/>
              <a:tailEnd/>
            </a:ln>
          </p:spPr>
          <p:txBody>
            <a:bodyPr/>
            <a:lstStyle/>
            <a:p>
              <a:pPr algn="just">
                <a:defRPr/>
              </a:pPr>
              <a:r>
                <a:rPr lang="zh-CN" altLang="en-US" sz="2000" dirty="0">
                  <a:ea typeface="宋体" charset="-122"/>
                </a:rPr>
                <a:t>信息码组</a:t>
              </a:r>
            </a:p>
          </p:txBody>
        </p:sp>
        <p:sp>
          <p:nvSpPr>
            <p:cNvPr id="13" name="Text Box 20">
              <a:extLst>
                <a:ext uri="{FF2B5EF4-FFF2-40B4-BE49-F238E27FC236}">
                  <a16:creationId xmlns:a16="http://schemas.microsoft.com/office/drawing/2014/main" id="{4795AFA4-29CD-83B6-57A2-AF82F2C541BB}"/>
                </a:ext>
              </a:extLst>
            </p:cNvPr>
            <p:cNvSpPr txBox="1">
              <a:spLocks noChangeArrowheads="1"/>
            </p:cNvSpPr>
            <p:nvPr/>
          </p:nvSpPr>
          <p:spPr bwMode="auto">
            <a:xfrm>
              <a:off x="5810" y="8838"/>
              <a:ext cx="1160" cy="364"/>
            </a:xfrm>
            <a:prstGeom prst="rect">
              <a:avLst/>
            </a:prstGeom>
            <a:noFill/>
            <a:ln w="9525">
              <a:noFill/>
              <a:miter lim="800000"/>
              <a:headEnd/>
              <a:tailEnd/>
            </a:ln>
          </p:spPr>
          <p:txBody>
            <a:bodyPr/>
            <a:lstStyle/>
            <a:p>
              <a:pPr algn="just">
                <a:defRPr/>
              </a:pPr>
              <a:r>
                <a:rPr lang="zh-CN" altLang="en-US" sz="2000" dirty="0">
                  <a:ea typeface="宋体" charset="-122"/>
                </a:rPr>
                <a:t>信息码组</a:t>
              </a:r>
            </a:p>
          </p:txBody>
        </p:sp>
        <p:sp>
          <p:nvSpPr>
            <p:cNvPr id="14" name="Text Box 21">
              <a:extLst>
                <a:ext uri="{FF2B5EF4-FFF2-40B4-BE49-F238E27FC236}">
                  <a16:creationId xmlns:a16="http://schemas.microsoft.com/office/drawing/2014/main" id="{DE90A11A-2BC0-732A-2C2F-6AF710756B8C}"/>
                </a:ext>
              </a:extLst>
            </p:cNvPr>
            <p:cNvSpPr txBox="1">
              <a:spLocks noChangeArrowheads="1"/>
            </p:cNvSpPr>
            <p:nvPr/>
          </p:nvSpPr>
          <p:spPr bwMode="auto">
            <a:xfrm>
              <a:off x="2726" y="8814"/>
              <a:ext cx="1180" cy="364"/>
            </a:xfrm>
            <a:prstGeom prst="rect">
              <a:avLst/>
            </a:prstGeom>
            <a:noFill/>
            <a:ln w="9525">
              <a:noFill/>
              <a:miter lim="800000"/>
              <a:headEnd/>
              <a:tailEnd/>
            </a:ln>
          </p:spPr>
          <p:txBody>
            <a:bodyPr/>
            <a:lstStyle/>
            <a:p>
              <a:pPr algn="just">
                <a:defRPr/>
              </a:pPr>
              <a:r>
                <a:rPr lang="zh-CN" altLang="en-US" sz="2000" dirty="0">
                  <a:ea typeface="宋体" charset="-122"/>
                </a:rPr>
                <a:t>信息码组</a:t>
              </a:r>
            </a:p>
          </p:txBody>
        </p:sp>
        <p:grpSp>
          <p:nvGrpSpPr>
            <p:cNvPr id="11" name="Group 22">
              <a:extLst>
                <a:ext uri="{FF2B5EF4-FFF2-40B4-BE49-F238E27FC236}">
                  <a16:creationId xmlns:a16="http://schemas.microsoft.com/office/drawing/2014/main" id="{6BB81AE9-2280-23B7-B2DF-98258653DA24}"/>
                </a:ext>
              </a:extLst>
            </p:cNvPr>
            <p:cNvGrpSpPr>
              <a:grpSpLocks/>
            </p:cNvGrpSpPr>
            <p:nvPr/>
          </p:nvGrpSpPr>
          <p:grpSpPr bwMode="auto">
            <a:xfrm>
              <a:off x="5128" y="9188"/>
              <a:ext cx="1178" cy="456"/>
              <a:chOff x="6260" y="9188"/>
              <a:chExt cx="1178" cy="456"/>
            </a:xfrm>
          </p:grpSpPr>
          <p:sp>
            <p:nvSpPr>
              <p:cNvPr id="19" name="Text Box 23">
                <a:extLst>
                  <a:ext uri="{FF2B5EF4-FFF2-40B4-BE49-F238E27FC236}">
                    <a16:creationId xmlns:a16="http://schemas.microsoft.com/office/drawing/2014/main" id="{88DC1952-D5AB-D906-13D9-458EFB27C72D}"/>
                  </a:ext>
                </a:extLst>
              </p:cNvPr>
              <p:cNvSpPr txBox="1">
                <a:spLocks noChangeArrowheads="1"/>
              </p:cNvSpPr>
              <p:nvPr/>
            </p:nvSpPr>
            <p:spPr bwMode="auto">
              <a:xfrm>
                <a:off x="6260" y="9280"/>
                <a:ext cx="1178" cy="364"/>
              </a:xfrm>
              <a:prstGeom prst="rect">
                <a:avLst/>
              </a:prstGeom>
              <a:noFill/>
              <a:ln w="9525">
                <a:noFill/>
                <a:miter lim="800000"/>
                <a:headEnd/>
                <a:tailEnd/>
              </a:ln>
            </p:spPr>
            <p:txBody>
              <a:bodyPr/>
              <a:lstStyle/>
              <a:p>
                <a:pPr algn="just">
                  <a:defRPr/>
                </a:pPr>
                <a:r>
                  <a:rPr lang="zh-CN" altLang="en-US" sz="2000" dirty="0">
                    <a:solidFill>
                      <a:srgbClr val="0000CC"/>
                    </a:solidFill>
                    <a:ea typeface="宋体" charset="-122"/>
                  </a:rPr>
                  <a:t>同步码组</a:t>
                </a:r>
              </a:p>
            </p:txBody>
          </p:sp>
          <p:sp>
            <p:nvSpPr>
              <p:cNvPr id="20" name="AutoShape 24">
                <a:extLst>
                  <a:ext uri="{FF2B5EF4-FFF2-40B4-BE49-F238E27FC236}">
                    <a16:creationId xmlns:a16="http://schemas.microsoft.com/office/drawing/2014/main" id="{05405926-90D9-DA4F-9FBF-CD7B706243CC}"/>
                  </a:ext>
                </a:extLst>
              </p:cNvPr>
              <p:cNvSpPr>
                <a:spLocks/>
              </p:cNvSpPr>
              <p:nvPr/>
            </p:nvSpPr>
            <p:spPr bwMode="auto">
              <a:xfrm rot="-5400000">
                <a:off x="6698" y="9084"/>
                <a:ext cx="114" cy="322"/>
              </a:xfrm>
              <a:prstGeom prst="leftBrace">
                <a:avLst>
                  <a:gd name="adj1" fmla="val 23538"/>
                  <a:gd name="adj2" fmla="val 50000"/>
                </a:avLst>
              </a:prstGeom>
              <a:noFill/>
              <a:ln w="9525">
                <a:solidFill>
                  <a:srgbClr val="000000"/>
                </a:solidFill>
                <a:round/>
                <a:headEnd/>
                <a:tailEnd/>
              </a:ln>
            </p:spPr>
            <p:txBody>
              <a:bodyPr/>
              <a:lstStyle/>
              <a:p>
                <a:pPr>
                  <a:defRPr/>
                </a:pPr>
                <a:endParaRPr lang="zh-CN" altLang="en-US" sz="2000">
                  <a:ea typeface="宋体" charset="-122"/>
                </a:endParaRPr>
              </a:p>
            </p:txBody>
          </p:sp>
        </p:grpSp>
        <p:grpSp>
          <p:nvGrpSpPr>
            <p:cNvPr id="15" name="Group 25">
              <a:extLst>
                <a:ext uri="{FF2B5EF4-FFF2-40B4-BE49-F238E27FC236}">
                  <a16:creationId xmlns:a16="http://schemas.microsoft.com/office/drawing/2014/main" id="{906022E5-303F-0D52-011E-850058956AE3}"/>
                </a:ext>
              </a:extLst>
            </p:cNvPr>
            <p:cNvGrpSpPr>
              <a:grpSpLocks/>
            </p:cNvGrpSpPr>
            <p:nvPr/>
          </p:nvGrpSpPr>
          <p:grpSpPr bwMode="auto">
            <a:xfrm>
              <a:off x="3597" y="9188"/>
              <a:ext cx="1178" cy="456"/>
              <a:chOff x="6260" y="9188"/>
              <a:chExt cx="1178" cy="456"/>
            </a:xfrm>
          </p:grpSpPr>
          <p:sp>
            <p:nvSpPr>
              <p:cNvPr id="17" name="Text Box 26">
                <a:extLst>
                  <a:ext uri="{FF2B5EF4-FFF2-40B4-BE49-F238E27FC236}">
                    <a16:creationId xmlns:a16="http://schemas.microsoft.com/office/drawing/2014/main" id="{0B7EDA73-8E0B-FB6A-964C-4FD04AD16E9F}"/>
                  </a:ext>
                </a:extLst>
              </p:cNvPr>
              <p:cNvSpPr txBox="1">
                <a:spLocks noChangeArrowheads="1"/>
              </p:cNvSpPr>
              <p:nvPr/>
            </p:nvSpPr>
            <p:spPr bwMode="auto">
              <a:xfrm>
                <a:off x="6260" y="9280"/>
                <a:ext cx="1178" cy="364"/>
              </a:xfrm>
              <a:prstGeom prst="rect">
                <a:avLst/>
              </a:prstGeom>
              <a:noFill/>
              <a:ln w="9525">
                <a:noFill/>
                <a:miter lim="800000"/>
                <a:headEnd/>
                <a:tailEnd/>
              </a:ln>
            </p:spPr>
            <p:txBody>
              <a:bodyPr/>
              <a:lstStyle/>
              <a:p>
                <a:pPr algn="just">
                  <a:defRPr/>
                </a:pPr>
                <a:r>
                  <a:rPr lang="zh-CN" altLang="en-US" sz="2000" dirty="0">
                    <a:solidFill>
                      <a:srgbClr val="0000CC"/>
                    </a:solidFill>
                    <a:ea typeface="宋体" charset="-122"/>
                  </a:rPr>
                  <a:t>同步码组</a:t>
                </a:r>
              </a:p>
            </p:txBody>
          </p:sp>
          <p:sp>
            <p:nvSpPr>
              <p:cNvPr id="18" name="AutoShape 27">
                <a:extLst>
                  <a:ext uri="{FF2B5EF4-FFF2-40B4-BE49-F238E27FC236}">
                    <a16:creationId xmlns:a16="http://schemas.microsoft.com/office/drawing/2014/main" id="{79D88D89-7B61-2061-FC62-3287DBAFD477}"/>
                  </a:ext>
                </a:extLst>
              </p:cNvPr>
              <p:cNvSpPr>
                <a:spLocks/>
              </p:cNvSpPr>
              <p:nvPr/>
            </p:nvSpPr>
            <p:spPr bwMode="auto">
              <a:xfrm rot="-5400000">
                <a:off x="6698" y="9084"/>
                <a:ext cx="114" cy="322"/>
              </a:xfrm>
              <a:prstGeom prst="leftBrace">
                <a:avLst>
                  <a:gd name="adj1" fmla="val 23538"/>
                  <a:gd name="adj2" fmla="val 50000"/>
                </a:avLst>
              </a:prstGeom>
              <a:noFill/>
              <a:ln w="9525">
                <a:solidFill>
                  <a:srgbClr val="000000"/>
                </a:solidFill>
                <a:round/>
                <a:headEnd/>
                <a:tailEnd/>
              </a:ln>
            </p:spPr>
            <p:txBody>
              <a:bodyPr/>
              <a:lstStyle/>
              <a:p>
                <a:pPr>
                  <a:defRPr/>
                </a:pPr>
                <a:endParaRPr lang="zh-CN" altLang="en-US" sz="2000">
                  <a:ea typeface="宋体" charset="-122"/>
                </a:endParaRPr>
              </a:p>
            </p:txBody>
          </p:sp>
        </p:grpSp>
      </p:grpSp>
      <p:sp>
        <p:nvSpPr>
          <p:cNvPr id="30" name="矩形 29">
            <a:extLst>
              <a:ext uri="{FF2B5EF4-FFF2-40B4-BE49-F238E27FC236}">
                <a16:creationId xmlns:a16="http://schemas.microsoft.com/office/drawing/2014/main" id="{2C42F134-C4A4-707B-3974-F58526FB378A}"/>
              </a:ext>
            </a:extLst>
          </p:cNvPr>
          <p:cNvSpPr/>
          <p:nvPr/>
        </p:nvSpPr>
        <p:spPr>
          <a:xfrm>
            <a:off x="773113" y="1320800"/>
            <a:ext cx="1643062" cy="469900"/>
          </a:xfrm>
          <a:prstGeom prst="rect">
            <a:avLst/>
          </a:prstGeom>
          <a:noFill/>
          <a:effectLst/>
        </p:spPr>
        <p:txBody>
          <a:bodyPr>
            <a:spAutoFit/>
          </a:bodyPr>
          <a:lstStyle/>
          <a:p>
            <a:pPr marL="228600" indent="-228600" eaLnBrk="0" hangingPunct="0">
              <a:lnSpc>
                <a:spcPct val="110000"/>
              </a:lnSpc>
              <a:spcBef>
                <a:spcPct val="20000"/>
              </a:spcBef>
              <a:buClr>
                <a:srgbClr val="FF0000"/>
              </a:buClr>
              <a:buSzPct val="85000"/>
              <a:buFont typeface="Wingdings" pitchFamily="2" charset="2"/>
              <a:buChar char="n"/>
              <a:defRPr/>
            </a:pPr>
            <a:r>
              <a:rPr lang="zh-CN" altLang="en-US" sz="2400" b="1" kern="0" dirty="0">
                <a:solidFill>
                  <a:srgbClr val="003399"/>
                </a:solidFill>
                <a:latin typeface="微软雅黑" pitchFamily="34" charset="-122"/>
                <a:ea typeface="微软雅黑" pitchFamily="34" charset="-122"/>
              </a:rPr>
              <a:t> </a:t>
            </a:r>
            <a:r>
              <a:rPr lang="zh-CN" altLang="en-US" sz="2400" b="1" kern="0" dirty="0">
                <a:latin typeface="微软雅黑" pitchFamily="34" charset="-122"/>
                <a:ea typeface="微软雅黑" pitchFamily="34" charset="-122"/>
              </a:rPr>
              <a:t>原理： </a:t>
            </a:r>
          </a:p>
        </p:txBody>
      </p:sp>
      <p:sp>
        <p:nvSpPr>
          <p:cNvPr id="89" name="矩形 4">
            <a:extLst>
              <a:ext uri="{FF2B5EF4-FFF2-40B4-BE49-F238E27FC236}">
                <a16:creationId xmlns:a16="http://schemas.microsoft.com/office/drawing/2014/main" id="{FBCD3FCB-92ED-375A-23C9-060DDDF135DF}"/>
              </a:ext>
            </a:extLst>
          </p:cNvPr>
          <p:cNvSpPr>
            <a:spLocks noChangeArrowheads="1"/>
          </p:cNvSpPr>
          <p:nvPr/>
        </p:nvSpPr>
        <p:spPr bwMode="auto">
          <a:xfrm>
            <a:off x="142875" y="415925"/>
            <a:ext cx="3602038" cy="584200"/>
          </a:xfrm>
          <a:prstGeom prst="rect">
            <a:avLst/>
          </a:prstGeom>
          <a:noFill/>
          <a:ln w="9525">
            <a:noFill/>
            <a:miter lim="800000"/>
            <a:headEnd/>
            <a:tailEnd/>
          </a:ln>
          <a:effectLst/>
        </p:spPr>
        <p:txBody>
          <a:bodyPr wrap="none">
            <a:spAutoFit/>
          </a:bodyPr>
          <a:lstStyle/>
          <a:p>
            <a:pPr>
              <a:defRPr/>
            </a:pPr>
            <a:r>
              <a:rPr lang="en-US" altLang="en-US" sz="3200" b="1" dirty="0">
                <a:solidFill>
                  <a:srgbClr val="800080"/>
                </a:solidFill>
                <a:latin typeface="Arial" pitchFamily="34" charset="0"/>
                <a:ea typeface="微软雅黑" pitchFamily="34" charset="-122"/>
                <a:cs typeface="Arial" pitchFamily="34" charset="0"/>
              </a:rPr>
              <a:t>13</a:t>
            </a:r>
            <a:r>
              <a:rPr lang="en-US" altLang="zh-CN" sz="3200" b="1" dirty="0">
                <a:solidFill>
                  <a:srgbClr val="800080"/>
                </a:solidFill>
                <a:latin typeface="Arial" pitchFamily="34" charset="0"/>
                <a:ea typeface="微软雅黑" pitchFamily="34" charset="-122"/>
                <a:cs typeface="Arial" pitchFamily="34" charset="0"/>
              </a:rPr>
              <a:t>.4.2  </a:t>
            </a:r>
            <a:r>
              <a:rPr lang="zh-CN" altLang="en-US" sz="3200" b="1" kern="0" dirty="0">
                <a:solidFill>
                  <a:srgbClr val="003399"/>
                </a:solidFill>
                <a:latin typeface="微软雅黑" pitchFamily="34" charset="-122"/>
                <a:ea typeface="微软雅黑" pitchFamily="34" charset="-122"/>
              </a:rPr>
              <a:t>集中插入法</a:t>
            </a:r>
            <a:endParaRPr lang="zh-CN" altLang="en-US" sz="3200" b="1" dirty="0">
              <a:solidFill>
                <a:srgbClr val="003399"/>
              </a:solidFill>
              <a:latin typeface="Arial" pitchFamily="34" charset="0"/>
              <a:ea typeface="微软雅黑" pitchFamily="34" charset="-122"/>
              <a:cs typeface="Arial" pitchFamily="34" charset="0"/>
            </a:endParaRPr>
          </a:p>
        </p:txBody>
      </p:sp>
      <p:sp>
        <p:nvSpPr>
          <p:cNvPr id="91" name="矩形 90">
            <a:extLst>
              <a:ext uri="{FF2B5EF4-FFF2-40B4-BE49-F238E27FC236}">
                <a16:creationId xmlns:a16="http://schemas.microsoft.com/office/drawing/2014/main" id="{3E4F8E12-7CAB-6584-8F41-5EA8AE1F7D7D}"/>
              </a:ext>
            </a:extLst>
          </p:cNvPr>
          <p:cNvSpPr/>
          <p:nvPr/>
        </p:nvSpPr>
        <p:spPr>
          <a:xfrm>
            <a:off x="3571875" y="538163"/>
            <a:ext cx="2646363" cy="461962"/>
          </a:xfrm>
          <a:prstGeom prst="rect">
            <a:avLst/>
          </a:prstGeom>
        </p:spPr>
        <p:txBody>
          <a:bodyPr wrap="none">
            <a:spAutoFit/>
          </a:bodyPr>
          <a:lstStyle/>
          <a:p>
            <a:pPr>
              <a:defRPr/>
            </a:pPr>
            <a:r>
              <a:rPr lang="zh-CN" altLang="en-US" sz="2400" kern="0" dirty="0">
                <a:solidFill>
                  <a:srgbClr val="003399"/>
                </a:solidFill>
                <a:effectLst>
                  <a:outerShdw blurRad="38100" dist="38100" dir="2700000" algn="tl">
                    <a:srgbClr val="000000">
                      <a:alpha val="43137"/>
                    </a:srgbClr>
                  </a:outerShdw>
                </a:effectLst>
                <a:latin typeface="微软雅黑" pitchFamily="34" charset="-122"/>
                <a:ea typeface="微软雅黑" pitchFamily="34" charset="-122"/>
              </a:rPr>
              <a:t>（连贯式插入法）</a:t>
            </a:r>
            <a:endParaRPr lang="zh-CN" altLang="en-US" sz="2400" dirty="0">
              <a:solidFill>
                <a:srgbClr val="003399"/>
              </a:solidFill>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p:txBody>
      </p:sp>
      <p:sp>
        <p:nvSpPr>
          <p:cNvPr id="35" name="矩形 34">
            <a:extLst>
              <a:ext uri="{FF2B5EF4-FFF2-40B4-BE49-F238E27FC236}">
                <a16:creationId xmlns:a16="http://schemas.microsoft.com/office/drawing/2014/main" id="{7245B84A-24EF-034B-62C4-902768EBDE64}"/>
              </a:ext>
            </a:extLst>
          </p:cNvPr>
          <p:cNvSpPr/>
          <p:nvPr/>
        </p:nvSpPr>
        <p:spPr>
          <a:xfrm>
            <a:off x="784225" y="3519488"/>
            <a:ext cx="1643063" cy="469900"/>
          </a:xfrm>
          <a:prstGeom prst="rect">
            <a:avLst/>
          </a:prstGeom>
          <a:noFill/>
        </p:spPr>
        <p:txBody>
          <a:bodyPr>
            <a:spAutoFit/>
          </a:bodyPr>
          <a:lstStyle/>
          <a:p>
            <a:pPr marL="228600" indent="-228600" eaLnBrk="0" hangingPunct="0">
              <a:lnSpc>
                <a:spcPct val="110000"/>
              </a:lnSpc>
              <a:spcBef>
                <a:spcPct val="20000"/>
              </a:spcBef>
              <a:buClr>
                <a:srgbClr val="FF0000"/>
              </a:buClr>
              <a:buSzPct val="85000"/>
              <a:buFont typeface="Wingdings" pitchFamily="2" charset="2"/>
              <a:buChar char="n"/>
              <a:defRPr/>
            </a:pPr>
            <a:r>
              <a:rPr lang="zh-CN" altLang="en-US" sz="2400" b="1" kern="0" dirty="0">
                <a:solidFill>
                  <a:srgbClr val="003399"/>
                </a:solidFill>
                <a:latin typeface="微软雅黑" pitchFamily="34" charset="-122"/>
                <a:ea typeface="微软雅黑" pitchFamily="34" charset="-122"/>
              </a:rPr>
              <a:t> </a:t>
            </a:r>
            <a:r>
              <a:rPr lang="zh-CN" altLang="en-US" sz="2400" b="1" kern="0" dirty="0">
                <a:latin typeface="微软雅黑" pitchFamily="34" charset="-122"/>
                <a:ea typeface="微软雅黑" pitchFamily="34" charset="-122"/>
              </a:rPr>
              <a:t>要求：</a:t>
            </a:r>
          </a:p>
        </p:txBody>
      </p:sp>
      <p:sp>
        <p:nvSpPr>
          <p:cNvPr id="37" name="矩形 36">
            <a:extLst>
              <a:ext uri="{FF2B5EF4-FFF2-40B4-BE49-F238E27FC236}">
                <a16:creationId xmlns:a16="http://schemas.microsoft.com/office/drawing/2014/main" id="{AFF8F4E1-D8D0-48C2-2156-5841ECF372B4}"/>
              </a:ext>
            </a:extLst>
          </p:cNvPr>
          <p:cNvSpPr/>
          <p:nvPr/>
        </p:nvSpPr>
        <p:spPr>
          <a:xfrm>
            <a:off x="2143125" y="1285875"/>
            <a:ext cx="6429375" cy="554038"/>
          </a:xfrm>
          <a:prstGeom prst="rect">
            <a:avLst/>
          </a:prstGeom>
          <a:noFill/>
          <a:effectLst/>
        </p:spPr>
        <p:txBody>
          <a:bodyPr>
            <a:spAutoFit/>
          </a:bodyPr>
          <a:lstStyle/>
          <a:p>
            <a:pPr marL="342900" indent="-342900">
              <a:lnSpc>
                <a:spcPct val="150000"/>
              </a:lnSpc>
              <a:defRPr/>
            </a:pPr>
            <a:r>
              <a:rPr lang="zh-CN" altLang="zh-CN" sz="2000" dirty="0">
                <a:latin typeface="微软雅黑" pitchFamily="34" charset="-122"/>
                <a:ea typeface="微软雅黑" pitchFamily="34" charset="-122"/>
              </a:rPr>
              <a:t>在</a:t>
            </a:r>
            <a:r>
              <a:rPr lang="zh-CN" altLang="en-US" sz="2000" dirty="0">
                <a:latin typeface="微软雅黑" pitchFamily="34" charset="-122"/>
                <a:ea typeface="微软雅黑" pitchFamily="34" charset="-122"/>
              </a:rPr>
              <a:t>每群</a:t>
            </a:r>
            <a:r>
              <a:rPr lang="zh-CN" altLang="zh-CN" sz="2000" dirty="0">
                <a:latin typeface="微软雅黑" pitchFamily="34" charset="-122"/>
                <a:ea typeface="微软雅黑" pitchFamily="34" charset="-122"/>
              </a:rPr>
              <a:t>的开头</a:t>
            </a:r>
            <a:r>
              <a:rPr lang="zh-CN" altLang="en-US" sz="2000" dirty="0">
                <a:solidFill>
                  <a:srgbClr val="FF0000"/>
                </a:solidFill>
                <a:latin typeface="微软雅黑" pitchFamily="34" charset="-122"/>
                <a:ea typeface="微软雅黑" pitchFamily="34" charset="-122"/>
              </a:rPr>
              <a:t>集</a:t>
            </a:r>
            <a:r>
              <a:rPr lang="zh-CN" altLang="zh-CN" sz="2000" dirty="0">
                <a:solidFill>
                  <a:srgbClr val="FF0000"/>
                </a:solidFill>
                <a:latin typeface="微软雅黑" pitchFamily="34" charset="-122"/>
                <a:ea typeface="微软雅黑" pitchFamily="34" charset="-122"/>
              </a:rPr>
              <a:t>中插入</a:t>
            </a:r>
            <a:r>
              <a:rPr lang="zh-CN" altLang="en-US" sz="2000" dirty="0">
                <a:solidFill>
                  <a:srgbClr val="0000CC"/>
                </a:solidFill>
                <a:effectLst>
                  <a:outerShdw blurRad="38100" dist="38100" dir="2700000" algn="tl">
                    <a:srgbClr val="000000">
                      <a:alpha val="43137"/>
                    </a:srgbClr>
                  </a:outerShdw>
                </a:effectLst>
                <a:latin typeface="微软雅黑" pitchFamily="34" charset="-122"/>
                <a:ea typeface="微软雅黑" pitchFamily="34" charset="-122"/>
              </a:rPr>
              <a:t>群同步码组</a:t>
            </a:r>
            <a:r>
              <a:rPr lang="zh-CN" altLang="en-US" sz="2000" dirty="0">
                <a:latin typeface="+mn-ea"/>
                <a:ea typeface="宋体" charset="-122"/>
              </a:rPr>
              <a:t>，</a:t>
            </a:r>
            <a:r>
              <a:rPr lang="zh-CN" altLang="zh-CN" sz="2000" dirty="0">
                <a:latin typeface="微软雅黑" pitchFamily="34" charset="-122"/>
                <a:ea typeface="微软雅黑" pitchFamily="34" charset="-122"/>
              </a:rPr>
              <a:t>作为</a:t>
            </a:r>
            <a:r>
              <a:rPr lang="zh-CN" altLang="zh-CN" sz="2000" dirty="0">
                <a:solidFill>
                  <a:srgbClr val="0000CC"/>
                </a:solidFill>
                <a:effectLst>
                  <a:outerShdw blurRad="38100" dist="38100" dir="2700000" algn="tl">
                    <a:srgbClr val="000000">
                      <a:alpha val="43137"/>
                    </a:srgbClr>
                  </a:outerShdw>
                </a:effectLst>
                <a:latin typeface="微软雅黑" pitchFamily="34" charset="-122"/>
                <a:ea typeface="微软雅黑" pitchFamily="34" charset="-122"/>
              </a:rPr>
              <a:t>帧标</a:t>
            </a:r>
            <a:r>
              <a:rPr lang="zh-CN" altLang="en-US" sz="2000" dirty="0">
                <a:solidFill>
                  <a:srgbClr val="0000CC"/>
                </a:solidFill>
                <a:effectLst>
                  <a:outerShdw blurRad="38100" dist="38100" dir="2700000" algn="tl">
                    <a:srgbClr val="000000">
                      <a:alpha val="43137"/>
                    </a:srgbClr>
                  </a:outerShdw>
                </a:effectLst>
                <a:latin typeface="微软雅黑" pitchFamily="34" charset="-122"/>
                <a:ea typeface="微软雅黑" pitchFamily="34" charset="-122"/>
              </a:rPr>
              <a:t>记</a:t>
            </a:r>
            <a:r>
              <a:rPr lang="zh-CN" altLang="en-US" sz="2000" dirty="0">
                <a:solidFill>
                  <a:srgbClr val="080808"/>
                </a:solidFill>
                <a:latin typeface="微软雅黑" pitchFamily="34" charset="-122"/>
                <a:ea typeface="微软雅黑" pitchFamily="34" charset="-122"/>
              </a:rPr>
              <a:t>。</a:t>
            </a:r>
            <a:r>
              <a:rPr lang="en-US" altLang="zh-CN" sz="2000" dirty="0">
                <a:solidFill>
                  <a:srgbClr val="080808"/>
                </a:solidFill>
                <a:latin typeface="微软雅黑" pitchFamily="34" charset="-122"/>
                <a:ea typeface="微软雅黑" pitchFamily="34" charset="-122"/>
              </a:rPr>
              <a:t>           </a:t>
            </a:r>
            <a:endParaRPr lang="zh-CN" altLang="zh-CN" sz="2000" dirty="0">
              <a:solidFill>
                <a:srgbClr val="080808"/>
              </a:solidFill>
              <a:latin typeface="微软雅黑" pitchFamily="34" charset="-122"/>
              <a:ea typeface="微软雅黑" pitchFamily="34" charset="-122"/>
            </a:endParaRPr>
          </a:p>
        </p:txBody>
      </p:sp>
      <p:graphicFrame>
        <p:nvGraphicFramePr>
          <p:cNvPr id="16" name="Object 4">
            <a:extLst>
              <a:ext uri="{FF2B5EF4-FFF2-40B4-BE49-F238E27FC236}">
                <a16:creationId xmlns:a16="http://schemas.microsoft.com/office/drawing/2014/main" id="{F8BEE5A8-3BC3-99F4-B934-E45B157F0386}"/>
              </a:ext>
            </a:extLst>
          </p:cNvPr>
          <p:cNvGraphicFramePr>
            <a:graphicFrameLocks noChangeAspect="1"/>
          </p:cNvGraphicFramePr>
          <p:nvPr/>
        </p:nvGraphicFramePr>
        <p:xfrm>
          <a:off x="3673475" y="5357813"/>
          <a:ext cx="2255838" cy="984250"/>
        </p:xfrm>
        <a:graphic>
          <a:graphicData uri="http://schemas.openxmlformats.org/presentationml/2006/ole">
            <mc:AlternateContent xmlns:mc="http://schemas.openxmlformats.org/markup-compatibility/2006">
              <mc:Choice xmlns:v="urn:schemas-microsoft-com:vml" Requires="v">
                <p:oleObj name="Equation" r:id="rId2" imgW="990360" imgH="431640" progId="Equation.DSMT4">
                  <p:embed/>
                </p:oleObj>
              </mc:Choice>
              <mc:Fallback>
                <p:oleObj name="Equation" r:id="rId2" imgW="990360" imgH="43164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3475" y="5357813"/>
                        <a:ext cx="2255838" cy="984250"/>
                      </a:xfrm>
                      <a:prstGeom prst="rect">
                        <a:avLst/>
                      </a:prstGeom>
                      <a:noFill/>
                      <a:ln w="38100" cmpd="dbl">
                        <a:solidFill>
                          <a:srgbClr val="99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rgbClr val="993434"/>
                              </a:outerShdw>
                            </a:effectLst>
                          </a14:hiddenEffects>
                        </a:ext>
                      </a:extLst>
                    </p:spPr>
                  </p:pic>
                </p:oleObj>
              </mc:Fallback>
            </mc:AlternateContent>
          </a:graphicData>
        </a:graphic>
      </p:graphicFrame>
      <p:sp>
        <p:nvSpPr>
          <p:cNvPr id="30733" name="矩形 44">
            <a:extLst>
              <a:ext uri="{FF2B5EF4-FFF2-40B4-BE49-F238E27FC236}">
                <a16:creationId xmlns:a16="http://schemas.microsoft.com/office/drawing/2014/main" id="{8113A348-7406-0017-ACEF-1FBEFAA12C83}"/>
              </a:ext>
            </a:extLst>
          </p:cNvPr>
          <p:cNvSpPr>
            <a:spLocks noChangeArrowheads="1"/>
          </p:cNvSpPr>
          <p:nvPr/>
        </p:nvSpPr>
        <p:spPr bwMode="auto">
          <a:xfrm>
            <a:off x="1071563" y="4730750"/>
            <a:ext cx="7429500" cy="1816100"/>
          </a:xfrm>
          <a:prstGeom prst="rect">
            <a:avLst/>
          </a:prstGeom>
          <a:noFill/>
          <a:ln w="9525">
            <a:noFill/>
            <a:miter lim="800000"/>
            <a:headEnd/>
            <a:tailEnd/>
          </a:ln>
        </p:spPr>
        <p:txBody>
          <a:bodyPr>
            <a:spAutoFit/>
          </a:bodyPr>
          <a:lstStyle/>
          <a:p>
            <a:pPr>
              <a:defRPr/>
            </a:pPr>
            <a:r>
              <a:rPr lang="zh-CN" altLang="en-US" sz="2000" dirty="0">
                <a:solidFill>
                  <a:srgbClr val="000000"/>
                </a:solidFill>
                <a:latin typeface="Arial" charset="0"/>
                <a:ea typeface="微软雅黑" pitchFamily="34" charset="-122"/>
                <a:cs typeface="Arial" charset="0"/>
              </a:rPr>
              <a:t>设有一个</a:t>
            </a:r>
            <a:r>
              <a:rPr lang="en-US" altLang="zh-CN" sz="2400" i="1" dirty="0">
                <a:solidFill>
                  <a:srgbClr val="0000CC"/>
                </a:solidFill>
                <a:latin typeface="Arial" charset="0"/>
                <a:ea typeface="微软雅黑" pitchFamily="34" charset="-122"/>
                <a:cs typeface="Arial" charset="0"/>
              </a:rPr>
              <a:t>n</a:t>
            </a:r>
            <a:r>
              <a:rPr lang="zh-CN" altLang="en-US" sz="2000" dirty="0">
                <a:solidFill>
                  <a:srgbClr val="000000"/>
                </a:solidFill>
                <a:latin typeface="Arial" charset="0"/>
                <a:ea typeface="微软雅黑" pitchFamily="34" charset="-122"/>
                <a:cs typeface="Arial" charset="0"/>
              </a:rPr>
              <a:t>位的码组 </a:t>
            </a:r>
            <a:r>
              <a:rPr lang="en-US" altLang="zh-CN" sz="2000" dirty="0">
                <a:solidFill>
                  <a:srgbClr val="0000CC"/>
                </a:solidFill>
                <a:latin typeface="Arial" charset="0"/>
                <a:ea typeface="微软雅黑" pitchFamily="34" charset="-122"/>
                <a:cs typeface="Arial" charset="0"/>
              </a:rPr>
              <a:t>{</a:t>
            </a:r>
            <a:r>
              <a:rPr lang="en-US" altLang="zh-CN" sz="2000" i="1" dirty="0">
                <a:solidFill>
                  <a:srgbClr val="0000CC"/>
                </a:solidFill>
                <a:latin typeface="Arial" charset="0"/>
                <a:ea typeface="微软雅黑" pitchFamily="34" charset="-122"/>
                <a:cs typeface="Arial" charset="0"/>
              </a:rPr>
              <a:t>x</a:t>
            </a:r>
            <a:r>
              <a:rPr lang="en-US" altLang="zh-CN" sz="2000" baseline="-25000" dirty="0">
                <a:solidFill>
                  <a:srgbClr val="0000CC"/>
                </a:solidFill>
                <a:latin typeface="Arial" charset="0"/>
                <a:ea typeface="微软雅黑" pitchFamily="34" charset="-122"/>
                <a:cs typeface="Arial" charset="0"/>
              </a:rPr>
              <a:t>1</a:t>
            </a:r>
            <a:r>
              <a:rPr lang="en-US" altLang="zh-CN" sz="2000" dirty="0">
                <a:solidFill>
                  <a:srgbClr val="0000CC"/>
                </a:solidFill>
                <a:latin typeface="Arial" charset="0"/>
                <a:ea typeface="微软雅黑" pitchFamily="34" charset="-122"/>
                <a:cs typeface="Arial" charset="0"/>
              </a:rPr>
              <a:t>, </a:t>
            </a:r>
            <a:r>
              <a:rPr lang="en-US" altLang="zh-CN" sz="2000" i="1" dirty="0">
                <a:solidFill>
                  <a:srgbClr val="0000CC"/>
                </a:solidFill>
                <a:latin typeface="Arial" charset="0"/>
                <a:ea typeface="微软雅黑" pitchFamily="34" charset="-122"/>
                <a:cs typeface="Arial" charset="0"/>
              </a:rPr>
              <a:t>x</a:t>
            </a:r>
            <a:r>
              <a:rPr lang="en-US" altLang="zh-CN" sz="2000" baseline="-25000" dirty="0">
                <a:solidFill>
                  <a:srgbClr val="0000CC"/>
                </a:solidFill>
                <a:latin typeface="Arial" charset="0"/>
                <a:ea typeface="微软雅黑" pitchFamily="34" charset="-122"/>
                <a:cs typeface="Arial" charset="0"/>
              </a:rPr>
              <a:t>2</a:t>
            </a:r>
            <a:r>
              <a:rPr lang="en-US" altLang="zh-CN" sz="2000" dirty="0">
                <a:solidFill>
                  <a:srgbClr val="0000CC"/>
                </a:solidFill>
                <a:latin typeface="Arial" charset="0"/>
                <a:ea typeface="微软雅黑" pitchFamily="34" charset="-122"/>
                <a:cs typeface="Arial" charset="0"/>
              </a:rPr>
              <a:t>, …,</a:t>
            </a:r>
            <a:r>
              <a:rPr lang="en-US" altLang="zh-CN" sz="2000" i="1" dirty="0" err="1">
                <a:solidFill>
                  <a:srgbClr val="0000CC"/>
                </a:solidFill>
                <a:latin typeface="Arial" charset="0"/>
                <a:ea typeface="微软雅黑" pitchFamily="34" charset="-122"/>
                <a:cs typeface="Arial" charset="0"/>
              </a:rPr>
              <a:t>x</a:t>
            </a:r>
            <a:r>
              <a:rPr lang="en-US" altLang="zh-CN" sz="2000" i="1" baseline="-25000" dirty="0" err="1">
                <a:solidFill>
                  <a:srgbClr val="0000CC"/>
                </a:solidFill>
                <a:latin typeface="Arial" charset="0"/>
                <a:ea typeface="微软雅黑" pitchFamily="34" charset="-122"/>
                <a:cs typeface="Arial" charset="0"/>
              </a:rPr>
              <a:t>n</a:t>
            </a:r>
            <a:r>
              <a:rPr lang="en-US" altLang="zh-CN" sz="2000" dirty="0">
                <a:solidFill>
                  <a:srgbClr val="0000CC"/>
                </a:solidFill>
                <a:latin typeface="Arial" charset="0"/>
                <a:ea typeface="微软雅黑" pitchFamily="34" charset="-122"/>
                <a:cs typeface="Arial" charset="0"/>
              </a:rPr>
              <a:t>} </a:t>
            </a:r>
            <a:r>
              <a:rPr lang="zh-CN" altLang="en-US" sz="2000" dirty="0">
                <a:solidFill>
                  <a:srgbClr val="000000"/>
                </a:solidFill>
                <a:latin typeface="Arial" charset="0"/>
                <a:ea typeface="微软雅黑" pitchFamily="34" charset="-122"/>
                <a:cs typeface="Arial" charset="0"/>
              </a:rPr>
              <a:t>，其</a:t>
            </a:r>
            <a:r>
              <a:rPr lang="zh-CN" altLang="en-US" sz="2000" dirty="0">
                <a:effectLst>
                  <a:outerShdw blurRad="38100" dist="38100" dir="2700000" algn="tl">
                    <a:srgbClr val="000000">
                      <a:alpha val="43137"/>
                    </a:srgbClr>
                  </a:outerShdw>
                </a:effectLst>
                <a:latin typeface="Arial" pitchFamily="34" charset="0"/>
                <a:ea typeface="微软雅黑" pitchFamily="34" charset="-122"/>
                <a:cs typeface="Arial" pitchFamily="34" charset="0"/>
              </a:rPr>
              <a:t>局部自相关函数定义</a:t>
            </a:r>
            <a:r>
              <a:rPr lang="zh-CN" altLang="en-US" sz="2000" dirty="0">
                <a:latin typeface="Arial" pitchFamily="34" charset="0"/>
                <a:ea typeface="微软雅黑" pitchFamily="34" charset="-122"/>
                <a:cs typeface="Arial" pitchFamily="34" charset="0"/>
              </a:rPr>
              <a:t>为</a:t>
            </a:r>
            <a:endParaRPr lang="zh-CN" altLang="en-US" sz="2000" dirty="0">
              <a:latin typeface="+mn-ea"/>
              <a:ea typeface="+mn-ea"/>
              <a:cs typeface="Arial" pitchFamily="34" charset="0"/>
            </a:endParaRPr>
          </a:p>
          <a:p>
            <a:pPr>
              <a:defRPr/>
            </a:pPr>
            <a:endParaRPr lang="zh-CN" altLang="en-US" dirty="0">
              <a:ea typeface="宋体" charset="-122"/>
            </a:endParaRPr>
          </a:p>
        </p:txBody>
      </p:sp>
      <p:sp>
        <p:nvSpPr>
          <p:cNvPr id="38" name="矩形 37">
            <a:extLst>
              <a:ext uri="{FF2B5EF4-FFF2-40B4-BE49-F238E27FC236}">
                <a16:creationId xmlns:a16="http://schemas.microsoft.com/office/drawing/2014/main" id="{5BC93118-CF7B-F27C-2B0D-F9B7A640F700}"/>
              </a:ext>
            </a:extLst>
          </p:cNvPr>
          <p:cNvSpPr/>
          <p:nvPr/>
        </p:nvSpPr>
        <p:spPr>
          <a:xfrm>
            <a:off x="7546975" y="528638"/>
            <a:ext cx="954088" cy="400050"/>
          </a:xfrm>
          <a:prstGeom prst="rect">
            <a:avLst/>
          </a:prstGeom>
        </p:spPr>
        <p:txBody>
          <a:bodyPr wrap="none">
            <a:spAutoFit/>
          </a:bodyPr>
          <a:lstStyle/>
          <a:p>
            <a:pPr>
              <a:defRPr/>
            </a:pPr>
            <a:r>
              <a:rPr lang="zh-CN" altLang="en-US" sz="2000" kern="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rPr>
              <a:t>群同步</a:t>
            </a:r>
            <a:endParaRPr lang="zh-CN" altLang="en-US" sz="2000" dirty="0">
              <a:solidFill>
                <a:schemeClr val="tx1">
                  <a:lumMod val="65000"/>
                  <a:lumOff val="35000"/>
                </a:schemeClr>
              </a:solidFill>
              <a:effectLst>
                <a:outerShdw blurRad="38100" dist="38100" dir="2700000" algn="tl">
                  <a:srgbClr val="000000">
                    <a:alpha val="43137"/>
                  </a:srgbClr>
                </a:outerShdw>
              </a:effectLst>
              <a:ea typeface="宋体" charset="-122"/>
            </a:endParaRPr>
          </a:p>
        </p:txBody>
      </p:sp>
      <p:pic>
        <p:nvPicPr>
          <p:cNvPr id="23564" name="Picture 12">
            <a:extLst>
              <a:ext uri="{FF2B5EF4-FFF2-40B4-BE49-F238E27FC236}">
                <a16:creationId xmlns:a16="http://schemas.microsoft.com/office/drawing/2014/main" id="{27EE5F5B-02EE-356A-596C-ABC7D853D5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5963" y="3500438"/>
            <a:ext cx="6500812"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1000"/>
                                        <p:tgtEl>
                                          <p:spTgt spid="30"/>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2000"/>
                                        <p:tgtEl>
                                          <p:spTgt spid="2"/>
                                        </p:tgtEl>
                                      </p:cBhvr>
                                    </p:animEffect>
                                  </p:childTnLst>
                                </p:cTn>
                              </p:par>
                            </p:childTnLst>
                          </p:cTn>
                        </p:par>
                        <p:par>
                          <p:cTn id="12" fill="hold" nodeType="afterGroup">
                            <p:stCondLst>
                              <p:cond delay="3000"/>
                            </p:stCondLst>
                            <p:childTnLst>
                              <p:par>
                                <p:cTn id="13" presetID="22" presetClass="entr" presetSubtype="4" fill="hold" nodeType="after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wipe(down)">
                                      <p:cBhvr>
                                        <p:cTn id="15" dur="2000"/>
                                        <p:tgtEl>
                                          <p:spTgt spid="3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nodeType="click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wipe(up)">
                                      <p:cBhvr>
                                        <p:cTn id="20" dur="1000"/>
                                        <p:tgtEl>
                                          <p:spTgt spid="35"/>
                                        </p:tgtEl>
                                      </p:cBhvr>
                                    </p:animEffect>
                                  </p:childTnLst>
                                </p:cTn>
                              </p:par>
                            </p:childTnLst>
                          </p:cTn>
                        </p:par>
                        <p:par>
                          <p:cTn id="21" fill="hold" nodeType="afterGroup">
                            <p:stCondLst>
                              <p:cond delay="1000"/>
                            </p:stCondLst>
                            <p:childTnLst>
                              <p:par>
                                <p:cTn id="22" presetID="22" presetClass="entr" presetSubtype="1" fill="hold" nodeType="afterEffect">
                                  <p:stCondLst>
                                    <p:cond delay="0"/>
                                  </p:stCondLst>
                                  <p:childTnLst>
                                    <p:set>
                                      <p:cBhvr>
                                        <p:cTn id="23" dur="1" fill="hold">
                                          <p:stCondLst>
                                            <p:cond delay="0"/>
                                          </p:stCondLst>
                                        </p:cTn>
                                        <p:tgtEl>
                                          <p:spTgt spid="23564"/>
                                        </p:tgtEl>
                                        <p:attrNameLst>
                                          <p:attrName>style.visibility</p:attrName>
                                        </p:attrNameLst>
                                      </p:cBhvr>
                                      <p:to>
                                        <p:strVal val="visible"/>
                                      </p:to>
                                    </p:set>
                                    <p:animEffect transition="in" filter="wipe(up)">
                                      <p:cBhvr>
                                        <p:cTn id="24" dur="1000"/>
                                        <p:tgtEl>
                                          <p:spTgt spid="23564"/>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30733"/>
                                        </p:tgtEl>
                                        <p:attrNameLst>
                                          <p:attrName>style.visibility</p:attrName>
                                        </p:attrNameLst>
                                      </p:cBhvr>
                                      <p:to>
                                        <p:strVal val="visible"/>
                                      </p:to>
                                    </p:set>
                                    <p:animEffect transition="in" filter="wipe(up)">
                                      <p:cBhvr>
                                        <p:cTn id="29" dur="1000"/>
                                        <p:tgtEl>
                                          <p:spTgt spid="30733"/>
                                        </p:tgtEl>
                                      </p:cBhvr>
                                    </p:animEffect>
                                  </p:childTnLst>
                                </p:cTn>
                              </p:par>
                            </p:childTnLst>
                          </p:cTn>
                        </p:par>
                        <p:par>
                          <p:cTn id="30" fill="hold" nodeType="afterGroup">
                            <p:stCondLst>
                              <p:cond delay="1000"/>
                            </p:stCondLst>
                            <p:childTnLst>
                              <p:par>
                                <p:cTn id="31" presetID="22" presetClass="entr" presetSubtype="1" fill="hold" nodeType="after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up)">
                                      <p:cBhvr>
                                        <p:cTn id="33"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5" grpId="0"/>
      <p:bldP spid="37" grpId="0"/>
      <p:bldP spid="3073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圆角矩形 15">
            <a:extLst>
              <a:ext uri="{FF2B5EF4-FFF2-40B4-BE49-F238E27FC236}">
                <a16:creationId xmlns:a16="http://schemas.microsoft.com/office/drawing/2014/main" id="{BBAD3976-C7C6-3515-B7FE-4C792D1965DA}"/>
              </a:ext>
            </a:extLst>
          </p:cNvPr>
          <p:cNvSpPr/>
          <p:nvPr/>
        </p:nvSpPr>
        <p:spPr bwMode="auto">
          <a:xfrm>
            <a:off x="571500" y="2571750"/>
            <a:ext cx="7929563" cy="3000375"/>
          </a:xfrm>
          <a:prstGeom prst="roundRect">
            <a:avLst/>
          </a:prstGeom>
          <a:solidFill>
            <a:schemeClr val="bg2">
              <a:lumMod val="10000"/>
              <a:lumOff val="90000"/>
            </a:schemeClr>
          </a:solidFill>
          <a:ln w="9525" cap="flat" cmpd="sng" algn="ctr">
            <a:solidFill>
              <a:schemeClr val="tx2">
                <a:lumMod val="20000"/>
                <a:lumOff val="80000"/>
              </a:schemeClr>
            </a:solidFill>
            <a:prstDash val="solid"/>
            <a:miter lim="800000"/>
            <a:headEnd type="none" w="med" len="med"/>
            <a:tailEnd type="none" w="med" len="med"/>
          </a:ln>
          <a:effectLst>
            <a:outerShdw blurRad="50800" dist="38100" dir="2700000" algn="tl" rotWithShape="0">
              <a:prstClr val="black">
                <a:alpha val="40000"/>
              </a:prstClr>
            </a:outerShdw>
          </a:effectLst>
        </p:spPr>
        <p:txBody>
          <a:bodyPr wrap="none"/>
          <a:lstStyle/>
          <a:p>
            <a:pPr>
              <a:defRPr/>
            </a:pPr>
            <a:endParaRPr lang="zh-CN" altLang="en-US" dirty="0">
              <a:ea typeface="宋体" charset="-122"/>
            </a:endParaRPr>
          </a:p>
        </p:txBody>
      </p:sp>
      <p:sp>
        <p:nvSpPr>
          <p:cNvPr id="32773" name="标题 1">
            <a:extLst>
              <a:ext uri="{FF2B5EF4-FFF2-40B4-BE49-F238E27FC236}">
                <a16:creationId xmlns:a16="http://schemas.microsoft.com/office/drawing/2014/main" id="{2A6C3045-6A4A-C044-F3B7-285421C0BB0C}"/>
              </a:ext>
            </a:extLst>
          </p:cNvPr>
          <p:cNvSpPr>
            <a:spLocks noGrp="1"/>
          </p:cNvSpPr>
          <p:nvPr>
            <p:ph type="title"/>
          </p:nvPr>
        </p:nvSpPr>
        <p:spPr bwMode="auto">
          <a:xfrm>
            <a:off x="779463" y="4114800"/>
            <a:ext cx="7793037" cy="6429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ts val="3800"/>
              </a:lnSpc>
            </a:pPr>
            <a:r>
              <a:rPr lang="zh-CN" altLang="en-US" sz="2000">
                <a:solidFill>
                  <a:schemeClr val="tx1"/>
                </a:solidFill>
                <a:latin typeface="Arial" panose="020B0604020202020204" pitchFamily="34" charset="0"/>
                <a:ea typeface="微软雅黑" panose="020B0503020204020204" pitchFamily="34" charset="-122"/>
                <a:cs typeface="Arial" panose="020B0604020202020204" pitchFamily="34" charset="0"/>
              </a:rPr>
              <a:t>         当  </a:t>
            </a:r>
            <a:r>
              <a:rPr lang="en-US" altLang="zh-CN" sz="2000" b="1" i="1">
                <a:solidFill>
                  <a:srgbClr val="FF0000"/>
                </a:solidFill>
                <a:latin typeface="Arial" panose="020B0604020202020204" pitchFamily="34" charset="0"/>
                <a:ea typeface="微软雅黑" panose="020B0503020204020204" pitchFamily="34" charset="-122"/>
                <a:cs typeface="Arial" panose="020B0604020202020204" pitchFamily="34" charset="0"/>
              </a:rPr>
              <a:t>j</a:t>
            </a:r>
            <a:r>
              <a:rPr lang="en-US" altLang="zh-CN" sz="2000" b="1">
                <a:solidFill>
                  <a:srgbClr val="FF0000"/>
                </a:solidFill>
                <a:latin typeface="Arial" panose="020B0604020202020204" pitchFamily="34" charset="0"/>
                <a:ea typeface="微软雅黑" panose="020B0503020204020204" pitchFamily="34" charset="-122"/>
                <a:cs typeface="Arial" panose="020B0604020202020204" pitchFamily="34" charset="0"/>
              </a:rPr>
              <a:t> </a:t>
            </a:r>
            <a:r>
              <a:rPr lang="en-US" altLang="zh-CN" sz="2400" b="1">
                <a:solidFill>
                  <a:srgbClr val="FF0000"/>
                </a:solidFill>
                <a:latin typeface="Arial" panose="020B0604020202020204" pitchFamily="34" charset="0"/>
                <a:ea typeface="微软雅黑" panose="020B0503020204020204" pitchFamily="34" charset="-122"/>
                <a:cs typeface="Arial" panose="020B0604020202020204" pitchFamily="34" charset="0"/>
                <a:sym typeface="Symbol" panose="05050102010706020507" pitchFamily="18" charset="2"/>
              </a:rPr>
              <a:t></a:t>
            </a:r>
            <a:r>
              <a:rPr lang="en-US" altLang="zh-CN" sz="2400" b="1">
                <a:solidFill>
                  <a:srgbClr val="FF0000"/>
                </a:solidFill>
                <a:latin typeface="Arial" panose="020B0604020202020204" pitchFamily="34" charset="0"/>
                <a:ea typeface="微软雅黑" panose="020B0503020204020204" pitchFamily="34" charset="-122"/>
                <a:cs typeface="Arial" panose="020B0604020202020204" pitchFamily="34" charset="0"/>
              </a:rPr>
              <a:t> </a:t>
            </a:r>
            <a:r>
              <a:rPr lang="en-US" altLang="zh-CN" sz="2000" b="1">
                <a:solidFill>
                  <a:srgbClr val="FF0000"/>
                </a:solidFill>
                <a:latin typeface="Arial" panose="020B0604020202020204" pitchFamily="34" charset="0"/>
                <a:ea typeface="微软雅黑" panose="020B0503020204020204" pitchFamily="34" charset="-122"/>
                <a:cs typeface="Arial" panose="020B0604020202020204" pitchFamily="34" charset="0"/>
              </a:rPr>
              <a:t>0 </a:t>
            </a:r>
            <a:r>
              <a:rPr lang="zh-CN" altLang="en-US" sz="2000">
                <a:solidFill>
                  <a:schemeClr val="tx1"/>
                </a:solidFill>
                <a:latin typeface="Arial" panose="020B0604020202020204" pitchFamily="34" charset="0"/>
                <a:ea typeface="微软雅黑" panose="020B0503020204020204" pitchFamily="34" charset="-122"/>
                <a:cs typeface="Arial" panose="020B0604020202020204" pitchFamily="34" charset="0"/>
              </a:rPr>
              <a:t>时，   </a:t>
            </a:r>
            <a:r>
              <a:rPr lang="en-US" altLang="zh-CN" sz="2400" i="1">
                <a:solidFill>
                  <a:schemeClr val="tx1"/>
                </a:solidFill>
                <a:latin typeface="Arial" panose="020B0604020202020204" pitchFamily="34" charset="0"/>
                <a:ea typeface="微软雅黑" panose="020B0503020204020204" pitchFamily="34" charset="-122"/>
                <a:cs typeface="Arial" panose="020B0604020202020204" pitchFamily="34" charset="0"/>
              </a:rPr>
              <a:t>R</a:t>
            </a:r>
            <a:r>
              <a:rPr lang="en-US" altLang="zh-CN" sz="2400">
                <a:solidFill>
                  <a:schemeClr val="tx1"/>
                </a:solidFill>
                <a:latin typeface="Arial" panose="020B0604020202020204" pitchFamily="34" charset="0"/>
                <a:ea typeface="微软雅黑" panose="020B0503020204020204" pitchFamily="34" charset="-122"/>
                <a:cs typeface="Arial" panose="020B0604020202020204" pitchFamily="34" charset="0"/>
              </a:rPr>
              <a:t>( </a:t>
            </a:r>
            <a:r>
              <a:rPr lang="en-US" altLang="zh-CN" sz="2400" i="1">
                <a:solidFill>
                  <a:srgbClr val="FF0000"/>
                </a:solidFill>
                <a:latin typeface="Arial" panose="020B0604020202020204" pitchFamily="34" charset="0"/>
                <a:ea typeface="微软雅黑" panose="020B0503020204020204" pitchFamily="34" charset="-122"/>
                <a:cs typeface="Arial" panose="020B0604020202020204" pitchFamily="34" charset="0"/>
              </a:rPr>
              <a:t>j</a:t>
            </a:r>
            <a:r>
              <a:rPr lang="en-US" altLang="zh-CN" sz="2400" i="1">
                <a:solidFill>
                  <a:schemeClr val="tx1"/>
                </a:solidFill>
                <a:latin typeface="Arial" panose="020B0604020202020204" pitchFamily="34" charset="0"/>
                <a:ea typeface="微软雅黑" panose="020B0503020204020204" pitchFamily="34" charset="-122"/>
                <a:cs typeface="Arial" panose="020B0604020202020204" pitchFamily="34" charset="0"/>
              </a:rPr>
              <a:t> </a:t>
            </a:r>
            <a:r>
              <a:rPr lang="en-US" altLang="zh-CN" sz="2400">
                <a:solidFill>
                  <a:schemeClr val="tx1"/>
                </a:solidFill>
                <a:latin typeface="Arial" panose="020B0604020202020204" pitchFamily="34" charset="0"/>
                <a:ea typeface="微软雅黑" panose="020B0503020204020204" pitchFamily="34" charset="-122"/>
                <a:cs typeface="Arial" panose="020B0604020202020204" pitchFamily="34" charset="0"/>
              </a:rPr>
              <a:t>) </a:t>
            </a:r>
            <a:r>
              <a:rPr lang="zh-CN" altLang="en-US" sz="2000">
                <a:solidFill>
                  <a:schemeClr val="tx1"/>
                </a:solidFill>
                <a:latin typeface="Arial" panose="020B0604020202020204" pitchFamily="34" charset="0"/>
                <a:ea typeface="微软雅黑" panose="020B0503020204020204" pitchFamily="34" charset="-122"/>
                <a:cs typeface="Arial" panose="020B0604020202020204" pitchFamily="34" charset="0"/>
              </a:rPr>
              <a:t>的  值 都  </a:t>
            </a:r>
            <a:r>
              <a:rPr lang="zh-CN" altLang="en-US" sz="2000">
                <a:solidFill>
                  <a:srgbClr val="FF0000"/>
                </a:solidFill>
                <a:latin typeface="Arial" panose="020B0604020202020204" pitchFamily="34" charset="0"/>
                <a:ea typeface="微软雅黑" panose="020B0503020204020204" pitchFamily="34" charset="-122"/>
                <a:cs typeface="Arial" panose="020B0604020202020204" pitchFamily="34" charset="0"/>
              </a:rPr>
              <a:t>很小</a:t>
            </a:r>
            <a:endParaRPr lang="zh-CN" altLang="en-US" sz="200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32774" name="内容占位符 2">
            <a:extLst>
              <a:ext uri="{FF2B5EF4-FFF2-40B4-BE49-F238E27FC236}">
                <a16:creationId xmlns:a16="http://schemas.microsoft.com/office/drawing/2014/main" id="{E97C81C6-848C-D5B1-8867-7F9F78EC4FF9}"/>
              </a:ext>
            </a:extLst>
          </p:cNvPr>
          <p:cNvSpPr>
            <a:spLocks noGrp="1"/>
          </p:cNvSpPr>
          <p:nvPr>
            <p:ph idx="1"/>
          </p:nvPr>
        </p:nvSpPr>
        <p:spPr>
          <a:xfrm>
            <a:off x="1000125" y="3357563"/>
            <a:ext cx="2643188" cy="458787"/>
          </a:xfrm>
        </p:spPr>
        <p:txBody>
          <a:bodyPr/>
          <a:lstStyle/>
          <a:p>
            <a:pPr>
              <a:buFont typeface="Wingdings" panose="05000000000000000000" pitchFamily="2" charset="2"/>
              <a:buNone/>
              <a:defRPr/>
            </a:pPr>
            <a:r>
              <a:rPr lang="zh-CN" altLang="en-US" sz="2000" dirty="0">
                <a:solidFill>
                  <a:srgbClr val="0000CC"/>
                </a:solidFill>
                <a:latin typeface="Arial" charset="0"/>
                <a:ea typeface="微软雅黑" pitchFamily="34" charset="-122"/>
                <a:cs typeface="Arial" charset="0"/>
              </a:rPr>
              <a:t>若</a:t>
            </a:r>
            <a:r>
              <a:rPr lang="zh-CN" altLang="en-US" sz="2000" dirty="0">
                <a:solidFill>
                  <a:srgbClr val="0000CC"/>
                </a:solidFill>
                <a:effectLst>
                  <a:outerShdw blurRad="38100" dist="38100" dir="2700000" algn="tl">
                    <a:srgbClr val="000000">
                      <a:alpha val="43137"/>
                    </a:srgbClr>
                  </a:outerShdw>
                </a:effectLst>
                <a:latin typeface="Arial" charset="0"/>
                <a:ea typeface="微软雅黑" pitchFamily="34" charset="-122"/>
                <a:cs typeface="Arial" charset="0"/>
              </a:rPr>
              <a:t>  </a:t>
            </a:r>
            <a:r>
              <a:rPr lang="zh-CN" altLang="en-US" sz="2000" dirty="0">
                <a:latin typeface="Arial" charset="0"/>
                <a:ea typeface="微软雅黑" pitchFamily="34" charset="-122"/>
                <a:cs typeface="Arial" charset="0"/>
              </a:rPr>
              <a:t>当  </a:t>
            </a:r>
            <a:r>
              <a:rPr lang="en-US" altLang="zh-CN" sz="2000" i="1" dirty="0">
                <a:solidFill>
                  <a:srgbClr val="FF0000"/>
                </a:solidFill>
                <a:latin typeface="Arial" charset="0"/>
                <a:ea typeface="微软雅黑" pitchFamily="34" charset="-122"/>
                <a:cs typeface="Arial" charset="0"/>
              </a:rPr>
              <a:t>j</a:t>
            </a:r>
            <a:r>
              <a:rPr lang="en-US" altLang="zh-CN" sz="2000" dirty="0">
                <a:solidFill>
                  <a:srgbClr val="FF0000"/>
                </a:solidFill>
                <a:latin typeface="Arial" charset="0"/>
                <a:ea typeface="微软雅黑" pitchFamily="34" charset="-122"/>
                <a:cs typeface="Arial" charset="0"/>
              </a:rPr>
              <a:t> = 0 </a:t>
            </a:r>
            <a:r>
              <a:rPr lang="zh-CN" altLang="en-US" sz="2000" dirty="0">
                <a:latin typeface="Arial" charset="0"/>
                <a:ea typeface="微软雅黑" pitchFamily="34" charset="-122"/>
                <a:cs typeface="Arial" charset="0"/>
              </a:rPr>
              <a:t>时，</a:t>
            </a:r>
          </a:p>
        </p:txBody>
      </p:sp>
      <p:sp>
        <p:nvSpPr>
          <p:cNvPr id="4" name="矩形 3">
            <a:extLst>
              <a:ext uri="{FF2B5EF4-FFF2-40B4-BE49-F238E27FC236}">
                <a16:creationId xmlns:a16="http://schemas.microsoft.com/office/drawing/2014/main" id="{8CC7233B-81C7-5DD9-E0DB-D9D8D32D4003}"/>
              </a:ext>
            </a:extLst>
          </p:cNvPr>
          <p:cNvSpPr>
            <a:spLocks noChangeArrowheads="1"/>
          </p:cNvSpPr>
          <p:nvPr/>
        </p:nvSpPr>
        <p:spPr bwMode="auto">
          <a:xfrm>
            <a:off x="785813" y="2655888"/>
            <a:ext cx="3519487" cy="400050"/>
          </a:xfrm>
          <a:prstGeom prst="rect">
            <a:avLst/>
          </a:prstGeom>
          <a:noFill/>
          <a:ln w="9525">
            <a:noFill/>
            <a:miter lim="800000"/>
            <a:headEnd/>
            <a:tailEnd/>
          </a:ln>
        </p:spPr>
        <p:txBody>
          <a:bodyPr wrap="none">
            <a:spAutoFit/>
          </a:bodyPr>
          <a:lstStyle/>
          <a:p>
            <a:pPr>
              <a:buClr>
                <a:srgbClr val="CC3399"/>
              </a:buClr>
              <a:defRPr/>
            </a:pPr>
            <a:r>
              <a:rPr lang="zh-CN" altLang="zh-CN" sz="2000" dirty="0">
                <a:latin typeface="微软雅黑" pitchFamily="34" charset="-122"/>
                <a:ea typeface="微软雅黑" pitchFamily="34" charset="-122"/>
              </a:rPr>
              <a:t>其中，</a:t>
            </a:r>
            <a:r>
              <a:rPr lang="en-US" altLang="zh-CN" sz="2000" dirty="0">
                <a:latin typeface="微软雅黑" pitchFamily="34" charset="-122"/>
                <a:ea typeface="微软雅黑" pitchFamily="34" charset="-122"/>
              </a:rPr>
              <a:t>  </a:t>
            </a:r>
            <a:r>
              <a:rPr lang="en-US" altLang="zh-CN" sz="2000" i="1" dirty="0">
                <a:solidFill>
                  <a:srgbClr val="FF0000"/>
                </a:solidFill>
                <a:latin typeface="Arial" pitchFamily="34" charset="0"/>
                <a:ea typeface="微软雅黑" pitchFamily="34" charset="-122"/>
                <a:cs typeface="Arial" pitchFamily="34" charset="0"/>
              </a:rPr>
              <a:t>j  </a:t>
            </a:r>
            <a:r>
              <a:rPr lang="zh-CN" altLang="zh-CN" sz="2000" dirty="0">
                <a:latin typeface="微软雅黑" pitchFamily="34" charset="-122"/>
                <a:ea typeface="微软雅黑" pitchFamily="34" charset="-122"/>
              </a:rPr>
              <a:t>表示错开的位数</a:t>
            </a:r>
            <a:r>
              <a:rPr lang="en-US" altLang="zh-CN" sz="2000" dirty="0">
                <a:latin typeface="微软雅黑" pitchFamily="34" charset="-122"/>
                <a:ea typeface="微软雅黑" pitchFamily="34" charset="-122"/>
              </a:rPr>
              <a:t> </a:t>
            </a:r>
            <a:r>
              <a:rPr lang="zh-CN" altLang="en-US" sz="2000" dirty="0">
                <a:latin typeface="微软雅黑" pitchFamily="34" charset="-122"/>
                <a:ea typeface="微软雅黑" pitchFamily="34" charset="-122"/>
              </a:rPr>
              <a:t>。</a:t>
            </a:r>
            <a:endParaRPr lang="zh-CN" altLang="zh-CN" sz="2000" dirty="0">
              <a:latin typeface="+mn-ea"/>
              <a:ea typeface="+mn-ea"/>
            </a:endParaRPr>
          </a:p>
        </p:txBody>
      </p:sp>
      <p:graphicFrame>
        <p:nvGraphicFramePr>
          <p:cNvPr id="6" name="Object 4">
            <a:extLst>
              <a:ext uri="{FF2B5EF4-FFF2-40B4-BE49-F238E27FC236}">
                <a16:creationId xmlns:a16="http://schemas.microsoft.com/office/drawing/2014/main" id="{50A72E0B-A761-C2D9-BE97-A2B3D0B29483}"/>
              </a:ext>
            </a:extLst>
          </p:cNvPr>
          <p:cNvGraphicFramePr>
            <a:graphicFrameLocks noChangeAspect="1"/>
          </p:cNvGraphicFramePr>
          <p:nvPr/>
        </p:nvGraphicFramePr>
        <p:xfrm>
          <a:off x="2816225" y="1230313"/>
          <a:ext cx="2255838" cy="984250"/>
        </p:xfrm>
        <a:graphic>
          <a:graphicData uri="http://schemas.openxmlformats.org/presentationml/2006/ole">
            <mc:AlternateContent xmlns:mc="http://schemas.openxmlformats.org/markup-compatibility/2006">
              <mc:Choice xmlns:v="urn:schemas-microsoft-com:vml" Requires="v">
                <p:oleObj name="Equation" r:id="rId2" imgW="990360" imgH="431640" progId="Equation.DSMT4">
                  <p:embed/>
                </p:oleObj>
              </mc:Choice>
              <mc:Fallback>
                <p:oleObj name="Equation" r:id="rId2" imgW="990360" imgH="43164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6225" y="1230313"/>
                        <a:ext cx="2255838" cy="984250"/>
                      </a:xfrm>
                      <a:prstGeom prst="rect">
                        <a:avLst/>
                      </a:prstGeom>
                      <a:noFill/>
                      <a:ln w="38100" cmpd="dbl">
                        <a:solidFill>
                          <a:srgbClr val="99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rgbClr val="993434"/>
                              </a:outerShdw>
                            </a:effectLst>
                          </a14:hiddenEffects>
                        </a:ext>
                      </a:extLst>
                    </p:spPr>
                  </p:pic>
                </p:oleObj>
              </mc:Fallback>
            </mc:AlternateContent>
          </a:graphicData>
        </a:graphic>
      </p:graphicFrame>
      <p:graphicFrame>
        <p:nvGraphicFramePr>
          <p:cNvPr id="32771" name="Object 5">
            <a:extLst>
              <a:ext uri="{FF2B5EF4-FFF2-40B4-BE49-F238E27FC236}">
                <a16:creationId xmlns:a16="http://schemas.microsoft.com/office/drawing/2014/main" id="{65449A58-7EFF-F132-2028-A411E0CDC4FF}"/>
              </a:ext>
            </a:extLst>
          </p:cNvPr>
          <p:cNvGraphicFramePr>
            <a:graphicFrameLocks noChangeAspect="1"/>
          </p:cNvGraphicFramePr>
          <p:nvPr/>
        </p:nvGraphicFramePr>
        <p:xfrm>
          <a:off x="3071813" y="3065463"/>
          <a:ext cx="2428875" cy="1006475"/>
        </p:xfrm>
        <a:graphic>
          <a:graphicData uri="http://schemas.openxmlformats.org/presentationml/2006/ole">
            <mc:AlternateContent xmlns:mc="http://schemas.openxmlformats.org/markup-compatibility/2006">
              <mc:Choice xmlns:v="urn:schemas-microsoft-com:vml" Requires="v">
                <p:oleObj name="Equation" r:id="rId4" imgW="1041120" imgH="431640" progId="Equation.DSMT4">
                  <p:embed/>
                </p:oleObj>
              </mc:Choice>
              <mc:Fallback>
                <p:oleObj name="Equation" r:id="rId4" imgW="1041120" imgH="43164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1813" y="3065463"/>
                        <a:ext cx="242887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sp>
        <p:nvSpPr>
          <p:cNvPr id="10" name="矩形 9">
            <a:extLst>
              <a:ext uri="{FF2B5EF4-FFF2-40B4-BE49-F238E27FC236}">
                <a16:creationId xmlns:a16="http://schemas.microsoft.com/office/drawing/2014/main" id="{7908848C-0594-B6E9-23A7-B726C9A9331D}"/>
              </a:ext>
            </a:extLst>
          </p:cNvPr>
          <p:cNvSpPr/>
          <p:nvPr/>
        </p:nvSpPr>
        <p:spPr>
          <a:xfrm>
            <a:off x="5470525" y="1385888"/>
            <a:ext cx="2989263" cy="400050"/>
          </a:xfrm>
          <a:prstGeom prst="rect">
            <a:avLst/>
          </a:prstGeom>
        </p:spPr>
        <p:txBody>
          <a:bodyPr>
            <a:spAutoFit/>
          </a:bodyPr>
          <a:lstStyle/>
          <a:p>
            <a:pPr>
              <a:defRPr/>
            </a:pPr>
            <a:r>
              <a:rPr lang="en-US" altLang="zh-CN" sz="2000" i="1" kern="0" dirty="0">
                <a:solidFill>
                  <a:srgbClr val="0000CC"/>
                </a:solidFill>
                <a:latin typeface="Arial" pitchFamily="34" charset="0"/>
                <a:ea typeface="微软雅黑" pitchFamily="34" charset="-122"/>
                <a:cs typeface="Arial" pitchFamily="34" charset="0"/>
              </a:rPr>
              <a:t>x</a:t>
            </a:r>
            <a:r>
              <a:rPr lang="en-US" altLang="zh-CN" sz="2000" i="1" kern="0" baseline="-25000" dirty="0">
                <a:solidFill>
                  <a:srgbClr val="0000CC"/>
                </a:solidFill>
                <a:latin typeface="Arial" pitchFamily="34" charset="0"/>
                <a:ea typeface="微软雅黑" pitchFamily="34" charset="-122"/>
                <a:cs typeface="Arial" pitchFamily="34" charset="0"/>
              </a:rPr>
              <a:t>i</a:t>
            </a:r>
            <a:r>
              <a:rPr lang="en-US" altLang="zh-CN" sz="2000" kern="0" dirty="0">
                <a:solidFill>
                  <a:srgbClr val="000000"/>
                </a:solidFill>
                <a:latin typeface="Arial" pitchFamily="34" charset="0"/>
                <a:ea typeface="微软雅黑" pitchFamily="34" charset="-122"/>
                <a:cs typeface="Arial" pitchFamily="34" charset="0"/>
              </a:rPr>
              <a:t> </a:t>
            </a:r>
            <a:r>
              <a:rPr lang="en-US" altLang="zh-CN" sz="2000" kern="0" dirty="0">
                <a:solidFill>
                  <a:srgbClr val="0000CC"/>
                </a:solidFill>
                <a:latin typeface="Arial" pitchFamily="34" charset="0"/>
                <a:ea typeface="微软雅黑" pitchFamily="34" charset="-122"/>
                <a:cs typeface="Arial" pitchFamily="34" charset="0"/>
              </a:rPr>
              <a:t>= +1</a:t>
            </a:r>
            <a:r>
              <a:rPr lang="zh-CN" altLang="en-US" sz="2000" kern="0" dirty="0">
                <a:solidFill>
                  <a:srgbClr val="000000"/>
                </a:solidFill>
                <a:latin typeface="Arial" pitchFamily="34" charset="0"/>
                <a:ea typeface="微软雅黑" pitchFamily="34" charset="-122"/>
                <a:cs typeface="Arial" pitchFamily="34" charset="0"/>
              </a:rPr>
              <a:t>或</a:t>
            </a:r>
            <a:r>
              <a:rPr lang="zh-CN" altLang="en-US" sz="2000" kern="0" dirty="0">
                <a:solidFill>
                  <a:srgbClr val="0000CC"/>
                </a:solidFill>
                <a:latin typeface="Arial" pitchFamily="34" charset="0"/>
                <a:ea typeface="微软雅黑" pitchFamily="34" charset="-122"/>
                <a:cs typeface="Arial" pitchFamily="34" charset="0"/>
              </a:rPr>
              <a:t> </a:t>
            </a:r>
            <a:r>
              <a:rPr lang="en-US" altLang="zh-CN" sz="2000" kern="0" dirty="0">
                <a:solidFill>
                  <a:srgbClr val="0000CC"/>
                </a:solidFill>
                <a:latin typeface="Arial" pitchFamily="34" charset="0"/>
                <a:ea typeface="微软雅黑" pitchFamily="34" charset="-122"/>
                <a:cs typeface="Arial" pitchFamily="34" charset="0"/>
              </a:rPr>
              <a:t>-1 </a:t>
            </a:r>
            <a:r>
              <a:rPr lang="en-US" altLang="zh-CN" sz="2000" kern="0" dirty="0">
                <a:solidFill>
                  <a:srgbClr val="000000"/>
                </a:solidFill>
                <a:latin typeface="Arial" pitchFamily="34" charset="0"/>
                <a:ea typeface="微软雅黑" pitchFamily="34" charset="-122"/>
                <a:cs typeface="Arial" pitchFamily="34" charset="0"/>
              </a:rPr>
              <a:t>(</a:t>
            </a:r>
            <a:r>
              <a:rPr lang="zh-CN" altLang="en-US" sz="2000" kern="0" dirty="0">
                <a:solidFill>
                  <a:srgbClr val="000000"/>
                </a:solidFill>
                <a:latin typeface="Arial" pitchFamily="34" charset="0"/>
                <a:ea typeface="微软雅黑" pitchFamily="34" charset="-122"/>
                <a:cs typeface="Arial" pitchFamily="34" charset="0"/>
              </a:rPr>
              <a:t>当</a:t>
            </a:r>
            <a:r>
              <a:rPr lang="en-US" altLang="zh-CN" sz="2000" kern="0" dirty="0">
                <a:solidFill>
                  <a:srgbClr val="000000"/>
                </a:solidFill>
                <a:latin typeface="Arial" pitchFamily="34" charset="0"/>
                <a:ea typeface="微软雅黑" pitchFamily="34" charset="-122"/>
                <a:cs typeface="Arial" pitchFamily="34" charset="0"/>
              </a:rPr>
              <a:t>1</a:t>
            </a:r>
            <a:r>
              <a:rPr lang="en-US" altLang="zh-CN" sz="2000" kern="0" dirty="0">
                <a:solidFill>
                  <a:srgbClr val="000000"/>
                </a:solidFill>
                <a:latin typeface="Arial" pitchFamily="34" charset="0"/>
                <a:ea typeface="微软雅黑" pitchFamily="34" charset="-122"/>
                <a:cs typeface="Arial" pitchFamily="34" charset="0"/>
                <a:sym typeface="Symbol" pitchFamily="18" charset="2"/>
              </a:rPr>
              <a:t></a:t>
            </a:r>
            <a:r>
              <a:rPr lang="en-US" altLang="zh-CN" sz="2000" kern="0" dirty="0">
                <a:solidFill>
                  <a:srgbClr val="000000"/>
                </a:solidFill>
                <a:latin typeface="Arial" pitchFamily="34" charset="0"/>
                <a:ea typeface="微软雅黑" pitchFamily="34" charset="-122"/>
                <a:cs typeface="Arial" pitchFamily="34" charset="0"/>
              </a:rPr>
              <a:t> </a:t>
            </a:r>
            <a:r>
              <a:rPr lang="en-US" altLang="zh-CN" sz="2000" i="1" kern="0" dirty="0" err="1">
                <a:solidFill>
                  <a:srgbClr val="000000"/>
                </a:solidFill>
                <a:latin typeface="Arial" pitchFamily="34" charset="0"/>
                <a:ea typeface="微软雅黑" pitchFamily="34" charset="-122"/>
                <a:cs typeface="Arial" pitchFamily="34" charset="0"/>
              </a:rPr>
              <a:t>i</a:t>
            </a:r>
            <a:r>
              <a:rPr lang="en-US" altLang="zh-CN" sz="2000" kern="0" dirty="0">
                <a:solidFill>
                  <a:srgbClr val="000000"/>
                </a:solidFill>
                <a:latin typeface="Arial" pitchFamily="34" charset="0"/>
                <a:ea typeface="微软雅黑" pitchFamily="34" charset="-122"/>
                <a:cs typeface="Arial" pitchFamily="34" charset="0"/>
              </a:rPr>
              <a:t> </a:t>
            </a:r>
            <a:r>
              <a:rPr lang="en-US" altLang="zh-CN" sz="2000" kern="0" dirty="0">
                <a:solidFill>
                  <a:srgbClr val="000000"/>
                </a:solidFill>
                <a:latin typeface="Arial" pitchFamily="34" charset="0"/>
                <a:ea typeface="微软雅黑" pitchFamily="34" charset="-122"/>
                <a:cs typeface="Arial" pitchFamily="34" charset="0"/>
                <a:sym typeface="Symbol" pitchFamily="18" charset="2"/>
              </a:rPr>
              <a:t></a:t>
            </a:r>
            <a:r>
              <a:rPr lang="en-US" altLang="zh-CN" sz="2000" kern="0" dirty="0">
                <a:solidFill>
                  <a:srgbClr val="000000"/>
                </a:solidFill>
                <a:latin typeface="Arial" pitchFamily="34" charset="0"/>
                <a:ea typeface="微软雅黑" pitchFamily="34" charset="-122"/>
                <a:cs typeface="Arial" pitchFamily="34" charset="0"/>
              </a:rPr>
              <a:t> </a:t>
            </a:r>
            <a:r>
              <a:rPr lang="en-US" altLang="zh-CN" sz="2000" i="1" kern="0" dirty="0">
                <a:solidFill>
                  <a:srgbClr val="000000"/>
                </a:solidFill>
                <a:latin typeface="Arial" pitchFamily="34" charset="0"/>
                <a:ea typeface="微软雅黑" pitchFamily="34" charset="-122"/>
                <a:cs typeface="Arial" pitchFamily="34" charset="0"/>
              </a:rPr>
              <a:t>n</a:t>
            </a:r>
            <a:r>
              <a:rPr lang="en-US" altLang="zh-CN" sz="2000" kern="0" dirty="0">
                <a:solidFill>
                  <a:srgbClr val="000000"/>
                </a:solidFill>
                <a:latin typeface="Arial" pitchFamily="34" charset="0"/>
                <a:ea typeface="微软雅黑" pitchFamily="34" charset="-122"/>
                <a:cs typeface="Arial" pitchFamily="34" charset="0"/>
              </a:rPr>
              <a:t>) </a:t>
            </a:r>
            <a:endParaRPr lang="zh-CN" altLang="en-US" dirty="0">
              <a:ea typeface="宋体" charset="-122"/>
            </a:endParaRPr>
          </a:p>
        </p:txBody>
      </p:sp>
      <p:sp>
        <p:nvSpPr>
          <p:cNvPr id="11" name="矩形 10">
            <a:extLst>
              <a:ext uri="{FF2B5EF4-FFF2-40B4-BE49-F238E27FC236}">
                <a16:creationId xmlns:a16="http://schemas.microsoft.com/office/drawing/2014/main" id="{67F32028-F387-2D4C-82B2-B744FE5C05E2}"/>
              </a:ext>
            </a:extLst>
          </p:cNvPr>
          <p:cNvSpPr/>
          <p:nvPr/>
        </p:nvSpPr>
        <p:spPr>
          <a:xfrm>
            <a:off x="5470525" y="1854200"/>
            <a:ext cx="2952750" cy="503238"/>
          </a:xfrm>
          <a:prstGeom prst="rect">
            <a:avLst/>
          </a:prstGeom>
        </p:spPr>
        <p:txBody>
          <a:bodyPr>
            <a:spAutoFit/>
          </a:bodyPr>
          <a:lstStyle/>
          <a:p>
            <a:pPr marL="342900" indent="-342900" eaLnBrk="0" hangingPunct="0">
              <a:lnSpc>
                <a:spcPts val="3200"/>
              </a:lnSpc>
              <a:spcBef>
                <a:spcPct val="20000"/>
              </a:spcBef>
              <a:buClr>
                <a:srgbClr val="3333CC"/>
              </a:buClr>
              <a:buSzPct val="60000"/>
              <a:defRPr/>
            </a:pPr>
            <a:r>
              <a:rPr lang="en-US" altLang="zh-CN" sz="2000" i="1" kern="0" dirty="0">
                <a:solidFill>
                  <a:srgbClr val="0000CC"/>
                </a:solidFill>
                <a:latin typeface="Arial" pitchFamily="34" charset="0"/>
                <a:ea typeface="微软雅黑" pitchFamily="34" charset="-122"/>
                <a:cs typeface="Arial" pitchFamily="34" charset="0"/>
              </a:rPr>
              <a:t>x</a:t>
            </a:r>
            <a:r>
              <a:rPr lang="en-US" altLang="zh-CN" sz="2000" i="1" kern="0" baseline="-25000" dirty="0">
                <a:solidFill>
                  <a:srgbClr val="0000CC"/>
                </a:solidFill>
                <a:latin typeface="Arial" pitchFamily="34" charset="0"/>
                <a:ea typeface="微软雅黑" pitchFamily="34" charset="-122"/>
                <a:cs typeface="Arial" pitchFamily="34" charset="0"/>
              </a:rPr>
              <a:t>i</a:t>
            </a:r>
            <a:r>
              <a:rPr lang="en-US" altLang="zh-CN" sz="2000" kern="0" dirty="0">
                <a:solidFill>
                  <a:srgbClr val="0000CC"/>
                </a:solidFill>
                <a:latin typeface="Arial" pitchFamily="34" charset="0"/>
                <a:ea typeface="微软雅黑" pitchFamily="34" charset="-122"/>
                <a:cs typeface="Arial" pitchFamily="34" charset="0"/>
              </a:rPr>
              <a:t> =</a:t>
            </a:r>
            <a:r>
              <a:rPr lang="zh-CN" altLang="en-US" sz="2000" kern="0" dirty="0">
                <a:solidFill>
                  <a:srgbClr val="0000CC"/>
                </a:solidFill>
                <a:latin typeface="Arial" pitchFamily="34" charset="0"/>
                <a:ea typeface="微软雅黑" pitchFamily="34" charset="-122"/>
                <a:cs typeface="Arial" pitchFamily="34" charset="0"/>
              </a:rPr>
              <a:t> </a:t>
            </a:r>
            <a:r>
              <a:rPr lang="en-US" altLang="zh-CN" sz="2000" kern="0" dirty="0">
                <a:solidFill>
                  <a:srgbClr val="0000CC"/>
                </a:solidFill>
                <a:latin typeface="Arial" pitchFamily="34" charset="0"/>
                <a:ea typeface="微软雅黑" pitchFamily="34" charset="-122"/>
                <a:cs typeface="Arial" pitchFamily="34" charset="0"/>
              </a:rPr>
              <a:t>0</a:t>
            </a:r>
            <a:r>
              <a:rPr lang="zh-CN" altLang="en-US" sz="2000" kern="0" dirty="0">
                <a:solidFill>
                  <a:srgbClr val="0000CC"/>
                </a:solidFill>
                <a:latin typeface="Arial" pitchFamily="34" charset="0"/>
                <a:ea typeface="微软雅黑" pitchFamily="34" charset="-122"/>
                <a:cs typeface="Arial" pitchFamily="34" charset="0"/>
              </a:rPr>
              <a:t>      </a:t>
            </a:r>
            <a:r>
              <a:rPr lang="en-US" altLang="zh-CN" sz="2000" kern="0" dirty="0">
                <a:solidFill>
                  <a:srgbClr val="000000"/>
                </a:solidFill>
                <a:latin typeface="Arial" pitchFamily="34" charset="0"/>
                <a:ea typeface="微软雅黑" pitchFamily="34" charset="-122"/>
                <a:cs typeface="Arial" pitchFamily="34" charset="0"/>
              </a:rPr>
              <a:t>(</a:t>
            </a:r>
            <a:r>
              <a:rPr lang="zh-CN" altLang="en-US" sz="2000" kern="0" dirty="0">
                <a:solidFill>
                  <a:srgbClr val="000000"/>
                </a:solidFill>
                <a:latin typeface="Arial" pitchFamily="34" charset="0"/>
                <a:ea typeface="微软雅黑" pitchFamily="34" charset="-122"/>
                <a:cs typeface="Arial" pitchFamily="34" charset="0"/>
              </a:rPr>
              <a:t>当</a:t>
            </a:r>
            <a:r>
              <a:rPr lang="en-US" altLang="zh-CN" sz="2000" kern="0" dirty="0">
                <a:solidFill>
                  <a:srgbClr val="000000"/>
                </a:solidFill>
                <a:latin typeface="Arial" pitchFamily="34" charset="0"/>
                <a:ea typeface="微软雅黑" pitchFamily="34" charset="-122"/>
                <a:cs typeface="Arial" pitchFamily="34" charset="0"/>
              </a:rPr>
              <a:t>1&gt; </a:t>
            </a:r>
            <a:r>
              <a:rPr lang="en-US" altLang="zh-CN" sz="2000" i="1" kern="0" dirty="0" err="1">
                <a:solidFill>
                  <a:srgbClr val="000000"/>
                </a:solidFill>
                <a:latin typeface="Arial" pitchFamily="34" charset="0"/>
                <a:ea typeface="微软雅黑" pitchFamily="34" charset="-122"/>
                <a:cs typeface="Arial" pitchFamily="34" charset="0"/>
              </a:rPr>
              <a:t>i</a:t>
            </a:r>
            <a:r>
              <a:rPr lang="en-US" altLang="zh-CN" sz="2000" kern="0" dirty="0">
                <a:solidFill>
                  <a:srgbClr val="000000"/>
                </a:solidFill>
                <a:latin typeface="Arial" pitchFamily="34" charset="0"/>
                <a:ea typeface="微软雅黑" pitchFamily="34" charset="-122"/>
                <a:cs typeface="Arial" pitchFamily="34" charset="0"/>
              </a:rPr>
              <a:t> </a:t>
            </a:r>
            <a:r>
              <a:rPr lang="zh-CN" altLang="en-US" sz="2000" kern="0" dirty="0">
                <a:solidFill>
                  <a:srgbClr val="000000"/>
                </a:solidFill>
                <a:latin typeface="Arial" pitchFamily="34" charset="0"/>
                <a:ea typeface="微软雅黑" pitchFamily="34" charset="-122"/>
                <a:cs typeface="Arial" pitchFamily="34" charset="0"/>
              </a:rPr>
              <a:t>和</a:t>
            </a:r>
            <a:r>
              <a:rPr lang="en-US" altLang="zh-CN" sz="2000" i="1" kern="0" dirty="0" err="1">
                <a:solidFill>
                  <a:srgbClr val="000000"/>
                </a:solidFill>
                <a:latin typeface="Arial" pitchFamily="34" charset="0"/>
                <a:ea typeface="微软雅黑" pitchFamily="34" charset="-122"/>
                <a:cs typeface="Arial" pitchFamily="34" charset="0"/>
              </a:rPr>
              <a:t>i</a:t>
            </a:r>
            <a:r>
              <a:rPr lang="en-US" altLang="zh-CN" sz="2000" kern="0" dirty="0">
                <a:solidFill>
                  <a:srgbClr val="000000"/>
                </a:solidFill>
                <a:latin typeface="Arial" pitchFamily="34" charset="0"/>
                <a:ea typeface="微软雅黑" pitchFamily="34" charset="-122"/>
                <a:cs typeface="Arial" pitchFamily="34" charset="0"/>
              </a:rPr>
              <a:t> &gt;n)</a:t>
            </a:r>
            <a:endParaRPr lang="zh-CN" altLang="en-US" sz="2000" kern="0" dirty="0">
              <a:solidFill>
                <a:srgbClr val="000000"/>
              </a:solidFill>
              <a:latin typeface="Arial" pitchFamily="34" charset="0"/>
              <a:ea typeface="微软雅黑" pitchFamily="34" charset="-122"/>
              <a:cs typeface="Arial" pitchFamily="34" charset="0"/>
            </a:endParaRPr>
          </a:p>
        </p:txBody>
      </p:sp>
      <p:sp>
        <p:nvSpPr>
          <p:cNvPr id="12" name="矩形 11">
            <a:extLst>
              <a:ext uri="{FF2B5EF4-FFF2-40B4-BE49-F238E27FC236}">
                <a16:creationId xmlns:a16="http://schemas.microsoft.com/office/drawing/2014/main" id="{8F779789-5D83-2924-CF03-9865A799A96C}"/>
              </a:ext>
            </a:extLst>
          </p:cNvPr>
          <p:cNvSpPr/>
          <p:nvPr/>
        </p:nvSpPr>
        <p:spPr>
          <a:xfrm>
            <a:off x="5643563" y="3328988"/>
            <a:ext cx="1312862" cy="461962"/>
          </a:xfrm>
          <a:prstGeom prst="rect">
            <a:avLst/>
          </a:prstGeom>
        </p:spPr>
        <p:txBody>
          <a:bodyPr wrap="none">
            <a:spAutoFit/>
          </a:bodyPr>
          <a:lstStyle/>
          <a:p>
            <a:pPr>
              <a:defRPr/>
            </a:pPr>
            <a:r>
              <a:rPr lang="en-US" altLang="zh-CN" sz="2000" kern="0" dirty="0">
                <a:solidFill>
                  <a:schemeClr val="bg1">
                    <a:lumMod val="50000"/>
                  </a:schemeClr>
                </a:solidFill>
                <a:latin typeface="+mn-ea"/>
                <a:ea typeface="+mn-ea"/>
                <a:cs typeface="+mj-cs"/>
              </a:rPr>
              <a:t>——</a:t>
            </a:r>
            <a:r>
              <a:rPr lang="zh-CN" altLang="en-US" sz="2400" kern="0" dirty="0">
                <a:solidFill>
                  <a:srgbClr val="FF0000"/>
                </a:solidFill>
                <a:latin typeface="微软雅黑" pitchFamily="34" charset="-122"/>
                <a:ea typeface="微软雅黑" pitchFamily="34" charset="-122"/>
                <a:cs typeface="+mj-cs"/>
              </a:rPr>
              <a:t>峰值</a:t>
            </a:r>
            <a:endParaRPr lang="zh-CN" altLang="en-US" sz="2400" dirty="0">
              <a:solidFill>
                <a:srgbClr val="FF0000"/>
              </a:solidFill>
              <a:latin typeface="微软雅黑" pitchFamily="34" charset="-122"/>
              <a:ea typeface="微软雅黑" pitchFamily="34" charset="-122"/>
            </a:endParaRPr>
          </a:p>
        </p:txBody>
      </p:sp>
      <p:sp>
        <p:nvSpPr>
          <p:cNvPr id="15" name="矩形 14">
            <a:extLst>
              <a:ext uri="{FF2B5EF4-FFF2-40B4-BE49-F238E27FC236}">
                <a16:creationId xmlns:a16="http://schemas.microsoft.com/office/drawing/2014/main" id="{F1AFBA6E-DA5F-5AA6-2E8F-2C34A41EE431}"/>
              </a:ext>
            </a:extLst>
          </p:cNvPr>
          <p:cNvSpPr/>
          <p:nvPr/>
        </p:nvSpPr>
        <p:spPr>
          <a:xfrm>
            <a:off x="1214438" y="5807075"/>
            <a:ext cx="7143750" cy="606425"/>
          </a:xfrm>
          <a:prstGeom prst="rect">
            <a:avLst/>
          </a:prstGeom>
        </p:spPr>
        <p:txBody>
          <a:bodyPr>
            <a:spAutoFit/>
          </a:bodyPr>
          <a:lstStyle/>
          <a:p>
            <a:pPr marL="342900" indent="-342900">
              <a:lnSpc>
                <a:spcPts val="4000"/>
              </a:lnSpc>
              <a:buClr>
                <a:srgbClr val="CC00CC"/>
              </a:buClr>
              <a:buSzPct val="70000"/>
              <a:defRPr/>
            </a:pPr>
            <a:r>
              <a:rPr lang="zh-CN" altLang="en-US" sz="2000" dirty="0">
                <a:latin typeface="微软雅黑" pitchFamily="34" charset="-122"/>
                <a:ea typeface="微软雅黑" pitchFamily="34" charset="-122"/>
              </a:rPr>
              <a:t>下面介绍</a:t>
            </a:r>
            <a:r>
              <a:rPr lang="en-US" altLang="zh-CN" sz="2000" dirty="0">
                <a:latin typeface="微软雅黑" pitchFamily="34" charset="-122"/>
                <a:ea typeface="微软雅黑" pitchFamily="34" charset="-122"/>
              </a:rPr>
              <a:t> </a:t>
            </a:r>
            <a:r>
              <a:rPr lang="zh-CN" altLang="zh-CN" sz="2000" dirty="0">
                <a:latin typeface="微软雅黑" pitchFamily="34" charset="-122"/>
                <a:ea typeface="微软雅黑" pitchFamily="34" charset="-122"/>
              </a:rPr>
              <a:t>一种常用的帧同步码组</a:t>
            </a:r>
            <a:r>
              <a:rPr lang="en-US" altLang="zh-CN" sz="2000" dirty="0">
                <a:latin typeface="微软雅黑" pitchFamily="34" charset="-122"/>
                <a:ea typeface="微软雅黑" pitchFamily="34" charset="-122"/>
              </a:rPr>
              <a:t> </a:t>
            </a:r>
            <a:r>
              <a:rPr lang="en-US" altLang="zh-CN" sz="2000" dirty="0">
                <a:effectLst>
                  <a:outerShdw blurRad="38100" dist="38100" dir="2700000" algn="tl">
                    <a:srgbClr val="000000">
                      <a:alpha val="43137"/>
                    </a:srgbClr>
                  </a:outerShdw>
                </a:effectLst>
                <a:latin typeface="微软雅黑" pitchFamily="34" charset="-122"/>
                <a:ea typeface="微软雅黑" pitchFamily="34" charset="-122"/>
              </a:rPr>
              <a:t>—— </a:t>
            </a:r>
            <a:r>
              <a:rPr lang="zh-CN" altLang="zh-CN" sz="24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巴克码</a:t>
            </a:r>
            <a:endParaRPr lang="en-US" altLang="zh-CN" sz="2400" dirty="0">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17" name="矩形 16">
            <a:extLst>
              <a:ext uri="{FF2B5EF4-FFF2-40B4-BE49-F238E27FC236}">
                <a16:creationId xmlns:a16="http://schemas.microsoft.com/office/drawing/2014/main" id="{36F4140C-0FA9-E410-F9A6-C3097005F039}"/>
              </a:ext>
            </a:extLst>
          </p:cNvPr>
          <p:cNvSpPr/>
          <p:nvPr/>
        </p:nvSpPr>
        <p:spPr>
          <a:xfrm>
            <a:off x="998538" y="5000625"/>
            <a:ext cx="7573962" cy="461963"/>
          </a:xfrm>
          <a:prstGeom prst="rect">
            <a:avLst/>
          </a:prstGeom>
        </p:spPr>
        <p:txBody>
          <a:bodyPr>
            <a:spAutoFit/>
          </a:bodyPr>
          <a:lstStyle/>
          <a:p>
            <a:pPr>
              <a:defRPr/>
            </a:pPr>
            <a:r>
              <a:rPr lang="zh-CN" altLang="en-US" sz="2000" kern="0" dirty="0">
                <a:solidFill>
                  <a:srgbClr val="0000CC"/>
                </a:solidFill>
                <a:latin typeface="Arial" charset="0"/>
                <a:ea typeface="微软雅黑" pitchFamily="34" charset="-122"/>
                <a:cs typeface="Arial" charset="0"/>
              </a:rPr>
              <a:t>则</a:t>
            </a:r>
            <a:r>
              <a:rPr lang="zh-CN" altLang="en-US" sz="2000" kern="0" dirty="0">
                <a:solidFill>
                  <a:srgbClr val="000000"/>
                </a:solidFill>
                <a:latin typeface="Arial" charset="0"/>
                <a:ea typeface="微软雅黑" pitchFamily="34" charset="-122"/>
                <a:cs typeface="Arial" charset="0"/>
              </a:rPr>
              <a:t>可用求自相关函数的方法</a:t>
            </a:r>
            <a:r>
              <a:rPr lang="zh-CN" altLang="en-US" sz="2000" kern="0" dirty="0">
                <a:solidFill>
                  <a:srgbClr val="0000CC"/>
                </a:solidFill>
                <a:latin typeface="Arial" charset="0"/>
                <a:ea typeface="微软雅黑" pitchFamily="34" charset="-122"/>
                <a:cs typeface="Arial" charset="0"/>
              </a:rPr>
              <a:t>寻找 </a:t>
            </a:r>
            <a:r>
              <a:rPr lang="zh-CN" altLang="en-US" sz="2000" kern="0" dirty="0">
                <a:solidFill>
                  <a:srgbClr val="FF0000"/>
                </a:solidFill>
                <a:latin typeface="Arial" charset="0"/>
                <a:ea typeface="微软雅黑" pitchFamily="34" charset="-122"/>
                <a:cs typeface="Arial" charset="0"/>
              </a:rPr>
              <a:t>峰值 </a:t>
            </a:r>
            <a:r>
              <a:rPr lang="en-US" altLang="zh-CN" sz="2400" dirty="0">
                <a:effectLst>
                  <a:outerShdw blurRad="38100" dist="38100" dir="2700000" algn="tl">
                    <a:srgbClr val="000000">
                      <a:alpha val="43137"/>
                    </a:srgbClr>
                  </a:outerShdw>
                </a:effectLst>
                <a:latin typeface="Times New Roman" pitchFamily="18" charset="0"/>
                <a:cs typeface="Times New Roman" pitchFamily="18" charset="0"/>
                <a:sym typeface="Wingdings" pitchFamily="2" charset="2"/>
              </a:rPr>
              <a:t></a:t>
            </a:r>
            <a:r>
              <a:rPr lang="en-US" altLang="zh-CN" sz="2400" dirty="0">
                <a:latin typeface="Times New Roman" pitchFamily="18" charset="0"/>
                <a:cs typeface="Times New Roman" pitchFamily="18" charset="0"/>
                <a:sym typeface="Wingdings" pitchFamily="2" charset="2"/>
              </a:rPr>
              <a:t> </a:t>
            </a:r>
            <a:r>
              <a:rPr lang="zh-CN" altLang="en-US" sz="2000" kern="0" dirty="0">
                <a:solidFill>
                  <a:srgbClr val="0000CC"/>
                </a:solidFill>
                <a:latin typeface="Arial" charset="0"/>
                <a:ea typeface="微软雅黑" pitchFamily="34" charset="-122"/>
                <a:cs typeface="Arial" charset="0"/>
              </a:rPr>
              <a:t>发现 </a:t>
            </a:r>
            <a:r>
              <a:rPr lang="zh-CN" altLang="en-US" sz="2000" kern="0" dirty="0">
                <a:solidFill>
                  <a:srgbClr val="FF0000"/>
                </a:solidFill>
                <a:latin typeface="Arial" charset="0"/>
                <a:ea typeface="微软雅黑" pitchFamily="34" charset="-122"/>
                <a:cs typeface="Arial" charset="0"/>
              </a:rPr>
              <a:t>同步码组 </a:t>
            </a:r>
            <a:r>
              <a:rPr lang="zh-CN" altLang="en-US" sz="2000" kern="0" dirty="0">
                <a:solidFill>
                  <a:srgbClr val="000000"/>
                </a:solidFill>
                <a:latin typeface="Arial" charset="0"/>
                <a:ea typeface="微软雅黑" pitchFamily="34" charset="-122"/>
                <a:cs typeface="Arial" charset="0"/>
              </a:rPr>
              <a:t>的位置。</a:t>
            </a:r>
            <a:endParaRPr lang="zh-CN" altLang="en-US" dirty="0">
              <a:ea typeface="宋体"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2000"/>
                                        <p:tgtEl>
                                          <p:spTgt spid="10"/>
                                        </p:tgtEl>
                                      </p:cBhvr>
                                    </p:animEffect>
                                  </p:childTnLst>
                                </p:cTn>
                              </p:par>
                            </p:childTnLst>
                          </p:cTn>
                        </p:par>
                        <p:par>
                          <p:cTn id="8" fill="hold" nodeType="afterGroup">
                            <p:stCondLst>
                              <p:cond delay="2000"/>
                            </p:stCondLst>
                            <p:childTnLst>
                              <p:par>
                                <p:cTn id="9" presetID="22" presetClass="entr" presetSubtype="8"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2000"/>
                                        <p:tgtEl>
                                          <p:spTgt spid="1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up)">
                                      <p:cBhvr>
                                        <p:cTn id="16" dur="1000"/>
                                        <p:tgtEl>
                                          <p:spTgt spid="4"/>
                                        </p:tgtEl>
                                      </p:cBhvr>
                                    </p:animEffect>
                                  </p:childTnLst>
                                </p:cTn>
                              </p:par>
                              <p:par>
                                <p:cTn id="17" presetID="22" presetClass="entr" presetSubtype="1"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up)">
                                      <p:cBhvr>
                                        <p:cTn id="19" dur="1000"/>
                                        <p:tgtEl>
                                          <p:spTgt spid="16"/>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32774">
                                            <p:txEl>
                                              <p:pRg st="0" end="0"/>
                                            </p:txEl>
                                          </p:spTgt>
                                        </p:tgtEl>
                                        <p:attrNameLst>
                                          <p:attrName>style.visibility</p:attrName>
                                        </p:attrNameLst>
                                      </p:cBhvr>
                                      <p:to>
                                        <p:strVal val="visible"/>
                                      </p:to>
                                    </p:set>
                                    <p:animEffect transition="in" filter="wipe(left)">
                                      <p:cBhvr>
                                        <p:cTn id="24" dur="1000"/>
                                        <p:tgtEl>
                                          <p:spTgt spid="32774">
                                            <p:txEl>
                                              <p:pRg st="0" end="0"/>
                                            </p:txEl>
                                          </p:spTgt>
                                        </p:tgtEl>
                                      </p:cBhvr>
                                    </p:animEffect>
                                  </p:childTnLst>
                                </p:cTn>
                              </p:par>
                            </p:childTnLst>
                          </p:cTn>
                        </p:par>
                        <p:par>
                          <p:cTn id="25" fill="hold" nodeType="afterGroup">
                            <p:stCondLst>
                              <p:cond delay="1000"/>
                            </p:stCondLst>
                            <p:childTnLst>
                              <p:par>
                                <p:cTn id="26" presetID="22" presetClass="entr" presetSubtype="8" fill="hold" nodeType="afterEffect">
                                  <p:stCondLst>
                                    <p:cond delay="0"/>
                                  </p:stCondLst>
                                  <p:childTnLst>
                                    <p:set>
                                      <p:cBhvr>
                                        <p:cTn id="27" dur="1" fill="hold">
                                          <p:stCondLst>
                                            <p:cond delay="0"/>
                                          </p:stCondLst>
                                        </p:cTn>
                                        <p:tgtEl>
                                          <p:spTgt spid="32771"/>
                                        </p:tgtEl>
                                        <p:attrNameLst>
                                          <p:attrName>style.visibility</p:attrName>
                                        </p:attrNameLst>
                                      </p:cBhvr>
                                      <p:to>
                                        <p:strVal val="visible"/>
                                      </p:to>
                                    </p:set>
                                    <p:animEffect transition="in" filter="wipe(left)">
                                      <p:cBhvr>
                                        <p:cTn id="28" dur="1000"/>
                                        <p:tgtEl>
                                          <p:spTgt spid="32771"/>
                                        </p:tgtEl>
                                      </p:cBhvr>
                                    </p:animEffect>
                                  </p:childTnLst>
                                </p:cTn>
                              </p:par>
                            </p:childTnLst>
                          </p:cTn>
                        </p:par>
                        <p:par>
                          <p:cTn id="29" fill="hold" nodeType="afterGroup">
                            <p:stCondLst>
                              <p:cond delay="2000"/>
                            </p:stCondLst>
                            <p:childTnLst>
                              <p:par>
                                <p:cTn id="30" presetID="22" presetClass="entr" presetSubtype="8" fill="hold"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1000"/>
                                        <p:tgtEl>
                                          <p:spTgt spid="1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32773"/>
                                        </p:tgtEl>
                                        <p:attrNameLst>
                                          <p:attrName>style.visibility</p:attrName>
                                        </p:attrNameLst>
                                      </p:cBhvr>
                                      <p:to>
                                        <p:strVal val="visible"/>
                                      </p:to>
                                    </p:set>
                                    <p:animEffect transition="in" filter="wipe(up)">
                                      <p:cBhvr>
                                        <p:cTn id="37" dur="2000"/>
                                        <p:tgtEl>
                                          <p:spTgt spid="3277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up)">
                                      <p:cBhvr>
                                        <p:cTn id="42" dur="1000"/>
                                        <p:tgtEl>
                                          <p:spTgt spid="1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left)">
                                      <p:cBhvr>
                                        <p:cTn id="47"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32773" grpId="0"/>
      <p:bldP spid="32774" grpId="0" build="p"/>
      <p:bldP spid="4" grpId="0"/>
      <p:bldP spid="10" grpId="0"/>
      <p:bldP spid="11" grpId="0"/>
      <p:bldP spid="12" grpId="0"/>
      <p:bldP spid="15" grpId="0"/>
      <p:bldP spid="1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FF64888F-5154-F497-8370-56879A9673B3}"/>
              </a:ext>
            </a:extLst>
          </p:cNvPr>
          <p:cNvSpPr>
            <a:spLocks noChangeArrowheads="1"/>
          </p:cNvSpPr>
          <p:nvPr/>
        </p:nvSpPr>
        <p:spPr bwMode="auto">
          <a:xfrm>
            <a:off x="657225" y="1636713"/>
            <a:ext cx="7629525" cy="1220787"/>
          </a:xfrm>
          <a:prstGeom prst="rect">
            <a:avLst/>
          </a:prstGeom>
          <a:noFill/>
          <a:ln w="9525">
            <a:noFill/>
            <a:miter lim="800000"/>
            <a:headEnd/>
            <a:tailEnd/>
          </a:ln>
        </p:spPr>
        <p:txBody>
          <a:bodyPr>
            <a:spAutoFit/>
          </a:bodyPr>
          <a:lstStyle/>
          <a:p>
            <a:pPr marL="342900" indent="-342900">
              <a:lnSpc>
                <a:spcPts val="4400"/>
              </a:lnSpc>
              <a:buClr>
                <a:srgbClr val="CC00CC"/>
              </a:buClr>
              <a:buSzPct val="70000"/>
              <a:defRPr/>
            </a:pPr>
            <a:r>
              <a:rPr lang="en-US" altLang="zh-CN" sz="2000" dirty="0">
                <a:latin typeface="Arial" charset="0"/>
                <a:ea typeface="微软雅黑" pitchFamily="34" charset="-122"/>
                <a:cs typeface="Arial" charset="0"/>
              </a:rPr>
              <a:t>     </a:t>
            </a:r>
            <a:r>
              <a:rPr lang="zh-CN" altLang="en-US" sz="2000" dirty="0">
                <a:latin typeface="Arial" charset="0"/>
                <a:ea typeface="微软雅黑" pitchFamily="34" charset="-122"/>
                <a:cs typeface="Arial" charset="0"/>
              </a:rPr>
              <a:t>设</a:t>
            </a:r>
            <a:r>
              <a:rPr lang="en-US" altLang="zh-CN" sz="2000" dirty="0">
                <a:latin typeface="Arial" charset="0"/>
                <a:ea typeface="微软雅黑" pitchFamily="34" charset="-122"/>
                <a:cs typeface="Arial" charset="0"/>
              </a:rPr>
              <a:t> </a:t>
            </a:r>
            <a:r>
              <a:rPr lang="zh-CN" altLang="zh-CN" sz="2000" dirty="0">
                <a:latin typeface="Arial" charset="0"/>
                <a:ea typeface="微软雅黑" pitchFamily="34" charset="-122"/>
                <a:cs typeface="Arial" charset="0"/>
              </a:rPr>
              <a:t>一个</a:t>
            </a:r>
            <a:r>
              <a:rPr lang="en-US" altLang="zh-CN" sz="2400" i="1" dirty="0">
                <a:solidFill>
                  <a:srgbClr val="0000CC"/>
                </a:solidFill>
                <a:latin typeface="Arial" charset="0"/>
                <a:ea typeface="微软雅黑" pitchFamily="34" charset="-122"/>
                <a:cs typeface="Arial" charset="0"/>
              </a:rPr>
              <a:t>n </a:t>
            </a:r>
            <a:r>
              <a:rPr lang="zh-CN" altLang="zh-CN" sz="2000" dirty="0">
                <a:latin typeface="Arial" charset="0"/>
                <a:ea typeface="微软雅黑" pitchFamily="34" charset="-122"/>
                <a:cs typeface="Arial" charset="0"/>
              </a:rPr>
              <a:t>位</a:t>
            </a:r>
            <a:r>
              <a:rPr lang="zh-CN" altLang="en-US" sz="2000" dirty="0">
                <a:latin typeface="Arial" charset="0"/>
                <a:ea typeface="微软雅黑" pitchFamily="34" charset="-122"/>
                <a:cs typeface="Arial" charset="0"/>
              </a:rPr>
              <a:t>的巴克</a:t>
            </a:r>
            <a:r>
              <a:rPr lang="zh-CN" altLang="zh-CN" sz="2000" dirty="0">
                <a:latin typeface="Arial" charset="0"/>
                <a:ea typeface="微软雅黑" pitchFamily="34" charset="-122"/>
                <a:cs typeface="Arial" charset="0"/>
              </a:rPr>
              <a:t>码组</a:t>
            </a:r>
            <a:r>
              <a:rPr lang="zh-CN" altLang="en-US" sz="2000" dirty="0">
                <a:latin typeface="Arial" charset="0"/>
                <a:ea typeface="微软雅黑" pitchFamily="34" charset="-122"/>
                <a:cs typeface="Arial" charset="0"/>
              </a:rPr>
              <a:t> </a:t>
            </a:r>
            <a:r>
              <a:rPr lang="en-US" altLang="zh-CN" sz="2400" dirty="0">
                <a:solidFill>
                  <a:srgbClr val="0000CC"/>
                </a:solidFill>
                <a:latin typeface="Arial" charset="0"/>
                <a:ea typeface="微软雅黑" pitchFamily="34" charset="-122"/>
                <a:cs typeface="Arial" charset="0"/>
              </a:rPr>
              <a:t>{x</a:t>
            </a:r>
            <a:r>
              <a:rPr lang="en-US" altLang="zh-CN" sz="2400" baseline="-25000" dirty="0">
                <a:solidFill>
                  <a:srgbClr val="0000CC"/>
                </a:solidFill>
                <a:latin typeface="Arial" charset="0"/>
                <a:ea typeface="微软雅黑" pitchFamily="34" charset="-122"/>
                <a:cs typeface="Arial" charset="0"/>
              </a:rPr>
              <a:t>1</a:t>
            </a:r>
            <a:r>
              <a:rPr lang="en-US" altLang="zh-CN" sz="2400" dirty="0">
                <a:solidFill>
                  <a:srgbClr val="0000CC"/>
                </a:solidFill>
                <a:latin typeface="Arial" charset="0"/>
                <a:ea typeface="微软雅黑" pitchFamily="34" charset="-122"/>
                <a:cs typeface="Arial" charset="0"/>
              </a:rPr>
              <a:t>,x</a:t>
            </a:r>
            <a:r>
              <a:rPr lang="en-US" altLang="zh-CN" sz="2400" baseline="-25000" dirty="0">
                <a:solidFill>
                  <a:srgbClr val="0000CC"/>
                </a:solidFill>
                <a:latin typeface="Arial" charset="0"/>
                <a:ea typeface="微软雅黑" pitchFamily="34" charset="-122"/>
                <a:cs typeface="Arial" charset="0"/>
              </a:rPr>
              <a:t>2</a:t>
            </a:r>
            <a:r>
              <a:rPr lang="en-US" altLang="zh-CN" sz="2400" dirty="0">
                <a:solidFill>
                  <a:srgbClr val="0000CC"/>
                </a:solidFill>
                <a:latin typeface="Arial" charset="0"/>
                <a:ea typeface="微软雅黑" pitchFamily="34" charset="-122"/>
                <a:cs typeface="Arial" charset="0"/>
              </a:rPr>
              <a:t>,x</a:t>
            </a:r>
            <a:r>
              <a:rPr lang="en-US" altLang="zh-CN" sz="2400" baseline="-25000" dirty="0">
                <a:solidFill>
                  <a:srgbClr val="0000CC"/>
                </a:solidFill>
                <a:latin typeface="Arial" charset="0"/>
                <a:ea typeface="微软雅黑" pitchFamily="34" charset="-122"/>
                <a:cs typeface="Arial" charset="0"/>
              </a:rPr>
              <a:t>3</a:t>
            </a:r>
            <a:r>
              <a:rPr lang="en-US" altLang="zh-CN" sz="2400" dirty="0">
                <a:solidFill>
                  <a:srgbClr val="0000CC"/>
                </a:solidFill>
                <a:latin typeface="Arial" charset="0"/>
                <a:ea typeface="微软雅黑" pitchFamily="34" charset="-122"/>
                <a:cs typeface="Arial" charset="0"/>
              </a:rPr>
              <a:t>,…,</a:t>
            </a:r>
            <a:r>
              <a:rPr lang="en-US" altLang="zh-CN" sz="2400" dirty="0" err="1">
                <a:solidFill>
                  <a:srgbClr val="0000CC"/>
                </a:solidFill>
                <a:latin typeface="Arial" charset="0"/>
                <a:ea typeface="微软雅黑" pitchFamily="34" charset="-122"/>
                <a:cs typeface="Arial" charset="0"/>
              </a:rPr>
              <a:t>x</a:t>
            </a:r>
            <a:r>
              <a:rPr lang="en-US" altLang="zh-CN" sz="2400" baseline="-25000" dirty="0" err="1">
                <a:solidFill>
                  <a:srgbClr val="0000CC"/>
                </a:solidFill>
                <a:latin typeface="Arial" charset="0"/>
                <a:ea typeface="微软雅黑" pitchFamily="34" charset="-122"/>
                <a:cs typeface="Arial" charset="0"/>
              </a:rPr>
              <a:t>n</a:t>
            </a:r>
            <a:r>
              <a:rPr lang="en-US" altLang="zh-CN" sz="2400" dirty="0">
                <a:solidFill>
                  <a:srgbClr val="0000CC"/>
                </a:solidFill>
                <a:latin typeface="Arial" charset="0"/>
                <a:ea typeface="微软雅黑" pitchFamily="34" charset="-122"/>
                <a:cs typeface="Arial" charset="0"/>
              </a:rPr>
              <a:t>}</a:t>
            </a:r>
            <a:r>
              <a:rPr lang="zh-CN" altLang="zh-CN" sz="2000" dirty="0">
                <a:latin typeface="+mn-ea"/>
                <a:ea typeface="+mn-ea"/>
                <a:cs typeface="Arial" charset="0"/>
              </a:rPr>
              <a:t>，</a:t>
            </a:r>
            <a:r>
              <a:rPr lang="zh-CN" altLang="en-US" sz="2000" dirty="0">
                <a:latin typeface="Arial" charset="0"/>
                <a:ea typeface="微软雅黑" pitchFamily="34" charset="-122"/>
                <a:cs typeface="Arial" charset="0"/>
              </a:rPr>
              <a:t>则</a:t>
            </a:r>
            <a:r>
              <a:rPr lang="zh-CN" altLang="zh-CN" sz="2000" dirty="0">
                <a:latin typeface="Arial" charset="0"/>
                <a:ea typeface="微软雅黑" pitchFamily="34" charset="-122"/>
                <a:cs typeface="Arial" charset="0"/>
              </a:rPr>
              <a:t>其</a:t>
            </a:r>
            <a:r>
              <a:rPr lang="en-US" altLang="zh-CN" sz="2000" dirty="0">
                <a:latin typeface="Arial" charset="0"/>
                <a:ea typeface="微软雅黑" pitchFamily="34" charset="-122"/>
                <a:cs typeface="Arial" charset="0"/>
              </a:rPr>
              <a:t> </a:t>
            </a:r>
            <a:r>
              <a:rPr lang="zh-CN" altLang="zh-CN" sz="2000" dirty="0">
                <a:solidFill>
                  <a:srgbClr val="FF0000"/>
                </a:solidFill>
                <a:latin typeface="Arial" charset="0"/>
                <a:ea typeface="微软雅黑" pitchFamily="34" charset="-122"/>
                <a:cs typeface="Arial" charset="0"/>
              </a:rPr>
              <a:t>局部相关函数</a:t>
            </a:r>
            <a:r>
              <a:rPr lang="zh-CN" altLang="zh-CN" sz="2000" dirty="0">
                <a:latin typeface="Arial" charset="0"/>
                <a:ea typeface="微软雅黑" pitchFamily="34" charset="-122"/>
                <a:cs typeface="Arial" charset="0"/>
              </a:rPr>
              <a:t>满足</a:t>
            </a:r>
            <a:r>
              <a:rPr lang="zh-CN" altLang="zh-CN" sz="2000" dirty="0">
                <a:latin typeface="+mn-ea"/>
                <a:ea typeface="+mn-ea"/>
                <a:cs typeface="Arial" charset="0"/>
              </a:rPr>
              <a:t>：</a:t>
            </a:r>
            <a:endParaRPr lang="zh-CN" altLang="en-US" sz="2000" dirty="0">
              <a:latin typeface="+mn-ea"/>
              <a:ea typeface="+mn-ea"/>
              <a:cs typeface="Arial" charset="0"/>
            </a:endParaRPr>
          </a:p>
        </p:txBody>
      </p:sp>
      <p:graphicFrame>
        <p:nvGraphicFramePr>
          <p:cNvPr id="58372" name="Object 4">
            <a:extLst>
              <a:ext uri="{FF2B5EF4-FFF2-40B4-BE49-F238E27FC236}">
                <a16:creationId xmlns:a16="http://schemas.microsoft.com/office/drawing/2014/main" id="{1FD3B347-DBE0-C4F8-FE2F-BF6FDCFBB488}"/>
              </a:ext>
            </a:extLst>
          </p:cNvPr>
          <p:cNvGraphicFramePr>
            <a:graphicFrameLocks noChangeAspect="1"/>
          </p:cNvGraphicFramePr>
          <p:nvPr/>
        </p:nvGraphicFramePr>
        <p:xfrm>
          <a:off x="1928813" y="2928938"/>
          <a:ext cx="4929187" cy="1492250"/>
        </p:xfrm>
        <a:graphic>
          <a:graphicData uri="http://schemas.openxmlformats.org/presentationml/2006/ole">
            <mc:AlternateContent xmlns:mc="http://schemas.openxmlformats.org/markup-compatibility/2006">
              <mc:Choice xmlns:v="urn:schemas-microsoft-com:vml" Requires="v">
                <p:oleObj name="Equation" r:id="rId2" imgW="2349500" imgH="711200" progId="Equation.DSMT4">
                  <p:embed/>
                </p:oleObj>
              </mc:Choice>
              <mc:Fallback>
                <p:oleObj name="Equation" r:id="rId2" imgW="2349500" imgH="71120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8813" y="2928938"/>
                        <a:ext cx="4929187" cy="1492250"/>
                      </a:xfrm>
                      <a:prstGeom prst="rect">
                        <a:avLst/>
                      </a:prstGeom>
                      <a:noFill/>
                      <a:ln w="38100" cmpd="dbl">
                        <a:solidFill>
                          <a:srgbClr val="FF575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rgbClr val="993434"/>
                              </a:outerShdw>
                            </a:effectLst>
                          </a14:hiddenEffects>
                        </a:ext>
                      </a:extLst>
                    </p:spPr>
                  </p:pic>
                </p:oleObj>
              </mc:Fallback>
            </mc:AlternateContent>
          </a:graphicData>
        </a:graphic>
      </p:graphicFrame>
      <p:graphicFrame>
        <p:nvGraphicFramePr>
          <p:cNvPr id="58373" name="Object 5">
            <a:extLst>
              <a:ext uri="{FF2B5EF4-FFF2-40B4-BE49-F238E27FC236}">
                <a16:creationId xmlns:a16="http://schemas.microsoft.com/office/drawing/2014/main" id="{6BF657EA-9B94-1174-A354-F95DA35F9421}"/>
              </a:ext>
            </a:extLst>
          </p:cNvPr>
          <p:cNvGraphicFramePr>
            <a:graphicFrameLocks noChangeAspect="1"/>
          </p:cNvGraphicFramePr>
          <p:nvPr/>
        </p:nvGraphicFramePr>
        <p:xfrm>
          <a:off x="7358063" y="3538538"/>
          <a:ext cx="1143000" cy="390525"/>
        </p:xfrm>
        <a:graphic>
          <a:graphicData uri="http://schemas.openxmlformats.org/presentationml/2006/ole">
            <mc:AlternateContent xmlns:mc="http://schemas.openxmlformats.org/markup-compatibility/2006">
              <mc:Choice xmlns:v="urn:schemas-microsoft-com:vml" Requires="v">
                <p:oleObj name="Equation" r:id="rId4" imgW="520248" imgH="177646" progId="Equation.DSMT4">
                  <p:embed/>
                </p:oleObj>
              </mc:Choice>
              <mc:Fallback>
                <p:oleObj name="Equation" r:id="rId4" imgW="520248" imgH="177646"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58063" y="3538538"/>
                        <a:ext cx="1143000"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008965"/>
                              </a:outerShdw>
                            </a:effectLst>
                          </a14:hiddenEffects>
                        </a:ext>
                      </a:extLst>
                    </p:spPr>
                  </p:pic>
                </p:oleObj>
              </mc:Fallback>
            </mc:AlternateContent>
          </a:graphicData>
        </a:graphic>
      </p:graphicFrame>
      <p:sp>
        <p:nvSpPr>
          <p:cNvPr id="11" name="矩形 10">
            <a:extLst>
              <a:ext uri="{FF2B5EF4-FFF2-40B4-BE49-F238E27FC236}">
                <a16:creationId xmlns:a16="http://schemas.microsoft.com/office/drawing/2014/main" id="{104D5F12-F735-CF3F-9C07-E9A923114A41}"/>
              </a:ext>
            </a:extLst>
          </p:cNvPr>
          <p:cNvSpPr/>
          <p:nvPr/>
        </p:nvSpPr>
        <p:spPr>
          <a:xfrm>
            <a:off x="714375" y="1144588"/>
            <a:ext cx="1857375" cy="469900"/>
          </a:xfrm>
          <a:prstGeom prst="rect">
            <a:avLst/>
          </a:prstGeom>
        </p:spPr>
        <p:txBody>
          <a:bodyPr>
            <a:spAutoFit/>
          </a:bodyPr>
          <a:lstStyle/>
          <a:p>
            <a:pPr marL="228600" indent="-228600" eaLnBrk="0" hangingPunct="0">
              <a:lnSpc>
                <a:spcPct val="110000"/>
              </a:lnSpc>
              <a:spcBef>
                <a:spcPct val="20000"/>
              </a:spcBef>
              <a:buClr>
                <a:srgbClr val="FF0000"/>
              </a:buClr>
              <a:buSzPct val="85000"/>
              <a:buFont typeface="Wingdings" pitchFamily="2" charset="2"/>
              <a:buChar char="n"/>
              <a:defRPr/>
            </a:pPr>
            <a:r>
              <a:rPr lang="en-US" altLang="zh-CN" sz="2400" b="1" dirty="0">
                <a:latin typeface="微软雅黑" pitchFamily="34" charset="-122"/>
                <a:ea typeface="微软雅黑" pitchFamily="34" charset="-122"/>
              </a:rPr>
              <a:t> </a:t>
            </a:r>
            <a:r>
              <a:rPr lang="zh-CN" altLang="zh-CN" sz="2400" b="1" dirty="0">
                <a:latin typeface="微软雅黑" pitchFamily="34" charset="-122"/>
                <a:ea typeface="微软雅黑" pitchFamily="34" charset="-122"/>
              </a:rPr>
              <a:t>巴克码</a:t>
            </a:r>
            <a:r>
              <a:rPr lang="zh-CN" altLang="en-US" sz="2400" b="1" kern="0" dirty="0">
                <a:latin typeface="微软雅黑" pitchFamily="34" charset="-122"/>
                <a:ea typeface="微软雅黑" pitchFamily="34" charset="-122"/>
              </a:rPr>
              <a:t>：</a:t>
            </a:r>
          </a:p>
        </p:txBody>
      </p:sp>
      <p:sp>
        <p:nvSpPr>
          <p:cNvPr id="7" name="矩形 6">
            <a:extLst>
              <a:ext uri="{FF2B5EF4-FFF2-40B4-BE49-F238E27FC236}">
                <a16:creationId xmlns:a16="http://schemas.microsoft.com/office/drawing/2014/main" id="{BB051159-C721-FD7C-4677-F9BF8C309F27}"/>
              </a:ext>
            </a:extLst>
          </p:cNvPr>
          <p:cNvSpPr/>
          <p:nvPr/>
        </p:nvSpPr>
        <p:spPr>
          <a:xfrm>
            <a:off x="714375" y="5788025"/>
            <a:ext cx="2643188" cy="498475"/>
          </a:xfrm>
          <a:prstGeom prst="rect">
            <a:avLst/>
          </a:prstGeom>
        </p:spPr>
        <p:txBody>
          <a:bodyPr>
            <a:spAutoFit/>
          </a:bodyPr>
          <a:lstStyle/>
          <a:p>
            <a:pPr marL="228600" indent="-228600" eaLnBrk="0" hangingPunct="0">
              <a:lnSpc>
                <a:spcPct val="110000"/>
              </a:lnSpc>
              <a:spcBef>
                <a:spcPct val="20000"/>
              </a:spcBef>
              <a:buClr>
                <a:srgbClr val="FF0000"/>
              </a:buClr>
              <a:buSzPct val="85000"/>
              <a:buFont typeface="Wingdings" pitchFamily="2" charset="2"/>
              <a:buChar char="n"/>
              <a:defRPr/>
            </a:pPr>
            <a:r>
              <a:rPr lang="en-US" altLang="zh-CN" sz="2400" dirty="0">
                <a:latin typeface="微软雅黑" pitchFamily="34" charset="-122"/>
                <a:ea typeface="微软雅黑" pitchFamily="34" charset="-122"/>
              </a:rPr>
              <a:t> </a:t>
            </a:r>
            <a:r>
              <a:rPr lang="zh-CN" altLang="zh-CN" sz="2400" dirty="0">
                <a:latin typeface="微软雅黑" pitchFamily="34" charset="-122"/>
                <a:ea typeface="微软雅黑" pitchFamily="34" charset="-122"/>
              </a:rPr>
              <a:t>巴克码</a:t>
            </a:r>
            <a:r>
              <a:rPr lang="zh-CN" altLang="en-US" sz="2400" dirty="0">
                <a:latin typeface="微软雅黑" pitchFamily="34" charset="-122"/>
                <a:ea typeface="微软雅黑" pitchFamily="34" charset="-122"/>
              </a:rPr>
              <a:t>列表</a:t>
            </a:r>
            <a:r>
              <a:rPr lang="zh-CN" altLang="en-US" sz="2400" kern="0" dirty="0">
                <a:latin typeface="微软雅黑" pitchFamily="34" charset="-122"/>
                <a:ea typeface="微软雅黑" pitchFamily="34" charset="-122"/>
              </a:rPr>
              <a:t>：</a:t>
            </a:r>
          </a:p>
        </p:txBody>
      </p:sp>
      <p:sp>
        <p:nvSpPr>
          <p:cNvPr id="8" name="矩形 7">
            <a:extLst>
              <a:ext uri="{FF2B5EF4-FFF2-40B4-BE49-F238E27FC236}">
                <a16:creationId xmlns:a16="http://schemas.microsoft.com/office/drawing/2014/main" id="{7C9DD40C-0AEB-9CF1-703D-83876B9FFB1F}"/>
              </a:ext>
            </a:extLst>
          </p:cNvPr>
          <p:cNvSpPr/>
          <p:nvPr/>
        </p:nvSpPr>
        <p:spPr>
          <a:xfrm>
            <a:off x="7546975" y="528638"/>
            <a:ext cx="954088" cy="400050"/>
          </a:xfrm>
          <a:prstGeom prst="rect">
            <a:avLst/>
          </a:prstGeom>
        </p:spPr>
        <p:txBody>
          <a:bodyPr wrap="none">
            <a:spAutoFit/>
          </a:bodyPr>
          <a:lstStyle/>
          <a:p>
            <a:pPr>
              <a:defRPr/>
            </a:pPr>
            <a:r>
              <a:rPr lang="zh-CN" altLang="en-US" sz="2000" kern="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rPr>
              <a:t>群同步</a:t>
            </a:r>
            <a:endParaRPr lang="zh-CN" altLang="en-US" sz="2000" dirty="0">
              <a:solidFill>
                <a:schemeClr val="tx1">
                  <a:lumMod val="65000"/>
                  <a:lumOff val="35000"/>
                </a:schemeClr>
              </a:solidFill>
              <a:effectLst>
                <a:outerShdw blurRad="38100" dist="38100" dir="2700000" algn="tl">
                  <a:srgbClr val="000000">
                    <a:alpha val="43137"/>
                  </a:srgbClr>
                </a:outerShdw>
              </a:effectLst>
              <a:ea typeface="宋体" charset="-122"/>
            </a:endParaRPr>
          </a:p>
        </p:txBody>
      </p:sp>
      <p:pic>
        <p:nvPicPr>
          <p:cNvPr id="25609" name="Picture 9">
            <a:extLst>
              <a:ext uri="{FF2B5EF4-FFF2-40B4-BE49-F238E27FC236}">
                <a16:creationId xmlns:a16="http://schemas.microsoft.com/office/drawing/2014/main" id="{27CBFB5E-2FAE-C064-C875-1ED01736AFE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1063" y="4786313"/>
            <a:ext cx="7877175"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1000"/>
                                        <p:tgtEl>
                                          <p:spTgt spid="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1000"/>
                                        <p:tgtEl>
                                          <p:spTgt spid="3"/>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58372"/>
                                        </p:tgtEl>
                                        <p:attrNameLst>
                                          <p:attrName>style.visibility</p:attrName>
                                        </p:attrNameLst>
                                      </p:cBhvr>
                                      <p:to>
                                        <p:strVal val="visible"/>
                                      </p:to>
                                    </p:set>
                                    <p:animEffect transition="in" filter="wipe(left)">
                                      <p:cBhvr>
                                        <p:cTn id="16" dur="2000"/>
                                        <p:tgtEl>
                                          <p:spTgt spid="58372"/>
                                        </p:tgtEl>
                                      </p:cBhvr>
                                    </p:animEffect>
                                  </p:childTnLst>
                                </p:cTn>
                              </p:par>
                            </p:childTnLst>
                          </p:cTn>
                        </p:par>
                        <p:par>
                          <p:cTn id="17" fill="hold" nodeType="afterGroup">
                            <p:stCondLst>
                              <p:cond delay="3000"/>
                            </p:stCondLst>
                            <p:childTnLst>
                              <p:par>
                                <p:cTn id="18" presetID="22" presetClass="entr" presetSubtype="1" fill="hold" nodeType="afterEffect">
                                  <p:stCondLst>
                                    <p:cond delay="0"/>
                                  </p:stCondLst>
                                  <p:childTnLst>
                                    <p:set>
                                      <p:cBhvr>
                                        <p:cTn id="19" dur="1" fill="hold">
                                          <p:stCondLst>
                                            <p:cond delay="0"/>
                                          </p:stCondLst>
                                        </p:cTn>
                                        <p:tgtEl>
                                          <p:spTgt spid="58373"/>
                                        </p:tgtEl>
                                        <p:attrNameLst>
                                          <p:attrName>style.visibility</p:attrName>
                                        </p:attrNameLst>
                                      </p:cBhvr>
                                      <p:to>
                                        <p:strVal val="visible"/>
                                      </p:to>
                                    </p:set>
                                    <p:animEffect transition="in" filter="wipe(up)">
                                      <p:cBhvr>
                                        <p:cTn id="20" dur="1000"/>
                                        <p:tgtEl>
                                          <p:spTgt spid="5837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25609"/>
                                        </p:tgtEl>
                                        <p:attrNameLst>
                                          <p:attrName>style.visibility</p:attrName>
                                        </p:attrNameLst>
                                      </p:cBhvr>
                                      <p:to>
                                        <p:strVal val="visible"/>
                                      </p:to>
                                    </p:set>
                                    <p:animEffect transition="in" filter="wipe(up)">
                                      <p:cBhvr>
                                        <p:cTn id="25" dur="1000"/>
                                        <p:tgtEl>
                                          <p:spTgt spid="2560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up)">
                                      <p:cBhvr>
                                        <p:cTn id="3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P spid="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427" name="Picture 35">
            <a:extLst>
              <a:ext uri="{FF2B5EF4-FFF2-40B4-BE49-F238E27FC236}">
                <a16:creationId xmlns:a16="http://schemas.microsoft.com/office/drawing/2014/main" id="{88D4832F-EA47-2557-B9EE-7FB90EEE8E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750" y="969963"/>
            <a:ext cx="6429375" cy="430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09" name="Picture 1">
            <a:extLst>
              <a:ext uri="{FF2B5EF4-FFF2-40B4-BE49-F238E27FC236}">
                <a16:creationId xmlns:a16="http://schemas.microsoft.com/office/drawing/2014/main" id="{3C028BCC-E62C-98F2-7483-F004669E04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5" y="5429250"/>
            <a:ext cx="7643813" cy="87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9427"/>
                                        </p:tgtEl>
                                        <p:attrNameLst>
                                          <p:attrName>style.visibility</p:attrName>
                                        </p:attrNameLst>
                                      </p:cBhvr>
                                      <p:to>
                                        <p:strVal val="visible"/>
                                      </p:to>
                                    </p:set>
                                    <p:animEffect transition="in" filter="wipe(up)">
                                      <p:cBhvr>
                                        <p:cTn id="7" dur="3000"/>
                                        <p:tgtEl>
                                          <p:spTgt spid="594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8609"/>
                                        </p:tgtEl>
                                        <p:attrNameLst>
                                          <p:attrName>style.visibility</p:attrName>
                                        </p:attrNameLst>
                                      </p:cBhvr>
                                      <p:to>
                                        <p:strVal val="visible"/>
                                      </p:to>
                                    </p:set>
                                    <p:animEffect transition="in" filter="wipe(up)">
                                      <p:cBhvr>
                                        <p:cTn id="12" dur="1000"/>
                                        <p:tgtEl>
                                          <p:spTgt spid="686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49" name="Picture 25">
            <a:extLst>
              <a:ext uri="{FF2B5EF4-FFF2-40B4-BE49-F238E27FC236}">
                <a16:creationId xmlns:a16="http://schemas.microsoft.com/office/drawing/2014/main" id="{DC594EB1-2381-8CB4-BE90-E440B1F742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571500"/>
            <a:ext cx="8072438"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1" name="Picture 9">
            <a:extLst>
              <a:ext uri="{FF2B5EF4-FFF2-40B4-BE49-F238E27FC236}">
                <a16:creationId xmlns:a16="http://schemas.microsoft.com/office/drawing/2014/main" id="{F771AE68-4039-9064-D2AC-97C510D019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9188" y="3659188"/>
            <a:ext cx="3724275" cy="269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41BEA4CD-3FA1-C5FD-13D8-C389B180FECE}"/>
              </a:ext>
            </a:extLst>
          </p:cNvPr>
          <p:cNvSpPr/>
          <p:nvPr/>
        </p:nvSpPr>
        <p:spPr>
          <a:xfrm>
            <a:off x="506413" y="1857375"/>
            <a:ext cx="493712" cy="425450"/>
          </a:xfrm>
          <a:prstGeom prst="rect">
            <a:avLst/>
          </a:prstGeom>
        </p:spPr>
        <p:txBody>
          <a:bodyPr wrap="none">
            <a:spAutoFit/>
          </a:bodyPr>
          <a:lstStyle/>
          <a:p>
            <a:pPr marL="342900" indent="-342900">
              <a:lnSpc>
                <a:spcPct val="90000"/>
              </a:lnSpc>
              <a:spcBef>
                <a:spcPct val="20000"/>
              </a:spcBef>
              <a:buClr>
                <a:srgbClr val="3333CC"/>
              </a:buClr>
              <a:buSzPct val="60000"/>
              <a:defRPr/>
            </a:pPr>
            <a:r>
              <a:rPr lang="zh-CN" altLang="en-US" sz="2400" kern="0" dirty="0">
                <a:solidFill>
                  <a:srgbClr val="003399"/>
                </a:solidFill>
                <a:latin typeface="黑体" pitchFamily="2" charset="-122"/>
                <a:ea typeface="黑体" pitchFamily="2" charset="-122"/>
              </a:rPr>
              <a:t>解</a:t>
            </a:r>
            <a:endParaRPr lang="zh-CN" altLang="en-US" sz="2400" kern="0" dirty="0">
              <a:solidFill>
                <a:srgbClr val="003399"/>
              </a:solidFill>
              <a:latin typeface="+mn-ea"/>
              <a:ea typeface="+mn-ea"/>
            </a:endParaRPr>
          </a:p>
        </p:txBody>
      </p:sp>
      <p:grpSp>
        <p:nvGrpSpPr>
          <p:cNvPr id="3" name="Group 59">
            <a:extLst>
              <a:ext uri="{FF2B5EF4-FFF2-40B4-BE49-F238E27FC236}">
                <a16:creationId xmlns:a16="http://schemas.microsoft.com/office/drawing/2014/main" id="{264A16C5-35B2-E42A-38D3-F6640A0C5B0F}"/>
              </a:ext>
            </a:extLst>
          </p:cNvPr>
          <p:cNvGrpSpPr>
            <a:grpSpLocks/>
          </p:cNvGrpSpPr>
          <p:nvPr/>
        </p:nvGrpSpPr>
        <p:grpSpPr bwMode="auto">
          <a:xfrm>
            <a:off x="357188" y="357188"/>
            <a:ext cx="720725" cy="719137"/>
            <a:chOff x="1655" y="845"/>
            <a:chExt cx="454" cy="453"/>
          </a:xfrm>
        </p:grpSpPr>
        <p:grpSp>
          <p:nvGrpSpPr>
            <p:cNvPr id="19474" name="Group 12">
              <a:extLst>
                <a:ext uri="{FF2B5EF4-FFF2-40B4-BE49-F238E27FC236}">
                  <a16:creationId xmlns:a16="http://schemas.microsoft.com/office/drawing/2014/main" id="{3078B679-E27A-0A2B-F6C6-2C1D2309AAD9}"/>
                </a:ext>
              </a:extLst>
            </p:cNvPr>
            <p:cNvGrpSpPr>
              <a:grpSpLocks/>
            </p:cNvGrpSpPr>
            <p:nvPr/>
          </p:nvGrpSpPr>
          <p:grpSpPr bwMode="auto">
            <a:xfrm>
              <a:off x="1655" y="845"/>
              <a:ext cx="454" cy="453"/>
              <a:chOff x="1289" y="582"/>
              <a:chExt cx="668" cy="668"/>
            </a:xfrm>
          </p:grpSpPr>
          <p:sp>
            <p:nvSpPr>
              <p:cNvPr id="19476" name="Oval 13">
                <a:extLst>
                  <a:ext uri="{FF2B5EF4-FFF2-40B4-BE49-F238E27FC236}">
                    <a16:creationId xmlns:a16="http://schemas.microsoft.com/office/drawing/2014/main" id="{23096C71-5CF9-CE7F-5C11-DB6FB05D082C}"/>
                  </a:ext>
                </a:extLst>
              </p:cNvPr>
              <p:cNvSpPr>
                <a:spLocks noChangeArrowheads="1"/>
              </p:cNvSpPr>
              <p:nvPr/>
            </p:nvSpPr>
            <p:spPr bwMode="gray">
              <a:xfrm>
                <a:off x="1289" y="582"/>
                <a:ext cx="668" cy="668"/>
              </a:xfrm>
              <a:prstGeom prst="ellipse">
                <a:avLst/>
              </a:prstGeom>
              <a:solidFill>
                <a:srgbClr val="333333"/>
              </a:soli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19477" name="Oval 14">
                <a:extLst>
                  <a:ext uri="{FF2B5EF4-FFF2-40B4-BE49-F238E27FC236}">
                    <a16:creationId xmlns:a16="http://schemas.microsoft.com/office/drawing/2014/main" id="{71950FEA-44A2-934A-B834-1DE7C2719766}"/>
                  </a:ext>
                </a:extLst>
              </p:cNvPr>
              <p:cNvSpPr>
                <a:spLocks noChangeArrowheads="1"/>
              </p:cNvSpPr>
              <p:nvPr/>
            </p:nvSpPr>
            <p:spPr bwMode="gray">
              <a:xfrm>
                <a:off x="1296" y="587"/>
                <a:ext cx="646" cy="647"/>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19478" name="Oval 15">
                <a:extLst>
                  <a:ext uri="{FF2B5EF4-FFF2-40B4-BE49-F238E27FC236}">
                    <a16:creationId xmlns:a16="http://schemas.microsoft.com/office/drawing/2014/main" id="{47CF9B5B-70E6-91F2-7A92-919DB3C05E0F}"/>
                  </a:ext>
                </a:extLst>
              </p:cNvPr>
              <p:cNvSpPr>
                <a:spLocks noChangeArrowheads="1"/>
              </p:cNvSpPr>
              <p:nvPr/>
            </p:nvSpPr>
            <p:spPr bwMode="gray">
              <a:xfrm>
                <a:off x="1304" y="591"/>
                <a:ext cx="631" cy="63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19479" name="Oval 16">
                <a:extLst>
                  <a:ext uri="{FF2B5EF4-FFF2-40B4-BE49-F238E27FC236}">
                    <a16:creationId xmlns:a16="http://schemas.microsoft.com/office/drawing/2014/main" id="{0E8F4A0C-F26D-A394-D7C9-3B077254B762}"/>
                  </a:ext>
                </a:extLst>
              </p:cNvPr>
              <p:cNvSpPr>
                <a:spLocks noChangeArrowheads="1"/>
              </p:cNvSpPr>
              <p:nvPr/>
            </p:nvSpPr>
            <p:spPr bwMode="gray">
              <a:xfrm>
                <a:off x="1311" y="597"/>
                <a:ext cx="600" cy="589"/>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19480" name="Oval 17">
                <a:extLst>
                  <a:ext uri="{FF2B5EF4-FFF2-40B4-BE49-F238E27FC236}">
                    <a16:creationId xmlns:a16="http://schemas.microsoft.com/office/drawing/2014/main" id="{74A79376-73BB-972D-C5D6-3D741872325E}"/>
                  </a:ext>
                </a:extLst>
              </p:cNvPr>
              <p:cNvSpPr>
                <a:spLocks noChangeArrowheads="1"/>
              </p:cNvSpPr>
              <p:nvPr/>
            </p:nvSpPr>
            <p:spPr bwMode="gray">
              <a:xfrm>
                <a:off x="1346" y="613"/>
                <a:ext cx="533" cy="47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sp>
          <p:nvSpPr>
            <p:cNvPr id="26643" name="Text Box 58">
              <a:extLst>
                <a:ext uri="{FF2B5EF4-FFF2-40B4-BE49-F238E27FC236}">
                  <a16:creationId xmlns:a16="http://schemas.microsoft.com/office/drawing/2014/main" id="{165CABAE-414B-E92D-9DB6-2F64FA50A2B5}"/>
                </a:ext>
              </a:extLst>
            </p:cNvPr>
            <p:cNvSpPr txBox="1">
              <a:spLocks noChangeArrowheads="1"/>
            </p:cNvSpPr>
            <p:nvPr/>
          </p:nvSpPr>
          <p:spPr bwMode="gray">
            <a:xfrm>
              <a:off x="1690" y="885"/>
              <a:ext cx="344" cy="330"/>
            </a:xfrm>
            <a:prstGeom prst="rect">
              <a:avLst/>
            </a:prstGeom>
            <a:noFill/>
            <a:ln w="9525" algn="ctr">
              <a:noFill/>
              <a:miter lim="800000"/>
              <a:headEnd/>
              <a:tailEnd/>
            </a:ln>
          </p:spPr>
          <p:txBody>
            <a:bodyPr wrap="none">
              <a:spAutoFit/>
            </a:bodyPr>
            <a:lstStyle/>
            <a:p>
              <a:pPr algn="ctr" eaLnBrk="0" hangingPunct="0">
                <a:defRPr/>
              </a:pPr>
              <a:r>
                <a:rPr lang="zh-CN" altLang="en-US" sz="2800" dirty="0">
                  <a:solidFill>
                    <a:srgbClr val="0000CC"/>
                  </a:solidFill>
                  <a:effectLst>
                    <a:outerShdw blurRad="38100" dist="38100" dir="2700000" algn="tl">
                      <a:srgbClr val="000000">
                        <a:alpha val="43137"/>
                      </a:srgbClr>
                    </a:outerShdw>
                  </a:effectLst>
                  <a:latin typeface="黑体" pitchFamily="2" charset="-122"/>
                  <a:ea typeface="黑体" pitchFamily="2" charset="-122"/>
                </a:rPr>
                <a:t>例</a:t>
              </a:r>
            </a:p>
          </p:txBody>
        </p:sp>
      </p:grpSp>
      <p:graphicFrame>
        <p:nvGraphicFramePr>
          <p:cNvPr id="33798" name="Object 6">
            <a:extLst>
              <a:ext uri="{FF2B5EF4-FFF2-40B4-BE49-F238E27FC236}">
                <a16:creationId xmlns:a16="http://schemas.microsoft.com/office/drawing/2014/main" id="{76D56793-2023-5A16-78E2-E9F7EC6B1647}"/>
              </a:ext>
            </a:extLst>
          </p:cNvPr>
          <p:cNvGraphicFramePr>
            <a:graphicFrameLocks noChangeAspect="1"/>
          </p:cNvGraphicFramePr>
          <p:nvPr/>
        </p:nvGraphicFramePr>
        <p:xfrm>
          <a:off x="2614613" y="1643063"/>
          <a:ext cx="4541837" cy="857250"/>
        </p:xfrm>
        <a:graphic>
          <a:graphicData uri="http://schemas.openxmlformats.org/presentationml/2006/ole">
            <mc:AlternateContent xmlns:mc="http://schemas.openxmlformats.org/markup-compatibility/2006">
              <mc:Choice xmlns:v="urn:schemas-microsoft-com:vml" Requires="v">
                <p:oleObj name="Equation" r:id="rId4" imgW="2273040" imgH="431640" progId="Equation.DSMT4">
                  <p:embed/>
                </p:oleObj>
              </mc:Choice>
              <mc:Fallback>
                <p:oleObj name="Equation" r:id="rId4" imgW="2273040" imgH="43164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14613" y="1643063"/>
                        <a:ext cx="4541837" cy="857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800" name="Object 8">
            <a:extLst>
              <a:ext uri="{FF2B5EF4-FFF2-40B4-BE49-F238E27FC236}">
                <a16:creationId xmlns:a16="http://schemas.microsoft.com/office/drawing/2014/main" id="{B355EDA5-1FB8-9918-D8B7-D03A06F783FA}"/>
              </a:ext>
            </a:extLst>
          </p:cNvPr>
          <p:cNvGraphicFramePr>
            <a:graphicFrameLocks noChangeAspect="1"/>
          </p:cNvGraphicFramePr>
          <p:nvPr/>
        </p:nvGraphicFramePr>
        <p:xfrm>
          <a:off x="2614613" y="2543175"/>
          <a:ext cx="3851275" cy="855663"/>
        </p:xfrm>
        <a:graphic>
          <a:graphicData uri="http://schemas.openxmlformats.org/presentationml/2006/ole">
            <mc:AlternateContent xmlns:mc="http://schemas.openxmlformats.org/markup-compatibility/2006">
              <mc:Choice xmlns:v="urn:schemas-microsoft-com:vml" Requires="v">
                <p:oleObj name="Equation" r:id="rId6" imgW="1930320" imgH="431640" progId="Equation.DSMT4">
                  <p:embed/>
                </p:oleObj>
              </mc:Choice>
              <mc:Fallback>
                <p:oleObj name="Equation" r:id="rId6" imgW="1930320" imgH="431640"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14613" y="2543175"/>
                        <a:ext cx="3851275" cy="855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25" name="矩形 24">
            <a:extLst>
              <a:ext uri="{FF2B5EF4-FFF2-40B4-BE49-F238E27FC236}">
                <a16:creationId xmlns:a16="http://schemas.microsoft.com/office/drawing/2014/main" id="{B8BEB9CE-8616-6ACC-7FD1-841764A4F5BC}"/>
              </a:ext>
            </a:extLst>
          </p:cNvPr>
          <p:cNvSpPr>
            <a:spLocks noChangeArrowheads="1"/>
          </p:cNvSpPr>
          <p:nvPr/>
        </p:nvSpPr>
        <p:spPr bwMode="auto">
          <a:xfrm>
            <a:off x="1116013" y="1857375"/>
            <a:ext cx="13414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zh-CN"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当</a:t>
            </a:r>
            <a:r>
              <a:rPr lang="zh-CN" altLang="en-US" sz="200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en-US"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j=0 </a:t>
            </a:r>
            <a:r>
              <a:rPr lang="zh-CN"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时</a:t>
            </a:r>
            <a:r>
              <a:rPr lang="en-US"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a:t>
            </a:r>
            <a:endParaRPr lang="zh-CN" altLang="en-US">
              <a:ea typeface="微软雅黑" panose="020B0503020204020204" pitchFamily="34" charset="-122"/>
              <a:cs typeface="Arial" panose="020B0604020202020204" pitchFamily="34" charset="0"/>
            </a:endParaRPr>
          </a:p>
        </p:txBody>
      </p:sp>
      <p:sp>
        <p:nvSpPr>
          <p:cNvPr id="34826" name="矩形 25">
            <a:extLst>
              <a:ext uri="{FF2B5EF4-FFF2-40B4-BE49-F238E27FC236}">
                <a16:creationId xmlns:a16="http://schemas.microsoft.com/office/drawing/2014/main" id="{2BC7D936-AD3D-B682-A60F-84F85255F57E}"/>
              </a:ext>
            </a:extLst>
          </p:cNvPr>
          <p:cNvSpPr>
            <a:spLocks noChangeArrowheads="1"/>
          </p:cNvSpPr>
          <p:nvPr/>
        </p:nvSpPr>
        <p:spPr bwMode="auto">
          <a:xfrm>
            <a:off x="1101725" y="2714625"/>
            <a:ext cx="13414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zh-CN"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当</a:t>
            </a:r>
            <a:r>
              <a:rPr lang="en-US"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zh-CN" altLang="en-US" sz="200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en-US"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j=1 </a:t>
            </a:r>
            <a:r>
              <a:rPr lang="zh-CN"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时</a:t>
            </a:r>
            <a:r>
              <a:rPr lang="en-US"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a:t>
            </a:r>
            <a:endParaRPr lang="zh-CN" altLang="en-US">
              <a:ea typeface="微软雅黑" panose="020B0503020204020204" pitchFamily="34" charset="-122"/>
              <a:cs typeface="Arial" panose="020B0604020202020204" pitchFamily="34" charset="0"/>
            </a:endParaRPr>
          </a:p>
        </p:txBody>
      </p:sp>
      <p:sp>
        <p:nvSpPr>
          <p:cNvPr id="34827" name="矩形 26">
            <a:extLst>
              <a:ext uri="{FF2B5EF4-FFF2-40B4-BE49-F238E27FC236}">
                <a16:creationId xmlns:a16="http://schemas.microsoft.com/office/drawing/2014/main" id="{BB780A45-84A0-3862-03B2-5E15A6144834}"/>
              </a:ext>
            </a:extLst>
          </p:cNvPr>
          <p:cNvSpPr>
            <a:spLocks noChangeArrowheads="1"/>
          </p:cNvSpPr>
          <p:nvPr/>
        </p:nvSpPr>
        <p:spPr bwMode="auto">
          <a:xfrm>
            <a:off x="1100138" y="4457700"/>
            <a:ext cx="36147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zh-CN"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当</a:t>
            </a:r>
            <a:r>
              <a:rPr lang="en-US"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zh-CN" altLang="en-US" sz="200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en-US"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j= 3 </a:t>
            </a:r>
            <a:r>
              <a:rPr lang="zh-CN"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时</a:t>
            </a:r>
            <a:r>
              <a:rPr lang="en-US"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zh-CN" altLang="en-US" sz="200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en-US" altLang="zh-CN" sz="2000" i="1">
                <a:solidFill>
                  <a:srgbClr val="000000"/>
                </a:solidFill>
                <a:latin typeface="Arial" panose="020B0604020202020204" pitchFamily="34" charset="0"/>
                <a:ea typeface="微软雅黑" panose="020B0503020204020204" pitchFamily="34" charset="-122"/>
                <a:cs typeface="Arial" panose="020B0604020202020204" pitchFamily="34" charset="0"/>
              </a:rPr>
              <a:t>R</a:t>
            </a:r>
            <a:r>
              <a:rPr lang="zh-CN" altLang="en-US" sz="200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2000">
                <a:solidFill>
                  <a:srgbClr val="0000CC"/>
                </a:solidFill>
                <a:latin typeface="Arial" panose="020B0604020202020204" pitchFamily="34" charset="0"/>
                <a:ea typeface="微软雅黑" panose="020B0503020204020204" pitchFamily="34" charset="-122"/>
                <a:cs typeface="Arial" panose="020B0604020202020204" pitchFamily="34" charset="0"/>
              </a:rPr>
              <a:t>3</a:t>
            </a:r>
            <a:r>
              <a:rPr lang="zh-CN"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 0</a:t>
            </a:r>
            <a:endParaRPr lang="zh-CN" altLang="en-US">
              <a:ea typeface="微软雅黑" panose="020B0503020204020204" pitchFamily="34" charset="-122"/>
              <a:cs typeface="Arial" panose="020B0604020202020204" pitchFamily="34" charset="0"/>
            </a:endParaRPr>
          </a:p>
        </p:txBody>
      </p:sp>
      <p:sp>
        <p:nvSpPr>
          <p:cNvPr id="34828" name="矩形 27">
            <a:extLst>
              <a:ext uri="{FF2B5EF4-FFF2-40B4-BE49-F238E27FC236}">
                <a16:creationId xmlns:a16="http://schemas.microsoft.com/office/drawing/2014/main" id="{9D8A9BBD-9C95-0995-55C1-455B3BD6B5C5}"/>
              </a:ext>
            </a:extLst>
          </p:cNvPr>
          <p:cNvSpPr>
            <a:spLocks noChangeArrowheads="1"/>
          </p:cNvSpPr>
          <p:nvPr/>
        </p:nvSpPr>
        <p:spPr bwMode="auto">
          <a:xfrm>
            <a:off x="1114425" y="5110163"/>
            <a:ext cx="35290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ct val="120000"/>
              </a:lnSpc>
            </a:pPr>
            <a:r>
              <a:rPr lang="zh-CN"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当</a:t>
            </a:r>
            <a:r>
              <a:rPr lang="en-US"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zh-CN" altLang="en-US" sz="200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en-US"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j= 4 </a:t>
            </a:r>
            <a:r>
              <a:rPr lang="zh-CN"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时</a:t>
            </a:r>
            <a:r>
              <a:rPr lang="en-US"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zh-CN" altLang="en-US" sz="200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en-US" altLang="zh-CN" sz="2000" i="1">
                <a:solidFill>
                  <a:srgbClr val="000000"/>
                </a:solidFill>
                <a:latin typeface="Arial" panose="020B0604020202020204" pitchFamily="34" charset="0"/>
                <a:ea typeface="微软雅黑" panose="020B0503020204020204" pitchFamily="34" charset="-122"/>
                <a:cs typeface="Arial" panose="020B0604020202020204" pitchFamily="34" charset="0"/>
              </a:rPr>
              <a:t>R</a:t>
            </a:r>
            <a:r>
              <a:rPr lang="zh-CN"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4</a:t>
            </a:r>
            <a:r>
              <a:rPr lang="zh-CN"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a:t>
            </a:r>
            <a:r>
              <a:rPr lang="en-US"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 1    </a:t>
            </a:r>
          </a:p>
        </p:txBody>
      </p:sp>
      <p:graphicFrame>
        <p:nvGraphicFramePr>
          <p:cNvPr id="4" name="Object 5">
            <a:extLst>
              <a:ext uri="{FF2B5EF4-FFF2-40B4-BE49-F238E27FC236}">
                <a16:creationId xmlns:a16="http://schemas.microsoft.com/office/drawing/2014/main" id="{07B9EBBD-3B1D-4E01-5CB2-E984DDF2814A}"/>
              </a:ext>
            </a:extLst>
          </p:cNvPr>
          <p:cNvGraphicFramePr>
            <a:graphicFrameLocks noChangeAspect="1"/>
          </p:cNvGraphicFramePr>
          <p:nvPr/>
        </p:nvGraphicFramePr>
        <p:xfrm>
          <a:off x="2646363" y="3429000"/>
          <a:ext cx="3497262" cy="855663"/>
        </p:xfrm>
        <a:graphic>
          <a:graphicData uri="http://schemas.openxmlformats.org/presentationml/2006/ole">
            <mc:AlternateContent xmlns:mc="http://schemas.openxmlformats.org/markup-compatibility/2006">
              <mc:Choice xmlns:v="urn:schemas-microsoft-com:vml" Requires="v">
                <p:oleObj name="Equation" r:id="rId8" imgW="1752480" imgH="431640" progId="Equation.DSMT4">
                  <p:embed/>
                </p:oleObj>
              </mc:Choice>
              <mc:Fallback>
                <p:oleObj name="Equation" r:id="rId8" imgW="1752480" imgH="431640"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46363" y="3429000"/>
                        <a:ext cx="3497262" cy="855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30" name="矩形 25">
            <a:extLst>
              <a:ext uri="{FF2B5EF4-FFF2-40B4-BE49-F238E27FC236}">
                <a16:creationId xmlns:a16="http://schemas.microsoft.com/office/drawing/2014/main" id="{32DC5092-10FD-0001-17B4-F38CD7475662}"/>
              </a:ext>
            </a:extLst>
          </p:cNvPr>
          <p:cNvSpPr>
            <a:spLocks noChangeArrowheads="1"/>
          </p:cNvSpPr>
          <p:nvPr/>
        </p:nvSpPr>
        <p:spPr bwMode="auto">
          <a:xfrm>
            <a:off x="1090613" y="3597275"/>
            <a:ext cx="13414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zh-CN"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当</a:t>
            </a:r>
            <a:r>
              <a:rPr lang="en-US"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zh-CN" altLang="en-US" sz="2000">
                <a:solidFill>
                  <a:srgbClr val="000000"/>
                </a:solidFill>
                <a:latin typeface="Arial" panose="020B0604020202020204" pitchFamily="34" charset="0"/>
                <a:ea typeface="微软雅黑" panose="020B0503020204020204" pitchFamily="34" charset="-122"/>
                <a:cs typeface="Arial" panose="020B0604020202020204" pitchFamily="34" charset="0"/>
              </a:rPr>
              <a:t> </a:t>
            </a:r>
            <a:r>
              <a:rPr lang="en-US"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j=2 </a:t>
            </a:r>
            <a:r>
              <a:rPr lang="zh-CN"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时</a:t>
            </a:r>
            <a:r>
              <a:rPr lang="en-US" altLang="zh-CN" sz="2000">
                <a:solidFill>
                  <a:srgbClr val="000000"/>
                </a:solidFill>
                <a:latin typeface="Arial" panose="020B0604020202020204" pitchFamily="34" charset="0"/>
                <a:ea typeface="微软雅黑" panose="020B0503020204020204" pitchFamily="34" charset="-122"/>
                <a:cs typeface="Arial" panose="020B0604020202020204" pitchFamily="34" charset="0"/>
              </a:rPr>
              <a:t>,</a:t>
            </a:r>
            <a:endParaRPr lang="zh-CN" altLang="en-US">
              <a:ea typeface="微软雅黑" panose="020B0503020204020204" pitchFamily="34" charset="-122"/>
              <a:cs typeface="Arial" panose="020B0604020202020204" pitchFamily="34" charset="0"/>
            </a:endParaRPr>
          </a:p>
        </p:txBody>
      </p:sp>
      <p:sp>
        <p:nvSpPr>
          <p:cNvPr id="98311" name="Rectangle 7">
            <a:extLst>
              <a:ext uri="{FF2B5EF4-FFF2-40B4-BE49-F238E27FC236}">
                <a16:creationId xmlns:a16="http://schemas.microsoft.com/office/drawing/2014/main" id="{0FDB858A-8CD4-E661-0399-DE890D6FB2A8}"/>
              </a:ext>
            </a:extLst>
          </p:cNvPr>
          <p:cNvSpPr>
            <a:spLocks noChangeArrowheads="1"/>
          </p:cNvSpPr>
          <p:nvPr/>
        </p:nvSpPr>
        <p:spPr bwMode="auto">
          <a:xfrm>
            <a:off x="0" y="0"/>
            <a:ext cx="9144000" cy="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wrap="none" anchor="ctr">
            <a:spAutoFit/>
          </a:bodyPr>
          <a:lstStyle/>
          <a:p>
            <a:pPr>
              <a:defRPr/>
            </a:pPr>
            <a:endParaRPr lang="zh-CN" altLang="en-US">
              <a:ea typeface="宋体" charset="-122"/>
            </a:endParaRPr>
          </a:p>
        </p:txBody>
      </p:sp>
      <p:sp>
        <p:nvSpPr>
          <p:cNvPr id="24" name="矩形 23">
            <a:extLst>
              <a:ext uri="{FF2B5EF4-FFF2-40B4-BE49-F238E27FC236}">
                <a16:creationId xmlns:a16="http://schemas.microsoft.com/office/drawing/2014/main" id="{B4D5DA13-B225-DA2C-949E-6E5B18F066C8}"/>
              </a:ext>
            </a:extLst>
          </p:cNvPr>
          <p:cNvSpPr/>
          <p:nvPr/>
        </p:nvSpPr>
        <p:spPr>
          <a:xfrm>
            <a:off x="1142976" y="5881601"/>
            <a:ext cx="2714644" cy="404919"/>
          </a:xfrm>
          <a:prstGeom prst="rect">
            <a:avLst/>
          </a:prstGeom>
          <a:solidFill>
            <a:schemeClr val="bg2">
              <a:lumMod val="10000"/>
              <a:lumOff val="90000"/>
            </a:schemeClr>
          </a:solidFill>
          <a:effectLst>
            <a:innerShdw blurRad="114300">
              <a:prstClr val="black"/>
            </a:innerShdw>
          </a:effectLst>
        </p:spPr>
        <p:txBody>
          <a:bodyPr>
            <a:spAutoFit/>
          </a:bodyPr>
          <a:lstStyle/>
          <a:p>
            <a:pPr>
              <a:lnSpc>
                <a:spcPts val="2800"/>
              </a:lnSpc>
              <a:defRPr/>
            </a:pPr>
            <a:r>
              <a:rPr lang="zh-CN" altLang="en-US" sz="2000" dirty="0">
                <a:latin typeface="黑体" pitchFamily="2" charset="-122"/>
                <a:ea typeface="黑体" pitchFamily="2" charset="-122"/>
              </a:rPr>
              <a:t>自相关函数是偶函数！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000"/>
                                        <p:tgtEl>
                                          <p:spTgt spid="3"/>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26649"/>
                                        </p:tgtEl>
                                        <p:attrNameLst>
                                          <p:attrName>style.visibility</p:attrName>
                                        </p:attrNameLst>
                                      </p:cBhvr>
                                      <p:to>
                                        <p:strVal val="visible"/>
                                      </p:to>
                                    </p:set>
                                    <p:animEffect transition="in" filter="wipe(up)">
                                      <p:cBhvr>
                                        <p:cTn id="11" dur="1000"/>
                                        <p:tgtEl>
                                          <p:spTgt spid="2664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10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34825"/>
                                        </p:tgtEl>
                                        <p:attrNameLst>
                                          <p:attrName>style.visibility</p:attrName>
                                        </p:attrNameLst>
                                      </p:cBhvr>
                                      <p:to>
                                        <p:strVal val="visible"/>
                                      </p:to>
                                    </p:set>
                                    <p:animEffect transition="in" filter="wipe(left)">
                                      <p:cBhvr>
                                        <p:cTn id="21" dur="1000"/>
                                        <p:tgtEl>
                                          <p:spTgt spid="34825"/>
                                        </p:tgtEl>
                                      </p:cBhvr>
                                    </p:animEffect>
                                  </p:childTnLst>
                                </p:cTn>
                              </p:par>
                            </p:childTnLst>
                          </p:cTn>
                        </p:par>
                        <p:par>
                          <p:cTn id="22" fill="hold" nodeType="afterGroup">
                            <p:stCondLst>
                              <p:cond delay="1000"/>
                            </p:stCondLst>
                            <p:childTnLst>
                              <p:par>
                                <p:cTn id="23" presetID="22" presetClass="entr" presetSubtype="8" fill="hold" nodeType="afterEffect">
                                  <p:stCondLst>
                                    <p:cond delay="0"/>
                                  </p:stCondLst>
                                  <p:childTnLst>
                                    <p:set>
                                      <p:cBhvr>
                                        <p:cTn id="24" dur="1" fill="hold">
                                          <p:stCondLst>
                                            <p:cond delay="0"/>
                                          </p:stCondLst>
                                        </p:cTn>
                                        <p:tgtEl>
                                          <p:spTgt spid="33798"/>
                                        </p:tgtEl>
                                        <p:attrNameLst>
                                          <p:attrName>style.visibility</p:attrName>
                                        </p:attrNameLst>
                                      </p:cBhvr>
                                      <p:to>
                                        <p:strVal val="visible"/>
                                      </p:to>
                                    </p:set>
                                    <p:animEffect transition="in" filter="wipe(left)">
                                      <p:cBhvr>
                                        <p:cTn id="25" dur="2000"/>
                                        <p:tgtEl>
                                          <p:spTgt spid="3379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34826"/>
                                        </p:tgtEl>
                                        <p:attrNameLst>
                                          <p:attrName>style.visibility</p:attrName>
                                        </p:attrNameLst>
                                      </p:cBhvr>
                                      <p:to>
                                        <p:strVal val="visible"/>
                                      </p:to>
                                    </p:set>
                                    <p:animEffect transition="in" filter="wipe(left)">
                                      <p:cBhvr>
                                        <p:cTn id="30" dur="1000"/>
                                        <p:tgtEl>
                                          <p:spTgt spid="34826"/>
                                        </p:tgtEl>
                                      </p:cBhvr>
                                    </p:animEffect>
                                  </p:childTnLst>
                                </p:cTn>
                              </p:par>
                            </p:childTnLst>
                          </p:cTn>
                        </p:par>
                        <p:par>
                          <p:cTn id="31" fill="hold" nodeType="afterGroup">
                            <p:stCondLst>
                              <p:cond delay="1000"/>
                            </p:stCondLst>
                            <p:childTnLst>
                              <p:par>
                                <p:cTn id="32" presetID="22" presetClass="entr" presetSubtype="8" fill="hold" nodeType="afterEffect">
                                  <p:stCondLst>
                                    <p:cond delay="0"/>
                                  </p:stCondLst>
                                  <p:childTnLst>
                                    <p:set>
                                      <p:cBhvr>
                                        <p:cTn id="33" dur="1" fill="hold">
                                          <p:stCondLst>
                                            <p:cond delay="0"/>
                                          </p:stCondLst>
                                        </p:cTn>
                                        <p:tgtEl>
                                          <p:spTgt spid="33800"/>
                                        </p:tgtEl>
                                        <p:attrNameLst>
                                          <p:attrName>style.visibility</p:attrName>
                                        </p:attrNameLst>
                                      </p:cBhvr>
                                      <p:to>
                                        <p:strVal val="visible"/>
                                      </p:to>
                                    </p:set>
                                    <p:animEffect transition="in" filter="wipe(left)">
                                      <p:cBhvr>
                                        <p:cTn id="34" dur="2000"/>
                                        <p:tgtEl>
                                          <p:spTgt spid="3380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34830"/>
                                        </p:tgtEl>
                                        <p:attrNameLst>
                                          <p:attrName>style.visibility</p:attrName>
                                        </p:attrNameLst>
                                      </p:cBhvr>
                                      <p:to>
                                        <p:strVal val="visible"/>
                                      </p:to>
                                    </p:set>
                                    <p:animEffect transition="in" filter="wipe(left)">
                                      <p:cBhvr>
                                        <p:cTn id="39" dur="1000"/>
                                        <p:tgtEl>
                                          <p:spTgt spid="34830"/>
                                        </p:tgtEl>
                                      </p:cBhvr>
                                    </p:animEffect>
                                  </p:childTnLst>
                                </p:cTn>
                              </p:par>
                            </p:childTnLst>
                          </p:cTn>
                        </p:par>
                        <p:par>
                          <p:cTn id="40" fill="hold" nodeType="afterGroup">
                            <p:stCondLst>
                              <p:cond delay="1000"/>
                            </p:stCondLst>
                            <p:childTnLst>
                              <p:par>
                                <p:cTn id="41" presetID="22" presetClass="entr" presetSubtype="8" fill="hold" nodeType="after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wipe(left)">
                                      <p:cBhvr>
                                        <p:cTn id="43" dur="2000"/>
                                        <p:tgtEl>
                                          <p:spTgt spid="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34827"/>
                                        </p:tgtEl>
                                        <p:attrNameLst>
                                          <p:attrName>style.visibility</p:attrName>
                                        </p:attrNameLst>
                                      </p:cBhvr>
                                      <p:to>
                                        <p:strVal val="visible"/>
                                      </p:to>
                                    </p:set>
                                    <p:animEffect transition="in" filter="wipe(left)">
                                      <p:cBhvr>
                                        <p:cTn id="48" dur="2000"/>
                                        <p:tgtEl>
                                          <p:spTgt spid="34827"/>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34828"/>
                                        </p:tgtEl>
                                        <p:attrNameLst>
                                          <p:attrName>style.visibility</p:attrName>
                                        </p:attrNameLst>
                                      </p:cBhvr>
                                      <p:to>
                                        <p:strVal val="visible"/>
                                      </p:to>
                                    </p:set>
                                    <p:animEffect transition="in" filter="wipe(left)">
                                      <p:cBhvr>
                                        <p:cTn id="53" dur="2000"/>
                                        <p:tgtEl>
                                          <p:spTgt spid="34828"/>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34821"/>
                                        </p:tgtEl>
                                        <p:attrNameLst>
                                          <p:attrName>style.visibility</p:attrName>
                                        </p:attrNameLst>
                                      </p:cBhvr>
                                      <p:to>
                                        <p:strVal val="visible"/>
                                      </p:to>
                                    </p:set>
                                    <p:animEffect transition="in" filter="wipe(left)">
                                      <p:cBhvr>
                                        <p:cTn id="58" dur="1000"/>
                                        <p:tgtEl>
                                          <p:spTgt spid="34821"/>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wipe(left)">
                                      <p:cBhvr>
                                        <p:cTn id="63"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4825" grpId="0"/>
      <p:bldP spid="34826" grpId="0"/>
      <p:bldP spid="34827" grpId="0"/>
      <p:bldP spid="34828" grpId="0"/>
      <p:bldP spid="3483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9">
            <a:extLst>
              <a:ext uri="{FF2B5EF4-FFF2-40B4-BE49-F238E27FC236}">
                <a16:creationId xmlns:a16="http://schemas.microsoft.com/office/drawing/2014/main" id="{4583555A-6B84-B6AF-D3F5-75E70814F4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938" y="2143125"/>
            <a:ext cx="3724275" cy="269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11" name="Rectangle 7">
            <a:extLst>
              <a:ext uri="{FF2B5EF4-FFF2-40B4-BE49-F238E27FC236}">
                <a16:creationId xmlns:a16="http://schemas.microsoft.com/office/drawing/2014/main" id="{37305F72-D966-DD3D-5664-A9B866AEE2B9}"/>
              </a:ext>
            </a:extLst>
          </p:cNvPr>
          <p:cNvSpPr>
            <a:spLocks noChangeArrowheads="1"/>
          </p:cNvSpPr>
          <p:nvPr/>
        </p:nvSpPr>
        <p:spPr bwMode="auto">
          <a:xfrm>
            <a:off x="0" y="0"/>
            <a:ext cx="9144000" cy="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wrap="none" anchor="ctr">
            <a:spAutoFit/>
          </a:bodyPr>
          <a:lstStyle/>
          <a:p>
            <a:pPr>
              <a:defRPr/>
            </a:pPr>
            <a:endParaRPr lang="zh-CN" altLang="en-US">
              <a:ea typeface="宋体" charset="-122"/>
            </a:endParaRPr>
          </a:p>
        </p:txBody>
      </p:sp>
      <p:sp>
        <p:nvSpPr>
          <p:cNvPr id="25" name="AutoShape 6">
            <a:extLst>
              <a:ext uri="{FF2B5EF4-FFF2-40B4-BE49-F238E27FC236}">
                <a16:creationId xmlns:a16="http://schemas.microsoft.com/office/drawing/2014/main" id="{499BBA11-41B8-19D6-6C9B-BA3EE09EBEED}"/>
              </a:ext>
            </a:extLst>
          </p:cNvPr>
          <p:cNvSpPr>
            <a:spLocks noChangeArrowheads="1"/>
          </p:cNvSpPr>
          <p:nvPr/>
        </p:nvSpPr>
        <p:spPr bwMode="auto">
          <a:xfrm>
            <a:off x="4500563" y="1714500"/>
            <a:ext cx="3929062" cy="2571750"/>
          </a:xfrm>
          <a:prstGeom prst="wedgeRoundRectCallout">
            <a:avLst>
              <a:gd name="adj1" fmla="val -55950"/>
              <a:gd name="adj2" fmla="val -23615"/>
              <a:gd name="adj3" fmla="val 16667"/>
            </a:avLst>
          </a:prstGeom>
          <a:solidFill>
            <a:schemeClr val="bg2">
              <a:lumMod val="10000"/>
              <a:lumOff val="90000"/>
            </a:schemeClr>
          </a:solidFill>
          <a:ln w="9525">
            <a:solidFill>
              <a:schemeClr val="tx2">
                <a:lumMod val="20000"/>
                <a:lumOff val="80000"/>
              </a:schemeClr>
            </a:solidFill>
            <a:miter lim="800000"/>
            <a:headEnd/>
            <a:tailEnd/>
          </a:ln>
          <a:effectLst>
            <a:prstShdw prst="shdw17" dist="17961" dir="2700000">
              <a:srgbClr val="4D4D4D"/>
            </a:prstShdw>
          </a:effectLst>
        </p:spPr>
        <p:txBody>
          <a:bodyPr/>
          <a:lstStyle/>
          <a:p>
            <a:pPr>
              <a:lnSpc>
                <a:spcPct val="150000"/>
              </a:lnSpc>
              <a:defRPr/>
            </a:pPr>
            <a:r>
              <a:rPr lang="zh-CN" altLang="en-US" sz="2000" dirty="0">
                <a:latin typeface="微软雅黑" pitchFamily="34" charset="-122"/>
                <a:ea typeface="微软雅黑" pitchFamily="34" charset="-122"/>
              </a:rPr>
              <a:t>自</a:t>
            </a:r>
            <a:r>
              <a:rPr lang="zh-CN" altLang="zh-CN" sz="2000" dirty="0">
                <a:latin typeface="微软雅黑" pitchFamily="34" charset="-122"/>
                <a:ea typeface="微软雅黑" pitchFamily="34" charset="-122"/>
              </a:rPr>
              <a:t>相关函数</a:t>
            </a:r>
            <a:r>
              <a:rPr lang="en-US" altLang="zh-CN" sz="2000" dirty="0">
                <a:latin typeface="微软雅黑" pitchFamily="34" charset="-122"/>
                <a:ea typeface="微软雅黑" pitchFamily="34" charset="-122"/>
              </a:rPr>
              <a:t> </a:t>
            </a:r>
            <a:r>
              <a:rPr lang="zh-CN" altLang="zh-CN" sz="2000" dirty="0">
                <a:latin typeface="微软雅黑" pitchFamily="34" charset="-122"/>
                <a:ea typeface="微软雅黑" pitchFamily="34" charset="-122"/>
              </a:rPr>
              <a:t>在</a:t>
            </a:r>
            <a:r>
              <a:rPr lang="zh-CN" altLang="en-US" sz="2000" dirty="0">
                <a:latin typeface="微软雅黑" pitchFamily="34" charset="-122"/>
                <a:ea typeface="微软雅黑" pitchFamily="34" charset="-122"/>
              </a:rPr>
              <a:t> </a:t>
            </a:r>
            <a:r>
              <a:rPr lang="en-US" altLang="zh-CN" sz="2000" dirty="0">
                <a:solidFill>
                  <a:srgbClr val="FF0000"/>
                </a:solidFill>
                <a:latin typeface="微软雅黑" pitchFamily="34" charset="-122"/>
                <a:ea typeface="微软雅黑" pitchFamily="34" charset="-122"/>
              </a:rPr>
              <a:t>j=0</a:t>
            </a:r>
            <a:r>
              <a:rPr lang="zh-CN" altLang="zh-CN" sz="2000" dirty="0">
                <a:latin typeface="微软雅黑" pitchFamily="34" charset="-122"/>
                <a:ea typeface="微软雅黑" pitchFamily="34" charset="-122"/>
              </a:rPr>
              <a:t>时</a:t>
            </a:r>
            <a:r>
              <a:rPr lang="en-US" altLang="zh-CN" sz="2000" dirty="0">
                <a:latin typeface="微软雅黑" pitchFamily="34" charset="-122"/>
                <a:ea typeface="微软雅黑" pitchFamily="34" charset="-122"/>
              </a:rPr>
              <a:t> </a:t>
            </a:r>
            <a:r>
              <a:rPr lang="zh-CN" altLang="zh-CN" sz="2000" dirty="0">
                <a:latin typeface="微软雅黑" pitchFamily="34" charset="-122"/>
                <a:ea typeface="微软雅黑" pitchFamily="34" charset="-122"/>
              </a:rPr>
              <a:t>具有</a:t>
            </a:r>
            <a:r>
              <a:rPr lang="zh-CN" altLang="zh-CN" sz="2000" dirty="0">
                <a:solidFill>
                  <a:srgbClr val="FF0000"/>
                </a:solidFill>
                <a:latin typeface="微软雅黑" pitchFamily="34" charset="-122"/>
                <a:ea typeface="微软雅黑" pitchFamily="34" charset="-122"/>
              </a:rPr>
              <a:t>尖锐的单峰特性</a:t>
            </a:r>
            <a:endParaRPr lang="zh-CN" altLang="en-US" sz="2000" dirty="0">
              <a:ea typeface="宋体" charset="-122"/>
            </a:endParaRPr>
          </a:p>
          <a:p>
            <a:pPr>
              <a:lnSpc>
                <a:spcPct val="150000"/>
              </a:lnSpc>
              <a:defRPr/>
            </a:pPr>
            <a:endParaRPr lang="zh-CN" altLang="en-US" sz="2000" dirty="0">
              <a:latin typeface="微软雅黑" pitchFamily="34" charset="-122"/>
              <a:ea typeface="微软雅黑" pitchFamily="34" charset="-122"/>
            </a:endParaRPr>
          </a:p>
          <a:p>
            <a:pPr>
              <a:lnSpc>
                <a:spcPct val="150000"/>
              </a:lnSpc>
              <a:defRPr/>
            </a:pPr>
            <a:endParaRPr lang="zh-CN" altLang="en-US" sz="2000" dirty="0">
              <a:solidFill>
                <a:srgbClr val="FF0000"/>
              </a:solidFill>
              <a:latin typeface="微软雅黑" pitchFamily="34" charset="-122"/>
              <a:ea typeface="微软雅黑" pitchFamily="34" charset="-122"/>
            </a:endParaRPr>
          </a:p>
        </p:txBody>
      </p:sp>
      <p:sp>
        <p:nvSpPr>
          <p:cNvPr id="33" name="矩形 32">
            <a:extLst>
              <a:ext uri="{FF2B5EF4-FFF2-40B4-BE49-F238E27FC236}">
                <a16:creationId xmlns:a16="http://schemas.microsoft.com/office/drawing/2014/main" id="{BD34823B-6CB1-DA3D-9191-03913A5D561D}"/>
              </a:ext>
            </a:extLst>
          </p:cNvPr>
          <p:cNvSpPr>
            <a:spLocks noChangeArrowheads="1"/>
          </p:cNvSpPr>
          <p:nvPr/>
        </p:nvSpPr>
        <p:spPr bwMode="auto">
          <a:xfrm>
            <a:off x="4629150" y="2314575"/>
            <a:ext cx="371475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ct val="150000"/>
              </a:lnSpc>
            </a:pPr>
            <a:r>
              <a:rPr lang="en-US" altLang="zh-CN" sz="2000">
                <a:solidFill>
                  <a:srgbClr val="000000"/>
                </a:solidFill>
                <a:latin typeface="微软雅黑" panose="020B0503020204020204" pitchFamily="34" charset="-122"/>
                <a:ea typeface="微软雅黑" panose="020B0503020204020204" pitchFamily="34" charset="-122"/>
              </a:rPr>
              <a:t>                  ——</a:t>
            </a:r>
            <a:r>
              <a:rPr lang="zh-CN" altLang="zh-CN" sz="2000">
                <a:solidFill>
                  <a:srgbClr val="000000"/>
                </a:solidFill>
                <a:latin typeface="微软雅黑" panose="020B0503020204020204" pitchFamily="34" charset="-122"/>
                <a:ea typeface="微软雅黑" panose="020B0503020204020204" pitchFamily="34" charset="-122"/>
              </a:rPr>
              <a:t>这一特性正是</a:t>
            </a:r>
            <a:r>
              <a:rPr lang="zh-CN" altLang="en-US" sz="2000">
                <a:solidFill>
                  <a:srgbClr val="000000"/>
                </a:solidFill>
                <a:latin typeface="微软雅黑" panose="020B0503020204020204" pitchFamily="34" charset="-122"/>
                <a:ea typeface="微软雅黑" panose="020B0503020204020204" pitchFamily="34" charset="-122"/>
              </a:rPr>
              <a:t>集中</a:t>
            </a:r>
            <a:r>
              <a:rPr lang="zh-CN" altLang="zh-CN" sz="2000">
                <a:solidFill>
                  <a:srgbClr val="000000"/>
                </a:solidFill>
                <a:latin typeface="微软雅黑" panose="020B0503020204020204" pitchFamily="34" charset="-122"/>
                <a:ea typeface="微软雅黑" panose="020B0503020204020204" pitchFamily="34" charset="-122"/>
              </a:rPr>
              <a:t>插入群同步码组的主要要求之一</a:t>
            </a:r>
            <a:r>
              <a:rPr lang="zh-CN" altLang="en-US" sz="2000">
                <a:solidFill>
                  <a:srgbClr val="000000"/>
                </a:solidFill>
                <a:latin typeface="微软雅黑" panose="020B0503020204020204" pitchFamily="34" charset="-122"/>
                <a:ea typeface="微软雅黑" panose="020B0503020204020204" pitchFamily="34" charset="-122"/>
              </a:rPr>
              <a:t>；</a:t>
            </a:r>
            <a:endParaRPr lang="zh-CN" altLang="en-US"/>
          </a:p>
        </p:txBody>
      </p:sp>
      <p:sp>
        <p:nvSpPr>
          <p:cNvPr id="35" name="矩形 34">
            <a:extLst>
              <a:ext uri="{FF2B5EF4-FFF2-40B4-BE49-F238E27FC236}">
                <a16:creationId xmlns:a16="http://schemas.microsoft.com/office/drawing/2014/main" id="{197DCC5F-7AEF-43A6-402E-977502B6C827}"/>
              </a:ext>
            </a:extLst>
          </p:cNvPr>
          <p:cNvSpPr>
            <a:spLocks noChangeArrowheads="1"/>
          </p:cNvSpPr>
          <p:nvPr/>
        </p:nvSpPr>
        <p:spPr bwMode="auto">
          <a:xfrm>
            <a:off x="4643438" y="3214688"/>
            <a:ext cx="3929062"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ct val="150000"/>
              </a:lnSpc>
            </a:pPr>
            <a:r>
              <a:rPr lang="zh-CN" altLang="en-US" sz="2000">
                <a:solidFill>
                  <a:srgbClr val="000000"/>
                </a:solidFill>
                <a:latin typeface="微软雅黑" panose="020B0503020204020204" pitchFamily="34" charset="-122"/>
                <a:ea typeface="微软雅黑" panose="020B0503020204020204" pitchFamily="34" charset="-122"/>
              </a:rPr>
              <a:t>               也是接收端寻找同步</a:t>
            </a:r>
            <a:endParaRPr lang="en-US" altLang="zh-CN" sz="2000">
              <a:solidFill>
                <a:srgbClr val="000000"/>
              </a:solidFill>
              <a:latin typeface="微软雅黑" panose="020B0503020204020204" pitchFamily="34" charset="-122"/>
              <a:ea typeface="微软雅黑" panose="020B0503020204020204" pitchFamily="34" charset="-122"/>
            </a:endParaRPr>
          </a:p>
          <a:p>
            <a:pPr eaLnBrk="1" hangingPunct="1">
              <a:lnSpc>
                <a:spcPct val="150000"/>
              </a:lnSpc>
            </a:pPr>
            <a:r>
              <a:rPr lang="zh-CN" altLang="en-US" sz="2000">
                <a:solidFill>
                  <a:srgbClr val="000000"/>
                </a:solidFill>
                <a:latin typeface="微软雅黑" panose="020B0503020204020204" pitchFamily="34" charset="-122"/>
                <a:ea typeface="微软雅黑" panose="020B0503020204020204" pitchFamily="34" charset="-122"/>
              </a:rPr>
              <a:t>头的线索。</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1000"/>
                                        <p:tgtEl>
                                          <p:spTgt spid="2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wipe(up)">
                                      <p:cBhvr>
                                        <p:cTn id="12" dur="2000"/>
                                        <p:tgtEl>
                                          <p:spTgt spid="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wipe(up)">
                                      <p:cBhvr>
                                        <p:cTn id="17" dur="2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autoUpdateAnimBg="0"/>
      <p:bldP spid="33" grpId="0"/>
      <p:bldP spid="3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39">
            <a:extLst>
              <a:ext uri="{FF2B5EF4-FFF2-40B4-BE49-F238E27FC236}">
                <a16:creationId xmlns:a16="http://schemas.microsoft.com/office/drawing/2014/main" id="{DE2A8D12-1064-C281-25F5-C01A494C20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50" y="1908175"/>
            <a:ext cx="5429250" cy="436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矩形 39">
            <a:extLst>
              <a:ext uri="{FF2B5EF4-FFF2-40B4-BE49-F238E27FC236}">
                <a16:creationId xmlns:a16="http://schemas.microsoft.com/office/drawing/2014/main" id="{A1F3A89E-0661-9F15-7D24-A12860344196}"/>
              </a:ext>
            </a:extLst>
          </p:cNvPr>
          <p:cNvSpPr/>
          <p:nvPr/>
        </p:nvSpPr>
        <p:spPr>
          <a:xfrm>
            <a:off x="714375" y="1143000"/>
            <a:ext cx="4929188" cy="469900"/>
          </a:xfrm>
          <a:prstGeom prst="rect">
            <a:avLst/>
          </a:prstGeom>
        </p:spPr>
        <p:txBody>
          <a:bodyPr>
            <a:spAutoFit/>
          </a:bodyPr>
          <a:lstStyle/>
          <a:p>
            <a:pPr marL="228600" lvl="2" indent="-228600" eaLnBrk="0" hangingPunct="0">
              <a:lnSpc>
                <a:spcPct val="110000"/>
              </a:lnSpc>
              <a:spcBef>
                <a:spcPct val="20000"/>
              </a:spcBef>
              <a:buClr>
                <a:srgbClr val="FF0000"/>
              </a:buClr>
              <a:buSzPct val="85000"/>
              <a:buFont typeface="Wingdings" pitchFamily="2" charset="2"/>
              <a:buChar char="n"/>
              <a:defRPr/>
            </a:pPr>
            <a:r>
              <a:rPr lang="en-US" altLang="zh-CN" sz="2400" b="1" dirty="0">
                <a:latin typeface="微软雅黑" pitchFamily="34" charset="-122"/>
                <a:ea typeface="微软雅黑" pitchFamily="34" charset="-122"/>
              </a:rPr>
              <a:t> </a:t>
            </a:r>
            <a:r>
              <a:rPr lang="zh-CN" altLang="en-US" sz="2400" b="1" dirty="0">
                <a:latin typeface="微软雅黑" pitchFamily="34" charset="-122"/>
                <a:ea typeface="微软雅黑" pitchFamily="34" charset="-122"/>
              </a:rPr>
              <a:t>集中插入法群同步码检测流程</a:t>
            </a:r>
            <a:r>
              <a:rPr lang="zh-CN" altLang="en-US" sz="2400" b="1" kern="0" dirty="0">
                <a:latin typeface="微软雅黑" pitchFamily="34" charset="-122"/>
                <a:ea typeface="微软雅黑" pitchFamily="34" charset="-122"/>
              </a:rPr>
              <a:t>：</a:t>
            </a:r>
          </a:p>
        </p:txBody>
      </p:sp>
      <p:sp>
        <p:nvSpPr>
          <p:cNvPr id="4" name="矩形 3">
            <a:extLst>
              <a:ext uri="{FF2B5EF4-FFF2-40B4-BE49-F238E27FC236}">
                <a16:creationId xmlns:a16="http://schemas.microsoft.com/office/drawing/2014/main" id="{B5D29927-7F8F-9838-3226-7DA024B27A86}"/>
              </a:ext>
            </a:extLst>
          </p:cNvPr>
          <p:cNvSpPr/>
          <p:nvPr/>
        </p:nvSpPr>
        <p:spPr>
          <a:xfrm>
            <a:off x="7546975" y="528638"/>
            <a:ext cx="954088" cy="400050"/>
          </a:xfrm>
          <a:prstGeom prst="rect">
            <a:avLst/>
          </a:prstGeom>
        </p:spPr>
        <p:txBody>
          <a:bodyPr wrap="none">
            <a:spAutoFit/>
          </a:bodyPr>
          <a:lstStyle/>
          <a:p>
            <a:pPr>
              <a:defRPr/>
            </a:pPr>
            <a:r>
              <a:rPr lang="zh-CN" altLang="en-US" sz="2000" kern="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rPr>
              <a:t>群同步</a:t>
            </a:r>
            <a:endParaRPr lang="zh-CN" altLang="en-US" sz="2000" dirty="0">
              <a:solidFill>
                <a:schemeClr val="tx1">
                  <a:lumMod val="65000"/>
                  <a:lumOff val="35000"/>
                </a:schemeClr>
              </a:solidFill>
              <a:effectLst>
                <a:outerShdw blurRad="38100" dist="38100" dir="2700000" algn="tl">
                  <a:srgbClr val="000000">
                    <a:alpha val="43137"/>
                  </a:srgbClr>
                </a:outerShdw>
              </a:effectLst>
              <a:ea typeface="宋体"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up)">
                                      <p:cBhvr>
                                        <p:cTn id="7" dur="1000"/>
                                        <p:tgtEl>
                                          <p:spTgt spid="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4754"/>
                                        </p:tgtEl>
                                        <p:attrNameLst>
                                          <p:attrName>style.visibility</p:attrName>
                                        </p:attrNameLst>
                                      </p:cBhvr>
                                      <p:to>
                                        <p:strVal val="visible"/>
                                      </p:to>
                                    </p:set>
                                    <p:animEffect transition="in" filter="wipe(up)">
                                      <p:cBhvr>
                                        <p:cTn id="12" dur="3000"/>
                                        <p:tgtEl>
                                          <p:spTgt spid="747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 name="图片 95">
            <a:extLst>
              <a:ext uri="{FF2B5EF4-FFF2-40B4-BE49-F238E27FC236}">
                <a16:creationId xmlns:a16="http://schemas.microsoft.com/office/drawing/2014/main" id="{AC7FC7FE-BC24-416D-F158-CB1D5108036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57325" y="4786313"/>
            <a:ext cx="7115175" cy="165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矩形 27">
            <a:extLst>
              <a:ext uri="{FF2B5EF4-FFF2-40B4-BE49-F238E27FC236}">
                <a16:creationId xmlns:a16="http://schemas.microsoft.com/office/drawing/2014/main" id="{E427FF75-6AE8-1591-3B1C-09EA9ECE0A39}"/>
              </a:ext>
            </a:extLst>
          </p:cNvPr>
          <p:cNvSpPr/>
          <p:nvPr/>
        </p:nvSpPr>
        <p:spPr>
          <a:xfrm>
            <a:off x="7546975" y="528638"/>
            <a:ext cx="954088" cy="400050"/>
          </a:xfrm>
          <a:prstGeom prst="rect">
            <a:avLst/>
          </a:prstGeom>
        </p:spPr>
        <p:txBody>
          <a:bodyPr wrap="none">
            <a:spAutoFit/>
          </a:bodyPr>
          <a:lstStyle/>
          <a:p>
            <a:pPr>
              <a:defRPr/>
            </a:pPr>
            <a:r>
              <a:rPr lang="zh-CN" altLang="en-US" sz="2000" kern="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rPr>
              <a:t>群同步</a:t>
            </a:r>
            <a:endParaRPr lang="zh-CN" altLang="en-US" sz="2000" dirty="0">
              <a:solidFill>
                <a:schemeClr val="tx1">
                  <a:lumMod val="65000"/>
                  <a:lumOff val="35000"/>
                </a:schemeClr>
              </a:solidFill>
              <a:effectLst>
                <a:outerShdw blurRad="38100" dist="38100" dir="2700000" algn="tl">
                  <a:srgbClr val="000000">
                    <a:alpha val="43137"/>
                  </a:srgbClr>
                </a:outerShdw>
              </a:effectLst>
              <a:ea typeface="宋体" charset="-122"/>
            </a:endParaRPr>
          </a:p>
        </p:txBody>
      </p:sp>
      <p:sp>
        <p:nvSpPr>
          <p:cNvPr id="30" name="矩形 29">
            <a:extLst>
              <a:ext uri="{FF2B5EF4-FFF2-40B4-BE49-F238E27FC236}">
                <a16:creationId xmlns:a16="http://schemas.microsoft.com/office/drawing/2014/main" id="{27FEBD12-9C08-790D-B282-EF21E2A28450}"/>
              </a:ext>
            </a:extLst>
          </p:cNvPr>
          <p:cNvSpPr/>
          <p:nvPr/>
        </p:nvSpPr>
        <p:spPr>
          <a:xfrm>
            <a:off x="773113" y="1192213"/>
            <a:ext cx="2155825" cy="469900"/>
          </a:xfrm>
          <a:prstGeom prst="rect">
            <a:avLst/>
          </a:prstGeom>
          <a:noFill/>
          <a:effectLst/>
        </p:spPr>
        <p:txBody>
          <a:bodyPr>
            <a:spAutoFit/>
          </a:bodyPr>
          <a:lstStyle/>
          <a:p>
            <a:pPr marL="228600" indent="-228600" eaLnBrk="0" hangingPunct="0">
              <a:lnSpc>
                <a:spcPct val="110000"/>
              </a:lnSpc>
              <a:spcBef>
                <a:spcPct val="20000"/>
              </a:spcBef>
              <a:buClr>
                <a:srgbClr val="FF0000"/>
              </a:buClr>
              <a:buSzPct val="85000"/>
              <a:buFont typeface="Wingdings" pitchFamily="2" charset="2"/>
              <a:buChar char="n"/>
              <a:defRPr/>
            </a:pPr>
            <a:r>
              <a:rPr lang="zh-CN" altLang="en-US" sz="2400" b="1" kern="0" dirty="0">
                <a:solidFill>
                  <a:srgbClr val="003399"/>
                </a:solidFill>
                <a:latin typeface="微软雅黑" pitchFamily="34" charset="-122"/>
                <a:ea typeface="微软雅黑" pitchFamily="34" charset="-122"/>
              </a:rPr>
              <a:t> </a:t>
            </a:r>
            <a:r>
              <a:rPr lang="zh-CN" altLang="en-US" sz="2400" b="1" kern="0" dirty="0">
                <a:latin typeface="微软雅黑" pitchFamily="34" charset="-122"/>
                <a:ea typeface="微软雅黑" pitchFamily="34" charset="-122"/>
              </a:rPr>
              <a:t>插入原理： </a:t>
            </a:r>
          </a:p>
        </p:txBody>
      </p:sp>
      <p:sp>
        <p:nvSpPr>
          <p:cNvPr id="89" name="矩形 4">
            <a:extLst>
              <a:ext uri="{FF2B5EF4-FFF2-40B4-BE49-F238E27FC236}">
                <a16:creationId xmlns:a16="http://schemas.microsoft.com/office/drawing/2014/main" id="{F160543E-F07F-88B4-9AE1-75FBA31FE152}"/>
              </a:ext>
            </a:extLst>
          </p:cNvPr>
          <p:cNvSpPr>
            <a:spLocks noChangeArrowheads="1"/>
          </p:cNvSpPr>
          <p:nvPr/>
        </p:nvSpPr>
        <p:spPr bwMode="auto">
          <a:xfrm>
            <a:off x="142875" y="415925"/>
            <a:ext cx="36020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en-US" sz="3200" b="1">
                <a:solidFill>
                  <a:srgbClr val="800080"/>
                </a:solidFill>
                <a:latin typeface="Arial" panose="020B0604020202020204" pitchFamily="34" charset="0"/>
                <a:ea typeface="微软雅黑" panose="020B0503020204020204" pitchFamily="34" charset="-122"/>
                <a:cs typeface="Arial" panose="020B0604020202020204" pitchFamily="34" charset="0"/>
              </a:rPr>
              <a:t>13</a:t>
            </a:r>
            <a:r>
              <a:rPr lang="en-US" altLang="zh-CN" sz="3200" b="1">
                <a:solidFill>
                  <a:srgbClr val="800080"/>
                </a:solidFill>
                <a:latin typeface="Arial" panose="020B0604020202020204" pitchFamily="34" charset="0"/>
                <a:ea typeface="微软雅黑" panose="020B0503020204020204" pitchFamily="34" charset="-122"/>
                <a:cs typeface="Arial" panose="020B0604020202020204" pitchFamily="34" charset="0"/>
              </a:rPr>
              <a:t>.4.3  </a:t>
            </a:r>
            <a:r>
              <a:rPr lang="zh-CN" altLang="en-US" sz="3200" b="1">
                <a:solidFill>
                  <a:srgbClr val="003399"/>
                </a:solidFill>
                <a:latin typeface="微软雅黑" panose="020B0503020204020204" pitchFamily="34" charset="-122"/>
                <a:ea typeface="微软雅黑" panose="020B0503020204020204" pitchFamily="34" charset="-122"/>
                <a:cs typeface="Arial" panose="020B0604020202020204" pitchFamily="34" charset="0"/>
              </a:rPr>
              <a:t>分散插入法</a:t>
            </a:r>
            <a:endParaRPr lang="zh-CN" altLang="en-US" sz="3200" b="1">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91" name="矩形 90">
            <a:extLst>
              <a:ext uri="{FF2B5EF4-FFF2-40B4-BE49-F238E27FC236}">
                <a16:creationId xmlns:a16="http://schemas.microsoft.com/office/drawing/2014/main" id="{37DBBE14-B5AA-F13E-D2A2-674F989AF6ED}"/>
              </a:ext>
            </a:extLst>
          </p:cNvPr>
          <p:cNvSpPr/>
          <p:nvPr/>
        </p:nvSpPr>
        <p:spPr>
          <a:xfrm>
            <a:off x="3571875" y="538163"/>
            <a:ext cx="2646363" cy="461962"/>
          </a:xfrm>
          <a:prstGeom prst="rect">
            <a:avLst/>
          </a:prstGeom>
        </p:spPr>
        <p:txBody>
          <a:bodyPr wrap="none">
            <a:spAutoFit/>
          </a:bodyPr>
          <a:lstStyle/>
          <a:p>
            <a:pPr>
              <a:defRPr/>
            </a:pPr>
            <a:r>
              <a:rPr lang="zh-CN" altLang="en-US" sz="2400" kern="0" dirty="0">
                <a:effectLst>
                  <a:outerShdw blurRad="38100" dist="38100" dir="2700000" algn="tl">
                    <a:srgbClr val="000000">
                      <a:alpha val="43137"/>
                    </a:srgbClr>
                  </a:outerShdw>
                </a:effectLst>
                <a:latin typeface="微软雅黑" pitchFamily="34" charset="-122"/>
                <a:ea typeface="微软雅黑" pitchFamily="34" charset="-122"/>
              </a:rPr>
              <a:t>（间隔式插入法）</a:t>
            </a:r>
            <a:endParaRPr lang="zh-CN" altLang="en-US" sz="2400" dirty="0">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p:txBody>
      </p:sp>
      <p:sp>
        <p:nvSpPr>
          <p:cNvPr id="37" name="矩形 36">
            <a:extLst>
              <a:ext uri="{FF2B5EF4-FFF2-40B4-BE49-F238E27FC236}">
                <a16:creationId xmlns:a16="http://schemas.microsoft.com/office/drawing/2014/main" id="{2D203AA4-9BF2-8B7C-F5B3-34677B618318}"/>
              </a:ext>
            </a:extLst>
          </p:cNvPr>
          <p:cNvSpPr/>
          <p:nvPr/>
        </p:nvSpPr>
        <p:spPr>
          <a:xfrm>
            <a:off x="2500313" y="1143000"/>
            <a:ext cx="6429375" cy="554038"/>
          </a:xfrm>
          <a:prstGeom prst="rect">
            <a:avLst/>
          </a:prstGeom>
          <a:noFill/>
          <a:effectLst/>
        </p:spPr>
        <p:txBody>
          <a:bodyPr>
            <a:spAutoFit/>
          </a:bodyPr>
          <a:lstStyle/>
          <a:p>
            <a:pPr marL="342900" indent="-342900">
              <a:lnSpc>
                <a:spcPct val="150000"/>
              </a:lnSpc>
              <a:defRPr/>
            </a:pPr>
            <a:r>
              <a:rPr lang="en-US" altLang="zh-CN" sz="2000" dirty="0">
                <a:latin typeface="微软雅黑" pitchFamily="34" charset="-122"/>
                <a:ea typeface="微软雅黑" pitchFamily="34" charset="-122"/>
              </a:rPr>
              <a:t> </a:t>
            </a:r>
            <a:r>
              <a:rPr lang="zh-CN" altLang="en-US" sz="2000" dirty="0">
                <a:latin typeface="微软雅黑" pitchFamily="34" charset="-122"/>
                <a:ea typeface="微软雅黑" pitchFamily="34" charset="-122"/>
              </a:rPr>
              <a:t>将某种具有</a:t>
            </a:r>
            <a:r>
              <a:rPr lang="zh-CN" altLang="en-US" sz="2000" dirty="0">
                <a:solidFill>
                  <a:srgbClr val="0000CC"/>
                </a:solidFill>
                <a:effectLst>
                  <a:outerShdw blurRad="38100" dist="38100" dir="2700000" algn="tl">
                    <a:srgbClr val="000000">
                      <a:alpha val="43137"/>
                    </a:srgbClr>
                  </a:outerShdw>
                </a:effectLst>
                <a:latin typeface="微软雅黑" pitchFamily="34" charset="-122"/>
                <a:ea typeface="微软雅黑" pitchFamily="34" charset="-122"/>
              </a:rPr>
              <a:t>短周期性</a:t>
            </a:r>
            <a:r>
              <a:rPr lang="zh-CN" altLang="en-US" sz="2000" dirty="0">
                <a:latin typeface="微软雅黑" pitchFamily="34" charset="-122"/>
                <a:ea typeface="微软雅黑" pitchFamily="34" charset="-122"/>
              </a:rPr>
              <a:t>的</a:t>
            </a:r>
            <a:r>
              <a:rPr lang="zh-CN" altLang="en-US" sz="2000" dirty="0">
                <a:effectLst>
                  <a:outerShdw blurRad="38100" dist="38100" dir="2700000" algn="tl">
                    <a:srgbClr val="000000">
                      <a:alpha val="43137"/>
                    </a:srgbClr>
                  </a:outerShdw>
                </a:effectLst>
                <a:latin typeface="微软雅黑" pitchFamily="34" charset="-122"/>
                <a:ea typeface="微软雅黑" pitchFamily="34" charset="-122"/>
              </a:rPr>
              <a:t>同步码组</a:t>
            </a:r>
            <a:r>
              <a:rPr lang="zh-CN" altLang="en-US" sz="20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间隔</a:t>
            </a:r>
            <a:r>
              <a:rPr lang="zh-CN" altLang="zh-CN" sz="2000" dirty="0">
                <a:solidFill>
                  <a:srgbClr val="FF0000"/>
                </a:solidFill>
                <a:latin typeface="微软雅黑" pitchFamily="34" charset="-122"/>
                <a:ea typeface="微软雅黑" pitchFamily="34" charset="-122"/>
              </a:rPr>
              <a:t>插入</a:t>
            </a:r>
            <a:r>
              <a:rPr lang="zh-CN" altLang="en-US" sz="2000" dirty="0">
                <a:solidFill>
                  <a:srgbClr val="080808"/>
                </a:solidFill>
                <a:latin typeface="微软雅黑" pitchFamily="34" charset="-122"/>
                <a:ea typeface="微软雅黑" pitchFamily="34" charset="-122"/>
              </a:rPr>
              <a:t>。</a:t>
            </a:r>
            <a:r>
              <a:rPr lang="en-US" altLang="zh-CN" sz="2000" dirty="0">
                <a:solidFill>
                  <a:srgbClr val="080808"/>
                </a:solidFill>
                <a:latin typeface="微软雅黑" pitchFamily="34" charset="-122"/>
                <a:ea typeface="微软雅黑" pitchFamily="34" charset="-122"/>
              </a:rPr>
              <a:t>           </a:t>
            </a:r>
            <a:endParaRPr lang="zh-CN" altLang="zh-CN" sz="2000" dirty="0">
              <a:solidFill>
                <a:srgbClr val="080808"/>
              </a:solidFill>
              <a:latin typeface="微软雅黑" pitchFamily="34" charset="-122"/>
              <a:ea typeface="微软雅黑" pitchFamily="34" charset="-122"/>
            </a:endParaRPr>
          </a:p>
        </p:txBody>
      </p:sp>
      <p:grpSp>
        <p:nvGrpSpPr>
          <p:cNvPr id="2" name="Group 124">
            <a:extLst>
              <a:ext uri="{FF2B5EF4-FFF2-40B4-BE49-F238E27FC236}">
                <a16:creationId xmlns:a16="http://schemas.microsoft.com/office/drawing/2014/main" id="{B310CE64-3F2D-B930-B190-206E3AB5DEE1}"/>
              </a:ext>
            </a:extLst>
          </p:cNvPr>
          <p:cNvGrpSpPr>
            <a:grpSpLocks/>
          </p:cNvGrpSpPr>
          <p:nvPr/>
        </p:nvGrpSpPr>
        <p:grpSpPr bwMode="auto">
          <a:xfrm>
            <a:off x="1428728" y="1857349"/>
            <a:ext cx="6788149" cy="2357469"/>
            <a:chOff x="2730" y="10132"/>
            <a:chExt cx="5879" cy="2312"/>
          </a:xfrm>
          <a:effectLst>
            <a:glow rad="63500">
              <a:schemeClr val="accent2">
                <a:satMod val="175000"/>
                <a:alpha val="40000"/>
              </a:schemeClr>
            </a:glow>
          </a:effectLst>
        </p:grpSpPr>
        <p:sp>
          <p:nvSpPr>
            <p:cNvPr id="39" name="Text Box 125">
              <a:extLst>
                <a:ext uri="{FF2B5EF4-FFF2-40B4-BE49-F238E27FC236}">
                  <a16:creationId xmlns:a16="http://schemas.microsoft.com/office/drawing/2014/main" id="{B8A5BFE5-1C93-84FB-506E-7A22EEF8D84F}"/>
                </a:ext>
              </a:extLst>
            </p:cNvPr>
            <p:cNvSpPr txBox="1">
              <a:spLocks noChangeArrowheads="1"/>
            </p:cNvSpPr>
            <p:nvPr/>
          </p:nvSpPr>
          <p:spPr bwMode="auto">
            <a:xfrm>
              <a:off x="3369" y="10148"/>
              <a:ext cx="1130" cy="363"/>
            </a:xfrm>
            <a:prstGeom prst="rect">
              <a:avLst/>
            </a:prstGeom>
            <a:noFill/>
            <a:ln w="9525">
              <a:noFill/>
              <a:miter lim="800000"/>
              <a:headEnd/>
              <a:tailEnd/>
            </a:ln>
          </p:spPr>
          <p:txBody>
            <a:bodyPr/>
            <a:lstStyle/>
            <a:p>
              <a:pPr algn="just">
                <a:defRPr/>
              </a:pPr>
              <a:r>
                <a:rPr lang="zh-CN" altLang="en-US" sz="2000" dirty="0">
                  <a:latin typeface="Times New Roman" pitchFamily="18" charset="0"/>
                  <a:ea typeface="宋体" charset="-122"/>
                </a:rPr>
                <a:t>信息码组</a:t>
              </a:r>
              <a:endParaRPr lang="zh-CN" altLang="en-US" sz="2000" dirty="0">
                <a:ea typeface="宋体" charset="-122"/>
              </a:endParaRPr>
            </a:p>
          </p:txBody>
        </p:sp>
        <p:grpSp>
          <p:nvGrpSpPr>
            <p:cNvPr id="3" name="Group 126">
              <a:extLst>
                <a:ext uri="{FF2B5EF4-FFF2-40B4-BE49-F238E27FC236}">
                  <a16:creationId xmlns:a16="http://schemas.microsoft.com/office/drawing/2014/main" id="{83EAAF20-05F0-8B59-EF06-A2E5CDF63ED1}"/>
                </a:ext>
              </a:extLst>
            </p:cNvPr>
            <p:cNvGrpSpPr>
              <a:grpSpLocks/>
            </p:cNvGrpSpPr>
            <p:nvPr/>
          </p:nvGrpSpPr>
          <p:grpSpPr bwMode="auto">
            <a:xfrm>
              <a:off x="2730" y="10132"/>
              <a:ext cx="5879" cy="2312"/>
              <a:chOff x="2730" y="10132"/>
              <a:chExt cx="5879" cy="2312"/>
            </a:xfrm>
          </p:grpSpPr>
          <p:sp>
            <p:nvSpPr>
              <p:cNvPr id="41" name="Text Box 127">
                <a:extLst>
                  <a:ext uri="{FF2B5EF4-FFF2-40B4-BE49-F238E27FC236}">
                    <a16:creationId xmlns:a16="http://schemas.microsoft.com/office/drawing/2014/main" id="{224FC3F6-C2AC-7200-5028-C7927CB0DB83}"/>
                  </a:ext>
                </a:extLst>
              </p:cNvPr>
              <p:cNvSpPr txBox="1">
                <a:spLocks noChangeArrowheads="1"/>
              </p:cNvSpPr>
              <p:nvPr/>
            </p:nvSpPr>
            <p:spPr bwMode="auto">
              <a:xfrm>
                <a:off x="4956" y="10135"/>
                <a:ext cx="1130" cy="363"/>
              </a:xfrm>
              <a:prstGeom prst="rect">
                <a:avLst/>
              </a:prstGeom>
              <a:noFill/>
              <a:ln w="9525">
                <a:noFill/>
                <a:miter lim="800000"/>
                <a:headEnd/>
                <a:tailEnd/>
              </a:ln>
            </p:spPr>
            <p:txBody>
              <a:bodyPr/>
              <a:lstStyle/>
              <a:p>
                <a:pPr algn="just">
                  <a:defRPr/>
                </a:pPr>
                <a:r>
                  <a:rPr lang="zh-CN" altLang="en-US" sz="2000" dirty="0">
                    <a:latin typeface="Times New Roman" pitchFamily="18" charset="0"/>
                    <a:ea typeface="宋体" charset="-122"/>
                  </a:rPr>
                  <a:t>信息码组</a:t>
                </a:r>
                <a:endParaRPr lang="zh-CN" altLang="en-US" sz="2000" dirty="0">
                  <a:ea typeface="宋体" charset="-122"/>
                </a:endParaRPr>
              </a:p>
            </p:txBody>
          </p:sp>
          <p:sp>
            <p:nvSpPr>
              <p:cNvPr id="42" name="Text Box 128">
                <a:extLst>
                  <a:ext uri="{FF2B5EF4-FFF2-40B4-BE49-F238E27FC236}">
                    <a16:creationId xmlns:a16="http://schemas.microsoft.com/office/drawing/2014/main" id="{6D664986-E553-AA7F-6EE9-BB4E5444BAF7}"/>
                  </a:ext>
                </a:extLst>
              </p:cNvPr>
              <p:cNvSpPr txBox="1">
                <a:spLocks noChangeArrowheads="1"/>
              </p:cNvSpPr>
              <p:nvPr/>
            </p:nvSpPr>
            <p:spPr bwMode="auto">
              <a:xfrm>
                <a:off x="6556" y="10148"/>
                <a:ext cx="1130" cy="363"/>
              </a:xfrm>
              <a:prstGeom prst="rect">
                <a:avLst/>
              </a:prstGeom>
              <a:noFill/>
              <a:ln w="9525">
                <a:noFill/>
                <a:miter lim="800000"/>
                <a:headEnd/>
                <a:tailEnd/>
              </a:ln>
            </p:spPr>
            <p:txBody>
              <a:bodyPr/>
              <a:lstStyle/>
              <a:p>
                <a:pPr algn="just">
                  <a:defRPr/>
                </a:pPr>
                <a:r>
                  <a:rPr lang="zh-CN" altLang="en-US" sz="2000" dirty="0">
                    <a:latin typeface="Times New Roman" pitchFamily="18" charset="0"/>
                    <a:ea typeface="宋体" charset="-122"/>
                  </a:rPr>
                  <a:t>信息码组</a:t>
                </a:r>
                <a:endParaRPr lang="zh-CN" altLang="en-US" sz="2000" dirty="0">
                  <a:ea typeface="宋体" charset="-122"/>
                </a:endParaRPr>
              </a:p>
            </p:txBody>
          </p:sp>
          <p:grpSp>
            <p:nvGrpSpPr>
              <p:cNvPr id="4" name="Group 129">
                <a:extLst>
                  <a:ext uri="{FF2B5EF4-FFF2-40B4-BE49-F238E27FC236}">
                    <a16:creationId xmlns:a16="http://schemas.microsoft.com/office/drawing/2014/main" id="{B1F84DD9-3924-9885-FA2A-E5C4C64BCE8D}"/>
                  </a:ext>
                </a:extLst>
              </p:cNvPr>
              <p:cNvGrpSpPr>
                <a:grpSpLocks/>
              </p:cNvGrpSpPr>
              <p:nvPr/>
            </p:nvGrpSpPr>
            <p:grpSpPr bwMode="auto">
              <a:xfrm>
                <a:off x="2730" y="10132"/>
                <a:ext cx="5879" cy="2312"/>
                <a:chOff x="2730" y="10132"/>
                <a:chExt cx="5879" cy="2312"/>
              </a:xfrm>
            </p:grpSpPr>
            <p:sp>
              <p:nvSpPr>
                <p:cNvPr id="44" name="Rectangle 130" descr="浅色下对角线">
                  <a:extLst>
                    <a:ext uri="{FF2B5EF4-FFF2-40B4-BE49-F238E27FC236}">
                      <a16:creationId xmlns:a16="http://schemas.microsoft.com/office/drawing/2014/main" id="{FAE74DBD-4BFE-548F-5F82-50FF96A5C50F}"/>
                    </a:ext>
                  </a:extLst>
                </p:cNvPr>
                <p:cNvSpPr>
                  <a:spLocks noChangeArrowheads="1"/>
                </p:cNvSpPr>
                <p:nvPr/>
              </p:nvSpPr>
              <p:spPr bwMode="auto">
                <a:xfrm>
                  <a:off x="4640" y="10153"/>
                  <a:ext cx="208" cy="336"/>
                </a:xfrm>
                <a:prstGeom prst="rect">
                  <a:avLst/>
                </a:prstGeom>
                <a:pattFill prst="ltDnDiag">
                  <a:fgClr>
                    <a:srgbClr val="000000"/>
                  </a:fgClr>
                  <a:bgClr>
                    <a:srgbClr val="FFFFFF"/>
                  </a:bgClr>
                </a:pattFill>
                <a:ln w="9525">
                  <a:noFill/>
                  <a:miter lim="800000"/>
                  <a:headEnd/>
                  <a:tailEnd/>
                </a:ln>
              </p:spPr>
              <p:txBody>
                <a:bodyPr/>
                <a:lstStyle/>
                <a:p>
                  <a:pPr>
                    <a:defRPr/>
                  </a:pPr>
                  <a:endParaRPr lang="zh-CN" altLang="en-US" sz="2000">
                    <a:ea typeface="宋体" charset="-122"/>
                  </a:endParaRPr>
                </a:p>
              </p:txBody>
            </p:sp>
            <p:sp>
              <p:nvSpPr>
                <p:cNvPr id="45" name="Rectangle 131" descr="浅色竖线">
                  <a:extLst>
                    <a:ext uri="{FF2B5EF4-FFF2-40B4-BE49-F238E27FC236}">
                      <a16:creationId xmlns:a16="http://schemas.microsoft.com/office/drawing/2014/main" id="{CBA34B2C-3E28-BF28-918E-5865E9BA22F9}"/>
                    </a:ext>
                  </a:extLst>
                </p:cNvPr>
                <p:cNvSpPr>
                  <a:spLocks noChangeArrowheads="1"/>
                </p:cNvSpPr>
                <p:nvPr/>
              </p:nvSpPr>
              <p:spPr bwMode="auto">
                <a:xfrm>
                  <a:off x="6225" y="10153"/>
                  <a:ext cx="196" cy="348"/>
                </a:xfrm>
                <a:prstGeom prst="rect">
                  <a:avLst/>
                </a:prstGeom>
                <a:pattFill prst="ltVert">
                  <a:fgClr>
                    <a:srgbClr val="000000"/>
                  </a:fgClr>
                  <a:bgClr>
                    <a:srgbClr val="FFFFFF"/>
                  </a:bgClr>
                </a:pattFill>
                <a:ln w="9525">
                  <a:noFill/>
                  <a:miter lim="800000"/>
                  <a:headEnd/>
                  <a:tailEnd/>
                </a:ln>
              </p:spPr>
              <p:txBody>
                <a:bodyPr/>
                <a:lstStyle/>
                <a:p>
                  <a:pPr>
                    <a:defRPr/>
                  </a:pPr>
                  <a:endParaRPr lang="zh-CN" altLang="en-US" sz="2000">
                    <a:ea typeface="宋体" charset="-122"/>
                  </a:endParaRPr>
                </a:p>
              </p:txBody>
            </p:sp>
            <p:grpSp>
              <p:nvGrpSpPr>
                <p:cNvPr id="5" name="Group 132">
                  <a:extLst>
                    <a:ext uri="{FF2B5EF4-FFF2-40B4-BE49-F238E27FC236}">
                      <a16:creationId xmlns:a16="http://schemas.microsoft.com/office/drawing/2014/main" id="{BFFB5548-81EA-3359-2AC3-14627B61F294}"/>
                    </a:ext>
                  </a:extLst>
                </p:cNvPr>
                <p:cNvGrpSpPr>
                  <a:grpSpLocks/>
                </p:cNvGrpSpPr>
                <p:nvPr/>
              </p:nvGrpSpPr>
              <p:grpSpPr bwMode="auto">
                <a:xfrm>
                  <a:off x="2730" y="10132"/>
                  <a:ext cx="5879" cy="2312"/>
                  <a:chOff x="2730" y="10132"/>
                  <a:chExt cx="5879" cy="2312"/>
                </a:xfrm>
              </p:grpSpPr>
              <p:grpSp>
                <p:nvGrpSpPr>
                  <p:cNvPr id="6" name="Group 133">
                    <a:extLst>
                      <a:ext uri="{FF2B5EF4-FFF2-40B4-BE49-F238E27FC236}">
                        <a16:creationId xmlns:a16="http://schemas.microsoft.com/office/drawing/2014/main" id="{DD013FBD-5387-3357-549F-BAAE1C049305}"/>
                      </a:ext>
                    </a:extLst>
                  </p:cNvPr>
                  <p:cNvGrpSpPr>
                    <a:grpSpLocks/>
                  </p:cNvGrpSpPr>
                  <p:nvPr/>
                </p:nvGrpSpPr>
                <p:grpSpPr bwMode="auto">
                  <a:xfrm>
                    <a:off x="4304" y="10538"/>
                    <a:ext cx="1131" cy="424"/>
                    <a:chOff x="5890" y="10538"/>
                    <a:chExt cx="1131" cy="424"/>
                  </a:xfrm>
                </p:grpSpPr>
                <p:sp>
                  <p:nvSpPr>
                    <p:cNvPr id="92" name="Text Box 134">
                      <a:extLst>
                        <a:ext uri="{FF2B5EF4-FFF2-40B4-BE49-F238E27FC236}">
                          <a16:creationId xmlns:a16="http://schemas.microsoft.com/office/drawing/2014/main" id="{84D9309D-BAAB-6F02-A597-7F593541467E}"/>
                        </a:ext>
                      </a:extLst>
                    </p:cNvPr>
                    <p:cNvSpPr txBox="1">
                      <a:spLocks noChangeArrowheads="1"/>
                    </p:cNvSpPr>
                    <p:nvPr/>
                  </p:nvSpPr>
                  <p:spPr bwMode="auto">
                    <a:xfrm>
                      <a:off x="5890" y="10598"/>
                      <a:ext cx="1131" cy="364"/>
                    </a:xfrm>
                    <a:prstGeom prst="rect">
                      <a:avLst/>
                    </a:prstGeom>
                    <a:noFill/>
                    <a:ln w="9525">
                      <a:noFill/>
                      <a:miter lim="800000"/>
                      <a:headEnd/>
                      <a:tailEnd/>
                    </a:ln>
                  </p:spPr>
                  <p:txBody>
                    <a:bodyPr/>
                    <a:lstStyle/>
                    <a:p>
                      <a:pPr algn="just">
                        <a:defRPr/>
                      </a:pPr>
                      <a:r>
                        <a:rPr lang="zh-CN" altLang="en-US" sz="2000">
                          <a:solidFill>
                            <a:srgbClr val="800080"/>
                          </a:solidFill>
                          <a:latin typeface="Times New Roman" pitchFamily="18" charset="0"/>
                          <a:ea typeface="宋体" charset="-122"/>
                        </a:rPr>
                        <a:t>同步码元</a:t>
                      </a:r>
                      <a:endParaRPr lang="zh-CN" altLang="en-US" sz="2000">
                        <a:solidFill>
                          <a:srgbClr val="800080"/>
                        </a:solidFill>
                        <a:ea typeface="宋体" charset="-122"/>
                      </a:endParaRPr>
                    </a:p>
                  </p:txBody>
                </p:sp>
                <p:sp>
                  <p:nvSpPr>
                    <p:cNvPr id="93" name="AutoShape 135">
                      <a:extLst>
                        <a:ext uri="{FF2B5EF4-FFF2-40B4-BE49-F238E27FC236}">
                          <a16:creationId xmlns:a16="http://schemas.microsoft.com/office/drawing/2014/main" id="{D884AC59-97EB-C752-569A-88C816D7A289}"/>
                        </a:ext>
                      </a:extLst>
                    </p:cNvPr>
                    <p:cNvSpPr>
                      <a:spLocks/>
                    </p:cNvSpPr>
                    <p:nvPr/>
                  </p:nvSpPr>
                  <p:spPr bwMode="auto">
                    <a:xfrm rot="-5400000">
                      <a:off x="6273" y="10479"/>
                      <a:ext cx="114" cy="231"/>
                    </a:xfrm>
                    <a:prstGeom prst="leftBrace">
                      <a:avLst>
                        <a:gd name="adj1" fmla="val 16886"/>
                        <a:gd name="adj2" fmla="val 50000"/>
                      </a:avLst>
                    </a:prstGeom>
                    <a:noFill/>
                    <a:ln w="9525">
                      <a:solidFill>
                        <a:srgbClr val="000000"/>
                      </a:solidFill>
                      <a:round/>
                      <a:headEnd/>
                      <a:tailEnd/>
                    </a:ln>
                  </p:spPr>
                  <p:txBody>
                    <a:bodyPr/>
                    <a:lstStyle/>
                    <a:p>
                      <a:pPr>
                        <a:defRPr/>
                      </a:pPr>
                      <a:endParaRPr lang="zh-CN" altLang="en-US" sz="2000">
                        <a:ea typeface="宋体" charset="-122"/>
                      </a:endParaRPr>
                    </a:p>
                  </p:txBody>
                </p:sp>
              </p:grpSp>
              <p:grpSp>
                <p:nvGrpSpPr>
                  <p:cNvPr id="7" name="Group 136">
                    <a:extLst>
                      <a:ext uri="{FF2B5EF4-FFF2-40B4-BE49-F238E27FC236}">
                        <a16:creationId xmlns:a16="http://schemas.microsoft.com/office/drawing/2014/main" id="{7B0E2758-19FF-8C78-0263-75E9814064A3}"/>
                      </a:ext>
                    </a:extLst>
                  </p:cNvPr>
                  <p:cNvGrpSpPr>
                    <a:grpSpLocks/>
                  </p:cNvGrpSpPr>
                  <p:nvPr/>
                </p:nvGrpSpPr>
                <p:grpSpPr bwMode="auto">
                  <a:xfrm>
                    <a:off x="2730" y="10132"/>
                    <a:ext cx="5879" cy="2312"/>
                    <a:chOff x="2730" y="10132"/>
                    <a:chExt cx="5879" cy="2312"/>
                  </a:xfrm>
                </p:grpSpPr>
                <p:grpSp>
                  <p:nvGrpSpPr>
                    <p:cNvPr id="8" name="Group 137">
                      <a:extLst>
                        <a:ext uri="{FF2B5EF4-FFF2-40B4-BE49-F238E27FC236}">
                          <a16:creationId xmlns:a16="http://schemas.microsoft.com/office/drawing/2014/main" id="{0042CDEA-BB7D-3B0F-DBE5-2436A9737BFC}"/>
                        </a:ext>
                      </a:extLst>
                    </p:cNvPr>
                    <p:cNvGrpSpPr>
                      <a:grpSpLocks/>
                    </p:cNvGrpSpPr>
                    <p:nvPr/>
                  </p:nvGrpSpPr>
                  <p:grpSpPr bwMode="auto">
                    <a:xfrm>
                      <a:off x="3049" y="10132"/>
                      <a:ext cx="5560" cy="2312"/>
                      <a:chOff x="3049" y="10132"/>
                      <a:chExt cx="5560" cy="2312"/>
                    </a:xfrm>
                  </p:grpSpPr>
                  <p:grpSp>
                    <p:nvGrpSpPr>
                      <p:cNvPr id="9" name="Group 138">
                        <a:extLst>
                          <a:ext uri="{FF2B5EF4-FFF2-40B4-BE49-F238E27FC236}">
                            <a16:creationId xmlns:a16="http://schemas.microsoft.com/office/drawing/2014/main" id="{62AC2FFE-F1E2-C14B-D253-3C73DF4465C4}"/>
                          </a:ext>
                        </a:extLst>
                      </p:cNvPr>
                      <p:cNvGrpSpPr>
                        <a:grpSpLocks/>
                      </p:cNvGrpSpPr>
                      <p:nvPr/>
                    </p:nvGrpSpPr>
                    <p:grpSpPr bwMode="auto">
                      <a:xfrm>
                        <a:off x="3049" y="10132"/>
                        <a:ext cx="4965" cy="2312"/>
                        <a:chOff x="3049" y="10132"/>
                        <a:chExt cx="4965" cy="2312"/>
                      </a:xfrm>
                    </p:grpSpPr>
                    <p:grpSp>
                      <p:nvGrpSpPr>
                        <p:cNvPr id="10" name="Group 139">
                          <a:extLst>
                            <a:ext uri="{FF2B5EF4-FFF2-40B4-BE49-F238E27FC236}">
                              <a16:creationId xmlns:a16="http://schemas.microsoft.com/office/drawing/2014/main" id="{B2BD9860-DB56-BDAF-01E9-E60FB4DECF5D}"/>
                            </a:ext>
                          </a:extLst>
                        </p:cNvPr>
                        <p:cNvGrpSpPr>
                          <a:grpSpLocks/>
                        </p:cNvGrpSpPr>
                        <p:nvPr/>
                      </p:nvGrpSpPr>
                      <p:grpSpPr bwMode="auto">
                        <a:xfrm>
                          <a:off x="5890" y="10538"/>
                          <a:ext cx="1131" cy="424"/>
                          <a:chOff x="5890" y="10538"/>
                          <a:chExt cx="1131" cy="424"/>
                        </a:xfrm>
                      </p:grpSpPr>
                      <p:sp>
                        <p:nvSpPr>
                          <p:cNvPr id="88" name="Text Box 140">
                            <a:extLst>
                              <a:ext uri="{FF2B5EF4-FFF2-40B4-BE49-F238E27FC236}">
                                <a16:creationId xmlns:a16="http://schemas.microsoft.com/office/drawing/2014/main" id="{27D59DEE-20AC-D688-3278-5679EE60A497}"/>
                              </a:ext>
                            </a:extLst>
                          </p:cNvPr>
                          <p:cNvSpPr txBox="1">
                            <a:spLocks noChangeArrowheads="1"/>
                          </p:cNvSpPr>
                          <p:nvPr/>
                        </p:nvSpPr>
                        <p:spPr bwMode="auto">
                          <a:xfrm>
                            <a:off x="5890" y="10598"/>
                            <a:ext cx="1131" cy="364"/>
                          </a:xfrm>
                          <a:prstGeom prst="rect">
                            <a:avLst/>
                          </a:prstGeom>
                          <a:noFill/>
                          <a:ln w="9525">
                            <a:noFill/>
                            <a:miter lim="800000"/>
                            <a:headEnd/>
                            <a:tailEnd/>
                          </a:ln>
                        </p:spPr>
                        <p:txBody>
                          <a:bodyPr/>
                          <a:lstStyle/>
                          <a:p>
                            <a:pPr algn="just">
                              <a:defRPr/>
                            </a:pPr>
                            <a:r>
                              <a:rPr lang="zh-CN" altLang="en-US" sz="2000">
                                <a:solidFill>
                                  <a:srgbClr val="800080"/>
                                </a:solidFill>
                                <a:latin typeface="Times New Roman" pitchFamily="18" charset="0"/>
                                <a:ea typeface="宋体" charset="-122"/>
                              </a:rPr>
                              <a:t>同步码元</a:t>
                            </a:r>
                            <a:endParaRPr lang="zh-CN" altLang="en-US" sz="2000">
                              <a:solidFill>
                                <a:srgbClr val="800080"/>
                              </a:solidFill>
                              <a:ea typeface="宋体" charset="-122"/>
                            </a:endParaRPr>
                          </a:p>
                        </p:txBody>
                      </p:sp>
                      <p:sp>
                        <p:nvSpPr>
                          <p:cNvPr id="90" name="AutoShape 141">
                            <a:extLst>
                              <a:ext uri="{FF2B5EF4-FFF2-40B4-BE49-F238E27FC236}">
                                <a16:creationId xmlns:a16="http://schemas.microsoft.com/office/drawing/2014/main" id="{CDE1E034-B177-6D4D-8628-302214AB831E}"/>
                              </a:ext>
                            </a:extLst>
                          </p:cNvPr>
                          <p:cNvSpPr>
                            <a:spLocks/>
                          </p:cNvSpPr>
                          <p:nvPr/>
                        </p:nvSpPr>
                        <p:spPr bwMode="auto">
                          <a:xfrm rot="-5400000">
                            <a:off x="6273" y="10479"/>
                            <a:ext cx="114" cy="231"/>
                          </a:xfrm>
                          <a:prstGeom prst="leftBrace">
                            <a:avLst>
                              <a:gd name="adj1" fmla="val 16886"/>
                              <a:gd name="adj2" fmla="val 50000"/>
                            </a:avLst>
                          </a:prstGeom>
                          <a:noFill/>
                          <a:ln w="9525">
                            <a:solidFill>
                              <a:srgbClr val="000000"/>
                            </a:solidFill>
                            <a:round/>
                            <a:headEnd/>
                            <a:tailEnd/>
                          </a:ln>
                        </p:spPr>
                        <p:txBody>
                          <a:bodyPr/>
                          <a:lstStyle/>
                          <a:p>
                            <a:pPr>
                              <a:defRPr/>
                            </a:pPr>
                            <a:endParaRPr lang="zh-CN" altLang="en-US" sz="2000">
                              <a:ea typeface="宋体" charset="-122"/>
                            </a:endParaRPr>
                          </a:p>
                        </p:txBody>
                      </p:sp>
                    </p:grpSp>
                    <p:grpSp>
                      <p:nvGrpSpPr>
                        <p:cNvPr id="11" name="Group 142">
                          <a:extLst>
                            <a:ext uri="{FF2B5EF4-FFF2-40B4-BE49-F238E27FC236}">
                              <a16:creationId xmlns:a16="http://schemas.microsoft.com/office/drawing/2014/main" id="{77D57C73-380D-58F6-61D3-42381281443E}"/>
                            </a:ext>
                          </a:extLst>
                        </p:cNvPr>
                        <p:cNvGrpSpPr>
                          <a:grpSpLocks/>
                        </p:cNvGrpSpPr>
                        <p:nvPr/>
                      </p:nvGrpSpPr>
                      <p:grpSpPr bwMode="auto">
                        <a:xfrm>
                          <a:off x="3049" y="10132"/>
                          <a:ext cx="4965" cy="376"/>
                          <a:chOff x="3049" y="10132"/>
                          <a:chExt cx="4965" cy="376"/>
                        </a:xfrm>
                      </p:grpSpPr>
                      <p:sp>
                        <p:nvSpPr>
                          <p:cNvPr id="85" name="AutoShape 143">
                            <a:extLst>
                              <a:ext uri="{FF2B5EF4-FFF2-40B4-BE49-F238E27FC236}">
                                <a16:creationId xmlns:a16="http://schemas.microsoft.com/office/drawing/2014/main" id="{644DFCD7-D391-73C7-A661-CD8A38FABE67}"/>
                              </a:ext>
                            </a:extLst>
                          </p:cNvPr>
                          <p:cNvSpPr>
                            <a:spLocks noChangeArrowheads="1"/>
                          </p:cNvSpPr>
                          <p:nvPr/>
                        </p:nvSpPr>
                        <p:spPr bwMode="auto">
                          <a:xfrm>
                            <a:off x="3049" y="10132"/>
                            <a:ext cx="1792" cy="376"/>
                          </a:xfrm>
                          <a:prstGeom prst="flowChartPredefinedProcess">
                            <a:avLst/>
                          </a:prstGeom>
                          <a:noFill/>
                          <a:ln w="9525">
                            <a:solidFill>
                              <a:srgbClr val="000000"/>
                            </a:solidFill>
                            <a:miter lim="800000"/>
                            <a:headEnd/>
                            <a:tailEnd/>
                          </a:ln>
                        </p:spPr>
                        <p:txBody>
                          <a:bodyPr/>
                          <a:lstStyle/>
                          <a:p>
                            <a:pPr>
                              <a:defRPr/>
                            </a:pPr>
                            <a:endParaRPr lang="zh-CN" altLang="en-US" sz="2000">
                              <a:ea typeface="宋体" charset="-122"/>
                            </a:endParaRPr>
                          </a:p>
                        </p:txBody>
                      </p:sp>
                      <p:sp>
                        <p:nvSpPr>
                          <p:cNvPr id="86" name="AutoShape 144">
                            <a:extLst>
                              <a:ext uri="{FF2B5EF4-FFF2-40B4-BE49-F238E27FC236}">
                                <a16:creationId xmlns:a16="http://schemas.microsoft.com/office/drawing/2014/main" id="{E3B0E871-543B-48ED-AE64-58658BC70CD9}"/>
                              </a:ext>
                            </a:extLst>
                          </p:cNvPr>
                          <p:cNvSpPr>
                            <a:spLocks noChangeArrowheads="1"/>
                          </p:cNvSpPr>
                          <p:nvPr/>
                        </p:nvSpPr>
                        <p:spPr bwMode="auto">
                          <a:xfrm flipH="1">
                            <a:off x="4623" y="10132"/>
                            <a:ext cx="1805" cy="376"/>
                          </a:xfrm>
                          <a:prstGeom prst="flowChartPredefinedProcess">
                            <a:avLst/>
                          </a:prstGeom>
                          <a:noFill/>
                          <a:ln w="9525">
                            <a:solidFill>
                              <a:srgbClr val="000000"/>
                            </a:solidFill>
                            <a:miter lim="800000"/>
                            <a:headEnd/>
                            <a:tailEnd/>
                          </a:ln>
                        </p:spPr>
                        <p:txBody>
                          <a:bodyPr/>
                          <a:lstStyle/>
                          <a:p>
                            <a:pPr>
                              <a:defRPr/>
                            </a:pPr>
                            <a:endParaRPr lang="zh-CN" altLang="en-US" sz="2000">
                              <a:ea typeface="宋体" charset="-122"/>
                            </a:endParaRPr>
                          </a:p>
                        </p:txBody>
                      </p:sp>
                      <p:sp>
                        <p:nvSpPr>
                          <p:cNvPr id="87" name="AutoShape 145">
                            <a:extLst>
                              <a:ext uri="{FF2B5EF4-FFF2-40B4-BE49-F238E27FC236}">
                                <a16:creationId xmlns:a16="http://schemas.microsoft.com/office/drawing/2014/main" id="{19A84CE9-4770-50DD-6324-5BEA4085E507}"/>
                              </a:ext>
                            </a:extLst>
                          </p:cNvPr>
                          <p:cNvSpPr>
                            <a:spLocks noChangeArrowheads="1"/>
                          </p:cNvSpPr>
                          <p:nvPr/>
                        </p:nvSpPr>
                        <p:spPr bwMode="auto">
                          <a:xfrm flipH="1">
                            <a:off x="6209" y="10132"/>
                            <a:ext cx="1805" cy="376"/>
                          </a:xfrm>
                          <a:prstGeom prst="flowChartPredefinedProcess">
                            <a:avLst/>
                          </a:prstGeom>
                          <a:noFill/>
                          <a:ln w="9525">
                            <a:solidFill>
                              <a:srgbClr val="000000"/>
                            </a:solidFill>
                            <a:miter lim="800000"/>
                            <a:headEnd/>
                            <a:tailEnd/>
                          </a:ln>
                        </p:spPr>
                        <p:txBody>
                          <a:bodyPr/>
                          <a:lstStyle/>
                          <a:p>
                            <a:pPr>
                              <a:defRPr/>
                            </a:pPr>
                            <a:endParaRPr lang="zh-CN" altLang="en-US" sz="2000">
                              <a:ea typeface="宋体" charset="-122"/>
                            </a:endParaRPr>
                          </a:p>
                        </p:txBody>
                      </p:sp>
                    </p:grpSp>
                    <p:grpSp>
                      <p:nvGrpSpPr>
                        <p:cNvPr id="12" name="Group 146">
                          <a:extLst>
                            <a:ext uri="{FF2B5EF4-FFF2-40B4-BE49-F238E27FC236}">
                              <a16:creationId xmlns:a16="http://schemas.microsoft.com/office/drawing/2014/main" id="{71D990D2-427F-A516-1CA7-C9EFD1DF159F}"/>
                            </a:ext>
                          </a:extLst>
                        </p:cNvPr>
                        <p:cNvGrpSpPr>
                          <a:grpSpLocks/>
                        </p:cNvGrpSpPr>
                        <p:nvPr/>
                      </p:nvGrpSpPr>
                      <p:grpSpPr bwMode="auto">
                        <a:xfrm>
                          <a:off x="4307" y="11586"/>
                          <a:ext cx="2495" cy="858"/>
                          <a:chOff x="4333" y="11378"/>
                          <a:chExt cx="2495" cy="858"/>
                        </a:xfrm>
                      </p:grpSpPr>
                      <p:grpSp>
                        <p:nvGrpSpPr>
                          <p:cNvPr id="13" name="Group 147">
                            <a:extLst>
                              <a:ext uri="{FF2B5EF4-FFF2-40B4-BE49-F238E27FC236}">
                                <a16:creationId xmlns:a16="http://schemas.microsoft.com/office/drawing/2014/main" id="{EEEC1CFE-D6A0-E0EC-09B8-5D8AE770AE06}"/>
                              </a:ext>
                            </a:extLst>
                          </p:cNvPr>
                          <p:cNvGrpSpPr>
                            <a:grpSpLocks/>
                          </p:cNvGrpSpPr>
                          <p:nvPr/>
                        </p:nvGrpSpPr>
                        <p:grpSpPr bwMode="auto">
                          <a:xfrm>
                            <a:off x="4333" y="11378"/>
                            <a:ext cx="2495" cy="376"/>
                            <a:chOff x="4333" y="11378"/>
                            <a:chExt cx="2495" cy="376"/>
                          </a:xfrm>
                        </p:grpSpPr>
                        <p:grpSp>
                          <p:nvGrpSpPr>
                            <p:cNvPr id="14" name="Group 148">
                              <a:extLst>
                                <a:ext uri="{FF2B5EF4-FFF2-40B4-BE49-F238E27FC236}">
                                  <a16:creationId xmlns:a16="http://schemas.microsoft.com/office/drawing/2014/main" id="{184E7D21-405C-2082-1D0C-B94E1FBBB4B6}"/>
                                </a:ext>
                              </a:extLst>
                            </p:cNvPr>
                            <p:cNvGrpSpPr>
                              <a:grpSpLocks/>
                            </p:cNvGrpSpPr>
                            <p:nvPr/>
                          </p:nvGrpSpPr>
                          <p:grpSpPr bwMode="auto">
                            <a:xfrm>
                              <a:off x="4333" y="11378"/>
                              <a:ext cx="832" cy="376"/>
                              <a:chOff x="4333" y="11378"/>
                              <a:chExt cx="832" cy="376"/>
                            </a:xfrm>
                          </p:grpSpPr>
                          <p:sp>
                            <p:nvSpPr>
                              <p:cNvPr id="81" name="Rectangle 149" descr="浅色上对角线">
                                <a:extLst>
                                  <a:ext uri="{FF2B5EF4-FFF2-40B4-BE49-F238E27FC236}">
                                    <a16:creationId xmlns:a16="http://schemas.microsoft.com/office/drawing/2014/main" id="{8A09D893-FE70-5A26-2F06-716B150BF8F7}"/>
                                  </a:ext>
                                </a:extLst>
                              </p:cNvPr>
                              <p:cNvSpPr>
                                <a:spLocks noChangeArrowheads="1"/>
                              </p:cNvSpPr>
                              <p:nvPr/>
                            </p:nvSpPr>
                            <p:spPr bwMode="auto">
                              <a:xfrm>
                                <a:off x="4333" y="11378"/>
                                <a:ext cx="208" cy="376"/>
                              </a:xfrm>
                              <a:prstGeom prst="rect">
                                <a:avLst/>
                              </a:prstGeom>
                              <a:pattFill prst="ltUpDiag">
                                <a:fgClr>
                                  <a:srgbClr val="000000"/>
                                </a:fgClr>
                                <a:bgClr>
                                  <a:srgbClr val="FFFFFF"/>
                                </a:bgClr>
                              </a:pattFill>
                              <a:ln w="9525">
                                <a:solidFill>
                                  <a:srgbClr val="000000"/>
                                </a:solidFill>
                                <a:miter lim="800000"/>
                                <a:headEnd/>
                                <a:tailEnd/>
                              </a:ln>
                            </p:spPr>
                            <p:txBody>
                              <a:bodyPr/>
                              <a:lstStyle/>
                              <a:p>
                                <a:pPr>
                                  <a:defRPr/>
                                </a:pPr>
                                <a:endParaRPr lang="zh-CN" altLang="en-US" sz="2000">
                                  <a:ea typeface="宋体" charset="-122"/>
                                </a:endParaRPr>
                              </a:p>
                            </p:txBody>
                          </p:sp>
                          <p:sp>
                            <p:nvSpPr>
                              <p:cNvPr id="82" name="Rectangle 150" descr="浅色下对角线">
                                <a:extLst>
                                  <a:ext uri="{FF2B5EF4-FFF2-40B4-BE49-F238E27FC236}">
                                    <a16:creationId xmlns:a16="http://schemas.microsoft.com/office/drawing/2014/main" id="{39ADFB4B-3EBC-16E2-BEC2-3CBC6E4B011F}"/>
                                  </a:ext>
                                </a:extLst>
                              </p:cNvPr>
                              <p:cNvSpPr>
                                <a:spLocks noChangeArrowheads="1"/>
                              </p:cNvSpPr>
                              <p:nvPr/>
                            </p:nvSpPr>
                            <p:spPr bwMode="auto">
                              <a:xfrm>
                                <a:off x="4541" y="11378"/>
                                <a:ext cx="208" cy="376"/>
                              </a:xfrm>
                              <a:prstGeom prst="rect">
                                <a:avLst/>
                              </a:prstGeom>
                              <a:pattFill prst="ltDnDiag">
                                <a:fgClr>
                                  <a:srgbClr val="000000"/>
                                </a:fgClr>
                                <a:bgClr>
                                  <a:srgbClr val="FFFFFF"/>
                                </a:bgClr>
                              </a:pattFill>
                              <a:ln w="9525">
                                <a:solidFill>
                                  <a:srgbClr val="000000"/>
                                </a:solidFill>
                                <a:miter lim="800000"/>
                                <a:headEnd/>
                                <a:tailEnd/>
                              </a:ln>
                            </p:spPr>
                            <p:txBody>
                              <a:bodyPr/>
                              <a:lstStyle/>
                              <a:p>
                                <a:pPr>
                                  <a:defRPr/>
                                </a:pPr>
                                <a:endParaRPr lang="zh-CN" altLang="en-US" sz="2000">
                                  <a:ea typeface="宋体" charset="-122"/>
                                </a:endParaRPr>
                              </a:p>
                            </p:txBody>
                          </p:sp>
                          <p:sp>
                            <p:nvSpPr>
                              <p:cNvPr id="83" name="Rectangle 151" descr="浅色竖线">
                                <a:extLst>
                                  <a:ext uri="{FF2B5EF4-FFF2-40B4-BE49-F238E27FC236}">
                                    <a16:creationId xmlns:a16="http://schemas.microsoft.com/office/drawing/2014/main" id="{E6E432BB-77DD-D266-7DC6-7EBFFE8ADB01}"/>
                                  </a:ext>
                                </a:extLst>
                              </p:cNvPr>
                              <p:cNvSpPr>
                                <a:spLocks noChangeArrowheads="1"/>
                              </p:cNvSpPr>
                              <p:nvPr/>
                            </p:nvSpPr>
                            <p:spPr bwMode="auto">
                              <a:xfrm>
                                <a:off x="4749" y="11378"/>
                                <a:ext cx="208" cy="376"/>
                              </a:xfrm>
                              <a:prstGeom prst="rect">
                                <a:avLst/>
                              </a:prstGeom>
                              <a:pattFill prst="ltVert">
                                <a:fgClr>
                                  <a:srgbClr val="000000"/>
                                </a:fgClr>
                                <a:bgClr>
                                  <a:srgbClr val="FFFFFF"/>
                                </a:bgClr>
                              </a:pattFill>
                              <a:ln w="9525">
                                <a:solidFill>
                                  <a:srgbClr val="000000"/>
                                </a:solidFill>
                                <a:miter lim="800000"/>
                                <a:headEnd/>
                                <a:tailEnd/>
                              </a:ln>
                            </p:spPr>
                            <p:txBody>
                              <a:bodyPr/>
                              <a:lstStyle/>
                              <a:p>
                                <a:pPr>
                                  <a:defRPr/>
                                </a:pPr>
                                <a:endParaRPr lang="zh-CN" altLang="en-US" sz="2000">
                                  <a:ea typeface="宋体" charset="-122"/>
                                </a:endParaRPr>
                              </a:p>
                            </p:txBody>
                          </p:sp>
                          <p:sp>
                            <p:nvSpPr>
                              <p:cNvPr id="84" name="Rectangle 152" descr="浅色横线">
                                <a:extLst>
                                  <a:ext uri="{FF2B5EF4-FFF2-40B4-BE49-F238E27FC236}">
                                    <a16:creationId xmlns:a16="http://schemas.microsoft.com/office/drawing/2014/main" id="{C9BF0240-3282-5241-820A-B8B1E32A4763}"/>
                                  </a:ext>
                                </a:extLst>
                              </p:cNvPr>
                              <p:cNvSpPr>
                                <a:spLocks noChangeArrowheads="1"/>
                              </p:cNvSpPr>
                              <p:nvPr/>
                            </p:nvSpPr>
                            <p:spPr bwMode="auto">
                              <a:xfrm>
                                <a:off x="4957" y="11378"/>
                                <a:ext cx="208" cy="376"/>
                              </a:xfrm>
                              <a:prstGeom prst="rect">
                                <a:avLst/>
                              </a:prstGeom>
                              <a:pattFill prst="ltHorz">
                                <a:fgClr>
                                  <a:srgbClr val="000000"/>
                                </a:fgClr>
                                <a:bgClr>
                                  <a:srgbClr val="FFFFFF"/>
                                </a:bgClr>
                              </a:pattFill>
                              <a:ln w="9525">
                                <a:solidFill>
                                  <a:srgbClr val="000000"/>
                                </a:solidFill>
                                <a:miter lim="800000"/>
                                <a:headEnd/>
                                <a:tailEnd/>
                              </a:ln>
                            </p:spPr>
                            <p:txBody>
                              <a:bodyPr/>
                              <a:lstStyle/>
                              <a:p>
                                <a:pPr>
                                  <a:defRPr/>
                                </a:pPr>
                                <a:endParaRPr lang="zh-CN" altLang="en-US" sz="2000">
                                  <a:ea typeface="宋体" charset="-122"/>
                                </a:endParaRPr>
                              </a:p>
                            </p:txBody>
                          </p:sp>
                        </p:grpSp>
                        <p:grpSp>
                          <p:nvGrpSpPr>
                            <p:cNvPr id="15" name="Group 153">
                              <a:extLst>
                                <a:ext uri="{FF2B5EF4-FFF2-40B4-BE49-F238E27FC236}">
                                  <a16:creationId xmlns:a16="http://schemas.microsoft.com/office/drawing/2014/main" id="{9745669B-58F9-41B6-91B8-D5DB6A49C3C2}"/>
                                </a:ext>
                              </a:extLst>
                            </p:cNvPr>
                            <p:cNvGrpSpPr>
                              <a:grpSpLocks/>
                            </p:cNvGrpSpPr>
                            <p:nvPr/>
                          </p:nvGrpSpPr>
                          <p:grpSpPr bwMode="auto">
                            <a:xfrm>
                              <a:off x="5164" y="11378"/>
                              <a:ext cx="832" cy="376"/>
                              <a:chOff x="4333" y="11378"/>
                              <a:chExt cx="832" cy="376"/>
                            </a:xfrm>
                          </p:grpSpPr>
                          <p:sp>
                            <p:nvSpPr>
                              <p:cNvPr id="77" name="Rectangle 154" descr="浅色上对角线">
                                <a:extLst>
                                  <a:ext uri="{FF2B5EF4-FFF2-40B4-BE49-F238E27FC236}">
                                    <a16:creationId xmlns:a16="http://schemas.microsoft.com/office/drawing/2014/main" id="{B61EA83B-85EC-D855-55A0-B313BECDC2A3}"/>
                                  </a:ext>
                                </a:extLst>
                              </p:cNvPr>
                              <p:cNvSpPr>
                                <a:spLocks noChangeArrowheads="1"/>
                              </p:cNvSpPr>
                              <p:nvPr/>
                            </p:nvSpPr>
                            <p:spPr bwMode="auto">
                              <a:xfrm>
                                <a:off x="4333" y="11378"/>
                                <a:ext cx="208" cy="376"/>
                              </a:xfrm>
                              <a:prstGeom prst="rect">
                                <a:avLst/>
                              </a:prstGeom>
                              <a:pattFill prst="ltUpDiag">
                                <a:fgClr>
                                  <a:srgbClr val="000000"/>
                                </a:fgClr>
                                <a:bgClr>
                                  <a:srgbClr val="FFFFFF"/>
                                </a:bgClr>
                              </a:pattFill>
                              <a:ln w="9525">
                                <a:solidFill>
                                  <a:srgbClr val="000000"/>
                                </a:solidFill>
                                <a:miter lim="800000"/>
                                <a:headEnd/>
                                <a:tailEnd/>
                              </a:ln>
                            </p:spPr>
                            <p:txBody>
                              <a:bodyPr/>
                              <a:lstStyle/>
                              <a:p>
                                <a:pPr>
                                  <a:defRPr/>
                                </a:pPr>
                                <a:endParaRPr lang="zh-CN" altLang="en-US" sz="2000">
                                  <a:ea typeface="宋体" charset="-122"/>
                                </a:endParaRPr>
                              </a:p>
                            </p:txBody>
                          </p:sp>
                          <p:sp>
                            <p:nvSpPr>
                              <p:cNvPr id="78" name="Rectangle 155" descr="浅色下对角线">
                                <a:extLst>
                                  <a:ext uri="{FF2B5EF4-FFF2-40B4-BE49-F238E27FC236}">
                                    <a16:creationId xmlns:a16="http://schemas.microsoft.com/office/drawing/2014/main" id="{271DD8EB-66FB-2278-E322-2FD280DDEE5A}"/>
                                  </a:ext>
                                </a:extLst>
                              </p:cNvPr>
                              <p:cNvSpPr>
                                <a:spLocks noChangeArrowheads="1"/>
                              </p:cNvSpPr>
                              <p:nvPr/>
                            </p:nvSpPr>
                            <p:spPr bwMode="auto">
                              <a:xfrm>
                                <a:off x="4541" y="11378"/>
                                <a:ext cx="208" cy="376"/>
                              </a:xfrm>
                              <a:prstGeom prst="rect">
                                <a:avLst/>
                              </a:prstGeom>
                              <a:pattFill prst="ltDnDiag">
                                <a:fgClr>
                                  <a:srgbClr val="000000"/>
                                </a:fgClr>
                                <a:bgClr>
                                  <a:srgbClr val="FFFFFF"/>
                                </a:bgClr>
                              </a:pattFill>
                              <a:ln w="9525">
                                <a:solidFill>
                                  <a:srgbClr val="000000"/>
                                </a:solidFill>
                                <a:miter lim="800000"/>
                                <a:headEnd/>
                                <a:tailEnd/>
                              </a:ln>
                            </p:spPr>
                            <p:txBody>
                              <a:bodyPr/>
                              <a:lstStyle/>
                              <a:p>
                                <a:pPr>
                                  <a:defRPr/>
                                </a:pPr>
                                <a:endParaRPr lang="zh-CN" altLang="en-US" sz="2000">
                                  <a:ea typeface="宋体" charset="-122"/>
                                </a:endParaRPr>
                              </a:p>
                            </p:txBody>
                          </p:sp>
                          <p:sp>
                            <p:nvSpPr>
                              <p:cNvPr id="79" name="Rectangle 156" descr="浅色竖线">
                                <a:extLst>
                                  <a:ext uri="{FF2B5EF4-FFF2-40B4-BE49-F238E27FC236}">
                                    <a16:creationId xmlns:a16="http://schemas.microsoft.com/office/drawing/2014/main" id="{9FD93789-F506-1C41-3A4D-B7944173E4E4}"/>
                                  </a:ext>
                                </a:extLst>
                              </p:cNvPr>
                              <p:cNvSpPr>
                                <a:spLocks noChangeArrowheads="1"/>
                              </p:cNvSpPr>
                              <p:nvPr/>
                            </p:nvSpPr>
                            <p:spPr bwMode="auto">
                              <a:xfrm>
                                <a:off x="4749" y="11378"/>
                                <a:ext cx="208" cy="376"/>
                              </a:xfrm>
                              <a:prstGeom prst="rect">
                                <a:avLst/>
                              </a:prstGeom>
                              <a:pattFill prst="ltVert">
                                <a:fgClr>
                                  <a:srgbClr val="000000"/>
                                </a:fgClr>
                                <a:bgClr>
                                  <a:srgbClr val="FFFFFF"/>
                                </a:bgClr>
                              </a:pattFill>
                              <a:ln w="9525">
                                <a:solidFill>
                                  <a:srgbClr val="000000"/>
                                </a:solidFill>
                                <a:miter lim="800000"/>
                                <a:headEnd/>
                                <a:tailEnd/>
                              </a:ln>
                            </p:spPr>
                            <p:txBody>
                              <a:bodyPr/>
                              <a:lstStyle/>
                              <a:p>
                                <a:pPr>
                                  <a:defRPr/>
                                </a:pPr>
                                <a:endParaRPr lang="zh-CN" altLang="en-US" sz="2000">
                                  <a:ea typeface="宋体" charset="-122"/>
                                </a:endParaRPr>
                              </a:p>
                            </p:txBody>
                          </p:sp>
                          <p:sp>
                            <p:nvSpPr>
                              <p:cNvPr id="80" name="Rectangle 157" descr="浅色横线">
                                <a:extLst>
                                  <a:ext uri="{FF2B5EF4-FFF2-40B4-BE49-F238E27FC236}">
                                    <a16:creationId xmlns:a16="http://schemas.microsoft.com/office/drawing/2014/main" id="{889E0D75-C970-6E36-CD7D-0C4B80BACFE8}"/>
                                  </a:ext>
                                </a:extLst>
                              </p:cNvPr>
                              <p:cNvSpPr>
                                <a:spLocks noChangeArrowheads="1"/>
                              </p:cNvSpPr>
                              <p:nvPr/>
                            </p:nvSpPr>
                            <p:spPr bwMode="auto">
                              <a:xfrm>
                                <a:off x="4957" y="11378"/>
                                <a:ext cx="208" cy="376"/>
                              </a:xfrm>
                              <a:prstGeom prst="rect">
                                <a:avLst/>
                              </a:prstGeom>
                              <a:pattFill prst="ltHorz">
                                <a:fgClr>
                                  <a:srgbClr val="000000"/>
                                </a:fgClr>
                                <a:bgClr>
                                  <a:srgbClr val="FFFFFF"/>
                                </a:bgClr>
                              </a:pattFill>
                              <a:ln w="9525">
                                <a:solidFill>
                                  <a:srgbClr val="000000"/>
                                </a:solidFill>
                                <a:miter lim="800000"/>
                                <a:headEnd/>
                                <a:tailEnd/>
                              </a:ln>
                            </p:spPr>
                            <p:txBody>
                              <a:bodyPr/>
                              <a:lstStyle/>
                              <a:p>
                                <a:pPr>
                                  <a:defRPr/>
                                </a:pPr>
                                <a:endParaRPr lang="zh-CN" altLang="en-US" sz="2000">
                                  <a:ea typeface="宋体" charset="-122"/>
                                </a:endParaRPr>
                              </a:p>
                            </p:txBody>
                          </p:sp>
                        </p:grpSp>
                        <p:grpSp>
                          <p:nvGrpSpPr>
                            <p:cNvPr id="16" name="Group 158">
                              <a:extLst>
                                <a:ext uri="{FF2B5EF4-FFF2-40B4-BE49-F238E27FC236}">
                                  <a16:creationId xmlns:a16="http://schemas.microsoft.com/office/drawing/2014/main" id="{696BFE10-1C5F-96BD-0B4A-E398105F5CE6}"/>
                                </a:ext>
                              </a:extLst>
                            </p:cNvPr>
                            <p:cNvGrpSpPr>
                              <a:grpSpLocks/>
                            </p:cNvGrpSpPr>
                            <p:nvPr/>
                          </p:nvGrpSpPr>
                          <p:grpSpPr bwMode="auto">
                            <a:xfrm>
                              <a:off x="5996" y="11378"/>
                              <a:ext cx="832" cy="376"/>
                              <a:chOff x="4333" y="11378"/>
                              <a:chExt cx="832" cy="376"/>
                            </a:xfrm>
                          </p:grpSpPr>
                          <p:sp>
                            <p:nvSpPr>
                              <p:cNvPr id="73" name="Rectangle 159" descr="浅色上对角线">
                                <a:extLst>
                                  <a:ext uri="{FF2B5EF4-FFF2-40B4-BE49-F238E27FC236}">
                                    <a16:creationId xmlns:a16="http://schemas.microsoft.com/office/drawing/2014/main" id="{890BDDAF-50D5-51A6-5040-E077AF7D4F4B}"/>
                                  </a:ext>
                                </a:extLst>
                              </p:cNvPr>
                              <p:cNvSpPr>
                                <a:spLocks noChangeArrowheads="1"/>
                              </p:cNvSpPr>
                              <p:nvPr/>
                            </p:nvSpPr>
                            <p:spPr bwMode="auto">
                              <a:xfrm>
                                <a:off x="4333" y="11378"/>
                                <a:ext cx="208" cy="376"/>
                              </a:xfrm>
                              <a:prstGeom prst="rect">
                                <a:avLst/>
                              </a:prstGeom>
                              <a:pattFill prst="ltUpDiag">
                                <a:fgClr>
                                  <a:srgbClr val="000000"/>
                                </a:fgClr>
                                <a:bgClr>
                                  <a:srgbClr val="FFFFFF"/>
                                </a:bgClr>
                              </a:pattFill>
                              <a:ln w="9525">
                                <a:solidFill>
                                  <a:srgbClr val="000000"/>
                                </a:solidFill>
                                <a:miter lim="800000"/>
                                <a:headEnd/>
                                <a:tailEnd/>
                              </a:ln>
                            </p:spPr>
                            <p:txBody>
                              <a:bodyPr/>
                              <a:lstStyle/>
                              <a:p>
                                <a:pPr>
                                  <a:defRPr/>
                                </a:pPr>
                                <a:endParaRPr lang="zh-CN" altLang="en-US" sz="2000">
                                  <a:ea typeface="宋体" charset="-122"/>
                                </a:endParaRPr>
                              </a:p>
                            </p:txBody>
                          </p:sp>
                          <p:sp>
                            <p:nvSpPr>
                              <p:cNvPr id="74" name="Rectangle 160" descr="浅色下对角线">
                                <a:extLst>
                                  <a:ext uri="{FF2B5EF4-FFF2-40B4-BE49-F238E27FC236}">
                                    <a16:creationId xmlns:a16="http://schemas.microsoft.com/office/drawing/2014/main" id="{B607CC8C-4B7E-BE2E-D0F0-1922C9318D96}"/>
                                  </a:ext>
                                </a:extLst>
                              </p:cNvPr>
                              <p:cNvSpPr>
                                <a:spLocks noChangeArrowheads="1"/>
                              </p:cNvSpPr>
                              <p:nvPr/>
                            </p:nvSpPr>
                            <p:spPr bwMode="auto">
                              <a:xfrm>
                                <a:off x="4541" y="11378"/>
                                <a:ext cx="208" cy="376"/>
                              </a:xfrm>
                              <a:prstGeom prst="rect">
                                <a:avLst/>
                              </a:prstGeom>
                              <a:pattFill prst="ltDnDiag">
                                <a:fgClr>
                                  <a:srgbClr val="000000"/>
                                </a:fgClr>
                                <a:bgClr>
                                  <a:srgbClr val="FFFFFF"/>
                                </a:bgClr>
                              </a:pattFill>
                              <a:ln w="9525">
                                <a:solidFill>
                                  <a:srgbClr val="000000"/>
                                </a:solidFill>
                                <a:miter lim="800000"/>
                                <a:headEnd/>
                                <a:tailEnd/>
                              </a:ln>
                            </p:spPr>
                            <p:txBody>
                              <a:bodyPr/>
                              <a:lstStyle/>
                              <a:p>
                                <a:pPr>
                                  <a:defRPr/>
                                </a:pPr>
                                <a:endParaRPr lang="zh-CN" altLang="en-US" sz="2000">
                                  <a:ea typeface="宋体" charset="-122"/>
                                </a:endParaRPr>
                              </a:p>
                            </p:txBody>
                          </p:sp>
                          <p:sp>
                            <p:nvSpPr>
                              <p:cNvPr id="75" name="Rectangle 161" descr="浅色竖线">
                                <a:extLst>
                                  <a:ext uri="{FF2B5EF4-FFF2-40B4-BE49-F238E27FC236}">
                                    <a16:creationId xmlns:a16="http://schemas.microsoft.com/office/drawing/2014/main" id="{F77AA11E-F90E-3AEA-384C-28A5D8AA0D77}"/>
                                  </a:ext>
                                </a:extLst>
                              </p:cNvPr>
                              <p:cNvSpPr>
                                <a:spLocks noChangeArrowheads="1"/>
                              </p:cNvSpPr>
                              <p:nvPr/>
                            </p:nvSpPr>
                            <p:spPr bwMode="auto">
                              <a:xfrm>
                                <a:off x="4749" y="11378"/>
                                <a:ext cx="208" cy="376"/>
                              </a:xfrm>
                              <a:prstGeom prst="rect">
                                <a:avLst/>
                              </a:prstGeom>
                              <a:pattFill prst="ltVert">
                                <a:fgClr>
                                  <a:srgbClr val="000000"/>
                                </a:fgClr>
                                <a:bgClr>
                                  <a:srgbClr val="FFFFFF"/>
                                </a:bgClr>
                              </a:pattFill>
                              <a:ln w="9525">
                                <a:solidFill>
                                  <a:srgbClr val="000000"/>
                                </a:solidFill>
                                <a:miter lim="800000"/>
                                <a:headEnd/>
                                <a:tailEnd/>
                              </a:ln>
                            </p:spPr>
                            <p:txBody>
                              <a:bodyPr/>
                              <a:lstStyle/>
                              <a:p>
                                <a:pPr>
                                  <a:defRPr/>
                                </a:pPr>
                                <a:endParaRPr lang="zh-CN" altLang="en-US" sz="2000">
                                  <a:ea typeface="宋体" charset="-122"/>
                                </a:endParaRPr>
                              </a:p>
                            </p:txBody>
                          </p:sp>
                          <p:sp>
                            <p:nvSpPr>
                              <p:cNvPr id="76" name="Rectangle 162" descr="浅色横线">
                                <a:extLst>
                                  <a:ext uri="{FF2B5EF4-FFF2-40B4-BE49-F238E27FC236}">
                                    <a16:creationId xmlns:a16="http://schemas.microsoft.com/office/drawing/2014/main" id="{857F1F56-499E-EF5E-461F-4640F0ECA70B}"/>
                                  </a:ext>
                                </a:extLst>
                              </p:cNvPr>
                              <p:cNvSpPr>
                                <a:spLocks noChangeArrowheads="1"/>
                              </p:cNvSpPr>
                              <p:nvPr/>
                            </p:nvSpPr>
                            <p:spPr bwMode="auto">
                              <a:xfrm>
                                <a:off x="4957" y="11378"/>
                                <a:ext cx="208" cy="376"/>
                              </a:xfrm>
                              <a:prstGeom prst="rect">
                                <a:avLst/>
                              </a:prstGeom>
                              <a:pattFill prst="ltHorz">
                                <a:fgClr>
                                  <a:srgbClr val="000000"/>
                                </a:fgClr>
                                <a:bgClr>
                                  <a:srgbClr val="FFFFFF"/>
                                </a:bgClr>
                              </a:pattFill>
                              <a:ln w="9525">
                                <a:solidFill>
                                  <a:srgbClr val="000000"/>
                                </a:solidFill>
                                <a:miter lim="800000"/>
                                <a:headEnd/>
                                <a:tailEnd/>
                              </a:ln>
                            </p:spPr>
                            <p:txBody>
                              <a:bodyPr/>
                              <a:lstStyle/>
                              <a:p>
                                <a:pPr>
                                  <a:defRPr/>
                                </a:pPr>
                                <a:endParaRPr lang="zh-CN" altLang="en-US" sz="2000">
                                  <a:ea typeface="宋体" charset="-122"/>
                                </a:endParaRPr>
                              </a:p>
                            </p:txBody>
                          </p:sp>
                        </p:grpSp>
                      </p:grpSp>
                      <p:grpSp>
                        <p:nvGrpSpPr>
                          <p:cNvPr id="17" name="Group 163">
                            <a:extLst>
                              <a:ext uri="{FF2B5EF4-FFF2-40B4-BE49-F238E27FC236}">
                                <a16:creationId xmlns:a16="http://schemas.microsoft.com/office/drawing/2014/main" id="{CE3D1AB8-1570-6F48-8F88-91B3D598E5CB}"/>
                              </a:ext>
                            </a:extLst>
                          </p:cNvPr>
                          <p:cNvGrpSpPr>
                            <a:grpSpLocks/>
                          </p:cNvGrpSpPr>
                          <p:nvPr/>
                        </p:nvGrpSpPr>
                        <p:grpSpPr bwMode="auto">
                          <a:xfrm>
                            <a:off x="5123" y="11786"/>
                            <a:ext cx="1258" cy="450"/>
                            <a:chOff x="4292" y="11799"/>
                            <a:chExt cx="1257" cy="450"/>
                          </a:xfrm>
                        </p:grpSpPr>
                        <p:sp>
                          <p:nvSpPr>
                            <p:cNvPr id="68" name="AutoShape 164">
                              <a:extLst>
                                <a:ext uri="{FF2B5EF4-FFF2-40B4-BE49-F238E27FC236}">
                                  <a16:creationId xmlns:a16="http://schemas.microsoft.com/office/drawing/2014/main" id="{AAC923D8-0B62-8AA8-FA15-34B3BAD49AAC}"/>
                                </a:ext>
                              </a:extLst>
                            </p:cNvPr>
                            <p:cNvSpPr>
                              <a:spLocks/>
                            </p:cNvSpPr>
                            <p:nvPr/>
                          </p:nvSpPr>
                          <p:spPr bwMode="auto">
                            <a:xfrm rot="-5400000">
                              <a:off x="4694" y="11461"/>
                              <a:ext cx="128" cy="804"/>
                            </a:xfrm>
                            <a:prstGeom prst="leftBrace">
                              <a:avLst>
                                <a:gd name="adj1" fmla="val 52344"/>
                                <a:gd name="adj2" fmla="val 50106"/>
                              </a:avLst>
                            </a:prstGeom>
                            <a:noFill/>
                            <a:ln w="9525">
                              <a:solidFill>
                                <a:srgbClr val="000000"/>
                              </a:solidFill>
                              <a:round/>
                              <a:headEnd/>
                              <a:tailEnd/>
                            </a:ln>
                          </p:spPr>
                          <p:txBody>
                            <a:bodyPr/>
                            <a:lstStyle/>
                            <a:p>
                              <a:pPr>
                                <a:defRPr/>
                              </a:pPr>
                              <a:endParaRPr lang="zh-CN" altLang="en-US" sz="2000">
                                <a:ea typeface="宋体" charset="-122"/>
                              </a:endParaRPr>
                            </a:p>
                          </p:txBody>
                        </p:sp>
                        <p:sp>
                          <p:nvSpPr>
                            <p:cNvPr id="69" name="Text Box 165">
                              <a:extLst>
                                <a:ext uri="{FF2B5EF4-FFF2-40B4-BE49-F238E27FC236}">
                                  <a16:creationId xmlns:a16="http://schemas.microsoft.com/office/drawing/2014/main" id="{1F1DDD0A-766A-E7F1-BF73-8536950B4513}"/>
                                </a:ext>
                              </a:extLst>
                            </p:cNvPr>
                            <p:cNvSpPr txBox="1">
                              <a:spLocks noChangeArrowheads="1"/>
                            </p:cNvSpPr>
                            <p:nvPr/>
                          </p:nvSpPr>
                          <p:spPr bwMode="auto">
                            <a:xfrm>
                              <a:off x="4292" y="11885"/>
                              <a:ext cx="1257" cy="364"/>
                            </a:xfrm>
                            <a:prstGeom prst="rect">
                              <a:avLst/>
                            </a:prstGeom>
                            <a:noFill/>
                            <a:ln w="9525">
                              <a:noFill/>
                              <a:miter lim="800000"/>
                              <a:headEnd/>
                              <a:tailEnd/>
                            </a:ln>
                          </p:spPr>
                          <p:txBody>
                            <a:bodyPr/>
                            <a:lstStyle/>
                            <a:p>
                              <a:pPr algn="just">
                                <a:defRPr/>
                              </a:pPr>
                              <a:r>
                                <a:rPr lang="zh-CN" altLang="en-US" sz="2000" dirty="0">
                                  <a:solidFill>
                                    <a:srgbClr val="0000CC"/>
                                  </a:solidFill>
                                  <a:ea typeface="宋体" charset="-122"/>
                                </a:rPr>
                                <a:t>同步码组</a:t>
                              </a:r>
                            </a:p>
                          </p:txBody>
                        </p:sp>
                      </p:grpSp>
                    </p:grpSp>
                    <p:sp>
                      <p:nvSpPr>
                        <p:cNvPr id="62" name="Line 166">
                          <a:extLst>
                            <a:ext uri="{FF2B5EF4-FFF2-40B4-BE49-F238E27FC236}">
                              <a16:creationId xmlns:a16="http://schemas.microsoft.com/office/drawing/2014/main" id="{ADF1B344-2F19-7A5B-5456-CFAB2D7C65BE}"/>
                            </a:ext>
                          </a:extLst>
                        </p:cNvPr>
                        <p:cNvSpPr>
                          <a:spLocks noChangeShapeType="1"/>
                        </p:cNvSpPr>
                        <p:nvPr/>
                      </p:nvSpPr>
                      <p:spPr bwMode="auto">
                        <a:xfrm flipH="1" flipV="1">
                          <a:off x="3239" y="10897"/>
                          <a:ext cx="1977" cy="663"/>
                        </a:xfrm>
                        <a:prstGeom prst="line">
                          <a:avLst/>
                        </a:prstGeom>
                        <a:noFill/>
                        <a:ln w="9525">
                          <a:solidFill>
                            <a:srgbClr val="000000"/>
                          </a:solidFill>
                          <a:round/>
                          <a:headEnd/>
                          <a:tailEnd type="triangle" w="med" len="med"/>
                        </a:ln>
                      </p:spPr>
                      <p:txBody>
                        <a:bodyPr/>
                        <a:lstStyle/>
                        <a:p>
                          <a:pPr>
                            <a:defRPr/>
                          </a:pPr>
                          <a:endParaRPr lang="zh-CN" altLang="en-US" sz="2000">
                            <a:ea typeface="宋体" charset="-122"/>
                          </a:endParaRPr>
                        </a:p>
                      </p:txBody>
                    </p:sp>
                    <p:sp>
                      <p:nvSpPr>
                        <p:cNvPr id="63" name="Line 167">
                          <a:extLst>
                            <a:ext uri="{FF2B5EF4-FFF2-40B4-BE49-F238E27FC236}">
                              <a16:creationId xmlns:a16="http://schemas.microsoft.com/office/drawing/2014/main" id="{120D95C6-19C5-6A5D-FB89-AAEDB96D2C84}"/>
                            </a:ext>
                          </a:extLst>
                        </p:cNvPr>
                        <p:cNvSpPr>
                          <a:spLocks noChangeShapeType="1"/>
                        </p:cNvSpPr>
                        <p:nvPr/>
                      </p:nvSpPr>
                      <p:spPr bwMode="auto">
                        <a:xfrm flipH="1" flipV="1">
                          <a:off x="4774" y="10884"/>
                          <a:ext cx="676" cy="663"/>
                        </a:xfrm>
                        <a:prstGeom prst="line">
                          <a:avLst/>
                        </a:prstGeom>
                        <a:noFill/>
                        <a:ln w="9525">
                          <a:solidFill>
                            <a:srgbClr val="000000"/>
                          </a:solidFill>
                          <a:round/>
                          <a:headEnd/>
                          <a:tailEnd type="triangle" w="med" len="med"/>
                        </a:ln>
                      </p:spPr>
                      <p:txBody>
                        <a:bodyPr/>
                        <a:lstStyle/>
                        <a:p>
                          <a:pPr>
                            <a:defRPr/>
                          </a:pPr>
                          <a:endParaRPr lang="zh-CN" altLang="en-US" sz="2000">
                            <a:ea typeface="宋体" charset="-122"/>
                          </a:endParaRPr>
                        </a:p>
                      </p:txBody>
                    </p:sp>
                    <p:sp>
                      <p:nvSpPr>
                        <p:cNvPr id="64" name="Line 168">
                          <a:extLst>
                            <a:ext uri="{FF2B5EF4-FFF2-40B4-BE49-F238E27FC236}">
                              <a16:creationId xmlns:a16="http://schemas.microsoft.com/office/drawing/2014/main" id="{BDCEACF7-2212-1F77-8D50-D790D9F85816}"/>
                            </a:ext>
                          </a:extLst>
                        </p:cNvPr>
                        <p:cNvSpPr>
                          <a:spLocks noChangeShapeType="1"/>
                        </p:cNvSpPr>
                        <p:nvPr/>
                      </p:nvSpPr>
                      <p:spPr bwMode="auto">
                        <a:xfrm flipV="1">
                          <a:off x="5632" y="10910"/>
                          <a:ext cx="664" cy="637"/>
                        </a:xfrm>
                        <a:prstGeom prst="line">
                          <a:avLst/>
                        </a:prstGeom>
                        <a:noFill/>
                        <a:ln w="9525">
                          <a:solidFill>
                            <a:srgbClr val="000000"/>
                          </a:solidFill>
                          <a:round/>
                          <a:headEnd/>
                          <a:tailEnd type="triangle" w="med" len="med"/>
                        </a:ln>
                      </p:spPr>
                      <p:txBody>
                        <a:bodyPr/>
                        <a:lstStyle/>
                        <a:p>
                          <a:pPr>
                            <a:defRPr/>
                          </a:pPr>
                          <a:endParaRPr lang="zh-CN" altLang="en-US" sz="2000">
                            <a:ea typeface="宋体" charset="-122"/>
                          </a:endParaRPr>
                        </a:p>
                      </p:txBody>
                    </p:sp>
                    <p:sp>
                      <p:nvSpPr>
                        <p:cNvPr id="65" name="Line 169">
                          <a:extLst>
                            <a:ext uri="{FF2B5EF4-FFF2-40B4-BE49-F238E27FC236}">
                              <a16:creationId xmlns:a16="http://schemas.microsoft.com/office/drawing/2014/main" id="{022E7FD1-958F-9B1A-2F1D-569492333FB4}"/>
                            </a:ext>
                          </a:extLst>
                        </p:cNvPr>
                        <p:cNvSpPr>
                          <a:spLocks noChangeShapeType="1"/>
                        </p:cNvSpPr>
                        <p:nvPr/>
                      </p:nvSpPr>
                      <p:spPr bwMode="auto">
                        <a:xfrm flipV="1">
                          <a:off x="5854" y="10910"/>
                          <a:ext cx="2014" cy="624"/>
                        </a:xfrm>
                        <a:prstGeom prst="line">
                          <a:avLst/>
                        </a:prstGeom>
                        <a:noFill/>
                        <a:ln w="9525">
                          <a:solidFill>
                            <a:srgbClr val="000000"/>
                          </a:solidFill>
                          <a:round/>
                          <a:headEnd/>
                          <a:tailEnd type="triangle" w="med" len="med"/>
                        </a:ln>
                      </p:spPr>
                      <p:txBody>
                        <a:bodyPr/>
                        <a:lstStyle/>
                        <a:p>
                          <a:pPr>
                            <a:defRPr/>
                          </a:pPr>
                          <a:endParaRPr lang="zh-CN" altLang="en-US" sz="2000">
                            <a:ea typeface="宋体" charset="-122"/>
                          </a:endParaRPr>
                        </a:p>
                      </p:txBody>
                    </p:sp>
                  </p:grpSp>
                  <p:grpSp>
                    <p:nvGrpSpPr>
                      <p:cNvPr id="18" name="Group 170">
                        <a:extLst>
                          <a:ext uri="{FF2B5EF4-FFF2-40B4-BE49-F238E27FC236}">
                            <a16:creationId xmlns:a16="http://schemas.microsoft.com/office/drawing/2014/main" id="{B34C8798-8C3E-2361-0BD5-570BA3FDDD0D}"/>
                          </a:ext>
                        </a:extLst>
                      </p:cNvPr>
                      <p:cNvGrpSpPr>
                        <a:grpSpLocks/>
                      </p:cNvGrpSpPr>
                      <p:nvPr/>
                    </p:nvGrpSpPr>
                    <p:grpSpPr bwMode="auto">
                      <a:xfrm>
                        <a:off x="7476" y="10551"/>
                        <a:ext cx="1133" cy="424"/>
                        <a:chOff x="5890" y="10538"/>
                        <a:chExt cx="1131" cy="424"/>
                      </a:xfrm>
                    </p:grpSpPr>
                    <p:sp>
                      <p:nvSpPr>
                        <p:cNvPr id="57" name="Text Box 171">
                          <a:extLst>
                            <a:ext uri="{FF2B5EF4-FFF2-40B4-BE49-F238E27FC236}">
                              <a16:creationId xmlns:a16="http://schemas.microsoft.com/office/drawing/2014/main" id="{0ACC567D-326F-2EFE-47DF-5D2023FF1228}"/>
                            </a:ext>
                          </a:extLst>
                        </p:cNvPr>
                        <p:cNvSpPr txBox="1">
                          <a:spLocks noChangeArrowheads="1"/>
                        </p:cNvSpPr>
                        <p:nvPr/>
                      </p:nvSpPr>
                      <p:spPr bwMode="auto">
                        <a:xfrm>
                          <a:off x="5890" y="10598"/>
                          <a:ext cx="1131" cy="364"/>
                        </a:xfrm>
                        <a:prstGeom prst="rect">
                          <a:avLst/>
                        </a:prstGeom>
                        <a:noFill/>
                        <a:ln w="9525">
                          <a:noFill/>
                          <a:miter lim="800000"/>
                          <a:headEnd/>
                          <a:tailEnd/>
                        </a:ln>
                      </p:spPr>
                      <p:txBody>
                        <a:bodyPr/>
                        <a:lstStyle/>
                        <a:p>
                          <a:pPr algn="just">
                            <a:defRPr/>
                          </a:pPr>
                          <a:r>
                            <a:rPr lang="zh-CN" altLang="en-US" sz="2000" dirty="0">
                              <a:solidFill>
                                <a:srgbClr val="800080"/>
                              </a:solidFill>
                              <a:latin typeface="Times New Roman" pitchFamily="18" charset="0"/>
                              <a:ea typeface="宋体" charset="-122"/>
                            </a:rPr>
                            <a:t>同步码元</a:t>
                          </a:r>
                          <a:endParaRPr lang="zh-CN" altLang="en-US" sz="2000" dirty="0">
                            <a:solidFill>
                              <a:srgbClr val="800080"/>
                            </a:solidFill>
                            <a:ea typeface="宋体" charset="-122"/>
                          </a:endParaRPr>
                        </a:p>
                      </p:txBody>
                    </p:sp>
                    <p:sp>
                      <p:nvSpPr>
                        <p:cNvPr id="58" name="AutoShape 172">
                          <a:extLst>
                            <a:ext uri="{FF2B5EF4-FFF2-40B4-BE49-F238E27FC236}">
                              <a16:creationId xmlns:a16="http://schemas.microsoft.com/office/drawing/2014/main" id="{2264EF24-462D-FEC4-49F9-C8D533DF2E83}"/>
                            </a:ext>
                          </a:extLst>
                        </p:cNvPr>
                        <p:cNvSpPr>
                          <a:spLocks/>
                        </p:cNvSpPr>
                        <p:nvPr/>
                      </p:nvSpPr>
                      <p:spPr bwMode="auto">
                        <a:xfrm rot="-5400000">
                          <a:off x="6273" y="10479"/>
                          <a:ext cx="114" cy="231"/>
                        </a:xfrm>
                        <a:prstGeom prst="leftBrace">
                          <a:avLst>
                            <a:gd name="adj1" fmla="val 16886"/>
                            <a:gd name="adj2" fmla="val 50000"/>
                          </a:avLst>
                        </a:prstGeom>
                        <a:noFill/>
                        <a:ln w="9525">
                          <a:solidFill>
                            <a:srgbClr val="000000"/>
                          </a:solidFill>
                          <a:round/>
                          <a:headEnd/>
                          <a:tailEnd/>
                        </a:ln>
                      </p:spPr>
                      <p:txBody>
                        <a:bodyPr/>
                        <a:lstStyle/>
                        <a:p>
                          <a:pPr>
                            <a:defRPr/>
                          </a:pPr>
                          <a:endParaRPr lang="zh-CN" altLang="en-US" sz="2000">
                            <a:ea typeface="宋体" charset="-122"/>
                          </a:endParaRPr>
                        </a:p>
                      </p:txBody>
                    </p:sp>
                  </p:grpSp>
                </p:grpSp>
                <p:grpSp>
                  <p:nvGrpSpPr>
                    <p:cNvPr id="19" name="Group 173">
                      <a:extLst>
                        <a:ext uri="{FF2B5EF4-FFF2-40B4-BE49-F238E27FC236}">
                          <a16:creationId xmlns:a16="http://schemas.microsoft.com/office/drawing/2014/main" id="{831015C4-C789-E147-4CCF-B033135D1AB4}"/>
                        </a:ext>
                      </a:extLst>
                    </p:cNvPr>
                    <p:cNvGrpSpPr>
                      <a:grpSpLocks/>
                    </p:cNvGrpSpPr>
                    <p:nvPr/>
                  </p:nvGrpSpPr>
                  <p:grpSpPr bwMode="auto">
                    <a:xfrm>
                      <a:off x="2730" y="10538"/>
                      <a:ext cx="1133" cy="424"/>
                      <a:chOff x="5890" y="10538"/>
                      <a:chExt cx="1131" cy="424"/>
                    </a:xfrm>
                  </p:grpSpPr>
                  <p:sp>
                    <p:nvSpPr>
                      <p:cNvPr id="53" name="Text Box 174">
                        <a:extLst>
                          <a:ext uri="{FF2B5EF4-FFF2-40B4-BE49-F238E27FC236}">
                            <a16:creationId xmlns:a16="http://schemas.microsoft.com/office/drawing/2014/main" id="{75DDB836-91CB-35DC-5A70-FF173311CBF5}"/>
                          </a:ext>
                        </a:extLst>
                      </p:cNvPr>
                      <p:cNvSpPr txBox="1">
                        <a:spLocks noChangeArrowheads="1"/>
                      </p:cNvSpPr>
                      <p:nvPr/>
                    </p:nvSpPr>
                    <p:spPr bwMode="auto">
                      <a:xfrm>
                        <a:off x="5890" y="10598"/>
                        <a:ext cx="1131" cy="364"/>
                      </a:xfrm>
                      <a:prstGeom prst="rect">
                        <a:avLst/>
                      </a:prstGeom>
                      <a:noFill/>
                      <a:ln w="9525">
                        <a:noFill/>
                        <a:miter lim="800000"/>
                        <a:headEnd/>
                        <a:tailEnd/>
                      </a:ln>
                    </p:spPr>
                    <p:txBody>
                      <a:bodyPr/>
                      <a:lstStyle/>
                      <a:p>
                        <a:pPr algn="just">
                          <a:defRPr/>
                        </a:pPr>
                        <a:r>
                          <a:rPr lang="zh-CN" altLang="en-US" sz="2000" dirty="0">
                            <a:solidFill>
                              <a:srgbClr val="800080"/>
                            </a:solidFill>
                            <a:latin typeface="Times New Roman" pitchFamily="18" charset="0"/>
                            <a:ea typeface="宋体" charset="-122"/>
                          </a:rPr>
                          <a:t>同步码元</a:t>
                        </a:r>
                        <a:endParaRPr lang="zh-CN" altLang="en-US" sz="2000" dirty="0">
                          <a:solidFill>
                            <a:srgbClr val="800080"/>
                          </a:solidFill>
                          <a:ea typeface="宋体" charset="-122"/>
                        </a:endParaRPr>
                      </a:p>
                    </p:txBody>
                  </p:sp>
                  <p:sp>
                    <p:nvSpPr>
                      <p:cNvPr id="54" name="AutoShape 175">
                        <a:extLst>
                          <a:ext uri="{FF2B5EF4-FFF2-40B4-BE49-F238E27FC236}">
                            <a16:creationId xmlns:a16="http://schemas.microsoft.com/office/drawing/2014/main" id="{66194AB2-928C-1B19-5D74-2AB1D871E99E}"/>
                          </a:ext>
                        </a:extLst>
                      </p:cNvPr>
                      <p:cNvSpPr>
                        <a:spLocks/>
                      </p:cNvSpPr>
                      <p:nvPr/>
                    </p:nvSpPr>
                    <p:spPr bwMode="auto">
                      <a:xfrm rot="-5400000">
                        <a:off x="6273" y="10479"/>
                        <a:ext cx="114" cy="231"/>
                      </a:xfrm>
                      <a:prstGeom prst="leftBrace">
                        <a:avLst>
                          <a:gd name="adj1" fmla="val 16886"/>
                          <a:gd name="adj2" fmla="val 50000"/>
                        </a:avLst>
                      </a:prstGeom>
                      <a:noFill/>
                      <a:ln w="9525">
                        <a:solidFill>
                          <a:srgbClr val="000000"/>
                        </a:solidFill>
                        <a:round/>
                        <a:headEnd/>
                        <a:tailEnd/>
                      </a:ln>
                    </p:spPr>
                    <p:txBody>
                      <a:bodyPr/>
                      <a:lstStyle/>
                      <a:p>
                        <a:pPr>
                          <a:defRPr/>
                        </a:pPr>
                        <a:endParaRPr lang="zh-CN" altLang="en-US" sz="2000">
                          <a:ea typeface="宋体" charset="-122"/>
                        </a:endParaRPr>
                      </a:p>
                    </p:txBody>
                  </p:sp>
                </p:grpSp>
              </p:grpSp>
            </p:grpSp>
            <p:sp>
              <p:nvSpPr>
                <p:cNvPr id="47" name="Rectangle 176" descr="浅色上对角线">
                  <a:extLst>
                    <a:ext uri="{FF2B5EF4-FFF2-40B4-BE49-F238E27FC236}">
                      <a16:creationId xmlns:a16="http://schemas.microsoft.com/office/drawing/2014/main" id="{B83830FF-BC98-E7D2-E67A-FD0E5EC6DA15}"/>
                    </a:ext>
                  </a:extLst>
                </p:cNvPr>
                <p:cNvSpPr>
                  <a:spLocks noChangeArrowheads="1"/>
                </p:cNvSpPr>
                <p:nvPr/>
              </p:nvSpPr>
              <p:spPr bwMode="auto">
                <a:xfrm>
                  <a:off x="3068" y="10153"/>
                  <a:ext cx="196" cy="349"/>
                </a:xfrm>
                <a:prstGeom prst="rect">
                  <a:avLst/>
                </a:prstGeom>
                <a:pattFill prst="ltUpDiag">
                  <a:fgClr>
                    <a:srgbClr val="000000"/>
                  </a:fgClr>
                  <a:bgClr>
                    <a:srgbClr val="FFFFFF"/>
                  </a:bgClr>
                </a:pattFill>
                <a:ln w="9525">
                  <a:noFill/>
                  <a:miter lim="800000"/>
                  <a:headEnd/>
                  <a:tailEnd/>
                </a:ln>
              </p:spPr>
              <p:txBody>
                <a:bodyPr/>
                <a:lstStyle/>
                <a:p>
                  <a:pPr>
                    <a:defRPr/>
                  </a:pPr>
                  <a:endParaRPr lang="zh-CN" altLang="en-US" sz="2000">
                    <a:ea typeface="宋体" charset="-122"/>
                  </a:endParaRPr>
                </a:p>
              </p:txBody>
            </p:sp>
            <p:sp>
              <p:nvSpPr>
                <p:cNvPr id="48" name="Rectangle 177" descr="浅色横线">
                  <a:extLst>
                    <a:ext uri="{FF2B5EF4-FFF2-40B4-BE49-F238E27FC236}">
                      <a16:creationId xmlns:a16="http://schemas.microsoft.com/office/drawing/2014/main" id="{C70B9D43-840C-1794-B85A-F597A64E1B89}"/>
                    </a:ext>
                  </a:extLst>
                </p:cNvPr>
                <p:cNvSpPr>
                  <a:spLocks noChangeArrowheads="1"/>
                </p:cNvSpPr>
                <p:nvPr/>
              </p:nvSpPr>
              <p:spPr bwMode="auto">
                <a:xfrm>
                  <a:off x="7811" y="10166"/>
                  <a:ext cx="208" cy="336"/>
                </a:xfrm>
                <a:prstGeom prst="rect">
                  <a:avLst/>
                </a:prstGeom>
                <a:pattFill prst="ltHorz">
                  <a:fgClr>
                    <a:srgbClr val="000000"/>
                  </a:fgClr>
                  <a:bgClr>
                    <a:srgbClr val="FFFFFF"/>
                  </a:bgClr>
                </a:pattFill>
                <a:ln w="9525">
                  <a:noFill/>
                  <a:miter lim="800000"/>
                  <a:headEnd/>
                  <a:tailEnd/>
                </a:ln>
              </p:spPr>
              <p:txBody>
                <a:bodyPr/>
                <a:lstStyle/>
                <a:p>
                  <a:pPr>
                    <a:defRPr/>
                  </a:pPr>
                  <a:endParaRPr lang="zh-CN" altLang="en-US" sz="2000">
                    <a:ea typeface="宋体" charset="-122"/>
                  </a:endParaRPr>
                </a:p>
              </p:txBody>
            </p:sp>
          </p:grpSp>
        </p:grpSp>
      </p:grpSp>
      <p:sp>
        <p:nvSpPr>
          <p:cNvPr id="94" name="Rectangle 102">
            <a:extLst>
              <a:ext uri="{FF2B5EF4-FFF2-40B4-BE49-F238E27FC236}">
                <a16:creationId xmlns:a16="http://schemas.microsoft.com/office/drawing/2014/main" id="{079775D9-B6DC-BF71-3FFE-C6018C909B4A}"/>
              </a:ext>
            </a:extLst>
          </p:cNvPr>
          <p:cNvSpPr>
            <a:spLocks noChangeArrowheads="1"/>
          </p:cNvSpPr>
          <p:nvPr/>
        </p:nvSpPr>
        <p:spPr bwMode="auto">
          <a:xfrm>
            <a:off x="2214563" y="4333875"/>
            <a:ext cx="5857875" cy="523875"/>
          </a:xfrm>
          <a:prstGeom prst="rect">
            <a:avLst/>
          </a:prstGeom>
          <a:noFill/>
          <a:ln w="9525">
            <a:noFill/>
            <a:miter lim="800000"/>
            <a:headEnd/>
            <a:tailEnd/>
          </a:ln>
        </p:spPr>
        <p:txBody>
          <a:bodyPr>
            <a:spAutoFit/>
          </a:bodyPr>
          <a:lstStyle/>
          <a:p>
            <a:pPr marL="457200" indent="-457200">
              <a:lnSpc>
                <a:spcPct val="140000"/>
              </a:lnSpc>
              <a:buClr>
                <a:srgbClr val="3333CC"/>
              </a:buClr>
              <a:buSzPct val="65000"/>
              <a:defRPr/>
            </a:pPr>
            <a:r>
              <a:rPr lang="zh-CN" altLang="zh-CN" sz="2000" dirty="0">
                <a:latin typeface="Arial" pitchFamily="34" charset="0"/>
                <a:ea typeface="微软雅黑" pitchFamily="34" charset="-122"/>
                <a:cs typeface="Arial" pitchFamily="34" charset="0"/>
              </a:rPr>
              <a:t>在</a:t>
            </a:r>
            <a:r>
              <a:rPr lang="en-US" altLang="zh-CN" sz="2000" dirty="0">
                <a:latin typeface="Arial" pitchFamily="34" charset="0"/>
                <a:ea typeface="微软雅黑" pitchFamily="34" charset="-122"/>
                <a:cs typeface="Arial" pitchFamily="34" charset="0"/>
              </a:rPr>
              <a:t>PCM 24</a:t>
            </a:r>
            <a:r>
              <a:rPr lang="zh-CN" altLang="zh-CN" sz="2000" dirty="0">
                <a:latin typeface="Arial" pitchFamily="34" charset="0"/>
                <a:ea typeface="微软雅黑" pitchFamily="34" charset="-122"/>
                <a:cs typeface="Arial" pitchFamily="34" charset="0"/>
              </a:rPr>
              <a:t>路基群中</a:t>
            </a:r>
            <a:r>
              <a:rPr lang="en-US" altLang="zh-CN" sz="2000" dirty="0">
                <a:latin typeface="Arial" pitchFamily="34" charset="0"/>
                <a:ea typeface="微软雅黑" pitchFamily="34" charset="-122"/>
                <a:cs typeface="Arial" pitchFamily="34" charset="0"/>
              </a:rPr>
              <a:t> </a:t>
            </a:r>
            <a:r>
              <a:rPr lang="zh-CN" altLang="en-US" sz="2000" dirty="0">
                <a:latin typeface="Arial" pitchFamily="34" charset="0"/>
                <a:ea typeface="微软雅黑" pitchFamily="34" charset="-122"/>
                <a:cs typeface="Arial" pitchFamily="34" charset="0"/>
              </a:rPr>
              <a:t>间隔插入</a:t>
            </a:r>
            <a:r>
              <a:rPr lang="en-US" altLang="zh-CN" sz="200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10</a:t>
            </a:r>
            <a:r>
              <a:rPr lang="zh-CN" altLang="en-US" sz="2000" dirty="0">
                <a:solidFill>
                  <a:srgbClr val="FF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交替</a:t>
            </a:r>
            <a:r>
              <a:rPr lang="zh-CN" altLang="en-US" sz="2000" dirty="0">
                <a:latin typeface="Arial" pitchFamily="34" charset="0"/>
                <a:ea typeface="微软雅黑" pitchFamily="34" charset="-122"/>
                <a:cs typeface="Arial" pitchFamily="34" charset="0"/>
              </a:rPr>
              <a:t>同步码组：</a:t>
            </a:r>
            <a:r>
              <a:rPr lang="en-US" altLang="zh-CN" sz="2000" dirty="0">
                <a:solidFill>
                  <a:srgbClr val="D7181F"/>
                </a:solidFill>
                <a:latin typeface="Arial" pitchFamily="34" charset="0"/>
                <a:ea typeface="微软雅黑" pitchFamily="34" charset="-122"/>
                <a:cs typeface="Arial" pitchFamily="34" charset="0"/>
              </a:rPr>
              <a:t> </a:t>
            </a:r>
            <a:endParaRPr lang="en-US" altLang="zh-CN" sz="2000" dirty="0">
              <a:latin typeface="Arial" pitchFamily="34" charset="0"/>
              <a:ea typeface="微软雅黑" pitchFamily="34" charset="-122"/>
              <a:cs typeface="Arial" pitchFamily="34" charset="0"/>
            </a:endParaRPr>
          </a:p>
        </p:txBody>
      </p:sp>
      <p:sp>
        <p:nvSpPr>
          <p:cNvPr id="97" name="Text Box 5">
            <a:extLst>
              <a:ext uri="{FF2B5EF4-FFF2-40B4-BE49-F238E27FC236}">
                <a16:creationId xmlns:a16="http://schemas.microsoft.com/office/drawing/2014/main" id="{388A8771-13E2-1D79-04D9-7B68386050C6}"/>
              </a:ext>
            </a:extLst>
          </p:cNvPr>
          <p:cNvSpPr txBox="1">
            <a:spLocks noChangeArrowheads="1"/>
          </p:cNvSpPr>
          <p:nvPr/>
        </p:nvSpPr>
        <p:spPr bwMode="auto">
          <a:xfrm>
            <a:off x="2789238" y="5318125"/>
            <a:ext cx="360362" cy="396875"/>
          </a:xfrm>
          <a:prstGeom prst="rect">
            <a:avLst/>
          </a:prstGeom>
          <a:noFill/>
          <a:ln w="9525">
            <a:noFill/>
            <a:miter lim="800000"/>
            <a:headEnd/>
            <a:tailEnd/>
          </a:ln>
          <a:effectLst>
            <a:prstShdw prst="shdw17" dist="17961" dir="2700000">
              <a:schemeClr val="accent1">
                <a:gamma/>
                <a:shade val="60000"/>
                <a:invGamma/>
              </a:schemeClr>
            </a:prstShdw>
          </a:effec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2000">
                <a:solidFill>
                  <a:srgbClr val="CC0000"/>
                </a:solidFill>
                <a:latin typeface="Arial" panose="020B0604020202020204" pitchFamily="34" charset="0"/>
                <a:cs typeface="Arial" panose="020B0604020202020204" pitchFamily="34" charset="0"/>
              </a:rPr>
              <a:t>1</a:t>
            </a:r>
          </a:p>
        </p:txBody>
      </p:sp>
      <p:sp>
        <p:nvSpPr>
          <p:cNvPr id="98" name="Text Box 6">
            <a:extLst>
              <a:ext uri="{FF2B5EF4-FFF2-40B4-BE49-F238E27FC236}">
                <a16:creationId xmlns:a16="http://schemas.microsoft.com/office/drawing/2014/main" id="{A0395162-0D62-5A07-1798-C1802A2A8ACA}"/>
              </a:ext>
            </a:extLst>
          </p:cNvPr>
          <p:cNvSpPr txBox="1">
            <a:spLocks noChangeArrowheads="1"/>
          </p:cNvSpPr>
          <p:nvPr/>
        </p:nvSpPr>
        <p:spPr bwMode="auto">
          <a:xfrm>
            <a:off x="6040438" y="5318125"/>
            <a:ext cx="360362" cy="396875"/>
          </a:xfrm>
          <a:prstGeom prst="rect">
            <a:avLst/>
          </a:prstGeom>
          <a:noFill/>
          <a:ln w="9525">
            <a:noFill/>
            <a:miter lim="800000"/>
            <a:headEnd/>
            <a:tailEnd/>
          </a:ln>
          <a:effectLst>
            <a:prstShdw prst="shdw17" dist="17961" dir="2700000">
              <a:schemeClr val="accent1">
                <a:gamma/>
                <a:shade val="60000"/>
                <a:invGamma/>
              </a:schemeClr>
            </a:prstShdw>
          </a:effec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2000">
                <a:solidFill>
                  <a:srgbClr val="CC0000"/>
                </a:solidFill>
                <a:latin typeface="Arial" panose="020B0604020202020204" pitchFamily="34" charset="0"/>
                <a:cs typeface="Arial" panose="020B0604020202020204" pitchFamily="34" charset="0"/>
              </a:rPr>
              <a:t>1</a:t>
            </a:r>
          </a:p>
        </p:txBody>
      </p:sp>
      <p:sp>
        <p:nvSpPr>
          <p:cNvPr id="99" name="Text Box 7">
            <a:extLst>
              <a:ext uri="{FF2B5EF4-FFF2-40B4-BE49-F238E27FC236}">
                <a16:creationId xmlns:a16="http://schemas.microsoft.com/office/drawing/2014/main" id="{FEB2ED57-9807-19B9-85C3-AB3367DB6958}"/>
              </a:ext>
            </a:extLst>
          </p:cNvPr>
          <p:cNvSpPr txBox="1">
            <a:spLocks noChangeArrowheads="1"/>
          </p:cNvSpPr>
          <p:nvPr/>
        </p:nvSpPr>
        <p:spPr bwMode="auto">
          <a:xfrm>
            <a:off x="4438650" y="5318125"/>
            <a:ext cx="360363" cy="396875"/>
          </a:xfrm>
          <a:prstGeom prst="rect">
            <a:avLst/>
          </a:prstGeom>
          <a:noFill/>
          <a:ln w="9525">
            <a:noFill/>
            <a:miter lim="800000"/>
            <a:headEnd/>
            <a:tailEnd/>
          </a:ln>
          <a:effectLst>
            <a:prstShdw prst="shdw17" dist="17961" dir="2700000">
              <a:schemeClr val="accent1">
                <a:gamma/>
                <a:shade val="60000"/>
                <a:invGamma/>
              </a:schemeClr>
            </a:prstShdw>
          </a:effec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2000">
                <a:solidFill>
                  <a:srgbClr val="CC0000"/>
                </a:solidFill>
                <a:latin typeface="Arial" panose="020B0604020202020204" pitchFamily="34" charset="0"/>
                <a:cs typeface="Arial" panose="020B0604020202020204" pitchFamily="34" charset="0"/>
              </a:rPr>
              <a:t>0</a:t>
            </a:r>
          </a:p>
        </p:txBody>
      </p:sp>
      <p:sp>
        <p:nvSpPr>
          <p:cNvPr id="100" name="Text Box 8">
            <a:extLst>
              <a:ext uri="{FF2B5EF4-FFF2-40B4-BE49-F238E27FC236}">
                <a16:creationId xmlns:a16="http://schemas.microsoft.com/office/drawing/2014/main" id="{CEAAEC59-68B3-A7E3-4E19-560CAC28FDEF}"/>
              </a:ext>
            </a:extLst>
          </p:cNvPr>
          <p:cNvSpPr txBox="1">
            <a:spLocks noChangeArrowheads="1"/>
          </p:cNvSpPr>
          <p:nvPr/>
        </p:nvSpPr>
        <p:spPr bwMode="auto">
          <a:xfrm>
            <a:off x="7697788" y="5318125"/>
            <a:ext cx="360362" cy="396875"/>
          </a:xfrm>
          <a:prstGeom prst="rect">
            <a:avLst/>
          </a:prstGeom>
          <a:noFill/>
          <a:ln w="9525">
            <a:noFill/>
            <a:miter lim="800000"/>
            <a:headEnd/>
            <a:tailEnd/>
          </a:ln>
          <a:effectLst>
            <a:prstShdw prst="shdw17" dist="17961" dir="2700000">
              <a:schemeClr val="accent1">
                <a:gamma/>
                <a:shade val="60000"/>
                <a:invGamma/>
              </a:schemeClr>
            </a:prstShdw>
          </a:effec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2000">
                <a:solidFill>
                  <a:srgbClr val="CC0000"/>
                </a:solidFill>
                <a:latin typeface="Arial" panose="020B0604020202020204" pitchFamily="34" charset="0"/>
                <a:cs typeface="Arial" panose="020B0604020202020204" pitchFamily="34" charset="0"/>
              </a:rPr>
              <a:t>0</a:t>
            </a:r>
          </a:p>
        </p:txBody>
      </p:sp>
      <p:grpSp>
        <p:nvGrpSpPr>
          <p:cNvPr id="20" name="组合 57">
            <a:extLst>
              <a:ext uri="{FF2B5EF4-FFF2-40B4-BE49-F238E27FC236}">
                <a16:creationId xmlns:a16="http://schemas.microsoft.com/office/drawing/2014/main" id="{D19CC55E-0B2B-D9EE-B028-D86C6CA1EF9B}"/>
              </a:ext>
            </a:extLst>
          </p:cNvPr>
          <p:cNvGrpSpPr>
            <a:grpSpLocks/>
          </p:cNvGrpSpPr>
          <p:nvPr/>
        </p:nvGrpSpPr>
        <p:grpSpPr bwMode="auto">
          <a:xfrm>
            <a:off x="1000125" y="4229100"/>
            <a:ext cx="928688" cy="571500"/>
            <a:chOff x="2500298" y="3214686"/>
            <a:chExt cx="928693" cy="571503"/>
          </a:xfrm>
        </p:grpSpPr>
        <p:sp>
          <p:nvSpPr>
            <p:cNvPr id="71" name="椭圆 70">
              <a:extLst>
                <a:ext uri="{FF2B5EF4-FFF2-40B4-BE49-F238E27FC236}">
                  <a16:creationId xmlns:a16="http://schemas.microsoft.com/office/drawing/2014/main" id="{35F291BF-3690-A4D0-E688-831A3DF65CF8}"/>
                </a:ext>
              </a:extLst>
            </p:cNvPr>
            <p:cNvSpPr/>
            <p:nvPr/>
          </p:nvSpPr>
          <p:spPr bwMode="auto">
            <a:xfrm>
              <a:off x="2500298" y="3214686"/>
              <a:ext cx="928693" cy="571503"/>
            </a:xfrm>
            <a:prstGeom prst="ellipse">
              <a:avLst/>
            </a:prstGeom>
            <a:solidFill>
              <a:schemeClr val="bg2">
                <a:lumMod val="10000"/>
                <a:lumOff val="90000"/>
              </a:schemeClr>
            </a:solidFill>
            <a:ln w="9525" cap="flat" cmpd="sng" algn="ctr">
              <a:solidFill>
                <a:schemeClr val="tx2">
                  <a:lumMod val="60000"/>
                  <a:lumOff val="40000"/>
                </a:schemeClr>
              </a:solidFill>
              <a:prstDash val="solid"/>
              <a:miter lim="800000"/>
              <a:headEnd type="none" w="med" len="med"/>
              <a:tailEnd type="none" w="med" len="med"/>
            </a:ln>
            <a:effectLst>
              <a:outerShdw blurRad="50800" dist="38100" dir="18900000" algn="bl" rotWithShape="0">
                <a:prstClr val="black">
                  <a:alpha val="40000"/>
                </a:prstClr>
              </a:outerShdw>
            </a:effectLst>
          </p:spPr>
          <p:txBody>
            <a:bodyPr wrap="none"/>
            <a:lstStyle/>
            <a:p>
              <a:pPr>
                <a:defRPr/>
              </a:pPr>
              <a:endParaRPr lang="zh-CN" altLang="en-US" dirty="0">
                <a:ea typeface="宋体" charset="-122"/>
              </a:endParaRPr>
            </a:p>
          </p:txBody>
        </p:sp>
        <p:sp>
          <p:nvSpPr>
            <p:cNvPr id="72" name="矩形 71">
              <a:extLst>
                <a:ext uri="{FF2B5EF4-FFF2-40B4-BE49-F238E27FC236}">
                  <a16:creationId xmlns:a16="http://schemas.microsoft.com/office/drawing/2014/main" id="{4F2E5C89-74CA-75A7-BBFA-24D1F6A1F1B6}"/>
                </a:ext>
              </a:extLst>
            </p:cNvPr>
            <p:cNvSpPr/>
            <p:nvPr/>
          </p:nvSpPr>
          <p:spPr>
            <a:xfrm>
              <a:off x="2566973" y="3257549"/>
              <a:ext cx="804867" cy="461964"/>
            </a:xfrm>
            <a:prstGeom prst="rect">
              <a:avLst/>
            </a:prstGeom>
          </p:spPr>
          <p:txBody>
            <a:bodyPr wrap="none">
              <a:spAutoFit/>
            </a:bodyPr>
            <a:lstStyle/>
            <a:p>
              <a:pPr>
                <a:defRPr/>
              </a:pPr>
              <a:r>
                <a:rPr lang="zh-CN" altLang="en-US" sz="2400" kern="0" dirty="0">
                  <a:solidFill>
                    <a:srgbClr val="0000CC"/>
                  </a:solidFill>
                  <a:effectLst>
                    <a:outerShdw blurRad="38100" dist="38100" dir="2700000" algn="tl">
                      <a:srgbClr val="000000">
                        <a:alpha val="43137"/>
                      </a:srgbClr>
                    </a:outerShdw>
                  </a:effectLst>
                  <a:latin typeface="黑体" pitchFamily="2" charset="-122"/>
                  <a:ea typeface="黑体" pitchFamily="2" charset="-122"/>
                </a:rPr>
                <a:t>举例</a:t>
              </a:r>
              <a:endParaRPr lang="zh-CN" altLang="en-US" sz="2400" dirty="0">
                <a:solidFill>
                  <a:srgbClr val="0000CC"/>
                </a:solidFill>
                <a:effectLst>
                  <a:outerShdw blurRad="38100" dist="38100" dir="2700000" algn="tl">
                    <a:srgbClr val="000000">
                      <a:alpha val="43137"/>
                    </a:srgbClr>
                  </a:outerShdw>
                </a:effectLst>
                <a:latin typeface="黑体" pitchFamily="2" charset="-122"/>
                <a:ea typeface="黑体"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89"/>
                                        </p:tgtEl>
                                        <p:attrNameLst>
                                          <p:attrName>style.visibility</p:attrName>
                                        </p:attrNameLst>
                                      </p:cBhvr>
                                      <p:to>
                                        <p:strVal val="visible"/>
                                      </p:to>
                                    </p:set>
                                    <p:animEffect transition="in" filter="wipe(up)">
                                      <p:cBhvr>
                                        <p:cTn id="7" dur="1000"/>
                                        <p:tgtEl>
                                          <p:spTgt spid="89"/>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91"/>
                                        </p:tgtEl>
                                        <p:attrNameLst>
                                          <p:attrName>style.visibility</p:attrName>
                                        </p:attrNameLst>
                                      </p:cBhvr>
                                      <p:to>
                                        <p:strVal val="visible"/>
                                      </p:to>
                                    </p:set>
                                    <p:animEffect transition="in" filter="wipe(left)">
                                      <p:cBhvr>
                                        <p:cTn id="11" dur="2000"/>
                                        <p:tgtEl>
                                          <p:spTgt spid="9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up)">
                                      <p:cBhvr>
                                        <p:cTn id="16" dur="1000"/>
                                        <p:tgtEl>
                                          <p:spTgt spid="30"/>
                                        </p:tgtEl>
                                      </p:cBhvr>
                                    </p:animEffect>
                                  </p:childTnLst>
                                </p:cTn>
                              </p:par>
                            </p:childTnLst>
                          </p:cTn>
                        </p:par>
                        <p:par>
                          <p:cTn id="17" fill="hold" nodeType="afterGroup">
                            <p:stCondLst>
                              <p:cond delay="1000"/>
                            </p:stCondLst>
                            <p:childTnLst>
                              <p:par>
                                <p:cTn id="18" presetID="22" presetClass="entr" presetSubtype="4"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down)">
                                      <p:cBhvr>
                                        <p:cTn id="20" dur="2000"/>
                                        <p:tgtEl>
                                          <p:spTgt spid="2"/>
                                        </p:tgtEl>
                                      </p:cBhvr>
                                    </p:animEffect>
                                  </p:childTnLst>
                                </p:cTn>
                              </p:par>
                            </p:childTnLst>
                          </p:cTn>
                        </p:par>
                        <p:par>
                          <p:cTn id="21" fill="hold" nodeType="afterGroup">
                            <p:stCondLst>
                              <p:cond delay="3000"/>
                            </p:stCondLst>
                            <p:childTnLst>
                              <p:par>
                                <p:cTn id="22" presetID="22" presetClass="entr" presetSubtype="8" fill="hold" nodeType="after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wipe(left)">
                                      <p:cBhvr>
                                        <p:cTn id="24" dur="2000"/>
                                        <p:tgtEl>
                                          <p:spTgt spid="37"/>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wipe(left)">
                                      <p:cBhvr>
                                        <p:cTn id="29" dur="2000"/>
                                        <p:tgtEl>
                                          <p:spTgt spid="20"/>
                                        </p:tgtEl>
                                      </p:cBhvr>
                                    </p:animEffect>
                                  </p:childTnLst>
                                </p:cTn>
                              </p:par>
                            </p:childTnLst>
                          </p:cTn>
                        </p:par>
                        <p:par>
                          <p:cTn id="30" fill="hold" nodeType="afterGroup">
                            <p:stCondLst>
                              <p:cond delay="2000"/>
                            </p:stCondLst>
                            <p:childTnLst>
                              <p:par>
                                <p:cTn id="31" presetID="22" presetClass="entr" presetSubtype="1" fill="hold" nodeType="afterEffect">
                                  <p:stCondLst>
                                    <p:cond delay="0"/>
                                  </p:stCondLst>
                                  <p:childTnLst>
                                    <p:set>
                                      <p:cBhvr>
                                        <p:cTn id="32" dur="1" fill="hold">
                                          <p:stCondLst>
                                            <p:cond delay="0"/>
                                          </p:stCondLst>
                                        </p:cTn>
                                        <p:tgtEl>
                                          <p:spTgt spid="94">
                                            <p:txEl>
                                              <p:pRg st="0" end="0"/>
                                            </p:txEl>
                                          </p:spTgt>
                                        </p:tgtEl>
                                        <p:attrNameLst>
                                          <p:attrName>style.visibility</p:attrName>
                                        </p:attrNameLst>
                                      </p:cBhvr>
                                      <p:to>
                                        <p:strVal val="visible"/>
                                      </p:to>
                                    </p:set>
                                    <p:animEffect transition="in" filter="wipe(up)">
                                      <p:cBhvr>
                                        <p:cTn id="33" dur="1000"/>
                                        <p:tgtEl>
                                          <p:spTgt spid="94">
                                            <p:txEl>
                                              <p:pRg st="0" end="0"/>
                                            </p:txEl>
                                          </p:spTgt>
                                        </p:tgtEl>
                                      </p:cBhvr>
                                    </p:animEffect>
                                  </p:childTnLst>
                                </p:cTn>
                              </p:par>
                            </p:childTnLst>
                          </p:cTn>
                        </p:par>
                        <p:par>
                          <p:cTn id="34" fill="hold" nodeType="afterGroup">
                            <p:stCondLst>
                              <p:cond delay="3000"/>
                            </p:stCondLst>
                            <p:childTnLst>
                              <p:par>
                                <p:cTn id="35" presetID="22" presetClass="entr" presetSubtype="1" fill="hold" nodeType="afterEffect">
                                  <p:stCondLst>
                                    <p:cond delay="0"/>
                                  </p:stCondLst>
                                  <p:childTnLst>
                                    <p:set>
                                      <p:cBhvr>
                                        <p:cTn id="36" dur="1" fill="hold">
                                          <p:stCondLst>
                                            <p:cond delay="0"/>
                                          </p:stCondLst>
                                        </p:cTn>
                                        <p:tgtEl>
                                          <p:spTgt spid="96"/>
                                        </p:tgtEl>
                                        <p:attrNameLst>
                                          <p:attrName>style.visibility</p:attrName>
                                        </p:attrNameLst>
                                      </p:cBhvr>
                                      <p:to>
                                        <p:strVal val="visible"/>
                                      </p:to>
                                    </p:set>
                                    <p:animEffect transition="in" filter="wipe(up)">
                                      <p:cBhvr>
                                        <p:cTn id="37" dur="2000"/>
                                        <p:tgtEl>
                                          <p:spTgt spid="96"/>
                                        </p:tgtEl>
                                      </p:cBhvr>
                                    </p:animEffect>
                                  </p:childTnLst>
                                </p:cTn>
                              </p:par>
                            </p:childTnLst>
                          </p:cTn>
                        </p:par>
                        <p:par>
                          <p:cTn id="38" fill="hold" nodeType="afterGroup">
                            <p:stCondLst>
                              <p:cond delay="5000"/>
                            </p:stCondLst>
                            <p:childTnLst>
                              <p:par>
                                <p:cTn id="39" presetID="22" presetClass="entr" presetSubtype="1" fill="hold" nodeType="afterEffect">
                                  <p:stCondLst>
                                    <p:cond delay="0"/>
                                  </p:stCondLst>
                                  <p:childTnLst>
                                    <p:set>
                                      <p:cBhvr>
                                        <p:cTn id="40" dur="1" fill="hold">
                                          <p:stCondLst>
                                            <p:cond delay="0"/>
                                          </p:stCondLst>
                                        </p:cTn>
                                        <p:tgtEl>
                                          <p:spTgt spid="97"/>
                                        </p:tgtEl>
                                        <p:attrNameLst>
                                          <p:attrName>style.visibility</p:attrName>
                                        </p:attrNameLst>
                                      </p:cBhvr>
                                      <p:to>
                                        <p:strVal val="visible"/>
                                      </p:to>
                                    </p:set>
                                    <p:animEffect transition="in" filter="wipe(up)">
                                      <p:cBhvr>
                                        <p:cTn id="41" dur="1000"/>
                                        <p:tgtEl>
                                          <p:spTgt spid="97"/>
                                        </p:tgtEl>
                                      </p:cBhvr>
                                    </p:animEffect>
                                  </p:childTnLst>
                                </p:cTn>
                              </p:par>
                            </p:childTnLst>
                          </p:cTn>
                        </p:par>
                        <p:par>
                          <p:cTn id="42" fill="hold" nodeType="afterGroup">
                            <p:stCondLst>
                              <p:cond delay="6000"/>
                            </p:stCondLst>
                            <p:childTnLst>
                              <p:par>
                                <p:cTn id="43" presetID="22" presetClass="entr" presetSubtype="1" fill="hold" nodeType="afterEffect">
                                  <p:stCondLst>
                                    <p:cond delay="0"/>
                                  </p:stCondLst>
                                  <p:childTnLst>
                                    <p:set>
                                      <p:cBhvr>
                                        <p:cTn id="44" dur="1" fill="hold">
                                          <p:stCondLst>
                                            <p:cond delay="0"/>
                                          </p:stCondLst>
                                        </p:cTn>
                                        <p:tgtEl>
                                          <p:spTgt spid="99"/>
                                        </p:tgtEl>
                                        <p:attrNameLst>
                                          <p:attrName>style.visibility</p:attrName>
                                        </p:attrNameLst>
                                      </p:cBhvr>
                                      <p:to>
                                        <p:strVal val="visible"/>
                                      </p:to>
                                    </p:set>
                                    <p:animEffect transition="in" filter="wipe(up)">
                                      <p:cBhvr>
                                        <p:cTn id="45" dur="2000"/>
                                        <p:tgtEl>
                                          <p:spTgt spid="99"/>
                                        </p:tgtEl>
                                      </p:cBhvr>
                                    </p:animEffect>
                                  </p:childTnLst>
                                </p:cTn>
                              </p:par>
                            </p:childTnLst>
                          </p:cTn>
                        </p:par>
                        <p:par>
                          <p:cTn id="46" fill="hold" nodeType="afterGroup">
                            <p:stCondLst>
                              <p:cond delay="8000"/>
                            </p:stCondLst>
                            <p:childTnLst>
                              <p:par>
                                <p:cTn id="47" presetID="22" presetClass="entr" presetSubtype="1" fill="hold" nodeType="afterEffect">
                                  <p:stCondLst>
                                    <p:cond delay="0"/>
                                  </p:stCondLst>
                                  <p:childTnLst>
                                    <p:set>
                                      <p:cBhvr>
                                        <p:cTn id="48" dur="1" fill="hold">
                                          <p:stCondLst>
                                            <p:cond delay="0"/>
                                          </p:stCondLst>
                                        </p:cTn>
                                        <p:tgtEl>
                                          <p:spTgt spid="98"/>
                                        </p:tgtEl>
                                        <p:attrNameLst>
                                          <p:attrName>style.visibility</p:attrName>
                                        </p:attrNameLst>
                                      </p:cBhvr>
                                      <p:to>
                                        <p:strVal val="visible"/>
                                      </p:to>
                                    </p:set>
                                    <p:animEffect transition="in" filter="wipe(up)">
                                      <p:cBhvr>
                                        <p:cTn id="49" dur="2000"/>
                                        <p:tgtEl>
                                          <p:spTgt spid="98"/>
                                        </p:tgtEl>
                                      </p:cBhvr>
                                    </p:animEffect>
                                  </p:childTnLst>
                                </p:cTn>
                              </p:par>
                            </p:childTnLst>
                          </p:cTn>
                        </p:par>
                        <p:par>
                          <p:cTn id="50" fill="hold" nodeType="afterGroup">
                            <p:stCondLst>
                              <p:cond delay="10000"/>
                            </p:stCondLst>
                            <p:childTnLst>
                              <p:par>
                                <p:cTn id="51" presetID="22" presetClass="entr" presetSubtype="1" fill="hold" nodeType="afterEffect">
                                  <p:stCondLst>
                                    <p:cond delay="0"/>
                                  </p:stCondLst>
                                  <p:childTnLst>
                                    <p:set>
                                      <p:cBhvr>
                                        <p:cTn id="52" dur="1" fill="hold">
                                          <p:stCondLst>
                                            <p:cond delay="0"/>
                                          </p:stCondLst>
                                        </p:cTn>
                                        <p:tgtEl>
                                          <p:spTgt spid="100"/>
                                        </p:tgtEl>
                                        <p:attrNameLst>
                                          <p:attrName>style.visibility</p:attrName>
                                        </p:attrNameLst>
                                      </p:cBhvr>
                                      <p:to>
                                        <p:strVal val="visible"/>
                                      </p:to>
                                    </p:set>
                                    <p:animEffect transition="in" filter="wipe(up)">
                                      <p:cBhvr>
                                        <p:cTn id="53" dur="20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89" grpId="0"/>
      <p:bldP spid="91" grpId="0"/>
      <p:bldP spid="37" grpId="0"/>
      <p:bldP spid="97" grpId="0"/>
      <p:bldP spid="98" grpId="0"/>
      <p:bldP spid="99" grpId="0"/>
      <p:bldP spid="10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7F917A94-2A9D-BFAF-A9AF-DD395961AD6A}"/>
              </a:ext>
            </a:extLst>
          </p:cNvPr>
          <p:cNvSpPr/>
          <p:nvPr/>
        </p:nvSpPr>
        <p:spPr>
          <a:xfrm>
            <a:off x="1114425" y="1214438"/>
            <a:ext cx="7343775" cy="1108075"/>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marL="457200" indent="-457200">
              <a:lnSpc>
                <a:spcPct val="150000"/>
              </a:lnSpc>
              <a:defRPr/>
            </a:pPr>
            <a:r>
              <a:rPr lang="en-US" altLang="zh-CN" sz="2400" dirty="0">
                <a:latin typeface="+mn-ea"/>
                <a:ea typeface="+mn-ea"/>
              </a:rPr>
              <a:t>          </a:t>
            </a:r>
            <a:r>
              <a:rPr lang="zh-CN" altLang="zh-CN" sz="2000" dirty="0">
                <a:latin typeface="微软雅黑" pitchFamily="34" charset="-122"/>
                <a:ea typeface="微软雅黑" pitchFamily="34" charset="-122"/>
              </a:rPr>
              <a:t>搜索若干个周期。</a:t>
            </a:r>
            <a:r>
              <a:rPr lang="zh-CN" altLang="en-US" sz="2000" dirty="0">
                <a:latin typeface="微软雅黑" pitchFamily="34" charset="-122"/>
                <a:ea typeface="微软雅黑" pitchFamily="34" charset="-122"/>
              </a:rPr>
              <a:t>若</a:t>
            </a:r>
            <a:r>
              <a:rPr lang="zh-CN" altLang="zh-CN" sz="2000" dirty="0">
                <a:latin typeface="微软雅黑" pitchFamily="34" charset="-122"/>
                <a:ea typeface="微软雅黑" pitchFamily="34" charset="-122"/>
              </a:rPr>
              <a:t>在同步码的位置上，都满足“</a:t>
            </a:r>
            <a:r>
              <a:rPr lang="en-US" altLang="zh-CN" sz="2000" dirty="0">
                <a:latin typeface="微软雅黑" pitchFamily="34" charset="-122"/>
                <a:ea typeface="微软雅黑" pitchFamily="34" charset="-122"/>
              </a:rPr>
              <a:t>1</a:t>
            </a:r>
            <a:r>
              <a:rPr lang="zh-CN" altLang="zh-CN" sz="2000" dirty="0">
                <a:latin typeface="微软雅黑" pitchFamily="34" charset="-122"/>
                <a:ea typeface="微软雅黑" pitchFamily="34" charset="-122"/>
              </a:rPr>
              <a:t>”和“</a:t>
            </a:r>
            <a:r>
              <a:rPr lang="en-US" altLang="zh-CN" sz="2000" dirty="0">
                <a:latin typeface="微软雅黑" pitchFamily="34" charset="-122"/>
                <a:ea typeface="微软雅黑" pitchFamily="34" charset="-122"/>
              </a:rPr>
              <a:t>0</a:t>
            </a:r>
            <a:r>
              <a:rPr lang="zh-CN" altLang="zh-CN" sz="2000" dirty="0">
                <a:latin typeface="微软雅黑" pitchFamily="34" charset="-122"/>
                <a:ea typeface="微软雅黑" pitchFamily="34" charset="-122"/>
              </a:rPr>
              <a:t>”交替出现规律时</a:t>
            </a:r>
            <a:r>
              <a:rPr lang="en-US" altLang="zh-CN" sz="2000" dirty="0">
                <a:latin typeface="微软雅黑" pitchFamily="34" charset="-122"/>
                <a:ea typeface="微软雅黑" pitchFamily="34" charset="-122"/>
              </a:rPr>
              <a:t> </a:t>
            </a:r>
            <a:r>
              <a:rPr lang="zh-CN" altLang="zh-CN" sz="2000" dirty="0">
                <a:latin typeface="微软雅黑" pitchFamily="34" charset="-122"/>
                <a:ea typeface="微软雅黑" pitchFamily="34" charset="-122"/>
              </a:rPr>
              <a:t>才确认同步。</a:t>
            </a:r>
            <a:endParaRPr lang="en-US" altLang="zh-CN" sz="1600" dirty="0">
              <a:ea typeface="宋体" charset="-122"/>
            </a:endParaRPr>
          </a:p>
        </p:txBody>
      </p:sp>
      <p:sp>
        <p:nvSpPr>
          <p:cNvPr id="11" name="矩形 10">
            <a:extLst>
              <a:ext uri="{FF2B5EF4-FFF2-40B4-BE49-F238E27FC236}">
                <a16:creationId xmlns:a16="http://schemas.microsoft.com/office/drawing/2014/main" id="{630DD3B1-D9B4-60A9-4B30-665F31C86F0A}"/>
              </a:ext>
            </a:extLst>
          </p:cNvPr>
          <p:cNvSpPr/>
          <p:nvPr/>
        </p:nvSpPr>
        <p:spPr>
          <a:xfrm>
            <a:off x="785813" y="1287463"/>
            <a:ext cx="2071687" cy="469900"/>
          </a:xfrm>
          <a:prstGeom prst="rect">
            <a:avLst/>
          </a:prstGeom>
          <a:noFill/>
        </p:spPr>
        <p:txBody>
          <a:bodyPr>
            <a:spAutoFit/>
          </a:bodyPr>
          <a:lstStyle/>
          <a:p>
            <a:pPr marL="228600" indent="-228600" eaLnBrk="0" hangingPunct="0">
              <a:lnSpc>
                <a:spcPct val="110000"/>
              </a:lnSpc>
              <a:spcBef>
                <a:spcPct val="20000"/>
              </a:spcBef>
              <a:buClr>
                <a:srgbClr val="FF0000"/>
              </a:buClr>
              <a:buSzPct val="85000"/>
              <a:buFont typeface="Wingdings" pitchFamily="2" charset="2"/>
              <a:buChar char="n"/>
              <a:defRPr/>
            </a:pPr>
            <a:r>
              <a:rPr lang="zh-CN" altLang="en-US" sz="2400" b="1" kern="0" dirty="0">
                <a:solidFill>
                  <a:srgbClr val="003399"/>
                </a:solidFill>
                <a:latin typeface="微软雅黑" pitchFamily="34" charset="-122"/>
                <a:ea typeface="微软雅黑" pitchFamily="34" charset="-122"/>
              </a:rPr>
              <a:t> </a:t>
            </a:r>
            <a:r>
              <a:rPr lang="zh-CN" altLang="en-US" sz="2400" b="1" kern="0" dirty="0">
                <a:latin typeface="微软雅黑" pitchFamily="34" charset="-122"/>
                <a:ea typeface="微软雅黑" pitchFamily="34" charset="-122"/>
              </a:rPr>
              <a:t>识别方法：</a:t>
            </a:r>
          </a:p>
        </p:txBody>
      </p:sp>
      <p:grpSp>
        <p:nvGrpSpPr>
          <p:cNvPr id="2" name="组合 6">
            <a:extLst>
              <a:ext uri="{FF2B5EF4-FFF2-40B4-BE49-F238E27FC236}">
                <a16:creationId xmlns:a16="http://schemas.microsoft.com/office/drawing/2014/main" id="{54E93136-EB83-11B1-0B27-120F753C11F3}"/>
              </a:ext>
            </a:extLst>
          </p:cNvPr>
          <p:cNvGrpSpPr>
            <a:grpSpLocks/>
          </p:cNvGrpSpPr>
          <p:nvPr/>
        </p:nvGrpSpPr>
        <p:grpSpPr bwMode="auto">
          <a:xfrm>
            <a:off x="3414713" y="4286250"/>
            <a:ext cx="1943100" cy="969963"/>
            <a:chOff x="3414713" y="4286250"/>
            <a:chExt cx="1943100" cy="969963"/>
          </a:xfrm>
        </p:grpSpPr>
        <p:sp>
          <p:nvSpPr>
            <p:cNvPr id="13" name="矩形 12">
              <a:extLst>
                <a:ext uri="{FF2B5EF4-FFF2-40B4-BE49-F238E27FC236}">
                  <a16:creationId xmlns:a16="http://schemas.microsoft.com/office/drawing/2014/main" id="{A0D88C88-244E-39F6-7E18-36809ADD3124}"/>
                </a:ext>
              </a:extLst>
            </p:cNvPr>
            <p:cNvSpPr/>
            <p:nvPr/>
          </p:nvSpPr>
          <p:spPr>
            <a:xfrm>
              <a:off x="3571875" y="4286250"/>
              <a:ext cx="1785938" cy="969963"/>
            </a:xfrm>
            <a:prstGeom prst="rect">
              <a:avLst/>
            </a:prstGeom>
          </p:spPr>
          <p:txBody>
            <a:bodyPr>
              <a:spAutoFit/>
            </a:bodyPr>
            <a:lstStyle/>
            <a:p>
              <a:pPr>
                <a:lnSpc>
                  <a:spcPts val="3600"/>
                </a:lnSpc>
                <a:defRPr/>
              </a:pPr>
              <a:r>
                <a:rPr lang="zh-CN" altLang="zh-CN" sz="2400" dirty="0">
                  <a:effectLst>
                    <a:outerShdw blurRad="38100" dist="38100" dir="2700000" algn="tl">
                      <a:srgbClr val="000000">
                        <a:alpha val="43137"/>
                      </a:srgbClr>
                    </a:outerShdw>
                  </a:effectLst>
                  <a:latin typeface="微软雅黑" pitchFamily="34" charset="-122"/>
                  <a:ea typeface="微软雅黑" pitchFamily="34" charset="-122"/>
                </a:rPr>
                <a:t>移位搜索法</a:t>
              </a:r>
              <a:r>
                <a:rPr lang="en-US" altLang="zh-CN" sz="2400" dirty="0">
                  <a:effectLst>
                    <a:outerShdw blurRad="38100" dist="38100" dir="2700000" algn="tl">
                      <a:srgbClr val="000000">
                        <a:alpha val="43137"/>
                      </a:srgbClr>
                    </a:outerShdw>
                  </a:effectLst>
                  <a:latin typeface="微软雅黑" pitchFamily="34" charset="-122"/>
                  <a:ea typeface="微软雅黑" pitchFamily="34" charset="-122"/>
                </a:rPr>
                <a:t>                               </a:t>
              </a:r>
              <a:r>
                <a:rPr lang="zh-CN" altLang="zh-CN" sz="2400" dirty="0">
                  <a:effectLst>
                    <a:outerShdw blurRad="38100" dist="38100" dir="2700000" algn="tl">
                      <a:srgbClr val="000000">
                        <a:alpha val="43137"/>
                      </a:srgbClr>
                    </a:outerShdw>
                  </a:effectLst>
                  <a:latin typeface="微软雅黑" pitchFamily="34" charset="-122"/>
                  <a:ea typeface="微软雅黑" pitchFamily="34" charset="-122"/>
                </a:rPr>
                <a:t>存储检测法</a:t>
              </a:r>
              <a:endParaRPr lang="zh-CN" altLang="en-US" sz="2400" dirty="0">
                <a:effectLst>
                  <a:outerShdw blurRad="38100" dist="38100" dir="2700000" algn="tl">
                    <a:srgbClr val="000000">
                      <a:alpha val="43137"/>
                    </a:srgbClr>
                  </a:outerShdw>
                </a:effectLst>
                <a:ea typeface="宋体" charset="-122"/>
              </a:endParaRPr>
            </a:p>
          </p:txBody>
        </p:sp>
        <p:sp>
          <p:nvSpPr>
            <p:cNvPr id="63495" name="左大括号 13">
              <a:extLst>
                <a:ext uri="{FF2B5EF4-FFF2-40B4-BE49-F238E27FC236}">
                  <a16:creationId xmlns:a16="http://schemas.microsoft.com/office/drawing/2014/main" id="{8C05BD1C-9852-0003-A55B-CE37F76FF53C}"/>
                </a:ext>
              </a:extLst>
            </p:cNvPr>
            <p:cNvSpPr>
              <a:spLocks/>
            </p:cNvSpPr>
            <p:nvPr/>
          </p:nvSpPr>
          <p:spPr bwMode="auto">
            <a:xfrm>
              <a:off x="3414713" y="4514850"/>
              <a:ext cx="71437" cy="571500"/>
            </a:xfrm>
            <a:prstGeom prst="leftBrace">
              <a:avLst>
                <a:gd name="adj1" fmla="val 8333"/>
                <a:gd name="adj2" fmla="val 50000"/>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sp>
        <p:nvSpPr>
          <p:cNvPr id="76806" name="矩形 14">
            <a:extLst>
              <a:ext uri="{FF2B5EF4-FFF2-40B4-BE49-F238E27FC236}">
                <a16:creationId xmlns:a16="http://schemas.microsoft.com/office/drawing/2014/main" id="{FDD84971-E375-FFE4-2DA2-6DC0997E29CF}"/>
              </a:ext>
            </a:extLst>
          </p:cNvPr>
          <p:cNvSpPr>
            <a:spLocks noChangeArrowheads="1"/>
          </p:cNvSpPr>
          <p:nvPr/>
        </p:nvSpPr>
        <p:spPr bwMode="auto">
          <a:xfrm>
            <a:off x="1071563" y="3500438"/>
            <a:ext cx="64087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zh-CN" altLang="zh-CN" sz="2000">
                <a:solidFill>
                  <a:srgbClr val="000000"/>
                </a:solidFill>
                <a:latin typeface="微软雅黑" panose="020B0503020204020204" pitchFamily="34" charset="-122"/>
                <a:ea typeface="微软雅黑" panose="020B0503020204020204" pitchFamily="34" charset="-122"/>
              </a:rPr>
              <a:t>目前，多采用软件的方法实现搜索，</a:t>
            </a:r>
            <a:r>
              <a:rPr lang="zh-CN" altLang="en-US" sz="2000">
                <a:solidFill>
                  <a:srgbClr val="000000"/>
                </a:solidFill>
                <a:latin typeface="微软雅黑" panose="020B0503020204020204" pitchFamily="34" charset="-122"/>
                <a:ea typeface="微软雅黑" panose="020B0503020204020204" pitchFamily="34" charset="-122"/>
              </a:rPr>
              <a:t>如：</a:t>
            </a:r>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1000"/>
                                        <p:tgtEl>
                                          <p:spTgt spid="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up)">
                                      <p:cBhvr>
                                        <p:cTn id="12" dur="10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76806"/>
                                        </p:tgtEl>
                                        <p:attrNameLst>
                                          <p:attrName>style.visibility</p:attrName>
                                        </p:attrNameLst>
                                      </p:cBhvr>
                                      <p:to>
                                        <p:strVal val="visible"/>
                                      </p:to>
                                    </p:set>
                                    <p:animEffect transition="in" filter="wipe(up)">
                                      <p:cBhvr>
                                        <p:cTn id="17" dur="1000"/>
                                        <p:tgtEl>
                                          <p:spTgt spid="76806"/>
                                        </p:tgtEl>
                                      </p:cBhvr>
                                    </p:animEffect>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p:bldP spid="7680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6" name="Picture 2">
            <a:extLst>
              <a:ext uri="{FF2B5EF4-FFF2-40B4-BE49-F238E27FC236}">
                <a16:creationId xmlns:a16="http://schemas.microsoft.com/office/drawing/2014/main" id="{F10C660D-DDFB-2025-674F-49E5D5509D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50" y="1071563"/>
            <a:ext cx="6513513" cy="552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72527553-FAE3-79C7-B413-98B8FA961CF8}"/>
              </a:ext>
            </a:extLst>
          </p:cNvPr>
          <p:cNvSpPr/>
          <p:nvPr/>
        </p:nvSpPr>
        <p:spPr>
          <a:xfrm>
            <a:off x="571500" y="1000125"/>
            <a:ext cx="4572000" cy="954088"/>
          </a:xfrm>
          <a:prstGeom prst="rect">
            <a:avLst/>
          </a:prstGeom>
        </p:spPr>
        <p:txBody>
          <a:bodyPr>
            <a:spAutoFit/>
          </a:bodyPr>
          <a:lstStyle/>
          <a:p>
            <a:pPr>
              <a:buClr>
                <a:srgbClr val="0000CC"/>
              </a:buClr>
              <a:buSzPct val="65000"/>
              <a:buFont typeface="Wingdings" pitchFamily="2" charset="2"/>
              <a:buChar char="u"/>
              <a:defRPr/>
            </a:pPr>
            <a:r>
              <a:rPr lang="en-US" altLang="zh-CN" sz="2400" dirty="0">
                <a:solidFill>
                  <a:srgbClr val="000000"/>
                </a:solidFill>
                <a:latin typeface="黑体" pitchFamily="2" charset="-122"/>
                <a:ea typeface="黑体" pitchFamily="2" charset="-122"/>
              </a:rPr>
              <a:t> </a:t>
            </a:r>
            <a:r>
              <a:rPr lang="zh-CN" altLang="zh-CN" sz="2800" dirty="0">
                <a:solidFill>
                  <a:srgbClr val="0000CC"/>
                </a:solidFill>
                <a:effectLst>
                  <a:outerShdw blurRad="38100" dist="38100" dir="2700000" algn="tl">
                    <a:srgbClr val="000000">
                      <a:alpha val="43137"/>
                    </a:srgbClr>
                  </a:outerShdw>
                </a:effectLst>
                <a:latin typeface="黑体" pitchFamily="2" charset="-122"/>
                <a:ea typeface="黑体" pitchFamily="2" charset="-122"/>
              </a:rPr>
              <a:t>移位搜索法</a:t>
            </a:r>
            <a:endParaRPr lang="en-US" altLang="zh-CN" sz="2800" dirty="0">
              <a:solidFill>
                <a:srgbClr val="0000CC"/>
              </a:solidFill>
              <a:effectLst>
                <a:outerShdw blurRad="38100" dist="38100" dir="2700000" algn="tl">
                  <a:srgbClr val="000000">
                    <a:alpha val="43137"/>
                  </a:srgbClr>
                </a:outerShdw>
              </a:effectLst>
              <a:latin typeface="黑体" pitchFamily="2" charset="-122"/>
              <a:ea typeface="黑体" pitchFamily="2" charset="-122"/>
            </a:endParaRPr>
          </a:p>
          <a:p>
            <a:pPr>
              <a:buClr>
                <a:srgbClr val="0000CC"/>
              </a:buClr>
              <a:buSzPct val="65000"/>
              <a:defRPr/>
            </a:pPr>
            <a:r>
              <a:rPr lang="en-US" altLang="zh-CN" sz="2800" dirty="0">
                <a:solidFill>
                  <a:srgbClr val="0000CC"/>
                </a:solidFill>
                <a:effectLst>
                  <a:outerShdw blurRad="38100" dist="38100" dir="2700000" algn="tl">
                    <a:srgbClr val="000000">
                      <a:alpha val="43137"/>
                    </a:srgbClr>
                  </a:outerShdw>
                </a:effectLst>
                <a:latin typeface="黑体" pitchFamily="2" charset="-122"/>
                <a:ea typeface="黑体" pitchFamily="2" charset="-122"/>
              </a:rPr>
              <a:t>    </a:t>
            </a:r>
            <a:r>
              <a:rPr lang="zh-CN" altLang="en-US" sz="2800" dirty="0">
                <a:solidFill>
                  <a:srgbClr val="0000CC"/>
                </a:solidFill>
                <a:effectLst>
                  <a:outerShdw blurRad="38100" dist="38100" dir="2700000" algn="tl">
                    <a:srgbClr val="000000">
                      <a:alpha val="43137"/>
                    </a:srgbClr>
                  </a:outerShdw>
                </a:effectLst>
                <a:latin typeface="黑体" pitchFamily="2" charset="-122"/>
                <a:ea typeface="黑体" pitchFamily="2" charset="-122"/>
              </a:rPr>
              <a:t>流程图</a:t>
            </a:r>
            <a:r>
              <a:rPr lang="en-US" altLang="zh-CN" sz="2800" dirty="0">
                <a:solidFill>
                  <a:srgbClr val="0000CC"/>
                </a:solidFill>
                <a:effectLst>
                  <a:outerShdw blurRad="38100" dist="38100" dir="2700000" algn="tl">
                    <a:srgbClr val="000000">
                      <a:alpha val="43137"/>
                    </a:srgbClr>
                  </a:outerShdw>
                </a:effectLst>
                <a:latin typeface="黑体" pitchFamily="2" charset="-122"/>
                <a:ea typeface="黑体" pitchFamily="2" charset="-122"/>
              </a:rPr>
              <a:t> </a:t>
            </a:r>
            <a:endParaRPr lang="zh-CN" altLang="en-US" sz="2800" dirty="0">
              <a:solidFill>
                <a:srgbClr val="0000CC"/>
              </a:solidFill>
              <a:effectLst>
                <a:outerShdw blurRad="38100" dist="38100" dir="2700000" algn="tl">
                  <a:srgbClr val="000000">
                    <a:alpha val="43137"/>
                  </a:srgbClr>
                </a:outerShdw>
              </a:effectLst>
              <a:latin typeface="黑体" pitchFamily="2" charset="-122"/>
              <a:ea typeface="黑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2000"/>
                                        <p:tgtEl>
                                          <p:spTgt spid="3"/>
                                        </p:tgtEl>
                                      </p:cBhvr>
                                    </p:animEffect>
                                  </p:childTnLst>
                                </p:cTn>
                              </p:par>
                            </p:childTnLst>
                          </p:cTn>
                        </p:par>
                        <p:par>
                          <p:cTn id="8" fill="hold" nodeType="afterGroup">
                            <p:stCondLst>
                              <p:cond delay="2000"/>
                            </p:stCondLst>
                            <p:childTnLst>
                              <p:par>
                                <p:cTn id="9" presetID="22" presetClass="entr" presetSubtype="1" fill="hold" nodeType="afterEffect">
                                  <p:stCondLst>
                                    <p:cond delay="0"/>
                                  </p:stCondLst>
                                  <p:childTnLst>
                                    <p:set>
                                      <p:cBhvr>
                                        <p:cTn id="10" dur="1" fill="hold">
                                          <p:stCondLst>
                                            <p:cond delay="0"/>
                                          </p:stCondLst>
                                        </p:cTn>
                                        <p:tgtEl>
                                          <p:spTgt spid="77826"/>
                                        </p:tgtEl>
                                        <p:attrNameLst>
                                          <p:attrName>style.visibility</p:attrName>
                                        </p:attrNameLst>
                                      </p:cBhvr>
                                      <p:to>
                                        <p:strVal val="visible"/>
                                      </p:to>
                                    </p:set>
                                    <p:animEffect transition="in" filter="wipe(up)">
                                      <p:cBhvr>
                                        <p:cTn id="11" dur="2000"/>
                                        <p:tgtEl>
                                          <p:spTgt spid="778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05213DE-9BDE-72AB-7F63-4FA8925174BC}"/>
              </a:ext>
            </a:extLst>
          </p:cNvPr>
          <p:cNvSpPr/>
          <p:nvPr/>
        </p:nvSpPr>
        <p:spPr>
          <a:xfrm>
            <a:off x="571500" y="1047750"/>
            <a:ext cx="2928938" cy="954088"/>
          </a:xfrm>
          <a:prstGeom prst="rect">
            <a:avLst/>
          </a:prstGeom>
        </p:spPr>
        <p:txBody>
          <a:bodyPr>
            <a:spAutoFit/>
          </a:bodyPr>
          <a:lstStyle/>
          <a:p>
            <a:pPr>
              <a:buClr>
                <a:srgbClr val="0000CC"/>
              </a:buClr>
              <a:buSzPct val="65000"/>
              <a:buFont typeface="Wingdings" pitchFamily="2" charset="2"/>
              <a:buChar char="u"/>
              <a:defRPr/>
            </a:pPr>
            <a:r>
              <a:rPr lang="en-US" altLang="zh-CN" sz="2400" dirty="0">
                <a:solidFill>
                  <a:srgbClr val="0000CC"/>
                </a:solidFill>
                <a:effectLst>
                  <a:outerShdw blurRad="38100" dist="38100" dir="2700000" algn="tl">
                    <a:srgbClr val="000000">
                      <a:alpha val="43137"/>
                    </a:srgbClr>
                  </a:outerShdw>
                </a:effectLst>
                <a:latin typeface="微软雅黑" pitchFamily="34" charset="-122"/>
                <a:ea typeface="微软雅黑" pitchFamily="34" charset="-122"/>
              </a:rPr>
              <a:t>  </a:t>
            </a:r>
            <a:r>
              <a:rPr lang="zh-CN" altLang="zh-CN" sz="2800" dirty="0">
                <a:solidFill>
                  <a:srgbClr val="0000CC"/>
                </a:solidFill>
                <a:effectLst>
                  <a:outerShdw blurRad="38100" dist="38100" dir="2700000" algn="tl">
                    <a:srgbClr val="000000">
                      <a:alpha val="43137"/>
                    </a:srgbClr>
                  </a:outerShdw>
                </a:effectLst>
                <a:latin typeface="黑体" pitchFamily="2" charset="-122"/>
                <a:ea typeface="黑体" pitchFamily="2" charset="-122"/>
              </a:rPr>
              <a:t>存储检测法</a:t>
            </a:r>
            <a:endParaRPr lang="en-US" altLang="zh-CN" sz="2800" dirty="0">
              <a:solidFill>
                <a:srgbClr val="0000CC"/>
              </a:solidFill>
              <a:effectLst>
                <a:outerShdw blurRad="38100" dist="38100" dir="2700000" algn="tl">
                  <a:srgbClr val="000000">
                    <a:alpha val="43137"/>
                  </a:srgbClr>
                </a:outerShdw>
              </a:effectLst>
              <a:latin typeface="黑体" pitchFamily="2" charset="-122"/>
              <a:ea typeface="黑体" pitchFamily="2" charset="-122"/>
            </a:endParaRPr>
          </a:p>
          <a:p>
            <a:pPr>
              <a:buClr>
                <a:srgbClr val="0000CC"/>
              </a:buClr>
              <a:buSzPct val="65000"/>
              <a:defRPr/>
            </a:pPr>
            <a:r>
              <a:rPr lang="en-US" altLang="zh-CN" sz="2800" dirty="0">
                <a:solidFill>
                  <a:srgbClr val="0000CC"/>
                </a:solidFill>
                <a:effectLst>
                  <a:outerShdw blurRad="38100" dist="38100" dir="2700000" algn="tl">
                    <a:srgbClr val="000000">
                      <a:alpha val="43137"/>
                    </a:srgbClr>
                  </a:outerShdw>
                </a:effectLst>
                <a:latin typeface="黑体" pitchFamily="2" charset="-122"/>
                <a:ea typeface="黑体" pitchFamily="2" charset="-122"/>
              </a:rPr>
              <a:t>    </a:t>
            </a:r>
            <a:r>
              <a:rPr lang="zh-CN" altLang="en-US" sz="2800" dirty="0">
                <a:solidFill>
                  <a:srgbClr val="0000CC"/>
                </a:solidFill>
                <a:effectLst>
                  <a:outerShdw blurRad="38100" dist="38100" dir="2700000" algn="tl">
                    <a:srgbClr val="000000">
                      <a:alpha val="43137"/>
                    </a:srgbClr>
                  </a:outerShdw>
                </a:effectLst>
                <a:latin typeface="黑体" pitchFamily="2" charset="-122"/>
                <a:ea typeface="黑体" pitchFamily="2" charset="-122"/>
              </a:rPr>
              <a:t>示意图</a:t>
            </a:r>
            <a:r>
              <a:rPr lang="en-US" altLang="zh-CN" sz="2800" dirty="0">
                <a:solidFill>
                  <a:srgbClr val="0000CC"/>
                </a:solidFill>
                <a:effectLst>
                  <a:outerShdw blurRad="38100" dist="38100" dir="2700000" algn="tl">
                    <a:srgbClr val="000000">
                      <a:alpha val="43137"/>
                    </a:srgbClr>
                  </a:outerShdw>
                </a:effectLst>
                <a:latin typeface="黑体" pitchFamily="2" charset="-122"/>
                <a:ea typeface="黑体" pitchFamily="2" charset="-122"/>
              </a:rPr>
              <a:t> </a:t>
            </a:r>
            <a:endParaRPr lang="zh-CN" altLang="en-US" sz="2800" dirty="0">
              <a:solidFill>
                <a:srgbClr val="0000CC"/>
              </a:solidFill>
              <a:effectLst>
                <a:outerShdw blurRad="38100" dist="38100" dir="2700000" algn="tl">
                  <a:srgbClr val="000000">
                    <a:alpha val="43137"/>
                  </a:srgbClr>
                </a:outerShdw>
              </a:effectLst>
              <a:latin typeface="黑体" pitchFamily="2" charset="-122"/>
              <a:ea typeface="黑体" pitchFamily="2" charset="-122"/>
            </a:endParaRPr>
          </a:p>
        </p:txBody>
      </p:sp>
      <p:pic>
        <p:nvPicPr>
          <p:cNvPr id="78851" name="Picture 29">
            <a:extLst>
              <a:ext uri="{FF2B5EF4-FFF2-40B4-BE49-F238E27FC236}">
                <a16:creationId xmlns:a16="http://schemas.microsoft.com/office/drawing/2014/main" id="{A89C64F5-D1DA-E031-EF94-9FF653CA0A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6875" y="2071688"/>
            <a:ext cx="6834188" cy="3643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Rectangle 102">
            <a:extLst>
              <a:ext uri="{FF2B5EF4-FFF2-40B4-BE49-F238E27FC236}">
                <a16:creationId xmlns:a16="http://schemas.microsoft.com/office/drawing/2014/main" id="{AEF7B3AF-B3A9-93F8-8BEB-FCB671DB5803}"/>
              </a:ext>
            </a:extLst>
          </p:cNvPr>
          <p:cNvSpPr>
            <a:spLocks noChangeArrowheads="1"/>
          </p:cNvSpPr>
          <p:nvPr/>
        </p:nvSpPr>
        <p:spPr bwMode="auto">
          <a:xfrm>
            <a:off x="4643438" y="5734050"/>
            <a:ext cx="2928937"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ct val="140000"/>
              </a:lnSpc>
              <a:buClr>
                <a:srgbClr val="3333CC"/>
              </a:buClr>
              <a:buSzPct val="65000"/>
            </a:pPr>
            <a:r>
              <a:rPr lang="en-US" altLang="zh-CN" sz="2400" i="1">
                <a:latin typeface="Times New Roman" panose="02020603050405020304" pitchFamily="18" charset="0"/>
                <a:ea typeface="微软雅黑" panose="020B0503020204020204" pitchFamily="34" charset="-122"/>
                <a:cs typeface="Times New Roman" panose="02020603050405020304" pitchFamily="18" charset="0"/>
              </a:rPr>
              <a:t>x </a:t>
            </a:r>
            <a:r>
              <a:rPr lang="en-US" altLang="zh-CN" sz="1400">
                <a:latin typeface="Arial" panose="020B0604020202020204" pitchFamily="34" charset="0"/>
                <a:ea typeface="微软雅黑" panose="020B0503020204020204" pitchFamily="34" charset="-122"/>
                <a:cs typeface="Arial" panose="020B0604020202020204" pitchFamily="34" charset="0"/>
              </a:rPr>
              <a:t>—— </a:t>
            </a:r>
            <a:r>
              <a:rPr lang="zh-CN" altLang="en-US" sz="2000">
                <a:cs typeface="Arial" panose="020B0604020202020204" pitchFamily="34" charset="0"/>
              </a:rPr>
              <a:t>码元取值 </a:t>
            </a:r>
            <a:r>
              <a:rPr lang="en-US" altLang="zh-CN" sz="2400">
                <a:cs typeface="Arial" panose="020B0604020202020204" pitchFamily="34" charset="0"/>
              </a:rPr>
              <a:t>1</a:t>
            </a:r>
            <a:r>
              <a:rPr lang="zh-CN" altLang="en-US" sz="2000">
                <a:cs typeface="Arial" panose="020B0604020202020204" pitchFamily="34" charset="0"/>
              </a:rPr>
              <a:t>或</a:t>
            </a:r>
            <a:r>
              <a:rPr lang="en-US" altLang="zh-CN" sz="2400">
                <a:cs typeface="Arial" panose="020B0604020202020204" pitchFamily="34" charset="0"/>
              </a:rPr>
              <a:t>0</a:t>
            </a:r>
          </a:p>
        </p:txBody>
      </p:sp>
      <p:grpSp>
        <p:nvGrpSpPr>
          <p:cNvPr id="3" name="组合 36">
            <a:extLst>
              <a:ext uri="{FF2B5EF4-FFF2-40B4-BE49-F238E27FC236}">
                <a16:creationId xmlns:a16="http://schemas.microsoft.com/office/drawing/2014/main" id="{19E9D574-0951-91B0-399B-FD2D47F482E1}"/>
              </a:ext>
            </a:extLst>
          </p:cNvPr>
          <p:cNvGrpSpPr>
            <a:grpSpLocks/>
          </p:cNvGrpSpPr>
          <p:nvPr/>
        </p:nvGrpSpPr>
        <p:grpSpPr bwMode="auto">
          <a:xfrm>
            <a:off x="1785938" y="5786438"/>
            <a:ext cx="2214562" cy="458787"/>
            <a:chOff x="1714480" y="5182947"/>
            <a:chExt cx="2214578" cy="458780"/>
          </a:xfrm>
        </p:grpSpPr>
        <p:sp>
          <p:nvSpPr>
            <p:cNvPr id="34" name="矩形 33">
              <a:extLst>
                <a:ext uri="{FF2B5EF4-FFF2-40B4-BE49-F238E27FC236}">
                  <a16:creationId xmlns:a16="http://schemas.microsoft.com/office/drawing/2014/main" id="{B98310C7-0046-D825-0B07-ACCDE5555962}"/>
                </a:ext>
              </a:extLst>
            </p:cNvPr>
            <p:cNvSpPr/>
            <p:nvPr/>
          </p:nvSpPr>
          <p:spPr bwMode="auto">
            <a:xfrm>
              <a:off x="1714480" y="5286132"/>
              <a:ext cx="357190" cy="325433"/>
            </a:xfrm>
            <a:prstGeom prst="rect">
              <a:avLst/>
            </a:prstGeom>
            <a:solidFill>
              <a:schemeClr val="bg1">
                <a:lumMod val="75000"/>
              </a:schemeClr>
            </a:solidFill>
            <a:ln w="9525" cap="flat" cmpd="sng" algn="ctr">
              <a:solidFill>
                <a:schemeClr val="bg1">
                  <a:lumMod val="65000"/>
                </a:schemeClr>
              </a:solidFill>
              <a:prstDash val="solid"/>
              <a:miter lim="800000"/>
              <a:headEnd type="none" w="med" len="med"/>
              <a:tailEnd type="none" w="med" len="med"/>
            </a:ln>
            <a:effectLst/>
          </p:spPr>
          <p:txBody>
            <a:bodyPr wrap="none"/>
            <a:lstStyle/>
            <a:p>
              <a:pPr>
                <a:defRPr/>
              </a:pPr>
              <a:endParaRPr lang="zh-CN" altLang="en-US" sz="2400" dirty="0">
                <a:ea typeface="宋体" charset="-122"/>
              </a:endParaRPr>
            </a:p>
          </p:txBody>
        </p:sp>
        <p:sp>
          <p:nvSpPr>
            <p:cNvPr id="65544" name="Rectangle 102">
              <a:extLst>
                <a:ext uri="{FF2B5EF4-FFF2-40B4-BE49-F238E27FC236}">
                  <a16:creationId xmlns:a16="http://schemas.microsoft.com/office/drawing/2014/main" id="{5D026E83-1D3B-C595-8346-2375DC9CB956}"/>
                </a:ext>
              </a:extLst>
            </p:cNvPr>
            <p:cNvSpPr>
              <a:spLocks noChangeArrowheads="1"/>
            </p:cNvSpPr>
            <p:nvPr/>
          </p:nvSpPr>
          <p:spPr bwMode="auto">
            <a:xfrm>
              <a:off x="2071670" y="5182947"/>
              <a:ext cx="1857388" cy="45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ct val="140000"/>
                </a:lnSpc>
                <a:buClr>
                  <a:srgbClr val="3333CC"/>
                </a:buClr>
                <a:buSzPct val="65000"/>
              </a:pPr>
              <a:r>
                <a:rPr lang="en-US" altLang="zh-CN" sz="1400">
                  <a:latin typeface="Arial" panose="020B0604020202020204" pitchFamily="34" charset="0"/>
                  <a:ea typeface="微软雅黑" panose="020B0503020204020204" pitchFamily="34" charset="-122"/>
                  <a:cs typeface="Arial" panose="020B0604020202020204" pitchFamily="34" charset="0"/>
                </a:rPr>
                <a:t>—— </a:t>
              </a:r>
              <a:r>
                <a:rPr lang="zh-CN" altLang="en-US" sz="2000">
                  <a:ea typeface="微软雅黑" panose="020B0503020204020204" pitchFamily="34" charset="-122"/>
                  <a:cs typeface="Arial" panose="020B0604020202020204" pitchFamily="34" charset="0"/>
                </a:rPr>
                <a:t>码元编号</a:t>
              </a:r>
              <a:endParaRPr lang="en-US" altLang="zh-CN" sz="2000">
                <a:ea typeface="微软雅黑" panose="020B0503020204020204" pitchFamily="34" charset="-122"/>
                <a:cs typeface="Arial" panose="020B0604020202020204" pitchFamily="34" charset="0"/>
              </a:endParaRPr>
            </a:p>
          </p:txBody>
        </p:sp>
      </p:grpSp>
      <p:sp>
        <p:nvSpPr>
          <p:cNvPr id="38" name="Rectangle 102">
            <a:extLst>
              <a:ext uri="{FF2B5EF4-FFF2-40B4-BE49-F238E27FC236}">
                <a16:creationId xmlns:a16="http://schemas.microsoft.com/office/drawing/2014/main" id="{296D6A8F-7F43-4B37-030E-015D0108AAD1}"/>
              </a:ext>
            </a:extLst>
          </p:cNvPr>
          <p:cNvSpPr>
            <a:spLocks noChangeArrowheads="1"/>
          </p:cNvSpPr>
          <p:nvPr/>
        </p:nvSpPr>
        <p:spPr bwMode="auto">
          <a:xfrm>
            <a:off x="1428750" y="2857500"/>
            <a:ext cx="785813" cy="908050"/>
          </a:xfrm>
          <a:prstGeom prst="rect">
            <a:avLst/>
          </a:prstGeom>
          <a:noFill/>
          <a:ln w="9525">
            <a:noFill/>
            <a:miter lim="800000"/>
            <a:headEnd/>
            <a:tailEnd/>
          </a:ln>
        </p:spPr>
        <p:txBody>
          <a:bodyPr>
            <a:spAutoFit/>
          </a:bodyPr>
          <a:lstStyle/>
          <a:p>
            <a:pPr marL="457200" indent="-457200">
              <a:lnSpc>
                <a:spcPct val="140000"/>
              </a:lnSpc>
              <a:buClr>
                <a:srgbClr val="3333CC"/>
              </a:buClr>
              <a:buSzPct val="65000"/>
              <a:defRPr/>
            </a:pPr>
            <a:r>
              <a:rPr lang="zh-CN" altLang="en-US" sz="200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cs typeface="Arial" pitchFamily="34" charset="0"/>
              </a:rPr>
              <a:t>先入</a:t>
            </a:r>
            <a:endParaRPr lang="en-US" altLang="zh-CN" sz="200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cs typeface="Arial" pitchFamily="34" charset="0"/>
            </a:endParaRPr>
          </a:p>
          <a:p>
            <a:pPr marL="457200" indent="-457200">
              <a:lnSpc>
                <a:spcPct val="140000"/>
              </a:lnSpc>
              <a:buClr>
                <a:srgbClr val="3333CC"/>
              </a:buClr>
              <a:buSzPct val="65000"/>
              <a:defRPr/>
            </a:pPr>
            <a:r>
              <a:rPr lang="zh-CN" altLang="en-US" sz="200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cs typeface="Arial" pitchFamily="34" charset="0"/>
              </a:rPr>
              <a:t>先出</a:t>
            </a:r>
            <a:endParaRPr lang="en-US" altLang="zh-CN" sz="200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cs typeface="Arial"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2000"/>
                                        <p:tgtEl>
                                          <p:spTgt spid="2"/>
                                        </p:tgtEl>
                                      </p:cBhvr>
                                    </p:animEffect>
                                  </p:childTnLst>
                                </p:cTn>
                              </p:par>
                            </p:childTnLst>
                          </p:cTn>
                        </p:par>
                        <p:par>
                          <p:cTn id="8" fill="hold" nodeType="afterGroup">
                            <p:stCondLst>
                              <p:cond delay="2000"/>
                            </p:stCondLst>
                            <p:childTnLst>
                              <p:par>
                                <p:cTn id="9" presetID="22" presetClass="entr" presetSubtype="1" fill="hold" nodeType="afterEffect">
                                  <p:stCondLst>
                                    <p:cond delay="0"/>
                                  </p:stCondLst>
                                  <p:childTnLst>
                                    <p:set>
                                      <p:cBhvr>
                                        <p:cTn id="10" dur="1" fill="hold">
                                          <p:stCondLst>
                                            <p:cond delay="0"/>
                                          </p:stCondLst>
                                        </p:cTn>
                                        <p:tgtEl>
                                          <p:spTgt spid="78851"/>
                                        </p:tgtEl>
                                        <p:attrNameLst>
                                          <p:attrName>style.visibility</p:attrName>
                                        </p:attrNameLst>
                                      </p:cBhvr>
                                      <p:to>
                                        <p:strVal val="visible"/>
                                      </p:to>
                                    </p:set>
                                    <p:animEffect transition="in" filter="wipe(up)">
                                      <p:cBhvr>
                                        <p:cTn id="11" dur="2000"/>
                                        <p:tgtEl>
                                          <p:spTgt spid="7885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up)">
                                      <p:cBhvr>
                                        <p:cTn id="16" dur="1000"/>
                                        <p:tgtEl>
                                          <p:spTgt spid="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wipe(up)">
                                      <p:cBhvr>
                                        <p:cTn id="21" dur="1000"/>
                                        <p:tgtEl>
                                          <p:spTgt spid="3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wipe(up)">
                                      <p:cBhvr>
                                        <p:cTn id="26" dur="10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5" grpId="0"/>
      <p:bldP spid="38" grpId="0"/>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 name="圆角矩形 29">
            <a:extLst>
              <a:ext uri="{FF2B5EF4-FFF2-40B4-BE49-F238E27FC236}">
                <a16:creationId xmlns:a16="http://schemas.microsoft.com/office/drawing/2014/main" id="{C28DC48C-B127-3F0E-D675-2013009AF943}"/>
              </a:ext>
            </a:extLst>
          </p:cNvPr>
          <p:cNvSpPr/>
          <p:nvPr/>
        </p:nvSpPr>
        <p:spPr bwMode="auto">
          <a:xfrm>
            <a:off x="6929438" y="4429125"/>
            <a:ext cx="1643062" cy="1785938"/>
          </a:xfrm>
          <a:prstGeom prst="roundRect">
            <a:avLst/>
          </a:prstGeom>
          <a:solidFill>
            <a:schemeClr val="bg2">
              <a:lumMod val="10000"/>
              <a:lumOff val="90000"/>
            </a:schemeClr>
          </a:solidFill>
          <a:ln w="9525" cap="flat" cmpd="sng" algn="ctr">
            <a:solidFill>
              <a:schemeClr val="tx2">
                <a:lumMod val="20000"/>
                <a:lumOff val="80000"/>
              </a:schemeClr>
            </a:solidFill>
            <a:prstDash val="solid"/>
            <a:miter lim="800000"/>
            <a:headEnd type="none" w="med" len="med"/>
            <a:tailEnd type="none" w="med" len="med"/>
          </a:ln>
          <a:effectLst>
            <a:outerShdw blurRad="50800" dist="38100" dir="2700000" algn="tl" rotWithShape="0">
              <a:prstClr val="black">
                <a:alpha val="40000"/>
              </a:prstClr>
            </a:outerShdw>
          </a:effectLst>
        </p:spPr>
        <p:txBody>
          <a:bodyPr wrap="none"/>
          <a:lstStyle/>
          <a:p>
            <a:pPr>
              <a:defRPr/>
            </a:pPr>
            <a:endParaRPr lang="zh-CN" altLang="en-US">
              <a:ea typeface="宋体" charset="-122"/>
            </a:endParaRPr>
          </a:p>
        </p:txBody>
      </p:sp>
      <p:sp>
        <p:nvSpPr>
          <p:cNvPr id="54278" name="Rectangle 6">
            <a:extLst>
              <a:ext uri="{FF2B5EF4-FFF2-40B4-BE49-F238E27FC236}">
                <a16:creationId xmlns:a16="http://schemas.microsoft.com/office/drawing/2014/main" id="{E0397962-E449-0EB5-45C3-83A000AD0CE0}"/>
              </a:ext>
            </a:extLst>
          </p:cNvPr>
          <p:cNvSpPr>
            <a:spLocks noChangeArrowheads="1"/>
          </p:cNvSpPr>
          <p:nvPr/>
        </p:nvSpPr>
        <p:spPr bwMode="auto">
          <a:xfrm>
            <a:off x="0" y="0"/>
            <a:ext cx="9144000" cy="0"/>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ea typeface="宋体" charset="-122"/>
            </a:endParaRPr>
          </a:p>
        </p:txBody>
      </p:sp>
      <p:sp>
        <p:nvSpPr>
          <p:cNvPr id="6" name="矩形 5">
            <a:extLst>
              <a:ext uri="{FF2B5EF4-FFF2-40B4-BE49-F238E27FC236}">
                <a16:creationId xmlns:a16="http://schemas.microsoft.com/office/drawing/2014/main" id="{9626A836-7D2B-CC5E-D19C-14186A4473A6}"/>
              </a:ext>
            </a:extLst>
          </p:cNvPr>
          <p:cNvSpPr/>
          <p:nvPr/>
        </p:nvSpPr>
        <p:spPr>
          <a:xfrm>
            <a:off x="1571625" y="1214438"/>
            <a:ext cx="6786563" cy="400050"/>
          </a:xfrm>
          <a:prstGeom prst="rect">
            <a:avLst/>
          </a:prstGeom>
          <a:ln>
            <a:noFill/>
          </a:ln>
          <a:effectLst/>
        </p:spPr>
        <p:txBody>
          <a:bodyPr>
            <a:spAutoFit/>
          </a:bodyPr>
          <a:lstStyle/>
          <a:p>
            <a:pPr>
              <a:defRPr/>
            </a:pPr>
            <a:r>
              <a:rPr lang="zh-CN" altLang="en-US" sz="2000" kern="0" dirty="0">
                <a:solidFill>
                  <a:srgbClr val="003399"/>
                </a:solidFill>
                <a:effectLst>
                  <a:outerShdw blurRad="38100" dist="38100" dir="2700000" algn="tl">
                    <a:srgbClr val="000000">
                      <a:alpha val="43137"/>
                    </a:srgbClr>
                  </a:outerShdw>
                </a:effectLst>
                <a:latin typeface="Times New Roman" pitchFamily="18" charset="0"/>
                <a:ea typeface="微软雅黑" pitchFamily="34" charset="-122"/>
                <a:cs typeface="Times New Roman" pitchFamily="18" charset="0"/>
              </a:rPr>
              <a:t>指标：</a:t>
            </a:r>
            <a:r>
              <a:rPr lang="zh-CN" altLang="en-US" sz="2000" kern="0" dirty="0">
                <a:effectLst>
                  <a:outerShdw blurRad="38100" dist="38100" dir="2700000" algn="tl">
                    <a:srgbClr val="000000">
                      <a:alpha val="43137"/>
                    </a:srgbClr>
                  </a:outerShdw>
                </a:effectLst>
                <a:latin typeface="Times New Roman" pitchFamily="18" charset="0"/>
                <a:ea typeface="微软雅黑" pitchFamily="34" charset="-122"/>
                <a:cs typeface="Times New Roman" pitchFamily="18" charset="0"/>
              </a:rPr>
              <a:t>漏同步概率 </a:t>
            </a:r>
            <a:r>
              <a:rPr lang="zh-CN" altLang="en-US" sz="2000" kern="0" dirty="0">
                <a:effectLst>
                  <a:outerShdw blurRad="38100" dist="38100" dir="2700000" algn="tl">
                    <a:srgbClr val="000000">
                      <a:alpha val="43137"/>
                    </a:srgbClr>
                  </a:outerShdw>
                </a:effectLst>
                <a:latin typeface="+mn-ea"/>
                <a:ea typeface="+mn-ea"/>
                <a:cs typeface="Times New Roman" pitchFamily="18" charset="0"/>
              </a:rPr>
              <a:t>、</a:t>
            </a:r>
            <a:r>
              <a:rPr lang="zh-CN" altLang="en-US" sz="2000" kern="0" dirty="0">
                <a:effectLst>
                  <a:outerShdw blurRad="38100" dist="38100" dir="2700000" algn="tl">
                    <a:srgbClr val="000000">
                      <a:alpha val="43137"/>
                    </a:srgbClr>
                  </a:outerShdw>
                </a:effectLst>
                <a:latin typeface="Times New Roman" pitchFamily="18" charset="0"/>
                <a:ea typeface="微软雅黑" pitchFamily="34" charset="-122"/>
                <a:cs typeface="Times New Roman" pitchFamily="18" charset="0"/>
              </a:rPr>
              <a:t>假同步概率 </a:t>
            </a:r>
            <a:r>
              <a:rPr lang="zh-CN" altLang="en-US" sz="2000" kern="0" dirty="0">
                <a:effectLst>
                  <a:outerShdw blurRad="38100" dist="38100" dir="2700000" algn="tl">
                    <a:srgbClr val="000000">
                      <a:alpha val="43137"/>
                    </a:srgbClr>
                  </a:outerShdw>
                </a:effectLst>
                <a:latin typeface="+mn-ea"/>
                <a:ea typeface="+mn-ea"/>
                <a:cs typeface="Times New Roman" pitchFamily="18" charset="0"/>
              </a:rPr>
              <a:t>、</a:t>
            </a:r>
            <a:r>
              <a:rPr lang="zh-CN" altLang="en-US" sz="2000" kern="0" dirty="0">
                <a:effectLst>
                  <a:outerShdw blurRad="38100" dist="38100" dir="2700000" algn="tl">
                    <a:srgbClr val="000000">
                      <a:alpha val="43137"/>
                    </a:srgbClr>
                  </a:outerShdw>
                </a:effectLst>
                <a:latin typeface="Times New Roman" pitchFamily="18" charset="0"/>
                <a:ea typeface="微软雅黑" pitchFamily="34" charset="-122"/>
                <a:cs typeface="Times New Roman" pitchFamily="18" charset="0"/>
              </a:rPr>
              <a:t>同步建立时间。</a:t>
            </a:r>
            <a:endParaRPr lang="zh-CN" altLang="en-US" sz="2000" dirty="0">
              <a:effectLst>
                <a:outerShdw blurRad="38100" dist="38100" dir="2700000" algn="tl">
                  <a:srgbClr val="000000">
                    <a:alpha val="43137"/>
                  </a:srgbClr>
                </a:outerShdw>
              </a:effectLst>
              <a:latin typeface="Times New Roman" pitchFamily="18" charset="0"/>
              <a:ea typeface="微软雅黑" pitchFamily="34" charset="-122"/>
              <a:cs typeface="Times New Roman" pitchFamily="18" charset="0"/>
            </a:endParaRPr>
          </a:p>
        </p:txBody>
      </p:sp>
      <p:sp>
        <p:nvSpPr>
          <p:cNvPr id="8" name="矩形 7">
            <a:extLst>
              <a:ext uri="{FF2B5EF4-FFF2-40B4-BE49-F238E27FC236}">
                <a16:creationId xmlns:a16="http://schemas.microsoft.com/office/drawing/2014/main" id="{CF84D8DF-E588-4DD2-6508-35E40FFD251C}"/>
              </a:ext>
            </a:extLst>
          </p:cNvPr>
          <p:cNvSpPr/>
          <p:nvPr/>
        </p:nvSpPr>
        <p:spPr>
          <a:xfrm>
            <a:off x="1071563" y="3257550"/>
            <a:ext cx="7556500" cy="1063625"/>
          </a:xfrm>
          <a:prstGeom prst="rect">
            <a:avLst/>
          </a:prstGeom>
          <a:noFill/>
          <a:ln>
            <a:noFill/>
          </a:ln>
        </p:spPr>
        <p:txBody>
          <a:bodyPr>
            <a:spAutoFit/>
          </a:bodyPr>
          <a:lstStyle/>
          <a:p>
            <a:pPr marL="285750" indent="-285750" eaLnBrk="0" hangingPunct="0">
              <a:lnSpc>
                <a:spcPts val="3500"/>
              </a:lnSpc>
              <a:spcBef>
                <a:spcPct val="20000"/>
              </a:spcBef>
              <a:buClr>
                <a:srgbClr val="FF0000"/>
              </a:buClr>
              <a:buSzPct val="55000"/>
              <a:defRPr/>
            </a:pPr>
            <a:r>
              <a:rPr lang="zh-CN" altLang="en-US" sz="200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设</a:t>
            </a:r>
            <a:r>
              <a:rPr lang="zh-CN" altLang="en-US" sz="2000" kern="0" dirty="0">
                <a:solidFill>
                  <a:srgbClr val="000000"/>
                </a:solidFill>
                <a:latin typeface="Arial" pitchFamily="34" charset="0"/>
                <a:ea typeface="微软雅黑" pitchFamily="34" charset="-122"/>
                <a:cs typeface="Arial" pitchFamily="34" charset="0"/>
              </a:rPr>
              <a:t> </a:t>
            </a:r>
            <a:r>
              <a:rPr lang="en-US" altLang="zh-CN" sz="2400" i="1" kern="0" dirty="0">
                <a:solidFill>
                  <a:srgbClr val="0000CC"/>
                </a:solidFill>
                <a:latin typeface="Arial" pitchFamily="34" charset="0"/>
                <a:ea typeface="微软雅黑" pitchFamily="34" charset="-122"/>
                <a:cs typeface="Arial" pitchFamily="34" charset="0"/>
              </a:rPr>
              <a:t>n</a:t>
            </a:r>
            <a:r>
              <a:rPr lang="en-US" altLang="zh-CN" sz="2400" i="1" kern="0" dirty="0">
                <a:solidFill>
                  <a:srgbClr val="000000"/>
                </a:solidFill>
                <a:latin typeface="Arial" pitchFamily="34" charset="0"/>
                <a:ea typeface="微软雅黑" pitchFamily="34" charset="-122"/>
                <a:cs typeface="Arial" pitchFamily="34" charset="0"/>
              </a:rPr>
              <a:t> </a:t>
            </a:r>
            <a:r>
              <a:rPr lang="en-US" altLang="zh-CN" sz="1200" kern="0" dirty="0">
                <a:solidFill>
                  <a:srgbClr val="000000"/>
                </a:solidFill>
                <a:latin typeface="Arial" pitchFamily="34" charset="0"/>
                <a:ea typeface="微软雅黑" pitchFamily="34" charset="-122"/>
                <a:cs typeface="Arial" pitchFamily="34" charset="0"/>
              </a:rPr>
              <a:t>——</a:t>
            </a:r>
            <a:r>
              <a:rPr lang="zh-CN" altLang="en-US" sz="2000" kern="0" dirty="0">
                <a:solidFill>
                  <a:srgbClr val="000000"/>
                </a:solidFill>
                <a:latin typeface="Arial" pitchFamily="34" charset="0"/>
                <a:ea typeface="微软雅黑" pitchFamily="34" charset="-122"/>
                <a:cs typeface="Arial" pitchFamily="34" charset="0"/>
              </a:rPr>
              <a:t>同步码组的长度，</a:t>
            </a:r>
            <a:r>
              <a:rPr lang="en-US" altLang="zh-CN" sz="2000" kern="0" dirty="0">
                <a:solidFill>
                  <a:srgbClr val="0000CC"/>
                </a:solidFill>
                <a:latin typeface="Arial" pitchFamily="34" charset="0"/>
                <a:ea typeface="微软雅黑" pitchFamily="34" charset="-122"/>
                <a:cs typeface="Arial" pitchFamily="34" charset="0"/>
              </a:rPr>
              <a:t> </a:t>
            </a:r>
            <a:r>
              <a:rPr lang="en-US" altLang="zh-CN" sz="2000" i="1" kern="0" dirty="0">
                <a:solidFill>
                  <a:srgbClr val="0000CC"/>
                </a:solidFill>
                <a:latin typeface="Arial" pitchFamily="34" charset="0"/>
                <a:ea typeface="微软雅黑" pitchFamily="34" charset="-122"/>
                <a:cs typeface="Arial" pitchFamily="34" charset="0"/>
              </a:rPr>
              <a:t>P </a:t>
            </a:r>
            <a:r>
              <a:rPr lang="en-US" altLang="zh-CN" sz="1200" kern="0" dirty="0">
                <a:solidFill>
                  <a:srgbClr val="000000"/>
                </a:solidFill>
                <a:latin typeface="Arial" pitchFamily="34" charset="0"/>
                <a:ea typeface="微软雅黑" pitchFamily="34" charset="-122"/>
                <a:cs typeface="Arial" pitchFamily="34" charset="0"/>
              </a:rPr>
              <a:t>——</a:t>
            </a:r>
            <a:r>
              <a:rPr lang="en-US" altLang="zh-CN" sz="2400" i="1" kern="0" dirty="0">
                <a:solidFill>
                  <a:srgbClr val="000099"/>
                </a:solidFill>
                <a:latin typeface="Arial" pitchFamily="34" charset="0"/>
                <a:ea typeface="微软雅黑" pitchFamily="34" charset="-122"/>
                <a:cs typeface="Arial" pitchFamily="34" charset="0"/>
              </a:rPr>
              <a:t> </a:t>
            </a:r>
            <a:r>
              <a:rPr lang="zh-CN" altLang="en-US" sz="2000" kern="0" dirty="0">
                <a:solidFill>
                  <a:srgbClr val="000000"/>
                </a:solidFill>
                <a:latin typeface="Arial" pitchFamily="34" charset="0"/>
                <a:ea typeface="微软雅黑" pitchFamily="34" charset="-122"/>
                <a:cs typeface="Arial" pitchFamily="34" charset="0"/>
              </a:rPr>
              <a:t>接收码元错误概率</a:t>
            </a:r>
          </a:p>
          <a:p>
            <a:pPr marL="285750" indent="-285750" eaLnBrk="0" hangingPunct="0">
              <a:lnSpc>
                <a:spcPts val="3500"/>
              </a:lnSpc>
              <a:spcBef>
                <a:spcPct val="20000"/>
              </a:spcBef>
              <a:buClr>
                <a:srgbClr val="FF0000"/>
              </a:buClr>
              <a:buSzPct val="55000"/>
              <a:defRPr/>
            </a:pPr>
            <a:r>
              <a:rPr lang="en-US" altLang="zh-CN" sz="2000" kern="0" dirty="0">
                <a:solidFill>
                  <a:srgbClr val="000000"/>
                </a:solidFill>
                <a:latin typeface="Arial" pitchFamily="34" charset="0"/>
                <a:ea typeface="微软雅黑" pitchFamily="34" charset="-122"/>
                <a:cs typeface="Arial" pitchFamily="34" charset="0"/>
              </a:rPr>
              <a:t>    </a:t>
            </a:r>
            <a:r>
              <a:rPr lang="en-US" altLang="zh-CN" sz="2400" i="1" kern="0" dirty="0">
                <a:solidFill>
                  <a:srgbClr val="0000CC"/>
                </a:solidFill>
                <a:latin typeface="Arial" pitchFamily="34" charset="0"/>
                <a:ea typeface="微软雅黑" pitchFamily="34" charset="-122"/>
                <a:cs typeface="Arial" pitchFamily="34" charset="0"/>
              </a:rPr>
              <a:t>m</a:t>
            </a:r>
            <a:r>
              <a:rPr lang="en-US" altLang="zh-CN" sz="2000" i="1" kern="0" dirty="0">
                <a:solidFill>
                  <a:srgbClr val="CC0000"/>
                </a:solidFill>
                <a:latin typeface="Arial" pitchFamily="34" charset="0"/>
                <a:ea typeface="微软雅黑" pitchFamily="34" charset="-122"/>
                <a:cs typeface="Arial" pitchFamily="34" charset="0"/>
              </a:rPr>
              <a:t> </a:t>
            </a:r>
            <a:r>
              <a:rPr lang="en-US" altLang="zh-CN" sz="1200" kern="0" dirty="0">
                <a:solidFill>
                  <a:srgbClr val="000000"/>
                </a:solidFill>
                <a:latin typeface="Arial" pitchFamily="34" charset="0"/>
                <a:ea typeface="微软雅黑" pitchFamily="34" charset="-122"/>
                <a:cs typeface="Arial" pitchFamily="34" charset="0"/>
              </a:rPr>
              <a:t>——</a:t>
            </a:r>
            <a:r>
              <a:rPr lang="zh-CN" altLang="en-US" sz="2000" kern="0" dirty="0">
                <a:solidFill>
                  <a:srgbClr val="000000"/>
                </a:solidFill>
                <a:latin typeface="Arial" pitchFamily="34" charset="0"/>
                <a:ea typeface="微软雅黑" pitchFamily="34" charset="-122"/>
                <a:cs typeface="Arial" pitchFamily="34" charset="0"/>
              </a:rPr>
              <a:t>识别器允许同步码组出现错码的最多个数</a:t>
            </a:r>
            <a:endParaRPr lang="zh-CN" altLang="en-US" sz="200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p:txBody>
      </p:sp>
      <p:graphicFrame>
        <p:nvGraphicFramePr>
          <p:cNvPr id="58372" name="Object 4">
            <a:extLst>
              <a:ext uri="{FF2B5EF4-FFF2-40B4-BE49-F238E27FC236}">
                <a16:creationId xmlns:a16="http://schemas.microsoft.com/office/drawing/2014/main" id="{8E125FA9-F10E-D653-B2C6-1018CEA2C050}"/>
              </a:ext>
            </a:extLst>
          </p:cNvPr>
          <p:cNvGraphicFramePr>
            <a:graphicFrameLocks noChangeAspect="1"/>
          </p:cNvGraphicFramePr>
          <p:nvPr/>
        </p:nvGraphicFramePr>
        <p:xfrm>
          <a:off x="2643188" y="4614863"/>
          <a:ext cx="3703637" cy="1000125"/>
        </p:xfrm>
        <a:graphic>
          <a:graphicData uri="http://schemas.openxmlformats.org/presentationml/2006/ole">
            <mc:AlternateContent xmlns:mc="http://schemas.openxmlformats.org/markup-compatibility/2006">
              <mc:Choice xmlns:v="urn:schemas-microsoft-com:vml" Requires="v">
                <p:oleObj name="Equation" r:id="rId2" imgW="1600200" imgH="431640" progId="Equation.DSMT4">
                  <p:embed/>
                </p:oleObj>
              </mc:Choice>
              <mc:Fallback>
                <p:oleObj name="Equation" r:id="rId2" imgW="1600200" imgH="43164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3188" y="4614863"/>
                        <a:ext cx="3703637" cy="1000125"/>
                      </a:xfrm>
                      <a:prstGeom prst="rect">
                        <a:avLst/>
                      </a:prstGeom>
                      <a:noFill/>
                      <a:ln w="38100" cmpd="dbl">
                        <a:solidFill>
                          <a:srgbClr val="FF575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rgbClr val="993434"/>
                              </a:outerShdw>
                            </a:effectLst>
                          </a14:hiddenEffects>
                        </a:ext>
                      </a:extLst>
                    </p:spPr>
                  </p:pic>
                </p:oleObj>
              </mc:Fallback>
            </mc:AlternateContent>
          </a:graphicData>
        </a:graphic>
      </p:graphicFrame>
      <p:sp>
        <p:nvSpPr>
          <p:cNvPr id="10" name="矩形 4">
            <a:extLst>
              <a:ext uri="{FF2B5EF4-FFF2-40B4-BE49-F238E27FC236}">
                <a16:creationId xmlns:a16="http://schemas.microsoft.com/office/drawing/2014/main" id="{4D0863EB-95AA-19C1-CFF6-9F1C89540F02}"/>
              </a:ext>
            </a:extLst>
          </p:cNvPr>
          <p:cNvSpPr>
            <a:spLocks noChangeArrowheads="1"/>
          </p:cNvSpPr>
          <p:nvPr/>
        </p:nvSpPr>
        <p:spPr bwMode="auto">
          <a:xfrm>
            <a:off x="142875" y="415925"/>
            <a:ext cx="37163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en-US" sz="3200" b="1">
                <a:solidFill>
                  <a:srgbClr val="800080"/>
                </a:solidFill>
                <a:latin typeface="Arial" panose="020B0604020202020204" pitchFamily="34" charset="0"/>
                <a:ea typeface="微软雅黑" panose="020B0503020204020204" pitchFamily="34" charset="-122"/>
                <a:cs typeface="Arial" panose="020B0604020202020204" pitchFamily="34" charset="0"/>
              </a:rPr>
              <a:t>13</a:t>
            </a:r>
            <a:r>
              <a:rPr lang="en-US" altLang="zh-CN" sz="3200" b="1">
                <a:solidFill>
                  <a:srgbClr val="800080"/>
                </a:solidFill>
                <a:latin typeface="Arial" panose="020B0604020202020204" pitchFamily="34" charset="0"/>
                <a:ea typeface="微软雅黑" panose="020B0503020204020204" pitchFamily="34" charset="-122"/>
                <a:cs typeface="Arial" panose="020B0604020202020204" pitchFamily="34" charset="0"/>
              </a:rPr>
              <a:t>.4.4   </a:t>
            </a:r>
            <a:r>
              <a:rPr lang="zh-CN" altLang="en-US" sz="3200" b="1">
                <a:solidFill>
                  <a:srgbClr val="003399"/>
                </a:solidFill>
                <a:latin typeface="微软雅黑" panose="020B0503020204020204" pitchFamily="34" charset="-122"/>
                <a:ea typeface="微软雅黑" panose="020B0503020204020204" pitchFamily="34" charset="-122"/>
                <a:cs typeface="Arial" panose="020B0604020202020204" pitchFamily="34" charset="0"/>
              </a:rPr>
              <a:t>群同步性能</a:t>
            </a:r>
            <a:endParaRPr lang="zh-CN" altLang="en-US" sz="3200" b="1">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11" name="矩形 10">
            <a:extLst>
              <a:ext uri="{FF2B5EF4-FFF2-40B4-BE49-F238E27FC236}">
                <a16:creationId xmlns:a16="http://schemas.microsoft.com/office/drawing/2014/main" id="{CCF90F30-FEC2-C800-FF76-555BEFC4471C}"/>
              </a:ext>
            </a:extLst>
          </p:cNvPr>
          <p:cNvSpPr/>
          <p:nvPr/>
        </p:nvSpPr>
        <p:spPr>
          <a:xfrm>
            <a:off x="728663" y="1930400"/>
            <a:ext cx="3629025" cy="469900"/>
          </a:xfrm>
          <a:prstGeom prst="rect">
            <a:avLst/>
          </a:prstGeom>
          <a:noFill/>
        </p:spPr>
        <p:txBody>
          <a:bodyPr>
            <a:spAutoFit/>
          </a:bodyPr>
          <a:lstStyle/>
          <a:p>
            <a:pPr marL="228600" indent="-228600" eaLnBrk="0" hangingPunct="0">
              <a:lnSpc>
                <a:spcPct val="110000"/>
              </a:lnSpc>
              <a:spcBef>
                <a:spcPct val="20000"/>
              </a:spcBef>
              <a:buClr>
                <a:srgbClr val="FF0000"/>
              </a:buClr>
              <a:buSzPct val="85000"/>
              <a:buFont typeface="Wingdings" pitchFamily="2" charset="2"/>
              <a:buChar char="n"/>
              <a:defRPr/>
            </a:pPr>
            <a:r>
              <a:rPr lang="zh-CN" altLang="en-US" sz="2400" b="1" kern="0" dirty="0">
                <a:solidFill>
                  <a:srgbClr val="003399"/>
                </a:solidFill>
                <a:latin typeface="微软雅黑" pitchFamily="34" charset="-122"/>
                <a:ea typeface="微软雅黑" pitchFamily="34" charset="-122"/>
              </a:rPr>
              <a:t> </a:t>
            </a:r>
            <a:r>
              <a:rPr lang="zh-CN" altLang="en-US" sz="2400" b="1" kern="0" dirty="0">
                <a:latin typeface="Times New Roman" pitchFamily="18" charset="0"/>
                <a:ea typeface="微软雅黑" pitchFamily="34" charset="-122"/>
                <a:cs typeface="Times New Roman" pitchFamily="18" charset="0"/>
              </a:rPr>
              <a:t>漏同步概率 </a:t>
            </a:r>
            <a:r>
              <a:rPr lang="en-US" altLang="zh-CN" sz="2400" b="1" i="1" dirty="0">
                <a:solidFill>
                  <a:srgbClr val="FF0000"/>
                </a:solidFill>
                <a:latin typeface="Times New Roman" pitchFamily="18" charset="0"/>
                <a:ea typeface="微软雅黑" pitchFamily="34" charset="-122"/>
                <a:cs typeface="Times New Roman" pitchFamily="18" charset="0"/>
              </a:rPr>
              <a:t>P</a:t>
            </a:r>
            <a:r>
              <a:rPr lang="en-US" altLang="zh-CN" sz="2400" b="1" i="1" baseline="-25000" dirty="0">
                <a:solidFill>
                  <a:srgbClr val="FF0000"/>
                </a:solidFill>
                <a:latin typeface="Times New Roman" pitchFamily="18" charset="0"/>
                <a:ea typeface="微软雅黑" pitchFamily="34" charset="-122"/>
                <a:cs typeface="Times New Roman" pitchFamily="18" charset="0"/>
              </a:rPr>
              <a:t>l </a:t>
            </a:r>
            <a:endParaRPr lang="zh-CN" altLang="en-US" sz="2400" b="1" kern="0" dirty="0">
              <a:latin typeface="微软雅黑" pitchFamily="34" charset="-122"/>
              <a:ea typeface="微软雅黑" pitchFamily="34" charset="-122"/>
            </a:endParaRPr>
          </a:p>
        </p:txBody>
      </p:sp>
      <p:sp>
        <p:nvSpPr>
          <p:cNvPr id="13" name="Rectangle 4">
            <a:extLst>
              <a:ext uri="{FF2B5EF4-FFF2-40B4-BE49-F238E27FC236}">
                <a16:creationId xmlns:a16="http://schemas.microsoft.com/office/drawing/2014/main" id="{2F44D85A-4590-10F6-A56D-D3EDD180EDD2}"/>
              </a:ext>
            </a:extLst>
          </p:cNvPr>
          <p:cNvSpPr txBox="1">
            <a:spLocks noChangeArrowheads="1"/>
          </p:cNvSpPr>
          <p:nvPr/>
        </p:nvSpPr>
        <p:spPr bwMode="auto">
          <a:xfrm>
            <a:off x="2571750" y="2614613"/>
            <a:ext cx="3857625" cy="428625"/>
          </a:xfrm>
          <a:prstGeom prst="rect">
            <a:avLst/>
          </a:prstGeom>
          <a:solidFill>
            <a:schemeClr val="bg2">
              <a:lumMod val="10000"/>
              <a:lumOff val="90000"/>
            </a:schemeClr>
          </a:solidFill>
          <a:ln w="9525">
            <a:solidFill>
              <a:srgbClr val="FFCCFF"/>
            </a:solidFill>
            <a:miter lim="800000"/>
            <a:headEnd/>
            <a:tailEnd/>
          </a:ln>
          <a:effectLst>
            <a:outerShdw blurRad="50800" dist="38100" dir="2700000" algn="tl" rotWithShape="0">
              <a:prstClr val="black">
                <a:alpha val="40000"/>
              </a:prstClr>
            </a:outerShdw>
          </a:effectLst>
        </p:spPr>
        <p:txBody>
          <a:bodyPr/>
          <a:lstStyle/>
          <a:p>
            <a:pPr marL="342900" indent="-342900" eaLnBrk="0" hangingPunct="0">
              <a:buClr>
                <a:srgbClr val="3333CC"/>
              </a:buClr>
              <a:buSzPct val="65000"/>
              <a:buFont typeface="Wingdings" pitchFamily="2" charset="2"/>
              <a:buNone/>
              <a:defRPr/>
            </a:pPr>
            <a:r>
              <a:rPr lang="zh-CN" altLang="en-US" sz="2000" kern="0" dirty="0">
                <a:latin typeface="微软雅黑" pitchFamily="34" charset="-122"/>
                <a:ea typeface="微软雅黑" pitchFamily="34" charset="-122"/>
              </a:rPr>
              <a:t> 指没有捕捉到同步码组的位置。</a:t>
            </a:r>
            <a:endParaRPr lang="en-US" altLang="zh-CN" sz="2000" kern="0" dirty="0">
              <a:latin typeface="微软雅黑" pitchFamily="34" charset="-122"/>
              <a:ea typeface="微软雅黑" pitchFamily="34" charset="-122"/>
            </a:endParaRPr>
          </a:p>
        </p:txBody>
      </p:sp>
      <p:sp>
        <p:nvSpPr>
          <p:cNvPr id="34831" name="Freeform 10">
            <a:extLst>
              <a:ext uri="{FF2B5EF4-FFF2-40B4-BE49-F238E27FC236}">
                <a16:creationId xmlns:a16="http://schemas.microsoft.com/office/drawing/2014/main" id="{12523F8D-DBF8-71CB-75DB-6FE217EBD8AD}"/>
              </a:ext>
            </a:extLst>
          </p:cNvPr>
          <p:cNvSpPr>
            <a:spLocks/>
          </p:cNvSpPr>
          <p:nvPr/>
        </p:nvSpPr>
        <p:spPr bwMode="auto">
          <a:xfrm rot="4861810" flipH="1">
            <a:off x="1521619" y="2318544"/>
            <a:ext cx="685800" cy="534988"/>
          </a:xfrm>
          <a:custGeom>
            <a:avLst/>
            <a:gdLst>
              <a:gd name="T0" fmla="*/ 2147483647 w 1612"/>
              <a:gd name="T1" fmla="*/ 2147483647 h 1618"/>
              <a:gd name="T2" fmla="*/ 2147483647 w 1612"/>
              <a:gd name="T3" fmla="*/ 2147483647 h 1618"/>
              <a:gd name="T4" fmla="*/ 2147483647 w 1612"/>
              <a:gd name="T5" fmla="*/ 2147483647 h 1618"/>
              <a:gd name="T6" fmla="*/ 2147483647 w 1612"/>
              <a:gd name="T7" fmla="*/ 2147483647 h 1618"/>
              <a:gd name="T8" fmla="*/ 2147483647 w 1612"/>
              <a:gd name="T9" fmla="*/ 2147483647 h 1618"/>
              <a:gd name="T10" fmla="*/ 2147483647 w 1612"/>
              <a:gd name="T11" fmla="*/ 2147483647 h 1618"/>
              <a:gd name="T12" fmla="*/ 2147483647 w 1612"/>
              <a:gd name="T13" fmla="*/ 2147483647 h 1618"/>
              <a:gd name="T14" fmla="*/ 2147483647 w 1612"/>
              <a:gd name="T15" fmla="*/ 0 h 1618"/>
              <a:gd name="T16" fmla="*/ 2147483647 w 1612"/>
              <a:gd name="T17" fmla="*/ 2147483647 h 1618"/>
              <a:gd name="T18" fmla="*/ 2147483647 w 1612"/>
              <a:gd name="T19" fmla="*/ 2147483647 h 1618"/>
              <a:gd name="T20" fmla="*/ 2147483647 w 1612"/>
              <a:gd name="T21" fmla="*/ 2147483647 h 1618"/>
              <a:gd name="T22" fmla="*/ 2147483647 w 1612"/>
              <a:gd name="T23" fmla="*/ 2147483647 h 1618"/>
              <a:gd name="T24" fmla="*/ 2147483647 w 1612"/>
              <a:gd name="T25" fmla="*/ 2147483647 h 1618"/>
              <a:gd name="T26" fmla="*/ 2147483647 w 1612"/>
              <a:gd name="T27" fmla="*/ 2147483647 h 1618"/>
              <a:gd name="T28" fmla="*/ 2147483647 w 1612"/>
              <a:gd name="T29" fmla="*/ 2147483647 h 1618"/>
              <a:gd name="T30" fmla="*/ 2147483647 w 1612"/>
              <a:gd name="T31" fmla="*/ 2147483647 h 1618"/>
              <a:gd name="T32" fmla="*/ 2147483647 w 1612"/>
              <a:gd name="T33" fmla="*/ 2147483647 h 1618"/>
              <a:gd name="T34" fmla="*/ 2147483647 w 1612"/>
              <a:gd name="T35" fmla="*/ 2147483647 h 1618"/>
              <a:gd name="T36" fmla="*/ 2147483647 w 1612"/>
              <a:gd name="T37" fmla="*/ 2147483647 h 1618"/>
              <a:gd name="T38" fmla="*/ 2147483647 w 1612"/>
              <a:gd name="T39" fmla="*/ 2147483647 h 1618"/>
              <a:gd name="T40" fmla="*/ 2147483647 w 1612"/>
              <a:gd name="T41" fmla="*/ 2147483647 h 1618"/>
              <a:gd name="T42" fmla="*/ 2147483647 w 1612"/>
              <a:gd name="T43" fmla="*/ 2147483647 h 1618"/>
              <a:gd name="T44" fmla="*/ 2147483647 w 1612"/>
              <a:gd name="T45" fmla="*/ 2147483647 h 1618"/>
              <a:gd name="T46" fmla="*/ 2147483647 w 1612"/>
              <a:gd name="T47" fmla="*/ 2147483647 h 1618"/>
              <a:gd name="T48" fmla="*/ 2147483647 w 1612"/>
              <a:gd name="T49" fmla="*/ 2147483647 h 1618"/>
              <a:gd name="T50" fmla="*/ 2147483647 w 1612"/>
              <a:gd name="T51" fmla="*/ 2147483647 h 1618"/>
              <a:gd name="T52" fmla="*/ 2147483647 w 1612"/>
              <a:gd name="T53" fmla="*/ 2147483647 h 1618"/>
              <a:gd name="T54" fmla="*/ 2147483647 w 1612"/>
              <a:gd name="T55" fmla="*/ 2147483647 h 1618"/>
              <a:gd name="T56" fmla="*/ 2147483647 w 1612"/>
              <a:gd name="T57" fmla="*/ 2147483647 h 1618"/>
              <a:gd name="T58" fmla="*/ 2147483647 w 1612"/>
              <a:gd name="T59" fmla="*/ 2147483647 h 1618"/>
              <a:gd name="T60" fmla="*/ 2147483647 w 1612"/>
              <a:gd name="T61" fmla="*/ 2147483647 h 1618"/>
              <a:gd name="T62" fmla="*/ 2147483647 w 1612"/>
              <a:gd name="T63" fmla="*/ 2147483647 h 1618"/>
              <a:gd name="T64" fmla="*/ 2147483647 w 1612"/>
              <a:gd name="T65" fmla="*/ 2147483647 h 1618"/>
              <a:gd name="T66" fmla="*/ 2147483647 w 1612"/>
              <a:gd name="T67" fmla="*/ 2147483647 h 1618"/>
              <a:gd name="T68" fmla="*/ 2147483647 w 1612"/>
              <a:gd name="T69" fmla="*/ 2147483647 h 1618"/>
              <a:gd name="T70" fmla="*/ 2147483647 w 1612"/>
              <a:gd name="T71" fmla="*/ 2147483647 h 1618"/>
              <a:gd name="T72" fmla="*/ 2147483647 w 1612"/>
              <a:gd name="T73" fmla="*/ 2147483647 h 1618"/>
              <a:gd name="T74" fmla="*/ 2147483647 w 1612"/>
              <a:gd name="T75" fmla="*/ 2147483647 h 1618"/>
              <a:gd name="T76" fmla="*/ 2147483647 w 1612"/>
              <a:gd name="T77" fmla="*/ 2147483647 h 1618"/>
              <a:gd name="T78" fmla="*/ 2147483647 w 1612"/>
              <a:gd name="T79" fmla="*/ 2147483647 h 1618"/>
              <a:gd name="T80" fmla="*/ 2147483647 w 1612"/>
              <a:gd name="T81" fmla="*/ 2147483647 h 161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612"/>
              <a:gd name="T124" fmla="*/ 0 h 1618"/>
              <a:gd name="T125" fmla="*/ 1612 w 1612"/>
              <a:gd name="T126" fmla="*/ 1618 h 161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612" h="1618">
                <a:moveTo>
                  <a:pt x="464" y="966"/>
                </a:moveTo>
                <a:lnTo>
                  <a:pt x="464" y="966"/>
                </a:lnTo>
                <a:lnTo>
                  <a:pt x="418" y="892"/>
                </a:lnTo>
                <a:lnTo>
                  <a:pt x="378" y="822"/>
                </a:lnTo>
                <a:lnTo>
                  <a:pt x="342" y="754"/>
                </a:lnTo>
                <a:lnTo>
                  <a:pt x="310" y="690"/>
                </a:lnTo>
                <a:lnTo>
                  <a:pt x="280" y="630"/>
                </a:lnTo>
                <a:lnTo>
                  <a:pt x="256" y="572"/>
                </a:lnTo>
                <a:lnTo>
                  <a:pt x="234" y="520"/>
                </a:lnTo>
                <a:lnTo>
                  <a:pt x="214" y="472"/>
                </a:lnTo>
                <a:lnTo>
                  <a:pt x="184" y="390"/>
                </a:lnTo>
                <a:lnTo>
                  <a:pt x="166" y="328"/>
                </a:lnTo>
                <a:lnTo>
                  <a:pt x="156" y="290"/>
                </a:lnTo>
                <a:lnTo>
                  <a:pt x="152" y="276"/>
                </a:lnTo>
                <a:lnTo>
                  <a:pt x="244" y="300"/>
                </a:lnTo>
                <a:lnTo>
                  <a:pt x="34" y="0"/>
                </a:lnTo>
                <a:lnTo>
                  <a:pt x="0" y="396"/>
                </a:lnTo>
                <a:lnTo>
                  <a:pt x="82" y="294"/>
                </a:lnTo>
                <a:lnTo>
                  <a:pt x="86" y="308"/>
                </a:lnTo>
                <a:lnTo>
                  <a:pt x="98" y="350"/>
                </a:lnTo>
                <a:lnTo>
                  <a:pt x="120" y="414"/>
                </a:lnTo>
                <a:lnTo>
                  <a:pt x="152" y="500"/>
                </a:lnTo>
                <a:lnTo>
                  <a:pt x="174" y="550"/>
                </a:lnTo>
                <a:lnTo>
                  <a:pt x="200" y="604"/>
                </a:lnTo>
                <a:lnTo>
                  <a:pt x="228" y="662"/>
                </a:lnTo>
                <a:lnTo>
                  <a:pt x="260" y="722"/>
                </a:lnTo>
                <a:lnTo>
                  <a:pt x="296" y="788"/>
                </a:lnTo>
                <a:lnTo>
                  <a:pt x="336" y="856"/>
                </a:lnTo>
                <a:lnTo>
                  <a:pt x="382" y="926"/>
                </a:lnTo>
                <a:lnTo>
                  <a:pt x="430" y="998"/>
                </a:lnTo>
                <a:lnTo>
                  <a:pt x="472" y="1052"/>
                </a:lnTo>
                <a:lnTo>
                  <a:pt x="514" y="1104"/>
                </a:lnTo>
                <a:lnTo>
                  <a:pt x="558" y="1152"/>
                </a:lnTo>
                <a:lnTo>
                  <a:pt x="602" y="1196"/>
                </a:lnTo>
                <a:lnTo>
                  <a:pt x="650" y="1238"/>
                </a:lnTo>
                <a:lnTo>
                  <a:pt x="696" y="1278"/>
                </a:lnTo>
                <a:lnTo>
                  <a:pt x="744" y="1314"/>
                </a:lnTo>
                <a:lnTo>
                  <a:pt x="794" y="1348"/>
                </a:lnTo>
                <a:lnTo>
                  <a:pt x="842" y="1380"/>
                </a:lnTo>
                <a:lnTo>
                  <a:pt x="892" y="1408"/>
                </a:lnTo>
                <a:lnTo>
                  <a:pt x="942" y="1434"/>
                </a:lnTo>
                <a:lnTo>
                  <a:pt x="990" y="1458"/>
                </a:lnTo>
                <a:lnTo>
                  <a:pt x="1038" y="1480"/>
                </a:lnTo>
                <a:lnTo>
                  <a:pt x="1086" y="1500"/>
                </a:lnTo>
                <a:lnTo>
                  <a:pt x="1134" y="1518"/>
                </a:lnTo>
                <a:lnTo>
                  <a:pt x="1180" y="1534"/>
                </a:lnTo>
                <a:lnTo>
                  <a:pt x="1224" y="1548"/>
                </a:lnTo>
                <a:lnTo>
                  <a:pt x="1268" y="1560"/>
                </a:lnTo>
                <a:lnTo>
                  <a:pt x="1350" y="1580"/>
                </a:lnTo>
                <a:lnTo>
                  <a:pt x="1424" y="1596"/>
                </a:lnTo>
                <a:lnTo>
                  <a:pt x="1486" y="1606"/>
                </a:lnTo>
                <a:lnTo>
                  <a:pt x="1540" y="1612"/>
                </a:lnTo>
                <a:lnTo>
                  <a:pt x="1578" y="1616"/>
                </a:lnTo>
                <a:lnTo>
                  <a:pt x="1612" y="1618"/>
                </a:lnTo>
                <a:lnTo>
                  <a:pt x="1580" y="1616"/>
                </a:lnTo>
                <a:lnTo>
                  <a:pt x="1540" y="1612"/>
                </a:lnTo>
                <a:lnTo>
                  <a:pt x="1488" y="1606"/>
                </a:lnTo>
                <a:lnTo>
                  <a:pt x="1426" y="1594"/>
                </a:lnTo>
                <a:lnTo>
                  <a:pt x="1354" y="1578"/>
                </a:lnTo>
                <a:lnTo>
                  <a:pt x="1274" y="1558"/>
                </a:lnTo>
                <a:lnTo>
                  <a:pt x="1230" y="1544"/>
                </a:lnTo>
                <a:lnTo>
                  <a:pt x="1186" y="1530"/>
                </a:lnTo>
                <a:lnTo>
                  <a:pt x="1142" y="1512"/>
                </a:lnTo>
                <a:lnTo>
                  <a:pt x="1096" y="1494"/>
                </a:lnTo>
                <a:lnTo>
                  <a:pt x="1048" y="1474"/>
                </a:lnTo>
                <a:lnTo>
                  <a:pt x="1002" y="1450"/>
                </a:lnTo>
                <a:lnTo>
                  <a:pt x="954" y="1426"/>
                </a:lnTo>
                <a:lnTo>
                  <a:pt x="906" y="1398"/>
                </a:lnTo>
                <a:lnTo>
                  <a:pt x="858" y="1368"/>
                </a:lnTo>
                <a:lnTo>
                  <a:pt x="810" y="1336"/>
                </a:lnTo>
                <a:lnTo>
                  <a:pt x="764" y="1300"/>
                </a:lnTo>
                <a:lnTo>
                  <a:pt x="718" y="1262"/>
                </a:lnTo>
                <a:lnTo>
                  <a:pt x="672" y="1220"/>
                </a:lnTo>
                <a:lnTo>
                  <a:pt x="626" y="1176"/>
                </a:lnTo>
                <a:lnTo>
                  <a:pt x="584" y="1128"/>
                </a:lnTo>
                <a:lnTo>
                  <a:pt x="542" y="1078"/>
                </a:lnTo>
                <a:lnTo>
                  <a:pt x="502" y="1024"/>
                </a:lnTo>
                <a:lnTo>
                  <a:pt x="464" y="966"/>
                </a:lnTo>
                <a:close/>
              </a:path>
            </a:pathLst>
          </a:custGeom>
          <a:solidFill>
            <a:srgbClr val="9900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cxnSp>
        <p:nvCxnSpPr>
          <p:cNvPr id="34832" name="直接连接符 18">
            <a:extLst>
              <a:ext uri="{FF2B5EF4-FFF2-40B4-BE49-F238E27FC236}">
                <a16:creationId xmlns:a16="http://schemas.microsoft.com/office/drawing/2014/main" id="{3E72F71A-B32F-1C41-8302-66D72A773F0D}"/>
              </a:ext>
            </a:extLst>
          </p:cNvPr>
          <p:cNvCxnSpPr>
            <a:cxnSpLocks noChangeShapeType="1"/>
          </p:cNvCxnSpPr>
          <p:nvPr/>
        </p:nvCxnSpPr>
        <p:spPr bwMode="auto">
          <a:xfrm flipV="1">
            <a:off x="1143000" y="2428875"/>
            <a:ext cx="857250" cy="3175"/>
          </a:xfrm>
          <a:prstGeom prst="line">
            <a:avLst/>
          </a:prstGeom>
          <a:noFill/>
          <a:ln w="28575" algn="ctr">
            <a:solidFill>
              <a:srgbClr val="CC0099"/>
            </a:solidFill>
            <a:round/>
            <a:headEnd/>
            <a:tailEnd/>
          </a:ln>
          <a:extLst>
            <a:ext uri="{909E8E84-426E-40DD-AFC4-6F175D3DCCD1}">
              <a14:hiddenFill xmlns:a14="http://schemas.microsoft.com/office/drawing/2010/main">
                <a:noFill/>
              </a14:hiddenFill>
            </a:ext>
          </a:extLst>
        </p:spPr>
      </p:cxnSp>
      <p:sp>
        <p:nvSpPr>
          <p:cNvPr id="22" name="矩形 21">
            <a:extLst>
              <a:ext uri="{FF2B5EF4-FFF2-40B4-BE49-F238E27FC236}">
                <a16:creationId xmlns:a16="http://schemas.microsoft.com/office/drawing/2014/main" id="{336211B9-9C0C-0C5B-2057-284AFB311A07}"/>
              </a:ext>
            </a:extLst>
          </p:cNvPr>
          <p:cNvSpPr/>
          <p:nvPr/>
        </p:nvSpPr>
        <p:spPr>
          <a:xfrm>
            <a:off x="1071563" y="5886450"/>
            <a:ext cx="3929062" cy="400050"/>
          </a:xfrm>
          <a:prstGeom prst="rect">
            <a:avLst/>
          </a:prstGeom>
        </p:spPr>
        <p:txBody>
          <a:bodyPr>
            <a:spAutoFit/>
          </a:bodyPr>
          <a:lstStyle/>
          <a:p>
            <a:pPr>
              <a:defRPr/>
            </a:pPr>
            <a:r>
              <a:rPr lang="zh-CN" altLang="en-US" sz="200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当 </a:t>
            </a:r>
            <a:r>
              <a:rPr lang="en-US" altLang="zh-CN" sz="2000" i="1" kern="0" dirty="0">
                <a:solidFill>
                  <a:srgbClr val="0000CC"/>
                </a:solidFill>
                <a:latin typeface="Arial" pitchFamily="34" charset="0"/>
                <a:ea typeface="微软雅黑" pitchFamily="34" charset="-122"/>
                <a:cs typeface="Arial" pitchFamily="34" charset="0"/>
              </a:rPr>
              <a:t>m =</a:t>
            </a:r>
            <a:r>
              <a:rPr lang="en-US" altLang="zh-CN" sz="2000" kern="0" dirty="0">
                <a:solidFill>
                  <a:srgbClr val="0000CC"/>
                </a:solidFill>
                <a:latin typeface="Arial" pitchFamily="34" charset="0"/>
                <a:ea typeface="微软雅黑" pitchFamily="34" charset="-122"/>
                <a:cs typeface="Arial" pitchFamily="34" charset="0"/>
              </a:rPr>
              <a:t>0 </a:t>
            </a:r>
            <a:r>
              <a:rPr lang="zh-CN" altLang="en-US" sz="2000" kern="0" dirty="0">
                <a:latin typeface="Arial" pitchFamily="34" charset="0"/>
                <a:ea typeface="微软雅黑" pitchFamily="34" charset="-122"/>
                <a:cs typeface="Arial" pitchFamily="34" charset="0"/>
              </a:rPr>
              <a:t>（不</a:t>
            </a:r>
            <a:r>
              <a:rPr lang="zh-CN" altLang="en-US" sz="2000" kern="0" dirty="0">
                <a:solidFill>
                  <a:srgbClr val="000000"/>
                </a:solidFill>
                <a:latin typeface="Arial" pitchFamily="34" charset="0"/>
                <a:ea typeface="微软雅黑" pitchFamily="34" charset="-122"/>
                <a:cs typeface="Arial" pitchFamily="34" charset="0"/>
              </a:rPr>
              <a:t>允许出错）时</a:t>
            </a:r>
            <a:endParaRPr lang="zh-CN" altLang="en-US" dirty="0">
              <a:ea typeface="宋体" charset="-122"/>
            </a:endParaRPr>
          </a:p>
        </p:txBody>
      </p:sp>
      <p:graphicFrame>
        <p:nvGraphicFramePr>
          <p:cNvPr id="2" name="Object 9">
            <a:extLst>
              <a:ext uri="{FF2B5EF4-FFF2-40B4-BE49-F238E27FC236}">
                <a16:creationId xmlns:a16="http://schemas.microsoft.com/office/drawing/2014/main" id="{46379EE5-AF8C-C915-E523-A2A07B101F03}"/>
              </a:ext>
            </a:extLst>
          </p:cNvPr>
          <p:cNvGraphicFramePr>
            <a:graphicFrameLocks noChangeAspect="1"/>
          </p:cNvGraphicFramePr>
          <p:nvPr/>
        </p:nvGraphicFramePr>
        <p:xfrm>
          <a:off x="4071938" y="5827713"/>
          <a:ext cx="2357437" cy="552450"/>
        </p:xfrm>
        <a:graphic>
          <a:graphicData uri="http://schemas.openxmlformats.org/presentationml/2006/ole">
            <mc:AlternateContent xmlns:mc="http://schemas.openxmlformats.org/markup-compatibility/2006">
              <mc:Choice xmlns:v="urn:schemas-microsoft-com:vml" Requires="v">
                <p:oleObj name="Equation" r:id="rId4" imgW="1028520" imgH="241200" progId="Equation.DSMT4">
                  <p:embed/>
                </p:oleObj>
              </mc:Choice>
              <mc:Fallback>
                <p:oleObj name="Equation" r:id="rId4" imgW="1028520" imgH="241200" progId="Equation.DSMT4">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71938" y="5827713"/>
                        <a:ext cx="2357437" cy="55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mpd="dbl">
                            <a:solidFill>
                              <a:srgbClr val="FF5757"/>
                            </a:solidFill>
                            <a:miter lim="800000"/>
                            <a:headEnd/>
                            <a:tailEnd/>
                          </a14:hiddenLine>
                        </a:ext>
                        <a:ext uri="{AF507438-7753-43E0-B8FC-AC1667EBCBE1}">
                          <a14:hiddenEffects xmlns:a14="http://schemas.microsoft.com/office/drawing/2010/main">
                            <a:effectLst>
                              <a:outerShdw dist="17961" dir="2700000" algn="ctr" rotWithShape="0">
                                <a:srgbClr val="993434"/>
                              </a:outerShdw>
                            </a:effectLst>
                          </a14:hiddenEffects>
                        </a:ext>
                      </a:extLst>
                    </p:spPr>
                  </p:pic>
                </p:oleObj>
              </mc:Fallback>
            </mc:AlternateContent>
          </a:graphicData>
        </a:graphic>
      </p:graphicFrame>
      <p:graphicFrame>
        <p:nvGraphicFramePr>
          <p:cNvPr id="34820" name="Object 10">
            <a:extLst>
              <a:ext uri="{FF2B5EF4-FFF2-40B4-BE49-F238E27FC236}">
                <a16:creationId xmlns:a16="http://schemas.microsoft.com/office/drawing/2014/main" id="{787684AA-E0D7-9377-D525-F959051FE800}"/>
              </a:ext>
            </a:extLst>
          </p:cNvPr>
          <p:cNvGraphicFramePr>
            <a:graphicFrameLocks noChangeAspect="1"/>
          </p:cNvGraphicFramePr>
          <p:nvPr/>
        </p:nvGraphicFramePr>
        <p:xfrm>
          <a:off x="6929438" y="4471988"/>
          <a:ext cx="428625" cy="509587"/>
        </p:xfrm>
        <a:graphic>
          <a:graphicData uri="http://schemas.openxmlformats.org/presentationml/2006/ole">
            <mc:AlternateContent xmlns:mc="http://schemas.openxmlformats.org/markup-compatibility/2006">
              <mc:Choice xmlns:v="urn:schemas-microsoft-com:vml" Requires="v">
                <p:oleObj name="Equation" r:id="rId6" imgW="203040" imgH="241200" progId="Equation.DSMT4">
                  <p:embed/>
                </p:oleObj>
              </mc:Choice>
              <mc:Fallback>
                <p:oleObj name="Equation" r:id="rId6" imgW="203040" imgH="24120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29438" y="4471988"/>
                        <a:ext cx="428625" cy="50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sp>
        <p:nvSpPr>
          <p:cNvPr id="25" name="矩形 24">
            <a:extLst>
              <a:ext uri="{FF2B5EF4-FFF2-40B4-BE49-F238E27FC236}">
                <a16:creationId xmlns:a16="http://schemas.microsoft.com/office/drawing/2014/main" id="{93F9A5F5-C448-30AF-077D-A453A3912119}"/>
              </a:ext>
            </a:extLst>
          </p:cNvPr>
          <p:cNvSpPr/>
          <p:nvPr/>
        </p:nvSpPr>
        <p:spPr>
          <a:xfrm>
            <a:off x="7286625" y="4484688"/>
            <a:ext cx="1262063" cy="779462"/>
          </a:xfrm>
          <a:prstGeom prst="rect">
            <a:avLst/>
          </a:prstGeom>
        </p:spPr>
        <p:txBody>
          <a:bodyPr wrap="none">
            <a:spAutoFit/>
          </a:bodyPr>
          <a:lstStyle/>
          <a:p>
            <a:pPr>
              <a:lnSpc>
                <a:spcPts val="2800"/>
              </a:lnSpc>
              <a:defRPr/>
            </a:pPr>
            <a:r>
              <a:rPr lang="en-US" altLang="zh-CN" sz="1200" kern="0" dirty="0">
                <a:solidFill>
                  <a:srgbClr val="000000"/>
                </a:solidFill>
                <a:latin typeface="Arial" pitchFamily="34" charset="0"/>
                <a:ea typeface="微软雅黑" pitchFamily="34" charset="-122"/>
                <a:cs typeface="Arial" pitchFamily="34" charset="0"/>
              </a:rPr>
              <a:t>——</a:t>
            </a:r>
            <a:r>
              <a:rPr lang="en-US" altLang="zh-CN" sz="2000" kern="0" dirty="0">
                <a:solidFill>
                  <a:srgbClr val="0000CC"/>
                </a:solidFill>
                <a:latin typeface="Arial" pitchFamily="34" charset="0"/>
                <a:ea typeface="微软雅黑" pitchFamily="34" charset="-122"/>
                <a:cs typeface="Arial" pitchFamily="34" charset="0"/>
              </a:rPr>
              <a:t>n</a:t>
            </a:r>
            <a:r>
              <a:rPr lang="zh-CN" altLang="en-US" sz="2000" kern="0" dirty="0">
                <a:solidFill>
                  <a:srgbClr val="000000"/>
                </a:solidFill>
                <a:latin typeface="Arial" pitchFamily="34" charset="0"/>
                <a:ea typeface="微软雅黑" pitchFamily="34" charset="-122"/>
                <a:cs typeface="Arial" pitchFamily="34" charset="0"/>
              </a:rPr>
              <a:t>中取</a:t>
            </a:r>
            <a:r>
              <a:rPr lang="en-US" altLang="zh-CN" sz="2000" kern="0" dirty="0">
                <a:solidFill>
                  <a:srgbClr val="0000CC"/>
                </a:solidFill>
                <a:latin typeface="Arial" pitchFamily="34" charset="0"/>
                <a:ea typeface="微软雅黑" pitchFamily="34" charset="-122"/>
                <a:cs typeface="Arial" pitchFamily="34" charset="0"/>
              </a:rPr>
              <a:t>r</a:t>
            </a:r>
          </a:p>
          <a:p>
            <a:pPr>
              <a:lnSpc>
                <a:spcPts val="2800"/>
              </a:lnSpc>
              <a:defRPr/>
            </a:pPr>
            <a:r>
              <a:rPr lang="zh-CN" altLang="en-US" sz="2000" kern="0" dirty="0">
                <a:solidFill>
                  <a:srgbClr val="000000"/>
                </a:solidFill>
                <a:latin typeface="Arial" pitchFamily="34" charset="0"/>
                <a:ea typeface="微软雅黑" pitchFamily="34" charset="-122"/>
                <a:cs typeface="Arial" pitchFamily="34" charset="0"/>
              </a:rPr>
              <a:t>的组合数</a:t>
            </a:r>
            <a:endParaRPr lang="zh-CN" altLang="en-US" dirty="0">
              <a:ea typeface="宋体" charset="-122"/>
            </a:endParaRPr>
          </a:p>
        </p:txBody>
      </p:sp>
      <p:sp>
        <p:nvSpPr>
          <p:cNvPr id="26" name="矩形 25">
            <a:extLst>
              <a:ext uri="{FF2B5EF4-FFF2-40B4-BE49-F238E27FC236}">
                <a16:creationId xmlns:a16="http://schemas.microsoft.com/office/drawing/2014/main" id="{B35E2632-FCE4-6A01-8CBE-E5FBA542E34B}"/>
              </a:ext>
            </a:extLst>
          </p:cNvPr>
          <p:cNvSpPr/>
          <p:nvPr/>
        </p:nvSpPr>
        <p:spPr>
          <a:xfrm>
            <a:off x="1071563" y="4543425"/>
            <a:ext cx="1538287" cy="400050"/>
          </a:xfrm>
          <a:prstGeom prst="rect">
            <a:avLst/>
          </a:prstGeom>
        </p:spPr>
        <p:txBody>
          <a:bodyPr wrap="none">
            <a:spAutoFit/>
          </a:bodyPr>
          <a:lstStyle/>
          <a:p>
            <a:pPr>
              <a:defRPr/>
            </a:pPr>
            <a:r>
              <a:rPr lang="zh-CN" altLang="en-US" sz="200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则 </a:t>
            </a:r>
            <a:r>
              <a:rPr lang="zh-CN" altLang="en-US" sz="2000" kern="0" dirty="0">
                <a:solidFill>
                  <a:srgbClr val="000000"/>
                </a:solidFill>
                <a:latin typeface="Arial" pitchFamily="34" charset="0"/>
                <a:ea typeface="微软雅黑" pitchFamily="34" charset="-122"/>
                <a:cs typeface="Arial" pitchFamily="34" charset="0"/>
              </a:rPr>
              <a:t>漏概率为</a:t>
            </a:r>
            <a:endParaRPr lang="zh-CN" altLang="en-US" dirty="0">
              <a:ea typeface="宋体" charset="-122"/>
            </a:endParaRPr>
          </a:p>
        </p:txBody>
      </p:sp>
      <p:graphicFrame>
        <p:nvGraphicFramePr>
          <p:cNvPr id="34821" name="Object 5">
            <a:extLst>
              <a:ext uri="{FF2B5EF4-FFF2-40B4-BE49-F238E27FC236}">
                <a16:creationId xmlns:a16="http://schemas.microsoft.com/office/drawing/2014/main" id="{46A56DE8-3BCD-F967-7ED2-1CCE3C4A52BC}"/>
              </a:ext>
            </a:extLst>
          </p:cNvPr>
          <p:cNvGraphicFramePr>
            <a:graphicFrameLocks noChangeAspect="1"/>
          </p:cNvGraphicFramePr>
          <p:nvPr/>
        </p:nvGraphicFramePr>
        <p:xfrm>
          <a:off x="6969125" y="5229225"/>
          <a:ext cx="884238" cy="509588"/>
        </p:xfrm>
        <a:graphic>
          <a:graphicData uri="http://schemas.openxmlformats.org/presentationml/2006/ole">
            <mc:AlternateContent xmlns:mc="http://schemas.openxmlformats.org/markup-compatibility/2006">
              <mc:Choice xmlns:v="urn:schemas-microsoft-com:vml" Requires="v">
                <p:oleObj name="Equation" r:id="rId8" imgW="419040" imgH="241200" progId="Equation.DSMT4">
                  <p:embed/>
                </p:oleObj>
              </mc:Choice>
              <mc:Fallback>
                <p:oleObj name="Equation" r:id="rId8" imgW="419040" imgH="241200"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969125" y="5229225"/>
                        <a:ext cx="884238" cy="50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graphicFrame>
        <p:nvGraphicFramePr>
          <p:cNvPr id="34822" name="Object 12">
            <a:extLst>
              <a:ext uri="{FF2B5EF4-FFF2-40B4-BE49-F238E27FC236}">
                <a16:creationId xmlns:a16="http://schemas.microsoft.com/office/drawing/2014/main" id="{5D6E5278-DA6A-EC6E-87F9-FB70813F9C49}"/>
              </a:ext>
            </a:extLst>
          </p:cNvPr>
          <p:cNvGraphicFramePr>
            <a:graphicFrameLocks noChangeAspect="1"/>
          </p:cNvGraphicFramePr>
          <p:nvPr/>
        </p:nvGraphicFramePr>
        <p:xfrm>
          <a:off x="6958013" y="5715000"/>
          <a:ext cx="938212" cy="509588"/>
        </p:xfrm>
        <a:graphic>
          <a:graphicData uri="http://schemas.openxmlformats.org/presentationml/2006/ole">
            <mc:AlternateContent xmlns:mc="http://schemas.openxmlformats.org/markup-compatibility/2006">
              <mc:Choice xmlns:v="urn:schemas-microsoft-com:vml" Requires="v">
                <p:oleObj name="Equation" r:id="rId10" imgW="444240" imgH="241200" progId="Equation.DSMT4">
                  <p:embed/>
                </p:oleObj>
              </mc:Choice>
              <mc:Fallback>
                <p:oleObj name="Equation" r:id="rId10" imgW="444240" imgH="241200" progId="Equation.DSMT4">
                  <p:embed/>
                  <p:pic>
                    <p:nvPicPr>
                      <p:cNvPr id="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58013" y="5715000"/>
                        <a:ext cx="938212" cy="50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10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10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1000"/>
                                        <p:tgtEl>
                                          <p:spTgt spid="1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4832"/>
                                        </p:tgtEl>
                                        <p:attrNameLst>
                                          <p:attrName>style.visibility</p:attrName>
                                        </p:attrNameLst>
                                      </p:cBhvr>
                                      <p:to>
                                        <p:strVal val="visible"/>
                                      </p:to>
                                    </p:set>
                                    <p:animEffect transition="in" filter="wipe(left)">
                                      <p:cBhvr>
                                        <p:cTn id="22" dur="2000"/>
                                        <p:tgtEl>
                                          <p:spTgt spid="3483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4831"/>
                                        </p:tgtEl>
                                        <p:attrNameLst>
                                          <p:attrName>style.visibility</p:attrName>
                                        </p:attrNameLst>
                                      </p:cBhvr>
                                      <p:to>
                                        <p:strVal val="visible"/>
                                      </p:to>
                                    </p:set>
                                    <p:animEffect transition="in" filter="wipe(left)">
                                      <p:cBhvr>
                                        <p:cTn id="27" dur="1000"/>
                                        <p:tgtEl>
                                          <p:spTgt spid="34831"/>
                                        </p:tgtEl>
                                      </p:cBhvr>
                                    </p:animEffect>
                                  </p:childTnLst>
                                </p:cTn>
                              </p:par>
                            </p:childTnLst>
                          </p:cTn>
                        </p:par>
                        <p:par>
                          <p:cTn id="28" fill="hold" nodeType="afterGroup">
                            <p:stCondLst>
                              <p:cond delay="1000"/>
                            </p:stCondLst>
                            <p:childTnLst>
                              <p:par>
                                <p:cTn id="29" presetID="22" presetClass="entr" presetSubtype="1" fill="hold" nodeType="afterEffect">
                                  <p:stCondLst>
                                    <p:cond delay="0"/>
                                  </p:stCondLst>
                                  <p:childTnLst>
                                    <p:set>
                                      <p:cBhvr>
                                        <p:cTn id="30" dur="1" fill="hold">
                                          <p:stCondLst>
                                            <p:cond delay="0"/>
                                          </p:stCondLst>
                                        </p:cTn>
                                        <p:tgtEl>
                                          <p:spTgt spid="13">
                                            <p:bg/>
                                          </p:spTgt>
                                        </p:tgtEl>
                                        <p:attrNameLst>
                                          <p:attrName>style.visibility</p:attrName>
                                        </p:attrNameLst>
                                      </p:cBhvr>
                                      <p:to>
                                        <p:strVal val="visible"/>
                                      </p:to>
                                    </p:set>
                                    <p:animEffect transition="in" filter="wipe(up)">
                                      <p:cBhvr>
                                        <p:cTn id="31" dur="1000"/>
                                        <p:tgtEl>
                                          <p:spTgt spid="13">
                                            <p:bg/>
                                          </p:spTgt>
                                        </p:tgtEl>
                                      </p:cBhvr>
                                    </p:animEffect>
                                  </p:childTnLst>
                                </p:cTn>
                              </p:par>
                              <p:par>
                                <p:cTn id="32" presetID="22" presetClass="entr" presetSubtype="1" fill="hold" nodeType="withEffect">
                                  <p:stCondLst>
                                    <p:cond delay="0"/>
                                  </p:stCondLst>
                                  <p:childTnLst>
                                    <p:set>
                                      <p:cBhvr>
                                        <p:cTn id="33" dur="1" fill="hold">
                                          <p:stCondLst>
                                            <p:cond delay="0"/>
                                          </p:stCondLst>
                                        </p:cTn>
                                        <p:tgtEl>
                                          <p:spTgt spid="13">
                                            <p:txEl>
                                              <p:pRg st="0" end="0"/>
                                            </p:txEl>
                                          </p:spTgt>
                                        </p:tgtEl>
                                        <p:attrNameLst>
                                          <p:attrName>style.visibility</p:attrName>
                                        </p:attrNameLst>
                                      </p:cBhvr>
                                      <p:to>
                                        <p:strVal val="visible"/>
                                      </p:to>
                                    </p:set>
                                    <p:animEffect transition="in" filter="wipe(up)">
                                      <p:cBhvr>
                                        <p:cTn id="34" dur="1000"/>
                                        <p:tgtEl>
                                          <p:spTgt spid="13">
                                            <p:txEl>
                                              <p:pRg st="0" end="0"/>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wipe(up)">
                                      <p:cBhvr>
                                        <p:cTn id="39" dur="1000"/>
                                        <p:tgtEl>
                                          <p:spTgt spid="8"/>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wipe(left)">
                                      <p:cBhvr>
                                        <p:cTn id="44" dur="1000"/>
                                        <p:tgtEl>
                                          <p:spTgt spid="26"/>
                                        </p:tgtEl>
                                      </p:cBhvr>
                                    </p:animEffect>
                                  </p:childTnLst>
                                </p:cTn>
                              </p:par>
                            </p:childTnLst>
                          </p:cTn>
                        </p:par>
                        <p:par>
                          <p:cTn id="45" fill="hold" nodeType="afterGroup">
                            <p:stCondLst>
                              <p:cond delay="1000"/>
                            </p:stCondLst>
                            <p:childTnLst>
                              <p:par>
                                <p:cTn id="46" presetID="22" presetClass="entr" presetSubtype="8" fill="hold" nodeType="afterEffect">
                                  <p:stCondLst>
                                    <p:cond delay="0"/>
                                  </p:stCondLst>
                                  <p:childTnLst>
                                    <p:set>
                                      <p:cBhvr>
                                        <p:cTn id="47" dur="1" fill="hold">
                                          <p:stCondLst>
                                            <p:cond delay="0"/>
                                          </p:stCondLst>
                                        </p:cTn>
                                        <p:tgtEl>
                                          <p:spTgt spid="58372"/>
                                        </p:tgtEl>
                                        <p:attrNameLst>
                                          <p:attrName>style.visibility</p:attrName>
                                        </p:attrNameLst>
                                      </p:cBhvr>
                                      <p:to>
                                        <p:strVal val="visible"/>
                                      </p:to>
                                    </p:set>
                                    <p:animEffect transition="in" filter="wipe(left)">
                                      <p:cBhvr>
                                        <p:cTn id="48" dur="2000"/>
                                        <p:tgtEl>
                                          <p:spTgt spid="5837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34820"/>
                                        </p:tgtEl>
                                        <p:attrNameLst>
                                          <p:attrName>style.visibility</p:attrName>
                                        </p:attrNameLst>
                                      </p:cBhvr>
                                      <p:to>
                                        <p:strVal val="visible"/>
                                      </p:to>
                                    </p:set>
                                    <p:animEffect transition="in" filter="wipe(left)">
                                      <p:cBhvr>
                                        <p:cTn id="53" dur="1000"/>
                                        <p:tgtEl>
                                          <p:spTgt spid="34820"/>
                                        </p:tgtEl>
                                      </p:cBhvr>
                                    </p:animEffect>
                                  </p:childTnLst>
                                </p:cTn>
                              </p:par>
                            </p:childTnLst>
                          </p:cTn>
                        </p:par>
                        <p:par>
                          <p:cTn id="54" fill="hold" nodeType="afterGroup">
                            <p:stCondLst>
                              <p:cond delay="1000"/>
                            </p:stCondLst>
                            <p:childTnLst>
                              <p:par>
                                <p:cTn id="55" presetID="22" presetClass="entr" presetSubtype="1" fill="hold" nodeType="after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wipe(up)">
                                      <p:cBhvr>
                                        <p:cTn id="57" dur="1000"/>
                                        <p:tgtEl>
                                          <p:spTgt spid="25"/>
                                        </p:tgtEl>
                                      </p:cBhvr>
                                    </p:animEffect>
                                  </p:childTnLst>
                                </p:cTn>
                              </p:par>
                              <p:par>
                                <p:cTn id="58" presetID="22" presetClass="entr" presetSubtype="1" fill="hold" nodeType="with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wipe(up)">
                                      <p:cBhvr>
                                        <p:cTn id="60" dur="1000"/>
                                        <p:tgtEl>
                                          <p:spTgt spid="30"/>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1" fill="hold" nodeType="clickEffect">
                                  <p:stCondLst>
                                    <p:cond delay="0"/>
                                  </p:stCondLst>
                                  <p:childTnLst>
                                    <p:set>
                                      <p:cBhvr>
                                        <p:cTn id="64" dur="1" fill="hold">
                                          <p:stCondLst>
                                            <p:cond delay="0"/>
                                          </p:stCondLst>
                                        </p:cTn>
                                        <p:tgtEl>
                                          <p:spTgt spid="34821"/>
                                        </p:tgtEl>
                                        <p:attrNameLst>
                                          <p:attrName>style.visibility</p:attrName>
                                        </p:attrNameLst>
                                      </p:cBhvr>
                                      <p:to>
                                        <p:strVal val="visible"/>
                                      </p:to>
                                    </p:set>
                                    <p:animEffect transition="in" filter="wipe(up)">
                                      <p:cBhvr>
                                        <p:cTn id="65" dur="1000"/>
                                        <p:tgtEl>
                                          <p:spTgt spid="34821"/>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1" fill="hold" nodeType="clickEffect">
                                  <p:stCondLst>
                                    <p:cond delay="0"/>
                                  </p:stCondLst>
                                  <p:childTnLst>
                                    <p:set>
                                      <p:cBhvr>
                                        <p:cTn id="69" dur="1" fill="hold">
                                          <p:stCondLst>
                                            <p:cond delay="0"/>
                                          </p:stCondLst>
                                        </p:cTn>
                                        <p:tgtEl>
                                          <p:spTgt spid="34822"/>
                                        </p:tgtEl>
                                        <p:attrNameLst>
                                          <p:attrName>style.visibility</p:attrName>
                                        </p:attrNameLst>
                                      </p:cBhvr>
                                      <p:to>
                                        <p:strVal val="visible"/>
                                      </p:to>
                                    </p:set>
                                    <p:animEffect transition="in" filter="wipe(up)">
                                      <p:cBhvr>
                                        <p:cTn id="70" dur="1000"/>
                                        <p:tgtEl>
                                          <p:spTgt spid="34822"/>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wipe(left)">
                                      <p:cBhvr>
                                        <p:cTn id="75" dur="1000"/>
                                        <p:tgtEl>
                                          <p:spTgt spid="22"/>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2"/>
                                        </p:tgtEl>
                                        <p:attrNameLst>
                                          <p:attrName>style.visibility</p:attrName>
                                        </p:attrNameLst>
                                      </p:cBhvr>
                                      <p:to>
                                        <p:strVal val="visible"/>
                                      </p:to>
                                    </p:set>
                                    <p:animEffect transition="in" filter="wipe(left)">
                                      <p:cBhvr>
                                        <p:cTn id="8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6" grpId="0"/>
      <p:bldP spid="8" grpId="0"/>
      <p:bldP spid="10" grpId="0"/>
      <p:bldP spid="11" grpId="0"/>
      <p:bldP spid="13" grpId="0" build="p" animBg="1"/>
      <p:bldP spid="34831" grpId="0" animBg="1"/>
      <p:bldP spid="22" grpId="0"/>
      <p:bldP spid="25" grpId="0"/>
      <p:bldP spid="2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圆角矩形 23">
            <a:extLst>
              <a:ext uri="{FF2B5EF4-FFF2-40B4-BE49-F238E27FC236}">
                <a16:creationId xmlns:a16="http://schemas.microsoft.com/office/drawing/2014/main" id="{C10EC3A5-D894-0FF4-0376-8A8C482FFD29}"/>
              </a:ext>
            </a:extLst>
          </p:cNvPr>
          <p:cNvSpPr/>
          <p:nvPr/>
        </p:nvSpPr>
        <p:spPr bwMode="auto">
          <a:xfrm>
            <a:off x="5672138" y="5014913"/>
            <a:ext cx="2786062" cy="1285875"/>
          </a:xfrm>
          <a:prstGeom prst="roundRect">
            <a:avLst/>
          </a:prstGeom>
          <a:solidFill>
            <a:schemeClr val="bg2">
              <a:lumMod val="10000"/>
              <a:lumOff val="90000"/>
            </a:schemeClr>
          </a:solidFill>
          <a:ln w="9525" cap="flat" cmpd="sng" algn="ctr">
            <a:solidFill>
              <a:schemeClr val="bg1">
                <a:lumMod val="75000"/>
              </a:schemeClr>
            </a:solidFill>
            <a:prstDash val="solid"/>
            <a:miter lim="800000"/>
            <a:headEnd type="none" w="med" len="med"/>
            <a:tailEnd type="none" w="med" len="med"/>
          </a:ln>
          <a:effectLst>
            <a:outerShdw blurRad="50800" dist="38100" dir="2700000" algn="tl" rotWithShape="0">
              <a:prstClr val="black">
                <a:alpha val="40000"/>
              </a:prstClr>
            </a:outerShdw>
          </a:effectLst>
        </p:spPr>
        <p:txBody>
          <a:bodyPr wrap="none"/>
          <a:lstStyle/>
          <a:p>
            <a:pPr>
              <a:defRPr/>
            </a:pPr>
            <a:endParaRPr lang="zh-CN" altLang="en-US">
              <a:ea typeface="宋体" charset="-122"/>
            </a:endParaRPr>
          </a:p>
        </p:txBody>
      </p:sp>
      <p:sp>
        <p:nvSpPr>
          <p:cNvPr id="23" name="圆角矩形 22">
            <a:extLst>
              <a:ext uri="{FF2B5EF4-FFF2-40B4-BE49-F238E27FC236}">
                <a16:creationId xmlns:a16="http://schemas.microsoft.com/office/drawing/2014/main" id="{B40602E7-5286-A7B0-D3D4-84482782F5F4}"/>
              </a:ext>
            </a:extLst>
          </p:cNvPr>
          <p:cNvSpPr/>
          <p:nvPr/>
        </p:nvSpPr>
        <p:spPr bwMode="auto">
          <a:xfrm>
            <a:off x="1357313" y="5114925"/>
            <a:ext cx="1428750" cy="1000125"/>
          </a:xfrm>
          <a:prstGeom prst="roundRect">
            <a:avLst/>
          </a:prstGeom>
          <a:solidFill>
            <a:schemeClr val="bg2">
              <a:lumMod val="10000"/>
              <a:lumOff val="90000"/>
            </a:schemeClr>
          </a:solidFill>
          <a:ln w="9525" cap="flat" cmpd="sng" algn="ctr">
            <a:solidFill>
              <a:schemeClr val="bg1">
                <a:lumMod val="85000"/>
              </a:schemeClr>
            </a:solidFill>
            <a:prstDash val="solid"/>
            <a:miter lim="800000"/>
            <a:headEnd type="none" w="med" len="med"/>
            <a:tailEnd type="none" w="med" len="med"/>
          </a:ln>
          <a:effectLst>
            <a:outerShdw blurRad="50800" dist="38100" dir="2700000" algn="tl" rotWithShape="0">
              <a:prstClr val="black">
                <a:alpha val="40000"/>
              </a:prstClr>
            </a:outerShdw>
          </a:effectLst>
        </p:spPr>
        <p:txBody>
          <a:bodyPr wrap="none"/>
          <a:lstStyle/>
          <a:p>
            <a:pPr>
              <a:defRPr/>
            </a:pPr>
            <a:endParaRPr lang="zh-CN" altLang="en-US">
              <a:ea typeface="宋体" charset="-122"/>
            </a:endParaRPr>
          </a:p>
        </p:txBody>
      </p:sp>
      <p:sp>
        <p:nvSpPr>
          <p:cNvPr id="4" name="矩形 3">
            <a:extLst>
              <a:ext uri="{FF2B5EF4-FFF2-40B4-BE49-F238E27FC236}">
                <a16:creationId xmlns:a16="http://schemas.microsoft.com/office/drawing/2014/main" id="{EB350FD0-C34B-EEA5-7424-148A5DF1FFC8}"/>
              </a:ext>
            </a:extLst>
          </p:cNvPr>
          <p:cNvSpPr/>
          <p:nvPr/>
        </p:nvSpPr>
        <p:spPr>
          <a:xfrm>
            <a:off x="728663" y="1042988"/>
            <a:ext cx="3629025" cy="469900"/>
          </a:xfrm>
          <a:prstGeom prst="rect">
            <a:avLst/>
          </a:prstGeom>
          <a:noFill/>
        </p:spPr>
        <p:txBody>
          <a:bodyPr>
            <a:spAutoFit/>
          </a:bodyPr>
          <a:lstStyle/>
          <a:p>
            <a:pPr marL="228600" indent="-228600" eaLnBrk="0" hangingPunct="0">
              <a:lnSpc>
                <a:spcPct val="110000"/>
              </a:lnSpc>
              <a:spcBef>
                <a:spcPct val="20000"/>
              </a:spcBef>
              <a:buClr>
                <a:srgbClr val="FF0000"/>
              </a:buClr>
              <a:buSzPct val="85000"/>
              <a:buFont typeface="Wingdings" pitchFamily="2" charset="2"/>
              <a:buChar char="n"/>
              <a:defRPr/>
            </a:pPr>
            <a:r>
              <a:rPr lang="zh-CN" altLang="en-US" sz="2400" b="1" kern="0" dirty="0">
                <a:solidFill>
                  <a:srgbClr val="003399"/>
                </a:solidFill>
                <a:latin typeface="微软雅黑" pitchFamily="34" charset="-122"/>
                <a:ea typeface="微软雅黑" pitchFamily="34" charset="-122"/>
              </a:rPr>
              <a:t> </a:t>
            </a:r>
            <a:r>
              <a:rPr lang="zh-CN" altLang="en-US" sz="2400" b="1" kern="0" dirty="0">
                <a:latin typeface="Times New Roman" pitchFamily="18" charset="0"/>
                <a:ea typeface="微软雅黑" pitchFamily="34" charset="-122"/>
                <a:cs typeface="Times New Roman" pitchFamily="18" charset="0"/>
              </a:rPr>
              <a:t>假同步概率 </a:t>
            </a:r>
            <a:r>
              <a:rPr lang="en-US" altLang="zh-CN" sz="2400" b="1" i="1" dirty="0">
                <a:solidFill>
                  <a:srgbClr val="FF0000"/>
                </a:solidFill>
                <a:latin typeface="Times New Roman" pitchFamily="18" charset="0"/>
                <a:ea typeface="微软雅黑" pitchFamily="34" charset="-122"/>
                <a:cs typeface="Times New Roman" pitchFamily="18" charset="0"/>
              </a:rPr>
              <a:t>P</a:t>
            </a:r>
            <a:r>
              <a:rPr lang="en-US" altLang="zh-CN" sz="2400" b="1" i="1" baseline="-25000" dirty="0">
                <a:solidFill>
                  <a:srgbClr val="FF0000"/>
                </a:solidFill>
                <a:latin typeface="Times New Roman" pitchFamily="18" charset="0"/>
                <a:ea typeface="微软雅黑" pitchFamily="34" charset="-122"/>
                <a:cs typeface="Times New Roman" pitchFamily="18" charset="0"/>
              </a:rPr>
              <a:t>f  </a:t>
            </a:r>
            <a:endParaRPr lang="zh-CN" altLang="en-US" sz="2400" b="1" kern="0" dirty="0">
              <a:latin typeface="微软雅黑" pitchFamily="34" charset="-122"/>
              <a:ea typeface="微软雅黑" pitchFamily="34" charset="-122"/>
            </a:endParaRPr>
          </a:p>
        </p:txBody>
      </p:sp>
      <p:sp>
        <p:nvSpPr>
          <p:cNvPr id="5" name="Rectangle 4">
            <a:extLst>
              <a:ext uri="{FF2B5EF4-FFF2-40B4-BE49-F238E27FC236}">
                <a16:creationId xmlns:a16="http://schemas.microsoft.com/office/drawing/2014/main" id="{E8636EF0-1BCA-10ED-6CE3-5DBA60ABF7D8}"/>
              </a:ext>
            </a:extLst>
          </p:cNvPr>
          <p:cNvSpPr txBox="1">
            <a:spLocks noChangeArrowheads="1"/>
          </p:cNvSpPr>
          <p:nvPr/>
        </p:nvSpPr>
        <p:spPr bwMode="auto">
          <a:xfrm>
            <a:off x="2428875" y="1712913"/>
            <a:ext cx="5143500" cy="1001712"/>
          </a:xfrm>
          <a:prstGeom prst="rect">
            <a:avLst/>
          </a:prstGeom>
          <a:solidFill>
            <a:schemeClr val="bg2">
              <a:lumMod val="10000"/>
              <a:lumOff val="90000"/>
            </a:schemeClr>
          </a:solidFill>
          <a:ln w="9525">
            <a:solidFill>
              <a:srgbClr val="FFCCFF"/>
            </a:solidFill>
            <a:miter lim="800000"/>
            <a:headEnd/>
            <a:tailEnd/>
          </a:ln>
          <a:effectLst>
            <a:outerShdw blurRad="50800" dist="38100" dir="2700000" algn="tl" rotWithShape="0">
              <a:prstClr val="black">
                <a:alpha val="40000"/>
              </a:prstClr>
            </a:outerShdw>
          </a:effectLst>
        </p:spPr>
        <p:txBody>
          <a:bodyPr/>
          <a:lstStyle/>
          <a:p>
            <a:pPr>
              <a:lnSpc>
                <a:spcPct val="150000"/>
              </a:lnSpc>
              <a:buClr>
                <a:srgbClr val="CC00CC"/>
              </a:buClr>
              <a:buSzPct val="70000"/>
              <a:buFont typeface="Wingdings" pitchFamily="2" charset="2"/>
              <a:buNone/>
              <a:defRPr/>
            </a:pPr>
            <a:r>
              <a:rPr lang="zh-CN" altLang="en-US" sz="2000" kern="0" dirty="0">
                <a:latin typeface="微软雅黑" pitchFamily="34" charset="-122"/>
                <a:ea typeface="微软雅黑" pitchFamily="34" charset="-122"/>
              </a:rPr>
              <a:t> 指</a:t>
            </a:r>
            <a:r>
              <a:rPr lang="zh-CN" altLang="en-US" sz="2000" dirty="0">
                <a:latin typeface="微软雅黑" pitchFamily="34" charset="-122"/>
                <a:ea typeface="微软雅黑" pitchFamily="34" charset="-122"/>
              </a:rPr>
              <a:t>信息码元中出现与同步码组一样的码组，</a:t>
            </a:r>
            <a:endParaRPr lang="en-US" altLang="zh-CN" sz="2000" dirty="0">
              <a:latin typeface="微软雅黑" pitchFamily="34" charset="-122"/>
              <a:ea typeface="微软雅黑" pitchFamily="34" charset="-122"/>
            </a:endParaRPr>
          </a:p>
          <a:p>
            <a:pPr>
              <a:lnSpc>
                <a:spcPct val="150000"/>
              </a:lnSpc>
              <a:buClr>
                <a:srgbClr val="CC00CC"/>
              </a:buClr>
              <a:buSzPct val="70000"/>
              <a:buFont typeface="Wingdings" pitchFamily="2" charset="2"/>
              <a:buNone/>
              <a:defRPr/>
            </a:pPr>
            <a:r>
              <a:rPr lang="zh-CN" altLang="en-US" sz="2000" dirty="0">
                <a:latin typeface="微软雅黑" pitchFamily="34" charset="-122"/>
                <a:ea typeface="微软雅黑" pitchFamily="34" charset="-122"/>
              </a:rPr>
              <a:t> 而被识别器</a:t>
            </a:r>
            <a:r>
              <a:rPr lang="en-US" altLang="zh-CN" sz="2000" dirty="0">
                <a:latin typeface="微软雅黑" pitchFamily="34" charset="-122"/>
                <a:ea typeface="微软雅黑" pitchFamily="34" charset="-122"/>
              </a:rPr>
              <a:t> </a:t>
            </a:r>
            <a:r>
              <a:rPr lang="zh-CN" altLang="en-US" sz="2000" dirty="0">
                <a:latin typeface="微软雅黑" pitchFamily="34" charset="-122"/>
                <a:ea typeface="微软雅黑" pitchFamily="34" charset="-122"/>
              </a:rPr>
              <a:t>错当成 同步码。</a:t>
            </a:r>
            <a:endParaRPr lang="en-US" altLang="zh-CN" sz="2000" kern="0" dirty="0">
              <a:latin typeface="微软雅黑" pitchFamily="34" charset="-122"/>
              <a:ea typeface="微软雅黑" pitchFamily="34" charset="-122"/>
            </a:endParaRPr>
          </a:p>
        </p:txBody>
      </p:sp>
      <p:sp>
        <p:nvSpPr>
          <p:cNvPr id="35845" name="Freeform 10">
            <a:extLst>
              <a:ext uri="{FF2B5EF4-FFF2-40B4-BE49-F238E27FC236}">
                <a16:creationId xmlns:a16="http://schemas.microsoft.com/office/drawing/2014/main" id="{AA3002CF-F482-692A-28D4-A9DD3F556021}"/>
              </a:ext>
            </a:extLst>
          </p:cNvPr>
          <p:cNvSpPr>
            <a:spLocks/>
          </p:cNvSpPr>
          <p:nvPr/>
        </p:nvSpPr>
        <p:spPr bwMode="auto">
          <a:xfrm rot="5400000" flipH="1">
            <a:off x="1521619" y="1431131"/>
            <a:ext cx="685800" cy="534988"/>
          </a:xfrm>
          <a:custGeom>
            <a:avLst/>
            <a:gdLst>
              <a:gd name="T0" fmla="*/ 2147483647 w 1612"/>
              <a:gd name="T1" fmla="*/ 2147483647 h 1618"/>
              <a:gd name="T2" fmla="*/ 2147483647 w 1612"/>
              <a:gd name="T3" fmla="*/ 2147483647 h 1618"/>
              <a:gd name="T4" fmla="*/ 2147483647 w 1612"/>
              <a:gd name="T5" fmla="*/ 2147483647 h 1618"/>
              <a:gd name="T6" fmla="*/ 2147483647 w 1612"/>
              <a:gd name="T7" fmla="*/ 2147483647 h 1618"/>
              <a:gd name="T8" fmla="*/ 2147483647 w 1612"/>
              <a:gd name="T9" fmla="*/ 2147483647 h 1618"/>
              <a:gd name="T10" fmla="*/ 2147483647 w 1612"/>
              <a:gd name="T11" fmla="*/ 2147483647 h 1618"/>
              <a:gd name="T12" fmla="*/ 2147483647 w 1612"/>
              <a:gd name="T13" fmla="*/ 2147483647 h 1618"/>
              <a:gd name="T14" fmla="*/ 2147483647 w 1612"/>
              <a:gd name="T15" fmla="*/ 0 h 1618"/>
              <a:gd name="T16" fmla="*/ 2147483647 w 1612"/>
              <a:gd name="T17" fmla="*/ 2147483647 h 1618"/>
              <a:gd name="T18" fmla="*/ 2147483647 w 1612"/>
              <a:gd name="T19" fmla="*/ 2147483647 h 1618"/>
              <a:gd name="T20" fmla="*/ 2147483647 w 1612"/>
              <a:gd name="T21" fmla="*/ 2147483647 h 1618"/>
              <a:gd name="T22" fmla="*/ 2147483647 w 1612"/>
              <a:gd name="T23" fmla="*/ 2147483647 h 1618"/>
              <a:gd name="T24" fmla="*/ 2147483647 w 1612"/>
              <a:gd name="T25" fmla="*/ 2147483647 h 1618"/>
              <a:gd name="T26" fmla="*/ 2147483647 w 1612"/>
              <a:gd name="T27" fmla="*/ 2147483647 h 1618"/>
              <a:gd name="T28" fmla="*/ 2147483647 w 1612"/>
              <a:gd name="T29" fmla="*/ 2147483647 h 1618"/>
              <a:gd name="T30" fmla="*/ 2147483647 w 1612"/>
              <a:gd name="T31" fmla="*/ 2147483647 h 1618"/>
              <a:gd name="T32" fmla="*/ 2147483647 w 1612"/>
              <a:gd name="T33" fmla="*/ 2147483647 h 1618"/>
              <a:gd name="T34" fmla="*/ 2147483647 w 1612"/>
              <a:gd name="T35" fmla="*/ 2147483647 h 1618"/>
              <a:gd name="T36" fmla="*/ 2147483647 w 1612"/>
              <a:gd name="T37" fmla="*/ 2147483647 h 1618"/>
              <a:gd name="T38" fmla="*/ 2147483647 w 1612"/>
              <a:gd name="T39" fmla="*/ 2147483647 h 1618"/>
              <a:gd name="T40" fmla="*/ 2147483647 w 1612"/>
              <a:gd name="T41" fmla="*/ 2147483647 h 1618"/>
              <a:gd name="T42" fmla="*/ 2147483647 w 1612"/>
              <a:gd name="T43" fmla="*/ 2147483647 h 1618"/>
              <a:gd name="T44" fmla="*/ 2147483647 w 1612"/>
              <a:gd name="T45" fmla="*/ 2147483647 h 1618"/>
              <a:gd name="T46" fmla="*/ 2147483647 w 1612"/>
              <a:gd name="T47" fmla="*/ 2147483647 h 1618"/>
              <a:gd name="T48" fmla="*/ 2147483647 w 1612"/>
              <a:gd name="T49" fmla="*/ 2147483647 h 1618"/>
              <a:gd name="T50" fmla="*/ 2147483647 w 1612"/>
              <a:gd name="T51" fmla="*/ 2147483647 h 1618"/>
              <a:gd name="T52" fmla="*/ 2147483647 w 1612"/>
              <a:gd name="T53" fmla="*/ 2147483647 h 1618"/>
              <a:gd name="T54" fmla="*/ 2147483647 w 1612"/>
              <a:gd name="T55" fmla="*/ 2147483647 h 1618"/>
              <a:gd name="T56" fmla="*/ 2147483647 w 1612"/>
              <a:gd name="T57" fmla="*/ 2147483647 h 1618"/>
              <a:gd name="T58" fmla="*/ 2147483647 w 1612"/>
              <a:gd name="T59" fmla="*/ 2147483647 h 1618"/>
              <a:gd name="T60" fmla="*/ 2147483647 w 1612"/>
              <a:gd name="T61" fmla="*/ 2147483647 h 1618"/>
              <a:gd name="T62" fmla="*/ 2147483647 w 1612"/>
              <a:gd name="T63" fmla="*/ 2147483647 h 1618"/>
              <a:gd name="T64" fmla="*/ 2147483647 w 1612"/>
              <a:gd name="T65" fmla="*/ 2147483647 h 1618"/>
              <a:gd name="T66" fmla="*/ 2147483647 w 1612"/>
              <a:gd name="T67" fmla="*/ 2147483647 h 1618"/>
              <a:gd name="T68" fmla="*/ 2147483647 w 1612"/>
              <a:gd name="T69" fmla="*/ 2147483647 h 1618"/>
              <a:gd name="T70" fmla="*/ 2147483647 w 1612"/>
              <a:gd name="T71" fmla="*/ 2147483647 h 1618"/>
              <a:gd name="T72" fmla="*/ 2147483647 w 1612"/>
              <a:gd name="T73" fmla="*/ 2147483647 h 1618"/>
              <a:gd name="T74" fmla="*/ 2147483647 w 1612"/>
              <a:gd name="T75" fmla="*/ 2147483647 h 1618"/>
              <a:gd name="T76" fmla="*/ 2147483647 w 1612"/>
              <a:gd name="T77" fmla="*/ 2147483647 h 1618"/>
              <a:gd name="T78" fmla="*/ 2147483647 w 1612"/>
              <a:gd name="T79" fmla="*/ 2147483647 h 1618"/>
              <a:gd name="T80" fmla="*/ 2147483647 w 1612"/>
              <a:gd name="T81" fmla="*/ 2147483647 h 161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612"/>
              <a:gd name="T124" fmla="*/ 0 h 1618"/>
              <a:gd name="T125" fmla="*/ 1612 w 1612"/>
              <a:gd name="T126" fmla="*/ 1618 h 161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612" h="1618">
                <a:moveTo>
                  <a:pt x="464" y="966"/>
                </a:moveTo>
                <a:lnTo>
                  <a:pt x="464" y="966"/>
                </a:lnTo>
                <a:lnTo>
                  <a:pt x="418" y="892"/>
                </a:lnTo>
                <a:lnTo>
                  <a:pt x="378" y="822"/>
                </a:lnTo>
                <a:lnTo>
                  <a:pt x="342" y="754"/>
                </a:lnTo>
                <a:lnTo>
                  <a:pt x="310" y="690"/>
                </a:lnTo>
                <a:lnTo>
                  <a:pt x="280" y="630"/>
                </a:lnTo>
                <a:lnTo>
                  <a:pt x="256" y="572"/>
                </a:lnTo>
                <a:lnTo>
                  <a:pt x="234" y="520"/>
                </a:lnTo>
                <a:lnTo>
                  <a:pt x="214" y="472"/>
                </a:lnTo>
                <a:lnTo>
                  <a:pt x="184" y="390"/>
                </a:lnTo>
                <a:lnTo>
                  <a:pt x="166" y="328"/>
                </a:lnTo>
                <a:lnTo>
                  <a:pt x="156" y="290"/>
                </a:lnTo>
                <a:lnTo>
                  <a:pt x="152" y="276"/>
                </a:lnTo>
                <a:lnTo>
                  <a:pt x="244" y="300"/>
                </a:lnTo>
                <a:lnTo>
                  <a:pt x="34" y="0"/>
                </a:lnTo>
                <a:lnTo>
                  <a:pt x="0" y="396"/>
                </a:lnTo>
                <a:lnTo>
                  <a:pt x="82" y="294"/>
                </a:lnTo>
                <a:lnTo>
                  <a:pt x="86" y="308"/>
                </a:lnTo>
                <a:lnTo>
                  <a:pt x="98" y="350"/>
                </a:lnTo>
                <a:lnTo>
                  <a:pt x="120" y="414"/>
                </a:lnTo>
                <a:lnTo>
                  <a:pt x="152" y="500"/>
                </a:lnTo>
                <a:lnTo>
                  <a:pt x="174" y="550"/>
                </a:lnTo>
                <a:lnTo>
                  <a:pt x="200" y="604"/>
                </a:lnTo>
                <a:lnTo>
                  <a:pt x="228" y="662"/>
                </a:lnTo>
                <a:lnTo>
                  <a:pt x="260" y="722"/>
                </a:lnTo>
                <a:lnTo>
                  <a:pt x="296" y="788"/>
                </a:lnTo>
                <a:lnTo>
                  <a:pt x="336" y="856"/>
                </a:lnTo>
                <a:lnTo>
                  <a:pt x="382" y="926"/>
                </a:lnTo>
                <a:lnTo>
                  <a:pt x="430" y="998"/>
                </a:lnTo>
                <a:lnTo>
                  <a:pt x="472" y="1052"/>
                </a:lnTo>
                <a:lnTo>
                  <a:pt x="514" y="1104"/>
                </a:lnTo>
                <a:lnTo>
                  <a:pt x="558" y="1152"/>
                </a:lnTo>
                <a:lnTo>
                  <a:pt x="602" y="1196"/>
                </a:lnTo>
                <a:lnTo>
                  <a:pt x="650" y="1238"/>
                </a:lnTo>
                <a:lnTo>
                  <a:pt x="696" y="1278"/>
                </a:lnTo>
                <a:lnTo>
                  <a:pt x="744" y="1314"/>
                </a:lnTo>
                <a:lnTo>
                  <a:pt x="794" y="1348"/>
                </a:lnTo>
                <a:lnTo>
                  <a:pt x="842" y="1380"/>
                </a:lnTo>
                <a:lnTo>
                  <a:pt x="892" y="1408"/>
                </a:lnTo>
                <a:lnTo>
                  <a:pt x="942" y="1434"/>
                </a:lnTo>
                <a:lnTo>
                  <a:pt x="990" y="1458"/>
                </a:lnTo>
                <a:lnTo>
                  <a:pt x="1038" y="1480"/>
                </a:lnTo>
                <a:lnTo>
                  <a:pt x="1086" y="1500"/>
                </a:lnTo>
                <a:lnTo>
                  <a:pt x="1134" y="1518"/>
                </a:lnTo>
                <a:lnTo>
                  <a:pt x="1180" y="1534"/>
                </a:lnTo>
                <a:lnTo>
                  <a:pt x="1224" y="1548"/>
                </a:lnTo>
                <a:lnTo>
                  <a:pt x="1268" y="1560"/>
                </a:lnTo>
                <a:lnTo>
                  <a:pt x="1350" y="1580"/>
                </a:lnTo>
                <a:lnTo>
                  <a:pt x="1424" y="1596"/>
                </a:lnTo>
                <a:lnTo>
                  <a:pt x="1486" y="1606"/>
                </a:lnTo>
                <a:lnTo>
                  <a:pt x="1540" y="1612"/>
                </a:lnTo>
                <a:lnTo>
                  <a:pt x="1578" y="1616"/>
                </a:lnTo>
                <a:lnTo>
                  <a:pt x="1612" y="1618"/>
                </a:lnTo>
                <a:lnTo>
                  <a:pt x="1580" y="1616"/>
                </a:lnTo>
                <a:lnTo>
                  <a:pt x="1540" y="1612"/>
                </a:lnTo>
                <a:lnTo>
                  <a:pt x="1488" y="1606"/>
                </a:lnTo>
                <a:lnTo>
                  <a:pt x="1426" y="1594"/>
                </a:lnTo>
                <a:lnTo>
                  <a:pt x="1354" y="1578"/>
                </a:lnTo>
                <a:lnTo>
                  <a:pt x="1274" y="1558"/>
                </a:lnTo>
                <a:lnTo>
                  <a:pt x="1230" y="1544"/>
                </a:lnTo>
                <a:lnTo>
                  <a:pt x="1186" y="1530"/>
                </a:lnTo>
                <a:lnTo>
                  <a:pt x="1142" y="1512"/>
                </a:lnTo>
                <a:lnTo>
                  <a:pt x="1096" y="1494"/>
                </a:lnTo>
                <a:lnTo>
                  <a:pt x="1048" y="1474"/>
                </a:lnTo>
                <a:lnTo>
                  <a:pt x="1002" y="1450"/>
                </a:lnTo>
                <a:lnTo>
                  <a:pt x="954" y="1426"/>
                </a:lnTo>
                <a:lnTo>
                  <a:pt x="906" y="1398"/>
                </a:lnTo>
                <a:lnTo>
                  <a:pt x="858" y="1368"/>
                </a:lnTo>
                <a:lnTo>
                  <a:pt x="810" y="1336"/>
                </a:lnTo>
                <a:lnTo>
                  <a:pt x="764" y="1300"/>
                </a:lnTo>
                <a:lnTo>
                  <a:pt x="718" y="1262"/>
                </a:lnTo>
                <a:lnTo>
                  <a:pt x="672" y="1220"/>
                </a:lnTo>
                <a:lnTo>
                  <a:pt x="626" y="1176"/>
                </a:lnTo>
                <a:lnTo>
                  <a:pt x="584" y="1128"/>
                </a:lnTo>
                <a:lnTo>
                  <a:pt x="542" y="1078"/>
                </a:lnTo>
                <a:lnTo>
                  <a:pt x="502" y="1024"/>
                </a:lnTo>
                <a:lnTo>
                  <a:pt x="464" y="966"/>
                </a:lnTo>
                <a:close/>
              </a:path>
            </a:pathLst>
          </a:custGeom>
          <a:solidFill>
            <a:srgbClr val="9900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cxnSp>
        <p:nvCxnSpPr>
          <p:cNvPr id="35846" name="直接连接符 6">
            <a:extLst>
              <a:ext uri="{FF2B5EF4-FFF2-40B4-BE49-F238E27FC236}">
                <a16:creationId xmlns:a16="http://schemas.microsoft.com/office/drawing/2014/main" id="{5BD5471E-DBFE-24F6-0899-19B1E3681EDC}"/>
              </a:ext>
            </a:extLst>
          </p:cNvPr>
          <p:cNvCxnSpPr>
            <a:cxnSpLocks noChangeShapeType="1"/>
          </p:cNvCxnSpPr>
          <p:nvPr/>
        </p:nvCxnSpPr>
        <p:spPr bwMode="auto">
          <a:xfrm flipV="1">
            <a:off x="1143000" y="1541463"/>
            <a:ext cx="857250" cy="3175"/>
          </a:xfrm>
          <a:prstGeom prst="line">
            <a:avLst/>
          </a:prstGeom>
          <a:noFill/>
          <a:ln w="28575" algn="ctr">
            <a:solidFill>
              <a:srgbClr val="CC0099"/>
            </a:solidFill>
            <a:round/>
            <a:headEnd/>
            <a:tailEnd/>
          </a:ln>
          <a:extLst>
            <a:ext uri="{909E8E84-426E-40DD-AFC4-6F175D3DCCD1}">
              <a14:hiddenFill xmlns:a14="http://schemas.microsoft.com/office/drawing/2010/main">
                <a:noFill/>
              </a14:hiddenFill>
            </a:ext>
          </a:extLst>
        </p:spPr>
      </p:cxnSp>
      <p:graphicFrame>
        <p:nvGraphicFramePr>
          <p:cNvPr id="9" name="Object 4">
            <a:extLst>
              <a:ext uri="{FF2B5EF4-FFF2-40B4-BE49-F238E27FC236}">
                <a16:creationId xmlns:a16="http://schemas.microsoft.com/office/drawing/2014/main" id="{D71B99FC-2A08-CD0D-1997-F9760244EE33}"/>
              </a:ext>
            </a:extLst>
          </p:cNvPr>
          <p:cNvGraphicFramePr>
            <a:graphicFrameLocks noChangeAspect="1"/>
          </p:cNvGraphicFramePr>
          <p:nvPr/>
        </p:nvGraphicFramePr>
        <p:xfrm>
          <a:off x="3214688" y="5186363"/>
          <a:ext cx="2085975" cy="1000125"/>
        </p:xfrm>
        <a:graphic>
          <a:graphicData uri="http://schemas.openxmlformats.org/presentationml/2006/ole">
            <mc:AlternateContent xmlns:mc="http://schemas.openxmlformats.org/markup-compatibility/2006">
              <mc:Choice xmlns:v="urn:schemas-microsoft-com:vml" Requires="v">
                <p:oleObj name="Equation" r:id="rId2" imgW="901440" imgH="431640" progId="Equation.DSMT4">
                  <p:embed/>
                </p:oleObj>
              </mc:Choice>
              <mc:Fallback>
                <p:oleObj name="Equation" r:id="rId2" imgW="901440" imgH="43164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4688" y="5186363"/>
                        <a:ext cx="2085975" cy="1000125"/>
                      </a:xfrm>
                      <a:prstGeom prst="rect">
                        <a:avLst/>
                      </a:prstGeom>
                      <a:noFill/>
                      <a:ln w="38100" cmpd="dbl">
                        <a:solidFill>
                          <a:srgbClr val="FF575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rgbClr val="993434"/>
                              </a:outerShdw>
                            </a:effectLst>
                          </a14:hiddenEffects>
                        </a:ext>
                      </a:extLst>
                    </p:spPr>
                  </p:pic>
                </p:oleObj>
              </mc:Fallback>
            </mc:AlternateContent>
          </a:graphicData>
        </a:graphic>
      </p:graphicFrame>
      <p:graphicFrame>
        <p:nvGraphicFramePr>
          <p:cNvPr id="35850" name="Object 10">
            <a:extLst>
              <a:ext uri="{FF2B5EF4-FFF2-40B4-BE49-F238E27FC236}">
                <a16:creationId xmlns:a16="http://schemas.microsoft.com/office/drawing/2014/main" id="{57153E21-7F2E-A251-4A8A-811BC96635BA}"/>
              </a:ext>
            </a:extLst>
          </p:cNvPr>
          <p:cNvGraphicFramePr>
            <a:graphicFrameLocks noChangeAspect="1"/>
          </p:cNvGraphicFramePr>
          <p:nvPr/>
        </p:nvGraphicFramePr>
        <p:xfrm>
          <a:off x="5857875" y="3346450"/>
          <a:ext cx="857250" cy="939800"/>
        </p:xfrm>
        <a:graphic>
          <a:graphicData uri="http://schemas.openxmlformats.org/presentationml/2006/ole">
            <mc:AlternateContent xmlns:mc="http://schemas.openxmlformats.org/markup-compatibility/2006">
              <mc:Choice xmlns:v="urn:schemas-microsoft-com:vml" Requires="v">
                <p:oleObj name="Equation" r:id="rId4" imgW="393480" imgH="431640" progId="Equation.DSMT4">
                  <p:embed/>
                </p:oleObj>
              </mc:Choice>
              <mc:Fallback>
                <p:oleObj name="Equation" r:id="rId4" imgW="393480" imgH="431640"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57875" y="3346450"/>
                        <a:ext cx="857250" cy="93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graphicFrame>
        <p:nvGraphicFramePr>
          <p:cNvPr id="35851" name="Object 11">
            <a:extLst>
              <a:ext uri="{FF2B5EF4-FFF2-40B4-BE49-F238E27FC236}">
                <a16:creationId xmlns:a16="http://schemas.microsoft.com/office/drawing/2014/main" id="{881D9C79-E482-24D8-889F-A0343E57C6BA}"/>
              </a:ext>
            </a:extLst>
          </p:cNvPr>
          <p:cNvGraphicFramePr>
            <a:graphicFrameLocks noChangeAspect="1"/>
          </p:cNvGraphicFramePr>
          <p:nvPr/>
        </p:nvGraphicFramePr>
        <p:xfrm>
          <a:off x="7724775" y="2917825"/>
          <a:ext cx="387350" cy="414338"/>
        </p:xfrm>
        <a:graphic>
          <a:graphicData uri="http://schemas.openxmlformats.org/presentationml/2006/ole">
            <mc:AlternateContent xmlns:mc="http://schemas.openxmlformats.org/markup-compatibility/2006">
              <mc:Choice xmlns:v="urn:schemas-microsoft-com:vml" Requires="v">
                <p:oleObj name="Equation" r:id="rId6" imgW="177480" imgH="190440" progId="Equation.DSMT4">
                  <p:embed/>
                </p:oleObj>
              </mc:Choice>
              <mc:Fallback>
                <p:oleObj name="Equation" r:id="rId6" imgW="177480" imgH="190440" progId="Equation.DSMT4">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24775" y="2917825"/>
                        <a:ext cx="387350" cy="41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sp>
        <p:nvSpPr>
          <p:cNvPr id="14" name="矩形 13">
            <a:extLst>
              <a:ext uri="{FF2B5EF4-FFF2-40B4-BE49-F238E27FC236}">
                <a16:creationId xmlns:a16="http://schemas.microsoft.com/office/drawing/2014/main" id="{BD1F17FB-DFEE-7C8E-61AF-A3AB3D83DD3F}"/>
              </a:ext>
            </a:extLst>
          </p:cNvPr>
          <p:cNvSpPr/>
          <p:nvPr/>
        </p:nvSpPr>
        <p:spPr>
          <a:xfrm>
            <a:off x="1143000" y="2917825"/>
            <a:ext cx="6572250" cy="461963"/>
          </a:xfrm>
          <a:prstGeom prst="rect">
            <a:avLst/>
          </a:prstGeom>
          <a:noFill/>
          <a:ln>
            <a:noFill/>
          </a:ln>
        </p:spPr>
        <p:txBody>
          <a:bodyPr>
            <a:spAutoFit/>
          </a:bodyPr>
          <a:lstStyle/>
          <a:p>
            <a:pPr>
              <a:defRPr/>
            </a:pPr>
            <a:r>
              <a:rPr lang="zh-CN" altLang="en-US" sz="200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设</a:t>
            </a:r>
            <a:r>
              <a:rPr lang="zh-CN" altLang="en-US" sz="2000" kern="0" dirty="0">
                <a:solidFill>
                  <a:srgbClr val="000000"/>
                </a:solidFill>
                <a:latin typeface="Arial" pitchFamily="34" charset="0"/>
                <a:ea typeface="微软雅黑" pitchFamily="34" charset="-122"/>
                <a:cs typeface="Arial" pitchFamily="34" charset="0"/>
              </a:rPr>
              <a:t> </a:t>
            </a:r>
            <a:r>
              <a:rPr lang="en-US" altLang="zh-CN" sz="2400" i="1" kern="0" dirty="0">
                <a:solidFill>
                  <a:srgbClr val="0000CC"/>
                </a:solidFill>
                <a:latin typeface="Arial" pitchFamily="34" charset="0"/>
                <a:ea typeface="微软雅黑" pitchFamily="34" charset="-122"/>
                <a:cs typeface="Arial" pitchFamily="34" charset="0"/>
              </a:rPr>
              <a:t>n</a:t>
            </a:r>
            <a:r>
              <a:rPr lang="en-US" altLang="zh-CN" sz="2400" i="1" kern="0" dirty="0">
                <a:solidFill>
                  <a:srgbClr val="000000"/>
                </a:solidFill>
                <a:latin typeface="Arial" pitchFamily="34" charset="0"/>
                <a:ea typeface="微软雅黑" pitchFamily="34" charset="-122"/>
                <a:cs typeface="Arial" pitchFamily="34" charset="0"/>
              </a:rPr>
              <a:t> </a:t>
            </a:r>
            <a:r>
              <a:rPr lang="en-US" altLang="zh-CN" sz="1200" kern="0" dirty="0">
                <a:solidFill>
                  <a:srgbClr val="000000"/>
                </a:solidFill>
                <a:latin typeface="Arial" pitchFamily="34" charset="0"/>
                <a:ea typeface="微软雅黑" pitchFamily="34" charset="-122"/>
                <a:cs typeface="Arial" pitchFamily="34" charset="0"/>
              </a:rPr>
              <a:t>——</a:t>
            </a:r>
            <a:r>
              <a:rPr lang="zh-CN" altLang="en-US" sz="2000" kern="0" dirty="0">
                <a:solidFill>
                  <a:srgbClr val="000000"/>
                </a:solidFill>
                <a:latin typeface="Arial" pitchFamily="34" charset="0"/>
                <a:ea typeface="微软雅黑" pitchFamily="34" charset="-122"/>
                <a:cs typeface="Arial" pitchFamily="34" charset="0"/>
              </a:rPr>
              <a:t>同步码组的长度，则</a:t>
            </a:r>
            <a:r>
              <a:rPr lang="zh-CN" altLang="en-US" sz="2000" kern="0" dirty="0">
                <a:solidFill>
                  <a:srgbClr val="000000"/>
                </a:solidFill>
                <a:latin typeface="微软雅黑" pitchFamily="34" charset="-122"/>
                <a:ea typeface="微软雅黑" pitchFamily="34" charset="-122"/>
              </a:rPr>
              <a:t>所有可能出现的信息码组数：</a:t>
            </a:r>
            <a:endParaRPr lang="zh-CN" altLang="en-US" sz="2000" dirty="0">
              <a:ea typeface="宋体" charset="-122"/>
            </a:endParaRPr>
          </a:p>
        </p:txBody>
      </p:sp>
      <p:sp>
        <p:nvSpPr>
          <p:cNvPr id="15" name="矩形 14">
            <a:extLst>
              <a:ext uri="{FF2B5EF4-FFF2-40B4-BE49-F238E27FC236}">
                <a16:creationId xmlns:a16="http://schemas.microsoft.com/office/drawing/2014/main" id="{2AC1D1A2-0320-2DBE-7CFF-A556F70B5E97}"/>
              </a:ext>
            </a:extLst>
          </p:cNvPr>
          <p:cNvSpPr/>
          <p:nvPr/>
        </p:nvSpPr>
        <p:spPr>
          <a:xfrm>
            <a:off x="1143000" y="3489325"/>
            <a:ext cx="7572375" cy="488950"/>
          </a:xfrm>
          <a:prstGeom prst="rect">
            <a:avLst/>
          </a:prstGeom>
        </p:spPr>
        <p:txBody>
          <a:bodyPr>
            <a:spAutoFit/>
          </a:bodyPr>
          <a:lstStyle/>
          <a:p>
            <a:pPr marL="285750" indent="-285750" eaLnBrk="0" hangingPunct="0">
              <a:lnSpc>
                <a:spcPts val="3500"/>
              </a:lnSpc>
              <a:spcBef>
                <a:spcPct val="20000"/>
              </a:spcBef>
              <a:buClr>
                <a:srgbClr val="FF0000"/>
              </a:buClr>
              <a:buSzPct val="55000"/>
              <a:defRPr/>
            </a:pPr>
            <a:r>
              <a:rPr lang="zh-CN" altLang="en-US" sz="2000" dirty="0">
                <a:solidFill>
                  <a:srgbClr val="000000"/>
                </a:solidFill>
                <a:latin typeface="微软雅黑" pitchFamily="34" charset="-122"/>
                <a:ea typeface="微软雅黑" pitchFamily="34" charset="-122"/>
              </a:rPr>
              <a:t>被</a:t>
            </a:r>
            <a:r>
              <a:rPr lang="zh-CN" altLang="en-US" sz="20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错当成</a:t>
            </a:r>
            <a:r>
              <a:rPr lang="zh-CN" altLang="en-US" sz="2000" dirty="0">
                <a:solidFill>
                  <a:srgbClr val="000000"/>
                </a:solidFill>
                <a:latin typeface="微软雅黑" pitchFamily="34" charset="-122"/>
                <a:ea typeface="微软雅黑" pitchFamily="34" charset="-122"/>
              </a:rPr>
              <a:t> 同步码组的</a:t>
            </a:r>
            <a:r>
              <a:rPr lang="zh-CN" altLang="en-US" sz="2000" kern="0" dirty="0">
                <a:solidFill>
                  <a:srgbClr val="000000"/>
                </a:solidFill>
                <a:latin typeface="微软雅黑" pitchFamily="34" charset="-122"/>
                <a:ea typeface="微软雅黑" pitchFamily="34" charset="-122"/>
              </a:rPr>
              <a:t>组合数与</a:t>
            </a:r>
            <a:r>
              <a:rPr lang="en-US" altLang="zh-CN" sz="2000" kern="0" dirty="0">
                <a:solidFill>
                  <a:srgbClr val="0000CC"/>
                </a:solidFill>
                <a:latin typeface="微软雅黑" pitchFamily="34" charset="-122"/>
                <a:ea typeface="微软雅黑" pitchFamily="34" charset="-122"/>
              </a:rPr>
              <a:t>m</a:t>
            </a:r>
            <a:r>
              <a:rPr lang="zh-CN" altLang="en-US" sz="2000" kern="0" dirty="0">
                <a:latin typeface="微软雅黑" pitchFamily="34" charset="-122"/>
                <a:ea typeface="微软雅黑" pitchFamily="34" charset="-122"/>
              </a:rPr>
              <a:t>有关：</a:t>
            </a:r>
            <a:r>
              <a:rPr lang="en-US" altLang="zh-CN" sz="2000" i="1" kern="0" dirty="0">
                <a:solidFill>
                  <a:srgbClr val="0000CC"/>
                </a:solidFill>
                <a:latin typeface="Arial" pitchFamily="34" charset="0"/>
                <a:ea typeface="微软雅黑" pitchFamily="34" charset="-122"/>
                <a:cs typeface="Arial" pitchFamily="34" charset="0"/>
              </a:rPr>
              <a:t> </a:t>
            </a:r>
            <a:endParaRPr lang="zh-CN" altLang="en-US" sz="2000" kern="0" dirty="0">
              <a:solidFill>
                <a:srgbClr val="0000CC"/>
              </a:solidFill>
              <a:effectLst>
                <a:outerShdw blurRad="38100" dist="38100" dir="2700000" algn="tl">
                  <a:srgbClr val="000000">
                    <a:alpha val="43137"/>
                  </a:srgbClr>
                </a:outerShdw>
              </a:effectLst>
              <a:latin typeface="Arial" pitchFamily="34" charset="0"/>
              <a:ea typeface="微软雅黑" pitchFamily="34" charset="-122"/>
              <a:cs typeface="Arial" pitchFamily="34" charset="0"/>
            </a:endParaRPr>
          </a:p>
        </p:txBody>
      </p:sp>
      <p:sp>
        <p:nvSpPr>
          <p:cNvPr id="16" name="矩形 15">
            <a:extLst>
              <a:ext uri="{FF2B5EF4-FFF2-40B4-BE49-F238E27FC236}">
                <a16:creationId xmlns:a16="http://schemas.microsoft.com/office/drawing/2014/main" id="{7DC58A76-A374-FBBE-CE8C-D31732014F9C}"/>
              </a:ext>
            </a:extLst>
          </p:cNvPr>
          <p:cNvSpPr/>
          <p:nvPr/>
        </p:nvSpPr>
        <p:spPr>
          <a:xfrm>
            <a:off x="1028700" y="4338638"/>
            <a:ext cx="7415213" cy="461962"/>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a:defRPr/>
            </a:pPr>
            <a:r>
              <a:rPr lang="en-US" altLang="zh-CN" sz="2000" kern="0" dirty="0">
                <a:solidFill>
                  <a:srgbClr val="3333CC"/>
                </a:solidFill>
                <a:latin typeface="微软雅黑" pitchFamily="34" charset="-122"/>
                <a:ea typeface="微软雅黑" pitchFamily="34" charset="-122"/>
              </a:rPr>
              <a:t> </a:t>
            </a:r>
            <a:r>
              <a:rPr lang="en-US" altLang="zh-CN" sz="2400" i="1" dirty="0">
                <a:solidFill>
                  <a:srgbClr val="FF0000"/>
                </a:solidFill>
                <a:latin typeface="Times New Roman" pitchFamily="18" charset="0"/>
                <a:ea typeface="微软雅黑" pitchFamily="34" charset="-122"/>
                <a:cs typeface="Times New Roman" pitchFamily="18" charset="0"/>
              </a:rPr>
              <a:t>P</a:t>
            </a:r>
            <a:r>
              <a:rPr lang="en-US" altLang="zh-CN" sz="2400" i="1" baseline="-25000" dirty="0">
                <a:solidFill>
                  <a:srgbClr val="FF0000"/>
                </a:solidFill>
                <a:latin typeface="Times New Roman" pitchFamily="18" charset="0"/>
                <a:ea typeface="微软雅黑" pitchFamily="34" charset="-122"/>
                <a:cs typeface="Times New Roman" pitchFamily="18" charset="0"/>
              </a:rPr>
              <a:t>f </a:t>
            </a:r>
            <a:r>
              <a:rPr lang="en-US" altLang="zh-CN" sz="2000" i="1" baseline="-25000" dirty="0">
                <a:solidFill>
                  <a:srgbClr val="FF0000"/>
                </a:solidFill>
                <a:latin typeface="Times New Roman" pitchFamily="18" charset="0"/>
                <a:ea typeface="微软雅黑" pitchFamily="34" charset="-122"/>
                <a:cs typeface="Times New Roman" pitchFamily="18" charset="0"/>
              </a:rPr>
              <a:t> </a:t>
            </a:r>
            <a:r>
              <a:rPr lang="en-US" altLang="zh-CN" sz="2000" kern="0" dirty="0">
                <a:solidFill>
                  <a:srgbClr val="0000CC"/>
                </a:solidFill>
                <a:latin typeface="微软雅黑" pitchFamily="34" charset="-122"/>
                <a:ea typeface="微软雅黑" pitchFamily="34" charset="-122"/>
              </a:rPr>
              <a:t>=</a:t>
            </a:r>
            <a:r>
              <a:rPr lang="zh-CN" altLang="en-US" sz="2000" kern="0" dirty="0">
                <a:solidFill>
                  <a:srgbClr val="000000"/>
                </a:solidFill>
                <a:latin typeface="微软雅黑" pitchFamily="34" charset="-122"/>
                <a:ea typeface="微软雅黑" pitchFamily="34" charset="-122"/>
              </a:rPr>
              <a:t>被</a:t>
            </a:r>
            <a:r>
              <a:rPr lang="zh-CN" altLang="en-US" sz="20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错当成</a:t>
            </a:r>
            <a:r>
              <a:rPr lang="zh-CN" altLang="en-US" sz="2000" dirty="0">
                <a:solidFill>
                  <a:srgbClr val="000000"/>
                </a:solidFill>
                <a:latin typeface="微软雅黑" pitchFamily="34" charset="-122"/>
                <a:ea typeface="微软雅黑" pitchFamily="34" charset="-122"/>
              </a:rPr>
              <a:t> </a:t>
            </a:r>
            <a:r>
              <a:rPr lang="zh-CN" altLang="en-US" sz="2000" kern="0" dirty="0">
                <a:solidFill>
                  <a:srgbClr val="000000"/>
                </a:solidFill>
                <a:latin typeface="微软雅黑" pitchFamily="34" charset="-122"/>
                <a:ea typeface="微软雅黑" pitchFamily="34" charset="-122"/>
              </a:rPr>
              <a:t>同步码组的组合数 </a:t>
            </a:r>
            <a:r>
              <a:rPr lang="en-US" altLang="zh-CN" sz="2000" kern="0" dirty="0">
                <a:solidFill>
                  <a:srgbClr val="0000CC"/>
                </a:solidFill>
                <a:latin typeface="微软雅黑" pitchFamily="34" charset="-122"/>
                <a:ea typeface="微软雅黑" pitchFamily="34" charset="-122"/>
              </a:rPr>
              <a:t>/ </a:t>
            </a:r>
            <a:r>
              <a:rPr lang="zh-CN" altLang="en-US" sz="2000" kern="0" dirty="0">
                <a:solidFill>
                  <a:srgbClr val="000000"/>
                </a:solidFill>
                <a:latin typeface="微软雅黑" pitchFamily="34" charset="-122"/>
                <a:ea typeface="微软雅黑" pitchFamily="34" charset="-122"/>
              </a:rPr>
              <a:t>所有可能出现的信息码组数</a:t>
            </a:r>
            <a:endParaRPr lang="zh-CN" altLang="en-US" sz="2000" dirty="0">
              <a:latin typeface="微软雅黑" pitchFamily="34" charset="-122"/>
              <a:ea typeface="微软雅黑" pitchFamily="34" charset="-122"/>
            </a:endParaRPr>
          </a:p>
        </p:txBody>
      </p:sp>
      <p:sp>
        <p:nvSpPr>
          <p:cNvPr id="18" name="矩形 17">
            <a:extLst>
              <a:ext uri="{FF2B5EF4-FFF2-40B4-BE49-F238E27FC236}">
                <a16:creationId xmlns:a16="http://schemas.microsoft.com/office/drawing/2014/main" id="{9C069A44-20AA-DEE2-2838-370CB6BDEAC9}"/>
              </a:ext>
            </a:extLst>
          </p:cNvPr>
          <p:cNvSpPr/>
          <p:nvPr/>
        </p:nvSpPr>
        <p:spPr>
          <a:xfrm>
            <a:off x="1357313" y="5143500"/>
            <a:ext cx="1428750" cy="400050"/>
          </a:xfrm>
          <a:prstGeom prst="rect">
            <a:avLst/>
          </a:prstGeom>
        </p:spPr>
        <p:txBody>
          <a:bodyPr>
            <a:spAutoFit/>
          </a:bodyPr>
          <a:lstStyle/>
          <a:p>
            <a:pPr>
              <a:defRPr/>
            </a:pPr>
            <a:r>
              <a:rPr lang="zh-CN" altLang="en-US" sz="200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当 </a:t>
            </a:r>
            <a:r>
              <a:rPr lang="en-US" altLang="zh-CN" sz="2000" i="1" kern="0" dirty="0">
                <a:solidFill>
                  <a:srgbClr val="0000CC"/>
                </a:solidFill>
                <a:latin typeface="Arial" pitchFamily="34" charset="0"/>
                <a:ea typeface="微软雅黑" pitchFamily="34" charset="-122"/>
                <a:cs typeface="Arial" pitchFamily="34" charset="0"/>
              </a:rPr>
              <a:t>m =</a:t>
            </a:r>
            <a:r>
              <a:rPr lang="en-US" altLang="zh-CN" sz="2000" kern="0" dirty="0">
                <a:solidFill>
                  <a:srgbClr val="0000CC"/>
                </a:solidFill>
                <a:latin typeface="Arial" pitchFamily="34" charset="0"/>
                <a:ea typeface="微软雅黑" pitchFamily="34" charset="-122"/>
                <a:cs typeface="Arial" pitchFamily="34" charset="0"/>
              </a:rPr>
              <a:t>0 </a:t>
            </a:r>
            <a:r>
              <a:rPr lang="zh-CN" altLang="en-US" sz="2000" kern="0" dirty="0">
                <a:solidFill>
                  <a:srgbClr val="000000"/>
                </a:solidFill>
                <a:latin typeface="Arial" pitchFamily="34" charset="0"/>
                <a:ea typeface="微软雅黑" pitchFamily="34" charset="-122"/>
                <a:cs typeface="Arial" pitchFamily="34" charset="0"/>
              </a:rPr>
              <a:t>时</a:t>
            </a:r>
            <a:endParaRPr lang="zh-CN" altLang="en-US" dirty="0">
              <a:ea typeface="宋体" charset="-122"/>
            </a:endParaRPr>
          </a:p>
        </p:txBody>
      </p:sp>
      <p:graphicFrame>
        <p:nvGraphicFramePr>
          <p:cNvPr id="35853" name="Object 13">
            <a:extLst>
              <a:ext uri="{FF2B5EF4-FFF2-40B4-BE49-F238E27FC236}">
                <a16:creationId xmlns:a16="http://schemas.microsoft.com/office/drawing/2014/main" id="{34A87CA8-819A-C452-BC7A-B07088D83FC1}"/>
              </a:ext>
            </a:extLst>
          </p:cNvPr>
          <p:cNvGraphicFramePr>
            <a:graphicFrameLocks noChangeAspect="1"/>
          </p:cNvGraphicFramePr>
          <p:nvPr/>
        </p:nvGraphicFramePr>
        <p:xfrm>
          <a:off x="5757863" y="5472113"/>
          <a:ext cx="2600325" cy="850900"/>
        </p:xfrm>
        <a:graphic>
          <a:graphicData uri="http://schemas.openxmlformats.org/presentationml/2006/ole">
            <mc:AlternateContent xmlns:mc="http://schemas.openxmlformats.org/markup-compatibility/2006">
              <mc:Choice xmlns:v="urn:schemas-microsoft-com:vml" Requires="v">
                <p:oleObj name="Equation" r:id="rId8" imgW="1282680" imgH="419040" progId="Equation.DSMT4">
                  <p:embed/>
                </p:oleObj>
              </mc:Choice>
              <mc:Fallback>
                <p:oleObj name="Equation" r:id="rId8" imgW="1282680" imgH="419040" progId="Equation.DSMT4">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57863" y="5472113"/>
                        <a:ext cx="2600325" cy="85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sp>
        <p:nvSpPr>
          <p:cNvPr id="21" name="矩形 20">
            <a:extLst>
              <a:ext uri="{FF2B5EF4-FFF2-40B4-BE49-F238E27FC236}">
                <a16:creationId xmlns:a16="http://schemas.microsoft.com/office/drawing/2014/main" id="{21D94BB9-6DE6-0D4B-EADE-1FB84D454937}"/>
              </a:ext>
            </a:extLst>
          </p:cNvPr>
          <p:cNvSpPr/>
          <p:nvPr/>
        </p:nvSpPr>
        <p:spPr>
          <a:xfrm>
            <a:off x="5715000" y="5043488"/>
            <a:ext cx="2786063" cy="400050"/>
          </a:xfrm>
          <a:prstGeom prst="rect">
            <a:avLst/>
          </a:prstGeom>
        </p:spPr>
        <p:txBody>
          <a:bodyPr>
            <a:spAutoFit/>
          </a:bodyPr>
          <a:lstStyle/>
          <a:p>
            <a:pPr>
              <a:defRPr/>
            </a:pPr>
            <a:r>
              <a:rPr lang="zh-CN" altLang="en-US"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当 </a:t>
            </a:r>
            <a:r>
              <a:rPr lang="en-US" altLang="zh-CN" sz="2000" i="1" kern="0" dirty="0">
                <a:solidFill>
                  <a:srgbClr val="0000CC"/>
                </a:solidFill>
                <a:latin typeface="Arial" pitchFamily="34" charset="0"/>
                <a:ea typeface="微软雅黑" pitchFamily="34" charset="-122"/>
                <a:cs typeface="Arial" pitchFamily="34" charset="0"/>
              </a:rPr>
              <a:t>m =</a:t>
            </a:r>
            <a:r>
              <a:rPr lang="en-US" altLang="zh-CN" sz="2000" kern="0" dirty="0">
                <a:solidFill>
                  <a:srgbClr val="0000CC"/>
                </a:solidFill>
                <a:latin typeface="Arial" pitchFamily="34" charset="0"/>
                <a:ea typeface="微软雅黑" pitchFamily="34" charset="-122"/>
                <a:cs typeface="Arial" pitchFamily="34" charset="0"/>
              </a:rPr>
              <a:t>1</a:t>
            </a:r>
            <a:r>
              <a:rPr lang="en-US" altLang="zh-CN" kern="0" dirty="0">
                <a:latin typeface="Arial" pitchFamily="34" charset="0"/>
                <a:ea typeface="微软雅黑" pitchFamily="34" charset="-122"/>
                <a:cs typeface="Arial" pitchFamily="34" charset="0"/>
              </a:rPr>
              <a:t>(</a:t>
            </a:r>
            <a:r>
              <a:rPr lang="zh-CN" altLang="en-US" kern="0" dirty="0">
                <a:latin typeface="Arial" pitchFamily="34" charset="0"/>
                <a:ea typeface="微软雅黑" pitchFamily="34" charset="-122"/>
                <a:cs typeface="Arial" pitchFamily="34" charset="0"/>
              </a:rPr>
              <a:t>最多错一位）时</a:t>
            </a:r>
            <a:endParaRPr lang="zh-CN" altLang="en-US" dirty="0">
              <a:ea typeface="宋体" charset="-122"/>
            </a:endParaRPr>
          </a:p>
        </p:txBody>
      </p:sp>
      <p:graphicFrame>
        <p:nvGraphicFramePr>
          <p:cNvPr id="22" name="Object 6">
            <a:extLst>
              <a:ext uri="{FF2B5EF4-FFF2-40B4-BE49-F238E27FC236}">
                <a16:creationId xmlns:a16="http://schemas.microsoft.com/office/drawing/2014/main" id="{9D075DC3-BA07-7155-FC47-5A9B3BBA3D77}"/>
              </a:ext>
            </a:extLst>
          </p:cNvPr>
          <p:cNvGraphicFramePr>
            <a:graphicFrameLocks noChangeAspect="1"/>
          </p:cNvGraphicFramePr>
          <p:nvPr/>
        </p:nvGraphicFramePr>
        <p:xfrm>
          <a:off x="1452563" y="5613400"/>
          <a:ext cx="1262062" cy="515938"/>
        </p:xfrm>
        <a:graphic>
          <a:graphicData uri="http://schemas.openxmlformats.org/presentationml/2006/ole">
            <mc:AlternateContent xmlns:mc="http://schemas.openxmlformats.org/markup-compatibility/2006">
              <mc:Choice xmlns:v="urn:schemas-microsoft-com:vml" Requires="v">
                <p:oleObj name="Equation" r:id="rId10" imgW="622080" imgH="253800" progId="Equation.DSMT4">
                  <p:embed/>
                </p:oleObj>
              </mc:Choice>
              <mc:Fallback>
                <p:oleObj name="Equation" r:id="rId10" imgW="622080" imgH="253800" progId="Equation.DSMT4">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52563" y="5613400"/>
                        <a:ext cx="1262062"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schemeClr>
                              </a:outerShdw>
                            </a:effectLst>
                          </a14:hiddenEffects>
                        </a:ext>
                      </a:extLst>
                    </p:spPr>
                  </p:pic>
                </p:oleObj>
              </mc:Fallback>
            </mc:AlternateContent>
          </a:graphicData>
        </a:graphic>
      </p:graphicFrame>
      <p:sp>
        <p:nvSpPr>
          <p:cNvPr id="25" name="矩形 24">
            <a:extLst>
              <a:ext uri="{FF2B5EF4-FFF2-40B4-BE49-F238E27FC236}">
                <a16:creationId xmlns:a16="http://schemas.microsoft.com/office/drawing/2014/main" id="{56F2DC89-CFFB-D5E3-CE9D-D4240CDA0707}"/>
              </a:ext>
            </a:extLst>
          </p:cNvPr>
          <p:cNvSpPr/>
          <p:nvPr/>
        </p:nvSpPr>
        <p:spPr>
          <a:xfrm>
            <a:off x="7105650" y="528638"/>
            <a:ext cx="1466850" cy="400050"/>
          </a:xfrm>
          <a:prstGeom prst="rect">
            <a:avLst/>
          </a:prstGeom>
        </p:spPr>
        <p:txBody>
          <a:bodyPr wrap="none">
            <a:spAutoFit/>
          </a:bodyPr>
          <a:lstStyle/>
          <a:p>
            <a:pPr>
              <a:defRPr/>
            </a:pPr>
            <a:r>
              <a:rPr lang="zh-CN" altLang="en-US" sz="2000" kern="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rPr>
              <a:t>群同步性能</a:t>
            </a:r>
            <a:endParaRPr lang="zh-CN" altLang="en-US" sz="2000" dirty="0">
              <a:solidFill>
                <a:schemeClr val="tx1">
                  <a:lumMod val="65000"/>
                  <a:lumOff val="35000"/>
                </a:schemeClr>
              </a:solidFill>
              <a:effectLst>
                <a:outerShdw blurRad="38100" dist="38100" dir="2700000" algn="tl">
                  <a:srgbClr val="000000">
                    <a:alpha val="43137"/>
                  </a:srgbClr>
                </a:outerShdw>
              </a:effectLst>
              <a:ea typeface="宋体"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1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5846"/>
                                        </p:tgtEl>
                                        <p:attrNameLst>
                                          <p:attrName>style.visibility</p:attrName>
                                        </p:attrNameLst>
                                      </p:cBhvr>
                                      <p:to>
                                        <p:strVal val="visible"/>
                                      </p:to>
                                    </p:set>
                                    <p:animEffect transition="in" filter="wipe(left)">
                                      <p:cBhvr>
                                        <p:cTn id="12" dur="1000"/>
                                        <p:tgtEl>
                                          <p:spTgt spid="358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35845"/>
                                        </p:tgtEl>
                                        <p:attrNameLst>
                                          <p:attrName>style.visibility</p:attrName>
                                        </p:attrNameLst>
                                      </p:cBhvr>
                                      <p:to>
                                        <p:strVal val="visible"/>
                                      </p:to>
                                    </p:set>
                                    <p:animEffect transition="in" filter="wipe(up)">
                                      <p:cBhvr>
                                        <p:cTn id="17" dur="1000"/>
                                        <p:tgtEl>
                                          <p:spTgt spid="35845"/>
                                        </p:tgtEl>
                                      </p:cBhvr>
                                    </p:animEffect>
                                  </p:childTnLst>
                                </p:cTn>
                              </p:par>
                            </p:childTnLst>
                          </p:cTn>
                        </p:par>
                        <p:par>
                          <p:cTn id="18" fill="hold" nodeType="afterGroup">
                            <p:stCondLst>
                              <p:cond delay="1000"/>
                            </p:stCondLst>
                            <p:childTnLst>
                              <p:par>
                                <p:cTn id="19" presetID="22" presetClass="entr" presetSubtype="1" fill="hold" nodeType="afterEffect">
                                  <p:stCondLst>
                                    <p:cond delay="0"/>
                                  </p:stCondLst>
                                  <p:childTnLst>
                                    <p:set>
                                      <p:cBhvr>
                                        <p:cTn id="20" dur="1" fill="hold">
                                          <p:stCondLst>
                                            <p:cond delay="0"/>
                                          </p:stCondLst>
                                        </p:cTn>
                                        <p:tgtEl>
                                          <p:spTgt spid="5">
                                            <p:bg/>
                                          </p:spTgt>
                                        </p:tgtEl>
                                        <p:attrNameLst>
                                          <p:attrName>style.visibility</p:attrName>
                                        </p:attrNameLst>
                                      </p:cBhvr>
                                      <p:to>
                                        <p:strVal val="visible"/>
                                      </p:to>
                                    </p:set>
                                    <p:animEffect transition="in" filter="wipe(up)">
                                      <p:cBhvr>
                                        <p:cTn id="21" dur="1000"/>
                                        <p:tgtEl>
                                          <p:spTgt spid="5">
                                            <p:bg/>
                                          </p:spTgt>
                                        </p:tgtEl>
                                      </p:cBhvr>
                                    </p:animEffect>
                                  </p:childTnLst>
                                </p:cTn>
                              </p:par>
                              <p:par>
                                <p:cTn id="22" presetID="22" presetClass="entr" presetSubtype="1" fill="hold" nodeType="withEffect">
                                  <p:stCondLst>
                                    <p:cond delay="0"/>
                                  </p:stCondLst>
                                  <p:childTnLst>
                                    <p:set>
                                      <p:cBhvr>
                                        <p:cTn id="23" dur="1" fill="hold">
                                          <p:stCondLst>
                                            <p:cond delay="0"/>
                                          </p:stCondLst>
                                        </p:cTn>
                                        <p:tgtEl>
                                          <p:spTgt spid="5">
                                            <p:txEl>
                                              <p:pRg st="0" end="0"/>
                                            </p:txEl>
                                          </p:spTgt>
                                        </p:tgtEl>
                                        <p:attrNameLst>
                                          <p:attrName>style.visibility</p:attrName>
                                        </p:attrNameLst>
                                      </p:cBhvr>
                                      <p:to>
                                        <p:strVal val="visible"/>
                                      </p:to>
                                    </p:set>
                                    <p:animEffect transition="in" filter="wipe(up)">
                                      <p:cBhvr>
                                        <p:cTn id="24" dur="1000"/>
                                        <p:tgtEl>
                                          <p:spTgt spid="5">
                                            <p:txEl>
                                              <p:pRg st="0" end="0"/>
                                            </p:txEl>
                                          </p:spTgt>
                                        </p:tgtEl>
                                      </p:cBhvr>
                                    </p:animEffect>
                                  </p:childTnLst>
                                </p:cTn>
                              </p:par>
                            </p:childTnLst>
                          </p:cTn>
                        </p:par>
                        <p:par>
                          <p:cTn id="25" fill="hold" nodeType="afterGroup">
                            <p:stCondLst>
                              <p:cond delay="2000"/>
                            </p:stCondLst>
                            <p:childTnLst>
                              <p:par>
                                <p:cTn id="26" presetID="22" presetClass="entr" presetSubtype="1" fill="hold" nodeType="afterEffect">
                                  <p:stCondLst>
                                    <p:cond delay="0"/>
                                  </p:stCondLst>
                                  <p:childTnLst>
                                    <p:set>
                                      <p:cBhvr>
                                        <p:cTn id="27" dur="1" fill="hold">
                                          <p:stCondLst>
                                            <p:cond delay="0"/>
                                          </p:stCondLst>
                                        </p:cTn>
                                        <p:tgtEl>
                                          <p:spTgt spid="5">
                                            <p:txEl>
                                              <p:pRg st="1" end="1"/>
                                            </p:txEl>
                                          </p:spTgt>
                                        </p:tgtEl>
                                        <p:attrNameLst>
                                          <p:attrName>style.visibility</p:attrName>
                                        </p:attrNameLst>
                                      </p:cBhvr>
                                      <p:to>
                                        <p:strVal val="visible"/>
                                      </p:to>
                                    </p:set>
                                    <p:animEffect transition="in" filter="wipe(up)">
                                      <p:cBhvr>
                                        <p:cTn id="28" dur="1000"/>
                                        <p:tgtEl>
                                          <p:spTgt spid="5">
                                            <p:txEl>
                                              <p:pRg st="1" end="1"/>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up)">
                                      <p:cBhvr>
                                        <p:cTn id="33" dur="1000"/>
                                        <p:tgtEl>
                                          <p:spTgt spid="16"/>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wipe(up)">
                                      <p:cBhvr>
                                        <p:cTn id="38" dur="1000"/>
                                        <p:tgtEl>
                                          <p:spTgt spid="1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35851"/>
                                        </p:tgtEl>
                                        <p:attrNameLst>
                                          <p:attrName>style.visibility</p:attrName>
                                        </p:attrNameLst>
                                      </p:cBhvr>
                                      <p:to>
                                        <p:strVal val="visible"/>
                                      </p:to>
                                    </p:set>
                                    <p:animEffect transition="in" filter="wipe(left)">
                                      <p:cBhvr>
                                        <p:cTn id="43" dur="1000"/>
                                        <p:tgtEl>
                                          <p:spTgt spid="35851"/>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1" fill="hold" nodeType="click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wipe(up)">
                                      <p:cBhvr>
                                        <p:cTn id="48" dur="1000"/>
                                        <p:tgtEl>
                                          <p:spTgt spid="15"/>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35850"/>
                                        </p:tgtEl>
                                        <p:attrNameLst>
                                          <p:attrName>style.visibility</p:attrName>
                                        </p:attrNameLst>
                                      </p:cBhvr>
                                      <p:to>
                                        <p:strVal val="visible"/>
                                      </p:to>
                                    </p:set>
                                    <p:animEffect transition="in" filter="wipe(left)">
                                      <p:cBhvr>
                                        <p:cTn id="53" dur="1000"/>
                                        <p:tgtEl>
                                          <p:spTgt spid="35850"/>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1"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wipe(up)">
                                      <p:cBhvr>
                                        <p:cTn id="58" dur="1000"/>
                                        <p:tgtEl>
                                          <p:spTgt spid="16"/>
                                        </p:tgtEl>
                                      </p:cBhvr>
                                    </p:animEffect>
                                  </p:childTnLst>
                                </p:cTn>
                              </p:par>
                            </p:childTnLst>
                          </p:cTn>
                        </p:par>
                        <p:par>
                          <p:cTn id="59" fill="hold" nodeType="afterGroup">
                            <p:stCondLst>
                              <p:cond delay="1000"/>
                            </p:stCondLst>
                            <p:childTnLst>
                              <p:par>
                                <p:cTn id="60" presetID="22" presetClass="entr" presetSubtype="1" fill="hold" nodeType="afterEffect">
                                  <p:stCondLst>
                                    <p:cond delay="0"/>
                                  </p:stCondLst>
                                  <p:childTnLst>
                                    <p:set>
                                      <p:cBhvr>
                                        <p:cTn id="61" dur="1" fill="hold">
                                          <p:stCondLst>
                                            <p:cond delay="0"/>
                                          </p:stCondLst>
                                        </p:cTn>
                                        <p:tgtEl>
                                          <p:spTgt spid="9"/>
                                        </p:tgtEl>
                                        <p:attrNameLst>
                                          <p:attrName>style.visibility</p:attrName>
                                        </p:attrNameLst>
                                      </p:cBhvr>
                                      <p:to>
                                        <p:strVal val="visible"/>
                                      </p:to>
                                    </p:set>
                                    <p:animEffect transition="in" filter="wipe(up)">
                                      <p:cBhvr>
                                        <p:cTn id="62" dur="2000"/>
                                        <p:tgtEl>
                                          <p:spTgt spid="9"/>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1" fill="hold" nodeType="click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wipe(up)">
                                      <p:cBhvr>
                                        <p:cTn id="67" dur="1000"/>
                                        <p:tgtEl>
                                          <p:spTgt spid="18"/>
                                        </p:tgtEl>
                                      </p:cBhvr>
                                    </p:animEffect>
                                  </p:childTnLst>
                                </p:cTn>
                              </p:par>
                              <p:par>
                                <p:cTn id="68" presetID="22" presetClass="entr" presetSubtype="4" fill="hold"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wipe(down)">
                                      <p:cBhvr>
                                        <p:cTn id="70" dur="1000"/>
                                        <p:tgtEl>
                                          <p:spTgt spid="23"/>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1" fill="hold" nodeType="click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wipe(up)">
                                      <p:cBhvr>
                                        <p:cTn id="75" dur="1000"/>
                                        <p:tgtEl>
                                          <p:spTgt spid="22"/>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1" fill="hold" nodeType="clickEffect">
                                  <p:stCondLst>
                                    <p:cond delay="0"/>
                                  </p:stCondLst>
                                  <p:childTnLst>
                                    <p:set>
                                      <p:cBhvr>
                                        <p:cTn id="79" dur="1" fill="hold">
                                          <p:stCondLst>
                                            <p:cond delay="0"/>
                                          </p:stCondLst>
                                        </p:cTn>
                                        <p:tgtEl>
                                          <p:spTgt spid="21"/>
                                        </p:tgtEl>
                                        <p:attrNameLst>
                                          <p:attrName>style.visibility</p:attrName>
                                        </p:attrNameLst>
                                      </p:cBhvr>
                                      <p:to>
                                        <p:strVal val="visible"/>
                                      </p:to>
                                    </p:set>
                                    <p:animEffect transition="in" filter="wipe(up)">
                                      <p:cBhvr>
                                        <p:cTn id="80" dur="1000"/>
                                        <p:tgtEl>
                                          <p:spTgt spid="21"/>
                                        </p:tgtEl>
                                      </p:cBhvr>
                                    </p:animEffect>
                                  </p:childTnLst>
                                </p:cTn>
                              </p:par>
                              <p:par>
                                <p:cTn id="81" presetID="22" presetClass="entr" presetSubtype="4" fill="hold" nodeType="with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wipe(down)">
                                      <p:cBhvr>
                                        <p:cTn id="83" dur="1000"/>
                                        <p:tgtEl>
                                          <p:spTgt spid="24"/>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1" fill="hold" nodeType="clickEffect">
                                  <p:stCondLst>
                                    <p:cond delay="0"/>
                                  </p:stCondLst>
                                  <p:childTnLst>
                                    <p:set>
                                      <p:cBhvr>
                                        <p:cTn id="87" dur="1" fill="hold">
                                          <p:stCondLst>
                                            <p:cond delay="0"/>
                                          </p:stCondLst>
                                        </p:cTn>
                                        <p:tgtEl>
                                          <p:spTgt spid="35853"/>
                                        </p:tgtEl>
                                        <p:attrNameLst>
                                          <p:attrName>style.visibility</p:attrName>
                                        </p:attrNameLst>
                                      </p:cBhvr>
                                      <p:to>
                                        <p:strVal val="visible"/>
                                      </p:to>
                                    </p:set>
                                    <p:animEffect transition="in" filter="wipe(up)">
                                      <p:cBhvr>
                                        <p:cTn id="88" dur="1000"/>
                                        <p:tgtEl>
                                          <p:spTgt spid="358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3" grpId="0" animBg="1"/>
      <p:bldP spid="4" grpId="0"/>
      <p:bldP spid="5" grpId="0" build="p" animBg="1"/>
      <p:bldP spid="35845" grpId="0" animBg="1"/>
      <p:bldP spid="14" grpId="0"/>
      <p:bldP spid="15" grpId="0"/>
      <p:bldP spid="16" grpId="0" animBg="1"/>
      <p:bldP spid="16" grpId="1" animBg="1"/>
      <p:bldP spid="18" grpId="0"/>
      <p:bldP spid="21" grpId="0"/>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301" name="Rectangle 5">
            <a:extLst>
              <a:ext uri="{FF2B5EF4-FFF2-40B4-BE49-F238E27FC236}">
                <a16:creationId xmlns:a16="http://schemas.microsoft.com/office/drawing/2014/main" id="{436E83E4-6EF5-F265-96E0-898B95AEBB6B}"/>
              </a:ext>
            </a:extLst>
          </p:cNvPr>
          <p:cNvSpPr>
            <a:spLocks noChangeArrowheads="1"/>
          </p:cNvSpPr>
          <p:nvPr/>
        </p:nvSpPr>
        <p:spPr bwMode="auto">
          <a:xfrm>
            <a:off x="0" y="3214688"/>
            <a:ext cx="9144000" cy="0"/>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ea typeface="宋体" charset="-122"/>
            </a:endParaRPr>
          </a:p>
        </p:txBody>
      </p:sp>
      <p:sp>
        <p:nvSpPr>
          <p:cNvPr id="55305" name="Rectangle 9">
            <a:extLst>
              <a:ext uri="{FF2B5EF4-FFF2-40B4-BE49-F238E27FC236}">
                <a16:creationId xmlns:a16="http://schemas.microsoft.com/office/drawing/2014/main" id="{F667D1D5-71C3-4953-2553-9C62DD98D9D1}"/>
              </a:ext>
            </a:extLst>
          </p:cNvPr>
          <p:cNvSpPr>
            <a:spLocks noChangeArrowheads="1"/>
          </p:cNvSpPr>
          <p:nvPr/>
        </p:nvSpPr>
        <p:spPr bwMode="auto">
          <a:xfrm>
            <a:off x="0" y="3697288"/>
            <a:ext cx="184150" cy="36671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eaLnBrk="0" hangingPunct="0">
              <a:defRPr/>
            </a:pPr>
            <a:endParaRPr lang="zh-CN" altLang="en-US">
              <a:ea typeface="宋体" charset="-122"/>
            </a:endParaRPr>
          </a:p>
        </p:txBody>
      </p:sp>
      <p:sp>
        <p:nvSpPr>
          <p:cNvPr id="55308" name="Rectangle 12">
            <a:extLst>
              <a:ext uri="{FF2B5EF4-FFF2-40B4-BE49-F238E27FC236}">
                <a16:creationId xmlns:a16="http://schemas.microsoft.com/office/drawing/2014/main" id="{49C30042-28CF-7E96-6583-3032F3C1DA8D}"/>
              </a:ext>
            </a:extLst>
          </p:cNvPr>
          <p:cNvSpPr>
            <a:spLocks noChangeArrowheads="1"/>
          </p:cNvSpPr>
          <p:nvPr/>
        </p:nvSpPr>
        <p:spPr bwMode="auto">
          <a:xfrm>
            <a:off x="0" y="2984500"/>
            <a:ext cx="9144000" cy="0"/>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ea typeface="宋体" charset="-122"/>
            </a:endParaRPr>
          </a:p>
        </p:txBody>
      </p:sp>
      <p:graphicFrame>
        <p:nvGraphicFramePr>
          <p:cNvPr id="2" name="Object 4">
            <a:extLst>
              <a:ext uri="{FF2B5EF4-FFF2-40B4-BE49-F238E27FC236}">
                <a16:creationId xmlns:a16="http://schemas.microsoft.com/office/drawing/2014/main" id="{1981AE4E-3EE4-27A8-00B9-D1825E9F5158}"/>
              </a:ext>
            </a:extLst>
          </p:cNvPr>
          <p:cNvGraphicFramePr>
            <a:graphicFrameLocks noChangeAspect="1"/>
          </p:cNvGraphicFramePr>
          <p:nvPr/>
        </p:nvGraphicFramePr>
        <p:xfrm>
          <a:off x="1855788" y="1785938"/>
          <a:ext cx="3703637" cy="1000125"/>
        </p:xfrm>
        <a:graphic>
          <a:graphicData uri="http://schemas.openxmlformats.org/presentationml/2006/ole">
            <mc:AlternateContent xmlns:mc="http://schemas.openxmlformats.org/markup-compatibility/2006">
              <mc:Choice xmlns:v="urn:schemas-microsoft-com:vml" Requires="v">
                <p:oleObj name="Equation" r:id="rId2" imgW="1600200" imgH="431640" progId="Equation.DSMT4">
                  <p:embed/>
                </p:oleObj>
              </mc:Choice>
              <mc:Fallback>
                <p:oleObj name="Equation" r:id="rId2" imgW="1600200" imgH="43164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5788" y="1785938"/>
                        <a:ext cx="3703637" cy="1000125"/>
                      </a:xfrm>
                      <a:prstGeom prst="rect">
                        <a:avLst/>
                      </a:prstGeom>
                      <a:noFill/>
                      <a:ln w="38100" cmpd="dbl">
                        <a:solidFill>
                          <a:srgbClr val="FF575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rgbClr val="993434"/>
                              </a:outerShdw>
                            </a:effectLst>
                          </a14:hiddenEffects>
                        </a:ext>
                      </a:extLst>
                    </p:spPr>
                  </p:pic>
                </p:oleObj>
              </mc:Fallback>
            </mc:AlternateContent>
          </a:graphicData>
        </a:graphic>
      </p:graphicFrame>
      <p:graphicFrame>
        <p:nvGraphicFramePr>
          <p:cNvPr id="9" name="Object 13">
            <a:extLst>
              <a:ext uri="{FF2B5EF4-FFF2-40B4-BE49-F238E27FC236}">
                <a16:creationId xmlns:a16="http://schemas.microsoft.com/office/drawing/2014/main" id="{ECD51846-F892-4690-DA07-AA04E70A755C}"/>
              </a:ext>
            </a:extLst>
          </p:cNvPr>
          <p:cNvGraphicFramePr>
            <a:graphicFrameLocks noChangeAspect="1"/>
          </p:cNvGraphicFramePr>
          <p:nvPr/>
        </p:nvGraphicFramePr>
        <p:xfrm>
          <a:off x="6072188" y="1785938"/>
          <a:ext cx="2085975" cy="1000125"/>
        </p:xfrm>
        <a:graphic>
          <a:graphicData uri="http://schemas.openxmlformats.org/presentationml/2006/ole">
            <mc:AlternateContent xmlns:mc="http://schemas.openxmlformats.org/markup-compatibility/2006">
              <mc:Choice xmlns:v="urn:schemas-microsoft-com:vml" Requires="v">
                <p:oleObj name="Equation" r:id="rId4" imgW="901440" imgH="431640" progId="Equation.DSMT4">
                  <p:embed/>
                </p:oleObj>
              </mc:Choice>
              <mc:Fallback>
                <p:oleObj name="Equation" r:id="rId4" imgW="901440" imgH="431640" progId="Equation.DSMT4">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72188" y="1785938"/>
                        <a:ext cx="2085975" cy="1000125"/>
                      </a:xfrm>
                      <a:prstGeom prst="rect">
                        <a:avLst/>
                      </a:prstGeom>
                      <a:noFill/>
                      <a:ln w="38100" cmpd="dbl">
                        <a:solidFill>
                          <a:srgbClr val="FF575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rgbClr val="993434"/>
                              </a:outerShdw>
                            </a:effectLst>
                          </a14:hiddenEffects>
                        </a:ext>
                      </a:extLst>
                    </p:spPr>
                  </p:pic>
                </p:oleObj>
              </mc:Fallback>
            </mc:AlternateContent>
          </a:graphicData>
        </a:graphic>
      </p:graphicFrame>
      <p:sp>
        <p:nvSpPr>
          <p:cNvPr id="15" name="矩形 14">
            <a:extLst>
              <a:ext uri="{FF2B5EF4-FFF2-40B4-BE49-F238E27FC236}">
                <a16:creationId xmlns:a16="http://schemas.microsoft.com/office/drawing/2014/main" id="{13EE06E9-970D-4405-7369-74C2FF0DEABA}"/>
              </a:ext>
            </a:extLst>
          </p:cNvPr>
          <p:cNvSpPr/>
          <p:nvPr/>
        </p:nvSpPr>
        <p:spPr>
          <a:xfrm>
            <a:off x="1743075" y="3101975"/>
            <a:ext cx="1500188" cy="400050"/>
          </a:xfrm>
          <a:prstGeom prst="rect">
            <a:avLst/>
          </a:prstGeom>
        </p:spPr>
        <p:txBody>
          <a:bodyPr>
            <a:spAutoFit/>
          </a:bodyPr>
          <a:lstStyle/>
          <a:p>
            <a:pPr>
              <a:defRPr/>
            </a:pPr>
            <a:r>
              <a:rPr lang="zh-CN" altLang="en-US" sz="2000" kern="0" dirty="0">
                <a:solidFill>
                  <a:srgbClr val="000000"/>
                </a:solidFill>
                <a:effectLst>
                  <a:outerShdw blurRad="38100" dist="38100" dir="2700000" algn="tl">
                    <a:srgbClr val="000000">
                      <a:alpha val="43137"/>
                    </a:srgbClr>
                  </a:outerShdw>
                </a:effectLst>
                <a:latin typeface="Arial" pitchFamily="34" charset="0"/>
                <a:ea typeface="微软雅黑" pitchFamily="34" charset="-122"/>
                <a:cs typeface="Arial" pitchFamily="34" charset="0"/>
              </a:rPr>
              <a:t>当 </a:t>
            </a:r>
            <a:r>
              <a:rPr lang="en-US" altLang="zh-CN" sz="2000" i="1" kern="0" dirty="0">
                <a:solidFill>
                  <a:srgbClr val="0000CC"/>
                </a:solidFill>
                <a:latin typeface="Arial" pitchFamily="34" charset="0"/>
                <a:ea typeface="微软雅黑" pitchFamily="34" charset="-122"/>
                <a:cs typeface="Arial" pitchFamily="34" charset="0"/>
              </a:rPr>
              <a:t>m =</a:t>
            </a:r>
            <a:r>
              <a:rPr lang="en-US" altLang="zh-CN" sz="2000" kern="0" dirty="0">
                <a:solidFill>
                  <a:srgbClr val="0000CC"/>
                </a:solidFill>
                <a:latin typeface="Arial" pitchFamily="34" charset="0"/>
                <a:ea typeface="微软雅黑" pitchFamily="34" charset="-122"/>
                <a:cs typeface="Arial" pitchFamily="34" charset="0"/>
              </a:rPr>
              <a:t>0 </a:t>
            </a:r>
            <a:r>
              <a:rPr lang="zh-CN" altLang="en-US" sz="2000" kern="0" dirty="0">
                <a:solidFill>
                  <a:srgbClr val="000000"/>
                </a:solidFill>
                <a:latin typeface="Arial" pitchFamily="34" charset="0"/>
                <a:ea typeface="微软雅黑" pitchFamily="34" charset="-122"/>
                <a:cs typeface="Arial" pitchFamily="34" charset="0"/>
              </a:rPr>
              <a:t>时</a:t>
            </a:r>
            <a:endParaRPr lang="zh-CN" altLang="en-US" dirty="0">
              <a:ea typeface="宋体" charset="-122"/>
            </a:endParaRPr>
          </a:p>
        </p:txBody>
      </p:sp>
      <p:graphicFrame>
        <p:nvGraphicFramePr>
          <p:cNvPr id="16" name="Object 9">
            <a:extLst>
              <a:ext uri="{FF2B5EF4-FFF2-40B4-BE49-F238E27FC236}">
                <a16:creationId xmlns:a16="http://schemas.microsoft.com/office/drawing/2014/main" id="{0B8E6AE2-9281-BB7B-F8B8-F086430F1716}"/>
              </a:ext>
            </a:extLst>
          </p:cNvPr>
          <p:cNvGraphicFramePr>
            <a:graphicFrameLocks noChangeAspect="1"/>
          </p:cNvGraphicFramePr>
          <p:nvPr/>
        </p:nvGraphicFramePr>
        <p:xfrm>
          <a:off x="3155950" y="3148013"/>
          <a:ext cx="2416175" cy="566737"/>
        </p:xfrm>
        <a:graphic>
          <a:graphicData uri="http://schemas.openxmlformats.org/presentationml/2006/ole">
            <mc:AlternateContent xmlns:mc="http://schemas.openxmlformats.org/markup-compatibility/2006">
              <mc:Choice xmlns:v="urn:schemas-microsoft-com:vml" Requires="v">
                <p:oleObj name="Equation" r:id="rId6" imgW="1028520" imgH="241200" progId="Equation.DSMT4">
                  <p:embed/>
                </p:oleObj>
              </mc:Choice>
              <mc:Fallback>
                <p:oleObj name="Equation" r:id="rId6" imgW="1028520" imgH="241200" progId="Equation.DSMT4">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55950" y="3148013"/>
                        <a:ext cx="2416175" cy="566737"/>
                      </a:xfrm>
                      <a:prstGeom prst="rect">
                        <a:avLst/>
                      </a:prstGeom>
                      <a:noFill/>
                      <a:ln w="38100" cmpd="dbl">
                        <a:solidFill>
                          <a:srgbClr val="99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rgbClr val="993434"/>
                              </a:outerShdw>
                            </a:effectLst>
                          </a14:hiddenEffects>
                        </a:ext>
                      </a:extLst>
                    </p:spPr>
                  </p:pic>
                </p:oleObj>
              </mc:Fallback>
            </mc:AlternateContent>
          </a:graphicData>
        </a:graphic>
      </p:graphicFrame>
      <p:graphicFrame>
        <p:nvGraphicFramePr>
          <p:cNvPr id="36879" name="Object 6">
            <a:extLst>
              <a:ext uri="{FF2B5EF4-FFF2-40B4-BE49-F238E27FC236}">
                <a16:creationId xmlns:a16="http://schemas.microsoft.com/office/drawing/2014/main" id="{BFE78863-EEC2-14DE-2779-24EDC9EE7E57}"/>
              </a:ext>
            </a:extLst>
          </p:cNvPr>
          <p:cNvGraphicFramePr>
            <a:graphicFrameLocks noChangeAspect="1"/>
          </p:cNvGraphicFramePr>
          <p:nvPr/>
        </p:nvGraphicFramePr>
        <p:xfrm>
          <a:off x="6715125" y="3119438"/>
          <a:ext cx="1428750" cy="584200"/>
        </p:xfrm>
        <a:graphic>
          <a:graphicData uri="http://schemas.openxmlformats.org/presentationml/2006/ole">
            <mc:AlternateContent xmlns:mc="http://schemas.openxmlformats.org/markup-compatibility/2006">
              <mc:Choice xmlns:v="urn:schemas-microsoft-com:vml" Requires="v">
                <p:oleObj name="Equation" r:id="rId8" imgW="622080" imgH="253800" progId="Equation.DSMT4">
                  <p:embed/>
                </p:oleObj>
              </mc:Choice>
              <mc:Fallback>
                <p:oleObj name="Equation" r:id="rId8" imgW="622080" imgH="253800" progId="Equation.DSMT4">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15125" y="3119438"/>
                        <a:ext cx="1428750" cy="584200"/>
                      </a:xfrm>
                      <a:prstGeom prst="rect">
                        <a:avLst/>
                      </a:prstGeom>
                      <a:noFill/>
                      <a:ln w="38100" cmpd="dbl">
                        <a:solidFill>
                          <a:srgbClr val="99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rgbClr val="9999FF">
                                  <a:gamma/>
                                  <a:shade val="60000"/>
                                  <a:invGamma/>
                                </a:srgbClr>
                              </a:outerShdw>
                            </a:effectLst>
                          </a14:hiddenEffects>
                        </a:ext>
                      </a:extLst>
                    </p:spPr>
                  </p:pic>
                </p:oleObj>
              </mc:Fallback>
            </mc:AlternateContent>
          </a:graphicData>
        </a:graphic>
      </p:graphicFrame>
      <p:grpSp>
        <p:nvGrpSpPr>
          <p:cNvPr id="3" name="组合 57">
            <a:extLst>
              <a:ext uri="{FF2B5EF4-FFF2-40B4-BE49-F238E27FC236}">
                <a16:creationId xmlns:a16="http://schemas.microsoft.com/office/drawing/2014/main" id="{D2F54B12-5DD2-0CE1-AFBE-3FA142C7724E}"/>
              </a:ext>
            </a:extLst>
          </p:cNvPr>
          <p:cNvGrpSpPr>
            <a:grpSpLocks/>
          </p:cNvGrpSpPr>
          <p:nvPr/>
        </p:nvGrpSpPr>
        <p:grpSpPr bwMode="auto">
          <a:xfrm>
            <a:off x="714375" y="714375"/>
            <a:ext cx="1071563" cy="642938"/>
            <a:chOff x="2500298" y="3214686"/>
            <a:chExt cx="1071570" cy="642942"/>
          </a:xfrm>
        </p:grpSpPr>
        <p:sp>
          <p:nvSpPr>
            <p:cNvPr id="19" name="椭圆 18">
              <a:extLst>
                <a:ext uri="{FF2B5EF4-FFF2-40B4-BE49-F238E27FC236}">
                  <a16:creationId xmlns:a16="http://schemas.microsoft.com/office/drawing/2014/main" id="{0E1AACB2-04A1-9A7E-1A34-A4423997506D}"/>
                </a:ext>
              </a:extLst>
            </p:cNvPr>
            <p:cNvSpPr/>
            <p:nvPr/>
          </p:nvSpPr>
          <p:spPr bwMode="auto">
            <a:xfrm>
              <a:off x="2500298" y="3214686"/>
              <a:ext cx="1071570" cy="642942"/>
            </a:xfrm>
            <a:prstGeom prst="ellipse">
              <a:avLst/>
            </a:prstGeom>
            <a:solidFill>
              <a:schemeClr val="bg2">
                <a:lumMod val="10000"/>
                <a:lumOff val="90000"/>
              </a:schemeClr>
            </a:solidFill>
            <a:ln w="9525" cap="flat" cmpd="sng" algn="ctr">
              <a:solidFill>
                <a:schemeClr val="tx2">
                  <a:lumMod val="60000"/>
                  <a:lumOff val="40000"/>
                </a:schemeClr>
              </a:solidFill>
              <a:prstDash val="solid"/>
              <a:miter lim="800000"/>
              <a:headEnd type="none" w="med" len="med"/>
              <a:tailEnd type="none" w="med" len="med"/>
            </a:ln>
            <a:effectLst>
              <a:outerShdw blurRad="50800" dist="38100" dir="18900000" algn="bl" rotWithShape="0">
                <a:prstClr val="black">
                  <a:alpha val="40000"/>
                </a:prstClr>
              </a:outerShdw>
            </a:effectLst>
          </p:spPr>
          <p:txBody>
            <a:bodyPr wrap="none"/>
            <a:lstStyle/>
            <a:p>
              <a:pPr>
                <a:defRPr/>
              </a:pPr>
              <a:endParaRPr lang="zh-CN" altLang="en-US" b="1" dirty="0">
                <a:ea typeface="宋体" charset="-122"/>
              </a:endParaRPr>
            </a:p>
          </p:txBody>
        </p:sp>
        <p:sp>
          <p:nvSpPr>
            <p:cNvPr id="20" name="矩形 19">
              <a:extLst>
                <a:ext uri="{FF2B5EF4-FFF2-40B4-BE49-F238E27FC236}">
                  <a16:creationId xmlns:a16="http://schemas.microsoft.com/office/drawing/2014/main" id="{7316D69F-A742-3A5A-73F7-CFCA13E85FFF}"/>
                </a:ext>
              </a:extLst>
            </p:cNvPr>
            <p:cNvSpPr/>
            <p:nvPr/>
          </p:nvSpPr>
          <p:spPr>
            <a:xfrm>
              <a:off x="2566973" y="3286124"/>
              <a:ext cx="906469" cy="523878"/>
            </a:xfrm>
            <a:prstGeom prst="rect">
              <a:avLst/>
            </a:prstGeom>
          </p:spPr>
          <p:txBody>
            <a:bodyPr wrap="none">
              <a:spAutoFit/>
            </a:bodyPr>
            <a:lstStyle/>
            <a:p>
              <a:pPr>
                <a:defRPr/>
              </a:pPr>
              <a:r>
                <a:rPr lang="zh-CN" altLang="en-US" sz="2800" b="1" kern="0" dirty="0">
                  <a:solidFill>
                    <a:srgbClr val="990099"/>
                  </a:solidFill>
                  <a:latin typeface="黑体" pitchFamily="2" charset="-122"/>
                  <a:ea typeface="黑体" pitchFamily="2" charset="-122"/>
                </a:rPr>
                <a:t>比较</a:t>
              </a:r>
              <a:endParaRPr lang="zh-CN" altLang="en-US" sz="2800" b="1" dirty="0">
                <a:solidFill>
                  <a:srgbClr val="990099"/>
                </a:solidFill>
                <a:latin typeface="黑体" pitchFamily="2" charset="-122"/>
                <a:ea typeface="黑体" pitchFamily="2" charset="-122"/>
              </a:endParaRPr>
            </a:p>
          </p:txBody>
        </p:sp>
      </p:grpSp>
      <p:sp>
        <p:nvSpPr>
          <p:cNvPr id="21" name="矩形 20">
            <a:extLst>
              <a:ext uri="{FF2B5EF4-FFF2-40B4-BE49-F238E27FC236}">
                <a16:creationId xmlns:a16="http://schemas.microsoft.com/office/drawing/2014/main" id="{57F2A2DE-C681-8D65-F4AD-9C6A02148C5A}"/>
              </a:ext>
            </a:extLst>
          </p:cNvPr>
          <p:cNvSpPr/>
          <p:nvPr/>
        </p:nvSpPr>
        <p:spPr>
          <a:xfrm>
            <a:off x="2314575" y="1328738"/>
            <a:ext cx="954088" cy="400050"/>
          </a:xfrm>
          <a:prstGeom prst="rect">
            <a:avLst/>
          </a:prstGeom>
        </p:spPr>
        <p:txBody>
          <a:bodyPr wrap="none">
            <a:spAutoFit/>
          </a:bodyPr>
          <a:lstStyle/>
          <a:p>
            <a:pPr>
              <a:defRPr/>
            </a:pPr>
            <a:r>
              <a:rPr lang="zh-CN" altLang="en-US" sz="2000" kern="0" dirty="0">
                <a:effectLst>
                  <a:outerShdw blurRad="38100" dist="38100" dir="2700000" algn="tl">
                    <a:srgbClr val="000000">
                      <a:alpha val="43137"/>
                    </a:srgbClr>
                  </a:outerShdw>
                </a:effectLst>
                <a:latin typeface="微软雅黑" pitchFamily="34" charset="-122"/>
                <a:ea typeface="微软雅黑" pitchFamily="34" charset="-122"/>
              </a:rPr>
              <a:t>漏同步</a:t>
            </a:r>
            <a:endParaRPr lang="zh-CN" altLang="en-US" sz="2000" dirty="0">
              <a:effectLst>
                <a:outerShdw blurRad="38100" dist="38100" dir="2700000" algn="tl">
                  <a:srgbClr val="000000">
                    <a:alpha val="43137"/>
                  </a:srgbClr>
                </a:outerShdw>
              </a:effectLst>
              <a:ea typeface="宋体" charset="-122"/>
            </a:endParaRPr>
          </a:p>
        </p:txBody>
      </p:sp>
      <p:sp>
        <p:nvSpPr>
          <p:cNvPr id="22" name="矩形 21">
            <a:extLst>
              <a:ext uri="{FF2B5EF4-FFF2-40B4-BE49-F238E27FC236}">
                <a16:creationId xmlns:a16="http://schemas.microsoft.com/office/drawing/2014/main" id="{C7E11707-7412-240B-F6EC-D5B07BAF53B9}"/>
              </a:ext>
            </a:extLst>
          </p:cNvPr>
          <p:cNvSpPr/>
          <p:nvPr/>
        </p:nvSpPr>
        <p:spPr>
          <a:xfrm>
            <a:off x="6357938" y="1314450"/>
            <a:ext cx="954087" cy="400050"/>
          </a:xfrm>
          <a:prstGeom prst="rect">
            <a:avLst/>
          </a:prstGeom>
        </p:spPr>
        <p:txBody>
          <a:bodyPr wrap="none">
            <a:spAutoFit/>
          </a:bodyPr>
          <a:lstStyle/>
          <a:p>
            <a:pPr>
              <a:defRPr/>
            </a:pPr>
            <a:r>
              <a:rPr lang="zh-CN" altLang="en-US" sz="2000" kern="0" dirty="0">
                <a:effectLst>
                  <a:outerShdw blurRad="38100" dist="38100" dir="2700000" algn="tl">
                    <a:srgbClr val="000000">
                      <a:alpha val="43137"/>
                    </a:srgbClr>
                  </a:outerShdw>
                </a:effectLst>
                <a:latin typeface="微软雅黑" pitchFamily="34" charset="-122"/>
                <a:ea typeface="微软雅黑" pitchFamily="34" charset="-122"/>
              </a:rPr>
              <a:t>假同步</a:t>
            </a:r>
            <a:endParaRPr lang="zh-CN" altLang="en-US" sz="2000" dirty="0">
              <a:effectLst>
                <a:outerShdw blurRad="38100" dist="38100" dir="2700000" algn="tl">
                  <a:srgbClr val="000000">
                    <a:alpha val="43137"/>
                  </a:srgbClr>
                </a:outerShdw>
              </a:effectLst>
              <a:ea typeface="宋体" charset="-122"/>
            </a:endParaRPr>
          </a:p>
        </p:txBody>
      </p:sp>
      <p:sp>
        <p:nvSpPr>
          <p:cNvPr id="58" name="Rectangle 14">
            <a:extLst>
              <a:ext uri="{FF2B5EF4-FFF2-40B4-BE49-F238E27FC236}">
                <a16:creationId xmlns:a16="http://schemas.microsoft.com/office/drawing/2014/main" id="{BB25D6C3-7C9C-00A4-58AD-31545152FC47}"/>
              </a:ext>
            </a:extLst>
          </p:cNvPr>
          <p:cNvSpPr>
            <a:spLocks noChangeArrowheads="1"/>
          </p:cNvSpPr>
          <p:nvPr/>
        </p:nvSpPr>
        <p:spPr bwMode="auto">
          <a:xfrm>
            <a:off x="857250" y="5673725"/>
            <a:ext cx="8001000" cy="541338"/>
          </a:xfrm>
          <a:prstGeom prst="rect">
            <a:avLst/>
          </a:prstGeom>
          <a:noFill/>
          <a:ln w="9525">
            <a:noFill/>
            <a:miter lim="800000"/>
            <a:headEnd/>
            <a:tailEnd/>
          </a:ln>
          <a:effectLst>
            <a:prstShdw prst="shdw17" dist="17961" dir="2700000">
              <a:schemeClr val="accent1">
                <a:gamma/>
                <a:shade val="60000"/>
                <a:invGamma/>
              </a:schemeClr>
            </a:prstShdw>
          </a:effectLst>
        </p:spPr>
        <p:txBody>
          <a:bodyPr anchor="ctr">
            <a:spAutoFit/>
          </a:bodyPr>
          <a:lstStyle/>
          <a:p>
            <a:pPr eaLnBrk="0" hangingPunct="0">
              <a:lnSpc>
                <a:spcPts val="3500"/>
              </a:lnSpc>
              <a:spcBef>
                <a:spcPct val="20000"/>
              </a:spcBef>
              <a:buClr>
                <a:srgbClr val="CC00CC"/>
              </a:buClr>
              <a:buSzPct val="70000"/>
              <a:buFont typeface="Wingdings" pitchFamily="2" charset="2"/>
              <a:buNone/>
              <a:defRPr/>
            </a:pPr>
            <a:r>
              <a:rPr lang="zh-CN" altLang="en-US" sz="2000">
                <a:effectLst>
                  <a:outerShdw blurRad="38100" dist="38100" dir="2700000" algn="tl">
                    <a:srgbClr val="C0C0C0"/>
                  </a:outerShdw>
                </a:effectLst>
                <a:latin typeface="微软雅黑" pitchFamily="34" charset="-122"/>
                <a:ea typeface="微软雅黑" pitchFamily="34" charset="-122"/>
              </a:rPr>
              <a:t>可见：</a:t>
            </a:r>
            <a:r>
              <a:rPr lang="en-US" altLang="zh-CN" sz="2000" i="1">
                <a:latin typeface="Times New Roman" pitchFamily="18" charset="0"/>
                <a:ea typeface="微软雅黑" pitchFamily="34" charset="-122"/>
                <a:cs typeface="Times New Roman" pitchFamily="18" charset="0"/>
              </a:rPr>
              <a:t> </a:t>
            </a:r>
            <a:r>
              <a:rPr lang="en-US" altLang="zh-CN" sz="2400" i="1">
                <a:solidFill>
                  <a:srgbClr val="FF0000"/>
                </a:solidFill>
                <a:latin typeface="Times New Roman" pitchFamily="18" charset="0"/>
                <a:ea typeface="微软雅黑" pitchFamily="34" charset="-122"/>
                <a:cs typeface="Times New Roman" pitchFamily="18" charset="0"/>
              </a:rPr>
              <a:t>P</a:t>
            </a:r>
            <a:r>
              <a:rPr lang="en-US" altLang="zh-CN" sz="2400" i="1" baseline="-25000">
                <a:solidFill>
                  <a:srgbClr val="FF0000"/>
                </a:solidFill>
                <a:latin typeface="Times New Roman" pitchFamily="18" charset="0"/>
                <a:ea typeface="微软雅黑" pitchFamily="34" charset="-122"/>
                <a:cs typeface="Times New Roman" pitchFamily="18" charset="0"/>
              </a:rPr>
              <a:t>l  </a:t>
            </a:r>
            <a:r>
              <a:rPr lang="zh-CN" altLang="en-US" sz="2000">
                <a:latin typeface="微软雅黑" pitchFamily="34" charset="-122"/>
                <a:ea typeface="微软雅黑" pitchFamily="34" charset="-122"/>
              </a:rPr>
              <a:t>和</a:t>
            </a:r>
            <a:r>
              <a:rPr lang="en-US" altLang="zh-CN" sz="2400" i="1">
                <a:solidFill>
                  <a:srgbClr val="FF0000"/>
                </a:solidFill>
                <a:latin typeface="Times New Roman" pitchFamily="18" charset="0"/>
                <a:ea typeface="微软雅黑" pitchFamily="34" charset="-122"/>
              </a:rPr>
              <a:t>P</a:t>
            </a:r>
            <a:r>
              <a:rPr lang="en-US" altLang="zh-CN" sz="2400" i="1" baseline="-25000">
                <a:solidFill>
                  <a:srgbClr val="FF0000"/>
                </a:solidFill>
                <a:latin typeface="Times New Roman" pitchFamily="18" charset="0"/>
                <a:ea typeface="微软雅黑" pitchFamily="34" charset="-122"/>
              </a:rPr>
              <a:t>f  </a:t>
            </a:r>
            <a:r>
              <a:rPr lang="zh-CN" altLang="en-US" sz="2000">
                <a:latin typeface="微软雅黑" pitchFamily="34" charset="-122"/>
                <a:ea typeface="微软雅黑" pitchFamily="34" charset="-122"/>
              </a:rPr>
              <a:t>对 </a:t>
            </a:r>
            <a:r>
              <a:rPr lang="en-US" altLang="zh-CN" sz="2800" i="1">
                <a:solidFill>
                  <a:srgbClr val="0000CC"/>
                </a:solidFill>
                <a:latin typeface="Times New Roman" pitchFamily="18" charset="0"/>
                <a:sym typeface="Symbol" pitchFamily="18" charset="2"/>
              </a:rPr>
              <a:t>m </a:t>
            </a:r>
            <a:r>
              <a:rPr lang="zh-CN" altLang="en-US" sz="2000">
                <a:latin typeface="微软雅黑" pitchFamily="34" charset="-122"/>
                <a:ea typeface="微软雅黑" pitchFamily="34" charset="-122"/>
              </a:rPr>
              <a:t>和 </a:t>
            </a:r>
            <a:r>
              <a:rPr lang="en-US" altLang="zh-CN" sz="2800" i="1">
                <a:solidFill>
                  <a:srgbClr val="0000CC"/>
                </a:solidFill>
                <a:latin typeface="Times New Roman" pitchFamily="18" charset="0"/>
                <a:sym typeface="Symbol" pitchFamily="18" charset="2"/>
              </a:rPr>
              <a:t>n </a:t>
            </a:r>
            <a:r>
              <a:rPr lang="zh-CN" altLang="en-US" sz="2000">
                <a:latin typeface="微软雅黑" pitchFamily="34" charset="-122"/>
                <a:ea typeface="微软雅黑" pitchFamily="34" charset="-122"/>
              </a:rPr>
              <a:t>的要求都是矛盾的，设计时需折中考虑。 </a:t>
            </a:r>
          </a:p>
        </p:txBody>
      </p:sp>
      <p:pic>
        <p:nvPicPr>
          <p:cNvPr id="29726" name="Picture 30">
            <a:extLst>
              <a:ext uri="{FF2B5EF4-FFF2-40B4-BE49-F238E27FC236}">
                <a16:creationId xmlns:a16="http://schemas.microsoft.com/office/drawing/2014/main" id="{860D2111-D781-4D2D-D217-77365C6BD09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43063" y="3929063"/>
            <a:ext cx="3786187"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0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1000"/>
                                        <p:tgtEl>
                                          <p:spTgt spid="21"/>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up)">
                                      <p:cBhvr>
                                        <p:cTn id="16" dur="1000"/>
                                        <p:tgtEl>
                                          <p:spTgt spid="2"/>
                                        </p:tgtEl>
                                      </p:cBhvr>
                                    </p:animEffect>
                                  </p:childTnLst>
                                </p:cTn>
                              </p:par>
                              <p:par>
                                <p:cTn id="17" presetID="22" presetClass="entr" presetSubtype="8"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wipe(left)">
                                      <p:cBhvr>
                                        <p:cTn id="19" dur="1000"/>
                                        <p:tgtEl>
                                          <p:spTgt spid="22"/>
                                        </p:tgtEl>
                                      </p:cBhvr>
                                    </p:animEffect>
                                  </p:childTnLst>
                                </p:cTn>
                              </p:par>
                            </p:childTnLst>
                          </p:cTn>
                        </p:par>
                        <p:par>
                          <p:cTn id="20" fill="hold" nodeType="afterGroup">
                            <p:stCondLst>
                              <p:cond delay="2000"/>
                            </p:stCondLst>
                            <p:childTnLst>
                              <p:par>
                                <p:cTn id="21" presetID="22" presetClass="entr" presetSubtype="1" fill="hold"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up)">
                                      <p:cBhvr>
                                        <p:cTn id="23" dur="1000"/>
                                        <p:tgtEl>
                                          <p:spTgt spid="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left)">
                                      <p:cBhvr>
                                        <p:cTn id="28" dur="1000"/>
                                        <p:tgtEl>
                                          <p:spTgt spid="15"/>
                                        </p:tgtEl>
                                      </p:cBhvr>
                                    </p:animEffect>
                                  </p:childTnLst>
                                </p:cTn>
                              </p:par>
                            </p:childTnLst>
                          </p:cTn>
                        </p:par>
                        <p:par>
                          <p:cTn id="29" fill="hold" nodeType="afterGroup">
                            <p:stCondLst>
                              <p:cond delay="1000"/>
                            </p:stCondLst>
                            <p:childTnLst>
                              <p:par>
                                <p:cTn id="30" presetID="47" presetClass="entr" presetSubtype="0" fill="hold" nodeType="after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1000"/>
                                        <p:tgtEl>
                                          <p:spTgt spid="16"/>
                                        </p:tgtEl>
                                      </p:cBhvr>
                                    </p:animEffect>
                                    <p:anim calcmode="lin" valueType="num">
                                      <p:cBhvr>
                                        <p:cTn id="33" dur="1000" fill="hold"/>
                                        <p:tgtEl>
                                          <p:spTgt spid="16"/>
                                        </p:tgtEl>
                                        <p:attrNameLst>
                                          <p:attrName>ppt_x</p:attrName>
                                        </p:attrNameLst>
                                      </p:cBhvr>
                                      <p:tavLst>
                                        <p:tav tm="0">
                                          <p:val>
                                            <p:strVal val="#ppt_x"/>
                                          </p:val>
                                        </p:tav>
                                        <p:tav tm="100000">
                                          <p:val>
                                            <p:strVal val="#ppt_x"/>
                                          </p:val>
                                        </p:tav>
                                      </p:tavLst>
                                    </p:anim>
                                    <p:anim calcmode="lin" valueType="num">
                                      <p:cBhvr>
                                        <p:cTn id="3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47" presetClass="entr" presetSubtype="0" fill="hold" nodeType="clickEffect">
                                  <p:stCondLst>
                                    <p:cond delay="0"/>
                                  </p:stCondLst>
                                  <p:childTnLst>
                                    <p:set>
                                      <p:cBhvr>
                                        <p:cTn id="38" dur="1" fill="hold">
                                          <p:stCondLst>
                                            <p:cond delay="0"/>
                                          </p:stCondLst>
                                        </p:cTn>
                                        <p:tgtEl>
                                          <p:spTgt spid="36879"/>
                                        </p:tgtEl>
                                        <p:attrNameLst>
                                          <p:attrName>style.visibility</p:attrName>
                                        </p:attrNameLst>
                                      </p:cBhvr>
                                      <p:to>
                                        <p:strVal val="visible"/>
                                      </p:to>
                                    </p:set>
                                    <p:animEffect transition="in" filter="fade">
                                      <p:cBhvr>
                                        <p:cTn id="39" dur="1000"/>
                                        <p:tgtEl>
                                          <p:spTgt spid="36879"/>
                                        </p:tgtEl>
                                      </p:cBhvr>
                                    </p:animEffect>
                                    <p:anim calcmode="lin" valueType="num">
                                      <p:cBhvr>
                                        <p:cTn id="40" dur="1000" fill="hold"/>
                                        <p:tgtEl>
                                          <p:spTgt spid="36879"/>
                                        </p:tgtEl>
                                        <p:attrNameLst>
                                          <p:attrName>ppt_x</p:attrName>
                                        </p:attrNameLst>
                                      </p:cBhvr>
                                      <p:tavLst>
                                        <p:tav tm="0">
                                          <p:val>
                                            <p:strVal val="#ppt_x"/>
                                          </p:val>
                                        </p:tav>
                                        <p:tav tm="100000">
                                          <p:val>
                                            <p:strVal val="#ppt_x"/>
                                          </p:val>
                                        </p:tav>
                                      </p:tavLst>
                                    </p:anim>
                                    <p:anim calcmode="lin" valueType="num">
                                      <p:cBhvr>
                                        <p:cTn id="41" dur="1000" fill="hold"/>
                                        <p:tgtEl>
                                          <p:spTgt spid="36879"/>
                                        </p:tgtEl>
                                        <p:attrNameLst>
                                          <p:attrName>ppt_y</p:attrName>
                                        </p:attrNameLst>
                                      </p:cBhvr>
                                      <p:tavLst>
                                        <p:tav tm="0">
                                          <p:val>
                                            <p:strVal val="#ppt_y-.1"/>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9726"/>
                                        </p:tgtEl>
                                        <p:attrNameLst>
                                          <p:attrName>style.visibility</p:attrName>
                                        </p:attrNameLst>
                                      </p:cBhvr>
                                      <p:to>
                                        <p:strVal val="visible"/>
                                      </p:to>
                                    </p:set>
                                    <p:animEffect transition="in" filter="wipe(left)">
                                      <p:cBhvr>
                                        <p:cTn id="46" dur="2000"/>
                                        <p:tgtEl>
                                          <p:spTgt spid="29726"/>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58"/>
                                        </p:tgtEl>
                                        <p:attrNameLst>
                                          <p:attrName>style.visibility</p:attrName>
                                        </p:attrNameLst>
                                      </p:cBhvr>
                                      <p:to>
                                        <p:strVal val="visible"/>
                                      </p:to>
                                    </p:set>
                                    <p:animEffect transition="in" filter="wipe(up)">
                                      <p:cBhvr>
                                        <p:cTn id="51" dur="20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1" grpId="0"/>
      <p:bldP spid="22" grpId="0"/>
      <p:bldP spid="58" grpId="0"/>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6" name="Rectangle 6">
            <a:extLst>
              <a:ext uri="{FF2B5EF4-FFF2-40B4-BE49-F238E27FC236}">
                <a16:creationId xmlns:a16="http://schemas.microsoft.com/office/drawing/2014/main" id="{94AE586D-B381-B662-0363-83B60141C2FF}"/>
              </a:ext>
            </a:extLst>
          </p:cNvPr>
          <p:cNvSpPr>
            <a:spLocks noChangeArrowheads="1"/>
          </p:cNvSpPr>
          <p:nvPr/>
        </p:nvSpPr>
        <p:spPr bwMode="auto">
          <a:xfrm>
            <a:off x="1000125" y="2824163"/>
            <a:ext cx="25717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ct val="120000"/>
              </a:lnSpc>
              <a:spcBef>
                <a:spcPct val="20000"/>
              </a:spcBef>
              <a:buClr>
                <a:srgbClr val="CC00CC"/>
              </a:buClr>
              <a:buSzPct val="65000"/>
              <a:buFont typeface="Wingdings" panose="05000000000000000000" pitchFamily="2" charset="2"/>
              <a:buNone/>
            </a:pPr>
            <a:r>
              <a:rPr lang="zh-CN" altLang="en-US" sz="2000">
                <a:latin typeface="微软雅黑" panose="020B0503020204020204" pitchFamily="34" charset="-122"/>
                <a:ea typeface="微软雅黑" panose="020B0503020204020204" pitchFamily="34" charset="-122"/>
              </a:rPr>
              <a:t>对于集中插入法</a:t>
            </a:r>
            <a:r>
              <a:rPr lang="en-US" altLang="zh-CN" sz="2000">
                <a:latin typeface="微软雅黑" panose="020B0503020204020204" pitchFamily="34" charset="-122"/>
                <a:ea typeface="微软雅黑" panose="020B0503020204020204" pitchFamily="34" charset="-122"/>
              </a:rPr>
              <a:t>:</a:t>
            </a:r>
            <a:endParaRPr lang="zh-CN" altLang="en-US" sz="2000">
              <a:latin typeface="微软雅黑" panose="020B0503020204020204" pitchFamily="34" charset="-122"/>
              <a:ea typeface="微软雅黑" panose="020B0503020204020204" pitchFamily="34" charset="-122"/>
            </a:endParaRPr>
          </a:p>
          <a:p>
            <a:pPr>
              <a:lnSpc>
                <a:spcPct val="120000"/>
              </a:lnSpc>
              <a:spcBef>
                <a:spcPct val="20000"/>
              </a:spcBef>
              <a:buClr>
                <a:srgbClr val="0000FF"/>
              </a:buClr>
              <a:buFont typeface="Wingdings" panose="05000000000000000000" pitchFamily="2" charset="2"/>
              <a:buNone/>
            </a:pPr>
            <a:r>
              <a:rPr lang="en-US" altLang="zh-CN" sz="2000">
                <a:latin typeface="微软雅黑" panose="020B0503020204020204" pitchFamily="34" charset="-122"/>
                <a:ea typeface="微软雅黑" panose="020B0503020204020204" pitchFamily="34" charset="-122"/>
              </a:rPr>
              <a:t>	           </a:t>
            </a:r>
          </a:p>
        </p:txBody>
      </p:sp>
      <p:sp>
        <p:nvSpPr>
          <p:cNvPr id="7" name="矩形 6">
            <a:extLst>
              <a:ext uri="{FF2B5EF4-FFF2-40B4-BE49-F238E27FC236}">
                <a16:creationId xmlns:a16="http://schemas.microsoft.com/office/drawing/2014/main" id="{B2D8CAB4-FE9D-CE39-F5A2-2B6F483AD819}"/>
              </a:ext>
            </a:extLst>
          </p:cNvPr>
          <p:cNvSpPr>
            <a:spLocks noChangeArrowheads="1"/>
          </p:cNvSpPr>
          <p:nvPr/>
        </p:nvSpPr>
        <p:spPr bwMode="auto">
          <a:xfrm>
            <a:off x="714375" y="4286250"/>
            <a:ext cx="7158038" cy="1138238"/>
          </a:xfrm>
          <a:prstGeom prst="rect">
            <a:avLst/>
          </a:prstGeom>
          <a:noFill/>
          <a:ln w="9525">
            <a:noFill/>
            <a:miter lim="800000"/>
            <a:headEnd/>
            <a:tailEnd/>
          </a:ln>
        </p:spPr>
        <p:txBody>
          <a:bodyPr>
            <a:spAutoFit/>
          </a:bodyPr>
          <a:lstStyle/>
          <a:p>
            <a:pPr marL="342900" indent="-342900" eaLnBrk="0" hangingPunct="0">
              <a:lnSpc>
                <a:spcPct val="200000"/>
              </a:lnSpc>
              <a:spcBef>
                <a:spcPct val="20000"/>
              </a:spcBef>
              <a:buClr>
                <a:srgbClr val="0000FF"/>
              </a:buClr>
              <a:defRPr/>
            </a:pPr>
            <a:r>
              <a:rPr lang="zh-CN" altLang="en-US" sz="2000" dirty="0">
                <a:solidFill>
                  <a:srgbClr val="000000"/>
                </a:solidFill>
                <a:latin typeface="微软雅黑" pitchFamily="34" charset="-122"/>
                <a:ea typeface="微软雅黑" pitchFamily="34" charset="-122"/>
              </a:rPr>
              <a:t>    其中 </a:t>
            </a:r>
            <a:r>
              <a:rPr lang="zh-CN" altLang="en-US" sz="2000" dirty="0">
                <a:solidFill>
                  <a:srgbClr val="000000"/>
                </a:solidFill>
                <a:latin typeface="+mn-ea"/>
                <a:ea typeface="+mn-ea"/>
              </a:rPr>
              <a:t>，</a:t>
            </a:r>
            <a:r>
              <a:rPr lang="zh-CN" altLang="en-US" sz="2000" dirty="0">
                <a:solidFill>
                  <a:srgbClr val="000000"/>
                </a:solidFill>
                <a:latin typeface="微软雅黑" pitchFamily="34" charset="-122"/>
                <a:ea typeface="微软雅黑" pitchFamily="34" charset="-122"/>
              </a:rPr>
              <a:t> </a:t>
            </a:r>
            <a:r>
              <a:rPr lang="en-US" altLang="zh-CN" sz="2000" dirty="0">
                <a:solidFill>
                  <a:srgbClr val="000000"/>
                </a:solidFill>
                <a:latin typeface="微软雅黑" pitchFamily="34" charset="-122"/>
                <a:ea typeface="微软雅黑" pitchFamily="34" charset="-122"/>
              </a:rPr>
              <a:t>N </a:t>
            </a:r>
            <a:r>
              <a:rPr lang="zh-CN" altLang="en-US" sz="2000" dirty="0">
                <a:solidFill>
                  <a:srgbClr val="000000"/>
                </a:solidFill>
                <a:latin typeface="微软雅黑" pitchFamily="34" charset="-122"/>
                <a:ea typeface="微软雅黑" pitchFamily="34" charset="-122"/>
              </a:rPr>
              <a:t>为每群的码元数目（含</a:t>
            </a:r>
            <a:r>
              <a:rPr lang="en-US" altLang="zh-CN" sz="2000" dirty="0">
                <a:solidFill>
                  <a:srgbClr val="000000"/>
                </a:solidFill>
                <a:latin typeface="微软雅黑" pitchFamily="34" charset="-122"/>
                <a:ea typeface="微软雅黑" pitchFamily="34" charset="-122"/>
              </a:rPr>
              <a:t>n </a:t>
            </a:r>
            <a:r>
              <a:rPr lang="zh-CN" altLang="en-US" sz="2000" dirty="0">
                <a:solidFill>
                  <a:srgbClr val="000000"/>
                </a:solidFill>
                <a:latin typeface="微软雅黑" pitchFamily="34" charset="-122"/>
                <a:ea typeface="微软雅黑" pitchFamily="34" charset="-122"/>
              </a:rPr>
              <a:t>位群同步码）</a:t>
            </a:r>
            <a:r>
              <a:rPr lang="zh-CN" altLang="en-US" sz="2000" dirty="0">
                <a:solidFill>
                  <a:srgbClr val="000000"/>
                </a:solidFill>
                <a:latin typeface="+mn-ea"/>
                <a:ea typeface="+mn-ea"/>
              </a:rPr>
              <a:t>；</a:t>
            </a:r>
          </a:p>
          <a:p>
            <a:pPr marL="342900" indent="-342900" eaLnBrk="0" hangingPunct="0">
              <a:lnSpc>
                <a:spcPct val="120000"/>
              </a:lnSpc>
              <a:spcBef>
                <a:spcPct val="20000"/>
              </a:spcBef>
              <a:buClr>
                <a:srgbClr val="0000FF"/>
              </a:buClr>
              <a:defRPr/>
            </a:pPr>
            <a:r>
              <a:rPr lang="en-US" altLang="zh-CN" sz="2000" dirty="0">
                <a:solidFill>
                  <a:srgbClr val="000000"/>
                </a:solidFill>
                <a:latin typeface="微软雅黑" pitchFamily="34" charset="-122"/>
                <a:ea typeface="微软雅黑" pitchFamily="34" charset="-122"/>
              </a:rPr>
              <a:t>                 T  </a:t>
            </a:r>
            <a:r>
              <a:rPr lang="zh-CN" altLang="en-US" sz="2000" dirty="0">
                <a:solidFill>
                  <a:srgbClr val="000000"/>
                </a:solidFill>
                <a:latin typeface="微软雅黑" pitchFamily="34" charset="-122"/>
                <a:ea typeface="微软雅黑" pitchFamily="34" charset="-122"/>
              </a:rPr>
              <a:t>为每个码元持续时间；  </a:t>
            </a:r>
            <a:r>
              <a:rPr lang="en-US" altLang="zh-CN" sz="2000" dirty="0">
                <a:solidFill>
                  <a:srgbClr val="000000"/>
                </a:solidFill>
                <a:latin typeface="微软雅黑" pitchFamily="34" charset="-122"/>
                <a:ea typeface="微软雅黑" pitchFamily="34" charset="-122"/>
              </a:rPr>
              <a:t>NT</a:t>
            </a:r>
            <a:r>
              <a:rPr lang="en-US" altLang="zh-CN" sz="2000" baseline="-25000" dirty="0">
                <a:solidFill>
                  <a:srgbClr val="000000"/>
                </a:solidFill>
                <a:latin typeface="微软雅黑" pitchFamily="34" charset="-122"/>
                <a:ea typeface="微软雅黑" pitchFamily="34" charset="-122"/>
              </a:rPr>
              <a:t>  </a:t>
            </a:r>
            <a:r>
              <a:rPr lang="zh-CN" altLang="en-US" sz="2000" dirty="0">
                <a:solidFill>
                  <a:srgbClr val="000000"/>
                </a:solidFill>
                <a:latin typeface="微软雅黑" pitchFamily="34" charset="-122"/>
                <a:ea typeface="微软雅黑" pitchFamily="34" charset="-122"/>
              </a:rPr>
              <a:t>为帧时间 。</a:t>
            </a:r>
          </a:p>
        </p:txBody>
      </p:sp>
      <p:sp>
        <p:nvSpPr>
          <p:cNvPr id="10" name="矩形 9">
            <a:extLst>
              <a:ext uri="{FF2B5EF4-FFF2-40B4-BE49-F238E27FC236}">
                <a16:creationId xmlns:a16="http://schemas.microsoft.com/office/drawing/2014/main" id="{C521FB36-C043-4513-A522-61094236E004}"/>
              </a:ext>
            </a:extLst>
          </p:cNvPr>
          <p:cNvSpPr/>
          <p:nvPr/>
        </p:nvSpPr>
        <p:spPr>
          <a:xfrm>
            <a:off x="2286000" y="1714500"/>
            <a:ext cx="4857750" cy="461963"/>
          </a:xfrm>
          <a:prstGeom prst="rect">
            <a:avLst/>
          </a:prstGeom>
          <a:solidFill>
            <a:schemeClr val="bg2">
              <a:lumMod val="10000"/>
              <a:lumOff val="90000"/>
            </a:schemeClr>
          </a:solidFill>
          <a:ln>
            <a:solidFill>
              <a:srgbClr val="FFCCFF"/>
            </a:solidFill>
          </a:ln>
          <a:effectLst>
            <a:outerShdw blurRad="50800" dist="38100" dir="2700000" algn="tl" rotWithShape="0">
              <a:prstClr val="black">
                <a:alpha val="40000"/>
              </a:prstClr>
            </a:outerShdw>
          </a:effectLst>
        </p:spPr>
        <p:txBody>
          <a:bodyPr>
            <a:spAutoFit/>
          </a:bodyPr>
          <a:lstStyle/>
          <a:p>
            <a:pPr>
              <a:defRPr/>
            </a:pPr>
            <a:r>
              <a:rPr lang="en-US" altLang="zh-CN" sz="2000" dirty="0">
                <a:latin typeface="微软雅黑" pitchFamily="34" charset="-122"/>
                <a:ea typeface="微软雅黑" pitchFamily="34" charset="-122"/>
              </a:rPr>
              <a:t>——</a:t>
            </a:r>
            <a:r>
              <a:rPr lang="zh-CN" altLang="en-US" sz="2000" dirty="0">
                <a:latin typeface="微软雅黑" pitchFamily="34" charset="-122"/>
                <a:ea typeface="微软雅黑" pitchFamily="34" charset="-122"/>
              </a:rPr>
              <a:t>从开始</a:t>
            </a:r>
            <a:r>
              <a:rPr lang="zh-CN" altLang="en-US" sz="2000" dirty="0">
                <a:effectLst>
                  <a:outerShdw blurRad="38100" dist="38100" dir="2700000" algn="tl">
                    <a:srgbClr val="000000">
                      <a:alpha val="43137"/>
                    </a:srgbClr>
                  </a:outerShdw>
                </a:effectLst>
                <a:latin typeface="微软雅黑" pitchFamily="34" charset="-122"/>
                <a:ea typeface="微软雅黑" pitchFamily="34" charset="-122"/>
              </a:rPr>
              <a:t>捕捉</a:t>
            </a:r>
            <a:r>
              <a:rPr lang="zh-CN" altLang="en-US" sz="2000" dirty="0">
                <a:solidFill>
                  <a:srgbClr val="003399"/>
                </a:solidFill>
                <a:effectLst>
                  <a:outerShdw blurRad="38100" dist="38100" dir="2700000" algn="tl">
                    <a:srgbClr val="000000">
                      <a:alpha val="43137"/>
                    </a:srgbClr>
                  </a:outerShdw>
                </a:effectLst>
                <a:latin typeface="微软雅黑" pitchFamily="34" charset="-122"/>
                <a:ea typeface="微软雅黑" pitchFamily="34" charset="-122"/>
              </a:rPr>
              <a:t>  </a:t>
            </a:r>
            <a:r>
              <a:rPr lang="en-US" altLang="zh-CN" sz="2400" dirty="0">
                <a:solidFill>
                  <a:srgbClr val="0000CC"/>
                </a:solidFill>
                <a:effectLst>
                  <a:outerShdw blurRad="38100" dist="38100" dir="2700000" algn="tl">
                    <a:srgbClr val="000000">
                      <a:alpha val="43137"/>
                    </a:srgbClr>
                  </a:outerShdw>
                </a:effectLst>
                <a:latin typeface="Arial" pitchFamily="34" charset="0"/>
                <a:cs typeface="Arial" pitchFamily="34" charset="0"/>
                <a:sym typeface="Symbol" pitchFamily="18" charset="2"/>
              </a:rPr>
              <a:t> </a:t>
            </a:r>
            <a:r>
              <a:rPr lang="zh-CN" altLang="en-US" sz="2000" dirty="0">
                <a:effectLst>
                  <a:outerShdw blurRad="38100" dist="38100" dir="2700000" algn="tl">
                    <a:srgbClr val="000000">
                      <a:alpha val="43137"/>
                    </a:srgbClr>
                  </a:outerShdw>
                </a:effectLst>
                <a:latin typeface="微软雅黑" pitchFamily="34" charset="-122"/>
                <a:ea typeface="微软雅黑" pitchFamily="34" charset="-122"/>
              </a:rPr>
              <a:t>保持态</a:t>
            </a:r>
            <a:r>
              <a:rPr lang="zh-CN" altLang="en-US" sz="2000" dirty="0">
                <a:latin typeface="微软雅黑" pitchFamily="34" charset="-122"/>
                <a:ea typeface="微软雅黑" pitchFamily="34" charset="-122"/>
              </a:rPr>
              <a:t>所需的时间 。</a:t>
            </a:r>
          </a:p>
        </p:txBody>
      </p:sp>
      <p:sp>
        <p:nvSpPr>
          <p:cNvPr id="11" name="矩形 10">
            <a:extLst>
              <a:ext uri="{FF2B5EF4-FFF2-40B4-BE49-F238E27FC236}">
                <a16:creationId xmlns:a16="http://schemas.microsoft.com/office/drawing/2014/main" id="{F5832130-3E8F-94EF-652A-045B06D2741F}"/>
              </a:ext>
            </a:extLst>
          </p:cNvPr>
          <p:cNvSpPr/>
          <p:nvPr/>
        </p:nvSpPr>
        <p:spPr>
          <a:xfrm>
            <a:off x="728663" y="1042988"/>
            <a:ext cx="3629025" cy="530225"/>
          </a:xfrm>
          <a:prstGeom prst="rect">
            <a:avLst/>
          </a:prstGeom>
          <a:noFill/>
        </p:spPr>
        <p:txBody>
          <a:bodyPr>
            <a:spAutoFit/>
          </a:bodyPr>
          <a:lstStyle/>
          <a:p>
            <a:pPr marL="228600" indent="-228600" eaLnBrk="0" hangingPunct="0">
              <a:lnSpc>
                <a:spcPct val="110000"/>
              </a:lnSpc>
              <a:spcBef>
                <a:spcPct val="20000"/>
              </a:spcBef>
              <a:buClr>
                <a:srgbClr val="FF0000"/>
              </a:buClr>
              <a:buSzPct val="85000"/>
              <a:buFont typeface="Wingdings" pitchFamily="2" charset="2"/>
              <a:buChar char="n"/>
              <a:defRPr/>
            </a:pPr>
            <a:r>
              <a:rPr lang="zh-CN" altLang="en-US" sz="2400" b="1" dirty="0">
                <a:latin typeface="微软雅黑" pitchFamily="34" charset="-122"/>
                <a:ea typeface="微软雅黑" pitchFamily="34" charset="-122"/>
              </a:rPr>
              <a:t>平均建立时间 </a:t>
            </a:r>
            <a:r>
              <a:rPr lang="en-US" altLang="zh-CN" sz="2800" b="1" i="1" dirty="0" err="1">
                <a:solidFill>
                  <a:srgbClr val="FF0000"/>
                </a:solidFill>
                <a:latin typeface="Arial" pitchFamily="34" charset="0"/>
                <a:ea typeface="微软雅黑" pitchFamily="34" charset="-122"/>
                <a:cs typeface="Arial" pitchFamily="34" charset="0"/>
              </a:rPr>
              <a:t>t</a:t>
            </a:r>
            <a:r>
              <a:rPr lang="en-US" altLang="zh-CN" sz="2000" b="1" dirty="0" err="1">
                <a:solidFill>
                  <a:srgbClr val="FF0000"/>
                </a:solidFill>
                <a:latin typeface="Arial" pitchFamily="34" charset="0"/>
                <a:ea typeface="微软雅黑" pitchFamily="34" charset="-122"/>
                <a:cs typeface="Arial" pitchFamily="34" charset="0"/>
              </a:rPr>
              <a:t>s</a:t>
            </a:r>
            <a:r>
              <a:rPr lang="en-US" altLang="zh-CN" sz="2400" b="1" i="1" baseline="-25000" dirty="0">
                <a:latin typeface="Times New Roman" pitchFamily="18" charset="0"/>
                <a:ea typeface="微软雅黑" pitchFamily="34" charset="-122"/>
                <a:cs typeface="Times New Roman" pitchFamily="18" charset="0"/>
              </a:rPr>
              <a:t> </a:t>
            </a:r>
            <a:endParaRPr lang="zh-CN" altLang="en-US" sz="2400" b="1" kern="0" dirty="0">
              <a:latin typeface="微软雅黑" pitchFamily="34" charset="-122"/>
              <a:ea typeface="微软雅黑" pitchFamily="34" charset="-122"/>
            </a:endParaRPr>
          </a:p>
        </p:txBody>
      </p:sp>
      <p:sp>
        <p:nvSpPr>
          <p:cNvPr id="14" name="矩形 13">
            <a:extLst>
              <a:ext uri="{FF2B5EF4-FFF2-40B4-BE49-F238E27FC236}">
                <a16:creationId xmlns:a16="http://schemas.microsoft.com/office/drawing/2014/main" id="{85FD93F1-D1A5-AFFD-BF2E-F8F4A3A7A7E4}"/>
              </a:ext>
            </a:extLst>
          </p:cNvPr>
          <p:cNvSpPr/>
          <p:nvPr/>
        </p:nvSpPr>
        <p:spPr>
          <a:xfrm>
            <a:off x="3286125" y="3324225"/>
            <a:ext cx="3071813" cy="604838"/>
          </a:xfrm>
          <a:prstGeom prst="rect">
            <a:avLst/>
          </a:prstGeom>
          <a:solidFill>
            <a:schemeClr val="bg2">
              <a:lumMod val="10000"/>
              <a:lumOff val="90000"/>
            </a:schemeClr>
          </a:solidFill>
          <a:ln w="38100" cmpd="dbl">
            <a:solidFill>
              <a:srgbClr val="6666FF"/>
            </a:solidFill>
          </a:ln>
        </p:spPr>
        <p:txBody>
          <a:bodyPr>
            <a:spAutoFit/>
          </a:bodyPr>
          <a:lstStyle/>
          <a:p>
            <a:pPr>
              <a:lnSpc>
                <a:spcPts val="4000"/>
              </a:lnSpc>
              <a:defRPr/>
            </a:pPr>
            <a:r>
              <a:rPr lang="fr-FR" altLang="zh-CN" sz="2400" i="1" dirty="0">
                <a:solidFill>
                  <a:srgbClr val="FF0000"/>
                </a:solidFill>
                <a:latin typeface="Arial" pitchFamily="34" charset="0"/>
                <a:ea typeface="宋体" charset="-122"/>
                <a:cs typeface="Arial" pitchFamily="34" charset="0"/>
              </a:rPr>
              <a:t>t</a:t>
            </a:r>
            <a:r>
              <a:rPr lang="fr-FR" altLang="zh-CN" sz="2400" i="1" baseline="-25000" dirty="0">
                <a:solidFill>
                  <a:srgbClr val="FF0000"/>
                </a:solidFill>
                <a:latin typeface="Arial" pitchFamily="34" charset="0"/>
                <a:ea typeface="宋体" charset="-122"/>
                <a:cs typeface="Arial" pitchFamily="34" charset="0"/>
              </a:rPr>
              <a:t>e</a:t>
            </a:r>
            <a:r>
              <a:rPr lang="fr-FR" altLang="zh-CN" sz="2400" dirty="0">
                <a:latin typeface="Arial" pitchFamily="34" charset="0"/>
                <a:ea typeface="宋体" charset="-122"/>
                <a:cs typeface="Arial" pitchFamily="34" charset="0"/>
              </a:rPr>
              <a:t> </a:t>
            </a:r>
            <a:r>
              <a:rPr lang="en-US" altLang="zh-CN" sz="2400" dirty="0">
                <a:latin typeface="Arial" pitchFamily="34" charset="0"/>
                <a:ea typeface="宋体" charset="-122"/>
                <a:cs typeface="Arial" pitchFamily="34" charset="0"/>
                <a:sym typeface="Symbol" pitchFamily="18" charset="2"/>
              </a:rPr>
              <a:t></a:t>
            </a:r>
            <a:r>
              <a:rPr lang="en-US" altLang="zh-CN" sz="2400" dirty="0">
                <a:latin typeface="Arial" pitchFamily="34" charset="0"/>
                <a:ea typeface="宋体" charset="-122"/>
                <a:cs typeface="Arial" pitchFamily="34" charset="0"/>
              </a:rPr>
              <a:t> </a:t>
            </a:r>
            <a:r>
              <a:rPr lang="fr-FR" altLang="zh-CN" sz="2400" i="1" dirty="0">
                <a:latin typeface="Arial" pitchFamily="34" charset="0"/>
                <a:ea typeface="宋体" charset="-122"/>
                <a:cs typeface="Arial" pitchFamily="34" charset="0"/>
              </a:rPr>
              <a:t>NT </a:t>
            </a:r>
            <a:r>
              <a:rPr lang="fr-FR" altLang="zh-CN" sz="2400" dirty="0">
                <a:latin typeface="Arial" pitchFamily="34" charset="0"/>
                <a:ea typeface="宋体" charset="-122"/>
                <a:cs typeface="Arial" pitchFamily="34" charset="0"/>
              </a:rPr>
              <a:t>(1/2 + </a:t>
            </a:r>
            <a:r>
              <a:rPr lang="fr-FR" altLang="zh-CN" sz="2400" i="1" dirty="0">
                <a:latin typeface="Arial" pitchFamily="34" charset="0"/>
                <a:ea typeface="宋体" charset="-122"/>
                <a:cs typeface="Arial" pitchFamily="34" charset="0"/>
              </a:rPr>
              <a:t>P</a:t>
            </a:r>
            <a:r>
              <a:rPr lang="fr-FR" altLang="zh-CN" sz="2400" i="1" baseline="-25000" dirty="0">
                <a:latin typeface="Times New Roman" pitchFamily="18" charset="0"/>
                <a:ea typeface="宋体" charset="-122"/>
                <a:cs typeface="Times New Roman" pitchFamily="18" charset="0"/>
              </a:rPr>
              <a:t>f</a:t>
            </a:r>
            <a:r>
              <a:rPr lang="fr-FR" altLang="zh-CN" sz="2400" i="1" dirty="0">
                <a:latin typeface="Times New Roman" pitchFamily="18" charset="0"/>
                <a:ea typeface="宋体" charset="-122"/>
                <a:cs typeface="Times New Roman" pitchFamily="18" charset="0"/>
              </a:rPr>
              <a:t> </a:t>
            </a:r>
            <a:r>
              <a:rPr lang="fr-FR" altLang="zh-CN" sz="2400" dirty="0">
                <a:latin typeface="Arial" pitchFamily="34" charset="0"/>
                <a:ea typeface="宋体" charset="-122"/>
                <a:cs typeface="Arial" pitchFamily="34" charset="0"/>
              </a:rPr>
              <a:t>+ </a:t>
            </a:r>
            <a:r>
              <a:rPr lang="fr-FR" altLang="zh-CN" sz="2400" i="1" dirty="0">
                <a:latin typeface="Arial" pitchFamily="34" charset="0"/>
                <a:ea typeface="宋体" charset="-122"/>
                <a:cs typeface="Arial" pitchFamily="34" charset="0"/>
              </a:rPr>
              <a:t>P</a:t>
            </a:r>
            <a:r>
              <a:rPr lang="fr-FR" altLang="zh-CN" sz="2400" i="1" baseline="-25000" dirty="0">
                <a:latin typeface="Times New Roman" pitchFamily="18" charset="0"/>
                <a:ea typeface="宋体" charset="-122"/>
                <a:cs typeface="Times New Roman" pitchFamily="18" charset="0"/>
              </a:rPr>
              <a:t>l </a:t>
            </a:r>
            <a:r>
              <a:rPr lang="fr-FR" altLang="zh-CN" sz="2400" dirty="0">
                <a:latin typeface="Arial" pitchFamily="34" charset="0"/>
                <a:ea typeface="宋体" charset="-122"/>
                <a:cs typeface="Arial" pitchFamily="34" charset="0"/>
              </a:rPr>
              <a:t>) </a:t>
            </a:r>
            <a:endParaRPr lang="zh-CN" altLang="en-US" dirty="0">
              <a:latin typeface="Arial" pitchFamily="34" charset="0"/>
              <a:ea typeface="宋体" charset="-122"/>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1000"/>
                                        <p:tgtEl>
                                          <p:spTgt spid="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20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56326"/>
                                        </p:tgtEl>
                                        <p:attrNameLst>
                                          <p:attrName>style.visibility</p:attrName>
                                        </p:attrNameLst>
                                      </p:cBhvr>
                                      <p:to>
                                        <p:strVal val="visible"/>
                                      </p:to>
                                    </p:set>
                                    <p:animEffect transition="in" filter="wipe(up)">
                                      <p:cBhvr>
                                        <p:cTn id="17" dur="1000"/>
                                        <p:tgtEl>
                                          <p:spTgt spid="56326"/>
                                        </p:tgtEl>
                                      </p:cBhvr>
                                    </p:animEffect>
                                  </p:childTnLst>
                                </p:cTn>
                              </p:par>
                            </p:childTnLst>
                          </p:cTn>
                        </p:par>
                        <p:par>
                          <p:cTn id="18" fill="hold" nodeType="afterGroup">
                            <p:stCondLst>
                              <p:cond delay="1000"/>
                            </p:stCondLst>
                            <p:childTnLst>
                              <p:par>
                                <p:cTn id="19" presetID="22" presetClass="entr" presetSubtype="1" fill="hold"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up)">
                                      <p:cBhvr>
                                        <p:cTn id="21" dur="1000"/>
                                        <p:tgtEl>
                                          <p:spTgt spid="1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up)">
                                      <p:cBhvr>
                                        <p:cTn id="2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6" grpId="0"/>
      <p:bldP spid="7" grpId="0"/>
      <p:bldP spid="10" grpId="0" animBg="1"/>
      <p:bldP spid="11" grpId="0"/>
      <p:bldP spid="14"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FCBB3276-36E2-5E26-DDCD-1E191A2328A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85875" y="2605088"/>
            <a:ext cx="6275388" cy="1214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a:extLst>
              <a:ext uri="{FF2B5EF4-FFF2-40B4-BE49-F238E27FC236}">
                <a16:creationId xmlns:a16="http://schemas.microsoft.com/office/drawing/2014/main" id="{B6979A45-8409-D480-B953-FB3648A4F0C4}"/>
              </a:ext>
            </a:extLst>
          </p:cNvPr>
          <p:cNvSpPr>
            <a:spLocks noChangeArrowheads="1"/>
          </p:cNvSpPr>
          <p:nvPr/>
        </p:nvSpPr>
        <p:spPr bwMode="auto">
          <a:xfrm>
            <a:off x="857250" y="1604963"/>
            <a:ext cx="43148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zh-CN" altLang="fr-FR" sz="2000" b="1">
                <a:solidFill>
                  <a:srgbClr val="003399"/>
                </a:solidFill>
                <a:latin typeface="微软雅黑" panose="020B0503020204020204" pitchFamily="34" charset="-122"/>
                <a:ea typeface="微软雅黑" panose="020B0503020204020204" pitchFamily="34" charset="-122"/>
              </a:rPr>
              <a:t>用途</a:t>
            </a:r>
            <a:r>
              <a:rPr lang="zh-CN" altLang="fr-FR" sz="2000">
                <a:latin typeface="微软雅黑" panose="020B0503020204020204" pitchFamily="34" charset="-122"/>
                <a:ea typeface="微软雅黑" panose="020B0503020204020204" pitchFamily="34" charset="-122"/>
              </a:rPr>
              <a:t>：</a:t>
            </a:r>
            <a:r>
              <a:rPr lang="zh-CN" altLang="zh-CN" sz="2000">
                <a:latin typeface="微软雅黑" panose="020B0503020204020204" pitchFamily="34" charset="-122"/>
                <a:ea typeface="微软雅黑" panose="020B0503020204020204" pitchFamily="34" charset="-122"/>
              </a:rPr>
              <a:t>主要用于</a:t>
            </a:r>
            <a:r>
              <a:rPr lang="zh-CN" altLang="fr-FR" sz="2000">
                <a:latin typeface="微软雅黑" panose="020B0503020204020204" pitchFamily="34" charset="-122"/>
                <a:ea typeface="微软雅黑" panose="020B0503020204020204" pitchFamily="34" charset="-122"/>
              </a:rPr>
              <a:t>电传打字机中</a:t>
            </a:r>
            <a:r>
              <a:rPr lang="zh-CN" altLang="zh-CN" sz="2000">
                <a:latin typeface="微软雅黑" panose="020B0503020204020204" pitchFamily="34" charset="-122"/>
                <a:ea typeface="微软雅黑" panose="020B0503020204020204" pitchFamily="34" charset="-122"/>
              </a:rPr>
              <a:t>。</a:t>
            </a:r>
            <a:endParaRPr lang="zh-CN" altLang="en-US" sz="2000">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504E80EF-B465-BE2E-57DE-BB3415696D70}"/>
              </a:ext>
            </a:extLst>
          </p:cNvPr>
          <p:cNvSpPr/>
          <p:nvPr/>
        </p:nvSpPr>
        <p:spPr>
          <a:xfrm>
            <a:off x="6357938" y="571500"/>
            <a:ext cx="2428875" cy="400050"/>
          </a:xfrm>
          <a:prstGeom prst="rect">
            <a:avLst/>
          </a:prstGeom>
        </p:spPr>
        <p:txBody>
          <a:bodyPr>
            <a:spAutoFit/>
          </a:bodyPr>
          <a:lstStyle/>
          <a:p>
            <a:pPr>
              <a:defRPr/>
            </a:pPr>
            <a:r>
              <a:rPr lang="zh-CN" altLang="en-US" sz="2000" dirty="0">
                <a:effectLst>
                  <a:outerShdw blurRad="38100" dist="38100" dir="2700000" algn="tl">
                    <a:srgbClr val="000000">
                      <a:alpha val="43137"/>
                    </a:srgbClr>
                  </a:outerShdw>
                </a:effectLst>
                <a:latin typeface="微软雅黑" pitchFamily="34" charset="-122"/>
                <a:ea typeface="微软雅黑" pitchFamily="34" charset="-122"/>
              </a:rPr>
              <a:t>属于“异步通信”</a:t>
            </a:r>
          </a:p>
        </p:txBody>
      </p:sp>
      <p:sp>
        <p:nvSpPr>
          <p:cNvPr id="67589" name="矩形 8">
            <a:extLst>
              <a:ext uri="{FF2B5EF4-FFF2-40B4-BE49-F238E27FC236}">
                <a16:creationId xmlns:a16="http://schemas.microsoft.com/office/drawing/2014/main" id="{E1C5EBDE-AC7A-2CEA-1F98-FAC45BB1B490}"/>
              </a:ext>
            </a:extLst>
          </p:cNvPr>
          <p:cNvSpPr>
            <a:spLocks noChangeArrowheads="1"/>
          </p:cNvSpPr>
          <p:nvPr/>
        </p:nvSpPr>
        <p:spPr bwMode="auto">
          <a:xfrm>
            <a:off x="2286000" y="-6773863"/>
            <a:ext cx="6858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zh-CN" altLang="en-US" sz="2400"/>
              <a:t>异步通信的好处是通信</a:t>
            </a:r>
            <a:r>
              <a:rPr lang="zh-CN" altLang="en-US" sz="2400">
                <a:hlinkClick r:id="rId4"/>
              </a:rPr>
              <a:t>设备</a:t>
            </a:r>
            <a:r>
              <a:rPr lang="zh-CN" altLang="en-US" sz="2400"/>
              <a:t>简单、便宜，但</a:t>
            </a:r>
            <a:r>
              <a:rPr lang="zh-CN" altLang="en-US" sz="2400">
                <a:hlinkClick r:id="rId5"/>
              </a:rPr>
              <a:t>传输效率</a:t>
            </a:r>
            <a:r>
              <a:rPr lang="zh-CN" altLang="en-US" sz="2400"/>
              <a:t>较低（因为开始位和停止位的开销所占比例较大）。</a:t>
            </a:r>
          </a:p>
        </p:txBody>
      </p:sp>
      <p:sp>
        <p:nvSpPr>
          <p:cNvPr id="10" name="矩形 9">
            <a:extLst>
              <a:ext uri="{FF2B5EF4-FFF2-40B4-BE49-F238E27FC236}">
                <a16:creationId xmlns:a16="http://schemas.microsoft.com/office/drawing/2014/main" id="{26F41ED1-9421-0E23-3F3F-3F34D1D42B13}"/>
              </a:ext>
            </a:extLst>
          </p:cNvPr>
          <p:cNvSpPr/>
          <p:nvPr/>
        </p:nvSpPr>
        <p:spPr>
          <a:xfrm>
            <a:off x="857250" y="4462463"/>
            <a:ext cx="7500938" cy="1323975"/>
          </a:xfrm>
          <a:prstGeom prst="rect">
            <a:avLst/>
          </a:prstGeom>
        </p:spPr>
        <p:txBody>
          <a:bodyPr>
            <a:spAutoFit/>
          </a:bodyPr>
          <a:lstStyle/>
          <a:p>
            <a:pPr>
              <a:lnSpc>
                <a:spcPct val="150000"/>
              </a:lnSpc>
              <a:defRPr/>
            </a:pPr>
            <a:r>
              <a:rPr lang="zh-CN" altLang="en-US" sz="2000" b="1" kern="0" dirty="0">
                <a:solidFill>
                  <a:srgbClr val="003399"/>
                </a:solidFill>
                <a:latin typeface="微软雅黑" pitchFamily="34" charset="-122"/>
                <a:ea typeface="微软雅黑" pitchFamily="34" charset="-122"/>
                <a:cs typeface="+mj-cs"/>
              </a:rPr>
              <a:t>优点</a:t>
            </a:r>
            <a:r>
              <a:rPr lang="zh-CN" altLang="en-US" sz="2000" kern="0" dirty="0">
                <a:solidFill>
                  <a:srgbClr val="000000"/>
                </a:solidFill>
                <a:latin typeface="微软雅黑" pitchFamily="34" charset="-122"/>
                <a:ea typeface="微软雅黑" pitchFamily="34" charset="-122"/>
                <a:cs typeface="+mj-cs"/>
              </a:rPr>
              <a:t>：</a:t>
            </a:r>
            <a:r>
              <a:rPr lang="zh-CN" altLang="en-US" sz="200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cs typeface="+mj-cs"/>
              </a:rPr>
              <a:t>设备简单、便宜</a:t>
            </a:r>
            <a:endParaRPr lang="en-US" altLang="zh-CN" sz="200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cs typeface="+mj-cs"/>
            </a:endParaRPr>
          </a:p>
          <a:p>
            <a:pPr>
              <a:lnSpc>
                <a:spcPct val="150000"/>
              </a:lnSpc>
              <a:defRPr/>
            </a:pPr>
            <a:r>
              <a:rPr lang="zh-CN" altLang="en-US" sz="2000" b="1" kern="0" dirty="0">
                <a:solidFill>
                  <a:srgbClr val="003399"/>
                </a:solidFill>
                <a:latin typeface="微软雅黑" pitchFamily="34" charset="-122"/>
                <a:ea typeface="微软雅黑" pitchFamily="34" charset="-122"/>
                <a:cs typeface="+mj-cs"/>
              </a:rPr>
              <a:t>缺点</a:t>
            </a:r>
            <a:r>
              <a:rPr lang="zh-CN" altLang="en-US" sz="2000" kern="0" dirty="0">
                <a:solidFill>
                  <a:srgbClr val="000000"/>
                </a:solidFill>
                <a:latin typeface="微软雅黑" pitchFamily="34" charset="-122"/>
                <a:ea typeface="微软雅黑" pitchFamily="34" charset="-122"/>
                <a:cs typeface="+mj-cs"/>
              </a:rPr>
              <a:t>：</a:t>
            </a:r>
            <a:r>
              <a:rPr lang="zh-CN" altLang="en-US" sz="2000" kern="0" dirty="0">
                <a:solidFill>
                  <a:srgbClr val="000000"/>
                </a:solidFill>
                <a:latin typeface="微软雅黑" pitchFamily="34" charset="-122"/>
                <a:ea typeface="微软雅黑" pitchFamily="34" charset="-122"/>
              </a:rPr>
              <a:t>传输效率</a:t>
            </a:r>
            <a:r>
              <a:rPr lang="zh-CN" altLang="en-US" sz="200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cs typeface="+mj-cs"/>
              </a:rPr>
              <a:t>较低</a:t>
            </a:r>
            <a:r>
              <a:rPr lang="zh-CN" altLang="en-US" sz="2000" kern="0" dirty="0">
                <a:solidFill>
                  <a:srgbClr val="000000"/>
                </a:solidFill>
                <a:latin typeface="微软雅黑" pitchFamily="34" charset="-122"/>
                <a:ea typeface="微软雅黑" pitchFamily="34" charset="-122"/>
              </a:rPr>
              <a:t>（因为起、止位的开销所占比例较大）</a:t>
            </a:r>
            <a:endParaRPr lang="zh-CN" altLang="en-US" sz="2000" dirty="0">
              <a:latin typeface="微软雅黑" pitchFamily="34" charset="-122"/>
              <a:ea typeface="微软雅黑" pitchFamily="34" charset="-122"/>
            </a:endParaRPr>
          </a:p>
          <a:p>
            <a:pPr>
              <a:defRPr/>
            </a:pPr>
            <a:endParaRPr lang="zh-CN" altLang="en-US" sz="2000" dirty="0">
              <a:latin typeface="微软雅黑" pitchFamily="34" charset="-122"/>
              <a:ea typeface="微软雅黑" pitchFamily="34" charset="-122"/>
            </a:endParaRPr>
          </a:p>
        </p:txBody>
      </p:sp>
      <p:sp>
        <p:nvSpPr>
          <p:cNvPr id="9" name="矩形 4">
            <a:extLst>
              <a:ext uri="{FF2B5EF4-FFF2-40B4-BE49-F238E27FC236}">
                <a16:creationId xmlns:a16="http://schemas.microsoft.com/office/drawing/2014/main" id="{7969D98A-E0FA-47C6-496C-E4C3A24D0DE9}"/>
              </a:ext>
            </a:extLst>
          </p:cNvPr>
          <p:cNvSpPr>
            <a:spLocks noChangeArrowheads="1"/>
          </p:cNvSpPr>
          <p:nvPr/>
        </p:nvSpPr>
        <p:spPr bwMode="auto">
          <a:xfrm>
            <a:off x="142875" y="415925"/>
            <a:ext cx="41259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en-US" sz="3200" b="1">
                <a:solidFill>
                  <a:srgbClr val="800080"/>
                </a:solidFill>
                <a:latin typeface="Arial" panose="020B0604020202020204" pitchFamily="34" charset="0"/>
                <a:ea typeface="微软雅黑" panose="020B0503020204020204" pitchFamily="34" charset="-122"/>
                <a:cs typeface="Arial" panose="020B0604020202020204" pitchFamily="34" charset="0"/>
              </a:rPr>
              <a:t>13</a:t>
            </a:r>
            <a:r>
              <a:rPr lang="en-US" altLang="zh-CN" sz="3200" b="1">
                <a:solidFill>
                  <a:srgbClr val="800080"/>
                </a:solidFill>
                <a:latin typeface="Arial" panose="020B0604020202020204" pitchFamily="34" charset="0"/>
                <a:ea typeface="微软雅黑" panose="020B0503020204020204" pitchFamily="34" charset="-122"/>
                <a:cs typeface="Arial" panose="020B0604020202020204" pitchFamily="34" charset="0"/>
              </a:rPr>
              <a:t>.4.5   </a:t>
            </a:r>
            <a:r>
              <a:rPr lang="zh-CN" altLang="zh-CN" sz="3200" b="1">
                <a:solidFill>
                  <a:srgbClr val="003399"/>
                </a:solidFill>
                <a:latin typeface="Arial" panose="020B0604020202020204" pitchFamily="34" charset="0"/>
                <a:ea typeface="微软雅黑" panose="020B0503020204020204" pitchFamily="34" charset="-122"/>
                <a:cs typeface="Arial" panose="020B0604020202020204" pitchFamily="34" charset="0"/>
              </a:rPr>
              <a:t>起止式同步法</a:t>
            </a:r>
            <a:endParaRPr lang="zh-CN" altLang="en-US" sz="3200" b="1">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1000"/>
                                        <p:tgtEl>
                                          <p:spTgt spid="9"/>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1000"/>
                                        <p:tgtEl>
                                          <p:spTgt spid="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up)">
                                      <p:cBhvr>
                                        <p:cTn id="16" dur="1000"/>
                                        <p:tgtEl>
                                          <p:spTgt spid="7"/>
                                        </p:tgtEl>
                                      </p:cBhvr>
                                    </p:animEffect>
                                  </p:childTnLst>
                                </p:cTn>
                              </p:par>
                            </p:childTnLst>
                          </p:cTn>
                        </p:par>
                        <p:par>
                          <p:cTn id="17" fill="hold" nodeType="afterGroup">
                            <p:stCondLst>
                              <p:cond delay="1000"/>
                            </p:stCondLst>
                            <p:childTnLst>
                              <p:par>
                                <p:cTn id="18" presetID="22" presetClass="entr" presetSubtype="1"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up)">
                                      <p:cBhvr>
                                        <p:cTn id="20" dur="2000"/>
                                        <p:tgtEl>
                                          <p:spTgt spid="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up)">
                                      <p:cBhvr>
                                        <p:cTn id="25"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P spid="9"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975" name="Group 55">
            <a:extLst>
              <a:ext uri="{FF2B5EF4-FFF2-40B4-BE49-F238E27FC236}">
                <a16:creationId xmlns:a16="http://schemas.microsoft.com/office/drawing/2014/main" id="{DB110A8F-E993-F3A3-0E34-AA2096E4B737}"/>
              </a:ext>
            </a:extLst>
          </p:cNvPr>
          <p:cNvGraphicFramePr>
            <a:graphicFrameLocks noGrp="1"/>
          </p:cNvGraphicFramePr>
          <p:nvPr/>
        </p:nvGraphicFramePr>
        <p:xfrm>
          <a:off x="2635250" y="3086100"/>
          <a:ext cx="4365625" cy="914400"/>
        </p:xfrm>
        <a:graphic>
          <a:graphicData uri="http://schemas.openxmlformats.org/drawingml/2006/table">
            <a:tbl>
              <a:tblPr/>
              <a:tblGrid>
                <a:gridCol w="1090612">
                  <a:extLst>
                    <a:ext uri="{9D8B030D-6E8A-4147-A177-3AD203B41FA5}">
                      <a16:colId xmlns:a16="http://schemas.microsoft.com/office/drawing/2014/main" val="20000"/>
                    </a:ext>
                  </a:extLst>
                </a:gridCol>
                <a:gridCol w="1089025">
                  <a:extLst>
                    <a:ext uri="{9D8B030D-6E8A-4147-A177-3AD203B41FA5}">
                      <a16:colId xmlns:a16="http://schemas.microsoft.com/office/drawing/2014/main" val="20001"/>
                    </a:ext>
                  </a:extLst>
                </a:gridCol>
                <a:gridCol w="1093788">
                  <a:extLst>
                    <a:ext uri="{9D8B030D-6E8A-4147-A177-3AD203B41FA5}">
                      <a16:colId xmlns:a16="http://schemas.microsoft.com/office/drawing/2014/main" val="20002"/>
                    </a:ext>
                  </a:extLst>
                </a:gridCol>
                <a:gridCol w="1092200">
                  <a:extLst>
                    <a:ext uri="{9D8B030D-6E8A-4147-A177-3AD203B41FA5}">
                      <a16:colId xmlns:a16="http://schemas.microsoft.com/office/drawing/2014/main" val="20003"/>
                    </a:ext>
                  </a:extLst>
                </a:gridCol>
              </a:tblGrid>
              <a:tr h="4270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Arial" pitchFamily="34" charset="0"/>
                          <a:ea typeface="楷体_GB2312" pitchFamily="49" charset="-122"/>
                          <a:cs typeface="Arial" pitchFamily="34" charset="0"/>
                        </a:rPr>
                        <a:t>晴</a:t>
                      </a:r>
                      <a:endParaRPr kumimoji="0" lang="zh-CN" altLang="en-US" sz="3600" b="1" i="0" u="none" strike="noStrike" cap="none" normalizeH="0" baseline="0" dirty="0">
                        <a:ln>
                          <a:noFill/>
                        </a:ln>
                        <a:solidFill>
                          <a:schemeClr val="tx1"/>
                        </a:solidFill>
                        <a:effectLst/>
                        <a:latin typeface="Arial" pitchFamily="34" charset="0"/>
                        <a:ea typeface="楷体_GB2312" pitchFamily="49" charset="-122"/>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Arial" pitchFamily="34" charset="0"/>
                          <a:ea typeface="楷体_GB2312" pitchFamily="49" charset="-122"/>
                          <a:cs typeface="Arial" pitchFamily="34" charset="0"/>
                        </a:rPr>
                        <a:t>云</a:t>
                      </a:r>
                      <a:endParaRPr kumimoji="0" lang="zh-CN" altLang="en-US" sz="3600" b="1" i="0" u="none" strike="noStrike" cap="none" normalizeH="0" baseline="0" dirty="0">
                        <a:ln>
                          <a:noFill/>
                        </a:ln>
                        <a:solidFill>
                          <a:schemeClr val="tx1"/>
                        </a:solidFill>
                        <a:effectLst/>
                        <a:latin typeface="Arial" pitchFamily="34" charset="0"/>
                        <a:ea typeface="楷体_GB2312" pitchFamily="49" charset="-122"/>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Arial" pitchFamily="34" charset="0"/>
                          <a:ea typeface="楷体_GB2312" pitchFamily="49" charset="-122"/>
                          <a:cs typeface="Arial" pitchFamily="34" charset="0"/>
                        </a:rPr>
                        <a:t>阴</a:t>
                      </a:r>
                      <a:endParaRPr kumimoji="0" lang="zh-CN" altLang="en-US" sz="3600" b="1" i="0" u="none" strike="noStrike" cap="none" normalizeH="0" baseline="0">
                        <a:ln>
                          <a:noFill/>
                        </a:ln>
                        <a:solidFill>
                          <a:schemeClr val="tx1"/>
                        </a:solidFill>
                        <a:effectLst/>
                        <a:latin typeface="Arial" pitchFamily="34" charset="0"/>
                        <a:ea typeface="楷体_GB2312" pitchFamily="49" charset="-122"/>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Arial" pitchFamily="34" charset="0"/>
                          <a:ea typeface="楷体_GB2312" pitchFamily="49" charset="-122"/>
                          <a:cs typeface="Arial" pitchFamily="34" charset="0"/>
                        </a:rPr>
                        <a:t>雨</a:t>
                      </a:r>
                      <a:endParaRPr kumimoji="0" lang="zh-CN" altLang="en-US" sz="3600" b="1" i="0" u="none" strike="noStrike" cap="none" normalizeH="0" baseline="0" dirty="0">
                        <a:ln>
                          <a:noFill/>
                        </a:ln>
                        <a:solidFill>
                          <a:schemeClr val="tx1"/>
                        </a:solidFill>
                        <a:effectLst/>
                        <a:latin typeface="Arial" pitchFamily="34" charset="0"/>
                        <a:ea typeface="楷体_GB2312" pitchFamily="49" charset="-122"/>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70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pitchFamily="34" charset="0"/>
                          <a:ea typeface="宋体" pitchFamily="2" charset="-122"/>
                          <a:cs typeface="Arial" pitchFamily="34" charset="0"/>
                        </a:rPr>
                        <a:t>0</a:t>
                      </a:r>
                      <a:endParaRPr kumimoji="0" lang="en-US" altLang="zh-CN" sz="3600" b="1" i="0" u="none" strike="noStrike" cap="none" normalizeH="0" baseline="0">
                        <a:ln>
                          <a:noFill/>
                        </a:ln>
                        <a:solidFill>
                          <a:schemeClr val="tx1"/>
                        </a:solidFill>
                        <a:effectLst/>
                        <a:latin typeface="Arial" pitchFamily="34" charset="0"/>
                        <a:ea typeface="宋体" pitchFamily="2" charset="-122"/>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Arial" pitchFamily="34" charset="0"/>
                          <a:ea typeface="宋体" pitchFamily="2" charset="-122"/>
                          <a:cs typeface="Arial" pitchFamily="34" charset="0"/>
                        </a:rPr>
                        <a:t>101 </a:t>
                      </a:r>
                      <a:endParaRPr kumimoji="0" lang="en-US" altLang="zh-CN" sz="3600" b="1" i="0" u="none" strike="noStrike" cap="none" normalizeH="0" baseline="0" dirty="0">
                        <a:ln>
                          <a:noFill/>
                        </a:ln>
                        <a:solidFill>
                          <a:schemeClr val="tx1"/>
                        </a:solidFill>
                        <a:effectLst/>
                        <a:latin typeface="Arial" pitchFamily="34" charset="0"/>
                        <a:ea typeface="宋体" pitchFamily="2" charset="-122"/>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Arial" pitchFamily="34" charset="0"/>
                          <a:ea typeface="宋体" pitchFamily="2" charset="-122"/>
                          <a:cs typeface="Arial" pitchFamily="34" charset="0"/>
                        </a:rPr>
                        <a:t>110</a:t>
                      </a:r>
                      <a:endParaRPr kumimoji="0" lang="en-US" altLang="zh-CN" sz="3600" b="1" i="0" u="none" strike="noStrike" cap="none" normalizeH="0" baseline="0" dirty="0">
                        <a:ln>
                          <a:noFill/>
                        </a:ln>
                        <a:solidFill>
                          <a:schemeClr val="tx1"/>
                        </a:solidFill>
                        <a:effectLst/>
                        <a:latin typeface="Arial" pitchFamily="34" charset="0"/>
                        <a:ea typeface="宋体" pitchFamily="2" charset="-122"/>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Arial" pitchFamily="34" charset="0"/>
                          <a:ea typeface="宋体" pitchFamily="2" charset="-122"/>
                          <a:cs typeface="Arial" pitchFamily="34" charset="0"/>
                        </a:rPr>
                        <a:t>111</a:t>
                      </a:r>
                      <a:endParaRPr kumimoji="0" lang="en-US" altLang="zh-CN" sz="3600" b="1" i="0" u="none" strike="noStrike" cap="none" normalizeH="0" baseline="0" dirty="0">
                        <a:ln>
                          <a:noFill/>
                        </a:ln>
                        <a:solidFill>
                          <a:schemeClr val="tx1"/>
                        </a:solidFill>
                        <a:effectLst/>
                        <a:latin typeface="Arial" pitchFamily="34" charset="0"/>
                        <a:ea typeface="宋体" pitchFamily="2" charset="-122"/>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 name="矩形 4">
            <a:extLst>
              <a:ext uri="{FF2B5EF4-FFF2-40B4-BE49-F238E27FC236}">
                <a16:creationId xmlns:a16="http://schemas.microsoft.com/office/drawing/2014/main" id="{375A6914-C887-FD00-7E90-A306284E2FE0}"/>
              </a:ext>
            </a:extLst>
          </p:cNvPr>
          <p:cNvSpPr>
            <a:spLocks noChangeArrowheads="1"/>
          </p:cNvSpPr>
          <p:nvPr/>
        </p:nvSpPr>
        <p:spPr bwMode="auto">
          <a:xfrm>
            <a:off x="142875" y="415925"/>
            <a:ext cx="33051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en-US" sz="3200" b="1">
                <a:solidFill>
                  <a:srgbClr val="800080"/>
                </a:solidFill>
                <a:latin typeface="Arial" panose="020B0604020202020204" pitchFamily="34" charset="0"/>
                <a:ea typeface="微软雅黑" panose="020B0503020204020204" pitchFamily="34" charset="-122"/>
                <a:cs typeface="Arial" panose="020B0604020202020204" pitchFamily="34" charset="0"/>
              </a:rPr>
              <a:t>13</a:t>
            </a:r>
            <a:r>
              <a:rPr lang="en-US" altLang="zh-CN" sz="3200" b="1">
                <a:solidFill>
                  <a:srgbClr val="800080"/>
                </a:solidFill>
                <a:latin typeface="Arial" panose="020B0604020202020204" pitchFamily="34" charset="0"/>
                <a:ea typeface="微软雅黑" panose="020B0503020204020204" pitchFamily="34" charset="-122"/>
                <a:cs typeface="Arial" panose="020B0604020202020204" pitchFamily="34" charset="0"/>
              </a:rPr>
              <a:t>.4.6   </a:t>
            </a:r>
            <a:r>
              <a:rPr lang="zh-CN" altLang="en-US" sz="3200" b="1">
                <a:solidFill>
                  <a:srgbClr val="003399"/>
                </a:solidFill>
                <a:latin typeface="Arial" panose="020B0604020202020204" pitchFamily="34" charset="0"/>
                <a:ea typeface="微软雅黑" panose="020B0503020204020204" pitchFamily="34" charset="-122"/>
                <a:cs typeface="Arial" panose="020B0604020202020204" pitchFamily="34" charset="0"/>
              </a:rPr>
              <a:t>自群</a:t>
            </a:r>
            <a:r>
              <a:rPr lang="zh-CN" altLang="zh-CN" sz="3200" b="1">
                <a:solidFill>
                  <a:srgbClr val="003399"/>
                </a:solidFill>
                <a:latin typeface="Arial" panose="020B0604020202020204" pitchFamily="34" charset="0"/>
                <a:ea typeface="微软雅黑" panose="020B0503020204020204" pitchFamily="34" charset="-122"/>
                <a:cs typeface="Arial" panose="020B0604020202020204" pitchFamily="34" charset="0"/>
              </a:rPr>
              <a:t>同步</a:t>
            </a:r>
            <a:endParaRPr lang="zh-CN" altLang="en-US" sz="3200" b="1">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矩形 5">
            <a:extLst>
              <a:ext uri="{FF2B5EF4-FFF2-40B4-BE49-F238E27FC236}">
                <a16:creationId xmlns:a16="http://schemas.microsoft.com/office/drawing/2014/main" id="{16910AB8-94F6-971F-F6C6-C4AAF6361F0E}"/>
              </a:ext>
            </a:extLst>
          </p:cNvPr>
          <p:cNvSpPr/>
          <p:nvPr/>
        </p:nvSpPr>
        <p:spPr>
          <a:xfrm>
            <a:off x="1571625" y="1071563"/>
            <a:ext cx="7000875" cy="400050"/>
          </a:xfrm>
          <a:prstGeom prst="rect">
            <a:avLst/>
          </a:prstGeom>
        </p:spPr>
        <p:txBody>
          <a:bodyPr>
            <a:spAutoFit/>
          </a:bodyPr>
          <a:lstStyle/>
          <a:p>
            <a:pPr marL="228600" indent="-228600" eaLnBrk="0" hangingPunct="0">
              <a:spcBef>
                <a:spcPct val="20000"/>
              </a:spcBef>
              <a:buClr>
                <a:srgbClr val="3333CC"/>
              </a:buClr>
              <a:buSzPct val="50000"/>
              <a:defRPr/>
            </a:pPr>
            <a:r>
              <a:rPr lang="en-US" altLang="zh-CN" sz="2000" kern="0" dirty="0">
                <a:solidFill>
                  <a:srgbClr val="000000"/>
                </a:solidFill>
                <a:latin typeface="微软雅黑" pitchFamily="34" charset="-122"/>
                <a:ea typeface="微软雅黑" pitchFamily="34" charset="-122"/>
              </a:rPr>
              <a:t>——</a:t>
            </a:r>
            <a:r>
              <a:rPr lang="zh-CN" altLang="en-US" sz="2000" kern="0" dirty="0">
                <a:solidFill>
                  <a:srgbClr val="000000"/>
                </a:solidFill>
                <a:latin typeface="微软雅黑" pitchFamily="34" charset="-122"/>
                <a:ea typeface="微软雅黑" pitchFamily="34" charset="-122"/>
              </a:rPr>
              <a:t>本身具有分群能力的一类特殊的信息编码。</a:t>
            </a:r>
          </a:p>
        </p:txBody>
      </p:sp>
      <p:sp>
        <p:nvSpPr>
          <p:cNvPr id="8" name="矩形 7">
            <a:extLst>
              <a:ext uri="{FF2B5EF4-FFF2-40B4-BE49-F238E27FC236}">
                <a16:creationId xmlns:a16="http://schemas.microsoft.com/office/drawing/2014/main" id="{5D7E42AE-4E34-EC1C-23A2-19D730BB7101}"/>
              </a:ext>
            </a:extLst>
          </p:cNvPr>
          <p:cNvSpPr/>
          <p:nvPr/>
        </p:nvSpPr>
        <p:spPr>
          <a:xfrm>
            <a:off x="728663" y="1601788"/>
            <a:ext cx="3629025" cy="469900"/>
          </a:xfrm>
          <a:prstGeom prst="rect">
            <a:avLst/>
          </a:prstGeom>
          <a:noFill/>
        </p:spPr>
        <p:txBody>
          <a:bodyPr>
            <a:spAutoFit/>
          </a:bodyPr>
          <a:lstStyle/>
          <a:p>
            <a:pPr marL="228600" lvl="2" indent="-228600" eaLnBrk="0" hangingPunct="0">
              <a:lnSpc>
                <a:spcPct val="110000"/>
              </a:lnSpc>
              <a:spcBef>
                <a:spcPct val="20000"/>
              </a:spcBef>
              <a:buClr>
                <a:srgbClr val="FF0000"/>
              </a:buClr>
              <a:buSzPct val="85000"/>
              <a:buFont typeface="Wingdings" pitchFamily="2" charset="2"/>
              <a:buChar char="n"/>
              <a:defRPr/>
            </a:pPr>
            <a:r>
              <a:rPr lang="zh-CN" altLang="en-US" sz="2400" b="1" dirty="0">
                <a:latin typeface="Arial" pitchFamily="34" charset="0"/>
                <a:ea typeface="微软雅黑" pitchFamily="34" charset="-122"/>
                <a:cs typeface="Arial" pitchFamily="34" charset="0"/>
              </a:rPr>
              <a:t>唯一可译码</a:t>
            </a:r>
            <a:endParaRPr lang="zh-CN" altLang="en-US" sz="2400" b="1" kern="0" dirty="0">
              <a:latin typeface="微软雅黑" pitchFamily="34" charset="-122"/>
              <a:ea typeface="微软雅黑" pitchFamily="34" charset="-122"/>
            </a:endParaRPr>
          </a:p>
        </p:txBody>
      </p:sp>
      <p:sp>
        <p:nvSpPr>
          <p:cNvPr id="11" name="矩形 10">
            <a:extLst>
              <a:ext uri="{FF2B5EF4-FFF2-40B4-BE49-F238E27FC236}">
                <a16:creationId xmlns:a16="http://schemas.microsoft.com/office/drawing/2014/main" id="{B879BC2C-0585-292E-406C-B5AD63722CA7}"/>
              </a:ext>
            </a:extLst>
          </p:cNvPr>
          <p:cNvSpPr/>
          <p:nvPr/>
        </p:nvSpPr>
        <p:spPr>
          <a:xfrm>
            <a:off x="500063" y="2171700"/>
            <a:ext cx="8072437" cy="400050"/>
          </a:xfrm>
          <a:prstGeom prst="rect">
            <a:avLst/>
          </a:prstGeom>
        </p:spPr>
        <p:txBody>
          <a:bodyPr>
            <a:spAutoFit/>
          </a:bodyPr>
          <a:lstStyle/>
          <a:p>
            <a:pPr marL="685800" lvl="1" indent="-228600" eaLnBrk="0" hangingPunct="0">
              <a:spcBef>
                <a:spcPct val="20000"/>
              </a:spcBef>
              <a:buClr>
                <a:srgbClr val="FFCF01"/>
              </a:buClr>
              <a:buSzPct val="55000"/>
              <a:defRPr/>
            </a:pPr>
            <a:r>
              <a:rPr lang="en-US" altLang="zh-CN" sz="2000" kern="0" dirty="0">
                <a:latin typeface="Arial" pitchFamily="34" charset="0"/>
                <a:ea typeface="微软雅黑" pitchFamily="34" charset="-122"/>
                <a:cs typeface="Arial" pitchFamily="34" charset="0"/>
              </a:rPr>
              <a:t>—— </a:t>
            </a:r>
            <a:r>
              <a:rPr lang="zh-CN" altLang="en-US" sz="2000" kern="0" dirty="0">
                <a:solidFill>
                  <a:srgbClr val="000000"/>
                </a:solidFill>
                <a:latin typeface="Arial" pitchFamily="34" charset="0"/>
                <a:ea typeface="微软雅黑" pitchFamily="34" charset="-122"/>
                <a:cs typeface="Arial" pitchFamily="34" charset="0"/>
              </a:rPr>
              <a:t>在编码中任何一个码字都不能是其他码字的前缀。</a:t>
            </a:r>
          </a:p>
        </p:txBody>
      </p:sp>
      <p:sp>
        <p:nvSpPr>
          <p:cNvPr id="12" name="矩形 11">
            <a:extLst>
              <a:ext uri="{FF2B5EF4-FFF2-40B4-BE49-F238E27FC236}">
                <a16:creationId xmlns:a16="http://schemas.microsoft.com/office/drawing/2014/main" id="{7A853209-599E-00A7-B9D2-234ABA879F9F}"/>
              </a:ext>
            </a:extLst>
          </p:cNvPr>
          <p:cNvSpPr/>
          <p:nvPr/>
        </p:nvSpPr>
        <p:spPr>
          <a:xfrm>
            <a:off x="714375" y="5286375"/>
            <a:ext cx="7715250" cy="1025525"/>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marL="228600" indent="-228600" eaLnBrk="0" hangingPunct="0">
              <a:lnSpc>
                <a:spcPts val="3400"/>
              </a:lnSpc>
              <a:spcBef>
                <a:spcPct val="20000"/>
              </a:spcBef>
              <a:buClr>
                <a:srgbClr val="FFCF01"/>
              </a:buClr>
              <a:buSzPct val="55000"/>
              <a:defRPr/>
            </a:pPr>
            <a:r>
              <a:rPr lang="zh-CN" altLang="en-US" sz="2000" b="1" dirty="0">
                <a:solidFill>
                  <a:srgbClr val="FF0000"/>
                </a:solidFill>
                <a:latin typeface="Arial" pitchFamily="34" charset="0"/>
                <a:ea typeface="微软雅黑" pitchFamily="34" charset="-122"/>
                <a:cs typeface="Arial" pitchFamily="34" charset="0"/>
              </a:rPr>
              <a:t>注意</a:t>
            </a:r>
            <a:r>
              <a:rPr lang="zh-CN" altLang="en-US" sz="2000" dirty="0">
                <a:solidFill>
                  <a:srgbClr val="FF0000"/>
                </a:solidFill>
                <a:latin typeface="+mn-ea"/>
                <a:ea typeface="+mn-ea"/>
                <a:cs typeface="Arial" pitchFamily="34" charset="0"/>
              </a:rPr>
              <a:t>：</a:t>
            </a:r>
            <a:r>
              <a:rPr lang="zh-CN" altLang="en-US" sz="2000" dirty="0">
                <a:latin typeface="微软雅黑" pitchFamily="34" charset="-122"/>
                <a:ea typeface="微软雅黑" pitchFamily="34" charset="-122"/>
              </a:rPr>
              <a:t>唯一可译码的唯一可译性是有条件的，即必须正确接收到开</a:t>
            </a:r>
            <a:endParaRPr lang="en-US" altLang="zh-CN" sz="2000" dirty="0">
              <a:latin typeface="微软雅黑" pitchFamily="34" charset="-122"/>
              <a:ea typeface="微软雅黑" pitchFamily="34" charset="-122"/>
            </a:endParaRPr>
          </a:p>
          <a:p>
            <a:pPr marL="228600" indent="-228600" eaLnBrk="0" hangingPunct="0">
              <a:lnSpc>
                <a:spcPts val="3400"/>
              </a:lnSpc>
              <a:spcBef>
                <a:spcPct val="20000"/>
              </a:spcBef>
              <a:buClr>
                <a:srgbClr val="FFCF01"/>
              </a:buClr>
              <a:buSzPct val="55000"/>
              <a:defRPr/>
            </a:pPr>
            <a:r>
              <a:rPr lang="en-US" altLang="zh-CN" sz="2000" dirty="0">
                <a:latin typeface="微软雅黑" pitchFamily="34" charset="-122"/>
                <a:ea typeface="微软雅黑" pitchFamily="34" charset="-122"/>
              </a:rPr>
              <a:t>          </a:t>
            </a:r>
            <a:r>
              <a:rPr lang="zh-CN" altLang="en-US" sz="2000" dirty="0">
                <a:latin typeface="微软雅黑" pitchFamily="34" charset="-122"/>
                <a:ea typeface="微软雅黑" pitchFamily="34" charset="-122"/>
              </a:rPr>
              <a:t>头的第一个或前几个码元。</a:t>
            </a:r>
            <a:endParaRPr lang="zh-CN" altLang="en-US" sz="2000" kern="0" dirty="0">
              <a:latin typeface="Arial" pitchFamily="34" charset="0"/>
              <a:ea typeface="微软雅黑" pitchFamily="34" charset="-122"/>
              <a:cs typeface="Arial" pitchFamily="34" charset="0"/>
            </a:endParaRPr>
          </a:p>
        </p:txBody>
      </p:sp>
      <p:grpSp>
        <p:nvGrpSpPr>
          <p:cNvPr id="2" name="组合 57">
            <a:extLst>
              <a:ext uri="{FF2B5EF4-FFF2-40B4-BE49-F238E27FC236}">
                <a16:creationId xmlns:a16="http://schemas.microsoft.com/office/drawing/2014/main" id="{8475F0B4-C17E-D370-4C20-A3287DB0F350}"/>
              </a:ext>
            </a:extLst>
          </p:cNvPr>
          <p:cNvGrpSpPr>
            <a:grpSpLocks/>
          </p:cNvGrpSpPr>
          <p:nvPr/>
        </p:nvGrpSpPr>
        <p:grpSpPr bwMode="auto">
          <a:xfrm>
            <a:off x="1671638" y="2786063"/>
            <a:ext cx="928687" cy="571500"/>
            <a:chOff x="2500298" y="3214686"/>
            <a:chExt cx="928693" cy="571503"/>
          </a:xfrm>
        </p:grpSpPr>
        <p:sp>
          <p:nvSpPr>
            <p:cNvPr id="14" name="椭圆 13">
              <a:extLst>
                <a:ext uri="{FF2B5EF4-FFF2-40B4-BE49-F238E27FC236}">
                  <a16:creationId xmlns:a16="http://schemas.microsoft.com/office/drawing/2014/main" id="{F551B61C-4568-0060-3697-89658EF66F9C}"/>
                </a:ext>
              </a:extLst>
            </p:cNvPr>
            <p:cNvSpPr/>
            <p:nvPr/>
          </p:nvSpPr>
          <p:spPr bwMode="auto">
            <a:xfrm>
              <a:off x="2500298" y="3214686"/>
              <a:ext cx="928693" cy="571503"/>
            </a:xfrm>
            <a:prstGeom prst="ellipse">
              <a:avLst/>
            </a:prstGeom>
            <a:solidFill>
              <a:schemeClr val="bg2">
                <a:lumMod val="10000"/>
                <a:lumOff val="90000"/>
              </a:schemeClr>
            </a:solidFill>
            <a:ln w="9525" cap="flat" cmpd="sng" algn="ctr">
              <a:solidFill>
                <a:schemeClr val="tx2">
                  <a:lumMod val="60000"/>
                  <a:lumOff val="40000"/>
                </a:schemeClr>
              </a:solidFill>
              <a:prstDash val="solid"/>
              <a:miter lim="800000"/>
              <a:headEnd type="none" w="med" len="med"/>
              <a:tailEnd type="none" w="med" len="med"/>
            </a:ln>
            <a:effectLst>
              <a:outerShdw blurRad="50800" dist="38100" dir="18900000" algn="bl" rotWithShape="0">
                <a:prstClr val="black">
                  <a:alpha val="40000"/>
                </a:prstClr>
              </a:outerShdw>
            </a:effectLst>
          </p:spPr>
          <p:txBody>
            <a:bodyPr wrap="none"/>
            <a:lstStyle/>
            <a:p>
              <a:pPr>
                <a:defRPr/>
              </a:pPr>
              <a:endParaRPr lang="zh-CN" altLang="en-US" dirty="0">
                <a:ea typeface="宋体" charset="-122"/>
              </a:endParaRPr>
            </a:p>
          </p:txBody>
        </p:sp>
        <p:sp>
          <p:nvSpPr>
            <p:cNvPr id="15" name="矩形 14">
              <a:extLst>
                <a:ext uri="{FF2B5EF4-FFF2-40B4-BE49-F238E27FC236}">
                  <a16:creationId xmlns:a16="http://schemas.microsoft.com/office/drawing/2014/main" id="{05997F58-70DA-94C3-8F5F-4388B7FEFADA}"/>
                </a:ext>
              </a:extLst>
            </p:cNvPr>
            <p:cNvSpPr/>
            <p:nvPr/>
          </p:nvSpPr>
          <p:spPr>
            <a:xfrm>
              <a:off x="2552685" y="3257548"/>
              <a:ext cx="800105" cy="461965"/>
            </a:xfrm>
            <a:prstGeom prst="rect">
              <a:avLst/>
            </a:prstGeom>
          </p:spPr>
          <p:txBody>
            <a:bodyPr wrap="none">
              <a:spAutoFit/>
            </a:bodyPr>
            <a:lstStyle/>
            <a:p>
              <a:pPr>
                <a:defRPr/>
              </a:pPr>
              <a:r>
                <a:rPr lang="zh-CN" altLang="en-US" sz="2400" kern="0" dirty="0">
                  <a:solidFill>
                    <a:srgbClr val="0000CC"/>
                  </a:solidFill>
                  <a:latin typeface="黑体" pitchFamily="2" charset="-122"/>
                  <a:ea typeface="黑体" pitchFamily="2" charset="-122"/>
                </a:rPr>
                <a:t>举例</a:t>
              </a:r>
              <a:endParaRPr lang="zh-CN" altLang="en-US" sz="2400" dirty="0">
                <a:solidFill>
                  <a:srgbClr val="0000CC"/>
                </a:solidFill>
                <a:latin typeface="黑体" pitchFamily="2" charset="-122"/>
                <a:ea typeface="黑体" pitchFamily="2" charset="-122"/>
              </a:endParaRPr>
            </a:p>
          </p:txBody>
        </p:sp>
      </p:grpSp>
      <p:sp>
        <p:nvSpPr>
          <p:cNvPr id="16" name="Rectangle 3">
            <a:extLst>
              <a:ext uri="{FF2B5EF4-FFF2-40B4-BE49-F238E27FC236}">
                <a16:creationId xmlns:a16="http://schemas.microsoft.com/office/drawing/2014/main" id="{2D2DCF94-C98D-D8CF-F4C5-26CD9A4D8AE8}"/>
              </a:ext>
            </a:extLst>
          </p:cNvPr>
          <p:cNvSpPr txBox="1">
            <a:spLocks noChangeArrowheads="1"/>
          </p:cNvSpPr>
          <p:nvPr/>
        </p:nvSpPr>
        <p:spPr bwMode="auto">
          <a:xfrm>
            <a:off x="1500188" y="4214813"/>
            <a:ext cx="7461250" cy="1071562"/>
          </a:xfrm>
          <a:prstGeom prst="rect">
            <a:avLst/>
          </a:prstGeom>
          <a:noFill/>
          <a:ln w="9525">
            <a:noFill/>
            <a:miter lim="800000"/>
            <a:headEnd/>
            <a:tailEnd/>
          </a:ln>
        </p:spPr>
        <p:txBody>
          <a:bodyPr/>
          <a:lstStyle/>
          <a:p>
            <a:pPr marL="342900" indent="-342900" eaLnBrk="0" hangingPunct="0">
              <a:lnSpc>
                <a:spcPts val="3200"/>
              </a:lnSpc>
              <a:spcBef>
                <a:spcPct val="20000"/>
              </a:spcBef>
              <a:buClr>
                <a:schemeClr val="folHlink"/>
              </a:buClr>
              <a:buSzPct val="60000"/>
              <a:buFont typeface="Wingdings" pitchFamily="2" charset="2"/>
              <a:buNone/>
              <a:defRPr/>
            </a:pPr>
            <a:r>
              <a:rPr lang="zh-CN" altLang="en-US" sz="2000" kern="0" dirty="0">
                <a:latin typeface="Arial" pitchFamily="34" charset="0"/>
                <a:ea typeface="微软雅黑" pitchFamily="34" charset="-122"/>
                <a:cs typeface="Arial" pitchFamily="34" charset="0"/>
              </a:rPr>
              <a:t>当接收到的数字序列为“</a:t>
            </a:r>
            <a:r>
              <a:rPr lang="en-US" altLang="zh-CN" sz="2000" kern="0" dirty="0">
                <a:latin typeface="Arial" pitchFamily="34" charset="0"/>
                <a:ea typeface="微软雅黑" pitchFamily="34" charset="-122"/>
                <a:cs typeface="Arial" pitchFamily="34" charset="0"/>
              </a:rPr>
              <a:t>111 0 11 0 110</a:t>
            </a:r>
            <a:r>
              <a:rPr lang="en-US" altLang="zh-CN" sz="2000" kern="0" dirty="0">
                <a:latin typeface="Arial" pitchFamily="34" charset="0"/>
                <a:ea typeface="微软雅黑" pitchFamily="34" charset="-122"/>
                <a:cs typeface="Arial" pitchFamily="34" charset="0"/>
                <a:sym typeface="Symbol" pitchFamily="18" charset="2"/>
              </a:rPr>
              <a:t></a:t>
            </a:r>
            <a:r>
              <a:rPr lang="en-US" altLang="zh-CN" sz="2000" kern="0" dirty="0">
                <a:latin typeface="Arial" pitchFamily="34" charset="0"/>
                <a:ea typeface="微软雅黑" pitchFamily="34" charset="-122"/>
                <a:cs typeface="Arial" pitchFamily="34" charset="0"/>
              </a:rPr>
              <a:t>”</a:t>
            </a:r>
            <a:r>
              <a:rPr lang="zh-CN" altLang="en-US" sz="2000" kern="0" dirty="0">
                <a:latin typeface="Arial" pitchFamily="34" charset="0"/>
                <a:ea typeface="微软雅黑" pitchFamily="34" charset="-122"/>
                <a:cs typeface="Arial" pitchFamily="34" charset="0"/>
              </a:rPr>
              <a:t>时，它将唯一地</a:t>
            </a:r>
            <a:endParaRPr lang="en-US" altLang="zh-CN" sz="2000" kern="0" dirty="0">
              <a:latin typeface="Arial" pitchFamily="34" charset="0"/>
              <a:ea typeface="微软雅黑" pitchFamily="34" charset="-122"/>
              <a:cs typeface="Arial" pitchFamily="34" charset="0"/>
            </a:endParaRPr>
          </a:p>
          <a:p>
            <a:pPr marL="342900" indent="-342900" eaLnBrk="0" hangingPunct="0">
              <a:lnSpc>
                <a:spcPts val="3200"/>
              </a:lnSpc>
              <a:spcBef>
                <a:spcPct val="20000"/>
              </a:spcBef>
              <a:buClr>
                <a:schemeClr val="folHlink"/>
              </a:buClr>
              <a:buSzPct val="60000"/>
              <a:buFont typeface="Wingdings" pitchFamily="2" charset="2"/>
              <a:buNone/>
              <a:defRPr/>
            </a:pPr>
            <a:r>
              <a:rPr lang="zh-CN" altLang="en-US" sz="2000" kern="0" dirty="0">
                <a:latin typeface="Arial" pitchFamily="34" charset="0"/>
                <a:ea typeface="微软雅黑" pitchFamily="34" charset="-122"/>
                <a:cs typeface="Arial" pitchFamily="34" charset="0"/>
              </a:rPr>
              <a:t>可以译为“雨 晴 阴 阴</a:t>
            </a:r>
            <a:r>
              <a:rPr lang="zh-CN" altLang="en-US" sz="2000" kern="0" dirty="0">
                <a:latin typeface="Arial" pitchFamily="34" charset="0"/>
                <a:ea typeface="微软雅黑" pitchFamily="34" charset="-122"/>
                <a:cs typeface="Arial" pitchFamily="34" charset="0"/>
                <a:sym typeface="Symbol" pitchFamily="18" charset="2"/>
              </a:rPr>
              <a:t></a:t>
            </a:r>
            <a:r>
              <a:rPr lang="zh-CN" altLang="en-US" sz="2000" kern="0" dirty="0">
                <a:latin typeface="Arial" pitchFamily="34" charset="0"/>
                <a:ea typeface="微软雅黑" pitchFamily="34" charset="-122"/>
                <a:cs typeface="Arial" pitchFamily="34" charset="0"/>
              </a:rPr>
              <a:t>”。</a:t>
            </a:r>
            <a:endParaRPr lang="zh-CN" altLang="en-US" sz="3200" kern="0" dirty="0">
              <a:latin typeface="Arial" pitchFamily="34" charset="0"/>
              <a:ea typeface="微软雅黑" pitchFamily="34" charset="-122"/>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10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1000"/>
                                        <p:tgtEl>
                                          <p:spTgt spid="8"/>
                                        </p:tgtEl>
                                      </p:cBhvr>
                                    </p:animEffect>
                                  </p:childTnLst>
                                </p:cTn>
                              </p:par>
                            </p:childTnLst>
                          </p:cTn>
                        </p:par>
                        <p:par>
                          <p:cTn id="18" fill="hold" nodeType="afterGroup">
                            <p:stCondLst>
                              <p:cond delay="1000"/>
                            </p:stCondLst>
                            <p:childTnLst>
                              <p:par>
                                <p:cTn id="19" presetID="22" presetClass="entr" presetSubtype="1" fill="hold"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up)">
                                      <p:cBhvr>
                                        <p:cTn id="21" dur="1000"/>
                                        <p:tgtEl>
                                          <p:spTgt spid="1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ipe(left)">
                                      <p:cBhvr>
                                        <p:cTn id="26" dur="2000"/>
                                        <p:tgtEl>
                                          <p:spTgt spid="2"/>
                                        </p:tgtEl>
                                      </p:cBhvr>
                                    </p:animEffect>
                                  </p:childTnLst>
                                </p:cTn>
                              </p:par>
                            </p:childTnLst>
                          </p:cTn>
                        </p:par>
                        <p:par>
                          <p:cTn id="27" fill="hold" nodeType="afterGroup">
                            <p:stCondLst>
                              <p:cond delay="2000"/>
                            </p:stCondLst>
                            <p:childTnLst>
                              <p:par>
                                <p:cTn id="28" presetID="22" presetClass="entr" presetSubtype="1" fill="hold" nodeType="afterEffect">
                                  <p:stCondLst>
                                    <p:cond delay="0"/>
                                  </p:stCondLst>
                                  <p:childTnLst>
                                    <p:set>
                                      <p:cBhvr>
                                        <p:cTn id="29" dur="1" fill="hold">
                                          <p:stCondLst>
                                            <p:cond delay="0"/>
                                          </p:stCondLst>
                                        </p:cTn>
                                        <p:tgtEl>
                                          <p:spTgt spid="81975"/>
                                        </p:tgtEl>
                                        <p:attrNameLst>
                                          <p:attrName>style.visibility</p:attrName>
                                        </p:attrNameLst>
                                      </p:cBhvr>
                                      <p:to>
                                        <p:strVal val="visible"/>
                                      </p:to>
                                    </p:set>
                                    <p:animEffect transition="in" filter="wipe(up)">
                                      <p:cBhvr>
                                        <p:cTn id="30" dur="2000"/>
                                        <p:tgtEl>
                                          <p:spTgt spid="8197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16">
                                            <p:txEl>
                                              <p:pRg st="0" end="0"/>
                                            </p:txEl>
                                          </p:spTgt>
                                        </p:tgtEl>
                                        <p:attrNameLst>
                                          <p:attrName>style.visibility</p:attrName>
                                        </p:attrNameLst>
                                      </p:cBhvr>
                                      <p:to>
                                        <p:strVal val="visible"/>
                                      </p:to>
                                    </p:set>
                                    <p:animEffect transition="in" filter="wipe(up)">
                                      <p:cBhvr>
                                        <p:cTn id="35" dur="1000"/>
                                        <p:tgtEl>
                                          <p:spTgt spid="16">
                                            <p:txEl>
                                              <p:pRg st="0" end="0"/>
                                            </p:txEl>
                                          </p:spTgt>
                                        </p:tgtEl>
                                      </p:cBhvr>
                                    </p:animEffect>
                                  </p:childTnLst>
                                </p:cTn>
                              </p:par>
                            </p:childTnLst>
                          </p:cTn>
                        </p:par>
                        <p:par>
                          <p:cTn id="36" fill="hold" nodeType="afterGroup">
                            <p:stCondLst>
                              <p:cond delay="1000"/>
                            </p:stCondLst>
                            <p:childTnLst>
                              <p:par>
                                <p:cTn id="37" presetID="22" presetClass="entr" presetSubtype="1" fill="hold" nodeType="afterEffect">
                                  <p:stCondLst>
                                    <p:cond delay="0"/>
                                  </p:stCondLst>
                                  <p:childTnLst>
                                    <p:set>
                                      <p:cBhvr>
                                        <p:cTn id="38" dur="1" fill="hold">
                                          <p:stCondLst>
                                            <p:cond delay="0"/>
                                          </p:stCondLst>
                                        </p:cTn>
                                        <p:tgtEl>
                                          <p:spTgt spid="16">
                                            <p:txEl>
                                              <p:pRg st="1" end="1"/>
                                            </p:txEl>
                                          </p:spTgt>
                                        </p:tgtEl>
                                        <p:attrNameLst>
                                          <p:attrName>style.visibility</p:attrName>
                                        </p:attrNameLst>
                                      </p:cBhvr>
                                      <p:to>
                                        <p:strVal val="visible"/>
                                      </p:to>
                                    </p:set>
                                    <p:animEffect transition="in" filter="wipe(up)">
                                      <p:cBhvr>
                                        <p:cTn id="39" dur="1000"/>
                                        <p:tgtEl>
                                          <p:spTgt spid="16">
                                            <p:txEl>
                                              <p:pRg st="1" end="1"/>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1" fill="hold" nodeType="click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wipe(up)">
                                      <p:cBhvr>
                                        <p:cTn id="44"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P spid="8" grpId="0"/>
      <p:bldP spid="11" grpId="0"/>
      <p:bldP spid="12"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3">
            <a:extLst>
              <a:ext uri="{FF2B5EF4-FFF2-40B4-BE49-F238E27FC236}">
                <a16:creationId xmlns:a16="http://schemas.microsoft.com/office/drawing/2014/main" id="{02D56EB5-3A64-2C38-F4B7-54CCC04AD0C6}"/>
              </a:ext>
            </a:extLst>
          </p:cNvPr>
          <p:cNvSpPr>
            <a:spLocks noGrp="1" noChangeArrowheads="1"/>
          </p:cNvSpPr>
          <p:nvPr>
            <p:ph type="body" idx="1"/>
          </p:nvPr>
        </p:nvSpPr>
        <p:spPr>
          <a:xfrm>
            <a:off x="1127125" y="2909888"/>
            <a:ext cx="7373938" cy="1804987"/>
          </a:xfrm>
        </p:spPr>
        <p:txBody>
          <a:bodyPr/>
          <a:lstStyle/>
          <a:p>
            <a:pPr>
              <a:lnSpc>
                <a:spcPct val="130000"/>
              </a:lnSpc>
              <a:buFont typeface="Wingdings" panose="05000000000000000000" pitchFamily="2" charset="2"/>
              <a:buNone/>
              <a:defRPr/>
            </a:pPr>
            <a:r>
              <a:rPr lang="zh-CN" altLang="en-US" dirty="0">
                <a:latin typeface="微软雅黑" pitchFamily="34" charset="-122"/>
                <a:ea typeface="微软雅黑" pitchFamily="34" charset="-122"/>
              </a:rPr>
              <a:t>	</a:t>
            </a:r>
            <a:r>
              <a:rPr lang="zh-CN" altLang="en-US" sz="2000" dirty="0">
                <a:latin typeface="微软雅黑" pitchFamily="34" charset="-122"/>
                <a:ea typeface="微软雅黑" pitchFamily="34" charset="-122"/>
              </a:rPr>
              <a:t>当发送序列仍是“</a:t>
            </a:r>
            <a:r>
              <a:rPr lang="en-US" altLang="zh-CN" sz="2000" dirty="0">
                <a:solidFill>
                  <a:srgbClr val="FF0000"/>
                </a:solidFill>
                <a:latin typeface="微软雅黑" pitchFamily="34" charset="-122"/>
                <a:ea typeface="微软雅黑" pitchFamily="34" charset="-122"/>
              </a:rPr>
              <a:t>1</a:t>
            </a:r>
            <a:r>
              <a:rPr lang="en-US" altLang="zh-CN" sz="2000" dirty="0">
                <a:latin typeface="微软雅黑" pitchFamily="34" charset="-122"/>
                <a:ea typeface="微软雅黑" pitchFamily="34" charset="-122"/>
              </a:rPr>
              <a:t>11  0 110 110</a:t>
            </a:r>
            <a:r>
              <a:rPr lang="en-US" altLang="zh-CN" sz="2000" dirty="0">
                <a:latin typeface="微软雅黑" pitchFamily="34" charset="-122"/>
                <a:ea typeface="微软雅黑" pitchFamily="34" charset="-122"/>
                <a:sym typeface="Symbol" pitchFamily="18" charset="2"/>
              </a:rPr>
              <a:t></a:t>
            </a:r>
            <a:r>
              <a:rPr lang="en-US" altLang="zh-CN" sz="2000" dirty="0">
                <a:latin typeface="微软雅黑" pitchFamily="34" charset="-122"/>
                <a:ea typeface="微软雅黑" pitchFamily="34" charset="-122"/>
              </a:rPr>
              <a:t>”</a:t>
            </a:r>
            <a:r>
              <a:rPr lang="zh-CN" altLang="en-US" sz="2000" dirty="0">
                <a:latin typeface="微软雅黑" pitchFamily="34" charset="-122"/>
                <a:ea typeface="微软雅黑" pitchFamily="34" charset="-122"/>
              </a:rPr>
              <a:t>时，若接收时丢失了</a:t>
            </a:r>
            <a:endParaRPr lang="en-US" altLang="zh-CN" sz="2000" dirty="0">
              <a:latin typeface="微软雅黑" pitchFamily="34" charset="-122"/>
              <a:ea typeface="微软雅黑" pitchFamily="34" charset="-122"/>
            </a:endParaRPr>
          </a:p>
          <a:p>
            <a:pPr>
              <a:lnSpc>
                <a:spcPct val="130000"/>
              </a:lnSpc>
              <a:buFont typeface="Wingdings" panose="05000000000000000000" pitchFamily="2" charset="2"/>
              <a:buNone/>
              <a:defRPr/>
            </a:pPr>
            <a:r>
              <a:rPr lang="en-US" altLang="zh-CN" sz="2000" dirty="0">
                <a:latin typeface="微软雅黑" pitchFamily="34" charset="-122"/>
                <a:ea typeface="微软雅黑" pitchFamily="34" charset="-122"/>
              </a:rPr>
              <a:t>    </a:t>
            </a:r>
            <a:r>
              <a:rPr lang="zh-CN" altLang="en-US" sz="2000" dirty="0">
                <a:latin typeface="微软雅黑" pitchFamily="34" charset="-122"/>
                <a:ea typeface="微软雅黑" pitchFamily="34" charset="-122"/>
              </a:rPr>
              <a:t>第 一个符号</a:t>
            </a:r>
            <a:r>
              <a:rPr lang="zh-CN" altLang="en-US" sz="2000" dirty="0">
                <a:latin typeface="+mn-ea"/>
              </a:rPr>
              <a:t>，</a:t>
            </a:r>
            <a:r>
              <a:rPr lang="zh-CN" altLang="en-US" sz="2000" dirty="0">
                <a:latin typeface="微软雅黑" pitchFamily="34" charset="-122"/>
                <a:ea typeface="微软雅黑" pitchFamily="34" charset="-122"/>
              </a:rPr>
              <a:t>则接收序列变成  “</a:t>
            </a:r>
            <a:r>
              <a:rPr lang="en-US" altLang="zh-CN" sz="2000" dirty="0">
                <a:latin typeface="微软雅黑" pitchFamily="34" charset="-122"/>
                <a:ea typeface="微软雅黑" pitchFamily="34" charset="-122"/>
              </a:rPr>
              <a:t>110 110 110</a:t>
            </a:r>
            <a:r>
              <a:rPr lang="en-US" altLang="zh-CN" sz="2000" dirty="0">
                <a:latin typeface="微软雅黑" pitchFamily="34" charset="-122"/>
                <a:ea typeface="微软雅黑" pitchFamily="34" charset="-122"/>
                <a:sym typeface="Symbol" pitchFamily="18" charset="2"/>
              </a:rPr>
              <a:t></a:t>
            </a:r>
            <a:r>
              <a:rPr lang="en-US" altLang="zh-CN" sz="2000" dirty="0">
                <a:latin typeface="微软雅黑" pitchFamily="34" charset="-122"/>
                <a:ea typeface="微软雅黑" pitchFamily="34" charset="-122"/>
              </a:rPr>
              <a:t>”</a:t>
            </a:r>
            <a:r>
              <a:rPr lang="zh-CN" altLang="en-US" sz="2000" dirty="0">
                <a:latin typeface="微软雅黑" pitchFamily="34" charset="-122"/>
                <a:ea typeface="微软雅黑" pitchFamily="34" charset="-122"/>
              </a:rPr>
              <a:t>。</a:t>
            </a:r>
            <a:endParaRPr lang="en-US" altLang="zh-CN" sz="2000" dirty="0">
              <a:latin typeface="微软雅黑" pitchFamily="34" charset="-122"/>
              <a:ea typeface="微软雅黑" pitchFamily="34" charset="-122"/>
            </a:endParaRPr>
          </a:p>
          <a:p>
            <a:pPr>
              <a:lnSpc>
                <a:spcPct val="130000"/>
              </a:lnSpc>
              <a:buFont typeface="Wingdings" panose="05000000000000000000" pitchFamily="2" charset="2"/>
              <a:buNone/>
              <a:defRPr/>
            </a:pPr>
            <a:r>
              <a:rPr lang="en-US" altLang="zh-CN" sz="2000" dirty="0">
                <a:latin typeface="微软雅黑" pitchFamily="34" charset="-122"/>
                <a:ea typeface="微软雅黑" pitchFamily="34" charset="-122"/>
              </a:rPr>
              <a:t>    </a:t>
            </a:r>
            <a:r>
              <a:rPr lang="zh-CN" altLang="en-US" sz="2000" dirty="0">
                <a:latin typeface="微软雅黑" pitchFamily="34" charset="-122"/>
                <a:ea typeface="微软雅黑" pitchFamily="34" charset="-122"/>
              </a:rPr>
              <a:t>这时，</a:t>
            </a:r>
            <a:r>
              <a:rPr lang="en-US" altLang="zh-CN" sz="2000" dirty="0">
                <a:latin typeface="微软雅黑" pitchFamily="34" charset="-122"/>
                <a:ea typeface="微软雅黑" pitchFamily="34" charset="-122"/>
              </a:rPr>
              <a:t>                   </a:t>
            </a:r>
            <a:r>
              <a:rPr lang="zh-CN" altLang="en-US" sz="2000" dirty="0">
                <a:latin typeface="微软雅黑" pitchFamily="34" charset="-122"/>
                <a:ea typeface="微软雅黑" pitchFamily="34" charset="-122"/>
              </a:rPr>
              <a:t>它将被译为 “  </a:t>
            </a:r>
            <a:r>
              <a:rPr lang="zh-CN" altLang="en-US" sz="2000" dirty="0">
                <a:solidFill>
                  <a:srgbClr val="003399"/>
                </a:solidFill>
                <a:latin typeface="微软雅黑" pitchFamily="34" charset="-122"/>
                <a:ea typeface="微软雅黑" pitchFamily="34" charset="-122"/>
              </a:rPr>
              <a:t>阴   阴    阴</a:t>
            </a:r>
            <a:r>
              <a:rPr lang="zh-CN" altLang="en-US" sz="2000" dirty="0">
                <a:latin typeface="微软雅黑" pitchFamily="34" charset="-122"/>
                <a:ea typeface="微软雅黑" pitchFamily="34" charset="-122"/>
                <a:sym typeface="Symbol" pitchFamily="18" charset="2"/>
              </a:rPr>
              <a:t></a:t>
            </a:r>
            <a:r>
              <a:rPr lang="zh-CN" altLang="en-US" sz="2000" dirty="0">
                <a:latin typeface="微软雅黑" pitchFamily="34" charset="-122"/>
                <a:ea typeface="微软雅黑" pitchFamily="34" charset="-122"/>
              </a:rPr>
              <a:t>”。   </a:t>
            </a:r>
          </a:p>
        </p:txBody>
      </p:sp>
      <p:graphicFrame>
        <p:nvGraphicFramePr>
          <p:cNvPr id="5" name="Group 55">
            <a:extLst>
              <a:ext uri="{FF2B5EF4-FFF2-40B4-BE49-F238E27FC236}">
                <a16:creationId xmlns:a16="http://schemas.microsoft.com/office/drawing/2014/main" id="{2DFB46FF-A59E-E8E5-1C57-E64D17A4BA1B}"/>
              </a:ext>
            </a:extLst>
          </p:cNvPr>
          <p:cNvGraphicFramePr>
            <a:graphicFrameLocks noGrp="1"/>
          </p:cNvGraphicFramePr>
          <p:nvPr/>
        </p:nvGraphicFramePr>
        <p:xfrm>
          <a:off x="2635250" y="1443038"/>
          <a:ext cx="4365625" cy="914400"/>
        </p:xfrm>
        <a:graphic>
          <a:graphicData uri="http://schemas.openxmlformats.org/drawingml/2006/table">
            <a:tbl>
              <a:tblPr/>
              <a:tblGrid>
                <a:gridCol w="1090612">
                  <a:extLst>
                    <a:ext uri="{9D8B030D-6E8A-4147-A177-3AD203B41FA5}">
                      <a16:colId xmlns:a16="http://schemas.microsoft.com/office/drawing/2014/main" val="20000"/>
                    </a:ext>
                  </a:extLst>
                </a:gridCol>
                <a:gridCol w="1089025">
                  <a:extLst>
                    <a:ext uri="{9D8B030D-6E8A-4147-A177-3AD203B41FA5}">
                      <a16:colId xmlns:a16="http://schemas.microsoft.com/office/drawing/2014/main" val="20001"/>
                    </a:ext>
                  </a:extLst>
                </a:gridCol>
                <a:gridCol w="1093788">
                  <a:extLst>
                    <a:ext uri="{9D8B030D-6E8A-4147-A177-3AD203B41FA5}">
                      <a16:colId xmlns:a16="http://schemas.microsoft.com/office/drawing/2014/main" val="20002"/>
                    </a:ext>
                  </a:extLst>
                </a:gridCol>
                <a:gridCol w="1092200">
                  <a:extLst>
                    <a:ext uri="{9D8B030D-6E8A-4147-A177-3AD203B41FA5}">
                      <a16:colId xmlns:a16="http://schemas.microsoft.com/office/drawing/2014/main" val="20003"/>
                    </a:ext>
                  </a:extLst>
                </a:gridCol>
              </a:tblGrid>
              <a:tr h="4270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Arial" pitchFamily="34" charset="0"/>
                          <a:ea typeface="楷体_GB2312" pitchFamily="49" charset="-122"/>
                          <a:cs typeface="Arial" pitchFamily="34" charset="0"/>
                        </a:rPr>
                        <a:t>晴</a:t>
                      </a:r>
                      <a:endParaRPr kumimoji="0" lang="zh-CN" altLang="en-US" sz="3600" b="1" i="0" u="none" strike="noStrike" cap="none" normalizeH="0" baseline="0" dirty="0">
                        <a:ln>
                          <a:noFill/>
                        </a:ln>
                        <a:solidFill>
                          <a:schemeClr val="tx1"/>
                        </a:solidFill>
                        <a:effectLst/>
                        <a:latin typeface="Arial" pitchFamily="34" charset="0"/>
                        <a:ea typeface="楷体_GB2312" pitchFamily="49" charset="-122"/>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Arial" pitchFamily="34" charset="0"/>
                          <a:ea typeface="楷体_GB2312" pitchFamily="49" charset="-122"/>
                          <a:cs typeface="Arial" pitchFamily="34" charset="0"/>
                        </a:rPr>
                        <a:t>云</a:t>
                      </a:r>
                      <a:endParaRPr kumimoji="0" lang="zh-CN" altLang="en-US" sz="3600" b="1" i="0" u="none" strike="noStrike" cap="none" normalizeH="0" baseline="0">
                        <a:ln>
                          <a:noFill/>
                        </a:ln>
                        <a:solidFill>
                          <a:schemeClr val="tx1"/>
                        </a:solidFill>
                        <a:effectLst/>
                        <a:latin typeface="Arial" pitchFamily="34" charset="0"/>
                        <a:ea typeface="楷体_GB2312" pitchFamily="49" charset="-122"/>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Arial" pitchFamily="34" charset="0"/>
                          <a:ea typeface="楷体_GB2312" pitchFamily="49" charset="-122"/>
                          <a:cs typeface="Arial" pitchFamily="34" charset="0"/>
                        </a:rPr>
                        <a:t>阴</a:t>
                      </a:r>
                      <a:endParaRPr kumimoji="0" lang="zh-CN" altLang="en-US" sz="3600" b="1" i="0" u="none" strike="noStrike" cap="none" normalizeH="0" baseline="0">
                        <a:ln>
                          <a:noFill/>
                        </a:ln>
                        <a:solidFill>
                          <a:schemeClr val="tx1"/>
                        </a:solidFill>
                        <a:effectLst/>
                        <a:latin typeface="Arial" pitchFamily="34" charset="0"/>
                        <a:ea typeface="楷体_GB2312" pitchFamily="49" charset="-122"/>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Arial" pitchFamily="34" charset="0"/>
                          <a:ea typeface="楷体_GB2312" pitchFamily="49" charset="-122"/>
                          <a:cs typeface="Arial" pitchFamily="34" charset="0"/>
                        </a:rPr>
                        <a:t>雨</a:t>
                      </a:r>
                      <a:endParaRPr kumimoji="0" lang="zh-CN" altLang="en-US" sz="3600" b="1" i="0" u="none" strike="noStrike" cap="none" normalizeH="0" baseline="0">
                        <a:ln>
                          <a:noFill/>
                        </a:ln>
                        <a:solidFill>
                          <a:schemeClr val="tx1"/>
                        </a:solidFill>
                        <a:effectLst/>
                        <a:latin typeface="Arial" pitchFamily="34" charset="0"/>
                        <a:ea typeface="楷体_GB2312" pitchFamily="49" charset="-122"/>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70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Arial" pitchFamily="34" charset="0"/>
                          <a:ea typeface="宋体" pitchFamily="2" charset="-122"/>
                          <a:cs typeface="Arial" pitchFamily="34" charset="0"/>
                        </a:rPr>
                        <a:t>0</a:t>
                      </a:r>
                      <a:endParaRPr kumimoji="0" lang="en-US" altLang="zh-CN" sz="3600" b="1" i="0" u="none" strike="noStrike" cap="none" normalizeH="0" baseline="0" dirty="0">
                        <a:ln>
                          <a:noFill/>
                        </a:ln>
                        <a:solidFill>
                          <a:schemeClr val="tx1"/>
                        </a:solidFill>
                        <a:effectLst/>
                        <a:latin typeface="Arial" pitchFamily="34" charset="0"/>
                        <a:ea typeface="宋体" pitchFamily="2" charset="-122"/>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Arial" pitchFamily="34" charset="0"/>
                          <a:ea typeface="宋体" pitchFamily="2" charset="-122"/>
                          <a:cs typeface="Arial" pitchFamily="34" charset="0"/>
                        </a:rPr>
                        <a:t>101 </a:t>
                      </a:r>
                      <a:endParaRPr kumimoji="0" lang="en-US" altLang="zh-CN" sz="3600" b="1" i="0" u="none" strike="noStrike" cap="none" normalizeH="0" baseline="0" dirty="0">
                        <a:ln>
                          <a:noFill/>
                        </a:ln>
                        <a:solidFill>
                          <a:schemeClr val="tx1"/>
                        </a:solidFill>
                        <a:effectLst/>
                        <a:latin typeface="Arial" pitchFamily="34" charset="0"/>
                        <a:ea typeface="宋体" pitchFamily="2" charset="-122"/>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pitchFamily="34" charset="0"/>
                          <a:ea typeface="宋体" pitchFamily="2" charset="-122"/>
                          <a:cs typeface="Arial" pitchFamily="34" charset="0"/>
                        </a:rPr>
                        <a:t>110</a:t>
                      </a:r>
                      <a:endParaRPr kumimoji="0" lang="en-US" altLang="zh-CN" sz="3600" b="1" i="0" u="none" strike="noStrike" cap="none" normalizeH="0" baseline="0">
                        <a:ln>
                          <a:noFill/>
                        </a:ln>
                        <a:solidFill>
                          <a:schemeClr val="tx1"/>
                        </a:solidFill>
                        <a:effectLst/>
                        <a:latin typeface="Arial" pitchFamily="34" charset="0"/>
                        <a:ea typeface="宋体" pitchFamily="2" charset="-122"/>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Arial" pitchFamily="34" charset="0"/>
                          <a:ea typeface="宋体" pitchFamily="2" charset="-122"/>
                          <a:cs typeface="Arial" pitchFamily="34" charset="0"/>
                        </a:rPr>
                        <a:t>111</a:t>
                      </a:r>
                      <a:endParaRPr kumimoji="0" lang="en-US" altLang="zh-CN" sz="3600" b="1" i="0" u="none" strike="noStrike" cap="none" normalizeH="0" baseline="0" dirty="0">
                        <a:ln>
                          <a:noFill/>
                        </a:ln>
                        <a:solidFill>
                          <a:schemeClr val="tx1"/>
                        </a:solidFill>
                        <a:effectLst/>
                        <a:latin typeface="Arial" pitchFamily="34" charset="0"/>
                        <a:ea typeface="宋体" pitchFamily="2" charset="-122"/>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pSp>
        <p:nvGrpSpPr>
          <p:cNvPr id="69652" name="组合 57">
            <a:extLst>
              <a:ext uri="{FF2B5EF4-FFF2-40B4-BE49-F238E27FC236}">
                <a16:creationId xmlns:a16="http://schemas.microsoft.com/office/drawing/2014/main" id="{1D204164-7BB2-D4EA-B6B9-1DA60544B7FF}"/>
              </a:ext>
            </a:extLst>
          </p:cNvPr>
          <p:cNvGrpSpPr>
            <a:grpSpLocks/>
          </p:cNvGrpSpPr>
          <p:nvPr/>
        </p:nvGrpSpPr>
        <p:grpSpPr bwMode="auto">
          <a:xfrm>
            <a:off x="1671638" y="1143000"/>
            <a:ext cx="928687" cy="571500"/>
            <a:chOff x="2500298" y="3214686"/>
            <a:chExt cx="928693" cy="571503"/>
          </a:xfrm>
        </p:grpSpPr>
        <p:sp>
          <p:nvSpPr>
            <p:cNvPr id="7" name="椭圆 6">
              <a:extLst>
                <a:ext uri="{FF2B5EF4-FFF2-40B4-BE49-F238E27FC236}">
                  <a16:creationId xmlns:a16="http://schemas.microsoft.com/office/drawing/2014/main" id="{25B3FDE2-1F3F-B7D1-2791-6DDDC3FB1C22}"/>
                </a:ext>
              </a:extLst>
            </p:cNvPr>
            <p:cNvSpPr/>
            <p:nvPr/>
          </p:nvSpPr>
          <p:spPr bwMode="auto">
            <a:xfrm>
              <a:off x="2500298" y="3214686"/>
              <a:ext cx="928693" cy="571503"/>
            </a:xfrm>
            <a:prstGeom prst="ellipse">
              <a:avLst/>
            </a:prstGeom>
            <a:solidFill>
              <a:schemeClr val="bg2">
                <a:lumMod val="10000"/>
                <a:lumOff val="90000"/>
              </a:schemeClr>
            </a:solidFill>
            <a:ln w="9525" cap="flat" cmpd="sng" algn="ctr">
              <a:solidFill>
                <a:schemeClr val="tx2">
                  <a:lumMod val="60000"/>
                  <a:lumOff val="40000"/>
                </a:schemeClr>
              </a:solidFill>
              <a:prstDash val="solid"/>
              <a:miter lim="800000"/>
              <a:headEnd type="none" w="med" len="med"/>
              <a:tailEnd type="none" w="med" len="med"/>
            </a:ln>
            <a:effectLst>
              <a:outerShdw blurRad="50800" dist="38100" dir="18900000" algn="bl" rotWithShape="0">
                <a:prstClr val="black">
                  <a:alpha val="40000"/>
                </a:prstClr>
              </a:outerShdw>
            </a:effectLst>
          </p:spPr>
          <p:txBody>
            <a:bodyPr wrap="none"/>
            <a:lstStyle/>
            <a:p>
              <a:pPr>
                <a:defRPr/>
              </a:pPr>
              <a:endParaRPr lang="zh-CN" altLang="en-US" dirty="0">
                <a:ea typeface="宋体" charset="-122"/>
              </a:endParaRPr>
            </a:p>
          </p:txBody>
        </p:sp>
        <p:sp>
          <p:nvSpPr>
            <p:cNvPr id="8" name="矩形 7">
              <a:extLst>
                <a:ext uri="{FF2B5EF4-FFF2-40B4-BE49-F238E27FC236}">
                  <a16:creationId xmlns:a16="http://schemas.microsoft.com/office/drawing/2014/main" id="{D3F03EA8-5C26-A3F0-956E-D713D99311AD}"/>
                </a:ext>
              </a:extLst>
            </p:cNvPr>
            <p:cNvSpPr/>
            <p:nvPr/>
          </p:nvSpPr>
          <p:spPr>
            <a:xfrm>
              <a:off x="2543160" y="3243261"/>
              <a:ext cx="800105" cy="460377"/>
            </a:xfrm>
            <a:prstGeom prst="rect">
              <a:avLst/>
            </a:prstGeom>
          </p:spPr>
          <p:txBody>
            <a:bodyPr wrap="none">
              <a:spAutoFit/>
            </a:bodyPr>
            <a:lstStyle/>
            <a:p>
              <a:pPr>
                <a:defRPr/>
              </a:pPr>
              <a:r>
                <a:rPr lang="zh-CN" altLang="en-US" sz="2400" kern="0" dirty="0">
                  <a:solidFill>
                    <a:srgbClr val="0000CC"/>
                  </a:solidFill>
                  <a:latin typeface="黑体" pitchFamily="2" charset="-122"/>
                  <a:ea typeface="黑体" pitchFamily="2" charset="-122"/>
                </a:rPr>
                <a:t>上例</a:t>
              </a:r>
              <a:endParaRPr lang="zh-CN" altLang="en-US" sz="2400" dirty="0">
                <a:solidFill>
                  <a:srgbClr val="0000CC"/>
                </a:solidFill>
                <a:latin typeface="黑体" pitchFamily="2" charset="-122"/>
                <a:ea typeface="黑体" pitchFamily="2" charset="-122"/>
              </a:endParaRPr>
            </a:p>
          </p:txBody>
        </p:sp>
      </p:grpSp>
      <p:sp>
        <p:nvSpPr>
          <p:cNvPr id="82965" name="矩形 8">
            <a:extLst>
              <a:ext uri="{FF2B5EF4-FFF2-40B4-BE49-F238E27FC236}">
                <a16:creationId xmlns:a16="http://schemas.microsoft.com/office/drawing/2014/main" id="{765CB314-E749-5873-260B-6C12E68D331B}"/>
              </a:ext>
            </a:extLst>
          </p:cNvPr>
          <p:cNvSpPr>
            <a:spLocks noChangeArrowheads="1"/>
          </p:cNvSpPr>
          <p:nvPr/>
        </p:nvSpPr>
        <p:spPr bwMode="auto">
          <a:xfrm>
            <a:off x="3413125" y="2786063"/>
            <a:ext cx="457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zh-CN" altLang="en-US" sz="2000">
                <a:solidFill>
                  <a:srgbClr val="003399"/>
                </a:solidFill>
                <a:latin typeface="Arial" panose="020B0604020202020204" pitchFamily="34" charset="0"/>
                <a:ea typeface="微软雅黑" panose="020B0503020204020204" pitchFamily="34" charset="-122"/>
                <a:cs typeface="Arial" panose="020B0604020202020204" pitchFamily="34" charset="0"/>
              </a:rPr>
              <a:t>“雨  晴  阴   阴</a:t>
            </a:r>
            <a:r>
              <a:rPr lang="zh-CN" altLang="en-US" sz="2000">
                <a:solidFill>
                  <a:srgbClr val="003399"/>
                </a:solidFill>
                <a:latin typeface="Arial" panose="020B0604020202020204" pitchFamily="34" charset="0"/>
                <a:ea typeface="微软雅黑" panose="020B0503020204020204" pitchFamily="34" charset="-122"/>
                <a:cs typeface="Arial" panose="020B0604020202020204" pitchFamily="34" charset="0"/>
                <a:sym typeface="Symbol" panose="05050102010706020507" pitchFamily="18" charset="2"/>
              </a:rPr>
              <a:t></a:t>
            </a:r>
            <a:r>
              <a:rPr lang="zh-CN" altLang="en-US" sz="2000">
                <a:solidFill>
                  <a:srgbClr val="003399"/>
                </a:solidFill>
                <a:latin typeface="Arial" panose="020B0604020202020204" pitchFamily="34" charset="0"/>
                <a:ea typeface="微软雅黑" panose="020B0503020204020204" pitchFamily="34" charset="-122"/>
                <a:cs typeface="Arial" panose="020B0604020202020204" pitchFamily="34" charset="0"/>
              </a:rPr>
              <a:t>”</a:t>
            </a:r>
            <a:endParaRPr lang="zh-CN" altLang="en-US" sz="2000">
              <a:solidFill>
                <a:srgbClr val="003399"/>
              </a:solidFill>
              <a:ea typeface="微软雅黑" panose="020B0503020204020204" pitchFamily="34" charset="-122"/>
              <a:cs typeface="Arial" panose="020B0604020202020204" pitchFamily="34" charset="0"/>
            </a:endParaRPr>
          </a:p>
        </p:txBody>
      </p:sp>
      <p:sp>
        <p:nvSpPr>
          <p:cNvPr id="11" name="矩形 10">
            <a:extLst>
              <a:ext uri="{FF2B5EF4-FFF2-40B4-BE49-F238E27FC236}">
                <a16:creationId xmlns:a16="http://schemas.microsoft.com/office/drawing/2014/main" id="{0E6F0B3D-C38F-D810-CEF9-FEAE6949CFB9}"/>
              </a:ext>
            </a:extLst>
          </p:cNvPr>
          <p:cNvSpPr/>
          <p:nvPr/>
        </p:nvSpPr>
        <p:spPr>
          <a:xfrm>
            <a:off x="714375" y="5189538"/>
            <a:ext cx="7715250" cy="1033462"/>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marL="342900" indent="-342900" eaLnBrk="0" hangingPunct="0">
              <a:lnSpc>
                <a:spcPct val="130000"/>
              </a:lnSpc>
              <a:spcBef>
                <a:spcPct val="20000"/>
              </a:spcBef>
              <a:buClr>
                <a:srgbClr val="3333CC"/>
              </a:buClr>
              <a:buSzPct val="60000"/>
              <a:defRPr/>
            </a:pPr>
            <a:r>
              <a:rPr lang="zh-CN" altLang="en-US" sz="2400" kern="0" dirty="0">
                <a:solidFill>
                  <a:srgbClr val="FF0000"/>
                </a:solidFill>
                <a:effectLst>
                  <a:outerShdw blurRad="38100" dist="38100" dir="2700000" algn="tl">
                    <a:srgbClr val="000000">
                      <a:alpha val="43137"/>
                    </a:srgbClr>
                  </a:outerShdw>
                </a:effectLst>
                <a:latin typeface="黑体" pitchFamily="2" charset="-122"/>
                <a:ea typeface="黑体" pitchFamily="2" charset="-122"/>
              </a:rPr>
              <a:t>可见</a:t>
            </a:r>
            <a:r>
              <a:rPr lang="zh-CN" altLang="en-US" sz="2000" kern="0" dirty="0">
                <a:solidFill>
                  <a:srgbClr val="FF0000"/>
                </a:solidFill>
                <a:latin typeface="微软雅黑" pitchFamily="34" charset="-122"/>
                <a:ea typeface="微软雅黑" pitchFamily="34" charset="-122"/>
              </a:rPr>
              <a:t>：</a:t>
            </a:r>
            <a:r>
              <a:rPr lang="zh-CN" altLang="en-US" sz="2000" kern="0" dirty="0">
                <a:solidFill>
                  <a:srgbClr val="000000"/>
                </a:solidFill>
                <a:latin typeface="微软雅黑" pitchFamily="34" charset="-122"/>
                <a:ea typeface="微软雅黑" pitchFamily="34" charset="-122"/>
              </a:rPr>
              <a:t>为了能正确接收丢失开头码元的信息序列，要求该编码不仅</a:t>
            </a:r>
            <a:endParaRPr lang="en-US" altLang="zh-CN" sz="2000" kern="0" dirty="0">
              <a:solidFill>
                <a:srgbClr val="000000"/>
              </a:solidFill>
              <a:latin typeface="微软雅黑" pitchFamily="34" charset="-122"/>
              <a:ea typeface="微软雅黑" pitchFamily="34" charset="-122"/>
            </a:endParaRPr>
          </a:p>
          <a:p>
            <a:pPr marL="342900" indent="-342900" eaLnBrk="0" hangingPunct="0">
              <a:lnSpc>
                <a:spcPct val="130000"/>
              </a:lnSpc>
              <a:spcBef>
                <a:spcPct val="20000"/>
              </a:spcBef>
              <a:buClr>
                <a:srgbClr val="3333CC"/>
              </a:buClr>
              <a:buSzPct val="60000"/>
              <a:defRPr/>
            </a:pPr>
            <a:r>
              <a:rPr lang="en-US" altLang="zh-CN" sz="2000" kern="0" dirty="0">
                <a:solidFill>
                  <a:srgbClr val="000000"/>
                </a:solidFill>
                <a:latin typeface="微软雅黑" pitchFamily="34" charset="-122"/>
                <a:ea typeface="微软雅黑" pitchFamily="34" charset="-122"/>
              </a:rPr>
              <a:t>           </a:t>
            </a:r>
            <a:r>
              <a:rPr lang="zh-CN" altLang="en-US" sz="2000" kern="0" dirty="0">
                <a:solidFill>
                  <a:srgbClr val="000000"/>
                </a:solidFill>
                <a:latin typeface="微软雅黑" pitchFamily="34" charset="-122"/>
                <a:ea typeface="微软雅黑" pitchFamily="34" charset="-122"/>
              </a:rPr>
              <a:t>应该是</a:t>
            </a:r>
            <a:r>
              <a:rPr lang="zh-CN" altLang="en-US" sz="2000" kern="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唯一可译</a:t>
            </a:r>
            <a:r>
              <a:rPr lang="zh-CN" altLang="en-US" sz="2000" kern="0" dirty="0">
                <a:solidFill>
                  <a:srgbClr val="000000"/>
                </a:solidFill>
                <a:latin typeface="微软雅黑" pitchFamily="34" charset="-122"/>
                <a:ea typeface="微软雅黑" pitchFamily="34" charset="-122"/>
              </a:rPr>
              <a:t>的，而且是</a:t>
            </a:r>
            <a:r>
              <a:rPr lang="zh-CN" altLang="en-US" sz="2000" kern="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可同步</a:t>
            </a:r>
            <a:r>
              <a:rPr lang="zh-CN" altLang="en-US" sz="2000" kern="0" dirty="0">
                <a:solidFill>
                  <a:srgbClr val="000000"/>
                </a:solidFill>
                <a:latin typeface="微软雅黑" pitchFamily="34" charset="-122"/>
                <a:ea typeface="微软雅黑" pitchFamily="34" charset="-122"/>
              </a:rPr>
              <a:t>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83971">
                                            <p:txEl>
                                              <p:pRg st="0" end="0"/>
                                            </p:txEl>
                                          </p:spTgt>
                                        </p:tgtEl>
                                        <p:attrNameLst>
                                          <p:attrName>style.visibility</p:attrName>
                                        </p:attrNameLst>
                                      </p:cBhvr>
                                      <p:to>
                                        <p:strVal val="visible"/>
                                      </p:to>
                                    </p:set>
                                    <p:animEffect transition="in" filter="wipe(up)">
                                      <p:cBhvr>
                                        <p:cTn id="7" dur="2000"/>
                                        <p:tgtEl>
                                          <p:spTgt spid="83971">
                                            <p:txEl>
                                              <p:pRg st="0" end="0"/>
                                            </p:txEl>
                                          </p:spTgt>
                                        </p:tgtEl>
                                      </p:cBhvr>
                                    </p:animEffect>
                                  </p:childTnLst>
                                </p:cTn>
                              </p:par>
                            </p:childTnLst>
                          </p:cTn>
                        </p:par>
                        <p:par>
                          <p:cTn id="8" fill="hold" nodeType="afterGroup">
                            <p:stCondLst>
                              <p:cond delay="2000"/>
                            </p:stCondLst>
                            <p:childTnLst>
                              <p:par>
                                <p:cTn id="9" presetID="22" presetClass="entr" presetSubtype="4" fill="hold" nodeType="afterEffect">
                                  <p:stCondLst>
                                    <p:cond delay="0"/>
                                  </p:stCondLst>
                                  <p:childTnLst>
                                    <p:set>
                                      <p:cBhvr>
                                        <p:cTn id="10" dur="1" fill="hold">
                                          <p:stCondLst>
                                            <p:cond delay="0"/>
                                          </p:stCondLst>
                                        </p:cTn>
                                        <p:tgtEl>
                                          <p:spTgt spid="82965"/>
                                        </p:tgtEl>
                                        <p:attrNameLst>
                                          <p:attrName>style.visibility</p:attrName>
                                        </p:attrNameLst>
                                      </p:cBhvr>
                                      <p:to>
                                        <p:strVal val="visible"/>
                                      </p:to>
                                    </p:set>
                                    <p:animEffect transition="in" filter="wipe(down)">
                                      <p:cBhvr>
                                        <p:cTn id="11" dur="1000"/>
                                        <p:tgtEl>
                                          <p:spTgt spid="82965"/>
                                        </p:tgtEl>
                                      </p:cBhvr>
                                    </p:animEffect>
                                  </p:childTnLst>
                                </p:cTn>
                              </p:par>
                            </p:childTnLst>
                          </p:cTn>
                        </p:par>
                        <p:par>
                          <p:cTn id="12" fill="hold" nodeType="afterGroup">
                            <p:stCondLst>
                              <p:cond delay="3000"/>
                            </p:stCondLst>
                            <p:childTnLst>
                              <p:par>
                                <p:cTn id="13" presetID="22" presetClass="entr" presetSubtype="1" fill="hold" nodeType="afterEffect">
                                  <p:stCondLst>
                                    <p:cond delay="0"/>
                                  </p:stCondLst>
                                  <p:childTnLst>
                                    <p:set>
                                      <p:cBhvr>
                                        <p:cTn id="14" dur="1" fill="hold">
                                          <p:stCondLst>
                                            <p:cond delay="0"/>
                                          </p:stCondLst>
                                        </p:cTn>
                                        <p:tgtEl>
                                          <p:spTgt spid="83971">
                                            <p:txEl>
                                              <p:pRg st="1" end="1"/>
                                            </p:txEl>
                                          </p:spTgt>
                                        </p:tgtEl>
                                        <p:attrNameLst>
                                          <p:attrName>style.visibility</p:attrName>
                                        </p:attrNameLst>
                                      </p:cBhvr>
                                      <p:to>
                                        <p:strVal val="visible"/>
                                      </p:to>
                                    </p:set>
                                    <p:animEffect transition="in" filter="wipe(up)">
                                      <p:cBhvr>
                                        <p:cTn id="15" dur="2000"/>
                                        <p:tgtEl>
                                          <p:spTgt spid="83971">
                                            <p:txEl>
                                              <p:pRg st="1" end="1"/>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nodeType="clickEffect">
                                  <p:stCondLst>
                                    <p:cond delay="0"/>
                                  </p:stCondLst>
                                  <p:childTnLst>
                                    <p:set>
                                      <p:cBhvr>
                                        <p:cTn id="19" dur="1" fill="hold">
                                          <p:stCondLst>
                                            <p:cond delay="0"/>
                                          </p:stCondLst>
                                        </p:cTn>
                                        <p:tgtEl>
                                          <p:spTgt spid="83971">
                                            <p:txEl>
                                              <p:pRg st="2" end="2"/>
                                            </p:txEl>
                                          </p:spTgt>
                                        </p:tgtEl>
                                        <p:attrNameLst>
                                          <p:attrName>style.visibility</p:attrName>
                                        </p:attrNameLst>
                                      </p:cBhvr>
                                      <p:to>
                                        <p:strVal val="visible"/>
                                      </p:to>
                                    </p:set>
                                    <p:animEffect transition="in" filter="wipe(up)">
                                      <p:cBhvr>
                                        <p:cTn id="20" dur="2000"/>
                                        <p:tgtEl>
                                          <p:spTgt spid="83971">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up)">
                                      <p:cBhvr>
                                        <p:cTn id="25"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1" grpId="0" build="p"/>
      <p:bldP spid="82965" grpId="0"/>
      <p:bldP spid="11"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3">
            <a:extLst>
              <a:ext uri="{FF2B5EF4-FFF2-40B4-BE49-F238E27FC236}">
                <a16:creationId xmlns:a16="http://schemas.microsoft.com/office/drawing/2014/main" id="{A59D2283-AE01-D148-9317-D310BDF533E5}"/>
              </a:ext>
            </a:extLst>
          </p:cNvPr>
          <p:cNvSpPr>
            <a:spLocks noGrp="1" noChangeArrowheads="1"/>
          </p:cNvSpPr>
          <p:nvPr>
            <p:ph type="body" idx="1"/>
          </p:nvPr>
        </p:nvSpPr>
        <p:spPr>
          <a:xfrm>
            <a:off x="928688" y="3357563"/>
            <a:ext cx="7858125" cy="1428750"/>
          </a:xfrm>
        </p:spPr>
        <p:txBody>
          <a:bodyPr/>
          <a:lstStyle/>
          <a:p>
            <a:pPr>
              <a:lnSpc>
                <a:spcPts val="3000"/>
              </a:lnSpc>
              <a:buFont typeface="Wingdings" panose="05000000000000000000" pitchFamily="2" charset="2"/>
              <a:buNone/>
              <a:defRPr/>
            </a:pPr>
            <a:r>
              <a:rPr lang="zh-CN" altLang="en-US" sz="1800" dirty="0">
                <a:effectLst>
                  <a:outerShdw blurRad="38100" dist="38100" dir="2700000" algn="tl">
                    <a:srgbClr val="000000">
                      <a:alpha val="43137"/>
                    </a:srgbClr>
                  </a:outerShdw>
                </a:effectLst>
                <a:latin typeface="微软雅黑" pitchFamily="34" charset="-122"/>
                <a:ea typeface="微软雅黑" pitchFamily="34" charset="-122"/>
              </a:rPr>
              <a:t>若 </a:t>
            </a:r>
            <a:r>
              <a:rPr lang="zh-CN" altLang="en-US" sz="180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第一个</a:t>
            </a:r>
            <a:r>
              <a:rPr lang="zh-CN" altLang="en-US" sz="1800" dirty="0">
                <a:latin typeface="微软雅黑" pitchFamily="34" charset="-122"/>
                <a:ea typeface="微软雅黑" pitchFamily="34" charset="-122"/>
              </a:rPr>
              <a:t>码元 丢失， 则 收到的序列 为 “ </a:t>
            </a:r>
            <a:r>
              <a:rPr lang="en-US" altLang="zh-CN" sz="1800" dirty="0">
                <a:latin typeface="微软雅黑" pitchFamily="34" charset="-122"/>
                <a:ea typeface="微软雅黑" pitchFamily="34" charset="-122"/>
              </a:rPr>
              <a:t> 00 </a:t>
            </a:r>
            <a:r>
              <a:rPr lang="en-US" altLang="zh-CN" sz="1800" dirty="0">
                <a:solidFill>
                  <a:srgbClr val="0000CC"/>
                </a:solidFill>
                <a:latin typeface="微软雅黑" pitchFamily="34" charset="-122"/>
                <a:ea typeface="微软雅黑" pitchFamily="34" charset="-122"/>
              </a:rPr>
              <a:t>1101 </a:t>
            </a:r>
            <a:r>
              <a:rPr lang="en-US" altLang="zh-CN" sz="1800" dirty="0">
                <a:latin typeface="微软雅黑" pitchFamily="34" charset="-122"/>
                <a:ea typeface="微软雅黑" pitchFamily="34" charset="-122"/>
              </a:rPr>
              <a:t>101</a:t>
            </a:r>
            <a:r>
              <a:rPr lang="en-US" altLang="zh-CN" sz="1800" dirty="0">
                <a:solidFill>
                  <a:srgbClr val="0000CC"/>
                </a:solidFill>
                <a:latin typeface="微软雅黑" pitchFamily="34" charset="-122"/>
                <a:ea typeface="微软雅黑" pitchFamily="34" charset="-122"/>
              </a:rPr>
              <a:t> 01 </a:t>
            </a:r>
            <a:r>
              <a:rPr lang="en-US" altLang="zh-CN" sz="1800" dirty="0">
                <a:latin typeface="微软雅黑" pitchFamily="34" charset="-122"/>
                <a:ea typeface="微软雅黑" pitchFamily="34" charset="-122"/>
                <a:sym typeface="Symbol" pitchFamily="18" charset="2"/>
              </a:rPr>
              <a:t></a:t>
            </a:r>
            <a:r>
              <a:rPr lang="en-US" altLang="zh-CN" sz="1800" dirty="0">
                <a:latin typeface="微软雅黑" pitchFamily="34" charset="-122"/>
                <a:ea typeface="微软雅黑" pitchFamily="34" charset="-122"/>
              </a:rPr>
              <a:t>”</a:t>
            </a:r>
            <a:r>
              <a:rPr lang="zh-CN" altLang="en-US" sz="1800" dirty="0">
                <a:latin typeface="微软雅黑" pitchFamily="34" charset="-122"/>
                <a:ea typeface="微软雅黑" pitchFamily="34" charset="-122"/>
              </a:rPr>
              <a:t> </a:t>
            </a:r>
            <a:endParaRPr lang="en-US" altLang="zh-CN" sz="1800" dirty="0">
              <a:latin typeface="微软雅黑" pitchFamily="34" charset="-122"/>
              <a:ea typeface="微软雅黑" pitchFamily="34" charset="-122"/>
            </a:endParaRPr>
          </a:p>
          <a:p>
            <a:pPr>
              <a:lnSpc>
                <a:spcPts val="3000"/>
              </a:lnSpc>
              <a:buFont typeface="Wingdings" panose="05000000000000000000" pitchFamily="2" charset="2"/>
              <a:buNone/>
              <a:defRPr/>
            </a:pPr>
            <a:r>
              <a:rPr lang="zh-CN" altLang="en-US" sz="1800" dirty="0">
                <a:latin typeface="微软雅黑" pitchFamily="34" charset="-122"/>
                <a:ea typeface="微软雅黑" pitchFamily="34" charset="-122"/>
              </a:rPr>
              <a:t>由于</a:t>
            </a:r>
            <a:r>
              <a:rPr lang="zh-CN" altLang="en-US" sz="1800" dirty="0">
                <a:effectLst>
                  <a:outerShdw blurRad="38100" dist="38100" dir="2700000" algn="tl">
                    <a:srgbClr val="000000">
                      <a:alpha val="43137"/>
                    </a:srgbClr>
                  </a:outerShdw>
                </a:effectLst>
                <a:latin typeface="微软雅黑" pitchFamily="34" charset="-122"/>
                <a:ea typeface="微软雅黑" pitchFamily="34" charset="-122"/>
              </a:rPr>
              <a:t>前两个</a:t>
            </a:r>
            <a:r>
              <a:rPr lang="zh-CN" altLang="en-US" sz="1800" dirty="0">
                <a:latin typeface="微软雅黑" pitchFamily="34" charset="-122"/>
                <a:ea typeface="微软雅黑" pitchFamily="34" charset="-122"/>
              </a:rPr>
              <a:t>码元“</a:t>
            </a:r>
            <a:r>
              <a:rPr lang="en-US" altLang="zh-CN" sz="1800" dirty="0">
                <a:latin typeface="微软雅黑" pitchFamily="34" charset="-122"/>
                <a:ea typeface="微软雅黑" pitchFamily="34" charset="-122"/>
              </a:rPr>
              <a:t>00”</a:t>
            </a:r>
            <a:r>
              <a:rPr lang="zh-CN" altLang="en-US" sz="1800" dirty="0">
                <a:effectLst>
                  <a:outerShdw blurRad="38100" dist="38100" dir="2700000" algn="tl">
                    <a:srgbClr val="000000">
                      <a:alpha val="43137"/>
                    </a:srgbClr>
                  </a:outerShdw>
                </a:effectLst>
                <a:latin typeface="微软雅黑" pitchFamily="34" charset="-122"/>
                <a:ea typeface="微软雅黑" pitchFamily="34" charset="-122"/>
              </a:rPr>
              <a:t>无法译出</a:t>
            </a:r>
            <a:r>
              <a:rPr lang="zh-CN" altLang="en-US" sz="1800" dirty="0">
                <a:latin typeface="微软雅黑" pitchFamily="34" charset="-122"/>
                <a:ea typeface="微软雅黑" pitchFamily="34" charset="-122"/>
              </a:rPr>
              <a:t>， </a:t>
            </a:r>
            <a:r>
              <a:rPr lang="en-US" altLang="zh-CN" sz="1800" dirty="0">
                <a:latin typeface="微软雅黑" pitchFamily="34" charset="-122"/>
                <a:ea typeface="微软雅黑" pitchFamily="34" charset="-122"/>
              </a:rPr>
              <a:t> </a:t>
            </a:r>
            <a:r>
              <a:rPr lang="zh-CN" altLang="en-US" sz="1800" dirty="0">
                <a:latin typeface="微软雅黑" pitchFamily="34" charset="-122"/>
                <a:ea typeface="微软雅黑" pitchFamily="34" charset="-122"/>
              </a:rPr>
              <a:t>故得知同步有误，译码器将从</a:t>
            </a:r>
            <a:r>
              <a:rPr lang="zh-CN" altLang="en-US" sz="1800" dirty="0">
                <a:effectLst>
                  <a:outerShdw blurRad="38100" dist="38100" dir="2700000" algn="tl">
                    <a:srgbClr val="000000">
                      <a:alpha val="43137"/>
                    </a:srgbClr>
                  </a:outerShdw>
                </a:effectLst>
                <a:latin typeface="微软雅黑" pitchFamily="34" charset="-122"/>
                <a:ea typeface="微软雅黑" pitchFamily="34" charset="-122"/>
              </a:rPr>
              <a:t> 第二个</a:t>
            </a:r>
            <a:r>
              <a:rPr lang="zh-CN" altLang="en-US" sz="1800" dirty="0">
                <a:latin typeface="微软雅黑" pitchFamily="34" charset="-122"/>
                <a:ea typeface="微软雅黑" pitchFamily="34" charset="-122"/>
              </a:rPr>
              <a:t>码</a:t>
            </a:r>
            <a:endParaRPr lang="en-US" altLang="zh-CN" sz="1800" dirty="0">
              <a:latin typeface="微软雅黑" pitchFamily="34" charset="-122"/>
              <a:ea typeface="微软雅黑" pitchFamily="34" charset="-122"/>
            </a:endParaRPr>
          </a:p>
          <a:p>
            <a:pPr>
              <a:lnSpc>
                <a:spcPts val="3000"/>
              </a:lnSpc>
              <a:buFont typeface="Wingdings" panose="05000000000000000000" pitchFamily="2" charset="2"/>
              <a:buNone/>
              <a:defRPr/>
            </a:pPr>
            <a:r>
              <a:rPr lang="zh-CN" altLang="en-US" sz="1800" dirty="0">
                <a:latin typeface="微软雅黑" pitchFamily="34" charset="-122"/>
                <a:ea typeface="微软雅黑" pitchFamily="34" charset="-122"/>
              </a:rPr>
              <a:t>元开始译码，即对“</a:t>
            </a:r>
            <a:r>
              <a:rPr lang="en-US" altLang="zh-CN" sz="1800" dirty="0">
                <a:solidFill>
                  <a:srgbClr val="0000CC"/>
                </a:solidFill>
                <a:latin typeface="微软雅黑" pitchFamily="34" charset="-122"/>
                <a:ea typeface="微软雅黑" pitchFamily="34" charset="-122"/>
              </a:rPr>
              <a:t>01 </a:t>
            </a:r>
            <a:r>
              <a:rPr lang="en-US" altLang="zh-CN" sz="1800" dirty="0">
                <a:latin typeface="微软雅黑" pitchFamily="34" charset="-122"/>
                <a:ea typeface="微软雅黑" pitchFamily="34" charset="-122"/>
              </a:rPr>
              <a:t>101 101 </a:t>
            </a:r>
            <a:r>
              <a:rPr lang="en-US" altLang="zh-CN" sz="1800" dirty="0">
                <a:solidFill>
                  <a:srgbClr val="0000CC"/>
                </a:solidFill>
                <a:latin typeface="微软雅黑" pitchFamily="34" charset="-122"/>
                <a:ea typeface="微软雅黑" pitchFamily="34" charset="-122"/>
              </a:rPr>
              <a:t>01</a:t>
            </a:r>
            <a:r>
              <a:rPr lang="en-US" altLang="zh-CN" sz="1800" dirty="0">
                <a:latin typeface="微软雅黑" pitchFamily="34" charset="-122"/>
                <a:ea typeface="微软雅黑" pitchFamily="34" charset="-122"/>
                <a:sym typeface="Symbol" pitchFamily="18" charset="2"/>
              </a:rPr>
              <a:t></a:t>
            </a:r>
            <a:r>
              <a:rPr lang="en-US" altLang="zh-CN" sz="1800" dirty="0">
                <a:latin typeface="微软雅黑" pitchFamily="34" charset="-122"/>
                <a:ea typeface="微软雅黑" pitchFamily="34" charset="-122"/>
              </a:rPr>
              <a:t>”</a:t>
            </a:r>
            <a:r>
              <a:rPr lang="zh-CN" altLang="en-US" sz="1800" dirty="0">
                <a:latin typeface="微软雅黑" pitchFamily="34" charset="-122"/>
                <a:ea typeface="微软雅黑" pitchFamily="34" charset="-122"/>
              </a:rPr>
              <a:t>译码，并译为</a:t>
            </a:r>
            <a:r>
              <a:rPr lang="en-US" altLang="zh-CN" sz="1800" dirty="0">
                <a:latin typeface="微软雅黑" pitchFamily="34" charset="-122"/>
                <a:ea typeface="微软雅黑" pitchFamily="34" charset="-122"/>
              </a:rPr>
              <a:t>                                             </a:t>
            </a:r>
          </a:p>
        </p:txBody>
      </p:sp>
      <p:graphicFrame>
        <p:nvGraphicFramePr>
          <p:cNvPr id="85049" name="Group 57">
            <a:extLst>
              <a:ext uri="{FF2B5EF4-FFF2-40B4-BE49-F238E27FC236}">
                <a16:creationId xmlns:a16="http://schemas.microsoft.com/office/drawing/2014/main" id="{A81EF3F2-5601-B0C9-91A9-2F485F070C7E}"/>
              </a:ext>
            </a:extLst>
          </p:cNvPr>
          <p:cNvGraphicFramePr>
            <a:graphicFrameLocks noGrp="1"/>
          </p:cNvGraphicFramePr>
          <p:nvPr/>
        </p:nvGraphicFramePr>
        <p:xfrm>
          <a:off x="1843088" y="2279650"/>
          <a:ext cx="3286125" cy="792163"/>
        </p:xfrm>
        <a:graphic>
          <a:graphicData uri="http://schemas.openxmlformats.org/drawingml/2006/table">
            <a:tbl>
              <a:tblPr/>
              <a:tblGrid>
                <a:gridCol w="820738">
                  <a:extLst>
                    <a:ext uri="{9D8B030D-6E8A-4147-A177-3AD203B41FA5}">
                      <a16:colId xmlns:a16="http://schemas.microsoft.com/office/drawing/2014/main" val="20000"/>
                    </a:ext>
                  </a:extLst>
                </a:gridCol>
                <a:gridCol w="820737">
                  <a:extLst>
                    <a:ext uri="{9D8B030D-6E8A-4147-A177-3AD203B41FA5}">
                      <a16:colId xmlns:a16="http://schemas.microsoft.com/office/drawing/2014/main" val="20001"/>
                    </a:ext>
                  </a:extLst>
                </a:gridCol>
                <a:gridCol w="822325">
                  <a:extLst>
                    <a:ext uri="{9D8B030D-6E8A-4147-A177-3AD203B41FA5}">
                      <a16:colId xmlns:a16="http://schemas.microsoft.com/office/drawing/2014/main" val="20002"/>
                    </a:ext>
                  </a:extLst>
                </a:gridCol>
                <a:gridCol w="822325">
                  <a:extLst>
                    <a:ext uri="{9D8B030D-6E8A-4147-A177-3AD203B41FA5}">
                      <a16:colId xmlns:a16="http://schemas.microsoft.com/office/drawing/2014/main" val="20003"/>
                    </a:ext>
                  </a:extLst>
                </a:gridCol>
              </a:tblGrid>
              <a:tr h="39608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楷体_GB2312" pitchFamily="49" charset="-122"/>
                          <a:cs typeface="Times New Roman" pitchFamily="18" charset="0"/>
                        </a:rPr>
                        <a:t>晴</a:t>
                      </a:r>
                      <a:endParaRPr kumimoji="0" lang="zh-CN" altLang="en-US" sz="3200" b="1" i="0" u="none" strike="noStrike" cap="none" normalizeH="0" baseline="0" dirty="0">
                        <a:ln>
                          <a:noFill/>
                        </a:ln>
                        <a:solidFill>
                          <a:schemeClr val="tx1"/>
                        </a:solidFill>
                        <a:effectLst/>
                        <a:latin typeface="Arial" charset="0"/>
                        <a:ea typeface="楷体_GB2312" pitchFamily="49"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楷体_GB2312" pitchFamily="49" charset="-122"/>
                          <a:cs typeface="Times New Roman" pitchFamily="18" charset="0"/>
                        </a:rPr>
                        <a:t>云</a:t>
                      </a:r>
                      <a:endParaRPr kumimoji="0" lang="zh-CN" altLang="en-US" sz="3200" b="1" i="0" u="none" strike="noStrike" cap="none" normalizeH="0" baseline="0">
                        <a:ln>
                          <a:noFill/>
                        </a:ln>
                        <a:solidFill>
                          <a:schemeClr val="tx1"/>
                        </a:solidFill>
                        <a:effectLst/>
                        <a:latin typeface="Arial" charset="0"/>
                        <a:ea typeface="楷体_GB2312" pitchFamily="49"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楷体_GB2312" pitchFamily="49" charset="-122"/>
                          <a:cs typeface="Times New Roman" pitchFamily="18" charset="0"/>
                        </a:rPr>
                        <a:t>阴</a:t>
                      </a:r>
                      <a:endParaRPr kumimoji="0" lang="zh-CN" altLang="en-US" sz="3200" b="1" i="0" u="none" strike="noStrike" cap="none" normalizeH="0" baseline="0">
                        <a:ln>
                          <a:noFill/>
                        </a:ln>
                        <a:solidFill>
                          <a:schemeClr val="tx1"/>
                        </a:solidFill>
                        <a:effectLst/>
                        <a:latin typeface="Arial" charset="0"/>
                        <a:ea typeface="楷体_GB2312" pitchFamily="49"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chemeClr val="tx1"/>
                          </a:solidFill>
                          <a:effectLst/>
                          <a:latin typeface="Times New Roman" pitchFamily="18" charset="0"/>
                          <a:ea typeface="楷体_GB2312" pitchFamily="49" charset="-122"/>
                          <a:cs typeface="Times New Roman" pitchFamily="18" charset="0"/>
                        </a:rPr>
                        <a:t>雨</a:t>
                      </a:r>
                      <a:endParaRPr kumimoji="0" lang="zh-CN" altLang="en-US" sz="3200" b="1" i="0" u="none" strike="noStrike" cap="none" normalizeH="0" baseline="0">
                        <a:ln>
                          <a:noFill/>
                        </a:ln>
                        <a:solidFill>
                          <a:schemeClr val="tx1"/>
                        </a:solidFill>
                        <a:effectLst/>
                        <a:latin typeface="Arial" charset="0"/>
                        <a:ea typeface="楷体_GB2312" pitchFamily="49"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08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01</a:t>
                      </a:r>
                      <a:endParaRPr kumimoji="0" lang="en-US" altLang="zh-CN" sz="3200" b="1"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100 </a:t>
                      </a:r>
                      <a:endParaRPr kumimoji="0" lang="en-US" altLang="zh-CN" sz="32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101</a:t>
                      </a:r>
                      <a:endParaRPr kumimoji="0" lang="en-US" altLang="zh-CN" sz="32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1101</a:t>
                      </a:r>
                      <a:endParaRPr kumimoji="0" lang="en-US" altLang="zh-CN" sz="3200" b="1"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 name="矩形 4">
            <a:extLst>
              <a:ext uri="{FF2B5EF4-FFF2-40B4-BE49-F238E27FC236}">
                <a16:creationId xmlns:a16="http://schemas.microsoft.com/office/drawing/2014/main" id="{9894F303-77AA-3A8F-90D0-4BAD7D6E7A56}"/>
              </a:ext>
            </a:extLst>
          </p:cNvPr>
          <p:cNvSpPr/>
          <p:nvPr/>
        </p:nvSpPr>
        <p:spPr>
          <a:xfrm>
            <a:off x="728663" y="500063"/>
            <a:ext cx="3629025" cy="469900"/>
          </a:xfrm>
          <a:prstGeom prst="rect">
            <a:avLst/>
          </a:prstGeom>
          <a:noFill/>
        </p:spPr>
        <p:txBody>
          <a:bodyPr>
            <a:spAutoFit/>
          </a:bodyPr>
          <a:lstStyle/>
          <a:p>
            <a:pPr marL="228600" lvl="2" indent="-228600" eaLnBrk="0" hangingPunct="0">
              <a:lnSpc>
                <a:spcPct val="110000"/>
              </a:lnSpc>
              <a:spcBef>
                <a:spcPct val="20000"/>
              </a:spcBef>
              <a:buClr>
                <a:srgbClr val="FF0000"/>
              </a:buClr>
              <a:buSzPct val="85000"/>
              <a:buFont typeface="Wingdings" pitchFamily="2" charset="2"/>
              <a:buChar char="n"/>
              <a:defRPr/>
            </a:pPr>
            <a:r>
              <a:rPr lang="zh-CN" altLang="en-US" sz="2400" b="1" dirty="0">
                <a:latin typeface="Arial" pitchFamily="34" charset="0"/>
                <a:ea typeface="微软雅黑" pitchFamily="34" charset="-122"/>
                <a:cs typeface="Arial" pitchFamily="34" charset="0"/>
              </a:rPr>
              <a:t>可同步编码</a:t>
            </a:r>
            <a:endParaRPr lang="zh-CN" altLang="en-US" sz="2400" b="1" kern="0" dirty="0">
              <a:latin typeface="微软雅黑" pitchFamily="34" charset="-122"/>
              <a:ea typeface="微软雅黑" pitchFamily="34" charset="-122"/>
            </a:endParaRPr>
          </a:p>
        </p:txBody>
      </p:sp>
      <p:sp>
        <p:nvSpPr>
          <p:cNvPr id="6" name="矩形 5">
            <a:extLst>
              <a:ext uri="{FF2B5EF4-FFF2-40B4-BE49-F238E27FC236}">
                <a16:creationId xmlns:a16="http://schemas.microsoft.com/office/drawing/2014/main" id="{031A9390-EFCA-39F3-51A4-6D094CD6E27A}"/>
              </a:ext>
            </a:extLst>
          </p:cNvPr>
          <p:cNvSpPr/>
          <p:nvPr/>
        </p:nvSpPr>
        <p:spPr>
          <a:xfrm>
            <a:off x="785813" y="1071563"/>
            <a:ext cx="8001000" cy="820737"/>
          </a:xfrm>
          <a:prstGeom prst="rect">
            <a:avLst/>
          </a:prstGeom>
        </p:spPr>
        <p:txBody>
          <a:bodyPr>
            <a:spAutoFit/>
          </a:bodyPr>
          <a:lstStyle/>
          <a:p>
            <a:pPr marL="342900" indent="-342900" eaLnBrk="0" hangingPunct="0">
              <a:lnSpc>
                <a:spcPts val="3000"/>
              </a:lnSpc>
              <a:spcBef>
                <a:spcPct val="20000"/>
              </a:spcBef>
              <a:buClr>
                <a:srgbClr val="3333CC"/>
              </a:buClr>
              <a:buSzPct val="60000"/>
              <a:defRPr/>
            </a:pPr>
            <a:r>
              <a:rPr lang="en-US" altLang="zh-CN" kern="0" dirty="0">
                <a:solidFill>
                  <a:srgbClr val="000000"/>
                </a:solidFill>
                <a:latin typeface="微软雅黑" pitchFamily="34" charset="-122"/>
                <a:ea typeface="微软雅黑" pitchFamily="34" charset="-122"/>
              </a:rPr>
              <a:t>——</a:t>
            </a:r>
            <a:r>
              <a:rPr lang="zh-CN" altLang="en-US" kern="0" dirty="0">
                <a:solidFill>
                  <a:srgbClr val="000000"/>
                </a:solidFill>
                <a:latin typeface="微软雅黑" pitchFamily="34" charset="-122"/>
                <a:ea typeface="微软雅黑" pitchFamily="34" charset="-122"/>
              </a:rPr>
              <a:t>若丢失了开头的一个或几个码元 </a:t>
            </a:r>
            <a:r>
              <a:rPr lang="zh-CN" altLang="en-US" sz="2000" kern="0" dirty="0">
                <a:solidFill>
                  <a:srgbClr val="FF0000"/>
                </a:solidFill>
                <a:latin typeface="Times New Roman" pitchFamily="18" charset="0"/>
                <a:cs typeface="Times New Roman" pitchFamily="18" charset="0"/>
                <a:sym typeface="Wingdings" pitchFamily="2" charset="2"/>
              </a:rPr>
              <a:t>，</a:t>
            </a:r>
            <a:r>
              <a:rPr lang="zh-CN" altLang="en-US" kern="0" dirty="0">
                <a:solidFill>
                  <a:srgbClr val="000000"/>
                </a:solidFill>
                <a:latin typeface="微软雅黑" pitchFamily="34" charset="-122"/>
                <a:ea typeface="微软雅黑" pitchFamily="34" charset="-122"/>
              </a:rPr>
              <a:t>则变成不可译的或对开头几个码元错译后，能自动获得正确同步及正确译码。</a:t>
            </a:r>
          </a:p>
        </p:txBody>
      </p:sp>
      <p:grpSp>
        <p:nvGrpSpPr>
          <p:cNvPr id="2" name="组合 57">
            <a:extLst>
              <a:ext uri="{FF2B5EF4-FFF2-40B4-BE49-F238E27FC236}">
                <a16:creationId xmlns:a16="http://schemas.microsoft.com/office/drawing/2014/main" id="{B858DFB1-04FF-FFAB-2BE6-5ED8C76365AE}"/>
              </a:ext>
            </a:extLst>
          </p:cNvPr>
          <p:cNvGrpSpPr>
            <a:grpSpLocks/>
          </p:cNvGrpSpPr>
          <p:nvPr/>
        </p:nvGrpSpPr>
        <p:grpSpPr bwMode="auto">
          <a:xfrm>
            <a:off x="857250" y="2214563"/>
            <a:ext cx="928688" cy="571500"/>
            <a:chOff x="2500298" y="3214686"/>
            <a:chExt cx="928693" cy="571503"/>
          </a:xfrm>
        </p:grpSpPr>
        <p:sp>
          <p:nvSpPr>
            <p:cNvPr id="8" name="椭圆 7">
              <a:extLst>
                <a:ext uri="{FF2B5EF4-FFF2-40B4-BE49-F238E27FC236}">
                  <a16:creationId xmlns:a16="http://schemas.microsoft.com/office/drawing/2014/main" id="{532228ED-4647-7C56-F310-973620B5E748}"/>
                </a:ext>
              </a:extLst>
            </p:cNvPr>
            <p:cNvSpPr/>
            <p:nvPr/>
          </p:nvSpPr>
          <p:spPr bwMode="auto">
            <a:xfrm>
              <a:off x="2500298" y="3214686"/>
              <a:ext cx="928693" cy="571503"/>
            </a:xfrm>
            <a:prstGeom prst="ellipse">
              <a:avLst/>
            </a:prstGeom>
            <a:solidFill>
              <a:schemeClr val="bg2">
                <a:lumMod val="10000"/>
                <a:lumOff val="90000"/>
              </a:schemeClr>
            </a:solidFill>
            <a:ln w="9525" cap="flat" cmpd="sng" algn="ctr">
              <a:solidFill>
                <a:schemeClr val="tx2">
                  <a:lumMod val="60000"/>
                  <a:lumOff val="40000"/>
                </a:schemeClr>
              </a:solidFill>
              <a:prstDash val="solid"/>
              <a:miter lim="800000"/>
              <a:headEnd type="none" w="med" len="med"/>
              <a:tailEnd type="none" w="med" len="med"/>
            </a:ln>
            <a:effectLst>
              <a:outerShdw blurRad="50800" dist="38100" dir="18900000" algn="bl" rotWithShape="0">
                <a:prstClr val="black">
                  <a:alpha val="40000"/>
                </a:prstClr>
              </a:outerShdw>
            </a:effectLst>
          </p:spPr>
          <p:txBody>
            <a:bodyPr wrap="none"/>
            <a:lstStyle/>
            <a:p>
              <a:pPr>
                <a:defRPr/>
              </a:pPr>
              <a:endParaRPr lang="zh-CN" altLang="en-US" dirty="0">
                <a:ea typeface="宋体" charset="-122"/>
              </a:endParaRPr>
            </a:p>
          </p:txBody>
        </p:sp>
        <p:sp>
          <p:nvSpPr>
            <p:cNvPr id="9" name="矩形 8">
              <a:extLst>
                <a:ext uri="{FF2B5EF4-FFF2-40B4-BE49-F238E27FC236}">
                  <a16:creationId xmlns:a16="http://schemas.microsoft.com/office/drawing/2014/main" id="{78A5BE3F-BA21-DB9B-AE0A-EB6CEF2E4875}"/>
                </a:ext>
              </a:extLst>
            </p:cNvPr>
            <p:cNvSpPr/>
            <p:nvPr/>
          </p:nvSpPr>
          <p:spPr>
            <a:xfrm>
              <a:off x="2552686" y="3271836"/>
              <a:ext cx="803279" cy="461964"/>
            </a:xfrm>
            <a:prstGeom prst="rect">
              <a:avLst/>
            </a:prstGeom>
          </p:spPr>
          <p:txBody>
            <a:bodyPr wrap="none">
              <a:spAutoFit/>
            </a:bodyPr>
            <a:lstStyle/>
            <a:p>
              <a:pPr>
                <a:defRPr/>
              </a:pPr>
              <a:r>
                <a:rPr lang="zh-CN" altLang="en-US" sz="2400" kern="0" dirty="0">
                  <a:solidFill>
                    <a:srgbClr val="0000CC"/>
                  </a:solidFill>
                  <a:effectLst>
                    <a:outerShdw blurRad="38100" dist="38100" dir="2700000" algn="tl">
                      <a:srgbClr val="000000">
                        <a:alpha val="43137"/>
                      </a:srgbClr>
                    </a:outerShdw>
                  </a:effectLst>
                  <a:latin typeface="黑体" pitchFamily="2" charset="-122"/>
                  <a:ea typeface="黑体" pitchFamily="2" charset="-122"/>
                </a:rPr>
                <a:t>举例</a:t>
              </a:r>
              <a:endParaRPr lang="zh-CN" altLang="en-US" sz="2400" dirty="0">
                <a:solidFill>
                  <a:srgbClr val="0000CC"/>
                </a:solidFill>
                <a:effectLst>
                  <a:outerShdw blurRad="38100" dist="38100" dir="2700000" algn="tl">
                    <a:srgbClr val="000000">
                      <a:alpha val="43137"/>
                    </a:srgbClr>
                  </a:outerShdw>
                </a:effectLst>
                <a:latin typeface="黑体" pitchFamily="2" charset="-122"/>
                <a:ea typeface="黑体" pitchFamily="2" charset="-122"/>
              </a:endParaRPr>
            </a:p>
          </p:txBody>
        </p:sp>
      </p:grpSp>
      <p:sp>
        <p:nvSpPr>
          <p:cNvPr id="10" name="矩形 9">
            <a:extLst>
              <a:ext uri="{FF2B5EF4-FFF2-40B4-BE49-F238E27FC236}">
                <a16:creationId xmlns:a16="http://schemas.microsoft.com/office/drawing/2014/main" id="{4922B017-8A50-AE45-11FB-609C0BF6096A}"/>
              </a:ext>
            </a:extLst>
          </p:cNvPr>
          <p:cNvSpPr/>
          <p:nvPr/>
        </p:nvSpPr>
        <p:spPr>
          <a:xfrm>
            <a:off x="752475" y="4929188"/>
            <a:ext cx="7962900" cy="1385887"/>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marL="342900" indent="-342900" eaLnBrk="0" hangingPunct="0">
              <a:lnSpc>
                <a:spcPts val="3200"/>
              </a:lnSpc>
              <a:spcBef>
                <a:spcPct val="20000"/>
              </a:spcBef>
              <a:buClr>
                <a:srgbClr val="3333CC"/>
              </a:buClr>
              <a:buSzPct val="60000"/>
              <a:defRPr/>
            </a:pPr>
            <a:r>
              <a:rPr lang="zh-CN" altLang="en-US" sz="2400" kern="0" dirty="0">
                <a:solidFill>
                  <a:srgbClr val="990099"/>
                </a:solidFill>
                <a:latin typeface="黑体" pitchFamily="2" charset="-122"/>
                <a:ea typeface="黑体" pitchFamily="2" charset="-122"/>
              </a:rPr>
              <a:t>可见</a:t>
            </a:r>
            <a:r>
              <a:rPr lang="zh-CN" altLang="en-US"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a:t>
            </a:r>
            <a:r>
              <a:rPr lang="zh-CN" altLang="en-US" kern="0" dirty="0">
                <a:solidFill>
                  <a:srgbClr val="000000"/>
                </a:solidFill>
                <a:latin typeface="微软雅黑" pitchFamily="34" charset="-122"/>
                <a:ea typeface="微软雅黑" pitchFamily="34" charset="-122"/>
              </a:rPr>
              <a:t>前两个码字错译了，但从</a:t>
            </a:r>
            <a:r>
              <a:rPr lang="zh-CN" altLang="en-US"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第三个</a:t>
            </a:r>
            <a:r>
              <a:rPr lang="zh-CN" altLang="en-US" kern="0" dirty="0">
                <a:solidFill>
                  <a:srgbClr val="000000"/>
                </a:solidFill>
                <a:latin typeface="微软雅黑" pitchFamily="34" charset="-122"/>
                <a:ea typeface="微软雅黑" pitchFamily="34" charset="-122"/>
              </a:rPr>
              <a:t>码字开始已自动恢复正确的同步。</a:t>
            </a:r>
            <a:endParaRPr lang="en-US" altLang="zh-CN" kern="0" dirty="0">
              <a:solidFill>
                <a:srgbClr val="000000"/>
              </a:solidFill>
              <a:latin typeface="微软雅黑" pitchFamily="34" charset="-122"/>
              <a:ea typeface="微软雅黑" pitchFamily="34" charset="-122"/>
            </a:endParaRPr>
          </a:p>
          <a:p>
            <a:pPr marL="342900" indent="-342900" eaLnBrk="0" hangingPunct="0">
              <a:lnSpc>
                <a:spcPts val="3200"/>
              </a:lnSpc>
              <a:spcBef>
                <a:spcPct val="20000"/>
              </a:spcBef>
              <a:buClr>
                <a:srgbClr val="3333CC"/>
              </a:buClr>
              <a:buSzPct val="60000"/>
              <a:defRPr/>
            </a:pPr>
            <a:r>
              <a:rPr lang="zh-CN" altLang="en-US" kern="0" dirty="0">
                <a:solidFill>
                  <a:srgbClr val="000000"/>
                </a:solidFill>
                <a:latin typeface="微软雅黑" pitchFamily="34" charset="-122"/>
                <a:ea typeface="微软雅黑" pitchFamily="34" charset="-122"/>
              </a:rPr>
              <a:t>             若前两个码元都丢失了，则收到的序列将是“</a:t>
            </a:r>
            <a:r>
              <a:rPr lang="en-US" altLang="zh-CN" kern="0" dirty="0">
                <a:solidFill>
                  <a:srgbClr val="000000"/>
                </a:solidFill>
                <a:latin typeface="微软雅黑" pitchFamily="34" charset="-122"/>
                <a:ea typeface="微软雅黑" pitchFamily="34" charset="-122"/>
              </a:rPr>
              <a:t>01101101</a:t>
            </a:r>
            <a:r>
              <a:rPr lang="en-US" altLang="zh-CN" kern="0" dirty="0">
                <a:solidFill>
                  <a:srgbClr val="000000"/>
                </a:solidFill>
                <a:latin typeface="微软雅黑" pitchFamily="34" charset="-122"/>
                <a:ea typeface="微软雅黑" pitchFamily="34" charset="-122"/>
                <a:sym typeface="Symbol" pitchFamily="18" charset="2"/>
              </a:rPr>
              <a:t></a:t>
            </a:r>
            <a:r>
              <a:rPr lang="en-US" altLang="zh-CN" kern="0" dirty="0">
                <a:solidFill>
                  <a:srgbClr val="000000"/>
                </a:solidFill>
                <a:latin typeface="微软雅黑" pitchFamily="34" charset="-122"/>
                <a:ea typeface="微软雅黑" pitchFamily="34" charset="-122"/>
              </a:rPr>
              <a:t>”</a:t>
            </a:r>
            <a:r>
              <a:rPr lang="zh-CN" altLang="en-US" kern="0" dirty="0">
                <a:solidFill>
                  <a:srgbClr val="000000"/>
                </a:solidFill>
                <a:latin typeface="微软雅黑" pitchFamily="34" charset="-122"/>
                <a:ea typeface="微软雅黑" pitchFamily="34" charset="-122"/>
              </a:rPr>
              <a:t>。</a:t>
            </a:r>
            <a:endParaRPr lang="en-US" altLang="zh-CN" kern="0" dirty="0">
              <a:solidFill>
                <a:srgbClr val="000000"/>
              </a:solidFill>
              <a:latin typeface="微软雅黑" pitchFamily="34" charset="-122"/>
              <a:ea typeface="微软雅黑" pitchFamily="34" charset="-122"/>
            </a:endParaRPr>
          </a:p>
          <a:p>
            <a:pPr marL="342900" indent="-342900" eaLnBrk="0" hangingPunct="0">
              <a:lnSpc>
                <a:spcPts val="3200"/>
              </a:lnSpc>
              <a:spcBef>
                <a:spcPct val="20000"/>
              </a:spcBef>
              <a:buClr>
                <a:srgbClr val="3333CC"/>
              </a:buClr>
              <a:buSzPct val="60000"/>
              <a:defRPr/>
            </a:pPr>
            <a:r>
              <a:rPr lang="zh-CN" altLang="en-US" kern="0" dirty="0">
                <a:solidFill>
                  <a:srgbClr val="000000"/>
                </a:solidFill>
                <a:latin typeface="微软雅黑" pitchFamily="34" charset="-122"/>
                <a:ea typeface="微软雅黑" pitchFamily="34" charset="-122"/>
              </a:rPr>
              <a:t>             这时，也是从</a:t>
            </a:r>
            <a:r>
              <a:rPr lang="zh-CN" altLang="en-US"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第三个</a:t>
            </a:r>
            <a:r>
              <a:rPr lang="zh-CN" altLang="en-US" kern="0" dirty="0">
                <a:solidFill>
                  <a:srgbClr val="000000"/>
                </a:solidFill>
                <a:latin typeface="微软雅黑" pitchFamily="34" charset="-122"/>
                <a:ea typeface="微软雅黑" pitchFamily="34" charset="-122"/>
              </a:rPr>
              <a:t>码字开始恢复正确的同步。</a:t>
            </a:r>
          </a:p>
        </p:txBody>
      </p:sp>
      <p:sp>
        <p:nvSpPr>
          <p:cNvPr id="11" name="矩形 10">
            <a:extLst>
              <a:ext uri="{FF2B5EF4-FFF2-40B4-BE49-F238E27FC236}">
                <a16:creationId xmlns:a16="http://schemas.microsoft.com/office/drawing/2014/main" id="{E13846F0-ACFF-D167-C2B2-90762BBE03E7}"/>
              </a:ext>
            </a:extLst>
          </p:cNvPr>
          <p:cNvSpPr/>
          <p:nvPr/>
        </p:nvSpPr>
        <p:spPr>
          <a:xfrm>
            <a:off x="6400800" y="4287838"/>
            <a:ext cx="2643188" cy="369887"/>
          </a:xfrm>
          <a:prstGeom prst="rect">
            <a:avLst/>
          </a:prstGeom>
        </p:spPr>
        <p:txBody>
          <a:bodyPr>
            <a:spAutoFit/>
          </a:bodyPr>
          <a:lstStyle/>
          <a:p>
            <a:pPr>
              <a:defRPr/>
            </a:pPr>
            <a:r>
              <a:rPr lang="zh-CN" altLang="en-US" kern="0" dirty="0">
                <a:solidFill>
                  <a:srgbClr val="000000"/>
                </a:solidFill>
                <a:latin typeface="微软雅黑" pitchFamily="34" charset="-122"/>
                <a:ea typeface="微软雅黑" pitchFamily="34" charset="-122"/>
              </a:rPr>
              <a:t>“ </a:t>
            </a:r>
            <a:r>
              <a:rPr lang="zh-CN" altLang="en-US" kern="0" dirty="0">
                <a:solidFill>
                  <a:srgbClr val="0000CC"/>
                </a:solidFill>
                <a:latin typeface="微软雅黑" pitchFamily="34" charset="-122"/>
                <a:ea typeface="微软雅黑" pitchFamily="34" charset="-122"/>
              </a:rPr>
              <a:t>晴 </a:t>
            </a:r>
            <a:r>
              <a:rPr lang="zh-CN" altLang="en-US" kern="0" dirty="0">
                <a:solidFill>
                  <a:srgbClr val="000000"/>
                </a:solidFill>
                <a:latin typeface="微软雅黑" pitchFamily="34" charset="-122"/>
                <a:ea typeface="微软雅黑" pitchFamily="34" charset="-122"/>
              </a:rPr>
              <a:t>   阴    阴   </a:t>
            </a:r>
            <a:r>
              <a:rPr lang="zh-CN" altLang="en-US" kern="0" dirty="0">
                <a:solidFill>
                  <a:srgbClr val="0000CC"/>
                </a:solidFill>
                <a:latin typeface="微软雅黑" pitchFamily="34" charset="-122"/>
                <a:ea typeface="微软雅黑" pitchFamily="34" charset="-122"/>
              </a:rPr>
              <a:t>晴</a:t>
            </a:r>
            <a:r>
              <a:rPr lang="zh-CN" altLang="en-US" kern="0" dirty="0">
                <a:solidFill>
                  <a:srgbClr val="000000"/>
                </a:solidFill>
                <a:latin typeface="微软雅黑" pitchFamily="34" charset="-122"/>
                <a:ea typeface="微软雅黑" pitchFamily="34" charset="-122"/>
                <a:sym typeface="Symbol" pitchFamily="18" charset="2"/>
              </a:rPr>
              <a:t></a:t>
            </a:r>
            <a:endParaRPr lang="zh-CN" altLang="en-US" dirty="0">
              <a:ea typeface="宋体" charset="-122"/>
            </a:endParaRPr>
          </a:p>
        </p:txBody>
      </p:sp>
      <p:sp>
        <p:nvSpPr>
          <p:cNvPr id="12" name="矩形 11">
            <a:extLst>
              <a:ext uri="{FF2B5EF4-FFF2-40B4-BE49-F238E27FC236}">
                <a16:creationId xmlns:a16="http://schemas.microsoft.com/office/drawing/2014/main" id="{10EF0918-E24F-39D8-BABD-740615CB9328}"/>
              </a:ext>
            </a:extLst>
          </p:cNvPr>
          <p:cNvSpPr/>
          <p:nvPr/>
        </p:nvSpPr>
        <p:spPr>
          <a:xfrm>
            <a:off x="5429250" y="2214563"/>
            <a:ext cx="3357563" cy="400050"/>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a:defRPr/>
            </a:pPr>
            <a:r>
              <a:rPr lang="zh-CN" altLang="en-US" sz="200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设 </a:t>
            </a:r>
            <a:r>
              <a:rPr lang="zh-CN" altLang="en-US" kern="0" dirty="0">
                <a:solidFill>
                  <a:srgbClr val="000000"/>
                </a:solidFill>
                <a:latin typeface="微软雅黑" pitchFamily="34" charset="-122"/>
                <a:ea typeface="微软雅黑" pitchFamily="34" charset="-122"/>
              </a:rPr>
              <a:t>发送 “ 云    </a:t>
            </a:r>
            <a:r>
              <a:rPr lang="zh-CN" altLang="en-US" kern="0" dirty="0">
                <a:solidFill>
                  <a:srgbClr val="0000CC"/>
                </a:solidFill>
                <a:latin typeface="微软雅黑" pitchFamily="34" charset="-122"/>
                <a:ea typeface="微软雅黑" pitchFamily="34" charset="-122"/>
              </a:rPr>
              <a:t>雨     </a:t>
            </a:r>
            <a:r>
              <a:rPr lang="zh-CN" altLang="en-US" kern="0" dirty="0">
                <a:solidFill>
                  <a:srgbClr val="000000"/>
                </a:solidFill>
                <a:latin typeface="微软雅黑" pitchFamily="34" charset="-122"/>
                <a:ea typeface="微软雅黑" pitchFamily="34" charset="-122"/>
              </a:rPr>
              <a:t>阴   </a:t>
            </a:r>
            <a:r>
              <a:rPr lang="zh-CN" altLang="en-US" kern="0" dirty="0">
                <a:solidFill>
                  <a:srgbClr val="0000CC"/>
                </a:solidFill>
                <a:latin typeface="微软雅黑" pitchFamily="34" charset="-122"/>
                <a:ea typeface="微软雅黑" pitchFamily="34" charset="-122"/>
              </a:rPr>
              <a:t>晴</a:t>
            </a:r>
            <a:r>
              <a:rPr lang="zh-CN" altLang="en-US" kern="0" dirty="0">
                <a:solidFill>
                  <a:srgbClr val="000000"/>
                </a:solidFill>
                <a:latin typeface="微软雅黑" pitchFamily="34" charset="-122"/>
                <a:ea typeface="微软雅黑" pitchFamily="34" charset="-122"/>
                <a:sym typeface="Symbol" pitchFamily="18" charset="2"/>
              </a:rPr>
              <a:t></a:t>
            </a:r>
            <a:endParaRPr lang="zh-CN" altLang="en-US" dirty="0">
              <a:ea typeface="宋体" charset="-122"/>
            </a:endParaRPr>
          </a:p>
        </p:txBody>
      </p:sp>
      <p:sp>
        <p:nvSpPr>
          <p:cNvPr id="13" name="矩形 12">
            <a:extLst>
              <a:ext uri="{FF2B5EF4-FFF2-40B4-BE49-F238E27FC236}">
                <a16:creationId xmlns:a16="http://schemas.microsoft.com/office/drawing/2014/main" id="{27D098EC-92DD-E9DD-EAAA-A05E79316FEE}"/>
              </a:ext>
            </a:extLst>
          </p:cNvPr>
          <p:cNvSpPr/>
          <p:nvPr/>
        </p:nvSpPr>
        <p:spPr>
          <a:xfrm>
            <a:off x="5429250" y="2714625"/>
            <a:ext cx="3357563" cy="400050"/>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a:defRPr/>
            </a:pPr>
            <a:r>
              <a:rPr lang="zh-CN" altLang="en-US" sz="200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则 </a:t>
            </a:r>
            <a:r>
              <a:rPr lang="zh-CN" altLang="en-US" kern="0" dirty="0">
                <a:solidFill>
                  <a:srgbClr val="000000"/>
                </a:solidFill>
                <a:latin typeface="微软雅黑" pitchFamily="34" charset="-122"/>
                <a:ea typeface="微软雅黑" pitchFamily="34" charset="-122"/>
              </a:rPr>
              <a:t>对应“</a:t>
            </a:r>
            <a:r>
              <a:rPr lang="en-US" altLang="zh-CN" kern="0" dirty="0">
                <a:solidFill>
                  <a:srgbClr val="FF0000"/>
                </a:solidFill>
                <a:latin typeface="微软雅黑" pitchFamily="34" charset="-122"/>
                <a:ea typeface="微软雅黑" pitchFamily="34" charset="-122"/>
              </a:rPr>
              <a:t>1</a:t>
            </a:r>
            <a:r>
              <a:rPr lang="en-US" altLang="zh-CN" kern="0" dirty="0">
                <a:solidFill>
                  <a:srgbClr val="000000"/>
                </a:solidFill>
                <a:latin typeface="微软雅黑" pitchFamily="34" charset="-122"/>
                <a:ea typeface="微软雅黑" pitchFamily="34" charset="-122"/>
              </a:rPr>
              <a:t>00 </a:t>
            </a:r>
            <a:r>
              <a:rPr lang="en-US" altLang="zh-CN" kern="0" dirty="0">
                <a:solidFill>
                  <a:srgbClr val="0000CC"/>
                </a:solidFill>
                <a:latin typeface="微软雅黑" pitchFamily="34" charset="-122"/>
                <a:ea typeface="微软雅黑" pitchFamily="34" charset="-122"/>
              </a:rPr>
              <a:t>1101 </a:t>
            </a:r>
            <a:r>
              <a:rPr lang="en-US" altLang="zh-CN" kern="0" dirty="0">
                <a:solidFill>
                  <a:srgbClr val="000000"/>
                </a:solidFill>
                <a:latin typeface="微软雅黑" pitchFamily="34" charset="-122"/>
                <a:ea typeface="微软雅黑" pitchFamily="34" charset="-122"/>
              </a:rPr>
              <a:t>101 </a:t>
            </a:r>
            <a:r>
              <a:rPr lang="en-US" altLang="zh-CN" kern="0" dirty="0">
                <a:solidFill>
                  <a:srgbClr val="0000CC"/>
                </a:solidFill>
                <a:latin typeface="微软雅黑" pitchFamily="34" charset="-122"/>
                <a:ea typeface="微软雅黑" pitchFamily="34" charset="-122"/>
              </a:rPr>
              <a:t>01</a:t>
            </a:r>
            <a:r>
              <a:rPr lang="en-US" altLang="zh-CN" kern="0" dirty="0">
                <a:solidFill>
                  <a:srgbClr val="000000"/>
                </a:solidFill>
                <a:latin typeface="微软雅黑" pitchFamily="34" charset="-122"/>
                <a:ea typeface="微软雅黑" pitchFamily="34" charset="-122"/>
                <a:sym typeface="Symbol" pitchFamily="18" charset="2"/>
              </a:rPr>
              <a:t></a:t>
            </a:r>
            <a:endParaRPr lang="zh-CN" altLang="en-US" dirty="0">
              <a:ea typeface="宋体"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10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10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1000"/>
                                        <p:tgtEl>
                                          <p:spTgt spid="2"/>
                                        </p:tgtEl>
                                      </p:cBhvr>
                                    </p:animEffect>
                                  </p:childTnLst>
                                </p:cTn>
                              </p:par>
                            </p:childTnLst>
                          </p:cTn>
                        </p:par>
                        <p:par>
                          <p:cTn id="18" fill="hold" nodeType="afterGroup">
                            <p:stCondLst>
                              <p:cond delay="1000"/>
                            </p:stCondLst>
                            <p:childTnLst>
                              <p:par>
                                <p:cTn id="19" presetID="22" presetClass="entr" presetSubtype="1" fill="hold" nodeType="afterEffect">
                                  <p:stCondLst>
                                    <p:cond delay="0"/>
                                  </p:stCondLst>
                                  <p:childTnLst>
                                    <p:set>
                                      <p:cBhvr>
                                        <p:cTn id="20" dur="1" fill="hold">
                                          <p:stCondLst>
                                            <p:cond delay="0"/>
                                          </p:stCondLst>
                                        </p:cTn>
                                        <p:tgtEl>
                                          <p:spTgt spid="85049"/>
                                        </p:tgtEl>
                                        <p:attrNameLst>
                                          <p:attrName>style.visibility</p:attrName>
                                        </p:attrNameLst>
                                      </p:cBhvr>
                                      <p:to>
                                        <p:strVal val="visible"/>
                                      </p:to>
                                    </p:set>
                                    <p:animEffect transition="in" filter="wipe(up)">
                                      <p:cBhvr>
                                        <p:cTn id="21" dur="2000"/>
                                        <p:tgtEl>
                                          <p:spTgt spid="8504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up)">
                                      <p:cBhvr>
                                        <p:cTn id="26" dur="1000"/>
                                        <p:tgtEl>
                                          <p:spTgt spid="1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up)">
                                      <p:cBhvr>
                                        <p:cTn id="31" dur="1000"/>
                                        <p:tgtEl>
                                          <p:spTgt spid="1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84995">
                                            <p:txEl>
                                              <p:pRg st="0" end="0"/>
                                            </p:txEl>
                                          </p:spTgt>
                                        </p:tgtEl>
                                        <p:attrNameLst>
                                          <p:attrName>style.visibility</p:attrName>
                                        </p:attrNameLst>
                                      </p:cBhvr>
                                      <p:to>
                                        <p:strVal val="visible"/>
                                      </p:to>
                                    </p:set>
                                    <p:animEffect transition="in" filter="wipe(up)">
                                      <p:cBhvr>
                                        <p:cTn id="36" dur="1000"/>
                                        <p:tgtEl>
                                          <p:spTgt spid="84995">
                                            <p:txEl>
                                              <p:pRg st="0" end="0"/>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nodeType="clickEffect">
                                  <p:stCondLst>
                                    <p:cond delay="0"/>
                                  </p:stCondLst>
                                  <p:childTnLst>
                                    <p:set>
                                      <p:cBhvr>
                                        <p:cTn id="40" dur="1" fill="hold">
                                          <p:stCondLst>
                                            <p:cond delay="0"/>
                                          </p:stCondLst>
                                        </p:cTn>
                                        <p:tgtEl>
                                          <p:spTgt spid="84995">
                                            <p:txEl>
                                              <p:pRg st="1" end="1"/>
                                            </p:txEl>
                                          </p:spTgt>
                                        </p:tgtEl>
                                        <p:attrNameLst>
                                          <p:attrName>style.visibility</p:attrName>
                                        </p:attrNameLst>
                                      </p:cBhvr>
                                      <p:to>
                                        <p:strVal val="visible"/>
                                      </p:to>
                                    </p:set>
                                    <p:animEffect transition="in" filter="wipe(up)">
                                      <p:cBhvr>
                                        <p:cTn id="41" dur="1000"/>
                                        <p:tgtEl>
                                          <p:spTgt spid="84995">
                                            <p:txEl>
                                              <p:pRg st="1" end="1"/>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nodeType="clickEffect">
                                  <p:stCondLst>
                                    <p:cond delay="0"/>
                                  </p:stCondLst>
                                  <p:childTnLst>
                                    <p:set>
                                      <p:cBhvr>
                                        <p:cTn id="45" dur="1" fill="hold">
                                          <p:stCondLst>
                                            <p:cond delay="0"/>
                                          </p:stCondLst>
                                        </p:cTn>
                                        <p:tgtEl>
                                          <p:spTgt spid="84995">
                                            <p:txEl>
                                              <p:pRg st="2" end="2"/>
                                            </p:txEl>
                                          </p:spTgt>
                                        </p:tgtEl>
                                        <p:attrNameLst>
                                          <p:attrName>style.visibility</p:attrName>
                                        </p:attrNameLst>
                                      </p:cBhvr>
                                      <p:to>
                                        <p:strVal val="visible"/>
                                      </p:to>
                                    </p:set>
                                    <p:animEffect transition="in" filter="wipe(up)">
                                      <p:cBhvr>
                                        <p:cTn id="46" dur="1000"/>
                                        <p:tgtEl>
                                          <p:spTgt spid="84995">
                                            <p:txEl>
                                              <p:pRg st="2" end="2"/>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wipe(left)">
                                      <p:cBhvr>
                                        <p:cTn id="51" dur="2000"/>
                                        <p:tgtEl>
                                          <p:spTgt spid="11"/>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1" fill="hold" nodeType="click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wipe(up)">
                                      <p:cBhvr>
                                        <p:cTn id="56"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0" grpId="0" animBg="1"/>
      <p:bldP spid="11" grpId="0"/>
      <p:bldP spid="12" grpId="0" animBg="1"/>
      <p:bldP spid="13"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a:extLst>
              <a:ext uri="{FF2B5EF4-FFF2-40B4-BE49-F238E27FC236}">
                <a16:creationId xmlns:a16="http://schemas.microsoft.com/office/drawing/2014/main" id="{3C42E222-779A-E5D6-7774-DF122C66839B}"/>
              </a:ext>
            </a:extLst>
          </p:cNvPr>
          <p:cNvSpPr>
            <a:spLocks noGrp="1" noChangeArrowheads="1"/>
          </p:cNvSpPr>
          <p:nvPr>
            <p:ph type="body" idx="1"/>
          </p:nvPr>
        </p:nvSpPr>
        <p:spPr>
          <a:xfrm>
            <a:off x="600075" y="3786188"/>
            <a:ext cx="7927975" cy="2000250"/>
          </a:xfrm>
        </p:spPr>
        <p:txBody>
          <a:bodyPr/>
          <a:lstStyle/>
          <a:p>
            <a:pPr>
              <a:lnSpc>
                <a:spcPts val="3500"/>
              </a:lnSpc>
              <a:buFont typeface="Wingdings" panose="05000000000000000000" pitchFamily="2" charset="2"/>
              <a:buNone/>
              <a:defRPr/>
            </a:pPr>
            <a:r>
              <a:rPr lang="zh-CN" altLang="en-US" sz="2000" dirty="0">
                <a:latin typeface="微软雅黑" pitchFamily="34" charset="-122"/>
                <a:ea typeface="微软雅黑" pitchFamily="34" charset="-122"/>
              </a:rPr>
              <a:t>  </a:t>
            </a:r>
            <a:r>
              <a:rPr lang="zh-CN" altLang="en-US" sz="2000" dirty="0">
                <a:solidFill>
                  <a:srgbClr val="990099"/>
                </a:solidFill>
                <a:effectLst>
                  <a:outerShdw blurRad="38100" dist="38100" dir="2700000" algn="tl">
                    <a:srgbClr val="000000">
                      <a:alpha val="43137"/>
                    </a:srgbClr>
                  </a:outerShdw>
                </a:effectLst>
                <a:latin typeface="微软雅黑" pitchFamily="34" charset="-122"/>
                <a:ea typeface="微软雅黑" pitchFamily="34" charset="-122"/>
              </a:rPr>
              <a:t>可以验证</a:t>
            </a:r>
            <a:r>
              <a:rPr lang="zh-CN" altLang="en-US" sz="2000" dirty="0">
                <a:solidFill>
                  <a:srgbClr val="003399"/>
                </a:solidFill>
                <a:latin typeface="+mn-ea"/>
              </a:rPr>
              <a:t>：</a:t>
            </a:r>
            <a:r>
              <a:rPr lang="zh-CN" altLang="en-US" sz="2000" b="0" dirty="0">
                <a:latin typeface="微软雅黑" pitchFamily="34" charset="-122"/>
                <a:ea typeface="微软雅黑" pitchFamily="34" charset="-122"/>
              </a:rPr>
              <a:t>这 </a:t>
            </a:r>
            <a:r>
              <a:rPr lang="en-US" altLang="zh-CN" sz="2000" b="0" dirty="0">
                <a:latin typeface="微软雅黑" pitchFamily="34" charset="-122"/>
                <a:ea typeface="微软雅黑" pitchFamily="34" charset="-122"/>
              </a:rPr>
              <a:t>8 </a:t>
            </a:r>
            <a:r>
              <a:rPr lang="zh-CN" altLang="en-US" sz="2000" b="0" dirty="0">
                <a:latin typeface="微软雅黑" pitchFamily="34" charset="-122"/>
                <a:ea typeface="微软雅黑" pitchFamily="34" charset="-122"/>
              </a:rPr>
              <a:t>个码字中任何两个码字的拼合所形成的码长等于 </a:t>
            </a:r>
            <a:r>
              <a:rPr lang="en-US" altLang="zh-CN" sz="2000" b="0" dirty="0">
                <a:latin typeface="微软雅黑" pitchFamily="34" charset="-122"/>
                <a:ea typeface="微软雅黑" pitchFamily="34" charset="-122"/>
              </a:rPr>
              <a:t>3</a:t>
            </a:r>
          </a:p>
          <a:p>
            <a:pPr>
              <a:lnSpc>
                <a:spcPts val="3500"/>
              </a:lnSpc>
              <a:buFont typeface="Wingdings" panose="05000000000000000000" pitchFamily="2" charset="2"/>
              <a:buNone/>
              <a:defRPr/>
            </a:pPr>
            <a:r>
              <a:rPr lang="en-US" altLang="zh-CN" sz="2000" b="0" dirty="0">
                <a:latin typeface="微软雅黑" pitchFamily="34" charset="-122"/>
                <a:ea typeface="微软雅黑" pitchFamily="34" charset="-122"/>
              </a:rPr>
              <a:t>  </a:t>
            </a:r>
            <a:r>
              <a:rPr lang="zh-CN" altLang="en-US" sz="2000" b="0" dirty="0">
                <a:latin typeface="微软雅黑" pitchFamily="34" charset="-122"/>
                <a:ea typeface="微软雅黑" pitchFamily="34" charset="-122"/>
              </a:rPr>
              <a:t>的码字 都和这 </a:t>
            </a:r>
            <a:r>
              <a:rPr lang="en-US" altLang="zh-CN" sz="2000" b="0" dirty="0">
                <a:latin typeface="微软雅黑" pitchFamily="34" charset="-122"/>
                <a:ea typeface="微软雅黑" pitchFamily="34" charset="-122"/>
              </a:rPr>
              <a:t>8 </a:t>
            </a:r>
            <a:r>
              <a:rPr lang="zh-CN" altLang="en-US" sz="2000" b="0" dirty="0">
                <a:latin typeface="微软雅黑" pitchFamily="34" charset="-122"/>
                <a:ea typeface="微软雅黑" pitchFamily="34" charset="-122"/>
              </a:rPr>
              <a:t>个码字不同。例如“</a:t>
            </a:r>
            <a:r>
              <a:rPr lang="en-US" altLang="zh-CN" sz="2000" b="0" dirty="0">
                <a:latin typeface="微软雅黑" pitchFamily="34" charset="-122"/>
                <a:ea typeface="微软雅黑" pitchFamily="34" charset="-122"/>
              </a:rPr>
              <a:t>AB”</a:t>
            </a:r>
            <a:r>
              <a:rPr lang="zh-CN" altLang="en-US" sz="2000" b="0" dirty="0">
                <a:latin typeface="微软雅黑" pitchFamily="34" charset="-122"/>
                <a:ea typeface="微软雅黑" pitchFamily="34" charset="-122"/>
              </a:rPr>
              <a:t>的编码为“</a:t>
            </a:r>
            <a:r>
              <a:rPr lang="en-US" altLang="zh-CN" sz="2000" b="0" dirty="0">
                <a:latin typeface="微软雅黑" pitchFamily="34" charset="-122"/>
                <a:ea typeface="微软雅黑" pitchFamily="34" charset="-122"/>
              </a:rPr>
              <a:t>100101”</a:t>
            </a:r>
            <a:r>
              <a:rPr lang="zh-CN" altLang="en-US" sz="2000" b="0" dirty="0">
                <a:latin typeface="微软雅黑" pitchFamily="34" charset="-122"/>
                <a:ea typeface="微软雅黑" pitchFamily="34" charset="-122"/>
              </a:rPr>
              <a:t>，</a:t>
            </a:r>
            <a:endParaRPr lang="en-US" altLang="zh-CN" sz="2000" b="0" dirty="0">
              <a:latin typeface="微软雅黑" pitchFamily="34" charset="-122"/>
              <a:ea typeface="微软雅黑" pitchFamily="34" charset="-122"/>
            </a:endParaRPr>
          </a:p>
          <a:p>
            <a:pPr>
              <a:lnSpc>
                <a:spcPts val="3500"/>
              </a:lnSpc>
              <a:buFont typeface="Wingdings" panose="05000000000000000000" pitchFamily="2" charset="2"/>
              <a:buNone/>
              <a:defRPr/>
            </a:pPr>
            <a:r>
              <a:rPr lang="en-US" altLang="zh-CN" sz="2000" b="0" dirty="0">
                <a:latin typeface="微软雅黑" pitchFamily="34" charset="-122"/>
                <a:ea typeface="微软雅黑" pitchFamily="34" charset="-122"/>
              </a:rPr>
              <a:t>  </a:t>
            </a:r>
            <a:r>
              <a:rPr lang="zh-CN" altLang="en-US" sz="2000" b="0" dirty="0">
                <a:latin typeface="微软雅黑" pitchFamily="34" charset="-122"/>
                <a:ea typeface="微软雅黑" pitchFamily="34" charset="-122"/>
              </a:rPr>
              <a:t>从其中拼合出的 </a:t>
            </a:r>
            <a:r>
              <a:rPr lang="en-US" altLang="zh-CN" sz="2000" b="0" dirty="0">
                <a:latin typeface="微软雅黑" pitchFamily="34" charset="-122"/>
                <a:ea typeface="微软雅黑" pitchFamily="34" charset="-122"/>
              </a:rPr>
              <a:t>3 </a:t>
            </a:r>
            <a:r>
              <a:rPr lang="zh-CN" altLang="en-US" sz="2000" b="0" dirty="0">
                <a:latin typeface="微软雅黑" pitchFamily="34" charset="-122"/>
                <a:ea typeface="微软雅黑" pitchFamily="34" charset="-122"/>
              </a:rPr>
              <a:t>位码字有“</a:t>
            </a:r>
            <a:r>
              <a:rPr lang="en-US" altLang="zh-CN" sz="2000" b="0" dirty="0">
                <a:latin typeface="微软雅黑" pitchFamily="34" charset="-122"/>
                <a:ea typeface="微软雅黑" pitchFamily="34" charset="-122"/>
              </a:rPr>
              <a:t>001”</a:t>
            </a:r>
            <a:r>
              <a:rPr lang="zh-CN" altLang="en-US" sz="2000" b="0" dirty="0">
                <a:latin typeface="微软雅黑" pitchFamily="34" charset="-122"/>
                <a:ea typeface="微软雅黑" pitchFamily="34" charset="-122"/>
              </a:rPr>
              <a:t>、“</a:t>
            </a:r>
            <a:r>
              <a:rPr lang="en-US" altLang="zh-CN" sz="2000" b="0" dirty="0">
                <a:latin typeface="微软雅黑" pitchFamily="34" charset="-122"/>
                <a:ea typeface="微软雅黑" pitchFamily="34" charset="-122"/>
              </a:rPr>
              <a:t>010”</a:t>
            </a:r>
            <a:r>
              <a:rPr lang="zh-CN" altLang="en-US" sz="2000" b="0" dirty="0">
                <a:latin typeface="微软雅黑" pitchFamily="34" charset="-122"/>
                <a:ea typeface="微软雅黑" pitchFamily="34" charset="-122"/>
              </a:rPr>
              <a:t>，它们 都不是表中</a:t>
            </a:r>
            <a:endParaRPr lang="en-US" altLang="zh-CN" sz="2000" b="0" dirty="0">
              <a:latin typeface="微软雅黑" pitchFamily="34" charset="-122"/>
              <a:ea typeface="微软雅黑" pitchFamily="34" charset="-122"/>
            </a:endParaRPr>
          </a:p>
          <a:p>
            <a:pPr>
              <a:lnSpc>
                <a:spcPts val="3500"/>
              </a:lnSpc>
              <a:buFont typeface="Wingdings" panose="05000000000000000000" pitchFamily="2" charset="2"/>
              <a:buNone/>
              <a:defRPr/>
            </a:pPr>
            <a:r>
              <a:rPr lang="en-US" altLang="zh-CN" sz="2000" b="0" dirty="0">
                <a:latin typeface="微软雅黑" pitchFamily="34" charset="-122"/>
                <a:ea typeface="微软雅黑" pitchFamily="34" charset="-122"/>
              </a:rPr>
              <a:t>  </a:t>
            </a:r>
            <a:r>
              <a:rPr lang="zh-CN" altLang="en-US" sz="2000" b="0" dirty="0">
                <a:latin typeface="微软雅黑" pitchFamily="34" charset="-122"/>
                <a:ea typeface="微软雅黑" pitchFamily="34" charset="-122"/>
              </a:rPr>
              <a:t>的码字。所以这种编码能够自动正确地区分每个接收码字。</a:t>
            </a:r>
          </a:p>
        </p:txBody>
      </p:sp>
      <p:graphicFrame>
        <p:nvGraphicFramePr>
          <p:cNvPr id="86121" name="Group 105">
            <a:extLst>
              <a:ext uri="{FF2B5EF4-FFF2-40B4-BE49-F238E27FC236}">
                <a16:creationId xmlns:a16="http://schemas.microsoft.com/office/drawing/2014/main" id="{CF9576AA-F0C3-BEC7-83AE-DC9044F16FDE}"/>
              </a:ext>
            </a:extLst>
          </p:cNvPr>
          <p:cNvGraphicFramePr>
            <a:graphicFrameLocks noGrp="1"/>
          </p:cNvGraphicFramePr>
          <p:nvPr/>
        </p:nvGraphicFramePr>
        <p:xfrm>
          <a:off x="2000250" y="2786063"/>
          <a:ext cx="5233988" cy="792162"/>
        </p:xfrm>
        <a:graphic>
          <a:graphicData uri="http://schemas.openxmlformats.org/drawingml/2006/table">
            <a:tbl>
              <a:tblPr/>
              <a:tblGrid>
                <a:gridCol w="654050">
                  <a:extLst>
                    <a:ext uri="{9D8B030D-6E8A-4147-A177-3AD203B41FA5}">
                      <a16:colId xmlns:a16="http://schemas.microsoft.com/office/drawing/2014/main" val="20000"/>
                    </a:ext>
                  </a:extLst>
                </a:gridCol>
                <a:gridCol w="652462">
                  <a:extLst>
                    <a:ext uri="{9D8B030D-6E8A-4147-A177-3AD203B41FA5}">
                      <a16:colId xmlns:a16="http://schemas.microsoft.com/office/drawing/2014/main" val="20001"/>
                    </a:ext>
                  </a:extLst>
                </a:gridCol>
                <a:gridCol w="654050">
                  <a:extLst>
                    <a:ext uri="{9D8B030D-6E8A-4147-A177-3AD203B41FA5}">
                      <a16:colId xmlns:a16="http://schemas.microsoft.com/office/drawing/2014/main" val="20002"/>
                    </a:ext>
                  </a:extLst>
                </a:gridCol>
                <a:gridCol w="654050">
                  <a:extLst>
                    <a:ext uri="{9D8B030D-6E8A-4147-A177-3AD203B41FA5}">
                      <a16:colId xmlns:a16="http://schemas.microsoft.com/office/drawing/2014/main" val="20003"/>
                    </a:ext>
                  </a:extLst>
                </a:gridCol>
                <a:gridCol w="652463">
                  <a:extLst>
                    <a:ext uri="{9D8B030D-6E8A-4147-A177-3AD203B41FA5}">
                      <a16:colId xmlns:a16="http://schemas.microsoft.com/office/drawing/2014/main" val="20004"/>
                    </a:ext>
                  </a:extLst>
                </a:gridCol>
                <a:gridCol w="654050">
                  <a:extLst>
                    <a:ext uri="{9D8B030D-6E8A-4147-A177-3AD203B41FA5}">
                      <a16:colId xmlns:a16="http://schemas.microsoft.com/office/drawing/2014/main" val="20005"/>
                    </a:ext>
                  </a:extLst>
                </a:gridCol>
                <a:gridCol w="657225">
                  <a:extLst>
                    <a:ext uri="{9D8B030D-6E8A-4147-A177-3AD203B41FA5}">
                      <a16:colId xmlns:a16="http://schemas.microsoft.com/office/drawing/2014/main" val="20006"/>
                    </a:ext>
                  </a:extLst>
                </a:gridCol>
                <a:gridCol w="655637">
                  <a:extLst>
                    <a:ext uri="{9D8B030D-6E8A-4147-A177-3AD203B41FA5}">
                      <a16:colId xmlns:a16="http://schemas.microsoft.com/office/drawing/2014/main" val="20007"/>
                    </a:ext>
                  </a:extLst>
                </a:gridCol>
              </a:tblGrid>
              <a:tr h="39608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a:t>
                      </a:r>
                      <a:endParaRPr kumimoji="0" lang="en-US" altLang="zh-CN" sz="3200" b="1"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endParaRPr kumimoji="0" lang="en-US" altLang="zh-CN" sz="32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a:t>
                      </a:r>
                      <a:endParaRPr kumimoji="0" lang="en-US" altLang="zh-CN" sz="32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D</a:t>
                      </a:r>
                      <a:endParaRPr kumimoji="0" lang="en-US" altLang="zh-CN" sz="3200" b="1"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F</a:t>
                      </a:r>
                      <a:endParaRPr kumimoji="0" lang="en-US" altLang="zh-CN" sz="32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G</a:t>
                      </a:r>
                      <a:endParaRPr kumimoji="0" lang="en-US" altLang="zh-CN" sz="32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endParaRPr kumimoji="0" lang="en-US" altLang="zh-CN" sz="32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I</a:t>
                      </a:r>
                      <a:endParaRPr kumimoji="0" lang="en-US" altLang="zh-CN" sz="32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08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100</a:t>
                      </a:r>
                      <a:endParaRPr kumimoji="0" lang="en-US" altLang="zh-CN" sz="32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101</a:t>
                      </a:r>
                      <a:endParaRPr kumimoji="0" lang="en-US" altLang="zh-CN" sz="32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102</a:t>
                      </a:r>
                      <a:endParaRPr kumimoji="0" lang="en-US" altLang="zh-CN" sz="32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200</a:t>
                      </a:r>
                      <a:endParaRPr kumimoji="0" lang="en-US" altLang="zh-CN" sz="32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201</a:t>
                      </a:r>
                      <a:endParaRPr kumimoji="0" lang="en-US" altLang="zh-CN" sz="32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202</a:t>
                      </a:r>
                      <a:endParaRPr kumimoji="0" lang="en-US" altLang="zh-CN" sz="32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211</a:t>
                      </a:r>
                      <a:endParaRPr kumimoji="0" lang="en-US" altLang="zh-CN" sz="32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212</a:t>
                      </a:r>
                      <a:endParaRPr kumimoji="0" lang="en-US" altLang="zh-CN" sz="3200" b="1"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 name="矩形 4">
            <a:extLst>
              <a:ext uri="{FF2B5EF4-FFF2-40B4-BE49-F238E27FC236}">
                <a16:creationId xmlns:a16="http://schemas.microsoft.com/office/drawing/2014/main" id="{3F8C2795-F4D2-F434-B0DE-DD78E5126055}"/>
              </a:ext>
            </a:extLst>
          </p:cNvPr>
          <p:cNvSpPr/>
          <p:nvPr/>
        </p:nvSpPr>
        <p:spPr>
          <a:xfrm>
            <a:off x="728663" y="1014413"/>
            <a:ext cx="3629025" cy="469900"/>
          </a:xfrm>
          <a:prstGeom prst="rect">
            <a:avLst/>
          </a:prstGeom>
          <a:noFill/>
        </p:spPr>
        <p:txBody>
          <a:bodyPr>
            <a:spAutoFit/>
          </a:bodyPr>
          <a:lstStyle/>
          <a:p>
            <a:pPr marL="228600" lvl="2" indent="-228600" eaLnBrk="0" hangingPunct="0">
              <a:lnSpc>
                <a:spcPct val="110000"/>
              </a:lnSpc>
              <a:spcBef>
                <a:spcPct val="20000"/>
              </a:spcBef>
              <a:buClr>
                <a:srgbClr val="FF0000"/>
              </a:buClr>
              <a:buSzPct val="85000"/>
              <a:buFont typeface="Wingdings" pitchFamily="2" charset="2"/>
              <a:buChar char="n"/>
              <a:defRPr/>
            </a:pPr>
            <a:r>
              <a:rPr lang="zh-CN" altLang="en-US" sz="2400" b="1" dirty="0">
                <a:latin typeface="Arial" pitchFamily="34" charset="0"/>
                <a:ea typeface="微软雅黑" pitchFamily="34" charset="-122"/>
                <a:cs typeface="Arial" pitchFamily="34" charset="0"/>
              </a:rPr>
              <a:t>无逗号码</a:t>
            </a:r>
            <a:endParaRPr lang="zh-CN" altLang="en-US" sz="2400" b="1" kern="0" dirty="0">
              <a:latin typeface="微软雅黑" pitchFamily="34" charset="-122"/>
              <a:ea typeface="微软雅黑" pitchFamily="34" charset="-122"/>
            </a:endParaRPr>
          </a:p>
        </p:txBody>
      </p:sp>
      <p:sp>
        <p:nvSpPr>
          <p:cNvPr id="6" name="矩形 5">
            <a:extLst>
              <a:ext uri="{FF2B5EF4-FFF2-40B4-BE49-F238E27FC236}">
                <a16:creationId xmlns:a16="http://schemas.microsoft.com/office/drawing/2014/main" id="{5EA58D77-0AFD-1182-B92F-DABBA279B779}"/>
              </a:ext>
            </a:extLst>
          </p:cNvPr>
          <p:cNvSpPr/>
          <p:nvPr/>
        </p:nvSpPr>
        <p:spPr>
          <a:xfrm>
            <a:off x="1620838" y="1500188"/>
            <a:ext cx="7023100" cy="476250"/>
          </a:xfrm>
          <a:prstGeom prst="rect">
            <a:avLst/>
          </a:prstGeom>
        </p:spPr>
        <p:txBody>
          <a:bodyPr>
            <a:spAutoFit/>
          </a:bodyPr>
          <a:lstStyle/>
          <a:p>
            <a:pPr marL="342900" indent="-342900" eaLnBrk="0" hangingPunct="0">
              <a:lnSpc>
                <a:spcPts val="3000"/>
              </a:lnSpc>
              <a:spcBef>
                <a:spcPct val="20000"/>
              </a:spcBef>
              <a:buClr>
                <a:srgbClr val="3333CC"/>
              </a:buClr>
              <a:buSzPct val="60000"/>
              <a:defRPr/>
            </a:pPr>
            <a:r>
              <a:rPr lang="en-US" altLang="zh-CN" sz="2000" kern="0" dirty="0">
                <a:solidFill>
                  <a:srgbClr val="000000"/>
                </a:solidFill>
                <a:latin typeface="微软雅黑" pitchFamily="34" charset="-122"/>
                <a:ea typeface="微软雅黑" pitchFamily="34" charset="-122"/>
              </a:rPr>
              <a:t>——</a:t>
            </a:r>
            <a:r>
              <a:rPr lang="zh-CN" altLang="en-US" sz="200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可同步码 </a:t>
            </a:r>
            <a:r>
              <a:rPr lang="zh-CN" altLang="en-US" sz="2000" kern="0" dirty="0">
                <a:solidFill>
                  <a:srgbClr val="000000"/>
                </a:solidFill>
                <a:latin typeface="微软雅黑" pitchFamily="34" charset="-122"/>
                <a:ea typeface="微软雅黑" pitchFamily="34" charset="-122"/>
              </a:rPr>
              <a:t>中的一种码组长度均</a:t>
            </a:r>
            <a:r>
              <a:rPr lang="zh-CN" altLang="en-US" sz="200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相等</a:t>
            </a:r>
            <a:r>
              <a:rPr lang="zh-CN" altLang="en-US" sz="2000" kern="0" dirty="0">
                <a:solidFill>
                  <a:srgbClr val="000000"/>
                </a:solidFill>
                <a:latin typeface="微软雅黑" pitchFamily="34" charset="-122"/>
                <a:ea typeface="微软雅黑" pitchFamily="34" charset="-122"/>
              </a:rPr>
              <a:t>的码。</a:t>
            </a:r>
          </a:p>
        </p:txBody>
      </p:sp>
      <p:sp>
        <p:nvSpPr>
          <p:cNvPr id="7" name="矩形 6">
            <a:extLst>
              <a:ext uri="{FF2B5EF4-FFF2-40B4-BE49-F238E27FC236}">
                <a16:creationId xmlns:a16="http://schemas.microsoft.com/office/drawing/2014/main" id="{CCEE4B4E-B5F7-0515-DD57-58EB43DF2F94}"/>
              </a:ext>
            </a:extLst>
          </p:cNvPr>
          <p:cNvSpPr/>
          <p:nvPr/>
        </p:nvSpPr>
        <p:spPr>
          <a:xfrm>
            <a:off x="2214563" y="2185988"/>
            <a:ext cx="5214937" cy="477837"/>
          </a:xfrm>
          <a:prstGeom prst="rect">
            <a:avLst/>
          </a:prstGeom>
        </p:spPr>
        <p:txBody>
          <a:bodyPr>
            <a:spAutoFit/>
          </a:bodyPr>
          <a:lstStyle/>
          <a:p>
            <a:pPr marL="342900" indent="-342900" eaLnBrk="0" hangingPunct="0">
              <a:lnSpc>
                <a:spcPts val="3000"/>
              </a:lnSpc>
              <a:spcBef>
                <a:spcPct val="20000"/>
              </a:spcBef>
              <a:buClr>
                <a:srgbClr val="3333CC"/>
              </a:buClr>
              <a:buSzPct val="60000"/>
              <a:defRPr/>
            </a:pPr>
            <a:r>
              <a:rPr lang="zh-CN" altLang="en-US" sz="2000" kern="0" dirty="0">
                <a:solidFill>
                  <a:srgbClr val="000000"/>
                </a:solidFill>
                <a:latin typeface="微软雅黑" pitchFamily="34" charset="-122"/>
                <a:ea typeface="微软雅黑" pitchFamily="34" charset="-122"/>
              </a:rPr>
              <a:t>一种三进制的码长等于</a:t>
            </a:r>
            <a:r>
              <a:rPr lang="en-US" altLang="zh-CN" sz="2000" kern="0" dirty="0">
                <a:solidFill>
                  <a:srgbClr val="000000"/>
                </a:solidFill>
                <a:latin typeface="微软雅黑" pitchFamily="34" charset="-122"/>
                <a:ea typeface="微软雅黑" pitchFamily="34" charset="-122"/>
              </a:rPr>
              <a:t>3</a:t>
            </a:r>
            <a:r>
              <a:rPr lang="zh-CN" altLang="en-US" sz="2000" kern="0" dirty="0">
                <a:solidFill>
                  <a:srgbClr val="000000"/>
                </a:solidFill>
                <a:latin typeface="微软雅黑" pitchFamily="34" charset="-122"/>
                <a:ea typeface="微软雅黑" pitchFamily="34" charset="-122"/>
              </a:rPr>
              <a:t>的无逗号码：</a:t>
            </a:r>
          </a:p>
        </p:txBody>
      </p:sp>
      <p:grpSp>
        <p:nvGrpSpPr>
          <p:cNvPr id="2" name="组合 57">
            <a:extLst>
              <a:ext uri="{FF2B5EF4-FFF2-40B4-BE49-F238E27FC236}">
                <a16:creationId xmlns:a16="http://schemas.microsoft.com/office/drawing/2014/main" id="{C51DA441-9647-085E-1D0A-D046D70D4B39}"/>
              </a:ext>
            </a:extLst>
          </p:cNvPr>
          <p:cNvGrpSpPr>
            <a:grpSpLocks/>
          </p:cNvGrpSpPr>
          <p:nvPr/>
        </p:nvGrpSpPr>
        <p:grpSpPr bwMode="auto">
          <a:xfrm>
            <a:off x="1143000" y="2071688"/>
            <a:ext cx="928688" cy="571500"/>
            <a:chOff x="2500298" y="3214686"/>
            <a:chExt cx="928693" cy="571503"/>
          </a:xfrm>
        </p:grpSpPr>
        <p:sp>
          <p:nvSpPr>
            <p:cNvPr id="9" name="椭圆 8">
              <a:extLst>
                <a:ext uri="{FF2B5EF4-FFF2-40B4-BE49-F238E27FC236}">
                  <a16:creationId xmlns:a16="http://schemas.microsoft.com/office/drawing/2014/main" id="{CA56745E-19F0-8B3A-BA78-30356DC32F6E}"/>
                </a:ext>
              </a:extLst>
            </p:cNvPr>
            <p:cNvSpPr/>
            <p:nvPr/>
          </p:nvSpPr>
          <p:spPr bwMode="auto">
            <a:xfrm>
              <a:off x="2500298" y="3214686"/>
              <a:ext cx="928693" cy="571503"/>
            </a:xfrm>
            <a:prstGeom prst="ellipse">
              <a:avLst/>
            </a:prstGeom>
            <a:solidFill>
              <a:schemeClr val="bg2">
                <a:lumMod val="10000"/>
                <a:lumOff val="90000"/>
              </a:schemeClr>
            </a:solidFill>
            <a:ln w="9525" cap="flat" cmpd="sng" algn="ctr">
              <a:solidFill>
                <a:schemeClr val="tx2">
                  <a:lumMod val="60000"/>
                  <a:lumOff val="40000"/>
                </a:schemeClr>
              </a:solidFill>
              <a:prstDash val="solid"/>
              <a:miter lim="800000"/>
              <a:headEnd type="none" w="med" len="med"/>
              <a:tailEnd type="none" w="med" len="med"/>
            </a:ln>
            <a:effectLst>
              <a:outerShdw blurRad="50800" dist="38100" dir="18900000" algn="bl" rotWithShape="0">
                <a:prstClr val="black">
                  <a:alpha val="40000"/>
                </a:prstClr>
              </a:outerShdw>
            </a:effectLst>
          </p:spPr>
          <p:txBody>
            <a:bodyPr wrap="none"/>
            <a:lstStyle/>
            <a:p>
              <a:pPr>
                <a:defRPr/>
              </a:pPr>
              <a:endParaRPr lang="zh-CN" altLang="en-US" dirty="0">
                <a:ea typeface="宋体" charset="-122"/>
              </a:endParaRPr>
            </a:p>
          </p:txBody>
        </p:sp>
        <p:sp>
          <p:nvSpPr>
            <p:cNvPr id="10" name="矩形 9">
              <a:extLst>
                <a:ext uri="{FF2B5EF4-FFF2-40B4-BE49-F238E27FC236}">
                  <a16:creationId xmlns:a16="http://schemas.microsoft.com/office/drawing/2014/main" id="{0CDEB1C6-4152-880B-BDDA-18BE71A873D2}"/>
                </a:ext>
              </a:extLst>
            </p:cNvPr>
            <p:cNvSpPr/>
            <p:nvPr/>
          </p:nvSpPr>
          <p:spPr>
            <a:xfrm>
              <a:off x="2566973" y="3257548"/>
              <a:ext cx="801692" cy="461965"/>
            </a:xfrm>
            <a:prstGeom prst="rect">
              <a:avLst/>
            </a:prstGeom>
          </p:spPr>
          <p:txBody>
            <a:bodyPr wrap="none">
              <a:spAutoFit/>
            </a:bodyPr>
            <a:lstStyle/>
            <a:p>
              <a:pPr>
                <a:defRPr/>
              </a:pPr>
              <a:r>
                <a:rPr lang="zh-CN" altLang="en-US" sz="2400" kern="0" dirty="0">
                  <a:solidFill>
                    <a:srgbClr val="0000CC"/>
                  </a:solidFill>
                  <a:effectLst>
                    <a:outerShdw blurRad="38100" dist="38100" dir="2700000" algn="tl">
                      <a:srgbClr val="000000">
                        <a:alpha val="43137"/>
                      </a:srgbClr>
                    </a:outerShdw>
                  </a:effectLst>
                  <a:latin typeface="黑体" pitchFamily="2" charset="-122"/>
                  <a:ea typeface="黑体" pitchFamily="2" charset="-122"/>
                </a:rPr>
                <a:t>举例</a:t>
              </a:r>
              <a:endParaRPr lang="zh-CN" altLang="en-US" sz="2400" dirty="0">
                <a:solidFill>
                  <a:srgbClr val="0000CC"/>
                </a:solidFill>
                <a:effectLst>
                  <a:outerShdw blurRad="38100" dist="38100" dir="2700000" algn="tl">
                    <a:srgbClr val="000000">
                      <a:alpha val="43137"/>
                    </a:srgbClr>
                  </a:outerShdw>
                </a:effectLst>
                <a:latin typeface="黑体" pitchFamily="2" charset="-122"/>
                <a:ea typeface="黑体" pitchFamily="2" charset="-122"/>
              </a:endParaRPr>
            </a:p>
          </p:txBody>
        </p:sp>
      </p:grpSp>
      <p:sp>
        <p:nvSpPr>
          <p:cNvPr id="11" name="矩形 10">
            <a:extLst>
              <a:ext uri="{FF2B5EF4-FFF2-40B4-BE49-F238E27FC236}">
                <a16:creationId xmlns:a16="http://schemas.microsoft.com/office/drawing/2014/main" id="{9E478E74-FE58-F122-EB6F-E1681C7E8CC6}"/>
              </a:ext>
            </a:extLst>
          </p:cNvPr>
          <p:cNvSpPr/>
          <p:nvPr/>
        </p:nvSpPr>
        <p:spPr>
          <a:xfrm>
            <a:off x="1428750" y="5929313"/>
            <a:ext cx="5429250" cy="541337"/>
          </a:xfrm>
          <a:prstGeom prst="rect">
            <a:avLst/>
          </a:prstGeom>
        </p:spPr>
        <p:txBody>
          <a:bodyPr>
            <a:spAutoFit/>
          </a:bodyPr>
          <a:lstStyle/>
          <a:p>
            <a:pPr marL="342900" indent="-342900" eaLnBrk="0" hangingPunct="0">
              <a:lnSpc>
                <a:spcPts val="3500"/>
              </a:lnSpc>
              <a:spcBef>
                <a:spcPct val="20000"/>
              </a:spcBef>
              <a:buClr>
                <a:srgbClr val="3333CC"/>
              </a:buClr>
              <a:buSzPct val="60000"/>
              <a:buFont typeface="Wingdings" pitchFamily="2" charset="2"/>
              <a:buChar char="n"/>
              <a:defRPr/>
            </a:pPr>
            <a:r>
              <a:rPr lang="zh-CN" altLang="en-US" sz="2000" kern="0" dirty="0">
                <a:solidFill>
                  <a:srgbClr val="000000"/>
                </a:solidFill>
                <a:latin typeface="微软雅黑" pitchFamily="34" charset="-122"/>
                <a:ea typeface="微软雅黑" pitchFamily="34" charset="-122"/>
              </a:rPr>
              <a:t>目前无逗号码尚无一般的构造方法。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10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10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1000"/>
                                        <p:tgtEl>
                                          <p:spTgt spid="2"/>
                                        </p:tgtEl>
                                      </p:cBhvr>
                                    </p:animEffect>
                                  </p:childTnLst>
                                </p:cTn>
                              </p:par>
                            </p:childTnLst>
                          </p:cTn>
                        </p:par>
                        <p:par>
                          <p:cTn id="18" fill="hold" nodeType="afterGroup">
                            <p:stCondLst>
                              <p:cond delay="1000"/>
                            </p:stCondLst>
                            <p:childTnLst>
                              <p:par>
                                <p:cTn id="19" presetID="22" presetClass="entr" presetSubtype="1"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up)">
                                      <p:cBhvr>
                                        <p:cTn id="21" dur="1000"/>
                                        <p:tgtEl>
                                          <p:spTgt spid="7"/>
                                        </p:tgtEl>
                                      </p:cBhvr>
                                    </p:animEffect>
                                  </p:childTnLst>
                                </p:cTn>
                              </p:par>
                            </p:childTnLst>
                          </p:cTn>
                        </p:par>
                        <p:par>
                          <p:cTn id="22" fill="hold" nodeType="afterGroup">
                            <p:stCondLst>
                              <p:cond delay="2000"/>
                            </p:stCondLst>
                            <p:childTnLst>
                              <p:par>
                                <p:cTn id="23" presetID="22" presetClass="entr" presetSubtype="1" fill="hold" nodeType="afterEffect">
                                  <p:stCondLst>
                                    <p:cond delay="0"/>
                                  </p:stCondLst>
                                  <p:childTnLst>
                                    <p:set>
                                      <p:cBhvr>
                                        <p:cTn id="24" dur="1" fill="hold">
                                          <p:stCondLst>
                                            <p:cond delay="0"/>
                                          </p:stCondLst>
                                        </p:cTn>
                                        <p:tgtEl>
                                          <p:spTgt spid="86121"/>
                                        </p:tgtEl>
                                        <p:attrNameLst>
                                          <p:attrName>style.visibility</p:attrName>
                                        </p:attrNameLst>
                                      </p:cBhvr>
                                      <p:to>
                                        <p:strVal val="visible"/>
                                      </p:to>
                                    </p:set>
                                    <p:animEffect transition="in" filter="wipe(up)">
                                      <p:cBhvr>
                                        <p:cTn id="25" dur="2000"/>
                                        <p:tgtEl>
                                          <p:spTgt spid="86121"/>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86019">
                                            <p:txEl>
                                              <p:pRg st="0" end="0"/>
                                            </p:txEl>
                                          </p:spTgt>
                                        </p:tgtEl>
                                        <p:attrNameLst>
                                          <p:attrName>style.visibility</p:attrName>
                                        </p:attrNameLst>
                                      </p:cBhvr>
                                      <p:to>
                                        <p:strVal val="visible"/>
                                      </p:to>
                                    </p:set>
                                    <p:animEffect transition="in" filter="wipe(up)">
                                      <p:cBhvr>
                                        <p:cTn id="30" dur="1000"/>
                                        <p:tgtEl>
                                          <p:spTgt spid="86019">
                                            <p:txEl>
                                              <p:pRg st="0" end="0"/>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86019">
                                            <p:txEl>
                                              <p:pRg st="1" end="1"/>
                                            </p:txEl>
                                          </p:spTgt>
                                        </p:tgtEl>
                                        <p:attrNameLst>
                                          <p:attrName>style.visibility</p:attrName>
                                        </p:attrNameLst>
                                      </p:cBhvr>
                                      <p:to>
                                        <p:strVal val="visible"/>
                                      </p:to>
                                    </p:set>
                                    <p:animEffect transition="in" filter="wipe(up)">
                                      <p:cBhvr>
                                        <p:cTn id="35" dur="1000"/>
                                        <p:tgtEl>
                                          <p:spTgt spid="86019">
                                            <p:txEl>
                                              <p:pRg st="1" end="1"/>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nodeType="clickEffect">
                                  <p:stCondLst>
                                    <p:cond delay="0"/>
                                  </p:stCondLst>
                                  <p:childTnLst>
                                    <p:set>
                                      <p:cBhvr>
                                        <p:cTn id="39" dur="1" fill="hold">
                                          <p:stCondLst>
                                            <p:cond delay="0"/>
                                          </p:stCondLst>
                                        </p:cTn>
                                        <p:tgtEl>
                                          <p:spTgt spid="86019">
                                            <p:txEl>
                                              <p:pRg st="2" end="2"/>
                                            </p:txEl>
                                          </p:spTgt>
                                        </p:tgtEl>
                                        <p:attrNameLst>
                                          <p:attrName>style.visibility</p:attrName>
                                        </p:attrNameLst>
                                      </p:cBhvr>
                                      <p:to>
                                        <p:strVal val="visible"/>
                                      </p:to>
                                    </p:set>
                                    <p:animEffect transition="in" filter="wipe(up)">
                                      <p:cBhvr>
                                        <p:cTn id="40" dur="1000"/>
                                        <p:tgtEl>
                                          <p:spTgt spid="86019">
                                            <p:txEl>
                                              <p:pRg st="2" end="2"/>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1" fill="hold" nodeType="clickEffect">
                                  <p:stCondLst>
                                    <p:cond delay="0"/>
                                  </p:stCondLst>
                                  <p:childTnLst>
                                    <p:set>
                                      <p:cBhvr>
                                        <p:cTn id="44" dur="1" fill="hold">
                                          <p:stCondLst>
                                            <p:cond delay="0"/>
                                          </p:stCondLst>
                                        </p:cTn>
                                        <p:tgtEl>
                                          <p:spTgt spid="86019">
                                            <p:txEl>
                                              <p:pRg st="3" end="3"/>
                                            </p:txEl>
                                          </p:spTgt>
                                        </p:tgtEl>
                                        <p:attrNameLst>
                                          <p:attrName>style.visibility</p:attrName>
                                        </p:attrNameLst>
                                      </p:cBhvr>
                                      <p:to>
                                        <p:strVal val="visible"/>
                                      </p:to>
                                    </p:set>
                                    <p:animEffect transition="in" filter="wipe(up)">
                                      <p:cBhvr>
                                        <p:cTn id="45" dur="1000"/>
                                        <p:tgtEl>
                                          <p:spTgt spid="86019">
                                            <p:txEl>
                                              <p:pRg st="3" end="3"/>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wipe(up)">
                                      <p:cBhvr>
                                        <p:cTn id="50"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11"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4">
            <a:extLst>
              <a:ext uri="{FF2B5EF4-FFF2-40B4-BE49-F238E27FC236}">
                <a16:creationId xmlns:a16="http://schemas.microsoft.com/office/drawing/2014/main" id="{2E73F27A-2C1C-FAF7-0A85-BC1F8446B271}"/>
              </a:ext>
            </a:extLst>
          </p:cNvPr>
          <p:cNvSpPr>
            <a:spLocks noChangeArrowheads="1"/>
          </p:cNvSpPr>
          <p:nvPr/>
        </p:nvSpPr>
        <p:spPr bwMode="auto">
          <a:xfrm>
            <a:off x="142875" y="415925"/>
            <a:ext cx="53578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en-US" sz="3200" b="1">
                <a:solidFill>
                  <a:srgbClr val="800080"/>
                </a:solidFill>
                <a:latin typeface="Arial" panose="020B0604020202020204" pitchFamily="34" charset="0"/>
                <a:ea typeface="微软雅黑" panose="020B0503020204020204" pitchFamily="34" charset="-122"/>
                <a:cs typeface="Arial" panose="020B0604020202020204" pitchFamily="34" charset="0"/>
              </a:rPr>
              <a:t>13</a:t>
            </a:r>
            <a:r>
              <a:rPr lang="en-US" altLang="zh-CN" sz="3200" b="1">
                <a:solidFill>
                  <a:srgbClr val="800080"/>
                </a:solidFill>
                <a:latin typeface="Arial" panose="020B0604020202020204" pitchFamily="34" charset="0"/>
                <a:ea typeface="微软雅黑" panose="020B0503020204020204" pitchFamily="34" charset="-122"/>
                <a:cs typeface="Arial" panose="020B0604020202020204" pitchFamily="34" charset="0"/>
              </a:rPr>
              <a:t>.4.7  </a:t>
            </a:r>
            <a:r>
              <a:rPr lang="zh-CN" altLang="en-US" sz="3200" b="1">
                <a:solidFill>
                  <a:srgbClr val="003399"/>
                </a:solidFill>
                <a:latin typeface="Arial" panose="020B0604020202020204" pitchFamily="34" charset="0"/>
                <a:ea typeface="微软雅黑" panose="020B0503020204020204" pitchFamily="34" charset="-122"/>
                <a:cs typeface="Arial" panose="020B0604020202020204" pitchFamily="34" charset="0"/>
              </a:rPr>
              <a:t>扩谱通信系统的</a:t>
            </a:r>
            <a:r>
              <a:rPr lang="zh-CN" altLang="zh-CN" sz="3200" b="1">
                <a:solidFill>
                  <a:srgbClr val="003399"/>
                </a:solidFill>
                <a:latin typeface="Arial" panose="020B0604020202020204" pitchFamily="34" charset="0"/>
                <a:ea typeface="微软雅黑" panose="020B0503020204020204" pitchFamily="34" charset="-122"/>
                <a:cs typeface="Arial" panose="020B0604020202020204" pitchFamily="34" charset="0"/>
              </a:rPr>
              <a:t>同步</a:t>
            </a:r>
            <a:endParaRPr lang="zh-CN" altLang="en-US" sz="3200" b="1">
              <a:solidFill>
                <a:srgbClr val="003399"/>
              </a:solidFill>
              <a:latin typeface="Arial" panose="020B0604020202020204" pitchFamily="34" charset="0"/>
              <a:ea typeface="微软雅黑" panose="020B0503020204020204" pitchFamily="34" charset="-122"/>
              <a:cs typeface="Arial" panose="020B0604020202020204" pitchFamily="34" charset="0"/>
            </a:endParaRPr>
          </a:p>
        </p:txBody>
      </p:sp>
      <p:sp>
        <p:nvSpPr>
          <p:cNvPr id="13" name="Rectangle 3">
            <a:extLst>
              <a:ext uri="{FF2B5EF4-FFF2-40B4-BE49-F238E27FC236}">
                <a16:creationId xmlns:a16="http://schemas.microsoft.com/office/drawing/2014/main" id="{D9A73B9C-81FB-82B0-78BC-5AA391CC1737}"/>
              </a:ext>
            </a:extLst>
          </p:cNvPr>
          <p:cNvSpPr txBox="1">
            <a:spLocks noChangeArrowheads="1"/>
          </p:cNvSpPr>
          <p:nvPr/>
        </p:nvSpPr>
        <p:spPr bwMode="auto">
          <a:xfrm>
            <a:off x="571500" y="5000625"/>
            <a:ext cx="7929563" cy="1143000"/>
          </a:xfrm>
          <a:prstGeom prst="rect">
            <a:avLst/>
          </a:prstGeom>
          <a:solidFill>
            <a:schemeClr val="bg2">
              <a:lumMod val="10000"/>
              <a:lumOff val="90000"/>
            </a:schemeClr>
          </a:solidFill>
          <a:ln w="9525">
            <a:noFill/>
            <a:miter lim="800000"/>
            <a:headEnd/>
            <a:tailEnd/>
          </a:ln>
          <a:effectLst>
            <a:outerShdw blurRad="50800" dist="38100" dir="2700000" algn="tl" rotWithShape="0">
              <a:prstClr val="black">
                <a:alpha val="40000"/>
              </a:prstClr>
            </a:outerShdw>
          </a:effectLst>
        </p:spPr>
        <p:txBody>
          <a:bodyPr/>
          <a:lstStyle/>
          <a:p>
            <a:pPr marL="685800" lvl="1" indent="-228600" eaLnBrk="0" hangingPunct="0">
              <a:lnSpc>
                <a:spcPct val="150000"/>
              </a:lnSpc>
              <a:spcBef>
                <a:spcPct val="20000"/>
              </a:spcBef>
              <a:buClr>
                <a:srgbClr val="0000CC"/>
              </a:buClr>
              <a:buSzPct val="95000"/>
              <a:defRPr/>
            </a:pPr>
            <a:r>
              <a:rPr lang="en-US" altLang="zh-CN" sz="2000" kern="0" dirty="0">
                <a:solidFill>
                  <a:srgbClr val="003399"/>
                </a:solidFill>
                <a:latin typeface="微软雅黑" pitchFamily="34" charset="-122"/>
                <a:ea typeface="微软雅黑" pitchFamily="34" charset="-122"/>
              </a:rPr>
              <a:t>1.  </a:t>
            </a:r>
            <a:r>
              <a:rPr lang="zh-CN" altLang="en-US" sz="2000" b="1" kern="0" dirty="0">
                <a:solidFill>
                  <a:srgbClr val="003399"/>
                </a:solidFill>
                <a:latin typeface="微软雅黑" pitchFamily="34" charset="-122"/>
                <a:ea typeface="微软雅黑" pitchFamily="34" charset="-122"/>
              </a:rPr>
              <a:t>捕获</a:t>
            </a:r>
            <a:r>
              <a:rPr lang="zh-CN" altLang="en-US" sz="2000" kern="0" dirty="0">
                <a:latin typeface="微软雅黑" pitchFamily="34" charset="-122"/>
                <a:ea typeface="微软雅黑" pitchFamily="34" charset="-122"/>
              </a:rPr>
              <a:t>（粗同步），即两者粗略同步，相位误差小于一个码元。</a:t>
            </a:r>
          </a:p>
          <a:p>
            <a:pPr marL="685800" lvl="1" indent="-228600" eaLnBrk="0" hangingPunct="0">
              <a:lnSpc>
                <a:spcPct val="150000"/>
              </a:lnSpc>
              <a:spcBef>
                <a:spcPct val="20000"/>
              </a:spcBef>
              <a:buClr>
                <a:srgbClr val="0000CC"/>
              </a:buClr>
              <a:buSzPct val="95000"/>
              <a:defRPr/>
            </a:pPr>
            <a:r>
              <a:rPr lang="en-US" altLang="zh-CN" sz="2000" kern="0" dirty="0">
                <a:solidFill>
                  <a:srgbClr val="003399"/>
                </a:solidFill>
                <a:latin typeface="微软雅黑" pitchFamily="34" charset="-122"/>
                <a:ea typeface="微软雅黑" pitchFamily="34" charset="-122"/>
              </a:rPr>
              <a:t>2.  </a:t>
            </a:r>
            <a:r>
              <a:rPr lang="zh-CN" altLang="en-US" sz="2000" b="1" kern="0" dirty="0">
                <a:solidFill>
                  <a:srgbClr val="003399"/>
                </a:solidFill>
                <a:latin typeface="微软雅黑" pitchFamily="34" charset="-122"/>
                <a:ea typeface="微软雅黑" pitchFamily="34" charset="-122"/>
              </a:rPr>
              <a:t>跟踪</a:t>
            </a:r>
            <a:r>
              <a:rPr lang="zh-CN" altLang="en-US" sz="2000" kern="0" dirty="0">
                <a:latin typeface="微软雅黑" pitchFamily="34" charset="-122"/>
                <a:ea typeface="微软雅黑" pitchFamily="34" charset="-122"/>
              </a:rPr>
              <a:t>（细同步），即将相位误差减少到最小，并保持下去。</a:t>
            </a:r>
          </a:p>
        </p:txBody>
      </p:sp>
      <p:sp>
        <p:nvSpPr>
          <p:cNvPr id="18" name="Rectangle 3">
            <a:extLst>
              <a:ext uri="{FF2B5EF4-FFF2-40B4-BE49-F238E27FC236}">
                <a16:creationId xmlns:a16="http://schemas.microsoft.com/office/drawing/2014/main" id="{CBDA9A98-BFB3-8B93-FC49-EF560A8A59F4}"/>
              </a:ext>
            </a:extLst>
          </p:cNvPr>
          <p:cNvSpPr txBox="1">
            <a:spLocks noChangeArrowheads="1"/>
          </p:cNvSpPr>
          <p:nvPr/>
        </p:nvSpPr>
        <p:spPr bwMode="auto">
          <a:xfrm>
            <a:off x="1857375" y="1143000"/>
            <a:ext cx="6215063" cy="1071563"/>
          </a:xfrm>
          <a:prstGeom prst="rect">
            <a:avLst/>
          </a:prstGeom>
          <a:solidFill>
            <a:schemeClr val="bg2">
              <a:lumMod val="10000"/>
              <a:lumOff val="90000"/>
            </a:schemeClr>
          </a:solidFill>
          <a:ln w="9525">
            <a:noFill/>
            <a:miter lim="800000"/>
            <a:headEnd/>
            <a:tailEnd/>
          </a:ln>
          <a:effectLst>
            <a:outerShdw blurRad="50800" dist="38100" dir="2700000" algn="tl" rotWithShape="0">
              <a:prstClr val="black">
                <a:alpha val="40000"/>
              </a:prstClr>
            </a:outerShdw>
          </a:effectLst>
        </p:spPr>
        <p:txBody>
          <a:bodyPr/>
          <a:lstStyle/>
          <a:p>
            <a:pPr marL="228600" indent="-228600" eaLnBrk="0" hangingPunct="0">
              <a:lnSpc>
                <a:spcPct val="150000"/>
              </a:lnSpc>
              <a:spcBef>
                <a:spcPct val="20000"/>
              </a:spcBef>
              <a:buClr>
                <a:schemeClr val="folHlink"/>
              </a:buClr>
              <a:buSzPct val="50000"/>
              <a:defRPr/>
            </a:pPr>
            <a:r>
              <a:rPr lang="zh-CN" altLang="en-US" sz="2000" kern="0" dirty="0">
                <a:latin typeface="微软雅黑" pitchFamily="34" charset="-122"/>
                <a:ea typeface="微软雅黑" pitchFamily="34" charset="-122"/>
              </a:rPr>
              <a:t>  在扩谱通信系统中，</a:t>
            </a:r>
            <a:r>
              <a:rPr lang="zh-CN" altLang="en-US" sz="2000" kern="0" dirty="0">
                <a:solidFill>
                  <a:srgbClr val="000000"/>
                </a:solidFill>
                <a:latin typeface="微软雅黑" pitchFamily="34" charset="-122"/>
                <a:ea typeface="微软雅黑" pitchFamily="34" charset="-122"/>
              </a:rPr>
              <a:t>大多采用</a:t>
            </a:r>
            <a:r>
              <a:rPr lang="zh-CN" altLang="en-US" sz="2000" kern="0" dirty="0">
                <a:latin typeface="微软雅黑" pitchFamily="34" charset="-122"/>
                <a:ea typeface="微软雅黑" pitchFamily="34" charset="-122"/>
              </a:rPr>
              <a:t>伪随机码，因为伪码</a:t>
            </a:r>
            <a:endParaRPr lang="en-US" altLang="zh-CN" sz="2000" kern="0" dirty="0">
              <a:latin typeface="微软雅黑" pitchFamily="34" charset="-122"/>
              <a:ea typeface="微软雅黑" pitchFamily="34" charset="-122"/>
            </a:endParaRPr>
          </a:p>
          <a:p>
            <a:pPr marL="228600" indent="-228600" eaLnBrk="0" hangingPunct="0">
              <a:lnSpc>
                <a:spcPct val="150000"/>
              </a:lnSpc>
              <a:spcBef>
                <a:spcPct val="20000"/>
              </a:spcBef>
              <a:buClr>
                <a:schemeClr val="folHlink"/>
              </a:buClr>
              <a:buSzPct val="50000"/>
              <a:defRPr/>
            </a:pPr>
            <a:r>
              <a:rPr lang="en-US" altLang="zh-CN" sz="2000" kern="0" dirty="0">
                <a:latin typeface="微软雅黑" pitchFamily="34" charset="-122"/>
                <a:ea typeface="微软雅黑" pitchFamily="34" charset="-122"/>
              </a:rPr>
              <a:t>  </a:t>
            </a:r>
            <a:r>
              <a:rPr lang="zh-CN" altLang="en-US" sz="2000" kern="0" dirty="0">
                <a:latin typeface="微软雅黑" pitchFamily="34" charset="-122"/>
                <a:ea typeface="微软雅黑" pitchFamily="34" charset="-122"/>
              </a:rPr>
              <a:t>具有良好的</a:t>
            </a:r>
            <a:r>
              <a:rPr lang="zh-CN" altLang="en-US" sz="2000" kern="0" dirty="0">
                <a:solidFill>
                  <a:srgbClr val="990099"/>
                </a:solidFill>
                <a:effectLst>
                  <a:outerShdw blurRad="38100" dist="38100" dir="2700000" algn="tl">
                    <a:srgbClr val="000000">
                      <a:alpha val="43137"/>
                    </a:srgbClr>
                  </a:outerShdw>
                </a:effectLst>
                <a:latin typeface="微软雅黑" pitchFamily="34" charset="-122"/>
                <a:ea typeface="微软雅黑" pitchFamily="34" charset="-122"/>
              </a:rPr>
              <a:t>相关 特性</a:t>
            </a:r>
            <a:r>
              <a:rPr lang="zh-CN" altLang="en-US" sz="2000" kern="0" dirty="0">
                <a:latin typeface="微软雅黑" pitchFamily="34" charset="-122"/>
                <a:ea typeface="微软雅黑" pitchFamily="34" charset="-122"/>
              </a:rPr>
              <a:t>，有利于同步。</a:t>
            </a:r>
          </a:p>
        </p:txBody>
      </p:sp>
      <p:sp>
        <p:nvSpPr>
          <p:cNvPr id="20" name="Rectangle 3">
            <a:extLst>
              <a:ext uri="{FF2B5EF4-FFF2-40B4-BE49-F238E27FC236}">
                <a16:creationId xmlns:a16="http://schemas.microsoft.com/office/drawing/2014/main" id="{DDB6AA43-22D6-5144-60CD-593195B206EC}"/>
              </a:ext>
            </a:extLst>
          </p:cNvPr>
          <p:cNvSpPr txBox="1">
            <a:spLocks noChangeArrowheads="1"/>
          </p:cNvSpPr>
          <p:nvPr/>
        </p:nvSpPr>
        <p:spPr bwMode="auto">
          <a:xfrm>
            <a:off x="714375" y="2428875"/>
            <a:ext cx="3000375" cy="642938"/>
          </a:xfrm>
          <a:prstGeom prst="rect">
            <a:avLst/>
          </a:prstGeom>
          <a:noFill/>
          <a:ln w="9525">
            <a:noFill/>
            <a:miter lim="800000"/>
            <a:headEnd/>
            <a:tailEnd/>
          </a:ln>
        </p:spPr>
        <p:txBody>
          <a:bodyPr/>
          <a:lstStyle/>
          <a:p>
            <a:pPr marL="228600" indent="-228600" eaLnBrk="0" hangingPunct="0">
              <a:lnSpc>
                <a:spcPct val="150000"/>
              </a:lnSpc>
              <a:spcBef>
                <a:spcPct val="20000"/>
              </a:spcBef>
              <a:buClr>
                <a:srgbClr val="FF0000"/>
              </a:buClr>
              <a:buSzPct val="85000"/>
              <a:buFont typeface="Wingdings" pitchFamily="2" charset="2"/>
              <a:buChar char="n"/>
              <a:defRPr/>
            </a:pPr>
            <a:r>
              <a:rPr lang="zh-CN" altLang="en-US" sz="2400" b="1" kern="0" dirty="0">
                <a:latin typeface="微软雅黑" pitchFamily="34" charset="-122"/>
                <a:ea typeface="微软雅黑" pitchFamily="34" charset="-122"/>
              </a:rPr>
              <a:t> 扩谱序列的同步：</a:t>
            </a:r>
            <a:endParaRPr lang="zh-CN" altLang="en-US" sz="2000" b="1" kern="0" dirty="0">
              <a:latin typeface="微软雅黑" pitchFamily="34" charset="-122"/>
              <a:ea typeface="微软雅黑" pitchFamily="34" charset="-122"/>
            </a:endParaRPr>
          </a:p>
        </p:txBody>
      </p:sp>
      <p:sp>
        <p:nvSpPr>
          <p:cNvPr id="21" name="矩形 20">
            <a:extLst>
              <a:ext uri="{FF2B5EF4-FFF2-40B4-BE49-F238E27FC236}">
                <a16:creationId xmlns:a16="http://schemas.microsoft.com/office/drawing/2014/main" id="{B0229C7F-6F8A-CBFF-B33B-40A8B43C5F43}"/>
              </a:ext>
            </a:extLst>
          </p:cNvPr>
          <p:cNvSpPr/>
          <p:nvPr/>
        </p:nvSpPr>
        <p:spPr>
          <a:xfrm>
            <a:off x="747713" y="4394200"/>
            <a:ext cx="4395787" cy="498475"/>
          </a:xfrm>
          <a:prstGeom prst="rect">
            <a:avLst/>
          </a:prstGeom>
        </p:spPr>
        <p:txBody>
          <a:bodyPr>
            <a:spAutoFit/>
          </a:bodyPr>
          <a:lstStyle/>
          <a:p>
            <a:pPr marL="228600" indent="-228600" eaLnBrk="0" hangingPunct="0">
              <a:lnSpc>
                <a:spcPct val="120000"/>
              </a:lnSpc>
              <a:spcBef>
                <a:spcPct val="20000"/>
              </a:spcBef>
              <a:buClr>
                <a:srgbClr val="FF0000"/>
              </a:buClr>
              <a:buSzPct val="85000"/>
              <a:buFont typeface="Wingdings" pitchFamily="2" charset="2"/>
              <a:buChar char="n"/>
              <a:defRPr/>
            </a:pPr>
            <a:r>
              <a:rPr lang="zh-CN" altLang="en-US" sz="2400" b="1" kern="0" dirty="0">
                <a:solidFill>
                  <a:srgbClr val="000000"/>
                </a:solidFill>
                <a:latin typeface="微软雅黑" pitchFamily="34" charset="-122"/>
                <a:ea typeface="微软雅黑" pitchFamily="34" charset="-122"/>
              </a:rPr>
              <a:t> 伪码同步分为两步：</a:t>
            </a:r>
          </a:p>
        </p:txBody>
      </p:sp>
      <p:sp>
        <p:nvSpPr>
          <p:cNvPr id="22" name="矩形 21">
            <a:extLst>
              <a:ext uri="{FF2B5EF4-FFF2-40B4-BE49-F238E27FC236}">
                <a16:creationId xmlns:a16="http://schemas.microsoft.com/office/drawing/2014/main" id="{995A18B2-316A-4B2C-FA23-9BB3D3E3982B}"/>
              </a:ext>
            </a:extLst>
          </p:cNvPr>
          <p:cNvSpPr/>
          <p:nvPr/>
        </p:nvSpPr>
        <p:spPr>
          <a:xfrm>
            <a:off x="2357438" y="3114675"/>
            <a:ext cx="5286375" cy="1014413"/>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a:lnSpc>
                <a:spcPct val="150000"/>
              </a:lnSpc>
              <a:defRPr/>
            </a:pPr>
            <a:r>
              <a:rPr lang="zh-CN" altLang="en-US" sz="2000" kern="0" dirty="0">
                <a:solidFill>
                  <a:srgbClr val="000000"/>
                </a:solidFill>
                <a:latin typeface="微软雅黑" pitchFamily="34" charset="-122"/>
                <a:ea typeface="微软雅黑" pitchFamily="34" charset="-122"/>
              </a:rPr>
              <a:t>  使接收机产生的本地伪码与收到的伪码同步，</a:t>
            </a:r>
            <a:r>
              <a:rPr lang="en-US" altLang="zh-CN" sz="2000" kern="0" dirty="0">
                <a:solidFill>
                  <a:srgbClr val="000000"/>
                </a:solidFill>
                <a:latin typeface="微软雅黑" pitchFamily="34" charset="-122"/>
                <a:ea typeface="微软雅黑" pitchFamily="34" charset="-122"/>
              </a:rPr>
              <a:t>  </a:t>
            </a:r>
          </a:p>
          <a:p>
            <a:pPr>
              <a:lnSpc>
                <a:spcPct val="150000"/>
              </a:lnSpc>
              <a:defRPr/>
            </a:pPr>
            <a:r>
              <a:rPr lang="en-US" altLang="zh-CN" sz="2000" kern="0" dirty="0">
                <a:solidFill>
                  <a:srgbClr val="000000"/>
                </a:solidFill>
                <a:latin typeface="微软雅黑" pitchFamily="34" charset="-122"/>
                <a:ea typeface="微软雅黑" pitchFamily="34" charset="-122"/>
              </a:rPr>
              <a:t>  </a:t>
            </a:r>
            <a:r>
              <a:rPr lang="zh-CN" altLang="en-US" sz="2000" kern="0" dirty="0">
                <a:solidFill>
                  <a:srgbClr val="000000"/>
                </a:solidFill>
                <a:latin typeface="微软雅黑" pitchFamily="34" charset="-122"/>
                <a:ea typeface="微软雅黑" pitchFamily="34" charset="-122"/>
              </a:rPr>
              <a:t>即最终使两个伪码的相位差保持 </a:t>
            </a:r>
            <a:r>
              <a:rPr lang="en-US" altLang="zh-CN" sz="2000" kern="0" dirty="0">
                <a:solidFill>
                  <a:srgbClr val="000000"/>
                </a:solidFill>
                <a:latin typeface="微软雅黑" pitchFamily="34" charset="-122"/>
                <a:ea typeface="微软雅黑" pitchFamily="34" charset="-122"/>
              </a:rPr>
              <a:t>0</a:t>
            </a:r>
            <a:r>
              <a:rPr lang="zh-CN" altLang="en-US" sz="2000" kern="0" dirty="0">
                <a:solidFill>
                  <a:srgbClr val="000000"/>
                </a:solidFill>
                <a:latin typeface="微软雅黑" pitchFamily="34" charset="-122"/>
                <a:ea typeface="微软雅黑" pitchFamily="34" charset="-122"/>
              </a:rPr>
              <a:t>状态 。</a:t>
            </a:r>
            <a:endParaRPr lang="zh-CN" altLang="en-US" dirty="0">
              <a:ea typeface="宋体"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8">
                                            <p:bg/>
                                          </p:spTgt>
                                        </p:tgtEl>
                                        <p:attrNameLst>
                                          <p:attrName>style.visibility</p:attrName>
                                        </p:attrNameLst>
                                      </p:cBhvr>
                                      <p:to>
                                        <p:strVal val="visible"/>
                                      </p:to>
                                    </p:set>
                                    <p:animEffect transition="in" filter="wipe(up)">
                                      <p:cBhvr>
                                        <p:cTn id="12" dur="1000"/>
                                        <p:tgtEl>
                                          <p:spTgt spid="18">
                                            <p:bg/>
                                          </p:spTgt>
                                        </p:tgtEl>
                                      </p:cBhvr>
                                    </p:animEffect>
                                  </p:childTnLst>
                                </p:cTn>
                              </p:par>
                              <p:par>
                                <p:cTn id="13" presetID="22" presetClass="entr" presetSubtype="1" fill="hold" nodeType="withEffect">
                                  <p:stCondLst>
                                    <p:cond delay="0"/>
                                  </p:stCondLst>
                                  <p:childTnLst>
                                    <p:set>
                                      <p:cBhvr>
                                        <p:cTn id="14" dur="1" fill="hold">
                                          <p:stCondLst>
                                            <p:cond delay="0"/>
                                          </p:stCondLst>
                                        </p:cTn>
                                        <p:tgtEl>
                                          <p:spTgt spid="18">
                                            <p:txEl>
                                              <p:pRg st="0" end="0"/>
                                            </p:txEl>
                                          </p:spTgt>
                                        </p:tgtEl>
                                        <p:attrNameLst>
                                          <p:attrName>style.visibility</p:attrName>
                                        </p:attrNameLst>
                                      </p:cBhvr>
                                      <p:to>
                                        <p:strVal val="visible"/>
                                      </p:to>
                                    </p:set>
                                    <p:animEffect transition="in" filter="wipe(up)">
                                      <p:cBhvr>
                                        <p:cTn id="15" dur="1000"/>
                                        <p:tgtEl>
                                          <p:spTgt spid="18">
                                            <p:txEl>
                                              <p:pRg st="0" end="0"/>
                                            </p:txEl>
                                          </p:spTgt>
                                        </p:tgtEl>
                                      </p:cBhvr>
                                    </p:animEffect>
                                  </p:childTnLst>
                                </p:cTn>
                              </p:par>
                              <p:par>
                                <p:cTn id="16" presetID="22" presetClass="entr" presetSubtype="1" fill="hold" nodeType="withEffect">
                                  <p:stCondLst>
                                    <p:cond delay="0"/>
                                  </p:stCondLst>
                                  <p:childTnLst>
                                    <p:set>
                                      <p:cBhvr>
                                        <p:cTn id="17" dur="1" fill="hold">
                                          <p:stCondLst>
                                            <p:cond delay="0"/>
                                          </p:stCondLst>
                                        </p:cTn>
                                        <p:tgtEl>
                                          <p:spTgt spid="18">
                                            <p:txEl>
                                              <p:pRg st="1" end="1"/>
                                            </p:txEl>
                                          </p:spTgt>
                                        </p:tgtEl>
                                        <p:attrNameLst>
                                          <p:attrName>style.visibility</p:attrName>
                                        </p:attrNameLst>
                                      </p:cBhvr>
                                      <p:to>
                                        <p:strVal val="visible"/>
                                      </p:to>
                                    </p:set>
                                    <p:animEffect transition="in" filter="wipe(up)">
                                      <p:cBhvr>
                                        <p:cTn id="18" dur="1000"/>
                                        <p:tgtEl>
                                          <p:spTgt spid="18">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nodeType="clickEffect">
                                  <p:stCondLst>
                                    <p:cond delay="0"/>
                                  </p:stCondLst>
                                  <p:childTnLst>
                                    <p:set>
                                      <p:cBhvr>
                                        <p:cTn id="22" dur="1" fill="hold">
                                          <p:stCondLst>
                                            <p:cond delay="0"/>
                                          </p:stCondLst>
                                        </p:cTn>
                                        <p:tgtEl>
                                          <p:spTgt spid="20">
                                            <p:txEl>
                                              <p:pRg st="0" end="0"/>
                                            </p:txEl>
                                          </p:spTgt>
                                        </p:tgtEl>
                                        <p:attrNameLst>
                                          <p:attrName>style.visibility</p:attrName>
                                        </p:attrNameLst>
                                      </p:cBhvr>
                                      <p:to>
                                        <p:strVal val="visible"/>
                                      </p:to>
                                    </p:set>
                                    <p:animEffect transition="in" filter="wipe(up)">
                                      <p:cBhvr>
                                        <p:cTn id="23" dur="1000"/>
                                        <p:tgtEl>
                                          <p:spTgt spid="20">
                                            <p:txEl>
                                              <p:pRg st="0" end="0"/>
                                            </p:txEl>
                                          </p:spTgt>
                                        </p:tgtEl>
                                      </p:cBhvr>
                                    </p:animEffect>
                                  </p:childTnLst>
                                </p:cTn>
                              </p:par>
                            </p:childTnLst>
                          </p:cTn>
                        </p:par>
                        <p:par>
                          <p:cTn id="24" fill="hold" nodeType="afterGroup">
                            <p:stCondLst>
                              <p:cond delay="1000"/>
                            </p:stCondLst>
                            <p:childTnLst>
                              <p:par>
                                <p:cTn id="25" presetID="22" presetClass="entr" presetSubtype="1" fill="hold" nodeType="after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wipe(up)">
                                      <p:cBhvr>
                                        <p:cTn id="27" dur="1000"/>
                                        <p:tgtEl>
                                          <p:spTgt spid="2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up)">
                                      <p:cBhvr>
                                        <p:cTn id="32" dur="1000"/>
                                        <p:tgtEl>
                                          <p:spTgt spid="2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13">
                                            <p:txEl>
                                              <p:pRg st="0" end="0"/>
                                            </p:txEl>
                                          </p:spTgt>
                                        </p:tgtEl>
                                        <p:attrNameLst>
                                          <p:attrName>style.visibility</p:attrName>
                                        </p:attrNameLst>
                                      </p:cBhvr>
                                      <p:to>
                                        <p:strVal val="visible"/>
                                      </p:to>
                                    </p:set>
                                    <p:animEffect transition="in" filter="wipe(up)">
                                      <p:cBhvr>
                                        <p:cTn id="37" dur="1000"/>
                                        <p:tgtEl>
                                          <p:spTgt spid="13">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13">
                                            <p:txEl>
                                              <p:pRg st="1" end="1"/>
                                            </p:txEl>
                                          </p:spTgt>
                                        </p:tgtEl>
                                        <p:attrNameLst>
                                          <p:attrName>style.visibility</p:attrName>
                                        </p:attrNameLst>
                                      </p:cBhvr>
                                      <p:to>
                                        <p:strVal val="visible"/>
                                      </p:to>
                                    </p:set>
                                    <p:animEffect transition="in" filter="wipe(up)">
                                      <p:cBhvr>
                                        <p:cTn id="42" dur="10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8" grpId="0" build="allAtOnce" animBg="1"/>
      <p:bldP spid="21" grpId="0"/>
      <p:bldP spid="22"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27636D2-299B-33F9-A165-1507F6E05FFB}"/>
              </a:ext>
            </a:extLst>
          </p:cNvPr>
          <p:cNvSpPr/>
          <p:nvPr/>
        </p:nvSpPr>
        <p:spPr>
          <a:xfrm>
            <a:off x="571500" y="428625"/>
            <a:ext cx="1619250" cy="584200"/>
          </a:xfrm>
          <a:prstGeom prst="rect">
            <a:avLst/>
          </a:prstGeom>
        </p:spPr>
        <p:txBody>
          <a:bodyPr wrap="none">
            <a:spAutoFit/>
          </a:bodyPr>
          <a:lstStyle/>
          <a:p>
            <a:pPr>
              <a:defRPr/>
            </a:pPr>
            <a:r>
              <a:rPr lang="en-US" altLang="zh-CN" sz="3200" b="1" kern="0" dirty="0">
                <a:solidFill>
                  <a:srgbClr val="0000CC"/>
                </a:solidFill>
                <a:latin typeface="微软雅黑" pitchFamily="34" charset="-122"/>
                <a:ea typeface="微软雅黑" pitchFamily="34" charset="-122"/>
              </a:rPr>
              <a:t>1.  </a:t>
            </a:r>
            <a:r>
              <a:rPr lang="zh-CN" altLang="en-US" sz="3200" b="1" kern="0" dirty="0">
                <a:solidFill>
                  <a:srgbClr val="0000CC"/>
                </a:solidFill>
                <a:latin typeface="微软雅黑" pitchFamily="34" charset="-122"/>
                <a:ea typeface="微软雅黑" pitchFamily="34" charset="-122"/>
              </a:rPr>
              <a:t>捕获</a:t>
            </a:r>
            <a:endParaRPr lang="zh-CN" altLang="en-US" sz="3200" b="1" dirty="0">
              <a:solidFill>
                <a:srgbClr val="0000CC"/>
              </a:solidFill>
              <a:ea typeface="宋体" charset="-122"/>
            </a:endParaRPr>
          </a:p>
        </p:txBody>
      </p:sp>
      <p:sp>
        <p:nvSpPr>
          <p:cNvPr id="7" name="矩形 6">
            <a:extLst>
              <a:ext uri="{FF2B5EF4-FFF2-40B4-BE49-F238E27FC236}">
                <a16:creationId xmlns:a16="http://schemas.microsoft.com/office/drawing/2014/main" id="{8E204073-DFD7-CA97-2783-0ACA18058291}"/>
              </a:ext>
            </a:extLst>
          </p:cNvPr>
          <p:cNvSpPr/>
          <p:nvPr/>
        </p:nvSpPr>
        <p:spPr>
          <a:xfrm>
            <a:off x="1143000" y="1457325"/>
            <a:ext cx="5643563" cy="400050"/>
          </a:xfrm>
          <a:prstGeom prst="rect">
            <a:avLst/>
          </a:prstGeom>
        </p:spPr>
        <p:txBody>
          <a:bodyPr>
            <a:spAutoFit/>
          </a:bodyPr>
          <a:lstStyle/>
          <a:p>
            <a:pPr>
              <a:defRPr/>
            </a:pPr>
            <a:r>
              <a:rPr lang="zh-CN" altLang="en-US" sz="2000" kern="0" dirty="0">
                <a:solidFill>
                  <a:srgbClr val="000000"/>
                </a:solidFill>
                <a:latin typeface="微软雅黑" pitchFamily="34" charset="-122"/>
                <a:ea typeface="微软雅黑" pitchFamily="34" charset="-122"/>
              </a:rPr>
              <a:t>以直接序列扩谱系统为例。主要捕获方法有：</a:t>
            </a:r>
            <a:endParaRPr lang="zh-CN" altLang="en-US" sz="2000" dirty="0">
              <a:latin typeface="微软雅黑" pitchFamily="34" charset="-122"/>
              <a:ea typeface="微软雅黑" pitchFamily="34" charset="-122"/>
            </a:endParaRPr>
          </a:p>
        </p:txBody>
      </p:sp>
      <p:sp>
        <p:nvSpPr>
          <p:cNvPr id="8" name="矩形 7">
            <a:extLst>
              <a:ext uri="{FF2B5EF4-FFF2-40B4-BE49-F238E27FC236}">
                <a16:creationId xmlns:a16="http://schemas.microsoft.com/office/drawing/2014/main" id="{040972E3-1F06-E513-1A83-562A9BAA0A2B}"/>
              </a:ext>
            </a:extLst>
          </p:cNvPr>
          <p:cNvSpPr/>
          <p:nvPr/>
        </p:nvSpPr>
        <p:spPr>
          <a:xfrm>
            <a:off x="3125788" y="2500313"/>
            <a:ext cx="4375150" cy="461962"/>
          </a:xfrm>
          <a:prstGeom prst="rect">
            <a:avLst/>
          </a:prstGeom>
        </p:spPr>
        <p:txBody>
          <a:bodyPr>
            <a:spAutoFit/>
          </a:bodyPr>
          <a:lstStyle/>
          <a:p>
            <a:pPr marL="228600" indent="-228600" eaLnBrk="0" hangingPunct="0">
              <a:spcBef>
                <a:spcPct val="20000"/>
              </a:spcBef>
              <a:buClr>
                <a:srgbClr val="FFCF01"/>
              </a:buClr>
              <a:buSzPct val="55000"/>
              <a:defRPr/>
            </a:pPr>
            <a:r>
              <a:rPr lang="zh-CN" altLang="en-US" sz="2400" kern="0" dirty="0">
                <a:solidFill>
                  <a:srgbClr val="000000"/>
                </a:solidFill>
                <a:ea typeface="宋体" charset="-122"/>
              </a:rPr>
              <a:t>串行搜索法</a:t>
            </a:r>
          </a:p>
        </p:txBody>
      </p:sp>
      <p:sp>
        <p:nvSpPr>
          <p:cNvPr id="34" name="矩形 33">
            <a:extLst>
              <a:ext uri="{FF2B5EF4-FFF2-40B4-BE49-F238E27FC236}">
                <a16:creationId xmlns:a16="http://schemas.microsoft.com/office/drawing/2014/main" id="{03074DF7-D80A-7E78-F8C1-1954047C62B4}"/>
              </a:ext>
            </a:extLst>
          </p:cNvPr>
          <p:cNvSpPr/>
          <p:nvPr/>
        </p:nvSpPr>
        <p:spPr>
          <a:xfrm>
            <a:off x="3143250" y="3109913"/>
            <a:ext cx="2500313" cy="461962"/>
          </a:xfrm>
          <a:prstGeom prst="rect">
            <a:avLst/>
          </a:prstGeom>
        </p:spPr>
        <p:txBody>
          <a:bodyPr>
            <a:spAutoFit/>
          </a:bodyPr>
          <a:lstStyle/>
          <a:p>
            <a:pPr marL="228600" lvl="3" indent="-228600" eaLnBrk="0" hangingPunct="0">
              <a:spcBef>
                <a:spcPct val="20000"/>
              </a:spcBef>
              <a:buClr>
                <a:srgbClr val="FFCF01"/>
              </a:buClr>
              <a:buSzPct val="55000"/>
              <a:defRPr/>
            </a:pPr>
            <a:r>
              <a:rPr lang="zh-CN" altLang="en-US" sz="2400" kern="0" dirty="0">
                <a:solidFill>
                  <a:srgbClr val="000000"/>
                </a:solidFill>
                <a:ea typeface="宋体" charset="-122"/>
              </a:rPr>
              <a:t>并行搜索法</a:t>
            </a:r>
          </a:p>
        </p:txBody>
      </p:sp>
      <p:sp>
        <p:nvSpPr>
          <p:cNvPr id="88070" name="矩形 34">
            <a:extLst>
              <a:ext uri="{FF2B5EF4-FFF2-40B4-BE49-F238E27FC236}">
                <a16:creationId xmlns:a16="http://schemas.microsoft.com/office/drawing/2014/main" id="{F2895842-B8D5-9A1E-3364-7FC2EAA1CA9B}"/>
              </a:ext>
            </a:extLst>
          </p:cNvPr>
          <p:cNvSpPr>
            <a:spLocks noChangeArrowheads="1"/>
          </p:cNvSpPr>
          <p:nvPr/>
        </p:nvSpPr>
        <p:spPr bwMode="auto">
          <a:xfrm>
            <a:off x="3143250" y="3709988"/>
            <a:ext cx="2041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zh-CN" altLang="en-US" sz="2400">
                <a:solidFill>
                  <a:srgbClr val="000000"/>
                </a:solidFill>
              </a:rPr>
              <a:t>前置同步码法</a:t>
            </a:r>
            <a:endParaRPr lang="zh-CN" altLang="en-US" sz="2400"/>
          </a:p>
        </p:txBody>
      </p:sp>
      <p:sp>
        <p:nvSpPr>
          <p:cNvPr id="36" name="AutoShape 11">
            <a:extLst>
              <a:ext uri="{FF2B5EF4-FFF2-40B4-BE49-F238E27FC236}">
                <a16:creationId xmlns:a16="http://schemas.microsoft.com/office/drawing/2014/main" id="{FE5B055B-FCF2-8021-2040-93AAD3DE0750}"/>
              </a:ext>
            </a:extLst>
          </p:cNvPr>
          <p:cNvSpPr>
            <a:spLocks/>
          </p:cNvSpPr>
          <p:nvPr/>
        </p:nvSpPr>
        <p:spPr bwMode="auto">
          <a:xfrm>
            <a:off x="2928938" y="2752725"/>
            <a:ext cx="285750" cy="1214438"/>
          </a:xfrm>
          <a:prstGeom prst="leftBrace">
            <a:avLst>
              <a:gd name="adj1" fmla="val 27192"/>
              <a:gd name="adj2" fmla="val 50000"/>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sz="24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10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1000"/>
                                        <p:tgtEl>
                                          <p:spTgt spid="7"/>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up)">
                                      <p:cBhvr>
                                        <p:cTn id="16" dur="1000"/>
                                        <p:tgtEl>
                                          <p:spTgt spid="8"/>
                                        </p:tgtEl>
                                      </p:cBhvr>
                                    </p:animEffect>
                                  </p:childTnLst>
                                </p:cTn>
                              </p:par>
                            </p:childTnLst>
                          </p:cTn>
                        </p:par>
                        <p:par>
                          <p:cTn id="17" fill="hold" nodeType="afterGroup">
                            <p:stCondLst>
                              <p:cond delay="2000"/>
                            </p:stCondLst>
                            <p:childTnLst>
                              <p:par>
                                <p:cTn id="18" presetID="22" presetClass="entr" presetSubtype="1" fill="hold" nodeType="after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wipe(up)">
                                      <p:cBhvr>
                                        <p:cTn id="20" dur="1000"/>
                                        <p:tgtEl>
                                          <p:spTgt spid="34"/>
                                        </p:tgtEl>
                                      </p:cBhvr>
                                    </p:animEffect>
                                  </p:childTnLst>
                                </p:cTn>
                              </p:par>
                            </p:childTnLst>
                          </p:cTn>
                        </p:par>
                        <p:par>
                          <p:cTn id="21" fill="hold" nodeType="afterGroup">
                            <p:stCondLst>
                              <p:cond delay="3000"/>
                            </p:stCondLst>
                            <p:childTnLst>
                              <p:par>
                                <p:cTn id="22" presetID="22" presetClass="entr" presetSubtype="1" fill="hold" nodeType="afterEffect">
                                  <p:stCondLst>
                                    <p:cond delay="0"/>
                                  </p:stCondLst>
                                  <p:childTnLst>
                                    <p:set>
                                      <p:cBhvr>
                                        <p:cTn id="23" dur="1" fill="hold">
                                          <p:stCondLst>
                                            <p:cond delay="0"/>
                                          </p:stCondLst>
                                        </p:cTn>
                                        <p:tgtEl>
                                          <p:spTgt spid="88070"/>
                                        </p:tgtEl>
                                        <p:attrNameLst>
                                          <p:attrName>style.visibility</p:attrName>
                                        </p:attrNameLst>
                                      </p:cBhvr>
                                      <p:to>
                                        <p:strVal val="visible"/>
                                      </p:to>
                                    </p:set>
                                    <p:animEffect transition="in" filter="wipe(up)">
                                      <p:cBhvr>
                                        <p:cTn id="24" dur="1000"/>
                                        <p:tgtEl>
                                          <p:spTgt spid="88070"/>
                                        </p:tgtEl>
                                      </p:cBhvr>
                                    </p:animEffect>
                                  </p:childTnLst>
                                </p:cTn>
                              </p:par>
                            </p:childTnLst>
                          </p:cTn>
                        </p:par>
                        <p:par>
                          <p:cTn id="25" fill="hold" nodeType="afterGroup">
                            <p:stCondLst>
                              <p:cond delay="4000"/>
                            </p:stCondLst>
                            <p:childTnLst>
                              <p:par>
                                <p:cTn id="26" presetID="22" presetClass="entr" presetSubtype="1" fill="hold" nodeType="after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wipe(up)">
                                      <p:cBhvr>
                                        <p:cTn id="28" dur="1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34" grpId="0"/>
      <p:bldP spid="88070" grpId="0"/>
      <p:bldP spid="36"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B25239E9-D642-966C-C85E-07617A05D1A8}"/>
              </a:ext>
            </a:extLst>
          </p:cNvPr>
          <p:cNvSpPr/>
          <p:nvPr/>
        </p:nvSpPr>
        <p:spPr>
          <a:xfrm>
            <a:off x="714375" y="1071563"/>
            <a:ext cx="4375150" cy="523875"/>
          </a:xfrm>
          <a:prstGeom prst="rect">
            <a:avLst/>
          </a:prstGeom>
        </p:spPr>
        <p:txBody>
          <a:bodyPr>
            <a:spAutoFit/>
          </a:bodyPr>
          <a:lstStyle/>
          <a:p>
            <a:pPr marL="228600" indent="-228600" eaLnBrk="0" hangingPunct="0">
              <a:spcBef>
                <a:spcPct val="20000"/>
              </a:spcBef>
              <a:buClr>
                <a:srgbClr val="FFCF01"/>
              </a:buClr>
              <a:buSzPct val="55000"/>
              <a:defRPr/>
            </a:pPr>
            <a:r>
              <a:rPr lang="en-US" altLang="zh-CN" sz="2800" b="1" kern="0" dirty="0">
                <a:solidFill>
                  <a:srgbClr val="990099"/>
                </a:solidFill>
                <a:latin typeface="黑体" pitchFamily="2" charset="-122"/>
                <a:ea typeface="黑体" pitchFamily="2" charset="-122"/>
              </a:rPr>
              <a:t>1</a:t>
            </a:r>
            <a:r>
              <a:rPr lang="zh-CN" altLang="en-US" sz="2800" b="1" kern="0" dirty="0">
                <a:solidFill>
                  <a:srgbClr val="990099"/>
                </a:solidFill>
                <a:latin typeface="黑体" pitchFamily="2" charset="-122"/>
                <a:ea typeface="黑体" pitchFamily="2" charset="-122"/>
              </a:rPr>
              <a:t>）串行搜索法</a:t>
            </a:r>
          </a:p>
        </p:txBody>
      </p:sp>
      <p:grpSp>
        <p:nvGrpSpPr>
          <p:cNvPr id="2" name="Group 30">
            <a:extLst>
              <a:ext uri="{FF2B5EF4-FFF2-40B4-BE49-F238E27FC236}">
                <a16:creationId xmlns:a16="http://schemas.microsoft.com/office/drawing/2014/main" id="{C605C8ED-1FE9-9EDF-1945-2FC5DB85F85D}"/>
              </a:ext>
            </a:extLst>
          </p:cNvPr>
          <p:cNvGrpSpPr>
            <a:grpSpLocks/>
          </p:cNvGrpSpPr>
          <p:nvPr/>
        </p:nvGrpSpPr>
        <p:grpSpPr bwMode="auto">
          <a:xfrm>
            <a:off x="1428750" y="1785938"/>
            <a:ext cx="6699250" cy="3741737"/>
            <a:chOff x="1718" y="1990"/>
            <a:chExt cx="3685" cy="1937"/>
          </a:xfrm>
        </p:grpSpPr>
        <p:sp>
          <p:nvSpPr>
            <p:cNvPr id="74758" name="AutoShape 5">
              <a:extLst>
                <a:ext uri="{FF2B5EF4-FFF2-40B4-BE49-F238E27FC236}">
                  <a16:creationId xmlns:a16="http://schemas.microsoft.com/office/drawing/2014/main" id="{7D42F686-1972-7CA4-A16B-CD547FA0DF9D}"/>
                </a:ext>
              </a:extLst>
            </p:cNvPr>
            <p:cNvSpPr>
              <a:spLocks noChangeAspect="1" noChangeArrowheads="1"/>
            </p:cNvSpPr>
            <p:nvPr/>
          </p:nvSpPr>
          <p:spPr bwMode="auto">
            <a:xfrm>
              <a:off x="1718" y="1990"/>
              <a:ext cx="3685" cy="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sp>
          <p:nvSpPr>
            <p:cNvPr id="74759" name="AutoShape 6">
              <a:extLst>
                <a:ext uri="{FF2B5EF4-FFF2-40B4-BE49-F238E27FC236}">
                  <a16:creationId xmlns:a16="http://schemas.microsoft.com/office/drawing/2014/main" id="{B6CE72B4-136D-8B5D-F161-9718D760179E}"/>
                </a:ext>
              </a:extLst>
            </p:cNvPr>
            <p:cNvSpPr>
              <a:spLocks noChangeArrowheads="1"/>
            </p:cNvSpPr>
            <p:nvPr/>
          </p:nvSpPr>
          <p:spPr bwMode="auto">
            <a:xfrm>
              <a:off x="2402" y="2260"/>
              <a:ext cx="247" cy="228"/>
            </a:xfrm>
            <a:prstGeom prst="flowChartSummingJunction">
              <a:avLst/>
            </a:prstGeom>
            <a:solidFill>
              <a:srgbClr val="FFFFFF"/>
            </a:solidFill>
            <a:ln w="9525">
              <a:solidFill>
                <a:srgbClr val="000000"/>
              </a:solidFill>
              <a:round/>
              <a:headEnd/>
              <a:tailE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sp>
          <p:nvSpPr>
            <p:cNvPr id="74760" name="Line 7">
              <a:extLst>
                <a:ext uri="{FF2B5EF4-FFF2-40B4-BE49-F238E27FC236}">
                  <a16:creationId xmlns:a16="http://schemas.microsoft.com/office/drawing/2014/main" id="{7C120B09-9F3B-6618-B0EE-5D288AA65738}"/>
                </a:ext>
              </a:extLst>
            </p:cNvPr>
            <p:cNvSpPr>
              <a:spLocks noChangeShapeType="1"/>
            </p:cNvSpPr>
            <p:nvPr/>
          </p:nvSpPr>
          <p:spPr bwMode="auto">
            <a:xfrm>
              <a:off x="2110" y="2379"/>
              <a:ext cx="292"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61" name="Text Box 8">
              <a:extLst>
                <a:ext uri="{FF2B5EF4-FFF2-40B4-BE49-F238E27FC236}">
                  <a16:creationId xmlns:a16="http://schemas.microsoft.com/office/drawing/2014/main" id="{3C01A6AC-B0B2-1A63-1DC2-038EF4C9AB0B}"/>
                </a:ext>
              </a:extLst>
            </p:cNvPr>
            <p:cNvSpPr txBox="1">
              <a:spLocks noChangeArrowheads="1"/>
            </p:cNvSpPr>
            <p:nvPr/>
          </p:nvSpPr>
          <p:spPr bwMode="auto">
            <a:xfrm>
              <a:off x="1735" y="2215"/>
              <a:ext cx="648"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zh-CN" altLang="en-US">
                  <a:latin typeface="微软雅黑" panose="020B0503020204020204" pitchFamily="34" charset="-122"/>
                  <a:ea typeface="微软雅黑" panose="020B0503020204020204" pitchFamily="34" charset="-122"/>
                </a:rPr>
                <a:t>接收信号</a:t>
              </a:r>
            </a:p>
          </p:txBody>
        </p:sp>
        <p:sp>
          <p:nvSpPr>
            <p:cNvPr id="74762" name="AutoShape 9">
              <a:extLst>
                <a:ext uri="{FF2B5EF4-FFF2-40B4-BE49-F238E27FC236}">
                  <a16:creationId xmlns:a16="http://schemas.microsoft.com/office/drawing/2014/main" id="{9D0EE3F7-9F59-2A61-BB4A-AD346978DDB3}"/>
                </a:ext>
              </a:extLst>
            </p:cNvPr>
            <p:cNvSpPr>
              <a:spLocks noChangeArrowheads="1"/>
            </p:cNvSpPr>
            <p:nvPr/>
          </p:nvSpPr>
          <p:spPr bwMode="auto">
            <a:xfrm>
              <a:off x="2401" y="2773"/>
              <a:ext cx="247" cy="228"/>
            </a:xfrm>
            <a:prstGeom prst="flowChartSummingJunction">
              <a:avLst/>
            </a:prstGeom>
            <a:solidFill>
              <a:srgbClr val="FFFFFF"/>
            </a:solidFill>
            <a:ln w="9525">
              <a:solidFill>
                <a:srgbClr val="000000"/>
              </a:solidFill>
              <a:round/>
              <a:headEnd/>
              <a:tailE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sp>
          <p:nvSpPr>
            <p:cNvPr id="74763" name="Line 10">
              <a:extLst>
                <a:ext uri="{FF2B5EF4-FFF2-40B4-BE49-F238E27FC236}">
                  <a16:creationId xmlns:a16="http://schemas.microsoft.com/office/drawing/2014/main" id="{D2290AC4-2F09-B825-D8E2-068E340D5238}"/>
                </a:ext>
              </a:extLst>
            </p:cNvPr>
            <p:cNvSpPr>
              <a:spLocks noChangeShapeType="1"/>
            </p:cNvSpPr>
            <p:nvPr/>
          </p:nvSpPr>
          <p:spPr bwMode="auto">
            <a:xfrm>
              <a:off x="2529" y="2488"/>
              <a:ext cx="1" cy="292"/>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74764" name="Text Box 11">
              <a:extLst>
                <a:ext uri="{FF2B5EF4-FFF2-40B4-BE49-F238E27FC236}">
                  <a16:creationId xmlns:a16="http://schemas.microsoft.com/office/drawing/2014/main" id="{09A57722-64D1-6A7B-79C9-783EE5C5E181}"/>
                </a:ext>
              </a:extLst>
            </p:cNvPr>
            <p:cNvSpPr txBox="1">
              <a:spLocks noChangeArrowheads="1"/>
            </p:cNvSpPr>
            <p:nvPr/>
          </p:nvSpPr>
          <p:spPr bwMode="auto">
            <a:xfrm>
              <a:off x="2202" y="3273"/>
              <a:ext cx="649" cy="267"/>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lnSpc>
                  <a:spcPct val="150000"/>
                </a:lnSpc>
              </a:pPr>
              <a:r>
                <a:rPr lang="zh-CN" altLang="en-US">
                  <a:latin typeface="微软雅黑" panose="020B0503020204020204" pitchFamily="34" charset="-122"/>
                  <a:ea typeface="微软雅黑" panose="020B0503020204020204" pitchFamily="34" charset="-122"/>
                </a:rPr>
                <a:t>本地振荡</a:t>
              </a:r>
            </a:p>
          </p:txBody>
        </p:sp>
        <p:sp>
          <p:nvSpPr>
            <p:cNvPr id="74765" name="Text Box 13">
              <a:extLst>
                <a:ext uri="{FF2B5EF4-FFF2-40B4-BE49-F238E27FC236}">
                  <a16:creationId xmlns:a16="http://schemas.microsoft.com/office/drawing/2014/main" id="{5B7CDE13-7D8A-18AB-8A2F-D3A247707F4B}"/>
                </a:ext>
              </a:extLst>
            </p:cNvPr>
            <p:cNvSpPr txBox="1">
              <a:spLocks noChangeArrowheads="1"/>
            </p:cNvSpPr>
            <p:nvPr/>
          </p:nvSpPr>
          <p:spPr bwMode="auto">
            <a:xfrm>
              <a:off x="2922" y="2753"/>
              <a:ext cx="649" cy="268"/>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lnSpc>
                  <a:spcPct val="150000"/>
                </a:lnSpc>
              </a:pPr>
              <a:r>
                <a:rPr lang="zh-CN" altLang="en-US">
                  <a:latin typeface="微软雅黑" panose="020B0503020204020204" pitchFamily="34" charset="-122"/>
                  <a:ea typeface="微软雅黑" panose="020B0503020204020204" pitchFamily="34" charset="-122"/>
                </a:rPr>
                <a:t>伪码产生</a:t>
              </a:r>
            </a:p>
          </p:txBody>
        </p:sp>
        <p:sp>
          <p:nvSpPr>
            <p:cNvPr id="74766" name="Line 14">
              <a:extLst>
                <a:ext uri="{FF2B5EF4-FFF2-40B4-BE49-F238E27FC236}">
                  <a16:creationId xmlns:a16="http://schemas.microsoft.com/office/drawing/2014/main" id="{F19C0BEB-1BE0-A1C7-B6B0-51274B043FE5}"/>
                </a:ext>
              </a:extLst>
            </p:cNvPr>
            <p:cNvSpPr>
              <a:spLocks noChangeShapeType="1"/>
            </p:cNvSpPr>
            <p:nvPr/>
          </p:nvSpPr>
          <p:spPr bwMode="auto">
            <a:xfrm>
              <a:off x="2657" y="2887"/>
              <a:ext cx="256" cy="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nvGrpSpPr>
            <p:cNvPr id="74767" name="Group 15">
              <a:extLst>
                <a:ext uri="{FF2B5EF4-FFF2-40B4-BE49-F238E27FC236}">
                  <a16:creationId xmlns:a16="http://schemas.microsoft.com/office/drawing/2014/main" id="{6AC4DA8F-7617-165E-E7F3-18A98EB520E7}"/>
                </a:ext>
              </a:extLst>
            </p:cNvPr>
            <p:cNvGrpSpPr>
              <a:grpSpLocks/>
            </p:cNvGrpSpPr>
            <p:nvPr/>
          </p:nvGrpSpPr>
          <p:grpSpPr bwMode="auto">
            <a:xfrm>
              <a:off x="2666" y="2233"/>
              <a:ext cx="905" cy="267"/>
              <a:chOff x="3836" y="8969"/>
              <a:chExt cx="1289" cy="381"/>
            </a:xfrm>
          </p:grpSpPr>
          <p:sp>
            <p:nvSpPr>
              <p:cNvPr id="74780" name="Text Box 16">
                <a:extLst>
                  <a:ext uri="{FF2B5EF4-FFF2-40B4-BE49-F238E27FC236}">
                    <a16:creationId xmlns:a16="http://schemas.microsoft.com/office/drawing/2014/main" id="{AD62AE3A-47D5-9E00-DD5C-8BD40123A7DF}"/>
                  </a:ext>
                </a:extLst>
              </p:cNvPr>
              <p:cNvSpPr txBox="1">
                <a:spLocks noChangeArrowheads="1"/>
              </p:cNvSpPr>
              <p:nvPr/>
            </p:nvSpPr>
            <p:spPr bwMode="auto">
              <a:xfrm>
                <a:off x="4201" y="8969"/>
                <a:ext cx="924" cy="381"/>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lnSpc>
                    <a:spcPct val="150000"/>
                  </a:lnSpc>
                </a:pPr>
                <a:r>
                  <a:rPr lang="zh-CN" altLang="en-US">
                    <a:latin typeface="微软雅黑" panose="020B0503020204020204" pitchFamily="34" charset="-122"/>
                    <a:ea typeface="微软雅黑" panose="020B0503020204020204" pitchFamily="34" charset="-122"/>
                  </a:rPr>
                  <a:t>中频放大</a:t>
                </a:r>
              </a:p>
            </p:txBody>
          </p:sp>
          <p:sp>
            <p:nvSpPr>
              <p:cNvPr id="74781" name="Line 17">
                <a:extLst>
                  <a:ext uri="{FF2B5EF4-FFF2-40B4-BE49-F238E27FC236}">
                    <a16:creationId xmlns:a16="http://schemas.microsoft.com/office/drawing/2014/main" id="{BCC61C8A-2D62-CB12-3E08-A549FAE2A439}"/>
                  </a:ext>
                </a:extLst>
              </p:cNvPr>
              <p:cNvSpPr>
                <a:spLocks noChangeShapeType="1"/>
              </p:cNvSpPr>
              <p:nvPr/>
            </p:nvSpPr>
            <p:spPr bwMode="auto">
              <a:xfrm>
                <a:off x="3836" y="9164"/>
                <a:ext cx="365"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4768" name="Group 18">
              <a:extLst>
                <a:ext uri="{FF2B5EF4-FFF2-40B4-BE49-F238E27FC236}">
                  <a16:creationId xmlns:a16="http://schemas.microsoft.com/office/drawing/2014/main" id="{16EAF65C-3A03-30FE-0109-65E653264622}"/>
                </a:ext>
              </a:extLst>
            </p:cNvPr>
            <p:cNvGrpSpPr>
              <a:grpSpLocks/>
            </p:cNvGrpSpPr>
            <p:nvPr/>
          </p:nvGrpSpPr>
          <p:grpSpPr bwMode="auto">
            <a:xfrm>
              <a:off x="3589" y="2233"/>
              <a:ext cx="905" cy="267"/>
              <a:chOff x="3836" y="8969"/>
              <a:chExt cx="1289" cy="381"/>
            </a:xfrm>
          </p:grpSpPr>
          <p:sp>
            <p:nvSpPr>
              <p:cNvPr id="74778" name="Text Box 19">
                <a:extLst>
                  <a:ext uri="{FF2B5EF4-FFF2-40B4-BE49-F238E27FC236}">
                    <a16:creationId xmlns:a16="http://schemas.microsoft.com/office/drawing/2014/main" id="{CE254780-E609-A2CC-73F3-4DBDC0659273}"/>
                  </a:ext>
                </a:extLst>
              </p:cNvPr>
              <p:cNvSpPr txBox="1">
                <a:spLocks noChangeArrowheads="1"/>
              </p:cNvSpPr>
              <p:nvPr/>
            </p:nvSpPr>
            <p:spPr bwMode="auto">
              <a:xfrm>
                <a:off x="4201" y="8969"/>
                <a:ext cx="924" cy="381"/>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lnSpc>
                    <a:spcPct val="150000"/>
                  </a:lnSpc>
                </a:pPr>
                <a:r>
                  <a:rPr lang="zh-CN" altLang="en-US">
                    <a:latin typeface="微软雅黑" panose="020B0503020204020204" pitchFamily="34" charset="-122"/>
                    <a:ea typeface="微软雅黑" panose="020B0503020204020204" pitchFamily="34" charset="-122"/>
                  </a:rPr>
                  <a:t>解 调</a:t>
                </a:r>
              </a:p>
            </p:txBody>
          </p:sp>
          <p:sp>
            <p:nvSpPr>
              <p:cNvPr id="74779" name="Line 20">
                <a:extLst>
                  <a:ext uri="{FF2B5EF4-FFF2-40B4-BE49-F238E27FC236}">
                    <a16:creationId xmlns:a16="http://schemas.microsoft.com/office/drawing/2014/main" id="{04FF0CDE-3F9A-C504-9F23-024B4BA0327B}"/>
                  </a:ext>
                </a:extLst>
              </p:cNvPr>
              <p:cNvSpPr>
                <a:spLocks noChangeShapeType="1"/>
              </p:cNvSpPr>
              <p:nvPr/>
            </p:nvSpPr>
            <p:spPr bwMode="auto">
              <a:xfrm>
                <a:off x="3836" y="9164"/>
                <a:ext cx="365"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4769" name="Line 21">
              <a:extLst>
                <a:ext uri="{FF2B5EF4-FFF2-40B4-BE49-F238E27FC236}">
                  <a16:creationId xmlns:a16="http://schemas.microsoft.com/office/drawing/2014/main" id="{16A7853A-232C-51D7-DA67-324F79105A44}"/>
                </a:ext>
              </a:extLst>
            </p:cNvPr>
            <p:cNvSpPr>
              <a:spLocks noChangeShapeType="1"/>
            </p:cNvSpPr>
            <p:nvPr/>
          </p:nvSpPr>
          <p:spPr bwMode="auto">
            <a:xfrm>
              <a:off x="4509" y="2370"/>
              <a:ext cx="25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70" name="Text Box 22">
              <a:extLst>
                <a:ext uri="{FF2B5EF4-FFF2-40B4-BE49-F238E27FC236}">
                  <a16:creationId xmlns:a16="http://schemas.microsoft.com/office/drawing/2014/main" id="{F6426ABC-A65B-15B7-2760-3F5AFBC5ECF0}"/>
                </a:ext>
              </a:extLst>
            </p:cNvPr>
            <p:cNvSpPr txBox="1">
              <a:spLocks noChangeArrowheads="1"/>
            </p:cNvSpPr>
            <p:nvPr/>
          </p:nvSpPr>
          <p:spPr bwMode="auto">
            <a:xfrm>
              <a:off x="4719" y="2278"/>
              <a:ext cx="648"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zh-CN" altLang="en-US">
                  <a:latin typeface="微软雅黑" panose="020B0503020204020204" pitchFamily="34" charset="-122"/>
                  <a:ea typeface="微软雅黑" panose="020B0503020204020204" pitchFamily="34" charset="-122"/>
                </a:rPr>
                <a:t>信码输出</a:t>
              </a:r>
            </a:p>
          </p:txBody>
        </p:sp>
        <p:sp>
          <p:nvSpPr>
            <p:cNvPr id="74771" name="Text Box 23">
              <a:extLst>
                <a:ext uri="{FF2B5EF4-FFF2-40B4-BE49-F238E27FC236}">
                  <a16:creationId xmlns:a16="http://schemas.microsoft.com/office/drawing/2014/main" id="{7B016264-573B-0292-EBF4-F41B19EB962C}"/>
                </a:ext>
              </a:extLst>
            </p:cNvPr>
            <p:cNvSpPr txBox="1">
              <a:spLocks noChangeArrowheads="1"/>
            </p:cNvSpPr>
            <p:nvPr/>
          </p:nvSpPr>
          <p:spPr bwMode="auto">
            <a:xfrm>
              <a:off x="2932" y="3273"/>
              <a:ext cx="648" cy="268"/>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lnSpc>
                  <a:spcPct val="150000"/>
                </a:lnSpc>
              </a:pPr>
              <a:r>
                <a:rPr lang="zh-CN" altLang="en-US">
                  <a:latin typeface="微软雅黑" panose="020B0503020204020204" pitchFamily="34" charset="-122"/>
                  <a:ea typeface="微软雅黑" panose="020B0503020204020204" pitchFamily="34" charset="-122"/>
                </a:rPr>
                <a:t>时 钟</a:t>
              </a:r>
            </a:p>
          </p:txBody>
        </p:sp>
        <p:sp>
          <p:nvSpPr>
            <p:cNvPr id="74772" name="Text Box 25">
              <a:extLst>
                <a:ext uri="{FF2B5EF4-FFF2-40B4-BE49-F238E27FC236}">
                  <a16:creationId xmlns:a16="http://schemas.microsoft.com/office/drawing/2014/main" id="{9BE0C5E6-3DE1-7290-2923-4ADC836156AC}"/>
                </a:ext>
              </a:extLst>
            </p:cNvPr>
            <p:cNvSpPr txBox="1">
              <a:spLocks noChangeArrowheads="1"/>
            </p:cNvSpPr>
            <p:nvPr/>
          </p:nvSpPr>
          <p:spPr bwMode="auto">
            <a:xfrm>
              <a:off x="3855" y="2753"/>
              <a:ext cx="648" cy="268"/>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lnSpc>
                  <a:spcPct val="150000"/>
                </a:lnSpc>
              </a:pPr>
              <a:r>
                <a:rPr lang="zh-CN" altLang="en-US">
                  <a:latin typeface="微软雅黑" panose="020B0503020204020204" pitchFamily="34" charset="-122"/>
                  <a:ea typeface="微软雅黑" panose="020B0503020204020204" pitchFamily="34" charset="-122"/>
                </a:rPr>
                <a:t>搜索控制</a:t>
              </a:r>
            </a:p>
          </p:txBody>
        </p:sp>
        <p:sp>
          <p:nvSpPr>
            <p:cNvPr id="74773" name="Line 26">
              <a:extLst>
                <a:ext uri="{FF2B5EF4-FFF2-40B4-BE49-F238E27FC236}">
                  <a16:creationId xmlns:a16="http://schemas.microsoft.com/office/drawing/2014/main" id="{9AF83B64-E487-EB82-3647-4A1E797CE53F}"/>
                </a:ext>
              </a:extLst>
            </p:cNvPr>
            <p:cNvSpPr>
              <a:spLocks noChangeShapeType="1"/>
            </p:cNvSpPr>
            <p:nvPr/>
          </p:nvSpPr>
          <p:spPr bwMode="auto">
            <a:xfrm>
              <a:off x="3589" y="2886"/>
              <a:ext cx="256" cy="1"/>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74774" name="Line 27">
              <a:extLst>
                <a:ext uri="{FF2B5EF4-FFF2-40B4-BE49-F238E27FC236}">
                  <a16:creationId xmlns:a16="http://schemas.microsoft.com/office/drawing/2014/main" id="{AD8D14F0-E77D-4927-F9F4-9C7B084CB476}"/>
                </a:ext>
              </a:extLst>
            </p:cNvPr>
            <p:cNvSpPr>
              <a:spLocks noChangeShapeType="1"/>
            </p:cNvSpPr>
            <p:nvPr/>
          </p:nvSpPr>
          <p:spPr bwMode="auto">
            <a:xfrm>
              <a:off x="4182" y="2497"/>
              <a:ext cx="1" cy="26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75" name="Text Box 29">
              <a:extLst>
                <a:ext uri="{FF2B5EF4-FFF2-40B4-BE49-F238E27FC236}">
                  <a16:creationId xmlns:a16="http://schemas.microsoft.com/office/drawing/2014/main" id="{11B930E4-0215-C37F-B4B6-466AA00E37C8}"/>
                </a:ext>
              </a:extLst>
            </p:cNvPr>
            <p:cNvSpPr txBox="1">
              <a:spLocks noChangeArrowheads="1"/>
            </p:cNvSpPr>
            <p:nvPr/>
          </p:nvSpPr>
          <p:spPr bwMode="auto">
            <a:xfrm>
              <a:off x="2346" y="2092"/>
              <a:ext cx="375"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zh-CN" altLang="en-US">
                  <a:latin typeface="微软雅黑" panose="020B0503020204020204" pitchFamily="34" charset="-122"/>
                  <a:ea typeface="微软雅黑" panose="020B0503020204020204" pitchFamily="34" charset="-122"/>
                </a:rPr>
                <a:t>混频</a:t>
              </a:r>
            </a:p>
          </p:txBody>
        </p:sp>
        <p:sp>
          <p:nvSpPr>
            <p:cNvPr id="74776" name="Line 12">
              <a:extLst>
                <a:ext uri="{FF2B5EF4-FFF2-40B4-BE49-F238E27FC236}">
                  <a16:creationId xmlns:a16="http://schemas.microsoft.com/office/drawing/2014/main" id="{C7937596-1142-5376-4927-2E6CCB594692}"/>
                </a:ext>
              </a:extLst>
            </p:cNvPr>
            <p:cNvSpPr>
              <a:spLocks noChangeShapeType="1"/>
            </p:cNvSpPr>
            <p:nvPr/>
          </p:nvSpPr>
          <p:spPr bwMode="auto">
            <a:xfrm>
              <a:off x="3250" y="3019"/>
              <a:ext cx="1" cy="265"/>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74777" name="Line 12">
              <a:extLst>
                <a:ext uri="{FF2B5EF4-FFF2-40B4-BE49-F238E27FC236}">
                  <a16:creationId xmlns:a16="http://schemas.microsoft.com/office/drawing/2014/main" id="{A6451124-F3CC-26BD-82FC-4AF834EBA44C}"/>
                </a:ext>
              </a:extLst>
            </p:cNvPr>
            <p:cNvSpPr>
              <a:spLocks noChangeShapeType="1"/>
            </p:cNvSpPr>
            <p:nvPr/>
          </p:nvSpPr>
          <p:spPr bwMode="auto">
            <a:xfrm>
              <a:off x="2528" y="3003"/>
              <a:ext cx="1" cy="265"/>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sp>
        <p:nvSpPr>
          <p:cNvPr id="89092" name="矩形 40">
            <a:extLst>
              <a:ext uri="{FF2B5EF4-FFF2-40B4-BE49-F238E27FC236}">
                <a16:creationId xmlns:a16="http://schemas.microsoft.com/office/drawing/2014/main" id="{ABAEF854-316D-9C30-C10E-FA691720DA89}"/>
              </a:ext>
            </a:extLst>
          </p:cNvPr>
          <p:cNvSpPr>
            <a:spLocks noChangeArrowheads="1"/>
          </p:cNvSpPr>
          <p:nvPr/>
        </p:nvSpPr>
        <p:spPr bwMode="auto">
          <a:xfrm>
            <a:off x="1285875" y="5286375"/>
            <a:ext cx="72866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zh-CN" altLang="en-US" sz="2000" b="1">
                <a:solidFill>
                  <a:srgbClr val="003399"/>
                </a:solidFill>
                <a:latin typeface="微软雅黑" panose="020B0503020204020204" pitchFamily="34" charset="-122"/>
                <a:ea typeface="微软雅黑" panose="020B0503020204020204" pitchFamily="34" charset="-122"/>
              </a:rPr>
              <a:t>优点</a:t>
            </a:r>
            <a:r>
              <a:rPr lang="zh-CN" altLang="en-US" sz="2000">
                <a:latin typeface="微软雅黑" panose="020B0503020204020204" pitchFamily="34" charset="-122"/>
                <a:ea typeface="微软雅黑" panose="020B0503020204020204" pitchFamily="34" charset="-122"/>
              </a:rPr>
              <a:t>：电路和运算简单，</a:t>
            </a:r>
          </a:p>
        </p:txBody>
      </p:sp>
      <p:sp>
        <p:nvSpPr>
          <p:cNvPr id="89093" name="矩形 41">
            <a:extLst>
              <a:ext uri="{FF2B5EF4-FFF2-40B4-BE49-F238E27FC236}">
                <a16:creationId xmlns:a16="http://schemas.microsoft.com/office/drawing/2014/main" id="{9C21652C-FA9F-5DDA-0E02-E6EC3336CB60}"/>
              </a:ext>
            </a:extLst>
          </p:cNvPr>
          <p:cNvSpPr>
            <a:spLocks noChangeArrowheads="1"/>
          </p:cNvSpPr>
          <p:nvPr/>
        </p:nvSpPr>
        <p:spPr bwMode="auto">
          <a:xfrm>
            <a:off x="1285875" y="5815013"/>
            <a:ext cx="6159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zh-CN" altLang="en-US" sz="2000" b="1">
                <a:solidFill>
                  <a:srgbClr val="003399"/>
                </a:solidFill>
                <a:latin typeface="微软雅黑" panose="020B0503020204020204" pitchFamily="34" charset="-122"/>
                <a:ea typeface="微软雅黑" panose="020B0503020204020204" pitchFamily="34" charset="-122"/>
              </a:rPr>
              <a:t>缺点</a:t>
            </a:r>
            <a:r>
              <a:rPr lang="zh-CN" altLang="en-US" sz="2000">
                <a:latin typeface="微软雅黑" panose="020B0503020204020204" pitchFamily="34" charset="-122"/>
                <a:ea typeface="微软雅黑" panose="020B0503020204020204" pitchFamily="34" charset="-122"/>
              </a:rPr>
              <a:t>：当伪码的长度很长时，需要较长的搜索时间。 </a:t>
            </a:r>
            <a:endParaRPr lang="zh-CN" altLang="en-US" sz="20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1000"/>
                                        <p:tgtEl>
                                          <p:spTgt spid="8"/>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20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89092"/>
                                        </p:tgtEl>
                                        <p:attrNameLst>
                                          <p:attrName>style.visibility</p:attrName>
                                        </p:attrNameLst>
                                      </p:cBhvr>
                                      <p:to>
                                        <p:strVal val="visible"/>
                                      </p:to>
                                    </p:set>
                                    <p:animEffect transition="in" filter="wipe(up)">
                                      <p:cBhvr>
                                        <p:cTn id="16" dur="1000"/>
                                        <p:tgtEl>
                                          <p:spTgt spid="8909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89093"/>
                                        </p:tgtEl>
                                        <p:attrNameLst>
                                          <p:attrName>style.visibility</p:attrName>
                                        </p:attrNameLst>
                                      </p:cBhvr>
                                      <p:to>
                                        <p:strVal val="visible"/>
                                      </p:to>
                                    </p:set>
                                    <p:animEffect transition="in" filter="wipe(up)">
                                      <p:cBhvr>
                                        <p:cTn id="21" dur="1000"/>
                                        <p:tgtEl>
                                          <p:spTgt spid="890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9092" grpId="0"/>
      <p:bldP spid="89093"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725DA657-1221-B42F-1940-8815E1953290}"/>
              </a:ext>
            </a:extLst>
          </p:cNvPr>
          <p:cNvSpPr/>
          <p:nvPr/>
        </p:nvSpPr>
        <p:spPr>
          <a:xfrm>
            <a:off x="714375" y="1071563"/>
            <a:ext cx="4375150" cy="523875"/>
          </a:xfrm>
          <a:prstGeom prst="rect">
            <a:avLst/>
          </a:prstGeom>
        </p:spPr>
        <p:txBody>
          <a:bodyPr>
            <a:spAutoFit/>
          </a:bodyPr>
          <a:lstStyle/>
          <a:p>
            <a:pPr marL="228600" indent="-228600" eaLnBrk="0" hangingPunct="0">
              <a:spcBef>
                <a:spcPct val="20000"/>
              </a:spcBef>
              <a:buClr>
                <a:srgbClr val="FFCF01"/>
              </a:buClr>
              <a:buSzPct val="55000"/>
              <a:defRPr/>
            </a:pPr>
            <a:r>
              <a:rPr lang="en-US" altLang="zh-CN" sz="2800" b="1" kern="0" dirty="0">
                <a:solidFill>
                  <a:srgbClr val="990099"/>
                </a:solidFill>
                <a:latin typeface="黑体" pitchFamily="2" charset="-122"/>
                <a:ea typeface="黑体" pitchFamily="2" charset="-122"/>
              </a:rPr>
              <a:t>2</a:t>
            </a:r>
            <a:r>
              <a:rPr lang="zh-CN" altLang="en-US" sz="2800" b="1" kern="0" dirty="0">
                <a:solidFill>
                  <a:srgbClr val="990099"/>
                </a:solidFill>
                <a:latin typeface="黑体" pitchFamily="2" charset="-122"/>
                <a:ea typeface="黑体" pitchFamily="2" charset="-122"/>
              </a:rPr>
              <a:t>）并行搜索法</a:t>
            </a:r>
          </a:p>
        </p:txBody>
      </p:sp>
      <p:sp>
        <p:nvSpPr>
          <p:cNvPr id="90115" name="矩形 40">
            <a:extLst>
              <a:ext uri="{FF2B5EF4-FFF2-40B4-BE49-F238E27FC236}">
                <a16:creationId xmlns:a16="http://schemas.microsoft.com/office/drawing/2014/main" id="{A1EDC0F2-3D70-9E73-1E9C-68CAEBDE306C}"/>
              </a:ext>
            </a:extLst>
          </p:cNvPr>
          <p:cNvSpPr>
            <a:spLocks noChangeArrowheads="1"/>
          </p:cNvSpPr>
          <p:nvPr/>
        </p:nvSpPr>
        <p:spPr bwMode="auto">
          <a:xfrm>
            <a:off x="1285875" y="5429250"/>
            <a:ext cx="72866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zh-CN" altLang="en-US" sz="2000" b="1">
                <a:solidFill>
                  <a:srgbClr val="003399"/>
                </a:solidFill>
                <a:latin typeface="微软雅黑" panose="020B0503020204020204" pitchFamily="34" charset="-122"/>
                <a:ea typeface="微软雅黑" panose="020B0503020204020204" pitchFamily="34" charset="-122"/>
              </a:rPr>
              <a:t>优点</a:t>
            </a:r>
            <a:r>
              <a:rPr lang="zh-CN" altLang="en-US" sz="2000">
                <a:latin typeface="微软雅黑" panose="020B0503020204020204" pitchFamily="34" charset="-122"/>
                <a:ea typeface="微软雅黑" panose="020B0503020204020204" pitchFamily="34" charset="-122"/>
              </a:rPr>
              <a:t>：搜索时间短，</a:t>
            </a:r>
          </a:p>
        </p:txBody>
      </p:sp>
      <p:sp>
        <p:nvSpPr>
          <p:cNvPr id="90116" name="矩形 41">
            <a:extLst>
              <a:ext uri="{FF2B5EF4-FFF2-40B4-BE49-F238E27FC236}">
                <a16:creationId xmlns:a16="http://schemas.microsoft.com/office/drawing/2014/main" id="{502C6A98-7632-0F51-651B-277FF61F6D05}"/>
              </a:ext>
            </a:extLst>
          </p:cNvPr>
          <p:cNvSpPr>
            <a:spLocks noChangeArrowheads="1"/>
          </p:cNvSpPr>
          <p:nvPr/>
        </p:nvSpPr>
        <p:spPr bwMode="auto">
          <a:xfrm>
            <a:off x="1285875" y="5929313"/>
            <a:ext cx="30813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zh-CN" altLang="en-US" sz="2000" b="1">
                <a:solidFill>
                  <a:srgbClr val="003399"/>
                </a:solidFill>
                <a:latin typeface="微软雅黑" panose="020B0503020204020204" pitchFamily="34" charset="-122"/>
                <a:ea typeface="微软雅黑" panose="020B0503020204020204" pitchFamily="34" charset="-122"/>
              </a:rPr>
              <a:t>缺点</a:t>
            </a:r>
            <a:r>
              <a:rPr lang="zh-CN" altLang="en-US" sz="2000">
                <a:latin typeface="微软雅黑" panose="020B0503020204020204" pitchFamily="34" charset="-122"/>
                <a:ea typeface="微软雅黑" panose="020B0503020204020204" pitchFamily="34" charset="-122"/>
              </a:rPr>
              <a:t>：电路和运算复杂。 </a:t>
            </a:r>
            <a:endParaRPr lang="zh-CN" altLang="en-US" sz="2000"/>
          </a:p>
        </p:txBody>
      </p:sp>
      <p:grpSp>
        <p:nvGrpSpPr>
          <p:cNvPr id="2" name="Group 41">
            <a:extLst>
              <a:ext uri="{FF2B5EF4-FFF2-40B4-BE49-F238E27FC236}">
                <a16:creationId xmlns:a16="http://schemas.microsoft.com/office/drawing/2014/main" id="{18A515F4-AD22-053D-9883-51638F4D208F}"/>
              </a:ext>
            </a:extLst>
          </p:cNvPr>
          <p:cNvGrpSpPr>
            <a:grpSpLocks/>
          </p:cNvGrpSpPr>
          <p:nvPr/>
        </p:nvGrpSpPr>
        <p:grpSpPr bwMode="auto">
          <a:xfrm>
            <a:off x="2071688" y="1643063"/>
            <a:ext cx="5857875" cy="3714750"/>
            <a:chOff x="1782" y="2160"/>
            <a:chExt cx="2915" cy="2160"/>
          </a:xfrm>
        </p:grpSpPr>
        <p:sp>
          <p:nvSpPr>
            <p:cNvPr id="75782" name="AutoShape 5">
              <a:extLst>
                <a:ext uri="{FF2B5EF4-FFF2-40B4-BE49-F238E27FC236}">
                  <a16:creationId xmlns:a16="http://schemas.microsoft.com/office/drawing/2014/main" id="{81A12110-2F95-F3CC-BBFF-27A22CB28C66}"/>
                </a:ext>
              </a:extLst>
            </p:cNvPr>
            <p:cNvSpPr>
              <a:spLocks noChangeAspect="1" noChangeArrowheads="1"/>
            </p:cNvSpPr>
            <p:nvPr/>
          </p:nvSpPr>
          <p:spPr bwMode="auto">
            <a:xfrm>
              <a:off x="1782" y="2160"/>
              <a:ext cx="2912" cy="2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sz="1600">
                <a:latin typeface="Arial" panose="020B0604020202020204" pitchFamily="34" charset="0"/>
                <a:ea typeface="微软雅黑" panose="020B0503020204020204" pitchFamily="34" charset="-122"/>
                <a:cs typeface="Arial" panose="020B0604020202020204" pitchFamily="34" charset="0"/>
              </a:endParaRPr>
            </a:p>
          </p:txBody>
        </p:sp>
        <p:sp>
          <p:nvSpPr>
            <p:cNvPr id="75783" name="Text Box 6">
              <a:extLst>
                <a:ext uri="{FF2B5EF4-FFF2-40B4-BE49-F238E27FC236}">
                  <a16:creationId xmlns:a16="http://schemas.microsoft.com/office/drawing/2014/main" id="{435C5A20-5235-1372-E143-43916E5A4BA7}"/>
                </a:ext>
              </a:extLst>
            </p:cNvPr>
            <p:cNvSpPr txBox="1">
              <a:spLocks noChangeArrowheads="1"/>
            </p:cNvSpPr>
            <p:nvPr/>
          </p:nvSpPr>
          <p:spPr bwMode="auto">
            <a:xfrm>
              <a:off x="1782" y="2891"/>
              <a:ext cx="543"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zh-CN" altLang="en-US">
                  <a:latin typeface="Arial" panose="020B0604020202020204" pitchFamily="34" charset="0"/>
                  <a:ea typeface="微软雅黑" panose="020B0503020204020204" pitchFamily="34" charset="-122"/>
                  <a:cs typeface="Arial" panose="020B0604020202020204" pitchFamily="34" charset="0"/>
                </a:rPr>
                <a:t>接收信号</a:t>
              </a:r>
            </a:p>
          </p:txBody>
        </p:sp>
        <p:sp>
          <p:nvSpPr>
            <p:cNvPr id="75784" name="Text Box 7">
              <a:extLst>
                <a:ext uri="{FF2B5EF4-FFF2-40B4-BE49-F238E27FC236}">
                  <a16:creationId xmlns:a16="http://schemas.microsoft.com/office/drawing/2014/main" id="{B7C9A44D-879B-1A4D-DD41-23AADC27DA4C}"/>
                </a:ext>
              </a:extLst>
            </p:cNvPr>
            <p:cNvSpPr txBox="1">
              <a:spLocks noChangeArrowheads="1"/>
            </p:cNvSpPr>
            <p:nvPr/>
          </p:nvSpPr>
          <p:spPr bwMode="auto">
            <a:xfrm>
              <a:off x="3816" y="2211"/>
              <a:ext cx="338" cy="1560"/>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endParaRPr lang="en-US" altLang="zh-CN" sz="1600">
                <a:latin typeface="Arial" panose="020B0604020202020204" pitchFamily="34" charset="0"/>
                <a:ea typeface="微软雅黑" panose="020B0503020204020204" pitchFamily="34" charset="-122"/>
                <a:cs typeface="Arial" panose="020B0604020202020204" pitchFamily="34" charset="0"/>
              </a:endParaRPr>
            </a:p>
            <a:p>
              <a:pPr algn="ctr" eaLnBrk="1" hangingPunct="1"/>
              <a:endParaRPr lang="en-US" altLang="zh-CN" sz="1600">
                <a:latin typeface="Arial" panose="020B0604020202020204" pitchFamily="34" charset="0"/>
                <a:ea typeface="微软雅黑" panose="020B0503020204020204" pitchFamily="34" charset="-122"/>
                <a:cs typeface="Arial" panose="020B0604020202020204" pitchFamily="34" charset="0"/>
              </a:endParaRPr>
            </a:p>
            <a:p>
              <a:pPr algn="ctr" eaLnBrk="1" hangingPunct="1"/>
              <a:endParaRPr lang="en-US" altLang="zh-CN" sz="1600">
                <a:latin typeface="Arial" panose="020B0604020202020204" pitchFamily="34" charset="0"/>
                <a:ea typeface="微软雅黑" panose="020B0503020204020204" pitchFamily="34" charset="-122"/>
                <a:cs typeface="Arial" panose="020B0604020202020204" pitchFamily="34" charset="0"/>
              </a:endParaRPr>
            </a:p>
            <a:p>
              <a:pPr algn="ctr" eaLnBrk="1" hangingPunct="1"/>
              <a:r>
                <a:rPr lang="zh-CN" altLang="en-US">
                  <a:latin typeface="Arial" panose="020B0604020202020204" pitchFamily="34" charset="0"/>
                  <a:ea typeface="微软雅黑" panose="020B0503020204020204" pitchFamily="34" charset="-122"/>
                  <a:cs typeface="Arial" panose="020B0604020202020204" pitchFamily="34" charset="0"/>
                </a:rPr>
                <a:t>比</a:t>
              </a:r>
            </a:p>
            <a:p>
              <a:pPr algn="ctr" eaLnBrk="1" hangingPunct="1"/>
              <a:r>
                <a:rPr lang="zh-CN" altLang="en-US">
                  <a:latin typeface="Arial" panose="020B0604020202020204" pitchFamily="34" charset="0"/>
                  <a:ea typeface="微软雅黑" panose="020B0503020204020204" pitchFamily="34" charset="-122"/>
                  <a:cs typeface="Arial" panose="020B0604020202020204" pitchFamily="34" charset="0"/>
                </a:rPr>
                <a:t>较</a:t>
              </a:r>
            </a:p>
            <a:p>
              <a:pPr algn="ctr" eaLnBrk="1" hangingPunct="1"/>
              <a:r>
                <a:rPr lang="zh-CN" altLang="en-US">
                  <a:latin typeface="Arial" panose="020B0604020202020204" pitchFamily="34" charset="0"/>
                  <a:ea typeface="微软雅黑" panose="020B0503020204020204" pitchFamily="34" charset="-122"/>
                  <a:cs typeface="Arial" panose="020B0604020202020204" pitchFamily="34" charset="0"/>
                </a:rPr>
                <a:t>器</a:t>
              </a:r>
            </a:p>
          </p:txBody>
        </p:sp>
        <p:sp>
          <p:nvSpPr>
            <p:cNvPr id="75785" name="Line 8">
              <a:extLst>
                <a:ext uri="{FF2B5EF4-FFF2-40B4-BE49-F238E27FC236}">
                  <a16:creationId xmlns:a16="http://schemas.microsoft.com/office/drawing/2014/main" id="{FC1371E0-513E-BB87-9D5B-07F91D427648}"/>
                </a:ext>
              </a:extLst>
            </p:cNvPr>
            <p:cNvSpPr>
              <a:spLocks noChangeShapeType="1"/>
            </p:cNvSpPr>
            <p:nvPr/>
          </p:nvSpPr>
          <p:spPr bwMode="auto">
            <a:xfrm>
              <a:off x="4159" y="2936"/>
              <a:ext cx="214"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786" name="Text Box 9">
              <a:extLst>
                <a:ext uri="{FF2B5EF4-FFF2-40B4-BE49-F238E27FC236}">
                  <a16:creationId xmlns:a16="http://schemas.microsoft.com/office/drawing/2014/main" id="{7B901FAE-E2AE-F558-13C5-0CFF1B5D0AF9}"/>
                </a:ext>
              </a:extLst>
            </p:cNvPr>
            <p:cNvSpPr txBox="1">
              <a:spLocks noChangeArrowheads="1"/>
            </p:cNvSpPr>
            <p:nvPr/>
          </p:nvSpPr>
          <p:spPr bwMode="auto">
            <a:xfrm>
              <a:off x="4344" y="2825"/>
              <a:ext cx="353"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zh-CN" altLang="en-US">
                  <a:latin typeface="Arial" panose="020B0604020202020204" pitchFamily="34" charset="0"/>
                  <a:ea typeface="微软雅黑" panose="020B0503020204020204" pitchFamily="34" charset="-122"/>
                  <a:cs typeface="Arial" panose="020B0604020202020204" pitchFamily="34" charset="0"/>
                </a:rPr>
                <a:t>输出</a:t>
              </a:r>
            </a:p>
          </p:txBody>
        </p:sp>
        <p:sp>
          <p:nvSpPr>
            <p:cNvPr id="75787" name="Line 11">
              <a:extLst>
                <a:ext uri="{FF2B5EF4-FFF2-40B4-BE49-F238E27FC236}">
                  <a16:creationId xmlns:a16="http://schemas.microsoft.com/office/drawing/2014/main" id="{85B21387-4B6C-8D70-96C0-3127305651A0}"/>
                </a:ext>
              </a:extLst>
            </p:cNvPr>
            <p:cNvSpPr>
              <a:spLocks noChangeShapeType="1"/>
            </p:cNvSpPr>
            <p:nvPr/>
          </p:nvSpPr>
          <p:spPr bwMode="auto">
            <a:xfrm>
              <a:off x="2707" y="2455"/>
              <a:ext cx="1" cy="168"/>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75788" name="AutoShape 12">
              <a:extLst>
                <a:ext uri="{FF2B5EF4-FFF2-40B4-BE49-F238E27FC236}">
                  <a16:creationId xmlns:a16="http://schemas.microsoft.com/office/drawing/2014/main" id="{05EAA2DB-B4DD-F555-C2B8-9983A2F6AF4F}"/>
                </a:ext>
              </a:extLst>
            </p:cNvPr>
            <p:cNvSpPr>
              <a:spLocks noChangeArrowheads="1"/>
            </p:cNvSpPr>
            <p:nvPr/>
          </p:nvSpPr>
          <p:spPr bwMode="auto">
            <a:xfrm>
              <a:off x="2600" y="2264"/>
              <a:ext cx="207" cy="191"/>
            </a:xfrm>
            <a:prstGeom prst="flowChartSummingJunction">
              <a:avLst/>
            </a:prstGeom>
            <a:solidFill>
              <a:srgbClr val="FFFFFF"/>
            </a:solidFill>
            <a:ln w="9525">
              <a:solidFill>
                <a:srgbClr val="000000"/>
              </a:solidFill>
              <a:round/>
              <a:headEnd/>
              <a:tailE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sz="1600">
                <a:latin typeface="Arial" panose="020B0604020202020204" pitchFamily="34" charset="0"/>
                <a:ea typeface="微软雅黑" panose="020B0503020204020204" pitchFamily="34" charset="-122"/>
                <a:cs typeface="Arial" panose="020B0604020202020204" pitchFamily="34" charset="0"/>
              </a:endParaRPr>
            </a:p>
          </p:txBody>
        </p:sp>
        <p:sp>
          <p:nvSpPr>
            <p:cNvPr id="75789" name="Line 13">
              <a:extLst>
                <a:ext uri="{FF2B5EF4-FFF2-40B4-BE49-F238E27FC236}">
                  <a16:creationId xmlns:a16="http://schemas.microsoft.com/office/drawing/2014/main" id="{D78B3FD6-1B64-D9AC-24DB-3EDC89B31A2C}"/>
                </a:ext>
              </a:extLst>
            </p:cNvPr>
            <p:cNvSpPr>
              <a:spLocks noChangeShapeType="1"/>
            </p:cNvSpPr>
            <p:nvPr/>
          </p:nvSpPr>
          <p:spPr bwMode="auto">
            <a:xfrm>
              <a:off x="2356" y="2363"/>
              <a:ext cx="244"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75790" name="Group 14">
              <a:extLst>
                <a:ext uri="{FF2B5EF4-FFF2-40B4-BE49-F238E27FC236}">
                  <a16:creationId xmlns:a16="http://schemas.microsoft.com/office/drawing/2014/main" id="{E797E12E-7130-614C-5C7E-814D59FE9109}"/>
                </a:ext>
              </a:extLst>
            </p:cNvPr>
            <p:cNvGrpSpPr>
              <a:grpSpLocks/>
            </p:cNvGrpSpPr>
            <p:nvPr/>
          </p:nvGrpSpPr>
          <p:grpSpPr bwMode="auto">
            <a:xfrm>
              <a:off x="2820" y="2241"/>
              <a:ext cx="775" cy="223"/>
              <a:chOff x="3836" y="8969"/>
              <a:chExt cx="1319" cy="381"/>
            </a:xfrm>
          </p:grpSpPr>
          <p:sp>
            <p:nvSpPr>
              <p:cNvPr id="75815" name="Text Box 15">
                <a:extLst>
                  <a:ext uri="{FF2B5EF4-FFF2-40B4-BE49-F238E27FC236}">
                    <a16:creationId xmlns:a16="http://schemas.microsoft.com/office/drawing/2014/main" id="{8422BF76-B589-3FD7-8F97-15F7FCE6DE2E}"/>
                  </a:ext>
                </a:extLst>
              </p:cNvPr>
              <p:cNvSpPr txBox="1">
                <a:spLocks noChangeArrowheads="1"/>
              </p:cNvSpPr>
              <p:nvPr/>
            </p:nvSpPr>
            <p:spPr bwMode="auto">
              <a:xfrm>
                <a:off x="4199" y="8969"/>
                <a:ext cx="956" cy="381"/>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lnSpc>
                    <a:spcPct val="150000"/>
                  </a:lnSpc>
                </a:pPr>
                <a:r>
                  <a:rPr lang="zh-CN" altLang="en-US" sz="1600">
                    <a:latin typeface="Arial" panose="020B0604020202020204" pitchFamily="34" charset="0"/>
                    <a:ea typeface="微软雅黑" panose="020B0503020204020204" pitchFamily="34" charset="-122"/>
                    <a:cs typeface="Arial" panose="020B0604020202020204" pitchFamily="34" charset="0"/>
                  </a:rPr>
                  <a:t>中频放大</a:t>
                </a:r>
              </a:p>
            </p:txBody>
          </p:sp>
          <p:sp>
            <p:nvSpPr>
              <p:cNvPr id="75816" name="Line 16">
                <a:extLst>
                  <a:ext uri="{FF2B5EF4-FFF2-40B4-BE49-F238E27FC236}">
                    <a16:creationId xmlns:a16="http://schemas.microsoft.com/office/drawing/2014/main" id="{EA7A58ED-DFC3-022A-BEBB-6364C325188B}"/>
                  </a:ext>
                </a:extLst>
              </p:cNvPr>
              <p:cNvSpPr>
                <a:spLocks noChangeShapeType="1"/>
              </p:cNvSpPr>
              <p:nvPr/>
            </p:nvSpPr>
            <p:spPr bwMode="auto">
              <a:xfrm>
                <a:off x="3836" y="9164"/>
                <a:ext cx="365"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5791" name="Line 17">
              <a:extLst>
                <a:ext uri="{FF2B5EF4-FFF2-40B4-BE49-F238E27FC236}">
                  <a16:creationId xmlns:a16="http://schemas.microsoft.com/office/drawing/2014/main" id="{562FA5CB-AAF7-C572-3721-F464160AE82D}"/>
                </a:ext>
              </a:extLst>
            </p:cNvPr>
            <p:cNvSpPr>
              <a:spLocks noChangeShapeType="1"/>
            </p:cNvSpPr>
            <p:nvPr/>
          </p:nvSpPr>
          <p:spPr bwMode="auto">
            <a:xfrm>
              <a:off x="3594" y="2356"/>
              <a:ext cx="21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792" name="Line 18">
              <a:extLst>
                <a:ext uri="{FF2B5EF4-FFF2-40B4-BE49-F238E27FC236}">
                  <a16:creationId xmlns:a16="http://schemas.microsoft.com/office/drawing/2014/main" id="{05746113-BC2D-8037-6D4A-E85C4BD493B4}"/>
                </a:ext>
              </a:extLst>
            </p:cNvPr>
            <p:cNvSpPr>
              <a:spLocks noChangeShapeType="1"/>
            </p:cNvSpPr>
            <p:nvPr/>
          </p:nvSpPr>
          <p:spPr bwMode="auto">
            <a:xfrm>
              <a:off x="2707" y="3005"/>
              <a:ext cx="3" cy="176"/>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75793" name="AutoShape 19">
              <a:extLst>
                <a:ext uri="{FF2B5EF4-FFF2-40B4-BE49-F238E27FC236}">
                  <a16:creationId xmlns:a16="http://schemas.microsoft.com/office/drawing/2014/main" id="{1A307FA3-272C-3AB0-28CE-8467E3B99EB9}"/>
                </a:ext>
              </a:extLst>
            </p:cNvPr>
            <p:cNvSpPr>
              <a:spLocks noChangeArrowheads="1"/>
            </p:cNvSpPr>
            <p:nvPr/>
          </p:nvSpPr>
          <p:spPr bwMode="auto">
            <a:xfrm>
              <a:off x="2600" y="2814"/>
              <a:ext cx="207" cy="191"/>
            </a:xfrm>
            <a:prstGeom prst="flowChartSummingJunction">
              <a:avLst/>
            </a:prstGeom>
            <a:solidFill>
              <a:srgbClr val="FFFFFF"/>
            </a:solidFill>
            <a:ln w="9525">
              <a:solidFill>
                <a:srgbClr val="000000"/>
              </a:solidFill>
              <a:round/>
              <a:headEnd/>
              <a:tailE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sz="1600">
                <a:latin typeface="Arial" panose="020B0604020202020204" pitchFamily="34" charset="0"/>
                <a:ea typeface="微软雅黑" panose="020B0503020204020204" pitchFamily="34" charset="-122"/>
                <a:cs typeface="Arial" panose="020B0604020202020204" pitchFamily="34" charset="0"/>
              </a:endParaRPr>
            </a:p>
          </p:txBody>
        </p:sp>
        <p:sp>
          <p:nvSpPr>
            <p:cNvPr id="75794" name="Line 20">
              <a:extLst>
                <a:ext uri="{FF2B5EF4-FFF2-40B4-BE49-F238E27FC236}">
                  <a16:creationId xmlns:a16="http://schemas.microsoft.com/office/drawing/2014/main" id="{2D9BD256-7E77-002F-E31F-39901713B7A9}"/>
                </a:ext>
              </a:extLst>
            </p:cNvPr>
            <p:cNvSpPr>
              <a:spLocks noChangeShapeType="1"/>
            </p:cNvSpPr>
            <p:nvPr/>
          </p:nvSpPr>
          <p:spPr bwMode="auto">
            <a:xfrm>
              <a:off x="2356" y="2914"/>
              <a:ext cx="24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75795" name="Group 21">
              <a:extLst>
                <a:ext uri="{FF2B5EF4-FFF2-40B4-BE49-F238E27FC236}">
                  <a16:creationId xmlns:a16="http://schemas.microsoft.com/office/drawing/2014/main" id="{1A29050C-9009-6B7D-E3D5-BE6EC424BBFA}"/>
                </a:ext>
              </a:extLst>
            </p:cNvPr>
            <p:cNvGrpSpPr>
              <a:grpSpLocks/>
            </p:cNvGrpSpPr>
            <p:nvPr/>
          </p:nvGrpSpPr>
          <p:grpSpPr bwMode="auto">
            <a:xfrm>
              <a:off x="2816" y="2786"/>
              <a:ext cx="778" cy="241"/>
              <a:chOff x="3836" y="8962"/>
              <a:chExt cx="1326" cy="410"/>
            </a:xfrm>
          </p:grpSpPr>
          <p:sp>
            <p:nvSpPr>
              <p:cNvPr id="75813" name="Text Box 22">
                <a:extLst>
                  <a:ext uri="{FF2B5EF4-FFF2-40B4-BE49-F238E27FC236}">
                    <a16:creationId xmlns:a16="http://schemas.microsoft.com/office/drawing/2014/main" id="{B7B88941-D850-441E-FC92-704A4E210664}"/>
                  </a:ext>
                </a:extLst>
              </p:cNvPr>
              <p:cNvSpPr txBox="1">
                <a:spLocks noChangeArrowheads="1"/>
              </p:cNvSpPr>
              <p:nvPr/>
            </p:nvSpPr>
            <p:spPr bwMode="auto">
              <a:xfrm>
                <a:off x="4205" y="8962"/>
                <a:ext cx="957" cy="410"/>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lnSpc>
                    <a:spcPct val="150000"/>
                  </a:lnSpc>
                </a:pPr>
                <a:r>
                  <a:rPr lang="zh-CN" altLang="en-US" sz="1600">
                    <a:latin typeface="Arial" panose="020B0604020202020204" pitchFamily="34" charset="0"/>
                    <a:ea typeface="微软雅黑" panose="020B0503020204020204" pitchFamily="34" charset="-122"/>
                    <a:cs typeface="Arial" panose="020B0604020202020204" pitchFamily="34" charset="0"/>
                  </a:rPr>
                  <a:t>中频放大</a:t>
                </a:r>
              </a:p>
            </p:txBody>
          </p:sp>
          <p:sp>
            <p:nvSpPr>
              <p:cNvPr id="75814" name="Line 23">
                <a:extLst>
                  <a:ext uri="{FF2B5EF4-FFF2-40B4-BE49-F238E27FC236}">
                    <a16:creationId xmlns:a16="http://schemas.microsoft.com/office/drawing/2014/main" id="{4A780DA5-1318-3345-39C2-D02913CD69AB}"/>
                  </a:ext>
                </a:extLst>
              </p:cNvPr>
              <p:cNvSpPr>
                <a:spLocks noChangeShapeType="1"/>
              </p:cNvSpPr>
              <p:nvPr/>
            </p:nvSpPr>
            <p:spPr bwMode="auto">
              <a:xfrm>
                <a:off x="3836" y="9164"/>
                <a:ext cx="365"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5796" name="Line 24">
              <a:extLst>
                <a:ext uri="{FF2B5EF4-FFF2-40B4-BE49-F238E27FC236}">
                  <a16:creationId xmlns:a16="http://schemas.microsoft.com/office/drawing/2014/main" id="{18010D18-E3DB-26CF-68B8-55D5A80CD9C9}"/>
                </a:ext>
              </a:extLst>
            </p:cNvPr>
            <p:cNvSpPr>
              <a:spLocks noChangeShapeType="1"/>
            </p:cNvSpPr>
            <p:nvPr/>
          </p:nvSpPr>
          <p:spPr bwMode="auto">
            <a:xfrm>
              <a:off x="3594" y="2906"/>
              <a:ext cx="21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797" name="Line 25">
              <a:extLst>
                <a:ext uri="{FF2B5EF4-FFF2-40B4-BE49-F238E27FC236}">
                  <a16:creationId xmlns:a16="http://schemas.microsoft.com/office/drawing/2014/main" id="{F1946803-B449-CA58-D072-CC1455F4C7FC}"/>
                </a:ext>
              </a:extLst>
            </p:cNvPr>
            <p:cNvSpPr>
              <a:spLocks noChangeShapeType="1"/>
            </p:cNvSpPr>
            <p:nvPr/>
          </p:nvSpPr>
          <p:spPr bwMode="auto">
            <a:xfrm>
              <a:off x="2707" y="3785"/>
              <a:ext cx="1" cy="161"/>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75798" name="AutoShape 26">
              <a:extLst>
                <a:ext uri="{FF2B5EF4-FFF2-40B4-BE49-F238E27FC236}">
                  <a16:creationId xmlns:a16="http://schemas.microsoft.com/office/drawing/2014/main" id="{95835B30-8EA5-5242-E2E8-305980B3401D}"/>
                </a:ext>
              </a:extLst>
            </p:cNvPr>
            <p:cNvSpPr>
              <a:spLocks noChangeArrowheads="1"/>
            </p:cNvSpPr>
            <p:nvPr/>
          </p:nvSpPr>
          <p:spPr bwMode="auto">
            <a:xfrm>
              <a:off x="2600" y="3594"/>
              <a:ext cx="207" cy="191"/>
            </a:xfrm>
            <a:prstGeom prst="flowChartSummingJunction">
              <a:avLst/>
            </a:prstGeom>
            <a:solidFill>
              <a:srgbClr val="FFFFFF"/>
            </a:solidFill>
            <a:ln w="9525">
              <a:solidFill>
                <a:srgbClr val="000000"/>
              </a:solidFill>
              <a:round/>
              <a:headEnd/>
              <a:tailE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sz="1600">
                <a:latin typeface="Arial" panose="020B0604020202020204" pitchFamily="34" charset="0"/>
                <a:ea typeface="微软雅黑" panose="020B0503020204020204" pitchFamily="34" charset="-122"/>
                <a:cs typeface="Arial" panose="020B0604020202020204" pitchFamily="34" charset="0"/>
              </a:endParaRPr>
            </a:p>
          </p:txBody>
        </p:sp>
        <p:sp>
          <p:nvSpPr>
            <p:cNvPr id="75799" name="Line 27">
              <a:extLst>
                <a:ext uri="{FF2B5EF4-FFF2-40B4-BE49-F238E27FC236}">
                  <a16:creationId xmlns:a16="http://schemas.microsoft.com/office/drawing/2014/main" id="{C0FF6DAB-B8A2-E4B0-F026-4CFED78CF1E2}"/>
                </a:ext>
              </a:extLst>
            </p:cNvPr>
            <p:cNvSpPr>
              <a:spLocks noChangeShapeType="1"/>
            </p:cNvSpPr>
            <p:nvPr/>
          </p:nvSpPr>
          <p:spPr bwMode="auto">
            <a:xfrm>
              <a:off x="2356" y="3693"/>
              <a:ext cx="244"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75800" name="Group 28">
              <a:extLst>
                <a:ext uri="{FF2B5EF4-FFF2-40B4-BE49-F238E27FC236}">
                  <a16:creationId xmlns:a16="http://schemas.microsoft.com/office/drawing/2014/main" id="{4CAE1FFB-AEAB-0183-EE51-49A8C853E655}"/>
                </a:ext>
              </a:extLst>
            </p:cNvPr>
            <p:cNvGrpSpPr>
              <a:grpSpLocks/>
            </p:cNvGrpSpPr>
            <p:nvPr/>
          </p:nvGrpSpPr>
          <p:grpSpPr bwMode="auto">
            <a:xfrm>
              <a:off x="2818" y="3571"/>
              <a:ext cx="776" cy="224"/>
              <a:chOff x="3836" y="8969"/>
              <a:chExt cx="1322" cy="381"/>
            </a:xfrm>
          </p:grpSpPr>
          <p:sp>
            <p:nvSpPr>
              <p:cNvPr id="75811" name="Text Box 29">
                <a:extLst>
                  <a:ext uri="{FF2B5EF4-FFF2-40B4-BE49-F238E27FC236}">
                    <a16:creationId xmlns:a16="http://schemas.microsoft.com/office/drawing/2014/main" id="{D26F167B-EF5A-C61B-78C8-C2764023BF83}"/>
                  </a:ext>
                </a:extLst>
              </p:cNvPr>
              <p:cNvSpPr txBox="1">
                <a:spLocks noChangeArrowheads="1"/>
              </p:cNvSpPr>
              <p:nvPr/>
            </p:nvSpPr>
            <p:spPr bwMode="auto">
              <a:xfrm>
                <a:off x="4201" y="8969"/>
                <a:ext cx="957" cy="381"/>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lnSpc>
                    <a:spcPct val="150000"/>
                  </a:lnSpc>
                </a:pPr>
                <a:r>
                  <a:rPr lang="zh-CN" altLang="en-US" sz="1600">
                    <a:latin typeface="Arial" panose="020B0604020202020204" pitchFamily="34" charset="0"/>
                    <a:ea typeface="微软雅黑" panose="020B0503020204020204" pitchFamily="34" charset="-122"/>
                    <a:cs typeface="Arial" panose="020B0604020202020204" pitchFamily="34" charset="0"/>
                  </a:rPr>
                  <a:t>中频放大</a:t>
                </a:r>
              </a:p>
            </p:txBody>
          </p:sp>
          <p:sp>
            <p:nvSpPr>
              <p:cNvPr id="75812" name="Line 30">
                <a:extLst>
                  <a:ext uri="{FF2B5EF4-FFF2-40B4-BE49-F238E27FC236}">
                    <a16:creationId xmlns:a16="http://schemas.microsoft.com/office/drawing/2014/main" id="{47802FB9-42F4-FF4D-D0DE-B98CA5CA8DA7}"/>
                  </a:ext>
                </a:extLst>
              </p:cNvPr>
              <p:cNvSpPr>
                <a:spLocks noChangeShapeType="1"/>
              </p:cNvSpPr>
              <p:nvPr/>
            </p:nvSpPr>
            <p:spPr bwMode="auto">
              <a:xfrm>
                <a:off x="3836" y="9164"/>
                <a:ext cx="365"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5801" name="Line 31">
              <a:extLst>
                <a:ext uri="{FF2B5EF4-FFF2-40B4-BE49-F238E27FC236}">
                  <a16:creationId xmlns:a16="http://schemas.microsoft.com/office/drawing/2014/main" id="{49DD9D46-5814-F3C7-6EA3-C1A7C9B90F40}"/>
                </a:ext>
              </a:extLst>
            </p:cNvPr>
            <p:cNvSpPr>
              <a:spLocks noChangeShapeType="1"/>
            </p:cNvSpPr>
            <p:nvPr/>
          </p:nvSpPr>
          <p:spPr bwMode="auto">
            <a:xfrm>
              <a:off x="3594" y="3686"/>
              <a:ext cx="21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802" name="Line 32">
              <a:extLst>
                <a:ext uri="{FF2B5EF4-FFF2-40B4-BE49-F238E27FC236}">
                  <a16:creationId xmlns:a16="http://schemas.microsoft.com/office/drawing/2014/main" id="{03F32C8C-67A2-D679-5A21-8849C4BCC3F5}"/>
                </a:ext>
              </a:extLst>
            </p:cNvPr>
            <p:cNvSpPr>
              <a:spLocks noChangeShapeType="1"/>
            </p:cNvSpPr>
            <p:nvPr/>
          </p:nvSpPr>
          <p:spPr bwMode="auto">
            <a:xfrm>
              <a:off x="2356" y="2360"/>
              <a:ext cx="0" cy="93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03" name="Line 33">
              <a:extLst>
                <a:ext uri="{FF2B5EF4-FFF2-40B4-BE49-F238E27FC236}">
                  <a16:creationId xmlns:a16="http://schemas.microsoft.com/office/drawing/2014/main" id="{CB82C105-4AF8-6818-DD2B-56A8BB810D0E}"/>
                </a:ext>
              </a:extLst>
            </p:cNvPr>
            <p:cNvSpPr>
              <a:spLocks noChangeShapeType="1"/>
            </p:cNvSpPr>
            <p:nvPr/>
          </p:nvSpPr>
          <p:spPr bwMode="auto">
            <a:xfrm>
              <a:off x="2004" y="3082"/>
              <a:ext cx="35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804" name="Line 34">
              <a:extLst>
                <a:ext uri="{FF2B5EF4-FFF2-40B4-BE49-F238E27FC236}">
                  <a16:creationId xmlns:a16="http://schemas.microsoft.com/office/drawing/2014/main" id="{78D42295-1F62-E29C-F48D-AA703F7B2ABF}"/>
                </a:ext>
              </a:extLst>
            </p:cNvPr>
            <p:cNvSpPr>
              <a:spLocks noChangeShapeType="1"/>
            </p:cNvSpPr>
            <p:nvPr/>
          </p:nvSpPr>
          <p:spPr bwMode="auto">
            <a:xfrm>
              <a:off x="2356" y="3285"/>
              <a:ext cx="0" cy="229"/>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05" name="Line 35">
              <a:extLst>
                <a:ext uri="{FF2B5EF4-FFF2-40B4-BE49-F238E27FC236}">
                  <a16:creationId xmlns:a16="http://schemas.microsoft.com/office/drawing/2014/main" id="{2D5BEC02-B6A4-4574-B2CB-651F09DC124D}"/>
                </a:ext>
              </a:extLst>
            </p:cNvPr>
            <p:cNvSpPr>
              <a:spLocks noChangeShapeType="1"/>
            </p:cNvSpPr>
            <p:nvPr/>
          </p:nvSpPr>
          <p:spPr bwMode="auto">
            <a:xfrm>
              <a:off x="2356" y="3514"/>
              <a:ext cx="0" cy="17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06" name="Line 36">
              <a:extLst>
                <a:ext uri="{FF2B5EF4-FFF2-40B4-BE49-F238E27FC236}">
                  <a16:creationId xmlns:a16="http://schemas.microsoft.com/office/drawing/2014/main" id="{BE8DAA6C-C76F-8FF8-8C2F-AAFA4A0CF718}"/>
                </a:ext>
              </a:extLst>
            </p:cNvPr>
            <p:cNvSpPr>
              <a:spLocks noChangeShapeType="1"/>
            </p:cNvSpPr>
            <p:nvPr/>
          </p:nvSpPr>
          <p:spPr bwMode="auto">
            <a:xfrm>
              <a:off x="3382" y="3193"/>
              <a:ext cx="0" cy="229"/>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07" name="Text Box 37">
              <a:extLst>
                <a:ext uri="{FF2B5EF4-FFF2-40B4-BE49-F238E27FC236}">
                  <a16:creationId xmlns:a16="http://schemas.microsoft.com/office/drawing/2014/main" id="{5C6A9AF7-4AC7-32BC-DFBE-D08BD30D7453}"/>
                </a:ext>
              </a:extLst>
            </p:cNvPr>
            <p:cNvSpPr txBox="1">
              <a:spLocks noChangeArrowheads="1"/>
            </p:cNvSpPr>
            <p:nvPr/>
          </p:nvSpPr>
          <p:spPr bwMode="auto">
            <a:xfrm>
              <a:off x="2409" y="2616"/>
              <a:ext cx="795"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zh-CN" altLang="fr-FR" sz="1600">
                  <a:latin typeface="Arial" panose="020B0604020202020204" pitchFamily="34" charset="0"/>
                  <a:ea typeface="微软雅黑" panose="020B0503020204020204" pitchFamily="34" charset="-122"/>
                  <a:cs typeface="Arial" panose="020B0604020202020204" pitchFamily="34" charset="0"/>
                </a:rPr>
                <a:t>本地伪码</a:t>
              </a:r>
              <a:r>
                <a:rPr lang="fr-FR" altLang="zh-CN" i="1">
                  <a:latin typeface="Arial" panose="020B0604020202020204" pitchFamily="34" charset="0"/>
                  <a:ea typeface="微软雅黑" panose="020B0503020204020204" pitchFamily="34" charset="-122"/>
                  <a:cs typeface="Arial" panose="020B0604020202020204" pitchFamily="34" charset="0"/>
                </a:rPr>
                <a:t>M</a:t>
              </a:r>
              <a:r>
                <a:rPr lang="fr-FR" altLang="zh-CN">
                  <a:latin typeface="Arial" panose="020B0604020202020204" pitchFamily="34" charset="0"/>
                  <a:ea typeface="微软雅黑" panose="020B0503020204020204" pitchFamily="34" charset="-122"/>
                  <a:cs typeface="Arial" panose="020B0604020202020204" pitchFamily="34" charset="0"/>
                </a:rPr>
                <a:t>(</a:t>
              </a:r>
              <a:r>
                <a:rPr lang="fr-FR" altLang="zh-CN" i="1">
                  <a:latin typeface="Arial" panose="020B0604020202020204" pitchFamily="34" charset="0"/>
                  <a:ea typeface="微软雅黑" panose="020B0503020204020204" pitchFamily="34" charset="-122"/>
                  <a:cs typeface="Arial" panose="020B0604020202020204" pitchFamily="34" charset="0"/>
                </a:rPr>
                <a:t>t</a:t>
              </a:r>
              <a:r>
                <a:rPr lang="fr-FR" altLang="zh-CN">
                  <a:latin typeface="Arial" panose="020B0604020202020204" pitchFamily="34" charset="0"/>
                  <a:ea typeface="微软雅黑" panose="020B0503020204020204" pitchFamily="34" charset="-122"/>
                  <a:cs typeface="Arial" panose="020B0604020202020204" pitchFamily="34" charset="0"/>
                </a:rPr>
                <a:t>)</a:t>
              </a:r>
              <a:endParaRPr lang="en-US" altLang="zh-CN">
                <a:latin typeface="Arial" panose="020B0604020202020204" pitchFamily="34" charset="0"/>
                <a:ea typeface="微软雅黑" panose="020B0503020204020204" pitchFamily="34" charset="-122"/>
                <a:cs typeface="Arial" panose="020B0604020202020204" pitchFamily="34" charset="0"/>
              </a:endParaRPr>
            </a:p>
          </p:txBody>
        </p:sp>
        <p:sp>
          <p:nvSpPr>
            <p:cNvPr id="75808" name="Text Box 38">
              <a:extLst>
                <a:ext uri="{FF2B5EF4-FFF2-40B4-BE49-F238E27FC236}">
                  <a16:creationId xmlns:a16="http://schemas.microsoft.com/office/drawing/2014/main" id="{36170B3C-0086-A8E5-DB07-8DC9D1E93E20}"/>
                </a:ext>
              </a:extLst>
            </p:cNvPr>
            <p:cNvSpPr txBox="1">
              <a:spLocks noChangeArrowheads="1"/>
            </p:cNvSpPr>
            <p:nvPr/>
          </p:nvSpPr>
          <p:spPr bwMode="auto">
            <a:xfrm>
              <a:off x="2371" y="3181"/>
              <a:ext cx="975"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zh-CN" altLang="fr-FR" sz="1600">
                  <a:latin typeface="Arial" panose="020B0604020202020204" pitchFamily="34" charset="0"/>
                  <a:ea typeface="微软雅黑" panose="020B0503020204020204" pitchFamily="34" charset="-122"/>
                  <a:cs typeface="Arial" panose="020B0604020202020204" pitchFamily="34" charset="0"/>
                </a:rPr>
                <a:t>本地伪码</a:t>
              </a:r>
              <a:r>
                <a:rPr lang="fr-FR" altLang="zh-CN" i="1">
                  <a:latin typeface="Arial" panose="020B0604020202020204" pitchFamily="34" charset="0"/>
                  <a:ea typeface="微软雅黑" panose="020B0503020204020204" pitchFamily="34" charset="-122"/>
                  <a:cs typeface="Arial" panose="020B0604020202020204" pitchFamily="34" charset="0"/>
                </a:rPr>
                <a:t>M</a:t>
              </a:r>
              <a:r>
                <a:rPr lang="fr-FR" altLang="zh-CN">
                  <a:latin typeface="Arial" panose="020B0604020202020204" pitchFamily="34" charset="0"/>
                  <a:ea typeface="微软雅黑" panose="020B0503020204020204" pitchFamily="34" charset="-122"/>
                  <a:cs typeface="Arial" panose="020B0604020202020204" pitchFamily="34" charset="0"/>
                </a:rPr>
                <a:t>(</a:t>
              </a:r>
              <a:r>
                <a:rPr lang="fr-FR" altLang="zh-CN" i="1">
                  <a:latin typeface="Arial" panose="020B0604020202020204" pitchFamily="34" charset="0"/>
                  <a:ea typeface="微软雅黑" panose="020B0503020204020204" pitchFamily="34" charset="-122"/>
                  <a:cs typeface="Arial" panose="020B0604020202020204" pitchFamily="34" charset="0"/>
                </a:rPr>
                <a:t>t-T</a:t>
              </a:r>
              <a:r>
                <a:rPr lang="fr-FR" altLang="zh-CN" i="1" baseline="-25000">
                  <a:latin typeface="Arial" panose="020B0604020202020204" pitchFamily="34" charset="0"/>
                  <a:ea typeface="微软雅黑" panose="020B0503020204020204" pitchFamily="34" charset="-122"/>
                  <a:cs typeface="Arial" panose="020B0604020202020204" pitchFamily="34" charset="0"/>
                </a:rPr>
                <a:t>c</a:t>
              </a:r>
              <a:r>
                <a:rPr lang="fr-FR" altLang="zh-CN" i="1">
                  <a:latin typeface="Arial" panose="020B0604020202020204" pitchFamily="34" charset="0"/>
                  <a:ea typeface="微软雅黑" panose="020B0503020204020204" pitchFamily="34" charset="-122"/>
                  <a:cs typeface="Arial" panose="020B0604020202020204" pitchFamily="34" charset="0"/>
                </a:rPr>
                <a:t>/2</a:t>
              </a:r>
              <a:r>
                <a:rPr lang="fr-FR" altLang="zh-CN">
                  <a:latin typeface="Arial" panose="020B0604020202020204" pitchFamily="34" charset="0"/>
                  <a:ea typeface="微软雅黑" panose="020B0503020204020204" pitchFamily="34" charset="-122"/>
                  <a:cs typeface="Arial" panose="020B0604020202020204" pitchFamily="34" charset="0"/>
                </a:rPr>
                <a:t>)</a:t>
              </a:r>
              <a:endParaRPr lang="en-US" altLang="zh-CN">
                <a:latin typeface="Arial" panose="020B0604020202020204" pitchFamily="34" charset="0"/>
                <a:ea typeface="微软雅黑" panose="020B0503020204020204" pitchFamily="34" charset="-122"/>
                <a:cs typeface="Arial" panose="020B0604020202020204" pitchFamily="34" charset="0"/>
              </a:endParaRPr>
            </a:p>
          </p:txBody>
        </p:sp>
        <p:sp>
          <p:nvSpPr>
            <p:cNvPr id="75809" name="Text Box 39">
              <a:extLst>
                <a:ext uri="{FF2B5EF4-FFF2-40B4-BE49-F238E27FC236}">
                  <a16:creationId xmlns:a16="http://schemas.microsoft.com/office/drawing/2014/main" id="{1C850978-691D-F321-B6A3-2C731EAB4DFE}"/>
                </a:ext>
              </a:extLst>
            </p:cNvPr>
            <p:cNvSpPr txBox="1">
              <a:spLocks noChangeArrowheads="1"/>
            </p:cNvSpPr>
            <p:nvPr/>
          </p:nvSpPr>
          <p:spPr bwMode="auto">
            <a:xfrm>
              <a:off x="2339" y="3938"/>
              <a:ext cx="1078"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zh-CN" altLang="fr-FR" sz="1600">
                  <a:latin typeface="Arial" panose="020B0604020202020204" pitchFamily="34" charset="0"/>
                  <a:ea typeface="微软雅黑" panose="020B0503020204020204" pitchFamily="34" charset="-122"/>
                  <a:cs typeface="Arial" panose="020B0604020202020204" pitchFamily="34" charset="0"/>
                </a:rPr>
                <a:t>本地伪码</a:t>
              </a:r>
              <a:r>
                <a:rPr lang="fr-FR" altLang="zh-CN" i="1">
                  <a:latin typeface="Arial" panose="020B0604020202020204" pitchFamily="34" charset="0"/>
                  <a:ea typeface="微软雅黑" panose="020B0503020204020204" pitchFamily="34" charset="-122"/>
                  <a:cs typeface="Arial" panose="020B0604020202020204" pitchFamily="34" charset="0"/>
                </a:rPr>
                <a:t>M</a:t>
              </a:r>
              <a:r>
                <a:rPr lang="fr-FR" altLang="zh-CN">
                  <a:latin typeface="Arial" panose="020B0604020202020204" pitchFamily="34" charset="0"/>
                  <a:ea typeface="微软雅黑" panose="020B0503020204020204" pitchFamily="34" charset="-122"/>
                  <a:cs typeface="Arial" panose="020B0604020202020204" pitchFamily="34" charset="0"/>
                </a:rPr>
                <a:t>(</a:t>
              </a:r>
              <a:r>
                <a:rPr lang="fr-FR" altLang="zh-CN" i="1">
                  <a:latin typeface="Arial" panose="020B0604020202020204" pitchFamily="34" charset="0"/>
                  <a:ea typeface="微软雅黑" panose="020B0503020204020204" pitchFamily="34" charset="-122"/>
                  <a:cs typeface="Arial" panose="020B0604020202020204" pitchFamily="34" charset="0"/>
                </a:rPr>
                <a:t>t-nT</a:t>
              </a:r>
              <a:r>
                <a:rPr lang="fr-FR" altLang="zh-CN" i="1" baseline="-25000">
                  <a:latin typeface="Arial" panose="020B0604020202020204" pitchFamily="34" charset="0"/>
                  <a:ea typeface="微软雅黑" panose="020B0503020204020204" pitchFamily="34" charset="-122"/>
                  <a:cs typeface="Arial" panose="020B0604020202020204" pitchFamily="34" charset="0"/>
                </a:rPr>
                <a:t>c</a:t>
              </a:r>
              <a:r>
                <a:rPr lang="fr-FR" altLang="zh-CN" i="1">
                  <a:latin typeface="Arial" panose="020B0604020202020204" pitchFamily="34" charset="0"/>
                  <a:ea typeface="微软雅黑" panose="020B0503020204020204" pitchFamily="34" charset="-122"/>
                  <a:cs typeface="Arial" panose="020B0604020202020204" pitchFamily="34" charset="0"/>
                </a:rPr>
                <a:t>/2</a:t>
              </a:r>
              <a:r>
                <a:rPr lang="fr-FR" altLang="zh-CN">
                  <a:latin typeface="Arial" panose="020B0604020202020204" pitchFamily="34" charset="0"/>
                  <a:ea typeface="微软雅黑" panose="020B0503020204020204" pitchFamily="34" charset="-122"/>
                  <a:cs typeface="Arial" panose="020B0604020202020204" pitchFamily="34" charset="0"/>
                </a:rPr>
                <a:t>)</a:t>
              </a:r>
              <a:endParaRPr lang="en-US" altLang="zh-CN">
                <a:latin typeface="Arial" panose="020B0604020202020204" pitchFamily="34" charset="0"/>
                <a:ea typeface="微软雅黑" panose="020B0503020204020204" pitchFamily="34" charset="-122"/>
                <a:cs typeface="Arial" panose="020B0604020202020204" pitchFamily="34" charset="0"/>
              </a:endParaRPr>
            </a:p>
          </p:txBody>
        </p:sp>
        <p:sp>
          <p:nvSpPr>
            <p:cNvPr id="75810" name="Line 36">
              <a:extLst>
                <a:ext uri="{FF2B5EF4-FFF2-40B4-BE49-F238E27FC236}">
                  <a16:creationId xmlns:a16="http://schemas.microsoft.com/office/drawing/2014/main" id="{D632DB51-BB5E-0D41-7FAB-DA4D59F4335E}"/>
                </a:ext>
              </a:extLst>
            </p:cNvPr>
            <p:cNvSpPr>
              <a:spLocks noChangeShapeType="1"/>
            </p:cNvSpPr>
            <p:nvPr/>
          </p:nvSpPr>
          <p:spPr bwMode="auto">
            <a:xfrm>
              <a:off x="3666" y="3177"/>
              <a:ext cx="0" cy="229"/>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1000"/>
                                        <p:tgtEl>
                                          <p:spTgt spid="8"/>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20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90115"/>
                                        </p:tgtEl>
                                        <p:attrNameLst>
                                          <p:attrName>style.visibility</p:attrName>
                                        </p:attrNameLst>
                                      </p:cBhvr>
                                      <p:to>
                                        <p:strVal val="visible"/>
                                      </p:to>
                                    </p:set>
                                    <p:animEffect transition="in" filter="wipe(up)">
                                      <p:cBhvr>
                                        <p:cTn id="16" dur="1000"/>
                                        <p:tgtEl>
                                          <p:spTgt spid="9011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90116"/>
                                        </p:tgtEl>
                                        <p:attrNameLst>
                                          <p:attrName>style.visibility</p:attrName>
                                        </p:attrNameLst>
                                      </p:cBhvr>
                                      <p:to>
                                        <p:strVal val="visible"/>
                                      </p:to>
                                    </p:set>
                                    <p:animEffect transition="in" filter="wipe(up)">
                                      <p:cBhvr>
                                        <p:cTn id="21" dur="1000"/>
                                        <p:tgtEl>
                                          <p:spTgt spid="90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0115" grpId="0"/>
      <p:bldP spid="90116"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33947DC7-063B-9051-D9CF-362213C18E42}"/>
              </a:ext>
            </a:extLst>
          </p:cNvPr>
          <p:cNvSpPr/>
          <p:nvPr/>
        </p:nvSpPr>
        <p:spPr>
          <a:xfrm>
            <a:off x="714375" y="1071563"/>
            <a:ext cx="4375150" cy="523875"/>
          </a:xfrm>
          <a:prstGeom prst="rect">
            <a:avLst/>
          </a:prstGeom>
        </p:spPr>
        <p:txBody>
          <a:bodyPr>
            <a:spAutoFit/>
          </a:bodyPr>
          <a:lstStyle/>
          <a:p>
            <a:pPr marL="228600" indent="-228600" eaLnBrk="0" hangingPunct="0">
              <a:spcBef>
                <a:spcPct val="20000"/>
              </a:spcBef>
              <a:buClr>
                <a:srgbClr val="FFCF01"/>
              </a:buClr>
              <a:buSzPct val="55000"/>
              <a:defRPr/>
            </a:pPr>
            <a:r>
              <a:rPr lang="en-US" altLang="zh-CN" sz="2800" b="1" kern="0" dirty="0">
                <a:solidFill>
                  <a:srgbClr val="990099"/>
                </a:solidFill>
                <a:latin typeface="黑体" pitchFamily="2" charset="-122"/>
                <a:ea typeface="黑体" pitchFamily="2" charset="-122"/>
              </a:rPr>
              <a:t>3</a:t>
            </a:r>
            <a:r>
              <a:rPr lang="zh-CN" altLang="en-US" sz="2800" b="1" kern="0" dirty="0">
                <a:solidFill>
                  <a:srgbClr val="990099"/>
                </a:solidFill>
                <a:latin typeface="黑体" pitchFamily="2" charset="-122"/>
                <a:ea typeface="黑体" pitchFamily="2" charset="-122"/>
              </a:rPr>
              <a:t>）前置同步码法</a:t>
            </a:r>
          </a:p>
        </p:txBody>
      </p:sp>
      <p:sp>
        <p:nvSpPr>
          <p:cNvPr id="34" name="Rectangle 3">
            <a:extLst>
              <a:ext uri="{FF2B5EF4-FFF2-40B4-BE49-F238E27FC236}">
                <a16:creationId xmlns:a16="http://schemas.microsoft.com/office/drawing/2014/main" id="{6B39360E-5358-FBB6-5E4F-0742D9D2E7EF}"/>
              </a:ext>
            </a:extLst>
          </p:cNvPr>
          <p:cNvSpPr txBox="1">
            <a:spLocks noChangeArrowheads="1"/>
          </p:cNvSpPr>
          <p:nvPr/>
        </p:nvSpPr>
        <p:spPr bwMode="auto">
          <a:xfrm>
            <a:off x="571500" y="1928813"/>
            <a:ext cx="7786688" cy="3286125"/>
          </a:xfrm>
          <a:prstGeom prst="rect">
            <a:avLst/>
          </a:prstGeom>
          <a:noFill/>
          <a:ln w="9525">
            <a:noFill/>
            <a:miter lim="800000"/>
            <a:headEnd/>
            <a:tailEnd/>
          </a:ln>
        </p:spPr>
        <p:txBody>
          <a:bodyPr/>
          <a:lstStyle/>
          <a:p>
            <a:pPr marL="685800" lvl="1" indent="-228600" eaLnBrk="0" hangingPunct="0">
              <a:lnSpc>
                <a:spcPts val="3400"/>
              </a:lnSpc>
              <a:spcBef>
                <a:spcPct val="20000"/>
              </a:spcBef>
              <a:buClr>
                <a:srgbClr val="0000CC"/>
              </a:buClr>
              <a:buSzPct val="75000"/>
              <a:buFont typeface="Wingdings" pitchFamily="2" charset="2"/>
              <a:buChar char="n"/>
              <a:defRPr/>
            </a:pPr>
            <a:r>
              <a:rPr lang="zh-CN" altLang="en-US" sz="2000" kern="0" dirty="0">
                <a:latin typeface="微软雅黑" pitchFamily="34" charset="-122"/>
                <a:ea typeface="微软雅黑" pitchFamily="34" charset="-122"/>
              </a:rPr>
              <a:t>在上面介绍的扩谱码同步方案中，当伪码的长度很长时，搜索时间也因之很长。为了缩短搜索时间，可以前置一个较短的同步码组，以缩短搜索时间。</a:t>
            </a:r>
          </a:p>
          <a:p>
            <a:pPr marL="685800" lvl="1" indent="-228600" eaLnBrk="0" hangingPunct="0">
              <a:lnSpc>
                <a:spcPts val="3400"/>
              </a:lnSpc>
              <a:spcBef>
                <a:spcPct val="20000"/>
              </a:spcBef>
              <a:buClr>
                <a:srgbClr val="0000CC"/>
              </a:buClr>
              <a:buSzPct val="75000"/>
              <a:buFont typeface="Wingdings" pitchFamily="2" charset="2"/>
              <a:buChar char="n"/>
              <a:defRPr/>
            </a:pPr>
            <a:r>
              <a:rPr lang="zh-CN" altLang="en-US" sz="2000" kern="0" dirty="0">
                <a:latin typeface="微软雅黑" pitchFamily="34" charset="-122"/>
                <a:ea typeface="微软雅黑" pitchFamily="34" charset="-122"/>
              </a:rPr>
              <a:t>同步码组缩短后，搜索时间虽然短了，但是错误捕获的概率会增大。</a:t>
            </a:r>
          </a:p>
          <a:p>
            <a:pPr marL="685800" lvl="1" indent="-228600" eaLnBrk="0" hangingPunct="0">
              <a:lnSpc>
                <a:spcPts val="3400"/>
              </a:lnSpc>
              <a:spcBef>
                <a:spcPct val="20000"/>
              </a:spcBef>
              <a:buClr>
                <a:srgbClr val="0000CC"/>
              </a:buClr>
              <a:buSzPct val="75000"/>
              <a:buFont typeface="Wingdings" pitchFamily="2" charset="2"/>
              <a:buChar char="n"/>
              <a:defRPr/>
            </a:pPr>
            <a:r>
              <a:rPr lang="zh-CN" altLang="en-US" sz="2000" kern="0" dirty="0">
                <a:latin typeface="微软雅黑" pitchFamily="34" charset="-122"/>
                <a:ea typeface="微软雅黑" pitchFamily="34" charset="-122"/>
              </a:rPr>
              <a:t>典型的前置同步码组的长度在几百至几千码元，决定于系统的要求。</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20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wipe(up)">
                                      <p:cBhvr>
                                        <p:cTn id="12" dur="2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4"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225E80B-22DD-0692-F0B0-EC6B205BCECC}"/>
              </a:ext>
            </a:extLst>
          </p:cNvPr>
          <p:cNvSpPr/>
          <p:nvPr/>
        </p:nvSpPr>
        <p:spPr>
          <a:xfrm>
            <a:off x="571500" y="428625"/>
            <a:ext cx="1619250" cy="584200"/>
          </a:xfrm>
          <a:prstGeom prst="rect">
            <a:avLst/>
          </a:prstGeom>
        </p:spPr>
        <p:txBody>
          <a:bodyPr wrap="none">
            <a:spAutoFit/>
          </a:bodyPr>
          <a:lstStyle/>
          <a:p>
            <a:pPr>
              <a:defRPr/>
            </a:pPr>
            <a:r>
              <a:rPr lang="en-US" altLang="zh-CN" sz="3200" b="1" kern="0" dirty="0">
                <a:solidFill>
                  <a:srgbClr val="0000CC"/>
                </a:solidFill>
                <a:latin typeface="微软雅黑" pitchFamily="34" charset="-122"/>
                <a:ea typeface="微软雅黑" pitchFamily="34" charset="-122"/>
              </a:rPr>
              <a:t>2.  </a:t>
            </a:r>
            <a:r>
              <a:rPr lang="zh-CN" altLang="en-US" sz="3200" b="1" kern="0" dirty="0">
                <a:solidFill>
                  <a:srgbClr val="0000CC"/>
                </a:solidFill>
                <a:latin typeface="微软雅黑" pitchFamily="34" charset="-122"/>
                <a:ea typeface="微软雅黑" pitchFamily="34" charset="-122"/>
              </a:rPr>
              <a:t>跟踪</a:t>
            </a:r>
            <a:endParaRPr lang="zh-CN" altLang="en-US" sz="3200" b="1" dirty="0">
              <a:solidFill>
                <a:srgbClr val="0000CC"/>
              </a:solidFill>
              <a:ea typeface="宋体" charset="-122"/>
            </a:endParaRPr>
          </a:p>
        </p:txBody>
      </p:sp>
      <p:sp>
        <p:nvSpPr>
          <p:cNvPr id="37" name="矩形 36">
            <a:extLst>
              <a:ext uri="{FF2B5EF4-FFF2-40B4-BE49-F238E27FC236}">
                <a16:creationId xmlns:a16="http://schemas.microsoft.com/office/drawing/2014/main" id="{F95276CF-95E9-A7D9-25FE-CBC11DA312F4}"/>
              </a:ext>
            </a:extLst>
          </p:cNvPr>
          <p:cNvSpPr/>
          <p:nvPr/>
        </p:nvSpPr>
        <p:spPr>
          <a:xfrm>
            <a:off x="768350" y="1214438"/>
            <a:ext cx="4375150" cy="523875"/>
          </a:xfrm>
          <a:prstGeom prst="rect">
            <a:avLst/>
          </a:prstGeom>
        </p:spPr>
        <p:txBody>
          <a:bodyPr>
            <a:spAutoFit/>
          </a:bodyPr>
          <a:lstStyle/>
          <a:p>
            <a:pPr marL="228600" lvl="3" indent="-228600" eaLnBrk="0" hangingPunct="0">
              <a:spcBef>
                <a:spcPct val="20000"/>
              </a:spcBef>
              <a:buClr>
                <a:srgbClr val="FFCF01"/>
              </a:buClr>
              <a:buSzPct val="55000"/>
              <a:defRPr/>
            </a:pPr>
            <a:r>
              <a:rPr lang="en-US" altLang="zh-CN" sz="2800" b="1" kern="0" dirty="0">
                <a:solidFill>
                  <a:srgbClr val="800080"/>
                </a:solidFill>
                <a:latin typeface="黑体" pitchFamily="2" charset="-122"/>
                <a:ea typeface="黑体" pitchFamily="2" charset="-122"/>
              </a:rPr>
              <a:t>1</a:t>
            </a:r>
            <a:r>
              <a:rPr lang="zh-CN" altLang="en-US" sz="2800" b="1" kern="0" dirty="0">
                <a:solidFill>
                  <a:srgbClr val="800080"/>
                </a:solidFill>
                <a:latin typeface="黑体" pitchFamily="2" charset="-122"/>
                <a:ea typeface="黑体" pitchFamily="2" charset="-122"/>
              </a:rPr>
              <a:t>）</a:t>
            </a:r>
            <a:r>
              <a:rPr lang="zh-CN" altLang="en-US" sz="2800" b="1" dirty="0">
                <a:solidFill>
                  <a:srgbClr val="990099"/>
                </a:solidFill>
                <a:latin typeface="黑体" pitchFamily="2" charset="-122"/>
                <a:ea typeface="黑体" pitchFamily="2" charset="-122"/>
              </a:rPr>
              <a:t>延迟锁定跟踪环</a:t>
            </a:r>
            <a:endParaRPr lang="zh-CN" altLang="en-US" sz="2800" b="1" kern="0" dirty="0">
              <a:solidFill>
                <a:srgbClr val="990099"/>
              </a:solidFill>
              <a:latin typeface="黑体" pitchFamily="2" charset="-122"/>
              <a:ea typeface="黑体" pitchFamily="2" charset="-122"/>
            </a:endParaRPr>
          </a:p>
        </p:txBody>
      </p:sp>
      <p:grpSp>
        <p:nvGrpSpPr>
          <p:cNvPr id="2" name="组合 59">
            <a:extLst>
              <a:ext uri="{FF2B5EF4-FFF2-40B4-BE49-F238E27FC236}">
                <a16:creationId xmlns:a16="http://schemas.microsoft.com/office/drawing/2014/main" id="{94C1329B-96B0-40A1-4ED1-F02D80874490}"/>
              </a:ext>
            </a:extLst>
          </p:cNvPr>
          <p:cNvGrpSpPr>
            <a:grpSpLocks/>
          </p:cNvGrpSpPr>
          <p:nvPr/>
        </p:nvGrpSpPr>
        <p:grpSpPr bwMode="auto">
          <a:xfrm>
            <a:off x="1285875" y="2143125"/>
            <a:ext cx="6977063" cy="4419600"/>
            <a:chOff x="1285875" y="2143125"/>
            <a:chExt cx="6977063" cy="4419600"/>
          </a:xfrm>
        </p:grpSpPr>
        <p:grpSp>
          <p:nvGrpSpPr>
            <p:cNvPr id="77829" name="Group 61">
              <a:extLst>
                <a:ext uri="{FF2B5EF4-FFF2-40B4-BE49-F238E27FC236}">
                  <a16:creationId xmlns:a16="http://schemas.microsoft.com/office/drawing/2014/main" id="{F9B68AF0-FD90-C3A5-8A28-74948C786116}"/>
                </a:ext>
              </a:extLst>
            </p:cNvPr>
            <p:cNvGrpSpPr>
              <a:grpSpLocks/>
            </p:cNvGrpSpPr>
            <p:nvPr/>
          </p:nvGrpSpPr>
          <p:grpSpPr bwMode="auto">
            <a:xfrm>
              <a:off x="1285875" y="2143125"/>
              <a:ext cx="6977063" cy="4419600"/>
              <a:chOff x="1179" y="1536"/>
              <a:chExt cx="3997" cy="2691"/>
            </a:xfrm>
          </p:grpSpPr>
          <p:sp>
            <p:nvSpPr>
              <p:cNvPr id="77831" name="AutoShape 5">
                <a:extLst>
                  <a:ext uri="{FF2B5EF4-FFF2-40B4-BE49-F238E27FC236}">
                    <a16:creationId xmlns:a16="http://schemas.microsoft.com/office/drawing/2014/main" id="{3FD1592F-F730-677E-0EA4-3A1E06570AD6}"/>
                  </a:ext>
                </a:extLst>
              </p:cNvPr>
              <p:cNvSpPr>
                <a:spLocks noChangeAspect="1" noChangeArrowheads="1"/>
              </p:cNvSpPr>
              <p:nvPr/>
            </p:nvSpPr>
            <p:spPr bwMode="auto">
              <a:xfrm>
                <a:off x="1179" y="1536"/>
                <a:ext cx="3997" cy="2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77832" name="AutoShape 6">
                <a:extLst>
                  <a:ext uri="{FF2B5EF4-FFF2-40B4-BE49-F238E27FC236}">
                    <a16:creationId xmlns:a16="http://schemas.microsoft.com/office/drawing/2014/main" id="{FAE348E8-4715-9614-C38C-2A0F1B7B124C}"/>
                  </a:ext>
                </a:extLst>
              </p:cNvPr>
              <p:cNvSpPr>
                <a:spLocks noChangeArrowheads="1"/>
              </p:cNvSpPr>
              <p:nvPr/>
            </p:nvSpPr>
            <p:spPr bwMode="auto">
              <a:xfrm>
                <a:off x="2173" y="1663"/>
                <a:ext cx="274" cy="234"/>
              </a:xfrm>
              <a:prstGeom prst="flowChartSummingJunction">
                <a:avLst/>
              </a:prstGeom>
              <a:solidFill>
                <a:srgbClr val="FFFFFF"/>
              </a:solidFill>
              <a:ln w="9525">
                <a:solidFill>
                  <a:srgbClr val="000000"/>
                </a:solidFill>
                <a:round/>
                <a:headEnd/>
                <a:tailE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latin typeface="Arial" panose="020B0604020202020204" pitchFamily="34" charset="0"/>
                  <a:ea typeface="微软雅黑" panose="020B0503020204020204" pitchFamily="34" charset="-122"/>
                  <a:cs typeface="Arial" panose="020B0604020202020204" pitchFamily="34" charset="0"/>
                </a:endParaRPr>
              </a:p>
            </p:txBody>
          </p:sp>
          <p:grpSp>
            <p:nvGrpSpPr>
              <p:cNvPr id="77833" name="Group 7">
                <a:extLst>
                  <a:ext uri="{FF2B5EF4-FFF2-40B4-BE49-F238E27FC236}">
                    <a16:creationId xmlns:a16="http://schemas.microsoft.com/office/drawing/2014/main" id="{EA635233-B89D-6063-CF6A-63FF0E5AADAB}"/>
                  </a:ext>
                </a:extLst>
              </p:cNvPr>
              <p:cNvGrpSpPr>
                <a:grpSpLocks/>
              </p:cNvGrpSpPr>
              <p:nvPr/>
            </p:nvGrpSpPr>
            <p:grpSpPr bwMode="auto">
              <a:xfrm>
                <a:off x="1824" y="2268"/>
                <a:ext cx="2051" cy="312"/>
                <a:chOff x="3615" y="9331"/>
                <a:chExt cx="2731" cy="416"/>
              </a:xfrm>
            </p:grpSpPr>
            <p:sp>
              <p:nvSpPr>
                <p:cNvPr id="77880" name="AutoShape 8">
                  <a:extLst>
                    <a:ext uri="{FF2B5EF4-FFF2-40B4-BE49-F238E27FC236}">
                      <a16:creationId xmlns:a16="http://schemas.microsoft.com/office/drawing/2014/main" id="{6C7FAAC3-44A1-20F7-2FAB-F0E9D1361554}"/>
                    </a:ext>
                  </a:extLst>
                </p:cNvPr>
                <p:cNvSpPr>
                  <a:spLocks noChangeArrowheads="1"/>
                </p:cNvSpPr>
                <p:nvPr/>
              </p:nvSpPr>
              <p:spPr bwMode="auto">
                <a:xfrm>
                  <a:off x="4096" y="9370"/>
                  <a:ext cx="365" cy="312"/>
                </a:xfrm>
                <a:prstGeom prst="flowChartSummingJunction">
                  <a:avLst/>
                </a:prstGeom>
                <a:solidFill>
                  <a:srgbClr val="FFFFFF"/>
                </a:solidFill>
                <a:ln w="9525">
                  <a:solidFill>
                    <a:srgbClr val="000000"/>
                  </a:solidFill>
                  <a:round/>
                  <a:headEnd/>
                  <a:tailE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77881" name="Line 9">
                  <a:extLst>
                    <a:ext uri="{FF2B5EF4-FFF2-40B4-BE49-F238E27FC236}">
                      <a16:creationId xmlns:a16="http://schemas.microsoft.com/office/drawing/2014/main" id="{63E4E237-B10A-3DA2-0DD4-67B4AC5237AC}"/>
                    </a:ext>
                  </a:extLst>
                </p:cNvPr>
                <p:cNvSpPr>
                  <a:spLocks noChangeShapeType="1"/>
                </p:cNvSpPr>
                <p:nvPr/>
              </p:nvSpPr>
              <p:spPr bwMode="auto">
                <a:xfrm>
                  <a:off x="3615" y="9526"/>
                  <a:ext cx="48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882" name="Line 10">
                  <a:extLst>
                    <a:ext uri="{FF2B5EF4-FFF2-40B4-BE49-F238E27FC236}">
                      <a16:creationId xmlns:a16="http://schemas.microsoft.com/office/drawing/2014/main" id="{853645D4-D67B-B3E8-FC99-294A3CAE0791}"/>
                    </a:ext>
                  </a:extLst>
                </p:cNvPr>
                <p:cNvSpPr>
                  <a:spLocks noChangeShapeType="1"/>
                </p:cNvSpPr>
                <p:nvPr/>
              </p:nvSpPr>
              <p:spPr bwMode="auto">
                <a:xfrm>
                  <a:off x="4474" y="9526"/>
                  <a:ext cx="482"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883" name="Text Box 11">
                  <a:extLst>
                    <a:ext uri="{FF2B5EF4-FFF2-40B4-BE49-F238E27FC236}">
                      <a16:creationId xmlns:a16="http://schemas.microsoft.com/office/drawing/2014/main" id="{8C0E35EC-FB6B-F282-0381-D2BF8887AB4E}"/>
                    </a:ext>
                  </a:extLst>
                </p:cNvPr>
                <p:cNvSpPr txBox="1">
                  <a:spLocks noChangeArrowheads="1"/>
                </p:cNvSpPr>
                <p:nvPr/>
              </p:nvSpPr>
              <p:spPr bwMode="auto">
                <a:xfrm>
                  <a:off x="4942" y="9331"/>
                  <a:ext cx="922" cy="416"/>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zh-CN" altLang="en-US">
                      <a:latin typeface="Arial" panose="020B0604020202020204" pitchFamily="34" charset="0"/>
                      <a:ea typeface="微软雅黑" panose="020B0503020204020204" pitchFamily="34" charset="-122"/>
                      <a:cs typeface="Arial" panose="020B0604020202020204" pitchFamily="34" charset="0"/>
                    </a:rPr>
                    <a:t> 包络检波</a:t>
                  </a:r>
                </a:p>
              </p:txBody>
            </p:sp>
            <p:sp>
              <p:nvSpPr>
                <p:cNvPr id="77884" name="Line 12">
                  <a:extLst>
                    <a:ext uri="{FF2B5EF4-FFF2-40B4-BE49-F238E27FC236}">
                      <a16:creationId xmlns:a16="http://schemas.microsoft.com/office/drawing/2014/main" id="{DCA40EA9-BD0C-7F36-3101-37A0AC44EC97}"/>
                    </a:ext>
                  </a:extLst>
                </p:cNvPr>
                <p:cNvSpPr>
                  <a:spLocks noChangeShapeType="1"/>
                </p:cNvSpPr>
                <p:nvPr/>
              </p:nvSpPr>
              <p:spPr bwMode="auto">
                <a:xfrm>
                  <a:off x="5864" y="9539"/>
                  <a:ext cx="482"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7834" name="AutoShape 13">
                <a:extLst>
                  <a:ext uri="{FF2B5EF4-FFF2-40B4-BE49-F238E27FC236}">
                    <a16:creationId xmlns:a16="http://schemas.microsoft.com/office/drawing/2014/main" id="{2B4ACD9F-3E14-A27E-CE32-26929C782077}"/>
                  </a:ext>
                </a:extLst>
              </p:cNvPr>
              <p:cNvSpPr>
                <a:spLocks noChangeArrowheads="1"/>
              </p:cNvSpPr>
              <p:nvPr/>
            </p:nvSpPr>
            <p:spPr bwMode="auto">
              <a:xfrm>
                <a:off x="2182" y="2843"/>
                <a:ext cx="274" cy="234"/>
              </a:xfrm>
              <a:prstGeom prst="flowChartSummingJunction">
                <a:avLst/>
              </a:prstGeom>
              <a:solidFill>
                <a:srgbClr val="FFFFFF"/>
              </a:solidFill>
              <a:ln w="9525">
                <a:solidFill>
                  <a:srgbClr val="000000"/>
                </a:solidFill>
                <a:round/>
                <a:headEnd/>
                <a:tailE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77835" name="Line 14">
                <a:extLst>
                  <a:ext uri="{FF2B5EF4-FFF2-40B4-BE49-F238E27FC236}">
                    <a16:creationId xmlns:a16="http://schemas.microsoft.com/office/drawing/2014/main" id="{E651E222-C277-A06B-E888-A649B8EA7594}"/>
                  </a:ext>
                </a:extLst>
              </p:cNvPr>
              <p:cNvSpPr>
                <a:spLocks noChangeShapeType="1"/>
              </p:cNvSpPr>
              <p:nvPr/>
            </p:nvSpPr>
            <p:spPr bwMode="auto">
              <a:xfrm>
                <a:off x="1821" y="2960"/>
                <a:ext cx="36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836" name="Line 15">
                <a:extLst>
                  <a:ext uri="{FF2B5EF4-FFF2-40B4-BE49-F238E27FC236}">
                    <a16:creationId xmlns:a16="http://schemas.microsoft.com/office/drawing/2014/main" id="{3B9ED136-D0F9-1C75-CCDD-7385A8264FC4}"/>
                  </a:ext>
                </a:extLst>
              </p:cNvPr>
              <p:cNvSpPr>
                <a:spLocks noChangeShapeType="1"/>
              </p:cNvSpPr>
              <p:nvPr/>
            </p:nvSpPr>
            <p:spPr bwMode="auto">
              <a:xfrm>
                <a:off x="2466" y="2960"/>
                <a:ext cx="362"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837" name="Text Box 16">
                <a:extLst>
                  <a:ext uri="{FF2B5EF4-FFF2-40B4-BE49-F238E27FC236}">
                    <a16:creationId xmlns:a16="http://schemas.microsoft.com/office/drawing/2014/main" id="{C725775E-DEAD-ED2A-22B6-68069D16EDBA}"/>
                  </a:ext>
                </a:extLst>
              </p:cNvPr>
              <p:cNvSpPr txBox="1">
                <a:spLocks noChangeArrowheads="1"/>
              </p:cNvSpPr>
              <p:nvPr/>
            </p:nvSpPr>
            <p:spPr bwMode="auto">
              <a:xfrm>
                <a:off x="2826" y="2814"/>
                <a:ext cx="692" cy="312"/>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zh-CN" altLang="en-US">
                    <a:latin typeface="Arial" panose="020B0604020202020204" pitchFamily="34" charset="0"/>
                    <a:ea typeface="微软雅黑" panose="020B0503020204020204" pitchFamily="34" charset="-122"/>
                    <a:cs typeface="Arial" panose="020B0604020202020204" pitchFamily="34" charset="0"/>
                  </a:rPr>
                  <a:t> 包络检波</a:t>
                </a:r>
              </a:p>
            </p:txBody>
          </p:sp>
          <p:sp>
            <p:nvSpPr>
              <p:cNvPr id="77838" name="Line 17">
                <a:extLst>
                  <a:ext uri="{FF2B5EF4-FFF2-40B4-BE49-F238E27FC236}">
                    <a16:creationId xmlns:a16="http://schemas.microsoft.com/office/drawing/2014/main" id="{BA6AB744-7FC4-97F6-1B01-752F236F8732}"/>
                  </a:ext>
                </a:extLst>
              </p:cNvPr>
              <p:cNvSpPr>
                <a:spLocks noChangeShapeType="1"/>
              </p:cNvSpPr>
              <p:nvPr/>
            </p:nvSpPr>
            <p:spPr bwMode="auto">
              <a:xfrm>
                <a:off x="3509" y="2970"/>
                <a:ext cx="362"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39" name="AutoShape 18">
                <a:extLst>
                  <a:ext uri="{FF2B5EF4-FFF2-40B4-BE49-F238E27FC236}">
                    <a16:creationId xmlns:a16="http://schemas.microsoft.com/office/drawing/2014/main" id="{829EB73D-5F53-3502-6B48-B31C6783B3B9}"/>
                  </a:ext>
                </a:extLst>
              </p:cNvPr>
              <p:cNvSpPr>
                <a:spLocks noChangeArrowheads="1"/>
              </p:cNvSpPr>
              <p:nvPr/>
            </p:nvSpPr>
            <p:spPr bwMode="auto">
              <a:xfrm>
                <a:off x="3743" y="2580"/>
                <a:ext cx="274" cy="244"/>
              </a:xfrm>
              <a:prstGeom prst="flowChartOr">
                <a:avLst/>
              </a:prstGeom>
              <a:solidFill>
                <a:srgbClr val="FFFFFF"/>
              </a:solidFill>
              <a:ln w="9525">
                <a:solidFill>
                  <a:srgbClr val="000000"/>
                </a:solidFill>
                <a:round/>
                <a:headEnd/>
                <a:tailE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77840" name="Line 19">
                <a:extLst>
                  <a:ext uri="{FF2B5EF4-FFF2-40B4-BE49-F238E27FC236}">
                    <a16:creationId xmlns:a16="http://schemas.microsoft.com/office/drawing/2014/main" id="{95AFDC4C-6E53-AC7B-09F4-B61CB45513E6}"/>
                  </a:ext>
                </a:extLst>
              </p:cNvPr>
              <p:cNvSpPr>
                <a:spLocks noChangeShapeType="1"/>
              </p:cNvSpPr>
              <p:nvPr/>
            </p:nvSpPr>
            <p:spPr bwMode="auto">
              <a:xfrm flipV="1">
                <a:off x="3871" y="2434"/>
                <a:ext cx="1" cy="146"/>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77841" name="Line 20">
                <a:extLst>
                  <a:ext uri="{FF2B5EF4-FFF2-40B4-BE49-F238E27FC236}">
                    <a16:creationId xmlns:a16="http://schemas.microsoft.com/office/drawing/2014/main" id="{AD32ACBF-793C-9D66-696A-5EB4AAEA2313}"/>
                  </a:ext>
                </a:extLst>
              </p:cNvPr>
              <p:cNvSpPr>
                <a:spLocks noChangeShapeType="1"/>
              </p:cNvSpPr>
              <p:nvPr/>
            </p:nvSpPr>
            <p:spPr bwMode="auto">
              <a:xfrm flipV="1">
                <a:off x="3871" y="2824"/>
                <a:ext cx="1" cy="14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842" name="Line 21">
                <a:extLst>
                  <a:ext uri="{FF2B5EF4-FFF2-40B4-BE49-F238E27FC236}">
                    <a16:creationId xmlns:a16="http://schemas.microsoft.com/office/drawing/2014/main" id="{C786A608-1BB0-98B7-6705-B4A4AE4B6FB8}"/>
                  </a:ext>
                </a:extLst>
              </p:cNvPr>
              <p:cNvSpPr>
                <a:spLocks noChangeShapeType="1"/>
              </p:cNvSpPr>
              <p:nvPr/>
            </p:nvSpPr>
            <p:spPr bwMode="auto">
              <a:xfrm>
                <a:off x="4018" y="2697"/>
                <a:ext cx="332"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843" name="Line 22">
                <a:extLst>
                  <a:ext uri="{FF2B5EF4-FFF2-40B4-BE49-F238E27FC236}">
                    <a16:creationId xmlns:a16="http://schemas.microsoft.com/office/drawing/2014/main" id="{4223E855-6629-281C-40D1-BDD7F04D2D97}"/>
                  </a:ext>
                </a:extLst>
              </p:cNvPr>
              <p:cNvSpPr>
                <a:spLocks noChangeShapeType="1"/>
              </p:cNvSpPr>
              <p:nvPr/>
            </p:nvSpPr>
            <p:spPr bwMode="auto">
              <a:xfrm flipH="1">
                <a:off x="1812" y="1780"/>
                <a:ext cx="9" cy="11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44" name="Line 23">
                <a:extLst>
                  <a:ext uri="{FF2B5EF4-FFF2-40B4-BE49-F238E27FC236}">
                    <a16:creationId xmlns:a16="http://schemas.microsoft.com/office/drawing/2014/main" id="{2B08901B-EF92-CB77-7B30-EA98D3B346F4}"/>
                  </a:ext>
                </a:extLst>
              </p:cNvPr>
              <p:cNvSpPr>
                <a:spLocks noChangeShapeType="1"/>
              </p:cNvSpPr>
              <p:nvPr/>
            </p:nvSpPr>
            <p:spPr bwMode="auto">
              <a:xfrm>
                <a:off x="2456" y="1780"/>
                <a:ext cx="616"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845" name="Line 25">
                <a:extLst>
                  <a:ext uri="{FF2B5EF4-FFF2-40B4-BE49-F238E27FC236}">
                    <a16:creationId xmlns:a16="http://schemas.microsoft.com/office/drawing/2014/main" id="{132A845D-8563-D599-6D9D-B914CE37DE46}"/>
                  </a:ext>
                </a:extLst>
              </p:cNvPr>
              <p:cNvSpPr>
                <a:spLocks noChangeShapeType="1"/>
              </p:cNvSpPr>
              <p:nvPr/>
            </p:nvSpPr>
            <p:spPr bwMode="auto">
              <a:xfrm>
                <a:off x="2612" y="2199"/>
                <a:ext cx="0" cy="123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77846" name="Line 26">
                <a:extLst>
                  <a:ext uri="{FF2B5EF4-FFF2-40B4-BE49-F238E27FC236}">
                    <a16:creationId xmlns:a16="http://schemas.microsoft.com/office/drawing/2014/main" id="{10925C7A-8907-9214-8871-F7513D0AB222}"/>
                  </a:ext>
                </a:extLst>
              </p:cNvPr>
              <p:cNvSpPr>
                <a:spLocks noChangeShapeType="1"/>
              </p:cNvSpPr>
              <p:nvPr/>
            </p:nvSpPr>
            <p:spPr bwMode="auto">
              <a:xfrm flipH="1">
                <a:off x="2320" y="2541"/>
                <a:ext cx="0" cy="166"/>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77847" name="Line 27">
                <a:extLst>
                  <a:ext uri="{FF2B5EF4-FFF2-40B4-BE49-F238E27FC236}">
                    <a16:creationId xmlns:a16="http://schemas.microsoft.com/office/drawing/2014/main" id="{E7CD7903-77F4-29FB-2B8A-C1AED19565E3}"/>
                  </a:ext>
                </a:extLst>
              </p:cNvPr>
              <p:cNvSpPr>
                <a:spLocks noChangeShapeType="1"/>
              </p:cNvSpPr>
              <p:nvPr/>
            </p:nvSpPr>
            <p:spPr bwMode="auto">
              <a:xfrm>
                <a:off x="2320" y="2707"/>
                <a:ext cx="29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48" name="Text Box 28">
                <a:extLst>
                  <a:ext uri="{FF2B5EF4-FFF2-40B4-BE49-F238E27FC236}">
                    <a16:creationId xmlns:a16="http://schemas.microsoft.com/office/drawing/2014/main" id="{08BF60CC-E228-EC3B-F45B-A3F87ADA84CD}"/>
                  </a:ext>
                </a:extLst>
              </p:cNvPr>
              <p:cNvSpPr txBox="1">
                <a:spLocks noChangeArrowheads="1"/>
              </p:cNvSpPr>
              <p:nvPr/>
            </p:nvSpPr>
            <p:spPr bwMode="auto">
              <a:xfrm>
                <a:off x="4360" y="2560"/>
                <a:ext cx="691" cy="312"/>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lnSpc>
                    <a:spcPct val="150000"/>
                  </a:lnSpc>
                </a:pPr>
                <a:r>
                  <a:rPr lang="zh-CN" altLang="en-US">
                    <a:latin typeface="Arial" panose="020B0604020202020204" pitchFamily="34" charset="0"/>
                    <a:ea typeface="微软雅黑" panose="020B0503020204020204" pitchFamily="34" charset="-122"/>
                    <a:cs typeface="Arial" panose="020B0604020202020204" pitchFamily="34" charset="0"/>
                  </a:rPr>
                  <a:t> 环路滤波</a:t>
                </a:r>
              </a:p>
            </p:txBody>
          </p:sp>
          <p:grpSp>
            <p:nvGrpSpPr>
              <p:cNvPr id="77849" name="Group 29">
                <a:extLst>
                  <a:ext uri="{FF2B5EF4-FFF2-40B4-BE49-F238E27FC236}">
                    <a16:creationId xmlns:a16="http://schemas.microsoft.com/office/drawing/2014/main" id="{40C07354-06FE-BC78-EA13-6E14E5E9B656}"/>
                  </a:ext>
                </a:extLst>
              </p:cNvPr>
              <p:cNvGrpSpPr>
                <a:grpSpLocks/>
              </p:cNvGrpSpPr>
              <p:nvPr/>
            </p:nvGrpSpPr>
            <p:grpSpPr bwMode="auto">
              <a:xfrm>
                <a:off x="2189" y="3409"/>
                <a:ext cx="1535" cy="223"/>
                <a:chOff x="4097" y="10852"/>
                <a:chExt cx="2041" cy="297"/>
              </a:xfrm>
            </p:grpSpPr>
            <p:sp>
              <p:nvSpPr>
                <p:cNvPr id="77873" name="Text Box 30">
                  <a:extLst>
                    <a:ext uri="{FF2B5EF4-FFF2-40B4-BE49-F238E27FC236}">
                      <a16:creationId xmlns:a16="http://schemas.microsoft.com/office/drawing/2014/main" id="{FCF5AB86-C019-AE65-AEE4-133893629571}"/>
                    </a:ext>
                  </a:extLst>
                </p:cNvPr>
                <p:cNvSpPr txBox="1">
                  <a:spLocks noChangeArrowheads="1"/>
                </p:cNvSpPr>
                <p:nvPr/>
              </p:nvSpPr>
              <p:spPr bwMode="auto">
                <a:xfrm>
                  <a:off x="4097" y="10852"/>
                  <a:ext cx="415" cy="297"/>
                </a:xfrm>
                <a:prstGeom prst="rect">
                  <a:avLst/>
                </a:prstGeom>
                <a:solidFill>
                  <a:srgbClr val="FFFFFF"/>
                </a:solidFill>
                <a:ln w="9525">
                  <a:solidFill>
                    <a:srgbClr val="000000"/>
                  </a:solidFill>
                  <a:miter lim="800000"/>
                  <a:headEnd/>
                  <a:tailEnd/>
                </a:ln>
              </p:spPr>
              <p:txBody>
                <a:bodyPr lIns="7200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i="1">
                      <a:latin typeface="Arial" panose="020B0604020202020204" pitchFamily="34" charset="0"/>
                      <a:ea typeface="微软雅黑" panose="020B0503020204020204" pitchFamily="34" charset="-122"/>
                      <a:cs typeface="Arial" panose="020B0604020202020204" pitchFamily="34" charset="0"/>
                    </a:rPr>
                    <a:t>a</a:t>
                  </a:r>
                  <a:r>
                    <a:rPr lang="en-US" altLang="zh-CN" i="1" baseline="-25000">
                      <a:latin typeface="Arial" panose="020B0604020202020204" pitchFamily="34" charset="0"/>
                      <a:ea typeface="微软雅黑" panose="020B0503020204020204" pitchFamily="34" charset="-122"/>
                      <a:cs typeface="Arial" panose="020B0604020202020204" pitchFamily="34" charset="0"/>
                    </a:rPr>
                    <a:t>n</a:t>
                  </a:r>
                  <a:r>
                    <a:rPr lang="en-US" altLang="zh-CN" baseline="-25000">
                      <a:latin typeface="Arial" panose="020B0604020202020204" pitchFamily="34" charset="0"/>
                      <a:ea typeface="微软雅黑" panose="020B0503020204020204" pitchFamily="34" charset="-122"/>
                      <a:cs typeface="Arial" panose="020B0604020202020204" pitchFamily="34" charset="0"/>
                    </a:rPr>
                    <a:t>-1</a:t>
                  </a:r>
                  <a:endParaRPr lang="en-US" altLang="zh-CN">
                    <a:latin typeface="Arial" panose="020B0604020202020204" pitchFamily="34" charset="0"/>
                    <a:ea typeface="微软雅黑" panose="020B0503020204020204" pitchFamily="34" charset="-122"/>
                    <a:cs typeface="Arial" panose="020B0604020202020204" pitchFamily="34" charset="0"/>
                  </a:endParaRPr>
                </a:p>
              </p:txBody>
            </p:sp>
            <p:sp>
              <p:nvSpPr>
                <p:cNvPr id="77874" name="Text Box 31">
                  <a:extLst>
                    <a:ext uri="{FF2B5EF4-FFF2-40B4-BE49-F238E27FC236}">
                      <a16:creationId xmlns:a16="http://schemas.microsoft.com/office/drawing/2014/main" id="{540E8CE4-D36C-AEC7-4815-0052D2D8CC59}"/>
                    </a:ext>
                  </a:extLst>
                </p:cNvPr>
                <p:cNvSpPr txBox="1">
                  <a:spLocks noChangeArrowheads="1"/>
                </p:cNvSpPr>
                <p:nvPr/>
              </p:nvSpPr>
              <p:spPr bwMode="auto">
                <a:xfrm>
                  <a:off x="4501" y="10852"/>
                  <a:ext cx="415" cy="297"/>
                </a:xfrm>
                <a:prstGeom prst="rect">
                  <a:avLst/>
                </a:prstGeom>
                <a:solidFill>
                  <a:srgbClr val="FFFFFF"/>
                </a:solidFill>
                <a:ln w="9525">
                  <a:solidFill>
                    <a:srgbClr val="000000"/>
                  </a:solidFill>
                  <a:miter lim="800000"/>
                  <a:headEnd/>
                  <a:tailEnd/>
                </a:ln>
              </p:spPr>
              <p:txBody>
                <a:bodyPr lIns="7200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i="1">
                      <a:latin typeface="Arial" panose="020B0604020202020204" pitchFamily="34" charset="0"/>
                      <a:ea typeface="微软雅黑" panose="020B0503020204020204" pitchFamily="34" charset="-122"/>
                      <a:cs typeface="Arial" panose="020B0604020202020204" pitchFamily="34" charset="0"/>
                    </a:rPr>
                    <a:t>a</a:t>
                  </a:r>
                  <a:r>
                    <a:rPr lang="en-US" altLang="zh-CN" i="1" baseline="-25000">
                      <a:latin typeface="Arial" panose="020B0604020202020204" pitchFamily="34" charset="0"/>
                      <a:ea typeface="微软雅黑" panose="020B0503020204020204" pitchFamily="34" charset="-122"/>
                      <a:cs typeface="Arial" panose="020B0604020202020204" pitchFamily="34" charset="0"/>
                    </a:rPr>
                    <a:t>n</a:t>
                  </a:r>
                  <a:r>
                    <a:rPr lang="en-US" altLang="zh-CN" baseline="-25000">
                      <a:latin typeface="Arial" panose="020B0604020202020204" pitchFamily="34" charset="0"/>
                      <a:ea typeface="微软雅黑" panose="020B0503020204020204" pitchFamily="34" charset="-122"/>
                      <a:cs typeface="Arial" panose="020B0604020202020204" pitchFamily="34" charset="0"/>
                    </a:rPr>
                    <a:t>-2</a:t>
                  </a:r>
                  <a:endParaRPr lang="en-US" altLang="zh-CN">
                    <a:latin typeface="Arial" panose="020B0604020202020204" pitchFamily="34" charset="0"/>
                    <a:ea typeface="微软雅黑" panose="020B0503020204020204" pitchFamily="34" charset="-122"/>
                    <a:cs typeface="Arial" panose="020B0604020202020204" pitchFamily="34" charset="0"/>
                  </a:endParaRPr>
                </a:p>
              </p:txBody>
            </p:sp>
            <p:grpSp>
              <p:nvGrpSpPr>
                <p:cNvPr id="77875" name="Group 32">
                  <a:extLst>
                    <a:ext uri="{FF2B5EF4-FFF2-40B4-BE49-F238E27FC236}">
                      <a16:creationId xmlns:a16="http://schemas.microsoft.com/office/drawing/2014/main" id="{0B280DEC-F31B-7DF2-9A2C-68709378E7C6}"/>
                    </a:ext>
                  </a:extLst>
                </p:cNvPr>
                <p:cNvGrpSpPr>
                  <a:grpSpLocks/>
                </p:cNvGrpSpPr>
                <p:nvPr/>
              </p:nvGrpSpPr>
              <p:grpSpPr bwMode="auto">
                <a:xfrm>
                  <a:off x="4905" y="10852"/>
                  <a:ext cx="1233" cy="297"/>
                  <a:chOff x="4905" y="10852"/>
                  <a:chExt cx="1233" cy="297"/>
                </a:xfrm>
              </p:grpSpPr>
              <p:grpSp>
                <p:nvGrpSpPr>
                  <p:cNvPr id="77876" name="Group 33">
                    <a:extLst>
                      <a:ext uri="{FF2B5EF4-FFF2-40B4-BE49-F238E27FC236}">
                        <a16:creationId xmlns:a16="http://schemas.microsoft.com/office/drawing/2014/main" id="{5E721A60-61C0-B4D8-AF6F-2130394C53CB}"/>
                      </a:ext>
                    </a:extLst>
                  </p:cNvPr>
                  <p:cNvGrpSpPr>
                    <a:grpSpLocks/>
                  </p:cNvGrpSpPr>
                  <p:nvPr/>
                </p:nvGrpSpPr>
                <p:grpSpPr bwMode="auto">
                  <a:xfrm>
                    <a:off x="4905" y="10852"/>
                    <a:ext cx="818" cy="297"/>
                    <a:chOff x="4905" y="10852"/>
                    <a:chExt cx="818" cy="297"/>
                  </a:xfrm>
                </p:grpSpPr>
                <p:sp>
                  <p:nvSpPr>
                    <p:cNvPr id="77878" name="Text Box 34">
                      <a:extLst>
                        <a:ext uri="{FF2B5EF4-FFF2-40B4-BE49-F238E27FC236}">
                          <a16:creationId xmlns:a16="http://schemas.microsoft.com/office/drawing/2014/main" id="{3E6D529D-25FD-59F0-6E35-4D703E6D2466}"/>
                        </a:ext>
                      </a:extLst>
                    </p:cNvPr>
                    <p:cNvSpPr txBox="1">
                      <a:spLocks noChangeArrowheads="1"/>
                    </p:cNvSpPr>
                    <p:nvPr/>
                  </p:nvSpPr>
                  <p:spPr bwMode="auto">
                    <a:xfrm>
                      <a:off x="4905" y="10852"/>
                      <a:ext cx="415" cy="297"/>
                    </a:xfrm>
                    <a:prstGeom prst="rect">
                      <a:avLst/>
                    </a:prstGeom>
                    <a:solidFill>
                      <a:srgbClr val="FFFFFF"/>
                    </a:solidFill>
                    <a:ln w="9525">
                      <a:solidFill>
                        <a:srgbClr val="000000"/>
                      </a:solidFill>
                      <a:miter lim="800000"/>
                      <a:headEnd/>
                      <a:tailEnd/>
                    </a:ln>
                  </p:spPr>
                  <p:txBody>
                    <a:bodyPr lIns="7200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lnSpc>
                          <a:spcPct val="150000"/>
                        </a:lnSpc>
                      </a:pPr>
                      <a:r>
                        <a:rPr lang="zh-CN" altLang="en-US">
                          <a:latin typeface="Arial" panose="020B0604020202020204" pitchFamily="34" charset="0"/>
                          <a:ea typeface="微软雅黑" panose="020B0503020204020204" pitchFamily="34" charset="-122"/>
                          <a:cs typeface="Arial" panose="020B0604020202020204" pitchFamily="34" charset="0"/>
                          <a:sym typeface="Symbol" panose="05050102010706020507" pitchFamily="18" charset="2"/>
                        </a:rPr>
                        <a:t> </a:t>
                      </a:r>
                      <a:r>
                        <a:rPr lang="en-US" altLang="zh-CN">
                          <a:latin typeface="Arial" panose="020B0604020202020204" pitchFamily="34" charset="0"/>
                          <a:ea typeface="微软雅黑" panose="020B0503020204020204" pitchFamily="34" charset="-122"/>
                          <a:cs typeface="Arial" panose="020B0604020202020204" pitchFamily="34" charset="0"/>
                          <a:sym typeface="Symbol" panose="05050102010706020507" pitchFamily="18" charset="2"/>
                        </a:rPr>
                        <a:t></a:t>
                      </a:r>
                      <a:endParaRPr lang="en-US" altLang="zh-CN">
                        <a:latin typeface="Arial" panose="020B0604020202020204" pitchFamily="34" charset="0"/>
                        <a:ea typeface="微软雅黑" panose="020B0503020204020204" pitchFamily="34" charset="-122"/>
                        <a:cs typeface="Arial" panose="020B0604020202020204" pitchFamily="34" charset="0"/>
                      </a:endParaRPr>
                    </a:p>
                  </p:txBody>
                </p:sp>
                <p:sp>
                  <p:nvSpPr>
                    <p:cNvPr id="77879" name="Text Box 35">
                      <a:extLst>
                        <a:ext uri="{FF2B5EF4-FFF2-40B4-BE49-F238E27FC236}">
                          <a16:creationId xmlns:a16="http://schemas.microsoft.com/office/drawing/2014/main" id="{CD83044D-2FE2-AAF9-FC01-6B673AC2DF52}"/>
                        </a:ext>
                      </a:extLst>
                    </p:cNvPr>
                    <p:cNvSpPr txBox="1">
                      <a:spLocks noChangeArrowheads="1"/>
                    </p:cNvSpPr>
                    <p:nvPr/>
                  </p:nvSpPr>
                  <p:spPr bwMode="auto">
                    <a:xfrm>
                      <a:off x="5308" y="10852"/>
                      <a:ext cx="415" cy="297"/>
                    </a:xfrm>
                    <a:prstGeom prst="rect">
                      <a:avLst/>
                    </a:prstGeom>
                    <a:solidFill>
                      <a:srgbClr val="FFFFFF"/>
                    </a:solidFill>
                    <a:ln w="9525">
                      <a:solidFill>
                        <a:srgbClr val="000000"/>
                      </a:solidFill>
                      <a:miter lim="800000"/>
                      <a:headEnd/>
                      <a:tailEnd/>
                    </a:ln>
                  </p:spPr>
                  <p:txBody>
                    <a:bodyPr lIns="7200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zh-CN" altLang="en-US" i="1">
                          <a:latin typeface="Arial" panose="020B0604020202020204" pitchFamily="34" charset="0"/>
                          <a:ea typeface="微软雅黑" panose="020B0503020204020204" pitchFamily="34" charset="-122"/>
                          <a:cs typeface="Arial" panose="020B0604020202020204" pitchFamily="34" charset="0"/>
                        </a:rPr>
                        <a:t>  </a:t>
                      </a:r>
                      <a:r>
                        <a:rPr lang="en-US" altLang="zh-CN" i="1">
                          <a:latin typeface="Arial" panose="020B0604020202020204" pitchFamily="34" charset="0"/>
                          <a:ea typeface="微软雅黑" panose="020B0503020204020204" pitchFamily="34" charset="-122"/>
                          <a:cs typeface="Arial" panose="020B0604020202020204" pitchFamily="34" charset="0"/>
                        </a:rPr>
                        <a:t>a</a:t>
                      </a:r>
                      <a:r>
                        <a:rPr lang="en-US" altLang="zh-CN" baseline="-25000">
                          <a:latin typeface="Arial" panose="020B0604020202020204" pitchFamily="34" charset="0"/>
                          <a:ea typeface="微软雅黑" panose="020B0503020204020204" pitchFamily="34" charset="-122"/>
                          <a:cs typeface="Arial" panose="020B0604020202020204" pitchFamily="34" charset="0"/>
                        </a:rPr>
                        <a:t>1</a:t>
                      </a:r>
                      <a:endParaRPr lang="en-US" altLang="zh-CN">
                        <a:latin typeface="Arial" panose="020B0604020202020204" pitchFamily="34" charset="0"/>
                        <a:ea typeface="微软雅黑" panose="020B0503020204020204" pitchFamily="34" charset="-122"/>
                        <a:cs typeface="Arial" panose="020B0604020202020204" pitchFamily="34" charset="0"/>
                      </a:endParaRPr>
                    </a:p>
                  </p:txBody>
                </p:sp>
              </p:grpSp>
              <p:sp>
                <p:nvSpPr>
                  <p:cNvPr id="77877" name="Text Box 36">
                    <a:extLst>
                      <a:ext uri="{FF2B5EF4-FFF2-40B4-BE49-F238E27FC236}">
                        <a16:creationId xmlns:a16="http://schemas.microsoft.com/office/drawing/2014/main" id="{C5612754-C76D-C19A-6226-D2903B5127AC}"/>
                      </a:ext>
                    </a:extLst>
                  </p:cNvPr>
                  <p:cNvSpPr txBox="1">
                    <a:spLocks noChangeArrowheads="1"/>
                  </p:cNvSpPr>
                  <p:nvPr/>
                </p:nvSpPr>
                <p:spPr bwMode="auto">
                  <a:xfrm>
                    <a:off x="5724" y="10852"/>
                    <a:ext cx="414" cy="297"/>
                  </a:xfrm>
                  <a:prstGeom prst="rect">
                    <a:avLst/>
                  </a:prstGeom>
                  <a:solidFill>
                    <a:srgbClr val="FFFFFF"/>
                  </a:solidFill>
                  <a:ln w="9525">
                    <a:solidFill>
                      <a:srgbClr val="000000"/>
                    </a:solidFill>
                    <a:miter lim="800000"/>
                    <a:headEnd/>
                    <a:tailEnd/>
                  </a:ln>
                </p:spPr>
                <p:txBody>
                  <a:bodyPr lIns="7200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zh-CN" altLang="en-US" i="1">
                        <a:latin typeface="Arial" panose="020B0604020202020204" pitchFamily="34" charset="0"/>
                        <a:ea typeface="微软雅黑" panose="020B0503020204020204" pitchFamily="34" charset="-122"/>
                        <a:cs typeface="Arial" panose="020B0604020202020204" pitchFamily="34" charset="0"/>
                      </a:rPr>
                      <a:t> </a:t>
                    </a:r>
                    <a:r>
                      <a:rPr lang="en-US" altLang="zh-CN" i="1">
                        <a:latin typeface="Arial" panose="020B0604020202020204" pitchFamily="34" charset="0"/>
                        <a:ea typeface="微软雅黑" panose="020B0503020204020204" pitchFamily="34" charset="-122"/>
                        <a:cs typeface="Arial" panose="020B0604020202020204" pitchFamily="34" charset="0"/>
                      </a:rPr>
                      <a:t>a</a:t>
                    </a:r>
                    <a:r>
                      <a:rPr lang="en-US" altLang="zh-CN" baseline="-25000">
                        <a:latin typeface="Arial" panose="020B0604020202020204" pitchFamily="34" charset="0"/>
                        <a:ea typeface="微软雅黑" panose="020B0503020204020204" pitchFamily="34" charset="-122"/>
                        <a:cs typeface="Arial" panose="020B0604020202020204" pitchFamily="34" charset="0"/>
                      </a:rPr>
                      <a:t>0</a:t>
                    </a:r>
                    <a:endParaRPr lang="en-US" altLang="zh-CN">
                      <a:latin typeface="Arial" panose="020B0604020202020204" pitchFamily="34" charset="0"/>
                      <a:ea typeface="微软雅黑" panose="020B0503020204020204" pitchFamily="34" charset="-122"/>
                      <a:cs typeface="Arial" panose="020B0604020202020204" pitchFamily="34" charset="0"/>
                    </a:endParaRPr>
                  </a:p>
                </p:txBody>
              </p:sp>
            </p:grpSp>
          </p:grpSp>
          <p:grpSp>
            <p:nvGrpSpPr>
              <p:cNvPr id="77850" name="Group 37">
                <a:extLst>
                  <a:ext uri="{FF2B5EF4-FFF2-40B4-BE49-F238E27FC236}">
                    <a16:creationId xmlns:a16="http://schemas.microsoft.com/office/drawing/2014/main" id="{CD7E5055-F05A-DDCE-BA78-D73995E82B79}"/>
                  </a:ext>
                </a:extLst>
              </p:cNvPr>
              <p:cNvGrpSpPr>
                <a:grpSpLocks/>
              </p:cNvGrpSpPr>
              <p:nvPr/>
            </p:nvGrpSpPr>
            <p:grpSpPr bwMode="auto">
              <a:xfrm>
                <a:off x="3706" y="3341"/>
                <a:ext cx="1345" cy="313"/>
                <a:chOff x="6126" y="10774"/>
                <a:chExt cx="1793" cy="417"/>
              </a:xfrm>
            </p:grpSpPr>
            <p:sp>
              <p:nvSpPr>
                <p:cNvPr id="77871" name="Text Box 38">
                  <a:extLst>
                    <a:ext uri="{FF2B5EF4-FFF2-40B4-BE49-F238E27FC236}">
                      <a16:creationId xmlns:a16="http://schemas.microsoft.com/office/drawing/2014/main" id="{DDA382FF-6CBF-A6DA-7552-01D182086127}"/>
                    </a:ext>
                  </a:extLst>
                </p:cNvPr>
                <p:cNvSpPr txBox="1">
                  <a:spLocks noChangeArrowheads="1"/>
                </p:cNvSpPr>
                <p:nvPr/>
              </p:nvSpPr>
              <p:spPr bwMode="auto">
                <a:xfrm>
                  <a:off x="6998" y="10774"/>
                  <a:ext cx="921" cy="417"/>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lnSpc>
                      <a:spcPct val="150000"/>
                    </a:lnSpc>
                  </a:pPr>
                  <a:r>
                    <a:rPr lang="zh-CN" altLang="en-US">
                      <a:latin typeface="Arial" panose="020B0604020202020204" pitchFamily="34" charset="0"/>
                      <a:ea typeface="微软雅黑" panose="020B0503020204020204" pitchFamily="34" charset="-122"/>
                      <a:cs typeface="Arial" panose="020B0604020202020204" pitchFamily="34" charset="0"/>
                    </a:rPr>
                    <a:t> 压控振荡</a:t>
                  </a:r>
                </a:p>
              </p:txBody>
            </p:sp>
            <p:sp>
              <p:nvSpPr>
                <p:cNvPr id="77872" name="Line 39">
                  <a:extLst>
                    <a:ext uri="{FF2B5EF4-FFF2-40B4-BE49-F238E27FC236}">
                      <a16:creationId xmlns:a16="http://schemas.microsoft.com/office/drawing/2014/main" id="{460E9EE9-26D4-A73E-84B4-67A4E1890C63}"/>
                    </a:ext>
                  </a:extLst>
                </p:cNvPr>
                <p:cNvSpPr>
                  <a:spLocks noChangeShapeType="1"/>
                </p:cNvSpPr>
                <p:nvPr/>
              </p:nvSpPr>
              <p:spPr bwMode="auto">
                <a:xfrm flipH="1">
                  <a:off x="6126" y="11008"/>
                  <a:ext cx="87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7851" name="Line 40">
                <a:extLst>
                  <a:ext uri="{FF2B5EF4-FFF2-40B4-BE49-F238E27FC236}">
                    <a16:creationId xmlns:a16="http://schemas.microsoft.com/office/drawing/2014/main" id="{06C4C817-1E55-9F65-23C7-091522BB51B7}"/>
                  </a:ext>
                </a:extLst>
              </p:cNvPr>
              <p:cNvSpPr>
                <a:spLocks noChangeShapeType="1"/>
              </p:cNvSpPr>
              <p:nvPr/>
            </p:nvSpPr>
            <p:spPr bwMode="auto">
              <a:xfrm>
                <a:off x="4701" y="2882"/>
                <a:ext cx="9" cy="45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852" name="Text Box 41">
                <a:extLst>
                  <a:ext uri="{FF2B5EF4-FFF2-40B4-BE49-F238E27FC236}">
                    <a16:creationId xmlns:a16="http://schemas.microsoft.com/office/drawing/2014/main" id="{AFF44B43-DC91-6250-EAE3-328045828E05}"/>
                  </a:ext>
                </a:extLst>
              </p:cNvPr>
              <p:cNvSpPr txBox="1">
                <a:spLocks noChangeArrowheads="1"/>
              </p:cNvSpPr>
              <p:nvPr/>
            </p:nvSpPr>
            <p:spPr bwMode="auto">
              <a:xfrm>
                <a:off x="2428" y="1975"/>
                <a:ext cx="369" cy="222"/>
              </a:xfrm>
              <a:prstGeom prst="rect">
                <a:avLst/>
              </a:prstGeom>
              <a:solidFill>
                <a:srgbClr val="FFFFFF"/>
              </a:solidFill>
              <a:ln w="9525">
                <a:solidFill>
                  <a:srgbClr val="000000"/>
                </a:solidFill>
                <a:miter lim="800000"/>
                <a:headEnd/>
                <a:tailEnd/>
              </a:ln>
            </p:spPr>
            <p:txBody>
              <a:bodyPr lIns="7200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i="1">
                    <a:latin typeface="Arial" panose="020B0604020202020204" pitchFamily="34" charset="0"/>
                    <a:ea typeface="微软雅黑" panose="020B0503020204020204" pitchFamily="34" charset="-122"/>
                    <a:cs typeface="Arial" panose="020B0604020202020204" pitchFamily="34" charset="0"/>
                  </a:rPr>
                  <a:t>T</a:t>
                </a:r>
                <a:r>
                  <a:rPr lang="en-US" altLang="zh-CN" i="1" baseline="-25000">
                    <a:latin typeface="Arial" panose="020B0604020202020204" pitchFamily="34" charset="0"/>
                    <a:ea typeface="微软雅黑" panose="020B0503020204020204" pitchFamily="34" charset="-122"/>
                    <a:cs typeface="Arial" panose="020B0604020202020204" pitchFamily="34" charset="0"/>
                  </a:rPr>
                  <a:t>c </a:t>
                </a:r>
                <a:r>
                  <a:rPr lang="en-US" altLang="zh-CN" i="1">
                    <a:latin typeface="Arial" panose="020B0604020202020204" pitchFamily="34" charset="0"/>
                    <a:ea typeface="微软雅黑" panose="020B0503020204020204" pitchFamily="34" charset="-122"/>
                    <a:cs typeface="Arial" panose="020B0604020202020204" pitchFamily="34" charset="0"/>
                  </a:rPr>
                  <a:t>/2</a:t>
                </a:r>
                <a:endParaRPr lang="en-US" altLang="zh-CN">
                  <a:latin typeface="Arial" panose="020B0604020202020204" pitchFamily="34" charset="0"/>
                  <a:ea typeface="微软雅黑" panose="020B0503020204020204" pitchFamily="34" charset="-122"/>
                  <a:cs typeface="Arial" panose="020B0604020202020204" pitchFamily="34" charset="0"/>
                </a:endParaRPr>
              </a:p>
            </p:txBody>
          </p:sp>
          <p:sp>
            <p:nvSpPr>
              <p:cNvPr id="77853" name="Line 42">
                <a:extLst>
                  <a:ext uri="{FF2B5EF4-FFF2-40B4-BE49-F238E27FC236}">
                    <a16:creationId xmlns:a16="http://schemas.microsoft.com/office/drawing/2014/main" id="{310E41D5-692B-29DA-1B58-10A24AC99440}"/>
                  </a:ext>
                </a:extLst>
              </p:cNvPr>
              <p:cNvSpPr>
                <a:spLocks noChangeShapeType="1"/>
              </p:cNvSpPr>
              <p:nvPr/>
            </p:nvSpPr>
            <p:spPr bwMode="auto">
              <a:xfrm flipH="1">
                <a:off x="2310" y="1907"/>
                <a:ext cx="1" cy="166"/>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77854" name="Line 43">
                <a:extLst>
                  <a:ext uri="{FF2B5EF4-FFF2-40B4-BE49-F238E27FC236}">
                    <a16:creationId xmlns:a16="http://schemas.microsoft.com/office/drawing/2014/main" id="{9D7A386B-95D4-635B-E107-A80A75F72479}"/>
                  </a:ext>
                </a:extLst>
              </p:cNvPr>
              <p:cNvSpPr>
                <a:spLocks noChangeShapeType="1"/>
              </p:cNvSpPr>
              <p:nvPr/>
            </p:nvSpPr>
            <p:spPr bwMode="auto">
              <a:xfrm>
                <a:off x="2310" y="2072"/>
                <a:ext cx="117" cy="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55" name="Line 44">
                <a:extLst>
                  <a:ext uri="{FF2B5EF4-FFF2-40B4-BE49-F238E27FC236}">
                    <a16:creationId xmlns:a16="http://schemas.microsoft.com/office/drawing/2014/main" id="{8CEC2CD9-CB82-2159-5536-CB283212598F}"/>
                  </a:ext>
                </a:extLst>
              </p:cNvPr>
              <p:cNvSpPr>
                <a:spLocks noChangeShapeType="1"/>
              </p:cNvSpPr>
              <p:nvPr/>
            </p:nvSpPr>
            <p:spPr bwMode="auto">
              <a:xfrm>
                <a:off x="1482" y="1780"/>
                <a:ext cx="692"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856" name="Text Box 45">
                <a:extLst>
                  <a:ext uri="{FF2B5EF4-FFF2-40B4-BE49-F238E27FC236}">
                    <a16:creationId xmlns:a16="http://schemas.microsoft.com/office/drawing/2014/main" id="{9751BC6F-F3C5-A991-A14A-52184883CFA6}"/>
                  </a:ext>
                </a:extLst>
              </p:cNvPr>
              <p:cNvSpPr txBox="1">
                <a:spLocks noChangeArrowheads="1"/>
              </p:cNvSpPr>
              <p:nvPr/>
            </p:nvSpPr>
            <p:spPr bwMode="auto">
              <a:xfrm>
                <a:off x="3072" y="1624"/>
                <a:ext cx="692" cy="312"/>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zh-CN" altLang="en-US">
                    <a:latin typeface="Arial" panose="020B0604020202020204" pitchFamily="34" charset="0"/>
                    <a:ea typeface="微软雅黑" panose="020B0503020204020204" pitchFamily="34" charset="-122"/>
                    <a:cs typeface="Arial" panose="020B0604020202020204" pitchFamily="34" charset="0"/>
                  </a:rPr>
                  <a:t>解 调</a:t>
                </a:r>
              </a:p>
            </p:txBody>
          </p:sp>
          <p:sp>
            <p:nvSpPr>
              <p:cNvPr id="77857" name="Line 46">
                <a:extLst>
                  <a:ext uri="{FF2B5EF4-FFF2-40B4-BE49-F238E27FC236}">
                    <a16:creationId xmlns:a16="http://schemas.microsoft.com/office/drawing/2014/main" id="{EF928AFA-CD6E-BCE9-DED9-FC1570607F3D}"/>
                  </a:ext>
                </a:extLst>
              </p:cNvPr>
              <p:cNvSpPr>
                <a:spLocks noChangeShapeType="1"/>
              </p:cNvSpPr>
              <p:nvPr/>
            </p:nvSpPr>
            <p:spPr bwMode="auto">
              <a:xfrm>
                <a:off x="3766" y="1780"/>
                <a:ext cx="615"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858" name="Text Box 47">
                <a:extLst>
                  <a:ext uri="{FF2B5EF4-FFF2-40B4-BE49-F238E27FC236}">
                    <a16:creationId xmlns:a16="http://schemas.microsoft.com/office/drawing/2014/main" id="{A8EFECF8-1D66-43D5-345A-3E6BD17B02C6}"/>
                  </a:ext>
                </a:extLst>
              </p:cNvPr>
              <p:cNvSpPr txBox="1">
                <a:spLocks noChangeArrowheads="1"/>
              </p:cNvSpPr>
              <p:nvPr/>
            </p:nvSpPr>
            <p:spPr bwMode="auto">
              <a:xfrm>
                <a:off x="4402" y="1653"/>
                <a:ext cx="692"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zh-CN" altLang="en-US">
                    <a:latin typeface="Arial" panose="020B0604020202020204" pitchFamily="34" charset="0"/>
                    <a:ea typeface="微软雅黑" panose="020B0503020204020204" pitchFamily="34" charset="-122"/>
                    <a:cs typeface="Arial" panose="020B0604020202020204" pitchFamily="34" charset="0"/>
                  </a:rPr>
                  <a:t>信码输出</a:t>
                </a:r>
              </a:p>
            </p:txBody>
          </p:sp>
          <p:sp>
            <p:nvSpPr>
              <p:cNvPr id="77859" name="Text Box 48">
                <a:extLst>
                  <a:ext uri="{FF2B5EF4-FFF2-40B4-BE49-F238E27FC236}">
                    <a16:creationId xmlns:a16="http://schemas.microsoft.com/office/drawing/2014/main" id="{1DCEB41A-9D91-62E9-090F-4DFA77D1C3A5}"/>
                  </a:ext>
                </a:extLst>
              </p:cNvPr>
              <p:cNvSpPr txBox="1">
                <a:spLocks noChangeArrowheads="1"/>
              </p:cNvSpPr>
              <p:nvPr/>
            </p:nvSpPr>
            <p:spPr bwMode="auto">
              <a:xfrm>
                <a:off x="1199" y="1536"/>
                <a:ext cx="692"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zh-CN" altLang="en-US">
                    <a:latin typeface="Arial" panose="020B0604020202020204" pitchFamily="34" charset="0"/>
                    <a:ea typeface="微软雅黑" panose="020B0503020204020204" pitchFamily="34" charset="-122"/>
                    <a:cs typeface="Arial" panose="020B0604020202020204" pitchFamily="34" charset="0"/>
                  </a:rPr>
                  <a:t>接收信号</a:t>
                </a:r>
              </a:p>
            </p:txBody>
          </p:sp>
          <p:sp>
            <p:nvSpPr>
              <p:cNvPr id="77860" name="Text Box 49">
                <a:extLst>
                  <a:ext uri="{FF2B5EF4-FFF2-40B4-BE49-F238E27FC236}">
                    <a16:creationId xmlns:a16="http://schemas.microsoft.com/office/drawing/2014/main" id="{536606F5-20D3-E682-FCD2-E7A43A03F9B9}"/>
                  </a:ext>
                </a:extLst>
              </p:cNvPr>
              <p:cNvSpPr txBox="1">
                <a:spLocks noChangeArrowheads="1"/>
              </p:cNvSpPr>
              <p:nvPr/>
            </p:nvSpPr>
            <p:spPr bwMode="auto">
              <a:xfrm>
                <a:off x="1782" y="2325"/>
                <a:ext cx="147"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a:latin typeface="Arial" panose="020B0604020202020204" pitchFamily="34" charset="0"/>
                    <a:ea typeface="微软雅黑" panose="020B0503020204020204" pitchFamily="34" charset="-122"/>
                    <a:cs typeface="Arial" panose="020B0604020202020204" pitchFamily="34" charset="0"/>
                    <a:sym typeface="Symbol" panose="05050102010706020507" pitchFamily="18" charset="2"/>
                  </a:rPr>
                  <a:t></a:t>
                </a:r>
                <a:endParaRPr lang="en-US" altLang="zh-CN">
                  <a:latin typeface="Arial" panose="020B0604020202020204" pitchFamily="34" charset="0"/>
                  <a:ea typeface="微软雅黑" panose="020B0503020204020204" pitchFamily="34" charset="-122"/>
                  <a:cs typeface="Arial" panose="020B0604020202020204" pitchFamily="34" charset="0"/>
                </a:endParaRPr>
              </a:p>
            </p:txBody>
          </p:sp>
          <p:sp>
            <p:nvSpPr>
              <p:cNvPr id="77861" name="Text Box 50">
                <a:extLst>
                  <a:ext uri="{FF2B5EF4-FFF2-40B4-BE49-F238E27FC236}">
                    <a16:creationId xmlns:a16="http://schemas.microsoft.com/office/drawing/2014/main" id="{50AE31ED-9A0F-55C1-74F0-46D645F5BA1A}"/>
                  </a:ext>
                </a:extLst>
              </p:cNvPr>
              <p:cNvSpPr txBox="1">
                <a:spLocks noChangeArrowheads="1"/>
              </p:cNvSpPr>
              <p:nvPr/>
            </p:nvSpPr>
            <p:spPr bwMode="auto">
              <a:xfrm>
                <a:off x="2581" y="2617"/>
                <a:ext cx="149"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a:latin typeface="Arial" panose="020B0604020202020204" pitchFamily="34" charset="0"/>
                    <a:ea typeface="微软雅黑" panose="020B0503020204020204" pitchFamily="34" charset="-122"/>
                    <a:cs typeface="Arial" panose="020B0604020202020204" pitchFamily="34" charset="0"/>
                    <a:sym typeface="Symbol" panose="05050102010706020507" pitchFamily="18" charset="2"/>
                  </a:rPr>
                  <a:t></a:t>
                </a:r>
                <a:endParaRPr lang="en-US" altLang="zh-CN">
                  <a:latin typeface="Arial" panose="020B0604020202020204" pitchFamily="34" charset="0"/>
                  <a:ea typeface="微软雅黑" panose="020B0503020204020204" pitchFamily="34" charset="-122"/>
                  <a:cs typeface="Arial" panose="020B0604020202020204" pitchFamily="34" charset="0"/>
                </a:endParaRPr>
              </a:p>
            </p:txBody>
          </p:sp>
          <p:sp>
            <p:nvSpPr>
              <p:cNvPr id="77862" name="Text Box 51">
                <a:extLst>
                  <a:ext uri="{FF2B5EF4-FFF2-40B4-BE49-F238E27FC236}">
                    <a16:creationId xmlns:a16="http://schemas.microsoft.com/office/drawing/2014/main" id="{760373EF-20CE-AD97-0C3A-5C63C54A022D}"/>
                  </a:ext>
                </a:extLst>
              </p:cNvPr>
              <p:cNvSpPr txBox="1">
                <a:spLocks noChangeArrowheads="1"/>
              </p:cNvSpPr>
              <p:nvPr/>
            </p:nvSpPr>
            <p:spPr bwMode="auto">
              <a:xfrm>
                <a:off x="1790" y="1700"/>
                <a:ext cx="150"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a:latin typeface="Arial" panose="020B0604020202020204" pitchFamily="34" charset="0"/>
                    <a:ea typeface="微软雅黑" panose="020B0503020204020204" pitchFamily="34" charset="-122"/>
                    <a:cs typeface="Arial" panose="020B0604020202020204" pitchFamily="34" charset="0"/>
                    <a:sym typeface="Symbol" panose="05050102010706020507" pitchFamily="18" charset="2"/>
                  </a:rPr>
                  <a:t></a:t>
                </a:r>
                <a:endParaRPr lang="en-US" altLang="zh-CN">
                  <a:latin typeface="Arial" panose="020B0604020202020204" pitchFamily="34" charset="0"/>
                  <a:ea typeface="微软雅黑" panose="020B0503020204020204" pitchFamily="34" charset="-122"/>
                  <a:cs typeface="Arial" panose="020B0604020202020204" pitchFamily="34" charset="0"/>
                </a:endParaRPr>
              </a:p>
            </p:txBody>
          </p:sp>
          <p:sp>
            <p:nvSpPr>
              <p:cNvPr id="77863" name="Text Box 52">
                <a:extLst>
                  <a:ext uri="{FF2B5EF4-FFF2-40B4-BE49-F238E27FC236}">
                    <a16:creationId xmlns:a16="http://schemas.microsoft.com/office/drawing/2014/main" id="{0B2D4CE7-2C54-D04E-664E-DB61C7BDF060}"/>
                  </a:ext>
                </a:extLst>
              </p:cNvPr>
              <p:cNvSpPr txBox="1">
                <a:spLocks noChangeArrowheads="1"/>
              </p:cNvSpPr>
              <p:nvPr/>
            </p:nvSpPr>
            <p:spPr bwMode="auto">
              <a:xfrm>
                <a:off x="3940" y="2804"/>
                <a:ext cx="148"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zh-CN" altLang="en-US">
                    <a:latin typeface="Arial" panose="020B0604020202020204" pitchFamily="34" charset="0"/>
                    <a:ea typeface="微软雅黑" panose="020B0503020204020204" pitchFamily="34" charset="-122"/>
                    <a:cs typeface="Arial" panose="020B0604020202020204" pitchFamily="34" charset="0"/>
                  </a:rPr>
                  <a:t>－</a:t>
                </a:r>
              </a:p>
            </p:txBody>
          </p:sp>
          <p:sp>
            <p:nvSpPr>
              <p:cNvPr id="77864" name="Text Box 53">
                <a:extLst>
                  <a:ext uri="{FF2B5EF4-FFF2-40B4-BE49-F238E27FC236}">
                    <a16:creationId xmlns:a16="http://schemas.microsoft.com/office/drawing/2014/main" id="{7347846E-6C64-4455-B6DF-D957E698BC10}"/>
                  </a:ext>
                </a:extLst>
              </p:cNvPr>
              <p:cNvSpPr txBox="1">
                <a:spLocks noChangeArrowheads="1"/>
              </p:cNvSpPr>
              <p:nvPr/>
            </p:nvSpPr>
            <p:spPr bwMode="auto">
              <a:xfrm>
                <a:off x="3910" y="2424"/>
                <a:ext cx="149"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zh-CN" altLang="en-US">
                    <a:latin typeface="Arial" panose="020B0604020202020204" pitchFamily="34" charset="0"/>
                    <a:ea typeface="微软雅黑" panose="020B0503020204020204" pitchFamily="34" charset="-122"/>
                    <a:cs typeface="Arial" panose="020B0604020202020204" pitchFamily="34" charset="0"/>
                  </a:rPr>
                  <a:t>＋</a:t>
                </a:r>
              </a:p>
            </p:txBody>
          </p:sp>
          <p:sp>
            <p:nvSpPr>
              <p:cNvPr id="77865" name="Text Box 54">
                <a:extLst>
                  <a:ext uri="{FF2B5EF4-FFF2-40B4-BE49-F238E27FC236}">
                    <a16:creationId xmlns:a16="http://schemas.microsoft.com/office/drawing/2014/main" id="{646B2D66-149C-8FEE-F527-D16A7301B48D}"/>
                  </a:ext>
                </a:extLst>
              </p:cNvPr>
              <p:cNvSpPr txBox="1">
                <a:spLocks noChangeArrowheads="1"/>
              </p:cNvSpPr>
              <p:nvPr/>
            </p:nvSpPr>
            <p:spPr bwMode="auto">
              <a:xfrm>
                <a:off x="2324" y="3676"/>
                <a:ext cx="12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zh-CN" altLang="en-US">
                    <a:latin typeface="Arial" panose="020B0604020202020204" pitchFamily="34" charset="0"/>
                    <a:ea typeface="微软雅黑" panose="020B0503020204020204" pitchFamily="34" charset="-122"/>
                    <a:cs typeface="Arial" panose="020B0604020202020204" pitchFamily="34" charset="0"/>
                  </a:rPr>
                  <a:t>伪码产生器</a:t>
                </a:r>
              </a:p>
            </p:txBody>
          </p:sp>
          <p:sp>
            <p:nvSpPr>
              <p:cNvPr id="77866" name="Text Box 56">
                <a:extLst>
                  <a:ext uri="{FF2B5EF4-FFF2-40B4-BE49-F238E27FC236}">
                    <a16:creationId xmlns:a16="http://schemas.microsoft.com/office/drawing/2014/main" id="{541A9E7F-4830-F0BE-9D9A-BF23D761C3F5}"/>
                  </a:ext>
                </a:extLst>
              </p:cNvPr>
              <p:cNvSpPr txBox="1">
                <a:spLocks noChangeArrowheads="1"/>
              </p:cNvSpPr>
              <p:nvPr/>
            </p:nvSpPr>
            <p:spPr bwMode="auto">
              <a:xfrm>
                <a:off x="2639" y="3189"/>
                <a:ext cx="723"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i="1">
                    <a:latin typeface="Arial" panose="020B0604020202020204" pitchFamily="34" charset="0"/>
                    <a:ea typeface="微软雅黑" panose="020B0503020204020204" pitchFamily="34" charset="-122"/>
                    <a:cs typeface="Arial" panose="020B0604020202020204" pitchFamily="34" charset="0"/>
                  </a:rPr>
                  <a:t>p</a:t>
                </a:r>
                <a:r>
                  <a:rPr lang="en-US" altLang="zh-CN">
                    <a:latin typeface="Arial" panose="020B0604020202020204" pitchFamily="34" charset="0"/>
                    <a:ea typeface="微软雅黑" panose="020B0503020204020204" pitchFamily="34" charset="-122"/>
                    <a:cs typeface="Arial" panose="020B0604020202020204" pitchFamily="34" charset="0"/>
                  </a:rPr>
                  <a:t>(</a:t>
                </a:r>
                <a:r>
                  <a:rPr lang="en-US" altLang="zh-CN" i="1">
                    <a:latin typeface="Arial" panose="020B0604020202020204" pitchFamily="34" charset="0"/>
                    <a:ea typeface="微软雅黑" panose="020B0503020204020204" pitchFamily="34" charset="-122"/>
                    <a:cs typeface="Arial" panose="020B0604020202020204" pitchFamily="34" charset="0"/>
                  </a:rPr>
                  <a:t>t </a:t>
                </a:r>
                <a:r>
                  <a:rPr lang="en-US" altLang="zh-CN">
                    <a:latin typeface="Arial" panose="020B0604020202020204" pitchFamily="34" charset="0"/>
                    <a:ea typeface="微软雅黑" panose="020B0503020204020204" pitchFamily="34" charset="-122"/>
                    <a:cs typeface="Arial" panose="020B0604020202020204" pitchFamily="34" charset="0"/>
                  </a:rPr>
                  <a:t>+ </a:t>
                </a:r>
                <a:r>
                  <a:rPr lang="en-US" altLang="zh-CN" i="1">
                    <a:latin typeface="Arial" panose="020B0604020202020204" pitchFamily="34" charset="0"/>
                    <a:ea typeface="微软雅黑" panose="020B0503020204020204" pitchFamily="34" charset="-122"/>
                    <a:cs typeface="Arial" panose="020B0604020202020204" pitchFamily="34" charset="0"/>
                  </a:rPr>
                  <a:t>T</a:t>
                </a:r>
                <a:r>
                  <a:rPr lang="en-US" altLang="zh-CN" i="1" baseline="-25000">
                    <a:latin typeface="Arial" panose="020B0604020202020204" pitchFamily="34" charset="0"/>
                    <a:ea typeface="微软雅黑" panose="020B0503020204020204" pitchFamily="34" charset="-122"/>
                    <a:cs typeface="Arial" panose="020B0604020202020204" pitchFamily="34" charset="0"/>
                  </a:rPr>
                  <a:t>c</a:t>
                </a:r>
                <a:r>
                  <a:rPr lang="en-US" altLang="zh-CN">
                    <a:latin typeface="Arial" panose="020B0604020202020204" pitchFamily="34" charset="0"/>
                    <a:ea typeface="微软雅黑" panose="020B0503020204020204" pitchFamily="34" charset="-122"/>
                    <a:cs typeface="Arial" panose="020B0604020202020204" pitchFamily="34" charset="0"/>
                  </a:rPr>
                  <a:t>/2)</a:t>
                </a:r>
              </a:p>
            </p:txBody>
          </p:sp>
          <p:sp>
            <p:nvSpPr>
              <p:cNvPr id="77867" name="Text Box 57">
                <a:extLst>
                  <a:ext uri="{FF2B5EF4-FFF2-40B4-BE49-F238E27FC236}">
                    <a16:creationId xmlns:a16="http://schemas.microsoft.com/office/drawing/2014/main" id="{121A3085-BA4B-48D3-E92E-FD780F71C29C}"/>
                  </a:ext>
                </a:extLst>
              </p:cNvPr>
              <p:cNvSpPr txBox="1">
                <a:spLocks noChangeArrowheads="1"/>
              </p:cNvSpPr>
              <p:nvPr/>
            </p:nvSpPr>
            <p:spPr bwMode="auto">
              <a:xfrm>
                <a:off x="1738" y="3194"/>
                <a:ext cx="518"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i="1">
                    <a:latin typeface="Arial" panose="020B0604020202020204" pitchFamily="34" charset="0"/>
                    <a:ea typeface="微软雅黑" panose="020B0503020204020204" pitchFamily="34" charset="-122"/>
                    <a:cs typeface="Arial" panose="020B0604020202020204" pitchFamily="34" charset="0"/>
                  </a:rPr>
                  <a:t>p</a:t>
                </a:r>
                <a:r>
                  <a:rPr lang="en-US" altLang="zh-CN">
                    <a:latin typeface="Arial" panose="020B0604020202020204" pitchFamily="34" charset="0"/>
                    <a:ea typeface="微软雅黑" panose="020B0503020204020204" pitchFamily="34" charset="-122"/>
                    <a:cs typeface="Arial" panose="020B0604020202020204" pitchFamily="34" charset="0"/>
                  </a:rPr>
                  <a:t>(</a:t>
                </a:r>
                <a:r>
                  <a:rPr lang="en-US" altLang="zh-CN" i="1">
                    <a:latin typeface="Arial" panose="020B0604020202020204" pitchFamily="34" charset="0"/>
                    <a:ea typeface="微软雅黑" panose="020B0503020204020204" pitchFamily="34" charset="-122"/>
                    <a:cs typeface="Arial" panose="020B0604020202020204" pitchFamily="34" charset="0"/>
                  </a:rPr>
                  <a:t>t </a:t>
                </a:r>
                <a:r>
                  <a:rPr lang="en-US" altLang="zh-CN">
                    <a:latin typeface="Arial" panose="020B0604020202020204" pitchFamily="34" charset="0"/>
                    <a:ea typeface="微软雅黑" panose="020B0503020204020204" pitchFamily="34" charset="-122"/>
                    <a:cs typeface="Arial" panose="020B0604020202020204" pitchFamily="34" charset="0"/>
                  </a:rPr>
                  <a:t>- </a:t>
                </a:r>
                <a:r>
                  <a:rPr lang="en-US" altLang="zh-CN" i="1">
                    <a:latin typeface="Arial" panose="020B0604020202020204" pitchFamily="34" charset="0"/>
                    <a:ea typeface="微软雅黑" panose="020B0503020204020204" pitchFamily="34" charset="-122"/>
                    <a:cs typeface="Arial" panose="020B0604020202020204" pitchFamily="34" charset="0"/>
                  </a:rPr>
                  <a:t>T</a:t>
                </a:r>
                <a:r>
                  <a:rPr lang="en-US" altLang="zh-CN" i="1" baseline="-25000">
                    <a:latin typeface="Arial" panose="020B0604020202020204" pitchFamily="34" charset="0"/>
                    <a:ea typeface="微软雅黑" panose="020B0503020204020204" pitchFamily="34" charset="-122"/>
                    <a:cs typeface="Arial" panose="020B0604020202020204" pitchFamily="34" charset="0"/>
                  </a:rPr>
                  <a:t>c</a:t>
                </a:r>
                <a:r>
                  <a:rPr lang="en-US" altLang="zh-CN">
                    <a:latin typeface="Arial" panose="020B0604020202020204" pitchFamily="34" charset="0"/>
                    <a:ea typeface="微软雅黑" panose="020B0503020204020204" pitchFamily="34" charset="-122"/>
                    <a:cs typeface="Arial" panose="020B0604020202020204" pitchFamily="34" charset="0"/>
                  </a:rPr>
                  <a:t>/2)</a:t>
                </a:r>
              </a:p>
            </p:txBody>
          </p:sp>
          <p:sp>
            <p:nvSpPr>
              <p:cNvPr id="77868" name="Text Box 58">
                <a:extLst>
                  <a:ext uri="{FF2B5EF4-FFF2-40B4-BE49-F238E27FC236}">
                    <a16:creationId xmlns:a16="http://schemas.microsoft.com/office/drawing/2014/main" id="{1E949F47-FA5B-A57E-C04D-F0642FDA2EFF}"/>
                  </a:ext>
                </a:extLst>
              </p:cNvPr>
              <p:cNvSpPr txBox="1">
                <a:spLocks noChangeArrowheads="1"/>
              </p:cNvSpPr>
              <p:nvPr/>
            </p:nvSpPr>
            <p:spPr bwMode="auto">
              <a:xfrm>
                <a:off x="1820" y="2131"/>
                <a:ext cx="492"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zh-CN" altLang="en-US">
                    <a:latin typeface="Arial" panose="020B0604020202020204" pitchFamily="34" charset="0"/>
                    <a:ea typeface="微软雅黑" panose="020B0503020204020204" pitchFamily="34" charset="-122"/>
                    <a:cs typeface="Arial" panose="020B0604020202020204" pitchFamily="34" charset="0"/>
                  </a:rPr>
                  <a:t>早相关</a:t>
                </a:r>
              </a:p>
            </p:txBody>
          </p:sp>
          <p:sp>
            <p:nvSpPr>
              <p:cNvPr id="77869" name="Text Box 59">
                <a:extLst>
                  <a:ext uri="{FF2B5EF4-FFF2-40B4-BE49-F238E27FC236}">
                    <a16:creationId xmlns:a16="http://schemas.microsoft.com/office/drawing/2014/main" id="{524DBB8C-BDA9-F33E-154B-0DE4D5783B2D}"/>
                  </a:ext>
                </a:extLst>
              </p:cNvPr>
              <p:cNvSpPr txBox="1">
                <a:spLocks noChangeArrowheads="1"/>
              </p:cNvSpPr>
              <p:nvPr/>
            </p:nvSpPr>
            <p:spPr bwMode="auto">
              <a:xfrm>
                <a:off x="1861" y="2687"/>
                <a:ext cx="453"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zh-CN" altLang="en-US">
                    <a:latin typeface="Arial" panose="020B0604020202020204" pitchFamily="34" charset="0"/>
                    <a:ea typeface="微软雅黑" panose="020B0503020204020204" pitchFamily="34" charset="-122"/>
                    <a:cs typeface="Arial" panose="020B0604020202020204" pitchFamily="34" charset="0"/>
                  </a:rPr>
                  <a:t>迟相关</a:t>
                </a:r>
              </a:p>
            </p:txBody>
          </p:sp>
          <p:sp>
            <p:nvSpPr>
              <p:cNvPr id="77870" name="Text Box 60">
                <a:extLst>
                  <a:ext uri="{FF2B5EF4-FFF2-40B4-BE49-F238E27FC236}">
                    <a16:creationId xmlns:a16="http://schemas.microsoft.com/office/drawing/2014/main" id="{327625DA-8A47-0D62-D974-3975038C3649}"/>
                  </a:ext>
                </a:extLst>
              </p:cNvPr>
              <p:cNvSpPr txBox="1">
                <a:spLocks noChangeArrowheads="1"/>
              </p:cNvSpPr>
              <p:nvPr/>
            </p:nvSpPr>
            <p:spPr bwMode="auto">
              <a:xfrm>
                <a:off x="4471" y="3017"/>
                <a:ext cx="214"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i="1">
                    <a:latin typeface="Arial" panose="020B0604020202020204" pitchFamily="34" charset="0"/>
                    <a:ea typeface="微软雅黑" panose="020B0503020204020204" pitchFamily="34" charset="-122"/>
                    <a:cs typeface="Arial" panose="020B0604020202020204" pitchFamily="34" charset="0"/>
                  </a:rPr>
                  <a:t>V</a:t>
                </a:r>
                <a:r>
                  <a:rPr lang="en-US" altLang="zh-CN" i="1" baseline="-25000">
                    <a:latin typeface="Arial" panose="020B0604020202020204" pitchFamily="34" charset="0"/>
                    <a:ea typeface="微软雅黑" panose="020B0503020204020204" pitchFamily="34" charset="-122"/>
                    <a:cs typeface="Arial" panose="020B0604020202020204" pitchFamily="34" charset="0"/>
                  </a:rPr>
                  <a:t>c</a:t>
                </a:r>
                <a:endParaRPr lang="en-US" altLang="zh-CN">
                  <a:latin typeface="Arial" panose="020B0604020202020204" pitchFamily="34" charset="0"/>
                  <a:ea typeface="微软雅黑" panose="020B0503020204020204" pitchFamily="34" charset="-122"/>
                  <a:cs typeface="Arial" panose="020B0604020202020204" pitchFamily="34" charset="0"/>
                </a:endParaRPr>
              </a:p>
            </p:txBody>
          </p:sp>
        </p:grpSp>
        <p:sp>
          <p:nvSpPr>
            <p:cNvPr id="77830" name="Line 12">
              <a:extLst>
                <a:ext uri="{FF2B5EF4-FFF2-40B4-BE49-F238E27FC236}">
                  <a16:creationId xmlns:a16="http://schemas.microsoft.com/office/drawing/2014/main" id="{EFE3E74A-67C8-3325-7715-FBD22166073C}"/>
                </a:ext>
              </a:extLst>
            </p:cNvPr>
            <p:cNvSpPr>
              <a:spLocks noChangeShapeType="1"/>
            </p:cNvSpPr>
            <p:nvPr/>
          </p:nvSpPr>
          <p:spPr bwMode="auto">
            <a:xfrm>
              <a:off x="3313113" y="4687888"/>
              <a:ext cx="1587" cy="512762"/>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10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wipe(up)">
                                      <p:cBhvr>
                                        <p:cTn id="12" dur="1000"/>
                                        <p:tgtEl>
                                          <p:spTgt spid="37"/>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up)">
                                      <p:cBhvr>
                                        <p:cTn id="16"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7"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8">
            <a:extLst>
              <a:ext uri="{FF2B5EF4-FFF2-40B4-BE49-F238E27FC236}">
                <a16:creationId xmlns:a16="http://schemas.microsoft.com/office/drawing/2014/main" id="{37796B13-28D8-C6C8-F1E7-5ECD13FDF825}"/>
              </a:ext>
            </a:extLst>
          </p:cNvPr>
          <p:cNvGrpSpPr>
            <a:grpSpLocks/>
          </p:cNvGrpSpPr>
          <p:nvPr/>
        </p:nvGrpSpPr>
        <p:grpSpPr bwMode="auto">
          <a:xfrm>
            <a:off x="857250" y="1857375"/>
            <a:ext cx="7500938" cy="3916363"/>
            <a:chOff x="1336" y="1366"/>
            <a:chExt cx="4124" cy="2273"/>
          </a:xfrm>
        </p:grpSpPr>
        <p:sp>
          <p:nvSpPr>
            <p:cNvPr id="78852" name="AutoShape 5">
              <a:extLst>
                <a:ext uri="{FF2B5EF4-FFF2-40B4-BE49-F238E27FC236}">
                  <a16:creationId xmlns:a16="http://schemas.microsoft.com/office/drawing/2014/main" id="{BD119443-446C-9A4D-6812-11447FF45218}"/>
                </a:ext>
              </a:extLst>
            </p:cNvPr>
            <p:cNvSpPr>
              <a:spLocks noChangeAspect="1" noChangeArrowheads="1"/>
            </p:cNvSpPr>
            <p:nvPr/>
          </p:nvSpPr>
          <p:spPr bwMode="auto">
            <a:xfrm>
              <a:off x="1377" y="1366"/>
              <a:ext cx="4083" cy="2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nvGrpSpPr>
            <p:cNvPr id="78853" name="Group 6">
              <a:extLst>
                <a:ext uri="{FF2B5EF4-FFF2-40B4-BE49-F238E27FC236}">
                  <a16:creationId xmlns:a16="http://schemas.microsoft.com/office/drawing/2014/main" id="{CC0DE0EE-0C07-044D-220E-73EC4360BA79}"/>
                </a:ext>
              </a:extLst>
            </p:cNvPr>
            <p:cNvGrpSpPr>
              <a:grpSpLocks/>
            </p:cNvGrpSpPr>
            <p:nvPr/>
          </p:nvGrpSpPr>
          <p:grpSpPr bwMode="auto">
            <a:xfrm>
              <a:off x="1710" y="1986"/>
              <a:ext cx="558" cy="234"/>
              <a:chOff x="3265" y="1654"/>
              <a:chExt cx="806" cy="338"/>
            </a:xfrm>
          </p:grpSpPr>
          <p:sp>
            <p:nvSpPr>
              <p:cNvPr id="78892" name="AutoShape 7">
                <a:extLst>
                  <a:ext uri="{FF2B5EF4-FFF2-40B4-BE49-F238E27FC236}">
                    <a16:creationId xmlns:a16="http://schemas.microsoft.com/office/drawing/2014/main" id="{C59C0CC8-1ADE-5DE9-2BBE-30B12790E591}"/>
                  </a:ext>
                </a:extLst>
              </p:cNvPr>
              <p:cNvSpPr>
                <a:spLocks noChangeArrowheads="1"/>
              </p:cNvSpPr>
              <p:nvPr/>
            </p:nvSpPr>
            <p:spPr bwMode="auto">
              <a:xfrm>
                <a:off x="3693" y="1654"/>
                <a:ext cx="378" cy="338"/>
              </a:xfrm>
              <a:prstGeom prst="flowChartSummingJunction">
                <a:avLst/>
              </a:prstGeom>
              <a:solidFill>
                <a:srgbClr val="FFFFFF"/>
              </a:solidFill>
              <a:ln w="9525">
                <a:solidFill>
                  <a:srgbClr val="000000"/>
                </a:solidFill>
                <a:round/>
                <a:headEnd/>
                <a:tailE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sp>
            <p:nvSpPr>
              <p:cNvPr id="78893" name="Line 8">
                <a:extLst>
                  <a:ext uri="{FF2B5EF4-FFF2-40B4-BE49-F238E27FC236}">
                    <a16:creationId xmlns:a16="http://schemas.microsoft.com/office/drawing/2014/main" id="{6DEB6E76-0ABF-CA5E-4395-CC614D9C80E4}"/>
                  </a:ext>
                </a:extLst>
              </p:cNvPr>
              <p:cNvSpPr>
                <a:spLocks noChangeShapeType="1"/>
              </p:cNvSpPr>
              <p:nvPr/>
            </p:nvSpPr>
            <p:spPr bwMode="auto">
              <a:xfrm>
                <a:off x="3265" y="1836"/>
                <a:ext cx="42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8854" name="Group 9">
              <a:extLst>
                <a:ext uri="{FF2B5EF4-FFF2-40B4-BE49-F238E27FC236}">
                  <a16:creationId xmlns:a16="http://schemas.microsoft.com/office/drawing/2014/main" id="{96CC2B9B-6D53-335A-ADBF-CD4802AFEB48}"/>
                </a:ext>
              </a:extLst>
            </p:cNvPr>
            <p:cNvGrpSpPr>
              <a:grpSpLocks/>
            </p:cNvGrpSpPr>
            <p:nvPr/>
          </p:nvGrpSpPr>
          <p:grpSpPr bwMode="auto">
            <a:xfrm>
              <a:off x="2276" y="1986"/>
              <a:ext cx="946" cy="261"/>
              <a:chOff x="4083" y="1654"/>
              <a:chExt cx="1367" cy="377"/>
            </a:xfrm>
          </p:grpSpPr>
          <p:sp>
            <p:nvSpPr>
              <p:cNvPr id="78890" name="Text Box 10">
                <a:extLst>
                  <a:ext uri="{FF2B5EF4-FFF2-40B4-BE49-F238E27FC236}">
                    <a16:creationId xmlns:a16="http://schemas.microsoft.com/office/drawing/2014/main" id="{DADEC178-0C81-C01D-6CAF-D6C257E2B099}"/>
                  </a:ext>
                </a:extLst>
              </p:cNvPr>
              <p:cNvSpPr txBox="1">
                <a:spLocks noChangeArrowheads="1"/>
              </p:cNvSpPr>
              <p:nvPr/>
            </p:nvSpPr>
            <p:spPr bwMode="auto">
              <a:xfrm>
                <a:off x="4656" y="1654"/>
                <a:ext cx="794" cy="377"/>
              </a:xfrm>
              <a:prstGeom prst="rect">
                <a:avLst/>
              </a:prstGeom>
              <a:solidFill>
                <a:srgbClr val="FFFFFF"/>
              </a:solidFill>
              <a:ln w="9525">
                <a:solidFill>
                  <a:srgbClr val="000000"/>
                </a:solidFill>
                <a:miter lim="800000"/>
                <a:headEnd/>
                <a:tailEnd/>
              </a:ln>
            </p:spPr>
            <p:txBody>
              <a:bodyPr lIns="0" tIns="3600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lnSpc>
                    <a:spcPct val="150000"/>
                  </a:lnSpc>
                </a:pPr>
                <a:r>
                  <a:rPr lang="zh-CN" altLang="en-US">
                    <a:latin typeface="微软雅黑" panose="020B0503020204020204" pitchFamily="34" charset="-122"/>
                    <a:ea typeface="微软雅黑" panose="020B0503020204020204" pitchFamily="34" charset="-122"/>
                  </a:rPr>
                  <a:t>带通滤波</a:t>
                </a:r>
              </a:p>
            </p:txBody>
          </p:sp>
          <p:sp>
            <p:nvSpPr>
              <p:cNvPr id="78891" name="Line 11">
                <a:extLst>
                  <a:ext uri="{FF2B5EF4-FFF2-40B4-BE49-F238E27FC236}">
                    <a16:creationId xmlns:a16="http://schemas.microsoft.com/office/drawing/2014/main" id="{F6555FBA-51F5-5E9A-8959-7155B0B233D9}"/>
                  </a:ext>
                </a:extLst>
              </p:cNvPr>
              <p:cNvSpPr>
                <a:spLocks noChangeShapeType="1"/>
              </p:cNvSpPr>
              <p:nvPr/>
            </p:nvSpPr>
            <p:spPr bwMode="auto">
              <a:xfrm>
                <a:off x="4083" y="1834"/>
                <a:ext cx="559"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8855" name="Text Box 12">
              <a:extLst>
                <a:ext uri="{FF2B5EF4-FFF2-40B4-BE49-F238E27FC236}">
                  <a16:creationId xmlns:a16="http://schemas.microsoft.com/office/drawing/2014/main" id="{989FE446-CD91-2E71-2A1A-7243CFF661D7}"/>
                </a:ext>
              </a:extLst>
            </p:cNvPr>
            <p:cNvSpPr txBox="1">
              <a:spLocks noChangeArrowheads="1"/>
            </p:cNvSpPr>
            <p:nvPr/>
          </p:nvSpPr>
          <p:spPr bwMode="auto">
            <a:xfrm>
              <a:off x="3599" y="1986"/>
              <a:ext cx="549" cy="261"/>
            </a:xfrm>
            <a:prstGeom prst="rect">
              <a:avLst/>
            </a:prstGeom>
            <a:solidFill>
              <a:srgbClr val="FFFFFF"/>
            </a:solidFill>
            <a:ln w="9525">
              <a:solidFill>
                <a:srgbClr val="000000"/>
              </a:solidFill>
              <a:miter lim="800000"/>
              <a:headEnd/>
              <a:tailEnd/>
            </a:ln>
          </p:spPr>
          <p:txBody>
            <a:bodyPr lIns="0" tIns="3600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lnSpc>
                  <a:spcPct val="150000"/>
                </a:lnSpc>
              </a:pPr>
              <a:r>
                <a:rPr lang="zh-CN" altLang="en-US">
                  <a:latin typeface="微软雅黑" panose="020B0503020204020204" pitchFamily="34" charset="-122"/>
                  <a:ea typeface="微软雅黑" panose="020B0503020204020204" pitchFamily="34" charset="-122"/>
                </a:rPr>
                <a:t>包络检波</a:t>
              </a:r>
            </a:p>
          </p:txBody>
        </p:sp>
        <p:sp>
          <p:nvSpPr>
            <p:cNvPr id="78856" name="Line 13">
              <a:extLst>
                <a:ext uri="{FF2B5EF4-FFF2-40B4-BE49-F238E27FC236}">
                  <a16:creationId xmlns:a16="http://schemas.microsoft.com/office/drawing/2014/main" id="{1E5C56BA-A733-6972-AA22-835CED732265}"/>
                </a:ext>
              </a:extLst>
            </p:cNvPr>
            <p:cNvSpPr>
              <a:spLocks noChangeShapeType="1"/>
            </p:cNvSpPr>
            <p:nvPr/>
          </p:nvSpPr>
          <p:spPr bwMode="auto">
            <a:xfrm>
              <a:off x="3203" y="2111"/>
              <a:ext cx="386"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78857" name="Group 14">
              <a:extLst>
                <a:ext uri="{FF2B5EF4-FFF2-40B4-BE49-F238E27FC236}">
                  <a16:creationId xmlns:a16="http://schemas.microsoft.com/office/drawing/2014/main" id="{FF38FB15-9C1F-DC28-BFA2-945B99279E97}"/>
                </a:ext>
              </a:extLst>
            </p:cNvPr>
            <p:cNvGrpSpPr>
              <a:grpSpLocks/>
            </p:cNvGrpSpPr>
            <p:nvPr/>
          </p:nvGrpSpPr>
          <p:grpSpPr bwMode="auto">
            <a:xfrm>
              <a:off x="4157" y="1986"/>
              <a:ext cx="558" cy="234"/>
              <a:chOff x="3265" y="1654"/>
              <a:chExt cx="806" cy="338"/>
            </a:xfrm>
          </p:grpSpPr>
          <p:sp>
            <p:nvSpPr>
              <p:cNvPr id="78888" name="AutoShape 15">
                <a:extLst>
                  <a:ext uri="{FF2B5EF4-FFF2-40B4-BE49-F238E27FC236}">
                    <a16:creationId xmlns:a16="http://schemas.microsoft.com/office/drawing/2014/main" id="{D25D8407-8F94-6E4A-F70F-2B4C43ADFEB7}"/>
                  </a:ext>
                </a:extLst>
              </p:cNvPr>
              <p:cNvSpPr>
                <a:spLocks noChangeArrowheads="1"/>
              </p:cNvSpPr>
              <p:nvPr/>
            </p:nvSpPr>
            <p:spPr bwMode="auto">
              <a:xfrm>
                <a:off x="3693" y="1654"/>
                <a:ext cx="378" cy="338"/>
              </a:xfrm>
              <a:prstGeom prst="flowChartSummingJunction">
                <a:avLst/>
              </a:prstGeom>
              <a:solidFill>
                <a:srgbClr val="FFFFFF"/>
              </a:solidFill>
              <a:ln w="9525">
                <a:solidFill>
                  <a:srgbClr val="000000"/>
                </a:solidFill>
                <a:round/>
                <a:headEnd/>
                <a:tailE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sp>
            <p:nvSpPr>
              <p:cNvPr id="78889" name="Line 16">
                <a:extLst>
                  <a:ext uri="{FF2B5EF4-FFF2-40B4-BE49-F238E27FC236}">
                    <a16:creationId xmlns:a16="http://schemas.microsoft.com/office/drawing/2014/main" id="{FDC34C64-C505-7B30-CCC9-A4296265E675}"/>
                  </a:ext>
                </a:extLst>
              </p:cNvPr>
              <p:cNvSpPr>
                <a:spLocks noChangeShapeType="1"/>
              </p:cNvSpPr>
              <p:nvPr/>
            </p:nvSpPr>
            <p:spPr bwMode="auto">
              <a:xfrm>
                <a:off x="3265" y="1836"/>
                <a:ext cx="42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8858" name="Text Box 17">
              <a:extLst>
                <a:ext uri="{FF2B5EF4-FFF2-40B4-BE49-F238E27FC236}">
                  <a16:creationId xmlns:a16="http://schemas.microsoft.com/office/drawing/2014/main" id="{8542839A-7E49-04C0-CAE4-009BB7B9FAEC}"/>
                </a:ext>
              </a:extLst>
            </p:cNvPr>
            <p:cNvSpPr txBox="1">
              <a:spLocks noChangeArrowheads="1"/>
            </p:cNvSpPr>
            <p:nvPr/>
          </p:nvSpPr>
          <p:spPr bwMode="auto">
            <a:xfrm>
              <a:off x="2672" y="1483"/>
              <a:ext cx="549" cy="261"/>
            </a:xfrm>
            <a:prstGeom prst="rect">
              <a:avLst/>
            </a:prstGeom>
            <a:solidFill>
              <a:srgbClr val="FFFFFF"/>
            </a:solidFill>
            <a:ln w="9525">
              <a:solidFill>
                <a:srgbClr val="000000"/>
              </a:solidFill>
              <a:miter lim="800000"/>
              <a:headEnd/>
              <a:tailEnd/>
            </a:ln>
          </p:spPr>
          <p:txBody>
            <a:bodyPr lIns="0" tIns="3600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lnSpc>
                  <a:spcPct val="150000"/>
                </a:lnSpc>
              </a:pPr>
              <a:r>
                <a:rPr lang="zh-CN" altLang="en-US">
                  <a:latin typeface="微软雅黑" panose="020B0503020204020204" pitchFamily="34" charset="-122"/>
                  <a:ea typeface="微软雅黑" panose="020B0503020204020204" pitchFamily="34" charset="-122"/>
                </a:rPr>
                <a:t>解 调</a:t>
              </a:r>
            </a:p>
          </p:txBody>
        </p:sp>
        <p:sp>
          <p:nvSpPr>
            <p:cNvPr id="78859" name="Line 18">
              <a:extLst>
                <a:ext uri="{FF2B5EF4-FFF2-40B4-BE49-F238E27FC236}">
                  <a16:creationId xmlns:a16="http://schemas.microsoft.com/office/drawing/2014/main" id="{BDEB5709-FB93-E743-D3AB-A825AC1B75AD}"/>
                </a:ext>
              </a:extLst>
            </p:cNvPr>
            <p:cNvSpPr>
              <a:spLocks noChangeShapeType="1"/>
            </p:cNvSpPr>
            <p:nvPr/>
          </p:nvSpPr>
          <p:spPr bwMode="auto">
            <a:xfrm flipV="1">
              <a:off x="2436" y="1608"/>
              <a:ext cx="234"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860" name="Line 19">
              <a:extLst>
                <a:ext uri="{FF2B5EF4-FFF2-40B4-BE49-F238E27FC236}">
                  <a16:creationId xmlns:a16="http://schemas.microsoft.com/office/drawing/2014/main" id="{33D1A943-3CBD-DC13-4D80-8428DF186D1E}"/>
                </a:ext>
              </a:extLst>
            </p:cNvPr>
            <p:cNvSpPr>
              <a:spLocks noChangeShapeType="1"/>
            </p:cNvSpPr>
            <p:nvPr/>
          </p:nvSpPr>
          <p:spPr bwMode="auto">
            <a:xfrm>
              <a:off x="2430" y="1611"/>
              <a:ext cx="9" cy="50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61" name="Line 20">
              <a:extLst>
                <a:ext uri="{FF2B5EF4-FFF2-40B4-BE49-F238E27FC236}">
                  <a16:creationId xmlns:a16="http://schemas.microsoft.com/office/drawing/2014/main" id="{0AADA36A-DA97-A777-250A-E4A587B69059}"/>
                </a:ext>
              </a:extLst>
            </p:cNvPr>
            <p:cNvSpPr>
              <a:spLocks noChangeShapeType="1"/>
            </p:cNvSpPr>
            <p:nvPr/>
          </p:nvSpPr>
          <p:spPr bwMode="auto">
            <a:xfrm>
              <a:off x="3230" y="1607"/>
              <a:ext cx="387"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862" name="Text Box 21">
              <a:extLst>
                <a:ext uri="{FF2B5EF4-FFF2-40B4-BE49-F238E27FC236}">
                  <a16:creationId xmlns:a16="http://schemas.microsoft.com/office/drawing/2014/main" id="{9BAF94DA-4057-0B3D-064A-C568BC1F360F}"/>
                </a:ext>
              </a:extLst>
            </p:cNvPr>
            <p:cNvSpPr txBox="1">
              <a:spLocks noChangeArrowheads="1"/>
            </p:cNvSpPr>
            <p:nvPr/>
          </p:nvSpPr>
          <p:spPr bwMode="auto">
            <a:xfrm>
              <a:off x="3023" y="2427"/>
              <a:ext cx="765" cy="261"/>
            </a:xfrm>
            <a:prstGeom prst="rect">
              <a:avLst/>
            </a:prstGeom>
            <a:solidFill>
              <a:srgbClr val="FFFFFF"/>
            </a:solidFill>
            <a:ln w="9525">
              <a:solidFill>
                <a:srgbClr val="000000"/>
              </a:solidFill>
              <a:miter lim="800000"/>
              <a:headEnd/>
              <a:tailEnd/>
            </a:ln>
          </p:spPr>
          <p:txBody>
            <a:bodyPr lIns="0" tIns="3600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en-US" altLang="zh-CN" sz="2800">
                  <a:solidFill>
                    <a:srgbClr val="990099"/>
                  </a:solidFill>
                  <a:latin typeface="微软雅黑" panose="020B0503020204020204" pitchFamily="34" charset="-122"/>
                  <a:ea typeface="微软雅黑" panose="020B0503020204020204" pitchFamily="34" charset="-122"/>
                  <a:sym typeface="Symbol" panose="05050102010706020507" pitchFamily="18" charset="2"/>
                </a:rPr>
                <a:t></a:t>
              </a:r>
              <a:r>
                <a:rPr lang="zh-CN" altLang="en-US">
                  <a:latin typeface="微软雅黑" panose="020B0503020204020204" pitchFamily="34" charset="-122"/>
                  <a:ea typeface="微软雅黑" panose="020B0503020204020204" pitchFamily="34" charset="-122"/>
                </a:rPr>
                <a:t>抖动产生器</a:t>
              </a:r>
            </a:p>
          </p:txBody>
        </p:sp>
        <p:sp>
          <p:nvSpPr>
            <p:cNvPr id="78863" name="Line 22">
              <a:extLst>
                <a:ext uri="{FF2B5EF4-FFF2-40B4-BE49-F238E27FC236}">
                  <a16:creationId xmlns:a16="http://schemas.microsoft.com/office/drawing/2014/main" id="{CFF31A4B-AF37-AAC5-FE3A-66987219A824}"/>
                </a:ext>
              </a:extLst>
            </p:cNvPr>
            <p:cNvSpPr>
              <a:spLocks noChangeShapeType="1"/>
            </p:cNvSpPr>
            <p:nvPr/>
          </p:nvSpPr>
          <p:spPr bwMode="auto">
            <a:xfrm>
              <a:off x="3780" y="2555"/>
              <a:ext cx="80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64" name="Line 23">
              <a:extLst>
                <a:ext uri="{FF2B5EF4-FFF2-40B4-BE49-F238E27FC236}">
                  <a16:creationId xmlns:a16="http://schemas.microsoft.com/office/drawing/2014/main" id="{C6FB8321-4D25-C0F0-3A4F-C8C27ADA7811}"/>
                </a:ext>
              </a:extLst>
            </p:cNvPr>
            <p:cNvSpPr>
              <a:spLocks noChangeShapeType="1"/>
            </p:cNvSpPr>
            <p:nvPr/>
          </p:nvSpPr>
          <p:spPr bwMode="auto">
            <a:xfrm flipV="1">
              <a:off x="4597" y="2213"/>
              <a:ext cx="0" cy="34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865" name="Line 24">
              <a:extLst>
                <a:ext uri="{FF2B5EF4-FFF2-40B4-BE49-F238E27FC236}">
                  <a16:creationId xmlns:a16="http://schemas.microsoft.com/office/drawing/2014/main" id="{C4E2356C-032D-810E-C068-04AC27A5C638}"/>
                </a:ext>
              </a:extLst>
            </p:cNvPr>
            <p:cNvSpPr>
              <a:spLocks noChangeShapeType="1"/>
            </p:cNvSpPr>
            <p:nvPr/>
          </p:nvSpPr>
          <p:spPr bwMode="auto">
            <a:xfrm flipH="1">
              <a:off x="2628" y="2560"/>
              <a:ext cx="37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66" name="Line 25">
              <a:extLst>
                <a:ext uri="{FF2B5EF4-FFF2-40B4-BE49-F238E27FC236}">
                  <a16:creationId xmlns:a16="http://schemas.microsoft.com/office/drawing/2014/main" id="{7ED31FBA-E7CA-5A13-EC14-E25B1F4E07D2}"/>
                </a:ext>
              </a:extLst>
            </p:cNvPr>
            <p:cNvSpPr>
              <a:spLocks noChangeShapeType="1"/>
            </p:cNvSpPr>
            <p:nvPr/>
          </p:nvSpPr>
          <p:spPr bwMode="auto">
            <a:xfrm flipH="1">
              <a:off x="2627" y="2560"/>
              <a:ext cx="1"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867" name="Text Box 26">
              <a:extLst>
                <a:ext uri="{FF2B5EF4-FFF2-40B4-BE49-F238E27FC236}">
                  <a16:creationId xmlns:a16="http://schemas.microsoft.com/office/drawing/2014/main" id="{D16693FB-A0E6-C772-E2E1-63448DDDC4E3}"/>
                </a:ext>
              </a:extLst>
            </p:cNvPr>
            <p:cNvSpPr txBox="1">
              <a:spLocks noChangeArrowheads="1"/>
            </p:cNvSpPr>
            <p:nvPr/>
          </p:nvSpPr>
          <p:spPr bwMode="auto">
            <a:xfrm>
              <a:off x="3032" y="2999"/>
              <a:ext cx="613" cy="260"/>
            </a:xfrm>
            <a:prstGeom prst="rect">
              <a:avLst/>
            </a:prstGeom>
            <a:solidFill>
              <a:srgbClr val="FFFFFF"/>
            </a:solidFill>
            <a:ln w="9525">
              <a:solidFill>
                <a:srgbClr val="000000"/>
              </a:solidFill>
              <a:miter lim="800000"/>
              <a:headEnd/>
              <a:tailEnd/>
            </a:ln>
          </p:spPr>
          <p:txBody>
            <a:bodyPr lIns="0" tIns="3600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lnSpc>
                  <a:spcPct val="150000"/>
                </a:lnSpc>
              </a:pPr>
              <a:r>
                <a:rPr lang="zh-CN" altLang="en-US" sz="1600">
                  <a:latin typeface="微软雅黑" panose="020B0503020204020204" pitchFamily="34" charset="-122"/>
                  <a:ea typeface="微软雅黑" panose="020B0503020204020204" pitchFamily="34" charset="-122"/>
                </a:rPr>
                <a:t>伪码产生器</a:t>
              </a:r>
            </a:p>
          </p:txBody>
        </p:sp>
        <p:grpSp>
          <p:nvGrpSpPr>
            <p:cNvPr id="78868" name="Group 27">
              <a:extLst>
                <a:ext uri="{FF2B5EF4-FFF2-40B4-BE49-F238E27FC236}">
                  <a16:creationId xmlns:a16="http://schemas.microsoft.com/office/drawing/2014/main" id="{CB6BE82C-FB5A-26CC-20E1-FF6D22AC5162}"/>
                </a:ext>
              </a:extLst>
            </p:cNvPr>
            <p:cNvGrpSpPr>
              <a:grpSpLocks/>
            </p:cNvGrpSpPr>
            <p:nvPr/>
          </p:nvGrpSpPr>
          <p:grpSpPr bwMode="auto">
            <a:xfrm>
              <a:off x="2523" y="3028"/>
              <a:ext cx="245" cy="206"/>
              <a:chOff x="4439" y="3160"/>
              <a:chExt cx="354" cy="299"/>
            </a:xfrm>
          </p:grpSpPr>
          <p:sp>
            <p:nvSpPr>
              <p:cNvPr id="78885" name="Oval 28">
                <a:extLst>
                  <a:ext uri="{FF2B5EF4-FFF2-40B4-BE49-F238E27FC236}">
                    <a16:creationId xmlns:a16="http://schemas.microsoft.com/office/drawing/2014/main" id="{B439E8B3-BDA9-BFBA-B3A6-3F9ACE580BD1}"/>
                  </a:ext>
                </a:extLst>
              </p:cNvPr>
              <p:cNvSpPr>
                <a:spLocks noChangeArrowheads="1"/>
              </p:cNvSpPr>
              <p:nvPr/>
            </p:nvSpPr>
            <p:spPr bwMode="auto">
              <a:xfrm>
                <a:off x="4714" y="3160"/>
                <a:ext cx="78" cy="78"/>
              </a:xfrm>
              <a:prstGeom prst="ellipse">
                <a:avLst/>
              </a:prstGeom>
              <a:solidFill>
                <a:srgbClr val="FFFFFF"/>
              </a:solidFill>
              <a:ln w="9525">
                <a:solidFill>
                  <a:srgbClr val="000000"/>
                </a:solidFill>
                <a:round/>
                <a:headEnd/>
                <a:tailE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sp>
            <p:nvSpPr>
              <p:cNvPr id="78886" name="Oval 29">
                <a:extLst>
                  <a:ext uri="{FF2B5EF4-FFF2-40B4-BE49-F238E27FC236}">
                    <a16:creationId xmlns:a16="http://schemas.microsoft.com/office/drawing/2014/main" id="{6DA190E7-D767-3278-76B4-DCAA70138C31}"/>
                  </a:ext>
                </a:extLst>
              </p:cNvPr>
              <p:cNvSpPr>
                <a:spLocks noChangeArrowheads="1"/>
              </p:cNvSpPr>
              <p:nvPr/>
            </p:nvSpPr>
            <p:spPr bwMode="auto">
              <a:xfrm>
                <a:off x="4715" y="3381"/>
                <a:ext cx="78" cy="78"/>
              </a:xfrm>
              <a:prstGeom prst="ellipse">
                <a:avLst/>
              </a:prstGeom>
              <a:solidFill>
                <a:srgbClr val="FFFFFF"/>
              </a:solidFill>
              <a:ln w="9525">
                <a:solidFill>
                  <a:srgbClr val="000000"/>
                </a:solidFill>
                <a:round/>
                <a:headEnd/>
                <a:tailE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sp>
            <p:nvSpPr>
              <p:cNvPr id="78887" name="Oval 30">
                <a:extLst>
                  <a:ext uri="{FF2B5EF4-FFF2-40B4-BE49-F238E27FC236}">
                    <a16:creationId xmlns:a16="http://schemas.microsoft.com/office/drawing/2014/main" id="{4E66E188-E975-3D5F-C7EB-28A1CAFFAE4E}"/>
                  </a:ext>
                </a:extLst>
              </p:cNvPr>
              <p:cNvSpPr>
                <a:spLocks noChangeArrowheads="1"/>
              </p:cNvSpPr>
              <p:nvPr/>
            </p:nvSpPr>
            <p:spPr bwMode="auto">
              <a:xfrm>
                <a:off x="4439" y="3264"/>
                <a:ext cx="78" cy="78"/>
              </a:xfrm>
              <a:prstGeom prst="ellipse">
                <a:avLst/>
              </a:prstGeom>
              <a:solidFill>
                <a:srgbClr val="FFFFFF"/>
              </a:solidFill>
              <a:ln w="9525">
                <a:solidFill>
                  <a:srgbClr val="000000"/>
                </a:solidFill>
                <a:round/>
                <a:headEnd/>
                <a:tailEnd/>
              </a:ln>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sp>
          <p:nvSpPr>
            <p:cNvPr id="78869" name="Line 31">
              <a:extLst>
                <a:ext uri="{FF2B5EF4-FFF2-40B4-BE49-F238E27FC236}">
                  <a16:creationId xmlns:a16="http://schemas.microsoft.com/office/drawing/2014/main" id="{D2180AEE-5B53-666C-08EE-2FB72029A49C}"/>
                </a:ext>
              </a:extLst>
            </p:cNvPr>
            <p:cNvSpPr>
              <a:spLocks noChangeShapeType="1"/>
            </p:cNvSpPr>
            <p:nvPr/>
          </p:nvSpPr>
          <p:spPr bwMode="auto">
            <a:xfrm flipV="1">
              <a:off x="2574" y="3073"/>
              <a:ext cx="126" cy="4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70" name="Line 32">
              <a:extLst>
                <a:ext uri="{FF2B5EF4-FFF2-40B4-BE49-F238E27FC236}">
                  <a16:creationId xmlns:a16="http://schemas.microsoft.com/office/drawing/2014/main" id="{52EC047F-F728-8EF8-0033-C448E94B6552}"/>
                </a:ext>
              </a:extLst>
            </p:cNvPr>
            <p:cNvSpPr>
              <a:spLocks noChangeShapeType="1"/>
            </p:cNvSpPr>
            <p:nvPr/>
          </p:nvSpPr>
          <p:spPr bwMode="auto">
            <a:xfrm>
              <a:off x="2781" y="3049"/>
              <a:ext cx="25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71" name="Line 33">
              <a:extLst>
                <a:ext uri="{FF2B5EF4-FFF2-40B4-BE49-F238E27FC236}">
                  <a16:creationId xmlns:a16="http://schemas.microsoft.com/office/drawing/2014/main" id="{D71369EC-2048-A8D8-7017-FEBEA37AA56F}"/>
                </a:ext>
              </a:extLst>
            </p:cNvPr>
            <p:cNvSpPr>
              <a:spLocks noChangeShapeType="1"/>
            </p:cNvSpPr>
            <p:nvPr/>
          </p:nvSpPr>
          <p:spPr bwMode="auto">
            <a:xfrm>
              <a:off x="2781" y="3202"/>
              <a:ext cx="25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72" name="Line 34">
              <a:extLst>
                <a:ext uri="{FF2B5EF4-FFF2-40B4-BE49-F238E27FC236}">
                  <a16:creationId xmlns:a16="http://schemas.microsoft.com/office/drawing/2014/main" id="{BCB4429E-44C3-7591-0CED-89947FD6978F}"/>
                </a:ext>
              </a:extLst>
            </p:cNvPr>
            <p:cNvSpPr>
              <a:spLocks noChangeShapeType="1"/>
            </p:cNvSpPr>
            <p:nvPr/>
          </p:nvSpPr>
          <p:spPr bwMode="auto">
            <a:xfrm flipH="1">
              <a:off x="2124" y="2222"/>
              <a:ext cx="8" cy="908"/>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78873" name="Line 35">
              <a:extLst>
                <a:ext uri="{FF2B5EF4-FFF2-40B4-BE49-F238E27FC236}">
                  <a16:creationId xmlns:a16="http://schemas.microsoft.com/office/drawing/2014/main" id="{00944F98-2B2A-0A72-C7C8-02A1BD3ACAF2}"/>
                </a:ext>
              </a:extLst>
            </p:cNvPr>
            <p:cNvSpPr>
              <a:spLocks noChangeShapeType="1"/>
            </p:cNvSpPr>
            <p:nvPr/>
          </p:nvSpPr>
          <p:spPr bwMode="auto">
            <a:xfrm flipH="1">
              <a:off x="2132" y="3121"/>
              <a:ext cx="39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74" name="Text Box 36">
              <a:extLst>
                <a:ext uri="{FF2B5EF4-FFF2-40B4-BE49-F238E27FC236}">
                  <a16:creationId xmlns:a16="http://schemas.microsoft.com/office/drawing/2014/main" id="{ABAD0427-9B86-EE1B-C4FB-2A51A1122D7E}"/>
                </a:ext>
              </a:extLst>
            </p:cNvPr>
            <p:cNvSpPr txBox="1">
              <a:spLocks noChangeArrowheads="1"/>
            </p:cNvSpPr>
            <p:nvPr/>
          </p:nvSpPr>
          <p:spPr bwMode="auto">
            <a:xfrm>
              <a:off x="3922" y="2998"/>
              <a:ext cx="549" cy="261"/>
            </a:xfrm>
            <a:prstGeom prst="rect">
              <a:avLst/>
            </a:prstGeom>
            <a:solidFill>
              <a:srgbClr val="FFFFFF"/>
            </a:solidFill>
            <a:ln w="9525">
              <a:solidFill>
                <a:srgbClr val="000000"/>
              </a:solidFill>
              <a:miter lim="800000"/>
              <a:headEnd/>
              <a:tailEnd/>
            </a:ln>
          </p:spPr>
          <p:txBody>
            <a:bodyPr lIns="0" tIns="3600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lnSpc>
                  <a:spcPct val="150000"/>
                </a:lnSpc>
              </a:pPr>
              <a:r>
                <a:rPr lang="zh-CN" altLang="en-US">
                  <a:latin typeface="微软雅黑" panose="020B0503020204020204" pitchFamily="34" charset="-122"/>
                  <a:ea typeface="微软雅黑" panose="020B0503020204020204" pitchFamily="34" charset="-122"/>
                </a:rPr>
                <a:t>压控振荡</a:t>
              </a:r>
            </a:p>
          </p:txBody>
        </p:sp>
        <p:sp>
          <p:nvSpPr>
            <p:cNvPr id="78875" name="Text Box 37">
              <a:extLst>
                <a:ext uri="{FF2B5EF4-FFF2-40B4-BE49-F238E27FC236}">
                  <a16:creationId xmlns:a16="http://schemas.microsoft.com/office/drawing/2014/main" id="{9AC961DD-185F-AB68-375E-6E4C20053884}"/>
                </a:ext>
              </a:extLst>
            </p:cNvPr>
            <p:cNvSpPr txBox="1">
              <a:spLocks noChangeArrowheads="1"/>
            </p:cNvSpPr>
            <p:nvPr/>
          </p:nvSpPr>
          <p:spPr bwMode="auto">
            <a:xfrm>
              <a:off x="4741" y="2998"/>
              <a:ext cx="550" cy="261"/>
            </a:xfrm>
            <a:prstGeom prst="rect">
              <a:avLst/>
            </a:prstGeom>
            <a:solidFill>
              <a:srgbClr val="FFFFFF"/>
            </a:solidFill>
            <a:ln w="9525">
              <a:solidFill>
                <a:srgbClr val="000000"/>
              </a:solidFill>
              <a:miter lim="800000"/>
              <a:headEnd/>
              <a:tailEnd/>
            </a:ln>
          </p:spPr>
          <p:txBody>
            <a:bodyPr lIns="0" tIns="3600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lnSpc>
                  <a:spcPct val="150000"/>
                </a:lnSpc>
              </a:pPr>
              <a:r>
                <a:rPr lang="zh-CN" altLang="en-US">
                  <a:latin typeface="微软雅黑" panose="020B0503020204020204" pitchFamily="34" charset="-122"/>
                  <a:ea typeface="微软雅黑" panose="020B0503020204020204" pitchFamily="34" charset="-122"/>
                </a:rPr>
                <a:t>环路滤波</a:t>
              </a:r>
            </a:p>
          </p:txBody>
        </p:sp>
        <p:sp>
          <p:nvSpPr>
            <p:cNvPr id="78876" name="Line 38">
              <a:extLst>
                <a:ext uri="{FF2B5EF4-FFF2-40B4-BE49-F238E27FC236}">
                  <a16:creationId xmlns:a16="http://schemas.microsoft.com/office/drawing/2014/main" id="{A2DF4C99-56F4-2780-2D34-242971963261}"/>
                </a:ext>
              </a:extLst>
            </p:cNvPr>
            <p:cNvSpPr>
              <a:spLocks noChangeShapeType="1"/>
            </p:cNvSpPr>
            <p:nvPr/>
          </p:nvSpPr>
          <p:spPr bwMode="auto">
            <a:xfrm flipH="1">
              <a:off x="3644" y="3127"/>
              <a:ext cx="27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877" name="Line 39">
              <a:extLst>
                <a:ext uri="{FF2B5EF4-FFF2-40B4-BE49-F238E27FC236}">
                  <a16:creationId xmlns:a16="http://schemas.microsoft.com/office/drawing/2014/main" id="{976F08F3-84CC-4193-B48B-03200D8BBF6E}"/>
                </a:ext>
              </a:extLst>
            </p:cNvPr>
            <p:cNvSpPr>
              <a:spLocks noChangeShapeType="1"/>
            </p:cNvSpPr>
            <p:nvPr/>
          </p:nvSpPr>
          <p:spPr bwMode="auto">
            <a:xfrm flipH="1">
              <a:off x="4453" y="3118"/>
              <a:ext cx="27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878" name="Line 40">
              <a:extLst>
                <a:ext uri="{FF2B5EF4-FFF2-40B4-BE49-F238E27FC236}">
                  <a16:creationId xmlns:a16="http://schemas.microsoft.com/office/drawing/2014/main" id="{59C38481-BFDD-79CE-4C30-E4DD55B62CE1}"/>
                </a:ext>
              </a:extLst>
            </p:cNvPr>
            <p:cNvSpPr>
              <a:spLocks noChangeShapeType="1"/>
            </p:cNvSpPr>
            <p:nvPr/>
          </p:nvSpPr>
          <p:spPr bwMode="auto">
            <a:xfrm>
              <a:off x="4715" y="2111"/>
              <a:ext cx="2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79" name="Line 41">
              <a:extLst>
                <a:ext uri="{FF2B5EF4-FFF2-40B4-BE49-F238E27FC236}">
                  <a16:creationId xmlns:a16="http://schemas.microsoft.com/office/drawing/2014/main" id="{7FDC5686-2859-68D0-A4C9-E36397A8E419}"/>
                </a:ext>
              </a:extLst>
            </p:cNvPr>
            <p:cNvSpPr>
              <a:spLocks noChangeShapeType="1"/>
            </p:cNvSpPr>
            <p:nvPr/>
          </p:nvSpPr>
          <p:spPr bwMode="auto">
            <a:xfrm>
              <a:off x="5003" y="2111"/>
              <a:ext cx="0" cy="89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880" name="Text Box 42">
              <a:extLst>
                <a:ext uri="{FF2B5EF4-FFF2-40B4-BE49-F238E27FC236}">
                  <a16:creationId xmlns:a16="http://schemas.microsoft.com/office/drawing/2014/main" id="{652214A8-0D25-35A2-5199-FBC128C691E3}"/>
                </a:ext>
              </a:extLst>
            </p:cNvPr>
            <p:cNvSpPr txBox="1">
              <a:spLocks noChangeArrowheads="1"/>
            </p:cNvSpPr>
            <p:nvPr/>
          </p:nvSpPr>
          <p:spPr bwMode="auto">
            <a:xfrm>
              <a:off x="2360" y="2001"/>
              <a:ext cx="225"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a:latin typeface="微软雅黑" panose="020B0503020204020204" pitchFamily="34" charset="-122"/>
                  <a:ea typeface="微软雅黑" panose="020B0503020204020204" pitchFamily="34" charset="-122"/>
                  <a:sym typeface="Symbol" panose="05050102010706020507" pitchFamily="18" charset="2"/>
                </a:rPr>
                <a:t></a:t>
              </a:r>
              <a:endParaRPr lang="en-US" altLang="zh-CN">
                <a:latin typeface="微软雅黑" panose="020B0503020204020204" pitchFamily="34" charset="-122"/>
                <a:ea typeface="微软雅黑" panose="020B0503020204020204" pitchFamily="34" charset="-122"/>
              </a:endParaRPr>
            </a:p>
          </p:txBody>
        </p:sp>
        <p:sp>
          <p:nvSpPr>
            <p:cNvPr id="78881" name="Text Box 43">
              <a:extLst>
                <a:ext uri="{FF2B5EF4-FFF2-40B4-BE49-F238E27FC236}">
                  <a16:creationId xmlns:a16="http://schemas.microsoft.com/office/drawing/2014/main" id="{A9E093D2-5955-3D0E-40F8-C973D5A301D8}"/>
                </a:ext>
              </a:extLst>
            </p:cNvPr>
            <p:cNvSpPr txBox="1">
              <a:spLocks noChangeArrowheads="1"/>
            </p:cNvSpPr>
            <p:nvPr/>
          </p:nvSpPr>
          <p:spPr bwMode="auto">
            <a:xfrm>
              <a:off x="3575" y="1366"/>
              <a:ext cx="550"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3600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zh-CN" altLang="en-US">
                  <a:latin typeface="微软雅黑" panose="020B0503020204020204" pitchFamily="34" charset="-122"/>
                  <a:ea typeface="微软雅黑" panose="020B0503020204020204" pitchFamily="34" charset="-122"/>
                </a:rPr>
                <a:t>解调信号</a:t>
              </a:r>
            </a:p>
            <a:p>
              <a:pPr algn="ctr" eaLnBrk="1" hangingPunct="1"/>
              <a:r>
                <a:rPr lang="zh-CN" altLang="en-US">
                  <a:latin typeface="微软雅黑" panose="020B0503020204020204" pitchFamily="34" charset="-122"/>
                  <a:ea typeface="微软雅黑" panose="020B0503020204020204" pitchFamily="34" charset="-122"/>
                </a:rPr>
                <a:t>输出</a:t>
              </a:r>
            </a:p>
          </p:txBody>
        </p:sp>
        <p:sp>
          <p:nvSpPr>
            <p:cNvPr id="78882" name="Text Box 44">
              <a:extLst>
                <a:ext uri="{FF2B5EF4-FFF2-40B4-BE49-F238E27FC236}">
                  <a16:creationId xmlns:a16="http://schemas.microsoft.com/office/drawing/2014/main" id="{325BDBC5-55E3-F9DF-809B-454C7B09977D}"/>
                </a:ext>
              </a:extLst>
            </p:cNvPr>
            <p:cNvSpPr txBox="1">
              <a:spLocks noChangeArrowheads="1"/>
            </p:cNvSpPr>
            <p:nvPr/>
          </p:nvSpPr>
          <p:spPr bwMode="auto">
            <a:xfrm>
              <a:off x="1336" y="1932"/>
              <a:ext cx="550"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3600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zh-CN" altLang="en-US">
                  <a:latin typeface="微软雅黑" panose="020B0503020204020204" pitchFamily="34" charset="-122"/>
                  <a:ea typeface="微软雅黑" panose="020B0503020204020204" pitchFamily="34" charset="-122"/>
                </a:rPr>
                <a:t>接收扩谱</a:t>
              </a:r>
            </a:p>
            <a:p>
              <a:pPr algn="ctr" eaLnBrk="1" hangingPunct="1"/>
              <a:r>
                <a:rPr lang="zh-CN" altLang="en-US">
                  <a:latin typeface="微软雅黑" panose="020B0503020204020204" pitchFamily="34" charset="-122"/>
                  <a:ea typeface="微软雅黑" panose="020B0503020204020204" pitchFamily="34" charset="-122"/>
                </a:rPr>
                <a:t>信号</a:t>
              </a:r>
            </a:p>
          </p:txBody>
        </p:sp>
        <p:sp>
          <p:nvSpPr>
            <p:cNvPr id="78883" name="Text Box 46">
              <a:extLst>
                <a:ext uri="{FF2B5EF4-FFF2-40B4-BE49-F238E27FC236}">
                  <a16:creationId xmlns:a16="http://schemas.microsoft.com/office/drawing/2014/main" id="{2F516992-0E6C-A81B-D362-2542CCCB9D08}"/>
                </a:ext>
              </a:extLst>
            </p:cNvPr>
            <p:cNvSpPr txBox="1">
              <a:spLocks noChangeArrowheads="1"/>
            </p:cNvSpPr>
            <p:nvPr/>
          </p:nvSpPr>
          <p:spPr bwMode="auto">
            <a:xfrm>
              <a:off x="2655" y="2840"/>
              <a:ext cx="459"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3600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zh-CN" altLang="en-US">
                  <a:latin typeface="微软雅黑" panose="020B0503020204020204" pitchFamily="34" charset="-122"/>
                  <a:ea typeface="微软雅黑" panose="020B0503020204020204" pitchFamily="34" charset="-122"/>
                </a:rPr>
                <a:t>早支路</a:t>
              </a:r>
            </a:p>
          </p:txBody>
        </p:sp>
        <p:sp>
          <p:nvSpPr>
            <p:cNvPr id="78884" name="Text Box 47">
              <a:extLst>
                <a:ext uri="{FF2B5EF4-FFF2-40B4-BE49-F238E27FC236}">
                  <a16:creationId xmlns:a16="http://schemas.microsoft.com/office/drawing/2014/main" id="{CFF80295-3FF6-3E89-AB78-CE1664648A7B}"/>
                </a:ext>
              </a:extLst>
            </p:cNvPr>
            <p:cNvSpPr txBox="1">
              <a:spLocks noChangeArrowheads="1"/>
            </p:cNvSpPr>
            <p:nvPr/>
          </p:nvSpPr>
          <p:spPr bwMode="auto">
            <a:xfrm>
              <a:off x="2637" y="3273"/>
              <a:ext cx="459"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3600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r>
                <a:rPr lang="zh-CN" altLang="en-US">
                  <a:latin typeface="微软雅黑" panose="020B0503020204020204" pitchFamily="34" charset="-122"/>
                  <a:ea typeface="微软雅黑" panose="020B0503020204020204" pitchFamily="34" charset="-122"/>
                </a:rPr>
                <a:t>迟支路</a:t>
              </a:r>
            </a:p>
          </p:txBody>
        </p:sp>
      </p:grpSp>
      <p:sp>
        <p:nvSpPr>
          <p:cNvPr id="51" name="矩形 50">
            <a:extLst>
              <a:ext uri="{FF2B5EF4-FFF2-40B4-BE49-F238E27FC236}">
                <a16:creationId xmlns:a16="http://schemas.microsoft.com/office/drawing/2014/main" id="{7CA32F84-E7CB-4D15-A0C7-9F9E66EEAA9F}"/>
              </a:ext>
            </a:extLst>
          </p:cNvPr>
          <p:cNvSpPr/>
          <p:nvPr/>
        </p:nvSpPr>
        <p:spPr>
          <a:xfrm>
            <a:off x="714375" y="1000125"/>
            <a:ext cx="4375150" cy="584200"/>
          </a:xfrm>
          <a:prstGeom prst="rect">
            <a:avLst/>
          </a:prstGeom>
        </p:spPr>
        <p:txBody>
          <a:bodyPr>
            <a:spAutoFit/>
          </a:bodyPr>
          <a:lstStyle/>
          <a:p>
            <a:pPr marL="228600" lvl="3" indent="-228600" eaLnBrk="0" hangingPunct="0">
              <a:spcBef>
                <a:spcPct val="20000"/>
              </a:spcBef>
              <a:buClr>
                <a:srgbClr val="FFCF01"/>
              </a:buClr>
              <a:buSzPct val="55000"/>
              <a:defRPr/>
            </a:pPr>
            <a:r>
              <a:rPr lang="en-US" altLang="zh-CN" sz="2800" b="1" kern="0" dirty="0">
                <a:solidFill>
                  <a:srgbClr val="800080"/>
                </a:solidFill>
                <a:latin typeface="黑体" pitchFamily="2" charset="-122"/>
                <a:ea typeface="黑体" pitchFamily="2" charset="-122"/>
              </a:rPr>
              <a:t>2</a:t>
            </a:r>
            <a:r>
              <a:rPr lang="zh-CN" altLang="en-US" sz="2800" b="1" kern="0" dirty="0">
                <a:solidFill>
                  <a:srgbClr val="800080"/>
                </a:solidFill>
                <a:latin typeface="黑体" pitchFamily="2" charset="-122"/>
                <a:ea typeface="黑体" pitchFamily="2" charset="-122"/>
              </a:rPr>
              <a:t>）</a:t>
            </a:r>
            <a:r>
              <a:rPr lang="en-US" altLang="zh-CN" sz="3200" b="1" kern="0" dirty="0">
                <a:solidFill>
                  <a:srgbClr val="990099"/>
                </a:solidFill>
                <a:latin typeface="Arial" pitchFamily="34" charset="0"/>
                <a:ea typeface="黑体" pitchFamily="2" charset="-122"/>
                <a:cs typeface="Arial" pitchFamily="34" charset="0"/>
                <a:sym typeface="Symbol" pitchFamily="18" charset="2"/>
              </a:rPr>
              <a:t> </a:t>
            </a:r>
            <a:r>
              <a:rPr lang="zh-CN" altLang="en-US" sz="2800" b="1" kern="0" dirty="0">
                <a:solidFill>
                  <a:srgbClr val="990099"/>
                </a:solidFill>
                <a:latin typeface="黑体" pitchFamily="2" charset="-122"/>
                <a:ea typeface="黑体" pitchFamily="2" charset="-122"/>
              </a:rPr>
              <a:t>抖动</a:t>
            </a:r>
            <a:r>
              <a:rPr lang="zh-CN" altLang="en-US" sz="2800" b="1" dirty="0">
                <a:solidFill>
                  <a:srgbClr val="990099"/>
                </a:solidFill>
                <a:latin typeface="黑体" pitchFamily="2" charset="-122"/>
                <a:ea typeface="黑体" pitchFamily="2" charset="-122"/>
              </a:rPr>
              <a:t>跟踪环</a:t>
            </a:r>
            <a:endParaRPr lang="zh-CN" altLang="en-US" sz="2800" b="1" kern="0" dirty="0">
              <a:solidFill>
                <a:srgbClr val="990099"/>
              </a:solidFill>
              <a:latin typeface="黑体" pitchFamily="2" charset="-122"/>
              <a:ea typeface="黑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wipe(up)">
                                      <p:cBhvr>
                                        <p:cTn id="7" dur="1000"/>
                                        <p:tgtEl>
                                          <p:spTgt spid="51"/>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6">
            <a:extLst>
              <a:ext uri="{FF2B5EF4-FFF2-40B4-BE49-F238E27FC236}">
                <a16:creationId xmlns:a16="http://schemas.microsoft.com/office/drawing/2014/main" id="{2A3A03CF-E3D0-4B01-89F9-11B0A25EEE0F}"/>
              </a:ext>
            </a:extLst>
          </p:cNvPr>
          <p:cNvSpPr txBox="1">
            <a:spLocks noChangeArrowheads="1"/>
          </p:cNvSpPr>
          <p:nvPr/>
        </p:nvSpPr>
        <p:spPr bwMode="gray">
          <a:xfrm>
            <a:off x="2786063" y="3155950"/>
            <a:ext cx="5000625" cy="630238"/>
          </a:xfrm>
          <a:prstGeom prst="rect">
            <a:avLst/>
          </a:prstGeom>
          <a:noFill/>
          <a:ln w="9525">
            <a:noFill/>
            <a:miter lim="800000"/>
            <a:headEnd/>
            <a:tailEnd/>
          </a:ln>
          <a:effectLst>
            <a:outerShdw blurRad="50800" dist="38100" dir="2700000" algn="tl" rotWithShape="0">
              <a:prstClr val="black">
                <a:alpha val="40000"/>
              </a:prstClr>
            </a:outerShdw>
          </a:effectLst>
        </p:spPr>
        <p:txBody>
          <a:bodyPr>
            <a:spAutoFit/>
          </a:bodyPr>
          <a:lstStyle/>
          <a:p>
            <a:pPr>
              <a:lnSpc>
                <a:spcPts val="4200"/>
              </a:lnSpc>
              <a:buClr>
                <a:srgbClr val="969696"/>
              </a:buClr>
              <a:buSzPct val="65000"/>
              <a:defRPr/>
            </a:pPr>
            <a:r>
              <a:rPr lang="zh-CN" altLang="en-US" sz="4400" b="1" dirty="0">
                <a:solidFill>
                  <a:srgbClr val="003399"/>
                </a:solidFill>
                <a:ea typeface="微软雅黑" pitchFamily="34" charset="-122"/>
              </a:rPr>
              <a:t>   </a:t>
            </a:r>
            <a:r>
              <a:rPr lang="zh-CN" altLang="en-US" sz="4400" b="1" dirty="0">
                <a:solidFill>
                  <a:srgbClr val="003399"/>
                </a:solidFill>
                <a:latin typeface="微软雅黑" pitchFamily="34" charset="-122"/>
                <a:ea typeface="微软雅黑" pitchFamily="34" charset="-122"/>
              </a:rPr>
              <a:t>网同步</a:t>
            </a:r>
            <a:endParaRPr lang="en-US" altLang="zh-CN" sz="4400" b="1" dirty="0">
              <a:solidFill>
                <a:srgbClr val="990099"/>
              </a:solidFill>
              <a:ea typeface="微软雅黑" pitchFamily="34" charset="-122"/>
            </a:endParaRPr>
          </a:p>
        </p:txBody>
      </p:sp>
      <p:sp>
        <p:nvSpPr>
          <p:cNvPr id="45059" name="矩形 4">
            <a:extLst>
              <a:ext uri="{FF2B5EF4-FFF2-40B4-BE49-F238E27FC236}">
                <a16:creationId xmlns:a16="http://schemas.microsoft.com/office/drawing/2014/main" id="{8BC82278-43FD-E7C6-4B78-6FBB74CDEE1A}"/>
              </a:ext>
            </a:extLst>
          </p:cNvPr>
          <p:cNvSpPr>
            <a:spLocks noChangeArrowheads="1"/>
          </p:cNvSpPr>
          <p:nvPr/>
        </p:nvSpPr>
        <p:spPr bwMode="auto">
          <a:xfrm>
            <a:off x="714375" y="2071688"/>
            <a:ext cx="1735138" cy="708025"/>
          </a:xfrm>
          <a:prstGeom prst="rect">
            <a:avLst/>
          </a:prstGeom>
          <a:noFill/>
          <a:ln w="9525">
            <a:noFill/>
            <a:miter lim="800000"/>
            <a:headEnd/>
            <a:tailEnd/>
          </a:ln>
          <a:effectLst>
            <a:outerShdw blurRad="50800" dist="38100" dir="2700000" algn="tl" rotWithShape="0">
              <a:prstClr val="black">
                <a:alpha val="40000"/>
              </a:prstClr>
            </a:outerShdw>
          </a:effectLst>
        </p:spPr>
        <p:txBody>
          <a:bodyPr wrap="none">
            <a:spAutoFit/>
          </a:bodyPr>
          <a:lstStyle/>
          <a:p>
            <a:pPr>
              <a:defRPr/>
            </a:pPr>
            <a:r>
              <a:rPr lang="en-US" altLang="en-US" sz="4000" b="1" u="sng" dirty="0">
                <a:solidFill>
                  <a:srgbClr val="800080"/>
                </a:solidFill>
                <a:latin typeface="Arial" pitchFamily="34" charset="0"/>
                <a:ea typeface="微软雅黑" pitchFamily="34" charset="-122"/>
                <a:cs typeface="Arial" pitchFamily="34" charset="0"/>
              </a:rPr>
              <a:t>§ 13</a:t>
            </a:r>
            <a:r>
              <a:rPr lang="en-US" altLang="zh-CN" sz="4000" b="1" u="sng" dirty="0">
                <a:solidFill>
                  <a:srgbClr val="800080"/>
                </a:solidFill>
                <a:latin typeface="Arial" pitchFamily="34" charset="0"/>
                <a:ea typeface="微软雅黑" pitchFamily="34" charset="-122"/>
                <a:cs typeface="Arial" pitchFamily="34" charset="0"/>
              </a:rPr>
              <a:t>.5 </a:t>
            </a:r>
            <a:endParaRPr lang="zh-CN" altLang="en-US" sz="4000" b="1" u="sng" dirty="0">
              <a:solidFill>
                <a:srgbClr val="800080"/>
              </a:solidFill>
              <a:latin typeface="Arial" pitchFamily="34" charset="0"/>
              <a:ea typeface="微软雅黑" pitchFamily="34" charset="-122"/>
              <a:cs typeface="Arial" pitchFamily="34" charset="0"/>
            </a:endParaRPr>
          </a:p>
        </p:txBody>
      </p:sp>
      <p:sp>
        <p:nvSpPr>
          <p:cNvPr id="7" name="Rectangle 102">
            <a:extLst>
              <a:ext uri="{FF2B5EF4-FFF2-40B4-BE49-F238E27FC236}">
                <a16:creationId xmlns:a16="http://schemas.microsoft.com/office/drawing/2014/main" id="{1753F9DA-3119-13A9-004D-3D5EBE28C4CF}"/>
              </a:ext>
            </a:extLst>
          </p:cNvPr>
          <p:cNvSpPr>
            <a:spLocks noChangeArrowheads="1"/>
          </p:cNvSpPr>
          <p:nvPr/>
        </p:nvSpPr>
        <p:spPr bwMode="auto">
          <a:xfrm>
            <a:off x="1428750" y="4244975"/>
            <a:ext cx="7286625" cy="541338"/>
          </a:xfrm>
          <a:prstGeom prst="rect">
            <a:avLst/>
          </a:prstGeom>
          <a:noFill/>
          <a:ln w="9525" algn="ctr">
            <a:noFill/>
            <a:miter lim="800000"/>
            <a:headEnd/>
            <a:tailEnd/>
          </a:ln>
        </p:spPr>
        <p:txBody>
          <a:bodyPr>
            <a:spAutoFit/>
          </a:bodyPr>
          <a:lstStyle/>
          <a:p>
            <a:pPr marL="342900" indent="-342900">
              <a:lnSpc>
                <a:spcPts val="3500"/>
              </a:lnSpc>
              <a:buClr>
                <a:schemeClr val="hlink"/>
              </a:buClr>
              <a:buSzPct val="65000"/>
              <a:defRPr/>
            </a:pPr>
            <a:r>
              <a:rPr lang="zh-CN" altLang="en-US" sz="2400" b="1" dirty="0">
                <a:solidFill>
                  <a:srgbClr val="003399"/>
                </a:solidFill>
                <a:latin typeface="微软雅黑" pitchFamily="34" charset="-122"/>
                <a:ea typeface="微软雅黑" pitchFamily="34" charset="-122"/>
              </a:rPr>
              <a:t>作用</a:t>
            </a:r>
            <a:r>
              <a:rPr lang="zh-CN" altLang="zh-CN" sz="2000" dirty="0">
                <a:solidFill>
                  <a:srgbClr val="0000CC"/>
                </a:solidFill>
                <a:latin typeface="+mn-ea"/>
                <a:ea typeface="+mn-ea"/>
              </a:rPr>
              <a:t>：</a:t>
            </a:r>
            <a:r>
              <a:rPr lang="zh-CN" altLang="en-US" sz="2000" dirty="0">
                <a:latin typeface="微软雅黑" pitchFamily="34" charset="-122"/>
                <a:ea typeface="微软雅黑" pitchFamily="34" charset="-122"/>
              </a:rPr>
              <a:t>调整网内各站送来的信码的速率和相位，使之步调一致</a:t>
            </a:r>
            <a:r>
              <a:rPr lang="zh-CN" altLang="en-US" sz="2000" dirty="0">
                <a:ea typeface="宋体" charset="-122"/>
              </a:rPr>
              <a:t> </a:t>
            </a:r>
            <a:r>
              <a:rPr lang="zh-CN" altLang="en-US" sz="2000" dirty="0">
                <a:effectLst>
                  <a:outerShdw blurRad="38100" dist="38100" dir="2700000" algn="tl">
                    <a:srgbClr val="000000">
                      <a:alpha val="43137"/>
                    </a:srgbClr>
                  </a:outerShdw>
                </a:effectLst>
                <a:latin typeface="微软雅黑" pitchFamily="34" charset="-122"/>
                <a:ea typeface="微软雅黑" pitchFamily="34" charset="-122"/>
              </a:rPr>
              <a:t>。</a:t>
            </a:r>
            <a:endParaRPr lang="en-US" altLang="zh-CN" sz="2000" dirty="0">
              <a:effectLst>
                <a:outerShdw blurRad="38100" dist="38100" dir="2700000" algn="tl">
                  <a:srgbClr val="000000">
                    <a:alpha val="43137"/>
                  </a:srgbClr>
                </a:outerShdw>
              </a:effectLst>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3"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upRight)">
                                      <p:cBhvr>
                                        <p:cTn id="7" dur="2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wipe(up)">
                                      <p:cBhvr>
                                        <p:cTn id="12" dur="1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4">
            <a:extLst>
              <a:ext uri="{FF2B5EF4-FFF2-40B4-BE49-F238E27FC236}">
                <a16:creationId xmlns:a16="http://schemas.microsoft.com/office/drawing/2014/main" id="{CE214C4A-C84A-58CA-EAC3-F3FDBBF17B0C}"/>
              </a:ext>
            </a:extLst>
          </p:cNvPr>
          <p:cNvSpPr>
            <a:spLocks noChangeArrowheads="1"/>
          </p:cNvSpPr>
          <p:nvPr/>
        </p:nvSpPr>
        <p:spPr bwMode="auto">
          <a:xfrm>
            <a:off x="142875" y="415925"/>
            <a:ext cx="23717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en-US" sz="3200" b="1">
                <a:solidFill>
                  <a:srgbClr val="800080"/>
                </a:solidFill>
                <a:latin typeface="Arial" panose="020B0604020202020204" pitchFamily="34" charset="0"/>
                <a:ea typeface="微软雅黑" panose="020B0503020204020204" pitchFamily="34" charset="-122"/>
                <a:cs typeface="Arial" panose="020B0604020202020204" pitchFamily="34" charset="0"/>
              </a:rPr>
              <a:t>13</a:t>
            </a:r>
            <a:r>
              <a:rPr lang="en-US" altLang="zh-CN" sz="3200" b="1">
                <a:solidFill>
                  <a:srgbClr val="800080"/>
                </a:solidFill>
                <a:latin typeface="Arial" panose="020B0604020202020204" pitchFamily="34" charset="0"/>
                <a:ea typeface="微软雅黑" panose="020B0503020204020204" pitchFamily="34" charset="-122"/>
                <a:cs typeface="Arial" panose="020B0604020202020204" pitchFamily="34" charset="0"/>
              </a:rPr>
              <a:t>.5.1  </a:t>
            </a:r>
            <a:r>
              <a:rPr lang="zh-CN" altLang="en-US" sz="3200" b="1">
                <a:solidFill>
                  <a:srgbClr val="003399"/>
                </a:solidFill>
                <a:latin typeface="Arial" panose="020B0604020202020204" pitchFamily="34" charset="0"/>
                <a:ea typeface="微软雅黑" panose="020B0503020204020204" pitchFamily="34" charset="-122"/>
                <a:cs typeface="Arial" panose="020B0604020202020204" pitchFamily="34" charset="0"/>
              </a:rPr>
              <a:t>概述</a:t>
            </a:r>
          </a:p>
        </p:txBody>
      </p:sp>
      <p:sp>
        <p:nvSpPr>
          <p:cNvPr id="20" name="Rectangle 3">
            <a:extLst>
              <a:ext uri="{FF2B5EF4-FFF2-40B4-BE49-F238E27FC236}">
                <a16:creationId xmlns:a16="http://schemas.microsoft.com/office/drawing/2014/main" id="{D0E27D8C-16BA-B1CC-8151-EC76C89AE604}"/>
              </a:ext>
            </a:extLst>
          </p:cNvPr>
          <p:cNvSpPr txBox="1">
            <a:spLocks noChangeArrowheads="1"/>
          </p:cNvSpPr>
          <p:nvPr/>
        </p:nvSpPr>
        <p:spPr bwMode="auto">
          <a:xfrm>
            <a:off x="714375" y="2357438"/>
            <a:ext cx="3000375" cy="642937"/>
          </a:xfrm>
          <a:prstGeom prst="rect">
            <a:avLst/>
          </a:prstGeom>
          <a:noFill/>
          <a:ln w="9525">
            <a:noFill/>
            <a:miter lim="800000"/>
            <a:headEnd/>
            <a:tailEnd/>
          </a:ln>
        </p:spPr>
        <p:txBody>
          <a:bodyPr/>
          <a:lstStyle/>
          <a:p>
            <a:pPr marL="228600" indent="-228600" eaLnBrk="0" hangingPunct="0">
              <a:lnSpc>
                <a:spcPct val="150000"/>
              </a:lnSpc>
              <a:spcBef>
                <a:spcPct val="20000"/>
              </a:spcBef>
              <a:buClr>
                <a:srgbClr val="FF0000"/>
              </a:buClr>
              <a:buSzPct val="85000"/>
              <a:buFont typeface="Wingdings" pitchFamily="2" charset="2"/>
              <a:buChar char="n"/>
              <a:defRPr/>
            </a:pPr>
            <a:r>
              <a:rPr lang="zh-CN" altLang="en-US" sz="2800" b="1" kern="0" dirty="0">
                <a:latin typeface="黑体" pitchFamily="2" charset="-122"/>
                <a:ea typeface="黑体" pitchFamily="2" charset="-122"/>
              </a:rPr>
              <a:t> 网同步分类：</a:t>
            </a:r>
          </a:p>
        </p:txBody>
      </p:sp>
      <p:sp>
        <p:nvSpPr>
          <p:cNvPr id="8" name="Text Box 36">
            <a:extLst>
              <a:ext uri="{FF2B5EF4-FFF2-40B4-BE49-F238E27FC236}">
                <a16:creationId xmlns:a16="http://schemas.microsoft.com/office/drawing/2014/main" id="{9AF1222D-E4EE-D59D-DEF7-727E3D6DB59B}"/>
              </a:ext>
            </a:extLst>
          </p:cNvPr>
          <p:cNvSpPr txBox="1">
            <a:spLocks noChangeArrowheads="1"/>
          </p:cNvSpPr>
          <p:nvPr/>
        </p:nvSpPr>
        <p:spPr bwMode="gray">
          <a:xfrm>
            <a:off x="7500938" y="438150"/>
            <a:ext cx="1000125" cy="490538"/>
          </a:xfrm>
          <a:prstGeom prst="rect">
            <a:avLst/>
          </a:prstGeom>
          <a:noFill/>
          <a:ln w="9525">
            <a:noFill/>
            <a:miter lim="800000"/>
            <a:headEnd/>
            <a:tailEnd/>
          </a:ln>
          <a:effectLst>
            <a:outerShdw blurRad="50800" dist="38100" dir="2700000" algn="tl" rotWithShape="0">
              <a:prstClr val="black">
                <a:alpha val="40000"/>
              </a:prstClr>
            </a:outerShdw>
          </a:effectLst>
        </p:spPr>
        <p:txBody>
          <a:bodyPr>
            <a:spAutoFit/>
          </a:bodyPr>
          <a:lstStyle/>
          <a:p>
            <a:pPr>
              <a:lnSpc>
                <a:spcPts val="3100"/>
              </a:lnSpc>
              <a:buClr>
                <a:srgbClr val="969696"/>
              </a:buClr>
              <a:buSzPct val="65000"/>
              <a:defRPr/>
            </a:pPr>
            <a:r>
              <a:rPr lang="zh-CN" altLang="en-US" sz="2000" dirty="0">
                <a:effectLst>
                  <a:outerShdw blurRad="38100" dist="38100" dir="2700000" algn="tl">
                    <a:srgbClr val="000000">
                      <a:alpha val="43137"/>
                    </a:srgbClr>
                  </a:outerShdw>
                </a:effectLst>
                <a:latin typeface="微软雅黑" pitchFamily="34" charset="-122"/>
                <a:ea typeface="微软雅黑" pitchFamily="34" charset="-122"/>
              </a:rPr>
              <a:t>网同步</a:t>
            </a:r>
            <a:endParaRPr lang="en-US" altLang="zh-CN" sz="2000" dirty="0">
              <a:effectLst>
                <a:outerShdw blurRad="38100" dist="38100" dir="2700000" algn="tl">
                  <a:srgbClr val="000000">
                    <a:alpha val="43137"/>
                  </a:srgbClr>
                </a:outerShdw>
              </a:effectLst>
              <a:ea typeface="微软雅黑" pitchFamily="34" charset="-122"/>
            </a:endParaRPr>
          </a:p>
        </p:txBody>
      </p:sp>
      <p:sp>
        <p:nvSpPr>
          <p:cNvPr id="9" name="矩形 8">
            <a:extLst>
              <a:ext uri="{FF2B5EF4-FFF2-40B4-BE49-F238E27FC236}">
                <a16:creationId xmlns:a16="http://schemas.microsoft.com/office/drawing/2014/main" id="{DB4EE296-C9A2-5387-15EC-83134182BDED}"/>
              </a:ext>
            </a:extLst>
          </p:cNvPr>
          <p:cNvSpPr/>
          <p:nvPr/>
        </p:nvSpPr>
        <p:spPr>
          <a:xfrm>
            <a:off x="1285875" y="3575050"/>
            <a:ext cx="7215188" cy="477838"/>
          </a:xfrm>
          <a:prstGeom prst="rect">
            <a:avLst/>
          </a:prstGeom>
          <a:noFill/>
          <a:effectLst/>
        </p:spPr>
        <p:txBody>
          <a:bodyPr>
            <a:spAutoFit/>
          </a:bodyPr>
          <a:lstStyle/>
          <a:p>
            <a:pPr>
              <a:lnSpc>
                <a:spcPts val="3000"/>
              </a:lnSpc>
              <a:defRPr/>
            </a:pPr>
            <a:r>
              <a:rPr lang="zh-CN" altLang="en-US" sz="2000" kern="0" dirty="0">
                <a:solidFill>
                  <a:srgbClr val="000000"/>
                </a:solidFill>
                <a:latin typeface="华文中宋" pitchFamily="2" charset="-122"/>
                <a:ea typeface="华文中宋" pitchFamily="2" charset="-122"/>
              </a:rPr>
              <a:t>一般由接收设备调整自已的时钟，使之和发送设备的时钟同步。</a:t>
            </a:r>
            <a:r>
              <a:rPr lang="en-US" altLang="zh-CN" sz="2000" kern="0" dirty="0">
                <a:solidFill>
                  <a:srgbClr val="000000"/>
                </a:solidFill>
                <a:latin typeface="华文中宋" pitchFamily="2" charset="-122"/>
                <a:ea typeface="华文中宋" pitchFamily="2" charset="-122"/>
              </a:rPr>
              <a:t>                      </a:t>
            </a:r>
            <a:endParaRPr lang="zh-CN" altLang="en-US" sz="2000" dirty="0">
              <a:latin typeface="华文中宋" pitchFamily="2" charset="-122"/>
              <a:ea typeface="华文中宋" pitchFamily="2" charset="-122"/>
            </a:endParaRPr>
          </a:p>
        </p:txBody>
      </p:sp>
      <p:sp>
        <p:nvSpPr>
          <p:cNvPr id="10" name="矩形 9">
            <a:extLst>
              <a:ext uri="{FF2B5EF4-FFF2-40B4-BE49-F238E27FC236}">
                <a16:creationId xmlns:a16="http://schemas.microsoft.com/office/drawing/2014/main" id="{20F494E7-F2C0-F40D-B163-D7B9D38A947D}"/>
              </a:ext>
            </a:extLst>
          </p:cNvPr>
          <p:cNvSpPr/>
          <p:nvPr/>
        </p:nvSpPr>
        <p:spPr>
          <a:xfrm>
            <a:off x="1071563" y="3143250"/>
            <a:ext cx="2238375" cy="400050"/>
          </a:xfrm>
          <a:prstGeom prst="rect">
            <a:avLst/>
          </a:prstGeom>
          <a:noFill/>
          <a:effectLst>
            <a:outerShdw blurRad="50800" dist="38100" dir="2700000" algn="tl" rotWithShape="0">
              <a:prstClr val="black">
                <a:alpha val="40000"/>
              </a:prstClr>
            </a:outerShdw>
          </a:effectLst>
        </p:spPr>
        <p:txBody>
          <a:bodyPr wrap="none">
            <a:spAutoFit/>
          </a:bodyPr>
          <a:lstStyle/>
          <a:p>
            <a:pPr>
              <a:buClr>
                <a:srgbClr val="003399"/>
              </a:buClr>
              <a:buSzPct val="90000"/>
              <a:buFont typeface="Wingdings" pitchFamily="2" charset="2"/>
              <a:buChar char="Ø"/>
              <a:defRPr/>
            </a:pPr>
            <a:r>
              <a:rPr lang="zh-CN" altLang="en-US" sz="200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 单向通信系统：</a:t>
            </a:r>
            <a:endParaRPr lang="zh-CN" altLang="en-US" sz="2000" dirty="0">
              <a:effectLst>
                <a:outerShdw blurRad="38100" dist="38100" dir="2700000" algn="tl">
                  <a:srgbClr val="000000">
                    <a:alpha val="43137"/>
                  </a:srgbClr>
                </a:outerShdw>
              </a:effectLst>
              <a:ea typeface="宋体" charset="-122"/>
            </a:endParaRPr>
          </a:p>
        </p:txBody>
      </p:sp>
      <p:sp>
        <p:nvSpPr>
          <p:cNvPr id="11" name="Rectangle 3">
            <a:extLst>
              <a:ext uri="{FF2B5EF4-FFF2-40B4-BE49-F238E27FC236}">
                <a16:creationId xmlns:a16="http://schemas.microsoft.com/office/drawing/2014/main" id="{CD6665B0-26CA-90FC-FD55-2B33A284C527}"/>
              </a:ext>
            </a:extLst>
          </p:cNvPr>
          <p:cNvSpPr txBox="1">
            <a:spLocks noChangeArrowheads="1"/>
          </p:cNvSpPr>
          <p:nvPr/>
        </p:nvSpPr>
        <p:spPr bwMode="auto">
          <a:xfrm>
            <a:off x="1573213" y="5357813"/>
            <a:ext cx="6999287" cy="1071562"/>
          </a:xfrm>
          <a:prstGeom prst="rect">
            <a:avLst/>
          </a:prstGeom>
          <a:noFill/>
          <a:ln w="9525">
            <a:noFill/>
            <a:miter lim="800000"/>
            <a:headEnd/>
            <a:tailEnd/>
          </a:ln>
        </p:spPr>
        <p:txBody>
          <a:bodyPr/>
          <a:lstStyle/>
          <a:p>
            <a:pPr marL="228600" indent="-228600" eaLnBrk="0" hangingPunct="0">
              <a:lnSpc>
                <a:spcPct val="150000"/>
              </a:lnSpc>
              <a:spcBef>
                <a:spcPct val="20000"/>
              </a:spcBef>
              <a:buClr>
                <a:srgbClr val="0000CC"/>
              </a:buClr>
              <a:buSzPct val="65000"/>
              <a:defRPr/>
            </a:pPr>
            <a:r>
              <a:rPr lang="en-US" altLang="zh-CN" sz="2000" kern="0" dirty="0">
                <a:solidFill>
                  <a:srgbClr val="800080"/>
                </a:solidFill>
                <a:effectLst>
                  <a:outerShdw blurRad="38100" dist="38100" dir="2700000" algn="tl">
                    <a:srgbClr val="000000">
                      <a:alpha val="43137"/>
                    </a:srgbClr>
                  </a:outerShdw>
                </a:effectLst>
                <a:latin typeface="微软雅黑" pitchFamily="34" charset="-122"/>
                <a:ea typeface="微软雅黑" pitchFamily="34" charset="-122"/>
              </a:rPr>
              <a:t>2</a:t>
            </a:r>
            <a:r>
              <a:rPr lang="zh-CN" altLang="en-US" sz="2000" kern="0" dirty="0">
                <a:solidFill>
                  <a:srgbClr val="800080"/>
                </a:solidFill>
                <a:effectLst>
                  <a:outerShdw blurRad="38100" dist="38100" dir="2700000" algn="tl">
                    <a:srgbClr val="000000">
                      <a:alpha val="43137"/>
                    </a:srgbClr>
                  </a:outerShdw>
                </a:effectLst>
                <a:latin typeface="微软雅黑" pitchFamily="34" charset="-122"/>
                <a:ea typeface="微软雅黑" pitchFamily="34" charset="-122"/>
              </a:rPr>
              <a:t>）准同步网（异步网）</a:t>
            </a:r>
            <a:r>
              <a:rPr lang="zh-CN" altLang="en-US" sz="2000" kern="0" dirty="0">
                <a:effectLst>
                  <a:outerShdw blurRad="38100" dist="38100" dir="2700000" algn="tl">
                    <a:srgbClr val="000000">
                      <a:alpha val="43137"/>
                    </a:srgbClr>
                  </a:outerShdw>
                </a:effectLst>
                <a:latin typeface="华文中宋" pitchFamily="2" charset="-122"/>
                <a:ea typeface="华文中宋" pitchFamily="2" charset="-122"/>
              </a:rPr>
              <a:t>：容许各站的时钟有误差，但可通</a:t>
            </a:r>
            <a:endParaRPr lang="en-US" altLang="zh-CN" sz="2000" kern="0" dirty="0">
              <a:effectLst>
                <a:outerShdw blurRad="38100" dist="38100" dir="2700000" algn="tl">
                  <a:srgbClr val="000000">
                    <a:alpha val="43137"/>
                  </a:srgbClr>
                </a:outerShdw>
              </a:effectLst>
              <a:latin typeface="华文中宋" pitchFamily="2" charset="-122"/>
              <a:ea typeface="华文中宋" pitchFamily="2" charset="-122"/>
            </a:endParaRPr>
          </a:p>
          <a:p>
            <a:pPr marL="228600" indent="-228600" eaLnBrk="0" hangingPunct="0">
              <a:lnSpc>
                <a:spcPct val="150000"/>
              </a:lnSpc>
              <a:spcBef>
                <a:spcPct val="20000"/>
              </a:spcBef>
              <a:buClr>
                <a:srgbClr val="0000CC"/>
              </a:buClr>
              <a:buSzPct val="65000"/>
              <a:defRPr/>
            </a:pPr>
            <a:r>
              <a:rPr lang="en-US" altLang="zh-CN" sz="2000" kern="0" dirty="0">
                <a:effectLst>
                  <a:outerShdw blurRad="38100" dist="38100" dir="2700000" algn="tl">
                    <a:srgbClr val="000000">
                      <a:alpha val="43137"/>
                    </a:srgbClr>
                  </a:outerShdw>
                </a:effectLst>
                <a:latin typeface="华文中宋" pitchFamily="2" charset="-122"/>
                <a:ea typeface="华文中宋" pitchFamily="2" charset="-122"/>
              </a:rPr>
              <a:t>                    </a:t>
            </a:r>
            <a:r>
              <a:rPr lang="zh-CN" altLang="en-US" sz="2000" kern="0" dirty="0">
                <a:effectLst>
                  <a:outerShdw blurRad="38100" dist="38100" dir="2700000" algn="tl">
                    <a:srgbClr val="000000">
                      <a:alpha val="43137"/>
                    </a:srgbClr>
                  </a:outerShdw>
                </a:effectLst>
                <a:latin typeface="华文中宋" pitchFamily="2" charset="-122"/>
                <a:ea typeface="华文中宋" pitchFamily="2" charset="-122"/>
              </a:rPr>
              <a:t>过调整码元速率的办法使全网能够协调工作。</a:t>
            </a:r>
          </a:p>
          <a:p>
            <a:pPr marL="1600200" lvl="3" indent="-228600" eaLnBrk="0" hangingPunct="0">
              <a:lnSpc>
                <a:spcPct val="150000"/>
              </a:lnSpc>
              <a:spcBef>
                <a:spcPct val="20000"/>
              </a:spcBef>
              <a:buClr>
                <a:schemeClr val="accent2"/>
              </a:buClr>
              <a:buSzPct val="55000"/>
              <a:buFont typeface="Wingdings" pitchFamily="2" charset="2"/>
              <a:buChar char="n"/>
              <a:defRPr/>
            </a:pPr>
            <a:endParaRPr lang="en-US" altLang="zh-CN" sz="2000" kern="0" dirty="0">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12" name="矩形 11">
            <a:extLst>
              <a:ext uri="{FF2B5EF4-FFF2-40B4-BE49-F238E27FC236}">
                <a16:creationId xmlns:a16="http://schemas.microsoft.com/office/drawing/2014/main" id="{68A1E52D-C1CA-6367-2758-9E77AF6AA74B}"/>
              </a:ext>
            </a:extLst>
          </p:cNvPr>
          <p:cNvSpPr/>
          <p:nvPr/>
        </p:nvSpPr>
        <p:spPr>
          <a:xfrm>
            <a:off x="1071563" y="4286250"/>
            <a:ext cx="2286000" cy="400050"/>
          </a:xfrm>
          <a:prstGeom prst="rect">
            <a:avLst/>
          </a:prstGeom>
          <a:noFill/>
          <a:effectLst>
            <a:outerShdw blurRad="50800" dist="38100" dir="2700000" algn="tl" rotWithShape="0">
              <a:prstClr val="black">
                <a:alpha val="40000"/>
              </a:prstClr>
            </a:outerShdw>
          </a:effectLst>
        </p:spPr>
        <p:txBody>
          <a:bodyPr>
            <a:spAutoFit/>
          </a:bodyPr>
          <a:lstStyle/>
          <a:p>
            <a:pPr marL="228600" indent="-228600" eaLnBrk="0" hangingPunct="0">
              <a:spcBef>
                <a:spcPct val="20000"/>
              </a:spcBef>
              <a:buClr>
                <a:srgbClr val="003399"/>
              </a:buClr>
              <a:buSzPct val="90000"/>
              <a:buFont typeface="Wingdings" pitchFamily="2" charset="2"/>
              <a:buChar char="Ø"/>
              <a:defRPr/>
            </a:pPr>
            <a:r>
              <a:rPr lang="zh-CN" altLang="en-US" sz="2000" kern="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rPr>
              <a:t>双向通信系统：</a:t>
            </a:r>
          </a:p>
        </p:txBody>
      </p:sp>
      <p:sp>
        <p:nvSpPr>
          <p:cNvPr id="14" name="矩形 13">
            <a:extLst>
              <a:ext uri="{FF2B5EF4-FFF2-40B4-BE49-F238E27FC236}">
                <a16:creationId xmlns:a16="http://schemas.microsoft.com/office/drawing/2014/main" id="{88730DE4-4A2A-7110-FD6F-FA93DA1AAC12}"/>
              </a:ext>
            </a:extLst>
          </p:cNvPr>
          <p:cNvSpPr/>
          <p:nvPr/>
        </p:nvSpPr>
        <p:spPr>
          <a:xfrm>
            <a:off x="1577975" y="4743450"/>
            <a:ext cx="5565775" cy="500063"/>
          </a:xfrm>
          <a:prstGeom prst="rect">
            <a:avLst/>
          </a:prstGeom>
        </p:spPr>
        <p:txBody>
          <a:bodyPr>
            <a:spAutoFit/>
          </a:bodyPr>
          <a:lstStyle/>
          <a:p>
            <a:pPr marL="228600" indent="-228600" eaLnBrk="0" hangingPunct="0">
              <a:lnSpc>
                <a:spcPct val="150000"/>
              </a:lnSpc>
              <a:spcBef>
                <a:spcPct val="20000"/>
              </a:spcBef>
              <a:buClr>
                <a:srgbClr val="0000CC"/>
              </a:buClr>
              <a:buSzPct val="65000"/>
              <a:defRPr/>
            </a:pPr>
            <a:r>
              <a:rPr lang="en-US" altLang="zh-CN" sz="2000" kern="0" dirty="0">
                <a:solidFill>
                  <a:srgbClr val="800080"/>
                </a:solidFill>
                <a:effectLst>
                  <a:outerShdw blurRad="38100" dist="38100" dir="2700000" algn="tl">
                    <a:srgbClr val="000000">
                      <a:alpha val="43137"/>
                    </a:srgbClr>
                  </a:outerShdw>
                </a:effectLst>
                <a:latin typeface="微软雅黑" pitchFamily="34" charset="-122"/>
                <a:ea typeface="微软雅黑" pitchFamily="34" charset="-122"/>
              </a:rPr>
              <a:t>1</a:t>
            </a:r>
            <a:r>
              <a:rPr lang="zh-CN" altLang="en-US" sz="2000" kern="0" dirty="0">
                <a:solidFill>
                  <a:srgbClr val="800080"/>
                </a:solidFill>
                <a:effectLst>
                  <a:outerShdw blurRad="38100" dist="38100" dir="2700000" algn="tl">
                    <a:srgbClr val="000000">
                      <a:alpha val="43137"/>
                    </a:srgbClr>
                  </a:outerShdw>
                </a:effectLst>
                <a:latin typeface="微软雅黑" pitchFamily="34" charset="-122"/>
                <a:ea typeface="微软雅黑" pitchFamily="34" charset="-122"/>
              </a:rPr>
              <a:t>）同步网</a:t>
            </a:r>
            <a:r>
              <a:rPr lang="zh-CN" altLang="en-US" sz="2000" kern="0" dirty="0">
                <a:solidFill>
                  <a:srgbClr val="000000"/>
                </a:solidFill>
                <a:effectLst>
                  <a:outerShdw blurRad="38100" dist="38100" dir="2700000" algn="tl">
                    <a:srgbClr val="000000">
                      <a:alpha val="43137"/>
                    </a:srgbClr>
                  </a:outerShdw>
                </a:effectLst>
                <a:latin typeface="华文中宋" pitchFamily="2" charset="-122"/>
                <a:ea typeface="华文中宋" pitchFamily="2" charset="-122"/>
              </a:rPr>
              <a:t>：  全网各站具有统一时间标准 。</a:t>
            </a:r>
          </a:p>
        </p:txBody>
      </p:sp>
      <p:sp>
        <p:nvSpPr>
          <p:cNvPr id="25" name="Rectangle 3">
            <a:extLst>
              <a:ext uri="{FF2B5EF4-FFF2-40B4-BE49-F238E27FC236}">
                <a16:creationId xmlns:a16="http://schemas.microsoft.com/office/drawing/2014/main" id="{DAAB32DD-AC95-3F48-55CE-CA5A699A7FEE}"/>
              </a:ext>
            </a:extLst>
          </p:cNvPr>
          <p:cNvSpPr txBox="1">
            <a:spLocks noChangeArrowheads="1"/>
          </p:cNvSpPr>
          <p:nvPr/>
        </p:nvSpPr>
        <p:spPr bwMode="auto">
          <a:xfrm>
            <a:off x="714375" y="1214438"/>
            <a:ext cx="3000375" cy="642937"/>
          </a:xfrm>
          <a:prstGeom prst="rect">
            <a:avLst/>
          </a:prstGeom>
          <a:noFill/>
          <a:ln w="9525">
            <a:noFill/>
            <a:miter lim="800000"/>
            <a:headEnd/>
            <a:tailEnd/>
          </a:ln>
        </p:spPr>
        <p:txBody>
          <a:bodyPr/>
          <a:lstStyle/>
          <a:p>
            <a:pPr marL="228600" indent="-228600" eaLnBrk="0" hangingPunct="0">
              <a:lnSpc>
                <a:spcPct val="150000"/>
              </a:lnSpc>
              <a:spcBef>
                <a:spcPct val="20000"/>
              </a:spcBef>
              <a:buClr>
                <a:srgbClr val="FF0000"/>
              </a:buClr>
              <a:buSzPct val="85000"/>
              <a:buFont typeface="Wingdings" pitchFamily="2" charset="2"/>
              <a:buChar char="n"/>
              <a:defRPr/>
            </a:pPr>
            <a:r>
              <a:rPr lang="zh-CN" altLang="en-US" sz="2800" b="1" kern="0" dirty="0">
                <a:latin typeface="黑体" pitchFamily="2" charset="-122"/>
                <a:ea typeface="黑体" pitchFamily="2" charset="-122"/>
              </a:rPr>
              <a:t> 网同步目的：</a:t>
            </a:r>
          </a:p>
        </p:txBody>
      </p:sp>
      <p:sp>
        <p:nvSpPr>
          <p:cNvPr id="26" name="Rectangle 102">
            <a:extLst>
              <a:ext uri="{FF2B5EF4-FFF2-40B4-BE49-F238E27FC236}">
                <a16:creationId xmlns:a16="http://schemas.microsoft.com/office/drawing/2014/main" id="{42493736-5CB2-ACE5-D1F7-4A482014CF8A}"/>
              </a:ext>
            </a:extLst>
          </p:cNvPr>
          <p:cNvSpPr>
            <a:spLocks noChangeArrowheads="1"/>
          </p:cNvSpPr>
          <p:nvPr/>
        </p:nvSpPr>
        <p:spPr bwMode="auto">
          <a:xfrm>
            <a:off x="1143000" y="1785938"/>
            <a:ext cx="6929438" cy="541337"/>
          </a:xfrm>
          <a:prstGeom prst="rect">
            <a:avLst/>
          </a:prstGeom>
          <a:noFill/>
          <a:ln w="9525" algn="ctr">
            <a:noFill/>
            <a:miter lim="800000"/>
            <a:headEnd/>
            <a:tailEnd/>
          </a:ln>
        </p:spPr>
        <p:txBody>
          <a:bodyPr>
            <a:spAutoFit/>
          </a:bodyPr>
          <a:lstStyle/>
          <a:p>
            <a:pPr marL="342900" indent="-342900">
              <a:lnSpc>
                <a:spcPts val="3500"/>
              </a:lnSpc>
              <a:buClr>
                <a:schemeClr val="hlink"/>
              </a:buClr>
              <a:buSzPct val="65000"/>
              <a:defRPr/>
            </a:pPr>
            <a:r>
              <a:rPr lang="en-US" altLang="zh-CN" sz="2000" kern="0" dirty="0">
                <a:effectLst>
                  <a:outerShdw blurRad="38100" dist="38100" dir="2700000" algn="tl">
                    <a:srgbClr val="000000">
                      <a:alpha val="43137"/>
                    </a:srgbClr>
                  </a:outerShdw>
                </a:effectLst>
                <a:latin typeface="华文中宋" pitchFamily="2" charset="-122"/>
                <a:ea typeface="华文中宋" pitchFamily="2" charset="-122"/>
              </a:rPr>
              <a:t>—— </a:t>
            </a:r>
            <a:r>
              <a:rPr lang="zh-CN" altLang="en-US" sz="2000" kern="0" dirty="0">
                <a:latin typeface="华文中宋" pitchFamily="2" charset="-122"/>
                <a:ea typeface="华文中宋" pitchFamily="2" charset="-122"/>
              </a:rPr>
              <a:t>使全网各站 能够 互连互通，正确地接收信息码元 </a:t>
            </a:r>
            <a:r>
              <a:rPr lang="zh-CN" altLang="en-US" sz="2000" dirty="0">
                <a:effectLst>
                  <a:outerShdw blurRad="38100" dist="38100" dir="2700000" algn="tl">
                    <a:srgbClr val="000000">
                      <a:alpha val="43137"/>
                    </a:srgbClr>
                  </a:outerShdw>
                </a:effectLst>
                <a:latin typeface="华文中宋" pitchFamily="2" charset="-122"/>
                <a:ea typeface="华文中宋" pitchFamily="2" charset="-122"/>
              </a:rPr>
              <a:t>。</a:t>
            </a:r>
            <a:endParaRPr lang="en-US" altLang="zh-CN" sz="2000" dirty="0">
              <a:effectLst>
                <a:outerShdw blurRad="38100" dist="38100" dir="2700000" algn="tl">
                  <a:srgbClr val="000000">
                    <a:alpha val="43137"/>
                  </a:srgbClr>
                </a:outerShdw>
              </a:effectLst>
              <a:latin typeface="华文中宋" pitchFamily="2" charset="-122"/>
              <a:ea typeface="华文中宋" pitchFamily="2" charset="-122"/>
            </a:endParaRPr>
          </a:p>
        </p:txBody>
      </p:sp>
      <p:sp>
        <p:nvSpPr>
          <p:cNvPr id="27" name="AutoShape 11">
            <a:extLst>
              <a:ext uri="{FF2B5EF4-FFF2-40B4-BE49-F238E27FC236}">
                <a16:creationId xmlns:a16="http://schemas.microsoft.com/office/drawing/2014/main" id="{61C08ABC-224E-7AAE-8C6C-0DAA1D1D1D84}"/>
              </a:ext>
            </a:extLst>
          </p:cNvPr>
          <p:cNvSpPr>
            <a:spLocks/>
          </p:cNvSpPr>
          <p:nvPr/>
        </p:nvSpPr>
        <p:spPr bwMode="auto">
          <a:xfrm>
            <a:off x="1371600" y="4987925"/>
            <a:ext cx="258763" cy="714375"/>
          </a:xfrm>
          <a:prstGeom prst="leftBrace">
            <a:avLst>
              <a:gd name="adj1" fmla="val 27192"/>
              <a:gd name="adj2" fmla="val 50000"/>
            </a:avLst>
          </a:prstGeom>
          <a:noFill/>
          <a:ln w="19050">
            <a:solidFill>
              <a:srgbClr val="003399"/>
            </a:solidFill>
            <a:round/>
            <a:headEnd/>
            <a:tailEnd/>
          </a:ln>
        </p:spPr>
        <p:txBody>
          <a:bodyPr/>
          <a:lstStyle/>
          <a:p>
            <a:pPr>
              <a:defRPr/>
            </a:pPr>
            <a:endParaRPr lang="zh-CN" altLang="en-US" sz="2400" dirty="0">
              <a:effectLst>
                <a:outerShdw blurRad="38100" dist="38100" dir="2700000" algn="tl">
                  <a:srgbClr val="000000">
                    <a:alpha val="43137"/>
                  </a:srgbClr>
                </a:outerShdw>
              </a:effectLst>
              <a:ea typeface="宋体"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5">
                                            <p:txEl>
                                              <p:pRg st="0" end="0"/>
                                            </p:txEl>
                                          </p:spTgt>
                                        </p:tgtEl>
                                        <p:attrNameLst>
                                          <p:attrName>style.visibility</p:attrName>
                                        </p:attrNameLst>
                                      </p:cBhvr>
                                      <p:to>
                                        <p:strVal val="visible"/>
                                      </p:to>
                                    </p:set>
                                    <p:animEffect transition="in" filter="wipe(up)">
                                      <p:cBhvr>
                                        <p:cTn id="12" dur="1000"/>
                                        <p:tgtEl>
                                          <p:spTgt spid="25">
                                            <p:txEl>
                                              <p:pRg st="0" end="0"/>
                                            </p:txEl>
                                          </p:spTgt>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26">
                                            <p:txEl>
                                              <p:pRg st="0" end="0"/>
                                            </p:txEl>
                                          </p:spTgt>
                                        </p:tgtEl>
                                        <p:attrNameLst>
                                          <p:attrName>style.visibility</p:attrName>
                                        </p:attrNameLst>
                                      </p:cBhvr>
                                      <p:to>
                                        <p:strVal val="visible"/>
                                      </p:to>
                                    </p:set>
                                    <p:animEffect transition="in" filter="wipe(up)">
                                      <p:cBhvr>
                                        <p:cTn id="16" dur="1000"/>
                                        <p:tgtEl>
                                          <p:spTgt spid="26">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20">
                                            <p:txEl>
                                              <p:pRg st="0" end="0"/>
                                            </p:txEl>
                                          </p:spTgt>
                                        </p:tgtEl>
                                        <p:attrNameLst>
                                          <p:attrName>style.visibility</p:attrName>
                                        </p:attrNameLst>
                                      </p:cBhvr>
                                      <p:to>
                                        <p:strVal val="visible"/>
                                      </p:to>
                                    </p:set>
                                    <p:animEffect transition="in" filter="wipe(up)">
                                      <p:cBhvr>
                                        <p:cTn id="21" dur="1000"/>
                                        <p:tgtEl>
                                          <p:spTgt spid="20">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up)">
                                      <p:cBhvr>
                                        <p:cTn id="26" dur="1000"/>
                                        <p:tgtEl>
                                          <p:spTgt spid="1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up)">
                                      <p:cBhvr>
                                        <p:cTn id="31" dur="1000"/>
                                        <p:tgtEl>
                                          <p:spTgt spid="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wipe(up)">
                                      <p:cBhvr>
                                        <p:cTn id="36" dur="1000"/>
                                        <p:tgtEl>
                                          <p:spTgt spid="12"/>
                                        </p:tgtEl>
                                      </p:cBhvr>
                                    </p:animEffect>
                                  </p:childTnLst>
                                </p:cTn>
                              </p:par>
                            </p:childTnLst>
                          </p:cTn>
                        </p:par>
                        <p:par>
                          <p:cTn id="37" fill="hold" nodeType="afterGroup">
                            <p:stCondLst>
                              <p:cond delay="1000"/>
                            </p:stCondLst>
                            <p:childTnLst>
                              <p:par>
                                <p:cTn id="38" presetID="22" presetClass="entr" presetSubtype="1" fill="hold" nodeType="after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wipe(up)">
                                      <p:cBhvr>
                                        <p:cTn id="40" dur="1000"/>
                                        <p:tgtEl>
                                          <p:spTgt spid="27"/>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1" fill="hold"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up)">
                                      <p:cBhvr>
                                        <p:cTn id="45" dur="1000"/>
                                        <p:tgtEl>
                                          <p:spTgt spid="14"/>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nodeType="clickEffect">
                                  <p:stCondLst>
                                    <p:cond delay="0"/>
                                  </p:stCondLst>
                                  <p:childTnLst>
                                    <p:set>
                                      <p:cBhvr>
                                        <p:cTn id="49" dur="1" fill="hold">
                                          <p:stCondLst>
                                            <p:cond delay="0"/>
                                          </p:stCondLst>
                                        </p:cTn>
                                        <p:tgtEl>
                                          <p:spTgt spid="11">
                                            <p:txEl>
                                              <p:pRg st="0" end="0"/>
                                            </p:txEl>
                                          </p:spTgt>
                                        </p:tgtEl>
                                        <p:attrNameLst>
                                          <p:attrName>style.visibility</p:attrName>
                                        </p:attrNameLst>
                                      </p:cBhvr>
                                      <p:to>
                                        <p:strVal val="visible"/>
                                      </p:to>
                                    </p:set>
                                    <p:animEffect transition="in" filter="wipe(up)">
                                      <p:cBhvr>
                                        <p:cTn id="50" dur="1000"/>
                                        <p:tgtEl>
                                          <p:spTgt spid="11">
                                            <p:txEl>
                                              <p:pRg st="0" end="0"/>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1" fill="hold" nodeType="clickEffect">
                                  <p:stCondLst>
                                    <p:cond delay="0"/>
                                  </p:stCondLst>
                                  <p:childTnLst>
                                    <p:set>
                                      <p:cBhvr>
                                        <p:cTn id="54" dur="1" fill="hold">
                                          <p:stCondLst>
                                            <p:cond delay="0"/>
                                          </p:stCondLst>
                                        </p:cTn>
                                        <p:tgtEl>
                                          <p:spTgt spid="11">
                                            <p:txEl>
                                              <p:pRg st="1" end="1"/>
                                            </p:txEl>
                                          </p:spTgt>
                                        </p:tgtEl>
                                        <p:attrNameLst>
                                          <p:attrName>style.visibility</p:attrName>
                                        </p:attrNameLst>
                                      </p:cBhvr>
                                      <p:to>
                                        <p:strVal val="visible"/>
                                      </p:to>
                                    </p:set>
                                    <p:animEffect transition="in" filter="wipe(up)">
                                      <p:cBhvr>
                                        <p:cTn id="55" dur="1000"/>
                                        <p:tgtEl>
                                          <p:spTgt spid="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2" grpId="0"/>
      <p:bldP spid="14" grpId="0"/>
      <p:bldP spid="27" grpId="0" animBg="1"/>
    </p:bld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D6F4C90B-9993-784E-6365-F0299F891C56}"/>
              </a:ext>
            </a:extLst>
          </p:cNvPr>
          <p:cNvSpPr txBox="1">
            <a:spLocks noChangeArrowheads="1"/>
          </p:cNvSpPr>
          <p:nvPr/>
        </p:nvSpPr>
        <p:spPr bwMode="auto">
          <a:xfrm>
            <a:off x="500063" y="357188"/>
            <a:ext cx="3786187" cy="642937"/>
          </a:xfrm>
          <a:prstGeom prst="rect">
            <a:avLst/>
          </a:prstGeom>
          <a:noFill/>
          <a:ln w="9525">
            <a:noFill/>
            <a:miter lim="800000"/>
            <a:headEnd/>
            <a:tailEnd/>
          </a:ln>
        </p:spPr>
        <p:txBody>
          <a:bodyPr/>
          <a:lstStyle/>
          <a:p>
            <a:pPr marL="228600" lvl="2" indent="-228600" eaLnBrk="0" hangingPunct="0">
              <a:lnSpc>
                <a:spcPct val="150000"/>
              </a:lnSpc>
              <a:spcBef>
                <a:spcPct val="20000"/>
              </a:spcBef>
              <a:buClr>
                <a:srgbClr val="0000CC"/>
              </a:buClr>
              <a:buSzPct val="70000"/>
              <a:defRPr/>
            </a:pPr>
            <a:r>
              <a:rPr lang="zh-CN" altLang="en-US" sz="2400" b="1" kern="0" dirty="0">
                <a:latin typeface="微软雅黑" pitchFamily="34" charset="-122"/>
                <a:ea typeface="微软雅黑" pitchFamily="34" charset="-122"/>
              </a:rPr>
              <a:t> </a:t>
            </a:r>
            <a:r>
              <a:rPr lang="en-US" altLang="zh-CN" sz="2400" b="1" kern="0" dirty="0">
                <a:solidFill>
                  <a:srgbClr val="990099"/>
                </a:solidFill>
                <a:latin typeface="Arial" pitchFamily="34" charset="0"/>
                <a:ea typeface="微软雅黑" pitchFamily="34" charset="-122"/>
                <a:cs typeface="Arial" pitchFamily="34" charset="0"/>
              </a:rPr>
              <a:t>1</a:t>
            </a:r>
            <a:r>
              <a:rPr lang="zh-CN" altLang="en-US" sz="2400" b="1" kern="0" dirty="0">
                <a:solidFill>
                  <a:srgbClr val="990099"/>
                </a:solidFill>
                <a:latin typeface="Arial" pitchFamily="34" charset="0"/>
                <a:ea typeface="微软雅黑" pitchFamily="34" charset="-122"/>
                <a:cs typeface="Arial" pitchFamily="34" charset="0"/>
              </a:rPr>
              <a:t>）</a:t>
            </a:r>
            <a:r>
              <a:rPr lang="zh-CN" altLang="en-US" sz="2400" b="1" dirty="0">
                <a:solidFill>
                  <a:srgbClr val="800080"/>
                </a:solidFill>
                <a:latin typeface="微软雅黑" pitchFamily="34" charset="-122"/>
                <a:ea typeface="微软雅黑" pitchFamily="34" charset="-122"/>
              </a:rPr>
              <a:t>同步网</a:t>
            </a:r>
            <a:r>
              <a:rPr lang="zh-CN" altLang="en-US" sz="2400" b="1" dirty="0">
                <a:latin typeface="微软雅黑" pitchFamily="34" charset="-122"/>
                <a:ea typeface="微软雅黑" pitchFamily="34" charset="-122"/>
              </a:rPr>
              <a:t>的同步方法</a:t>
            </a:r>
            <a:r>
              <a:rPr lang="zh-CN" altLang="en-US" sz="2400" b="1" kern="0" dirty="0">
                <a:latin typeface="微软雅黑" pitchFamily="34" charset="-122"/>
                <a:ea typeface="微软雅黑" pitchFamily="34" charset="-122"/>
              </a:rPr>
              <a:t>：</a:t>
            </a:r>
            <a:endParaRPr lang="zh-CN" altLang="en-US" sz="2400" b="1" dirty="0">
              <a:solidFill>
                <a:srgbClr val="003399"/>
              </a:solidFill>
              <a:latin typeface="微软雅黑" pitchFamily="34" charset="-122"/>
              <a:ea typeface="微软雅黑" pitchFamily="34" charset="-122"/>
            </a:endParaRPr>
          </a:p>
          <a:p>
            <a:pPr marL="228600" indent="-228600" eaLnBrk="0" hangingPunct="0">
              <a:lnSpc>
                <a:spcPct val="150000"/>
              </a:lnSpc>
              <a:spcBef>
                <a:spcPct val="20000"/>
              </a:spcBef>
              <a:buClr>
                <a:srgbClr val="FF0000"/>
              </a:buClr>
              <a:buSzPct val="85000"/>
              <a:buFont typeface="Wingdings" pitchFamily="2" charset="2"/>
              <a:buChar char="n"/>
              <a:defRPr/>
            </a:pPr>
            <a:endParaRPr lang="zh-CN" altLang="en-US" sz="2000" b="1" kern="0" dirty="0">
              <a:latin typeface="微软雅黑" pitchFamily="34" charset="-122"/>
              <a:ea typeface="微软雅黑" pitchFamily="34" charset="-122"/>
            </a:endParaRPr>
          </a:p>
        </p:txBody>
      </p:sp>
      <p:sp>
        <p:nvSpPr>
          <p:cNvPr id="7" name="矩形 6">
            <a:extLst>
              <a:ext uri="{FF2B5EF4-FFF2-40B4-BE49-F238E27FC236}">
                <a16:creationId xmlns:a16="http://schemas.microsoft.com/office/drawing/2014/main" id="{4EE3B7F7-E4DA-DB1E-CD84-939347F6CB67}"/>
              </a:ext>
            </a:extLst>
          </p:cNvPr>
          <p:cNvSpPr/>
          <p:nvPr/>
        </p:nvSpPr>
        <p:spPr>
          <a:xfrm>
            <a:off x="1071563" y="1214438"/>
            <a:ext cx="7715250" cy="400050"/>
          </a:xfrm>
          <a:prstGeom prst="rect">
            <a:avLst/>
          </a:prstGeom>
        </p:spPr>
        <p:txBody>
          <a:bodyPr>
            <a:spAutoFit/>
          </a:bodyPr>
          <a:lstStyle/>
          <a:p>
            <a:pPr>
              <a:defRPr/>
            </a:pPr>
            <a:r>
              <a:rPr lang="en-US" altLang="zh-CN" sz="2000" dirty="0">
                <a:effectLst>
                  <a:outerShdw blurRad="38100" dist="38100" dir="2700000" algn="tl">
                    <a:srgbClr val="000000">
                      <a:alpha val="43137"/>
                    </a:srgbClr>
                  </a:outerShdw>
                </a:effectLst>
                <a:latin typeface="华文中宋" pitchFamily="2" charset="-122"/>
                <a:ea typeface="华文中宋" pitchFamily="2" charset="-122"/>
              </a:rPr>
              <a:t>—— </a:t>
            </a:r>
            <a:r>
              <a:rPr lang="zh-CN" altLang="en-US" sz="2000" dirty="0">
                <a:latin typeface="华文中宋" pitchFamily="2" charset="-122"/>
                <a:ea typeface="华文中宋" pitchFamily="2" charset="-122"/>
              </a:rPr>
              <a:t>可能由接收设备负责解决，也可能需要收发双方共同解决。</a:t>
            </a:r>
          </a:p>
        </p:txBody>
      </p:sp>
      <p:grpSp>
        <p:nvGrpSpPr>
          <p:cNvPr id="2" name="Group 6">
            <a:extLst>
              <a:ext uri="{FF2B5EF4-FFF2-40B4-BE49-F238E27FC236}">
                <a16:creationId xmlns:a16="http://schemas.microsoft.com/office/drawing/2014/main" id="{5CBCA880-F55A-C455-B52B-F4F524F276E7}"/>
              </a:ext>
            </a:extLst>
          </p:cNvPr>
          <p:cNvGrpSpPr>
            <a:grpSpLocks/>
          </p:cNvGrpSpPr>
          <p:nvPr/>
        </p:nvGrpSpPr>
        <p:grpSpPr bwMode="auto">
          <a:xfrm>
            <a:off x="1738313" y="2157413"/>
            <a:ext cx="6048375" cy="2700337"/>
            <a:chOff x="4023" y="11856"/>
            <a:chExt cx="5728" cy="2940"/>
          </a:xfrm>
        </p:grpSpPr>
        <p:pic>
          <p:nvPicPr>
            <p:cNvPr id="81930" name="Picture 7" descr="j0239675">
              <a:extLst>
                <a:ext uri="{FF2B5EF4-FFF2-40B4-BE49-F238E27FC236}">
                  <a16:creationId xmlns:a16="http://schemas.microsoft.com/office/drawing/2014/main" id="{8CCAA167-F7D4-752B-AB49-1A0BA3AE71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7" y="11934"/>
              <a:ext cx="960"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31" name="Text Box 8">
              <a:extLst>
                <a:ext uri="{FF2B5EF4-FFF2-40B4-BE49-F238E27FC236}">
                  <a16:creationId xmlns:a16="http://schemas.microsoft.com/office/drawing/2014/main" id="{EFB3F1A4-4993-421B-553E-BC69765480B1}"/>
                </a:ext>
              </a:extLst>
            </p:cNvPr>
            <p:cNvSpPr txBox="1">
              <a:spLocks noChangeArrowheads="1"/>
            </p:cNvSpPr>
            <p:nvPr/>
          </p:nvSpPr>
          <p:spPr bwMode="auto">
            <a:xfrm>
              <a:off x="5353" y="13068"/>
              <a:ext cx="766" cy="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zh-CN" altLang="en-US" sz="2000">
                  <a:latin typeface="Times New Roman" panose="02020603050405020304" pitchFamily="18" charset="0"/>
                </a:rPr>
                <a:t>上行</a:t>
              </a:r>
              <a:endParaRPr lang="zh-CN" altLang="en-US" sz="2000"/>
            </a:p>
          </p:txBody>
        </p:sp>
        <p:sp>
          <p:nvSpPr>
            <p:cNvPr id="81932" name="Text Box 9">
              <a:extLst>
                <a:ext uri="{FF2B5EF4-FFF2-40B4-BE49-F238E27FC236}">
                  <a16:creationId xmlns:a16="http://schemas.microsoft.com/office/drawing/2014/main" id="{9B0684A4-F6B6-EA12-CD47-C86B7B19968F}"/>
                </a:ext>
              </a:extLst>
            </p:cNvPr>
            <p:cNvSpPr txBox="1">
              <a:spLocks noChangeArrowheads="1"/>
            </p:cNvSpPr>
            <p:nvPr/>
          </p:nvSpPr>
          <p:spPr bwMode="auto">
            <a:xfrm>
              <a:off x="4847" y="12723"/>
              <a:ext cx="766"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zh-CN" altLang="en-US" sz="2000">
                  <a:latin typeface="Times New Roman" panose="02020603050405020304" pitchFamily="18" charset="0"/>
                </a:rPr>
                <a:t>下行</a:t>
              </a:r>
              <a:endParaRPr lang="zh-CN" altLang="en-US" sz="2000"/>
            </a:p>
          </p:txBody>
        </p:sp>
        <p:pic>
          <p:nvPicPr>
            <p:cNvPr id="81933" name="Picture 10" descr="地球站">
              <a:extLst>
                <a:ext uri="{FF2B5EF4-FFF2-40B4-BE49-F238E27FC236}">
                  <a16:creationId xmlns:a16="http://schemas.microsoft.com/office/drawing/2014/main" id="{4B80FD54-12CA-8AA5-221E-24D3DBE482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23" y="13969"/>
              <a:ext cx="720" cy="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34" name="Text Box 11">
              <a:extLst>
                <a:ext uri="{FF2B5EF4-FFF2-40B4-BE49-F238E27FC236}">
                  <a16:creationId xmlns:a16="http://schemas.microsoft.com/office/drawing/2014/main" id="{BCAD3A2A-CBB0-50B0-A51A-BD3877C3C929}"/>
                </a:ext>
              </a:extLst>
            </p:cNvPr>
            <p:cNvSpPr txBox="1">
              <a:spLocks noChangeArrowheads="1"/>
            </p:cNvSpPr>
            <p:nvPr/>
          </p:nvSpPr>
          <p:spPr bwMode="auto">
            <a:xfrm>
              <a:off x="4307" y="14384"/>
              <a:ext cx="406"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000">
                  <a:solidFill>
                    <a:srgbClr val="0000CC"/>
                  </a:solidFill>
                  <a:latin typeface="Times New Roman" panose="02020603050405020304" pitchFamily="18" charset="0"/>
                </a:rPr>
                <a:t>A</a:t>
              </a:r>
              <a:endParaRPr lang="en-US" altLang="zh-CN" sz="2000">
                <a:solidFill>
                  <a:srgbClr val="0000CC"/>
                </a:solidFill>
              </a:endParaRPr>
            </a:p>
          </p:txBody>
        </p:sp>
        <p:pic>
          <p:nvPicPr>
            <p:cNvPr id="81935" name="Picture 12" descr="地球站">
              <a:extLst>
                <a:ext uri="{FF2B5EF4-FFF2-40B4-BE49-F238E27FC236}">
                  <a16:creationId xmlns:a16="http://schemas.microsoft.com/office/drawing/2014/main" id="{6320A829-EF72-BC17-0D13-C6E0C08868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0" y="13969"/>
              <a:ext cx="720" cy="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36" name="Text Box 13">
              <a:extLst>
                <a:ext uri="{FF2B5EF4-FFF2-40B4-BE49-F238E27FC236}">
                  <a16:creationId xmlns:a16="http://schemas.microsoft.com/office/drawing/2014/main" id="{4A7497A7-31C6-DE0C-F168-2420E0DE8C6C}"/>
                </a:ext>
              </a:extLst>
            </p:cNvPr>
            <p:cNvSpPr txBox="1">
              <a:spLocks noChangeArrowheads="1"/>
            </p:cNvSpPr>
            <p:nvPr/>
          </p:nvSpPr>
          <p:spPr bwMode="auto">
            <a:xfrm>
              <a:off x="5536" y="14384"/>
              <a:ext cx="406"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000">
                  <a:solidFill>
                    <a:srgbClr val="0000CC"/>
                  </a:solidFill>
                  <a:latin typeface="Times New Roman" panose="02020603050405020304" pitchFamily="18" charset="0"/>
                </a:rPr>
                <a:t>B</a:t>
              </a:r>
              <a:endParaRPr lang="en-US" altLang="zh-CN" sz="2000">
                <a:solidFill>
                  <a:srgbClr val="0000CC"/>
                </a:solidFill>
              </a:endParaRPr>
            </a:p>
          </p:txBody>
        </p:sp>
        <p:pic>
          <p:nvPicPr>
            <p:cNvPr id="81937" name="Picture 14" descr="地球站">
              <a:extLst>
                <a:ext uri="{FF2B5EF4-FFF2-40B4-BE49-F238E27FC236}">
                  <a16:creationId xmlns:a16="http://schemas.microsoft.com/office/drawing/2014/main" id="{88B3B957-1227-A302-9DC1-4BCD2835E7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24" y="13970"/>
              <a:ext cx="720" cy="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38" name="Text Box 15">
              <a:extLst>
                <a:ext uri="{FF2B5EF4-FFF2-40B4-BE49-F238E27FC236}">
                  <a16:creationId xmlns:a16="http://schemas.microsoft.com/office/drawing/2014/main" id="{2583C9F0-8736-DA4C-750B-7D24B33DD915}"/>
                </a:ext>
              </a:extLst>
            </p:cNvPr>
            <p:cNvSpPr txBox="1">
              <a:spLocks noChangeArrowheads="1"/>
            </p:cNvSpPr>
            <p:nvPr/>
          </p:nvSpPr>
          <p:spPr bwMode="auto">
            <a:xfrm>
              <a:off x="6434" y="14391"/>
              <a:ext cx="406"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000">
                  <a:solidFill>
                    <a:srgbClr val="0000CC"/>
                  </a:solidFill>
                  <a:latin typeface="Times New Roman" panose="02020603050405020304" pitchFamily="18" charset="0"/>
                </a:rPr>
                <a:t>C</a:t>
              </a:r>
              <a:endParaRPr lang="en-US" altLang="zh-CN" sz="2000">
                <a:solidFill>
                  <a:srgbClr val="0000CC"/>
                </a:solidFill>
              </a:endParaRPr>
            </a:p>
          </p:txBody>
        </p:sp>
        <p:grpSp>
          <p:nvGrpSpPr>
            <p:cNvPr id="81939" name="Group 16">
              <a:extLst>
                <a:ext uri="{FF2B5EF4-FFF2-40B4-BE49-F238E27FC236}">
                  <a16:creationId xmlns:a16="http://schemas.microsoft.com/office/drawing/2014/main" id="{421066D0-676F-CBEE-BFFB-1F467CE0F8C1}"/>
                </a:ext>
              </a:extLst>
            </p:cNvPr>
            <p:cNvGrpSpPr>
              <a:grpSpLocks/>
            </p:cNvGrpSpPr>
            <p:nvPr/>
          </p:nvGrpSpPr>
          <p:grpSpPr bwMode="auto">
            <a:xfrm>
              <a:off x="6480" y="12996"/>
              <a:ext cx="242" cy="900"/>
              <a:chOff x="6554" y="13101"/>
              <a:chExt cx="242" cy="900"/>
            </a:xfrm>
          </p:grpSpPr>
          <p:sp>
            <p:nvSpPr>
              <p:cNvPr id="81960" name="Line 17">
                <a:extLst>
                  <a:ext uri="{FF2B5EF4-FFF2-40B4-BE49-F238E27FC236}">
                    <a16:creationId xmlns:a16="http://schemas.microsoft.com/office/drawing/2014/main" id="{8700F66A-B6B3-8155-BF36-AFDE431BF068}"/>
                  </a:ext>
                </a:extLst>
              </p:cNvPr>
              <p:cNvSpPr>
                <a:spLocks noChangeShapeType="1"/>
              </p:cNvSpPr>
              <p:nvPr/>
            </p:nvSpPr>
            <p:spPr bwMode="auto">
              <a:xfrm flipH="1" flipV="1">
                <a:off x="6554" y="13170"/>
                <a:ext cx="168" cy="831"/>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81961" name="Line 18">
                <a:extLst>
                  <a:ext uri="{FF2B5EF4-FFF2-40B4-BE49-F238E27FC236}">
                    <a16:creationId xmlns:a16="http://schemas.microsoft.com/office/drawing/2014/main" id="{B6C2BA5C-8DEC-D62A-6295-61A21C550171}"/>
                  </a:ext>
                </a:extLst>
              </p:cNvPr>
              <p:cNvSpPr>
                <a:spLocks noChangeShapeType="1"/>
              </p:cNvSpPr>
              <p:nvPr/>
            </p:nvSpPr>
            <p:spPr bwMode="auto">
              <a:xfrm>
                <a:off x="6626" y="13101"/>
                <a:ext cx="170" cy="846"/>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sp>
          <p:nvSpPr>
            <p:cNvPr id="81940" name="Line 19">
              <a:extLst>
                <a:ext uri="{FF2B5EF4-FFF2-40B4-BE49-F238E27FC236}">
                  <a16:creationId xmlns:a16="http://schemas.microsoft.com/office/drawing/2014/main" id="{A8B90376-5D75-3409-37E0-C19B765DBA70}"/>
                </a:ext>
              </a:extLst>
            </p:cNvPr>
            <p:cNvSpPr>
              <a:spLocks noChangeShapeType="1"/>
            </p:cNvSpPr>
            <p:nvPr/>
          </p:nvSpPr>
          <p:spPr bwMode="auto">
            <a:xfrm flipH="1" flipV="1">
              <a:off x="7080" y="13146"/>
              <a:ext cx="914" cy="69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41" name="Line 20">
              <a:extLst>
                <a:ext uri="{FF2B5EF4-FFF2-40B4-BE49-F238E27FC236}">
                  <a16:creationId xmlns:a16="http://schemas.microsoft.com/office/drawing/2014/main" id="{87C2DE63-AB72-3890-1D99-1C50E07FDB05}"/>
                </a:ext>
              </a:extLst>
            </p:cNvPr>
            <p:cNvSpPr>
              <a:spLocks noChangeShapeType="1"/>
            </p:cNvSpPr>
            <p:nvPr/>
          </p:nvSpPr>
          <p:spPr bwMode="auto">
            <a:xfrm>
              <a:off x="7176" y="13338"/>
              <a:ext cx="722" cy="55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81942" name="Picture 21" descr="地球站">
              <a:extLst>
                <a:ext uri="{FF2B5EF4-FFF2-40B4-BE49-F238E27FC236}">
                  <a16:creationId xmlns:a16="http://schemas.microsoft.com/office/drawing/2014/main" id="{B531948F-B0A2-4D41-27CE-9B28093B7E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48" y="13970"/>
              <a:ext cx="720" cy="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43" name="Text Box 22">
              <a:extLst>
                <a:ext uri="{FF2B5EF4-FFF2-40B4-BE49-F238E27FC236}">
                  <a16:creationId xmlns:a16="http://schemas.microsoft.com/office/drawing/2014/main" id="{ADFC7A39-E829-A140-0FF5-9AB173900B33}"/>
                </a:ext>
              </a:extLst>
            </p:cNvPr>
            <p:cNvSpPr txBox="1">
              <a:spLocks noChangeArrowheads="1"/>
            </p:cNvSpPr>
            <p:nvPr/>
          </p:nvSpPr>
          <p:spPr bwMode="auto">
            <a:xfrm>
              <a:off x="7816" y="14376"/>
              <a:ext cx="406"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000">
                  <a:solidFill>
                    <a:srgbClr val="0000CC"/>
                  </a:solidFill>
                  <a:latin typeface="Times New Roman" panose="02020603050405020304" pitchFamily="18" charset="0"/>
                </a:rPr>
                <a:t>D</a:t>
              </a:r>
              <a:endParaRPr lang="en-US" altLang="zh-CN" sz="2000">
                <a:solidFill>
                  <a:srgbClr val="0000CC"/>
                </a:solidFill>
              </a:endParaRPr>
            </a:p>
          </p:txBody>
        </p:sp>
        <p:sp>
          <p:nvSpPr>
            <p:cNvPr id="81944" name="Line 23">
              <a:extLst>
                <a:ext uri="{FF2B5EF4-FFF2-40B4-BE49-F238E27FC236}">
                  <a16:creationId xmlns:a16="http://schemas.microsoft.com/office/drawing/2014/main" id="{0F092F63-AC1A-1810-8093-4E2AA2121D2C}"/>
                </a:ext>
              </a:extLst>
            </p:cNvPr>
            <p:cNvSpPr>
              <a:spLocks noChangeShapeType="1"/>
            </p:cNvSpPr>
            <p:nvPr/>
          </p:nvSpPr>
          <p:spPr bwMode="auto">
            <a:xfrm flipV="1">
              <a:off x="5860" y="12978"/>
              <a:ext cx="367" cy="93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45" name="Line 24">
              <a:extLst>
                <a:ext uri="{FF2B5EF4-FFF2-40B4-BE49-F238E27FC236}">
                  <a16:creationId xmlns:a16="http://schemas.microsoft.com/office/drawing/2014/main" id="{416ABCE9-EE8B-8D2B-6469-A4A2CBDDC185}"/>
                </a:ext>
              </a:extLst>
            </p:cNvPr>
            <p:cNvSpPr>
              <a:spLocks noChangeShapeType="1"/>
            </p:cNvSpPr>
            <p:nvPr/>
          </p:nvSpPr>
          <p:spPr bwMode="auto">
            <a:xfrm flipH="1">
              <a:off x="5744" y="12981"/>
              <a:ext cx="367" cy="9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81946" name="Picture 25" descr="j0239675">
              <a:extLst>
                <a:ext uri="{FF2B5EF4-FFF2-40B4-BE49-F238E27FC236}">
                  <a16:creationId xmlns:a16="http://schemas.microsoft.com/office/drawing/2014/main" id="{41EC57C4-C4B8-AE81-0E13-0468C84683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1" y="11889"/>
              <a:ext cx="960"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1947" name="Group 26">
              <a:extLst>
                <a:ext uri="{FF2B5EF4-FFF2-40B4-BE49-F238E27FC236}">
                  <a16:creationId xmlns:a16="http://schemas.microsoft.com/office/drawing/2014/main" id="{607CC354-48FB-9E9E-00BB-04AF773D25A0}"/>
                </a:ext>
              </a:extLst>
            </p:cNvPr>
            <p:cNvGrpSpPr>
              <a:grpSpLocks/>
            </p:cNvGrpSpPr>
            <p:nvPr/>
          </p:nvGrpSpPr>
          <p:grpSpPr bwMode="auto">
            <a:xfrm>
              <a:off x="4625" y="12846"/>
              <a:ext cx="1154" cy="1020"/>
              <a:chOff x="4624" y="12966"/>
              <a:chExt cx="1004" cy="900"/>
            </a:xfrm>
          </p:grpSpPr>
          <p:sp>
            <p:nvSpPr>
              <p:cNvPr id="81958" name="Line 27">
                <a:extLst>
                  <a:ext uri="{FF2B5EF4-FFF2-40B4-BE49-F238E27FC236}">
                    <a16:creationId xmlns:a16="http://schemas.microsoft.com/office/drawing/2014/main" id="{34074954-B247-18C4-4D41-214096354823}"/>
                  </a:ext>
                </a:extLst>
              </p:cNvPr>
              <p:cNvSpPr>
                <a:spLocks noChangeShapeType="1"/>
              </p:cNvSpPr>
              <p:nvPr/>
            </p:nvSpPr>
            <p:spPr bwMode="auto">
              <a:xfrm flipV="1">
                <a:off x="4710" y="13020"/>
                <a:ext cx="918" cy="84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59" name="Line 28">
                <a:extLst>
                  <a:ext uri="{FF2B5EF4-FFF2-40B4-BE49-F238E27FC236}">
                    <a16:creationId xmlns:a16="http://schemas.microsoft.com/office/drawing/2014/main" id="{13EF329F-2E46-DF82-5EC6-144EE24A1FA1}"/>
                  </a:ext>
                </a:extLst>
              </p:cNvPr>
              <p:cNvSpPr>
                <a:spLocks noChangeShapeType="1"/>
              </p:cNvSpPr>
              <p:nvPr/>
            </p:nvSpPr>
            <p:spPr bwMode="auto">
              <a:xfrm flipH="1">
                <a:off x="4624" y="12966"/>
                <a:ext cx="900" cy="84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81948" name="Group 29">
              <a:extLst>
                <a:ext uri="{FF2B5EF4-FFF2-40B4-BE49-F238E27FC236}">
                  <a16:creationId xmlns:a16="http://schemas.microsoft.com/office/drawing/2014/main" id="{2B1EB1A9-0CD4-7CA3-172B-294D4B41BAD7}"/>
                </a:ext>
              </a:extLst>
            </p:cNvPr>
            <p:cNvGrpSpPr>
              <a:grpSpLocks/>
            </p:cNvGrpSpPr>
            <p:nvPr/>
          </p:nvGrpSpPr>
          <p:grpSpPr bwMode="auto">
            <a:xfrm rot="608055">
              <a:off x="7071" y="12216"/>
              <a:ext cx="1666" cy="366"/>
              <a:chOff x="6988" y="11055"/>
              <a:chExt cx="1140" cy="256"/>
            </a:xfrm>
          </p:grpSpPr>
          <p:sp>
            <p:nvSpPr>
              <p:cNvPr id="81956" name="Line 30">
                <a:extLst>
                  <a:ext uri="{FF2B5EF4-FFF2-40B4-BE49-F238E27FC236}">
                    <a16:creationId xmlns:a16="http://schemas.microsoft.com/office/drawing/2014/main" id="{7CF61FF4-67A0-A0A7-92F5-7DF71FA3BFDE}"/>
                  </a:ext>
                </a:extLst>
              </p:cNvPr>
              <p:cNvSpPr>
                <a:spLocks noChangeShapeType="1"/>
              </p:cNvSpPr>
              <p:nvPr/>
            </p:nvSpPr>
            <p:spPr bwMode="auto">
              <a:xfrm flipV="1">
                <a:off x="7108" y="11115"/>
                <a:ext cx="1020" cy="19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57" name="Line 31">
                <a:extLst>
                  <a:ext uri="{FF2B5EF4-FFF2-40B4-BE49-F238E27FC236}">
                    <a16:creationId xmlns:a16="http://schemas.microsoft.com/office/drawing/2014/main" id="{97D1493E-0F46-22A6-E53E-19D9A4A03F52}"/>
                  </a:ext>
                </a:extLst>
              </p:cNvPr>
              <p:cNvSpPr>
                <a:spLocks noChangeShapeType="1"/>
              </p:cNvSpPr>
              <p:nvPr/>
            </p:nvSpPr>
            <p:spPr bwMode="auto">
              <a:xfrm flipH="1">
                <a:off x="6988" y="11055"/>
                <a:ext cx="1036" cy="19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81949" name="Text Box 32">
              <a:extLst>
                <a:ext uri="{FF2B5EF4-FFF2-40B4-BE49-F238E27FC236}">
                  <a16:creationId xmlns:a16="http://schemas.microsoft.com/office/drawing/2014/main" id="{10DA4F03-E041-F2A6-B161-90BA5661558F}"/>
                </a:ext>
              </a:extLst>
            </p:cNvPr>
            <p:cNvSpPr txBox="1">
              <a:spLocks noChangeArrowheads="1"/>
            </p:cNvSpPr>
            <p:nvPr/>
          </p:nvSpPr>
          <p:spPr bwMode="auto">
            <a:xfrm>
              <a:off x="5957" y="11871"/>
              <a:ext cx="676"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000">
                  <a:solidFill>
                    <a:srgbClr val="990099"/>
                  </a:solidFill>
                  <a:latin typeface="Times New Roman" panose="02020603050405020304" pitchFamily="18" charset="0"/>
                </a:rPr>
                <a:t>S1</a:t>
              </a:r>
              <a:endParaRPr lang="en-US" altLang="zh-CN" sz="2000">
                <a:solidFill>
                  <a:srgbClr val="990099"/>
                </a:solidFill>
              </a:endParaRPr>
            </a:p>
          </p:txBody>
        </p:sp>
        <p:sp>
          <p:nvSpPr>
            <p:cNvPr id="81950" name="Text Box 33">
              <a:extLst>
                <a:ext uri="{FF2B5EF4-FFF2-40B4-BE49-F238E27FC236}">
                  <a16:creationId xmlns:a16="http://schemas.microsoft.com/office/drawing/2014/main" id="{10D3D16C-A20E-1B37-CFC6-546443B330EB}"/>
                </a:ext>
              </a:extLst>
            </p:cNvPr>
            <p:cNvSpPr txBox="1">
              <a:spLocks noChangeArrowheads="1"/>
            </p:cNvSpPr>
            <p:nvPr/>
          </p:nvSpPr>
          <p:spPr bwMode="auto">
            <a:xfrm>
              <a:off x="8897" y="11856"/>
              <a:ext cx="496"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000">
                  <a:latin typeface="Times New Roman" panose="02020603050405020304" pitchFamily="18" charset="0"/>
                </a:rPr>
                <a:t>S2</a:t>
              </a:r>
              <a:endParaRPr lang="en-US" altLang="zh-CN" sz="2000"/>
            </a:p>
          </p:txBody>
        </p:sp>
        <p:sp>
          <p:nvSpPr>
            <p:cNvPr id="81951" name="Text Box 34">
              <a:extLst>
                <a:ext uri="{FF2B5EF4-FFF2-40B4-BE49-F238E27FC236}">
                  <a16:creationId xmlns:a16="http://schemas.microsoft.com/office/drawing/2014/main" id="{27DC9C53-D49B-83D3-72E5-AA00157E484C}"/>
                </a:ext>
              </a:extLst>
            </p:cNvPr>
            <p:cNvSpPr txBox="1">
              <a:spLocks noChangeArrowheads="1"/>
            </p:cNvSpPr>
            <p:nvPr/>
          </p:nvSpPr>
          <p:spPr bwMode="auto">
            <a:xfrm>
              <a:off x="4879" y="13491"/>
              <a:ext cx="602"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000">
                  <a:latin typeface="Times New Roman" panose="02020603050405020304" pitchFamily="18" charset="0"/>
                </a:rPr>
                <a:t>E-1</a:t>
              </a:r>
              <a:endParaRPr lang="en-US" altLang="zh-CN" sz="2000"/>
            </a:p>
          </p:txBody>
        </p:sp>
        <p:sp>
          <p:nvSpPr>
            <p:cNvPr id="81952" name="Text Box 35">
              <a:extLst>
                <a:ext uri="{FF2B5EF4-FFF2-40B4-BE49-F238E27FC236}">
                  <a16:creationId xmlns:a16="http://schemas.microsoft.com/office/drawing/2014/main" id="{AE77956A-0321-4291-1420-901FB1E5BE63}"/>
                </a:ext>
              </a:extLst>
            </p:cNvPr>
            <p:cNvSpPr txBox="1">
              <a:spLocks noChangeArrowheads="1"/>
            </p:cNvSpPr>
            <p:nvPr/>
          </p:nvSpPr>
          <p:spPr bwMode="auto">
            <a:xfrm>
              <a:off x="5868" y="13491"/>
              <a:ext cx="602"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000">
                  <a:latin typeface="Times New Roman" panose="02020603050405020304" pitchFamily="18" charset="0"/>
                </a:rPr>
                <a:t>E-1</a:t>
              </a:r>
              <a:endParaRPr lang="en-US" altLang="zh-CN" sz="2000"/>
            </a:p>
          </p:txBody>
        </p:sp>
        <p:sp>
          <p:nvSpPr>
            <p:cNvPr id="81953" name="Text Box 36">
              <a:extLst>
                <a:ext uri="{FF2B5EF4-FFF2-40B4-BE49-F238E27FC236}">
                  <a16:creationId xmlns:a16="http://schemas.microsoft.com/office/drawing/2014/main" id="{0C9705F6-6CBD-899D-656A-1A180CE89F34}"/>
                </a:ext>
              </a:extLst>
            </p:cNvPr>
            <p:cNvSpPr txBox="1">
              <a:spLocks noChangeArrowheads="1"/>
            </p:cNvSpPr>
            <p:nvPr/>
          </p:nvSpPr>
          <p:spPr bwMode="auto">
            <a:xfrm>
              <a:off x="6648" y="13476"/>
              <a:ext cx="602"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000">
                  <a:latin typeface="Times New Roman" panose="02020603050405020304" pitchFamily="18" charset="0"/>
                </a:rPr>
                <a:t>E-1</a:t>
              </a:r>
              <a:endParaRPr lang="en-US" altLang="zh-CN" sz="2000"/>
            </a:p>
          </p:txBody>
        </p:sp>
        <p:sp>
          <p:nvSpPr>
            <p:cNvPr id="81954" name="Text Box 37">
              <a:extLst>
                <a:ext uri="{FF2B5EF4-FFF2-40B4-BE49-F238E27FC236}">
                  <a16:creationId xmlns:a16="http://schemas.microsoft.com/office/drawing/2014/main" id="{93B4EC9F-0523-67A3-795E-A3357EC632C4}"/>
                </a:ext>
              </a:extLst>
            </p:cNvPr>
            <p:cNvSpPr txBox="1">
              <a:spLocks noChangeArrowheads="1"/>
            </p:cNvSpPr>
            <p:nvPr/>
          </p:nvSpPr>
          <p:spPr bwMode="auto">
            <a:xfrm>
              <a:off x="7742" y="13356"/>
              <a:ext cx="602"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000">
                  <a:latin typeface="Times New Roman" panose="02020603050405020304" pitchFamily="18" charset="0"/>
                </a:rPr>
                <a:t>E-1</a:t>
              </a:r>
              <a:endParaRPr lang="en-US" altLang="zh-CN" sz="2000"/>
            </a:p>
          </p:txBody>
        </p:sp>
        <p:sp>
          <p:nvSpPr>
            <p:cNvPr id="81955" name="Text Box 38">
              <a:extLst>
                <a:ext uri="{FF2B5EF4-FFF2-40B4-BE49-F238E27FC236}">
                  <a16:creationId xmlns:a16="http://schemas.microsoft.com/office/drawing/2014/main" id="{EAC2700C-FFAA-0C92-F04F-25DB385CB1D1}"/>
                </a:ext>
              </a:extLst>
            </p:cNvPr>
            <p:cNvSpPr txBox="1">
              <a:spLocks noChangeArrowheads="1"/>
            </p:cNvSpPr>
            <p:nvPr/>
          </p:nvSpPr>
          <p:spPr bwMode="auto">
            <a:xfrm>
              <a:off x="7713" y="12381"/>
              <a:ext cx="602"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000">
                  <a:latin typeface="Times New Roman" panose="02020603050405020304" pitchFamily="18" charset="0"/>
                </a:rPr>
                <a:t>E-2</a:t>
              </a:r>
              <a:endParaRPr lang="en-US" altLang="zh-CN" sz="2000"/>
            </a:p>
          </p:txBody>
        </p:sp>
      </p:grpSp>
      <p:sp>
        <p:nvSpPr>
          <p:cNvPr id="45" name="矩形 44">
            <a:extLst>
              <a:ext uri="{FF2B5EF4-FFF2-40B4-BE49-F238E27FC236}">
                <a16:creationId xmlns:a16="http://schemas.microsoft.com/office/drawing/2014/main" id="{6011C6A0-F9D7-A6C7-DD2E-267083E25BE2}"/>
              </a:ext>
            </a:extLst>
          </p:cNvPr>
          <p:cNvSpPr/>
          <p:nvPr/>
        </p:nvSpPr>
        <p:spPr bwMode="auto">
          <a:xfrm>
            <a:off x="1643063" y="2000250"/>
            <a:ext cx="6215062" cy="3000375"/>
          </a:xfrm>
          <a:prstGeom prst="rect">
            <a:avLst/>
          </a:prstGeom>
          <a:noFill/>
          <a:ln w="9525" cap="flat" cmpd="sng" algn="ctr">
            <a:solidFill>
              <a:schemeClr val="tx2">
                <a:lumMod val="20000"/>
                <a:lumOff val="80000"/>
              </a:schemeClr>
            </a:solidFill>
            <a:prstDash val="solid"/>
            <a:miter lim="800000"/>
            <a:headEnd type="none" w="med" len="med"/>
            <a:tailEnd type="none" w="med" len="med"/>
          </a:ln>
          <a:effectLst>
            <a:outerShdw blurRad="50800" dist="38100" dir="2700000" algn="tl" rotWithShape="0">
              <a:prstClr val="black">
                <a:alpha val="40000"/>
              </a:prstClr>
            </a:outerShdw>
          </a:effectLst>
        </p:spPr>
        <p:txBody>
          <a:bodyPr wrap="none"/>
          <a:lstStyle/>
          <a:p>
            <a:pPr>
              <a:defRPr/>
            </a:pPr>
            <a:endParaRPr lang="zh-CN" altLang="en-US">
              <a:ea typeface="宋体" charset="-122"/>
            </a:endParaRPr>
          </a:p>
        </p:txBody>
      </p:sp>
      <p:grpSp>
        <p:nvGrpSpPr>
          <p:cNvPr id="8" name="组合 57">
            <a:extLst>
              <a:ext uri="{FF2B5EF4-FFF2-40B4-BE49-F238E27FC236}">
                <a16:creationId xmlns:a16="http://schemas.microsoft.com/office/drawing/2014/main" id="{CC02129B-64E4-E3A4-A4B6-F9F60A2D3EF0}"/>
              </a:ext>
            </a:extLst>
          </p:cNvPr>
          <p:cNvGrpSpPr>
            <a:grpSpLocks/>
          </p:cNvGrpSpPr>
          <p:nvPr/>
        </p:nvGrpSpPr>
        <p:grpSpPr bwMode="auto">
          <a:xfrm>
            <a:off x="1143000" y="1857375"/>
            <a:ext cx="928688" cy="571500"/>
            <a:chOff x="2500298" y="3214686"/>
            <a:chExt cx="928693" cy="571503"/>
          </a:xfrm>
        </p:grpSpPr>
        <p:sp>
          <p:nvSpPr>
            <p:cNvPr id="43" name="椭圆 42">
              <a:extLst>
                <a:ext uri="{FF2B5EF4-FFF2-40B4-BE49-F238E27FC236}">
                  <a16:creationId xmlns:a16="http://schemas.microsoft.com/office/drawing/2014/main" id="{32D17746-0305-F6D5-08B6-0C3DBDA289E6}"/>
                </a:ext>
              </a:extLst>
            </p:cNvPr>
            <p:cNvSpPr/>
            <p:nvPr/>
          </p:nvSpPr>
          <p:spPr bwMode="auto">
            <a:xfrm>
              <a:off x="2500298" y="3214686"/>
              <a:ext cx="928693" cy="571503"/>
            </a:xfrm>
            <a:prstGeom prst="ellipse">
              <a:avLst/>
            </a:prstGeom>
            <a:solidFill>
              <a:schemeClr val="bg2">
                <a:lumMod val="10000"/>
                <a:lumOff val="90000"/>
              </a:schemeClr>
            </a:solidFill>
            <a:ln w="9525" cap="flat" cmpd="sng" algn="ctr">
              <a:solidFill>
                <a:schemeClr val="tx2">
                  <a:lumMod val="60000"/>
                  <a:lumOff val="40000"/>
                </a:schemeClr>
              </a:solidFill>
              <a:prstDash val="solid"/>
              <a:miter lim="800000"/>
              <a:headEnd type="none" w="med" len="med"/>
              <a:tailEnd type="none" w="med" len="med"/>
            </a:ln>
            <a:effectLst>
              <a:outerShdw blurRad="50800" dist="38100" dir="18900000" algn="bl" rotWithShape="0">
                <a:prstClr val="black">
                  <a:alpha val="40000"/>
                </a:prstClr>
              </a:outerShdw>
            </a:effectLst>
          </p:spPr>
          <p:txBody>
            <a:bodyPr wrap="none"/>
            <a:lstStyle/>
            <a:p>
              <a:pPr>
                <a:defRPr/>
              </a:pPr>
              <a:endParaRPr lang="zh-CN" altLang="en-US" dirty="0">
                <a:ea typeface="宋体" charset="-122"/>
              </a:endParaRPr>
            </a:p>
          </p:txBody>
        </p:sp>
        <p:sp>
          <p:nvSpPr>
            <p:cNvPr id="44" name="矩形 43">
              <a:extLst>
                <a:ext uri="{FF2B5EF4-FFF2-40B4-BE49-F238E27FC236}">
                  <a16:creationId xmlns:a16="http://schemas.microsoft.com/office/drawing/2014/main" id="{CE7B0C2A-93DF-35C0-40F3-53401CD5F825}"/>
                </a:ext>
              </a:extLst>
            </p:cNvPr>
            <p:cNvSpPr/>
            <p:nvPr/>
          </p:nvSpPr>
          <p:spPr>
            <a:xfrm>
              <a:off x="2625712" y="3286124"/>
              <a:ext cx="696916" cy="400052"/>
            </a:xfrm>
            <a:prstGeom prst="rect">
              <a:avLst/>
            </a:prstGeom>
          </p:spPr>
          <p:txBody>
            <a:bodyPr wrap="none">
              <a:spAutoFit/>
            </a:bodyPr>
            <a:lstStyle/>
            <a:p>
              <a:pPr>
                <a:defRPr/>
              </a:pPr>
              <a:r>
                <a:rPr lang="zh-CN" altLang="en-US" sz="2000" kern="0" dirty="0">
                  <a:solidFill>
                    <a:srgbClr val="003399"/>
                  </a:solidFill>
                  <a:latin typeface="微软雅黑" pitchFamily="34" charset="-122"/>
                  <a:ea typeface="微软雅黑" pitchFamily="34" charset="-122"/>
                </a:rPr>
                <a:t>例如</a:t>
              </a:r>
              <a:endParaRPr lang="zh-CN" altLang="en-US" sz="2000" dirty="0">
                <a:ea typeface="宋体" charset="-122"/>
              </a:endParaRPr>
            </a:p>
          </p:txBody>
        </p:sp>
      </p:grpSp>
      <p:sp>
        <p:nvSpPr>
          <p:cNvPr id="46" name="Rectangle 3">
            <a:extLst>
              <a:ext uri="{FF2B5EF4-FFF2-40B4-BE49-F238E27FC236}">
                <a16:creationId xmlns:a16="http://schemas.microsoft.com/office/drawing/2014/main" id="{D8418012-0AB9-07A5-4C0E-9E09F383567B}"/>
              </a:ext>
            </a:extLst>
          </p:cNvPr>
          <p:cNvSpPr txBox="1">
            <a:spLocks noChangeArrowheads="1"/>
          </p:cNvSpPr>
          <p:nvPr/>
        </p:nvSpPr>
        <p:spPr bwMode="auto">
          <a:xfrm>
            <a:off x="857250" y="5429250"/>
            <a:ext cx="7643813" cy="847725"/>
          </a:xfrm>
          <a:prstGeom prst="rect">
            <a:avLst/>
          </a:prstGeom>
          <a:noFill/>
          <a:ln w="9525">
            <a:noFill/>
            <a:miter lim="800000"/>
            <a:headEnd/>
            <a:tailEnd/>
          </a:ln>
        </p:spPr>
        <p:txBody>
          <a:bodyPr/>
          <a:lstStyle/>
          <a:p>
            <a:pPr marL="228600" indent="-228600" eaLnBrk="0" hangingPunct="0">
              <a:lnSpc>
                <a:spcPct val="150000"/>
              </a:lnSpc>
              <a:spcBef>
                <a:spcPct val="20000"/>
              </a:spcBef>
              <a:buClr>
                <a:schemeClr val="accent2"/>
              </a:buClr>
              <a:buSzPct val="55000"/>
              <a:buFont typeface="Wingdings" pitchFamily="2" charset="2"/>
              <a:buNone/>
              <a:defRPr/>
            </a:pPr>
            <a:r>
              <a:rPr lang="zh-CN" altLang="en-US" sz="2000" kern="0" dirty="0">
                <a:latin typeface="华文中宋" pitchFamily="2" charset="-122"/>
                <a:ea typeface="华文中宋" pitchFamily="2" charset="-122"/>
              </a:rPr>
              <a:t>	一个卫星通信网中有</a:t>
            </a:r>
            <a:r>
              <a:rPr lang="en-US" altLang="zh-CN" sz="2000" kern="0" dirty="0">
                <a:solidFill>
                  <a:srgbClr val="0000CC"/>
                </a:solidFill>
                <a:latin typeface="华文中宋" pitchFamily="2" charset="-122"/>
                <a:ea typeface="华文中宋" pitchFamily="2" charset="-122"/>
              </a:rPr>
              <a:t>4</a:t>
            </a:r>
            <a:r>
              <a:rPr lang="zh-CN" altLang="en-US" sz="2000" kern="0" dirty="0">
                <a:solidFill>
                  <a:srgbClr val="0000CC"/>
                </a:solidFill>
                <a:latin typeface="华文中宋" pitchFamily="2" charset="-122"/>
                <a:ea typeface="华文中宋" pitchFamily="2" charset="-122"/>
              </a:rPr>
              <a:t>个</a:t>
            </a:r>
            <a:r>
              <a:rPr lang="zh-CN" altLang="en-US" sz="2000" kern="0" dirty="0">
                <a:latin typeface="华文中宋" pitchFamily="2" charset="-122"/>
                <a:ea typeface="华文中宋" pitchFamily="2" charset="-122"/>
              </a:rPr>
              <a:t>地球（终端）站，在卫星（中心站）</a:t>
            </a:r>
            <a:r>
              <a:rPr lang="en-US" altLang="zh-CN" sz="2000" kern="0" dirty="0">
                <a:solidFill>
                  <a:srgbClr val="800080"/>
                </a:solidFill>
                <a:latin typeface="Arial" pitchFamily="34" charset="0"/>
                <a:ea typeface="华文中宋" pitchFamily="2" charset="-122"/>
                <a:cs typeface="Arial" pitchFamily="34" charset="0"/>
              </a:rPr>
              <a:t>S1</a:t>
            </a:r>
            <a:r>
              <a:rPr lang="zh-CN" altLang="en-US" sz="2000" kern="0" dirty="0">
                <a:latin typeface="华文中宋" pitchFamily="2" charset="-122"/>
                <a:ea typeface="华文中宋" pitchFamily="2" charset="-122"/>
              </a:rPr>
              <a:t>上接收地球站的 </a:t>
            </a:r>
            <a:r>
              <a:rPr lang="en-US" altLang="zh-CN" sz="2000" kern="0" dirty="0">
                <a:effectLst>
                  <a:outerShdw blurRad="38100" dist="38100" dir="2700000" algn="tl">
                    <a:srgbClr val="000000">
                      <a:alpha val="43137"/>
                    </a:srgbClr>
                  </a:outerShdw>
                </a:effectLst>
                <a:latin typeface="Arial" pitchFamily="34" charset="0"/>
                <a:ea typeface="华文中宋" pitchFamily="2" charset="-122"/>
                <a:cs typeface="Arial" pitchFamily="34" charset="0"/>
              </a:rPr>
              <a:t>TDMA </a:t>
            </a:r>
            <a:r>
              <a:rPr lang="zh-CN" altLang="en-US" sz="2000" kern="0" dirty="0">
                <a:latin typeface="华文中宋" pitchFamily="2" charset="-122"/>
                <a:ea typeface="华文中宋" pitchFamily="2" charset="-122"/>
              </a:rPr>
              <a:t>信号，其时隙安排如下图：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10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10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1000"/>
                                        <p:tgtEl>
                                          <p:spTgt spid="8"/>
                                        </p:tgtEl>
                                      </p:cBhvr>
                                    </p:animEffect>
                                  </p:childTnLst>
                                </p:cTn>
                              </p:par>
                            </p:childTnLst>
                          </p:cTn>
                        </p:par>
                        <p:par>
                          <p:cTn id="18" fill="hold" nodeType="afterGroup">
                            <p:stCondLst>
                              <p:cond delay="1000"/>
                            </p:stCondLst>
                            <p:childTnLst>
                              <p:par>
                                <p:cTn id="19" presetID="22" presetClass="entr" presetSubtype="1" fill="hold" nodeType="afterEffect">
                                  <p:stCondLst>
                                    <p:cond delay="0"/>
                                  </p:stCondLst>
                                  <p:childTnLst>
                                    <p:set>
                                      <p:cBhvr>
                                        <p:cTn id="20" dur="1" fill="hold">
                                          <p:stCondLst>
                                            <p:cond delay="0"/>
                                          </p:stCondLst>
                                        </p:cTn>
                                        <p:tgtEl>
                                          <p:spTgt spid="45"/>
                                        </p:tgtEl>
                                        <p:attrNameLst>
                                          <p:attrName>style.visibility</p:attrName>
                                        </p:attrNameLst>
                                      </p:cBhvr>
                                      <p:to>
                                        <p:strVal val="visible"/>
                                      </p:to>
                                    </p:set>
                                    <p:animEffect transition="in" filter="wipe(up)">
                                      <p:cBhvr>
                                        <p:cTn id="21" dur="2000"/>
                                        <p:tgtEl>
                                          <p:spTgt spid="45"/>
                                        </p:tgtEl>
                                      </p:cBhvr>
                                    </p:animEffect>
                                  </p:childTnLst>
                                </p:cTn>
                              </p:par>
                              <p:par>
                                <p:cTn id="22" presetID="22" presetClass="entr" presetSubtype="1" fill="hold"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wipe(up)">
                                      <p:cBhvr>
                                        <p:cTn id="24" dur="2000"/>
                                        <p:tgtEl>
                                          <p:spTgt spid="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46"/>
                                        </p:tgtEl>
                                        <p:attrNameLst>
                                          <p:attrName>style.visibility</p:attrName>
                                        </p:attrNameLst>
                                      </p:cBhvr>
                                      <p:to>
                                        <p:strVal val="visible"/>
                                      </p:to>
                                    </p:set>
                                    <p:animEffect transition="in" filter="wipe(up)">
                                      <p:cBhvr>
                                        <p:cTn id="29" dur="10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45" grpId="0" animBg="1"/>
      <p:bldP spid="46"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0">
            <a:extLst>
              <a:ext uri="{FF2B5EF4-FFF2-40B4-BE49-F238E27FC236}">
                <a16:creationId xmlns:a16="http://schemas.microsoft.com/office/drawing/2014/main" id="{E90DAD87-B5D2-B9B4-D40C-EC02C0B295C8}"/>
              </a:ext>
            </a:extLst>
          </p:cNvPr>
          <p:cNvGrpSpPr>
            <a:grpSpLocks/>
          </p:cNvGrpSpPr>
          <p:nvPr/>
        </p:nvGrpSpPr>
        <p:grpSpPr bwMode="auto">
          <a:xfrm>
            <a:off x="2857500" y="1214438"/>
            <a:ext cx="4049713" cy="773112"/>
            <a:chOff x="2206" y="14358"/>
            <a:chExt cx="4484" cy="639"/>
          </a:xfrm>
        </p:grpSpPr>
        <p:sp>
          <p:nvSpPr>
            <p:cNvPr id="82955" name="Line 41">
              <a:extLst>
                <a:ext uri="{FF2B5EF4-FFF2-40B4-BE49-F238E27FC236}">
                  <a16:creationId xmlns:a16="http://schemas.microsoft.com/office/drawing/2014/main" id="{67AFBE1D-4E07-F1BD-003A-91029006D3EB}"/>
                </a:ext>
              </a:extLst>
            </p:cNvPr>
            <p:cNvSpPr>
              <a:spLocks noChangeShapeType="1"/>
            </p:cNvSpPr>
            <p:nvPr/>
          </p:nvSpPr>
          <p:spPr bwMode="auto">
            <a:xfrm>
              <a:off x="2206" y="14700"/>
              <a:ext cx="448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82956" name="Group 42">
              <a:extLst>
                <a:ext uri="{FF2B5EF4-FFF2-40B4-BE49-F238E27FC236}">
                  <a16:creationId xmlns:a16="http://schemas.microsoft.com/office/drawing/2014/main" id="{1E64FF44-E635-5870-261B-04997395EB6D}"/>
                </a:ext>
              </a:extLst>
            </p:cNvPr>
            <p:cNvGrpSpPr>
              <a:grpSpLocks/>
            </p:cNvGrpSpPr>
            <p:nvPr/>
          </p:nvGrpSpPr>
          <p:grpSpPr bwMode="auto">
            <a:xfrm>
              <a:off x="2416" y="14358"/>
              <a:ext cx="3748" cy="360"/>
              <a:chOff x="2416" y="14358"/>
              <a:chExt cx="3748" cy="360"/>
            </a:xfrm>
          </p:grpSpPr>
          <p:grpSp>
            <p:nvGrpSpPr>
              <p:cNvPr id="82958" name="Group 43">
                <a:extLst>
                  <a:ext uri="{FF2B5EF4-FFF2-40B4-BE49-F238E27FC236}">
                    <a16:creationId xmlns:a16="http://schemas.microsoft.com/office/drawing/2014/main" id="{173798D3-DFEC-AC17-6102-94E8789AB4EC}"/>
                  </a:ext>
                </a:extLst>
              </p:cNvPr>
              <p:cNvGrpSpPr>
                <a:grpSpLocks/>
              </p:cNvGrpSpPr>
              <p:nvPr/>
            </p:nvGrpSpPr>
            <p:grpSpPr bwMode="auto">
              <a:xfrm>
                <a:off x="2416" y="14358"/>
                <a:ext cx="2354" cy="360"/>
                <a:chOff x="2416" y="14358"/>
                <a:chExt cx="2354" cy="360"/>
              </a:xfrm>
            </p:grpSpPr>
            <p:grpSp>
              <p:nvGrpSpPr>
                <p:cNvPr id="82963" name="Group 44">
                  <a:extLst>
                    <a:ext uri="{FF2B5EF4-FFF2-40B4-BE49-F238E27FC236}">
                      <a16:creationId xmlns:a16="http://schemas.microsoft.com/office/drawing/2014/main" id="{2C62CF4B-4078-408A-EFD5-E64C4277FB4A}"/>
                    </a:ext>
                  </a:extLst>
                </p:cNvPr>
                <p:cNvGrpSpPr>
                  <a:grpSpLocks/>
                </p:cNvGrpSpPr>
                <p:nvPr/>
              </p:nvGrpSpPr>
              <p:grpSpPr bwMode="auto">
                <a:xfrm>
                  <a:off x="2894" y="14358"/>
                  <a:ext cx="945" cy="342"/>
                  <a:chOff x="3478" y="10683"/>
                  <a:chExt cx="945" cy="342"/>
                </a:xfrm>
              </p:grpSpPr>
              <p:sp>
                <p:nvSpPr>
                  <p:cNvPr id="82968" name="Text Box 45">
                    <a:extLst>
                      <a:ext uri="{FF2B5EF4-FFF2-40B4-BE49-F238E27FC236}">
                        <a16:creationId xmlns:a16="http://schemas.microsoft.com/office/drawing/2014/main" id="{28588B8F-6B49-9ED0-690D-0636E6F14DCE}"/>
                      </a:ext>
                    </a:extLst>
                  </p:cNvPr>
                  <p:cNvSpPr txBox="1">
                    <a:spLocks noChangeArrowheads="1"/>
                  </p:cNvSpPr>
                  <p:nvPr/>
                </p:nvSpPr>
                <p:spPr bwMode="auto">
                  <a:xfrm>
                    <a:off x="3478" y="10683"/>
                    <a:ext cx="479" cy="342"/>
                  </a:xfrm>
                  <a:prstGeom prst="rect">
                    <a:avLst/>
                  </a:prstGeom>
                  <a:solidFill>
                    <a:srgbClr val="FFFFFF"/>
                  </a:solidFill>
                  <a:ln w="9525">
                    <a:solidFill>
                      <a:srgbClr val="000000"/>
                    </a:solidFill>
                    <a:miter lim="800000"/>
                    <a:headEnd/>
                    <a:tailEnd/>
                  </a:ln>
                </p:spPr>
                <p:txBody>
                  <a:bodyPr lIns="7200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400" i="1">
                        <a:latin typeface="Times New Roman" panose="02020603050405020304" pitchFamily="18" charset="0"/>
                      </a:rPr>
                      <a:t>A</a:t>
                    </a:r>
                    <a:endParaRPr lang="en-US" altLang="zh-CN" sz="4000"/>
                  </a:p>
                </p:txBody>
              </p:sp>
              <p:sp>
                <p:nvSpPr>
                  <p:cNvPr id="82969" name="Text Box 46">
                    <a:extLst>
                      <a:ext uri="{FF2B5EF4-FFF2-40B4-BE49-F238E27FC236}">
                        <a16:creationId xmlns:a16="http://schemas.microsoft.com/office/drawing/2014/main" id="{38DE1FD7-86FD-1E7D-D980-22C2BC9C9B54}"/>
                      </a:ext>
                    </a:extLst>
                  </p:cNvPr>
                  <p:cNvSpPr txBox="1">
                    <a:spLocks noChangeArrowheads="1"/>
                  </p:cNvSpPr>
                  <p:nvPr/>
                </p:nvSpPr>
                <p:spPr bwMode="auto">
                  <a:xfrm>
                    <a:off x="3944" y="10683"/>
                    <a:ext cx="479" cy="342"/>
                  </a:xfrm>
                  <a:prstGeom prst="rect">
                    <a:avLst/>
                  </a:prstGeom>
                  <a:solidFill>
                    <a:srgbClr val="FFFFFF"/>
                  </a:solidFill>
                  <a:ln w="9525">
                    <a:solidFill>
                      <a:srgbClr val="000000"/>
                    </a:solidFill>
                    <a:miter lim="800000"/>
                    <a:headEnd/>
                    <a:tailEnd/>
                  </a:ln>
                </p:spPr>
                <p:txBody>
                  <a:bodyPr lIns="7200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400" i="1">
                        <a:latin typeface="Times New Roman" panose="02020603050405020304" pitchFamily="18" charset="0"/>
                      </a:rPr>
                      <a:t>B</a:t>
                    </a:r>
                    <a:endParaRPr lang="en-US" altLang="zh-CN" sz="4000"/>
                  </a:p>
                </p:txBody>
              </p:sp>
            </p:grpSp>
            <p:grpSp>
              <p:nvGrpSpPr>
                <p:cNvPr id="82964" name="Group 47">
                  <a:extLst>
                    <a:ext uri="{FF2B5EF4-FFF2-40B4-BE49-F238E27FC236}">
                      <a16:creationId xmlns:a16="http://schemas.microsoft.com/office/drawing/2014/main" id="{78C57A34-A186-6C56-B835-5E336BBADCA5}"/>
                    </a:ext>
                  </a:extLst>
                </p:cNvPr>
                <p:cNvGrpSpPr>
                  <a:grpSpLocks/>
                </p:cNvGrpSpPr>
                <p:nvPr/>
              </p:nvGrpSpPr>
              <p:grpSpPr bwMode="auto">
                <a:xfrm>
                  <a:off x="3826" y="14363"/>
                  <a:ext cx="944" cy="355"/>
                  <a:chOff x="4905" y="10845"/>
                  <a:chExt cx="818" cy="308"/>
                </a:xfrm>
              </p:grpSpPr>
              <p:sp>
                <p:nvSpPr>
                  <p:cNvPr id="82966" name="Text Box 48">
                    <a:extLst>
                      <a:ext uri="{FF2B5EF4-FFF2-40B4-BE49-F238E27FC236}">
                        <a16:creationId xmlns:a16="http://schemas.microsoft.com/office/drawing/2014/main" id="{4F92C9B1-D340-455B-32EA-F3C351413B07}"/>
                      </a:ext>
                    </a:extLst>
                  </p:cNvPr>
                  <p:cNvSpPr txBox="1">
                    <a:spLocks noChangeArrowheads="1"/>
                  </p:cNvSpPr>
                  <p:nvPr/>
                </p:nvSpPr>
                <p:spPr bwMode="auto">
                  <a:xfrm>
                    <a:off x="4905" y="10855"/>
                    <a:ext cx="415" cy="298"/>
                  </a:xfrm>
                  <a:prstGeom prst="rect">
                    <a:avLst/>
                  </a:prstGeom>
                  <a:solidFill>
                    <a:srgbClr val="FFFFFF"/>
                  </a:solidFill>
                  <a:ln w="9525">
                    <a:solidFill>
                      <a:srgbClr val="000000"/>
                    </a:solidFill>
                    <a:miter lim="800000"/>
                    <a:headEnd/>
                    <a:tailEnd/>
                  </a:ln>
                </p:spPr>
                <p:txBody>
                  <a:bodyPr lIns="7200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lnSpc>
                        <a:spcPct val="150000"/>
                      </a:lnSpc>
                    </a:pPr>
                    <a:r>
                      <a:rPr lang="en-US" altLang="zh-CN" sz="2000" i="1">
                        <a:latin typeface="Times New Roman" panose="02020603050405020304" pitchFamily="18" charset="0"/>
                      </a:rPr>
                      <a:t>C</a:t>
                    </a:r>
                    <a:endParaRPr lang="en-US" altLang="zh-CN" sz="4000"/>
                  </a:p>
                </p:txBody>
              </p:sp>
              <p:sp>
                <p:nvSpPr>
                  <p:cNvPr id="82967" name="Text Box 49">
                    <a:extLst>
                      <a:ext uri="{FF2B5EF4-FFF2-40B4-BE49-F238E27FC236}">
                        <a16:creationId xmlns:a16="http://schemas.microsoft.com/office/drawing/2014/main" id="{36FF27A9-2D72-A797-17ED-2CF2996FE1C9}"/>
                      </a:ext>
                    </a:extLst>
                  </p:cNvPr>
                  <p:cNvSpPr txBox="1">
                    <a:spLocks noChangeArrowheads="1"/>
                  </p:cNvSpPr>
                  <p:nvPr/>
                </p:nvSpPr>
                <p:spPr bwMode="auto">
                  <a:xfrm>
                    <a:off x="5308" y="10845"/>
                    <a:ext cx="415" cy="297"/>
                  </a:xfrm>
                  <a:prstGeom prst="rect">
                    <a:avLst/>
                  </a:prstGeom>
                  <a:solidFill>
                    <a:srgbClr val="FFFFFF"/>
                  </a:solidFill>
                  <a:ln w="9525">
                    <a:solidFill>
                      <a:srgbClr val="000000"/>
                    </a:solidFill>
                    <a:miter lim="800000"/>
                    <a:headEnd/>
                    <a:tailEnd/>
                  </a:ln>
                </p:spPr>
                <p:txBody>
                  <a:bodyPr lIns="7200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400" i="1">
                        <a:latin typeface="Times New Roman" panose="02020603050405020304" pitchFamily="18" charset="0"/>
                      </a:rPr>
                      <a:t>D</a:t>
                    </a:r>
                    <a:endParaRPr lang="en-US" altLang="zh-CN" sz="4000"/>
                  </a:p>
                </p:txBody>
              </p:sp>
            </p:grpSp>
            <p:sp>
              <p:nvSpPr>
                <p:cNvPr id="82965" name="Text Box 50">
                  <a:extLst>
                    <a:ext uri="{FF2B5EF4-FFF2-40B4-BE49-F238E27FC236}">
                      <a16:creationId xmlns:a16="http://schemas.microsoft.com/office/drawing/2014/main" id="{7AA494CC-2B16-379B-14BE-37D8C14BC341}"/>
                    </a:ext>
                  </a:extLst>
                </p:cNvPr>
                <p:cNvSpPr txBox="1">
                  <a:spLocks noChangeArrowheads="1"/>
                </p:cNvSpPr>
                <p:nvPr/>
              </p:nvSpPr>
              <p:spPr bwMode="auto">
                <a:xfrm>
                  <a:off x="2416" y="14358"/>
                  <a:ext cx="478" cy="342"/>
                </a:xfrm>
                <a:prstGeom prst="rect">
                  <a:avLst/>
                </a:prstGeom>
                <a:solidFill>
                  <a:srgbClr val="FFFFFF"/>
                </a:solidFill>
                <a:ln w="9525">
                  <a:solidFill>
                    <a:srgbClr val="000000"/>
                  </a:solidFill>
                  <a:miter lim="800000"/>
                  <a:headEnd/>
                  <a:tailEnd/>
                </a:ln>
              </p:spPr>
              <p:txBody>
                <a:bodyPr lIns="7200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400">
                      <a:latin typeface="Times New Roman" panose="02020603050405020304" pitchFamily="18" charset="0"/>
                      <a:sym typeface="Symbol" panose="05050102010706020507" pitchFamily="18" charset="2"/>
                    </a:rPr>
                    <a:t></a:t>
                  </a:r>
                  <a:endParaRPr lang="en-US" altLang="zh-CN" sz="4000"/>
                </a:p>
              </p:txBody>
            </p:sp>
          </p:grpSp>
          <p:grpSp>
            <p:nvGrpSpPr>
              <p:cNvPr id="82959" name="Group 51">
                <a:extLst>
                  <a:ext uri="{FF2B5EF4-FFF2-40B4-BE49-F238E27FC236}">
                    <a16:creationId xmlns:a16="http://schemas.microsoft.com/office/drawing/2014/main" id="{6428D044-AA16-685E-914B-E267A687A6FB}"/>
                  </a:ext>
                </a:extLst>
              </p:cNvPr>
              <p:cNvGrpSpPr>
                <a:grpSpLocks/>
              </p:cNvGrpSpPr>
              <p:nvPr/>
            </p:nvGrpSpPr>
            <p:grpSpPr bwMode="auto">
              <a:xfrm>
                <a:off x="4756" y="14358"/>
                <a:ext cx="1408" cy="342"/>
                <a:chOff x="4756" y="14355"/>
                <a:chExt cx="1408" cy="342"/>
              </a:xfrm>
            </p:grpSpPr>
            <p:sp>
              <p:nvSpPr>
                <p:cNvPr id="82960" name="Text Box 52">
                  <a:extLst>
                    <a:ext uri="{FF2B5EF4-FFF2-40B4-BE49-F238E27FC236}">
                      <a16:creationId xmlns:a16="http://schemas.microsoft.com/office/drawing/2014/main" id="{3E34519D-28B0-516D-4BB6-B8A5CBCAB8F3}"/>
                    </a:ext>
                  </a:extLst>
                </p:cNvPr>
                <p:cNvSpPr txBox="1">
                  <a:spLocks noChangeArrowheads="1"/>
                </p:cNvSpPr>
                <p:nvPr/>
              </p:nvSpPr>
              <p:spPr bwMode="auto">
                <a:xfrm>
                  <a:off x="4756" y="14355"/>
                  <a:ext cx="478" cy="342"/>
                </a:xfrm>
                <a:prstGeom prst="rect">
                  <a:avLst/>
                </a:prstGeom>
                <a:solidFill>
                  <a:srgbClr val="FFFFFF"/>
                </a:solidFill>
                <a:ln w="9525">
                  <a:solidFill>
                    <a:srgbClr val="000000"/>
                  </a:solidFill>
                  <a:miter lim="800000"/>
                  <a:headEnd/>
                  <a:tailEnd/>
                </a:ln>
              </p:spPr>
              <p:txBody>
                <a:bodyPr lIns="7200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400" i="1">
                      <a:latin typeface="Times New Roman" panose="02020603050405020304" pitchFamily="18" charset="0"/>
                    </a:rPr>
                    <a:t>A</a:t>
                  </a:r>
                  <a:endParaRPr lang="en-US" altLang="zh-CN" sz="4000"/>
                </a:p>
              </p:txBody>
            </p:sp>
            <p:sp>
              <p:nvSpPr>
                <p:cNvPr id="82961" name="Text Box 53">
                  <a:extLst>
                    <a:ext uri="{FF2B5EF4-FFF2-40B4-BE49-F238E27FC236}">
                      <a16:creationId xmlns:a16="http://schemas.microsoft.com/office/drawing/2014/main" id="{5152D5FA-DF1C-A60C-791C-810F8978C899}"/>
                    </a:ext>
                  </a:extLst>
                </p:cNvPr>
                <p:cNvSpPr txBox="1">
                  <a:spLocks noChangeArrowheads="1"/>
                </p:cNvSpPr>
                <p:nvPr/>
              </p:nvSpPr>
              <p:spPr bwMode="auto">
                <a:xfrm>
                  <a:off x="5220" y="14355"/>
                  <a:ext cx="478" cy="342"/>
                </a:xfrm>
                <a:prstGeom prst="rect">
                  <a:avLst/>
                </a:prstGeom>
                <a:solidFill>
                  <a:srgbClr val="FFFFFF"/>
                </a:solidFill>
                <a:ln w="9525">
                  <a:solidFill>
                    <a:srgbClr val="000000"/>
                  </a:solidFill>
                  <a:miter lim="800000"/>
                  <a:headEnd/>
                  <a:tailEnd/>
                </a:ln>
              </p:spPr>
              <p:txBody>
                <a:bodyPr lIns="7200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400" i="1">
                      <a:latin typeface="Times New Roman" panose="02020603050405020304" pitchFamily="18" charset="0"/>
                    </a:rPr>
                    <a:t>B</a:t>
                  </a:r>
                  <a:endParaRPr lang="en-US" altLang="zh-CN" sz="4000"/>
                </a:p>
              </p:txBody>
            </p:sp>
            <p:sp>
              <p:nvSpPr>
                <p:cNvPr id="82962" name="Text Box 54">
                  <a:extLst>
                    <a:ext uri="{FF2B5EF4-FFF2-40B4-BE49-F238E27FC236}">
                      <a16:creationId xmlns:a16="http://schemas.microsoft.com/office/drawing/2014/main" id="{9A8EDC87-EC53-F168-6929-94D60DE8326D}"/>
                    </a:ext>
                  </a:extLst>
                </p:cNvPr>
                <p:cNvSpPr txBox="1">
                  <a:spLocks noChangeArrowheads="1"/>
                </p:cNvSpPr>
                <p:nvPr/>
              </p:nvSpPr>
              <p:spPr bwMode="auto">
                <a:xfrm>
                  <a:off x="5686" y="14355"/>
                  <a:ext cx="478" cy="342"/>
                </a:xfrm>
                <a:prstGeom prst="rect">
                  <a:avLst/>
                </a:prstGeom>
                <a:solidFill>
                  <a:srgbClr val="FFFFFF"/>
                </a:solidFill>
                <a:ln w="9525">
                  <a:solidFill>
                    <a:srgbClr val="000000"/>
                  </a:solidFill>
                  <a:miter lim="800000"/>
                  <a:headEnd/>
                  <a:tailEnd/>
                </a:ln>
              </p:spPr>
              <p:txBody>
                <a:bodyPr lIns="7200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400">
                      <a:latin typeface="Times New Roman" panose="02020603050405020304" pitchFamily="18" charset="0"/>
                      <a:sym typeface="Symbol" panose="05050102010706020507" pitchFamily="18" charset="2"/>
                    </a:rPr>
                    <a:t></a:t>
                  </a:r>
                  <a:endParaRPr lang="en-US" altLang="zh-CN" sz="4000"/>
                </a:p>
              </p:txBody>
            </p:sp>
          </p:grpSp>
        </p:grpSp>
        <p:sp>
          <p:nvSpPr>
            <p:cNvPr id="82957" name="Text Box 55">
              <a:extLst>
                <a:ext uri="{FF2B5EF4-FFF2-40B4-BE49-F238E27FC236}">
                  <a16:creationId xmlns:a16="http://schemas.microsoft.com/office/drawing/2014/main" id="{73B346E6-6470-D075-F29B-9E1DD20FCA76}"/>
                </a:ext>
              </a:extLst>
            </p:cNvPr>
            <p:cNvSpPr txBox="1">
              <a:spLocks noChangeArrowheads="1"/>
            </p:cNvSpPr>
            <p:nvPr/>
          </p:nvSpPr>
          <p:spPr bwMode="auto">
            <a:xfrm>
              <a:off x="6212" y="14577"/>
              <a:ext cx="404"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400" i="1">
                  <a:latin typeface="Times New Roman" panose="02020603050405020304" pitchFamily="18" charset="0"/>
                </a:rPr>
                <a:t>t</a:t>
              </a:r>
              <a:endParaRPr lang="en-US" altLang="zh-CN" sz="4000"/>
            </a:p>
          </p:txBody>
        </p:sp>
      </p:grpSp>
      <p:sp>
        <p:nvSpPr>
          <p:cNvPr id="22" name="Rectangle 3">
            <a:extLst>
              <a:ext uri="{FF2B5EF4-FFF2-40B4-BE49-F238E27FC236}">
                <a16:creationId xmlns:a16="http://schemas.microsoft.com/office/drawing/2014/main" id="{5C4772ED-24E8-8037-C7F2-B51F38CED26A}"/>
              </a:ext>
            </a:extLst>
          </p:cNvPr>
          <p:cNvSpPr txBox="1">
            <a:spLocks noChangeArrowheads="1"/>
          </p:cNvSpPr>
          <p:nvPr/>
        </p:nvSpPr>
        <p:spPr bwMode="auto">
          <a:xfrm>
            <a:off x="928688" y="2071688"/>
            <a:ext cx="8358187" cy="642937"/>
          </a:xfrm>
          <a:prstGeom prst="rect">
            <a:avLst/>
          </a:prstGeom>
          <a:noFill/>
          <a:ln w="9525">
            <a:noFill/>
            <a:miter lim="800000"/>
            <a:headEnd/>
            <a:tailEnd/>
          </a:ln>
        </p:spPr>
        <p:txBody>
          <a:bodyPr/>
          <a:lstStyle/>
          <a:p>
            <a:pPr marL="228600" indent="-228600" eaLnBrk="0" hangingPunct="0">
              <a:lnSpc>
                <a:spcPct val="150000"/>
              </a:lnSpc>
              <a:spcBef>
                <a:spcPct val="20000"/>
              </a:spcBef>
              <a:buClr>
                <a:srgbClr val="0000CC"/>
              </a:buClr>
              <a:buSzPct val="80000"/>
              <a:defRPr/>
            </a:pPr>
            <a:r>
              <a:rPr lang="en-US" sz="2000" dirty="0">
                <a:solidFill>
                  <a:srgbClr val="0000CC"/>
                </a:solidFill>
                <a:ea typeface="宋体" charset="-122"/>
              </a:rPr>
              <a:t>∵ </a:t>
            </a:r>
            <a:r>
              <a:rPr lang="zh-CN" altLang="en-US" sz="2000" kern="0" dirty="0">
                <a:latin typeface="华文中宋" pitchFamily="2" charset="-122"/>
                <a:ea typeface="华文中宋" pitchFamily="2" charset="-122"/>
              </a:rPr>
              <a:t>每个地球站只允许在给定的一段时隙中发送信号。</a:t>
            </a:r>
          </a:p>
        </p:txBody>
      </p:sp>
      <p:sp>
        <p:nvSpPr>
          <p:cNvPr id="23" name="矩形 22">
            <a:extLst>
              <a:ext uri="{FF2B5EF4-FFF2-40B4-BE49-F238E27FC236}">
                <a16:creationId xmlns:a16="http://schemas.microsoft.com/office/drawing/2014/main" id="{55744C45-D55E-F8BF-A796-F08F7CFE2B7A}"/>
              </a:ext>
            </a:extLst>
          </p:cNvPr>
          <p:cNvSpPr/>
          <p:nvPr/>
        </p:nvSpPr>
        <p:spPr>
          <a:xfrm>
            <a:off x="928688" y="2714625"/>
            <a:ext cx="7500937" cy="990600"/>
          </a:xfrm>
          <a:prstGeom prst="rect">
            <a:avLst/>
          </a:prstGeom>
        </p:spPr>
        <p:txBody>
          <a:bodyPr>
            <a:spAutoFit/>
          </a:bodyPr>
          <a:lstStyle/>
          <a:p>
            <a:pPr>
              <a:lnSpc>
                <a:spcPts val="3500"/>
              </a:lnSpc>
              <a:buClr>
                <a:srgbClr val="0000CC"/>
              </a:buClr>
              <a:buSzPct val="80000"/>
              <a:defRPr/>
            </a:pPr>
            <a:r>
              <a:rPr lang="en-US" sz="2000" dirty="0">
                <a:solidFill>
                  <a:srgbClr val="0000CC"/>
                </a:solidFill>
                <a:ea typeface="宋体" charset="-122"/>
              </a:rPr>
              <a:t>∴ </a:t>
            </a:r>
            <a:r>
              <a:rPr lang="zh-CN" altLang="en-US" sz="2000" kern="0" dirty="0">
                <a:solidFill>
                  <a:srgbClr val="000000"/>
                </a:solidFill>
                <a:latin typeface="华文中宋" pitchFamily="2" charset="-122"/>
                <a:ea typeface="华文中宋" pitchFamily="2" charset="-122"/>
              </a:rPr>
              <a:t>需要各站按照和卫星的距离远近，将发射信号的时钟调整到和卫星上中心站接收机的时钟一致；</a:t>
            </a:r>
            <a:endParaRPr lang="zh-CN" altLang="en-US" dirty="0">
              <a:ea typeface="宋体" charset="-122"/>
            </a:endParaRPr>
          </a:p>
        </p:txBody>
      </p:sp>
      <p:sp>
        <p:nvSpPr>
          <p:cNvPr id="24" name="矩形 23">
            <a:extLst>
              <a:ext uri="{FF2B5EF4-FFF2-40B4-BE49-F238E27FC236}">
                <a16:creationId xmlns:a16="http://schemas.microsoft.com/office/drawing/2014/main" id="{8DFEFD5B-9636-B24C-A1CA-DF75A7E54A2F}"/>
              </a:ext>
            </a:extLst>
          </p:cNvPr>
          <p:cNvSpPr/>
          <p:nvPr/>
        </p:nvSpPr>
        <p:spPr>
          <a:xfrm>
            <a:off x="928688" y="4010025"/>
            <a:ext cx="7713662" cy="936625"/>
          </a:xfrm>
          <a:prstGeom prst="rect">
            <a:avLst/>
          </a:prstGeom>
        </p:spPr>
        <p:txBody>
          <a:bodyPr>
            <a:spAutoFit/>
          </a:bodyPr>
          <a:lstStyle/>
          <a:p>
            <a:pPr>
              <a:lnSpc>
                <a:spcPts val="3500"/>
              </a:lnSpc>
              <a:buClr>
                <a:srgbClr val="0000CC"/>
              </a:buClr>
              <a:buSzPct val="80000"/>
              <a:defRPr/>
            </a:pPr>
            <a:r>
              <a:rPr lang="zh-CN" altLang="en-US" sz="2000" kern="0" dirty="0">
                <a:solidFill>
                  <a:srgbClr val="000000"/>
                </a:solidFill>
                <a:latin typeface="华文中宋" pitchFamily="2" charset="-122"/>
                <a:ea typeface="华文中宋" pitchFamily="2" charset="-122"/>
              </a:rPr>
              <a:t>    由于延迟时间不同，各站发射信号的时钟之间实际上是有误差的。这称为</a:t>
            </a:r>
            <a:r>
              <a:rPr lang="zh-CN" altLang="en-US" sz="2000" kern="0" dirty="0">
                <a:solidFill>
                  <a:srgbClr val="003399"/>
                </a:solidFill>
                <a:latin typeface="微软雅黑" pitchFamily="34" charset="-122"/>
                <a:ea typeface="微软雅黑" pitchFamily="34" charset="-122"/>
              </a:rPr>
              <a:t>发射机同步方法</a:t>
            </a:r>
            <a:r>
              <a:rPr lang="zh-CN" altLang="en-US" sz="2000" kern="0" dirty="0">
                <a:solidFill>
                  <a:srgbClr val="003399"/>
                </a:solidFill>
                <a:latin typeface="华文中宋" pitchFamily="2" charset="-122"/>
                <a:ea typeface="华文中宋" pitchFamily="2" charset="-122"/>
              </a:rPr>
              <a:t>。 </a:t>
            </a:r>
            <a:endParaRPr lang="zh-CN" altLang="en-US" dirty="0">
              <a:solidFill>
                <a:srgbClr val="003399"/>
              </a:solidFill>
              <a:ea typeface="宋体" charset="-122"/>
            </a:endParaRPr>
          </a:p>
        </p:txBody>
      </p:sp>
      <p:sp>
        <p:nvSpPr>
          <p:cNvPr id="25" name="矩形 24">
            <a:extLst>
              <a:ext uri="{FF2B5EF4-FFF2-40B4-BE49-F238E27FC236}">
                <a16:creationId xmlns:a16="http://schemas.microsoft.com/office/drawing/2014/main" id="{A2388173-4F16-4D3A-70E6-6B4B3108E926}"/>
              </a:ext>
            </a:extLst>
          </p:cNvPr>
          <p:cNvSpPr/>
          <p:nvPr/>
        </p:nvSpPr>
        <p:spPr>
          <a:xfrm>
            <a:off x="1643063" y="5357813"/>
            <a:ext cx="3500437" cy="400050"/>
          </a:xfrm>
          <a:prstGeom prst="rect">
            <a:avLst/>
          </a:prstGeom>
        </p:spPr>
        <p:txBody>
          <a:bodyPr>
            <a:spAutoFit/>
          </a:bodyPr>
          <a:lstStyle/>
          <a:p>
            <a:pPr marL="228600" indent="-228600" eaLnBrk="0" hangingPunct="0">
              <a:spcBef>
                <a:spcPct val="20000"/>
              </a:spcBef>
              <a:buClr>
                <a:srgbClr val="FFCF01"/>
              </a:buClr>
              <a:buSzPct val="55000"/>
              <a:defRPr/>
            </a:pPr>
            <a:r>
              <a:rPr lang="zh-CN" altLang="en-US" sz="2000" b="1" kern="0" dirty="0">
                <a:solidFill>
                  <a:srgbClr val="003399"/>
                </a:solidFill>
                <a:latin typeface="微软雅黑" pitchFamily="34" charset="-122"/>
                <a:ea typeface="微软雅黑" pitchFamily="34" charset="-122"/>
              </a:rPr>
              <a:t>发射机同步方法的分类：</a:t>
            </a:r>
          </a:p>
        </p:txBody>
      </p:sp>
      <p:grpSp>
        <p:nvGrpSpPr>
          <p:cNvPr id="8" name="组合 26">
            <a:extLst>
              <a:ext uri="{FF2B5EF4-FFF2-40B4-BE49-F238E27FC236}">
                <a16:creationId xmlns:a16="http://schemas.microsoft.com/office/drawing/2014/main" id="{9ECA94DA-4CD3-17F5-0089-CD0EDCDF425A}"/>
              </a:ext>
            </a:extLst>
          </p:cNvPr>
          <p:cNvGrpSpPr>
            <a:grpSpLocks/>
          </p:cNvGrpSpPr>
          <p:nvPr/>
        </p:nvGrpSpPr>
        <p:grpSpPr bwMode="auto">
          <a:xfrm>
            <a:off x="4929188" y="5172075"/>
            <a:ext cx="1196975" cy="971550"/>
            <a:chOff x="4929188" y="5172075"/>
            <a:chExt cx="1196975" cy="971550"/>
          </a:xfrm>
        </p:grpSpPr>
        <p:sp>
          <p:nvSpPr>
            <p:cNvPr id="26" name="矩形 25">
              <a:extLst>
                <a:ext uri="{FF2B5EF4-FFF2-40B4-BE49-F238E27FC236}">
                  <a16:creationId xmlns:a16="http://schemas.microsoft.com/office/drawing/2014/main" id="{D68388CB-C460-4C98-8CE4-B7C0CD8F041C}"/>
                </a:ext>
              </a:extLst>
            </p:cNvPr>
            <p:cNvSpPr/>
            <p:nvPr/>
          </p:nvSpPr>
          <p:spPr>
            <a:xfrm>
              <a:off x="5172075" y="5172075"/>
              <a:ext cx="954088" cy="400050"/>
            </a:xfrm>
            <a:prstGeom prst="rect">
              <a:avLst/>
            </a:prstGeom>
          </p:spPr>
          <p:txBody>
            <a:bodyPr wrap="none">
              <a:spAutoFit/>
            </a:bodyPr>
            <a:lstStyle/>
            <a:p>
              <a:pPr>
                <a:defRPr/>
              </a:pPr>
              <a:r>
                <a:rPr lang="zh-CN" altLang="en-US" sz="2000" kern="0" dirty="0">
                  <a:effectLst>
                    <a:outerShdw blurRad="38100" dist="38100" dir="2700000" algn="tl">
                      <a:srgbClr val="000000">
                        <a:alpha val="43137"/>
                      </a:srgbClr>
                    </a:outerShdw>
                  </a:effectLst>
                  <a:latin typeface="微软雅黑" pitchFamily="34" charset="-122"/>
                  <a:ea typeface="微软雅黑" pitchFamily="34" charset="-122"/>
                </a:rPr>
                <a:t>开环法</a:t>
              </a:r>
              <a:endParaRPr lang="zh-CN" altLang="en-US" dirty="0">
                <a:effectLst>
                  <a:outerShdw blurRad="38100" dist="38100" dir="2700000" algn="tl">
                    <a:srgbClr val="000000">
                      <a:alpha val="43137"/>
                    </a:srgbClr>
                  </a:outerShdw>
                </a:effectLst>
                <a:ea typeface="宋体" charset="-122"/>
              </a:endParaRPr>
            </a:p>
          </p:txBody>
        </p:sp>
        <p:sp>
          <p:nvSpPr>
            <p:cNvPr id="28" name="矩形 27">
              <a:extLst>
                <a:ext uri="{FF2B5EF4-FFF2-40B4-BE49-F238E27FC236}">
                  <a16:creationId xmlns:a16="http://schemas.microsoft.com/office/drawing/2014/main" id="{178F9E46-BBFD-2CBD-0394-9A66C2E4B8ED}"/>
                </a:ext>
              </a:extLst>
            </p:cNvPr>
            <p:cNvSpPr/>
            <p:nvPr/>
          </p:nvSpPr>
          <p:spPr>
            <a:xfrm>
              <a:off x="5172075" y="5743575"/>
              <a:ext cx="954088" cy="400050"/>
            </a:xfrm>
            <a:prstGeom prst="rect">
              <a:avLst/>
            </a:prstGeom>
          </p:spPr>
          <p:txBody>
            <a:bodyPr wrap="none">
              <a:spAutoFit/>
            </a:bodyPr>
            <a:lstStyle/>
            <a:p>
              <a:pPr>
                <a:defRPr/>
              </a:pPr>
              <a:r>
                <a:rPr lang="zh-CN" altLang="en-US" sz="2000" kern="0" dirty="0">
                  <a:effectLst>
                    <a:outerShdw blurRad="38100" dist="38100" dir="2700000" algn="tl">
                      <a:srgbClr val="000000">
                        <a:alpha val="43137"/>
                      </a:srgbClr>
                    </a:outerShdw>
                  </a:effectLst>
                  <a:latin typeface="微软雅黑" pitchFamily="34" charset="-122"/>
                  <a:ea typeface="微软雅黑" pitchFamily="34" charset="-122"/>
                </a:rPr>
                <a:t>闭环法</a:t>
              </a:r>
              <a:endParaRPr lang="zh-CN" altLang="en-US" dirty="0">
                <a:effectLst>
                  <a:outerShdw blurRad="38100" dist="38100" dir="2700000" algn="tl">
                    <a:srgbClr val="000000">
                      <a:alpha val="43137"/>
                    </a:srgbClr>
                  </a:outerShdw>
                </a:effectLst>
                <a:ea typeface="宋体" charset="-122"/>
              </a:endParaRPr>
            </a:p>
          </p:txBody>
        </p:sp>
        <p:sp>
          <p:nvSpPr>
            <p:cNvPr id="29" name="AutoShape 11">
              <a:extLst>
                <a:ext uri="{FF2B5EF4-FFF2-40B4-BE49-F238E27FC236}">
                  <a16:creationId xmlns:a16="http://schemas.microsoft.com/office/drawing/2014/main" id="{D9373BD3-6A10-3608-D814-9D2BB9F114FB}"/>
                </a:ext>
              </a:extLst>
            </p:cNvPr>
            <p:cNvSpPr>
              <a:spLocks/>
            </p:cNvSpPr>
            <p:nvPr/>
          </p:nvSpPr>
          <p:spPr bwMode="auto">
            <a:xfrm>
              <a:off x="4929188" y="5314950"/>
              <a:ext cx="257175" cy="642938"/>
            </a:xfrm>
            <a:prstGeom prst="leftBrace">
              <a:avLst>
                <a:gd name="adj1" fmla="val 27192"/>
                <a:gd name="adj2" fmla="val 50000"/>
              </a:avLst>
            </a:prstGeom>
            <a:noFill/>
            <a:ln w="19050">
              <a:solidFill>
                <a:srgbClr val="990099"/>
              </a:solidFill>
              <a:round/>
              <a:headEnd/>
              <a:tailEnd/>
            </a:ln>
          </p:spPr>
          <p:txBody>
            <a:bodyPr/>
            <a:lstStyle/>
            <a:p>
              <a:pPr>
                <a:defRPr/>
              </a:pPr>
              <a:endParaRPr lang="zh-CN" altLang="en-US" sz="2400" dirty="0">
                <a:effectLst>
                  <a:outerShdw blurRad="38100" dist="38100" dir="2700000" algn="tl">
                    <a:srgbClr val="000000">
                      <a:alpha val="43137"/>
                    </a:srgbClr>
                  </a:outerShdw>
                </a:effectLst>
                <a:ea typeface="宋体"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up)">
                                      <p:cBhvr>
                                        <p:cTn id="12" dur="1000"/>
                                        <p:tgtEl>
                                          <p:spTgt spid="2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up)">
                                      <p:cBhvr>
                                        <p:cTn id="17" dur="1000"/>
                                        <p:tgtEl>
                                          <p:spTgt spid="2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up)">
                                      <p:cBhvr>
                                        <p:cTn id="22" dur="1000"/>
                                        <p:tgtEl>
                                          <p:spTgt spid="2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up)">
                                      <p:cBhvr>
                                        <p:cTn id="27" dur="1000"/>
                                        <p:tgtEl>
                                          <p:spTgt spid="25"/>
                                        </p:tgtEl>
                                      </p:cBhvr>
                                    </p:animEffect>
                                  </p:childTnLst>
                                </p:cTn>
                              </p:par>
                            </p:childTnLst>
                          </p:cTn>
                        </p:par>
                        <p:par>
                          <p:cTn id="28" fill="hold" nodeType="afterGroup">
                            <p:stCondLst>
                              <p:cond delay="1000"/>
                            </p:stCondLst>
                            <p:childTnLst>
                              <p:par>
                                <p:cTn id="29" presetID="22" presetClass="entr" presetSubtype="8"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left)">
                                      <p:cBhvr>
                                        <p:cTn id="31" dur="3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BA61F7C-A85F-DDB7-69AD-2ABE383B60FB}"/>
              </a:ext>
            </a:extLst>
          </p:cNvPr>
          <p:cNvSpPr txBox="1">
            <a:spLocks noChangeArrowheads="1"/>
          </p:cNvSpPr>
          <p:nvPr/>
        </p:nvSpPr>
        <p:spPr bwMode="auto">
          <a:xfrm>
            <a:off x="1000125" y="1571625"/>
            <a:ext cx="7715250" cy="3714750"/>
          </a:xfrm>
          <a:prstGeom prst="rect">
            <a:avLst/>
          </a:prstGeom>
          <a:noFill/>
          <a:ln w="9525">
            <a:noFill/>
            <a:miter lim="800000"/>
            <a:headEnd/>
            <a:tailEnd/>
          </a:ln>
        </p:spPr>
        <p:txBody>
          <a:bodyPr/>
          <a:lstStyle/>
          <a:p>
            <a:pPr marL="228600" indent="-228600" eaLnBrk="0" hangingPunct="0">
              <a:lnSpc>
                <a:spcPct val="150000"/>
              </a:lnSpc>
              <a:spcBef>
                <a:spcPct val="20000"/>
              </a:spcBef>
              <a:buClr>
                <a:srgbClr val="003399"/>
              </a:buClr>
              <a:buSzPct val="80000"/>
              <a:buFont typeface="Wingdings" pitchFamily="2" charset="2"/>
              <a:buChar char="Ø"/>
              <a:defRPr/>
            </a:pPr>
            <a:r>
              <a:rPr lang="zh-CN" altLang="en-US" sz="2000" kern="0" dirty="0">
                <a:latin typeface="华文中宋" pitchFamily="2" charset="-122"/>
                <a:ea typeface="华文中宋" pitchFamily="2" charset="-122"/>
              </a:rPr>
              <a:t>中心站需要测量来自终端站的信号的同步准确度，并将测量结果通过反向信道送给终端站。</a:t>
            </a:r>
            <a:endParaRPr lang="en-US" altLang="zh-CN" sz="2000" kern="0" dirty="0">
              <a:latin typeface="华文中宋" pitchFamily="2" charset="-122"/>
              <a:ea typeface="华文中宋" pitchFamily="2" charset="-122"/>
            </a:endParaRPr>
          </a:p>
          <a:p>
            <a:pPr marL="228600" indent="-228600" eaLnBrk="0" hangingPunct="0">
              <a:lnSpc>
                <a:spcPct val="150000"/>
              </a:lnSpc>
              <a:spcBef>
                <a:spcPct val="20000"/>
              </a:spcBef>
              <a:buClr>
                <a:srgbClr val="003399"/>
              </a:buClr>
              <a:buSzPct val="80000"/>
              <a:buFont typeface="Wingdings" pitchFamily="2" charset="2"/>
              <a:buChar char="Ø"/>
              <a:defRPr/>
            </a:pPr>
            <a:r>
              <a:rPr lang="zh-CN" altLang="en-US" sz="2000" kern="0" dirty="0">
                <a:latin typeface="华文中宋" pitchFamily="2" charset="-122"/>
                <a:ea typeface="华文中宋" pitchFamily="2" charset="-122"/>
              </a:rPr>
              <a:t>终端站所存储的这些信息是从有关单位提供的，但是还可以按照从中心站送回的信号加以修正。</a:t>
            </a:r>
            <a:endParaRPr lang="en-US" altLang="zh-CN" sz="2000" kern="0" dirty="0">
              <a:latin typeface="华文中宋" pitchFamily="2" charset="-122"/>
              <a:ea typeface="华文中宋" pitchFamily="2" charset="-122"/>
            </a:endParaRPr>
          </a:p>
          <a:p>
            <a:pPr marL="228600" indent="-228600" eaLnBrk="0" hangingPunct="0">
              <a:lnSpc>
                <a:spcPct val="150000"/>
              </a:lnSpc>
              <a:spcBef>
                <a:spcPct val="20000"/>
              </a:spcBef>
              <a:buClr>
                <a:srgbClr val="003399"/>
              </a:buClr>
              <a:buSzPct val="80000"/>
              <a:buFont typeface="Wingdings" pitchFamily="2" charset="2"/>
              <a:buChar char="Ø"/>
              <a:defRPr/>
            </a:pPr>
            <a:r>
              <a:rPr lang="zh-CN" altLang="en-US" sz="2000" kern="0" dirty="0">
                <a:latin typeface="华文中宋" pitchFamily="2" charset="-122"/>
                <a:ea typeface="华文中宋" pitchFamily="2" charset="-122"/>
              </a:rPr>
              <a:t>开环方法依靠的是准确预测的链路长度等参量信息。</a:t>
            </a:r>
            <a:endParaRPr lang="en-US" altLang="zh-CN" sz="2000" kern="0" dirty="0">
              <a:latin typeface="华文中宋" pitchFamily="2" charset="-122"/>
              <a:ea typeface="华文中宋" pitchFamily="2" charset="-122"/>
            </a:endParaRPr>
          </a:p>
          <a:p>
            <a:pPr marL="228600" indent="-228600" eaLnBrk="0" hangingPunct="0">
              <a:lnSpc>
                <a:spcPct val="150000"/>
              </a:lnSpc>
              <a:spcBef>
                <a:spcPct val="20000"/>
              </a:spcBef>
              <a:buClr>
                <a:srgbClr val="003399"/>
              </a:buClr>
              <a:buSzPct val="80000"/>
              <a:buFont typeface="Wingdings" pitchFamily="2" charset="2"/>
              <a:buChar char="Ø"/>
              <a:defRPr/>
            </a:pPr>
            <a:r>
              <a:rPr lang="zh-CN" altLang="en-US" sz="2000" kern="0" dirty="0">
                <a:latin typeface="华文中宋" pitchFamily="2" charset="-122"/>
                <a:ea typeface="华文中宋" pitchFamily="2" charset="-122"/>
              </a:rPr>
              <a:t>当链路的路径是确定的，这种方法很好。但是当链路的路径不是确定的，或终端站只是断续地接入时，此法就难于有效地使用。	</a:t>
            </a:r>
            <a:endParaRPr lang="en-US" altLang="zh-CN" sz="2000" kern="0" dirty="0">
              <a:latin typeface="华文中宋" pitchFamily="2" charset="-122"/>
              <a:ea typeface="华文中宋" pitchFamily="2" charset="-122"/>
            </a:endParaRPr>
          </a:p>
        </p:txBody>
      </p:sp>
      <p:sp>
        <p:nvSpPr>
          <p:cNvPr id="8" name="Rectangle 3">
            <a:extLst>
              <a:ext uri="{FF2B5EF4-FFF2-40B4-BE49-F238E27FC236}">
                <a16:creationId xmlns:a16="http://schemas.microsoft.com/office/drawing/2014/main" id="{8974EE3B-AF7C-1CCC-1A09-0A4C68CE310D}"/>
              </a:ext>
            </a:extLst>
          </p:cNvPr>
          <p:cNvSpPr txBox="1">
            <a:spLocks noChangeArrowheads="1"/>
          </p:cNvSpPr>
          <p:nvPr/>
        </p:nvSpPr>
        <p:spPr bwMode="auto">
          <a:xfrm>
            <a:off x="785813" y="1000125"/>
            <a:ext cx="3000375" cy="642938"/>
          </a:xfrm>
          <a:prstGeom prst="rect">
            <a:avLst/>
          </a:prstGeom>
          <a:noFill/>
          <a:ln w="9525">
            <a:noFill/>
            <a:miter lim="800000"/>
            <a:headEnd/>
            <a:tailEnd/>
          </a:ln>
        </p:spPr>
        <p:txBody>
          <a:bodyPr/>
          <a:lstStyle/>
          <a:p>
            <a:pPr marL="228600" indent="-228600" eaLnBrk="0" hangingPunct="0">
              <a:lnSpc>
                <a:spcPct val="150000"/>
              </a:lnSpc>
              <a:spcBef>
                <a:spcPct val="20000"/>
              </a:spcBef>
              <a:buClr>
                <a:srgbClr val="FF0000"/>
              </a:buClr>
              <a:buSzPct val="69000"/>
              <a:buFont typeface="Wingdings" pitchFamily="2" charset="2"/>
              <a:buChar char="u"/>
              <a:defRPr/>
            </a:pPr>
            <a:r>
              <a:rPr lang="zh-CN" altLang="en-US" sz="2400" b="1" kern="0" dirty="0">
                <a:latin typeface="微软雅黑" pitchFamily="34" charset="-122"/>
                <a:ea typeface="微软雅黑" pitchFamily="34" charset="-122"/>
              </a:rPr>
              <a:t> </a:t>
            </a:r>
            <a:r>
              <a:rPr lang="zh-CN" altLang="en-US" sz="2400" b="1" kern="0" dirty="0">
                <a:solidFill>
                  <a:srgbClr val="000000"/>
                </a:solidFill>
                <a:latin typeface="微软雅黑" pitchFamily="34" charset="-122"/>
                <a:ea typeface="微软雅黑" pitchFamily="34" charset="-122"/>
              </a:rPr>
              <a:t>开环法</a:t>
            </a:r>
            <a:r>
              <a:rPr lang="zh-CN" altLang="en-US" sz="2400" b="1" kern="0" dirty="0">
                <a:latin typeface="微软雅黑" pitchFamily="34" charset="-122"/>
                <a:ea typeface="微软雅黑" pitchFamily="34" charset="-122"/>
              </a:rPr>
              <a:t>：</a:t>
            </a:r>
            <a:endParaRPr lang="zh-CN" altLang="en-US" sz="2000" b="1" kern="0" dirty="0">
              <a:latin typeface="微软雅黑" pitchFamily="34" charset="-122"/>
              <a:ea typeface="微软雅黑" pitchFamily="34" charset="-122"/>
            </a:endParaRPr>
          </a:p>
        </p:txBody>
      </p:sp>
      <p:sp>
        <p:nvSpPr>
          <p:cNvPr id="9" name="矩形 8">
            <a:extLst>
              <a:ext uri="{FF2B5EF4-FFF2-40B4-BE49-F238E27FC236}">
                <a16:creationId xmlns:a16="http://schemas.microsoft.com/office/drawing/2014/main" id="{FE974593-9CE7-D712-9698-B7C60E5F3086}"/>
              </a:ext>
            </a:extLst>
          </p:cNvPr>
          <p:cNvSpPr/>
          <p:nvPr/>
        </p:nvSpPr>
        <p:spPr>
          <a:xfrm>
            <a:off x="785813" y="5286375"/>
            <a:ext cx="7643812" cy="400050"/>
          </a:xfrm>
          <a:prstGeom prst="rect">
            <a:avLst/>
          </a:prstGeom>
        </p:spPr>
        <p:txBody>
          <a:bodyPr>
            <a:spAutoFit/>
          </a:bodyPr>
          <a:lstStyle/>
          <a:p>
            <a:pPr>
              <a:defRPr/>
            </a:pPr>
            <a:r>
              <a:rPr lang="zh-CN" altLang="en-US" sz="2000" b="1" kern="0" dirty="0">
                <a:solidFill>
                  <a:srgbClr val="003399"/>
                </a:solidFill>
                <a:latin typeface="微软雅黑" pitchFamily="34" charset="-122"/>
                <a:ea typeface="微软雅黑" pitchFamily="34" charset="-122"/>
              </a:rPr>
              <a:t>优点</a:t>
            </a:r>
            <a:r>
              <a:rPr lang="zh-CN" altLang="en-US" sz="2000" kern="0" dirty="0">
                <a:solidFill>
                  <a:srgbClr val="003399"/>
                </a:solidFill>
                <a:latin typeface="微软雅黑" pitchFamily="34" charset="-122"/>
                <a:ea typeface="微软雅黑" pitchFamily="34" charset="-122"/>
              </a:rPr>
              <a:t>：</a:t>
            </a:r>
            <a:r>
              <a:rPr lang="zh-CN" altLang="en-US" sz="2000" kern="0" dirty="0">
                <a:solidFill>
                  <a:srgbClr val="000000"/>
                </a:solidFill>
                <a:latin typeface="华文中宋" pitchFamily="2" charset="-122"/>
                <a:ea typeface="华文中宋" pitchFamily="2" charset="-122"/>
              </a:rPr>
              <a:t>捕捉快、不需要反向链路也能工作和实时运算量小。</a:t>
            </a:r>
            <a:endParaRPr lang="zh-CN" altLang="en-US" dirty="0">
              <a:ea typeface="宋体" charset="-122"/>
            </a:endParaRPr>
          </a:p>
        </p:txBody>
      </p:sp>
      <p:sp>
        <p:nvSpPr>
          <p:cNvPr id="10" name="矩形 9">
            <a:extLst>
              <a:ext uri="{FF2B5EF4-FFF2-40B4-BE49-F238E27FC236}">
                <a16:creationId xmlns:a16="http://schemas.microsoft.com/office/drawing/2014/main" id="{EA84E35A-67DD-D1A2-3287-D034B3755401}"/>
              </a:ext>
            </a:extLst>
          </p:cNvPr>
          <p:cNvSpPr/>
          <p:nvPr/>
        </p:nvSpPr>
        <p:spPr>
          <a:xfrm>
            <a:off x="785813" y="5857875"/>
            <a:ext cx="7929562" cy="400050"/>
          </a:xfrm>
          <a:prstGeom prst="rect">
            <a:avLst/>
          </a:prstGeom>
        </p:spPr>
        <p:txBody>
          <a:bodyPr>
            <a:spAutoFit/>
          </a:bodyPr>
          <a:lstStyle/>
          <a:p>
            <a:pPr>
              <a:defRPr/>
            </a:pPr>
            <a:r>
              <a:rPr lang="zh-CN" altLang="en-US" sz="2000" b="1" kern="0" dirty="0">
                <a:solidFill>
                  <a:srgbClr val="003399"/>
                </a:solidFill>
                <a:latin typeface="微软雅黑" pitchFamily="34" charset="-122"/>
                <a:ea typeface="微软雅黑" pitchFamily="34" charset="-122"/>
              </a:rPr>
              <a:t>缺点</a:t>
            </a:r>
            <a:r>
              <a:rPr lang="zh-CN" altLang="en-US" sz="2000" kern="0" dirty="0">
                <a:solidFill>
                  <a:srgbClr val="003399"/>
                </a:solidFill>
                <a:latin typeface="微软雅黑" pitchFamily="34" charset="-122"/>
                <a:ea typeface="微软雅黑" pitchFamily="34" charset="-122"/>
              </a:rPr>
              <a:t>：</a:t>
            </a:r>
            <a:r>
              <a:rPr lang="zh-CN" altLang="en-US" sz="2000" kern="0" dirty="0">
                <a:solidFill>
                  <a:srgbClr val="000000"/>
                </a:solidFill>
                <a:latin typeface="华文中宋" pitchFamily="2" charset="-122"/>
                <a:ea typeface="华文中宋" pitchFamily="2" charset="-122"/>
              </a:rPr>
              <a:t>需要外部有关单位提供所需的链路参量数据，且缺乏灵活性。 </a:t>
            </a:r>
            <a:endParaRPr lang="zh-CN" altLang="en-US" dirty="0">
              <a:ea typeface="宋体"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up)">
                                      <p:cBhvr>
                                        <p:cTn id="7" dur="1000"/>
                                        <p:tgtEl>
                                          <p:spTgt spid="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up)">
                                      <p:cBhvr>
                                        <p:cTn id="12" dur="1000"/>
                                        <p:tgtEl>
                                          <p:spTgt spid="4">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wipe(up)">
                                      <p:cBhvr>
                                        <p:cTn id="17" dur="1000"/>
                                        <p:tgtEl>
                                          <p:spTgt spid="4">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wipe(up)">
                                      <p:cBhvr>
                                        <p:cTn id="22" dur="1000"/>
                                        <p:tgtEl>
                                          <p:spTgt spid="4">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animEffect transition="in" filter="wipe(up)">
                                      <p:cBhvr>
                                        <p:cTn id="27" dur="1000"/>
                                        <p:tgtEl>
                                          <p:spTgt spid="4">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up)">
                                      <p:cBhvr>
                                        <p:cTn id="32" dur="1000"/>
                                        <p:tgtEl>
                                          <p:spTgt spid="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up)">
                                      <p:cBhvr>
                                        <p:cTn id="3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B063279-1863-D7CB-1A10-02B1D05EA3CF}"/>
              </a:ext>
            </a:extLst>
          </p:cNvPr>
          <p:cNvSpPr txBox="1">
            <a:spLocks noChangeArrowheads="1"/>
          </p:cNvSpPr>
          <p:nvPr/>
        </p:nvSpPr>
        <p:spPr bwMode="auto">
          <a:xfrm>
            <a:off x="1000125" y="1643063"/>
            <a:ext cx="7572375" cy="2071687"/>
          </a:xfrm>
          <a:prstGeom prst="rect">
            <a:avLst/>
          </a:prstGeom>
          <a:noFill/>
          <a:ln w="9525">
            <a:noFill/>
            <a:miter lim="800000"/>
            <a:headEnd/>
            <a:tailEnd/>
          </a:ln>
        </p:spPr>
        <p:txBody>
          <a:bodyPr/>
          <a:lstStyle/>
          <a:p>
            <a:pPr marL="228600" indent="-228600" eaLnBrk="0" hangingPunct="0">
              <a:lnSpc>
                <a:spcPct val="150000"/>
              </a:lnSpc>
              <a:spcBef>
                <a:spcPct val="20000"/>
              </a:spcBef>
              <a:buClr>
                <a:srgbClr val="003399"/>
              </a:buClr>
              <a:buSzPct val="80000"/>
              <a:buFont typeface="Wingdings" pitchFamily="2" charset="2"/>
              <a:buChar char="Ø"/>
              <a:defRPr/>
            </a:pPr>
            <a:r>
              <a:rPr lang="zh-CN" altLang="en-US" sz="2000" kern="0" dirty="0">
                <a:latin typeface="华文中宋" pitchFamily="2" charset="-122"/>
                <a:ea typeface="华文中宋" pitchFamily="2" charset="-122"/>
              </a:rPr>
              <a:t>中心站需要测量来自终端站的信号的同步准确度，并将测量结果通过反向信道送给终端站。 。</a:t>
            </a:r>
            <a:endParaRPr lang="en-US" altLang="zh-CN" sz="2000" kern="0" dirty="0">
              <a:latin typeface="华文中宋" pitchFamily="2" charset="-122"/>
              <a:ea typeface="华文中宋" pitchFamily="2" charset="-122"/>
            </a:endParaRPr>
          </a:p>
          <a:p>
            <a:pPr marL="228600" indent="-228600" eaLnBrk="0" hangingPunct="0">
              <a:lnSpc>
                <a:spcPct val="150000"/>
              </a:lnSpc>
              <a:spcBef>
                <a:spcPct val="20000"/>
              </a:spcBef>
              <a:buClr>
                <a:srgbClr val="003399"/>
              </a:buClr>
              <a:buSzPct val="80000"/>
              <a:buFont typeface="Wingdings" pitchFamily="2" charset="2"/>
              <a:buChar char="Ø"/>
              <a:defRPr/>
            </a:pPr>
            <a:r>
              <a:rPr lang="zh-CN" altLang="en-US" sz="2000" kern="0" dirty="0">
                <a:latin typeface="华文中宋" pitchFamily="2" charset="-122"/>
                <a:ea typeface="华文中宋" pitchFamily="2" charset="-122"/>
              </a:rPr>
              <a:t>因此，闭环法需要一条反向信道传送此测量结果，并且终端站需要有根据此反馈信息适当调整其时钟的能力。</a:t>
            </a:r>
            <a:endParaRPr lang="en-US" altLang="zh-CN" sz="2000" kern="0" dirty="0">
              <a:latin typeface="华文中宋" pitchFamily="2" charset="-122"/>
              <a:ea typeface="华文中宋" pitchFamily="2" charset="-122"/>
            </a:endParaRPr>
          </a:p>
          <a:p>
            <a:pPr marL="228600" indent="-228600" eaLnBrk="0" hangingPunct="0">
              <a:lnSpc>
                <a:spcPct val="150000"/>
              </a:lnSpc>
              <a:spcBef>
                <a:spcPct val="20000"/>
              </a:spcBef>
              <a:buClr>
                <a:srgbClr val="003399"/>
              </a:buClr>
              <a:buSzPct val="80000"/>
              <a:buFont typeface="Wingdings" pitchFamily="2" charset="2"/>
              <a:buChar char="Ø"/>
              <a:defRPr/>
            </a:pPr>
            <a:endParaRPr lang="en-US" altLang="zh-CN" sz="2000" kern="0" dirty="0">
              <a:latin typeface="华文中宋" pitchFamily="2" charset="-122"/>
              <a:ea typeface="华文中宋" pitchFamily="2" charset="-122"/>
            </a:endParaRPr>
          </a:p>
        </p:txBody>
      </p:sp>
      <p:sp>
        <p:nvSpPr>
          <p:cNvPr id="8" name="Rectangle 3">
            <a:extLst>
              <a:ext uri="{FF2B5EF4-FFF2-40B4-BE49-F238E27FC236}">
                <a16:creationId xmlns:a16="http://schemas.microsoft.com/office/drawing/2014/main" id="{38FCCBEB-91A9-B701-803D-BBB9AEEA490B}"/>
              </a:ext>
            </a:extLst>
          </p:cNvPr>
          <p:cNvSpPr txBox="1">
            <a:spLocks noChangeArrowheads="1"/>
          </p:cNvSpPr>
          <p:nvPr/>
        </p:nvSpPr>
        <p:spPr bwMode="auto">
          <a:xfrm>
            <a:off x="785813" y="1000125"/>
            <a:ext cx="3000375" cy="642938"/>
          </a:xfrm>
          <a:prstGeom prst="rect">
            <a:avLst/>
          </a:prstGeom>
          <a:noFill/>
          <a:ln w="9525">
            <a:noFill/>
            <a:miter lim="800000"/>
            <a:headEnd/>
            <a:tailEnd/>
          </a:ln>
        </p:spPr>
        <p:txBody>
          <a:bodyPr/>
          <a:lstStyle/>
          <a:p>
            <a:pPr marL="228600" indent="-228600" eaLnBrk="0" hangingPunct="0">
              <a:lnSpc>
                <a:spcPct val="150000"/>
              </a:lnSpc>
              <a:spcBef>
                <a:spcPct val="20000"/>
              </a:spcBef>
              <a:buClr>
                <a:srgbClr val="FF0000"/>
              </a:buClr>
              <a:buSzPct val="69000"/>
              <a:buFont typeface="Wingdings" pitchFamily="2" charset="2"/>
              <a:buChar char="u"/>
              <a:defRPr/>
            </a:pPr>
            <a:r>
              <a:rPr lang="zh-CN" altLang="en-US" sz="2400" b="1" kern="0" dirty="0">
                <a:latin typeface="微软雅黑" pitchFamily="34" charset="-122"/>
                <a:ea typeface="微软雅黑" pitchFamily="34" charset="-122"/>
              </a:rPr>
              <a:t> </a:t>
            </a:r>
            <a:r>
              <a:rPr lang="zh-CN" altLang="en-US" sz="2400" b="1" kern="0" dirty="0">
                <a:solidFill>
                  <a:srgbClr val="000000"/>
                </a:solidFill>
                <a:latin typeface="微软雅黑" pitchFamily="34" charset="-122"/>
                <a:ea typeface="微软雅黑" pitchFamily="34" charset="-122"/>
              </a:rPr>
              <a:t>闭环法</a:t>
            </a:r>
            <a:r>
              <a:rPr lang="zh-CN" altLang="en-US" sz="2400" b="1" kern="0" dirty="0">
                <a:latin typeface="微软雅黑" pitchFamily="34" charset="-122"/>
                <a:ea typeface="微软雅黑" pitchFamily="34" charset="-122"/>
              </a:rPr>
              <a:t>：</a:t>
            </a:r>
            <a:endParaRPr lang="zh-CN" altLang="en-US" sz="2000" b="1" kern="0" dirty="0">
              <a:latin typeface="微软雅黑" pitchFamily="34" charset="-122"/>
              <a:ea typeface="微软雅黑" pitchFamily="34" charset="-122"/>
            </a:endParaRPr>
          </a:p>
        </p:txBody>
      </p:sp>
      <p:sp>
        <p:nvSpPr>
          <p:cNvPr id="9" name="矩形 8">
            <a:extLst>
              <a:ext uri="{FF2B5EF4-FFF2-40B4-BE49-F238E27FC236}">
                <a16:creationId xmlns:a16="http://schemas.microsoft.com/office/drawing/2014/main" id="{87A49FF4-941E-759B-96F7-81C63B4D1593}"/>
              </a:ext>
            </a:extLst>
          </p:cNvPr>
          <p:cNvSpPr/>
          <p:nvPr/>
        </p:nvSpPr>
        <p:spPr>
          <a:xfrm>
            <a:off x="785813" y="3841750"/>
            <a:ext cx="7858125" cy="1016000"/>
          </a:xfrm>
          <a:prstGeom prst="rect">
            <a:avLst/>
          </a:prstGeom>
        </p:spPr>
        <p:txBody>
          <a:bodyPr>
            <a:spAutoFit/>
          </a:bodyPr>
          <a:lstStyle/>
          <a:p>
            <a:pPr>
              <a:lnSpc>
                <a:spcPct val="150000"/>
              </a:lnSpc>
              <a:defRPr/>
            </a:pPr>
            <a:r>
              <a:rPr lang="zh-CN" altLang="en-US" sz="2000" b="1" kern="0" dirty="0">
                <a:solidFill>
                  <a:srgbClr val="003399"/>
                </a:solidFill>
                <a:latin typeface="微软雅黑" pitchFamily="34" charset="-122"/>
                <a:ea typeface="微软雅黑" pitchFamily="34" charset="-122"/>
              </a:rPr>
              <a:t>优点</a:t>
            </a:r>
            <a:r>
              <a:rPr lang="zh-CN" altLang="en-US" sz="2000" kern="0" dirty="0">
                <a:solidFill>
                  <a:srgbClr val="003399"/>
                </a:solidFill>
                <a:latin typeface="微软雅黑" pitchFamily="34" charset="-122"/>
                <a:ea typeface="微软雅黑" pitchFamily="34" charset="-122"/>
              </a:rPr>
              <a:t>：</a:t>
            </a:r>
            <a:r>
              <a:rPr lang="zh-CN" altLang="en-US" sz="2000" kern="0" dirty="0">
                <a:latin typeface="华文中宋" pitchFamily="2" charset="-122"/>
                <a:ea typeface="华文中宋" pitchFamily="2" charset="-122"/>
              </a:rPr>
              <a:t>不需要预先得知链路参量的数据。并且可以很容易地利用反向</a:t>
            </a:r>
            <a:endParaRPr lang="en-US" altLang="zh-CN" sz="2000" kern="0" dirty="0">
              <a:latin typeface="华文中宋" pitchFamily="2" charset="-122"/>
              <a:ea typeface="华文中宋" pitchFamily="2" charset="-122"/>
            </a:endParaRPr>
          </a:p>
          <a:p>
            <a:pPr>
              <a:lnSpc>
                <a:spcPct val="150000"/>
              </a:lnSpc>
              <a:defRPr/>
            </a:pPr>
            <a:r>
              <a:rPr lang="en-US" altLang="zh-CN" sz="2000" kern="0" dirty="0">
                <a:latin typeface="华文中宋" pitchFamily="2" charset="-122"/>
                <a:ea typeface="华文中宋" pitchFamily="2" charset="-122"/>
              </a:rPr>
              <a:t>          </a:t>
            </a:r>
            <a:r>
              <a:rPr lang="zh-CN" altLang="en-US" sz="2000" kern="0" dirty="0">
                <a:latin typeface="华文中宋" pitchFamily="2" charset="-122"/>
                <a:ea typeface="华文中宋" pitchFamily="2" charset="-122"/>
              </a:rPr>
              <a:t>链路来及时适应路径和链路情况的变化。 </a:t>
            </a:r>
            <a:endParaRPr lang="zh-CN" altLang="en-US" dirty="0">
              <a:latin typeface="华文中宋" pitchFamily="2" charset="-122"/>
              <a:ea typeface="华文中宋" pitchFamily="2" charset="-122"/>
            </a:endParaRPr>
          </a:p>
        </p:txBody>
      </p:sp>
      <p:sp>
        <p:nvSpPr>
          <p:cNvPr id="10" name="矩形 9">
            <a:extLst>
              <a:ext uri="{FF2B5EF4-FFF2-40B4-BE49-F238E27FC236}">
                <a16:creationId xmlns:a16="http://schemas.microsoft.com/office/drawing/2014/main" id="{C79C07AC-3675-40C8-5F4E-3A9DCFC55639}"/>
              </a:ext>
            </a:extLst>
          </p:cNvPr>
          <p:cNvSpPr/>
          <p:nvPr/>
        </p:nvSpPr>
        <p:spPr>
          <a:xfrm>
            <a:off x="785813" y="5040313"/>
            <a:ext cx="7929562" cy="1014412"/>
          </a:xfrm>
          <a:prstGeom prst="rect">
            <a:avLst/>
          </a:prstGeom>
        </p:spPr>
        <p:txBody>
          <a:bodyPr>
            <a:spAutoFit/>
          </a:bodyPr>
          <a:lstStyle/>
          <a:p>
            <a:pPr>
              <a:lnSpc>
                <a:spcPct val="150000"/>
              </a:lnSpc>
              <a:defRPr/>
            </a:pPr>
            <a:r>
              <a:rPr lang="zh-CN" altLang="en-US" sz="2000" b="1" kern="0" dirty="0">
                <a:solidFill>
                  <a:srgbClr val="003399"/>
                </a:solidFill>
                <a:latin typeface="微软雅黑" pitchFamily="34" charset="-122"/>
                <a:ea typeface="微软雅黑" pitchFamily="34" charset="-122"/>
              </a:rPr>
              <a:t>缺点</a:t>
            </a:r>
            <a:r>
              <a:rPr lang="zh-CN" altLang="en-US" sz="2000" kern="0" dirty="0">
                <a:solidFill>
                  <a:srgbClr val="003399"/>
                </a:solidFill>
                <a:latin typeface="微软雅黑" pitchFamily="34" charset="-122"/>
                <a:ea typeface="微软雅黑" pitchFamily="34" charset="-122"/>
              </a:rPr>
              <a:t>：</a:t>
            </a:r>
            <a:r>
              <a:rPr lang="zh-CN" altLang="en-US" sz="2000" kern="0" dirty="0">
                <a:latin typeface="华文中宋" pitchFamily="2" charset="-122"/>
                <a:ea typeface="华文中宋" pitchFamily="2" charset="-122"/>
              </a:rPr>
              <a:t>终端站需要有较高的实时处理能力，并且每个终端站和中心站</a:t>
            </a:r>
            <a:endParaRPr lang="en-US" altLang="zh-CN" sz="2000" kern="0" dirty="0">
              <a:latin typeface="华文中宋" pitchFamily="2" charset="-122"/>
              <a:ea typeface="华文中宋" pitchFamily="2" charset="-122"/>
            </a:endParaRPr>
          </a:p>
          <a:p>
            <a:pPr>
              <a:lnSpc>
                <a:spcPct val="150000"/>
              </a:lnSpc>
              <a:defRPr/>
            </a:pPr>
            <a:r>
              <a:rPr lang="en-US" altLang="zh-CN" sz="2000" kern="0" dirty="0">
                <a:latin typeface="华文中宋" pitchFamily="2" charset="-122"/>
                <a:ea typeface="华文中宋" pitchFamily="2" charset="-122"/>
              </a:rPr>
              <a:t>         </a:t>
            </a:r>
            <a:r>
              <a:rPr lang="zh-CN" altLang="en-US" sz="2000" kern="0" dirty="0">
                <a:latin typeface="华文中宋" pitchFamily="2" charset="-122"/>
                <a:ea typeface="华文中宋" pitchFamily="2" charset="-122"/>
              </a:rPr>
              <a:t>之间要有双向链路。此外，捕捉同步也需要较长的时间。</a:t>
            </a:r>
            <a:endParaRPr lang="zh-CN" altLang="en-US" dirty="0">
              <a:latin typeface="华文中宋" pitchFamily="2" charset="-122"/>
              <a:ea typeface="华文中宋"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up)">
                                      <p:cBhvr>
                                        <p:cTn id="7" dur="1000"/>
                                        <p:tgtEl>
                                          <p:spTgt spid="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up)">
                                      <p:cBhvr>
                                        <p:cTn id="12" dur="1000"/>
                                        <p:tgtEl>
                                          <p:spTgt spid="4">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wipe(up)">
                                      <p:cBhvr>
                                        <p:cTn id="17" dur="1000"/>
                                        <p:tgtEl>
                                          <p:spTgt spid="4">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up)">
                                      <p:cBhvr>
                                        <p:cTn id="22" dur="10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6">
            <a:extLst>
              <a:ext uri="{FF2B5EF4-FFF2-40B4-BE49-F238E27FC236}">
                <a16:creationId xmlns:a16="http://schemas.microsoft.com/office/drawing/2014/main" id="{1B356C10-F2BC-F6B2-B6CC-06D47E03C677}"/>
              </a:ext>
            </a:extLst>
          </p:cNvPr>
          <p:cNvGrpSpPr>
            <a:grpSpLocks/>
          </p:cNvGrpSpPr>
          <p:nvPr/>
        </p:nvGrpSpPr>
        <p:grpSpPr bwMode="auto">
          <a:xfrm>
            <a:off x="2024063" y="2357438"/>
            <a:ext cx="6048375" cy="2700337"/>
            <a:chOff x="4023" y="11856"/>
            <a:chExt cx="5728" cy="2940"/>
          </a:xfrm>
        </p:grpSpPr>
        <p:pic>
          <p:nvPicPr>
            <p:cNvPr id="86027" name="Picture 7" descr="j0239675">
              <a:extLst>
                <a:ext uri="{FF2B5EF4-FFF2-40B4-BE49-F238E27FC236}">
                  <a16:creationId xmlns:a16="http://schemas.microsoft.com/office/drawing/2014/main" id="{94DCB615-74E3-D0F3-58E5-F68E6C5DA3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7" y="11934"/>
              <a:ext cx="960"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8" name="Text Box 8">
              <a:extLst>
                <a:ext uri="{FF2B5EF4-FFF2-40B4-BE49-F238E27FC236}">
                  <a16:creationId xmlns:a16="http://schemas.microsoft.com/office/drawing/2014/main" id="{F6932508-842E-73FD-6553-1469026F262D}"/>
                </a:ext>
              </a:extLst>
            </p:cNvPr>
            <p:cNvSpPr txBox="1">
              <a:spLocks noChangeArrowheads="1"/>
            </p:cNvSpPr>
            <p:nvPr/>
          </p:nvSpPr>
          <p:spPr bwMode="auto">
            <a:xfrm>
              <a:off x="5353" y="13068"/>
              <a:ext cx="766" cy="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zh-CN" altLang="en-US" sz="2000">
                  <a:latin typeface="Times New Roman" panose="02020603050405020304" pitchFamily="18" charset="0"/>
                </a:rPr>
                <a:t>上行</a:t>
              </a:r>
              <a:endParaRPr lang="zh-CN" altLang="en-US" sz="2000"/>
            </a:p>
          </p:txBody>
        </p:sp>
        <p:sp>
          <p:nvSpPr>
            <p:cNvPr id="86029" name="Text Box 9">
              <a:extLst>
                <a:ext uri="{FF2B5EF4-FFF2-40B4-BE49-F238E27FC236}">
                  <a16:creationId xmlns:a16="http://schemas.microsoft.com/office/drawing/2014/main" id="{965FFB84-8137-E928-C548-77D57FA7B68A}"/>
                </a:ext>
              </a:extLst>
            </p:cNvPr>
            <p:cNvSpPr txBox="1">
              <a:spLocks noChangeArrowheads="1"/>
            </p:cNvSpPr>
            <p:nvPr/>
          </p:nvSpPr>
          <p:spPr bwMode="auto">
            <a:xfrm>
              <a:off x="4847" y="12723"/>
              <a:ext cx="766"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zh-CN" altLang="en-US" sz="2000">
                  <a:latin typeface="Times New Roman" panose="02020603050405020304" pitchFamily="18" charset="0"/>
                </a:rPr>
                <a:t>下行</a:t>
              </a:r>
              <a:endParaRPr lang="zh-CN" altLang="en-US" sz="2000"/>
            </a:p>
          </p:txBody>
        </p:sp>
        <p:pic>
          <p:nvPicPr>
            <p:cNvPr id="86030" name="Picture 10" descr="地球站">
              <a:extLst>
                <a:ext uri="{FF2B5EF4-FFF2-40B4-BE49-F238E27FC236}">
                  <a16:creationId xmlns:a16="http://schemas.microsoft.com/office/drawing/2014/main" id="{E439A010-9A95-0146-E86A-D30E29E5FC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23" y="13969"/>
              <a:ext cx="720" cy="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31" name="Text Box 11">
              <a:extLst>
                <a:ext uri="{FF2B5EF4-FFF2-40B4-BE49-F238E27FC236}">
                  <a16:creationId xmlns:a16="http://schemas.microsoft.com/office/drawing/2014/main" id="{38B0152E-5A97-131C-3732-3CED15A33D5B}"/>
                </a:ext>
              </a:extLst>
            </p:cNvPr>
            <p:cNvSpPr txBox="1">
              <a:spLocks noChangeArrowheads="1"/>
            </p:cNvSpPr>
            <p:nvPr/>
          </p:nvSpPr>
          <p:spPr bwMode="auto">
            <a:xfrm>
              <a:off x="4307" y="14384"/>
              <a:ext cx="406"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000">
                  <a:solidFill>
                    <a:srgbClr val="0000CC"/>
                  </a:solidFill>
                  <a:latin typeface="Times New Roman" panose="02020603050405020304" pitchFamily="18" charset="0"/>
                </a:rPr>
                <a:t>A</a:t>
              </a:r>
              <a:endParaRPr lang="en-US" altLang="zh-CN" sz="2000">
                <a:solidFill>
                  <a:srgbClr val="0000CC"/>
                </a:solidFill>
              </a:endParaRPr>
            </a:p>
          </p:txBody>
        </p:sp>
        <p:pic>
          <p:nvPicPr>
            <p:cNvPr id="86032" name="Picture 12" descr="地球站">
              <a:extLst>
                <a:ext uri="{FF2B5EF4-FFF2-40B4-BE49-F238E27FC236}">
                  <a16:creationId xmlns:a16="http://schemas.microsoft.com/office/drawing/2014/main" id="{2A9F9F3F-9212-FCCF-C09A-241857350B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0" y="13969"/>
              <a:ext cx="720" cy="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33" name="Text Box 13">
              <a:extLst>
                <a:ext uri="{FF2B5EF4-FFF2-40B4-BE49-F238E27FC236}">
                  <a16:creationId xmlns:a16="http://schemas.microsoft.com/office/drawing/2014/main" id="{CD818A3F-A339-4263-7003-1193D215453D}"/>
                </a:ext>
              </a:extLst>
            </p:cNvPr>
            <p:cNvSpPr txBox="1">
              <a:spLocks noChangeArrowheads="1"/>
            </p:cNvSpPr>
            <p:nvPr/>
          </p:nvSpPr>
          <p:spPr bwMode="auto">
            <a:xfrm>
              <a:off x="5536" y="14384"/>
              <a:ext cx="406"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000">
                  <a:solidFill>
                    <a:srgbClr val="0000CC"/>
                  </a:solidFill>
                  <a:latin typeface="Times New Roman" panose="02020603050405020304" pitchFamily="18" charset="0"/>
                </a:rPr>
                <a:t>B</a:t>
              </a:r>
              <a:endParaRPr lang="en-US" altLang="zh-CN" sz="2000">
                <a:solidFill>
                  <a:srgbClr val="0000CC"/>
                </a:solidFill>
              </a:endParaRPr>
            </a:p>
          </p:txBody>
        </p:sp>
        <p:pic>
          <p:nvPicPr>
            <p:cNvPr id="86034" name="Picture 14" descr="地球站">
              <a:extLst>
                <a:ext uri="{FF2B5EF4-FFF2-40B4-BE49-F238E27FC236}">
                  <a16:creationId xmlns:a16="http://schemas.microsoft.com/office/drawing/2014/main" id="{9ACA48AB-0F1A-0D58-A3AC-95BE704FAF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24" y="13970"/>
              <a:ext cx="720" cy="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35" name="Text Box 15">
              <a:extLst>
                <a:ext uri="{FF2B5EF4-FFF2-40B4-BE49-F238E27FC236}">
                  <a16:creationId xmlns:a16="http://schemas.microsoft.com/office/drawing/2014/main" id="{BB1C445C-F7DA-BC49-9B04-6110CECF6242}"/>
                </a:ext>
              </a:extLst>
            </p:cNvPr>
            <p:cNvSpPr txBox="1">
              <a:spLocks noChangeArrowheads="1"/>
            </p:cNvSpPr>
            <p:nvPr/>
          </p:nvSpPr>
          <p:spPr bwMode="auto">
            <a:xfrm>
              <a:off x="6434" y="14391"/>
              <a:ext cx="406"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000">
                  <a:solidFill>
                    <a:srgbClr val="0000CC"/>
                  </a:solidFill>
                  <a:latin typeface="Times New Roman" panose="02020603050405020304" pitchFamily="18" charset="0"/>
                </a:rPr>
                <a:t>C</a:t>
              </a:r>
              <a:endParaRPr lang="en-US" altLang="zh-CN" sz="2000">
                <a:solidFill>
                  <a:srgbClr val="0000CC"/>
                </a:solidFill>
              </a:endParaRPr>
            </a:p>
          </p:txBody>
        </p:sp>
        <p:grpSp>
          <p:nvGrpSpPr>
            <p:cNvPr id="86036" name="Group 16">
              <a:extLst>
                <a:ext uri="{FF2B5EF4-FFF2-40B4-BE49-F238E27FC236}">
                  <a16:creationId xmlns:a16="http://schemas.microsoft.com/office/drawing/2014/main" id="{605B9BEA-C80E-6387-9484-FAE5B0592C2F}"/>
                </a:ext>
              </a:extLst>
            </p:cNvPr>
            <p:cNvGrpSpPr>
              <a:grpSpLocks/>
            </p:cNvGrpSpPr>
            <p:nvPr/>
          </p:nvGrpSpPr>
          <p:grpSpPr bwMode="auto">
            <a:xfrm>
              <a:off x="6480" y="12996"/>
              <a:ext cx="242" cy="900"/>
              <a:chOff x="6554" y="13101"/>
              <a:chExt cx="242" cy="900"/>
            </a:xfrm>
          </p:grpSpPr>
          <p:sp>
            <p:nvSpPr>
              <p:cNvPr id="86057" name="Line 17">
                <a:extLst>
                  <a:ext uri="{FF2B5EF4-FFF2-40B4-BE49-F238E27FC236}">
                    <a16:creationId xmlns:a16="http://schemas.microsoft.com/office/drawing/2014/main" id="{75ACF52B-F05E-C49D-F9A6-E687F9FEEB7E}"/>
                  </a:ext>
                </a:extLst>
              </p:cNvPr>
              <p:cNvSpPr>
                <a:spLocks noChangeShapeType="1"/>
              </p:cNvSpPr>
              <p:nvPr/>
            </p:nvSpPr>
            <p:spPr bwMode="auto">
              <a:xfrm flipH="1" flipV="1">
                <a:off x="6554" y="13170"/>
                <a:ext cx="168" cy="831"/>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86058" name="Line 18">
                <a:extLst>
                  <a:ext uri="{FF2B5EF4-FFF2-40B4-BE49-F238E27FC236}">
                    <a16:creationId xmlns:a16="http://schemas.microsoft.com/office/drawing/2014/main" id="{5264FD4E-38AA-5E9A-9764-7C33AD23CFAD}"/>
                  </a:ext>
                </a:extLst>
              </p:cNvPr>
              <p:cNvSpPr>
                <a:spLocks noChangeShapeType="1"/>
              </p:cNvSpPr>
              <p:nvPr/>
            </p:nvSpPr>
            <p:spPr bwMode="auto">
              <a:xfrm>
                <a:off x="6626" y="13101"/>
                <a:ext cx="170" cy="846"/>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sp>
          <p:nvSpPr>
            <p:cNvPr id="86037" name="Line 19">
              <a:extLst>
                <a:ext uri="{FF2B5EF4-FFF2-40B4-BE49-F238E27FC236}">
                  <a16:creationId xmlns:a16="http://schemas.microsoft.com/office/drawing/2014/main" id="{AA8E2775-A6C6-7D5F-60AF-76870723917C}"/>
                </a:ext>
              </a:extLst>
            </p:cNvPr>
            <p:cNvSpPr>
              <a:spLocks noChangeShapeType="1"/>
            </p:cNvSpPr>
            <p:nvPr/>
          </p:nvSpPr>
          <p:spPr bwMode="auto">
            <a:xfrm flipH="1" flipV="1">
              <a:off x="7080" y="13146"/>
              <a:ext cx="914" cy="69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6038" name="Line 20">
              <a:extLst>
                <a:ext uri="{FF2B5EF4-FFF2-40B4-BE49-F238E27FC236}">
                  <a16:creationId xmlns:a16="http://schemas.microsoft.com/office/drawing/2014/main" id="{27FFB782-5B3F-566C-63D8-DF013C261DDF}"/>
                </a:ext>
              </a:extLst>
            </p:cNvPr>
            <p:cNvSpPr>
              <a:spLocks noChangeShapeType="1"/>
            </p:cNvSpPr>
            <p:nvPr/>
          </p:nvSpPr>
          <p:spPr bwMode="auto">
            <a:xfrm>
              <a:off x="7176" y="13338"/>
              <a:ext cx="722" cy="55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86039" name="Picture 21" descr="地球站">
              <a:extLst>
                <a:ext uri="{FF2B5EF4-FFF2-40B4-BE49-F238E27FC236}">
                  <a16:creationId xmlns:a16="http://schemas.microsoft.com/office/drawing/2014/main" id="{9AF2DF9E-673B-DC65-33AC-7A40FF397B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48" y="13970"/>
              <a:ext cx="720" cy="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40" name="Text Box 22">
              <a:extLst>
                <a:ext uri="{FF2B5EF4-FFF2-40B4-BE49-F238E27FC236}">
                  <a16:creationId xmlns:a16="http://schemas.microsoft.com/office/drawing/2014/main" id="{66A8CBE0-8A75-B79F-14C0-0ABAD66B757F}"/>
                </a:ext>
              </a:extLst>
            </p:cNvPr>
            <p:cNvSpPr txBox="1">
              <a:spLocks noChangeArrowheads="1"/>
            </p:cNvSpPr>
            <p:nvPr/>
          </p:nvSpPr>
          <p:spPr bwMode="auto">
            <a:xfrm>
              <a:off x="7816" y="14376"/>
              <a:ext cx="406"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000">
                  <a:solidFill>
                    <a:srgbClr val="0000CC"/>
                  </a:solidFill>
                  <a:latin typeface="Times New Roman" panose="02020603050405020304" pitchFamily="18" charset="0"/>
                </a:rPr>
                <a:t>D</a:t>
              </a:r>
              <a:endParaRPr lang="en-US" altLang="zh-CN" sz="2000">
                <a:solidFill>
                  <a:srgbClr val="0000CC"/>
                </a:solidFill>
              </a:endParaRPr>
            </a:p>
          </p:txBody>
        </p:sp>
        <p:sp>
          <p:nvSpPr>
            <p:cNvPr id="86041" name="Line 23">
              <a:extLst>
                <a:ext uri="{FF2B5EF4-FFF2-40B4-BE49-F238E27FC236}">
                  <a16:creationId xmlns:a16="http://schemas.microsoft.com/office/drawing/2014/main" id="{F2822B18-5C6F-8873-B8C6-DA3F7AC30644}"/>
                </a:ext>
              </a:extLst>
            </p:cNvPr>
            <p:cNvSpPr>
              <a:spLocks noChangeShapeType="1"/>
            </p:cNvSpPr>
            <p:nvPr/>
          </p:nvSpPr>
          <p:spPr bwMode="auto">
            <a:xfrm flipV="1">
              <a:off x="5860" y="12978"/>
              <a:ext cx="367" cy="93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6042" name="Line 24">
              <a:extLst>
                <a:ext uri="{FF2B5EF4-FFF2-40B4-BE49-F238E27FC236}">
                  <a16:creationId xmlns:a16="http://schemas.microsoft.com/office/drawing/2014/main" id="{0D49C2D3-97A9-3437-F937-F5341C6A6110}"/>
                </a:ext>
              </a:extLst>
            </p:cNvPr>
            <p:cNvSpPr>
              <a:spLocks noChangeShapeType="1"/>
            </p:cNvSpPr>
            <p:nvPr/>
          </p:nvSpPr>
          <p:spPr bwMode="auto">
            <a:xfrm flipH="1">
              <a:off x="5744" y="12981"/>
              <a:ext cx="367" cy="9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86043" name="Picture 25" descr="j0239675">
              <a:extLst>
                <a:ext uri="{FF2B5EF4-FFF2-40B4-BE49-F238E27FC236}">
                  <a16:creationId xmlns:a16="http://schemas.microsoft.com/office/drawing/2014/main" id="{81B47E74-93F0-195E-292A-AAB61F3B4D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1" y="11889"/>
              <a:ext cx="960"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6044" name="Group 26">
              <a:extLst>
                <a:ext uri="{FF2B5EF4-FFF2-40B4-BE49-F238E27FC236}">
                  <a16:creationId xmlns:a16="http://schemas.microsoft.com/office/drawing/2014/main" id="{D9D9C72F-F8C5-0FCE-33B2-07E504BBC592}"/>
                </a:ext>
              </a:extLst>
            </p:cNvPr>
            <p:cNvGrpSpPr>
              <a:grpSpLocks/>
            </p:cNvGrpSpPr>
            <p:nvPr/>
          </p:nvGrpSpPr>
          <p:grpSpPr bwMode="auto">
            <a:xfrm>
              <a:off x="4625" y="12846"/>
              <a:ext cx="1154" cy="1020"/>
              <a:chOff x="4624" y="12966"/>
              <a:chExt cx="1004" cy="900"/>
            </a:xfrm>
          </p:grpSpPr>
          <p:sp>
            <p:nvSpPr>
              <p:cNvPr id="86055" name="Line 27">
                <a:extLst>
                  <a:ext uri="{FF2B5EF4-FFF2-40B4-BE49-F238E27FC236}">
                    <a16:creationId xmlns:a16="http://schemas.microsoft.com/office/drawing/2014/main" id="{D1B39213-6532-B3CE-D29D-138A71FDA994}"/>
                  </a:ext>
                </a:extLst>
              </p:cNvPr>
              <p:cNvSpPr>
                <a:spLocks noChangeShapeType="1"/>
              </p:cNvSpPr>
              <p:nvPr/>
            </p:nvSpPr>
            <p:spPr bwMode="auto">
              <a:xfrm flipV="1">
                <a:off x="4710" y="13020"/>
                <a:ext cx="918" cy="84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6056" name="Line 28">
                <a:extLst>
                  <a:ext uri="{FF2B5EF4-FFF2-40B4-BE49-F238E27FC236}">
                    <a16:creationId xmlns:a16="http://schemas.microsoft.com/office/drawing/2014/main" id="{D0F622A8-1ECA-99C1-857D-CE52776C4989}"/>
                  </a:ext>
                </a:extLst>
              </p:cNvPr>
              <p:cNvSpPr>
                <a:spLocks noChangeShapeType="1"/>
              </p:cNvSpPr>
              <p:nvPr/>
            </p:nvSpPr>
            <p:spPr bwMode="auto">
              <a:xfrm flipH="1">
                <a:off x="4624" y="12966"/>
                <a:ext cx="900" cy="84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86045" name="Group 29">
              <a:extLst>
                <a:ext uri="{FF2B5EF4-FFF2-40B4-BE49-F238E27FC236}">
                  <a16:creationId xmlns:a16="http://schemas.microsoft.com/office/drawing/2014/main" id="{88A3AC81-D3B0-061F-D555-65F5DC5CB7EA}"/>
                </a:ext>
              </a:extLst>
            </p:cNvPr>
            <p:cNvGrpSpPr>
              <a:grpSpLocks/>
            </p:cNvGrpSpPr>
            <p:nvPr/>
          </p:nvGrpSpPr>
          <p:grpSpPr bwMode="auto">
            <a:xfrm rot="608055">
              <a:off x="7071" y="12216"/>
              <a:ext cx="1666" cy="366"/>
              <a:chOff x="6988" y="11055"/>
              <a:chExt cx="1140" cy="256"/>
            </a:xfrm>
          </p:grpSpPr>
          <p:sp>
            <p:nvSpPr>
              <p:cNvPr id="86053" name="Line 30">
                <a:extLst>
                  <a:ext uri="{FF2B5EF4-FFF2-40B4-BE49-F238E27FC236}">
                    <a16:creationId xmlns:a16="http://schemas.microsoft.com/office/drawing/2014/main" id="{3DA69FF2-0312-E7FE-1C52-0E3987E8905F}"/>
                  </a:ext>
                </a:extLst>
              </p:cNvPr>
              <p:cNvSpPr>
                <a:spLocks noChangeShapeType="1"/>
              </p:cNvSpPr>
              <p:nvPr/>
            </p:nvSpPr>
            <p:spPr bwMode="auto">
              <a:xfrm flipV="1">
                <a:off x="7108" y="11115"/>
                <a:ext cx="1020" cy="19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6054" name="Line 31">
                <a:extLst>
                  <a:ext uri="{FF2B5EF4-FFF2-40B4-BE49-F238E27FC236}">
                    <a16:creationId xmlns:a16="http://schemas.microsoft.com/office/drawing/2014/main" id="{1EA37150-32CE-16DD-D588-D0B9D24D8126}"/>
                  </a:ext>
                </a:extLst>
              </p:cNvPr>
              <p:cNvSpPr>
                <a:spLocks noChangeShapeType="1"/>
              </p:cNvSpPr>
              <p:nvPr/>
            </p:nvSpPr>
            <p:spPr bwMode="auto">
              <a:xfrm flipH="1">
                <a:off x="6988" y="11055"/>
                <a:ext cx="1036" cy="19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86046" name="Text Box 32">
              <a:extLst>
                <a:ext uri="{FF2B5EF4-FFF2-40B4-BE49-F238E27FC236}">
                  <a16:creationId xmlns:a16="http://schemas.microsoft.com/office/drawing/2014/main" id="{9E761031-5202-C90D-DB38-6F2731C5432B}"/>
                </a:ext>
              </a:extLst>
            </p:cNvPr>
            <p:cNvSpPr txBox="1">
              <a:spLocks noChangeArrowheads="1"/>
            </p:cNvSpPr>
            <p:nvPr/>
          </p:nvSpPr>
          <p:spPr bwMode="auto">
            <a:xfrm>
              <a:off x="5957" y="11871"/>
              <a:ext cx="676"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000">
                  <a:solidFill>
                    <a:srgbClr val="990099"/>
                  </a:solidFill>
                  <a:latin typeface="Times New Roman" panose="02020603050405020304" pitchFamily="18" charset="0"/>
                </a:rPr>
                <a:t>S1</a:t>
              </a:r>
              <a:endParaRPr lang="en-US" altLang="zh-CN" sz="2000">
                <a:solidFill>
                  <a:srgbClr val="990099"/>
                </a:solidFill>
              </a:endParaRPr>
            </a:p>
          </p:txBody>
        </p:sp>
        <p:sp>
          <p:nvSpPr>
            <p:cNvPr id="86047" name="Text Box 33">
              <a:extLst>
                <a:ext uri="{FF2B5EF4-FFF2-40B4-BE49-F238E27FC236}">
                  <a16:creationId xmlns:a16="http://schemas.microsoft.com/office/drawing/2014/main" id="{35787146-66B2-2129-47C6-CA7F916292FC}"/>
                </a:ext>
              </a:extLst>
            </p:cNvPr>
            <p:cNvSpPr txBox="1">
              <a:spLocks noChangeArrowheads="1"/>
            </p:cNvSpPr>
            <p:nvPr/>
          </p:nvSpPr>
          <p:spPr bwMode="auto">
            <a:xfrm>
              <a:off x="8897" y="11856"/>
              <a:ext cx="496"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000">
                  <a:solidFill>
                    <a:srgbClr val="990099"/>
                  </a:solidFill>
                  <a:latin typeface="Times New Roman" panose="02020603050405020304" pitchFamily="18" charset="0"/>
                </a:rPr>
                <a:t>S2</a:t>
              </a:r>
              <a:endParaRPr lang="en-US" altLang="zh-CN" sz="2000">
                <a:solidFill>
                  <a:srgbClr val="990099"/>
                </a:solidFill>
              </a:endParaRPr>
            </a:p>
          </p:txBody>
        </p:sp>
        <p:sp>
          <p:nvSpPr>
            <p:cNvPr id="86048" name="Text Box 34">
              <a:extLst>
                <a:ext uri="{FF2B5EF4-FFF2-40B4-BE49-F238E27FC236}">
                  <a16:creationId xmlns:a16="http://schemas.microsoft.com/office/drawing/2014/main" id="{2A508580-9B2E-A874-57CB-24A90BB99978}"/>
                </a:ext>
              </a:extLst>
            </p:cNvPr>
            <p:cNvSpPr txBox="1">
              <a:spLocks noChangeArrowheads="1"/>
            </p:cNvSpPr>
            <p:nvPr/>
          </p:nvSpPr>
          <p:spPr bwMode="auto">
            <a:xfrm>
              <a:off x="4879" y="13491"/>
              <a:ext cx="602"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000">
                  <a:latin typeface="Times New Roman" panose="02020603050405020304" pitchFamily="18" charset="0"/>
                </a:rPr>
                <a:t>E-1</a:t>
              </a:r>
              <a:endParaRPr lang="en-US" altLang="zh-CN" sz="2000"/>
            </a:p>
          </p:txBody>
        </p:sp>
        <p:sp>
          <p:nvSpPr>
            <p:cNvPr id="86049" name="Text Box 35">
              <a:extLst>
                <a:ext uri="{FF2B5EF4-FFF2-40B4-BE49-F238E27FC236}">
                  <a16:creationId xmlns:a16="http://schemas.microsoft.com/office/drawing/2014/main" id="{31E8BEF2-4307-B75D-61DC-8C56CB4E09E0}"/>
                </a:ext>
              </a:extLst>
            </p:cNvPr>
            <p:cNvSpPr txBox="1">
              <a:spLocks noChangeArrowheads="1"/>
            </p:cNvSpPr>
            <p:nvPr/>
          </p:nvSpPr>
          <p:spPr bwMode="auto">
            <a:xfrm>
              <a:off x="5868" y="13491"/>
              <a:ext cx="602"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000">
                  <a:latin typeface="Times New Roman" panose="02020603050405020304" pitchFamily="18" charset="0"/>
                </a:rPr>
                <a:t>E-1</a:t>
              </a:r>
              <a:endParaRPr lang="en-US" altLang="zh-CN" sz="2000"/>
            </a:p>
          </p:txBody>
        </p:sp>
        <p:sp>
          <p:nvSpPr>
            <p:cNvPr id="86050" name="Text Box 36">
              <a:extLst>
                <a:ext uri="{FF2B5EF4-FFF2-40B4-BE49-F238E27FC236}">
                  <a16:creationId xmlns:a16="http://schemas.microsoft.com/office/drawing/2014/main" id="{80F778DF-2068-89E7-451F-8CB805A58E51}"/>
                </a:ext>
              </a:extLst>
            </p:cNvPr>
            <p:cNvSpPr txBox="1">
              <a:spLocks noChangeArrowheads="1"/>
            </p:cNvSpPr>
            <p:nvPr/>
          </p:nvSpPr>
          <p:spPr bwMode="auto">
            <a:xfrm>
              <a:off x="6648" y="13476"/>
              <a:ext cx="602"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000">
                  <a:latin typeface="Times New Roman" panose="02020603050405020304" pitchFamily="18" charset="0"/>
                </a:rPr>
                <a:t>E-1</a:t>
              </a:r>
              <a:endParaRPr lang="en-US" altLang="zh-CN" sz="2000"/>
            </a:p>
          </p:txBody>
        </p:sp>
        <p:sp>
          <p:nvSpPr>
            <p:cNvPr id="86051" name="Text Box 37">
              <a:extLst>
                <a:ext uri="{FF2B5EF4-FFF2-40B4-BE49-F238E27FC236}">
                  <a16:creationId xmlns:a16="http://schemas.microsoft.com/office/drawing/2014/main" id="{19B13423-EAAF-91FF-82CA-39C2B573DBB3}"/>
                </a:ext>
              </a:extLst>
            </p:cNvPr>
            <p:cNvSpPr txBox="1">
              <a:spLocks noChangeArrowheads="1"/>
            </p:cNvSpPr>
            <p:nvPr/>
          </p:nvSpPr>
          <p:spPr bwMode="auto">
            <a:xfrm>
              <a:off x="7742" y="13356"/>
              <a:ext cx="602"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000">
                  <a:latin typeface="Times New Roman" panose="02020603050405020304" pitchFamily="18" charset="0"/>
                </a:rPr>
                <a:t>E-1</a:t>
              </a:r>
              <a:endParaRPr lang="en-US" altLang="zh-CN" sz="2000"/>
            </a:p>
          </p:txBody>
        </p:sp>
        <p:sp>
          <p:nvSpPr>
            <p:cNvPr id="86052" name="Text Box 38">
              <a:extLst>
                <a:ext uri="{FF2B5EF4-FFF2-40B4-BE49-F238E27FC236}">
                  <a16:creationId xmlns:a16="http://schemas.microsoft.com/office/drawing/2014/main" id="{247DE7DC-1F46-E148-48D9-588CD04F368F}"/>
                </a:ext>
              </a:extLst>
            </p:cNvPr>
            <p:cNvSpPr txBox="1">
              <a:spLocks noChangeArrowheads="1"/>
            </p:cNvSpPr>
            <p:nvPr/>
          </p:nvSpPr>
          <p:spPr bwMode="auto">
            <a:xfrm>
              <a:off x="7713" y="12381"/>
              <a:ext cx="602"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just" eaLnBrk="1" hangingPunct="1"/>
              <a:r>
                <a:rPr lang="en-US" altLang="zh-CN" sz="2000">
                  <a:latin typeface="Times New Roman" panose="02020603050405020304" pitchFamily="18" charset="0"/>
                </a:rPr>
                <a:t>E-2</a:t>
              </a:r>
              <a:endParaRPr lang="en-US" altLang="zh-CN" sz="2000"/>
            </a:p>
          </p:txBody>
        </p:sp>
      </p:grpSp>
      <p:sp>
        <p:nvSpPr>
          <p:cNvPr id="45" name="矩形 44">
            <a:extLst>
              <a:ext uri="{FF2B5EF4-FFF2-40B4-BE49-F238E27FC236}">
                <a16:creationId xmlns:a16="http://schemas.microsoft.com/office/drawing/2014/main" id="{5582F106-DDD8-6E41-AB44-4EA68770605B}"/>
              </a:ext>
            </a:extLst>
          </p:cNvPr>
          <p:cNvSpPr/>
          <p:nvPr/>
        </p:nvSpPr>
        <p:spPr bwMode="auto">
          <a:xfrm>
            <a:off x="1928813" y="2214563"/>
            <a:ext cx="6215062" cy="3000375"/>
          </a:xfrm>
          <a:prstGeom prst="rect">
            <a:avLst/>
          </a:prstGeom>
          <a:noFill/>
          <a:ln w="9525" cap="flat" cmpd="sng" algn="ctr">
            <a:solidFill>
              <a:schemeClr val="tx2">
                <a:lumMod val="20000"/>
                <a:lumOff val="80000"/>
              </a:schemeClr>
            </a:solidFill>
            <a:prstDash val="solid"/>
            <a:miter lim="800000"/>
            <a:headEnd type="none" w="med" len="med"/>
            <a:tailEnd type="none" w="med" len="med"/>
          </a:ln>
          <a:effectLst>
            <a:outerShdw blurRad="50800" dist="38100" dir="2700000" algn="tl" rotWithShape="0">
              <a:prstClr val="black">
                <a:alpha val="40000"/>
              </a:prstClr>
            </a:outerShdw>
          </a:effectLst>
        </p:spPr>
        <p:txBody>
          <a:bodyPr wrap="none"/>
          <a:lstStyle/>
          <a:p>
            <a:pPr>
              <a:defRPr/>
            </a:pPr>
            <a:endParaRPr lang="zh-CN" altLang="en-US">
              <a:ea typeface="宋体" charset="-122"/>
            </a:endParaRPr>
          </a:p>
        </p:txBody>
      </p:sp>
      <p:sp>
        <p:nvSpPr>
          <p:cNvPr id="42" name="Rectangle 3">
            <a:extLst>
              <a:ext uri="{FF2B5EF4-FFF2-40B4-BE49-F238E27FC236}">
                <a16:creationId xmlns:a16="http://schemas.microsoft.com/office/drawing/2014/main" id="{C53C10CC-B029-F3AB-CED3-64D31AF1AEA6}"/>
              </a:ext>
            </a:extLst>
          </p:cNvPr>
          <p:cNvSpPr txBox="1">
            <a:spLocks noChangeArrowheads="1"/>
          </p:cNvSpPr>
          <p:nvPr/>
        </p:nvSpPr>
        <p:spPr bwMode="auto">
          <a:xfrm>
            <a:off x="428625" y="428625"/>
            <a:ext cx="5643563" cy="642938"/>
          </a:xfrm>
          <a:prstGeom prst="rect">
            <a:avLst/>
          </a:prstGeom>
          <a:noFill/>
          <a:ln w="9525">
            <a:noFill/>
            <a:miter lim="800000"/>
            <a:headEnd/>
            <a:tailEnd/>
          </a:ln>
        </p:spPr>
        <p:txBody>
          <a:bodyPr/>
          <a:lstStyle/>
          <a:p>
            <a:pPr marL="228600" lvl="2" indent="-228600" eaLnBrk="0" hangingPunct="0">
              <a:lnSpc>
                <a:spcPct val="150000"/>
              </a:lnSpc>
              <a:spcBef>
                <a:spcPct val="20000"/>
              </a:spcBef>
              <a:buClr>
                <a:srgbClr val="0000CC"/>
              </a:buClr>
              <a:buSzPct val="70000"/>
              <a:defRPr/>
            </a:pPr>
            <a:r>
              <a:rPr lang="en-US" altLang="zh-CN" sz="2400" b="1" kern="0" dirty="0">
                <a:solidFill>
                  <a:srgbClr val="990099"/>
                </a:solidFill>
                <a:latin typeface="Arial" pitchFamily="34" charset="0"/>
                <a:ea typeface="微软雅黑" pitchFamily="34" charset="-122"/>
                <a:cs typeface="Arial" pitchFamily="34" charset="0"/>
              </a:rPr>
              <a:t>2</a:t>
            </a:r>
            <a:r>
              <a:rPr lang="zh-CN" altLang="en-US" sz="2400" b="1" kern="0" dirty="0">
                <a:solidFill>
                  <a:srgbClr val="990099"/>
                </a:solidFill>
                <a:latin typeface="Arial" pitchFamily="34" charset="0"/>
                <a:ea typeface="微软雅黑" pitchFamily="34" charset="-122"/>
                <a:cs typeface="Arial" pitchFamily="34" charset="0"/>
              </a:rPr>
              <a:t>）</a:t>
            </a:r>
            <a:r>
              <a:rPr lang="zh-CN" altLang="en-US" sz="2400" b="1" kern="0" dirty="0">
                <a:latin typeface="Arial" pitchFamily="34" charset="0"/>
                <a:ea typeface="微软雅黑" pitchFamily="34" charset="-122"/>
                <a:cs typeface="Arial" pitchFamily="34" charset="0"/>
              </a:rPr>
              <a:t> </a:t>
            </a:r>
            <a:r>
              <a:rPr lang="zh-CN" altLang="en-US" sz="2400" b="1" dirty="0">
                <a:solidFill>
                  <a:srgbClr val="800080"/>
                </a:solidFill>
                <a:latin typeface="Arial" pitchFamily="34" charset="0"/>
                <a:ea typeface="微软雅黑" pitchFamily="34" charset="-122"/>
                <a:cs typeface="Arial" pitchFamily="34" charset="0"/>
              </a:rPr>
              <a:t>准同步网</a:t>
            </a:r>
            <a:r>
              <a:rPr lang="zh-CN" altLang="en-US" sz="2400" b="1" dirty="0">
                <a:solidFill>
                  <a:srgbClr val="990099"/>
                </a:solidFill>
                <a:latin typeface="Arial" pitchFamily="34" charset="0"/>
                <a:ea typeface="微软雅黑" pitchFamily="34" charset="-122"/>
                <a:cs typeface="Arial" pitchFamily="34" charset="0"/>
              </a:rPr>
              <a:t>（</a:t>
            </a:r>
            <a:r>
              <a:rPr lang="zh-CN" altLang="en-US" sz="2400" b="1" kern="0" dirty="0">
                <a:solidFill>
                  <a:srgbClr val="990099"/>
                </a:solidFill>
                <a:latin typeface="Arial" pitchFamily="34" charset="0"/>
                <a:ea typeface="微软雅黑" pitchFamily="34" charset="-122"/>
                <a:cs typeface="Arial" pitchFamily="34" charset="0"/>
              </a:rPr>
              <a:t>异步网）</a:t>
            </a:r>
            <a:r>
              <a:rPr lang="zh-CN" altLang="en-US" sz="2400" b="1" dirty="0">
                <a:latin typeface="Arial" pitchFamily="34" charset="0"/>
                <a:ea typeface="微软雅黑" pitchFamily="34" charset="-122"/>
                <a:cs typeface="Arial" pitchFamily="34" charset="0"/>
              </a:rPr>
              <a:t>的同步方法</a:t>
            </a:r>
            <a:r>
              <a:rPr lang="zh-CN" altLang="en-US" sz="2400" b="1" kern="0" dirty="0">
                <a:latin typeface="Arial" pitchFamily="34" charset="0"/>
                <a:ea typeface="微软雅黑" pitchFamily="34" charset="-122"/>
                <a:cs typeface="Arial" pitchFamily="34" charset="0"/>
              </a:rPr>
              <a:t>：</a:t>
            </a:r>
          </a:p>
        </p:txBody>
      </p:sp>
      <p:grpSp>
        <p:nvGrpSpPr>
          <p:cNvPr id="6" name="组合 57">
            <a:extLst>
              <a:ext uri="{FF2B5EF4-FFF2-40B4-BE49-F238E27FC236}">
                <a16:creationId xmlns:a16="http://schemas.microsoft.com/office/drawing/2014/main" id="{704AB5C1-8D4E-CBAC-511D-3EC4BA4EA9C0}"/>
              </a:ext>
            </a:extLst>
          </p:cNvPr>
          <p:cNvGrpSpPr>
            <a:grpSpLocks/>
          </p:cNvGrpSpPr>
          <p:nvPr/>
        </p:nvGrpSpPr>
        <p:grpSpPr bwMode="auto">
          <a:xfrm>
            <a:off x="992188" y="1285875"/>
            <a:ext cx="1079500" cy="571500"/>
            <a:chOff x="2500298" y="3214686"/>
            <a:chExt cx="1079526" cy="571503"/>
          </a:xfrm>
        </p:grpSpPr>
        <p:sp>
          <p:nvSpPr>
            <p:cNvPr id="48" name="椭圆 47">
              <a:extLst>
                <a:ext uri="{FF2B5EF4-FFF2-40B4-BE49-F238E27FC236}">
                  <a16:creationId xmlns:a16="http://schemas.microsoft.com/office/drawing/2014/main" id="{A50AD086-4370-7D77-D409-7BFD716F23DF}"/>
                </a:ext>
              </a:extLst>
            </p:cNvPr>
            <p:cNvSpPr/>
            <p:nvPr/>
          </p:nvSpPr>
          <p:spPr bwMode="auto">
            <a:xfrm>
              <a:off x="2500298" y="3214686"/>
              <a:ext cx="928709" cy="571503"/>
            </a:xfrm>
            <a:prstGeom prst="ellipse">
              <a:avLst/>
            </a:prstGeom>
            <a:solidFill>
              <a:schemeClr val="bg2">
                <a:lumMod val="10000"/>
                <a:lumOff val="90000"/>
              </a:schemeClr>
            </a:solidFill>
            <a:ln w="9525" cap="flat" cmpd="sng" algn="ctr">
              <a:solidFill>
                <a:schemeClr val="tx2">
                  <a:lumMod val="60000"/>
                  <a:lumOff val="40000"/>
                </a:schemeClr>
              </a:solidFill>
              <a:prstDash val="solid"/>
              <a:miter lim="800000"/>
              <a:headEnd type="none" w="med" len="med"/>
              <a:tailEnd type="none" w="med" len="med"/>
            </a:ln>
            <a:effectLst>
              <a:outerShdw blurRad="50800" dist="38100" dir="18900000" algn="bl" rotWithShape="0">
                <a:prstClr val="black">
                  <a:alpha val="40000"/>
                </a:prstClr>
              </a:outerShdw>
            </a:effectLst>
          </p:spPr>
          <p:txBody>
            <a:bodyPr wrap="none"/>
            <a:lstStyle/>
            <a:p>
              <a:pPr>
                <a:defRPr/>
              </a:pPr>
              <a:endParaRPr lang="zh-CN" altLang="en-US" dirty="0">
                <a:ea typeface="宋体" charset="-122"/>
              </a:endParaRPr>
            </a:p>
          </p:txBody>
        </p:sp>
        <p:sp>
          <p:nvSpPr>
            <p:cNvPr id="49" name="矩形 48">
              <a:extLst>
                <a:ext uri="{FF2B5EF4-FFF2-40B4-BE49-F238E27FC236}">
                  <a16:creationId xmlns:a16="http://schemas.microsoft.com/office/drawing/2014/main" id="{833770E4-4E19-18E6-58F3-C4625FA2D916}"/>
                </a:ext>
              </a:extLst>
            </p:cNvPr>
            <p:cNvSpPr/>
            <p:nvPr/>
          </p:nvSpPr>
          <p:spPr>
            <a:xfrm>
              <a:off x="2625713" y="3286124"/>
              <a:ext cx="954111" cy="400052"/>
            </a:xfrm>
            <a:prstGeom prst="rect">
              <a:avLst/>
            </a:prstGeom>
          </p:spPr>
          <p:txBody>
            <a:bodyPr wrap="none">
              <a:spAutoFit/>
            </a:bodyPr>
            <a:lstStyle/>
            <a:p>
              <a:pPr>
                <a:defRPr/>
              </a:pPr>
              <a:r>
                <a:rPr lang="zh-CN" altLang="en-US" sz="2000" b="1" kern="0" dirty="0">
                  <a:solidFill>
                    <a:srgbClr val="003399"/>
                  </a:solidFill>
                  <a:latin typeface="微软雅黑" pitchFamily="34" charset="-122"/>
                  <a:ea typeface="微软雅黑" pitchFamily="34" charset="-122"/>
                </a:rPr>
                <a:t>典例</a:t>
              </a:r>
              <a:r>
                <a:rPr lang="zh-CN" altLang="en-US" sz="2000" kern="0" dirty="0">
                  <a:solidFill>
                    <a:srgbClr val="003399"/>
                  </a:solidFill>
                  <a:latin typeface="微软雅黑" pitchFamily="34" charset="-122"/>
                  <a:ea typeface="微软雅黑" pitchFamily="34" charset="-122"/>
                </a:rPr>
                <a:t>：</a:t>
              </a:r>
              <a:endParaRPr lang="zh-CN" altLang="en-US" sz="2000" dirty="0">
                <a:ea typeface="宋体" charset="-122"/>
              </a:endParaRPr>
            </a:p>
          </p:txBody>
        </p:sp>
      </p:grpSp>
      <p:sp>
        <p:nvSpPr>
          <p:cNvPr id="50" name="矩形 49">
            <a:extLst>
              <a:ext uri="{FF2B5EF4-FFF2-40B4-BE49-F238E27FC236}">
                <a16:creationId xmlns:a16="http://schemas.microsoft.com/office/drawing/2014/main" id="{7A3879EC-BDFB-33FB-099A-B3C7D2FEFA49}"/>
              </a:ext>
            </a:extLst>
          </p:cNvPr>
          <p:cNvSpPr/>
          <p:nvPr/>
        </p:nvSpPr>
        <p:spPr>
          <a:xfrm>
            <a:off x="2071688" y="1385888"/>
            <a:ext cx="6500812" cy="400050"/>
          </a:xfrm>
          <a:prstGeom prst="rect">
            <a:avLst/>
          </a:prstGeom>
        </p:spPr>
        <p:txBody>
          <a:bodyPr>
            <a:spAutoFit/>
          </a:bodyPr>
          <a:lstStyle/>
          <a:p>
            <a:pPr>
              <a:defRPr/>
            </a:pPr>
            <a:r>
              <a:rPr lang="zh-CN" altLang="en-US" sz="2000" kern="0" dirty="0">
                <a:solidFill>
                  <a:srgbClr val="000000"/>
                </a:solidFill>
                <a:latin typeface="微软雅黑" pitchFamily="34" charset="-122"/>
                <a:ea typeface="微软雅黑" pitchFamily="34" charset="-122"/>
              </a:rPr>
              <a:t>准同步数字体系</a:t>
            </a:r>
            <a:r>
              <a:rPr lang="en-US" altLang="zh-CN" sz="2000" kern="0" dirty="0">
                <a:solidFill>
                  <a:srgbClr val="000000"/>
                </a:solidFill>
                <a:latin typeface="微软雅黑" pitchFamily="34" charset="-122"/>
                <a:ea typeface="微软雅黑" pitchFamily="34" charset="-122"/>
              </a:rPr>
              <a:t>(PDH)</a:t>
            </a:r>
            <a:r>
              <a:rPr lang="zh-CN" altLang="en-US" sz="2000" kern="0" dirty="0">
                <a:solidFill>
                  <a:srgbClr val="000000"/>
                </a:solidFill>
                <a:latin typeface="微软雅黑" pitchFamily="34" charset="-122"/>
                <a:ea typeface="微软雅黑" pitchFamily="34" charset="-122"/>
              </a:rPr>
              <a:t>中采用的码速调整法。</a:t>
            </a:r>
            <a:endParaRPr lang="zh-CN" altLang="en-US" dirty="0">
              <a:latin typeface="微软雅黑" pitchFamily="34" charset="-122"/>
              <a:ea typeface="微软雅黑" pitchFamily="34" charset="-122"/>
            </a:endParaRPr>
          </a:p>
        </p:txBody>
      </p:sp>
      <p:sp>
        <p:nvSpPr>
          <p:cNvPr id="51" name="矩形 50">
            <a:extLst>
              <a:ext uri="{FF2B5EF4-FFF2-40B4-BE49-F238E27FC236}">
                <a16:creationId xmlns:a16="http://schemas.microsoft.com/office/drawing/2014/main" id="{9BD424BC-EBD0-14AE-D991-24353E65387C}"/>
              </a:ext>
            </a:extLst>
          </p:cNvPr>
          <p:cNvSpPr/>
          <p:nvPr/>
        </p:nvSpPr>
        <p:spPr>
          <a:xfrm>
            <a:off x="763588" y="5429250"/>
            <a:ext cx="7880350" cy="868363"/>
          </a:xfrm>
          <a:prstGeom prst="rect">
            <a:avLst/>
          </a:prstGeom>
        </p:spPr>
        <p:txBody>
          <a:bodyPr>
            <a:spAutoFit/>
          </a:bodyPr>
          <a:lstStyle/>
          <a:p>
            <a:pPr>
              <a:lnSpc>
                <a:spcPts val="3200"/>
              </a:lnSpc>
              <a:defRPr/>
            </a:pPr>
            <a:r>
              <a:rPr lang="zh-CN" altLang="en-US" sz="2000" kern="0" dirty="0">
                <a:solidFill>
                  <a:srgbClr val="000000"/>
                </a:solidFill>
                <a:latin typeface="Arial" pitchFamily="34" charset="0"/>
                <a:ea typeface="华文中宋" pitchFamily="2" charset="-122"/>
                <a:cs typeface="Arial" pitchFamily="34" charset="0"/>
              </a:rPr>
              <a:t>若这时</a:t>
            </a:r>
            <a:r>
              <a:rPr lang="en-US" altLang="zh-CN" sz="2000" kern="0" dirty="0">
                <a:solidFill>
                  <a:srgbClr val="000000"/>
                </a:solidFill>
                <a:latin typeface="Arial" pitchFamily="34" charset="0"/>
                <a:ea typeface="华文中宋" pitchFamily="2" charset="-122"/>
                <a:cs typeface="Arial" pitchFamily="34" charset="0"/>
              </a:rPr>
              <a:t>4</a:t>
            </a:r>
            <a:r>
              <a:rPr lang="zh-CN" altLang="en-US" sz="2000" kern="0" dirty="0">
                <a:solidFill>
                  <a:srgbClr val="000000"/>
                </a:solidFill>
                <a:latin typeface="Arial" pitchFamily="34" charset="0"/>
                <a:ea typeface="华文中宋" pitchFamily="2" charset="-122"/>
                <a:cs typeface="Arial" pitchFamily="34" charset="0"/>
              </a:rPr>
              <a:t>个地球站的上行信号都是一次群</a:t>
            </a:r>
            <a:r>
              <a:rPr lang="en-US" altLang="zh-CN" sz="2000" kern="0" dirty="0">
                <a:solidFill>
                  <a:srgbClr val="0000CC"/>
                </a:solidFill>
                <a:latin typeface="Arial" pitchFamily="34" charset="0"/>
                <a:ea typeface="华文中宋" pitchFamily="2" charset="-122"/>
                <a:cs typeface="Arial" pitchFamily="34" charset="0"/>
              </a:rPr>
              <a:t>E-1</a:t>
            </a:r>
            <a:r>
              <a:rPr lang="zh-CN" altLang="en-US" sz="2000" kern="0" dirty="0">
                <a:solidFill>
                  <a:srgbClr val="000000"/>
                </a:solidFill>
                <a:latin typeface="Arial" pitchFamily="34" charset="0"/>
                <a:ea typeface="华文中宋" pitchFamily="2" charset="-122"/>
                <a:cs typeface="Arial" pitchFamily="34" charset="0"/>
              </a:rPr>
              <a:t>信号，它们在卫星</a:t>
            </a:r>
            <a:r>
              <a:rPr lang="en-US" altLang="zh-CN" sz="2000" kern="0" dirty="0">
                <a:solidFill>
                  <a:srgbClr val="990099"/>
                </a:solidFill>
                <a:latin typeface="Arial" pitchFamily="34" charset="0"/>
                <a:ea typeface="华文中宋" pitchFamily="2" charset="-122"/>
                <a:cs typeface="Arial" pitchFamily="34" charset="0"/>
              </a:rPr>
              <a:t>S1</a:t>
            </a:r>
            <a:r>
              <a:rPr lang="zh-CN" altLang="en-US" sz="2000" kern="0" dirty="0">
                <a:solidFill>
                  <a:srgbClr val="000000"/>
                </a:solidFill>
                <a:latin typeface="Arial" pitchFamily="34" charset="0"/>
                <a:ea typeface="华文中宋" pitchFamily="2" charset="-122"/>
                <a:cs typeface="Arial" pitchFamily="34" charset="0"/>
              </a:rPr>
              <a:t>上接收到后，合并成二次群</a:t>
            </a:r>
            <a:r>
              <a:rPr lang="en-US" altLang="zh-CN" sz="2000" kern="0" dirty="0">
                <a:solidFill>
                  <a:srgbClr val="0000CC"/>
                </a:solidFill>
                <a:latin typeface="Arial" pitchFamily="34" charset="0"/>
                <a:ea typeface="华文中宋" pitchFamily="2" charset="-122"/>
                <a:cs typeface="Arial" pitchFamily="34" charset="0"/>
              </a:rPr>
              <a:t>E-2</a:t>
            </a:r>
            <a:r>
              <a:rPr lang="zh-CN" altLang="en-US" sz="2000" kern="0" dirty="0">
                <a:solidFill>
                  <a:srgbClr val="000000"/>
                </a:solidFill>
                <a:latin typeface="Arial" pitchFamily="34" charset="0"/>
                <a:ea typeface="华文中宋" pitchFamily="2" charset="-122"/>
                <a:cs typeface="Arial" pitchFamily="34" charset="0"/>
              </a:rPr>
              <a:t>信号，再发送给卫星</a:t>
            </a:r>
            <a:r>
              <a:rPr lang="en-US" altLang="zh-CN" sz="2000" kern="0" dirty="0">
                <a:solidFill>
                  <a:srgbClr val="990099"/>
                </a:solidFill>
                <a:latin typeface="Arial" pitchFamily="34" charset="0"/>
                <a:ea typeface="华文中宋" pitchFamily="2" charset="-122"/>
                <a:cs typeface="Arial" pitchFamily="34" charset="0"/>
              </a:rPr>
              <a:t>S2</a:t>
            </a:r>
            <a:r>
              <a:rPr lang="zh-CN" altLang="en-US" sz="2000" kern="0" dirty="0">
                <a:solidFill>
                  <a:srgbClr val="000000"/>
                </a:solidFill>
                <a:latin typeface="Arial" pitchFamily="34" charset="0"/>
                <a:ea typeface="华文中宋" pitchFamily="2" charset="-122"/>
                <a:cs typeface="Arial" pitchFamily="34" charset="0"/>
              </a:rPr>
              <a:t>。</a:t>
            </a:r>
            <a:endParaRPr lang="zh-CN" altLang="en-US" dirty="0">
              <a:ea typeface="宋体" charset="-122"/>
            </a:endParaRPr>
          </a:p>
        </p:txBody>
      </p:sp>
      <p:sp>
        <p:nvSpPr>
          <p:cNvPr id="52" name="矩形 51">
            <a:extLst>
              <a:ext uri="{FF2B5EF4-FFF2-40B4-BE49-F238E27FC236}">
                <a16:creationId xmlns:a16="http://schemas.microsoft.com/office/drawing/2014/main" id="{F3FE5AA2-DFF4-0296-01F9-A2DD1E6450B9}"/>
              </a:ext>
            </a:extLst>
          </p:cNvPr>
          <p:cNvSpPr/>
          <p:nvPr/>
        </p:nvSpPr>
        <p:spPr>
          <a:xfrm>
            <a:off x="857250" y="2071688"/>
            <a:ext cx="2143125" cy="708025"/>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a:defRPr/>
            </a:pPr>
            <a:r>
              <a:rPr lang="zh-CN" altLang="en-US" sz="2000" kern="0" dirty="0">
                <a:solidFill>
                  <a:srgbClr val="000000"/>
                </a:solidFill>
                <a:latin typeface="Arial" pitchFamily="34" charset="0"/>
                <a:ea typeface="华文中宋" pitchFamily="2" charset="-122"/>
                <a:cs typeface="Arial" pitchFamily="34" charset="0"/>
              </a:rPr>
              <a:t>仍以上面的卫星</a:t>
            </a:r>
            <a:endParaRPr lang="en-US" altLang="zh-CN" sz="2000" kern="0" dirty="0">
              <a:solidFill>
                <a:srgbClr val="000000"/>
              </a:solidFill>
              <a:latin typeface="Arial" pitchFamily="34" charset="0"/>
              <a:ea typeface="华文中宋" pitchFamily="2" charset="-122"/>
              <a:cs typeface="Arial" pitchFamily="34" charset="0"/>
            </a:endParaRPr>
          </a:p>
          <a:p>
            <a:pPr>
              <a:defRPr/>
            </a:pPr>
            <a:r>
              <a:rPr lang="zh-CN" altLang="en-US" sz="2000" kern="0" dirty="0">
                <a:solidFill>
                  <a:srgbClr val="000000"/>
                </a:solidFill>
                <a:latin typeface="Arial" pitchFamily="34" charset="0"/>
                <a:ea typeface="华文中宋" pitchFamily="2" charset="-122"/>
                <a:cs typeface="Arial" pitchFamily="34" charset="0"/>
              </a:rPr>
              <a:t>通信网为例：</a:t>
            </a:r>
            <a:endParaRPr lang="zh-CN" altLang="en-US" dirty="0">
              <a:ea typeface="宋体"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up)">
                                      <p:cBhvr>
                                        <p:cTn id="7" dur="1000"/>
                                        <p:tgtEl>
                                          <p:spTgt spid="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1000"/>
                                        <p:tgtEl>
                                          <p:spTgt spid="6"/>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50"/>
                                        </p:tgtEl>
                                        <p:attrNameLst>
                                          <p:attrName>style.visibility</p:attrName>
                                        </p:attrNameLst>
                                      </p:cBhvr>
                                      <p:to>
                                        <p:strVal val="visible"/>
                                      </p:to>
                                    </p:set>
                                    <p:animEffect transition="in" filter="wipe(up)">
                                      <p:cBhvr>
                                        <p:cTn id="16" dur="1000"/>
                                        <p:tgtEl>
                                          <p:spTgt spid="5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52"/>
                                        </p:tgtEl>
                                        <p:attrNameLst>
                                          <p:attrName>style.visibility</p:attrName>
                                        </p:attrNameLst>
                                      </p:cBhvr>
                                      <p:to>
                                        <p:strVal val="visible"/>
                                      </p:to>
                                    </p:set>
                                    <p:animEffect transition="in" filter="wipe(up)">
                                      <p:cBhvr>
                                        <p:cTn id="21" dur="1000"/>
                                        <p:tgtEl>
                                          <p:spTgt spid="52"/>
                                        </p:tgtEl>
                                      </p:cBhvr>
                                    </p:animEffect>
                                  </p:childTnLst>
                                </p:cTn>
                              </p:par>
                            </p:childTnLst>
                          </p:cTn>
                        </p:par>
                        <p:par>
                          <p:cTn id="22" fill="hold" nodeType="afterGroup">
                            <p:stCondLst>
                              <p:cond delay="1000"/>
                            </p:stCondLst>
                            <p:childTnLst>
                              <p:par>
                                <p:cTn id="23" presetID="22" presetClass="entr" presetSubtype="1" fill="hold" nodeType="after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up)">
                                      <p:cBhvr>
                                        <p:cTn id="25" dur="2000"/>
                                        <p:tgtEl>
                                          <p:spTgt spid="2"/>
                                        </p:tgtEl>
                                      </p:cBhvr>
                                    </p:animEffect>
                                  </p:childTnLst>
                                </p:cTn>
                              </p:par>
                              <p:par>
                                <p:cTn id="26" presetID="22" presetClass="entr" presetSubtype="1" fill="hold" nodeType="with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wipe(up)">
                                      <p:cBhvr>
                                        <p:cTn id="28" dur="2000"/>
                                        <p:tgtEl>
                                          <p:spTgt spid="4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nodeType="clickEffect">
                                  <p:stCondLst>
                                    <p:cond delay="0"/>
                                  </p:stCondLst>
                                  <p:childTnLst>
                                    <p:set>
                                      <p:cBhvr>
                                        <p:cTn id="32" dur="1" fill="hold">
                                          <p:stCondLst>
                                            <p:cond delay="0"/>
                                          </p:stCondLst>
                                        </p:cTn>
                                        <p:tgtEl>
                                          <p:spTgt spid="51"/>
                                        </p:tgtEl>
                                        <p:attrNameLst>
                                          <p:attrName>style.visibility</p:attrName>
                                        </p:attrNameLst>
                                      </p:cBhvr>
                                      <p:to>
                                        <p:strVal val="visible"/>
                                      </p:to>
                                    </p:set>
                                    <p:animEffect transition="in" filter="wipe(up)">
                                      <p:cBhvr>
                                        <p:cTn id="33" dur="10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2" grpId="0"/>
      <p:bldP spid="50" grpId="0"/>
      <p:bldP spid="51" grpId="0"/>
      <p:bldP spid="52"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77F9E02-A3C8-067C-310B-29C109FEFD63}"/>
              </a:ext>
            </a:extLst>
          </p:cNvPr>
          <p:cNvSpPr txBox="1">
            <a:spLocks noChangeArrowheads="1"/>
          </p:cNvSpPr>
          <p:nvPr/>
        </p:nvSpPr>
        <p:spPr bwMode="auto">
          <a:xfrm>
            <a:off x="714375" y="3714750"/>
            <a:ext cx="7786688" cy="2571750"/>
          </a:xfrm>
          <a:prstGeom prst="rect">
            <a:avLst/>
          </a:prstGeom>
          <a:solidFill>
            <a:schemeClr val="bg2">
              <a:lumMod val="10000"/>
              <a:lumOff val="90000"/>
            </a:schemeClr>
          </a:solidFill>
          <a:ln w="9525">
            <a:noFill/>
            <a:miter lim="800000"/>
            <a:headEnd/>
            <a:tailEnd/>
          </a:ln>
          <a:effectLst>
            <a:outerShdw blurRad="50800" dist="38100" dir="2700000" algn="tl" rotWithShape="0">
              <a:prstClr val="black">
                <a:alpha val="40000"/>
              </a:prstClr>
            </a:outerShdw>
          </a:effectLst>
        </p:spPr>
        <p:txBody>
          <a:bodyPr/>
          <a:lstStyle/>
          <a:p>
            <a:pPr marL="228600" indent="-228600" eaLnBrk="0" hangingPunct="0">
              <a:lnSpc>
                <a:spcPct val="150000"/>
              </a:lnSpc>
              <a:spcBef>
                <a:spcPct val="20000"/>
              </a:spcBef>
              <a:buClr>
                <a:schemeClr val="accent2"/>
              </a:buClr>
              <a:buSzPct val="55000"/>
              <a:defRPr/>
            </a:pPr>
            <a:r>
              <a:rPr lang="zh-CN" altLang="en-US" sz="2000" kern="0" dirty="0">
                <a:latin typeface="Arial" pitchFamily="34" charset="0"/>
                <a:ea typeface="华文中宋" pitchFamily="2" charset="-122"/>
                <a:cs typeface="Arial" pitchFamily="34" charset="0"/>
              </a:rPr>
              <a:t> 将</a:t>
            </a:r>
            <a:r>
              <a:rPr lang="en-US" altLang="zh-CN" sz="2000" kern="0" dirty="0">
                <a:latin typeface="Arial" pitchFamily="34" charset="0"/>
                <a:ea typeface="华文中宋" pitchFamily="2" charset="-122"/>
                <a:cs typeface="Arial" pitchFamily="34" charset="0"/>
              </a:rPr>
              <a:t>8448 kb/s</a:t>
            </a:r>
            <a:r>
              <a:rPr lang="zh-CN" altLang="en-US" sz="2000" kern="0" dirty="0">
                <a:latin typeface="Arial" pitchFamily="34" charset="0"/>
                <a:ea typeface="华文中宋" pitchFamily="2" charset="-122"/>
                <a:cs typeface="Arial" pitchFamily="34" charset="0"/>
              </a:rPr>
              <a:t>平均分配到每个</a:t>
            </a:r>
            <a:r>
              <a:rPr lang="en-US" altLang="zh-CN" sz="2000" kern="0" dirty="0">
                <a:latin typeface="Arial" pitchFamily="34" charset="0"/>
                <a:ea typeface="华文中宋" pitchFamily="2" charset="-122"/>
                <a:cs typeface="Arial" pitchFamily="34" charset="0"/>
              </a:rPr>
              <a:t>E-1</a:t>
            </a:r>
            <a:r>
              <a:rPr lang="zh-CN" altLang="en-US" sz="2000" kern="0" dirty="0">
                <a:latin typeface="Arial" pitchFamily="34" charset="0"/>
                <a:ea typeface="华文中宋" pitchFamily="2" charset="-122"/>
                <a:cs typeface="Arial" pitchFamily="34" charset="0"/>
              </a:rPr>
              <a:t>群的码元速率为</a:t>
            </a:r>
            <a:r>
              <a:rPr lang="en-US" altLang="zh-CN" sz="2000" kern="0" dirty="0">
                <a:latin typeface="Arial" pitchFamily="34" charset="0"/>
                <a:ea typeface="华文中宋" pitchFamily="2" charset="-122"/>
                <a:cs typeface="Arial" pitchFamily="34" charset="0"/>
              </a:rPr>
              <a:t>2112 kb/s</a:t>
            </a:r>
            <a:r>
              <a:rPr lang="zh-CN" altLang="en-US" sz="2000" kern="0" dirty="0">
                <a:latin typeface="Arial" pitchFamily="34" charset="0"/>
                <a:ea typeface="华文中宋" pitchFamily="2" charset="-122"/>
                <a:cs typeface="Arial" pitchFamily="34" charset="0"/>
              </a:rPr>
              <a:t>，它高于</a:t>
            </a:r>
            <a:endParaRPr lang="en-US" altLang="zh-CN" sz="2000" kern="0" dirty="0">
              <a:latin typeface="Arial" pitchFamily="34" charset="0"/>
              <a:ea typeface="华文中宋" pitchFamily="2" charset="-122"/>
              <a:cs typeface="Arial" pitchFamily="34" charset="0"/>
            </a:endParaRPr>
          </a:p>
          <a:p>
            <a:pPr marL="228600" indent="-228600" eaLnBrk="0" hangingPunct="0">
              <a:lnSpc>
                <a:spcPct val="150000"/>
              </a:lnSpc>
              <a:spcBef>
                <a:spcPct val="20000"/>
              </a:spcBef>
              <a:buClr>
                <a:schemeClr val="accent2"/>
              </a:buClr>
              <a:buSzPct val="55000"/>
              <a:defRPr/>
            </a:pPr>
            <a:r>
              <a:rPr lang="en-US" altLang="zh-CN" sz="2000" kern="0" dirty="0">
                <a:latin typeface="Arial" pitchFamily="34" charset="0"/>
                <a:ea typeface="华文中宋" pitchFamily="2" charset="-122"/>
                <a:cs typeface="Arial" pitchFamily="34" charset="0"/>
              </a:rPr>
              <a:t>2048 kb/s</a:t>
            </a:r>
            <a:r>
              <a:rPr lang="zh-CN" altLang="en-US" sz="2000" kern="0" dirty="0">
                <a:latin typeface="Arial" pitchFamily="34" charset="0"/>
                <a:ea typeface="华文中宋" pitchFamily="2" charset="-122"/>
                <a:cs typeface="Arial" pitchFamily="34" charset="0"/>
              </a:rPr>
              <a:t>。所以，尽管各地球站的时钟有误差，但是在卫星上的复</a:t>
            </a:r>
            <a:endParaRPr lang="en-US" altLang="zh-CN" sz="2000" kern="0" dirty="0">
              <a:latin typeface="Arial" pitchFamily="34" charset="0"/>
              <a:ea typeface="华文中宋" pitchFamily="2" charset="-122"/>
              <a:cs typeface="Arial" pitchFamily="34" charset="0"/>
            </a:endParaRPr>
          </a:p>
          <a:p>
            <a:pPr marL="228600" indent="-228600" eaLnBrk="0" hangingPunct="0">
              <a:lnSpc>
                <a:spcPct val="150000"/>
              </a:lnSpc>
              <a:spcBef>
                <a:spcPct val="20000"/>
              </a:spcBef>
              <a:buClr>
                <a:schemeClr val="accent2"/>
              </a:buClr>
              <a:buSzPct val="55000"/>
              <a:defRPr/>
            </a:pPr>
            <a:r>
              <a:rPr lang="zh-CN" altLang="en-US" sz="2000" kern="0" dirty="0">
                <a:latin typeface="Arial" pitchFamily="34" charset="0"/>
                <a:ea typeface="华文中宋" pitchFamily="2" charset="-122"/>
                <a:cs typeface="Arial" pitchFamily="34" charset="0"/>
              </a:rPr>
              <a:t>接设备中合路时，平均将各路输入信号的码元速率都提高到以地球</a:t>
            </a:r>
            <a:endParaRPr lang="en-US" altLang="zh-CN" sz="2000" kern="0" dirty="0">
              <a:latin typeface="Arial" pitchFamily="34" charset="0"/>
              <a:ea typeface="华文中宋" pitchFamily="2" charset="-122"/>
              <a:cs typeface="Arial" pitchFamily="34" charset="0"/>
            </a:endParaRPr>
          </a:p>
          <a:p>
            <a:pPr marL="228600" indent="-228600" eaLnBrk="0" hangingPunct="0">
              <a:lnSpc>
                <a:spcPct val="150000"/>
              </a:lnSpc>
              <a:spcBef>
                <a:spcPct val="20000"/>
              </a:spcBef>
              <a:buClr>
                <a:schemeClr val="accent2"/>
              </a:buClr>
              <a:buSzPct val="55000"/>
              <a:defRPr/>
            </a:pPr>
            <a:r>
              <a:rPr lang="zh-CN" altLang="en-US" sz="2000" kern="0" dirty="0">
                <a:latin typeface="Arial" pitchFamily="34" charset="0"/>
                <a:ea typeface="华文中宋" pitchFamily="2" charset="-122"/>
                <a:cs typeface="Arial" pitchFamily="34" charset="0"/>
              </a:rPr>
              <a:t>站时钟为准的</a:t>
            </a:r>
            <a:r>
              <a:rPr lang="en-US" altLang="zh-CN" sz="2000" kern="0" dirty="0">
                <a:latin typeface="Arial" pitchFamily="34" charset="0"/>
                <a:ea typeface="华文中宋" pitchFamily="2" charset="-122"/>
                <a:cs typeface="Arial" pitchFamily="34" charset="0"/>
              </a:rPr>
              <a:t>2112 kb/s</a:t>
            </a:r>
            <a:r>
              <a:rPr lang="zh-CN" altLang="en-US" sz="2000" kern="0" dirty="0">
                <a:latin typeface="Arial" pitchFamily="34" charset="0"/>
                <a:ea typeface="华文中宋" pitchFamily="2" charset="-122"/>
                <a:cs typeface="Arial" pitchFamily="34" charset="0"/>
              </a:rPr>
              <a:t>上，而不去管各路输入信号的码元速率存在</a:t>
            </a:r>
            <a:endParaRPr lang="en-US" altLang="zh-CN" sz="2000" kern="0" dirty="0">
              <a:latin typeface="Arial" pitchFamily="34" charset="0"/>
              <a:ea typeface="华文中宋" pitchFamily="2" charset="-122"/>
              <a:cs typeface="Arial" pitchFamily="34" charset="0"/>
            </a:endParaRPr>
          </a:p>
          <a:p>
            <a:pPr marL="228600" indent="-228600" eaLnBrk="0" hangingPunct="0">
              <a:lnSpc>
                <a:spcPct val="150000"/>
              </a:lnSpc>
              <a:spcBef>
                <a:spcPct val="20000"/>
              </a:spcBef>
              <a:buClr>
                <a:schemeClr val="accent2"/>
              </a:buClr>
              <a:buSzPct val="55000"/>
              <a:defRPr/>
            </a:pPr>
            <a:r>
              <a:rPr lang="zh-CN" altLang="en-US" sz="2000" kern="0" dirty="0">
                <a:latin typeface="Arial" pitchFamily="34" charset="0"/>
                <a:ea typeface="华文中宋" pitchFamily="2" charset="-122"/>
                <a:cs typeface="Arial" pitchFamily="34" charset="0"/>
              </a:rPr>
              <a:t>误差。</a:t>
            </a:r>
          </a:p>
        </p:txBody>
      </p:sp>
      <p:sp>
        <p:nvSpPr>
          <p:cNvPr id="11" name="矩形 10">
            <a:extLst>
              <a:ext uri="{FF2B5EF4-FFF2-40B4-BE49-F238E27FC236}">
                <a16:creationId xmlns:a16="http://schemas.microsoft.com/office/drawing/2014/main" id="{0D79EE22-20AC-7D91-CE36-86596A7D4D2F}"/>
              </a:ext>
            </a:extLst>
          </p:cNvPr>
          <p:cNvSpPr/>
          <p:nvPr/>
        </p:nvSpPr>
        <p:spPr>
          <a:xfrm>
            <a:off x="785813" y="1143000"/>
            <a:ext cx="7715250" cy="957263"/>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a:lnSpc>
                <a:spcPct val="150000"/>
              </a:lnSpc>
              <a:defRPr/>
            </a:pPr>
            <a:r>
              <a:rPr lang="zh-CN" altLang="en-US" sz="2000" kern="0" dirty="0">
                <a:solidFill>
                  <a:srgbClr val="000000"/>
                </a:solidFill>
                <a:latin typeface="Arial" pitchFamily="34" charset="0"/>
                <a:ea typeface="华文中宋" pitchFamily="2" charset="-122"/>
                <a:cs typeface="Arial" pitchFamily="34" charset="0"/>
              </a:rPr>
              <a:t>这时</a:t>
            </a:r>
            <a:r>
              <a:rPr lang="en-US" altLang="zh-CN" sz="2000" kern="0" dirty="0">
                <a:solidFill>
                  <a:srgbClr val="000000"/>
                </a:solidFill>
                <a:latin typeface="Arial" pitchFamily="34" charset="0"/>
                <a:ea typeface="华文中宋" pitchFamily="2" charset="-122"/>
                <a:cs typeface="Arial" pitchFamily="34" charset="0"/>
              </a:rPr>
              <a:t>,</a:t>
            </a:r>
            <a:r>
              <a:rPr lang="zh-CN" altLang="en-US" sz="2000" kern="0" dirty="0">
                <a:solidFill>
                  <a:srgbClr val="000000"/>
                </a:solidFill>
                <a:latin typeface="Arial" pitchFamily="34" charset="0"/>
                <a:ea typeface="华文中宋" pitchFamily="2" charset="-122"/>
                <a:cs typeface="Arial" pitchFamily="34" charset="0"/>
              </a:rPr>
              <a:t>由于</a:t>
            </a:r>
            <a:r>
              <a:rPr lang="en-US" altLang="zh-CN" sz="2000" kern="0" dirty="0">
                <a:solidFill>
                  <a:srgbClr val="000000"/>
                </a:solidFill>
                <a:latin typeface="Arial" pitchFamily="34" charset="0"/>
                <a:ea typeface="华文中宋" pitchFamily="2" charset="-122"/>
                <a:cs typeface="Arial" pitchFamily="34" charset="0"/>
              </a:rPr>
              <a:t>4</a:t>
            </a:r>
            <a:r>
              <a:rPr lang="zh-CN" altLang="en-US" sz="2000" kern="0" dirty="0">
                <a:solidFill>
                  <a:srgbClr val="000000"/>
                </a:solidFill>
                <a:latin typeface="Arial" pitchFamily="34" charset="0"/>
                <a:ea typeface="华文中宋" pitchFamily="2" charset="-122"/>
                <a:cs typeface="Arial" pitchFamily="34" charset="0"/>
              </a:rPr>
              <a:t>个地球站的时钟间存在误差，虽然其码元标称速率都是</a:t>
            </a:r>
            <a:r>
              <a:rPr lang="en-US" altLang="zh-CN" sz="2000" kern="0" dirty="0">
                <a:solidFill>
                  <a:srgbClr val="0000CC"/>
                </a:solidFill>
                <a:latin typeface="Arial" pitchFamily="34" charset="0"/>
                <a:ea typeface="华文中宋" pitchFamily="2" charset="-122"/>
                <a:cs typeface="Arial" pitchFamily="34" charset="0"/>
              </a:rPr>
              <a:t>2048 kb/s</a:t>
            </a:r>
            <a:r>
              <a:rPr lang="zh-CN" altLang="en-US" sz="2000" kern="0" dirty="0">
                <a:solidFill>
                  <a:srgbClr val="000000"/>
                </a:solidFill>
                <a:latin typeface="Arial" pitchFamily="34" charset="0"/>
                <a:ea typeface="华文中宋" pitchFamily="2" charset="-122"/>
                <a:cs typeface="Arial" pitchFamily="34" charset="0"/>
              </a:rPr>
              <a:t>，但实际速率不同。</a:t>
            </a:r>
            <a:endParaRPr lang="zh-CN" altLang="en-US" dirty="0">
              <a:ea typeface="宋体" charset="-122"/>
            </a:endParaRPr>
          </a:p>
        </p:txBody>
      </p:sp>
      <p:sp>
        <p:nvSpPr>
          <p:cNvPr id="12" name="矩形 11">
            <a:extLst>
              <a:ext uri="{FF2B5EF4-FFF2-40B4-BE49-F238E27FC236}">
                <a16:creationId xmlns:a16="http://schemas.microsoft.com/office/drawing/2014/main" id="{270AD451-BE5B-04EE-9AB2-53C8F9C1F994}"/>
              </a:ext>
            </a:extLst>
          </p:cNvPr>
          <p:cNvSpPr/>
          <p:nvPr/>
        </p:nvSpPr>
        <p:spPr>
          <a:xfrm>
            <a:off x="785813" y="2428875"/>
            <a:ext cx="7715250" cy="957263"/>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a:lnSpc>
                <a:spcPct val="150000"/>
              </a:lnSpc>
              <a:defRPr/>
            </a:pPr>
            <a:r>
              <a:rPr lang="zh-CN" altLang="en-US" sz="2000" kern="0" dirty="0">
                <a:solidFill>
                  <a:srgbClr val="000000"/>
                </a:solidFill>
                <a:latin typeface="Arial" pitchFamily="34" charset="0"/>
                <a:ea typeface="华文中宋" pitchFamily="2" charset="-122"/>
                <a:cs typeface="Arial" pitchFamily="34" charset="0"/>
              </a:rPr>
              <a:t>在</a:t>
            </a:r>
            <a:r>
              <a:rPr lang="en-US" altLang="zh-CN" sz="2000" kern="0" dirty="0">
                <a:solidFill>
                  <a:srgbClr val="990099"/>
                </a:solidFill>
                <a:latin typeface="Arial" pitchFamily="34" charset="0"/>
                <a:ea typeface="华文中宋" pitchFamily="2" charset="-122"/>
                <a:cs typeface="Arial" pitchFamily="34" charset="0"/>
              </a:rPr>
              <a:t>S1</a:t>
            </a:r>
            <a:r>
              <a:rPr lang="zh-CN" altLang="en-US" sz="2000" kern="0" dirty="0">
                <a:solidFill>
                  <a:srgbClr val="000000"/>
                </a:solidFill>
                <a:latin typeface="Arial" pitchFamily="34" charset="0"/>
                <a:ea typeface="华文中宋" pitchFamily="2" charset="-122"/>
                <a:cs typeface="Arial" pitchFamily="34" charset="0"/>
              </a:rPr>
              <a:t>上合成的</a:t>
            </a:r>
            <a:r>
              <a:rPr lang="en-US" altLang="zh-CN" sz="2000" kern="0" dirty="0">
                <a:solidFill>
                  <a:srgbClr val="0000CC"/>
                </a:solidFill>
                <a:latin typeface="Arial" pitchFamily="34" charset="0"/>
                <a:ea typeface="华文中宋" pitchFamily="2" charset="-122"/>
                <a:cs typeface="Arial" pitchFamily="34" charset="0"/>
              </a:rPr>
              <a:t>E-2</a:t>
            </a:r>
            <a:r>
              <a:rPr lang="zh-CN" altLang="en-US" sz="2000" kern="0" dirty="0">
                <a:solidFill>
                  <a:srgbClr val="000000"/>
                </a:solidFill>
                <a:latin typeface="Arial" pitchFamily="34" charset="0"/>
                <a:ea typeface="华文中宋" pitchFamily="2" charset="-122"/>
                <a:cs typeface="Arial" pitchFamily="34" charset="0"/>
              </a:rPr>
              <a:t>群码元速率为</a:t>
            </a:r>
            <a:r>
              <a:rPr lang="en-US" altLang="zh-CN" sz="2000" kern="0" dirty="0">
                <a:solidFill>
                  <a:srgbClr val="0000CC"/>
                </a:solidFill>
                <a:latin typeface="Arial" pitchFamily="34" charset="0"/>
                <a:ea typeface="华文中宋" pitchFamily="2" charset="-122"/>
                <a:cs typeface="Arial" pitchFamily="34" charset="0"/>
              </a:rPr>
              <a:t>8448 kb/s</a:t>
            </a:r>
            <a:r>
              <a:rPr lang="zh-CN" altLang="en-US" sz="2000" kern="0" dirty="0">
                <a:solidFill>
                  <a:srgbClr val="000000"/>
                </a:solidFill>
                <a:latin typeface="Arial" pitchFamily="34" charset="0"/>
                <a:ea typeface="华文中宋" pitchFamily="2" charset="-122"/>
                <a:cs typeface="Arial" pitchFamily="34" charset="0"/>
              </a:rPr>
              <a:t>，这个速率是以卫星</a:t>
            </a:r>
            <a:r>
              <a:rPr lang="en-US" altLang="zh-CN" sz="2000" kern="0" dirty="0">
                <a:solidFill>
                  <a:srgbClr val="990099"/>
                </a:solidFill>
                <a:latin typeface="Arial" pitchFamily="34" charset="0"/>
                <a:ea typeface="华文中宋" pitchFamily="2" charset="-122"/>
                <a:cs typeface="Arial" pitchFamily="34" charset="0"/>
              </a:rPr>
              <a:t>S1</a:t>
            </a:r>
            <a:r>
              <a:rPr lang="zh-CN" altLang="en-US" sz="2000" kern="0" dirty="0">
                <a:solidFill>
                  <a:srgbClr val="000000"/>
                </a:solidFill>
                <a:latin typeface="Arial" pitchFamily="34" charset="0"/>
                <a:ea typeface="华文中宋" pitchFamily="2" charset="-122"/>
                <a:cs typeface="Arial" pitchFamily="34" charset="0"/>
              </a:rPr>
              <a:t>上的复接设备时钟为准的。</a:t>
            </a:r>
            <a:endParaRPr lang="zh-CN" altLang="en-US" dirty="0">
              <a:ea typeface="宋体"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1000"/>
                                        <p:tgtEl>
                                          <p:spTgt spid="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up)">
                                      <p:cBhvr>
                                        <p:cTn id="12" dur="1000"/>
                                        <p:tgtEl>
                                          <p:spTgt spid="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wipe(up)">
                                      <p:cBhvr>
                                        <p:cTn id="17" dur="1000"/>
                                        <p:tgtEl>
                                          <p:spTgt spid="4">
                                            <p:txEl>
                                              <p:pRg st="0" end="0"/>
                                            </p:txEl>
                                          </p:spTgt>
                                        </p:tgtEl>
                                      </p:cBhvr>
                                    </p:animEffect>
                                  </p:childTnLst>
                                </p:cTn>
                              </p:par>
                            </p:childTnLst>
                          </p:cTn>
                        </p:par>
                        <p:par>
                          <p:cTn id="18" fill="hold" nodeType="afterGroup">
                            <p:stCondLst>
                              <p:cond delay="1000"/>
                            </p:stCondLst>
                            <p:childTnLst>
                              <p:par>
                                <p:cTn id="19" presetID="22" presetClass="entr" presetSubtype="1" fill="hold" nodeType="after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animEffect transition="in" filter="wipe(up)">
                                      <p:cBhvr>
                                        <p:cTn id="21" dur="1000"/>
                                        <p:tgtEl>
                                          <p:spTgt spid="4">
                                            <p:txEl>
                                              <p:pRg st="1" end="1"/>
                                            </p:txEl>
                                          </p:spTgt>
                                        </p:tgtEl>
                                      </p:cBhvr>
                                    </p:animEffect>
                                  </p:childTnLst>
                                </p:cTn>
                              </p:par>
                            </p:childTnLst>
                          </p:cTn>
                        </p:par>
                        <p:par>
                          <p:cTn id="22" fill="hold" nodeType="afterGroup">
                            <p:stCondLst>
                              <p:cond delay="2000"/>
                            </p:stCondLst>
                            <p:childTnLst>
                              <p:par>
                                <p:cTn id="23" presetID="22" presetClass="entr" presetSubtype="1" fill="hold" nodeType="after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Effect transition="in" filter="wipe(up)">
                                      <p:cBhvr>
                                        <p:cTn id="25" dur="1000"/>
                                        <p:tgtEl>
                                          <p:spTgt spid="4">
                                            <p:txEl>
                                              <p:pRg st="2" end="2"/>
                                            </p:txEl>
                                          </p:spTgt>
                                        </p:tgtEl>
                                      </p:cBhvr>
                                    </p:animEffect>
                                  </p:childTnLst>
                                </p:cTn>
                              </p:par>
                            </p:childTnLst>
                          </p:cTn>
                        </p:par>
                        <p:par>
                          <p:cTn id="26" fill="hold" nodeType="afterGroup">
                            <p:stCondLst>
                              <p:cond delay="3000"/>
                            </p:stCondLst>
                            <p:childTnLst>
                              <p:par>
                                <p:cTn id="27" presetID="22" presetClass="entr" presetSubtype="1" fill="hold" nodeType="after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Effect transition="in" filter="wipe(up)">
                                      <p:cBhvr>
                                        <p:cTn id="29" dur="1000"/>
                                        <p:tgtEl>
                                          <p:spTgt spid="4">
                                            <p:txEl>
                                              <p:pRg st="3" end="3"/>
                                            </p:txEl>
                                          </p:spTgt>
                                        </p:tgtEl>
                                      </p:cBhvr>
                                    </p:animEffect>
                                  </p:childTnLst>
                                </p:cTn>
                              </p:par>
                            </p:childTnLst>
                          </p:cTn>
                        </p:par>
                        <p:par>
                          <p:cTn id="30" fill="hold" nodeType="afterGroup">
                            <p:stCondLst>
                              <p:cond delay="4000"/>
                            </p:stCondLst>
                            <p:childTnLst>
                              <p:par>
                                <p:cTn id="31" presetID="22" presetClass="entr" presetSubtype="1" fill="hold" nodeType="after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animEffect transition="in" filter="wipe(up)">
                                      <p:cBhvr>
                                        <p:cTn id="33" dur="1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Rectangle 3">
            <a:extLst>
              <a:ext uri="{FF2B5EF4-FFF2-40B4-BE49-F238E27FC236}">
                <a16:creationId xmlns:a16="http://schemas.microsoft.com/office/drawing/2014/main" id="{8ED95D45-7E8C-7673-7303-25BF3EBD4763}"/>
              </a:ext>
            </a:extLst>
          </p:cNvPr>
          <p:cNvSpPr>
            <a:spLocks noGrp="1" noChangeArrowheads="1"/>
          </p:cNvSpPr>
          <p:nvPr>
            <p:ph type="body" idx="1"/>
          </p:nvPr>
        </p:nvSpPr>
        <p:spPr>
          <a:xfrm>
            <a:off x="857250" y="2357438"/>
            <a:ext cx="7715250" cy="1500187"/>
          </a:xfrm>
          <a:solidFill>
            <a:schemeClr val="bg2">
              <a:lumMod val="10000"/>
              <a:lumOff val="90000"/>
            </a:schemeClr>
          </a:solidFill>
        </p:spPr>
        <p:txBody>
          <a:bodyPr/>
          <a:lstStyle/>
          <a:p>
            <a:pPr>
              <a:lnSpc>
                <a:spcPts val="3200"/>
              </a:lnSpc>
              <a:buFont typeface="Wingdings" panose="05000000000000000000" pitchFamily="2" charset="2"/>
              <a:buNone/>
              <a:defRPr/>
            </a:pPr>
            <a:r>
              <a:rPr lang="zh-CN" altLang="en-US" sz="2000" dirty="0">
                <a:latin typeface="华文中宋" pitchFamily="2" charset="-122"/>
                <a:ea typeface="华文中宋" pitchFamily="2" charset="-122"/>
              </a:rPr>
              <a:t>        一个卫星通信系统，中心站在卫星上，终端站在地面。所有地</a:t>
            </a:r>
            <a:endParaRPr lang="en-US" altLang="zh-CN" sz="2000" dirty="0">
              <a:latin typeface="华文中宋" pitchFamily="2" charset="-122"/>
              <a:ea typeface="华文中宋" pitchFamily="2" charset="-122"/>
            </a:endParaRPr>
          </a:p>
          <a:p>
            <a:pPr>
              <a:lnSpc>
                <a:spcPts val="3200"/>
              </a:lnSpc>
              <a:buFont typeface="Wingdings" panose="05000000000000000000" pitchFamily="2" charset="2"/>
              <a:buNone/>
              <a:defRPr/>
            </a:pPr>
            <a:r>
              <a:rPr lang="zh-CN" altLang="en-US" sz="2000" dirty="0">
                <a:latin typeface="华文中宋" pitchFamily="2" charset="-122"/>
                <a:ea typeface="华文中宋" pitchFamily="2" charset="-122"/>
              </a:rPr>
              <a:t>面发射机的同步系统都需要预先校正信号的定时和频率，以求信号</a:t>
            </a:r>
            <a:endParaRPr lang="en-US" altLang="zh-CN" sz="2000" dirty="0">
              <a:latin typeface="华文中宋" pitchFamily="2" charset="-122"/>
              <a:ea typeface="华文中宋" pitchFamily="2" charset="-122"/>
            </a:endParaRPr>
          </a:p>
          <a:p>
            <a:pPr>
              <a:lnSpc>
                <a:spcPts val="3200"/>
              </a:lnSpc>
              <a:buFont typeface="Wingdings" panose="05000000000000000000" pitchFamily="2" charset="2"/>
              <a:buNone/>
              <a:defRPr/>
            </a:pPr>
            <a:r>
              <a:rPr lang="zh-CN" altLang="en-US" sz="2000" dirty="0">
                <a:latin typeface="华文中宋" pitchFamily="2" charset="-122"/>
                <a:ea typeface="华文中宋" pitchFamily="2" charset="-122"/>
              </a:rPr>
              <a:t>用预定的频率在预定的时间到达卫星接收机。</a:t>
            </a:r>
          </a:p>
        </p:txBody>
      </p:sp>
      <p:sp>
        <p:nvSpPr>
          <p:cNvPr id="23556" name="Rectangle 5">
            <a:extLst>
              <a:ext uri="{FF2B5EF4-FFF2-40B4-BE49-F238E27FC236}">
                <a16:creationId xmlns:a16="http://schemas.microsoft.com/office/drawing/2014/main" id="{AB40EE7D-8C0C-5C73-3183-40162013E5C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7" name="矩形 4">
            <a:extLst>
              <a:ext uri="{FF2B5EF4-FFF2-40B4-BE49-F238E27FC236}">
                <a16:creationId xmlns:a16="http://schemas.microsoft.com/office/drawing/2014/main" id="{0EFF9E48-7909-EF46-9947-BD3576CCB055}"/>
              </a:ext>
            </a:extLst>
          </p:cNvPr>
          <p:cNvSpPr>
            <a:spLocks noChangeArrowheads="1"/>
          </p:cNvSpPr>
          <p:nvPr/>
        </p:nvSpPr>
        <p:spPr bwMode="auto">
          <a:xfrm>
            <a:off x="142875" y="415925"/>
            <a:ext cx="27813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en-US" sz="3200" b="1">
                <a:solidFill>
                  <a:srgbClr val="990099"/>
                </a:solidFill>
                <a:latin typeface="Arial" panose="020B0604020202020204" pitchFamily="34" charset="0"/>
                <a:ea typeface="微软雅黑" panose="020B0503020204020204" pitchFamily="34" charset="-122"/>
                <a:cs typeface="Arial" panose="020B0604020202020204" pitchFamily="34" charset="0"/>
              </a:rPr>
              <a:t>13</a:t>
            </a:r>
            <a:r>
              <a:rPr lang="en-US" altLang="zh-CN" sz="3200" b="1">
                <a:solidFill>
                  <a:srgbClr val="990099"/>
                </a:solidFill>
                <a:latin typeface="Arial" panose="020B0604020202020204" pitchFamily="34" charset="0"/>
                <a:ea typeface="微软雅黑" panose="020B0503020204020204" pitchFamily="34" charset="-122"/>
                <a:cs typeface="Arial" panose="020B0604020202020204" pitchFamily="34" charset="0"/>
              </a:rPr>
              <a:t>.5.2</a:t>
            </a:r>
            <a:r>
              <a:rPr lang="en-US" altLang="zh-CN" sz="3200" b="1">
                <a:solidFill>
                  <a:srgbClr val="800080"/>
                </a:solidFill>
                <a:latin typeface="Arial" panose="020B0604020202020204" pitchFamily="34" charset="0"/>
                <a:ea typeface="微软雅黑" panose="020B0503020204020204" pitchFamily="34" charset="-122"/>
                <a:cs typeface="Arial" panose="020B0604020202020204" pitchFamily="34" charset="0"/>
              </a:rPr>
              <a:t>  </a:t>
            </a:r>
            <a:r>
              <a:rPr lang="zh-CN" altLang="en-US" sz="3200" b="1">
                <a:solidFill>
                  <a:srgbClr val="003399"/>
                </a:solidFill>
                <a:latin typeface="微软雅黑" panose="020B0503020204020204" pitchFamily="34" charset="-122"/>
                <a:ea typeface="微软雅黑" panose="020B0503020204020204" pitchFamily="34" charset="-122"/>
                <a:cs typeface="Arial" panose="020B0604020202020204" pitchFamily="34" charset="0"/>
              </a:rPr>
              <a:t>开环法</a:t>
            </a:r>
          </a:p>
        </p:txBody>
      </p:sp>
      <p:sp>
        <p:nvSpPr>
          <p:cNvPr id="9" name="矩形 8">
            <a:extLst>
              <a:ext uri="{FF2B5EF4-FFF2-40B4-BE49-F238E27FC236}">
                <a16:creationId xmlns:a16="http://schemas.microsoft.com/office/drawing/2014/main" id="{8C91B767-491F-9F28-083C-FCF12FB21B6C}"/>
              </a:ext>
            </a:extLst>
          </p:cNvPr>
          <p:cNvSpPr/>
          <p:nvPr/>
        </p:nvSpPr>
        <p:spPr>
          <a:xfrm>
            <a:off x="2638425" y="1214438"/>
            <a:ext cx="5219700" cy="1077912"/>
          </a:xfrm>
          <a:prstGeom prst="rect">
            <a:avLst/>
          </a:prstGeom>
        </p:spPr>
        <p:txBody>
          <a:bodyPr>
            <a:spAutoFit/>
          </a:bodyPr>
          <a:lstStyle/>
          <a:p>
            <a:pPr marL="228600" indent="-228600" eaLnBrk="0" hangingPunct="0">
              <a:lnSpc>
                <a:spcPct val="150000"/>
              </a:lnSpc>
              <a:spcBef>
                <a:spcPct val="20000"/>
              </a:spcBef>
              <a:buClr>
                <a:srgbClr val="FFCF01"/>
              </a:buClr>
              <a:buSzPct val="55000"/>
              <a:defRPr/>
            </a:pPr>
            <a:r>
              <a:rPr lang="zh-CN" altLang="en-US" sz="2000" kern="0" dirty="0">
                <a:solidFill>
                  <a:srgbClr val="000000"/>
                </a:solidFill>
                <a:latin typeface="微软雅黑" pitchFamily="34" charset="-122"/>
                <a:ea typeface="微软雅黑" pitchFamily="34" charset="-122"/>
              </a:rPr>
              <a:t>需要利用反向链路提供的信息</a:t>
            </a:r>
          </a:p>
          <a:p>
            <a:pPr marL="228600" indent="-228600" eaLnBrk="0" hangingPunct="0">
              <a:lnSpc>
                <a:spcPct val="150000"/>
              </a:lnSpc>
              <a:spcBef>
                <a:spcPct val="20000"/>
              </a:spcBef>
              <a:buClr>
                <a:srgbClr val="FFCF01"/>
              </a:buClr>
              <a:buSzPct val="55000"/>
              <a:defRPr/>
            </a:pPr>
            <a:r>
              <a:rPr lang="zh-CN" altLang="en-US" sz="2000" kern="0" dirty="0">
                <a:solidFill>
                  <a:srgbClr val="000000"/>
                </a:solidFill>
                <a:latin typeface="微软雅黑" pitchFamily="34" charset="-122"/>
                <a:ea typeface="微软雅黑" pitchFamily="34" charset="-122"/>
              </a:rPr>
              <a:t>不需要利用反向链路提供的信息</a:t>
            </a:r>
          </a:p>
        </p:txBody>
      </p:sp>
      <p:sp>
        <p:nvSpPr>
          <p:cNvPr id="10" name="AutoShape 11">
            <a:extLst>
              <a:ext uri="{FF2B5EF4-FFF2-40B4-BE49-F238E27FC236}">
                <a16:creationId xmlns:a16="http://schemas.microsoft.com/office/drawing/2014/main" id="{48266903-7FDB-CB24-718D-17AF49A3A8B2}"/>
              </a:ext>
            </a:extLst>
          </p:cNvPr>
          <p:cNvSpPr>
            <a:spLocks/>
          </p:cNvSpPr>
          <p:nvPr/>
        </p:nvSpPr>
        <p:spPr bwMode="auto">
          <a:xfrm>
            <a:off x="2424113" y="1416050"/>
            <a:ext cx="257175" cy="714375"/>
          </a:xfrm>
          <a:prstGeom prst="leftBrace">
            <a:avLst>
              <a:gd name="adj1" fmla="val 27192"/>
              <a:gd name="adj2" fmla="val 50000"/>
            </a:avLst>
          </a:prstGeom>
          <a:noFill/>
          <a:ln w="19050">
            <a:solidFill>
              <a:srgbClr val="990099"/>
            </a:solidFill>
            <a:round/>
            <a:headEnd/>
            <a:tailEnd/>
          </a:ln>
        </p:spPr>
        <p:txBody>
          <a:bodyPr/>
          <a:lstStyle/>
          <a:p>
            <a:pPr>
              <a:defRPr/>
            </a:pPr>
            <a:endParaRPr lang="zh-CN" altLang="en-US" sz="2400" dirty="0">
              <a:solidFill>
                <a:srgbClr val="FF0000"/>
              </a:solidFill>
              <a:effectLst>
                <a:outerShdw blurRad="38100" dist="38100" dir="2700000" algn="tl">
                  <a:srgbClr val="000000">
                    <a:alpha val="43137"/>
                  </a:srgbClr>
                </a:outerShdw>
              </a:effectLst>
              <a:ea typeface="宋体" charset="-122"/>
            </a:endParaRPr>
          </a:p>
        </p:txBody>
      </p:sp>
      <p:grpSp>
        <p:nvGrpSpPr>
          <p:cNvPr id="2" name="组合 57">
            <a:extLst>
              <a:ext uri="{FF2B5EF4-FFF2-40B4-BE49-F238E27FC236}">
                <a16:creationId xmlns:a16="http://schemas.microsoft.com/office/drawing/2014/main" id="{8C95BE9B-0324-01AC-D17D-9C5AD6516141}"/>
              </a:ext>
            </a:extLst>
          </p:cNvPr>
          <p:cNvGrpSpPr>
            <a:grpSpLocks/>
          </p:cNvGrpSpPr>
          <p:nvPr/>
        </p:nvGrpSpPr>
        <p:grpSpPr bwMode="auto">
          <a:xfrm>
            <a:off x="500063" y="2286000"/>
            <a:ext cx="928687" cy="571500"/>
            <a:chOff x="2500298" y="3214686"/>
            <a:chExt cx="928693" cy="571503"/>
          </a:xfrm>
        </p:grpSpPr>
        <p:sp>
          <p:nvSpPr>
            <p:cNvPr id="12" name="椭圆 11">
              <a:extLst>
                <a:ext uri="{FF2B5EF4-FFF2-40B4-BE49-F238E27FC236}">
                  <a16:creationId xmlns:a16="http://schemas.microsoft.com/office/drawing/2014/main" id="{9F204F02-6919-BE5F-5467-816594F568BC}"/>
                </a:ext>
              </a:extLst>
            </p:cNvPr>
            <p:cNvSpPr/>
            <p:nvPr/>
          </p:nvSpPr>
          <p:spPr bwMode="auto">
            <a:xfrm>
              <a:off x="2500298" y="3214686"/>
              <a:ext cx="928693" cy="571503"/>
            </a:xfrm>
            <a:prstGeom prst="ellipse">
              <a:avLst/>
            </a:prstGeom>
            <a:solidFill>
              <a:schemeClr val="bg2">
                <a:lumMod val="10000"/>
                <a:lumOff val="90000"/>
              </a:schemeClr>
            </a:solidFill>
            <a:ln w="9525" cap="flat" cmpd="sng" algn="ctr">
              <a:solidFill>
                <a:schemeClr val="tx2">
                  <a:lumMod val="60000"/>
                  <a:lumOff val="40000"/>
                </a:schemeClr>
              </a:solidFill>
              <a:prstDash val="solid"/>
              <a:miter lim="800000"/>
              <a:headEnd type="none" w="med" len="med"/>
              <a:tailEnd type="none" w="med" len="med"/>
            </a:ln>
            <a:effectLst>
              <a:outerShdw blurRad="50800" dist="38100" dir="18900000" algn="bl" rotWithShape="0">
                <a:prstClr val="black">
                  <a:alpha val="40000"/>
                </a:prstClr>
              </a:outerShdw>
            </a:effectLst>
          </p:spPr>
          <p:txBody>
            <a:bodyPr wrap="none"/>
            <a:lstStyle/>
            <a:p>
              <a:pPr>
                <a:defRPr/>
              </a:pPr>
              <a:endParaRPr lang="zh-CN" altLang="en-US" dirty="0">
                <a:ea typeface="宋体" charset="-122"/>
              </a:endParaRPr>
            </a:p>
          </p:txBody>
        </p:sp>
        <p:sp>
          <p:nvSpPr>
            <p:cNvPr id="13" name="矩形 12">
              <a:extLst>
                <a:ext uri="{FF2B5EF4-FFF2-40B4-BE49-F238E27FC236}">
                  <a16:creationId xmlns:a16="http://schemas.microsoft.com/office/drawing/2014/main" id="{2816BBC9-E679-1C4B-A95E-AB8354B22009}"/>
                </a:ext>
              </a:extLst>
            </p:cNvPr>
            <p:cNvSpPr/>
            <p:nvPr/>
          </p:nvSpPr>
          <p:spPr>
            <a:xfrm>
              <a:off x="2625711" y="3286124"/>
              <a:ext cx="696918" cy="400052"/>
            </a:xfrm>
            <a:prstGeom prst="rect">
              <a:avLst/>
            </a:prstGeom>
          </p:spPr>
          <p:txBody>
            <a:bodyPr wrap="none">
              <a:spAutoFit/>
            </a:bodyPr>
            <a:lstStyle/>
            <a:p>
              <a:pPr>
                <a:defRPr/>
              </a:pPr>
              <a:r>
                <a:rPr lang="zh-CN" altLang="en-US" sz="2000" b="1" kern="0" dirty="0">
                  <a:solidFill>
                    <a:srgbClr val="003399"/>
                  </a:solidFill>
                  <a:latin typeface="微软雅黑" pitchFamily="34" charset="-122"/>
                  <a:ea typeface="微软雅黑" pitchFamily="34" charset="-122"/>
                </a:rPr>
                <a:t>举例</a:t>
              </a:r>
              <a:endParaRPr lang="zh-CN" altLang="en-US" sz="2000" b="1" dirty="0">
                <a:ea typeface="宋体" charset="-122"/>
              </a:endParaRPr>
            </a:p>
          </p:txBody>
        </p:sp>
      </p:grpSp>
      <p:sp>
        <p:nvSpPr>
          <p:cNvPr id="14" name="矩形 13">
            <a:extLst>
              <a:ext uri="{FF2B5EF4-FFF2-40B4-BE49-F238E27FC236}">
                <a16:creationId xmlns:a16="http://schemas.microsoft.com/office/drawing/2014/main" id="{7440CEC7-5661-441C-14E5-97C0737D22F3}"/>
              </a:ext>
            </a:extLst>
          </p:cNvPr>
          <p:cNvSpPr/>
          <p:nvPr/>
        </p:nvSpPr>
        <p:spPr>
          <a:xfrm>
            <a:off x="500063" y="4000500"/>
            <a:ext cx="8215312" cy="1323975"/>
          </a:xfrm>
          <a:prstGeom prst="rect">
            <a:avLst/>
          </a:prstGeom>
        </p:spPr>
        <p:txBody>
          <a:bodyPr>
            <a:spAutoFit/>
          </a:bodyPr>
          <a:lstStyle/>
          <a:p>
            <a:pPr marL="228600" indent="-228600" eaLnBrk="0" hangingPunct="0">
              <a:lnSpc>
                <a:spcPts val="3200"/>
              </a:lnSpc>
              <a:spcBef>
                <a:spcPct val="20000"/>
              </a:spcBef>
              <a:buClr>
                <a:schemeClr val="tx1">
                  <a:lumMod val="50000"/>
                  <a:lumOff val="50000"/>
                </a:schemeClr>
              </a:buClr>
              <a:buSzPct val="70000"/>
              <a:buFont typeface="Wingdings" pitchFamily="2" charset="2"/>
              <a:buChar char="p"/>
              <a:defRPr/>
            </a:pPr>
            <a:r>
              <a:rPr lang="zh-CN" altLang="en-US" sz="2000" b="1" kern="0" dirty="0">
                <a:solidFill>
                  <a:srgbClr val="003399"/>
                </a:solidFill>
                <a:latin typeface="微软雅黑" pitchFamily="34" charset="-122"/>
                <a:ea typeface="微软雅黑" pitchFamily="34" charset="-122"/>
              </a:rPr>
              <a:t>预先校正时间</a:t>
            </a:r>
            <a:r>
              <a:rPr lang="zh-CN" altLang="en-US" sz="2000" kern="0" dirty="0">
                <a:solidFill>
                  <a:srgbClr val="000000"/>
                </a:solidFill>
                <a:latin typeface="华文中宋" pitchFamily="2" charset="-122"/>
                <a:ea typeface="华文中宋" pitchFamily="2" charset="-122"/>
              </a:rPr>
              <a:t>：发射机需要计算信号的传输时间，即用电磁波的传播速率去除发射机和接收机间的距离，并将发射时间按计算结果适当提前。这样，信号到达中心站的时间为</a:t>
            </a:r>
          </a:p>
        </p:txBody>
      </p:sp>
      <p:graphicFrame>
        <p:nvGraphicFramePr>
          <p:cNvPr id="121858" name="Object 2">
            <a:extLst>
              <a:ext uri="{FF2B5EF4-FFF2-40B4-BE49-F238E27FC236}">
                <a16:creationId xmlns:a16="http://schemas.microsoft.com/office/drawing/2014/main" id="{95D82378-CD3F-8614-CFDF-BF3578362DAC}"/>
              </a:ext>
            </a:extLst>
          </p:cNvPr>
          <p:cNvGraphicFramePr>
            <a:graphicFrameLocks noChangeAspect="1"/>
          </p:cNvGraphicFramePr>
          <p:nvPr/>
        </p:nvGraphicFramePr>
        <p:xfrm>
          <a:off x="3500438" y="5500688"/>
          <a:ext cx="1438275" cy="785812"/>
        </p:xfrm>
        <a:graphic>
          <a:graphicData uri="http://schemas.openxmlformats.org/presentationml/2006/ole">
            <mc:AlternateContent xmlns:mc="http://schemas.openxmlformats.org/markup-compatibility/2006">
              <mc:Choice xmlns:v="urn:schemas-microsoft-com:vml" Requires="v">
                <p:oleObj name="公式" r:id="rId2" imgW="710891" imgH="393529" progId="Equation.3">
                  <p:embed/>
                </p:oleObj>
              </mc:Choice>
              <mc:Fallback>
                <p:oleObj name="公式" r:id="rId2" imgW="710891" imgH="393529"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0438" y="5500688"/>
                        <a:ext cx="1438275" cy="785812"/>
                      </a:xfrm>
                      <a:prstGeom prst="rect">
                        <a:avLst/>
                      </a:prstGeom>
                      <a:noFill/>
                      <a:ln w="38100" cmpd="dbl">
                        <a:solidFill>
                          <a:srgbClr val="6666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矩形 15">
            <a:extLst>
              <a:ext uri="{FF2B5EF4-FFF2-40B4-BE49-F238E27FC236}">
                <a16:creationId xmlns:a16="http://schemas.microsoft.com/office/drawing/2014/main" id="{40D5D860-522D-4A05-9041-AD74307F734E}"/>
              </a:ext>
            </a:extLst>
          </p:cNvPr>
          <p:cNvSpPr/>
          <p:nvPr/>
        </p:nvSpPr>
        <p:spPr>
          <a:xfrm>
            <a:off x="5572125" y="5311775"/>
            <a:ext cx="2928938" cy="1046163"/>
          </a:xfrm>
          <a:prstGeom prst="rect">
            <a:avLst/>
          </a:prstGeom>
          <a:ln>
            <a:solidFill>
              <a:schemeClr val="bg2">
                <a:lumMod val="10000"/>
                <a:lumOff val="90000"/>
              </a:schemeClr>
            </a:solidFill>
          </a:ln>
          <a:effectLst>
            <a:outerShdw blurRad="50800" dist="38100" dir="2700000" algn="tl" rotWithShape="0">
              <a:prstClr val="black">
                <a:alpha val="40000"/>
              </a:prstClr>
            </a:outerShdw>
          </a:effectLst>
        </p:spPr>
        <p:txBody>
          <a:bodyPr>
            <a:spAutoFit/>
          </a:bodyPr>
          <a:lstStyle/>
          <a:p>
            <a:pPr marL="228600" indent="-228600" eaLnBrk="0" hangingPunct="0">
              <a:lnSpc>
                <a:spcPct val="90000"/>
              </a:lnSpc>
              <a:spcBef>
                <a:spcPct val="20000"/>
              </a:spcBef>
              <a:buClr>
                <a:srgbClr val="FFCF01"/>
              </a:buClr>
              <a:buSzPct val="55000"/>
              <a:defRPr/>
            </a:pPr>
            <a:r>
              <a:rPr lang="en-US" altLang="zh-CN" sz="2000" i="1" kern="0" dirty="0" err="1">
                <a:solidFill>
                  <a:srgbClr val="000000"/>
                </a:solidFill>
                <a:latin typeface="Tahoma"/>
                <a:ea typeface="宋体"/>
              </a:rPr>
              <a:t>T</a:t>
            </a:r>
            <a:r>
              <a:rPr lang="en-US" altLang="zh-CN" sz="2000" i="1" kern="0" baseline="-25000" dirty="0" err="1">
                <a:solidFill>
                  <a:srgbClr val="000000"/>
                </a:solidFill>
                <a:latin typeface="Tahoma"/>
                <a:ea typeface="宋体"/>
              </a:rPr>
              <a:t>t</a:t>
            </a:r>
            <a:r>
              <a:rPr lang="en-US" altLang="zh-CN" sz="2000" i="1" kern="0" dirty="0">
                <a:solidFill>
                  <a:srgbClr val="000000"/>
                </a:solidFill>
                <a:latin typeface="Tahoma"/>
                <a:ea typeface="宋体"/>
              </a:rPr>
              <a:t> </a:t>
            </a:r>
            <a:r>
              <a:rPr lang="zh-CN" altLang="en-US" sz="2000" kern="0" dirty="0">
                <a:solidFill>
                  <a:srgbClr val="000000"/>
                </a:solidFill>
                <a:latin typeface="Tahoma"/>
                <a:ea typeface="宋体"/>
              </a:rPr>
              <a:t>－</a:t>
            </a:r>
            <a:r>
              <a:rPr lang="zh-CN" altLang="en-US" sz="2000" i="1" kern="0" dirty="0">
                <a:solidFill>
                  <a:srgbClr val="000000"/>
                </a:solidFill>
                <a:latin typeface="Tahoma"/>
                <a:ea typeface="宋体"/>
              </a:rPr>
              <a:t> </a:t>
            </a:r>
            <a:r>
              <a:rPr lang="zh-CN" altLang="en-US" sz="2000" kern="0" dirty="0">
                <a:solidFill>
                  <a:srgbClr val="000000"/>
                </a:solidFill>
                <a:latin typeface="Tahoma"/>
                <a:ea typeface="宋体"/>
              </a:rPr>
              <a:t>实际发送开始时间</a:t>
            </a:r>
          </a:p>
          <a:p>
            <a:pPr marL="228600" indent="-228600" eaLnBrk="0" hangingPunct="0">
              <a:lnSpc>
                <a:spcPct val="90000"/>
              </a:lnSpc>
              <a:spcBef>
                <a:spcPct val="20000"/>
              </a:spcBef>
              <a:buClr>
                <a:srgbClr val="FFCF01"/>
              </a:buClr>
              <a:buSzPct val="55000"/>
              <a:defRPr/>
            </a:pPr>
            <a:r>
              <a:rPr lang="zh-CN" altLang="en-US" sz="2000" kern="0" dirty="0">
                <a:solidFill>
                  <a:srgbClr val="000000"/>
                </a:solidFill>
                <a:latin typeface="Tahoma"/>
                <a:ea typeface="宋体"/>
              </a:rPr>
              <a:t>   </a:t>
            </a:r>
            <a:r>
              <a:rPr lang="en-US" altLang="zh-CN" sz="2000" i="1" kern="0" dirty="0">
                <a:solidFill>
                  <a:srgbClr val="000000"/>
                </a:solidFill>
                <a:latin typeface="Tahoma"/>
                <a:ea typeface="宋体"/>
              </a:rPr>
              <a:t>d</a:t>
            </a:r>
            <a:r>
              <a:rPr lang="en-US" altLang="zh-CN" sz="2000" kern="0" dirty="0">
                <a:solidFill>
                  <a:srgbClr val="000000"/>
                </a:solidFill>
                <a:latin typeface="Tahoma"/>
                <a:ea typeface="宋体"/>
              </a:rPr>
              <a:t> </a:t>
            </a:r>
            <a:r>
              <a:rPr lang="zh-CN" altLang="en-US" sz="2000" kern="0" dirty="0">
                <a:solidFill>
                  <a:srgbClr val="000000"/>
                </a:solidFill>
                <a:latin typeface="Tahoma"/>
                <a:ea typeface="宋体"/>
              </a:rPr>
              <a:t>－ 传输距离</a:t>
            </a:r>
            <a:endParaRPr lang="en-US" altLang="zh-CN" sz="2000" kern="0" dirty="0">
              <a:solidFill>
                <a:srgbClr val="000000"/>
              </a:solidFill>
              <a:latin typeface="Tahoma"/>
              <a:ea typeface="宋体"/>
            </a:endParaRPr>
          </a:p>
          <a:p>
            <a:pPr marL="228600" indent="-228600" eaLnBrk="0" hangingPunct="0">
              <a:lnSpc>
                <a:spcPct val="90000"/>
              </a:lnSpc>
              <a:spcBef>
                <a:spcPct val="20000"/>
              </a:spcBef>
              <a:buClr>
                <a:srgbClr val="FFCF01"/>
              </a:buClr>
              <a:buSzPct val="55000"/>
              <a:defRPr/>
            </a:pPr>
            <a:r>
              <a:rPr lang="en-US" altLang="zh-CN" sz="2000" i="1" kern="0" dirty="0">
                <a:solidFill>
                  <a:srgbClr val="000000"/>
                </a:solidFill>
                <a:latin typeface="Tahoma"/>
                <a:ea typeface="宋体"/>
              </a:rPr>
              <a:t>     c</a:t>
            </a:r>
            <a:r>
              <a:rPr lang="en-US" altLang="zh-CN" sz="2000" kern="0" dirty="0">
                <a:solidFill>
                  <a:srgbClr val="000000"/>
                </a:solidFill>
                <a:latin typeface="Tahoma"/>
                <a:ea typeface="宋体"/>
              </a:rPr>
              <a:t>  </a:t>
            </a:r>
            <a:r>
              <a:rPr lang="zh-CN" altLang="en-US" sz="2000" kern="0" dirty="0">
                <a:solidFill>
                  <a:srgbClr val="000000"/>
                </a:solidFill>
                <a:latin typeface="Tahoma"/>
                <a:ea typeface="宋体"/>
              </a:rPr>
              <a:t>－ 光速</a:t>
            </a:r>
          </a:p>
        </p:txBody>
      </p:sp>
      <p:sp>
        <p:nvSpPr>
          <p:cNvPr id="15" name="Text Box 36">
            <a:extLst>
              <a:ext uri="{FF2B5EF4-FFF2-40B4-BE49-F238E27FC236}">
                <a16:creationId xmlns:a16="http://schemas.microsoft.com/office/drawing/2014/main" id="{62EA8BCC-EB69-1CF0-20EF-122293FBA556}"/>
              </a:ext>
            </a:extLst>
          </p:cNvPr>
          <p:cNvSpPr txBox="1">
            <a:spLocks noChangeArrowheads="1"/>
          </p:cNvSpPr>
          <p:nvPr/>
        </p:nvSpPr>
        <p:spPr bwMode="gray">
          <a:xfrm>
            <a:off x="7500938" y="438150"/>
            <a:ext cx="1000125" cy="490538"/>
          </a:xfrm>
          <a:prstGeom prst="rect">
            <a:avLst/>
          </a:prstGeom>
          <a:noFill/>
          <a:ln w="9525">
            <a:noFill/>
            <a:miter lim="800000"/>
            <a:headEnd/>
            <a:tailEnd/>
          </a:ln>
          <a:effectLst>
            <a:outerShdw blurRad="50800" dist="38100" dir="2700000" algn="tl" rotWithShape="0">
              <a:prstClr val="black">
                <a:alpha val="40000"/>
              </a:prstClr>
            </a:outerShdw>
          </a:effectLst>
        </p:spPr>
        <p:txBody>
          <a:bodyPr>
            <a:spAutoFit/>
          </a:bodyPr>
          <a:lstStyle/>
          <a:p>
            <a:pPr>
              <a:lnSpc>
                <a:spcPts val="3100"/>
              </a:lnSpc>
              <a:buClr>
                <a:srgbClr val="969696"/>
              </a:buClr>
              <a:buSzPct val="65000"/>
              <a:defRPr/>
            </a:pPr>
            <a:r>
              <a:rPr lang="zh-CN" altLang="en-US" sz="200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rPr>
              <a:t>网同步</a:t>
            </a:r>
            <a:endParaRPr lang="en-US" altLang="zh-CN" sz="2000" dirty="0">
              <a:solidFill>
                <a:schemeClr val="tx1">
                  <a:lumMod val="65000"/>
                  <a:lumOff val="35000"/>
                </a:schemeClr>
              </a:solidFill>
              <a:effectLst>
                <a:outerShdw blurRad="38100" dist="38100" dir="2700000" algn="tl">
                  <a:srgbClr val="000000">
                    <a:alpha val="43137"/>
                  </a:srgbClr>
                </a:outerShdw>
              </a:effectLst>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up)">
                                      <p:cBhvr>
                                        <p:cTn id="12" dur="1000"/>
                                        <p:tgtEl>
                                          <p:spTgt spid="10"/>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up)">
                                      <p:cBhvr>
                                        <p:cTn id="16" dur="1000"/>
                                        <p:tgtEl>
                                          <p:spTgt spid="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1000"/>
                                        <p:tgtEl>
                                          <p:spTgt spid="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105475">
                                            <p:bg/>
                                          </p:spTgt>
                                        </p:tgtEl>
                                        <p:attrNameLst>
                                          <p:attrName>style.visibility</p:attrName>
                                        </p:attrNameLst>
                                      </p:cBhvr>
                                      <p:to>
                                        <p:strVal val="visible"/>
                                      </p:to>
                                    </p:set>
                                    <p:animEffect transition="in" filter="wipe(up)">
                                      <p:cBhvr>
                                        <p:cTn id="26" dur="1000"/>
                                        <p:tgtEl>
                                          <p:spTgt spid="105475">
                                            <p:bg/>
                                          </p:spTgt>
                                        </p:tgtEl>
                                      </p:cBhvr>
                                    </p:animEffect>
                                  </p:childTnLst>
                                </p:cTn>
                              </p:par>
                            </p:childTnLst>
                          </p:cTn>
                        </p:par>
                        <p:par>
                          <p:cTn id="27" fill="hold" nodeType="afterGroup">
                            <p:stCondLst>
                              <p:cond delay="1000"/>
                            </p:stCondLst>
                            <p:childTnLst>
                              <p:par>
                                <p:cTn id="28" presetID="22" presetClass="entr" presetSubtype="1" fill="hold" nodeType="afterEffect">
                                  <p:stCondLst>
                                    <p:cond delay="0"/>
                                  </p:stCondLst>
                                  <p:childTnLst>
                                    <p:set>
                                      <p:cBhvr>
                                        <p:cTn id="29" dur="1" fill="hold">
                                          <p:stCondLst>
                                            <p:cond delay="0"/>
                                          </p:stCondLst>
                                        </p:cTn>
                                        <p:tgtEl>
                                          <p:spTgt spid="105475">
                                            <p:txEl>
                                              <p:pRg st="0" end="0"/>
                                            </p:txEl>
                                          </p:spTgt>
                                        </p:tgtEl>
                                        <p:attrNameLst>
                                          <p:attrName>style.visibility</p:attrName>
                                        </p:attrNameLst>
                                      </p:cBhvr>
                                      <p:to>
                                        <p:strVal val="visible"/>
                                      </p:to>
                                    </p:set>
                                    <p:animEffect transition="in" filter="wipe(up)">
                                      <p:cBhvr>
                                        <p:cTn id="30" dur="1000"/>
                                        <p:tgtEl>
                                          <p:spTgt spid="105475">
                                            <p:txEl>
                                              <p:pRg st="0" end="0"/>
                                            </p:txEl>
                                          </p:spTgt>
                                        </p:tgtEl>
                                      </p:cBhvr>
                                    </p:animEffect>
                                  </p:childTnLst>
                                </p:cTn>
                              </p:par>
                            </p:childTnLst>
                          </p:cTn>
                        </p:par>
                        <p:par>
                          <p:cTn id="31" fill="hold" nodeType="afterGroup">
                            <p:stCondLst>
                              <p:cond delay="2000"/>
                            </p:stCondLst>
                            <p:childTnLst>
                              <p:par>
                                <p:cTn id="32" presetID="22" presetClass="entr" presetSubtype="1" fill="hold" nodeType="afterEffect">
                                  <p:stCondLst>
                                    <p:cond delay="0"/>
                                  </p:stCondLst>
                                  <p:childTnLst>
                                    <p:set>
                                      <p:cBhvr>
                                        <p:cTn id="33" dur="1" fill="hold">
                                          <p:stCondLst>
                                            <p:cond delay="0"/>
                                          </p:stCondLst>
                                        </p:cTn>
                                        <p:tgtEl>
                                          <p:spTgt spid="105475">
                                            <p:txEl>
                                              <p:pRg st="1" end="1"/>
                                            </p:txEl>
                                          </p:spTgt>
                                        </p:tgtEl>
                                        <p:attrNameLst>
                                          <p:attrName>style.visibility</p:attrName>
                                        </p:attrNameLst>
                                      </p:cBhvr>
                                      <p:to>
                                        <p:strVal val="visible"/>
                                      </p:to>
                                    </p:set>
                                    <p:animEffect transition="in" filter="wipe(up)">
                                      <p:cBhvr>
                                        <p:cTn id="34" dur="1000"/>
                                        <p:tgtEl>
                                          <p:spTgt spid="105475">
                                            <p:txEl>
                                              <p:pRg st="1" end="1"/>
                                            </p:txEl>
                                          </p:spTgt>
                                        </p:tgtEl>
                                      </p:cBhvr>
                                    </p:animEffect>
                                  </p:childTnLst>
                                </p:cTn>
                              </p:par>
                            </p:childTnLst>
                          </p:cTn>
                        </p:par>
                        <p:par>
                          <p:cTn id="35" fill="hold" nodeType="afterGroup">
                            <p:stCondLst>
                              <p:cond delay="3000"/>
                            </p:stCondLst>
                            <p:childTnLst>
                              <p:par>
                                <p:cTn id="36" presetID="22" presetClass="entr" presetSubtype="1" fill="hold" nodeType="afterEffect">
                                  <p:stCondLst>
                                    <p:cond delay="0"/>
                                  </p:stCondLst>
                                  <p:childTnLst>
                                    <p:set>
                                      <p:cBhvr>
                                        <p:cTn id="37" dur="1" fill="hold">
                                          <p:stCondLst>
                                            <p:cond delay="0"/>
                                          </p:stCondLst>
                                        </p:cTn>
                                        <p:tgtEl>
                                          <p:spTgt spid="105475">
                                            <p:txEl>
                                              <p:pRg st="2" end="2"/>
                                            </p:txEl>
                                          </p:spTgt>
                                        </p:tgtEl>
                                        <p:attrNameLst>
                                          <p:attrName>style.visibility</p:attrName>
                                        </p:attrNameLst>
                                      </p:cBhvr>
                                      <p:to>
                                        <p:strVal val="visible"/>
                                      </p:to>
                                    </p:set>
                                    <p:animEffect transition="in" filter="wipe(up)">
                                      <p:cBhvr>
                                        <p:cTn id="38" dur="1000"/>
                                        <p:tgtEl>
                                          <p:spTgt spid="105475">
                                            <p:txEl>
                                              <p:pRg st="2" end="2"/>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up)">
                                      <p:cBhvr>
                                        <p:cTn id="43" dur="1000"/>
                                        <p:tgtEl>
                                          <p:spTgt spid="1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1" fill="hold" nodeType="clickEffect">
                                  <p:stCondLst>
                                    <p:cond delay="0"/>
                                  </p:stCondLst>
                                  <p:childTnLst>
                                    <p:set>
                                      <p:cBhvr>
                                        <p:cTn id="47" dur="1" fill="hold">
                                          <p:stCondLst>
                                            <p:cond delay="0"/>
                                          </p:stCondLst>
                                        </p:cTn>
                                        <p:tgtEl>
                                          <p:spTgt spid="121858"/>
                                        </p:tgtEl>
                                        <p:attrNameLst>
                                          <p:attrName>style.visibility</p:attrName>
                                        </p:attrNameLst>
                                      </p:cBhvr>
                                      <p:to>
                                        <p:strVal val="visible"/>
                                      </p:to>
                                    </p:set>
                                    <p:animEffect transition="in" filter="wipe(up)">
                                      <p:cBhvr>
                                        <p:cTn id="48" dur="2000"/>
                                        <p:tgtEl>
                                          <p:spTgt spid="121858"/>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wipe(left)">
                                      <p:cBhvr>
                                        <p:cTn id="53"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5" grpId="0" build="p" animBg="1"/>
      <p:bldP spid="7" grpId="0"/>
      <p:bldP spid="9" grpId="0"/>
      <p:bldP spid="10" grpId="0" animBg="1"/>
      <p:bldP spid="14" grpId="0"/>
      <p:bldP spid="16"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Rectangle 3">
            <a:extLst>
              <a:ext uri="{FF2B5EF4-FFF2-40B4-BE49-F238E27FC236}">
                <a16:creationId xmlns:a16="http://schemas.microsoft.com/office/drawing/2014/main" id="{4681721A-F95C-4C94-778D-3BC145FD0935}"/>
              </a:ext>
            </a:extLst>
          </p:cNvPr>
          <p:cNvSpPr>
            <a:spLocks noGrp="1" noChangeArrowheads="1"/>
          </p:cNvSpPr>
          <p:nvPr>
            <p:ph type="body" idx="1"/>
          </p:nvPr>
        </p:nvSpPr>
        <p:spPr>
          <a:xfrm>
            <a:off x="785813" y="1071563"/>
            <a:ext cx="7786687" cy="1490662"/>
          </a:xfrm>
        </p:spPr>
        <p:txBody>
          <a:bodyPr/>
          <a:lstStyle/>
          <a:p>
            <a:pPr>
              <a:lnSpc>
                <a:spcPts val="3200"/>
              </a:lnSpc>
              <a:buClr>
                <a:schemeClr val="bg1">
                  <a:lumMod val="50000"/>
                </a:schemeClr>
              </a:buClr>
              <a:buSzPct val="70000"/>
              <a:buFont typeface="Wingdings" panose="05000000000000000000" pitchFamily="2" charset="2"/>
              <a:buChar char="p"/>
              <a:defRPr/>
            </a:pPr>
            <a:r>
              <a:rPr lang="zh-CN" altLang="en-US" sz="2000" dirty="0">
                <a:solidFill>
                  <a:srgbClr val="003399"/>
                </a:solidFill>
                <a:latin typeface="微软雅黑" pitchFamily="34" charset="-122"/>
                <a:ea typeface="微软雅黑" pitchFamily="34" charset="-122"/>
              </a:rPr>
              <a:t>预先校正发送频率</a:t>
            </a:r>
            <a:r>
              <a:rPr lang="zh-CN" altLang="en-US" sz="2000" dirty="0">
                <a:latin typeface="华文中宋" pitchFamily="2" charset="-122"/>
                <a:ea typeface="华文中宋" pitchFamily="2" charset="-122"/>
              </a:rPr>
              <a:t>：发射机需要考虑由于地面发射机和卫星接收机间相对运动产生的多谱勒频移。为了能够正确接收，发送频率应该等于</a:t>
            </a:r>
          </a:p>
          <a:p>
            <a:pPr>
              <a:lnSpc>
                <a:spcPts val="3200"/>
              </a:lnSpc>
              <a:buFont typeface="Wingdings" panose="05000000000000000000" pitchFamily="2" charset="2"/>
              <a:buNone/>
              <a:defRPr/>
            </a:pPr>
            <a:r>
              <a:rPr lang="zh-CN" altLang="en-US" sz="2000" dirty="0">
                <a:latin typeface="华文中宋" pitchFamily="2" charset="-122"/>
                <a:ea typeface="华文中宋" pitchFamily="2" charset="-122"/>
              </a:rPr>
              <a:t>	</a:t>
            </a:r>
          </a:p>
        </p:txBody>
      </p:sp>
      <p:sp>
        <p:nvSpPr>
          <p:cNvPr id="24581" name="Rectangle 6">
            <a:extLst>
              <a:ext uri="{FF2B5EF4-FFF2-40B4-BE49-F238E27FC236}">
                <a16:creationId xmlns:a16="http://schemas.microsoft.com/office/drawing/2014/main" id="{ECE7A93B-573C-50E1-F9E7-8819CEA83A51}"/>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aphicFrame>
        <p:nvGraphicFramePr>
          <p:cNvPr id="106501" name="Object 3">
            <a:extLst>
              <a:ext uri="{FF2B5EF4-FFF2-40B4-BE49-F238E27FC236}">
                <a16:creationId xmlns:a16="http://schemas.microsoft.com/office/drawing/2014/main" id="{7BA26365-DB25-A2AE-C399-A852900CC1A5}"/>
              </a:ext>
            </a:extLst>
          </p:cNvPr>
          <p:cNvGraphicFramePr>
            <a:graphicFrameLocks noChangeAspect="1"/>
          </p:cNvGraphicFramePr>
          <p:nvPr/>
        </p:nvGraphicFramePr>
        <p:xfrm>
          <a:off x="3786188" y="2357438"/>
          <a:ext cx="1785937" cy="795337"/>
        </p:xfrm>
        <a:graphic>
          <a:graphicData uri="http://schemas.openxmlformats.org/presentationml/2006/ole">
            <mc:AlternateContent xmlns:mc="http://schemas.openxmlformats.org/markup-compatibility/2006">
              <mc:Choice xmlns:v="urn:schemas-microsoft-com:vml" Requires="v">
                <p:oleObj name="公式" r:id="rId2" imgW="888614" imgH="431613" progId="Equation.3">
                  <p:embed/>
                </p:oleObj>
              </mc:Choice>
              <mc:Fallback>
                <p:oleObj name="公式" r:id="rId2" imgW="888614" imgH="431613"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6188" y="2357438"/>
                        <a:ext cx="1785937" cy="795337"/>
                      </a:xfrm>
                      <a:prstGeom prst="rect">
                        <a:avLst/>
                      </a:prstGeom>
                      <a:noFill/>
                      <a:ln w="38100" cmpd="dbl">
                        <a:solidFill>
                          <a:srgbClr val="6666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矩形 10">
            <a:extLst>
              <a:ext uri="{FF2B5EF4-FFF2-40B4-BE49-F238E27FC236}">
                <a16:creationId xmlns:a16="http://schemas.microsoft.com/office/drawing/2014/main" id="{B124A4AE-65BF-3958-1FA1-02711FB004FB}"/>
              </a:ext>
            </a:extLst>
          </p:cNvPr>
          <p:cNvSpPr/>
          <p:nvPr/>
        </p:nvSpPr>
        <p:spPr>
          <a:xfrm>
            <a:off x="1143000" y="3286125"/>
            <a:ext cx="5643563" cy="933450"/>
          </a:xfrm>
          <a:prstGeom prst="rect">
            <a:avLst/>
          </a:prstGeom>
        </p:spPr>
        <p:txBody>
          <a:bodyPr>
            <a:spAutoFit/>
          </a:bodyPr>
          <a:lstStyle/>
          <a:p>
            <a:pPr marL="342900" indent="-342900" eaLnBrk="0" hangingPunct="0">
              <a:lnSpc>
                <a:spcPts val="3200"/>
              </a:lnSpc>
              <a:spcBef>
                <a:spcPct val="20000"/>
              </a:spcBef>
              <a:buClr>
                <a:srgbClr val="3333CC"/>
              </a:buClr>
              <a:buSzPct val="60000"/>
              <a:defRPr/>
            </a:pPr>
            <a:r>
              <a:rPr lang="zh-CN" altLang="en-US" sz="2000" kern="0" dirty="0">
                <a:solidFill>
                  <a:srgbClr val="000000"/>
                </a:solidFill>
                <a:latin typeface="华文中宋" pitchFamily="2" charset="-122"/>
                <a:ea typeface="华文中宋" pitchFamily="2" charset="-122"/>
              </a:rPr>
              <a:t>式中，</a:t>
            </a:r>
            <a:r>
              <a:rPr lang="en-US" altLang="zh-CN" sz="2000" i="1" kern="0" dirty="0">
                <a:solidFill>
                  <a:srgbClr val="000000"/>
                </a:solidFill>
                <a:latin typeface="华文中宋" pitchFamily="2" charset="-122"/>
                <a:ea typeface="华文中宋" pitchFamily="2" charset="-122"/>
              </a:rPr>
              <a:t>V</a:t>
            </a:r>
            <a:r>
              <a:rPr lang="en-US" altLang="zh-CN" sz="2000" kern="0" dirty="0">
                <a:solidFill>
                  <a:srgbClr val="000000"/>
                </a:solidFill>
                <a:latin typeface="华文中宋" pitchFamily="2" charset="-122"/>
                <a:ea typeface="华文中宋" pitchFamily="2" charset="-122"/>
              </a:rPr>
              <a:t> </a:t>
            </a:r>
            <a:r>
              <a:rPr lang="zh-CN" altLang="en-US" sz="2000" kern="0" dirty="0">
                <a:solidFill>
                  <a:srgbClr val="000000"/>
                </a:solidFill>
                <a:latin typeface="华文中宋" pitchFamily="2" charset="-122"/>
                <a:ea typeface="华文中宋" pitchFamily="2" charset="-122"/>
              </a:rPr>
              <a:t>－ 相对速度（距离缩短时为正）；</a:t>
            </a:r>
          </a:p>
          <a:p>
            <a:pPr marL="342900" indent="-342900" eaLnBrk="0" hangingPunct="0">
              <a:lnSpc>
                <a:spcPts val="3200"/>
              </a:lnSpc>
              <a:spcBef>
                <a:spcPct val="20000"/>
              </a:spcBef>
              <a:buClr>
                <a:srgbClr val="3333CC"/>
              </a:buClr>
              <a:buSzPct val="60000"/>
              <a:defRPr/>
            </a:pPr>
            <a:r>
              <a:rPr lang="en-US" altLang="zh-CN" sz="2000" i="1" kern="0" dirty="0">
                <a:solidFill>
                  <a:srgbClr val="000000"/>
                </a:solidFill>
                <a:latin typeface="华文中宋" pitchFamily="2" charset="-122"/>
                <a:ea typeface="华文中宋" pitchFamily="2" charset="-122"/>
              </a:rPr>
              <a:t>          f</a:t>
            </a:r>
            <a:r>
              <a:rPr lang="en-US" altLang="zh-CN" sz="2000" i="1" kern="0" baseline="-25000" dirty="0">
                <a:solidFill>
                  <a:srgbClr val="000000"/>
                </a:solidFill>
                <a:latin typeface="华文中宋" pitchFamily="2" charset="-122"/>
                <a:ea typeface="华文中宋" pitchFamily="2" charset="-122"/>
              </a:rPr>
              <a:t>0</a:t>
            </a:r>
            <a:r>
              <a:rPr lang="en-US" altLang="zh-CN" sz="2000" kern="0" dirty="0">
                <a:solidFill>
                  <a:srgbClr val="000000"/>
                </a:solidFill>
                <a:latin typeface="华文中宋" pitchFamily="2" charset="-122"/>
                <a:ea typeface="华文中宋" pitchFamily="2" charset="-122"/>
              </a:rPr>
              <a:t>  </a:t>
            </a:r>
            <a:r>
              <a:rPr lang="zh-CN" altLang="en-US" sz="2000" kern="0" dirty="0">
                <a:solidFill>
                  <a:srgbClr val="000000"/>
                </a:solidFill>
                <a:latin typeface="华文中宋" pitchFamily="2" charset="-122"/>
                <a:ea typeface="华文中宋" pitchFamily="2" charset="-122"/>
              </a:rPr>
              <a:t>－ 标称发射频率。</a:t>
            </a:r>
          </a:p>
        </p:txBody>
      </p:sp>
      <p:sp>
        <p:nvSpPr>
          <p:cNvPr id="13" name="Rectangle 3">
            <a:extLst>
              <a:ext uri="{FF2B5EF4-FFF2-40B4-BE49-F238E27FC236}">
                <a16:creationId xmlns:a16="http://schemas.microsoft.com/office/drawing/2014/main" id="{F3158692-50FC-CF7D-1DC0-94BD9508ABA4}"/>
              </a:ext>
            </a:extLst>
          </p:cNvPr>
          <p:cNvSpPr txBox="1">
            <a:spLocks noChangeArrowheads="1"/>
          </p:cNvSpPr>
          <p:nvPr/>
        </p:nvSpPr>
        <p:spPr bwMode="auto">
          <a:xfrm>
            <a:off x="785813" y="4429125"/>
            <a:ext cx="2857500" cy="500063"/>
          </a:xfrm>
          <a:prstGeom prst="rect">
            <a:avLst/>
          </a:prstGeom>
          <a:noFill/>
          <a:ln w="9525">
            <a:noFill/>
            <a:miter lim="800000"/>
            <a:headEnd/>
            <a:tailEnd/>
          </a:ln>
        </p:spPr>
        <p:txBody>
          <a:bodyPr/>
          <a:lstStyle/>
          <a:p>
            <a:pPr marL="342900" indent="-342900" eaLnBrk="0" hangingPunct="0">
              <a:lnSpc>
                <a:spcPts val="3200"/>
              </a:lnSpc>
              <a:spcBef>
                <a:spcPct val="20000"/>
              </a:spcBef>
              <a:buClr>
                <a:schemeClr val="bg1">
                  <a:lumMod val="50000"/>
                </a:schemeClr>
              </a:buClr>
              <a:buSzPct val="70000"/>
              <a:buFont typeface="Wingdings" pitchFamily="2" charset="2"/>
              <a:buChar char="p"/>
              <a:defRPr/>
            </a:pPr>
            <a:r>
              <a:rPr lang="zh-CN" altLang="en-US" sz="2000" b="1" dirty="0">
                <a:solidFill>
                  <a:srgbClr val="003399"/>
                </a:solidFill>
                <a:latin typeface="微软雅黑" pitchFamily="34" charset="-122"/>
                <a:ea typeface="微软雅黑" pitchFamily="34" charset="-122"/>
              </a:rPr>
              <a:t>时间预测的误差</a:t>
            </a:r>
            <a:r>
              <a:rPr lang="zh-CN" altLang="en-US" sz="2000" dirty="0">
                <a:solidFill>
                  <a:srgbClr val="003399"/>
                </a:solidFill>
                <a:latin typeface="微软雅黑" pitchFamily="34" charset="-122"/>
                <a:ea typeface="微软雅黑" pitchFamily="34" charset="-122"/>
              </a:rPr>
              <a:t>：</a:t>
            </a:r>
            <a:endParaRPr lang="zh-CN" altLang="en-US" sz="2000" kern="0" dirty="0">
              <a:latin typeface="华文中宋" pitchFamily="2" charset="-122"/>
              <a:ea typeface="华文中宋" pitchFamily="2" charset="-122"/>
            </a:endParaRPr>
          </a:p>
        </p:txBody>
      </p:sp>
      <p:graphicFrame>
        <p:nvGraphicFramePr>
          <p:cNvPr id="117764" name="Object 4">
            <a:extLst>
              <a:ext uri="{FF2B5EF4-FFF2-40B4-BE49-F238E27FC236}">
                <a16:creationId xmlns:a16="http://schemas.microsoft.com/office/drawing/2014/main" id="{5C0D1FE9-6160-0683-4950-89EABB21C995}"/>
              </a:ext>
            </a:extLst>
          </p:cNvPr>
          <p:cNvGraphicFramePr>
            <a:graphicFrameLocks noChangeAspect="1"/>
          </p:cNvGraphicFramePr>
          <p:nvPr/>
        </p:nvGraphicFramePr>
        <p:xfrm>
          <a:off x="3890963" y="4643438"/>
          <a:ext cx="1466850" cy="781050"/>
        </p:xfrm>
        <a:graphic>
          <a:graphicData uri="http://schemas.openxmlformats.org/presentationml/2006/ole">
            <mc:AlternateContent xmlns:mc="http://schemas.openxmlformats.org/markup-compatibility/2006">
              <mc:Choice xmlns:v="urn:schemas-microsoft-com:vml" Requires="v">
                <p:oleObj name="公式" r:id="rId4" imgW="736280" imgH="393529" progId="Equation.3">
                  <p:embed/>
                </p:oleObj>
              </mc:Choice>
              <mc:Fallback>
                <p:oleObj name="公式" r:id="rId4" imgW="736280" imgH="393529"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90963" y="4643438"/>
                        <a:ext cx="1466850" cy="781050"/>
                      </a:xfrm>
                      <a:prstGeom prst="rect">
                        <a:avLst/>
                      </a:prstGeom>
                      <a:noFill/>
                      <a:ln w="38100" cmpd="dbl">
                        <a:solidFill>
                          <a:srgbClr val="6666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992" name="矩形 14">
            <a:extLst>
              <a:ext uri="{FF2B5EF4-FFF2-40B4-BE49-F238E27FC236}">
                <a16:creationId xmlns:a16="http://schemas.microsoft.com/office/drawing/2014/main" id="{51551DA4-371B-A7C9-7E14-DBB0580C0FF3}"/>
              </a:ext>
            </a:extLst>
          </p:cNvPr>
          <p:cNvSpPr>
            <a:spLocks noChangeArrowheads="1"/>
          </p:cNvSpPr>
          <p:nvPr/>
        </p:nvSpPr>
        <p:spPr bwMode="auto">
          <a:xfrm>
            <a:off x="1071563" y="5572125"/>
            <a:ext cx="7072312"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ts val="3500"/>
              </a:lnSpc>
              <a:buFont typeface="Wingdings" panose="05000000000000000000" pitchFamily="2" charset="2"/>
              <a:buNone/>
            </a:pPr>
            <a:r>
              <a:rPr lang="zh-CN" altLang="en-US" sz="2000">
                <a:latin typeface="Arial" panose="020B0604020202020204" pitchFamily="34" charset="0"/>
                <a:ea typeface="华文中宋" panose="02010600040101010101" pitchFamily="2" charset="-122"/>
                <a:cs typeface="Arial" panose="020B0604020202020204" pitchFamily="34" charset="0"/>
              </a:rPr>
              <a:t>式中，</a:t>
            </a:r>
            <a:r>
              <a:rPr lang="en-US" altLang="zh-CN" sz="2000" i="1">
                <a:latin typeface="Arial" panose="020B0604020202020204" pitchFamily="34" charset="0"/>
                <a:ea typeface="华文中宋" panose="02010600040101010101" pitchFamily="2" charset="-122"/>
                <a:cs typeface="Arial" panose="020B0604020202020204" pitchFamily="34" charset="0"/>
              </a:rPr>
              <a:t>r</a:t>
            </a:r>
            <a:r>
              <a:rPr lang="en-US" altLang="zh-CN" sz="2000" i="1" baseline="-25000">
                <a:latin typeface="Arial" panose="020B0604020202020204" pitchFamily="34" charset="0"/>
                <a:ea typeface="华文中宋" panose="02010600040101010101" pitchFamily="2" charset="-122"/>
                <a:cs typeface="Arial" panose="020B0604020202020204" pitchFamily="34" charset="0"/>
              </a:rPr>
              <a:t>e</a:t>
            </a:r>
            <a:r>
              <a:rPr lang="en-US" altLang="zh-CN" sz="2000">
                <a:latin typeface="Arial" panose="020B0604020202020204" pitchFamily="34" charset="0"/>
                <a:ea typeface="华文中宋" panose="02010600040101010101" pitchFamily="2" charset="-122"/>
                <a:cs typeface="Arial" panose="020B0604020202020204" pitchFamily="34" charset="0"/>
              </a:rPr>
              <a:t> </a:t>
            </a:r>
            <a:r>
              <a:rPr lang="zh-CN" altLang="en-US" sz="2000">
                <a:latin typeface="Arial" panose="020B0604020202020204" pitchFamily="34" charset="0"/>
                <a:ea typeface="华文中宋" panose="02010600040101010101" pitchFamily="2" charset="-122"/>
                <a:cs typeface="Arial" panose="020B0604020202020204" pitchFamily="34" charset="0"/>
              </a:rPr>
              <a:t>－ 距离估值的误差；</a:t>
            </a:r>
          </a:p>
          <a:p>
            <a:pPr eaLnBrk="1" hangingPunct="1">
              <a:lnSpc>
                <a:spcPts val="3500"/>
              </a:lnSpc>
              <a:buFont typeface="Wingdings" panose="05000000000000000000" pitchFamily="2" charset="2"/>
              <a:buNone/>
            </a:pPr>
            <a:r>
              <a:rPr lang="zh-CN" altLang="en-US" sz="2000">
                <a:latin typeface="Arial" panose="020B0604020202020204" pitchFamily="34" charset="0"/>
                <a:ea typeface="华文中宋" panose="02010600040101010101" pitchFamily="2" charset="-122"/>
                <a:cs typeface="Arial" panose="020B0604020202020204" pitchFamily="34" charset="0"/>
              </a:rPr>
              <a:t>           </a:t>
            </a:r>
            <a:r>
              <a:rPr lang="zh-CN" altLang="en-US" sz="2000" i="1">
                <a:latin typeface="Arial" panose="020B0604020202020204" pitchFamily="34" charset="0"/>
                <a:ea typeface="华文中宋" panose="02010600040101010101" pitchFamily="2" charset="-122"/>
                <a:cs typeface="Arial" panose="020B0604020202020204" pitchFamily="34" charset="0"/>
                <a:sym typeface="Symbol" panose="05050102010706020507" pitchFamily="18" charset="2"/>
              </a:rPr>
              <a:t></a:t>
            </a:r>
            <a:r>
              <a:rPr lang="en-US" altLang="zh-CN" sz="2000" i="1">
                <a:latin typeface="Arial" panose="020B0604020202020204" pitchFamily="34" charset="0"/>
                <a:ea typeface="华文中宋" panose="02010600040101010101" pitchFamily="2" charset="-122"/>
                <a:cs typeface="Arial" panose="020B0604020202020204" pitchFamily="34" charset="0"/>
              </a:rPr>
              <a:t>t</a:t>
            </a:r>
            <a:r>
              <a:rPr lang="en-US" altLang="zh-CN" sz="2000">
                <a:latin typeface="Arial" panose="020B0604020202020204" pitchFamily="34" charset="0"/>
                <a:ea typeface="华文中宋" panose="02010600040101010101" pitchFamily="2" charset="-122"/>
                <a:cs typeface="Arial" panose="020B0604020202020204" pitchFamily="34" charset="0"/>
              </a:rPr>
              <a:t> </a:t>
            </a:r>
            <a:r>
              <a:rPr lang="zh-CN" altLang="en-US" sz="2000">
                <a:latin typeface="Arial" panose="020B0604020202020204" pitchFamily="34" charset="0"/>
                <a:ea typeface="华文中宋" panose="02010600040101010101" pitchFamily="2" charset="-122"/>
                <a:cs typeface="Arial" panose="020B0604020202020204" pitchFamily="34" charset="0"/>
              </a:rPr>
              <a:t>－ 发射机处和接收机处参考时间之差。</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06499">
                                            <p:txEl>
                                              <p:pRg st="0" end="0"/>
                                            </p:txEl>
                                          </p:spTgt>
                                        </p:tgtEl>
                                        <p:attrNameLst>
                                          <p:attrName>style.visibility</p:attrName>
                                        </p:attrNameLst>
                                      </p:cBhvr>
                                      <p:to>
                                        <p:strVal val="visible"/>
                                      </p:to>
                                    </p:set>
                                    <p:animEffect transition="in" filter="wipe(up)">
                                      <p:cBhvr>
                                        <p:cTn id="7" dur="1000"/>
                                        <p:tgtEl>
                                          <p:spTgt spid="106499">
                                            <p:txEl>
                                              <p:pRg st="0" end="0"/>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106499">
                                            <p:txEl>
                                              <p:pRg st="1" end="1"/>
                                            </p:txEl>
                                          </p:spTgt>
                                        </p:tgtEl>
                                        <p:attrNameLst>
                                          <p:attrName>style.visibility</p:attrName>
                                        </p:attrNameLst>
                                      </p:cBhvr>
                                      <p:to>
                                        <p:strVal val="visible"/>
                                      </p:to>
                                    </p:set>
                                    <p:animEffect transition="in" filter="wipe(up)">
                                      <p:cBhvr>
                                        <p:cTn id="11" dur="1000"/>
                                        <p:tgtEl>
                                          <p:spTgt spid="106499">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106501"/>
                                        </p:tgtEl>
                                        <p:attrNameLst>
                                          <p:attrName>style.visibility</p:attrName>
                                        </p:attrNameLst>
                                      </p:cBhvr>
                                      <p:to>
                                        <p:strVal val="visible"/>
                                      </p:to>
                                    </p:set>
                                    <p:animEffect transition="in" filter="wipe(up)">
                                      <p:cBhvr>
                                        <p:cTn id="16" dur="1000"/>
                                        <p:tgtEl>
                                          <p:spTgt spid="10650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up)">
                                      <p:cBhvr>
                                        <p:cTn id="21" dur="1000"/>
                                        <p:tgtEl>
                                          <p:spTgt spid="1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up)">
                                      <p:cBhvr>
                                        <p:cTn id="26" dur="1000"/>
                                        <p:tgtEl>
                                          <p:spTgt spid="1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117764"/>
                                        </p:tgtEl>
                                        <p:attrNameLst>
                                          <p:attrName>style.visibility</p:attrName>
                                        </p:attrNameLst>
                                      </p:cBhvr>
                                      <p:to>
                                        <p:strVal val="visible"/>
                                      </p:to>
                                    </p:set>
                                    <p:animEffect transition="in" filter="wipe(up)">
                                      <p:cBhvr>
                                        <p:cTn id="31" dur="1000"/>
                                        <p:tgtEl>
                                          <p:spTgt spid="11776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41992"/>
                                        </p:tgtEl>
                                        <p:attrNameLst>
                                          <p:attrName>style.visibility</p:attrName>
                                        </p:attrNameLst>
                                      </p:cBhvr>
                                      <p:to>
                                        <p:strVal val="visible"/>
                                      </p:to>
                                    </p:set>
                                    <p:animEffect transition="in" filter="wipe(up)">
                                      <p:cBhvr>
                                        <p:cTn id="36" dur="1000"/>
                                        <p:tgtEl>
                                          <p:spTgt spid="419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9" grpId="0" build="p"/>
      <p:bldP spid="11" grpId="0"/>
      <p:bldP spid="13" grpId="0"/>
      <p:bldP spid="41992"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Rectangle 3">
            <a:extLst>
              <a:ext uri="{FF2B5EF4-FFF2-40B4-BE49-F238E27FC236}">
                <a16:creationId xmlns:a16="http://schemas.microsoft.com/office/drawing/2014/main" id="{52AC7DE6-115D-B713-8061-1AA07203A823}"/>
              </a:ext>
            </a:extLst>
          </p:cNvPr>
          <p:cNvSpPr>
            <a:spLocks noGrp="1" noChangeArrowheads="1"/>
          </p:cNvSpPr>
          <p:nvPr>
            <p:ph type="body" idx="1"/>
          </p:nvPr>
        </p:nvSpPr>
        <p:spPr bwMode="auto">
          <a:xfrm>
            <a:off x="714375" y="2571750"/>
            <a:ext cx="8286750" cy="1000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ts val="3200"/>
              </a:lnSpc>
              <a:buFont typeface="Wingdings" panose="05000000000000000000" pitchFamily="2" charset="2"/>
              <a:buNone/>
            </a:pPr>
            <a:r>
              <a:rPr lang="zh-CN" altLang="en-US" sz="2000">
                <a:latin typeface="华文中宋" panose="02010600040101010101" pitchFamily="2" charset="-122"/>
                <a:ea typeface="华文中宋" panose="02010600040101010101" pitchFamily="2" charset="-122"/>
              </a:rPr>
              <a:t>式中，</a:t>
            </a:r>
            <a:r>
              <a:rPr lang="en-US" altLang="zh-CN" sz="2000" i="1">
                <a:latin typeface="Arial" panose="020B0604020202020204" pitchFamily="34" charset="0"/>
                <a:ea typeface="华文中宋" panose="02010600040101010101" pitchFamily="2" charset="-122"/>
                <a:cs typeface="Arial" panose="020B0604020202020204" pitchFamily="34" charset="0"/>
              </a:rPr>
              <a:t>V</a:t>
            </a:r>
            <a:r>
              <a:rPr lang="en-US" altLang="zh-CN" sz="2000" i="1" baseline="-25000">
                <a:latin typeface="Arial" panose="020B0604020202020204" pitchFamily="34" charset="0"/>
                <a:ea typeface="华文中宋" panose="02010600040101010101" pitchFamily="2" charset="-122"/>
                <a:cs typeface="Arial" panose="020B0604020202020204" pitchFamily="34" charset="0"/>
              </a:rPr>
              <a:t>e</a:t>
            </a:r>
            <a:r>
              <a:rPr lang="en-US" altLang="zh-CN" sz="2000">
                <a:latin typeface="Arial" panose="020B0604020202020204" pitchFamily="34" charset="0"/>
                <a:ea typeface="华文中宋" panose="02010600040101010101" pitchFamily="2" charset="-122"/>
                <a:cs typeface="Arial" panose="020B0604020202020204" pitchFamily="34" charset="0"/>
              </a:rPr>
              <a:t> </a:t>
            </a:r>
            <a:r>
              <a:rPr lang="zh-CN" altLang="en-US" sz="2000">
                <a:latin typeface="Arial" panose="020B0604020202020204" pitchFamily="34" charset="0"/>
                <a:ea typeface="华文中宋" panose="02010600040101010101" pitchFamily="2" charset="-122"/>
                <a:cs typeface="Arial" panose="020B0604020202020204" pitchFamily="34" charset="0"/>
              </a:rPr>
              <a:t>－ 发射机和接收机间相对速度的测量值误差或预测值的误差；   </a:t>
            </a:r>
            <a:endParaRPr lang="en-US" altLang="zh-CN" sz="2000">
              <a:latin typeface="Arial" panose="020B0604020202020204" pitchFamily="34" charset="0"/>
              <a:ea typeface="华文中宋" panose="02010600040101010101" pitchFamily="2" charset="-122"/>
              <a:cs typeface="Arial" panose="020B0604020202020204" pitchFamily="34" charset="0"/>
            </a:endParaRPr>
          </a:p>
          <a:p>
            <a:pPr>
              <a:lnSpc>
                <a:spcPts val="3200"/>
              </a:lnSpc>
              <a:buFont typeface="Wingdings" panose="05000000000000000000" pitchFamily="2" charset="2"/>
              <a:buNone/>
            </a:pPr>
            <a:r>
              <a:rPr lang="en-US" altLang="zh-CN" sz="2000" i="1">
                <a:latin typeface="Arial" panose="020B0604020202020204" pitchFamily="34" charset="0"/>
                <a:ea typeface="华文中宋" panose="02010600040101010101" pitchFamily="2" charset="-122"/>
                <a:cs typeface="Arial" panose="020B0604020202020204" pitchFamily="34" charset="0"/>
                <a:sym typeface="Symbol" panose="05050102010706020507" pitchFamily="18" charset="2"/>
              </a:rPr>
              <a:t>          </a:t>
            </a:r>
            <a:r>
              <a:rPr lang="zh-CN" altLang="en-US" sz="2000" i="1">
                <a:latin typeface="Arial" panose="020B0604020202020204" pitchFamily="34" charset="0"/>
                <a:ea typeface="华文中宋" panose="02010600040101010101" pitchFamily="2" charset="-122"/>
                <a:cs typeface="Arial" panose="020B0604020202020204" pitchFamily="34" charset="0"/>
                <a:sym typeface="Symbol" panose="05050102010706020507" pitchFamily="18" charset="2"/>
              </a:rPr>
              <a:t></a:t>
            </a:r>
            <a:r>
              <a:rPr lang="en-US" altLang="zh-CN" sz="2000" i="1">
                <a:latin typeface="Arial" panose="020B0604020202020204" pitchFamily="34" charset="0"/>
                <a:ea typeface="华文中宋" panose="02010600040101010101" pitchFamily="2" charset="-122"/>
                <a:cs typeface="Arial" panose="020B0604020202020204" pitchFamily="34" charset="0"/>
              </a:rPr>
              <a:t>f</a:t>
            </a:r>
            <a:r>
              <a:rPr lang="en-US" altLang="zh-CN" sz="2000">
                <a:latin typeface="Arial" panose="020B0604020202020204" pitchFamily="34" charset="0"/>
                <a:ea typeface="华文中宋" panose="02010600040101010101" pitchFamily="2" charset="-122"/>
                <a:cs typeface="Arial" panose="020B0604020202020204" pitchFamily="34" charset="0"/>
              </a:rPr>
              <a:t>  </a:t>
            </a:r>
            <a:r>
              <a:rPr lang="zh-CN" altLang="en-US" sz="2000">
                <a:latin typeface="Arial" panose="020B0604020202020204" pitchFamily="34" charset="0"/>
                <a:ea typeface="华文中宋" panose="02010600040101010101" pitchFamily="2" charset="-122"/>
                <a:cs typeface="Arial" panose="020B0604020202020204" pitchFamily="34" charset="0"/>
              </a:rPr>
              <a:t>－ 发射机和接收机参考频率间的误差。 </a:t>
            </a:r>
          </a:p>
        </p:txBody>
      </p:sp>
      <p:sp>
        <p:nvSpPr>
          <p:cNvPr id="25605" name="Rectangle 5">
            <a:extLst>
              <a:ext uri="{FF2B5EF4-FFF2-40B4-BE49-F238E27FC236}">
                <a16:creationId xmlns:a16="http://schemas.microsoft.com/office/drawing/2014/main" id="{DD3182C9-88D2-5A58-9DC6-97762CB917D4}"/>
              </a:ext>
            </a:extLst>
          </p:cNvPr>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25606" name="Rectangle 7">
            <a:extLst>
              <a:ext uri="{FF2B5EF4-FFF2-40B4-BE49-F238E27FC236}">
                <a16:creationId xmlns:a16="http://schemas.microsoft.com/office/drawing/2014/main" id="{18558BA0-5EA1-F202-D777-C79EEA5006DB}"/>
              </a:ext>
            </a:extLst>
          </p:cNvPr>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aphicFrame>
        <p:nvGraphicFramePr>
          <p:cNvPr id="107526" name="Object 3">
            <a:extLst>
              <a:ext uri="{FF2B5EF4-FFF2-40B4-BE49-F238E27FC236}">
                <a16:creationId xmlns:a16="http://schemas.microsoft.com/office/drawing/2014/main" id="{71684F46-BAE1-9427-67C5-797FEAAD7975}"/>
              </a:ext>
            </a:extLst>
          </p:cNvPr>
          <p:cNvGraphicFramePr>
            <a:graphicFrameLocks noChangeAspect="1"/>
          </p:cNvGraphicFramePr>
          <p:nvPr/>
        </p:nvGraphicFramePr>
        <p:xfrm>
          <a:off x="3579813" y="1571625"/>
          <a:ext cx="1920875" cy="795338"/>
        </p:xfrm>
        <a:graphic>
          <a:graphicData uri="http://schemas.openxmlformats.org/presentationml/2006/ole">
            <mc:AlternateContent xmlns:mc="http://schemas.openxmlformats.org/markup-compatibility/2006">
              <mc:Choice xmlns:v="urn:schemas-microsoft-com:vml" Requires="v">
                <p:oleObj name="公式" r:id="rId2" imgW="939392" imgH="393529" progId="Equation.3">
                  <p:embed/>
                </p:oleObj>
              </mc:Choice>
              <mc:Fallback>
                <p:oleObj name="公式" r:id="rId2" imgW="939392" imgH="393529"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9813" y="1571625"/>
                        <a:ext cx="1920875" cy="795338"/>
                      </a:xfrm>
                      <a:prstGeom prst="rect">
                        <a:avLst/>
                      </a:prstGeom>
                      <a:noFill/>
                      <a:ln w="38100" cmpd="dbl">
                        <a:solidFill>
                          <a:srgbClr val="6666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3">
            <a:extLst>
              <a:ext uri="{FF2B5EF4-FFF2-40B4-BE49-F238E27FC236}">
                <a16:creationId xmlns:a16="http://schemas.microsoft.com/office/drawing/2014/main" id="{B858E24F-73A1-7A3B-5619-BA044FE9DF3B}"/>
              </a:ext>
            </a:extLst>
          </p:cNvPr>
          <p:cNvSpPr txBox="1">
            <a:spLocks noChangeArrowheads="1"/>
          </p:cNvSpPr>
          <p:nvPr/>
        </p:nvSpPr>
        <p:spPr bwMode="auto">
          <a:xfrm>
            <a:off x="785813" y="1071563"/>
            <a:ext cx="3071812" cy="500062"/>
          </a:xfrm>
          <a:prstGeom prst="rect">
            <a:avLst/>
          </a:prstGeom>
          <a:noFill/>
          <a:ln w="9525">
            <a:noFill/>
            <a:miter lim="800000"/>
            <a:headEnd/>
            <a:tailEnd/>
          </a:ln>
        </p:spPr>
        <p:txBody>
          <a:bodyPr/>
          <a:lstStyle/>
          <a:p>
            <a:pPr marL="342900" indent="-342900" eaLnBrk="0" hangingPunct="0">
              <a:lnSpc>
                <a:spcPts val="3200"/>
              </a:lnSpc>
              <a:spcBef>
                <a:spcPct val="20000"/>
              </a:spcBef>
              <a:buClr>
                <a:schemeClr val="bg1">
                  <a:lumMod val="50000"/>
                </a:schemeClr>
              </a:buClr>
              <a:buSzPct val="70000"/>
              <a:buFont typeface="Wingdings" pitchFamily="2" charset="2"/>
              <a:buChar char="p"/>
              <a:defRPr/>
            </a:pPr>
            <a:r>
              <a:rPr lang="zh-CN" altLang="en-US" sz="2000" b="1" dirty="0">
                <a:solidFill>
                  <a:srgbClr val="003399"/>
                </a:solidFill>
                <a:latin typeface="微软雅黑" pitchFamily="34" charset="-122"/>
                <a:ea typeface="微软雅黑" pitchFamily="34" charset="-122"/>
              </a:rPr>
              <a:t>频率预测的误差</a:t>
            </a:r>
            <a:r>
              <a:rPr lang="zh-CN" altLang="en-US" sz="2000" dirty="0">
                <a:solidFill>
                  <a:srgbClr val="003399"/>
                </a:solidFill>
                <a:latin typeface="微软雅黑" pitchFamily="34" charset="-122"/>
                <a:ea typeface="微软雅黑" pitchFamily="34" charset="-122"/>
              </a:rPr>
              <a:t>：</a:t>
            </a:r>
            <a:endParaRPr lang="zh-CN" altLang="en-US" sz="2000" kern="0" dirty="0">
              <a:latin typeface="华文中宋" pitchFamily="2" charset="-122"/>
              <a:ea typeface="华文中宋" pitchFamily="2" charset="-122"/>
            </a:endParaRPr>
          </a:p>
        </p:txBody>
      </p:sp>
      <p:sp>
        <p:nvSpPr>
          <p:cNvPr id="8" name="Rectangle 3">
            <a:extLst>
              <a:ext uri="{FF2B5EF4-FFF2-40B4-BE49-F238E27FC236}">
                <a16:creationId xmlns:a16="http://schemas.microsoft.com/office/drawing/2014/main" id="{CD755966-70CD-5835-4224-473D8FC410D1}"/>
              </a:ext>
            </a:extLst>
          </p:cNvPr>
          <p:cNvSpPr txBox="1">
            <a:spLocks noChangeArrowheads="1"/>
          </p:cNvSpPr>
          <p:nvPr/>
        </p:nvSpPr>
        <p:spPr bwMode="auto">
          <a:xfrm>
            <a:off x="785813" y="3714750"/>
            <a:ext cx="7643812" cy="1285875"/>
          </a:xfrm>
          <a:prstGeom prst="rect">
            <a:avLst/>
          </a:prstGeom>
          <a:noFill/>
          <a:ln w="9525">
            <a:noFill/>
            <a:miter lim="800000"/>
            <a:headEnd/>
            <a:tailEnd/>
          </a:ln>
        </p:spPr>
        <p:txBody>
          <a:bodyPr/>
          <a:lstStyle/>
          <a:p>
            <a:pPr marL="342900" lvl="3" indent="-342900" eaLnBrk="0" hangingPunct="0">
              <a:lnSpc>
                <a:spcPts val="3200"/>
              </a:lnSpc>
              <a:spcBef>
                <a:spcPct val="20000"/>
              </a:spcBef>
              <a:buClr>
                <a:schemeClr val="bg1">
                  <a:lumMod val="50000"/>
                </a:schemeClr>
              </a:buClr>
              <a:buSzPct val="70000"/>
              <a:buFont typeface="Wingdings" pitchFamily="2" charset="2"/>
              <a:buChar char="p"/>
              <a:defRPr/>
            </a:pPr>
            <a:r>
              <a:rPr lang="zh-CN" altLang="en-US" sz="2000" b="1" kern="0" dirty="0">
                <a:solidFill>
                  <a:srgbClr val="003399"/>
                </a:solidFill>
                <a:latin typeface="微软雅黑" pitchFamily="34" charset="-122"/>
                <a:ea typeface="微软雅黑" pitchFamily="34" charset="-122"/>
              </a:rPr>
              <a:t>参考频率的容许误差</a:t>
            </a:r>
            <a:r>
              <a:rPr lang="zh-CN" altLang="en-US" sz="2000" kern="0" dirty="0">
                <a:solidFill>
                  <a:srgbClr val="003399"/>
                </a:solidFill>
                <a:latin typeface="微软雅黑" pitchFamily="34" charset="-122"/>
                <a:ea typeface="微软雅黑" pitchFamily="34" charset="-122"/>
              </a:rPr>
              <a:t>：</a:t>
            </a:r>
            <a:r>
              <a:rPr lang="zh-CN" altLang="en-US" sz="2000" dirty="0">
                <a:latin typeface="华文中宋" pitchFamily="2" charset="-122"/>
                <a:ea typeface="华文中宋" pitchFamily="2" charset="-122"/>
              </a:rPr>
              <a:t>参考时间和参考频率的准确性有关。参考频率的起伏很难用统计方法表述，通常规定一个每天最大容许误差</a:t>
            </a:r>
            <a:endParaRPr lang="zh-CN" altLang="en-US" sz="2000" dirty="0">
              <a:ea typeface="宋体" charset="-122"/>
            </a:endParaRPr>
          </a:p>
          <a:p>
            <a:pPr marL="342900" lvl="3" indent="-342900" eaLnBrk="0" hangingPunct="0">
              <a:lnSpc>
                <a:spcPts val="3200"/>
              </a:lnSpc>
              <a:spcBef>
                <a:spcPct val="20000"/>
              </a:spcBef>
              <a:buClr>
                <a:schemeClr val="bg1">
                  <a:lumMod val="50000"/>
                </a:schemeClr>
              </a:buClr>
              <a:buSzPct val="70000"/>
              <a:buFont typeface="Wingdings" pitchFamily="2" charset="2"/>
              <a:buChar char="p"/>
              <a:defRPr/>
            </a:pPr>
            <a:endParaRPr lang="zh-CN" altLang="en-US" sz="2000" kern="0" dirty="0">
              <a:latin typeface="华文中宋" pitchFamily="2" charset="-122"/>
              <a:ea typeface="华文中宋" pitchFamily="2" charset="-122"/>
            </a:endParaRPr>
          </a:p>
        </p:txBody>
      </p:sp>
      <p:graphicFrame>
        <p:nvGraphicFramePr>
          <p:cNvPr id="108548" name="Object 2">
            <a:extLst>
              <a:ext uri="{FF2B5EF4-FFF2-40B4-BE49-F238E27FC236}">
                <a16:creationId xmlns:a16="http://schemas.microsoft.com/office/drawing/2014/main" id="{D22AF4F3-7848-0F24-85F6-D2B5AF80173D}"/>
              </a:ext>
            </a:extLst>
          </p:cNvPr>
          <p:cNvGraphicFramePr>
            <a:graphicFrameLocks noChangeAspect="1"/>
          </p:cNvGraphicFramePr>
          <p:nvPr/>
        </p:nvGraphicFramePr>
        <p:xfrm>
          <a:off x="3214688" y="5000625"/>
          <a:ext cx="2971800" cy="754063"/>
        </p:xfrm>
        <a:graphic>
          <a:graphicData uri="http://schemas.openxmlformats.org/presentationml/2006/ole">
            <mc:AlternateContent xmlns:mc="http://schemas.openxmlformats.org/markup-compatibility/2006">
              <mc:Choice xmlns:v="urn:schemas-microsoft-com:vml" Requires="v">
                <p:oleObj name="公式" r:id="rId4" imgW="1676160" imgH="431640" progId="Equation.3">
                  <p:embed/>
                </p:oleObj>
              </mc:Choice>
              <mc:Fallback>
                <p:oleObj name="公式" r:id="rId4" imgW="1676160" imgH="43164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14688" y="5000625"/>
                        <a:ext cx="2971800" cy="754063"/>
                      </a:xfrm>
                      <a:prstGeom prst="rect">
                        <a:avLst/>
                      </a:prstGeom>
                      <a:noFill/>
                      <a:ln w="38100" cmpd="dbl">
                        <a:solidFill>
                          <a:srgbClr val="6666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 Box 36">
            <a:extLst>
              <a:ext uri="{FF2B5EF4-FFF2-40B4-BE49-F238E27FC236}">
                <a16:creationId xmlns:a16="http://schemas.microsoft.com/office/drawing/2014/main" id="{55FEBD7F-800B-D4F4-2BE3-DE4CA29AAF38}"/>
              </a:ext>
            </a:extLst>
          </p:cNvPr>
          <p:cNvSpPr txBox="1">
            <a:spLocks noChangeArrowheads="1"/>
          </p:cNvSpPr>
          <p:nvPr/>
        </p:nvSpPr>
        <p:spPr bwMode="gray">
          <a:xfrm>
            <a:off x="7500938" y="438150"/>
            <a:ext cx="1000125" cy="490538"/>
          </a:xfrm>
          <a:prstGeom prst="rect">
            <a:avLst/>
          </a:prstGeom>
          <a:noFill/>
          <a:ln w="9525">
            <a:noFill/>
            <a:miter lim="800000"/>
            <a:headEnd/>
            <a:tailEnd/>
          </a:ln>
          <a:effectLst>
            <a:outerShdw blurRad="50800" dist="38100" dir="2700000" algn="tl" rotWithShape="0">
              <a:prstClr val="black">
                <a:alpha val="40000"/>
              </a:prstClr>
            </a:outerShdw>
          </a:effectLst>
        </p:spPr>
        <p:txBody>
          <a:bodyPr>
            <a:spAutoFit/>
          </a:bodyPr>
          <a:lstStyle/>
          <a:p>
            <a:pPr>
              <a:lnSpc>
                <a:spcPts val="3100"/>
              </a:lnSpc>
              <a:buClr>
                <a:srgbClr val="969696"/>
              </a:buClr>
              <a:buSzPct val="65000"/>
              <a:defRPr/>
            </a:pPr>
            <a:r>
              <a:rPr lang="zh-CN" altLang="en-US" sz="200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rPr>
              <a:t>网同步</a:t>
            </a:r>
            <a:endParaRPr lang="en-US" altLang="zh-CN" sz="2000" dirty="0">
              <a:solidFill>
                <a:schemeClr val="tx1">
                  <a:lumMod val="65000"/>
                  <a:lumOff val="35000"/>
                </a:schemeClr>
              </a:solidFill>
              <a:effectLst>
                <a:outerShdw blurRad="38100" dist="38100" dir="2700000" algn="tl">
                  <a:srgbClr val="000000">
                    <a:alpha val="43137"/>
                  </a:srgbClr>
                </a:outerShdw>
              </a:effectLst>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10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07526"/>
                                        </p:tgtEl>
                                        <p:attrNameLst>
                                          <p:attrName>style.visibility</p:attrName>
                                        </p:attrNameLst>
                                      </p:cBhvr>
                                      <p:to>
                                        <p:strVal val="visible"/>
                                      </p:to>
                                    </p:set>
                                    <p:animEffect transition="in" filter="wipe(up)">
                                      <p:cBhvr>
                                        <p:cTn id="12" dur="1000"/>
                                        <p:tgtEl>
                                          <p:spTgt spid="10752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07523">
                                            <p:txEl>
                                              <p:pRg st="0" end="0"/>
                                            </p:txEl>
                                          </p:spTgt>
                                        </p:tgtEl>
                                        <p:attrNameLst>
                                          <p:attrName>style.visibility</p:attrName>
                                        </p:attrNameLst>
                                      </p:cBhvr>
                                      <p:to>
                                        <p:strVal val="visible"/>
                                      </p:to>
                                    </p:set>
                                    <p:animEffect transition="in" filter="wipe(up)">
                                      <p:cBhvr>
                                        <p:cTn id="17" dur="1000"/>
                                        <p:tgtEl>
                                          <p:spTgt spid="107523">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07523">
                                            <p:txEl>
                                              <p:pRg st="1" end="1"/>
                                            </p:txEl>
                                          </p:spTgt>
                                        </p:tgtEl>
                                        <p:attrNameLst>
                                          <p:attrName>style.visibility</p:attrName>
                                        </p:attrNameLst>
                                      </p:cBhvr>
                                      <p:to>
                                        <p:strVal val="visible"/>
                                      </p:to>
                                    </p:set>
                                    <p:animEffect transition="in" filter="wipe(up)">
                                      <p:cBhvr>
                                        <p:cTn id="22" dur="1000"/>
                                        <p:tgtEl>
                                          <p:spTgt spid="107523">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up)">
                                      <p:cBhvr>
                                        <p:cTn id="27" dur="1000"/>
                                        <p:tgtEl>
                                          <p:spTgt spid="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108548"/>
                                        </p:tgtEl>
                                        <p:attrNameLst>
                                          <p:attrName>style.visibility</p:attrName>
                                        </p:attrNameLst>
                                      </p:cBhvr>
                                      <p:to>
                                        <p:strVal val="visible"/>
                                      </p:to>
                                    </p:set>
                                    <p:animEffect transition="in" filter="wipe(up)">
                                      <p:cBhvr>
                                        <p:cTn id="32" dur="1000"/>
                                        <p:tgtEl>
                                          <p:spTgt spid="1085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3" grpId="0" build="p"/>
      <p:bldP spid="10" grpId="0"/>
      <p:bldP spid="8"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5">
            <a:extLst>
              <a:ext uri="{FF2B5EF4-FFF2-40B4-BE49-F238E27FC236}">
                <a16:creationId xmlns:a16="http://schemas.microsoft.com/office/drawing/2014/main" id="{5C3BA6EA-F5B4-8B3B-AAF2-C9D4E5AEB6B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B1E11CA3-DDA9-401F-8819-18497E8E04AD}" type="slidenum">
              <a:rPr lang="en-US" altLang="zh-CN"/>
              <a:pPr eaLnBrk="1" hangingPunct="1"/>
              <a:t>79</a:t>
            </a:fld>
            <a:endParaRPr lang="en-US" altLang="zh-CN"/>
          </a:p>
        </p:txBody>
      </p:sp>
      <p:sp>
        <p:nvSpPr>
          <p:cNvPr id="108547" name="Rectangle 3">
            <a:extLst>
              <a:ext uri="{FF2B5EF4-FFF2-40B4-BE49-F238E27FC236}">
                <a16:creationId xmlns:a16="http://schemas.microsoft.com/office/drawing/2014/main" id="{AB9F91CD-16D5-00F8-FBB4-A61BB5DC25AD}"/>
              </a:ext>
            </a:extLst>
          </p:cNvPr>
          <p:cNvSpPr>
            <a:spLocks noGrp="1" noChangeArrowheads="1"/>
          </p:cNvSpPr>
          <p:nvPr>
            <p:ph type="body" idx="1"/>
          </p:nvPr>
        </p:nvSpPr>
        <p:spPr>
          <a:xfrm>
            <a:off x="1071563" y="1295400"/>
            <a:ext cx="5786437" cy="2847975"/>
          </a:xfrm>
        </p:spPr>
        <p:txBody>
          <a:bodyPr/>
          <a:lstStyle/>
          <a:p>
            <a:pPr>
              <a:lnSpc>
                <a:spcPct val="150000"/>
              </a:lnSpc>
              <a:buFont typeface="Wingdings" panose="05000000000000000000" pitchFamily="2" charset="2"/>
              <a:buNone/>
              <a:defRPr/>
            </a:pPr>
            <a:r>
              <a:rPr lang="zh-CN" altLang="en-US" sz="2000" dirty="0">
                <a:effectLst>
                  <a:outerShdw blurRad="38100" dist="38100" dir="2700000" algn="tl">
                    <a:srgbClr val="000000">
                      <a:alpha val="43137"/>
                    </a:srgbClr>
                  </a:outerShdw>
                </a:effectLst>
                <a:latin typeface="微软雅黑" pitchFamily="34" charset="-122"/>
                <a:ea typeface="微软雅黑" pitchFamily="34" charset="-122"/>
              </a:rPr>
              <a:t> </a:t>
            </a:r>
            <a:r>
              <a:rPr lang="zh-CN" altLang="en-US" sz="2400" i="1" dirty="0">
                <a:effectLst>
                  <a:outerShdw blurRad="38100" dist="38100" dir="2700000" algn="tl">
                    <a:srgbClr val="000000">
                      <a:alpha val="43137"/>
                    </a:srgbClr>
                  </a:outerShdw>
                </a:effectLst>
                <a:latin typeface="微软雅黑" pitchFamily="34" charset="-122"/>
                <a:ea typeface="微软雅黑" pitchFamily="34" charset="-122"/>
                <a:cs typeface="Arial" pitchFamily="34" charset="0"/>
                <a:sym typeface="Symbol" pitchFamily="18" charset="2"/>
              </a:rPr>
              <a:t></a:t>
            </a:r>
            <a:r>
              <a:rPr lang="zh-CN" altLang="en-US" sz="2000" i="1" dirty="0">
                <a:effectLst>
                  <a:outerShdw blurRad="38100" dist="38100" dir="2700000" algn="tl">
                    <a:srgbClr val="000000">
                      <a:alpha val="43137"/>
                    </a:srgbClr>
                  </a:outerShdw>
                </a:effectLst>
                <a:latin typeface="微软雅黑" pitchFamily="34" charset="-122"/>
                <a:ea typeface="微软雅黑" pitchFamily="34" charset="-122"/>
                <a:cs typeface="Arial" pitchFamily="34" charset="0"/>
              </a:rPr>
              <a:t> </a:t>
            </a:r>
            <a:r>
              <a:rPr lang="zh-CN" altLang="en-US" sz="2000" dirty="0">
                <a:effectLst>
                  <a:outerShdw blurRad="38100" dist="38100" dir="2700000" algn="tl">
                    <a:srgbClr val="000000">
                      <a:alpha val="43137"/>
                    </a:srgbClr>
                  </a:outerShdw>
                </a:effectLst>
                <a:latin typeface="微软雅黑" pitchFamily="34" charset="-122"/>
                <a:ea typeface="微软雅黑" pitchFamily="34" charset="-122"/>
                <a:cs typeface="Arial" pitchFamily="34" charset="0"/>
              </a:rPr>
              <a:t>值的典型范围</a:t>
            </a:r>
            <a:r>
              <a:rPr lang="zh-CN" altLang="en-US" sz="2400" dirty="0">
                <a:latin typeface="Arial" pitchFamily="34" charset="0"/>
                <a:ea typeface="华文中宋" pitchFamily="2" charset="-122"/>
                <a:cs typeface="Arial" pitchFamily="34" charset="0"/>
              </a:rPr>
              <a:t>：</a:t>
            </a:r>
          </a:p>
          <a:p>
            <a:pPr lvl="1">
              <a:lnSpc>
                <a:spcPct val="150000"/>
              </a:lnSpc>
              <a:buClr>
                <a:srgbClr val="0000CC"/>
              </a:buClr>
              <a:defRPr/>
            </a:pPr>
            <a:r>
              <a:rPr lang="zh-CN" altLang="en-US" sz="2000" dirty="0">
                <a:latin typeface="Arial" pitchFamily="34" charset="0"/>
                <a:ea typeface="华文中宋" pitchFamily="2" charset="-122"/>
                <a:cs typeface="Arial" pitchFamily="34" charset="0"/>
              </a:rPr>
              <a:t>廉价的晶体振荡器 － </a:t>
            </a:r>
            <a:r>
              <a:rPr lang="en-US" altLang="zh-CN" sz="2000" dirty="0">
                <a:latin typeface="Arial" pitchFamily="34" charset="0"/>
                <a:ea typeface="华文中宋" pitchFamily="2" charset="-122"/>
                <a:cs typeface="Arial" pitchFamily="34" charset="0"/>
              </a:rPr>
              <a:t>10</a:t>
            </a:r>
            <a:r>
              <a:rPr lang="en-US" altLang="zh-CN" sz="2000" baseline="30000" dirty="0">
                <a:latin typeface="Arial" pitchFamily="34" charset="0"/>
                <a:ea typeface="华文中宋" pitchFamily="2" charset="-122"/>
                <a:cs typeface="Arial" pitchFamily="34" charset="0"/>
              </a:rPr>
              <a:t>-5</a:t>
            </a:r>
            <a:r>
              <a:rPr lang="zh-CN" altLang="en-US" sz="2000" dirty="0">
                <a:latin typeface="Arial" pitchFamily="34" charset="0"/>
                <a:ea typeface="华文中宋" pitchFamily="2" charset="-122"/>
                <a:cs typeface="Arial" pitchFamily="34" charset="0"/>
              </a:rPr>
              <a:t>至</a:t>
            </a:r>
            <a:r>
              <a:rPr lang="en-US" altLang="zh-CN" sz="2000" dirty="0">
                <a:latin typeface="Arial" pitchFamily="34" charset="0"/>
                <a:ea typeface="华文中宋" pitchFamily="2" charset="-122"/>
                <a:cs typeface="Arial" pitchFamily="34" charset="0"/>
              </a:rPr>
              <a:t>10</a:t>
            </a:r>
            <a:r>
              <a:rPr lang="en-US" altLang="zh-CN" sz="2000" baseline="30000" dirty="0">
                <a:latin typeface="Arial" pitchFamily="34" charset="0"/>
                <a:ea typeface="华文中宋" pitchFamily="2" charset="-122"/>
                <a:cs typeface="Arial" pitchFamily="34" charset="0"/>
              </a:rPr>
              <a:t>-6</a:t>
            </a:r>
          </a:p>
          <a:p>
            <a:pPr lvl="1">
              <a:lnSpc>
                <a:spcPct val="150000"/>
              </a:lnSpc>
              <a:buClr>
                <a:srgbClr val="0000CC"/>
              </a:buClr>
              <a:defRPr/>
            </a:pPr>
            <a:r>
              <a:rPr lang="zh-CN" altLang="en-US" sz="2000" dirty="0">
                <a:latin typeface="Arial" pitchFamily="34" charset="0"/>
                <a:ea typeface="华文中宋" pitchFamily="2" charset="-122"/>
                <a:cs typeface="Arial" pitchFamily="34" charset="0"/>
              </a:rPr>
              <a:t>高质量的晶体振荡器</a:t>
            </a:r>
            <a:r>
              <a:rPr lang="zh-CN" altLang="en-US" sz="2000" baseline="30000" dirty="0">
                <a:latin typeface="Arial" pitchFamily="34" charset="0"/>
                <a:ea typeface="华文中宋" pitchFamily="2" charset="-122"/>
                <a:cs typeface="Arial" pitchFamily="34" charset="0"/>
              </a:rPr>
              <a:t>  </a:t>
            </a:r>
            <a:r>
              <a:rPr lang="zh-CN" altLang="en-US" sz="2000" dirty="0">
                <a:latin typeface="Arial" pitchFamily="34" charset="0"/>
                <a:ea typeface="华文中宋" pitchFamily="2" charset="-122"/>
                <a:cs typeface="Arial" pitchFamily="34" charset="0"/>
              </a:rPr>
              <a:t>－ </a:t>
            </a:r>
            <a:r>
              <a:rPr lang="en-US" altLang="zh-CN" sz="2000" dirty="0">
                <a:latin typeface="Arial" pitchFamily="34" charset="0"/>
                <a:ea typeface="华文中宋" pitchFamily="2" charset="-122"/>
                <a:cs typeface="Arial" pitchFamily="34" charset="0"/>
              </a:rPr>
              <a:t>10</a:t>
            </a:r>
            <a:r>
              <a:rPr lang="en-US" altLang="zh-CN" sz="2000" baseline="30000" dirty="0">
                <a:latin typeface="Arial" pitchFamily="34" charset="0"/>
                <a:ea typeface="华文中宋" pitchFamily="2" charset="-122"/>
                <a:cs typeface="Arial" pitchFamily="34" charset="0"/>
              </a:rPr>
              <a:t>-9</a:t>
            </a:r>
            <a:r>
              <a:rPr lang="zh-CN" altLang="en-US" sz="2000" dirty="0">
                <a:latin typeface="Arial" pitchFamily="34" charset="0"/>
                <a:ea typeface="华文中宋" pitchFamily="2" charset="-122"/>
                <a:cs typeface="Arial" pitchFamily="34" charset="0"/>
              </a:rPr>
              <a:t>至</a:t>
            </a:r>
            <a:r>
              <a:rPr lang="en-US" altLang="zh-CN" sz="2000" dirty="0">
                <a:latin typeface="Arial" pitchFamily="34" charset="0"/>
                <a:ea typeface="华文中宋" pitchFamily="2" charset="-122"/>
                <a:cs typeface="Arial" pitchFamily="34" charset="0"/>
              </a:rPr>
              <a:t>10</a:t>
            </a:r>
            <a:r>
              <a:rPr lang="en-US" altLang="zh-CN" sz="2000" baseline="30000" dirty="0">
                <a:latin typeface="Arial" pitchFamily="34" charset="0"/>
                <a:ea typeface="华文中宋" pitchFamily="2" charset="-122"/>
                <a:cs typeface="Arial" pitchFamily="34" charset="0"/>
              </a:rPr>
              <a:t>-11</a:t>
            </a:r>
          </a:p>
          <a:p>
            <a:pPr lvl="1">
              <a:lnSpc>
                <a:spcPct val="150000"/>
              </a:lnSpc>
              <a:buClr>
                <a:srgbClr val="0000CC"/>
              </a:buClr>
              <a:defRPr/>
            </a:pPr>
            <a:r>
              <a:rPr lang="zh-CN" altLang="en-US" sz="2000" dirty="0">
                <a:latin typeface="Arial" pitchFamily="34" charset="0"/>
                <a:ea typeface="华文中宋" pitchFamily="2" charset="-122"/>
                <a:cs typeface="Arial" pitchFamily="34" charset="0"/>
              </a:rPr>
              <a:t>铷原子钟 － </a:t>
            </a:r>
            <a:r>
              <a:rPr lang="en-US" altLang="zh-CN" sz="2000" dirty="0">
                <a:latin typeface="Arial" pitchFamily="34" charset="0"/>
                <a:ea typeface="华文中宋" pitchFamily="2" charset="-122"/>
                <a:cs typeface="Arial" pitchFamily="34" charset="0"/>
              </a:rPr>
              <a:t>10</a:t>
            </a:r>
            <a:r>
              <a:rPr lang="en-US" altLang="zh-CN" sz="2000" baseline="30000" dirty="0">
                <a:latin typeface="Arial" pitchFamily="34" charset="0"/>
                <a:ea typeface="华文中宋" pitchFamily="2" charset="-122"/>
                <a:cs typeface="Arial" pitchFamily="34" charset="0"/>
              </a:rPr>
              <a:t>-12</a:t>
            </a:r>
          </a:p>
          <a:p>
            <a:pPr lvl="1">
              <a:lnSpc>
                <a:spcPct val="150000"/>
              </a:lnSpc>
              <a:buClr>
                <a:srgbClr val="0000CC"/>
              </a:buClr>
              <a:defRPr/>
            </a:pPr>
            <a:r>
              <a:rPr lang="zh-CN" altLang="en-US" sz="2000" dirty="0">
                <a:latin typeface="Arial" pitchFamily="34" charset="0"/>
                <a:ea typeface="华文中宋" pitchFamily="2" charset="-122"/>
                <a:cs typeface="Arial" pitchFamily="34" charset="0"/>
              </a:rPr>
              <a:t>铯原子钟 － </a:t>
            </a:r>
            <a:r>
              <a:rPr lang="en-US" altLang="zh-CN" sz="2000" dirty="0">
                <a:latin typeface="Arial" pitchFamily="34" charset="0"/>
                <a:ea typeface="华文中宋" pitchFamily="2" charset="-122"/>
                <a:cs typeface="Arial" pitchFamily="34" charset="0"/>
              </a:rPr>
              <a:t>10</a:t>
            </a:r>
            <a:r>
              <a:rPr lang="en-US" altLang="zh-CN" sz="2000" baseline="30000" dirty="0">
                <a:latin typeface="Arial" pitchFamily="34" charset="0"/>
                <a:ea typeface="华文中宋" pitchFamily="2" charset="-122"/>
                <a:cs typeface="Arial" pitchFamily="34" charset="0"/>
              </a:rPr>
              <a:t>-13</a:t>
            </a:r>
            <a:endParaRPr lang="en-US" altLang="zh-CN" sz="2000" dirty="0">
              <a:latin typeface="Arial" pitchFamily="34" charset="0"/>
              <a:ea typeface="华文中宋" pitchFamily="2" charset="-122"/>
              <a:cs typeface="Arial" pitchFamily="34" charset="0"/>
            </a:endParaRPr>
          </a:p>
        </p:txBody>
      </p:sp>
      <p:sp>
        <p:nvSpPr>
          <p:cNvPr id="88068" name="Rectangle 5">
            <a:extLst>
              <a:ext uri="{FF2B5EF4-FFF2-40B4-BE49-F238E27FC236}">
                <a16:creationId xmlns:a16="http://schemas.microsoft.com/office/drawing/2014/main" id="{B5C6CCE5-5596-59D2-EC10-6E77FCC75EC2}"/>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88069" name="Rectangle 7">
            <a:extLst>
              <a:ext uri="{FF2B5EF4-FFF2-40B4-BE49-F238E27FC236}">
                <a16:creationId xmlns:a16="http://schemas.microsoft.com/office/drawing/2014/main" id="{37EBD9B1-F366-92F8-1188-D75061F2754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88070" name="Rectangle 9">
            <a:extLst>
              <a:ext uri="{FF2B5EF4-FFF2-40B4-BE49-F238E27FC236}">
                <a16:creationId xmlns:a16="http://schemas.microsoft.com/office/drawing/2014/main" id="{A256FA84-E134-E1FC-F1AF-510A05BE652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7" name="Text Box 36">
            <a:extLst>
              <a:ext uri="{FF2B5EF4-FFF2-40B4-BE49-F238E27FC236}">
                <a16:creationId xmlns:a16="http://schemas.microsoft.com/office/drawing/2014/main" id="{FEA75594-629B-73D1-96C1-B64F4ACF66B8}"/>
              </a:ext>
            </a:extLst>
          </p:cNvPr>
          <p:cNvSpPr txBox="1">
            <a:spLocks noChangeArrowheads="1"/>
          </p:cNvSpPr>
          <p:nvPr/>
        </p:nvSpPr>
        <p:spPr bwMode="gray">
          <a:xfrm>
            <a:off x="7500938" y="438150"/>
            <a:ext cx="1000125" cy="490538"/>
          </a:xfrm>
          <a:prstGeom prst="rect">
            <a:avLst/>
          </a:prstGeom>
          <a:noFill/>
          <a:ln w="9525">
            <a:noFill/>
            <a:miter lim="800000"/>
            <a:headEnd/>
            <a:tailEnd/>
          </a:ln>
          <a:effectLst>
            <a:outerShdw blurRad="50800" dist="38100" dir="2700000" algn="tl" rotWithShape="0">
              <a:prstClr val="black">
                <a:alpha val="40000"/>
              </a:prstClr>
            </a:outerShdw>
          </a:effectLst>
        </p:spPr>
        <p:txBody>
          <a:bodyPr>
            <a:spAutoFit/>
          </a:bodyPr>
          <a:lstStyle/>
          <a:p>
            <a:pPr>
              <a:lnSpc>
                <a:spcPts val="3100"/>
              </a:lnSpc>
              <a:buClr>
                <a:srgbClr val="969696"/>
              </a:buClr>
              <a:buSzPct val="65000"/>
              <a:defRPr/>
            </a:pPr>
            <a:r>
              <a:rPr lang="zh-CN" altLang="en-US" sz="200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rPr>
              <a:t>网同步</a:t>
            </a:r>
            <a:endParaRPr lang="en-US" altLang="zh-CN" sz="2000" dirty="0">
              <a:solidFill>
                <a:schemeClr val="tx1">
                  <a:lumMod val="65000"/>
                  <a:lumOff val="35000"/>
                </a:schemeClr>
              </a:solidFill>
              <a:effectLst>
                <a:outerShdw blurRad="38100" dist="38100" dir="2700000" algn="tl">
                  <a:srgbClr val="000000">
                    <a:alpha val="43137"/>
                  </a:srgbClr>
                </a:outerShdw>
              </a:effectLst>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08547">
                                            <p:txEl>
                                              <p:pRg st="0" end="0"/>
                                            </p:txEl>
                                          </p:spTgt>
                                        </p:tgtEl>
                                        <p:attrNameLst>
                                          <p:attrName>style.visibility</p:attrName>
                                        </p:attrNameLst>
                                      </p:cBhvr>
                                      <p:to>
                                        <p:strVal val="visible"/>
                                      </p:to>
                                    </p:set>
                                    <p:animEffect transition="in" filter="wipe(up)">
                                      <p:cBhvr>
                                        <p:cTn id="7" dur="1000"/>
                                        <p:tgtEl>
                                          <p:spTgt spid="108547">
                                            <p:txEl>
                                              <p:pRg st="0" end="0"/>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108547">
                                            <p:txEl>
                                              <p:pRg st="1" end="1"/>
                                            </p:txEl>
                                          </p:spTgt>
                                        </p:tgtEl>
                                        <p:attrNameLst>
                                          <p:attrName>style.visibility</p:attrName>
                                        </p:attrNameLst>
                                      </p:cBhvr>
                                      <p:to>
                                        <p:strVal val="visible"/>
                                      </p:to>
                                    </p:set>
                                    <p:animEffect transition="in" filter="wipe(up)">
                                      <p:cBhvr>
                                        <p:cTn id="11" dur="1000"/>
                                        <p:tgtEl>
                                          <p:spTgt spid="108547">
                                            <p:txEl>
                                              <p:pRg st="1" end="1"/>
                                            </p:txEl>
                                          </p:spTgt>
                                        </p:tgtEl>
                                      </p:cBhvr>
                                    </p:animEffect>
                                  </p:childTnLst>
                                </p:cTn>
                              </p:par>
                            </p:childTnLst>
                          </p:cTn>
                        </p:par>
                        <p:par>
                          <p:cTn id="12" fill="hold" nodeType="afterGroup">
                            <p:stCondLst>
                              <p:cond delay="2000"/>
                            </p:stCondLst>
                            <p:childTnLst>
                              <p:par>
                                <p:cTn id="13" presetID="22" presetClass="entr" presetSubtype="1" fill="hold" nodeType="afterEffect">
                                  <p:stCondLst>
                                    <p:cond delay="0"/>
                                  </p:stCondLst>
                                  <p:childTnLst>
                                    <p:set>
                                      <p:cBhvr>
                                        <p:cTn id="14" dur="1" fill="hold">
                                          <p:stCondLst>
                                            <p:cond delay="0"/>
                                          </p:stCondLst>
                                        </p:cTn>
                                        <p:tgtEl>
                                          <p:spTgt spid="108547">
                                            <p:txEl>
                                              <p:pRg st="2" end="2"/>
                                            </p:txEl>
                                          </p:spTgt>
                                        </p:tgtEl>
                                        <p:attrNameLst>
                                          <p:attrName>style.visibility</p:attrName>
                                        </p:attrNameLst>
                                      </p:cBhvr>
                                      <p:to>
                                        <p:strVal val="visible"/>
                                      </p:to>
                                    </p:set>
                                    <p:animEffect transition="in" filter="wipe(up)">
                                      <p:cBhvr>
                                        <p:cTn id="15" dur="1000"/>
                                        <p:tgtEl>
                                          <p:spTgt spid="108547">
                                            <p:txEl>
                                              <p:pRg st="2" end="2"/>
                                            </p:txEl>
                                          </p:spTgt>
                                        </p:tgtEl>
                                      </p:cBhvr>
                                    </p:animEffect>
                                  </p:childTnLst>
                                </p:cTn>
                              </p:par>
                            </p:childTnLst>
                          </p:cTn>
                        </p:par>
                        <p:par>
                          <p:cTn id="16" fill="hold" nodeType="afterGroup">
                            <p:stCondLst>
                              <p:cond delay="3000"/>
                            </p:stCondLst>
                            <p:childTnLst>
                              <p:par>
                                <p:cTn id="17" presetID="22" presetClass="entr" presetSubtype="1" fill="hold" nodeType="afterEffect">
                                  <p:stCondLst>
                                    <p:cond delay="0"/>
                                  </p:stCondLst>
                                  <p:childTnLst>
                                    <p:set>
                                      <p:cBhvr>
                                        <p:cTn id="18" dur="1" fill="hold">
                                          <p:stCondLst>
                                            <p:cond delay="0"/>
                                          </p:stCondLst>
                                        </p:cTn>
                                        <p:tgtEl>
                                          <p:spTgt spid="108547">
                                            <p:txEl>
                                              <p:pRg st="3" end="3"/>
                                            </p:txEl>
                                          </p:spTgt>
                                        </p:tgtEl>
                                        <p:attrNameLst>
                                          <p:attrName>style.visibility</p:attrName>
                                        </p:attrNameLst>
                                      </p:cBhvr>
                                      <p:to>
                                        <p:strVal val="visible"/>
                                      </p:to>
                                    </p:set>
                                    <p:animEffect transition="in" filter="wipe(up)">
                                      <p:cBhvr>
                                        <p:cTn id="19" dur="1000"/>
                                        <p:tgtEl>
                                          <p:spTgt spid="108547">
                                            <p:txEl>
                                              <p:pRg st="3" end="3"/>
                                            </p:txEl>
                                          </p:spTgt>
                                        </p:tgtEl>
                                      </p:cBhvr>
                                    </p:animEffect>
                                  </p:childTnLst>
                                </p:cTn>
                              </p:par>
                            </p:childTnLst>
                          </p:cTn>
                        </p:par>
                        <p:par>
                          <p:cTn id="20" fill="hold" nodeType="afterGroup">
                            <p:stCondLst>
                              <p:cond delay="4000"/>
                            </p:stCondLst>
                            <p:childTnLst>
                              <p:par>
                                <p:cTn id="21" presetID="22" presetClass="entr" presetSubtype="1" fill="hold" nodeType="afterEffect">
                                  <p:stCondLst>
                                    <p:cond delay="0"/>
                                  </p:stCondLst>
                                  <p:childTnLst>
                                    <p:set>
                                      <p:cBhvr>
                                        <p:cTn id="22" dur="1" fill="hold">
                                          <p:stCondLst>
                                            <p:cond delay="0"/>
                                          </p:stCondLst>
                                        </p:cTn>
                                        <p:tgtEl>
                                          <p:spTgt spid="108547">
                                            <p:txEl>
                                              <p:pRg st="4" end="4"/>
                                            </p:txEl>
                                          </p:spTgt>
                                        </p:tgtEl>
                                        <p:attrNameLst>
                                          <p:attrName>style.visibility</p:attrName>
                                        </p:attrNameLst>
                                      </p:cBhvr>
                                      <p:to>
                                        <p:strVal val="visible"/>
                                      </p:to>
                                    </p:set>
                                    <p:animEffect transition="in" filter="wipe(up)">
                                      <p:cBhvr>
                                        <p:cTn id="23" dur="1000"/>
                                        <p:tgtEl>
                                          <p:spTgt spid="1085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5">
            <a:extLst>
              <a:ext uri="{FF2B5EF4-FFF2-40B4-BE49-F238E27FC236}">
                <a16:creationId xmlns:a16="http://schemas.microsoft.com/office/drawing/2014/main" id="{E5CDD099-DE70-FA77-1B7A-E68C49A1B890}"/>
              </a:ext>
            </a:extLst>
          </p:cNvPr>
          <p:cNvSpPr>
            <a:spLocks noChangeArrowheads="1"/>
          </p:cNvSpPr>
          <p:nvPr/>
        </p:nvSpPr>
        <p:spPr bwMode="auto">
          <a:xfrm>
            <a:off x="0" y="32623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aphicFrame>
        <p:nvGraphicFramePr>
          <p:cNvPr id="109572" name="Object 2">
            <a:extLst>
              <a:ext uri="{FF2B5EF4-FFF2-40B4-BE49-F238E27FC236}">
                <a16:creationId xmlns:a16="http://schemas.microsoft.com/office/drawing/2014/main" id="{05B66864-63D3-6D6C-80FF-4864828D30B9}"/>
              </a:ext>
            </a:extLst>
          </p:cNvPr>
          <p:cNvGraphicFramePr>
            <a:graphicFrameLocks noChangeAspect="1"/>
          </p:cNvGraphicFramePr>
          <p:nvPr/>
        </p:nvGraphicFramePr>
        <p:xfrm>
          <a:off x="2000250" y="1714500"/>
          <a:ext cx="5154613" cy="539750"/>
        </p:xfrm>
        <a:graphic>
          <a:graphicData uri="http://schemas.openxmlformats.org/presentationml/2006/ole">
            <mc:AlternateContent xmlns:mc="http://schemas.openxmlformats.org/markup-compatibility/2006">
              <mc:Choice xmlns:v="urn:schemas-microsoft-com:vml" Requires="v">
                <p:oleObj name="公式" r:id="rId2" imgW="3174840" imgH="330120" progId="Equation.3">
                  <p:embed/>
                </p:oleObj>
              </mc:Choice>
              <mc:Fallback>
                <p:oleObj name="公式" r:id="rId2" imgW="3174840" imgH="33012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0250" y="1714500"/>
                        <a:ext cx="5154613" cy="539750"/>
                      </a:xfrm>
                      <a:prstGeom prst="rect">
                        <a:avLst/>
                      </a:prstGeom>
                      <a:noFill/>
                      <a:ln w="38100" cmpd="dbl">
                        <a:solidFill>
                          <a:srgbClr val="6666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29" name="Rectangle 7">
            <a:extLst>
              <a:ext uri="{FF2B5EF4-FFF2-40B4-BE49-F238E27FC236}">
                <a16:creationId xmlns:a16="http://schemas.microsoft.com/office/drawing/2014/main" id="{F287179C-E8E0-8B41-8C52-D6B29212DCC4}"/>
              </a:ext>
            </a:extLst>
          </p:cNvPr>
          <p:cNvSpPr>
            <a:spLocks noChangeArrowheads="1"/>
          </p:cNvSpPr>
          <p:nvPr/>
        </p:nvSpPr>
        <p:spPr bwMode="auto">
          <a:xfrm>
            <a:off x="0" y="29860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aphicFrame>
        <p:nvGraphicFramePr>
          <p:cNvPr id="109574" name="Object 3">
            <a:extLst>
              <a:ext uri="{FF2B5EF4-FFF2-40B4-BE49-F238E27FC236}">
                <a16:creationId xmlns:a16="http://schemas.microsoft.com/office/drawing/2014/main" id="{F4E4B977-638B-6B9B-9FD6-08E928ABBB11}"/>
              </a:ext>
            </a:extLst>
          </p:cNvPr>
          <p:cNvGraphicFramePr>
            <a:graphicFrameLocks noChangeAspect="1"/>
          </p:cNvGraphicFramePr>
          <p:nvPr/>
        </p:nvGraphicFramePr>
        <p:xfrm>
          <a:off x="1643063" y="4132263"/>
          <a:ext cx="6165850" cy="1439862"/>
        </p:xfrm>
        <a:graphic>
          <a:graphicData uri="http://schemas.openxmlformats.org/presentationml/2006/ole">
            <mc:AlternateContent xmlns:mc="http://schemas.openxmlformats.org/markup-compatibility/2006">
              <mc:Choice xmlns:v="urn:schemas-microsoft-com:vml" Requires="v">
                <p:oleObj name="公式" r:id="rId4" imgW="3530600" imgH="889000" progId="Equation.3">
                  <p:embed/>
                </p:oleObj>
              </mc:Choice>
              <mc:Fallback>
                <p:oleObj name="公式" r:id="rId4" imgW="3530600" imgH="8890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43063" y="4132263"/>
                        <a:ext cx="6165850" cy="1439862"/>
                      </a:xfrm>
                      <a:prstGeom prst="rect">
                        <a:avLst/>
                      </a:prstGeom>
                      <a:noFill/>
                      <a:ln w="38100" cmpd="dbl">
                        <a:solidFill>
                          <a:srgbClr val="6666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3">
            <a:extLst>
              <a:ext uri="{FF2B5EF4-FFF2-40B4-BE49-F238E27FC236}">
                <a16:creationId xmlns:a16="http://schemas.microsoft.com/office/drawing/2014/main" id="{B89D6529-98EB-F8A2-CC1E-4274DD005FD3}"/>
              </a:ext>
            </a:extLst>
          </p:cNvPr>
          <p:cNvSpPr txBox="1">
            <a:spLocks noChangeArrowheads="1"/>
          </p:cNvSpPr>
          <p:nvPr/>
        </p:nvSpPr>
        <p:spPr bwMode="auto">
          <a:xfrm>
            <a:off x="642938" y="1071563"/>
            <a:ext cx="7643812" cy="500062"/>
          </a:xfrm>
          <a:prstGeom prst="rect">
            <a:avLst/>
          </a:prstGeom>
          <a:noFill/>
          <a:ln w="9525">
            <a:noFill/>
            <a:miter lim="800000"/>
            <a:headEnd/>
            <a:tailEnd/>
          </a:ln>
        </p:spPr>
        <p:txBody>
          <a:bodyPr/>
          <a:lstStyle/>
          <a:p>
            <a:pPr marL="342900" lvl="3" indent="-342900" eaLnBrk="0" hangingPunct="0">
              <a:lnSpc>
                <a:spcPts val="3200"/>
              </a:lnSpc>
              <a:spcBef>
                <a:spcPct val="20000"/>
              </a:spcBef>
              <a:buClr>
                <a:schemeClr val="bg1">
                  <a:lumMod val="50000"/>
                </a:schemeClr>
              </a:buClr>
              <a:buSzPct val="70000"/>
              <a:buFont typeface="Wingdings" pitchFamily="2" charset="2"/>
              <a:buChar char="p"/>
              <a:defRPr/>
            </a:pPr>
            <a:r>
              <a:rPr lang="zh-CN" altLang="en-US" sz="2000" b="1" kern="0" dirty="0">
                <a:solidFill>
                  <a:srgbClr val="003399"/>
                </a:solidFill>
                <a:latin typeface="微软雅黑" pitchFamily="34" charset="-122"/>
                <a:ea typeface="微软雅黑" pitchFamily="34" charset="-122"/>
                <a:cs typeface="Arial" pitchFamily="34" charset="0"/>
              </a:rPr>
              <a:t>在时间</a:t>
            </a:r>
            <a:r>
              <a:rPr lang="en-US" altLang="zh-CN" sz="2000" b="1" i="1" kern="0" dirty="0">
                <a:solidFill>
                  <a:srgbClr val="990099"/>
                </a:solidFill>
                <a:latin typeface="微软雅黑" pitchFamily="34" charset="-122"/>
                <a:ea typeface="微软雅黑" pitchFamily="34" charset="-122"/>
                <a:cs typeface="Arial" pitchFamily="34" charset="0"/>
              </a:rPr>
              <a:t>T </a:t>
            </a:r>
            <a:r>
              <a:rPr lang="en-US" altLang="zh-CN" sz="2000" b="1" i="1" kern="0" dirty="0">
                <a:solidFill>
                  <a:srgbClr val="003399"/>
                </a:solidFill>
                <a:latin typeface="微软雅黑" pitchFamily="34" charset="-122"/>
                <a:ea typeface="微软雅黑" pitchFamily="34" charset="-122"/>
                <a:cs typeface="Arial" pitchFamily="34" charset="0"/>
              </a:rPr>
              <a:t> </a:t>
            </a:r>
            <a:r>
              <a:rPr lang="zh-CN" altLang="en-US" sz="2000" b="1" kern="0" dirty="0">
                <a:solidFill>
                  <a:srgbClr val="003399"/>
                </a:solidFill>
                <a:latin typeface="微软雅黑" pitchFamily="34" charset="-122"/>
                <a:ea typeface="微软雅黑" pitchFamily="34" charset="-122"/>
                <a:cs typeface="Arial" pitchFamily="34" charset="0"/>
              </a:rPr>
              <a:t>内增大的频率偏移</a:t>
            </a:r>
            <a:r>
              <a:rPr lang="zh-CN" altLang="en-US" sz="2000" kern="0" dirty="0">
                <a:solidFill>
                  <a:srgbClr val="003399"/>
                </a:solidFill>
                <a:latin typeface="微软雅黑" pitchFamily="34" charset="-122"/>
                <a:ea typeface="微软雅黑" pitchFamily="34" charset="-122"/>
                <a:cs typeface="Arial" pitchFamily="34" charset="0"/>
              </a:rPr>
              <a:t>：</a:t>
            </a:r>
          </a:p>
        </p:txBody>
      </p:sp>
      <p:sp>
        <p:nvSpPr>
          <p:cNvPr id="13" name="矩形 12">
            <a:extLst>
              <a:ext uri="{FF2B5EF4-FFF2-40B4-BE49-F238E27FC236}">
                <a16:creationId xmlns:a16="http://schemas.microsoft.com/office/drawing/2014/main" id="{0BB67D9A-F105-44FF-B3E7-24A824FFB754}"/>
              </a:ext>
            </a:extLst>
          </p:cNvPr>
          <p:cNvSpPr/>
          <p:nvPr/>
        </p:nvSpPr>
        <p:spPr>
          <a:xfrm>
            <a:off x="642938" y="2444750"/>
            <a:ext cx="7385050" cy="769938"/>
          </a:xfrm>
          <a:prstGeom prst="rect">
            <a:avLst/>
          </a:prstGeom>
        </p:spPr>
        <p:txBody>
          <a:bodyPr>
            <a:spAutoFit/>
          </a:bodyPr>
          <a:lstStyle/>
          <a:p>
            <a:pPr marL="342900" indent="-342900" eaLnBrk="0" hangingPunct="0">
              <a:lnSpc>
                <a:spcPct val="110000"/>
              </a:lnSpc>
              <a:spcBef>
                <a:spcPct val="20000"/>
              </a:spcBef>
              <a:buClr>
                <a:srgbClr val="3333CC"/>
              </a:buClr>
              <a:buSzPct val="60000"/>
              <a:defRPr/>
            </a:pPr>
            <a:r>
              <a:rPr lang="zh-CN" altLang="en-US" sz="2000" kern="0" dirty="0">
                <a:solidFill>
                  <a:srgbClr val="000000"/>
                </a:solidFill>
                <a:latin typeface="Arial" pitchFamily="34" charset="0"/>
                <a:ea typeface="华文中宋" pitchFamily="2" charset="-122"/>
                <a:cs typeface="Arial" pitchFamily="34" charset="0"/>
              </a:rPr>
              <a:t>	式中，  </a:t>
            </a:r>
            <a:r>
              <a:rPr lang="zh-CN" altLang="en-US" sz="2000" kern="0" dirty="0">
                <a:solidFill>
                  <a:srgbClr val="000000"/>
                </a:solidFill>
                <a:latin typeface="Arial" pitchFamily="34" charset="0"/>
                <a:ea typeface="华文中宋" pitchFamily="2" charset="-122"/>
                <a:cs typeface="Arial" pitchFamily="34" charset="0"/>
                <a:sym typeface="Symbol" pitchFamily="18" charset="2"/>
              </a:rPr>
              <a:t></a:t>
            </a:r>
            <a:r>
              <a:rPr lang="en-US" altLang="zh-CN" sz="2000" i="1" kern="0" dirty="0">
                <a:solidFill>
                  <a:srgbClr val="000000"/>
                </a:solidFill>
                <a:latin typeface="Arial" pitchFamily="34" charset="0"/>
                <a:ea typeface="华文中宋" pitchFamily="2" charset="-122"/>
                <a:cs typeface="Arial" pitchFamily="34" charset="0"/>
              </a:rPr>
              <a:t>f</a:t>
            </a:r>
            <a:r>
              <a:rPr lang="en-US" altLang="zh-CN" sz="2000" kern="0" dirty="0">
                <a:solidFill>
                  <a:srgbClr val="000000"/>
                </a:solidFill>
                <a:latin typeface="Arial" pitchFamily="34" charset="0"/>
                <a:ea typeface="华文中宋" pitchFamily="2" charset="-122"/>
                <a:cs typeface="Arial" pitchFamily="34" charset="0"/>
              </a:rPr>
              <a:t>(0) </a:t>
            </a:r>
            <a:r>
              <a:rPr lang="zh-CN" altLang="en-US" sz="2000" kern="0" dirty="0">
                <a:solidFill>
                  <a:srgbClr val="000000"/>
                </a:solidFill>
                <a:latin typeface="Arial" pitchFamily="34" charset="0"/>
                <a:ea typeface="华文中宋" pitchFamily="2" charset="-122"/>
                <a:cs typeface="Arial" pitchFamily="34" charset="0"/>
              </a:rPr>
              <a:t>－ 初始（</a:t>
            </a:r>
            <a:r>
              <a:rPr lang="en-US" altLang="zh-CN" sz="2000" i="1" kern="0" dirty="0">
                <a:solidFill>
                  <a:srgbClr val="000000"/>
                </a:solidFill>
                <a:latin typeface="Arial" pitchFamily="34" charset="0"/>
                <a:ea typeface="华文中宋" pitchFamily="2" charset="-122"/>
                <a:cs typeface="Arial" pitchFamily="34" charset="0"/>
              </a:rPr>
              <a:t>t</a:t>
            </a:r>
            <a:r>
              <a:rPr lang="en-US" altLang="zh-CN" sz="2000" kern="0" dirty="0">
                <a:solidFill>
                  <a:srgbClr val="000000"/>
                </a:solidFill>
                <a:latin typeface="Arial" pitchFamily="34" charset="0"/>
                <a:ea typeface="华文中宋" pitchFamily="2" charset="-122"/>
                <a:cs typeface="Arial" pitchFamily="34" charset="0"/>
              </a:rPr>
              <a:t> = 0</a:t>
            </a:r>
            <a:r>
              <a:rPr lang="zh-CN" altLang="en-US" sz="2000" kern="0" dirty="0">
                <a:solidFill>
                  <a:srgbClr val="000000"/>
                </a:solidFill>
                <a:latin typeface="Arial" pitchFamily="34" charset="0"/>
                <a:ea typeface="华文中宋" pitchFamily="2" charset="-122"/>
                <a:cs typeface="Arial" pitchFamily="34" charset="0"/>
              </a:rPr>
              <a:t>时）频率偏移</a:t>
            </a:r>
            <a:endParaRPr lang="zh-CN" altLang="en-US" sz="2000" i="1" kern="0" dirty="0">
              <a:solidFill>
                <a:srgbClr val="000000"/>
              </a:solidFill>
              <a:latin typeface="Arial" pitchFamily="34" charset="0"/>
              <a:ea typeface="华文中宋" pitchFamily="2" charset="-122"/>
              <a:cs typeface="Arial" pitchFamily="34" charset="0"/>
            </a:endParaRPr>
          </a:p>
          <a:p>
            <a:pPr marL="342900" indent="-342900" eaLnBrk="0" hangingPunct="0">
              <a:lnSpc>
                <a:spcPct val="90000"/>
              </a:lnSpc>
              <a:spcBef>
                <a:spcPct val="20000"/>
              </a:spcBef>
              <a:buClr>
                <a:srgbClr val="3333CC"/>
              </a:buClr>
              <a:buSzPct val="60000"/>
              <a:defRPr/>
            </a:pPr>
            <a:r>
              <a:rPr lang="zh-CN" altLang="en-US" sz="2000" i="1" kern="0" dirty="0">
                <a:solidFill>
                  <a:srgbClr val="000000"/>
                </a:solidFill>
                <a:latin typeface="Arial" pitchFamily="34" charset="0"/>
                <a:ea typeface="华文中宋" pitchFamily="2" charset="-122"/>
                <a:cs typeface="Arial" pitchFamily="34" charset="0"/>
              </a:rPr>
              <a:t>	                 </a:t>
            </a:r>
            <a:r>
              <a:rPr lang="en-US" altLang="zh-CN" sz="2000" i="1" kern="0" dirty="0">
                <a:solidFill>
                  <a:srgbClr val="000000"/>
                </a:solidFill>
                <a:latin typeface="Arial" pitchFamily="34" charset="0"/>
                <a:ea typeface="华文中宋" pitchFamily="2" charset="-122"/>
                <a:cs typeface="Arial" pitchFamily="34" charset="0"/>
              </a:rPr>
              <a:t>T  </a:t>
            </a:r>
            <a:r>
              <a:rPr lang="zh-CN" altLang="en-US" sz="2000" kern="0" dirty="0">
                <a:solidFill>
                  <a:srgbClr val="000000"/>
                </a:solidFill>
                <a:latin typeface="Arial" pitchFamily="34" charset="0"/>
                <a:ea typeface="华文中宋" pitchFamily="2" charset="-122"/>
                <a:cs typeface="Arial" pitchFamily="34" charset="0"/>
              </a:rPr>
              <a:t>－  时间（天）</a:t>
            </a:r>
          </a:p>
        </p:txBody>
      </p:sp>
      <p:sp>
        <p:nvSpPr>
          <p:cNvPr id="15" name="矩形 14">
            <a:extLst>
              <a:ext uri="{FF2B5EF4-FFF2-40B4-BE49-F238E27FC236}">
                <a16:creationId xmlns:a16="http://schemas.microsoft.com/office/drawing/2014/main" id="{DA921C98-C046-63FB-C4B4-A74CDD6644BB}"/>
              </a:ext>
            </a:extLst>
          </p:cNvPr>
          <p:cNvSpPr/>
          <p:nvPr/>
        </p:nvSpPr>
        <p:spPr>
          <a:xfrm>
            <a:off x="857250" y="5815013"/>
            <a:ext cx="7712075" cy="400050"/>
          </a:xfrm>
          <a:prstGeom prst="rect">
            <a:avLst/>
          </a:prstGeom>
        </p:spPr>
        <p:txBody>
          <a:bodyPr>
            <a:spAutoFit/>
          </a:bodyPr>
          <a:lstStyle/>
          <a:p>
            <a:pPr>
              <a:defRPr/>
            </a:pPr>
            <a:r>
              <a:rPr lang="zh-CN" altLang="en-US" sz="2000" kern="0" dirty="0">
                <a:solidFill>
                  <a:srgbClr val="000000"/>
                </a:solidFill>
                <a:latin typeface="Arial" pitchFamily="34" charset="0"/>
                <a:ea typeface="华文中宋" pitchFamily="2" charset="-122"/>
                <a:cs typeface="Arial" pitchFamily="34" charset="0"/>
              </a:rPr>
              <a:t>可见，若没有外界干预，参考时间误差可以随时间按平方律增长。 </a:t>
            </a:r>
            <a:endParaRPr lang="zh-CN" altLang="en-US" dirty="0">
              <a:ea typeface="宋体" charset="-122"/>
            </a:endParaRPr>
          </a:p>
        </p:txBody>
      </p:sp>
      <p:sp>
        <p:nvSpPr>
          <p:cNvPr id="16" name="Rectangle 3">
            <a:extLst>
              <a:ext uri="{FF2B5EF4-FFF2-40B4-BE49-F238E27FC236}">
                <a16:creationId xmlns:a16="http://schemas.microsoft.com/office/drawing/2014/main" id="{271DACE2-CDAE-8CB3-96CD-388E19CDBDF4}"/>
              </a:ext>
            </a:extLst>
          </p:cNvPr>
          <p:cNvSpPr txBox="1">
            <a:spLocks noChangeArrowheads="1"/>
          </p:cNvSpPr>
          <p:nvPr/>
        </p:nvSpPr>
        <p:spPr bwMode="auto">
          <a:xfrm>
            <a:off x="571500" y="3429000"/>
            <a:ext cx="7643813" cy="500063"/>
          </a:xfrm>
          <a:prstGeom prst="rect">
            <a:avLst/>
          </a:prstGeom>
          <a:noFill/>
          <a:ln w="9525">
            <a:noFill/>
            <a:miter lim="800000"/>
            <a:headEnd/>
            <a:tailEnd/>
          </a:ln>
        </p:spPr>
        <p:txBody>
          <a:bodyPr/>
          <a:lstStyle/>
          <a:p>
            <a:pPr marL="342900" lvl="3" indent="-342900" eaLnBrk="0" hangingPunct="0">
              <a:lnSpc>
                <a:spcPts val="3200"/>
              </a:lnSpc>
              <a:spcBef>
                <a:spcPct val="20000"/>
              </a:spcBef>
              <a:buClr>
                <a:schemeClr val="bg1">
                  <a:lumMod val="50000"/>
                </a:schemeClr>
              </a:buClr>
              <a:buSzPct val="70000"/>
              <a:buFont typeface="Wingdings" pitchFamily="2" charset="2"/>
              <a:buChar char="p"/>
              <a:defRPr/>
            </a:pPr>
            <a:r>
              <a:rPr lang="zh-CN" altLang="en-US" sz="2000" b="1" dirty="0">
                <a:solidFill>
                  <a:srgbClr val="003399"/>
                </a:solidFill>
                <a:latin typeface="微软雅黑" pitchFamily="34" charset="-122"/>
                <a:ea typeface="微软雅黑" pitchFamily="34" charset="-122"/>
                <a:cs typeface="Arial" pitchFamily="34" charset="0"/>
              </a:rPr>
              <a:t>积累的时间偏差</a:t>
            </a:r>
            <a:r>
              <a:rPr lang="zh-CN" altLang="en-US" sz="2000" b="1" i="1" dirty="0">
                <a:solidFill>
                  <a:srgbClr val="003399"/>
                </a:solidFill>
                <a:latin typeface="微软雅黑" pitchFamily="34" charset="-122"/>
                <a:ea typeface="微软雅黑" pitchFamily="34" charset="-122"/>
                <a:cs typeface="Arial" pitchFamily="34" charset="0"/>
                <a:sym typeface="Symbol" pitchFamily="18" charset="2"/>
              </a:rPr>
              <a:t></a:t>
            </a:r>
            <a:r>
              <a:rPr lang="en-US" altLang="zh-CN" sz="2000" b="1" i="1" dirty="0">
                <a:solidFill>
                  <a:srgbClr val="003399"/>
                </a:solidFill>
                <a:latin typeface="微软雅黑" pitchFamily="34" charset="-122"/>
                <a:ea typeface="微软雅黑" pitchFamily="34" charset="-122"/>
                <a:cs typeface="Arial" pitchFamily="34" charset="0"/>
              </a:rPr>
              <a:t>t </a:t>
            </a:r>
            <a:r>
              <a:rPr lang="en-US" altLang="zh-CN" sz="2000" b="1" dirty="0">
                <a:solidFill>
                  <a:srgbClr val="003399"/>
                </a:solidFill>
                <a:latin typeface="微软雅黑" pitchFamily="34" charset="-122"/>
                <a:ea typeface="微软雅黑" pitchFamily="34" charset="-122"/>
                <a:cs typeface="Arial" pitchFamily="34" charset="0"/>
              </a:rPr>
              <a:t>(</a:t>
            </a:r>
            <a:r>
              <a:rPr lang="en-US" altLang="zh-CN" sz="2000" b="1" i="1" dirty="0">
                <a:solidFill>
                  <a:srgbClr val="003399"/>
                </a:solidFill>
                <a:latin typeface="微软雅黑" pitchFamily="34" charset="-122"/>
                <a:ea typeface="微软雅黑" pitchFamily="34" charset="-122"/>
                <a:cs typeface="Arial" pitchFamily="34" charset="0"/>
              </a:rPr>
              <a:t>T</a:t>
            </a:r>
            <a:r>
              <a:rPr lang="en-US" altLang="zh-CN" sz="2000" b="1" dirty="0">
                <a:solidFill>
                  <a:srgbClr val="003399"/>
                </a:solidFill>
                <a:latin typeface="微软雅黑" pitchFamily="34" charset="-122"/>
                <a:ea typeface="微软雅黑" pitchFamily="34" charset="-122"/>
                <a:cs typeface="Arial" pitchFamily="34" charset="0"/>
              </a:rPr>
              <a:t>)</a:t>
            </a:r>
            <a:r>
              <a:rPr lang="zh-CN" altLang="en-US" sz="2000" kern="0" dirty="0">
                <a:solidFill>
                  <a:srgbClr val="003399"/>
                </a:solidFill>
                <a:latin typeface="微软雅黑" pitchFamily="34" charset="-122"/>
                <a:ea typeface="微软雅黑" pitchFamily="34" charset="-122"/>
                <a:cs typeface="Arial" pitchFamily="34" charset="0"/>
              </a:rPr>
              <a:t>：</a:t>
            </a:r>
            <a:r>
              <a:rPr lang="zh-CN" altLang="en-US" sz="2000" kern="0" dirty="0">
                <a:latin typeface="华文中宋" pitchFamily="2" charset="-122"/>
                <a:ea typeface="华文中宋" pitchFamily="2" charset="-122"/>
                <a:cs typeface="Arial" pitchFamily="34" charset="0"/>
              </a:rPr>
              <a:t>与</a:t>
            </a:r>
            <a:r>
              <a:rPr lang="zh-CN" altLang="en-US" sz="2000" dirty="0">
                <a:latin typeface="华文中宋" pitchFamily="2" charset="-122"/>
                <a:ea typeface="华文中宋" pitchFamily="2" charset="-122"/>
                <a:cs typeface="Arial" pitchFamily="34" charset="0"/>
              </a:rPr>
              <a:t>参考频率的积累相位误差有关：</a:t>
            </a:r>
          </a:p>
          <a:p>
            <a:pPr marL="342900" lvl="3" indent="-342900" eaLnBrk="0" hangingPunct="0">
              <a:lnSpc>
                <a:spcPts val="3200"/>
              </a:lnSpc>
              <a:spcBef>
                <a:spcPct val="20000"/>
              </a:spcBef>
              <a:buClr>
                <a:schemeClr val="bg1">
                  <a:lumMod val="50000"/>
                </a:schemeClr>
              </a:buClr>
              <a:buSzPct val="70000"/>
              <a:buFont typeface="Wingdings" pitchFamily="2" charset="2"/>
              <a:buChar char="p"/>
              <a:defRPr/>
            </a:pPr>
            <a:endParaRPr lang="zh-CN" altLang="en-US" sz="2000" kern="0" dirty="0">
              <a:solidFill>
                <a:srgbClr val="003399"/>
              </a:solidFill>
              <a:latin typeface="微软雅黑" pitchFamily="34" charset="-122"/>
              <a:ea typeface="微软雅黑" pitchFamily="34" charset="-122"/>
              <a:cs typeface="Arial" pitchFamily="34" charset="0"/>
            </a:endParaRPr>
          </a:p>
        </p:txBody>
      </p:sp>
      <p:sp>
        <p:nvSpPr>
          <p:cNvPr id="10" name="Text Box 36">
            <a:extLst>
              <a:ext uri="{FF2B5EF4-FFF2-40B4-BE49-F238E27FC236}">
                <a16:creationId xmlns:a16="http://schemas.microsoft.com/office/drawing/2014/main" id="{CFE548A7-3B1F-078F-EFC3-7B483D521B50}"/>
              </a:ext>
            </a:extLst>
          </p:cNvPr>
          <p:cNvSpPr txBox="1">
            <a:spLocks noChangeArrowheads="1"/>
          </p:cNvSpPr>
          <p:nvPr/>
        </p:nvSpPr>
        <p:spPr bwMode="gray">
          <a:xfrm>
            <a:off x="7500938" y="438150"/>
            <a:ext cx="1000125" cy="490538"/>
          </a:xfrm>
          <a:prstGeom prst="rect">
            <a:avLst/>
          </a:prstGeom>
          <a:noFill/>
          <a:ln w="9525">
            <a:noFill/>
            <a:miter lim="800000"/>
            <a:headEnd/>
            <a:tailEnd/>
          </a:ln>
          <a:effectLst>
            <a:outerShdw blurRad="50800" dist="38100" dir="2700000" algn="tl" rotWithShape="0">
              <a:prstClr val="black">
                <a:alpha val="40000"/>
              </a:prstClr>
            </a:outerShdw>
          </a:effectLst>
        </p:spPr>
        <p:txBody>
          <a:bodyPr>
            <a:spAutoFit/>
          </a:bodyPr>
          <a:lstStyle/>
          <a:p>
            <a:pPr>
              <a:lnSpc>
                <a:spcPts val="3100"/>
              </a:lnSpc>
              <a:buClr>
                <a:srgbClr val="969696"/>
              </a:buClr>
              <a:buSzPct val="65000"/>
              <a:defRPr/>
            </a:pPr>
            <a:r>
              <a:rPr lang="zh-CN" altLang="en-US" sz="200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rPr>
              <a:t>网同步</a:t>
            </a:r>
            <a:endParaRPr lang="en-US" altLang="zh-CN" sz="2000" dirty="0">
              <a:solidFill>
                <a:schemeClr val="tx1">
                  <a:lumMod val="65000"/>
                  <a:lumOff val="35000"/>
                </a:schemeClr>
              </a:solidFill>
              <a:effectLst>
                <a:outerShdw blurRad="38100" dist="38100" dir="2700000" algn="tl">
                  <a:srgbClr val="000000">
                    <a:alpha val="43137"/>
                  </a:srgbClr>
                </a:outerShdw>
              </a:effectLst>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1000"/>
                                        <p:tgtEl>
                                          <p:spTgt spid="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09572"/>
                                        </p:tgtEl>
                                        <p:attrNameLst>
                                          <p:attrName>style.visibility</p:attrName>
                                        </p:attrNameLst>
                                      </p:cBhvr>
                                      <p:to>
                                        <p:strVal val="visible"/>
                                      </p:to>
                                    </p:set>
                                    <p:animEffect transition="in" filter="wipe(up)">
                                      <p:cBhvr>
                                        <p:cTn id="12" dur="1000"/>
                                        <p:tgtEl>
                                          <p:spTgt spid="10957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up)">
                                      <p:cBhvr>
                                        <p:cTn id="17" dur="1000"/>
                                        <p:tgtEl>
                                          <p:spTgt spid="1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up)">
                                      <p:cBhvr>
                                        <p:cTn id="22" dur="1000"/>
                                        <p:tgtEl>
                                          <p:spTgt spid="1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109574"/>
                                        </p:tgtEl>
                                        <p:attrNameLst>
                                          <p:attrName>style.visibility</p:attrName>
                                        </p:attrNameLst>
                                      </p:cBhvr>
                                      <p:to>
                                        <p:strVal val="visible"/>
                                      </p:to>
                                    </p:set>
                                    <p:animEffect transition="in" filter="wipe(up)">
                                      <p:cBhvr>
                                        <p:cTn id="27" dur="1000"/>
                                        <p:tgtEl>
                                          <p:spTgt spid="10957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up)">
                                      <p:cBhvr>
                                        <p:cTn id="32"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6"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Rectangle 3">
            <a:extLst>
              <a:ext uri="{FF2B5EF4-FFF2-40B4-BE49-F238E27FC236}">
                <a16:creationId xmlns:a16="http://schemas.microsoft.com/office/drawing/2014/main" id="{D1897836-7776-FE58-428E-4DFCA5D5A30C}"/>
              </a:ext>
            </a:extLst>
          </p:cNvPr>
          <p:cNvSpPr>
            <a:spLocks noGrp="1" noChangeArrowheads="1"/>
          </p:cNvSpPr>
          <p:nvPr>
            <p:ph type="body" idx="1"/>
          </p:nvPr>
        </p:nvSpPr>
        <p:spPr bwMode="auto">
          <a:xfrm>
            <a:off x="500063" y="1724025"/>
            <a:ext cx="7929562" cy="441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1">
              <a:lnSpc>
                <a:spcPct val="150000"/>
              </a:lnSpc>
              <a:buClr>
                <a:srgbClr val="0000CC"/>
              </a:buClr>
            </a:pPr>
            <a:r>
              <a:rPr lang="zh-CN" altLang="en-US" sz="2000">
                <a:latin typeface="华文中宋" panose="02010600040101010101" pitchFamily="2" charset="-122"/>
                <a:ea typeface="华文中宋" panose="02010600040101010101" pitchFamily="2" charset="-122"/>
              </a:rPr>
              <a:t>这个不断增长的时间误差限定了外部有关单位在多长时间内必须给予一次校正；</a:t>
            </a:r>
            <a:endParaRPr lang="en-US" altLang="zh-CN" sz="2000">
              <a:latin typeface="华文中宋" panose="02010600040101010101" pitchFamily="2" charset="-122"/>
              <a:ea typeface="华文中宋" panose="02010600040101010101" pitchFamily="2" charset="-122"/>
            </a:endParaRPr>
          </a:p>
          <a:p>
            <a:pPr lvl="1">
              <a:lnSpc>
                <a:spcPct val="150000"/>
              </a:lnSpc>
              <a:buClr>
                <a:srgbClr val="0000CC"/>
              </a:buClr>
            </a:pPr>
            <a:r>
              <a:rPr lang="zh-CN" altLang="en-US" sz="2000">
                <a:latin typeface="华文中宋" panose="02010600040101010101" pitchFamily="2" charset="-122"/>
                <a:ea typeface="华文中宋" panose="02010600040101010101" pitchFamily="2" charset="-122"/>
              </a:rPr>
              <a:t>或者更新终端站内的关于中心站接收机的定时数据；</a:t>
            </a:r>
            <a:endParaRPr lang="en-US" altLang="zh-CN" sz="2000">
              <a:latin typeface="华文中宋" panose="02010600040101010101" pitchFamily="2" charset="-122"/>
              <a:ea typeface="华文中宋" panose="02010600040101010101" pitchFamily="2" charset="-122"/>
            </a:endParaRPr>
          </a:p>
          <a:p>
            <a:pPr lvl="1">
              <a:lnSpc>
                <a:spcPct val="150000"/>
              </a:lnSpc>
              <a:buClr>
                <a:srgbClr val="0000CC"/>
              </a:buClr>
            </a:pPr>
            <a:r>
              <a:rPr lang="zh-CN" altLang="en-US" sz="2000">
                <a:latin typeface="华文中宋" panose="02010600040101010101" pitchFamily="2" charset="-122"/>
                <a:ea typeface="华文中宋" panose="02010600040101010101" pitchFamily="2" charset="-122"/>
              </a:rPr>
              <a:t>或重新将中心站接收机和地球站发射机的参考时间设置到标称时间。 </a:t>
            </a:r>
            <a:endParaRPr lang="en-US" altLang="zh-CN" sz="2000">
              <a:latin typeface="华文中宋" panose="02010600040101010101" pitchFamily="2" charset="-122"/>
              <a:ea typeface="华文中宋" panose="02010600040101010101" pitchFamily="2" charset="-122"/>
            </a:endParaRPr>
          </a:p>
          <a:p>
            <a:pPr lvl="1">
              <a:lnSpc>
                <a:spcPct val="150000"/>
              </a:lnSpc>
              <a:buClr>
                <a:srgbClr val="0000CC"/>
              </a:buClr>
            </a:pPr>
            <a:r>
              <a:rPr lang="zh-CN" altLang="en-US" sz="2000">
                <a:latin typeface="华文中宋" panose="02010600040101010101" pitchFamily="2" charset="-122"/>
                <a:ea typeface="华文中宋" panose="02010600040101010101" pitchFamily="2" charset="-122"/>
              </a:rPr>
              <a:t>若发射机没有来自反向链路的信息，系统设计者能用</a:t>
            </a:r>
            <a:r>
              <a:rPr lang="en-US" altLang="zh-CN" sz="2000" i="1">
                <a:latin typeface="华文中宋" panose="02010600040101010101" pitchFamily="2" charset="-122"/>
                <a:ea typeface="华文中宋" panose="02010600040101010101" pitchFamily="2" charset="-122"/>
              </a:rPr>
              <a:t>T</a:t>
            </a:r>
            <a:r>
              <a:rPr lang="en-US" altLang="zh-CN" sz="2000" i="1" baseline="-25000">
                <a:latin typeface="华文中宋" panose="02010600040101010101" pitchFamily="2" charset="-122"/>
                <a:ea typeface="华文中宋" panose="02010600040101010101" pitchFamily="2" charset="-122"/>
              </a:rPr>
              <a:t>e </a:t>
            </a:r>
            <a:r>
              <a:rPr lang="zh-CN" altLang="en-US" sz="2000">
                <a:latin typeface="华文中宋" panose="02010600040101010101" pitchFamily="2" charset="-122"/>
                <a:ea typeface="华文中宋" panose="02010600040101010101" pitchFamily="2" charset="-122"/>
              </a:rPr>
              <a:t>和</a:t>
            </a:r>
            <a:r>
              <a:rPr lang="zh-CN" altLang="en-US" sz="2000" i="1">
                <a:latin typeface="华文中宋" panose="02010600040101010101" pitchFamily="2" charset="-122"/>
                <a:ea typeface="华文中宋" panose="02010600040101010101" pitchFamily="2" charset="-122"/>
                <a:sym typeface="Symbol" panose="05050102010706020507" pitchFamily="18" charset="2"/>
              </a:rPr>
              <a:t></a:t>
            </a:r>
            <a:r>
              <a:rPr lang="en-US" altLang="zh-CN" sz="2000" i="1">
                <a:latin typeface="华文中宋" panose="02010600040101010101" pitchFamily="2" charset="-122"/>
                <a:ea typeface="华文中宋" panose="02010600040101010101" pitchFamily="2" charset="-122"/>
              </a:rPr>
              <a:t>t</a:t>
            </a:r>
            <a:r>
              <a:rPr lang="en-US" altLang="zh-CN" sz="2000">
                <a:latin typeface="华文中宋" panose="02010600040101010101" pitchFamily="2" charset="-122"/>
                <a:ea typeface="华文中宋" panose="02010600040101010101" pitchFamily="2" charset="-122"/>
              </a:rPr>
              <a:t>(</a:t>
            </a:r>
            <a:r>
              <a:rPr lang="en-US" altLang="zh-CN" sz="2000" i="1">
                <a:latin typeface="华文中宋" panose="02010600040101010101" pitchFamily="2" charset="-122"/>
                <a:ea typeface="华文中宋" panose="02010600040101010101" pitchFamily="2" charset="-122"/>
              </a:rPr>
              <a:t>T</a:t>
            </a:r>
            <a:r>
              <a:rPr lang="en-US" altLang="zh-CN" sz="2000">
                <a:latin typeface="华文中宋" panose="02010600040101010101" pitchFamily="2" charset="-122"/>
                <a:ea typeface="华文中宋" panose="02010600040101010101" pitchFamily="2" charset="-122"/>
              </a:rPr>
              <a:t>)</a:t>
            </a:r>
            <a:r>
              <a:rPr lang="zh-CN" altLang="en-US" sz="2000">
                <a:latin typeface="华文中宋" panose="02010600040101010101" pitchFamily="2" charset="-122"/>
                <a:ea typeface="华文中宋" panose="02010600040101010101" pitchFamily="2" charset="-122"/>
              </a:rPr>
              <a:t>的公式作为模型得出的时间和频率偏离，决定两次校正之间的最大时间间隔。</a:t>
            </a:r>
          </a:p>
        </p:txBody>
      </p:sp>
      <p:sp>
        <p:nvSpPr>
          <p:cNvPr id="6" name="矩形 5">
            <a:extLst>
              <a:ext uri="{FF2B5EF4-FFF2-40B4-BE49-F238E27FC236}">
                <a16:creationId xmlns:a16="http://schemas.microsoft.com/office/drawing/2014/main" id="{F0BD014A-6924-CCAA-A9FD-6521B8908D7F}"/>
              </a:ext>
            </a:extLst>
          </p:cNvPr>
          <p:cNvSpPr/>
          <p:nvPr/>
        </p:nvSpPr>
        <p:spPr>
          <a:xfrm>
            <a:off x="642938" y="1143000"/>
            <a:ext cx="4244975" cy="461963"/>
          </a:xfrm>
          <a:prstGeom prst="rect">
            <a:avLst/>
          </a:prstGeom>
        </p:spPr>
        <p:txBody>
          <a:bodyPr>
            <a:spAutoFit/>
          </a:bodyPr>
          <a:lstStyle/>
          <a:p>
            <a:pPr>
              <a:defRPr/>
            </a:pPr>
            <a:r>
              <a:rPr lang="zh-CN" altLang="en-US" sz="2400" kern="0" dirty="0">
                <a:solidFill>
                  <a:srgbClr val="000000"/>
                </a:solidFill>
                <a:latin typeface="微软雅黑" pitchFamily="34" charset="-122"/>
                <a:ea typeface="微软雅黑" pitchFamily="34" charset="-122"/>
              </a:rPr>
              <a:t>对于发射机开环同步系统：</a:t>
            </a:r>
            <a:endParaRPr lang="zh-CN" altLang="en-US" sz="2400" dirty="0">
              <a:ea typeface="宋体" charset="-122"/>
            </a:endParaRPr>
          </a:p>
        </p:txBody>
      </p:sp>
      <p:sp>
        <p:nvSpPr>
          <p:cNvPr id="4" name="Text Box 36">
            <a:extLst>
              <a:ext uri="{FF2B5EF4-FFF2-40B4-BE49-F238E27FC236}">
                <a16:creationId xmlns:a16="http://schemas.microsoft.com/office/drawing/2014/main" id="{1BD7B18F-996A-F84B-269F-52FC97586658}"/>
              </a:ext>
            </a:extLst>
          </p:cNvPr>
          <p:cNvSpPr txBox="1">
            <a:spLocks noChangeArrowheads="1"/>
          </p:cNvSpPr>
          <p:nvPr/>
        </p:nvSpPr>
        <p:spPr bwMode="gray">
          <a:xfrm>
            <a:off x="7500938" y="438150"/>
            <a:ext cx="1000125" cy="490538"/>
          </a:xfrm>
          <a:prstGeom prst="rect">
            <a:avLst/>
          </a:prstGeom>
          <a:noFill/>
          <a:ln w="9525">
            <a:noFill/>
            <a:miter lim="800000"/>
            <a:headEnd/>
            <a:tailEnd/>
          </a:ln>
          <a:effectLst>
            <a:outerShdw blurRad="50800" dist="38100" dir="2700000" algn="tl" rotWithShape="0">
              <a:prstClr val="black">
                <a:alpha val="40000"/>
              </a:prstClr>
            </a:outerShdw>
          </a:effectLst>
        </p:spPr>
        <p:txBody>
          <a:bodyPr>
            <a:spAutoFit/>
          </a:bodyPr>
          <a:lstStyle/>
          <a:p>
            <a:pPr>
              <a:lnSpc>
                <a:spcPts val="3100"/>
              </a:lnSpc>
              <a:buClr>
                <a:srgbClr val="969696"/>
              </a:buClr>
              <a:buSzPct val="65000"/>
              <a:defRPr/>
            </a:pPr>
            <a:r>
              <a:rPr lang="zh-CN" altLang="en-US" sz="200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rPr>
              <a:t>网同步</a:t>
            </a:r>
            <a:endParaRPr lang="en-US" altLang="zh-CN" sz="2000" dirty="0">
              <a:solidFill>
                <a:schemeClr val="tx1">
                  <a:lumMod val="65000"/>
                  <a:lumOff val="35000"/>
                </a:schemeClr>
              </a:solidFill>
              <a:effectLst>
                <a:outerShdw blurRad="38100" dist="38100" dir="2700000" algn="tl">
                  <a:srgbClr val="000000">
                    <a:alpha val="43137"/>
                  </a:srgbClr>
                </a:outerShdw>
              </a:effectLst>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10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10595">
                                            <p:txEl>
                                              <p:pRg st="0" end="0"/>
                                            </p:txEl>
                                          </p:spTgt>
                                        </p:tgtEl>
                                        <p:attrNameLst>
                                          <p:attrName>style.visibility</p:attrName>
                                        </p:attrNameLst>
                                      </p:cBhvr>
                                      <p:to>
                                        <p:strVal val="visible"/>
                                      </p:to>
                                    </p:set>
                                    <p:animEffect transition="in" filter="wipe(up)">
                                      <p:cBhvr>
                                        <p:cTn id="12" dur="1000"/>
                                        <p:tgtEl>
                                          <p:spTgt spid="11059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10595">
                                            <p:txEl>
                                              <p:pRg st="1" end="1"/>
                                            </p:txEl>
                                          </p:spTgt>
                                        </p:tgtEl>
                                        <p:attrNameLst>
                                          <p:attrName>style.visibility</p:attrName>
                                        </p:attrNameLst>
                                      </p:cBhvr>
                                      <p:to>
                                        <p:strVal val="visible"/>
                                      </p:to>
                                    </p:set>
                                    <p:animEffect transition="in" filter="wipe(up)">
                                      <p:cBhvr>
                                        <p:cTn id="17" dur="1000"/>
                                        <p:tgtEl>
                                          <p:spTgt spid="110595">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10595">
                                            <p:txEl>
                                              <p:pRg st="2" end="2"/>
                                            </p:txEl>
                                          </p:spTgt>
                                        </p:tgtEl>
                                        <p:attrNameLst>
                                          <p:attrName>style.visibility</p:attrName>
                                        </p:attrNameLst>
                                      </p:cBhvr>
                                      <p:to>
                                        <p:strVal val="visible"/>
                                      </p:to>
                                    </p:set>
                                    <p:animEffect transition="in" filter="wipe(up)">
                                      <p:cBhvr>
                                        <p:cTn id="22" dur="1000"/>
                                        <p:tgtEl>
                                          <p:spTgt spid="110595">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110595">
                                            <p:txEl>
                                              <p:pRg st="3" end="3"/>
                                            </p:txEl>
                                          </p:spTgt>
                                        </p:tgtEl>
                                        <p:attrNameLst>
                                          <p:attrName>style.visibility</p:attrName>
                                        </p:attrNameLst>
                                      </p:cBhvr>
                                      <p:to>
                                        <p:strVal val="visible"/>
                                      </p:to>
                                    </p:set>
                                    <p:animEffect transition="in" filter="wipe(up)">
                                      <p:cBhvr>
                                        <p:cTn id="27" dur="1000"/>
                                        <p:tgtEl>
                                          <p:spTgt spid="1105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3DE73A59-D488-9956-C7C9-01AC70CBFCAE}"/>
              </a:ext>
            </a:extLst>
          </p:cNvPr>
          <p:cNvSpPr/>
          <p:nvPr/>
        </p:nvSpPr>
        <p:spPr>
          <a:xfrm>
            <a:off x="785813" y="1214438"/>
            <a:ext cx="3741737" cy="461962"/>
          </a:xfrm>
          <a:prstGeom prst="rect">
            <a:avLst/>
          </a:prstGeom>
        </p:spPr>
        <p:txBody>
          <a:bodyPr>
            <a:spAutoFit/>
          </a:bodyPr>
          <a:lstStyle/>
          <a:p>
            <a:pPr>
              <a:defRPr/>
            </a:pPr>
            <a:r>
              <a:rPr lang="zh-CN" altLang="en-US" sz="2400" kern="0" dirty="0">
                <a:solidFill>
                  <a:srgbClr val="FF0000"/>
                </a:solidFill>
                <a:latin typeface="微软雅黑" pitchFamily="34" charset="-122"/>
                <a:ea typeface="微软雅黑" pitchFamily="34" charset="-122"/>
              </a:rPr>
              <a:t>准闭环</a:t>
            </a:r>
            <a:r>
              <a:rPr lang="zh-CN" altLang="en-US" sz="2400" kern="0" dirty="0">
                <a:latin typeface="微软雅黑" pitchFamily="34" charset="-122"/>
                <a:ea typeface="微软雅黑" pitchFamily="34" charset="-122"/>
              </a:rPr>
              <a:t>发射机同步法：</a:t>
            </a:r>
            <a:endParaRPr lang="zh-CN" altLang="en-US" sz="2400" dirty="0">
              <a:latin typeface="微软雅黑" pitchFamily="34" charset="-122"/>
              <a:ea typeface="微软雅黑" pitchFamily="34" charset="-122"/>
            </a:endParaRPr>
          </a:p>
        </p:txBody>
      </p:sp>
      <p:sp>
        <p:nvSpPr>
          <p:cNvPr id="8" name="矩形 7">
            <a:extLst>
              <a:ext uri="{FF2B5EF4-FFF2-40B4-BE49-F238E27FC236}">
                <a16:creationId xmlns:a16="http://schemas.microsoft.com/office/drawing/2014/main" id="{135DA72A-0290-C0A1-4882-181686D080F2}"/>
              </a:ext>
            </a:extLst>
          </p:cNvPr>
          <p:cNvSpPr/>
          <p:nvPr/>
        </p:nvSpPr>
        <p:spPr>
          <a:xfrm>
            <a:off x="1071563" y="1785938"/>
            <a:ext cx="7215187" cy="1181100"/>
          </a:xfrm>
          <a:prstGeom prst="rect">
            <a:avLst/>
          </a:prstGeom>
        </p:spPr>
        <p:txBody>
          <a:bodyPr>
            <a:spAutoFit/>
          </a:bodyPr>
          <a:lstStyle/>
          <a:p>
            <a:pPr marL="342900" indent="-342900" eaLnBrk="0" hangingPunct="0">
              <a:lnSpc>
                <a:spcPct val="150000"/>
              </a:lnSpc>
              <a:spcBef>
                <a:spcPct val="20000"/>
              </a:spcBef>
              <a:buClr>
                <a:srgbClr val="3333CC"/>
              </a:buClr>
              <a:buSzPct val="60000"/>
              <a:defRPr/>
            </a:pPr>
            <a:r>
              <a:rPr lang="en-US" altLang="zh-CN" sz="2000" kern="0" dirty="0">
                <a:solidFill>
                  <a:srgbClr val="000000"/>
                </a:solidFill>
                <a:latin typeface="华文中宋" pitchFamily="2" charset="-122"/>
                <a:ea typeface="华文中宋" pitchFamily="2" charset="-122"/>
              </a:rPr>
              <a:t>—— </a:t>
            </a:r>
            <a:r>
              <a:rPr lang="zh-CN" altLang="en-US" sz="2000" kern="0" dirty="0">
                <a:solidFill>
                  <a:srgbClr val="000000"/>
                </a:solidFill>
                <a:latin typeface="华文中宋" pitchFamily="2" charset="-122"/>
                <a:ea typeface="华文中宋" pitchFamily="2" charset="-122"/>
              </a:rPr>
              <a:t>终端站能够利用对反向链路信号测量进行同步的方法。</a:t>
            </a:r>
            <a:endParaRPr lang="en-US" altLang="zh-CN" sz="2000" kern="0" dirty="0">
              <a:solidFill>
                <a:srgbClr val="000000"/>
              </a:solidFill>
              <a:latin typeface="华文中宋" pitchFamily="2" charset="-122"/>
              <a:ea typeface="华文中宋" pitchFamily="2" charset="-122"/>
            </a:endParaRPr>
          </a:p>
          <a:p>
            <a:pPr marL="342900" indent="-342900" eaLnBrk="0" hangingPunct="0">
              <a:lnSpc>
                <a:spcPct val="150000"/>
              </a:lnSpc>
              <a:spcBef>
                <a:spcPct val="20000"/>
              </a:spcBef>
              <a:buClr>
                <a:srgbClr val="3333CC"/>
              </a:buClr>
              <a:buSzPct val="60000"/>
              <a:defRPr/>
            </a:pPr>
            <a:r>
              <a:rPr lang="zh-CN" altLang="en-US" sz="2400" kern="0" dirty="0">
                <a:solidFill>
                  <a:srgbClr val="003399"/>
                </a:solidFill>
                <a:latin typeface="华文中宋" pitchFamily="2" charset="-122"/>
                <a:ea typeface="华文中宋" pitchFamily="2" charset="-122"/>
              </a:rPr>
              <a:t>准闭环法 </a:t>
            </a:r>
            <a:r>
              <a:rPr lang="zh-CN" altLang="en-US" sz="2000" kern="0" dirty="0">
                <a:solidFill>
                  <a:srgbClr val="000000"/>
                </a:solidFill>
                <a:latin typeface="华文中宋" pitchFamily="2" charset="-122"/>
                <a:ea typeface="华文中宋" pitchFamily="2" charset="-122"/>
              </a:rPr>
              <a:t>显然比</a:t>
            </a:r>
            <a:r>
              <a:rPr lang="zh-CN" altLang="en-US" sz="2400" kern="0" dirty="0">
                <a:solidFill>
                  <a:srgbClr val="003399"/>
                </a:solidFill>
                <a:latin typeface="华文中宋" pitchFamily="2" charset="-122"/>
                <a:ea typeface="华文中宋" pitchFamily="2" charset="-122"/>
              </a:rPr>
              <a:t>纯开环法</a:t>
            </a:r>
            <a:r>
              <a:rPr lang="zh-CN" altLang="en-US" sz="2000" kern="0" dirty="0">
                <a:solidFill>
                  <a:srgbClr val="000000"/>
                </a:solidFill>
                <a:latin typeface="华文中宋" pitchFamily="2" charset="-122"/>
                <a:ea typeface="华文中宋" pitchFamily="2" charset="-122"/>
              </a:rPr>
              <a:t>更适应通信系统的变动性。 </a:t>
            </a:r>
          </a:p>
        </p:txBody>
      </p:sp>
      <p:sp>
        <p:nvSpPr>
          <p:cNvPr id="4" name="Text Box 36">
            <a:extLst>
              <a:ext uri="{FF2B5EF4-FFF2-40B4-BE49-F238E27FC236}">
                <a16:creationId xmlns:a16="http://schemas.microsoft.com/office/drawing/2014/main" id="{B08458EC-781C-CEA1-5440-EC4050289F43}"/>
              </a:ext>
            </a:extLst>
          </p:cNvPr>
          <p:cNvSpPr txBox="1">
            <a:spLocks noChangeArrowheads="1"/>
          </p:cNvSpPr>
          <p:nvPr/>
        </p:nvSpPr>
        <p:spPr bwMode="gray">
          <a:xfrm>
            <a:off x="7500938" y="438150"/>
            <a:ext cx="1000125" cy="490538"/>
          </a:xfrm>
          <a:prstGeom prst="rect">
            <a:avLst/>
          </a:prstGeom>
          <a:noFill/>
          <a:ln w="9525">
            <a:noFill/>
            <a:miter lim="800000"/>
            <a:headEnd/>
            <a:tailEnd/>
          </a:ln>
          <a:effectLst>
            <a:outerShdw blurRad="50800" dist="38100" dir="2700000" algn="tl" rotWithShape="0">
              <a:prstClr val="black">
                <a:alpha val="40000"/>
              </a:prstClr>
            </a:outerShdw>
          </a:effectLst>
        </p:spPr>
        <p:txBody>
          <a:bodyPr>
            <a:spAutoFit/>
          </a:bodyPr>
          <a:lstStyle/>
          <a:p>
            <a:pPr>
              <a:lnSpc>
                <a:spcPts val="3100"/>
              </a:lnSpc>
              <a:buClr>
                <a:srgbClr val="969696"/>
              </a:buClr>
              <a:buSzPct val="65000"/>
              <a:defRPr/>
            </a:pPr>
            <a:r>
              <a:rPr lang="zh-CN" altLang="en-US" sz="200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rPr>
              <a:t>网同步</a:t>
            </a:r>
            <a:endParaRPr lang="en-US" altLang="zh-CN" sz="2000" dirty="0">
              <a:solidFill>
                <a:schemeClr val="tx1">
                  <a:lumMod val="65000"/>
                  <a:lumOff val="35000"/>
                </a:schemeClr>
              </a:solidFill>
              <a:effectLst>
                <a:outerShdw blurRad="38100" dist="38100" dir="2700000" algn="tl">
                  <a:srgbClr val="000000">
                    <a:alpha val="43137"/>
                  </a:srgbClr>
                </a:outerShdw>
              </a:effectLst>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4">
            <a:extLst>
              <a:ext uri="{FF2B5EF4-FFF2-40B4-BE49-F238E27FC236}">
                <a16:creationId xmlns:a16="http://schemas.microsoft.com/office/drawing/2014/main" id="{8BF67B65-225F-58AD-C383-F9C08053517C}"/>
              </a:ext>
            </a:extLst>
          </p:cNvPr>
          <p:cNvSpPr>
            <a:spLocks noChangeArrowheads="1"/>
          </p:cNvSpPr>
          <p:nvPr/>
        </p:nvSpPr>
        <p:spPr bwMode="auto">
          <a:xfrm>
            <a:off x="142875" y="415925"/>
            <a:ext cx="27813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r>
              <a:rPr lang="en-US" altLang="en-US" sz="3200" b="1">
                <a:solidFill>
                  <a:srgbClr val="990099"/>
                </a:solidFill>
                <a:latin typeface="Arial" panose="020B0604020202020204" pitchFamily="34" charset="0"/>
                <a:ea typeface="微软雅黑" panose="020B0503020204020204" pitchFamily="34" charset="-122"/>
                <a:cs typeface="Arial" panose="020B0604020202020204" pitchFamily="34" charset="0"/>
              </a:rPr>
              <a:t>13</a:t>
            </a:r>
            <a:r>
              <a:rPr lang="en-US" altLang="zh-CN" sz="3200" b="1">
                <a:solidFill>
                  <a:srgbClr val="990099"/>
                </a:solidFill>
                <a:latin typeface="Arial" panose="020B0604020202020204" pitchFamily="34" charset="0"/>
                <a:ea typeface="微软雅黑" panose="020B0503020204020204" pitchFamily="34" charset="-122"/>
                <a:cs typeface="Arial" panose="020B0604020202020204" pitchFamily="34" charset="0"/>
              </a:rPr>
              <a:t>.5.3</a:t>
            </a:r>
            <a:r>
              <a:rPr lang="en-US" altLang="zh-CN" sz="3200" b="1">
                <a:solidFill>
                  <a:srgbClr val="800080"/>
                </a:solidFill>
                <a:latin typeface="Arial" panose="020B0604020202020204" pitchFamily="34" charset="0"/>
                <a:ea typeface="微软雅黑" panose="020B0503020204020204" pitchFamily="34" charset="-122"/>
                <a:cs typeface="Arial" panose="020B0604020202020204" pitchFamily="34" charset="0"/>
              </a:rPr>
              <a:t>  </a:t>
            </a:r>
            <a:r>
              <a:rPr lang="zh-CN" altLang="en-US" sz="3200" b="1">
                <a:solidFill>
                  <a:srgbClr val="003399"/>
                </a:solidFill>
                <a:latin typeface="Arial" panose="020B0604020202020204" pitchFamily="34" charset="0"/>
                <a:ea typeface="微软雅黑" panose="020B0503020204020204" pitchFamily="34" charset="-122"/>
                <a:cs typeface="Arial" panose="020B0604020202020204" pitchFamily="34" charset="0"/>
              </a:rPr>
              <a:t>闭环法</a:t>
            </a:r>
          </a:p>
        </p:txBody>
      </p:sp>
      <p:sp>
        <p:nvSpPr>
          <p:cNvPr id="20" name="Rectangle 3">
            <a:extLst>
              <a:ext uri="{FF2B5EF4-FFF2-40B4-BE49-F238E27FC236}">
                <a16:creationId xmlns:a16="http://schemas.microsoft.com/office/drawing/2014/main" id="{A51FB5AF-F782-B872-1A17-DFDE95106397}"/>
              </a:ext>
            </a:extLst>
          </p:cNvPr>
          <p:cNvSpPr txBox="1">
            <a:spLocks noChangeArrowheads="1"/>
          </p:cNvSpPr>
          <p:nvPr/>
        </p:nvSpPr>
        <p:spPr bwMode="auto">
          <a:xfrm>
            <a:off x="714375" y="3143250"/>
            <a:ext cx="3000375" cy="642938"/>
          </a:xfrm>
          <a:prstGeom prst="rect">
            <a:avLst/>
          </a:prstGeom>
          <a:noFill/>
          <a:ln w="9525">
            <a:noFill/>
            <a:miter lim="800000"/>
            <a:headEnd/>
            <a:tailEnd/>
          </a:ln>
        </p:spPr>
        <p:txBody>
          <a:bodyPr/>
          <a:lstStyle/>
          <a:p>
            <a:pPr marL="228600" indent="-228600" eaLnBrk="0" hangingPunct="0">
              <a:lnSpc>
                <a:spcPct val="150000"/>
              </a:lnSpc>
              <a:spcBef>
                <a:spcPct val="20000"/>
              </a:spcBef>
              <a:buClr>
                <a:srgbClr val="FF0000"/>
              </a:buClr>
              <a:buSzPct val="85000"/>
              <a:buFont typeface="Wingdings" pitchFamily="2" charset="2"/>
              <a:buChar char="n"/>
              <a:defRPr/>
            </a:pPr>
            <a:r>
              <a:rPr lang="zh-CN" altLang="en-US" sz="2400" b="1" kern="0" dirty="0">
                <a:latin typeface="微软雅黑" pitchFamily="34" charset="-122"/>
                <a:ea typeface="微软雅黑" pitchFamily="34" charset="-122"/>
              </a:rPr>
              <a:t> 种类：</a:t>
            </a:r>
            <a:endParaRPr lang="zh-CN" altLang="en-US" sz="2000" b="1" kern="0" dirty="0">
              <a:latin typeface="微软雅黑" pitchFamily="34" charset="-122"/>
              <a:ea typeface="微软雅黑" pitchFamily="34" charset="-122"/>
            </a:endParaRPr>
          </a:p>
        </p:txBody>
      </p:sp>
      <p:sp>
        <p:nvSpPr>
          <p:cNvPr id="8" name="Text Box 36">
            <a:extLst>
              <a:ext uri="{FF2B5EF4-FFF2-40B4-BE49-F238E27FC236}">
                <a16:creationId xmlns:a16="http://schemas.microsoft.com/office/drawing/2014/main" id="{96410702-FD81-F943-91A0-A9941B93AABD}"/>
              </a:ext>
            </a:extLst>
          </p:cNvPr>
          <p:cNvSpPr txBox="1">
            <a:spLocks noChangeArrowheads="1"/>
          </p:cNvSpPr>
          <p:nvPr/>
        </p:nvSpPr>
        <p:spPr bwMode="gray">
          <a:xfrm>
            <a:off x="7500938" y="438150"/>
            <a:ext cx="1000125" cy="490538"/>
          </a:xfrm>
          <a:prstGeom prst="rect">
            <a:avLst/>
          </a:prstGeom>
          <a:noFill/>
          <a:ln w="9525">
            <a:noFill/>
            <a:miter lim="800000"/>
            <a:headEnd/>
            <a:tailEnd/>
          </a:ln>
          <a:effectLst>
            <a:outerShdw blurRad="50800" dist="38100" dir="2700000" algn="tl" rotWithShape="0">
              <a:prstClr val="black">
                <a:alpha val="40000"/>
              </a:prstClr>
            </a:outerShdw>
          </a:effectLst>
        </p:spPr>
        <p:txBody>
          <a:bodyPr>
            <a:spAutoFit/>
          </a:bodyPr>
          <a:lstStyle/>
          <a:p>
            <a:pPr>
              <a:lnSpc>
                <a:spcPts val="3100"/>
              </a:lnSpc>
              <a:buClr>
                <a:srgbClr val="969696"/>
              </a:buClr>
              <a:buSzPct val="65000"/>
              <a:defRPr/>
            </a:pPr>
            <a:r>
              <a:rPr lang="zh-CN" altLang="en-US" sz="2000" dirty="0">
                <a:solidFill>
                  <a:schemeClr val="tx1">
                    <a:lumMod val="65000"/>
                    <a:lumOff val="35000"/>
                  </a:schemeClr>
                </a:solidFill>
                <a:effectLst>
                  <a:outerShdw blurRad="38100" dist="38100" dir="2700000" algn="tl">
                    <a:srgbClr val="000000">
                      <a:alpha val="43137"/>
                    </a:srgbClr>
                  </a:outerShdw>
                </a:effectLst>
                <a:latin typeface="微软雅黑" pitchFamily="34" charset="-122"/>
                <a:ea typeface="微软雅黑" pitchFamily="34" charset="-122"/>
              </a:rPr>
              <a:t>网同步</a:t>
            </a:r>
            <a:endParaRPr lang="en-US" altLang="zh-CN" sz="2000" dirty="0">
              <a:solidFill>
                <a:schemeClr val="tx1">
                  <a:lumMod val="65000"/>
                  <a:lumOff val="35000"/>
                </a:schemeClr>
              </a:solidFill>
              <a:effectLst>
                <a:outerShdw blurRad="38100" dist="38100" dir="2700000" algn="tl">
                  <a:srgbClr val="000000">
                    <a:alpha val="43137"/>
                  </a:srgbClr>
                </a:outerShdw>
              </a:effectLst>
              <a:ea typeface="微软雅黑" pitchFamily="34" charset="-122"/>
            </a:endParaRPr>
          </a:p>
        </p:txBody>
      </p:sp>
      <p:sp>
        <p:nvSpPr>
          <p:cNvPr id="25" name="Rectangle 3">
            <a:extLst>
              <a:ext uri="{FF2B5EF4-FFF2-40B4-BE49-F238E27FC236}">
                <a16:creationId xmlns:a16="http://schemas.microsoft.com/office/drawing/2014/main" id="{2E0EF641-B2E0-6CBB-05ED-223D8DC508B5}"/>
              </a:ext>
            </a:extLst>
          </p:cNvPr>
          <p:cNvSpPr txBox="1">
            <a:spLocks noChangeArrowheads="1"/>
          </p:cNvSpPr>
          <p:nvPr/>
        </p:nvSpPr>
        <p:spPr bwMode="auto">
          <a:xfrm>
            <a:off x="714375" y="1214438"/>
            <a:ext cx="3000375" cy="642937"/>
          </a:xfrm>
          <a:prstGeom prst="rect">
            <a:avLst/>
          </a:prstGeom>
          <a:noFill/>
          <a:ln w="9525">
            <a:noFill/>
            <a:miter lim="800000"/>
            <a:headEnd/>
            <a:tailEnd/>
          </a:ln>
        </p:spPr>
        <p:txBody>
          <a:bodyPr/>
          <a:lstStyle/>
          <a:p>
            <a:pPr marL="228600" indent="-228600" eaLnBrk="0" hangingPunct="0">
              <a:lnSpc>
                <a:spcPct val="150000"/>
              </a:lnSpc>
              <a:spcBef>
                <a:spcPct val="20000"/>
              </a:spcBef>
              <a:buClr>
                <a:srgbClr val="FF0000"/>
              </a:buClr>
              <a:buSzPct val="85000"/>
              <a:buFont typeface="Wingdings" pitchFamily="2" charset="2"/>
              <a:buChar char="n"/>
              <a:defRPr/>
            </a:pPr>
            <a:r>
              <a:rPr lang="zh-CN" altLang="en-US" sz="2400" b="1" kern="0" dirty="0">
                <a:latin typeface="微软雅黑" pitchFamily="34" charset="-122"/>
                <a:ea typeface="微软雅黑" pitchFamily="34" charset="-122"/>
              </a:rPr>
              <a:t> 原理：</a:t>
            </a:r>
            <a:endParaRPr lang="zh-CN" altLang="en-US" sz="2000" b="1" kern="0" dirty="0">
              <a:latin typeface="微软雅黑" pitchFamily="34" charset="-122"/>
              <a:ea typeface="微软雅黑" pitchFamily="34" charset="-122"/>
            </a:endParaRPr>
          </a:p>
        </p:txBody>
      </p:sp>
      <p:sp>
        <p:nvSpPr>
          <p:cNvPr id="13" name="矩形 12">
            <a:extLst>
              <a:ext uri="{FF2B5EF4-FFF2-40B4-BE49-F238E27FC236}">
                <a16:creationId xmlns:a16="http://schemas.microsoft.com/office/drawing/2014/main" id="{4A552358-E4CA-AD6C-3526-BD62EAF2F7A3}"/>
              </a:ext>
            </a:extLst>
          </p:cNvPr>
          <p:cNvSpPr/>
          <p:nvPr/>
        </p:nvSpPr>
        <p:spPr>
          <a:xfrm>
            <a:off x="1071563" y="1841500"/>
            <a:ext cx="7358062" cy="962025"/>
          </a:xfrm>
          <a:prstGeom prst="rect">
            <a:avLst/>
          </a:prstGeom>
        </p:spPr>
        <p:txBody>
          <a:bodyPr>
            <a:spAutoFit/>
          </a:bodyPr>
          <a:lstStyle/>
          <a:p>
            <a:pPr marL="228600" indent="-228600" eaLnBrk="0" hangingPunct="0">
              <a:lnSpc>
                <a:spcPct val="150000"/>
              </a:lnSpc>
              <a:spcBef>
                <a:spcPct val="20000"/>
              </a:spcBef>
              <a:buClr>
                <a:srgbClr val="0000CC"/>
              </a:buClr>
              <a:buSzPct val="65000"/>
              <a:buFont typeface="Wingdings" pitchFamily="2" charset="2"/>
              <a:buChar char="p"/>
              <a:defRPr/>
            </a:pPr>
            <a:r>
              <a:rPr lang="zh-CN" altLang="en-US" sz="2000" kern="0" dirty="0">
                <a:solidFill>
                  <a:srgbClr val="000000"/>
                </a:solidFill>
                <a:latin typeface="华文中宋" pitchFamily="2" charset="-122"/>
                <a:ea typeface="华文中宋" pitchFamily="2" charset="-122"/>
              </a:rPr>
              <a:t>闭环法需要终端站发送特殊的同步信号，用以决定信号的时间和频率误差。</a:t>
            </a:r>
          </a:p>
        </p:txBody>
      </p:sp>
      <p:sp>
        <p:nvSpPr>
          <p:cNvPr id="15" name="Rectangle 3">
            <a:extLst>
              <a:ext uri="{FF2B5EF4-FFF2-40B4-BE49-F238E27FC236}">
                <a16:creationId xmlns:a16="http://schemas.microsoft.com/office/drawing/2014/main" id="{F6B679CC-633B-D8E8-A81D-8E22E383AE8C}"/>
              </a:ext>
            </a:extLst>
          </p:cNvPr>
          <p:cNvSpPr txBox="1">
            <a:spLocks noChangeArrowheads="1"/>
          </p:cNvSpPr>
          <p:nvPr/>
        </p:nvSpPr>
        <p:spPr bwMode="auto">
          <a:xfrm>
            <a:off x="1085850" y="3768725"/>
            <a:ext cx="7343775" cy="2517775"/>
          </a:xfrm>
          <a:prstGeom prst="rect">
            <a:avLst/>
          </a:prstGeom>
          <a:noFill/>
          <a:ln w="9525">
            <a:noFill/>
            <a:miter lim="800000"/>
            <a:headEnd/>
            <a:tailEnd/>
          </a:ln>
        </p:spPr>
        <p:txBody>
          <a:bodyPr/>
          <a:lstStyle/>
          <a:p>
            <a:pPr marL="342900" indent="-342900" eaLnBrk="0" hangingPunct="0">
              <a:lnSpc>
                <a:spcPct val="150000"/>
              </a:lnSpc>
              <a:spcBef>
                <a:spcPct val="20000"/>
              </a:spcBef>
              <a:buClr>
                <a:schemeClr val="folHlink"/>
              </a:buClr>
              <a:buSzPct val="60000"/>
              <a:buFont typeface="Wingdings" pitchFamily="2" charset="2"/>
              <a:buChar char="p"/>
              <a:defRPr/>
            </a:pPr>
            <a:r>
              <a:rPr lang="zh-CN" altLang="en-US" sz="2000" kern="0" dirty="0">
                <a:effectLst>
                  <a:outerShdw blurRad="38100" dist="38100" dir="2700000" algn="tl">
                    <a:srgbClr val="000000">
                      <a:alpha val="43137"/>
                    </a:srgbClr>
                  </a:outerShdw>
                </a:effectLst>
                <a:latin typeface="微软雅黑" pitchFamily="34" charset="-122"/>
                <a:ea typeface="微软雅黑" pitchFamily="34" charset="-122"/>
              </a:rPr>
              <a:t>中心站</a:t>
            </a:r>
            <a:r>
              <a:rPr lang="zh-CN" altLang="en-US" sz="2000" kern="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有</a:t>
            </a:r>
            <a:r>
              <a:rPr lang="zh-CN" altLang="en-US" sz="2000" kern="0" dirty="0">
                <a:effectLst>
                  <a:outerShdw blurRad="38100" dist="38100" dir="2700000" algn="tl">
                    <a:srgbClr val="000000">
                      <a:alpha val="43137"/>
                    </a:srgbClr>
                  </a:outerShdw>
                </a:effectLst>
                <a:latin typeface="微软雅黑" pitchFamily="34" charset="-122"/>
                <a:ea typeface="微软雅黑" pitchFamily="34" charset="-122"/>
              </a:rPr>
              <a:t>处理能力：</a:t>
            </a:r>
            <a:r>
              <a:rPr lang="zh-CN" altLang="en-US" sz="2000" kern="0" dirty="0">
                <a:latin typeface="华文中宋" pitchFamily="2" charset="-122"/>
                <a:ea typeface="华文中宋" pitchFamily="2" charset="-122"/>
              </a:rPr>
              <a:t>中心站可以进行实际的误差测量。这种测量可以是给出偏离的量和方向，也可以是只给出方向。这个信息用反向链路送回给终端站发射机。</a:t>
            </a:r>
          </a:p>
          <a:p>
            <a:pPr marL="342900" indent="-342900" eaLnBrk="0" hangingPunct="0">
              <a:lnSpc>
                <a:spcPct val="150000"/>
              </a:lnSpc>
              <a:spcBef>
                <a:spcPct val="20000"/>
              </a:spcBef>
              <a:buClr>
                <a:schemeClr val="folHlink"/>
              </a:buClr>
              <a:buSzPct val="60000"/>
              <a:buFont typeface="Wingdings" pitchFamily="2" charset="2"/>
              <a:buChar char="p"/>
              <a:defRPr/>
            </a:pPr>
            <a:r>
              <a:rPr lang="zh-CN" altLang="en-US" sz="2000" kern="0" dirty="0">
                <a:effectLst>
                  <a:outerShdw blurRad="38100" dist="38100" dir="2700000" algn="tl">
                    <a:srgbClr val="000000">
                      <a:alpha val="43137"/>
                    </a:srgbClr>
                  </a:outerShdw>
                </a:effectLst>
                <a:latin typeface="微软雅黑" pitchFamily="34" charset="-122"/>
                <a:ea typeface="微软雅黑" pitchFamily="34" charset="-122"/>
              </a:rPr>
              <a:t>中心站</a:t>
            </a:r>
            <a:r>
              <a:rPr lang="zh-CN" altLang="en-US" sz="2000" kern="0"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没有</a:t>
            </a:r>
            <a:r>
              <a:rPr lang="zh-CN" altLang="en-US" sz="2000" kern="0" dirty="0">
                <a:effectLst>
                  <a:outerShdw blurRad="38100" dist="38100" dir="2700000" algn="tl">
                    <a:srgbClr val="000000">
                      <a:alpha val="43137"/>
                    </a:srgbClr>
                  </a:outerShdw>
                </a:effectLst>
                <a:latin typeface="微软雅黑" pitchFamily="34" charset="-122"/>
                <a:ea typeface="微软雅黑" pitchFamily="34" charset="-122"/>
              </a:rPr>
              <a:t>处理能力：</a:t>
            </a:r>
            <a:r>
              <a:rPr lang="zh-CN" altLang="en-US" sz="2000" kern="0" dirty="0">
                <a:latin typeface="华文中宋" pitchFamily="2" charset="-122"/>
                <a:ea typeface="华文中宋" pitchFamily="2" charset="-122"/>
              </a:rPr>
              <a:t>此时将特殊同步信号直接由反向链路送回终端站发射机。由终端站发射机自己解读返回信号。</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5">
                                            <p:txEl>
                                              <p:pRg st="0" end="0"/>
                                            </p:txEl>
                                          </p:spTgt>
                                        </p:tgtEl>
                                        <p:attrNameLst>
                                          <p:attrName>style.visibility</p:attrName>
                                        </p:attrNameLst>
                                      </p:cBhvr>
                                      <p:to>
                                        <p:strVal val="visible"/>
                                      </p:to>
                                    </p:set>
                                    <p:animEffect transition="in" filter="wipe(up)">
                                      <p:cBhvr>
                                        <p:cTn id="12" dur="1000"/>
                                        <p:tgtEl>
                                          <p:spTgt spid="25">
                                            <p:txEl>
                                              <p:pRg st="0" end="0"/>
                                            </p:txEl>
                                          </p:spTgt>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up)">
                                      <p:cBhvr>
                                        <p:cTn id="16" dur="1000"/>
                                        <p:tgtEl>
                                          <p:spTgt spid="1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20">
                                            <p:txEl>
                                              <p:pRg st="0" end="0"/>
                                            </p:txEl>
                                          </p:spTgt>
                                        </p:tgtEl>
                                        <p:attrNameLst>
                                          <p:attrName>style.visibility</p:attrName>
                                        </p:attrNameLst>
                                      </p:cBhvr>
                                      <p:to>
                                        <p:strVal val="visible"/>
                                      </p:to>
                                    </p:set>
                                    <p:animEffect transition="in" filter="wipe(up)">
                                      <p:cBhvr>
                                        <p:cTn id="21" dur="1000"/>
                                        <p:tgtEl>
                                          <p:spTgt spid="20">
                                            <p:txEl>
                                              <p:pRg st="0" end="0"/>
                                            </p:txEl>
                                          </p:spTgt>
                                        </p:tgtEl>
                                      </p:cBhvr>
                                    </p:animEffect>
                                  </p:childTnLst>
                                </p:cTn>
                              </p:par>
                            </p:childTnLst>
                          </p:cTn>
                        </p:par>
                        <p:par>
                          <p:cTn id="22" fill="hold" nodeType="afterGroup">
                            <p:stCondLst>
                              <p:cond delay="1000"/>
                            </p:stCondLst>
                            <p:childTnLst>
                              <p:par>
                                <p:cTn id="23" presetID="22" presetClass="entr" presetSubtype="1" fill="hold" nodeType="afterEffect">
                                  <p:stCondLst>
                                    <p:cond delay="0"/>
                                  </p:stCondLst>
                                  <p:childTnLst>
                                    <p:set>
                                      <p:cBhvr>
                                        <p:cTn id="24" dur="1" fill="hold">
                                          <p:stCondLst>
                                            <p:cond delay="0"/>
                                          </p:stCondLst>
                                        </p:cTn>
                                        <p:tgtEl>
                                          <p:spTgt spid="15">
                                            <p:txEl>
                                              <p:pRg st="0" end="0"/>
                                            </p:txEl>
                                          </p:spTgt>
                                        </p:tgtEl>
                                        <p:attrNameLst>
                                          <p:attrName>style.visibility</p:attrName>
                                        </p:attrNameLst>
                                      </p:cBhvr>
                                      <p:to>
                                        <p:strVal val="visible"/>
                                      </p:to>
                                    </p:set>
                                    <p:animEffect transition="in" filter="wipe(up)">
                                      <p:cBhvr>
                                        <p:cTn id="25" dur="2000"/>
                                        <p:tgtEl>
                                          <p:spTgt spid="15">
                                            <p:txEl>
                                              <p:pRg st="0" end="0"/>
                                            </p:txEl>
                                          </p:spTgt>
                                        </p:tgtEl>
                                      </p:cBhvr>
                                    </p:animEffect>
                                  </p:childTnLst>
                                </p:cTn>
                              </p:par>
                            </p:childTnLst>
                          </p:cTn>
                        </p:par>
                        <p:par>
                          <p:cTn id="26" fill="hold" nodeType="afterGroup">
                            <p:stCondLst>
                              <p:cond delay="3000"/>
                            </p:stCondLst>
                            <p:childTnLst>
                              <p:par>
                                <p:cTn id="27" presetID="22" presetClass="entr" presetSubtype="1" fill="hold" nodeType="afterEffect">
                                  <p:stCondLst>
                                    <p:cond delay="0"/>
                                  </p:stCondLst>
                                  <p:childTnLst>
                                    <p:set>
                                      <p:cBhvr>
                                        <p:cTn id="28" dur="1" fill="hold">
                                          <p:stCondLst>
                                            <p:cond delay="0"/>
                                          </p:stCondLst>
                                        </p:cTn>
                                        <p:tgtEl>
                                          <p:spTgt spid="15">
                                            <p:txEl>
                                              <p:pRg st="1" end="1"/>
                                            </p:txEl>
                                          </p:spTgt>
                                        </p:tgtEl>
                                        <p:attrNameLst>
                                          <p:attrName>style.visibility</p:attrName>
                                        </p:attrNameLst>
                                      </p:cBhvr>
                                      <p:to>
                                        <p:strVal val="visible"/>
                                      </p:to>
                                    </p:set>
                                    <p:animEffect transition="in" filter="wipe(up)">
                                      <p:cBhvr>
                                        <p:cTn id="29" dur="2000"/>
                                        <p:tgtEl>
                                          <p:spTgt spid="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3">
            <a:extLst>
              <a:ext uri="{FF2B5EF4-FFF2-40B4-BE49-F238E27FC236}">
                <a16:creationId xmlns:a16="http://schemas.microsoft.com/office/drawing/2014/main" id="{F27A6471-DE7B-36B1-B345-66112FC1A153}"/>
              </a:ext>
            </a:extLst>
          </p:cNvPr>
          <p:cNvSpPr>
            <a:spLocks noGrp="1" noChangeArrowheads="1"/>
          </p:cNvSpPr>
          <p:nvPr>
            <p:ph type="body" idx="1"/>
          </p:nvPr>
        </p:nvSpPr>
        <p:spPr>
          <a:xfrm>
            <a:off x="849313" y="1652588"/>
            <a:ext cx="7794625" cy="2633662"/>
          </a:xfrm>
        </p:spPr>
        <p:txBody>
          <a:bodyPr/>
          <a:lstStyle/>
          <a:p>
            <a:pPr>
              <a:lnSpc>
                <a:spcPts val="3000"/>
              </a:lnSpc>
              <a:buClr>
                <a:srgbClr val="0000CC"/>
              </a:buClr>
              <a:buSzPct val="65000"/>
              <a:buFont typeface="Wingdings" panose="05000000000000000000" pitchFamily="2" charset="2"/>
              <a:buChar char="u"/>
              <a:defRPr/>
            </a:pPr>
            <a:r>
              <a:rPr lang="zh-CN" altLang="en-US" sz="2000" dirty="0">
                <a:effectLst>
                  <a:outerShdw blurRad="38100" dist="38100" dir="2700000" algn="tl">
                    <a:srgbClr val="000000">
                      <a:alpha val="43137"/>
                    </a:srgbClr>
                  </a:outerShdw>
                </a:effectLst>
                <a:latin typeface="微软雅黑" pitchFamily="34" charset="-122"/>
                <a:ea typeface="微软雅黑" pitchFamily="34" charset="-122"/>
              </a:rPr>
              <a:t>在</a:t>
            </a:r>
            <a:r>
              <a:rPr lang="zh-CN" altLang="en-US" sz="2000" dirty="0">
                <a:solidFill>
                  <a:srgbClr val="003399"/>
                </a:solidFill>
                <a:latin typeface="微软雅黑" pitchFamily="34" charset="-122"/>
                <a:ea typeface="微软雅黑" pitchFamily="34" charset="-122"/>
              </a:rPr>
              <a:t>中心站</a:t>
            </a:r>
            <a:r>
              <a:rPr lang="zh-CN" altLang="en-US" sz="2000" dirty="0">
                <a:effectLst>
                  <a:outerShdw blurRad="38100" dist="38100" dir="2700000" algn="tl">
                    <a:srgbClr val="000000">
                      <a:alpha val="43137"/>
                    </a:srgbClr>
                  </a:outerShdw>
                </a:effectLst>
                <a:latin typeface="微软雅黑" pitchFamily="34" charset="-122"/>
                <a:ea typeface="微软雅黑" pitchFamily="34" charset="-122"/>
              </a:rPr>
              <a:t>处理的</a:t>
            </a:r>
            <a:r>
              <a:rPr lang="zh-CN" altLang="en-US" sz="2000" dirty="0">
                <a:solidFill>
                  <a:srgbClr val="990099"/>
                </a:solidFill>
                <a:effectLst>
                  <a:outerShdw blurRad="38100" dist="38100" dir="2700000" algn="tl">
                    <a:srgbClr val="000000">
                      <a:alpha val="43137"/>
                    </a:srgbClr>
                  </a:outerShdw>
                </a:effectLst>
                <a:latin typeface="微软雅黑" pitchFamily="34" charset="-122"/>
                <a:ea typeface="微软雅黑" pitchFamily="34" charset="-122"/>
              </a:rPr>
              <a:t>优点</a:t>
            </a:r>
            <a:r>
              <a:rPr lang="zh-CN" altLang="en-US" sz="2000" dirty="0">
                <a:effectLst>
                  <a:outerShdw blurRad="38100" dist="38100" dir="2700000" algn="tl">
                    <a:srgbClr val="000000">
                      <a:alpha val="43137"/>
                    </a:srgbClr>
                  </a:outerShdw>
                </a:effectLst>
                <a:latin typeface="微软雅黑" pitchFamily="34" charset="-122"/>
                <a:ea typeface="微软雅黑" pitchFamily="34" charset="-122"/>
              </a:rPr>
              <a:t>：</a:t>
            </a:r>
          </a:p>
          <a:p>
            <a:pPr lvl="1">
              <a:lnSpc>
                <a:spcPts val="3000"/>
              </a:lnSpc>
              <a:buClr>
                <a:srgbClr val="990099"/>
              </a:buClr>
              <a:buFont typeface="Wingdings" panose="05000000000000000000" pitchFamily="2" charset="2"/>
              <a:buChar char="p"/>
              <a:defRPr/>
            </a:pPr>
            <a:r>
              <a:rPr lang="zh-CN" altLang="en-US" sz="2000" dirty="0">
                <a:latin typeface="华文中宋" pitchFamily="2" charset="-122"/>
                <a:ea typeface="华文中宋" pitchFamily="2" charset="-122"/>
              </a:rPr>
              <a:t>在反向链路上传送的误差测量结果可以是一个短的数字序列。当一条反向链路为大量终端站所时分复用时，这样有效地利用返回链路是非常重要的。</a:t>
            </a:r>
          </a:p>
          <a:p>
            <a:pPr lvl="1">
              <a:lnSpc>
                <a:spcPts val="3000"/>
              </a:lnSpc>
              <a:buClr>
                <a:srgbClr val="990099"/>
              </a:buClr>
              <a:buFont typeface="Wingdings" panose="05000000000000000000" pitchFamily="2" charset="2"/>
              <a:buChar char="p"/>
              <a:defRPr/>
            </a:pPr>
            <a:r>
              <a:rPr lang="zh-CN" altLang="en-US" sz="2000" dirty="0">
                <a:latin typeface="华文中宋" pitchFamily="2" charset="-122"/>
                <a:ea typeface="华文中宋" pitchFamily="2" charset="-122"/>
              </a:rPr>
              <a:t>在中心站上的误差测量手段能够被所有联到中心站的终端站共享。这相当于大量节省了系统的处理能力。</a:t>
            </a:r>
          </a:p>
        </p:txBody>
      </p:sp>
      <p:sp>
        <p:nvSpPr>
          <p:cNvPr id="6" name="Rectangle 3">
            <a:extLst>
              <a:ext uri="{FF2B5EF4-FFF2-40B4-BE49-F238E27FC236}">
                <a16:creationId xmlns:a16="http://schemas.microsoft.com/office/drawing/2014/main" id="{A8EE372C-926D-50F1-47B4-A8C2CD3C5E3E}"/>
              </a:ext>
            </a:extLst>
          </p:cNvPr>
          <p:cNvSpPr txBox="1">
            <a:spLocks noChangeArrowheads="1"/>
          </p:cNvSpPr>
          <p:nvPr/>
        </p:nvSpPr>
        <p:spPr bwMode="auto">
          <a:xfrm>
            <a:off x="642938" y="1000125"/>
            <a:ext cx="3000375" cy="642938"/>
          </a:xfrm>
          <a:prstGeom prst="rect">
            <a:avLst/>
          </a:prstGeom>
          <a:noFill/>
          <a:ln w="9525">
            <a:noFill/>
            <a:miter lim="800000"/>
            <a:headEnd/>
            <a:tailEnd/>
          </a:ln>
        </p:spPr>
        <p:txBody>
          <a:bodyPr/>
          <a:lstStyle/>
          <a:p>
            <a:pPr marL="228600" indent="-228600" eaLnBrk="0" hangingPunct="0">
              <a:lnSpc>
                <a:spcPct val="150000"/>
              </a:lnSpc>
              <a:spcBef>
                <a:spcPct val="20000"/>
              </a:spcBef>
              <a:buClr>
                <a:srgbClr val="FF0000"/>
              </a:buClr>
              <a:buSzPct val="85000"/>
              <a:buFont typeface="Wingdings" pitchFamily="2" charset="2"/>
              <a:buChar char="n"/>
              <a:defRPr/>
            </a:pPr>
            <a:r>
              <a:rPr lang="zh-CN" altLang="en-US" sz="2400" b="1" kern="0" dirty="0">
                <a:latin typeface="微软雅黑" pitchFamily="34" charset="-122"/>
                <a:ea typeface="微软雅黑" pitchFamily="34" charset="-122"/>
              </a:rPr>
              <a:t> 优缺点：</a:t>
            </a:r>
            <a:endParaRPr lang="zh-CN" altLang="en-US" sz="2000" b="1" kern="0" dirty="0">
              <a:latin typeface="微软雅黑" pitchFamily="34" charset="-122"/>
              <a:ea typeface="微软雅黑" pitchFamily="34" charset="-122"/>
            </a:endParaRPr>
          </a:p>
        </p:txBody>
      </p:sp>
      <p:sp>
        <p:nvSpPr>
          <p:cNvPr id="5" name="Rectangle 3">
            <a:extLst>
              <a:ext uri="{FF2B5EF4-FFF2-40B4-BE49-F238E27FC236}">
                <a16:creationId xmlns:a16="http://schemas.microsoft.com/office/drawing/2014/main" id="{80F9BB58-E7B3-812A-8580-BEDBFD292623}"/>
              </a:ext>
            </a:extLst>
          </p:cNvPr>
          <p:cNvSpPr txBox="1">
            <a:spLocks noChangeArrowheads="1"/>
          </p:cNvSpPr>
          <p:nvPr/>
        </p:nvSpPr>
        <p:spPr bwMode="auto">
          <a:xfrm>
            <a:off x="849313" y="4357688"/>
            <a:ext cx="7794625" cy="2214562"/>
          </a:xfrm>
          <a:prstGeom prst="rect">
            <a:avLst/>
          </a:prstGeom>
          <a:noFill/>
          <a:ln w="9525">
            <a:noFill/>
            <a:miter lim="800000"/>
            <a:headEnd/>
            <a:tailEnd/>
          </a:ln>
        </p:spPr>
        <p:txBody>
          <a:bodyPr/>
          <a:lstStyle/>
          <a:p>
            <a:pPr marL="285750" indent="-285750" eaLnBrk="0" hangingPunct="0">
              <a:lnSpc>
                <a:spcPts val="3000"/>
              </a:lnSpc>
              <a:spcBef>
                <a:spcPct val="20000"/>
              </a:spcBef>
              <a:buClr>
                <a:srgbClr val="0000CC"/>
              </a:buClr>
              <a:buSzPct val="65000"/>
              <a:buFont typeface="Wingdings" pitchFamily="2" charset="2"/>
              <a:buChar char="u"/>
              <a:defRPr/>
            </a:pPr>
            <a:r>
              <a:rPr lang="zh-CN" altLang="en-US" sz="2000" kern="0" dirty="0">
                <a:effectLst>
                  <a:outerShdw blurRad="38100" dist="38100" dir="2700000" algn="tl">
                    <a:srgbClr val="000000">
                      <a:alpha val="43137"/>
                    </a:srgbClr>
                  </a:outerShdw>
                </a:effectLst>
                <a:latin typeface="微软雅黑" pitchFamily="34" charset="-122"/>
                <a:ea typeface="微软雅黑" pitchFamily="34" charset="-122"/>
              </a:rPr>
              <a:t>在</a:t>
            </a:r>
            <a:r>
              <a:rPr lang="zh-CN" altLang="en-US" sz="2000" kern="0" dirty="0">
                <a:solidFill>
                  <a:srgbClr val="003399"/>
                </a:solidFill>
                <a:latin typeface="微软雅黑" pitchFamily="34" charset="-122"/>
                <a:ea typeface="微软雅黑" pitchFamily="34" charset="-122"/>
              </a:rPr>
              <a:t>终端站</a:t>
            </a:r>
            <a:r>
              <a:rPr lang="zh-CN" altLang="en-US" sz="2000" kern="0" dirty="0">
                <a:effectLst>
                  <a:outerShdw blurRad="38100" dist="38100" dir="2700000" algn="tl">
                    <a:srgbClr val="000000">
                      <a:alpha val="43137"/>
                    </a:srgbClr>
                  </a:outerShdw>
                </a:effectLst>
                <a:latin typeface="微软雅黑" pitchFamily="34" charset="-122"/>
                <a:ea typeface="微软雅黑" pitchFamily="34" charset="-122"/>
              </a:rPr>
              <a:t>处理的</a:t>
            </a:r>
            <a:r>
              <a:rPr lang="zh-CN" altLang="en-US" sz="2000" kern="0" dirty="0">
                <a:solidFill>
                  <a:srgbClr val="990099"/>
                </a:solidFill>
                <a:effectLst>
                  <a:outerShdw blurRad="38100" dist="38100" dir="2700000" algn="tl">
                    <a:srgbClr val="000000">
                      <a:alpha val="43137"/>
                    </a:srgbClr>
                  </a:outerShdw>
                </a:effectLst>
                <a:latin typeface="微软雅黑" pitchFamily="34" charset="-122"/>
                <a:ea typeface="微软雅黑" pitchFamily="34" charset="-122"/>
              </a:rPr>
              <a:t>优点</a:t>
            </a:r>
            <a:r>
              <a:rPr lang="zh-CN" altLang="en-US" sz="2000" kern="0" dirty="0">
                <a:effectLst>
                  <a:outerShdw blurRad="38100" dist="38100" dir="2700000" algn="tl">
                    <a:srgbClr val="000000">
                      <a:alpha val="43137"/>
                    </a:srgbClr>
                  </a:outerShdw>
                </a:effectLst>
                <a:latin typeface="微软雅黑" pitchFamily="34" charset="-122"/>
                <a:ea typeface="微软雅黑" pitchFamily="34" charset="-122"/>
              </a:rPr>
              <a:t>：</a:t>
            </a:r>
          </a:p>
          <a:p>
            <a:pPr marL="685800" lvl="1" indent="-228600" eaLnBrk="0" hangingPunct="0">
              <a:lnSpc>
                <a:spcPts val="3000"/>
              </a:lnSpc>
              <a:spcBef>
                <a:spcPct val="20000"/>
              </a:spcBef>
              <a:buClr>
                <a:srgbClr val="990099"/>
              </a:buClr>
              <a:buSzPct val="55000"/>
              <a:buFont typeface="Wingdings" pitchFamily="2" charset="2"/>
              <a:buChar char="p"/>
              <a:defRPr/>
            </a:pPr>
            <a:r>
              <a:rPr lang="zh-CN" altLang="en-US" sz="2000" kern="0" dirty="0">
                <a:latin typeface="华文中宋" pitchFamily="2" charset="-122"/>
                <a:ea typeface="华文中宋" pitchFamily="2" charset="-122"/>
              </a:rPr>
              <a:t>中心站不需要易于接入，并且中心站可以设计得较简单以提高可靠性。 </a:t>
            </a:r>
          </a:p>
          <a:p>
            <a:pPr marL="685800" lvl="1" indent="-228600" eaLnBrk="0" hangingPunct="0">
              <a:lnSpc>
                <a:spcPts val="3000"/>
              </a:lnSpc>
              <a:spcBef>
                <a:spcPct val="20000"/>
              </a:spcBef>
              <a:buClr>
                <a:srgbClr val="990099"/>
              </a:buClr>
              <a:buSzPct val="55000"/>
              <a:buFont typeface="Wingdings" pitchFamily="2" charset="2"/>
              <a:buChar char="p"/>
              <a:defRPr/>
            </a:pPr>
            <a:r>
              <a:rPr lang="zh-CN" altLang="en-US" sz="2000" kern="0" dirty="0">
                <a:latin typeface="华文中宋" pitchFamily="2" charset="-122"/>
                <a:ea typeface="华文中宋" pitchFamily="2" charset="-122"/>
              </a:rPr>
              <a:t>响应更快，因为没有在中心站处理带来的延迟。若链路的参量变化很快，这一点是很重要的。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up)">
                                      <p:cBhvr>
                                        <p:cTn id="7" dur="1000"/>
                                        <p:tgtEl>
                                          <p:spTgt spid="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12643">
                                            <p:txEl>
                                              <p:pRg st="0" end="0"/>
                                            </p:txEl>
                                          </p:spTgt>
                                        </p:tgtEl>
                                        <p:attrNameLst>
                                          <p:attrName>style.visibility</p:attrName>
                                        </p:attrNameLst>
                                      </p:cBhvr>
                                      <p:to>
                                        <p:strVal val="visible"/>
                                      </p:to>
                                    </p:set>
                                    <p:animEffect transition="in" filter="wipe(up)">
                                      <p:cBhvr>
                                        <p:cTn id="12" dur="1000"/>
                                        <p:tgtEl>
                                          <p:spTgt spid="112643">
                                            <p:txEl>
                                              <p:pRg st="0" end="0"/>
                                            </p:txEl>
                                          </p:spTgt>
                                        </p:tgtEl>
                                      </p:cBhvr>
                                    </p:animEffect>
                                  </p:childTnLst>
                                </p:cTn>
                              </p:par>
                            </p:childTnLst>
                          </p:cTn>
                        </p:par>
                        <p:par>
                          <p:cTn id="13" fill="hold" nodeType="afterGroup">
                            <p:stCondLst>
                              <p:cond delay="1000"/>
                            </p:stCondLst>
                            <p:childTnLst>
                              <p:par>
                                <p:cTn id="14" presetID="22" presetClass="entr" presetSubtype="1" fill="hold" nodeType="afterEffect">
                                  <p:stCondLst>
                                    <p:cond delay="0"/>
                                  </p:stCondLst>
                                  <p:childTnLst>
                                    <p:set>
                                      <p:cBhvr>
                                        <p:cTn id="15" dur="1" fill="hold">
                                          <p:stCondLst>
                                            <p:cond delay="0"/>
                                          </p:stCondLst>
                                        </p:cTn>
                                        <p:tgtEl>
                                          <p:spTgt spid="112643">
                                            <p:txEl>
                                              <p:pRg st="1" end="1"/>
                                            </p:txEl>
                                          </p:spTgt>
                                        </p:tgtEl>
                                        <p:attrNameLst>
                                          <p:attrName>style.visibility</p:attrName>
                                        </p:attrNameLst>
                                      </p:cBhvr>
                                      <p:to>
                                        <p:strVal val="visible"/>
                                      </p:to>
                                    </p:set>
                                    <p:animEffect transition="in" filter="wipe(up)">
                                      <p:cBhvr>
                                        <p:cTn id="16" dur="2000"/>
                                        <p:tgtEl>
                                          <p:spTgt spid="112643">
                                            <p:txEl>
                                              <p:pRg st="1" end="1"/>
                                            </p:txEl>
                                          </p:spTgt>
                                        </p:tgtEl>
                                      </p:cBhvr>
                                    </p:animEffect>
                                  </p:childTnLst>
                                </p:cTn>
                              </p:par>
                            </p:childTnLst>
                          </p:cTn>
                        </p:par>
                        <p:par>
                          <p:cTn id="17" fill="hold" nodeType="afterGroup">
                            <p:stCondLst>
                              <p:cond delay="3000"/>
                            </p:stCondLst>
                            <p:childTnLst>
                              <p:par>
                                <p:cTn id="18" presetID="22" presetClass="entr" presetSubtype="1" fill="hold" nodeType="afterEffect">
                                  <p:stCondLst>
                                    <p:cond delay="0"/>
                                  </p:stCondLst>
                                  <p:childTnLst>
                                    <p:set>
                                      <p:cBhvr>
                                        <p:cTn id="19" dur="1" fill="hold">
                                          <p:stCondLst>
                                            <p:cond delay="0"/>
                                          </p:stCondLst>
                                        </p:cTn>
                                        <p:tgtEl>
                                          <p:spTgt spid="112643">
                                            <p:txEl>
                                              <p:pRg st="2" end="2"/>
                                            </p:txEl>
                                          </p:spTgt>
                                        </p:tgtEl>
                                        <p:attrNameLst>
                                          <p:attrName>style.visibility</p:attrName>
                                        </p:attrNameLst>
                                      </p:cBhvr>
                                      <p:to>
                                        <p:strVal val="visible"/>
                                      </p:to>
                                    </p:set>
                                    <p:animEffect transition="in" filter="wipe(up)">
                                      <p:cBhvr>
                                        <p:cTn id="20" dur="2000"/>
                                        <p:tgtEl>
                                          <p:spTgt spid="112643">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animEffect transition="in" filter="wipe(up)">
                                      <p:cBhvr>
                                        <p:cTn id="25" dur="1000"/>
                                        <p:tgtEl>
                                          <p:spTgt spid="5">
                                            <p:txEl>
                                              <p:pRg st="0" end="0"/>
                                            </p:txEl>
                                          </p:spTgt>
                                        </p:tgtEl>
                                      </p:cBhvr>
                                    </p:animEffect>
                                  </p:childTnLst>
                                </p:cTn>
                              </p:par>
                            </p:childTnLst>
                          </p:cTn>
                        </p:par>
                        <p:par>
                          <p:cTn id="26" fill="hold" nodeType="afterGroup">
                            <p:stCondLst>
                              <p:cond delay="1000"/>
                            </p:stCondLst>
                            <p:childTnLst>
                              <p:par>
                                <p:cTn id="27" presetID="22" presetClass="entr" presetSubtype="1" fill="hold" nodeType="afterEffect">
                                  <p:stCondLst>
                                    <p:cond delay="0"/>
                                  </p:stCondLst>
                                  <p:childTnLst>
                                    <p:set>
                                      <p:cBhvr>
                                        <p:cTn id="28" dur="1" fill="hold">
                                          <p:stCondLst>
                                            <p:cond delay="0"/>
                                          </p:stCondLst>
                                        </p:cTn>
                                        <p:tgtEl>
                                          <p:spTgt spid="5">
                                            <p:txEl>
                                              <p:pRg st="1" end="1"/>
                                            </p:txEl>
                                          </p:spTgt>
                                        </p:tgtEl>
                                        <p:attrNameLst>
                                          <p:attrName>style.visibility</p:attrName>
                                        </p:attrNameLst>
                                      </p:cBhvr>
                                      <p:to>
                                        <p:strVal val="visible"/>
                                      </p:to>
                                    </p:set>
                                    <p:animEffect transition="in" filter="wipe(up)">
                                      <p:cBhvr>
                                        <p:cTn id="29" dur="2000"/>
                                        <p:tgtEl>
                                          <p:spTgt spid="5">
                                            <p:txEl>
                                              <p:pRg st="1" end="1"/>
                                            </p:txEl>
                                          </p:spTgt>
                                        </p:tgtEl>
                                      </p:cBhvr>
                                    </p:animEffect>
                                  </p:childTnLst>
                                </p:cTn>
                              </p:par>
                            </p:childTnLst>
                          </p:cTn>
                        </p:par>
                        <p:par>
                          <p:cTn id="30" fill="hold" nodeType="afterGroup">
                            <p:stCondLst>
                              <p:cond delay="3000"/>
                            </p:stCondLst>
                            <p:childTnLst>
                              <p:par>
                                <p:cTn id="31" presetID="22" presetClass="entr" presetSubtype="1" fill="hold" nodeType="afterEffect">
                                  <p:stCondLst>
                                    <p:cond delay="0"/>
                                  </p:stCondLst>
                                  <p:childTnLst>
                                    <p:set>
                                      <p:cBhvr>
                                        <p:cTn id="32" dur="1" fill="hold">
                                          <p:stCondLst>
                                            <p:cond delay="0"/>
                                          </p:stCondLst>
                                        </p:cTn>
                                        <p:tgtEl>
                                          <p:spTgt spid="5">
                                            <p:txEl>
                                              <p:pRg st="2" end="2"/>
                                            </p:txEl>
                                          </p:spTgt>
                                        </p:tgtEl>
                                        <p:attrNameLst>
                                          <p:attrName>style.visibility</p:attrName>
                                        </p:attrNameLst>
                                      </p:cBhvr>
                                      <p:to>
                                        <p:strVal val="visible"/>
                                      </p:to>
                                    </p:set>
                                    <p:animEffect transition="in" filter="wipe(up)">
                                      <p:cBhvr>
                                        <p:cTn id="33" dur="20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185A787B-C786-6722-2396-CEFC8486628C}"/>
              </a:ext>
            </a:extLst>
          </p:cNvPr>
          <p:cNvSpPr txBox="1">
            <a:spLocks noChangeArrowheads="1"/>
          </p:cNvSpPr>
          <p:nvPr/>
        </p:nvSpPr>
        <p:spPr bwMode="auto">
          <a:xfrm>
            <a:off x="706438" y="1000125"/>
            <a:ext cx="7794625" cy="2714625"/>
          </a:xfrm>
          <a:prstGeom prst="rect">
            <a:avLst/>
          </a:prstGeom>
          <a:noFill/>
          <a:ln w="9525">
            <a:noFill/>
            <a:miter lim="800000"/>
            <a:headEnd/>
            <a:tailEnd/>
          </a:ln>
        </p:spPr>
        <p:txBody>
          <a:bodyPr/>
          <a:lstStyle/>
          <a:p>
            <a:pPr marL="285750" indent="-285750" eaLnBrk="0" hangingPunct="0">
              <a:lnSpc>
                <a:spcPts val="3200"/>
              </a:lnSpc>
              <a:spcBef>
                <a:spcPct val="20000"/>
              </a:spcBef>
              <a:buClr>
                <a:srgbClr val="0000CC"/>
              </a:buClr>
              <a:buSzPct val="65000"/>
              <a:buFont typeface="Wingdings" pitchFamily="2" charset="2"/>
              <a:buChar char="u"/>
              <a:defRPr/>
            </a:pPr>
            <a:r>
              <a:rPr lang="zh-CN" altLang="en-US" sz="2000" kern="0" dirty="0">
                <a:effectLst>
                  <a:outerShdw blurRad="38100" dist="38100" dir="2700000" algn="tl">
                    <a:srgbClr val="000000">
                      <a:alpha val="43137"/>
                    </a:srgbClr>
                  </a:outerShdw>
                </a:effectLst>
                <a:latin typeface="微软雅黑" pitchFamily="34" charset="-122"/>
                <a:ea typeface="微软雅黑" pitchFamily="34" charset="-122"/>
              </a:rPr>
              <a:t>在</a:t>
            </a:r>
            <a:r>
              <a:rPr lang="zh-CN" altLang="en-US" sz="2000" kern="0" dirty="0">
                <a:solidFill>
                  <a:srgbClr val="003399"/>
                </a:solidFill>
                <a:latin typeface="微软雅黑" pitchFamily="34" charset="-122"/>
                <a:ea typeface="微软雅黑" pitchFamily="34" charset="-122"/>
              </a:rPr>
              <a:t>终端站</a:t>
            </a:r>
            <a:r>
              <a:rPr lang="zh-CN" altLang="en-US" sz="2000" kern="0" dirty="0">
                <a:effectLst>
                  <a:outerShdw blurRad="38100" dist="38100" dir="2700000" algn="tl">
                    <a:srgbClr val="000000">
                      <a:alpha val="43137"/>
                    </a:srgbClr>
                  </a:outerShdw>
                </a:effectLst>
                <a:latin typeface="微软雅黑" pitchFamily="34" charset="-122"/>
                <a:ea typeface="微软雅黑" pitchFamily="34" charset="-122"/>
              </a:rPr>
              <a:t>处理的</a:t>
            </a:r>
            <a:r>
              <a:rPr lang="zh-CN" altLang="en-US" sz="2000" kern="0" dirty="0">
                <a:solidFill>
                  <a:srgbClr val="990099"/>
                </a:solidFill>
                <a:effectLst>
                  <a:outerShdw blurRad="38100" dist="38100" dir="2700000" algn="tl">
                    <a:srgbClr val="000000">
                      <a:alpha val="43137"/>
                    </a:srgbClr>
                  </a:outerShdw>
                </a:effectLst>
                <a:latin typeface="微软雅黑" pitchFamily="34" charset="-122"/>
                <a:ea typeface="微软雅黑" pitchFamily="34" charset="-122"/>
              </a:rPr>
              <a:t>缺点</a:t>
            </a:r>
            <a:r>
              <a:rPr lang="zh-CN" altLang="en-US" sz="2000" kern="0" dirty="0">
                <a:effectLst>
                  <a:outerShdw blurRad="38100" dist="38100" dir="2700000" algn="tl">
                    <a:srgbClr val="000000">
                      <a:alpha val="43137"/>
                    </a:srgbClr>
                  </a:outerShdw>
                </a:effectLst>
                <a:latin typeface="微软雅黑" pitchFamily="34" charset="-122"/>
                <a:ea typeface="微软雅黑" pitchFamily="34" charset="-122"/>
              </a:rPr>
              <a:t>：</a:t>
            </a:r>
          </a:p>
          <a:p>
            <a:pPr marL="685800" lvl="1" indent="-228600" eaLnBrk="0" hangingPunct="0">
              <a:lnSpc>
                <a:spcPts val="3200"/>
              </a:lnSpc>
              <a:spcBef>
                <a:spcPct val="20000"/>
              </a:spcBef>
              <a:buClr>
                <a:srgbClr val="990099"/>
              </a:buClr>
              <a:buSzPct val="55000"/>
              <a:buFont typeface="Wingdings" pitchFamily="2" charset="2"/>
              <a:buChar char="p"/>
              <a:defRPr/>
            </a:pPr>
            <a:r>
              <a:rPr lang="zh-CN" altLang="en-US" sz="2000" kern="0" dirty="0">
                <a:latin typeface="华文中宋" pitchFamily="2" charset="-122"/>
                <a:ea typeface="华文中宋" pitchFamily="2" charset="-122"/>
              </a:rPr>
              <a:t>反向信道的使用效率不高；</a:t>
            </a:r>
          </a:p>
          <a:p>
            <a:pPr marL="685800" lvl="1" indent="-228600" eaLnBrk="0" hangingPunct="0">
              <a:lnSpc>
                <a:spcPts val="3200"/>
              </a:lnSpc>
              <a:spcBef>
                <a:spcPct val="20000"/>
              </a:spcBef>
              <a:buClr>
                <a:srgbClr val="990099"/>
              </a:buClr>
              <a:buSzPct val="55000"/>
              <a:buFont typeface="Wingdings" pitchFamily="2" charset="2"/>
              <a:buChar char="p"/>
              <a:defRPr/>
            </a:pPr>
            <a:r>
              <a:rPr lang="zh-CN" altLang="en-US" sz="2000" kern="0" dirty="0">
                <a:latin typeface="华文中宋" pitchFamily="2" charset="-122"/>
                <a:ea typeface="华文中宋" pitchFamily="2" charset="-122"/>
              </a:rPr>
              <a:t>返回信号可能难于解读 － 这种情况发生在中心站不仅是简单地转发信号，而且还对码元作判决，再在反向链路上发送此判决结果。因为在反向信号中含有时间和频率偏离的影响，即由码元判决产生的影响。</a:t>
            </a:r>
          </a:p>
        </p:txBody>
      </p:sp>
      <p:sp>
        <p:nvSpPr>
          <p:cNvPr id="8" name="Rectangle 3">
            <a:extLst>
              <a:ext uri="{FF2B5EF4-FFF2-40B4-BE49-F238E27FC236}">
                <a16:creationId xmlns:a16="http://schemas.microsoft.com/office/drawing/2014/main" id="{6E555938-F7A8-10D9-70C3-612627224D6C}"/>
              </a:ext>
            </a:extLst>
          </p:cNvPr>
          <p:cNvSpPr txBox="1">
            <a:spLocks noChangeArrowheads="1"/>
          </p:cNvSpPr>
          <p:nvPr/>
        </p:nvSpPr>
        <p:spPr bwMode="auto">
          <a:xfrm>
            <a:off x="500063" y="3867150"/>
            <a:ext cx="8072437" cy="1276350"/>
          </a:xfrm>
          <a:prstGeom prst="rect">
            <a:avLst/>
          </a:prstGeom>
          <a:noFill/>
          <a:ln w="9525">
            <a:noFill/>
            <a:miter lim="800000"/>
            <a:headEnd/>
            <a:tailEnd/>
          </a:ln>
        </p:spPr>
        <p:txBody>
          <a:bodyPr/>
          <a:lstStyle/>
          <a:p>
            <a:pPr marL="342900" indent="-342900" eaLnBrk="0" hangingPunct="0">
              <a:lnSpc>
                <a:spcPts val="3200"/>
              </a:lnSpc>
              <a:spcBef>
                <a:spcPct val="20000"/>
              </a:spcBef>
              <a:buClr>
                <a:schemeClr val="folHlink"/>
              </a:buClr>
              <a:buSzPct val="60000"/>
              <a:defRPr/>
            </a:pPr>
            <a:r>
              <a:rPr lang="zh-CN" altLang="en-US" sz="2000" kern="0" dirty="0">
                <a:latin typeface="Arial" pitchFamily="34" charset="0"/>
                <a:ea typeface="华文中宋" pitchFamily="2" charset="-122"/>
                <a:cs typeface="Arial" pitchFamily="34" charset="0"/>
              </a:rPr>
              <a:t>	         设一个终端站采用</a:t>
            </a:r>
            <a:r>
              <a:rPr lang="en-US" altLang="zh-CN" sz="2000" kern="0" dirty="0">
                <a:solidFill>
                  <a:srgbClr val="0000CC"/>
                </a:solidFill>
                <a:latin typeface="Arial" pitchFamily="34" charset="0"/>
                <a:ea typeface="华文中宋" pitchFamily="2" charset="-122"/>
                <a:cs typeface="Arial" pitchFamily="34" charset="0"/>
              </a:rPr>
              <a:t>2FSK</a:t>
            </a:r>
            <a:r>
              <a:rPr lang="zh-CN" altLang="en-US" sz="2000" kern="0" dirty="0">
                <a:latin typeface="Arial" pitchFamily="34" charset="0"/>
                <a:ea typeface="华文中宋" pitchFamily="2" charset="-122"/>
                <a:cs typeface="Arial" pitchFamily="34" charset="0"/>
              </a:rPr>
              <a:t>向中心站发送信号，中心站采用非相干解调。这时的判决将决定于信号的能量。中心站接收的信号可以用下式表示：</a:t>
            </a:r>
            <a:endParaRPr lang="zh-CN" altLang="en-US" sz="2000" kern="0" dirty="0">
              <a:latin typeface="Arial" pitchFamily="34" charset="0"/>
              <a:ea typeface="+mn-ea"/>
              <a:cs typeface="Arial" pitchFamily="34" charset="0"/>
            </a:endParaRPr>
          </a:p>
        </p:txBody>
      </p:sp>
      <p:graphicFrame>
        <p:nvGraphicFramePr>
          <p:cNvPr id="113668" name="Object 2">
            <a:extLst>
              <a:ext uri="{FF2B5EF4-FFF2-40B4-BE49-F238E27FC236}">
                <a16:creationId xmlns:a16="http://schemas.microsoft.com/office/drawing/2014/main" id="{FB1B8DED-4D22-7795-2E49-1F927FEFC3B2}"/>
              </a:ext>
            </a:extLst>
          </p:cNvPr>
          <p:cNvGraphicFramePr>
            <a:graphicFrameLocks noChangeAspect="1"/>
          </p:cNvGraphicFramePr>
          <p:nvPr/>
        </p:nvGraphicFramePr>
        <p:xfrm>
          <a:off x="2214563" y="5268913"/>
          <a:ext cx="5491162" cy="946150"/>
        </p:xfrm>
        <a:graphic>
          <a:graphicData uri="http://schemas.openxmlformats.org/presentationml/2006/ole">
            <mc:AlternateContent xmlns:mc="http://schemas.openxmlformats.org/markup-compatibility/2006">
              <mc:Choice xmlns:v="urn:schemas-microsoft-com:vml" Requires="v">
                <p:oleObj name="公式" r:id="rId2" imgW="2819400" imgH="482600" progId="Equation.3">
                  <p:embed/>
                </p:oleObj>
              </mc:Choice>
              <mc:Fallback>
                <p:oleObj name="公式" r:id="rId2" imgW="2819400" imgH="4826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4563" y="5268913"/>
                        <a:ext cx="5491162" cy="946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组合 57">
            <a:extLst>
              <a:ext uri="{FF2B5EF4-FFF2-40B4-BE49-F238E27FC236}">
                <a16:creationId xmlns:a16="http://schemas.microsoft.com/office/drawing/2014/main" id="{3A43B54B-6E46-240E-F24D-5BEBD40EE6B8}"/>
              </a:ext>
            </a:extLst>
          </p:cNvPr>
          <p:cNvGrpSpPr>
            <a:grpSpLocks/>
          </p:cNvGrpSpPr>
          <p:nvPr/>
        </p:nvGrpSpPr>
        <p:grpSpPr bwMode="auto">
          <a:xfrm>
            <a:off x="500063" y="3786188"/>
            <a:ext cx="928687" cy="571500"/>
            <a:chOff x="2500298" y="3214686"/>
            <a:chExt cx="928693" cy="571503"/>
          </a:xfrm>
        </p:grpSpPr>
        <p:sp>
          <p:nvSpPr>
            <p:cNvPr id="10" name="椭圆 9">
              <a:extLst>
                <a:ext uri="{FF2B5EF4-FFF2-40B4-BE49-F238E27FC236}">
                  <a16:creationId xmlns:a16="http://schemas.microsoft.com/office/drawing/2014/main" id="{58C0EF3E-F1D1-D6B2-909E-B2B8482BC2A4}"/>
                </a:ext>
              </a:extLst>
            </p:cNvPr>
            <p:cNvSpPr/>
            <p:nvPr/>
          </p:nvSpPr>
          <p:spPr bwMode="auto">
            <a:xfrm>
              <a:off x="2500298" y="3214686"/>
              <a:ext cx="928693" cy="571503"/>
            </a:xfrm>
            <a:prstGeom prst="ellipse">
              <a:avLst/>
            </a:prstGeom>
            <a:solidFill>
              <a:schemeClr val="bg2">
                <a:lumMod val="10000"/>
                <a:lumOff val="90000"/>
              </a:schemeClr>
            </a:solidFill>
            <a:ln w="9525" cap="flat" cmpd="sng" algn="ctr">
              <a:solidFill>
                <a:schemeClr val="tx2">
                  <a:lumMod val="60000"/>
                  <a:lumOff val="40000"/>
                </a:schemeClr>
              </a:solidFill>
              <a:prstDash val="solid"/>
              <a:miter lim="800000"/>
              <a:headEnd type="none" w="med" len="med"/>
              <a:tailEnd type="none" w="med" len="med"/>
            </a:ln>
            <a:effectLst>
              <a:outerShdw blurRad="50800" dist="38100" dir="18900000" algn="bl" rotWithShape="0">
                <a:prstClr val="black">
                  <a:alpha val="40000"/>
                </a:prstClr>
              </a:outerShdw>
            </a:effectLst>
          </p:spPr>
          <p:txBody>
            <a:bodyPr wrap="none"/>
            <a:lstStyle/>
            <a:p>
              <a:pPr>
                <a:defRPr/>
              </a:pPr>
              <a:endParaRPr lang="zh-CN" altLang="en-US" dirty="0">
                <a:ea typeface="宋体" charset="-122"/>
              </a:endParaRPr>
            </a:p>
          </p:txBody>
        </p:sp>
        <p:sp>
          <p:nvSpPr>
            <p:cNvPr id="11" name="矩形 10">
              <a:extLst>
                <a:ext uri="{FF2B5EF4-FFF2-40B4-BE49-F238E27FC236}">
                  <a16:creationId xmlns:a16="http://schemas.microsoft.com/office/drawing/2014/main" id="{8DEE5B0A-5E48-EC87-DCC6-87770EF59D91}"/>
                </a:ext>
              </a:extLst>
            </p:cNvPr>
            <p:cNvSpPr/>
            <p:nvPr/>
          </p:nvSpPr>
          <p:spPr>
            <a:xfrm>
              <a:off x="2625711" y="3286123"/>
              <a:ext cx="696918" cy="400052"/>
            </a:xfrm>
            <a:prstGeom prst="rect">
              <a:avLst/>
            </a:prstGeom>
          </p:spPr>
          <p:txBody>
            <a:bodyPr wrap="none">
              <a:spAutoFit/>
            </a:bodyPr>
            <a:lstStyle/>
            <a:p>
              <a:pPr>
                <a:defRPr/>
              </a:pPr>
              <a:r>
                <a:rPr lang="zh-CN" altLang="en-US" sz="2000" b="1" kern="0" dirty="0">
                  <a:solidFill>
                    <a:srgbClr val="003399"/>
                  </a:solidFill>
                  <a:latin typeface="微软雅黑" pitchFamily="34" charset="-122"/>
                  <a:ea typeface="微软雅黑" pitchFamily="34" charset="-122"/>
                </a:rPr>
                <a:t>举例</a:t>
              </a:r>
              <a:endParaRPr lang="zh-CN" altLang="en-US" sz="2000" b="1" dirty="0">
                <a:ea typeface="宋体"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1000"/>
                                        <p:tgtEl>
                                          <p:spTgt spid="5">
                                            <p:txEl>
                                              <p:pRg st="0" end="0"/>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wipe(up)">
                                      <p:cBhvr>
                                        <p:cTn id="11" dur="2000"/>
                                        <p:tgtEl>
                                          <p:spTgt spid="5">
                                            <p:txEl>
                                              <p:pRg st="1" end="1"/>
                                            </p:txEl>
                                          </p:spTgt>
                                        </p:tgtEl>
                                      </p:cBhvr>
                                    </p:animEffect>
                                  </p:childTnLst>
                                </p:cTn>
                              </p:par>
                            </p:childTnLst>
                          </p:cTn>
                        </p:par>
                        <p:par>
                          <p:cTn id="12" fill="hold" nodeType="afterGroup">
                            <p:stCondLst>
                              <p:cond delay="3000"/>
                            </p:stCondLst>
                            <p:childTnLst>
                              <p:par>
                                <p:cTn id="13" presetID="22" presetClass="entr" presetSubtype="1" fill="hold" nodeType="after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wipe(up)">
                                      <p:cBhvr>
                                        <p:cTn id="15" dur="2000"/>
                                        <p:tgtEl>
                                          <p:spTgt spid="5">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1000"/>
                                        <p:tgtEl>
                                          <p:spTgt spid="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animEffect transition="in" filter="wipe(up)">
                                      <p:cBhvr>
                                        <p:cTn id="25" dur="1000"/>
                                        <p:tgtEl>
                                          <p:spTgt spid="8">
                                            <p:txEl>
                                              <p:pRg st="0" end="0"/>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113668"/>
                                        </p:tgtEl>
                                        <p:attrNameLst>
                                          <p:attrName>style.visibility</p:attrName>
                                        </p:attrNameLst>
                                      </p:cBhvr>
                                      <p:to>
                                        <p:strVal val="visible"/>
                                      </p:to>
                                    </p:set>
                                    <p:animEffect transition="in" filter="wipe(up)">
                                      <p:cBhvr>
                                        <p:cTn id="30" dur="1000"/>
                                        <p:tgtEl>
                                          <p:spTgt spid="1136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Rectangle 5">
            <a:extLst>
              <a:ext uri="{FF2B5EF4-FFF2-40B4-BE49-F238E27FC236}">
                <a16:creationId xmlns:a16="http://schemas.microsoft.com/office/drawing/2014/main" id="{4F19E98E-47BE-6ED2-1819-6CDE8F58E974}"/>
              </a:ext>
            </a:extLst>
          </p:cNvPr>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aphicFrame>
        <p:nvGraphicFramePr>
          <p:cNvPr id="114692" name="Object 2">
            <a:extLst>
              <a:ext uri="{FF2B5EF4-FFF2-40B4-BE49-F238E27FC236}">
                <a16:creationId xmlns:a16="http://schemas.microsoft.com/office/drawing/2014/main" id="{0E4694C0-BADD-C9FF-4A77-F36486BF090A}"/>
              </a:ext>
            </a:extLst>
          </p:cNvPr>
          <p:cNvGraphicFramePr>
            <a:graphicFrameLocks noChangeAspect="1"/>
          </p:cNvGraphicFramePr>
          <p:nvPr/>
        </p:nvGraphicFramePr>
        <p:xfrm>
          <a:off x="2159000" y="3198813"/>
          <a:ext cx="2341563" cy="687387"/>
        </p:xfrm>
        <a:graphic>
          <a:graphicData uri="http://schemas.openxmlformats.org/presentationml/2006/ole">
            <mc:AlternateContent xmlns:mc="http://schemas.openxmlformats.org/markup-compatibility/2006">
              <mc:Choice xmlns:v="urn:schemas-microsoft-com:vml" Requires="v">
                <p:oleObj name="公式" r:id="rId2" imgW="1333500" imgH="393700" progId="Equation.3">
                  <p:embed/>
                </p:oleObj>
              </mc:Choice>
              <mc:Fallback>
                <p:oleObj name="公式" r:id="rId2" imgW="1333500" imgH="3937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9000" y="3198813"/>
                        <a:ext cx="2341563" cy="687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678" name="Rectangle 7">
            <a:extLst>
              <a:ext uri="{FF2B5EF4-FFF2-40B4-BE49-F238E27FC236}">
                <a16:creationId xmlns:a16="http://schemas.microsoft.com/office/drawing/2014/main" id="{AEAB28B1-36A8-2332-181D-1AFB483007D2}"/>
              </a:ext>
            </a:extLst>
          </p:cNvPr>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aphicFrame>
        <p:nvGraphicFramePr>
          <p:cNvPr id="114694" name="Object 3">
            <a:extLst>
              <a:ext uri="{FF2B5EF4-FFF2-40B4-BE49-F238E27FC236}">
                <a16:creationId xmlns:a16="http://schemas.microsoft.com/office/drawing/2014/main" id="{8E4653B3-AA84-9DDD-E3AD-BE1F68591204}"/>
              </a:ext>
            </a:extLst>
          </p:cNvPr>
          <p:cNvGraphicFramePr>
            <a:graphicFrameLocks noChangeAspect="1"/>
          </p:cNvGraphicFramePr>
          <p:nvPr/>
        </p:nvGraphicFramePr>
        <p:xfrm>
          <a:off x="4883150" y="3198813"/>
          <a:ext cx="2474913" cy="730250"/>
        </p:xfrm>
        <a:graphic>
          <a:graphicData uri="http://schemas.openxmlformats.org/presentationml/2006/ole">
            <mc:AlternateContent xmlns:mc="http://schemas.openxmlformats.org/markup-compatibility/2006">
              <mc:Choice xmlns:v="urn:schemas-microsoft-com:vml" Requires="v">
                <p:oleObj name="公式" r:id="rId4" imgW="1320227" imgH="393529" progId="Equation.3">
                  <p:embed/>
                </p:oleObj>
              </mc:Choice>
              <mc:Fallback>
                <p:oleObj name="公式" r:id="rId4" imgW="1320227" imgH="393529"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83150" y="3198813"/>
                        <a:ext cx="2474913" cy="730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679" name="Rectangle 9">
            <a:extLst>
              <a:ext uri="{FF2B5EF4-FFF2-40B4-BE49-F238E27FC236}">
                <a16:creationId xmlns:a16="http://schemas.microsoft.com/office/drawing/2014/main" id="{DA5E6D2D-3717-C8B0-0A81-4B3928A1A395}"/>
              </a:ext>
            </a:extLst>
          </p:cNvPr>
          <p:cNvSpPr>
            <a:spLocks noChangeArrowheads="1"/>
          </p:cNvSpPr>
          <p:nvPr/>
        </p:nvSpPr>
        <p:spPr bwMode="auto">
          <a:xfrm>
            <a:off x="0" y="2947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aphicFrame>
        <p:nvGraphicFramePr>
          <p:cNvPr id="114696" name="Object 4">
            <a:extLst>
              <a:ext uri="{FF2B5EF4-FFF2-40B4-BE49-F238E27FC236}">
                <a16:creationId xmlns:a16="http://schemas.microsoft.com/office/drawing/2014/main" id="{C50C70DF-2196-0827-42BC-F8164EE13667}"/>
              </a:ext>
            </a:extLst>
          </p:cNvPr>
          <p:cNvGraphicFramePr>
            <a:graphicFrameLocks noChangeAspect="1"/>
          </p:cNvGraphicFramePr>
          <p:nvPr/>
        </p:nvGraphicFramePr>
        <p:xfrm>
          <a:off x="1285875" y="4714875"/>
          <a:ext cx="6526213" cy="1673225"/>
        </p:xfrm>
        <a:graphic>
          <a:graphicData uri="http://schemas.openxmlformats.org/presentationml/2006/ole">
            <mc:AlternateContent xmlns:mc="http://schemas.openxmlformats.org/markup-compatibility/2006">
              <mc:Choice xmlns:v="urn:schemas-microsoft-com:vml" Requires="v">
                <p:oleObj name="公式" r:id="rId6" imgW="3937000" imgH="965200" progId="Equation.3">
                  <p:embed/>
                </p:oleObj>
              </mc:Choice>
              <mc:Fallback>
                <p:oleObj name="公式" r:id="rId6" imgW="3937000" imgH="9652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85875" y="4714875"/>
                        <a:ext cx="6526213" cy="1673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680" name="Rectangle 11">
            <a:extLst>
              <a:ext uri="{FF2B5EF4-FFF2-40B4-BE49-F238E27FC236}">
                <a16:creationId xmlns:a16="http://schemas.microsoft.com/office/drawing/2014/main" id="{74E4C181-BA1D-19E7-DEAB-C24CDF41979B}"/>
              </a:ext>
            </a:extLst>
          </p:cNvPr>
          <p:cNvSpPr>
            <a:spLocks noChangeArrowheads="1"/>
          </p:cNvSpPr>
          <p:nvPr/>
        </p:nvSpPr>
        <p:spPr bwMode="auto">
          <a:xfrm>
            <a:off x="0" y="3195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28681" name="Rectangle 13">
            <a:extLst>
              <a:ext uri="{FF2B5EF4-FFF2-40B4-BE49-F238E27FC236}">
                <a16:creationId xmlns:a16="http://schemas.microsoft.com/office/drawing/2014/main" id="{A0789519-A411-481B-E53A-1189F4D3C73F}"/>
              </a:ext>
            </a:extLst>
          </p:cNvPr>
          <p:cNvSpPr>
            <a:spLocks noChangeArrowheads="1"/>
          </p:cNvSpPr>
          <p:nvPr/>
        </p:nvSpPr>
        <p:spPr bwMode="auto">
          <a:xfrm>
            <a:off x="0" y="3176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16" name="矩形 15">
            <a:extLst>
              <a:ext uri="{FF2B5EF4-FFF2-40B4-BE49-F238E27FC236}">
                <a16:creationId xmlns:a16="http://schemas.microsoft.com/office/drawing/2014/main" id="{9C845BE7-78CA-B904-C963-0801C76ACC9E}"/>
              </a:ext>
            </a:extLst>
          </p:cNvPr>
          <p:cNvSpPr/>
          <p:nvPr/>
        </p:nvSpPr>
        <p:spPr>
          <a:xfrm>
            <a:off x="714375" y="2503488"/>
            <a:ext cx="7305675" cy="425450"/>
          </a:xfrm>
          <a:prstGeom prst="rect">
            <a:avLst/>
          </a:prstGeom>
        </p:spPr>
        <p:txBody>
          <a:bodyPr>
            <a:spAutoFit/>
          </a:bodyPr>
          <a:lstStyle/>
          <a:p>
            <a:pPr marL="342900" indent="-342900" eaLnBrk="0" hangingPunct="0">
              <a:lnSpc>
                <a:spcPts val="2600"/>
              </a:lnSpc>
              <a:spcBef>
                <a:spcPct val="20000"/>
              </a:spcBef>
              <a:buClr>
                <a:srgbClr val="3333CC"/>
              </a:buClr>
              <a:buSzPct val="60000"/>
              <a:defRPr/>
            </a:pPr>
            <a:r>
              <a:rPr lang="zh-CN" altLang="en-US" sz="2000" kern="0" dirty="0">
                <a:solidFill>
                  <a:srgbClr val="000000"/>
                </a:solidFill>
                <a:latin typeface="华文中宋" pitchFamily="2" charset="-122"/>
                <a:ea typeface="华文中宋" pitchFamily="2" charset="-122"/>
              </a:rPr>
              <a:t>现在，若中心站解调器的两个正交分量输出为：</a:t>
            </a:r>
          </a:p>
        </p:txBody>
      </p:sp>
      <p:sp>
        <p:nvSpPr>
          <p:cNvPr id="17" name="矩形 16">
            <a:extLst>
              <a:ext uri="{FF2B5EF4-FFF2-40B4-BE49-F238E27FC236}">
                <a16:creationId xmlns:a16="http://schemas.microsoft.com/office/drawing/2014/main" id="{F115FD0C-7DC2-39FF-B0AB-897BC5B54EF4}"/>
              </a:ext>
            </a:extLst>
          </p:cNvPr>
          <p:cNvSpPr/>
          <p:nvPr/>
        </p:nvSpPr>
        <p:spPr>
          <a:xfrm>
            <a:off x="714375" y="4184650"/>
            <a:ext cx="4541838" cy="400050"/>
          </a:xfrm>
          <a:prstGeom prst="rect">
            <a:avLst/>
          </a:prstGeom>
        </p:spPr>
        <p:txBody>
          <a:bodyPr>
            <a:spAutoFit/>
          </a:bodyPr>
          <a:lstStyle/>
          <a:p>
            <a:pPr>
              <a:defRPr/>
            </a:pPr>
            <a:r>
              <a:rPr lang="zh-CN" altLang="en-US" sz="2000" kern="0" dirty="0">
                <a:solidFill>
                  <a:srgbClr val="000000"/>
                </a:solidFill>
                <a:latin typeface="华文中宋" pitchFamily="2" charset="-122"/>
                <a:ea typeface="华文中宋" pitchFamily="2" charset="-122"/>
              </a:rPr>
              <a:t>则解调信号的能量为</a:t>
            </a:r>
            <a:endParaRPr lang="zh-CN" altLang="en-US" dirty="0">
              <a:ea typeface="宋体" charset="-122"/>
            </a:endParaRPr>
          </a:p>
        </p:txBody>
      </p:sp>
      <p:sp>
        <p:nvSpPr>
          <p:cNvPr id="21" name="矩形 20">
            <a:extLst>
              <a:ext uri="{FF2B5EF4-FFF2-40B4-BE49-F238E27FC236}">
                <a16:creationId xmlns:a16="http://schemas.microsoft.com/office/drawing/2014/main" id="{50F2619D-E8AC-1E59-4EDB-DBEDAF482AF3}"/>
              </a:ext>
            </a:extLst>
          </p:cNvPr>
          <p:cNvSpPr/>
          <p:nvPr/>
        </p:nvSpPr>
        <p:spPr>
          <a:xfrm>
            <a:off x="428625" y="1085850"/>
            <a:ext cx="6704013" cy="985838"/>
          </a:xfrm>
          <a:prstGeom prst="rect">
            <a:avLst/>
          </a:prstGeom>
        </p:spPr>
        <p:txBody>
          <a:bodyPr>
            <a:spAutoFit/>
          </a:bodyPr>
          <a:lstStyle/>
          <a:p>
            <a:pPr marL="342900" indent="-342900" eaLnBrk="0" hangingPunct="0">
              <a:lnSpc>
                <a:spcPts val="3100"/>
              </a:lnSpc>
              <a:spcBef>
                <a:spcPct val="20000"/>
              </a:spcBef>
              <a:buClr>
                <a:srgbClr val="3333CC"/>
              </a:buClr>
              <a:buSzPct val="60000"/>
              <a:defRPr/>
            </a:pPr>
            <a:r>
              <a:rPr lang="zh-CN" altLang="en-US" sz="2000" kern="0" dirty="0">
                <a:solidFill>
                  <a:srgbClr val="000000"/>
                </a:solidFill>
                <a:effectLst>
                  <a:outerShdw blurRad="38100" dist="38100" dir="2700000" algn="tl">
                    <a:srgbClr val="000000">
                      <a:alpha val="43137"/>
                    </a:srgbClr>
                  </a:outerShdw>
                </a:effectLst>
                <a:latin typeface="Arial" pitchFamily="34" charset="0"/>
                <a:ea typeface="宋体"/>
                <a:cs typeface="Arial" pitchFamily="34" charset="0"/>
              </a:rPr>
              <a:t>	式中，</a:t>
            </a:r>
            <a:r>
              <a:rPr lang="zh-CN" altLang="en-US" sz="2000" i="1" kern="0" dirty="0">
                <a:solidFill>
                  <a:srgbClr val="000000"/>
                </a:solidFill>
                <a:effectLst>
                  <a:outerShdw blurRad="38100" dist="38100" dir="2700000" algn="tl">
                    <a:srgbClr val="000000">
                      <a:alpha val="43137"/>
                    </a:srgbClr>
                  </a:outerShdw>
                </a:effectLst>
                <a:latin typeface="Arial" pitchFamily="34" charset="0"/>
                <a:ea typeface="宋体"/>
                <a:cs typeface="Arial" pitchFamily="34" charset="0"/>
                <a:sym typeface="Symbol" pitchFamily="18" charset="2"/>
              </a:rPr>
              <a:t> － </a:t>
            </a:r>
            <a:r>
              <a:rPr lang="zh-CN" altLang="en-US" sz="2000" kern="0" dirty="0">
                <a:solidFill>
                  <a:srgbClr val="000000"/>
                </a:solidFill>
                <a:effectLst>
                  <a:outerShdw blurRad="38100" dist="38100" dir="2700000" algn="tl">
                    <a:srgbClr val="000000">
                      <a:alpha val="43137"/>
                    </a:srgbClr>
                  </a:outerShdw>
                </a:effectLst>
                <a:latin typeface="Arial" pitchFamily="34" charset="0"/>
                <a:ea typeface="宋体"/>
                <a:cs typeface="Arial" pitchFamily="34" charset="0"/>
              </a:rPr>
              <a:t>中心站接收信号的角频率误差；</a:t>
            </a:r>
            <a:endParaRPr lang="zh-CN" altLang="en-US" sz="2000" i="1" kern="0" dirty="0">
              <a:solidFill>
                <a:srgbClr val="000000"/>
              </a:solidFill>
              <a:effectLst>
                <a:outerShdw blurRad="38100" dist="38100" dir="2700000" algn="tl">
                  <a:srgbClr val="000000">
                    <a:alpha val="43137"/>
                  </a:srgbClr>
                </a:outerShdw>
              </a:effectLst>
              <a:latin typeface="Arial" pitchFamily="34" charset="0"/>
              <a:ea typeface="宋体"/>
              <a:cs typeface="Arial" pitchFamily="34" charset="0"/>
              <a:sym typeface="Symbol" pitchFamily="18" charset="2"/>
            </a:endParaRPr>
          </a:p>
          <a:p>
            <a:pPr marL="342900" indent="-342900" eaLnBrk="0" hangingPunct="0">
              <a:lnSpc>
                <a:spcPts val="3100"/>
              </a:lnSpc>
              <a:spcBef>
                <a:spcPct val="20000"/>
              </a:spcBef>
              <a:buClr>
                <a:srgbClr val="3333CC"/>
              </a:buClr>
              <a:buSzPct val="60000"/>
              <a:defRPr/>
            </a:pPr>
            <a:r>
              <a:rPr lang="zh-CN" altLang="en-US" sz="2000" i="1" kern="0" dirty="0">
                <a:solidFill>
                  <a:srgbClr val="000000"/>
                </a:solidFill>
                <a:effectLst>
                  <a:outerShdw blurRad="38100" dist="38100" dir="2700000" algn="tl">
                    <a:srgbClr val="000000">
                      <a:alpha val="43137"/>
                    </a:srgbClr>
                  </a:outerShdw>
                </a:effectLst>
                <a:latin typeface="Arial" pitchFamily="34" charset="0"/>
                <a:ea typeface="宋体"/>
                <a:cs typeface="Arial" pitchFamily="34" charset="0"/>
                <a:sym typeface="Symbol" pitchFamily="18" charset="2"/>
              </a:rPr>
              <a:t>		   </a:t>
            </a:r>
            <a:r>
              <a:rPr lang="en-US" altLang="zh-CN" sz="2000" i="1" kern="0" dirty="0">
                <a:solidFill>
                  <a:srgbClr val="000000"/>
                </a:solidFill>
                <a:effectLst>
                  <a:outerShdw blurRad="38100" dist="38100" dir="2700000" algn="tl">
                    <a:srgbClr val="000000">
                      <a:alpha val="43137"/>
                    </a:srgbClr>
                  </a:outerShdw>
                </a:effectLst>
                <a:latin typeface="Arial" pitchFamily="34" charset="0"/>
                <a:ea typeface="宋体"/>
                <a:cs typeface="Arial" pitchFamily="34" charset="0"/>
              </a:rPr>
              <a:t>t</a:t>
            </a:r>
            <a:r>
              <a:rPr lang="en-US" altLang="zh-CN" sz="2000" kern="0" dirty="0">
                <a:solidFill>
                  <a:srgbClr val="000000"/>
                </a:solidFill>
                <a:effectLst>
                  <a:outerShdw blurRad="38100" dist="38100" dir="2700000" algn="tl">
                    <a:srgbClr val="000000">
                      <a:alpha val="43137"/>
                    </a:srgbClr>
                  </a:outerShdw>
                </a:effectLst>
                <a:latin typeface="Arial" pitchFamily="34" charset="0"/>
                <a:ea typeface="宋体"/>
                <a:cs typeface="Arial" pitchFamily="34" charset="0"/>
              </a:rPr>
              <a:t> </a:t>
            </a:r>
            <a:r>
              <a:rPr lang="zh-CN" altLang="en-US" sz="2000" kern="0" dirty="0">
                <a:solidFill>
                  <a:srgbClr val="000000"/>
                </a:solidFill>
                <a:effectLst>
                  <a:outerShdw blurRad="38100" dist="38100" dir="2700000" algn="tl">
                    <a:srgbClr val="000000">
                      <a:alpha val="43137"/>
                    </a:srgbClr>
                  </a:outerShdw>
                </a:effectLst>
                <a:latin typeface="Arial" pitchFamily="34" charset="0"/>
                <a:ea typeface="宋体"/>
                <a:cs typeface="Arial" pitchFamily="34" charset="0"/>
              </a:rPr>
              <a:t>－ 中心站</a:t>
            </a:r>
            <a:r>
              <a:rPr lang="zh-CN" altLang="en-US" sz="2000" kern="0" dirty="0">
                <a:solidFill>
                  <a:srgbClr val="000000"/>
                </a:solidFill>
                <a:effectLst>
                  <a:outerShdw blurRad="38100" dist="38100" dir="2700000" algn="tl">
                    <a:srgbClr val="000000">
                      <a:alpha val="43137"/>
                    </a:srgbClr>
                  </a:outerShdw>
                </a:effectLst>
                <a:latin typeface="华文中宋" pitchFamily="2" charset="-122"/>
                <a:ea typeface="华文中宋" pitchFamily="2" charset="-122"/>
                <a:cs typeface="Arial" pitchFamily="34" charset="0"/>
              </a:rPr>
              <a:t>接收</a:t>
            </a:r>
            <a:r>
              <a:rPr lang="zh-CN" altLang="en-US" sz="2000" kern="0" dirty="0">
                <a:solidFill>
                  <a:srgbClr val="000000"/>
                </a:solidFill>
                <a:effectLst>
                  <a:outerShdw blurRad="38100" dist="38100" dir="2700000" algn="tl">
                    <a:srgbClr val="000000">
                      <a:alpha val="43137"/>
                    </a:srgbClr>
                  </a:outerShdw>
                </a:effectLst>
                <a:latin typeface="Arial" pitchFamily="34" charset="0"/>
                <a:ea typeface="宋体"/>
                <a:cs typeface="Arial" pitchFamily="34" charset="0"/>
              </a:rPr>
              <a:t>信号到达时间误差。</a:t>
            </a:r>
            <a:endParaRPr lang="zh-CN" altLang="en-US" sz="3200" kern="0" dirty="0">
              <a:solidFill>
                <a:srgbClr val="000000"/>
              </a:solidFill>
              <a:effectLst>
                <a:outerShdw blurRad="38100" dist="38100" dir="2700000" algn="tl">
                  <a:srgbClr val="000000">
                    <a:alpha val="43137"/>
                  </a:srgbClr>
                </a:outerShdw>
              </a:effectLst>
              <a:latin typeface="Arial" pitchFamily="34" charset="0"/>
              <a:ea typeface="宋体"/>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1000"/>
                                        <p:tgtEl>
                                          <p:spTgt spid="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up)">
                                      <p:cBhvr>
                                        <p:cTn id="12" dur="1000"/>
                                        <p:tgtEl>
                                          <p:spTgt spid="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14692"/>
                                        </p:tgtEl>
                                        <p:attrNameLst>
                                          <p:attrName>style.visibility</p:attrName>
                                        </p:attrNameLst>
                                      </p:cBhvr>
                                      <p:to>
                                        <p:strVal val="visible"/>
                                      </p:to>
                                    </p:set>
                                    <p:animEffect transition="in" filter="wipe(up)">
                                      <p:cBhvr>
                                        <p:cTn id="17" dur="1000"/>
                                        <p:tgtEl>
                                          <p:spTgt spid="11469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14694"/>
                                        </p:tgtEl>
                                        <p:attrNameLst>
                                          <p:attrName>style.visibility</p:attrName>
                                        </p:attrNameLst>
                                      </p:cBhvr>
                                      <p:to>
                                        <p:strVal val="visible"/>
                                      </p:to>
                                    </p:set>
                                    <p:animEffect transition="in" filter="wipe(up)">
                                      <p:cBhvr>
                                        <p:cTn id="22" dur="1000"/>
                                        <p:tgtEl>
                                          <p:spTgt spid="11469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up)">
                                      <p:cBhvr>
                                        <p:cTn id="27" dur="1000"/>
                                        <p:tgtEl>
                                          <p:spTgt spid="1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114696"/>
                                        </p:tgtEl>
                                        <p:attrNameLst>
                                          <p:attrName>style.visibility</p:attrName>
                                        </p:attrNameLst>
                                      </p:cBhvr>
                                      <p:to>
                                        <p:strVal val="visible"/>
                                      </p:to>
                                    </p:set>
                                    <p:animEffect transition="in" filter="wipe(up)">
                                      <p:cBhvr>
                                        <p:cTn id="32" dur="1000"/>
                                        <p:tgtEl>
                                          <p:spTgt spid="1146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21"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5">
            <a:extLst>
              <a:ext uri="{FF2B5EF4-FFF2-40B4-BE49-F238E27FC236}">
                <a16:creationId xmlns:a16="http://schemas.microsoft.com/office/drawing/2014/main" id="{DFD51B93-784B-A8E3-18E2-6B40464DD1D2}"/>
              </a:ext>
            </a:extLst>
          </p:cNvPr>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29701" name="Rectangle 7">
            <a:extLst>
              <a:ext uri="{FF2B5EF4-FFF2-40B4-BE49-F238E27FC236}">
                <a16:creationId xmlns:a16="http://schemas.microsoft.com/office/drawing/2014/main" id="{2E9AEB7C-3F35-C202-33F0-766DE1C3F36A}"/>
              </a:ext>
            </a:extLst>
          </p:cNvPr>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29702" name="Rectangle 9">
            <a:extLst>
              <a:ext uri="{FF2B5EF4-FFF2-40B4-BE49-F238E27FC236}">
                <a16:creationId xmlns:a16="http://schemas.microsoft.com/office/drawing/2014/main" id="{C6B2ACA1-FDA3-4804-F2DF-0A878CBA9390}"/>
              </a:ext>
            </a:extLst>
          </p:cNvPr>
          <p:cNvSpPr>
            <a:spLocks noChangeArrowheads="1"/>
          </p:cNvSpPr>
          <p:nvPr/>
        </p:nvSpPr>
        <p:spPr bwMode="auto">
          <a:xfrm>
            <a:off x="0" y="2947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29703" name="Rectangle 11">
            <a:extLst>
              <a:ext uri="{FF2B5EF4-FFF2-40B4-BE49-F238E27FC236}">
                <a16:creationId xmlns:a16="http://schemas.microsoft.com/office/drawing/2014/main" id="{9455B865-F219-F7F6-618E-FCCE9F080BCB}"/>
              </a:ext>
            </a:extLst>
          </p:cNvPr>
          <p:cNvSpPr>
            <a:spLocks noChangeArrowheads="1"/>
          </p:cNvSpPr>
          <p:nvPr/>
        </p:nvSpPr>
        <p:spPr bwMode="auto">
          <a:xfrm>
            <a:off x="0" y="3195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aphicFrame>
        <p:nvGraphicFramePr>
          <p:cNvPr id="114698" name="Object 5">
            <a:extLst>
              <a:ext uri="{FF2B5EF4-FFF2-40B4-BE49-F238E27FC236}">
                <a16:creationId xmlns:a16="http://schemas.microsoft.com/office/drawing/2014/main" id="{B7D51660-810C-AFB4-749E-C8BE5B043871}"/>
              </a:ext>
            </a:extLst>
          </p:cNvPr>
          <p:cNvGraphicFramePr>
            <a:graphicFrameLocks noChangeAspect="1"/>
          </p:cNvGraphicFramePr>
          <p:nvPr/>
        </p:nvGraphicFramePr>
        <p:xfrm>
          <a:off x="3214688" y="1571625"/>
          <a:ext cx="2339975" cy="765175"/>
        </p:xfrm>
        <a:graphic>
          <a:graphicData uri="http://schemas.openxmlformats.org/presentationml/2006/ole">
            <mc:AlternateContent xmlns:mc="http://schemas.openxmlformats.org/markup-compatibility/2006">
              <mc:Choice xmlns:v="urn:schemas-microsoft-com:vml" Requires="v">
                <p:oleObj name="公式" r:id="rId2" imgW="1295400" imgH="469900" progId="Equation.3">
                  <p:embed/>
                </p:oleObj>
              </mc:Choice>
              <mc:Fallback>
                <p:oleObj name="公式" r:id="rId2" imgW="1295400" imgH="4699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4688" y="1571625"/>
                        <a:ext cx="2339975" cy="765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04" name="Rectangle 13">
            <a:extLst>
              <a:ext uri="{FF2B5EF4-FFF2-40B4-BE49-F238E27FC236}">
                <a16:creationId xmlns:a16="http://schemas.microsoft.com/office/drawing/2014/main" id="{C86A1C23-B664-56F0-7B81-82B0A68AB3AA}"/>
              </a:ext>
            </a:extLst>
          </p:cNvPr>
          <p:cNvSpPr>
            <a:spLocks noChangeArrowheads="1"/>
          </p:cNvSpPr>
          <p:nvPr/>
        </p:nvSpPr>
        <p:spPr bwMode="auto">
          <a:xfrm>
            <a:off x="0" y="3176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aphicFrame>
        <p:nvGraphicFramePr>
          <p:cNvPr id="114700" name="Object 6">
            <a:extLst>
              <a:ext uri="{FF2B5EF4-FFF2-40B4-BE49-F238E27FC236}">
                <a16:creationId xmlns:a16="http://schemas.microsoft.com/office/drawing/2014/main" id="{3AA91CF0-0261-2AAD-D7CA-5C1FFE610725}"/>
              </a:ext>
            </a:extLst>
          </p:cNvPr>
          <p:cNvGraphicFramePr>
            <a:graphicFrameLocks noChangeAspect="1"/>
          </p:cNvGraphicFramePr>
          <p:nvPr/>
        </p:nvGraphicFramePr>
        <p:xfrm>
          <a:off x="2786063" y="3286125"/>
          <a:ext cx="3465512" cy="854075"/>
        </p:xfrm>
        <a:graphic>
          <a:graphicData uri="http://schemas.openxmlformats.org/presentationml/2006/ole">
            <mc:AlternateContent xmlns:mc="http://schemas.openxmlformats.org/markup-compatibility/2006">
              <mc:Choice xmlns:v="urn:schemas-microsoft-com:vml" Requires="v">
                <p:oleObj name="公式" r:id="rId4" imgW="2044700" imgH="508000" progId="Equation.3">
                  <p:embed/>
                </p:oleObj>
              </mc:Choice>
              <mc:Fallback>
                <p:oleObj name="公式" r:id="rId4" imgW="2044700" imgH="5080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6063" y="3286125"/>
                        <a:ext cx="3465512" cy="854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矩形 17">
            <a:extLst>
              <a:ext uri="{FF2B5EF4-FFF2-40B4-BE49-F238E27FC236}">
                <a16:creationId xmlns:a16="http://schemas.microsoft.com/office/drawing/2014/main" id="{5EE18C0A-B2E8-B912-6968-D278D64DC06E}"/>
              </a:ext>
            </a:extLst>
          </p:cNvPr>
          <p:cNvSpPr/>
          <p:nvPr/>
        </p:nvSpPr>
        <p:spPr>
          <a:xfrm>
            <a:off x="857250" y="1071563"/>
            <a:ext cx="7000875" cy="425450"/>
          </a:xfrm>
          <a:prstGeom prst="rect">
            <a:avLst/>
          </a:prstGeom>
        </p:spPr>
        <p:txBody>
          <a:bodyPr>
            <a:spAutoFit/>
          </a:bodyPr>
          <a:lstStyle/>
          <a:p>
            <a:pPr marL="342900" indent="-342900" eaLnBrk="0" hangingPunct="0">
              <a:lnSpc>
                <a:spcPts val="2600"/>
              </a:lnSpc>
              <a:spcBef>
                <a:spcPct val="20000"/>
              </a:spcBef>
              <a:buClr>
                <a:srgbClr val="3333CC"/>
              </a:buClr>
              <a:buSzPct val="60000"/>
              <a:defRPr/>
            </a:pPr>
            <a:r>
              <a:rPr lang="zh-CN" altLang="en-US" sz="2000" kern="0" dirty="0">
                <a:solidFill>
                  <a:srgbClr val="000000"/>
                </a:solidFill>
                <a:latin typeface="华文中宋" pitchFamily="2" charset="-122"/>
                <a:ea typeface="华文中宋" pitchFamily="2" charset="-122"/>
              </a:rPr>
              <a:t>对于时间误差</a:t>
            </a:r>
            <a:r>
              <a:rPr lang="zh-CN" altLang="en-US" sz="2000" i="1" kern="0" dirty="0">
                <a:solidFill>
                  <a:srgbClr val="000000"/>
                </a:solidFill>
                <a:latin typeface="华文中宋" pitchFamily="2" charset="-122"/>
                <a:ea typeface="华文中宋" pitchFamily="2" charset="-122"/>
                <a:sym typeface="Symbol" pitchFamily="18" charset="2"/>
              </a:rPr>
              <a:t></a:t>
            </a:r>
            <a:r>
              <a:rPr lang="en-US" altLang="zh-CN" sz="2000" i="1" kern="0" dirty="0">
                <a:solidFill>
                  <a:srgbClr val="000000"/>
                </a:solidFill>
                <a:latin typeface="华文中宋" pitchFamily="2" charset="-122"/>
                <a:ea typeface="华文中宋" pitchFamily="2" charset="-122"/>
              </a:rPr>
              <a:t>t </a:t>
            </a:r>
            <a:r>
              <a:rPr lang="zh-CN" altLang="en-US" sz="2000" kern="0" dirty="0">
                <a:solidFill>
                  <a:srgbClr val="000000"/>
                </a:solidFill>
                <a:latin typeface="华文中宋" pitchFamily="2" charset="-122"/>
                <a:ea typeface="华文中宋" pitchFamily="2" charset="-122"/>
              </a:rPr>
              <a:t>为</a:t>
            </a:r>
            <a:r>
              <a:rPr lang="en-US" altLang="zh-CN" sz="2000" kern="0" dirty="0">
                <a:solidFill>
                  <a:srgbClr val="000000"/>
                </a:solidFill>
                <a:latin typeface="华文中宋" pitchFamily="2" charset="-122"/>
                <a:ea typeface="华文中宋" pitchFamily="2" charset="-122"/>
              </a:rPr>
              <a:t>0</a:t>
            </a:r>
            <a:r>
              <a:rPr lang="zh-CN" altLang="en-US" sz="2000" kern="0" dirty="0">
                <a:solidFill>
                  <a:srgbClr val="000000"/>
                </a:solidFill>
                <a:latin typeface="华文中宋" pitchFamily="2" charset="-122"/>
                <a:ea typeface="华文中宋" pitchFamily="2" charset="-122"/>
              </a:rPr>
              <a:t>的特殊情况，上式变为</a:t>
            </a:r>
            <a:r>
              <a:rPr lang="en-US" altLang="zh-CN" sz="2000" kern="0" dirty="0">
                <a:solidFill>
                  <a:srgbClr val="000000"/>
                </a:solidFill>
                <a:latin typeface="华文中宋" pitchFamily="2" charset="-122"/>
                <a:ea typeface="华文中宋" pitchFamily="2" charset="-122"/>
              </a:rPr>
              <a:t>:</a:t>
            </a:r>
            <a:endParaRPr lang="zh-CN" altLang="en-US" sz="2000" kern="0" dirty="0">
              <a:solidFill>
                <a:srgbClr val="000000"/>
              </a:solidFill>
              <a:latin typeface="华文中宋" pitchFamily="2" charset="-122"/>
              <a:ea typeface="华文中宋" pitchFamily="2" charset="-122"/>
            </a:endParaRPr>
          </a:p>
        </p:txBody>
      </p:sp>
      <p:sp>
        <p:nvSpPr>
          <p:cNvPr id="19" name="矩形 18">
            <a:extLst>
              <a:ext uri="{FF2B5EF4-FFF2-40B4-BE49-F238E27FC236}">
                <a16:creationId xmlns:a16="http://schemas.microsoft.com/office/drawing/2014/main" id="{0CEEB4FF-9308-5B97-3744-CC228CC0C1ED}"/>
              </a:ext>
            </a:extLst>
          </p:cNvPr>
          <p:cNvSpPr/>
          <p:nvPr/>
        </p:nvSpPr>
        <p:spPr>
          <a:xfrm>
            <a:off x="857250" y="2571750"/>
            <a:ext cx="6429375" cy="425450"/>
          </a:xfrm>
          <a:prstGeom prst="rect">
            <a:avLst/>
          </a:prstGeom>
        </p:spPr>
        <p:txBody>
          <a:bodyPr>
            <a:spAutoFit/>
          </a:bodyPr>
          <a:lstStyle/>
          <a:p>
            <a:pPr marL="342900" indent="-342900" eaLnBrk="0" hangingPunct="0">
              <a:lnSpc>
                <a:spcPts val="2600"/>
              </a:lnSpc>
              <a:spcBef>
                <a:spcPct val="20000"/>
              </a:spcBef>
              <a:buClr>
                <a:srgbClr val="3333CC"/>
              </a:buClr>
              <a:buSzPct val="60000"/>
              <a:defRPr/>
            </a:pPr>
            <a:r>
              <a:rPr lang="zh-CN" altLang="en-US" sz="2000" kern="0" dirty="0">
                <a:solidFill>
                  <a:srgbClr val="000000"/>
                </a:solidFill>
                <a:latin typeface="华文中宋" pitchFamily="2" charset="-122"/>
                <a:ea typeface="华文中宋" pitchFamily="2" charset="-122"/>
              </a:rPr>
              <a:t>对于频率误差为</a:t>
            </a:r>
            <a:r>
              <a:rPr lang="en-US" altLang="zh-CN" sz="2000" kern="0" dirty="0">
                <a:solidFill>
                  <a:srgbClr val="000000"/>
                </a:solidFill>
                <a:latin typeface="华文中宋" pitchFamily="2" charset="-122"/>
                <a:ea typeface="华文中宋" pitchFamily="2" charset="-122"/>
              </a:rPr>
              <a:t>0</a:t>
            </a:r>
            <a:r>
              <a:rPr lang="zh-CN" altLang="en-US" sz="2000" kern="0" dirty="0">
                <a:solidFill>
                  <a:srgbClr val="000000"/>
                </a:solidFill>
                <a:latin typeface="华文中宋" pitchFamily="2" charset="-122"/>
                <a:ea typeface="华文中宋" pitchFamily="2" charset="-122"/>
              </a:rPr>
              <a:t>的特殊情况，上式变为</a:t>
            </a:r>
            <a:r>
              <a:rPr lang="en-US" altLang="zh-CN" sz="2000" kern="0" dirty="0">
                <a:solidFill>
                  <a:srgbClr val="000000"/>
                </a:solidFill>
                <a:latin typeface="华文中宋" pitchFamily="2" charset="-122"/>
                <a:ea typeface="华文中宋" pitchFamily="2" charset="-122"/>
              </a:rPr>
              <a:t>:</a:t>
            </a:r>
            <a:endParaRPr lang="zh-CN" altLang="en-US" sz="2000" kern="0" dirty="0">
              <a:solidFill>
                <a:srgbClr val="000000"/>
              </a:solidFill>
              <a:latin typeface="华文中宋" pitchFamily="2" charset="-122"/>
              <a:ea typeface="华文中宋" pitchFamily="2" charset="-122"/>
            </a:endParaRPr>
          </a:p>
        </p:txBody>
      </p:sp>
      <p:sp>
        <p:nvSpPr>
          <p:cNvPr id="20" name="矩形 19">
            <a:extLst>
              <a:ext uri="{FF2B5EF4-FFF2-40B4-BE49-F238E27FC236}">
                <a16:creationId xmlns:a16="http://schemas.microsoft.com/office/drawing/2014/main" id="{52880DFD-F29D-B6CC-664B-94166E33D965}"/>
              </a:ext>
            </a:extLst>
          </p:cNvPr>
          <p:cNvSpPr/>
          <p:nvPr/>
        </p:nvSpPr>
        <p:spPr>
          <a:xfrm>
            <a:off x="785813" y="4522788"/>
            <a:ext cx="7715250" cy="1692275"/>
          </a:xfrm>
          <a:prstGeom prst="rect">
            <a:avLst/>
          </a:prstGeom>
        </p:spPr>
        <p:txBody>
          <a:bodyPr>
            <a:spAutoFit/>
          </a:bodyPr>
          <a:lstStyle/>
          <a:p>
            <a:pPr>
              <a:lnSpc>
                <a:spcPts val="3200"/>
              </a:lnSpc>
              <a:defRPr/>
            </a:pPr>
            <a:r>
              <a:rPr lang="zh-CN" altLang="en-US" sz="2000" kern="0" dirty="0">
                <a:solidFill>
                  <a:srgbClr val="000000"/>
                </a:solidFill>
                <a:latin typeface="Arial" pitchFamily="34" charset="0"/>
                <a:ea typeface="华文中宋" pitchFamily="2" charset="-122"/>
                <a:cs typeface="Arial" pitchFamily="34" charset="0"/>
              </a:rPr>
              <a:t>从上述公式看出，存在任何时间误差、频率误差或者两者都存在，将使码元的位置偏离解调器正确积分的位置，造成在</a:t>
            </a:r>
            <a:r>
              <a:rPr lang="en-US" altLang="zh-CN" sz="2000" kern="0" dirty="0">
                <a:solidFill>
                  <a:srgbClr val="000000"/>
                </a:solidFill>
                <a:latin typeface="Arial" pitchFamily="34" charset="0"/>
                <a:ea typeface="华文中宋" pitchFamily="2" charset="-122"/>
                <a:cs typeface="Arial" pitchFamily="34" charset="0"/>
              </a:rPr>
              <a:t>2FSK</a:t>
            </a:r>
            <a:r>
              <a:rPr lang="zh-CN" altLang="en-US" sz="2000" kern="0" dirty="0">
                <a:solidFill>
                  <a:srgbClr val="000000"/>
                </a:solidFill>
                <a:latin typeface="Arial" pitchFamily="34" charset="0"/>
                <a:ea typeface="华文中宋" pitchFamily="2" charset="-122"/>
                <a:cs typeface="Arial" pitchFamily="34" charset="0"/>
              </a:rPr>
              <a:t>信号积分的两个积分器中，正确信号积分器得到的信号能量下降，部分能量移到另一个积分器中，误码率因而增大。</a:t>
            </a:r>
            <a:endParaRPr lang="zh-CN" altLang="en-US" sz="2000" dirty="0">
              <a:latin typeface="Arial" pitchFamily="34" charset="0"/>
              <a:ea typeface="华文中宋" pitchFamily="2" charset="-122"/>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up)">
                                      <p:cBhvr>
                                        <p:cTn id="7" dur="1000"/>
                                        <p:tgtEl>
                                          <p:spTgt spid="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14698"/>
                                        </p:tgtEl>
                                        <p:attrNameLst>
                                          <p:attrName>style.visibility</p:attrName>
                                        </p:attrNameLst>
                                      </p:cBhvr>
                                      <p:to>
                                        <p:strVal val="visible"/>
                                      </p:to>
                                    </p:set>
                                    <p:animEffect transition="in" filter="wipe(up)">
                                      <p:cBhvr>
                                        <p:cTn id="12" dur="1000"/>
                                        <p:tgtEl>
                                          <p:spTgt spid="1146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up)">
                                      <p:cBhvr>
                                        <p:cTn id="17" dur="1000"/>
                                        <p:tgtEl>
                                          <p:spTgt spid="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14700"/>
                                        </p:tgtEl>
                                        <p:attrNameLst>
                                          <p:attrName>style.visibility</p:attrName>
                                        </p:attrNameLst>
                                      </p:cBhvr>
                                      <p:to>
                                        <p:strVal val="visible"/>
                                      </p:to>
                                    </p:set>
                                    <p:animEffect transition="in" filter="wipe(up)">
                                      <p:cBhvr>
                                        <p:cTn id="22" dur="1000"/>
                                        <p:tgtEl>
                                          <p:spTgt spid="11470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up)">
                                      <p:cBhvr>
                                        <p:cTn id="27"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灯片编号占位符 5">
            <a:extLst>
              <a:ext uri="{FF2B5EF4-FFF2-40B4-BE49-F238E27FC236}">
                <a16:creationId xmlns:a16="http://schemas.microsoft.com/office/drawing/2014/main" id="{E588F0DF-3694-8958-4E0E-89B6256D8D6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3D47F788-20B4-4A46-9EF4-3F1DB501EACA}" type="slidenum">
              <a:rPr lang="en-US" altLang="zh-CN"/>
              <a:pPr eaLnBrk="1" hangingPunct="1"/>
              <a:t>88</a:t>
            </a:fld>
            <a:endParaRPr lang="en-US" altLang="zh-CN"/>
          </a:p>
        </p:txBody>
      </p:sp>
      <p:sp>
        <p:nvSpPr>
          <p:cNvPr id="115715" name="Rectangle 3">
            <a:extLst>
              <a:ext uri="{FF2B5EF4-FFF2-40B4-BE49-F238E27FC236}">
                <a16:creationId xmlns:a16="http://schemas.microsoft.com/office/drawing/2014/main" id="{6137C1FB-AFED-316F-64ED-64DCE8708723}"/>
              </a:ext>
            </a:extLst>
          </p:cNvPr>
          <p:cNvSpPr>
            <a:spLocks noGrp="1" noChangeArrowheads="1"/>
          </p:cNvSpPr>
          <p:nvPr>
            <p:ph type="body" idx="1"/>
          </p:nvPr>
        </p:nvSpPr>
        <p:spPr bwMode="auto">
          <a:xfrm>
            <a:off x="571500" y="1928813"/>
            <a:ext cx="7786688" cy="37861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ts val="3600"/>
              </a:lnSpc>
              <a:buFont typeface="Wingdings" panose="05000000000000000000" pitchFamily="2" charset="2"/>
              <a:buNone/>
            </a:pPr>
            <a:r>
              <a:rPr lang="zh-CN" altLang="en-US" sz="2000">
                <a:latin typeface="Arial" panose="020B0604020202020204" pitchFamily="34" charset="0"/>
                <a:ea typeface="华文中宋" panose="02010600040101010101" pitchFamily="2" charset="-122"/>
                <a:cs typeface="Arial" panose="020B0604020202020204" pitchFamily="34" charset="0"/>
              </a:rPr>
              <a:t>	在上面的</a:t>
            </a:r>
            <a:r>
              <a:rPr lang="en-US" altLang="zh-CN" sz="2000">
                <a:solidFill>
                  <a:srgbClr val="0000CC"/>
                </a:solidFill>
                <a:latin typeface="Arial" panose="020B0604020202020204" pitchFamily="34" charset="0"/>
                <a:ea typeface="华文中宋" panose="02010600040101010101" pitchFamily="2" charset="-122"/>
                <a:cs typeface="Arial" panose="020B0604020202020204" pitchFamily="34" charset="0"/>
              </a:rPr>
              <a:t>2FSK</a:t>
            </a:r>
            <a:r>
              <a:rPr lang="zh-CN" altLang="en-US" sz="2000">
                <a:latin typeface="Arial" panose="020B0604020202020204" pitchFamily="34" charset="0"/>
                <a:ea typeface="华文中宋" panose="02010600040101010101" pitchFamily="2" charset="-122"/>
                <a:cs typeface="Arial" panose="020B0604020202020204" pitchFamily="34" charset="0"/>
              </a:rPr>
              <a:t>系统例子中，由终端站发送一个连续的正弦波，其频率等于</a:t>
            </a:r>
            <a:r>
              <a:rPr lang="en-US" altLang="zh-CN" sz="2000">
                <a:latin typeface="Arial" panose="020B0604020202020204" pitchFamily="34" charset="0"/>
                <a:ea typeface="华文中宋" panose="02010600040101010101" pitchFamily="2" charset="-122"/>
                <a:cs typeface="Arial" panose="020B0604020202020204" pitchFamily="34" charset="0"/>
              </a:rPr>
              <a:t>2FSK</a:t>
            </a:r>
            <a:r>
              <a:rPr lang="zh-CN" altLang="en-US" sz="2000">
                <a:latin typeface="Arial" panose="020B0604020202020204" pitchFamily="34" charset="0"/>
                <a:ea typeface="华文中宋" panose="02010600040101010101" pitchFamily="2" charset="-122"/>
                <a:cs typeface="Arial" panose="020B0604020202020204" pitchFamily="34" charset="0"/>
              </a:rPr>
              <a:t>信号两个频率的平均值；然后中心站将收到的这个信号检测后转发回终端站。由于这时在中心站接收机中的判决应是“</a:t>
            </a:r>
            <a:r>
              <a:rPr lang="en-US" altLang="zh-CN" sz="2000">
                <a:latin typeface="Arial" panose="020B0604020202020204" pitchFamily="34" charset="0"/>
                <a:ea typeface="华文中宋" panose="02010600040101010101" pitchFamily="2" charset="-122"/>
                <a:cs typeface="Arial" panose="020B0604020202020204" pitchFamily="34" charset="0"/>
              </a:rPr>
              <a:t>1”</a:t>
            </a:r>
            <a:r>
              <a:rPr lang="zh-CN" altLang="en-US" sz="2000">
                <a:latin typeface="Arial" panose="020B0604020202020204" pitchFamily="34" charset="0"/>
                <a:ea typeface="华文中宋" panose="02010600040101010101" pitchFamily="2" charset="-122"/>
                <a:cs typeface="Arial" panose="020B0604020202020204" pitchFamily="34" charset="0"/>
              </a:rPr>
              <a:t>和“</a:t>
            </a:r>
            <a:r>
              <a:rPr lang="en-US" altLang="zh-CN" sz="2000">
                <a:latin typeface="Arial" panose="020B0604020202020204" pitchFamily="34" charset="0"/>
                <a:ea typeface="华文中宋" panose="02010600040101010101" pitchFamily="2" charset="-122"/>
                <a:cs typeface="Arial" panose="020B0604020202020204" pitchFamily="34" charset="0"/>
              </a:rPr>
              <a:t>0”</a:t>
            </a:r>
            <a:r>
              <a:rPr lang="zh-CN" altLang="en-US" sz="2000">
                <a:latin typeface="Arial" panose="020B0604020202020204" pitchFamily="34" charset="0"/>
                <a:ea typeface="华文中宋" panose="02010600040101010101" pitchFamily="2" charset="-122"/>
                <a:cs typeface="Arial" panose="020B0604020202020204" pitchFamily="34" charset="0"/>
              </a:rPr>
              <a:t>出现概率相等的码元，故将其转发回终端站时，将在反向链路中产生一个随机二进制序列。若原发送的连续正弦波没有频率误差，则终端站收到的序列中的两种符号概率相等。利用这种原理就能找到中心频率，从而在终端站上准确地预先校正频率。 </a:t>
            </a:r>
          </a:p>
        </p:txBody>
      </p:sp>
      <p:sp>
        <p:nvSpPr>
          <p:cNvPr id="7" name="Rectangle 3">
            <a:extLst>
              <a:ext uri="{FF2B5EF4-FFF2-40B4-BE49-F238E27FC236}">
                <a16:creationId xmlns:a16="http://schemas.microsoft.com/office/drawing/2014/main" id="{E93DDED3-7756-BB96-EF55-6D4EFADA1A52}"/>
              </a:ext>
            </a:extLst>
          </p:cNvPr>
          <p:cNvSpPr txBox="1">
            <a:spLocks noChangeArrowheads="1"/>
          </p:cNvSpPr>
          <p:nvPr/>
        </p:nvSpPr>
        <p:spPr bwMode="auto">
          <a:xfrm>
            <a:off x="642938" y="1000125"/>
            <a:ext cx="3000375" cy="642938"/>
          </a:xfrm>
          <a:prstGeom prst="rect">
            <a:avLst/>
          </a:prstGeom>
          <a:noFill/>
          <a:ln w="9525">
            <a:noFill/>
            <a:miter lim="800000"/>
            <a:headEnd/>
            <a:tailEnd/>
          </a:ln>
        </p:spPr>
        <p:txBody>
          <a:bodyPr/>
          <a:lstStyle/>
          <a:p>
            <a:pPr marL="228600" indent="-228600" eaLnBrk="0" hangingPunct="0">
              <a:lnSpc>
                <a:spcPct val="150000"/>
              </a:lnSpc>
              <a:spcBef>
                <a:spcPct val="20000"/>
              </a:spcBef>
              <a:buClr>
                <a:srgbClr val="FF0000"/>
              </a:buClr>
              <a:buSzPct val="85000"/>
              <a:buFont typeface="Wingdings" pitchFamily="2" charset="2"/>
              <a:buChar char="n"/>
              <a:defRPr/>
            </a:pPr>
            <a:r>
              <a:rPr lang="zh-CN" altLang="en-US" sz="2400" b="1" kern="0" dirty="0">
                <a:latin typeface="微软雅黑" pitchFamily="34" charset="-122"/>
                <a:ea typeface="微软雅黑" pitchFamily="34" charset="-122"/>
              </a:rPr>
              <a:t> </a:t>
            </a:r>
            <a:r>
              <a:rPr lang="zh-CN" altLang="en-US" sz="2400" b="1" dirty="0">
                <a:latin typeface="微软雅黑" pitchFamily="34" charset="-122"/>
                <a:ea typeface="微软雅黑" pitchFamily="34" charset="-122"/>
              </a:rPr>
              <a:t>预先校正频率法</a:t>
            </a:r>
            <a:r>
              <a:rPr lang="zh-CN" altLang="en-US" sz="2400" b="1" kern="0" dirty="0">
                <a:latin typeface="微软雅黑" pitchFamily="34" charset="-122"/>
                <a:ea typeface="微软雅黑" pitchFamily="34" charset="-122"/>
              </a:rPr>
              <a:t>：</a:t>
            </a:r>
            <a:endParaRPr lang="zh-CN" altLang="en-US" sz="2000" b="1" kern="0" dirty="0">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up)">
                                      <p:cBhvr>
                                        <p:cTn id="7" dur="1000"/>
                                        <p:tgtEl>
                                          <p:spTgt spid="7">
                                            <p:txEl>
                                              <p:pRg st="0" end="0"/>
                                            </p:txEl>
                                          </p:spTgt>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115715">
                                            <p:txEl>
                                              <p:pRg st="0" end="0"/>
                                            </p:txEl>
                                          </p:spTgt>
                                        </p:tgtEl>
                                        <p:attrNameLst>
                                          <p:attrName>style.visibility</p:attrName>
                                        </p:attrNameLst>
                                      </p:cBhvr>
                                      <p:to>
                                        <p:strVal val="visible"/>
                                      </p:to>
                                    </p:set>
                                    <p:animEffect transition="in" filter="wipe(up)">
                                      <p:cBhvr>
                                        <p:cTn id="11" dur="2000"/>
                                        <p:tgtEl>
                                          <p:spTgt spid="1157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5"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灯片编号占位符 5">
            <a:extLst>
              <a:ext uri="{FF2B5EF4-FFF2-40B4-BE49-F238E27FC236}">
                <a16:creationId xmlns:a16="http://schemas.microsoft.com/office/drawing/2014/main" id="{284E5247-FAE0-7282-D357-899446D6E5C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248205A4-E0A7-45BB-B621-F16556684773}" type="slidenum">
              <a:rPr lang="en-US" altLang="zh-CN"/>
              <a:pPr eaLnBrk="1" hangingPunct="1"/>
              <a:t>89</a:t>
            </a:fld>
            <a:endParaRPr lang="en-US" altLang="zh-CN"/>
          </a:p>
        </p:txBody>
      </p:sp>
      <p:sp>
        <p:nvSpPr>
          <p:cNvPr id="116739" name="Rectangle 3">
            <a:extLst>
              <a:ext uri="{FF2B5EF4-FFF2-40B4-BE49-F238E27FC236}">
                <a16:creationId xmlns:a16="http://schemas.microsoft.com/office/drawing/2014/main" id="{B7760D7A-AE59-769F-6E8B-9738D3F701AA}"/>
              </a:ext>
            </a:extLst>
          </p:cNvPr>
          <p:cNvSpPr>
            <a:spLocks noGrp="1" noChangeArrowheads="1"/>
          </p:cNvSpPr>
          <p:nvPr>
            <p:ph type="body" idx="1"/>
          </p:nvPr>
        </p:nvSpPr>
        <p:spPr bwMode="auto">
          <a:xfrm>
            <a:off x="428625" y="1081088"/>
            <a:ext cx="7929563" cy="3276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ts val="3500"/>
              </a:lnSpc>
              <a:buFont typeface="Wingdings" panose="05000000000000000000" pitchFamily="2" charset="2"/>
              <a:buNone/>
            </a:pPr>
            <a:r>
              <a:rPr lang="en-US" altLang="zh-CN" b="0">
                <a:latin typeface="Arial" panose="020B0604020202020204" pitchFamily="34" charset="0"/>
                <a:cs typeface="Arial" panose="020B0604020202020204" pitchFamily="34" charset="0"/>
              </a:rPr>
              <a:t>	</a:t>
            </a:r>
            <a:r>
              <a:rPr lang="zh-CN" altLang="en-US" sz="2000" b="0">
                <a:latin typeface="Arial" panose="020B0604020202020204" pitchFamily="34" charset="0"/>
                <a:ea typeface="华文中宋" panose="02010600040101010101" pitchFamily="2" charset="-122"/>
                <a:cs typeface="Arial" panose="020B0604020202020204" pitchFamily="34" charset="0"/>
              </a:rPr>
              <a:t>一旦找到正确的频率，终端站发射机再交替发送“</a:t>
            </a:r>
            <a:r>
              <a:rPr lang="en-US" altLang="zh-CN" sz="2000" b="0">
                <a:latin typeface="Arial" panose="020B0604020202020204" pitchFamily="34" charset="0"/>
                <a:ea typeface="华文中宋" panose="02010600040101010101" pitchFamily="2" charset="-122"/>
                <a:cs typeface="Arial" panose="020B0604020202020204" pitchFamily="34" charset="0"/>
              </a:rPr>
              <a:t>1”</a:t>
            </a:r>
            <a:r>
              <a:rPr lang="zh-CN" altLang="en-US" sz="2000" b="0">
                <a:latin typeface="Arial" panose="020B0604020202020204" pitchFamily="34" charset="0"/>
                <a:ea typeface="华文中宋" panose="02010600040101010101" pitchFamily="2" charset="-122"/>
                <a:cs typeface="Arial" panose="020B0604020202020204" pitchFamily="34" charset="0"/>
              </a:rPr>
              <a:t>和“</a:t>
            </a:r>
            <a:r>
              <a:rPr lang="en-US" altLang="zh-CN" sz="2000" b="0">
                <a:latin typeface="Arial" panose="020B0604020202020204" pitchFamily="34" charset="0"/>
                <a:ea typeface="华文中宋" panose="02010600040101010101" pitchFamily="2" charset="-122"/>
                <a:cs typeface="Arial" panose="020B0604020202020204" pitchFamily="34" charset="0"/>
              </a:rPr>
              <a:t>0”</a:t>
            </a:r>
            <a:r>
              <a:rPr lang="zh-CN" altLang="en-US" sz="2000" b="0">
                <a:latin typeface="Arial" panose="020B0604020202020204" pitchFamily="34" charset="0"/>
                <a:ea typeface="华文中宋" panose="02010600040101010101" pitchFamily="2" charset="-122"/>
                <a:cs typeface="Arial" panose="020B0604020202020204" pitchFamily="34" charset="0"/>
              </a:rPr>
              <a:t>，以寻找正确的定时。这时在半个码元时间内改变发送的定时，发射机就能找到给出最坏误码性能的时间。因为在中心站收到的码元位置和正确位置相差半个码元时，中心站</a:t>
            </a:r>
            <a:r>
              <a:rPr lang="en-US" altLang="zh-CN" sz="2000" b="0">
                <a:latin typeface="Arial" panose="020B0604020202020204" pitchFamily="34" charset="0"/>
                <a:ea typeface="华文中宋" panose="02010600040101010101" pitchFamily="2" charset="-122"/>
                <a:cs typeface="Arial" panose="020B0604020202020204" pitchFamily="34" charset="0"/>
              </a:rPr>
              <a:t>2FSK</a:t>
            </a:r>
            <a:r>
              <a:rPr lang="zh-CN" altLang="en-US" sz="2000" b="0">
                <a:latin typeface="Arial" panose="020B0604020202020204" pitchFamily="34" charset="0"/>
                <a:ea typeface="华文中宋" panose="02010600040101010101" pitchFamily="2" charset="-122"/>
                <a:cs typeface="Arial" panose="020B0604020202020204" pitchFamily="34" charset="0"/>
              </a:rPr>
              <a:t>接收机的两个检波器给出相等的能量，判决结果是随机的，故在反向链路上发回的二进制序列也将是随机的。终端站发射机可以用这种原理计算正确的定时。 	</a:t>
            </a:r>
          </a:p>
        </p:txBody>
      </p:sp>
      <p:sp>
        <p:nvSpPr>
          <p:cNvPr id="6" name="矩形 5">
            <a:extLst>
              <a:ext uri="{FF2B5EF4-FFF2-40B4-BE49-F238E27FC236}">
                <a16:creationId xmlns:a16="http://schemas.microsoft.com/office/drawing/2014/main" id="{27109E54-0CD0-6737-1178-7893D452ABDE}"/>
              </a:ext>
            </a:extLst>
          </p:cNvPr>
          <p:cNvSpPr/>
          <p:nvPr/>
        </p:nvSpPr>
        <p:spPr>
          <a:xfrm>
            <a:off x="785813" y="4500563"/>
            <a:ext cx="7643812" cy="1384300"/>
          </a:xfrm>
          <a:prstGeom prst="rect">
            <a:avLst/>
          </a:prstGeom>
          <a:solidFill>
            <a:schemeClr val="bg2">
              <a:lumMod val="10000"/>
              <a:lumOff val="90000"/>
            </a:schemeClr>
          </a:solidFill>
          <a:effectLst>
            <a:outerShdw blurRad="50800" dist="38100" dir="2700000" algn="tl" rotWithShape="0">
              <a:prstClr val="black">
                <a:alpha val="40000"/>
              </a:prstClr>
            </a:outerShdw>
          </a:effectLst>
        </p:spPr>
        <p:txBody>
          <a:bodyPr>
            <a:spAutoFit/>
          </a:bodyPr>
          <a:lstStyle/>
          <a:p>
            <a:pPr>
              <a:lnSpc>
                <a:spcPts val="3500"/>
              </a:lnSpc>
              <a:defRPr/>
            </a:pPr>
            <a:r>
              <a:rPr lang="zh-CN" altLang="en-US" sz="2000" kern="0" dirty="0">
                <a:solidFill>
                  <a:srgbClr val="000000"/>
                </a:solidFill>
                <a:latin typeface="华文中宋" pitchFamily="2" charset="-122"/>
                <a:ea typeface="华文中宋" pitchFamily="2" charset="-122"/>
              </a:rPr>
              <a:t>这种方法比用寻找误码性能最佳点更好。因为在任何设计良好的系统中，码元能量大得足够容许存在少许定时误差，所以即使定时不准，反向信号也可能没有误码。</a:t>
            </a:r>
            <a:endParaRPr lang="zh-CN" altLang="en-US" dirty="0">
              <a:ea typeface="宋体"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116739">
                                            <p:txEl>
                                              <p:pRg st="0" end="0"/>
                                            </p:txEl>
                                          </p:spTgt>
                                        </p:tgtEl>
                                        <p:attrNameLst>
                                          <p:attrName>style.visibility</p:attrName>
                                        </p:attrNameLst>
                                      </p:cBhvr>
                                      <p:to>
                                        <p:strVal val="visible"/>
                                      </p:to>
                                    </p:set>
                                    <p:animEffect transition="in" filter="wipe(up)">
                                      <p:cBhvr>
                                        <p:cTn id="7" dur="2000"/>
                                        <p:tgtEl>
                                          <p:spTgt spid="116739">
                                            <p:txEl>
                                              <p:pRg st="0" end="0"/>
                                            </p:txEl>
                                          </p:spTgt>
                                        </p:tgtEl>
                                      </p:cBhvr>
                                    </p:animEffect>
                                  </p:childTnLst>
                                </p:cTn>
                              </p:par>
                            </p:childTnLst>
                          </p:cTn>
                        </p:par>
                        <p:par>
                          <p:cTn id="8" fill="hold" nodeType="afterGroup">
                            <p:stCondLst>
                              <p:cond delay="2000"/>
                            </p:stCondLst>
                            <p:childTnLst>
                              <p:par>
                                <p:cTn id="9" presetID="22" presetClass="entr" presetSubtype="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9" grpId="0" build="p"/>
      <p:bldP spid="6"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234" name="内容占位符 32" descr="通信原理（第7版）学习辅导与考研指导.jpg">
            <a:extLst>
              <a:ext uri="{FF2B5EF4-FFF2-40B4-BE49-F238E27FC236}">
                <a16:creationId xmlns:a16="http://schemas.microsoft.com/office/drawing/2014/main" id="{92F7C7F3-2B74-7E4E-971D-F43F5C299AFA}"/>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20634" t="5714" r="17461"/>
          <a:stretch>
            <a:fillRect/>
          </a:stretch>
        </p:blipFill>
        <p:spPr bwMode="auto">
          <a:xfrm>
            <a:off x="1071563" y="1292225"/>
            <a:ext cx="3035300" cy="513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a:extLst>
              <a:ext uri="{FF2B5EF4-FFF2-40B4-BE49-F238E27FC236}">
                <a16:creationId xmlns:a16="http://schemas.microsoft.com/office/drawing/2014/main" id="{6CDC9D1A-FFE2-BB5E-389A-7DD2CE7D1B70}"/>
              </a:ext>
            </a:extLst>
          </p:cNvPr>
          <p:cNvSpPr/>
          <p:nvPr/>
        </p:nvSpPr>
        <p:spPr>
          <a:xfrm>
            <a:off x="2928938" y="317500"/>
            <a:ext cx="3143250" cy="630238"/>
          </a:xfrm>
          <a:prstGeom prst="rect">
            <a:avLst/>
          </a:prstGeom>
        </p:spPr>
        <p:txBody>
          <a:bodyPr>
            <a:spAutoFit/>
          </a:bodyPr>
          <a:lstStyle/>
          <a:p>
            <a:pPr marL="342900" indent="-342900">
              <a:lnSpc>
                <a:spcPct val="120000"/>
              </a:lnSpc>
              <a:spcBef>
                <a:spcPct val="20000"/>
              </a:spcBef>
              <a:buClr>
                <a:srgbClr val="3333CC"/>
              </a:buClr>
              <a:buSzPct val="55000"/>
              <a:tabLst>
                <a:tab pos="3595688" algn="l"/>
              </a:tabLst>
              <a:defRPr/>
            </a:pPr>
            <a:r>
              <a:rPr lang="zh-CN" altLang="en-US" sz="3200" kern="0" dirty="0">
                <a:solidFill>
                  <a:srgbClr val="003399"/>
                </a:solidFill>
                <a:latin typeface="微软雅黑" pitchFamily="34" charset="-122"/>
                <a:ea typeface="微软雅黑" pitchFamily="34" charset="-122"/>
              </a:rPr>
              <a:t>配套辅导教材：</a:t>
            </a:r>
            <a:r>
              <a:rPr lang="en-US" altLang="zh-CN" sz="3200" kern="0" dirty="0">
                <a:solidFill>
                  <a:srgbClr val="003399"/>
                </a:solidFill>
                <a:latin typeface="Arial" charset="0"/>
                <a:ea typeface="宋体"/>
                <a:cs typeface="Arial" charset="0"/>
              </a:rPr>
              <a:t>  </a:t>
            </a:r>
            <a:r>
              <a:rPr lang="en-US" altLang="zh-CN" sz="3200" kern="0" dirty="0">
                <a:solidFill>
                  <a:srgbClr val="003399"/>
                </a:solidFill>
                <a:latin typeface="Tahoma"/>
                <a:ea typeface="宋体"/>
              </a:rPr>
              <a:t>                                     </a:t>
            </a:r>
            <a:endParaRPr lang="en-US" altLang="zh-CN" sz="3200" kern="0" dirty="0">
              <a:solidFill>
                <a:srgbClr val="003399"/>
              </a:solidFill>
              <a:latin typeface="Tahoma"/>
              <a:ea typeface="宋体"/>
              <a:sym typeface="Wingdings" pitchFamily="2" charset="2"/>
            </a:endParaRPr>
          </a:p>
        </p:txBody>
      </p:sp>
      <p:sp>
        <p:nvSpPr>
          <p:cNvPr id="6" name="矩形 5">
            <a:extLst>
              <a:ext uri="{FF2B5EF4-FFF2-40B4-BE49-F238E27FC236}">
                <a16:creationId xmlns:a16="http://schemas.microsoft.com/office/drawing/2014/main" id="{DD3EB2E0-51B7-805C-7C4C-0A67D166EF77}"/>
              </a:ext>
            </a:extLst>
          </p:cNvPr>
          <p:cNvSpPr/>
          <p:nvPr/>
        </p:nvSpPr>
        <p:spPr>
          <a:xfrm>
            <a:off x="5715000" y="4068763"/>
            <a:ext cx="1428750" cy="860425"/>
          </a:xfrm>
          <a:prstGeom prst="rect">
            <a:avLst/>
          </a:prstGeom>
        </p:spPr>
        <p:txBody>
          <a:bodyPr>
            <a:spAutoFit/>
          </a:bodyPr>
          <a:lstStyle/>
          <a:p>
            <a:pPr marL="342900" indent="-342900">
              <a:lnSpc>
                <a:spcPct val="120000"/>
              </a:lnSpc>
              <a:spcBef>
                <a:spcPct val="20000"/>
              </a:spcBef>
              <a:buClr>
                <a:srgbClr val="3333CC"/>
              </a:buClr>
              <a:buSzPct val="55000"/>
              <a:tabLst>
                <a:tab pos="3595688" algn="l"/>
              </a:tabLst>
              <a:defRPr/>
            </a:pPr>
            <a:r>
              <a:rPr lang="zh-CN" altLang="en-US" sz="2000" kern="0" dirty="0">
                <a:solidFill>
                  <a:srgbClr val="003399"/>
                </a:solidFill>
                <a:latin typeface="黑体" pitchFamily="2" charset="-122"/>
                <a:ea typeface="黑体" pitchFamily="2" charset="-122"/>
              </a:rPr>
              <a:t>曹丽娜  </a:t>
            </a:r>
            <a:endParaRPr lang="en-US" altLang="zh-CN" sz="2000" kern="0" dirty="0">
              <a:solidFill>
                <a:srgbClr val="003399"/>
              </a:solidFill>
              <a:latin typeface="黑体" pitchFamily="2" charset="-122"/>
              <a:ea typeface="黑体" pitchFamily="2" charset="-122"/>
            </a:endParaRPr>
          </a:p>
          <a:p>
            <a:pPr marL="342900" indent="-342900">
              <a:lnSpc>
                <a:spcPct val="120000"/>
              </a:lnSpc>
              <a:spcBef>
                <a:spcPct val="20000"/>
              </a:spcBef>
              <a:buClr>
                <a:srgbClr val="3333CC"/>
              </a:buClr>
              <a:buSzPct val="55000"/>
              <a:tabLst>
                <a:tab pos="3595688" algn="l"/>
              </a:tabLst>
              <a:defRPr/>
            </a:pPr>
            <a:r>
              <a:rPr lang="zh-CN" altLang="en-US" sz="2000" kern="0" dirty="0">
                <a:solidFill>
                  <a:srgbClr val="003399"/>
                </a:solidFill>
                <a:latin typeface="黑体" pitchFamily="2" charset="-122"/>
                <a:ea typeface="黑体" pitchFamily="2" charset="-122"/>
              </a:rPr>
              <a:t>樊昌信</a:t>
            </a:r>
            <a:r>
              <a:rPr lang="en-US" altLang="zh-CN" sz="2000" kern="0" dirty="0">
                <a:solidFill>
                  <a:srgbClr val="003399"/>
                </a:solidFill>
                <a:latin typeface="黑体" pitchFamily="2" charset="-122"/>
                <a:ea typeface="黑体" pitchFamily="2" charset="-122"/>
                <a:cs typeface="Arial" charset="0"/>
              </a:rPr>
              <a:t>  </a:t>
            </a:r>
            <a:r>
              <a:rPr lang="en-US" altLang="zh-CN" sz="2000" kern="0" dirty="0">
                <a:solidFill>
                  <a:srgbClr val="003399"/>
                </a:solidFill>
                <a:latin typeface="黑体" pitchFamily="2" charset="-122"/>
                <a:ea typeface="黑体" pitchFamily="2" charset="-122"/>
              </a:rPr>
              <a:t>                                     </a:t>
            </a:r>
            <a:endParaRPr lang="en-US" altLang="zh-CN" sz="2000" kern="0" dirty="0">
              <a:solidFill>
                <a:srgbClr val="003399"/>
              </a:solidFill>
              <a:latin typeface="黑体" pitchFamily="2" charset="-122"/>
              <a:ea typeface="黑体" pitchFamily="2" charset="-122"/>
              <a:sym typeface="Wingdings" pitchFamily="2" charset="2"/>
            </a:endParaRPr>
          </a:p>
        </p:txBody>
      </p:sp>
      <p:sp>
        <p:nvSpPr>
          <p:cNvPr id="7" name="矩形 6">
            <a:extLst>
              <a:ext uri="{FF2B5EF4-FFF2-40B4-BE49-F238E27FC236}">
                <a16:creationId xmlns:a16="http://schemas.microsoft.com/office/drawing/2014/main" id="{BBEE5814-2D2E-BE69-48D5-B11442298E1B}"/>
              </a:ext>
            </a:extLst>
          </p:cNvPr>
          <p:cNvSpPr/>
          <p:nvPr/>
        </p:nvSpPr>
        <p:spPr>
          <a:xfrm>
            <a:off x="6786563" y="4186238"/>
            <a:ext cx="857250" cy="609600"/>
          </a:xfrm>
          <a:prstGeom prst="rect">
            <a:avLst/>
          </a:prstGeom>
        </p:spPr>
        <p:txBody>
          <a:bodyPr>
            <a:spAutoFit/>
          </a:bodyPr>
          <a:lstStyle/>
          <a:p>
            <a:pPr marL="342900" indent="-342900">
              <a:lnSpc>
                <a:spcPct val="120000"/>
              </a:lnSpc>
              <a:spcBef>
                <a:spcPct val="20000"/>
              </a:spcBef>
              <a:buClr>
                <a:srgbClr val="3333CC"/>
              </a:buClr>
              <a:buSzPct val="55000"/>
              <a:tabLst>
                <a:tab pos="3595688" algn="l"/>
              </a:tabLst>
              <a:defRPr/>
            </a:pPr>
            <a:r>
              <a:rPr lang="zh-CN" altLang="en-US" sz="2000" kern="0" dirty="0">
                <a:solidFill>
                  <a:srgbClr val="003399"/>
                </a:solidFill>
                <a:latin typeface="黑体" pitchFamily="2" charset="-122"/>
                <a:ea typeface="黑体" pitchFamily="2" charset="-122"/>
              </a:rPr>
              <a:t>编著</a:t>
            </a:r>
            <a:r>
              <a:rPr lang="en-US" altLang="zh-CN" sz="2800" kern="0" dirty="0">
                <a:latin typeface="Arial" charset="0"/>
                <a:ea typeface="宋体"/>
                <a:cs typeface="Arial" charset="0"/>
              </a:rPr>
              <a:t>  </a:t>
            </a:r>
            <a:r>
              <a:rPr lang="en-US" altLang="zh-CN" sz="2800" kern="0" dirty="0">
                <a:latin typeface="Tahoma"/>
                <a:ea typeface="宋体"/>
              </a:rPr>
              <a:t> </a:t>
            </a:r>
            <a:r>
              <a:rPr lang="en-US" altLang="zh-CN" sz="2800" kern="0" dirty="0">
                <a:solidFill>
                  <a:srgbClr val="000000"/>
                </a:solidFill>
                <a:latin typeface="Tahoma"/>
                <a:ea typeface="宋体"/>
              </a:rPr>
              <a:t>                                    </a:t>
            </a:r>
            <a:endParaRPr lang="en-US" altLang="zh-CN" sz="2800" kern="0" dirty="0">
              <a:solidFill>
                <a:srgbClr val="000000"/>
              </a:solidFill>
              <a:latin typeface="Tahoma"/>
              <a:ea typeface="宋体"/>
              <a:sym typeface="Wingdings" pitchFamily="2" charset="2"/>
            </a:endParaRPr>
          </a:p>
        </p:txBody>
      </p:sp>
      <p:sp>
        <p:nvSpPr>
          <p:cNvPr id="8" name="矩形 7">
            <a:extLst>
              <a:ext uri="{FF2B5EF4-FFF2-40B4-BE49-F238E27FC236}">
                <a16:creationId xmlns:a16="http://schemas.microsoft.com/office/drawing/2014/main" id="{4D15AC02-4BBB-35F3-BDA8-1C7D04B73C47}"/>
              </a:ext>
            </a:extLst>
          </p:cNvPr>
          <p:cNvSpPr/>
          <p:nvPr/>
        </p:nvSpPr>
        <p:spPr>
          <a:xfrm>
            <a:off x="5643563" y="5230813"/>
            <a:ext cx="2214562" cy="412750"/>
          </a:xfrm>
          <a:prstGeom prst="rect">
            <a:avLst/>
          </a:prstGeom>
        </p:spPr>
        <p:txBody>
          <a:bodyPr>
            <a:spAutoFit/>
          </a:bodyPr>
          <a:lstStyle/>
          <a:p>
            <a:pPr marL="342900" indent="-342900">
              <a:lnSpc>
                <a:spcPct val="120000"/>
              </a:lnSpc>
              <a:spcBef>
                <a:spcPct val="20000"/>
              </a:spcBef>
              <a:buClr>
                <a:srgbClr val="3333CC"/>
              </a:buClr>
              <a:buSzPct val="55000"/>
              <a:tabLst>
                <a:tab pos="3595688" algn="l"/>
              </a:tabLst>
              <a:defRPr/>
            </a:pPr>
            <a:r>
              <a:rPr lang="zh-CN" altLang="en-US" sz="2000" kern="0" dirty="0">
                <a:solidFill>
                  <a:srgbClr val="003399"/>
                </a:solidFill>
                <a:latin typeface="黑体" pitchFamily="2" charset="-122"/>
                <a:ea typeface="黑体" pitchFamily="2" charset="-122"/>
              </a:rPr>
              <a:t>国防工业出版社</a:t>
            </a:r>
            <a:r>
              <a:rPr lang="en-US" altLang="zh-CN" sz="2000" kern="0" dirty="0">
                <a:solidFill>
                  <a:srgbClr val="003399"/>
                </a:solidFill>
                <a:latin typeface="黑体" pitchFamily="2" charset="-122"/>
                <a:ea typeface="黑体" pitchFamily="2" charset="-122"/>
              </a:rPr>
              <a:t>                           </a:t>
            </a:r>
            <a:endParaRPr lang="en-US" altLang="zh-CN" sz="2000" kern="0" dirty="0">
              <a:solidFill>
                <a:srgbClr val="003399"/>
              </a:solidFill>
              <a:latin typeface="黑体" pitchFamily="2" charset="-122"/>
              <a:ea typeface="黑体" pitchFamily="2" charset="-122"/>
              <a:sym typeface="Wingdings" pitchFamily="2" charset="2"/>
            </a:endParaRPr>
          </a:p>
        </p:txBody>
      </p:sp>
      <p:pic>
        <p:nvPicPr>
          <p:cNvPr id="95239" name="内容占位符 12" descr="校徽3.gif">
            <a:extLst>
              <a:ext uri="{FF2B5EF4-FFF2-40B4-BE49-F238E27FC236}">
                <a16:creationId xmlns:a16="http://schemas.microsoft.com/office/drawing/2014/main" id="{C48DF43B-163F-933D-7373-9049129BA81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00625" y="4171950"/>
            <a:ext cx="571500"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240" name="内容占位符 27" descr="图标3.gif">
            <a:extLst>
              <a:ext uri="{FF2B5EF4-FFF2-40B4-BE49-F238E27FC236}">
                <a16:creationId xmlns:a16="http://schemas.microsoft.com/office/drawing/2014/main" id="{CC31938B-DCDF-8592-3DB0-B7204B7BEEA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002213" y="5156200"/>
            <a:ext cx="569912"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6" name="Rectangle 10">
            <a:extLst>
              <a:ext uri="{FF2B5EF4-FFF2-40B4-BE49-F238E27FC236}">
                <a16:creationId xmlns:a16="http://schemas.microsoft.com/office/drawing/2014/main" id="{31896A16-4C2B-FB1E-B5E3-514CABF18DE2}"/>
              </a:ext>
            </a:extLst>
          </p:cNvPr>
          <p:cNvSpPr>
            <a:spLocks noChangeArrowheads="1"/>
          </p:cNvSpPr>
          <p:nvPr/>
        </p:nvSpPr>
        <p:spPr bwMode="auto">
          <a:xfrm>
            <a:off x="4500563" y="1695450"/>
            <a:ext cx="3714750" cy="1733550"/>
          </a:xfrm>
          <a:prstGeom prst="rect">
            <a:avLst/>
          </a:prstGeom>
          <a:noFill/>
          <a:ln w="9525" cap="flat" cmpd="sng">
            <a:noFill/>
            <a:prstDash val="solid"/>
            <a:miter lim="800000"/>
            <a:headEnd type="none" w="med" len="med"/>
            <a:tailEnd type="none" w="med" len="med"/>
          </a:ln>
          <a:effectLst>
            <a:prstShdw prst="shdw17" dist="17961" dir="2700000">
              <a:schemeClr val="accent1">
                <a:gamma/>
                <a:shade val="60000"/>
                <a:invGamma/>
              </a:schemeClr>
            </a:prstShdw>
          </a:effectLst>
        </p:spPr>
        <p:txBody>
          <a:bodyPr anchor="ctr">
            <a:spAutoFit/>
          </a:bodyPr>
          <a:lstStyle/>
          <a:p>
            <a:pPr indent="419100" eaLnBrk="0" hangingPunct="0">
              <a:lnSpc>
                <a:spcPts val="3200"/>
              </a:lnSpc>
              <a:buClr>
                <a:srgbClr val="0033CC"/>
              </a:buClr>
              <a:buSzPct val="80000"/>
              <a:buFont typeface="Wingdings" pitchFamily="2" charset="2"/>
              <a:buChar char="Ø"/>
              <a:tabLst>
                <a:tab pos="838200" algn="l"/>
              </a:tabLst>
              <a:defRPr/>
            </a:pPr>
            <a:r>
              <a:rPr lang="zh-CN" sz="2400" dirty="0">
                <a:latin typeface="黑体" pitchFamily="2" charset="-122"/>
                <a:ea typeface="黑体" pitchFamily="2" charset="-122"/>
                <a:cs typeface="Times New Roman" pitchFamily="18" charset="0"/>
              </a:rPr>
              <a:t>整理知识</a:t>
            </a:r>
            <a:r>
              <a:rPr lang="zh-CN" altLang="en-US" sz="2400" dirty="0">
                <a:latin typeface="黑体" pitchFamily="2" charset="-122"/>
                <a:ea typeface="黑体" pitchFamily="2" charset="-122"/>
                <a:cs typeface="Times New Roman" pitchFamily="18" charset="0"/>
              </a:rPr>
              <a:t>  归纳结论</a:t>
            </a:r>
            <a:endParaRPr lang="zh-CN" altLang="en-US" sz="2400" dirty="0">
              <a:latin typeface="黑体" pitchFamily="2" charset="-122"/>
              <a:ea typeface="黑体" pitchFamily="2" charset="-122"/>
            </a:endParaRPr>
          </a:p>
          <a:p>
            <a:pPr indent="419100" eaLnBrk="0" hangingPunct="0">
              <a:lnSpc>
                <a:spcPts val="3200"/>
              </a:lnSpc>
              <a:buClr>
                <a:srgbClr val="0033CC"/>
              </a:buClr>
              <a:buSzPct val="80000"/>
              <a:buFont typeface="Wingdings" pitchFamily="2" charset="2"/>
              <a:buChar char="Ø"/>
              <a:tabLst>
                <a:tab pos="838200" algn="l"/>
              </a:tabLst>
              <a:defRPr/>
            </a:pPr>
            <a:r>
              <a:rPr lang="zh-CN" altLang="en-US" sz="2400" dirty="0">
                <a:latin typeface="黑体" pitchFamily="2" charset="-122"/>
                <a:ea typeface="黑体" pitchFamily="2" charset="-122"/>
                <a:cs typeface="Times New Roman" pitchFamily="18" charset="0"/>
              </a:rPr>
              <a:t>梳理关系  引导主线</a:t>
            </a:r>
            <a:endParaRPr lang="zh-CN" altLang="en-US" sz="2400" dirty="0">
              <a:latin typeface="黑体" pitchFamily="2" charset="-122"/>
              <a:ea typeface="黑体" pitchFamily="2" charset="-122"/>
            </a:endParaRPr>
          </a:p>
          <a:p>
            <a:pPr indent="419100" eaLnBrk="0" hangingPunct="0">
              <a:lnSpc>
                <a:spcPts val="3200"/>
              </a:lnSpc>
              <a:buClr>
                <a:srgbClr val="0033CC"/>
              </a:buClr>
              <a:buSzPct val="80000"/>
              <a:buFont typeface="Wingdings" pitchFamily="2" charset="2"/>
              <a:buChar char="Ø"/>
              <a:tabLst>
                <a:tab pos="838200" algn="l"/>
              </a:tabLst>
              <a:defRPr/>
            </a:pPr>
            <a:r>
              <a:rPr lang="zh-CN" altLang="en-US" sz="2400" dirty="0">
                <a:latin typeface="黑体" pitchFamily="2" charset="-122"/>
                <a:ea typeface="黑体" pitchFamily="2" charset="-122"/>
                <a:cs typeface="Times New Roman" pitchFamily="18" charset="0"/>
              </a:rPr>
              <a:t>剖析难点  解惑疑点</a:t>
            </a:r>
            <a:endParaRPr lang="zh-CN" altLang="en-US" sz="2400" dirty="0">
              <a:latin typeface="黑体" pitchFamily="2" charset="-122"/>
              <a:ea typeface="黑体" pitchFamily="2" charset="-122"/>
            </a:endParaRPr>
          </a:p>
          <a:p>
            <a:pPr indent="419100" eaLnBrk="0" hangingPunct="0">
              <a:lnSpc>
                <a:spcPts val="3200"/>
              </a:lnSpc>
              <a:buClr>
                <a:srgbClr val="0033CC"/>
              </a:buClr>
              <a:buSzPct val="80000"/>
              <a:buFont typeface="Wingdings" pitchFamily="2" charset="2"/>
              <a:buChar char="Ø"/>
              <a:tabLst>
                <a:tab pos="838200" algn="l"/>
              </a:tabLst>
              <a:defRPr/>
            </a:pPr>
            <a:r>
              <a:rPr lang="zh-CN" altLang="en-US" sz="2400" dirty="0">
                <a:latin typeface="黑体" pitchFamily="2" charset="-122"/>
                <a:ea typeface="黑体" pitchFamily="2" charset="-122"/>
                <a:cs typeface="Times New Roman" pitchFamily="18" charset="0"/>
              </a:rPr>
              <a:t>强化重点  点击考点 </a:t>
            </a:r>
            <a:endParaRPr lang="zh-CN" altLang="en-US" sz="2400" dirty="0">
              <a:latin typeface="黑体" pitchFamily="2" charset="-122"/>
              <a:ea typeface="黑体" pitchFamily="2" charset="-122"/>
            </a:endParaRP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2F96ABF-5F4E-D8B5-B328-86339FA2438E}"/>
              </a:ext>
            </a:extLst>
          </p:cNvPr>
          <p:cNvSpPr txBox="1">
            <a:spLocks/>
          </p:cNvSpPr>
          <p:nvPr/>
        </p:nvSpPr>
        <p:spPr bwMode="auto">
          <a:xfrm>
            <a:off x="2857500" y="2482850"/>
            <a:ext cx="4143375" cy="1517650"/>
          </a:xfrm>
          <a:prstGeom prst="rect">
            <a:avLst/>
          </a:prstGeom>
          <a:noFill/>
          <a:ln w="9525">
            <a:noFill/>
            <a:miter lim="800000"/>
            <a:headEnd/>
            <a:tailEnd/>
          </a:ln>
        </p:spPr>
        <p:txBody>
          <a:bodyPr/>
          <a:lstStyle/>
          <a:p>
            <a:pPr marL="342900" indent="-342900" eaLnBrk="0" hangingPunct="0">
              <a:spcBef>
                <a:spcPct val="20000"/>
              </a:spcBef>
              <a:buClr>
                <a:schemeClr val="folHlink"/>
              </a:buClr>
              <a:buSzPct val="60000"/>
              <a:buFont typeface="Wingdings" pitchFamily="2" charset="2"/>
              <a:buNone/>
              <a:defRPr/>
            </a:pPr>
            <a:r>
              <a:rPr lang="zh-CN" altLang="en-US" sz="7200" kern="0" dirty="0">
                <a:solidFill>
                  <a:srgbClr val="003399"/>
                </a:solidFill>
                <a:latin typeface="隶书" pitchFamily="49" charset="-122"/>
                <a:ea typeface="隶书" pitchFamily="49" charset="-122"/>
              </a:rPr>
              <a:t> 谢谢！</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 presetClass="entr" presetSubtype="32"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out)">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imes New Roman"/>
        <a:ea typeface="隶书"/>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Blends</Template>
  <TotalTime>2853</TotalTime>
  <Words>5217</Words>
  <Application>Microsoft Office PowerPoint</Application>
  <PresentationFormat>全屏显示(4:3)</PresentationFormat>
  <Paragraphs>675</Paragraphs>
  <Slides>91</Slides>
  <Notes>8</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5</vt:i4>
      </vt:variant>
      <vt:variant>
        <vt:lpstr>幻灯片标题</vt:lpstr>
      </vt:variant>
      <vt:variant>
        <vt:i4>91</vt:i4>
      </vt:variant>
    </vt:vector>
  </HeadingPairs>
  <TitlesOfParts>
    <vt:vector size="112" baseType="lpstr">
      <vt:lpstr>Tahoma</vt:lpstr>
      <vt:lpstr>宋体</vt:lpstr>
      <vt:lpstr>Arial</vt:lpstr>
      <vt:lpstr>Times New Roman</vt:lpstr>
      <vt:lpstr>隶书</vt:lpstr>
      <vt:lpstr>楷体_GB2312</vt:lpstr>
      <vt:lpstr>Wingdings</vt:lpstr>
      <vt:lpstr>黑体</vt:lpstr>
      <vt:lpstr>微软雅黑</vt:lpstr>
      <vt:lpstr>Arial Unicode MS</vt:lpstr>
      <vt:lpstr>华文中宋</vt:lpstr>
      <vt:lpstr>Symbol</vt:lpstr>
      <vt:lpstr>幼圆</vt:lpstr>
      <vt:lpstr>Calibri</vt:lpstr>
      <vt:lpstr>Cambria Math</vt:lpstr>
      <vt:lpstr>Blends</vt:lpstr>
      <vt:lpstr>MathType 5.0 Equation</vt:lpstr>
      <vt:lpstr>MathType 6.0 Equation</vt:lpstr>
      <vt:lpstr>Equation</vt:lpstr>
      <vt:lpstr>公式</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当  j  0 时，   R( j ) 的  值 都  很小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Xidian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通信原理</dc:title>
  <dc:creator>Fan</dc:creator>
  <cp:lastModifiedBy>Wang Liming</cp:lastModifiedBy>
  <cp:revision>141</cp:revision>
  <dcterms:created xsi:type="dcterms:W3CDTF">2005-12-13T08:40:34Z</dcterms:created>
  <dcterms:modified xsi:type="dcterms:W3CDTF">2023-08-16T09:43:32Z</dcterms:modified>
</cp:coreProperties>
</file>