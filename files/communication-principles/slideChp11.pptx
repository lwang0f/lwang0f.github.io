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1"/>
  </p:sldMasterIdLst>
  <p:notesMasterIdLst>
    <p:notesMasterId r:id="rId167"/>
  </p:notesMasterIdLst>
  <p:sldIdLst>
    <p:sldId id="554" r:id="rId2"/>
    <p:sldId id="552" r:id="rId3"/>
    <p:sldId id="553" r:id="rId4"/>
    <p:sldId id="557" r:id="rId5"/>
    <p:sldId id="563" r:id="rId6"/>
    <p:sldId id="566" r:id="rId7"/>
    <p:sldId id="559" r:id="rId8"/>
    <p:sldId id="567" r:id="rId9"/>
    <p:sldId id="575" r:id="rId10"/>
    <p:sldId id="576" r:id="rId11"/>
    <p:sldId id="572" r:id="rId12"/>
    <p:sldId id="573" r:id="rId13"/>
    <p:sldId id="578" r:id="rId14"/>
    <p:sldId id="579" r:id="rId15"/>
    <p:sldId id="580" r:id="rId16"/>
    <p:sldId id="607" r:id="rId17"/>
    <p:sldId id="625" r:id="rId18"/>
    <p:sldId id="609" r:id="rId19"/>
    <p:sldId id="650" r:id="rId20"/>
    <p:sldId id="651" r:id="rId21"/>
    <p:sldId id="637" r:id="rId22"/>
    <p:sldId id="628" r:id="rId23"/>
    <p:sldId id="634" r:id="rId24"/>
    <p:sldId id="636" r:id="rId25"/>
    <p:sldId id="646" r:id="rId26"/>
    <p:sldId id="638" r:id="rId27"/>
    <p:sldId id="654" r:id="rId28"/>
    <p:sldId id="640" r:id="rId29"/>
    <p:sldId id="652" r:id="rId30"/>
    <p:sldId id="653" r:id="rId31"/>
    <p:sldId id="615" r:id="rId32"/>
    <p:sldId id="643" r:id="rId33"/>
    <p:sldId id="581" r:id="rId34"/>
    <p:sldId id="508" r:id="rId35"/>
    <p:sldId id="657" r:id="rId36"/>
    <p:sldId id="655" r:id="rId37"/>
    <p:sldId id="659" r:id="rId38"/>
    <p:sldId id="660" r:id="rId39"/>
    <p:sldId id="661" r:id="rId40"/>
    <p:sldId id="662" r:id="rId41"/>
    <p:sldId id="663" r:id="rId42"/>
    <p:sldId id="532" r:id="rId43"/>
    <p:sldId id="664" r:id="rId44"/>
    <p:sldId id="533" r:id="rId45"/>
    <p:sldId id="665" r:id="rId46"/>
    <p:sldId id="666" r:id="rId47"/>
    <p:sldId id="684" r:id="rId48"/>
    <p:sldId id="726" r:id="rId49"/>
    <p:sldId id="685" r:id="rId50"/>
    <p:sldId id="688" r:id="rId51"/>
    <p:sldId id="689" r:id="rId52"/>
    <p:sldId id="687" r:id="rId53"/>
    <p:sldId id="690" r:id="rId54"/>
    <p:sldId id="693" r:id="rId55"/>
    <p:sldId id="692" r:id="rId56"/>
    <p:sldId id="674" r:id="rId57"/>
    <p:sldId id="676" r:id="rId58"/>
    <p:sldId id="677" r:id="rId59"/>
    <p:sldId id="695" r:id="rId60"/>
    <p:sldId id="700" r:id="rId61"/>
    <p:sldId id="701" r:id="rId62"/>
    <p:sldId id="548" r:id="rId63"/>
    <p:sldId id="680" r:id="rId64"/>
    <p:sldId id="681" r:id="rId65"/>
    <p:sldId id="696" r:id="rId66"/>
    <p:sldId id="539" r:id="rId67"/>
    <p:sldId id="513" r:id="rId68"/>
    <p:sldId id="723" r:id="rId69"/>
    <p:sldId id="541" r:id="rId70"/>
    <p:sldId id="697" r:id="rId71"/>
    <p:sldId id="699" r:id="rId72"/>
    <p:sldId id="702" r:id="rId73"/>
    <p:sldId id="703" r:id="rId74"/>
    <p:sldId id="704" r:id="rId75"/>
    <p:sldId id="545" r:id="rId76"/>
    <p:sldId id="725" r:id="rId77"/>
    <p:sldId id="547" r:id="rId78"/>
    <p:sldId id="706" r:id="rId79"/>
    <p:sldId id="707" r:id="rId80"/>
    <p:sldId id="709" r:id="rId81"/>
    <p:sldId id="710" r:id="rId82"/>
    <p:sldId id="727" r:id="rId83"/>
    <p:sldId id="588" r:id="rId84"/>
    <p:sldId id="711" r:id="rId85"/>
    <p:sldId id="729" r:id="rId86"/>
    <p:sldId id="730" r:id="rId87"/>
    <p:sldId id="713" r:id="rId88"/>
    <p:sldId id="589" r:id="rId89"/>
    <p:sldId id="590" r:id="rId90"/>
    <p:sldId id="714" r:id="rId91"/>
    <p:sldId id="716" r:id="rId92"/>
    <p:sldId id="731" r:id="rId93"/>
    <p:sldId id="732" r:id="rId94"/>
    <p:sldId id="719" r:id="rId95"/>
    <p:sldId id="720" r:id="rId96"/>
    <p:sldId id="591" r:id="rId97"/>
    <p:sldId id="721" r:id="rId98"/>
    <p:sldId id="592" r:id="rId99"/>
    <p:sldId id="791" r:id="rId100"/>
    <p:sldId id="593" r:id="rId101"/>
    <p:sldId id="734" r:id="rId102"/>
    <p:sldId id="793" r:id="rId103"/>
    <p:sldId id="735" r:id="rId104"/>
    <p:sldId id="794" r:id="rId105"/>
    <p:sldId id="594" r:id="rId106"/>
    <p:sldId id="736" r:id="rId107"/>
    <p:sldId id="737" r:id="rId108"/>
    <p:sldId id="739" r:id="rId109"/>
    <p:sldId id="740" r:id="rId110"/>
    <p:sldId id="741" r:id="rId111"/>
    <p:sldId id="742" r:id="rId112"/>
    <p:sldId id="743" r:id="rId113"/>
    <p:sldId id="744" r:id="rId114"/>
    <p:sldId id="745" r:id="rId115"/>
    <p:sldId id="795" r:id="rId116"/>
    <p:sldId id="746" r:id="rId117"/>
    <p:sldId id="747" r:id="rId118"/>
    <p:sldId id="748" r:id="rId119"/>
    <p:sldId id="750" r:id="rId120"/>
    <p:sldId id="751" r:id="rId121"/>
    <p:sldId id="800" r:id="rId122"/>
    <p:sldId id="806" r:id="rId123"/>
    <p:sldId id="807" r:id="rId124"/>
    <p:sldId id="808" r:id="rId125"/>
    <p:sldId id="803" r:id="rId126"/>
    <p:sldId id="804" r:id="rId127"/>
    <p:sldId id="756" r:id="rId128"/>
    <p:sldId id="757" r:id="rId129"/>
    <p:sldId id="809" r:id="rId130"/>
    <p:sldId id="759" r:id="rId131"/>
    <p:sldId id="821" r:id="rId132"/>
    <p:sldId id="761" r:id="rId133"/>
    <p:sldId id="810" r:id="rId134"/>
    <p:sldId id="763" r:id="rId135"/>
    <p:sldId id="764" r:id="rId136"/>
    <p:sldId id="811" r:id="rId137"/>
    <p:sldId id="766" r:id="rId138"/>
    <p:sldId id="767" r:id="rId139"/>
    <p:sldId id="812" r:id="rId140"/>
    <p:sldId id="597" r:id="rId141"/>
    <p:sldId id="770" r:id="rId142"/>
    <p:sldId id="771" r:id="rId143"/>
    <p:sldId id="772" r:id="rId144"/>
    <p:sldId id="773" r:id="rId145"/>
    <p:sldId id="774" r:id="rId146"/>
    <p:sldId id="598" r:id="rId147"/>
    <p:sldId id="778" r:id="rId148"/>
    <p:sldId id="780" r:id="rId149"/>
    <p:sldId id="781" r:id="rId150"/>
    <p:sldId id="599" r:id="rId151"/>
    <p:sldId id="782" r:id="rId152"/>
    <p:sldId id="783" r:id="rId153"/>
    <p:sldId id="784" r:id="rId154"/>
    <p:sldId id="785" r:id="rId155"/>
    <p:sldId id="786" r:id="rId156"/>
    <p:sldId id="788" r:id="rId157"/>
    <p:sldId id="813" r:id="rId158"/>
    <p:sldId id="814" r:id="rId159"/>
    <p:sldId id="820" r:id="rId160"/>
    <p:sldId id="815" r:id="rId161"/>
    <p:sldId id="816" r:id="rId162"/>
    <p:sldId id="817" r:id="rId163"/>
    <p:sldId id="818" r:id="rId164"/>
    <p:sldId id="500" r:id="rId165"/>
    <p:sldId id="497" r:id="rId166"/>
  </p:sldIdLst>
  <p:sldSz cx="9144000" cy="6858000" type="screen4x3"/>
  <p:notesSz cx="6858000" cy="9144000"/>
  <p:defaultTextStyle>
    <a:defPPr>
      <a:defRPr lang="zh-CN"/>
    </a:defPPr>
    <a:lvl1pPr algn="l" rtl="0" fontAlgn="base">
      <a:spcBef>
        <a:spcPct val="0"/>
      </a:spcBef>
      <a:spcAft>
        <a:spcPct val="0"/>
      </a:spcAft>
      <a:defRPr kumimoji="1" sz="8800" b="1" kern="1200">
        <a:solidFill>
          <a:srgbClr val="D0CDCA"/>
        </a:solidFill>
        <a:latin typeface="楷体_GB2312" pitchFamily="49" charset="-122"/>
        <a:ea typeface="楷体_GB2312" pitchFamily="49" charset="-122"/>
        <a:cs typeface="+mn-cs"/>
      </a:defRPr>
    </a:lvl1pPr>
    <a:lvl2pPr marL="457200" algn="l" rtl="0" fontAlgn="base">
      <a:spcBef>
        <a:spcPct val="0"/>
      </a:spcBef>
      <a:spcAft>
        <a:spcPct val="0"/>
      </a:spcAft>
      <a:defRPr kumimoji="1" sz="8800" b="1" kern="1200">
        <a:solidFill>
          <a:srgbClr val="D0CDCA"/>
        </a:solidFill>
        <a:latin typeface="楷体_GB2312" pitchFamily="49" charset="-122"/>
        <a:ea typeface="楷体_GB2312" pitchFamily="49" charset="-122"/>
        <a:cs typeface="+mn-cs"/>
      </a:defRPr>
    </a:lvl2pPr>
    <a:lvl3pPr marL="914400" algn="l" rtl="0" fontAlgn="base">
      <a:spcBef>
        <a:spcPct val="0"/>
      </a:spcBef>
      <a:spcAft>
        <a:spcPct val="0"/>
      </a:spcAft>
      <a:defRPr kumimoji="1" sz="8800" b="1" kern="1200">
        <a:solidFill>
          <a:srgbClr val="D0CDCA"/>
        </a:solidFill>
        <a:latin typeface="楷体_GB2312" pitchFamily="49" charset="-122"/>
        <a:ea typeface="楷体_GB2312" pitchFamily="49" charset="-122"/>
        <a:cs typeface="+mn-cs"/>
      </a:defRPr>
    </a:lvl3pPr>
    <a:lvl4pPr marL="1371600" algn="l" rtl="0" fontAlgn="base">
      <a:spcBef>
        <a:spcPct val="0"/>
      </a:spcBef>
      <a:spcAft>
        <a:spcPct val="0"/>
      </a:spcAft>
      <a:defRPr kumimoji="1" sz="8800" b="1" kern="1200">
        <a:solidFill>
          <a:srgbClr val="D0CDCA"/>
        </a:solidFill>
        <a:latin typeface="楷体_GB2312" pitchFamily="49" charset="-122"/>
        <a:ea typeface="楷体_GB2312" pitchFamily="49" charset="-122"/>
        <a:cs typeface="+mn-cs"/>
      </a:defRPr>
    </a:lvl4pPr>
    <a:lvl5pPr marL="1828800" algn="l" rtl="0" fontAlgn="base">
      <a:spcBef>
        <a:spcPct val="0"/>
      </a:spcBef>
      <a:spcAft>
        <a:spcPct val="0"/>
      </a:spcAft>
      <a:defRPr kumimoji="1" sz="8800" b="1" kern="1200">
        <a:solidFill>
          <a:srgbClr val="D0CDCA"/>
        </a:solidFill>
        <a:latin typeface="楷体_GB2312" pitchFamily="49" charset="-122"/>
        <a:ea typeface="楷体_GB2312" pitchFamily="49" charset="-122"/>
        <a:cs typeface="+mn-cs"/>
      </a:defRPr>
    </a:lvl5pPr>
    <a:lvl6pPr marL="2286000" algn="l" defTabSz="914400" rtl="0" eaLnBrk="1" latinLnBrk="0" hangingPunct="1">
      <a:defRPr kumimoji="1" sz="8800" b="1" kern="1200">
        <a:solidFill>
          <a:srgbClr val="D0CDCA"/>
        </a:solidFill>
        <a:latin typeface="楷体_GB2312" pitchFamily="49" charset="-122"/>
        <a:ea typeface="楷体_GB2312" pitchFamily="49" charset="-122"/>
        <a:cs typeface="+mn-cs"/>
      </a:defRPr>
    </a:lvl6pPr>
    <a:lvl7pPr marL="2743200" algn="l" defTabSz="914400" rtl="0" eaLnBrk="1" latinLnBrk="0" hangingPunct="1">
      <a:defRPr kumimoji="1" sz="8800" b="1" kern="1200">
        <a:solidFill>
          <a:srgbClr val="D0CDCA"/>
        </a:solidFill>
        <a:latin typeface="楷体_GB2312" pitchFamily="49" charset="-122"/>
        <a:ea typeface="楷体_GB2312" pitchFamily="49" charset="-122"/>
        <a:cs typeface="+mn-cs"/>
      </a:defRPr>
    </a:lvl7pPr>
    <a:lvl8pPr marL="3200400" algn="l" defTabSz="914400" rtl="0" eaLnBrk="1" latinLnBrk="0" hangingPunct="1">
      <a:defRPr kumimoji="1" sz="8800" b="1" kern="1200">
        <a:solidFill>
          <a:srgbClr val="D0CDCA"/>
        </a:solidFill>
        <a:latin typeface="楷体_GB2312" pitchFamily="49" charset="-122"/>
        <a:ea typeface="楷体_GB2312" pitchFamily="49" charset="-122"/>
        <a:cs typeface="+mn-cs"/>
      </a:defRPr>
    </a:lvl8pPr>
    <a:lvl9pPr marL="3657600" algn="l" defTabSz="914400" rtl="0" eaLnBrk="1" latinLnBrk="0" hangingPunct="1">
      <a:defRPr kumimoji="1" sz="8800" b="1" kern="1200">
        <a:solidFill>
          <a:srgbClr val="D0CDCA"/>
        </a:solidFill>
        <a:latin typeface="楷体_GB2312" pitchFamily="49" charset="-122"/>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990099"/>
    <a:srgbClr val="003399"/>
    <a:srgbClr val="0066FF"/>
    <a:srgbClr val="CC00FF"/>
    <a:srgbClr val="D6D6F2"/>
    <a:srgbClr val="6666FF"/>
    <a:srgbClr val="99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2" autoAdjust="0"/>
    <p:restoredTop sz="94693" autoAdjust="0"/>
  </p:normalViewPr>
  <p:slideViewPr>
    <p:cSldViewPr>
      <p:cViewPr varScale="1">
        <p:scale>
          <a:sx n="104" d="100"/>
          <a:sy n="104" d="100"/>
        </p:scale>
        <p:origin x="1290"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tableStyles" Target="tableStyle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92B29501-44B5-58C2-21AE-33306683DF76}"/>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56323" name="Rectangle 3">
            <a:extLst>
              <a:ext uri="{FF2B5EF4-FFF2-40B4-BE49-F238E27FC236}">
                <a16:creationId xmlns:a16="http://schemas.microsoft.com/office/drawing/2014/main" id="{869CBB8A-BBBE-EB0C-0815-5A754468EB36}"/>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172036" name="Rectangle 4">
            <a:extLst>
              <a:ext uri="{FF2B5EF4-FFF2-40B4-BE49-F238E27FC236}">
                <a16:creationId xmlns:a16="http://schemas.microsoft.com/office/drawing/2014/main" id="{FB75CE70-4ECA-248B-183F-BE90CDFF7C03}"/>
              </a:ext>
            </a:extLst>
          </p:cNvPr>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5" name="Rectangle 5">
            <a:extLst>
              <a:ext uri="{FF2B5EF4-FFF2-40B4-BE49-F238E27FC236}">
                <a16:creationId xmlns:a16="http://schemas.microsoft.com/office/drawing/2014/main" id="{20B1FD68-4F34-079E-B1E3-62488DEE0BE3}"/>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6326" name="Rectangle 6">
            <a:extLst>
              <a:ext uri="{FF2B5EF4-FFF2-40B4-BE49-F238E27FC236}">
                <a16:creationId xmlns:a16="http://schemas.microsoft.com/office/drawing/2014/main" id="{EAB7BD26-899C-35ED-A2BC-C896A9B6C4FF}"/>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56327" name="Rectangle 7">
            <a:extLst>
              <a:ext uri="{FF2B5EF4-FFF2-40B4-BE49-F238E27FC236}">
                <a16:creationId xmlns:a16="http://schemas.microsoft.com/office/drawing/2014/main" id="{4ADE4369-BC20-3D71-0187-7368A38E881C}"/>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2B45BCD4-4022-46C7-8474-051456736718}"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幻灯片图像占位符 1">
            <a:extLst>
              <a:ext uri="{FF2B5EF4-FFF2-40B4-BE49-F238E27FC236}">
                <a16:creationId xmlns:a16="http://schemas.microsoft.com/office/drawing/2014/main" id="{91F9A1C9-0822-0CC5-E60B-48D56220D1D0}"/>
              </a:ext>
            </a:extLst>
          </p:cNvPr>
          <p:cNvSpPr>
            <a:spLocks noGrp="1" noRot="1" noChangeAspect="1" noTextEdit="1"/>
          </p:cNvSpPr>
          <p:nvPr>
            <p:ph type="sldImg"/>
          </p:nvPr>
        </p:nvSpPr>
        <p:spPr>
          <a:ln/>
        </p:spPr>
      </p:sp>
      <p:sp>
        <p:nvSpPr>
          <p:cNvPr id="173059" name="备注占位符 2">
            <a:extLst>
              <a:ext uri="{FF2B5EF4-FFF2-40B4-BE49-F238E27FC236}">
                <a16:creationId xmlns:a16="http://schemas.microsoft.com/office/drawing/2014/main" id="{7671BF4D-9B34-2545-3AFD-25610DC3354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每种信道中的错码特性不同，因此需要采用不同的差错控制技术来减少或消除其中的错码。</a:t>
            </a:r>
          </a:p>
        </p:txBody>
      </p:sp>
      <p:sp>
        <p:nvSpPr>
          <p:cNvPr id="173060" name="灯片编号占位符 3">
            <a:extLst>
              <a:ext uri="{FF2B5EF4-FFF2-40B4-BE49-F238E27FC236}">
                <a16:creationId xmlns:a16="http://schemas.microsoft.com/office/drawing/2014/main" id="{8AE47AAD-759C-D464-FF58-9085C347753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fld id="{FB6DDDC5-6E01-48A1-AAEF-985B26E15702}" type="slidenum">
              <a:rPr lang="en-US" altLang="zh-CN" sz="1200"/>
              <a:pPr eaLnBrk="1" hangingPunct="1"/>
              <a:t>8</a:t>
            </a:fld>
            <a:endParaRPr lang="en-US" altLang="zh-CN"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幻灯片图像占位符 1">
            <a:extLst>
              <a:ext uri="{FF2B5EF4-FFF2-40B4-BE49-F238E27FC236}">
                <a16:creationId xmlns:a16="http://schemas.microsoft.com/office/drawing/2014/main" id="{6225D477-6C57-4C2C-3318-75306CF69E5F}"/>
              </a:ext>
            </a:extLst>
          </p:cNvPr>
          <p:cNvSpPr>
            <a:spLocks noGrp="1" noRot="1" noChangeAspect="1" noTextEdit="1"/>
          </p:cNvSpPr>
          <p:nvPr>
            <p:ph type="sldImg"/>
          </p:nvPr>
        </p:nvSpPr>
        <p:spPr>
          <a:ln/>
        </p:spPr>
      </p:sp>
      <p:sp>
        <p:nvSpPr>
          <p:cNvPr id="3" name="备注占位符 2">
            <a:extLst>
              <a:ext uri="{FF2B5EF4-FFF2-40B4-BE49-F238E27FC236}">
                <a16:creationId xmlns:a16="http://schemas.microsoft.com/office/drawing/2014/main" id="{1BAF8D46-B550-5844-56AE-79B83FDCE97B}"/>
              </a:ext>
            </a:extLst>
          </p:cNvPr>
          <p:cNvSpPr>
            <a:spLocks noGrp="1"/>
          </p:cNvSpPr>
          <p:nvPr>
            <p:ph type="body" idx="1"/>
          </p:nvPr>
        </p:nvSpPr>
        <p:spPr/>
        <p:txBody>
          <a:bodyPr>
            <a:normAutofit/>
          </a:bodyPr>
          <a:lstStyle/>
          <a:p>
            <a:pPr>
              <a:defRPr/>
            </a:pPr>
            <a:r>
              <a:rPr lang="zh-CN" altLang="en-US" kern="0" dirty="0"/>
              <a:t>指一个码组中</a:t>
            </a:r>
            <a:endParaRPr lang="en-US" altLang="zh-CN" kern="0" dirty="0"/>
          </a:p>
          <a:p>
            <a:pPr>
              <a:defRPr/>
            </a:pPr>
            <a:r>
              <a:rPr lang="zh-CN" altLang="en-US" kern="0" dirty="0"/>
              <a:t>信息位所占的比例</a:t>
            </a:r>
            <a:endParaRPr lang="zh-CN" altLang="en-US" dirty="0"/>
          </a:p>
          <a:p>
            <a:pPr>
              <a:defRPr/>
            </a:pPr>
            <a:endParaRPr lang="zh-CN" altLang="en-US" dirty="0"/>
          </a:p>
        </p:txBody>
      </p:sp>
      <p:sp>
        <p:nvSpPr>
          <p:cNvPr id="174084" name="灯片编号占位符 3">
            <a:extLst>
              <a:ext uri="{FF2B5EF4-FFF2-40B4-BE49-F238E27FC236}">
                <a16:creationId xmlns:a16="http://schemas.microsoft.com/office/drawing/2014/main" id="{8D8EEE50-33EE-BC23-AAD8-558D1B09FFE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fld id="{F5CB1603-994B-45EC-923C-366A2DA593B0}" type="slidenum">
              <a:rPr lang="en-US" altLang="zh-CN" sz="1200"/>
              <a:pPr eaLnBrk="1" hangingPunct="1"/>
              <a:t>19</a:t>
            </a:fld>
            <a:endParaRPr lang="en-US" altLang="zh-CN"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幻灯片图像占位符 1">
            <a:extLst>
              <a:ext uri="{FF2B5EF4-FFF2-40B4-BE49-F238E27FC236}">
                <a16:creationId xmlns:a16="http://schemas.microsoft.com/office/drawing/2014/main" id="{B9498F1D-1101-C7A8-78AC-F7FA464C4FE5}"/>
              </a:ext>
            </a:extLst>
          </p:cNvPr>
          <p:cNvSpPr>
            <a:spLocks noGrp="1" noRot="1" noChangeAspect="1" noTextEdit="1"/>
          </p:cNvSpPr>
          <p:nvPr>
            <p:ph type="sldImg"/>
          </p:nvPr>
        </p:nvSpPr>
        <p:spPr>
          <a:ln/>
        </p:spPr>
      </p:sp>
      <p:sp>
        <p:nvSpPr>
          <p:cNvPr id="175107" name="备注占位符 2">
            <a:extLst>
              <a:ext uri="{FF2B5EF4-FFF2-40B4-BE49-F238E27FC236}">
                <a16:creationId xmlns:a16="http://schemas.microsoft.com/office/drawing/2014/main" id="{7C3ADDB4-F53A-9524-91CD-50A6DFA11A1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每种信道中的错码特性不同，因此需要采用不同的差错控制技术来减少或消除其中的错码。</a:t>
            </a:r>
          </a:p>
        </p:txBody>
      </p:sp>
      <p:sp>
        <p:nvSpPr>
          <p:cNvPr id="175108" name="灯片编号占位符 3">
            <a:extLst>
              <a:ext uri="{FF2B5EF4-FFF2-40B4-BE49-F238E27FC236}">
                <a16:creationId xmlns:a16="http://schemas.microsoft.com/office/drawing/2014/main" id="{CDD26702-1150-927C-147F-F65166B0F85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fld id="{C6008772-4584-4676-9129-17888E729C53}" type="slidenum">
              <a:rPr lang="en-US" altLang="zh-CN" sz="1200"/>
              <a:pPr eaLnBrk="1" hangingPunct="1"/>
              <a:t>20</a:t>
            </a:fld>
            <a:endParaRPr lang="en-US" altLang="zh-CN"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幻灯片图像占位符 1">
            <a:extLst>
              <a:ext uri="{FF2B5EF4-FFF2-40B4-BE49-F238E27FC236}">
                <a16:creationId xmlns:a16="http://schemas.microsoft.com/office/drawing/2014/main" id="{4172E2E1-2873-2689-32B7-4A3B22213C3F}"/>
              </a:ext>
            </a:extLst>
          </p:cNvPr>
          <p:cNvSpPr>
            <a:spLocks noGrp="1" noRot="1" noChangeAspect="1" noTextEdit="1"/>
          </p:cNvSpPr>
          <p:nvPr>
            <p:ph type="sldImg"/>
          </p:nvPr>
        </p:nvSpPr>
        <p:spPr>
          <a:ln/>
        </p:spPr>
      </p:sp>
      <p:sp>
        <p:nvSpPr>
          <p:cNvPr id="176131" name="备注占位符 2">
            <a:extLst>
              <a:ext uri="{FF2B5EF4-FFF2-40B4-BE49-F238E27FC236}">
                <a16:creationId xmlns:a16="http://schemas.microsoft.com/office/drawing/2014/main" id="{D48B5C52-3AD5-D8AF-6520-835CFF74799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每种信道中的错码特性不同，因此需要采用不同的差错控制技术来减少或消除其中的错码。</a:t>
            </a:r>
          </a:p>
        </p:txBody>
      </p:sp>
      <p:sp>
        <p:nvSpPr>
          <p:cNvPr id="176132" name="灯片编号占位符 3">
            <a:extLst>
              <a:ext uri="{FF2B5EF4-FFF2-40B4-BE49-F238E27FC236}">
                <a16:creationId xmlns:a16="http://schemas.microsoft.com/office/drawing/2014/main" id="{3EBDD720-129C-74A1-C169-EC58E5499D7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fld id="{5910CF88-E255-4960-BC70-D14D3ED743CA}" type="slidenum">
              <a:rPr lang="en-US" altLang="zh-CN" sz="1200"/>
              <a:pPr eaLnBrk="1" hangingPunct="1"/>
              <a:t>23</a:t>
            </a:fld>
            <a:endParaRPr lang="en-US" altLang="zh-CN"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幻灯片图像占位符 1">
            <a:extLst>
              <a:ext uri="{FF2B5EF4-FFF2-40B4-BE49-F238E27FC236}">
                <a16:creationId xmlns:a16="http://schemas.microsoft.com/office/drawing/2014/main" id="{ABBE4F33-485F-027F-7E10-B3B75D915281}"/>
              </a:ext>
            </a:extLst>
          </p:cNvPr>
          <p:cNvSpPr>
            <a:spLocks noGrp="1" noRot="1" noChangeAspect="1" noTextEdit="1"/>
          </p:cNvSpPr>
          <p:nvPr>
            <p:ph type="sldImg"/>
          </p:nvPr>
        </p:nvSpPr>
        <p:spPr>
          <a:ln/>
        </p:spPr>
      </p:sp>
      <p:sp>
        <p:nvSpPr>
          <p:cNvPr id="3" name="备注占位符 2">
            <a:extLst>
              <a:ext uri="{FF2B5EF4-FFF2-40B4-BE49-F238E27FC236}">
                <a16:creationId xmlns:a16="http://schemas.microsoft.com/office/drawing/2014/main" id="{2AA06D48-2C40-B4FD-F1C7-3FFAA9B930CD}"/>
              </a:ext>
            </a:extLst>
          </p:cNvPr>
          <p:cNvSpPr>
            <a:spLocks noGrp="1"/>
          </p:cNvSpPr>
          <p:nvPr>
            <p:ph type="body" idx="1"/>
          </p:nvPr>
        </p:nvSpPr>
        <p:spPr/>
        <p:txBody>
          <a:bodyPr>
            <a:normAutofit/>
          </a:bodyPr>
          <a:lstStyle/>
          <a:p>
            <a:pPr marL="0" lvl="1">
              <a:defRPr/>
            </a:pPr>
            <a:r>
              <a:rPr lang="zh-CN" altLang="en-US" sz="2000" kern="0" dirty="0">
                <a:effectLst>
                  <a:outerShdw blurRad="38100" dist="38100" dir="2700000" algn="tl">
                    <a:srgbClr val="000000">
                      <a:alpha val="43137"/>
                    </a:srgbClr>
                  </a:outerShdw>
                </a:effectLst>
                <a:latin typeface="微软雅黑" pitchFamily="34" charset="-122"/>
                <a:ea typeface="微软雅黑" pitchFamily="34" charset="-122"/>
              </a:rPr>
              <a:t>本节将以汉明</a:t>
            </a:r>
            <a:r>
              <a:rPr lang="en-US" altLang="zh-CN" sz="2000" kern="0" dirty="0">
                <a:effectLst>
                  <a:outerShdw blurRad="38100" dist="38100" dir="2700000" algn="tl">
                    <a:srgbClr val="000000">
                      <a:alpha val="43137"/>
                    </a:srgbClr>
                  </a:outerShdw>
                </a:effectLst>
                <a:latin typeface="微软雅黑" pitchFamily="34" charset="-122"/>
                <a:ea typeface="微软雅黑" pitchFamily="34" charset="-122"/>
              </a:rPr>
              <a:t>(Hamming)</a:t>
            </a:r>
            <a:r>
              <a:rPr lang="zh-CN" altLang="en-US" sz="2000" kern="0" dirty="0">
                <a:effectLst>
                  <a:outerShdw blurRad="38100" dist="38100" dir="2700000" algn="tl">
                    <a:srgbClr val="000000">
                      <a:alpha val="43137"/>
                    </a:srgbClr>
                  </a:outerShdw>
                </a:effectLst>
                <a:latin typeface="微软雅黑" pitchFamily="34" charset="-122"/>
                <a:ea typeface="微软雅黑" pitchFamily="34" charset="-122"/>
              </a:rPr>
              <a:t>码为例引入线性分组码的一般原理。</a:t>
            </a:r>
          </a:p>
          <a:p>
            <a:pPr>
              <a:defRPr/>
            </a:pPr>
            <a:endParaRPr lang="zh-CN" altLang="en-US" dirty="0"/>
          </a:p>
        </p:txBody>
      </p:sp>
      <p:sp>
        <p:nvSpPr>
          <p:cNvPr id="177156" name="灯片编号占位符 3">
            <a:extLst>
              <a:ext uri="{FF2B5EF4-FFF2-40B4-BE49-F238E27FC236}">
                <a16:creationId xmlns:a16="http://schemas.microsoft.com/office/drawing/2014/main" id="{AA976468-92F5-D258-8E32-F3B2CC3A1D2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fld id="{3E4E3E72-6AC9-43DA-8ED2-19A0436A7C34}" type="slidenum">
              <a:rPr lang="en-US" altLang="zh-CN" sz="1200"/>
              <a:pPr eaLnBrk="1" hangingPunct="1"/>
              <a:t>43</a:t>
            </a:fld>
            <a:endParaRPr lang="en-US" altLang="zh-CN"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幻灯片图像占位符 1">
            <a:extLst>
              <a:ext uri="{FF2B5EF4-FFF2-40B4-BE49-F238E27FC236}">
                <a16:creationId xmlns:a16="http://schemas.microsoft.com/office/drawing/2014/main" id="{A2D64E6B-F667-5438-D7FD-3F2AC45CBA23}"/>
              </a:ext>
            </a:extLst>
          </p:cNvPr>
          <p:cNvSpPr>
            <a:spLocks noGrp="1" noRot="1" noChangeAspect="1" noTextEdit="1"/>
          </p:cNvSpPr>
          <p:nvPr>
            <p:ph type="sldImg"/>
          </p:nvPr>
        </p:nvSpPr>
        <p:spPr>
          <a:ln/>
        </p:spPr>
      </p:sp>
      <p:sp>
        <p:nvSpPr>
          <p:cNvPr id="3" name="备注占位符 2">
            <a:extLst>
              <a:ext uri="{FF2B5EF4-FFF2-40B4-BE49-F238E27FC236}">
                <a16:creationId xmlns:a16="http://schemas.microsoft.com/office/drawing/2014/main" id="{97E0EC20-662D-2D78-1BDC-9F33479D9BEB}"/>
              </a:ext>
            </a:extLst>
          </p:cNvPr>
          <p:cNvSpPr>
            <a:spLocks noGrp="1"/>
          </p:cNvSpPr>
          <p:nvPr>
            <p:ph type="body" idx="1"/>
          </p:nvPr>
        </p:nvSpPr>
        <p:spPr/>
        <p:txBody>
          <a:bodyPr>
            <a:normAutofit/>
          </a:bodyPr>
          <a:lstStyle/>
          <a:p>
            <a:pPr>
              <a:defRPr/>
            </a:pPr>
            <a:r>
              <a:rPr lang="zh-CN" altLang="en-US" kern="0" dirty="0">
                <a:solidFill>
                  <a:srgbClr val="000000"/>
                </a:solidFill>
                <a:latin typeface="Arial" pitchFamily="34" charset="0"/>
                <a:ea typeface="微软雅黑" pitchFamily="34" charset="-122"/>
                <a:cs typeface="Arial" pitchFamily="34" charset="0"/>
              </a:rPr>
              <a:t>在发送端编码时，信息位</a:t>
            </a:r>
            <a:r>
              <a:rPr lang="en-US" altLang="zh-CN" i="1" kern="0" dirty="0">
                <a:solidFill>
                  <a:srgbClr val="000000"/>
                </a:solidFill>
                <a:latin typeface="Arial" pitchFamily="34" charset="0"/>
                <a:ea typeface="微软雅黑" pitchFamily="34" charset="-122"/>
                <a:cs typeface="Arial" pitchFamily="34" charset="0"/>
              </a:rPr>
              <a:t>a</a:t>
            </a:r>
            <a:r>
              <a:rPr lang="en-US" altLang="zh-CN" kern="0" baseline="-25000" dirty="0">
                <a:solidFill>
                  <a:srgbClr val="000000"/>
                </a:solidFill>
                <a:latin typeface="Arial" pitchFamily="34" charset="0"/>
                <a:ea typeface="微软雅黑" pitchFamily="34" charset="-122"/>
                <a:cs typeface="Arial" pitchFamily="34" charset="0"/>
              </a:rPr>
              <a:t>6</a:t>
            </a:r>
            <a:r>
              <a:rPr lang="zh-CN" altLang="en-US" kern="0" dirty="0">
                <a:solidFill>
                  <a:srgbClr val="000000"/>
                </a:solidFill>
                <a:latin typeface="Arial" pitchFamily="34" charset="0"/>
                <a:ea typeface="微软雅黑" pitchFamily="34" charset="-122"/>
                <a:cs typeface="Arial" pitchFamily="34" charset="0"/>
              </a:rPr>
              <a:t>、</a:t>
            </a:r>
            <a:r>
              <a:rPr lang="en-US" altLang="zh-CN" i="1" kern="0" dirty="0">
                <a:solidFill>
                  <a:srgbClr val="000000"/>
                </a:solidFill>
                <a:latin typeface="Arial" pitchFamily="34" charset="0"/>
                <a:ea typeface="微软雅黑" pitchFamily="34" charset="-122"/>
                <a:cs typeface="Arial" pitchFamily="34" charset="0"/>
              </a:rPr>
              <a:t>a</a:t>
            </a:r>
            <a:r>
              <a:rPr lang="en-US" altLang="zh-CN" kern="0" baseline="-25000" dirty="0">
                <a:solidFill>
                  <a:srgbClr val="000000"/>
                </a:solidFill>
                <a:latin typeface="Arial" pitchFamily="34" charset="0"/>
                <a:ea typeface="微软雅黑" pitchFamily="34" charset="-122"/>
                <a:cs typeface="Arial" pitchFamily="34" charset="0"/>
              </a:rPr>
              <a:t>5</a:t>
            </a:r>
            <a:r>
              <a:rPr lang="zh-CN" altLang="en-US" kern="0" dirty="0">
                <a:solidFill>
                  <a:srgbClr val="000000"/>
                </a:solidFill>
                <a:latin typeface="Arial" pitchFamily="34" charset="0"/>
                <a:ea typeface="微软雅黑" pitchFamily="34" charset="-122"/>
                <a:cs typeface="Arial" pitchFamily="34" charset="0"/>
              </a:rPr>
              <a:t>、</a:t>
            </a:r>
            <a:r>
              <a:rPr lang="en-US" altLang="zh-CN" i="1" kern="0" dirty="0">
                <a:solidFill>
                  <a:srgbClr val="000000"/>
                </a:solidFill>
                <a:latin typeface="Arial" pitchFamily="34" charset="0"/>
                <a:ea typeface="微软雅黑" pitchFamily="34" charset="-122"/>
                <a:cs typeface="Arial" pitchFamily="34" charset="0"/>
              </a:rPr>
              <a:t>a</a:t>
            </a:r>
            <a:r>
              <a:rPr lang="en-US" altLang="zh-CN" kern="0" baseline="-25000" dirty="0">
                <a:solidFill>
                  <a:srgbClr val="000000"/>
                </a:solidFill>
                <a:latin typeface="Arial" pitchFamily="34" charset="0"/>
                <a:ea typeface="微软雅黑" pitchFamily="34" charset="-122"/>
                <a:cs typeface="Arial" pitchFamily="34" charset="0"/>
              </a:rPr>
              <a:t>4</a:t>
            </a:r>
            <a:r>
              <a:rPr lang="zh-CN" altLang="en-US" kern="0" dirty="0">
                <a:solidFill>
                  <a:srgbClr val="000000"/>
                </a:solidFill>
                <a:latin typeface="Arial" pitchFamily="34" charset="0"/>
                <a:ea typeface="微软雅黑" pitchFamily="34" charset="-122"/>
                <a:cs typeface="Arial" pitchFamily="34" charset="0"/>
              </a:rPr>
              <a:t>和</a:t>
            </a:r>
            <a:r>
              <a:rPr lang="en-US" altLang="zh-CN" i="1" kern="0" dirty="0">
                <a:solidFill>
                  <a:srgbClr val="000000"/>
                </a:solidFill>
                <a:latin typeface="Arial" pitchFamily="34" charset="0"/>
                <a:ea typeface="微软雅黑" pitchFamily="34" charset="-122"/>
                <a:cs typeface="Arial" pitchFamily="34" charset="0"/>
              </a:rPr>
              <a:t>a</a:t>
            </a:r>
            <a:r>
              <a:rPr lang="en-US" altLang="zh-CN" kern="0" baseline="-25000" dirty="0">
                <a:solidFill>
                  <a:srgbClr val="000000"/>
                </a:solidFill>
                <a:latin typeface="Arial" pitchFamily="34" charset="0"/>
                <a:ea typeface="微软雅黑" pitchFamily="34" charset="-122"/>
                <a:cs typeface="Arial" pitchFamily="34" charset="0"/>
              </a:rPr>
              <a:t>3</a:t>
            </a:r>
            <a:r>
              <a:rPr lang="zh-CN" altLang="en-US" kern="0" dirty="0">
                <a:solidFill>
                  <a:srgbClr val="000000"/>
                </a:solidFill>
                <a:latin typeface="Arial" pitchFamily="34" charset="0"/>
                <a:ea typeface="微软雅黑" pitchFamily="34" charset="-122"/>
                <a:cs typeface="Arial" pitchFamily="34" charset="0"/>
              </a:rPr>
              <a:t>的值决定于输入信号，因此它们是随机的。</a:t>
            </a:r>
            <a:endParaRPr lang="en-US" altLang="zh-CN" kern="0" dirty="0">
              <a:solidFill>
                <a:srgbClr val="000000"/>
              </a:solidFill>
              <a:latin typeface="Arial" pitchFamily="34" charset="0"/>
              <a:ea typeface="微软雅黑" pitchFamily="34" charset="-122"/>
              <a:cs typeface="Arial" pitchFamily="34" charset="0"/>
            </a:endParaRPr>
          </a:p>
          <a:p>
            <a:pPr>
              <a:lnSpc>
                <a:spcPts val="3500"/>
              </a:lnSpc>
              <a:defRPr/>
            </a:pPr>
            <a:r>
              <a:rPr lang="zh-CN" altLang="en-US"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监督位</a:t>
            </a:r>
            <a:r>
              <a:rPr lang="en-US" altLang="zh-CN" i="1" kern="0" dirty="0">
                <a:solidFill>
                  <a:srgbClr val="0000CC"/>
                </a:solidFill>
                <a:latin typeface="Arial" pitchFamily="34" charset="0"/>
                <a:ea typeface="微软雅黑" pitchFamily="34" charset="-122"/>
                <a:cs typeface="Arial" pitchFamily="34" charset="0"/>
              </a:rPr>
              <a:t>a</a:t>
            </a:r>
            <a:r>
              <a:rPr lang="en-US" altLang="zh-CN" kern="0" baseline="-25000" dirty="0">
                <a:solidFill>
                  <a:srgbClr val="0000CC"/>
                </a:solidFill>
                <a:latin typeface="Arial" pitchFamily="34" charset="0"/>
                <a:ea typeface="微软雅黑" pitchFamily="34" charset="-122"/>
                <a:cs typeface="Arial" pitchFamily="34" charset="0"/>
              </a:rPr>
              <a:t>2</a:t>
            </a:r>
            <a:r>
              <a:rPr lang="zh-CN" altLang="en-US" kern="0" dirty="0">
                <a:solidFill>
                  <a:srgbClr val="0000CC"/>
                </a:solidFill>
                <a:latin typeface="Arial" pitchFamily="34" charset="0"/>
                <a:ea typeface="微软雅黑" pitchFamily="34" charset="-122"/>
                <a:cs typeface="Arial" pitchFamily="34" charset="0"/>
              </a:rPr>
              <a:t>、</a:t>
            </a:r>
            <a:r>
              <a:rPr lang="en-US" altLang="zh-CN" i="1" kern="0" dirty="0">
                <a:solidFill>
                  <a:srgbClr val="0000CC"/>
                </a:solidFill>
                <a:latin typeface="Arial" pitchFamily="34" charset="0"/>
                <a:ea typeface="微软雅黑" pitchFamily="34" charset="-122"/>
                <a:cs typeface="Arial" pitchFamily="34" charset="0"/>
              </a:rPr>
              <a:t>a</a:t>
            </a:r>
            <a:r>
              <a:rPr lang="en-US" altLang="zh-CN" kern="0" baseline="-25000" dirty="0">
                <a:solidFill>
                  <a:srgbClr val="0000CC"/>
                </a:solidFill>
                <a:latin typeface="Arial" pitchFamily="34" charset="0"/>
                <a:ea typeface="微软雅黑" pitchFamily="34" charset="-122"/>
                <a:cs typeface="Arial" pitchFamily="34" charset="0"/>
              </a:rPr>
              <a:t>1</a:t>
            </a:r>
            <a:r>
              <a:rPr lang="zh-CN" altLang="en-US" kern="0" dirty="0">
                <a:solidFill>
                  <a:srgbClr val="0000CC"/>
                </a:solidFill>
                <a:latin typeface="Arial" pitchFamily="34" charset="0"/>
                <a:ea typeface="微软雅黑" pitchFamily="34" charset="-122"/>
                <a:cs typeface="Arial" pitchFamily="34" charset="0"/>
              </a:rPr>
              <a:t> 、 </a:t>
            </a:r>
            <a:r>
              <a:rPr lang="en-US" altLang="zh-CN" i="1" kern="0" dirty="0">
                <a:solidFill>
                  <a:srgbClr val="0000CC"/>
                </a:solidFill>
                <a:latin typeface="Arial" pitchFamily="34" charset="0"/>
                <a:ea typeface="微软雅黑" pitchFamily="34" charset="-122"/>
                <a:cs typeface="Arial" pitchFamily="34" charset="0"/>
              </a:rPr>
              <a:t>a</a:t>
            </a:r>
            <a:r>
              <a:rPr lang="en-US" altLang="zh-CN" kern="0" baseline="-25000" dirty="0">
                <a:solidFill>
                  <a:srgbClr val="0000CC"/>
                </a:solidFill>
                <a:latin typeface="Arial" pitchFamily="34" charset="0"/>
                <a:ea typeface="微软雅黑" pitchFamily="34" charset="-122"/>
                <a:cs typeface="Arial" pitchFamily="34" charset="0"/>
              </a:rPr>
              <a:t>0 </a:t>
            </a:r>
            <a:r>
              <a:rPr lang="zh-CN" altLang="en-US" kern="0" dirty="0">
                <a:solidFill>
                  <a:srgbClr val="000000"/>
                </a:solidFill>
                <a:latin typeface="Arial" pitchFamily="34" charset="0"/>
                <a:ea typeface="微软雅黑" pitchFamily="34" charset="-122"/>
                <a:cs typeface="Arial" pitchFamily="34" charset="0"/>
              </a:rPr>
              <a:t>的取值应根据信息位</a:t>
            </a:r>
            <a:endParaRPr lang="en-US" altLang="zh-CN" kern="0" dirty="0">
              <a:solidFill>
                <a:srgbClr val="000000"/>
              </a:solidFill>
              <a:latin typeface="Arial" pitchFamily="34" charset="0"/>
              <a:ea typeface="微软雅黑" pitchFamily="34" charset="-122"/>
              <a:cs typeface="Arial" pitchFamily="34" charset="0"/>
            </a:endParaRPr>
          </a:p>
          <a:p>
            <a:pPr>
              <a:lnSpc>
                <a:spcPts val="3500"/>
              </a:lnSpc>
              <a:defRPr/>
            </a:pPr>
            <a:r>
              <a:rPr lang="en-US" altLang="zh-CN" i="1" kern="0" dirty="0">
                <a:solidFill>
                  <a:srgbClr val="000000"/>
                </a:solidFill>
                <a:latin typeface="Arial" pitchFamily="34" charset="0"/>
                <a:ea typeface="微软雅黑" pitchFamily="34" charset="-122"/>
                <a:cs typeface="Arial" pitchFamily="34" charset="0"/>
              </a:rPr>
              <a:t>a</a:t>
            </a:r>
            <a:r>
              <a:rPr lang="en-US" altLang="zh-CN" kern="0" baseline="-25000" dirty="0">
                <a:solidFill>
                  <a:srgbClr val="000000"/>
                </a:solidFill>
                <a:latin typeface="Arial" pitchFamily="34" charset="0"/>
                <a:ea typeface="微软雅黑" pitchFamily="34" charset="-122"/>
                <a:cs typeface="Arial" pitchFamily="34" charset="0"/>
              </a:rPr>
              <a:t>6</a:t>
            </a:r>
            <a:r>
              <a:rPr lang="zh-CN" altLang="en-US" kern="0" dirty="0">
                <a:solidFill>
                  <a:srgbClr val="000000"/>
                </a:solidFill>
                <a:latin typeface="Arial" pitchFamily="34" charset="0"/>
                <a:ea typeface="微软雅黑" pitchFamily="34" charset="-122"/>
                <a:cs typeface="Arial" pitchFamily="34" charset="0"/>
              </a:rPr>
              <a:t>、</a:t>
            </a:r>
            <a:r>
              <a:rPr lang="en-US" altLang="zh-CN" i="1" kern="0" dirty="0">
                <a:solidFill>
                  <a:srgbClr val="000000"/>
                </a:solidFill>
                <a:latin typeface="Arial" pitchFamily="34" charset="0"/>
                <a:ea typeface="微软雅黑" pitchFamily="34" charset="-122"/>
                <a:cs typeface="Arial" pitchFamily="34" charset="0"/>
              </a:rPr>
              <a:t>a</a:t>
            </a:r>
            <a:r>
              <a:rPr lang="en-US" altLang="zh-CN" kern="0" baseline="-25000" dirty="0">
                <a:solidFill>
                  <a:srgbClr val="000000"/>
                </a:solidFill>
                <a:latin typeface="Arial" pitchFamily="34" charset="0"/>
                <a:ea typeface="微软雅黑" pitchFamily="34" charset="-122"/>
                <a:cs typeface="Arial" pitchFamily="34" charset="0"/>
              </a:rPr>
              <a:t>5</a:t>
            </a:r>
            <a:r>
              <a:rPr lang="zh-CN" altLang="en-US" kern="0" dirty="0">
                <a:solidFill>
                  <a:srgbClr val="000000"/>
                </a:solidFill>
                <a:latin typeface="Arial" pitchFamily="34" charset="0"/>
                <a:ea typeface="微软雅黑" pitchFamily="34" charset="-122"/>
                <a:cs typeface="Arial" pitchFamily="34" charset="0"/>
              </a:rPr>
              <a:t>、</a:t>
            </a:r>
            <a:r>
              <a:rPr lang="en-US" altLang="zh-CN" i="1" kern="0" dirty="0">
                <a:solidFill>
                  <a:srgbClr val="000000"/>
                </a:solidFill>
                <a:latin typeface="Arial" pitchFamily="34" charset="0"/>
                <a:ea typeface="微软雅黑" pitchFamily="34" charset="-122"/>
                <a:cs typeface="Arial" pitchFamily="34" charset="0"/>
              </a:rPr>
              <a:t>a</a:t>
            </a:r>
            <a:r>
              <a:rPr lang="en-US" altLang="zh-CN" kern="0" baseline="-25000" dirty="0">
                <a:solidFill>
                  <a:srgbClr val="000000"/>
                </a:solidFill>
                <a:latin typeface="Arial" pitchFamily="34" charset="0"/>
                <a:ea typeface="微软雅黑" pitchFamily="34" charset="-122"/>
                <a:cs typeface="Arial" pitchFamily="34" charset="0"/>
              </a:rPr>
              <a:t>4</a:t>
            </a:r>
            <a:r>
              <a:rPr lang="zh-CN" altLang="en-US" kern="0" dirty="0">
                <a:solidFill>
                  <a:srgbClr val="000000"/>
                </a:solidFill>
                <a:latin typeface="Arial" pitchFamily="34" charset="0"/>
                <a:ea typeface="微软雅黑" pitchFamily="34" charset="-122"/>
                <a:cs typeface="Arial" pitchFamily="34" charset="0"/>
              </a:rPr>
              <a:t>、</a:t>
            </a:r>
            <a:r>
              <a:rPr lang="en-US" altLang="zh-CN" i="1" kern="0" dirty="0">
                <a:solidFill>
                  <a:srgbClr val="000000"/>
                </a:solidFill>
                <a:latin typeface="Arial" pitchFamily="34" charset="0"/>
                <a:ea typeface="微软雅黑" pitchFamily="34" charset="-122"/>
                <a:cs typeface="Arial" pitchFamily="34" charset="0"/>
              </a:rPr>
              <a:t>a</a:t>
            </a:r>
            <a:r>
              <a:rPr lang="en-US" altLang="zh-CN" kern="0" baseline="-25000" dirty="0">
                <a:solidFill>
                  <a:srgbClr val="000000"/>
                </a:solidFill>
                <a:latin typeface="Arial" pitchFamily="34" charset="0"/>
                <a:ea typeface="微软雅黑" pitchFamily="34" charset="-122"/>
                <a:cs typeface="Arial" pitchFamily="34" charset="0"/>
              </a:rPr>
              <a:t>3</a:t>
            </a:r>
            <a:r>
              <a:rPr lang="zh-CN" altLang="en-US" kern="0" dirty="0">
                <a:solidFill>
                  <a:srgbClr val="000000"/>
                </a:solidFill>
                <a:latin typeface="Arial" pitchFamily="34" charset="0"/>
                <a:ea typeface="微软雅黑" pitchFamily="34" charset="-122"/>
                <a:cs typeface="Arial" pitchFamily="34" charset="0"/>
              </a:rPr>
              <a:t>的取值按上述监督关系来确定</a:t>
            </a:r>
            <a:endParaRPr lang="zh-CN" altLang="en-US" dirty="0"/>
          </a:p>
          <a:p>
            <a:pPr>
              <a:defRPr/>
            </a:pPr>
            <a:endParaRPr lang="zh-CN" altLang="en-US" dirty="0"/>
          </a:p>
          <a:p>
            <a:pPr>
              <a:defRPr/>
            </a:pPr>
            <a:endParaRPr lang="zh-CN" altLang="en-US" dirty="0"/>
          </a:p>
        </p:txBody>
      </p:sp>
      <p:sp>
        <p:nvSpPr>
          <p:cNvPr id="178180" name="灯片编号占位符 3">
            <a:extLst>
              <a:ext uri="{FF2B5EF4-FFF2-40B4-BE49-F238E27FC236}">
                <a16:creationId xmlns:a16="http://schemas.microsoft.com/office/drawing/2014/main" id="{6480986B-E8F3-56B8-5ACA-CD1E73C0C7C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fld id="{40472418-215B-4C76-8DDC-633F06F21B30}" type="slidenum">
              <a:rPr lang="en-US" altLang="zh-CN" sz="1200"/>
              <a:pPr eaLnBrk="1" hangingPunct="1"/>
              <a:t>46</a:t>
            </a:fld>
            <a:endParaRPr lang="en-US" altLang="zh-CN"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幻灯片图像占位符 1">
            <a:extLst>
              <a:ext uri="{FF2B5EF4-FFF2-40B4-BE49-F238E27FC236}">
                <a16:creationId xmlns:a16="http://schemas.microsoft.com/office/drawing/2014/main" id="{444D283B-E004-46E0-8F31-983B4BEC5011}"/>
              </a:ext>
            </a:extLst>
          </p:cNvPr>
          <p:cNvSpPr>
            <a:spLocks noGrp="1" noRot="1" noChangeAspect="1" noTextEdit="1"/>
          </p:cNvSpPr>
          <p:nvPr>
            <p:ph type="sldImg"/>
          </p:nvPr>
        </p:nvSpPr>
        <p:spPr>
          <a:ln/>
        </p:spPr>
      </p:sp>
      <p:sp>
        <p:nvSpPr>
          <p:cNvPr id="179203" name="备注占位符 2">
            <a:extLst>
              <a:ext uri="{FF2B5EF4-FFF2-40B4-BE49-F238E27FC236}">
                <a16:creationId xmlns:a16="http://schemas.microsoft.com/office/drawing/2014/main" id="{86756423-81B2-95D4-ECBD-F955FA3EEF9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solidFill>
                  <a:srgbClr val="990099"/>
                </a:solidFill>
                <a:latin typeface="Arial" panose="020B0604020202020204" pitchFamily="34" charset="0"/>
                <a:cs typeface="Arial" panose="020B0604020202020204" pitchFamily="34" charset="0"/>
              </a:rPr>
              <a:t>线性分组码就是以一定的规则从</a:t>
            </a:r>
            <a:r>
              <a:rPr lang="en-US" altLang="zh-CN" sz="1800">
                <a:solidFill>
                  <a:srgbClr val="990099"/>
                </a:solidFill>
                <a:latin typeface="Arial" panose="020B0604020202020204" pitchFamily="34" charset="0"/>
                <a:cs typeface="Arial" panose="020B0604020202020204" pitchFamily="34" charset="0"/>
              </a:rPr>
              <a:t>2</a:t>
            </a:r>
            <a:r>
              <a:rPr lang="en-US" altLang="zh-CN" sz="1800" baseline="30000">
                <a:solidFill>
                  <a:srgbClr val="990099"/>
                </a:solidFill>
                <a:latin typeface="Arial" panose="020B0604020202020204" pitchFamily="34" charset="0"/>
                <a:cs typeface="Arial" panose="020B0604020202020204" pitchFamily="34" charset="0"/>
              </a:rPr>
              <a:t>n</a:t>
            </a:r>
            <a:r>
              <a:rPr lang="zh-CN" altLang="en-US">
                <a:solidFill>
                  <a:srgbClr val="990099"/>
                </a:solidFill>
                <a:latin typeface="Arial" panose="020B0604020202020204" pitchFamily="34" charset="0"/>
                <a:cs typeface="Arial" panose="020B0604020202020204" pitchFamily="34" charset="0"/>
              </a:rPr>
              <a:t>个码组中选出其中</a:t>
            </a:r>
            <a:r>
              <a:rPr lang="en-US" altLang="zh-CN">
                <a:solidFill>
                  <a:srgbClr val="990099"/>
                </a:solidFill>
                <a:latin typeface="Arial" panose="020B0604020202020204" pitchFamily="34" charset="0"/>
                <a:cs typeface="Arial" panose="020B0604020202020204" pitchFamily="34" charset="0"/>
              </a:rPr>
              <a:t>2</a:t>
            </a:r>
            <a:r>
              <a:rPr lang="en-US" altLang="zh-CN" baseline="30000">
                <a:solidFill>
                  <a:srgbClr val="990099"/>
                </a:solidFill>
                <a:latin typeface="Arial" panose="020B0604020202020204" pitchFamily="34" charset="0"/>
                <a:cs typeface="Arial" panose="020B0604020202020204" pitchFamily="34" charset="0"/>
              </a:rPr>
              <a:t>k</a:t>
            </a:r>
            <a:r>
              <a:rPr lang="zh-CN" altLang="en-US">
                <a:solidFill>
                  <a:srgbClr val="990099"/>
                </a:solidFill>
                <a:latin typeface="Arial" panose="020B0604020202020204" pitchFamily="34" charset="0"/>
                <a:cs typeface="Arial" panose="020B0604020202020204" pitchFamily="34" charset="0"/>
              </a:rPr>
              <a:t>个码组，用其构成一个（</a:t>
            </a:r>
            <a:r>
              <a:rPr lang="en-US" altLang="zh-CN">
                <a:solidFill>
                  <a:srgbClr val="990099"/>
                </a:solidFill>
                <a:latin typeface="Arial" panose="020B0604020202020204" pitchFamily="34" charset="0"/>
                <a:cs typeface="Arial" panose="020B0604020202020204" pitchFamily="34" charset="0"/>
              </a:rPr>
              <a:t>n,k)</a:t>
            </a:r>
            <a:r>
              <a:rPr lang="zh-CN" altLang="en-US">
                <a:solidFill>
                  <a:srgbClr val="990099"/>
                </a:solidFill>
                <a:latin typeface="Arial" panose="020B0604020202020204" pitchFamily="34" charset="0"/>
                <a:cs typeface="Arial" panose="020B0604020202020204" pitchFamily="34" charset="0"/>
              </a:rPr>
              <a:t>分组码，其余（</a:t>
            </a:r>
            <a:r>
              <a:rPr lang="en-US" altLang="zh-CN">
                <a:solidFill>
                  <a:srgbClr val="990099"/>
                </a:solidFill>
                <a:latin typeface="Arial" panose="020B0604020202020204" pitchFamily="34" charset="0"/>
                <a:cs typeface="Arial" panose="020B0604020202020204" pitchFamily="34" charset="0"/>
              </a:rPr>
              <a:t>2</a:t>
            </a:r>
            <a:r>
              <a:rPr lang="en-US" altLang="zh-CN" baseline="30000">
                <a:solidFill>
                  <a:srgbClr val="990099"/>
                </a:solidFill>
                <a:latin typeface="Arial" panose="020B0604020202020204" pitchFamily="34" charset="0"/>
                <a:cs typeface="Arial" panose="020B0604020202020204" pitchFamily="34" charset="0"/>
              </a:rPr>
              <a:t>n </a:t>
            </a:r>
            <a:r>
              <a:rPr lang="en-US" altLang="zh-CN">
                <a:solidFill>
                  <a:srgbClr val="990099"/>
                </a:solidFill>
                <a:latin typeface="Arial" panose="020B0604020202020204" pitchFamily="34" charset="0"/>
                <a:cs typeface="Arial" panose="020B0604020202020204" pitchFamily="34" charset="0"/>
              </a:rPr>
              <a:t>-2</a:t>
            </a:r>
            <a:r>
              <a:rPr lang="en-US" altLang="zh-CN" baseline="30000">
                <a:solidFill>
                  <a:srgbClr val="990099"/>
                </a:solidFill>
                <a:latin typeface="Arial" panose="020B0604020202020204" pitchFamily="34" charset="0"/>
                <a:cs typeface="Arial" panose="020B0604020202020204" pitchFamily="34" charset="0"/>
              </a:rPr>
              <a:t>k</a:t>
            </a:r>
            <a:r>
              <a:rPr lang="zh-CN" altLang="en-US">
                <a:solidFill>
                  <a:srgbClr val="990099"/>
                </a:solidFill>
                <a:latin typeface="Arial" panose="020B0604020202020204" pitchFamily="34" charset="0"/>
                <a:cs typeface="Arial" panose="020B0604020202020204" pitchFamily="34" charset="0"/>
              </a:rPr>
              <a:t>）个是禁用码组。</a:t>
            </a:r>
            <a:endParaRPr lang="zh-CN" altLang="en-US">
              <a:solidFill>
                <a:srgbClr val="990099"/>
              </a:solidFill>
            </a:endParaRPr>
          </a:p>
          <a:p>
            <a:r>
              <a:rPr lang="en-US" altLang="zh-CN">
                <a:solidFill>
                  <a:srgbClr val="990099"/>
                </a:solidFill>
                <a:latin typeface="Arial" panose="020B0604020202020204" pitchFamily="34" charset="0"/>
                <a:cs typeface="Arial" panose="020B0604020202020204" pitchFamily="34" charset="0"/>
              </a:rPr>
              <a:t>2</a:t>
            </a:r>
            <a:r>
              <a:rPr lang="en-US" altLang="zh-CN" baseline="30000">
                <a:solidFill>
                  <a:srgbClr val="990099"/>
                </a:solidFill>
                <a:latin typeface="Arial" panose="020B0604020202020204" pitchFamily="34" charset="0"/>
                <a:cs typeface="Arial" panose="020B0604020202020204" pitchFamily="34" charset="0"/>
              </a:rPr>
              <a:t>k</a:t>
            </a:r>
            <a:endParaRPr lang="zh-CN" altLang="en-US"/>
          </a:p>
        </p:txBody>
      </p:sp>
      <p:sp>
        <p:nvSpPr>
          <p:cNvPr id="179204" name="灯片编号占位符 3">
            <a:extLst>
              <a:ext uri="{FF2B5EF4-FFF2-40B4-BE49-F238E27FC236}">
                <a16:creationId xmlns:a16="http://schemas.microsoft.com/office/drawing/2014/main" id="{517CF474-53FB-FB02-4F63-1096984F4F3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fld id="{B90F5A42-1944-4E7C-BC3D-E05C80BA2EC1}" type="slidenum">
              <a:rPr lang="en-US" altLang="zh-CN" sz="1200"/>
              <a:pPr eaLnBrk="1" hangingPunct="1"/>
              <a:t>47</a:t>
            </a:fld>
            <a:endParaRPr lang="en-US" altLang="zh-CN"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幻灯片图像占位符 1">
            <a:extLst>
              <a:ext uri="{FF2B5EF4-FFF2-40B4-BE49-F238E27FC236}">
                <a16:creationId xmlns:a16="http://schemas.microsoft.com/office/drawing/2014/main" id="{9E32D68E-5F10-7EDB-AB28-8D34654D85CC}"/>
              </a:ext>
            </a:extLst>
          </p:cNvPr>
          <p:cNvSpPr>
            <a:spLocks noGrp="1" noRot="1" noChangeAspect="1" noTextEdit="1"/>
          </p:cNvSpPr>
          <p:nvPr>
            <p:ph type="sldImg"/>
          </p:nvPr>
        </p:nvSpPr>
        <p:spPr>
          <a:ln/>
        </p:spPr>
      </p:sp>
      <p:sp>
        <p:nvSpPr>
          <p:cNvPr id="180227" name="备注占位符 2">
            <a:extLst>
              <a:ext uri="{FF2B5EF4-FFF2-40B4-BE49-F238E27FC236}">
                <a16:creationId xmlns:a16="http://schemas.microsoft.com/office/drawing/2014/main" id="{A8DE0304-9A23-D1C0-7240-5F07C4DD6D7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0228" name="灯片编号占位符 3">
            <a:extLst>
              <a:ext uri="{FF2B5EF4-FFF2-40B4-BE49-F238E27FC236}">
                <a16:creationId xmlns:a16="http://schemas.microsoft.com/office/drawing/2014/main" id="{6CE86F70-9797-FF25-14EE-2090BB8D976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fld id="{7D0EC67D-12FD-4227-BE77-51829191EFEA}" type="slidenum">
              <a:rPr lang="en-US" altLang="zh-CN" sz="1200"/>
              <a:pPr eaLnBrk="1" hangingPunct="1"/>
              <a:t>52</a:t>
            </a:fld>
            <a:endParaRPr lang="en-US" altLang="zh-CN"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幻灯片图像占位符 1">
            <a:extLst>
              <a:ext uri="{FF2B5EF4-FFF2-40B4-BE49-F238E27FC236}">
                <a16:creationId xmlns:a16="http://schemas.microsoft.com/office/drawing/2014/main" id="{BCEE3273-FA2E-6005-B408-F347AACC5F70}"/>
              </a:ext>
            </a:extLst>
          </p:cNvPr>
          <p:cNvSpPr>
            <a:spLocks noGrp="1" noRot="1" noChangeAspect="1" noTextEdit="1"/>
          </p:cNvSpPr>
          <p:nvPr>
            <p:ph type="sldImg"/>
          </p:nvPr>
        </p:nvSpPr>
        <p:spPr>
          <a:ln/>
        </p:spPr>
      </p:sp>
      <p:sp>
        <p:nvSpPr>
          <p:cNvPr id="3" name="备注占位符 2">
            <a:extLst>
              <a:ext uri="{FF2B5EF4-FFF2-40B4-BE49-F238E27FC236}">
                <a16:creationId xmlns:a16="http://schemas.microsoft.com/office/drawing/2014/main" id="{8CC9ADD4-5AAA-2490-1541-DB55B2B818BB}"/>
              </a:ext>
            </a:extLst>
          </p:cNvPr>
          <p:cNvSpPr>
            <a:spLocks noGrp="1"/>
          </p:cNvSpPr>
          <p:nvPr>
            <p:ph type="body" idx="1"/>
          </p:nvPr>
        </p:nvSpPr>
        <p:spPr/>
        <p:txBody>
          <a:bodyPr>
            <a:normAutofit/>
          </a:bodyPr>
          <a:lstStyle/>
          <a:p>
            <a:pPr>
              <a:defRPr/>
            </a:pPr>
            <a:r>
              <a:rPr lang="zh-CN" altLang="en-US" kern="0" dirty="0">
                <a:solidFill>
                  <a:srgbClr val="000000"/>
                </a:solidFill>
                <a:latin typeface="Arial" pitchFamily="34" charset="0"/>
                <a:ea typeface="微软雅黑" pitchFamily="34" charset="-122"/>
                <a:cs typeface="Arial" pitchFamily="34" charset="0"/>
              </a:rPr>
              <a:t>只要监督矩阵</a:t>
            </a:r>
            <a:r>
              <a:rPr lang="en-US" altLang="zh-CN" i="1" kern="0" dirty="0">
                <a:solidFill>
                  <a:srgbClr val="000000"/>
                </a:solidFill>
                <a:latin typeface="Arial" pitchFamily="34" charset="0"/>
                <a:ea typeface="微软雅黑" pitchFamily="34" charset="-122"/>
                <a:cs typeface="Arial" pitchFamily="34" charset="0"/>
              </a:rPr>
              <a:t>H</a:t>
            </a:r>
            <a:r>
              <a:rPr lang="zh-CN" altLang="en-US" kern="0" dirty="0">
                <a:solidFill>
                  <a:srgbClr val="000000"/>
                </a:solidFill>
                <a:latin typeface="Arial" pitchFamily="34" charset="0"/>
                <a:ea typeface="微软雅黑" pitchFamily="34" charset="-122"/>
                <a:cs typeface="Arial" pitchFamily="34" charset="0"/>
              </a:rPr>
              <a:t>给定，编码时监督位和信息位的关系就完全确定了。 </a:t>
            </a:r>
            <a:endParaRPr lang="zh-CN" altLang="en-US" dirty="0"/>
          </a:p>
        </p:txBody>
      </p:sp>
      <p:sp>
        <p:nvSpPr>
          <p:cNvPr id="181252" name="灯片编号占位符 3">
            <a:extLst>
              <a:ext uri="{FF2B5EF4-FFF2-40B4-BE49-F238E27FC236}">
                <a16:creationId xmlns:a16="http://schemas.microsoft.com/office/drawing/2014/main" id="{600632F0-FCCD-E1E3-CE35-5726824DE00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fld id="{185CF0E3-B3F8-4FF3-A9A6-FB192615617C}" type="slidenum">
              <a:rPr lang="en-US" altLang="zh-CN" sz="1200"/>
              <a:pPr eaLnBrk="1" hangingPunct="1"/>
              <a:t>54</a:t>
            </a:fld>
            <a:endParaRPr lang="en-US" altLang="zh-CN"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幻灯片图像占位符 1">
            <a:extLst>
              <a:ext uri="{FF2B5EF4-FFF2-40B4-BE49-F238E27FC236}">
                <a16:creationId xmlns:a16="http://schemas.microsoft.com/office/drawing/2014/main" id="{37DB1900-1F46-A6F2-966B-DFBA2EF407E2}"/>
              </a:ext>
            </a:extLst>
          </p:cNvPr>
          <p:cNvSpPr>
            <a:spLocks noGrp="1" noRot="1" noChangeAspect="1" noTextEdit="1"/>
          </p:cNvSpPr>
          <p:nvPr>
            <p:ph type="sldImg"/>
          </p:nvPr>
        </p:nvSpPr>
        <p:spPr>
          <a:ln/>
        </p:spPr>
      </p:sp>
      <p:sp>
        <p:nvSpPr>
          <p:cNvPr id="3" name="备注占位符 2">
            <a:extLst>
              <a:ext uri="{FF2B5EF4-FFF2-40B4-BE49-F238E27FC236}">
                <a16:creationId xmlns:a16="http://schemas.microsoft.com/office/drawing/2014/main" id="{4C5C3E9B-7FB8-807B-EAF5-C7A944E9C16C}"/>
              </a:ext>
            </a:extLst>
          </p:cNvPr>
          <p:cNvSpPr>
            <a:spLocks noGrp="1"/>
          </p:cNvSpPr>
          <p:nvPr>
            <p:ph type="body" idx="1"/>
          </p:nvPr>
        </p:nvSpPr>
        <p:spPr/>
        <p:txBody>
          <a:bodyPr>
            <a:normAutofit/>
          </a:bodyPr>
          <a:lstStyle/>
          <a:p>
            <a:pPr>
              <a:defRPr/>
            </a:pPr>
            <a:r>
              <a:rPr lang="zh-CN" altLang="en-US" kern="0" dirty="0">
                <a:latin typeface="Arial" pitchFamily="34" charset="0"/>
                <a:ea typeface="微软雅黑" pitchFamily="34" charset="-122"/>
                <a:cs typeface="Arial" pitchFamily="34" charset="0"/>
              </a:rPr>
              <a:t>由代数理论可知，</a:t>
            </a:r>
            <a:r>
              <a:rPr lang="en-US" altLang="zh-CN" sz="1400" i="1" kern="0" dirty="0">
                <a:latin typeface="Arial" pitchFamily="34" charset="0"/>
                <a:ea typeface="微软雅黑" pitchFamily="34" charset="-122"/>
                <a:cs typeface="Arial" pitchFamily="34" charset="0"/>
              </a:rPr>
              <a:t>H </a:t>
            </a:r>
            <a:r>
              <a:rPr lang="zh-CN" altLang="en-US" kern="0" dirty="0">
                <a:latin typeface="Arial" pitchFamily="34" charset="0"/>
                <a:ea typeface="微软雅黑" pitchFamily="34" charset="-122"/>
                <a:cs typeface="Arial" pitchFamily="34" charset="0"/>
              </a:rPr>
              <a:t>矩阵的各行应该是线性无关的，否则将得不到 </a:t>
            </a:r>
            <a:r>
              <a:rPr lang="en-US" altLang="zh-CN" i="1" kern="0" dirty="0">
                <a:latin typeface="Arial" pitchFamily="34" charset="0"/>
                <a:ea typeface="微软雅黑" pitchFamily="34" charset="-122"/>
                <a:cs typeface="Arial" pitchFamily="34" charset="0"/>
              </a:rPr>
              <a:t>r</a:t>
            </a:r>
            <a:r>
              <a:rPr lang="zh-CN" altLang="en-US" kern="0" dirty="0">
                <a:latin typeface="Arial" pitchFamily="34" charset="0"/>
                <a:ea typeface="微软雅黑" pitchFamily="34" charset="-122"/>
                <a:cs typeface="Arial" pitchFamily="34" charset="0"/>
              </a:rPr>
              <a:t>个线性无关的监督关系式，从而也得不到 </a:t>
            </a:r>
            <a:r>
              <a:rPr lang="en-US" altLang="zh-CN" i="1" kern="0" dirty="0">
                <a:latin typeface="Arial" pitchFamily="34" charset="0"/>
                <a:ea typeface="微软雅黑" pitchFamily="34" charset="-122"/>
                <a:cs typeface="Arial" pitchFamily="34" charset="0"/>
              </a:rPr>
              <a:t>r</a:t>
            </a:r>
            <a:r>
              <a:rPr lang="zh-CN" altLang="en-US" kern="0" dirty="0">
                <a:latin typeface="Arial" pitchFamily="34" charset="0"/>
                <a:ea typeface="微软雅黑" pitchFamily="34" charset="-122"/>
                <a:cs typeface="Arial" pitchFamily="34" charset="0"/>
              </a:rPr>
              <a:t>个独立的监督位。</a:t>
            </a:r>
            <a:endParaRPr lang="en-US" altLang="zh-CN" kern="0" dirty="0">
              <a:latin typeface="Arial" pitchFamily="34" charset="0"/>
              <a:ea typeface="微软雅黑" pitchFamily="34" charset="-122"/>
              <a:cs typeface="Arial" pitchFamily="34" charset="0"/>
            </a:endParaRPr>
          </a:p>
          <a:p>
            <a:pPr>
              <a:defRPr/>
            </a:pPr>
            <a:r>
              <a:rPr lang="zh-CN" altLang="en-US" kern="0" dirty="0">
                <a:latin typeface="Arial" pitchFamily="34" charset="0"/>
                <a:ea typeface="微软雅黑" pitchFamily="34" charset="-122"/>
                <a:cs typeface="Arial" pitchFamily="34" charset="0"/>
              </a:rPr>
              <a:t>因为容易验证</a:t>
            </a:r>
            <a:r>
              <a:rPr lang="en-US" altLang="zh-CN" kern="0" dirty="0">
                <a:latin typeface="Arial" pitchFamily="34" charset="0"/>
                <a:ea typeface="微软雅黑" pitchFamily="34" charset="-122"/>
                <a:cs typeface="Arial" pitchFamily="34" charset="0"/>
              </a:rPr>
              <a:t>[</a:t>
            </a:r>
            <a:r>
              <a:rPr lang="en-US" altLang="zh-CN" i="1" kern="0" dirty="0" err="1">
                <a:latin typeface="Arial" pitchFamily="34" charset="0"/>
                <a:ea typeface="微软雅黑" pitchFamily="34" charset="-122"/>
                <a:cs typeface="Arial" pitchFamily="34" charset="0"/>
              </a:rPr>
              <a:t>I</a:t>
            </a:r>
            <a:r>
              <a:rPr lang="en-US" altLang="zh-CN" kern="0" dirty="0" err="1">
                <a:latin typeface="Arial" pitchFamily="34" charset="0"/>
                <a:ea typeface="微软雅黑" pitchFamily="34" charset="-122"/>
                <a:cs typeface="Arial" pitchFamily="34" charset="0"/>
              </a:rPr>
              <a:t>r</a:t>
            </a:r>
            <a:r>
              <a:rPr lang="en-US" altLang="zh-CN" kern="0" dirty="0">
                <a:latin typeface="Arial" pitchFamily="34" charset="0"/>
                <a:ea typeface="微软雅黑" pitchFamily="34" charset="-122"/>
                <a:cs typeface="Arial" pitchFamily="34" charset="0"/>
              </a:rPr>
              <a:t>]</a:t>
            </a:r>
            <a:r>
              <a:rPr lang="zh-CN" altLang="en-US" kern="0" dirty="0">
                <a:latin typeface="Arial" pitchFamily="34" charset="0"/>
                <a:ea typeface="微软雅黑" pitchFamily="34" charset="-122"/>
                <a:cs typeface="Arial" pitchFamily="34" charset="0"/>
              </a:rPr>
              <a:t>的各行是线性无关的，故</a:t>
            </a:r>
            <a:r>
              <a:rPr lang="en-US" altLang="zh-CN" kern="0" dirty="0">
                <a:latin typeface="Arial" pitchFamily="34" charset="0"/>
                <a:ea typeface="微软雅黑" pitchFamily="34" charset="-122"/>
                <a:cs typeface="Arial" pitchFamily="34" charset="0"/>
              </a:rPr>
              <a:t>[</a:t>
            </a:r>
            <a:r>
              <a:rPr lang="en-US" altLang="zh-CN" i="1" kern="0" dirty="0">
                <a:latin typeface="Arial" pitchFamily="34" charset="0"/>
                <a:ea typeface="微软雅黑" pitchFamily="34" charset="-122"/>
                <a:cs typeface="Arial" pitchFamily="34" charset="0"/>
              </a:rPr>
              <a:t>P </a:t>
            </a:r>
            <a:r>
              <a:rPr lang="en-US" altLang="zh-CN" i="1" kern="0" dirty="0" err="1">
                <a:latin typeface="Arial" pitchFamily="34" charset="0"/>
                <a:ea typeface="微软雅黑" pitchFamily="34" charset="-122"/>
                <a:cs typeface="Arial" pitchFamily="34" charset="0"/>
              </a:rPr>
              <a:t>I</a:t>
            </a:r>
            <a:r>
              <a:rPr lang="en-US" altLang="zh-CN" kern="0" dirty="0" err="1">
                <a:latin typeface="Arial" pitchFamily="34" charset="0"/>
                <a:ea typeface="微软雅黑" pitchFamily="34" charset="-122"/>
                <a:cs typeface="Arial" pitchFamily="34" charset="0"/>
              </a:rPr>
              <a:t>r</a:t>
            </a:r>
            <a:r>
              <a:rPr lang="en-US" altLang="zh-CN" kern="0" dirty="0">
                <a:latin typeface="Arial" pitchFamily="34" charset="0"/>
                <a:ea typeface="微软雅黑" pitchFamily="34" charset="-122"/>
                <a:cs typeface="Arial" pitchFamily="34" charset="0"/>
              </a:rPr>
              <a:t>]</a:t>
            </a:r>
            <a:r>
              <a:rPr lang="zh-CN" altLang="en-US" kern="0" dirty="0">
                <a:latin typeface="Arial" pitchFamily="34" charset="0"/>
                <a:ea typeface="微软雅黑" pitchFamily="34" charset="-122"/>
                <a:cs typeface="Arial" pitchFamily="34" charset="0"/>
              </a:rPr>
              <a:t>的各行也是线性无关的。</a:t>
            </a:r>
            <a:endParaRPr lang="zh-CN" altLang="en-US" dirty="0"/>
          </a:p>
        </p:txBody>
      </p:sp>
      <p:sp>
        <p:nvSpPr>
          <p:cNvPr id="182276" name="灯片编号占位符 3">
            <a:extLst>
              <a:ext uri="{FF2B5EF4-FFF2-40B4-BE49-F238E27FC236}">
                <a16:creationId xmlns:a16="http://schemas.microsoft.com/office/drawing/2014/main" id="{0E2730F7-A814-21BF-3E39-25BC6891A8A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fld id="{3B7D4C4F-195B-4986-A665-093EDC487D37}" type="slidenum">
              <a:rPr lang="en-US" altLang="zh-CN" sz="1200"/>
              <a:pPr eaLnBrk="1" hangingPunct="1"/>
              <a:t>55</a:t>
            </a:fld>
            <a:endParaRPr lang="en-US" altLang="zh-CN"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幻灯片图像占位符 1">
            <a:extLst>
              <a:ext uri="{FF2B5EF4-FFF2-40B4-BE49-F238E27FC236}">
                <a16:creationId xmlns:a16="http://schemas.microsoft.com/office/drawing/2014/main" id="{D8201D37-813B-E46A-7712-D8F13A4A1280}"/>
              </a:ext>
            </a:extLst>
          </p:cNvPr>
          <p:cNvSpPr>
            <a:spLocks noGrp="1" noRot="1" noChangeAspect="1" noTextEdit="1"/>
          </p:cNvSpPr>
          <p:nvPr>
            <p:ph type="sldImg"/>
          </p:nvPr>
        </p:nvSpPr>
        <p:spPr>
          <a:ln/>
        </p:spPr>
      </p:sp>
      <p:sp>
        <p:nvSpPr>
          <p:cNvPr id="3" name="备注占位符 2">
            <a:extLst>
              <a:ext uri="{FF2B5EF4-FFF2-40B4-BE49-F238E27FC236}">
                <a16:creationId xmlns:a16="http://schemas.microsoft.com/office/drawing/2014/main" id="{E6914646-8984-2F20-A8AA-ACDBBF2ECA09}"/>
              </a:ext>
            </a:extLst>
          </p:cNvPr>
          <p:cNvSpPr>
            <a:spLocks noGrp="1"/>
          </p:cNvSpPr>
          <p:nvPr>
            <p:ph type="body" idx="1"/>
          </p:nvPr>
        </p:nvSpPr>
        <p:spPr/>
        <p:txBody>
          <a:bodyPr>
            <a:normAutofit/>
          </a:bodyPr>
          <a:lstStyle/>
          <a:p>
            <a:pPr>
              <a:defRPr/>
            </a:pPr>
            <a:r>
              <a:rPr lang="zh-CN" altLang="en-US" kern="0" dirty="0">
                <a:effectLst>
                  <a:outerShdw blurRad="38100" dist="38100" dir="2700000" algn="tl">
                    <a:srgbClr val="000000">
                      <a:alpha val="43137"/>
                    </a:srgbClr>
                  </a:outerShdw>
                </a:effectLst>
                <a:latin typeface="Arial" pitchFamily="34" charset="0"/>
                <a:ea typeface="微软雅黑" pitchFamily="34" charset="-122"/>
                <a:cs typeface="Arial" pitchFamily="34" charset="0"/>
              </a:rPr>
              <a:t>根据：</a:t>
            </a:r>
            <a:r>
              <a:rPr lang="zh-CN" altLang="en-US" dirty="0">
                <a:effectLst>
                  <a:outerShdw blurRad="38100" dist="38100" dir="2700000" algn="tl">
                    <a:srgbClr val="000000">
                      <a:alpha val="43137"/>
                    </a:srgbClr>
                  </a:outerShdw>
                </a:effectLst>
                <a:latin typeface="Arial" charset="0"/>
                <a:ea typeface="微软雅黑" pitchFamily="34" charset="-122"/>
                <a:cs typeface="Arial" charset="0"/>
              </a:rPr>
              <a:t>所有码多项式  </a:t>
            </a:r>
            <a:r>
              <a:rPr lang="en-US" altLang="zh-CN" sz="1400" i="1" dirty="0">
                <a:solidFill>
                  <a:srgbClr val="0000CC"/>
                </a:solidFill>
                <a:effectLst>
                  <a:outerShdw blurRad="38100" dist="38100" dir="2700000" algn="tl">
                    <a:srgbClr val="000000">
                      <a:alpha val="43137"/>
                    </a:srgbClr>
                  </a:outerShdw>
                </a:effectLst>
                <a:latin typeface="Arial" charset="0"/>
                <a:ea typeface="微软雅黑" pitchFamily="34" charset="-122"/>
                <a:cs typeface="Arial" charset="0"/>
              </a:rPr>
              <a:t>A</a:t>
            </a:r>
            <a:r>
              <a:rPr lang="en-US" altLang="zh-CN" sz="1400" dirty="0">
                <a:solidFill>
                  <a:srgbClr val="0000CC"/>
                </a:solidFill>
                <a:effectLst>
                  <a:outerShdw blurRad="38100" dist="38100" dir="2700000" algn="tl">
                    <a:srgbClr val="000000">
                      <a:alpha val="43137"/>
                    </a:srgbClr>
                  </a:outerShdw>
                </a:effectLst>
                <a:latin typeface="Arial" charset="0"/>
                <a:ea typeface="微软雅黑" pitchFamily="34" charset="-122"/>
                <a:cs typeface="Arial" charset="0"/>
              </a:rPr>
              <a:t>(</a:t>
            </a:r>
            <a:r>
              <a:rPr lang="en-US" altLang="zh-CN" sz="1400" i="1" dirty="0">
                <a:solidFill>
                  <a:srgbClr val="0000CC"/>
                </a:solidFill>
                <a:effectLst>
                  <a:outerShdw blurRad="38100" dist="38100" dir="2700000" algn="tl">
                    <a:srgbClr val="000000">
                      <a:alpha val="43137"/>
                    </a:srgbClr>
                  </a:outerShdw>
                </a:effectLst>
                <a:latin typeface="Arial" charset="0"/>
                <a:ea typeface="微软雅黑" pitchFamily="34" charset="-122"/>
                <a:cs typeface="Arial" charset="0"/>
              </a:rPr>
              <a:t>x</a:t>
            </a:r>
            <a:r>
              <a:rPr lang="en-US" altLang="zh-CN" sz="1400" dirty="0">
                <a:solidFill>
                  <a:srgbClr val="0000CC"/>
                </a:solidFill>
                <a:effectLst>
                  <a:outerShdw blurRad="38100" dist="38100" dir="2700000" algn="tl">
                    <a:srgbClr val="000000">
                      <a:alpha val="43137"/>
                    </a:srgbClr>
                  </a:outerShdw>
                </a:effectLst>
                <a:latin typeface="Arial" charset="0"/>
                <a:ea typeface="微软雅黑" pitchFamily="34" charset="-122"/>
                <a:cs typeface="Arial" charset="0"/>
              </a:rPr>
              <a:t>)  </a:t>
            </a:r>
            <a:r>
              <a:rPr lang="zh-CN" altLang="en-US" dirty="0">
                <a:effectLst>
                  <a:outerShdw blurRad="38100" dist="38100" dir="2700000" algn="tl">
                    <a:srgbClr val="000000">
                      <a:alpha val="43137"/>
                    </a:srgbClr>
                  </a:outerShdw>
                </a:effectLst>
                <a:latin typeface="Arial" charset="0"/>
                <a:ea typeface="微软雅黑" pitchFamily="34" charset="-122"/>
                <a:cs typeface="Arial" charset="0"/>
              </a:rPr>
              <a:t>都可被 </a:t>
            </a:r>
            <a:r>
              <a:rPr lang="en-US" altLang="zh-CN" sz="1400" i="1" dirty="0">
                <a:solidFill>
                  <a:srgbClr val="FF0000"/>
                </a:solidFill>
                <a:effectLst>
                  <a:outerShdw blurRad="38100" dist="38100" dir="2700000" algn="tl">
                    <a:srgbClr val="000000">
                      <a:alpha val="43137"/>
                    </a:srgbClr>
                  </a:outerShdw>
                </a:effectLst>
                <a:latin typeface="Arial" charset="0"/>
                <a:ea typeface="微软雅黑" pitchFamily="34" charset="-122"/>
                <a:cs typeface="Arial" charset="0"/>
              </a:rPr>
              <a:t>g</a:t>
            </a:r>
            <a:r>
              <a:rPr lang="en-US" altLang="zh-CN" sz="1400" dirty="0">
                <a:solidFill>
                  <a:srgbClr val="FF0000"/>
                </a:solidFill>
                <a:effectLst>
                  <a:outerShdw blurRad="38100" dist="38100" dir="2700000" algn="tl">
                    <a:srgbClr val="000000">
                      <a:alpha val="43137"/>
                    </a:srgbClr>
                  </a:outerShdw>
                </a:effectLst>
                <a:latin typeface="Arial" charset="0"/>
                <a:ea typeface="微软雅黑" pitchFamily="34" charset="-122"/>
                <a:cs typeface="Arial" charset="0"/>
              </a:rPr>
              <a:t>(x) </a:t>
            </a:r>
            <a:r>
              <a:rPr lang="zh-CN" altLang="en-US" dirty="0">
                <a:effectLst>
                  <a:outerShdw blurRad="38100" dist="38100" dir="2700000" algn="tl">
                    <a:srgbClr val="000000">
                      <a:alpha val="43137"/>
                    </a:srgbClr>
                  </a:outerShdw>
                </a:effectLst>
                <a:latin typeface="Arial" charset="0"/>
                <a:ea typeface="微软雅黑" pitchFamily="34" charset="-122"/>
                <a:cs typeface="Arial" charset="0"/>
              </a:rPr>
              <a:t>整除，可以采用除法方法，</a:t>
            </a:r>
            <a:endParaRPr lang="zh-CN" altLang="en-US" dirty="0">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a:p>
            <a:pPr>
              <a:defRPr/>
            </a:pPr>
            <a:endParaRPr lang="zh-CN" altLang="en-US" dirty="0"/>
          </a:p>
        </p:txBody>
      </p:sp>
      <p:sp>
        <p:nvSpPr>
          <p:cNvPr id="183300" name="灯片编号占位符 3">
            <a:extLst>
              <a:ext uri="{FF2B5EF4-FFF2-40B4-BE49-F238E27FC236}">
                <a16:creationId xmlns:a16="http://schemas.microsoft.com/office/drawing/2014/main" id="{06853036-6BAF-2FBD-48BD-16A56468D65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fld id="{37BB2EFF-E4D6-4A9C-A2ED-659E7F442E5D}" type="slidenum">
              <a:rPr lang="en-US" altLang="zh-CN" sz="1200"/>
              <a:pPr eaLnBrk="1" hangingPunct="1"/>
              <a:t>83</a:t>
            </a:fld>
            <a:endParaRPr lang="en-US" altLang="zh-CN"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幻灯片图像占位符 1">
            <a:extLst>
              <a:ext uri="{FF2B5EF4-FFF2-40B4-BE49-F238E27FC236}">
                <a16:creationId xmlns:a16="http://schemas.microsoft.com/office/drawing/2014/main" id="{CC57B0C8-851B-139A-6D17-9809BE716A4B}"/>
              </a:ext>
            </a:extLst>
          </p:cNvPr>
          <p:cNvSpPr>
            <a:spLocks noGrp="1" noRot="1" noChangeAspect="1" noTextEdit="1"/>
          </p:cNvSpPr>
          <p:nvPr>
            <p:ph type="sldImg"/>
          </p:nvPr>
        </p:nvSpPr>
        <p:spPr>
          <a:ln/>
        </p:spPr>
      </p:sp>
      <p:sp>
        <p:nvSpPr>
          <p:cNvPr id="184323" name="备注占位符 2">
            <a:extLst>
              <a:ext uri="{FF2B5EF4-FFF2-40B4-BE49-F238E27FC236}">
                <a16:creationId xmlns:a16="http://schemas.microsoft.com/office/drawing/2014/main" id="{3477B3FC-58CE-18EF-B145-8C1F5B67747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solidFill>
                  <a:srgbClr val="990099"/>
                </a:solidFill>
                <a:latin typeface="Arial" panose="020B0604020202020204" pitchFamily="34" charset="0"/>
                <a:ea typeface="微软雅黑" panose="020B0503020204020204" pitchFamily="34" charset="-122"/>
                <a:cs typeface="Arial" panose="020B0604020202020204" pitchFamily="34" charset="0"/>
              </a:rPr>
              <a:t>通常，卷积码的</a:t>
            </a:r>
            <a:r>
              <a:rPr lang="en-US" altLang="zh-CN" i="1">
                <a:solidFill>
                  <a:srgbClr val="990099"/>
                </a:solidFill>
                <a:latin typeface="Arial" panose="020B0604020202020204" pitchFamily="34" charset="0"/>
                <a:ea typeface="微软雅黑" panose="020B0503020204020204" pitchFamily="34" charset="-122"/>
                <a:cs typeface="Arial" panose="020B0604020202020204" pitchFamily="34" charset="0"/>
              </a:rPr>
              <a:t>k </a:t>
            </a:r>
            <a:r>
              <a:rPr lang="zh-CN" altLang="en-US">
                <a:solidFill>
                  <a:srgbClr val="990099"/>
                </a:solidFill>
                <a:latin typeface="Arial" panose="020B0604020202020204" pitchFamily="34" charset="0"/>
                <a:ea typeface="微软雅黑" panose="020B0503020204020204" pitchFamily="34" charset="-122"/>
                <a:cs typeface="Arial" panose="020B0604020202020204" pitchFamily="34" charset="0"/>
              </a:rPr>
              <a:t>和 </a:t>
            </a:r>
            <a:r>
              <a:rPr lang="en-US" altLang="zh-CN" i="1">
                <a:solidFill>
                  <a:srgbClr val="990099"/>
                </a:solidFill>
                <a:latin typeface="Arial" panose="020B0604020202020204" pitchFamily="34" charset="0"/>
                <a:ea typeface="微软雅黑" panose="020B0503020204020204" pitchFamily="34" charset="-122"/>
                <a:cs typeface="Arial" panose="020B0604020202020204" pitchFamily="34" charset="0"/>
              </a:rPr>
              <a:t>n </a:t>
            </a:r>
            <a:r>
              <a:rPr lang="zh-CN" altLang="en-US">
                <a:solidFill>
                  <a:srgbClr val="990099"/>
                </a:solidFill>
                <a:latin typeface="Arial" panose="020B0604020202020204" pitchFamily="34" charset="0"/>
                <a:ea typeface="微软雅黑" panose="020B0503020204020204" pitchFamily="34" charset="-122"/>
                <a:cs typeface="Arial" panose="020B0604020202020204" pitchFamily="34" charset="0"/>
              </a:rPr>
              <a:t>的值较小。</a:t>
            </a:r>
            <a:endParaRPr lang="zh-CN" altLang="en-US">
              <a:solidFill>
                <a:srgbClr val="990099"/>
              </a:solidFill>
              <a:ea typeface="微软雅黑" panose="020B0503020204020204" pitchFamily="34" charset="-122"/>
              <a:cs typeface="Arial" panose="020B0604020202020204" pitchFamily="34" charset="0"/>
            </a:endParaRPr>
          </a:p>
          <a:p>
            <a:endParaRPr lang="zh-CN" altLang="en-US">
              <a:ea typeface="微软雅黑" panose="020B0503020204020204" pitchFamily="34" charset="-122"/>
              <a:cs typeface="Arial" panose="020B0604020202020204" pitchFamily="34" charset="0"/>
            </a:endParaRPr>
          </a:p>
        </p:txBody>
      </p:sp>
      <p:sp>
        <p:nvSpPr>
          <p:cNvPr id="184324" name="灯片编号占位符 3">
            <a:extLst>
              <a:ext uri="{FF2B5EF4-FFF2-40B4-BE49-F238E27FC236}">
                <a16:creationId xmlns:a16="http://schemas.microsoft.com/office/drawing/2014/main" id="{A877CDA8-52B6-3462-8685-8933F9A4FBE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fld id="{A6D7CEF1-9589-42EA-87B6-DFD43EA71090}" type="slidenum">
              <a:rPr lang="en-US" altLang="zh-CN" sz="1200"/>
              <a:pPr eaLnBrk="1" hangingPunct="1"/>
              <a:t>100</a:t>
            </a:fld>
            <a:endParaRPr lang="en-US" altLang="zh-CN"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幻灯片图像占位符 1">
            <a:extLst>
              <a:ext uri="{FF2B5EF4-FFF2-40B4-BE49-F238E27FC236}">
                <a16:creationId xmlns:a16="http://schemas.microsoft.com/office/drawing/2014/main" id="{D7B04A7E-EFFD-E608-90E2-734F1E3C9AA6}"/>
              </a:ext>
            </a:extLst>
          </p:cNvPr>
          <p:cNvSpPr>
            <a:spLocks noGrp="1" noRot="1" noChangeAspect="1" noTextEdit="1"/>
          </p:cNvSpPr>
          <p:nvPr>
            <p:ph type="sldImg"/>
          </p:nvPr>
        </p:nvSpPr>
        <p:spPr>
          <a:ln/>
        </p:spPr>
      </p:sp>
      <p:sp>
        <p:nvSpPr>
          <p:cNvPr id="3" name="备注占位符 2">
            <a:extLst>
              <a:ext uri="{FF2B5EF4-FFF2-40B4-BE49-F238E27FC236}">
                <a16:creationId xmlns:a16="http://schemas.microsoft.com/office/drawing/2014/main" id="{5DAFCB37-561D-2298-79D0-9B7FA8589F86}"/>
              </a:ext>
            </a:extLst>
          </p:cNvPr>
          <p:cNvSpPr>
            <a:spLocks noGrp="1"/>
          </p:cNvSpPr>
          <p:nvPr>
            <p:ph type="body" idx="1"/>
          </p:nvPr>
        </p:nvSpPr>
        <p:spPr/>
        <p:txBody>
          <a:bodyPr>
            <a:normAutofit/>
          </a:bodyPr>
          <a:lstStyle/>
          <a:p>
            <a:pPr>
              <a:defRPr/>
            </a:pPr>
            <a:r>
              <a:rPr lang="zh-CN" altLang="en-US" kern="0" dirty="0">
                <a:solidFill>
                  <a:srgbClr val="000000"/>
                </a:solidFill>
                <a:latin typeface="微软雅黑" pitchFamily="34" charset="-122"/>
                <a:ea typeface="微软雅黑" pitchFamily="34" charset="-122"/>
              </a:rPr>
              <a:t>例如，第</a:t>
            </a:r>
            <a:r>
              <a:rPr lang="en-US" altLang="zh-CN" kern="0" dirty="0">
                <a:solidFill>
                  <a:srgbClr val="000000"/>
                </a:solidFill>
                <a:latin typeface="微软雅黑" pitchFamily="34" charset="-122"/>
                <a:ea typeface="微软雅黑" pitchFamily="34" charset="-122"/>
              </a:rPr>
              <a:t>4 ~ 6</a:t>
            </a:r>
            <a:r>
              <a:rPr lang="zh-CN" altLang="en-US" kern="0" dirty="0">
                <a:solidFill>
                  <a:srgbClr val="000000"/>
                </a:solidFill>
                <a:latin typeface="微软雅黑" pitchFamily="34" charset="-122"/>
                <a:ea typeface="微软雅黑" pitchFamily="34" charset="-122"/>
              </a:rPr>
              <a:t>列比第</a:t>
            </a:r>
            <a:r>
              <a:rPr lang="en-US" altLang="zh-CN" kern="0" dirty="0">
                <a:solidFill>
                  <a:srgbClr val="000000"/>
                </a:solidFill>
                <a:latin typeface="微软雅黑" pitchFamily="34" charset="-122"/>
                <a:ea typeface="微软雅黑" pitchFamily="34" charset="-122"/>
              </a:rPr>
              <a:t>1 ~ 3</a:t>
            </a:r>
            <a:r>
              <a:rPr lang="zh-CN" altLang="en-US" kern="0" dirty="0">
                <a:solidFill>
                  <a:srgbClr val="000000"/>
                </a:solidFill>
                <a:latin typeface="微软雅黑" pitchFamily="34" charset="-122"/>
                <a:ea typeface="微软雅黑" pitchFamily="34" charset="-122"/>
              </a:rPr>
              <a:t>列低</a:t>
            </a:r>
            <a:r>
              <a:rPr lang="en-US" altLang="zh-CN" kern="0" dirty="0">
                <a:solidFill>
                  <a:srgbClr val="000000"/>
                </a:solidFill>
                <a:latin typeface="微软雅黑" pitchFamily="34" charset="-122"/>
                <a:ea typeface="微软雅黑" pitchFamily="34" charset="-122"/>
              </a:rPr>
              <a:t>2</a:t>
            </a:r>
            <a:r>
              <a:rPr lang="zh-CN" altLang="en-US" kern="0" dirty="0">
                <a:solidFill>
                  <a:srgbClr val="000000"/>
                </a:solidFill>
                <a:latin typeface="微软雅黑" pitchFamily="34" charset="-122"/>
                <a:ea typeface="微软雅黑" pitchFamily="34" charset="-122"/>
              </a:rPr>
              <a:t>行。自第</a:t>
            </a:r>
            <a:r>
              <a:rPr lang="en-US" altLang="zh-CN" kern="0" dirty="0">
                <a:solidFill>
                  <a:srgbClr val="000000"/>
                </a:solidFill>
                <a:latin typeface="微软雅黑" pitchFamily="34" charset="-122"/>
                <a:ea typeface="微软雅黑" pitchFamily="34" charset="-122"/>
              </a:rPr>
              <a:t>7</a:t>
            </a:r>
            <a:r>
              <a:rPr lang="zh-CN" altLang="en-US" kern="0" dirty="0">
                <a:solidFill>
                  <a:srgbClr val="000000"/>
                </a:solidFill>
                <a:latin typeface="微软雅黑" pitchFamily="34" charset="-122"/>
                <a:ea typeface="微软雅黑" pitchFamily="34" charset="-122"/>
              </a:rPr>
              <a:t>行起，每两行的左端比上两行多了</a:t>
            </a:r>
            <a:r>
              <a:rPr lang="en-US" altLang="zh-CN" kern="0" dirty="0">
                <a:solidFill>
                  <a:srgbClr val="000000"/>
                </a:solidFill>
                <a:latin typeface="微软雅黑" pitchFamily="34" charset="-122"/>
                <a:ea typeface="微软雅黑" pitchFamily="34" charset="-122"/>
              </a:rPr>
              <a:t>3</a:t>
            </a:r>
            <a:r>
              <a:rPr lang="zh-CN" altLang="en-US" kern="0" dirty="0">
                <a:solidFill>
                  <a:srgbClr val="000000"/>
                </a:solidFill>
                <a:latin typeface="微软雅黑" pitchFamily="34" charset="-122"/>
                <a:ea typeface="微软雅黑" pitchFamily="34" charset="-122"/>
              </a:rPr>
              <a:t>个“</a:t>
            </a:r>
            <a:r>
              <a:rPr lang="en-US" altLang="zh-CN" kern="0" dirty="0">
                <a:solidFill>
                  <a:srgbClr val="000000"/>
                </a:solidFill>
                <a:latin typeface="微软雅黑" pitchFamily="34" charset="-122"/>
                <a:ea typeface="微软雅黑" pitchFamily="34" charset="-122"/>
              </a:rPr>
              <a:t>0”</a:t>
            </a:r>
            <a:r>
              <a:rPr lang="zh-CN" altLang="en-US" kern="0" dirty="0">
                <a:solidFill>
                  <a:srgbClr val="000000"/>
                </a:solidFill>
                <a:latin typeface="微软雅黑" pitchFamily="34" charset="-122"/>
                <a:ea typeface="微软雅黑" pitchFamily="34" charset="-122"/>
              </a:rPr>
              <a:t>。 </a:t>
            </a:r>
          </a:p>
          <a:p>
            <a:pPr>
              <a:defRPr/>
            </a:pPr>
            <a:endParaRPr lang="zh-CN" altLang="en-US" dirty="0"/>
          </a:p>
        </p:txBody>
      </p:sp>
      <p:sp>
        <p:nvSpPr>
          <p:cNvPr id="185348" name="灯片编号占位符 3">
            <a:extLst>
              <a:ext uri="{FF2B5EF4-FFF2-40B4-BE49-F238E27FC236}">
                <a16:creationId xmlns:a16="http://schemas.microsoft.com/office/drawing/2014/main" id="{C6E1289F-D6F1-C852-CEAA-9963BC3B3C9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fld id="{388B3D30-A83F-4F42-958A-847D9F37AB69}" type="slidenum">
              <a:rPr lang="en-US" altLang="zh-CN" sz="1200"/>
              <a:pPr eaLnBrk="1" hangingPunct="1"/>
              <a:t>107</a:t>
            </a:fld>
            <a:endParaRPr lang="en-US" altLang="zh-CN"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幻灯片图像占位符 1">
            <a:extLst>
              <a:ext uri="{FF2B5EF4-FFF2-40B4-BE49-F238E27FC236}">
                <a16:creationId xmlns:a16="http://schemas.microsoft.com/office/drawing/2014/main" id="{3E5A2527-6B28-03F7-94CF-6D9E1BCA9DBC}"/>
              </a:ext>
            </a:extLst>
          </p:cNvPr>
          <p:cNvSpPr>
            <a:spLocks noGrp="1" noRot="1" noChangeAspect="1" noTextEdit="1"/>
          </p:cNvSpPr>
          <p:nvPr>
            <p:ph type="sldImg"/>
          </p:nvPr>
        </p:nvSpPr>
        <p:spPr>
          <a:ln/>
        </p:spPr>
      </p:sp>
      <p:sp>
        <p:nvSpPr>
          <p:cNvPr id="186371" name="备注占位符 2">
            <a:extLst>
              <a:ext uri="{FF2B5EF4-FFF2-40B4-BE49-F238E27FC236}">
                <a16:creationId xmlns:a16="http://schemas.microsoft.com/office/drawing/2014/main" id="{85B093AE-60BE-FD7B-F625-6FC97E88CE7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6372" name="灯片编号占位符 3">
            <a:extLst>
              <a:ext uri="{FF2B5EF4-FFF2-40B4-BE49-F238E27FC236}">
                <a16:creationId xmlns:a16="http://schemas.microsoft.com/office/drawing/2014/main" id="{3B9CE60E-5FA1-AE9E-5D14-B1BEB45BD9C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fld id="{0AA49468-DC11-4DD7-A264-C10A3B864DC9}" type="slidenum">
              <a:rPr lang="en-US" altLang="zh-CN" sz="1200"/>
              <a:pPr eaLnBrk="1" hangingPunct="1"/>
              <a:t>144</a:t>
            </a:fld>
            <a:endParaRPr lang="en-US" altLang="zh-CN"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E2D68EF0-43EB-43A4-C548-802133B9BC22}"/>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62EF4338-509E-A92F-5C9D-A3FD8EBCC29F}"/>
                </a:ext>
              </a:extLst>
            </p:cNvPr>
            <p:cNvGrpSpPr>
              <a:grpSpLocks/>
            </p:cNvGrpSpPr>
            <p:nvPr/>
          </p:nvGrpSpPr>
          <p:grpSpPr bwMode="auto">
            <a:xfrm>
              <a:off x="185" y="1604"/>
              <a:ext cx="449" cy="299"/>
              <a:chOff x="720" y="336"/>
              <a:chExt cx="624" cy="432"/>
            </a:xfrm>
          </p:grpSpPr>
          <p:sp>
            <p:nvSpPr>
              <p:cNvPr id="10" name="Rectangle 4">
                <a:extLst>
                  <a:ext uri="{FF2B5EF4-FFF2-40B4-BE49-F238E27FC236}">
                    <a16:creationId xmlns:a16="http://schemas.microsoft.com/office/drawing/2014/main" id="{C0E6FF3D-EBBA-86A3-2471-DD56C147DA74}"/>
                  </a:ext>
                </a:extLst>
              </p:cNvPr>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a:defRPr/>
                </a:pPr>
                <a:endParaRPr lang="zh-CN" altLang="en-US"/>
              </a:p>
            </p:txBody>
          </p:sp>
          <p:sp>
            <p:nvSpPr>
              <p:cNvPr id="11" name="Rectangle 5">
                <a:extLst>
                  <a:ext uri="{FF2B5EF4-FFF2-40B4-BE49-F238E27FC236}">
                    <a16:creationId xmlns:a16="http://schemas.microsoft.com/office/drawing/2014/main" id="{89A0C141-6FCD-8DB6-07CB-03B49E0A2C00}"/>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zh-CN" altLang="en-US"/>
              </a:p>
            </p:txBody>
          </p:sp>
        </p:grpSp>
        <p:grpSp>
          <p:nvGrpSpPr>
            <p:cNvPr id="4" name="Group 6">
              <a:extLst>
                <a:ext uri="{FF2B5EF4-FFF2-40B4-BE49-F238E27FC236}">
                  <a16:creationId xmlns:a16="http://schemas.microsoft.com/office/drawing/2014/main" id="{C9ED74BA-F2C2-6E4E-1F47-EC0625CA1010}"/>
                </a:ext>
              </a:extLst>
            </p:cNvPr>
            <p:cNvGrpSpPr>
              <a:grpSpLocks/>
            </p:cNvGrpSpPr>
            <p:nvPr/>
          </p:nvGrpSpPr>
          <p:grpSpPr bwMode="auto">
            <a:xfrm>
              <a:off x="263" y="1870"/>
              <a:ext cx="466" cy="299"/>
              <a:chOff x="912" y="2640"/>
              <a:chExt cx="672" cy="432"/>
            </a:xfrm>
          </p:grpSpPr>
          <p:sp>
            <p:nvSpPr>
              <p:cNvPr id="8" name="Rectangle 7">
                <a:extLst>
                  <a:ext uri="{FF2B5EF4-FFF2-40B4-BE49-F238E27FC236}">
                    <a16:creationId xmlns:a16="http://schemas.microsoft.com/office/drawing/2014/main" id="{B535A73E-7E70-7040-0C1E-CEC26CC8FDCE}"/>
                  </a:ext>
                </a:extLst>
              </p:cNvPr>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a:defRPr/>
                </a:pPr>
                <a:endParaRPr lang="zh-CN" altLang="en-US"/>
              </a:p>
            </p:txBody>
          </p:sp>
          <p:sp>
            <p:nvSpPr>
              <p:cNvPr id="9" name="Rectangle 8">
                <a:extLst>
                  <a:ext uri="{FF2B5EF4-FFF2-40B4-BE49-F238E27FC236}">
                    <a16:creationId xmlns:a16="http://schemas.microsoft.com/office/drawing/2014/main" id="{2A70F59A-9309-5527-57E2-3B1E74A451C1}"/>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zh-CN" altLang="en-US"/>
              </a:p>
            </p:txBody>
          </p:sp>
        </p:grpSp>
        <p:sp>
          <p:nvSpPr>
            <p:cNvPr id="5" name="Rectangle 9">
              <a:extLst>
                <a:ext uri="{FF2B5EF4-FFF2-40B4-BE49-F238E27FC236}">
                  <a16:creationId xmlns:a16="http://schemas.microsoft.com/office/drawing/2014/main" id="{8444DBD6-F5E7-EDDE-3941-BA5F17372174}"/>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zh-CN" altLang="en-US"/>
            </a:p>
          </p:txBody>
        </p:sp>
        <p:sp>
          <p:nvSpPr>
            <p:cNvPr id="6" name="Rectangle 10">
              <a:extLst>
                <a:ext uri="{FF2B5EF4-FFF2-40B4-BE49-F238E27FC236}">
                  <a16:creationId xmlns:a16="http://schemas.microsoft.com/office/drawing/2014/main" id="{FDE2E878-8BDF-5225-C03D-8D9D7DC0B03C}"/>
                </a:ext>
              </a:extLst>
            </p:cNvPr>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defRPr/>
              </a:pPr>
              <a:endParaRPr lang="zh-CN" altLang="en-US"/>
            </a:p>
          </p:txBody>
        </p:sp>
        <p:sp>
          <p:nvSpPr>
            <p:cNvPr id="7" name="Rectangle 11">
              <a:extLst>
                <a:ext uri="{FF2B5EF4-FFF2-40B4-BE49-F238E27FC236}">
                  <a16:creationId xmlns:a16="http://schemas.microsoft.com/office/drawing/2014/main" id="{980E6B22-4EA0-71C9-B4F8-FE254E736B1F}"/>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zh-CN" altLang="en-US"/>
            </a:p>
          </p:txBody>
        </p:sp>
      </p:grpSp>
      <p:sp>
        <p:nvSpPr>
          <p:cNvPr id="226316" name="Rectangle 12"/>
          <p:cNvSpPr>
            <a:spLocks noGrp="1" noChangeArrowheads="1"/>
          </p:cNvSpPr>
          <p:nvPr>
            <p:ph type="ctrTitle"/>
          </p:nvPr>
        </p:nvSpPr>
        <p:spPr>
          <a:xfrm>
            <a:off x="990600" y="1676400"/>
            <a:ext cx="7772400" cy="1462088"/>
          </a:xfrm>
        </p:spPr>
        <p:txBody>
          <a:bodyPr/>
          <a:lstStyle>
            <a:lvl1pPr>
              <a:defRPr/>
            </a:lvl1pPr>
          </a:lstStyle>
          <a:p>
            <a:r>
              <a:rPr lang="zh-CN" altLang="en-US"/>
              <a:t>单击此处编辑母版标题样式</a:t>
            </a:r>
          </a:p>
        </p:txBody>
      </p:sp>
      <p:sp>
        <p:nvSpPr>
          <p:cNvPr id="226317"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12" name="Rectangle 14">
            <a:extLst>
              <a:ext uri="{FF2B5EF4-FFF2-40B4-BE49-F238E27FC236}">
                <a16:creationId xmlns:a16="http://schemas.microsoft.com/office/drawing/2014/main" id="{DA578EE6-FF6B-D593-00B6-F0EDFE076CC9}"/>
              </a:ext>
            </a:extLst>
          </p:cNvPr>
          <p:cNvSpPr>
            <a:spLocks noGrp="1" noChangeArrowheads="1"/>
          </p:cNvSpPr>
          <p:nvPr>
            <p:ph type="dt" sz="half" idx="10"/>
          </p:nvPr>
        </p:nvSpPr>
        <p:spPr bwMode="auto">
          <a:xfrm>
            <a:off x="9906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kumimoji="0" sz="1400" b="0">
                <a:solidFill>
                  <a:schemeClr val="bg2"/>
                </a:solidFill>
                <a:latin typeface="+mn-lt"/>
                <a:ea typeface="+mn-ea"/>
              </a:defRPr>
            </a:lvl1pPr>
          </a:lstStyle>
          <a:p>
            <a:pPr>
              <a:defRPr/>
            </a:pPr>
            <a:endParaRPr lang="en-US" altLang="zh-CN"/>
          </a:p>
        </p:txBody>
      </p:sp>
      <p:sp>
        <p:nvSpPr>
          <p:cNvPr id="13" name="Rectangle 15">
            <a:extLst>
              <a:ext uri="{FF2B5EF4-FFF2-40B4-BE49-F238E27FC236}">
                <a16:creationId xmlns:a16="http://schemas.microsoft.com/office/drawing/2014/main" id="{9A5FBE95-EA4F-374A-B015-D86E1BC089F0}"/>
              </a:ext>
            </a:extLst>
          </p:cNvPr>
          <p:cNvSpPr>
            <a:spLocks noGrp="1" noChangeArrowheads="1"/>
          </p:cNvSpPr>
          <p:nvPr>
            <p:ph type="ftr" sz="quarter" idx="11"/>
          </p:nvPr>
        </p:nvSpPr>
        <p:spPr bwMode="auto">
          <a:xfrm>
            <a:off x="34290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a:defRPr kumimoji="0" sz="1400" b="0">
                <a:solidFill>
                  <a:schemeClr val="bg2"/>
                </a:solidFill>
                <a:latin typeface="+mn-lt"/>
                <a:ea typeface="+mn-ea"/>
              </a:defRPr>
            </a:lvl1pPr>
          </a:lstStyle>
          <a:p>
            <a:pPr>
              <a:defRPr/>
            </a:pPr>
            <a:endParaRPr lang="en-US" altLang="zh-CN"/>
          </a:p>
        </p:txBody>
      </p:sp>
      <p:sp>
        <p:nvSpPr>
          <p:cNvPr id="14" name="Rectangle 16">
            <a:extLst>
              <a:ext uri="{FF2B5EF4-FFF2-40B4-BE49-F238E27FC236}">
                <a16:creationId xmlns:a16="http://schemas.microsoft.com/office/drawing/2014/main" id="{A3BA2D63-F754-59A5-42F5-C4197AD431C6}"/>
              </a:ext>
            </a:extLst>
          </p:cNvPr>
          <p:cNvSpPr>
            <a:spLocks noGrp="1" noChangeArrowheads="1"/>
          </p:cNvSpPr>
          <p:nvPr>
            <p:ph type="sldNum" sz="quarter" idx="12"/>
          </p:nvPr>
        </p:nvSpPr>
        <p:spPr bwMode="auto">
          <a:xfrm>
            <a:off x="68580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defRPr kumimoji="0" sz="1400" b="0">
                <a:solidFill>
                  <a:schemeClr val="bg2"/>
                </a:solidFill>
                <a:latin typeface="Tahoma" panose="020B0604030504040204" pitchFamily="34" charset="0"/>
                <a:ea typeface="宋体" panose="02010600030101010101" pitchFamily="2" charset="-122"/>
              </a:defRPr>
            </a:lvl1pPr>
          </a:lstStyle>
          <a:p>
            <a:fld id="{BCF41E6D-B607-4256-B516-9404E90F66D6}" type="slidenum">
              <a:rPr lang="en-US" altLang="zh-CN"/>
              <a:pPr/>
              <a:t>‹#›</a:t>
            </a:fld>
            <a:endParaRPr lang="en-US" altLang="zh-CN"/>
          </a:p>
        </p:txBody>
      </p:sp>
    </p:spTree>
    <p:extLst>
      <p:ext uri="{BB962C8B-B14F-4D97-AF65-F5344CB8AC3E}">
        <p14:creationId xmlns:p14="http://schemas.microsoft.com/office/powerpoint/2010/main" val="2252251924"/>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60384507"/>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40538881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214282" y="115888"/>
            <a:ext cx="7793037" cy="911225"/>
          </a:xfrm>
        </p:spPr>
        <p:txBody>
          <a:bodyPr/>
          <a:lstStyle/>
          <a:p>
            <a:r>
              <a:rPr lang="zh-CN" altLang="en-US"/>
              <a:t>单击此处编辑母版标题样式</a:t>
            </a:r>
          </a:p>
        </p:txBody>
      </p:sp>
      <p:sp>
        <p:nvSpPr>
          <p:cNvPr id="3" name="内容占位符 2"/>
          <p:cNvSpPr>
            <a:spLocks noGrp="1"/>
          </p:cNvSpPr>
          <p:nvPr>
            <p:ph sz="half" idx="1"/>
          </p:nvPr>
        </p:nvSpPr>
        <p:spPr>
          <a:xfrm>
            <a:off x="755650" y="1268413"/>
            <a:ext cx="38100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18050" y="1268413"/>
            <a:ext cx="38100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40465258"/>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52804735"/>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19205107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207317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33778343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22811635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09429387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54800" y="115888"/>
            <a:ext cx="1965325" cy="64103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755650" y="115888"/>
            <a:ext cx="5746750" cy="64103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98473964"/>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27088" y="115888"/>
            <a:ext cx="7793037" cy="911225"/>
          </a:xfrm>
        </p:spPr>
        <p:txBody>
          <a:bodyPr/>
          <a:lstStyle/>
          <a:p>
            <a:r>
              <a:rPr lang="zh-CN" altLang="en-US"/>
              <a:t>单击此处编辑母版标题样式</a:t>
            </a:r>
          </a:p>
        </p:txBody>
      </p:sp>
      <p:sp>
        <p:nvSpPr>
          <p:cNvPr id="3" name="文本占位符 2"/>
          <p:cNvSpPr>
            <a:spLocks noGrp="1"/>
          </p:cNvSpPr>
          <p:nvPr>
            <p:ph type="body" sz="half" idx="1"/>
          </p:nvPr>
        </p:nvSpPr>
        <p:spPr>
          <a:xfrm>
            <a:off x="755650" y="1268413"/>
            <a:ext cx="3810000" cy="5257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18050" y="1268413"/>
            <a:ext cx="3810000" cy="5257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6541045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OverTx" preserve="1">
  <p:cSld name="标题和两项内容在文本之上">
    <p:spTree>
      <p:nvGrpSpPr>
        <p:cNvPr id="1" name=""/>
        <p:cNvGrpSpPr/>
        <p:nvPr/>
      </p:nvGrpSpPr>
      <p:grpSpPr>
        <a:xfrm>
          <a:off x="0" y="0"/>
          <a:ext cx="0" cy="0"/>
          <a:chOff x="0" y="0"/>
          <a:chExt cx="0" cy="0"/>
        </a:xfrm>
      </p:grpSpPr>
      <p:sp>
        <p:nvSpPr>
          <p:cNvPr id="2" name="标题 1"/>
          <p:cNvSpPr>
            <a:spLocks noGrp="1"/>
          </p:cNvSpPr>
          <p:nvPr>
            <p:ph type="title"/>
          </p:nvPr>
        </p:nvSpPr>
        <p:spPr>
          <a:xfrm>
            <a:off x="827088" y="115888"/>
            <a:ext cx="7793037" cy="911225"/>
          </a:xfrm>
        </p:spPr>
        <p:txBody>
          <a:bodyPr/>
          <a:lstStyle/>
          <a:p>
            <a:r>
              <a:rPr lang="zh-CN" altLang="en-US"/>
              <a:t>单击此处编辑母版标题样式</a:t>
            </a:r>
          </a:p>
        </p:txBody>
      </p:sp>
      <p:sp>
        <p:nvSpPr>
          <p:cNvPr id="3" name="内容占位符 2"/>
          <p:cNvSpPr>
            <a:spLocks noGrp="1"/>
          </p:cNvSpPr>
          <p:nvPr>
            <p:ph sz="quarter" idx="1"/>
          </p:nvPr>
        </p:nvSpPr>
        <p:spPr>
          <a:xfrm>
            <a:off x="755650" y="1268413"/>
            <a:ext cx="3810000" cy="2552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718050" y="1268413"/>
            <a:ext cx="3810000" cy="2552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half" idx="3"/>
          </p:nvPr>
        </p:nvSpPr>
        <p:spPr>
          <a:xfrm>
            <a:off x="755650" y="3973513"/>
            <a:ext cx="7772400" cy="2552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233397407"/>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27088" y="115888"/>
            <a:ext cx="7793037" cy="911225"/>
          </a:xfrm>
        </p:spPr>
        <p:txBody>
          <a:bodyPr/>
          <a:lstStyle/>
          <a:p>
            <a:r>
              <a:rPr lang="zh-CN" altLang="en-US"/>
              <a:t>单击此处编辑母版标题样式</a:t>
            </a:r>
          </a:p>
        </p:txBody>
      </p:sp>
      <p:sp>
        <p:nvSpPr>
          <p:cNvPr id="3" name="文本占位符 2"/>
          <p:cNvSpPr>
            <a:spLocks noGrp="1"/>
          </p:cNvSpPr>
          <p:nvPr>
            <p:ph type="body" sz="half" idx="1"/>
          </p:nvPr>
        </p:nvSpPr>
        <p:spPr>
          <a:xfrm>
            <a:off x="755650" y="1268413"/>
            <a:ext cx="3810000" cy="5257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718050" y="1268413"/>
            <a:ext cx="3810000" cy="2552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718050" y="3973513"/>
            <a:ext cx="3810000" cy="2552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112610047"/>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AndObj" preserve="1">
  <p:cSld name="标题，两项小型内容和一项型大内容">
    <p:spTree>
      <p:nvGrpSpPr>
        <p:cNvPr id="1" name=""/>
        <p:cNvGrpSpPr/>
        <p:nvPr/>
      </p:nvGrpSpPr>
      <p:grpSpPr>
        <a:xfrm>
          <a:off x="0" y="0"/>
          <a:ext cx="0" cy="0"/>
          <a:chOff x="0" y="0"/>
          <a:chExt cx="0" cy="0"/>
        </a:xfrm>
      </p:grpSpPr>
      <p:sp>
        <p:nvSpPr>
          <p:cNvPr id="2" name="标题 1"/>
          <p:cNvSpPr>
            <a:spLocks noGrp="1"/>
          </p:cNvSpPr>
          <p:nvPr>
            <p:ph type="title"/>
          </p:nvPr>
        </p:nvSpPr>
        <p:spPr>
          <a:xfrm>
            <a:off x="827088" y="115888"/>
            <a:ext cx="7793037" cy="911225"/>
          </a:xfrm>
        </p:spPr>
        <p:txBody>
          <a:bodyPr/>
          <a:lstStyle/>
          <a:p>
            <a:r>
              <a:rPr lang="zh-CN" altLang="en-US"/>
              <a:t>单击此处编辑母版标题样式</a:t>
            </a:r>
          </a:p>
        </p:txBody>
      </p:sp>
      <p:sp>
        <p:nvSpPr>
          <p:cNvPr id="3" name="内容占位符 2"/>
          <p:cNvSpPr>
            <a:spLocks noGrp="1"/>
          </p:cNvSpPr>
          <p:nvPr>
            <p:ph sz="quarter" idx="1"/>
          </p:nvPr>
        </p:nvSpPr>
        <p:spPr>
          <a:xfrm>
            <a:off x="755650" y="1268413"/>
            <a:ext cx="3810000" cy="2552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755650" y="3973513"/>
            <a:ext cx="3810000" cy="2552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half" idx="3"/>
          </p:nvPr>
        </p:nvSpPr>
        <p:spPr>
          <a:xfrm>
            <a:off x="4718050" y="1268413"/>
            <a:ext cx="3810000" cy="5257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222203737"/>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5097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681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9"/>
          <a:srcRect/>
          <a:stretch>
            <a:fillRect/>
          </a:stretch>
        </a:blipFill>
        <a:effectLst/>
      </p:bgPr>
    </p:bg>
    <p:spTree>
      <p:nvGrpSpPr>
        <p:cNvPr id="1" name=""/>
        <p:cNvGrpSpPr/>
        <p:nvPr/>
      </p:nvGrpSpPr>
      <p:grpSpPr>
        <a:xfrm>
          <a:off x="0" y="0"/>
          <a:ext cx="0" cy="0"/>
          <a:chOff x="0" y="0"/>
          <a:chExt cx="0" cy="0"/>
        </a:xfrm>
      </p:grpSpPr>
      <p:sp>
        <p:nvSpPr>
          <p:cNvPr id="53250" name="Rectangle 9">
            <a:extLst>
              <a:ext uri="{FF2B5EF4-FFF2-40B4-BE49-F238E27FC236}">
                <a16:creationId xmlns:a16="http://schemas.microsoft.com/office/drawing/2014/main" id="{FFC1482B-8577-F3B7-B2CC-B90FE6362465}"/>
              </a:ext>
            </a:extLst>
          </p:cNvPr>
          <p:cNvSpPr>
            <a:spLocks noGrp="1" noChangeArrowheads="1"/>
          </p:cNvSpPr>
          <p:nvPr>
            <p:ph type="title"/>
          </p:nvPr>
        </p:nvSpPr>
        <p:spPr bwMode="auto">
          <a:xfrm>
            <a:off x="827088" y="115888"/>
            <a:ext cx="7793037" cy="91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53251" name="Rectangle 10">
            <a:extLst>
              <a:ext uri="{FF2B5EF4-FFF2-40B4-BE49-F238E27FC236}">
                <a16:creationId xmlns:a16="http://schemas.microsoft.com/office/drawing/2014/main" id="{AAB025EF-7DEA-2834-A8D7-FBD78C4A58C4}"/>
              </a:ext>
            </a:extLst>
          </p:cNvPr>
          <p:cNvSpPr>
            <a:spLocks noGrp="1" noChangeArrowheads="1"/>
          </p:cNvSpPr>
          <p:nvPr>
            <p:ph type="body" idx="1"/>
          </p:nvPr>
        </p:nvSpPr>
        <p:spPr bwMode="auto">
          <a:xfrm>
            <a:off x="755650" y="1268413"/>
            <a:ext cx="77724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矩形 3">
            <a:extLst>
              <a:ext uri="{FF2B5EF4-FFF2-40B4-BE49-F238E27FC236}">
                <a16:creationId xmlns:a16="http://schemas.microsoft.com/office/drawing/2014/main" id="{5FFC6230-12A0-1C38-2D1E-339BF7774FE9}"/>
              </a:ext>
            </a:extLst>
          </p:cNvPr>
          <p:cNvSpPr>
            <a:spLocks noChangeArrowheads="1"/>
          </p:cNvSpPr>
          <p:nvPr userDrawn="1"/>
        </p:nvSpPr>
        <p:spPr bwMode="auto">
          <a:xfrm>
            <a:off x="-76200" y="6507163"/>
            <a:ext cx="3857625" cy="349250"/>
          </a:xfrm>
          <a:prstGeom prst="rect">
            <a:avLst/>
          </a:prstGeom>
          <a:noFill/>
          <a:ln w="9525">
            <a:noFill/>
            <a:miter lim="800000"/>
            <a:headEnd/>
            <a:tailEnd/>
          </a:ln>
        </p:spPr>
        <p:txBody>
          <a:bodyPr>
            <a:spAutoFit/>
          </a:bodyPr>
          <a:lstStyle/>
          <a:p>
            <a:pPr marL="342900" indent="-342900" eaLnBrk="0" hangingPunct="0">
              <a:lnSpc>
                <a:spcPct val="120000"/>
              </a:lnSpc>
              <a:spcBef>
                <a:spcPct val="20000"/>
              </a:spcBef>
              <a:buClr>
                <a:srgbClr val="3333CC"/>
              </a:buClr>
              <a:buSzPct val="55000"/>
              <a:tabLst>
                <a:tab pos="3595688" algn="l"/>
              </a:tabLst>
              <a:defRPr/>
            </a:pPr>
            <a:r>
              <a:rPr lang="zh-CN" altLang="en-US" sz="1400" b="0" dirty="0">
                <a:solidFill>
                  <a:schemeClr val="bg1"/>
                </a:solidFill>
                <a:effectLst>
                  <a:outerShdw blurRad="38100" dist="38100" dir="2700000" algn="tl">
                    <a:srgbClr val="000000">
                      <a:alpha val="43137"/>
                    </a:srgbClr>
                  </a:outerShdw>
                </a:effectLst>
                <a:latin typeface="黑体" pitchFamily="2" charset="-122"/>
                <a:ea typeface="黑体" pitchFamily="2" charset="-122"/>
                <a:cs typeface="Arial" charset="0"/>
              </a:rPr>
              <a:t> 西安电子科技大学 通院</a:t>
            </a:r>
            <a:r>
              <a:rPr lang="en-US" altLang="zh-CN" sz="1400" b="0" dirty="0">
                <a:solidFill>
                  <a:schemeClr val="bg1"/>
                </a:solidFill>
                <a:effectLst>
                  <a:outerShdw blurRad="38100" dist="38100" dir="2700000" algn="tl">
                    <a:srgbClr val="000000">
                      <a:alpha val="43137"/>
                    </a:srgbClr>
                  </a:outerShdw>
                </a:effectLst>
                <a:latin typeface="黑体" pitchFamily="2" charset="-122"/>
                <a:ea typeface="黑体" pitchFamily="2" charset="-122"/>
                <a:cs typeface="Arial" charset="0"/>
              </a:rPr>
              <a:t>                           </a:t>
            </a:r>
            <a:endParaRPr lang="en-US" altLang="zh-CN" sz="1400" b="0" dirty="0">
              <a:solidFill>
                <a:schemeClr val="bg1"/>
              </a:solidFill>
              <a:effectLst>
                <a:outerShdw blurRad="38100" dist="38100" dir="2700000" algn="tl">
                  <a:srgbClr val="000000">
                    <a:alpha val="43137"/>
                  </a:srgbClr>
                </a:outerShdw>
              </a:effectLst>
              <a:latin typeface="黑体" pitchFamily="2" charset="-122"/>
              <a:ea typeface="黑体" pitchFamily="2" charset="-122"/>
              <a:cs typeface="Arial" charset="0"/>
              <a:sym typeface="Wingdings" pitchFamily="2" charset="2"/>
            </a:endParaRPr>
          </a:p>
        </p:txBody>
      </p:sp>
      <p:sp>
        <p:nvSpPr>
          <p:cNvPr id="5" name="矩形 4">
            <a:extLst>
              <a:ext uri="{FF2B5EF4-FFF2-40B4-BE49-F238E27FC236}">
                <a16:creationId xmlns:a16="http://schemas.microsoft.com/office/drawing/2014/main" id="{F28F09C3-8E22-8ACB-3E83-055B97C92906}"/>
              </a:ext>
            </a:extLst>
          </p:cNvPr>
          <p:cNvSpPr/>
          <p:nvPr userDrawn="1"/>
        </p:nvSpPr>
        <p:spPr>
          <a:xfrm>
            <a:off x="6972300" y="6492875"/>
            <a:ext cx="2143125" cy="307975"/>
          </a:xfrm>
          <a:prstGeom prst="rect">
            <a:avLst/>
          </a:prstGeom>
        </p:spPr>
        <p:txBody>
          <a:bodyPr>
            <a:spAutoFit/>
          </a:bodyPr>
          <a:lstStyle/>
          <a:p>
            <a:pPr algn="r" eaLnBrk="0" hangingPunct="0">
              <a:defRPr/>
            </a:pPr>
            <a:r>
              <a:rPr lang="zh-CN" altLang="en-US" sz="1400" b="0" dirty="0">
                <a:solidFill>
                  <a:schemeClr val="bg1"/>
                </a:solidFill>
                <a:effectLst>
                  <a:outerShdw blurRad="38100" dist="38100" dir="2700000" algn="tl">
                    <a:srgbClr val="000000">
                      <a:alpha val="43137"/>
                    </a:srgbClr>
                  </a:outerShdw>
                </a:effectLst>
                <a:latin typeface="黑体" pitchFamily="2" charset="-122"/>
                <a:ea typeface="黑体" pitchFamily="2" charset="-122"/>
              </a:rPr>
              <a:t>  曹丽娜 </a:t>
            </a:r>
            <a:endParaRPr lang="zh-CN" altLang="en-US" sz="1400" b="0" dirty="0">
              <a:solidFill>
                <a:schemeClr val="bg1"/>
              </a:solidFill>
              <a:effectLst>
                <a:outerShdw blurRad="38100" dist="38100" dir="2700000" algn="tl">
                  <a:srgbClr val="000000">
                    <a:alpha val="43137"/>
                  </a:srgbClr>
                </a:outerShdw>
              </a:effectLst>
            </a:endParaRPr>
          </a:p>
        </p:txBody>
      </p:sp>
    </p:spTree>
  </p:cSld>
  <p:clrMap bg1="lt1" tx1="dk1" bg2="lt2" tx2="dk2" accent1="accent1" accent2="accent2" accent3="accent3" accent4="accent4" accent5="accent5" accent6="accent6" hlink="hlink" folHlink="folHlink"/>
  <p:sldLayoutIdLst>
    <p:sldLayoutId id="2147485638" r:id="rId1"/>
    <p:sldLayoutId id="2147485622" r:id="rId2"/>
    <p:sldLayoutId id="2147485623" r:id="rId3"/>
    <p:sldLayoutId id="2147485624" r:id="rId4"/>
    <p:sldLayoutId id="2147485625" r:id="rId5"/>
    <p:sldLayoutId id="2147485626" r:id="rId6"/>
    <p:sldLayoutId id="2147485627" r:id="rId7"/>
    <p:sldLayoutId id="2147485628" r:id="rId8"/>
    <p:sldLayoutId id="2147485629" r:id="rId9"/>
    <p:sldLayoutId id="2147485630" r:id="rId10"/>
    <p:sldLayoutId id="2147485631" r:id="rId11"/>
    <p:sldLayoutId id="2147485632" r:id="rId12"/>
    <p:sldLayoutId id="2147485633" r:id="rId13"/>
    <p:sldLayoutId id="2147485634" r:id="rId14"/>
    <p:sldLayoutId id="2147485635" r:id="rId15"/>
    <p:sldLayoutId id="2147485636" r:id="rId16"/>
    <p:sldLayoutId id="2147485637" r:id="rId17"/>
  </p:sldLayoutIdLst>
  <p:transition/>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ea typeface="宋体" pitchFamily="2" charset="-122"/>
        </a:defRPr>
      </a:lvl2pPr>
      <a:lvl3pPr algn="l" rtl="0" eaLnBrk="0" fontAlgn="base" hangingPunct="0">
        <a:spcBef>
          <a:spcPct val="0"/>
        </a:spcBef>
        <a:spcAft>
          <a:spcPct val="0"/>
        </a:spcAft>
        <a:defRPr sz="4400">
          <a:solidFill>
            <a:schemeClr val="tx2"/>
          </a:solidFill>
          <a:latin typeface="Tahoma" pitchFamily="34" charset="0"/>
          <a:ea typeface="宋体" pitchFamily="2" charset="-122"/>
        </a:defRPr>
      </a:lvl3pPr>
      <a:lvl4pPr algn="l" rtl="0" eaLnBrk="0" fontAlgn="base" hangingPunct="0">
        <a:spcBef>
          <a:spcPct val="0"/>
        </a:spcBef>
        <a:spcAft>
          <a:spcPct val="0"/>
        </a:spcAft>
        <a:defRPr sz="4400">
          <a:solidFill>
            <a:schemeClr val="tx2"/>
          </a:solidFill>
          <a:latin typeface="Tahoma" pitchFamily="34" charset="0"/>
          <a:ea typeface="宋体" pitchFamily="2" charset="-122"/>
        </a:defRPr>
      </a:lvl4pPr>
      <a:lvl5pPr algn="l" rtl="0" eaLnBrk="0" fontAlgn="base" hangingPunct="0">
        <a:spcBef>
          <a:spcPct val="0"/>
        </a:spcBef>
        <a:spcAft>
          <a:spcPct val="0"/>
        </a:spcAft>
        <a:defRPr sz="4400">
          <a:solidFill>
            <a:schemeClr val="tx2"/>
          </a:solidFill>
          <a:latin typeface="Tahoma" pitchFamily="34" charset="0"/>
          <a:ea typeface="宋体" pitchFamily="2" charset="-122"/>
        </a:defRPr>
      </a:lvl5pPr>
      <a:lvl6pPr marL="457200" algn="l" rtl="0" fontAlgn="base">
        <a:spcBef>
          <a:spcPct val="0"/>
        </a:spcBef>
        <a:spcAft>
          <a:spcPct val="0"/>
        </a:spcAft>
        <a:defRPr sz="4400">
          <a:solidFill>
            <a:schemeClr val="tx2"/>
          </a:solidFill>
          <a:latin typeface="Tahoma" pitchFamily="34" charset="0"/>
          <a:ea typeface="宋体" pitchFamily="2" charset="-122"/>
        </a:defRPr>
      </a:lvl6pPr>
      <a:lvl7pPr marL="914400" algn="l" rtl="0" fontAlgn="base">
        <a:spcBef>
          <a:spcPct val="0"/>
        </a:spcBef>
        <a:spcAft>
          <a:spcPct val="0"/>
        </a:spcAft>
        <a:defRPr sz="4400">
          <a:solidFill>
            <a:schemeClr val="tx2"/>
          </a:solidFill>
          <a:latin typeface="Tahoma" pitchFamily="34" charset="0"/>
          <a:ea typeface="宋体" pitchFamily="2" charset="-122"/>
        </a:defRPr>
      </a:lvl7pPr>
      <a:lvl8pPr marL="1371600" algn="l" rtl="0" fontAlgn="base">
        <a:spcBef>
          <a:spcPct val="0"/>
        </a:spcBef>
        <a:spcAft>
          <a:spcPct val="0"/>
        </a:spcAft>
        <a:defRPr sz="4400">
          <a:solidFill>
            <a:schemeClr val="tx2"/>
          </a:solidFill>
          <a:latin typeface="Tahoma" pitchFamily="34" charset="0"/>
          <a:ea typeface="宋体" pitchFamily="2" charset="-122"/>
        </a:defRPr>
      </a:lvl8pPr>
      <a:lvl9pPr marL="1828800" algn="l" rtl="0" fontAlgn="base">
        <a:spcBef>
          <a:spcPct val="0"/>
        </a:spcBef>
        <a:spcAft>
          <a:spcPct val="0"/>
        </a:spcAft>
        <a:defRPr sz="4400">
          <a:solidFill>
            <a:schemeClr val="tx2"/>
          </a:solidFill>
          <a:latin typeface="Tahoma"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3.png"/><Relationship Id="rId2" Type="http://schemas.openxmlformats.org/officeDocument/2006/relationships/image" Target="../media/image8.jpeg"/><Relationship Id="rId1" Type="http://schemas.openxmlformats.org/officeDocument/2006/relationships/slideLayout" Target="../slideLayouts/slideLayout1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7.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6.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16.xml"/><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7.xml"/><Relationship Id="rId5" Type="http://schemas.openxmlformats.org/officeDocument/2006/relationships/image" Target="../media/image41.png"/><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7.xml"/><Relationship Id="rId5" Type="http://schemas.openxmlformats.org/officeDocument/2006/relationships/image" Target="../media/image47.png"/><Relationship Id="rId4" Type="http://schemas.openxmlformats.org/officeDocument/2006/relationships/image" Target="../media/image46.png"/></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xml"/><Relationship Id="rId1" Type="http://schemas.openxmlformats.org/officeDocument/2006/relationships/slideLayout" Target="../slideLayouts/slideLayout17.xml"/><Relationship Id="rId5" Type="http://schemas.openxmlformats.org/officeDocument/2006/relationships/image" Target="../media/image49.wmf"/><Relationship Id="rId4" Type="http://schemas.openxmlformats.org/officeDocument/2006/relationships/oleObject" Target="../embeddings/oleObject1.bin"/></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xml"/><Relationship Id="rId1" Type="http://schemas.openxmlformats.org/officeDocument/2006/relationships/slideLayout" Target="../slideLayouts/slideLayout16.xml"/><Relationship Id="rId4" Type="http://schemas.openxmlformats.org/officeDocument/2006/relationships/image" Target="../media/image51.png"/></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52.png"/><Relationship Id="rId1" Type="http://schemas.openxmlformats.org/officeDocument/2006/relationships/slideLayout" Target="../slideLayouts/slideLayout17.xml"/><Relationship Id="rId5" Type="http://schemas.openxmlformats.org/officeDocument/2006/relationships/image" Target="../media/image54.png"/><Relationship Id="rId4" Type="http://schemas.openxmlformats.org/officeDocument/2006/relationships/image" Target="../media/image53.png"/></Relationships>
</file>

<file path=ppt/slides/_rels/slide2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xml"/><Relationship Id="rId1" Type="http://schemas.openxmlformats.org/officeDocument/2006/relationships/slideLayout" Target="../slideLayouts/slideLayout16.xml"/><Relationship Id="rId4" Type="http://schemas.openxmlformats.org/officeDocument/2006/relationships/image" Target="../media/image58.png"/></Relationships>
</file>

<file path=ppt/slides/_rels/slide2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25.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2.wmf"/><Relationship Id="rId7" Type="http://schemas.openxmlformats.org/officeDocument/2006/relationships/image" Target="../media/image64.wmf"/><Relationship Id="rId2" Type="http://schemas.openxmlformats.org/officeDocument/2006/relationships/oleObject" Target="../embeddings/oleObject2.bin"/><Relationship Id="rId1" Type="http://schemas.openxmlformats.org/officeDocument/2006/relationships/slideLayout" Target="../slideLayouts/slideLayout16.xml"/><Relationship Id="rId6" Type="http://schemas.openxmlformats.org/officeDocument/2006/relationships/oleObject" Target="../embeddings/oleObject4.bin"/><Relationship Id="rId5" Type="http://schemas.openxmlformats.org/officeDocument/2006/relationships/image" Target="../media/image63.wmf"/><Relationship Id="rId4" Type="http://schemas.openxmlformats.org/officeDocument/2006/relationships/oleObject" Target="../embeddings/oleObject3.bin"/></Relationships>
</file>

<file path=ppt/slides/_rels/slide26.xml.rels><?xml version="1.0" encoding="UTF-8" standalone="yes"?>
<Relationships xmlns="http://schemas.openxmlformats.org/package/2006/relationships"><Relationship Id="rId8" Type="http://schemas.openxmlformats.org/officeDocument/2006/relationships/image" Target="../media/image68.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image" Target="../media/image66.png"/><Relationship Id="rId1" Type="http://schemas.openxmlformats.org/officeDocument/2006/relationships/slideLayout" Target="../slideLayouts/slideLayout16.xml"/><Relationship Id="rId6" Type="http://schemas.openxmlformats.org/officeDocument/2006/relationships/image" Target="../media/image67.wmf"/><Relationship Id="rId5" Type="http://schemas.openxmlformats.org/officeDocument/2006/relationships/oleObject" Target="../embeddings/oleObject6.bin"/><Relationship Id="rId4" Type="http://schemas.openxmlformats.org/officeDocument/2006/relationships/image" Target="../media/image62.wmf"/><Relationship Id="rId9" Type="http://schemas.openxmlformats.org/officeDocument/2006/relationships/image" Target="../media/image6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image" Target="../media/image73.jpeg"/></Relationships>
</file>

<file path=ppt/slides/_rels/slide3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5" Type="http://schemas.openxmlformats.org/officeDocument/2006/relationships/image" Target="../media/image77.png"/><Relationship Id="rId4" Type="http://schemas.openxmlformats.org/officeDocument/2006/relationships/image" Target="../media/image73.jpeg"/></Relationships>
</file>

<file path=ppt/slides/_rels/slide3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image" Target="../media/image73.jpeg"/><Relationship Id="rId1" Type="http://schemas.openxmlformats.org/officeDocument/2006/relationships/slideLayout" Target="../slideLayouts/slideLayout2.xml"/><Relationship Id="rId4" Type="http://schemas.openxmlformats.org/officeDocument/2006/relationships/image" Target="../media/image79.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image" Target="../media/image80.png"/><Relationship Id="rId1" Type="http://schemas.openxmlformats.org/officeDocument/2006/relationships/slideLayout" Target="../slideLayouts/slideLayout2.xml"/><Relationship Id="rId5" Type="http://schemas.openxmlformats.org/officeDocument/2006/relationships/image" Target="../media/image82.png"/><Relationship Id="rId4" Type="http://schemas.openxmlformats.org/officeDocument/2006/relationships/image" Target="../media/image81.wmf"/></Relationships>
</file>

<file path=ppt/slides/_rels/slide35.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3.png"/><Relationship Id="rId7" Type="http://schemas.openxmlformats.org/officeDocument/2006/relationships/image" Target="../media/image85.wmf"/><Relationship Id="rId2"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oleObject" Target="../embeddings/oleObject11.bin"/><Relationship Id="rId5" Type="http://schemas.openxmlformats.org/officeDocument/2006/relationships/image" Target="../media/image84.wmf"/><Relationship Id="rId4" Type="http://schemas.openxmlformats.org/officeDocument/2006/relationships/oleObject" Target="../embeddings/oleObject10.bin"/></Relationships>
</file>

<file path=ppt/slides/_rels/slide3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image" Target="../media/image92.png"/><Relationship Id="rId1" Type="http://schemas.openxmlformats.org/officeDocument/2006/relationships/slideLayout" Target="../slideLayouts/slideLayout2.xml"/><Relationship Id="rId5" Type="http://schemas.openxmlformats.org/officeDocument/2006/relationships/image" Target="../media/image94.png"/><Relationship Id="rId4" Type="http://schemas.openxmlformats.org/officeDocument/2006/relationships/image" Target="../media/image93.wmf"/></Relationships>
</file>

<file path=ppt/slides/_rels/slide3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8.png"/><Relationship Id="rId7" Type="http://schemas.openxmlformats.org/officeDocument/2006/relationships/image" Target="../media/image102.png"/><Relationship Id="rId2" Type="http://schemas.openxmlformats.org/officeDocument/2006/relationships/image" Target="../media/image97.png"/><Relationship Id="rId1" Type="http://schemas.openxmlformats.org/officeDocument/2006/relationships/slideLayout" Target="../slideLayouts/slideLayout2.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s>
</file>

<file path=ppt/slides/_rels/slide40.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 Id="rId5" Type="http://schemas.openxmlformats.org/officeDocument/2006/relationships/image" Target="../media/image108.png"/><Relationship Id="rId4" Type="http://schemas.openxmlformats.org/officeDocument/2006/relationships/image" Target="../media/image10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png"/></Relationships>
</file>

<file path=ppt/slides/_rels/slide44.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image" Target="../media/image113.wmf"/><Relationship Id="rId7" Type="http://schemas.openxmlformats.org/officeDocument/2006/relationships/image" Target="../media/image115.wmf"/><Relationship Id="rId2" Type="http://schemas.openxmlformats.org/officeDocument/2006/relationships/oleObject" Target="../embeddings/oleObject13.bin"/><Relationship Id="rId1" Type="http://schemas.openxmlformats.org/officeDocument/2006/relationships/slideLayout" Target="../slideLayouts/slideLayout16.xml"/><Relationship Id="rId6" Type="http://schemas.openxmlformats.org/officeDocument/2006/relationships/oleObject" Target="../embeddings/oleObject15.bin"/><Relationship Id="rId5" Type="http://schemas.openxmlformats.org/officeDocument/2006/relationships/image" Target="../media/image114.wmf"/><Relationship Id="rId4" Type="http://schemas.openxmlformats.org/officeDocument/2006/relationships/oleObject" Target="../embeddings/oleObject14.bin"/></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image" Target="../media/image117.png"/><Relationship Id="rId1" Type="http://schemas.openxmlformats.org/officeDocument/2006/relationships/slideLayout" Target="../slideLayouts/slideLayout16.xml"/><Relationship Id="rId5" Type="http://schemas.openxmlformats.org/officeDocument/2006/relationships/image" Target="../media/image119.png"/><Relationship Id="rId4" Type="http://schemas.openxmlformats.org/officeDocument/2006/relationships/image" Target="../media/image118.wmf"/></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image" Target="../media/image120.png"/><Relationship Id="rId7" Type="http://schemas.openxmlformats.org/officeDocument/2006/relationships/image" Target="../media/image122.wmf"/><Relationship Id="rId2" Type="http://schemas.openxmlformats.org/officeDocument/2006/relationships/notesSlide" Target="../notesSlides/notesSlide6.xml"/><Relationship Id="rId1" Type="http://schemas.openxmlformats.org/officeDocument/2006/relationships/slideLayout" Target="../slideLayouts/slideLayout16.xml"/><Relationship Id="rId6" Type="http://schemas.openxmlformats.org/officeDocument/2006/relationships/oleObject" Target="../embeddings/oleObject18.bin"/><Relationship Id="rId11" Type="http://schemas.openxmlformats.org/officeDocument/2006/relationships/image" Target="../media/image125.png"/><Relationship Id="rId5" Type="http://schemas.openxmlformats.org/officeDocument/2006/relationships/image" Target="../media/image121.wmf"/><Relationship Id="rId10" Type="http://schemas.openxmlformats.org/officeDocument/2006/relationships/image" Target="../media/image124.png"/><Relationship Id="rId4" Type="http://schemas.openxmlformats.org/officeDocument/2006/relationships/oleObject" Target="../embeddings/oleObject17.bin"/><Relationship Id="rId9" Type="http://schemas.openxmlformats.org/officeDocument/2006/relationships/image" Target="../media/image123.wmf"/></Relationships>
</file>

<file path=ppt/slides/_rels/slide47.xml.rels><?xml version="1.0" encoding="UTF-8" standalone="yes"?>
<Relationships xmlns="http://schemas.openxmlformats.org/package/2006/relationships"><Relationship Id="rId8" Type="http://schemas.openxmlformats.org/officeDocument/2006/relationships/image" Target="../media/image129.png"/><Relationship Id="rId3" Type="http://schemas.openxmlformats.org/officeDocument/2006/relationships/oleObject" Target="../embeddings/oleObject20.bin"/><Relationship Id="rId7" Type="http://schemas.openxmlformats.org/officeDocument/2006/relationships/image" Target="../media/image128.png"/><Relationship Id="rId2" Type="http://schemas.openxmlformats.org/officeDocument/2006/relationships/notesSlide" Target="../notesSlides/notesSlide7.xml"/><Relationship Id="rId1" Type="http://schemas.openxmlformats.org/officeDocument/2006/relationships/slideLayout" Target="../slideLayouts/slideLayout16.xml"/><Relationship Id="rId6" Type="http://schemas.openxmlformats.org/officeDocument/2006/relationships/image" Target="../media/image127.wmf"/><Relationship Id="rId5" Type="http://schemas.openxmlformats.org/officeDocument/2006/relationships/oleObject" Target="../embeddings/oleObject21.bin"/><Relationship Id="rId4" Type="http://schemas.openxmlformats.org/officeDocument/2006/relationships/image" Target="../media/image126.wmf"/><Relationship Id="rId9" Type="http://schemas.openxmlformats.org/officeDocument/2006/relationships/image" Target="../media/image130.png"/></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image" Target="../media/image131.png"/><Relationship Id="rId1" Type="http://schemas.openxmlformats.org/officeDocument/2006/relationships/slideLayout" Target="../slideLayouts/slideLayout16.xml"/><Relationship Id="rId5" Type="http://schemas.openxmlformats.org/officeDocument/2006/relationships/image" Target="../media/image132.png"/><Relationship Id="rId4" Type="http://schemas.openxmlformats.org/officeDocument/2006/relationships/image" Target="../media/image127.wmf"/></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image" Target="../media/image134.png"/><Relationship Id="rId7" Type="http://schemas.openxmlformats.org/officeDocument/2006/relationships/image" Target="../media/image122.wmf"/><Relationship Id="rId2" Type="http://schemas.openxmlformats.org/officeDocument/2006/relationships/image" Target="../media/image133.png"/><Relationship Id="rId1" Type="http://schemas.openxmlformats.org/officeDocument/2006/relationships/slideLayout" Target="../slideLayouts/slideLayout16.xml"/><Relationship Id="rId6" Type="http://schemas.openxmlformats.org/officeDocument/2006/relationships/oleObject" Target="../embeddings/oleObject24.bin"/><Relationship Id="rId5" Type="http://schemas.openxmlformats.org/officeDocument/2006/relationships/image" Target="../media/image121.wmf"/><Relationship Id="rId10" Type="http://schemas.openxmlformats.org/officeDocument/2006/relationships/image" Target="../media/image135.png"/><Relationship Id="rId4" Type="http://schemas.openxmlformats.org/officeDocument/2006/relationships/oleObject" Target="../embeddings/oleObject23.bin"/><Relationship Id="rId9" Type="http://schemas.openxmlformats.org/officeDocument/2006/relationships/image" Target="../media/image123.wmf"/></Relationships>
</file>

<file path=ppt/slides/_rels/slide50.xml.rels><?xml version="1.0" encoding="UTF-8" standalone="yes"?>
<Relationships xmlns="http://schemas.openxmlformats.org/package/2006/relationships"><Relationship Id="rId8" Type="http://schemas.openxmlformats.org/officeDocument/2006/relationships/image" Target="../media/image139.png"/><Relationship Id="rId3" Type="http://schemas.openxmlformats.org/officeDocument/2006/relationships/image" Target="../media/image136.wmf"/><Relationship Id="rId7" Type="http://schemas.openxmlformats.org/officeDocument/2006/relationships/image" Target="../media/image138.wmf"/><Relationship Id="rId2" Type="http://schemas.openxmlformats.org/officeDocument/2006/relationships/oleObject" Target="../embeddings/oleObject26.bin"/><Relationship Id="rId1" Type="http://schemas.openxmlformats.org/officeDocument/2006/relationships/slideLayout" Target="../slideLayouts/slideLayout16.xml"/><Relationship Id="rId6" Type="http://schemas.openxmlformats.org/officeDocument/2006/relationships/oleObject" Target="../embeddings/oleObject28.bin"/><Relationship Id="rId5" Type="http://schemas.openxmlformats.org/officeDocument/2006/relationships/image" Target="../media/image137.wmf"/><Relationship Id="rId4" Type="http://schemas.openxmlformats.org/officeDocument/2006/relationships/oleObject" Target="../embeddings/oleObject27.bin"/></Relationships>
</file>

<file path=ppt/slides/_rels/slide51.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29.bin"/><Relationship Id="rId7" Type="http://schemas.openxmlformats.org/officeDocument/2006/relationships/image" Target="../media/image143.png"/><Relationship Id="rId2" Type="http://schemas.openxmlformats.org/officeDocument/2006/relationships/notesSlide" Target="../notesSlides/notesSlide8.xml"/><Relationship Id="rId1" Type="http://schemas.openxmlformats.org/officeDocument/2006/relationships/slideLayout" Target="../slideLayouts/slideLayout16.xml"/><Relationship Id="rId6" Type="http://schemas.openxmlformats.org/officeDocument/2006/relationships/image" Target="../media/image142.wmf"/><Relationship Id="rId5" Type="http://schemas.openxmlformats.org/officeDocument/2006/relationships/oleObject" Target="../embeddings/oleObject30.bin"/><Relationship Id="rId4" Type="http://schemas.openxmlformats.org/officeDocument/2006/relationships/image" Target="../media/image141.wmf"/></Relationships>
</file>

<file path=ppt/slides/_rels/slide53.xml.rels><?xml version="1.0" encoding="UTF-8" standalone="yes"?>
<Relationships xmlns="http://schemas.openxmlformats.org/package/2006/relationships"><Relationship Id="rId3" Type="http://schemas.openxmlformats.org/officeDocument/2006/relationships/image" Target="../media/image142.wmf"/><Relationship Id="rId7" Type="http://schemas.openxmlformats.org/officeDocument/2006/relationships/image" Target="../media/image146.png"/><Relationship Id="rId2" Type="http://schemas.openxmlformats.org/officeDocument/2006/relationships/oleObject" Target="../embeddings/oleObject31.bin"/><Relationship Id="rId1" Type="http://schemas.openxmlformats.org/officeDocument/2006/relationships/slideLayout" Target="../slideLayouts/slideLayout16.xml"/><Relationship Id="rId6" Type="http://schemas.openxmlformats.org/officeDocument/2006/relationships/image" Target="../media/image145.png"/><Relationship Id="rId5" Type="http://schemas.openxmlformats.org/officeDocument/2006/relationships/image" Target="../media/image144.wmf"/><Relationship Id="rId4" Type="http://schemas.openxmlformats.org/officeDocument/2006/relationships/oleObject" Target="../embeddings/oleObject32.bin"/></Relationships>
</file>

<file path=ppt/slides/_rels/slide54.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49.png"/><Relationship Id="rId5" Type="http://schemas.openxmlformats.org/officeDocument/2006/relationships/image" Target="../media/image148.wmf"/><Relationship Id="rId4" Type="http://schemas.openxmlformats.org/officeDocument/2006/relationships/oleObject" Target="../embeddings/oleObject33.bin"/></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notesSlide" Target="../notesSlides/notesSlide10.xml"/><Relationship Id="rId1" Type="http://schemas.openxmlformats.org/officeDocument/2006/relationships/slideLayout" Target="../slideLayouts/slideLayout16.xml"/><Relationship Id="rId6" Type="http://schemas.openxmlformats.org/officeDocument/2006/relationships/image" Target="../media/image151.wmf"/><Relationship Id="rId5" Type="http://schemas.openxmlformats.org/officeDocument/2006/relationships/oleObject" Target="../embeddings/oleObject35.bin"/><Relationship Id="rId4" Type="http://schemas.openxmlformats.org/officeDocument/2006/relationships/image" Target="../media/image150.w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image" Target="../media/image152.png"/><Relationship Id="rId1" Type="http://schemas.openxmlformats.org/officeDocument/2006/relationships/slideLayout" Target="../slideLayouts/slideLayout2.xml"/><Relationship Id="rId6" Type="http://schemas.openxmlformats.org/officeDocument/2006/relationships/image" Target="../media/image153.wmf"/><Relationship Id="rId5" Type="http://schemas.openxmlformats.org/officeDocument/2006/relationships/oleObject" Target="../embeddings/oleObject37.bin"/><Relationship Id="rId4" Type="http://schemas.openxmlformats.org/officeDocument/2006/relationships/image" Target="../media/image151.wmf"/></Relationships>
</file>

<file path=ppt/slides/_rels/slide57.xml.rels><?xml version="1.0" encoding="UTF-8" standalone="yes"?>
<Relationships xmlns="http://schemas.openxmlformats.org/package/2006/relationships"><Relationship Id="rId3" Type="http://schemas.openxmlformats.org/officeDocument/2006/relationships/image" Target="../media/image154.wmf"/><Relationship Id="rId7" Type="http://schemas.openxmlformats.org/officeDocument/2006/relationships/image" Target="../media/image156.wmf"/><Relationship Id="rId2" Type="http://schemas.openxmlformats.org/officeDocument/2006/relationships/oleObject" Target="../embeddings/oleObject38.bin"/><Relationship Id="rId1" Type="http://schemas.openxmlformats.org/officeDocument/2006/relationships/slideLayout" Target="../slideLayouts/slideLayout2.xml"/><Relationship Id="rId6" Type="http://schemas.openxmlformats.org/officeDocument/2006/relationships/oleObject" Target="../embeddings/oleObject40.bin"/><Relationship Id="rId5" Type="http://schemas.openxmlformats.org/officeDocument/2006/relationships/image" Target="../media/image155.wmf"/><Relationship Id="rId4" Type="http://schemas.openxmlformats.org/officeDocument/2006/relationships/oleObject" Target="../embeddings/oleObject39.bin"/></Relationships>
</file>

<file path=ppt/slides/_rels/slide58.xml.rels><?xml version="1.0" encoding="UTF-8" standalone="yes"?>
<Relationships xmlns="http://schemas.openxmlformats.org/package/2006/relationships"><Relationship Id="rId3" Type="http://schemas.openxmlformats.org/officeDocument/2006/relationships/image" Target="../media/image155.wmf"/><Relationship Id="rId2" Type="http://schemas.openxmlformats.org/officeDocument/2006/relationships/oleObject" Target="../embeddings/oleObject41.bin"/><Relationship Id="rId1" Type="http://schemas.openxmlformats.org/officeDocument/2006/relationships/slideLayout" Target="../slideLayouts/slideLayout2.xml"/><Relationship Id="rId4" Type="http://schemas.openxmlformats.org/officeDocument/2006/relationships/image" Target="../media/image157.png"/></Relationships>
</file>

<file path=ppt/slides/_rels/slide59.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slideLayout" Target="../slideLayouts/slideLayout2.xml"/><Relationship Id="rId4" Type="http://schemas.openxmlformats.org/officeDocument/2006/relationships/image" Target="../media/image160.png"/></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45.bin"/><Relationship Id="rId3" Type="http://schemas.openxmlformats.org/officeDocument/2006/relationships/image" Target="../media/image161.wmf"/><Relationship Id="rId7" Type="http://schemas.openxmlformats.org/officeDocument/2006/relationships/image" Target="../media/image163.wmf"/><Relationship Id="rId2" Type="http://schemas.openxmlformats.org/officeDocument/2006/relationships/oleObject" Target="../embeddings/oleObject42.bin"/><Relationship Id="rId1" Type="http://schemas.openxmlformats.org/officeDocument/2006/relationships/slideLayout" Target="../slideLayouts/slideLayout2.xml"/><Relationship Id="rId6" Type="http://schemas.openxmlformats.org/officeDocument/2006/relationships/oleObject" Target="../embeddings/oleObject44.bin"/><Relationship Id="rId11" Type="http://schemas.openxmlformats.org/officeDocument/2006/relationships/image" Target="../media/image166.png"/><Relationship Id="rId5" Type="http://schemas.openxmlformats.org/officeDocument/2006/relationships/image" Target="../media/image162.wmf"/><Relationship Id="rId10" Type="http://schemas.openxmlformats.org/officeDocument/2006/relationships/image" Target="../media/image165.png"/><Relationship Id="rId4" Type="http://schemas.openxmlformats.org/officeDocument/2006/relationships/oleObject" Target="../embeddings/oleObject43.bin"/><Relationship Id="rId9" Type="http://schemas.openxmlformats.org/officeDocument/2006/relationships/image" Target="../media/image164.wmf"/></Relationships>
</file>

<file path=ppt/slides/_rels/slide61.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image" Target="../media/image16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image" Target="../media/image169.png"/><Relationship Id="rId1" Type="http://schemas.openxmlformats.org/officeDocument/2006/relationships/slideLayout" Target="../slideLayouts/slideLayout2.xml"/><Relationship Id="rId5" Type="http://schemas.openxmlformats.org/officeDocument/2006/relationships/image" Target="../media/image171.png"/><Relationship Id="rId4" Type="http://schemas.openxmlformats.org/officeDocument/2006/relationships/image" Target="../media/image170.wmf"/></Relationships>
</file>

<file path=ppt/slides/_rels/slide63.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image" Target="../media/image17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image" Target="../media/image174.png"/><Relationship Id="rId1" Type="http://schemas.openxmlformats.org/officeDocument/2006/relationships/slideLayout" Target="../slideLayouts/slideLayout2.xml"/><Relationship Id="rId4" Type="http://schemas.openxmlformats.org/officeDocument/2006/relationships/image" Target="../media/image17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6.xml.rels><?xml version="1.0" encoding="UTF-8" standalone="yes"?>
<Relationships xmlns="http://schemas.openxmlformats.org/package/2006/relationships"><Relationship Id="rId2" Type="http://schemas.openxmlformats.org/officeDocument/2006/relationships/image" Target="../media/image177.png"/><Relationship Id="rId1" Type="http://schemas.openxmlformats.org/officeDocument/2006/relationships/slideLayout" Target="../slideLayouts/slideLayout16.xml"/></Relationships>
</file>

<file path=ppt/slides/_rels/slide67.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image" Target="../media/image17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image" Target="../media/image182.png"/><Relationship Id="rId1" Type="http://schemas.openxmlformats.org/officeDocument/2006/relationships/slideLayout" Target="../slideLayouts/slideLayout2.xml"/><Relationship Id="rId4" Type="http://schemas.openxmlformats.org/officeDocument/2006/relationships/image" Target="../media/image184.png"/></Relationships>
</file>

<file path=ppt/slides/_rels/slide70.xml.rels><?xml version="1.0" encoding="UTF-8" standalone="yes"?>
<Relationships xmlns="http://schemas.openxmlformats.org/package/2006/relationships"><Relationship Id="rId3" Type="http://schemas.openxmlformats.org/officeDocument/2006/relationships/image" Target="../media/image185.wmf"/><Relationship Id="rId2" Type="http://schemas.openxmlformats.org/officeDocument/2006/relationships/oleObject" Target="../embeddings/oleObject47.bin"/><Relationship Id="rId1" Type="http://schemas.openxmlformats.org/officeDocument/2006/relationships/slideLayout" Target="../slideLayouts/slideLayout2.xml"/><Relationship Id="rId5" Type="http://schemas.openxmlformats.org/officeDocument/2006/relationships/image" Target="../media/image187.png"/><Relationship Id="rId4" Type="http://schemas.openxmlformats.org/officeDocument/2006/relationships/image" Target="../media/image186.png"/></Relationships>
</file>

<file path=ppt/slides/_rels/slide71.xml.rels><?xml version="1.0" encoding="UTF-8" standalone="yes"?>
<Relationships xmlns="http://schemas.openxmlformats.org/package/2006/relationships"><Relationship Id="rId8" Type="http://schemas.openxmlformats.org/officeDocument/2006/relationships/image" Target="../media/image191.wmf"/><Relationship Id="rId3" Type="http://schemas.openxmlformats.org/officeDocument/2006/relationships/oleObject" Target="../embeddings/oleObject48.bin"/><Relationship Id="rId7" Type="http://schemas.openxmlformats.org/officeDocument/2006/relationships/oleObject" Target="../embeddings/oleObject50.bin"/><Relationship Id="rId2" Type="http://schemas.openxmlformats.org/officeDocument/2006/relationships/image" Target="../media/image188.png"/><Relationship Id="rId1" Type="http://schemas.openxmlformats.org/officeDocument/2006/relationships/slideLayout" Target="../slideLayouts/slideLayout2.xml"/><Relationship Id="rId6" Type="http://schemas.openxmlformats.org/officeDocument/2006/relationships/image" Target="../media/image190.wmf"/><Relationship Id="rId5" Type="http://schemas.openxmlformats.org/officeDocument/2006/relationships/oleObject" Target="../embeddings/oleObject49.bin"/><Relationship Id="rId4" Type="http://schemas.openxmlformats.org/officeDocument/2006/relationships/image" Target="../media/image189.wmf"/><Relationship Id="rId9" Type="http://schemas.openxmlformats.org/officeDocument/2006/relationships/image" Target="../media/image192.png"/></Relationships>
</file>

<file path=ppt/slides/_rels/slide72.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image" Target="../media/image193.png"/><Relationship Id="rId1" Type="http://schemas.openxmlformats.org/officeDocument/2006/relationships/slideLayout" Target="../slideLayouts/slideLayout2.xml"/><Relationship Id="rId4" Type="http://schemas.openxmlformats.org/officeDocument/2006/relationships/image" Target="../media/image195.png"/></Relationships>
</file>

<file path=ppt/slides/_rels/slide73.xml.rels><?xml version="1.0" encoding="UTF-8" standalone="yes"?>
<Relationships xmlns="http://schemas.openxmlformats.org/package/2006/relationships"><Relationship Id="rId8" Type="http://schemas.openxmlformats.org/officeDocument/2006/relationships/image" Target="../media/image199.png"/><Relationship Id="rId3" Type="http://schemas.openxmlformats.org/officeDocument/2006/relationships/image" Target="../media/image196.wmf"/><Relationship Id="rId7" Type="http://schemas.openxmlformats.org/officeDocument/2006/relationships/image" Target="../media/image198.wmf"/><Relationship Id="rId2" Type="http://schemas.openxmlformats.org/officeDocument/2006/relationships/oleObject" Target="../embeddings/oleObject51.bin"/><Relationship Id="rId1" Type="http://schemas.openxmlformats.org/officeDocument/2006/relationships/slideLayout" Target="../slideLayouts/slideLayout2.xml"/><Relationship Id="rId6" Type="http://schemas.openxmlformats.org/officeDocument/2006/relationships/oleObject" Target="../embeddings/oleObject53.bin"/><Relationship Id="rId5" Type="http://schemas.openxmlformats.org/officeDocument/2006/relationships/image" Target="../media/image197.wmf"/><Relationship Id="rId4" Type="http://schemas.openxmlformats.org/officeDocument/2006/relationships/oleObject" Target="../embeddings/oleObject52.bin"/></Relationships>
</file>

<file path=ppt/slides/_rels/slide74.xml.rels><?xml version="1.0" encoding="UTF-8" standalone="yes"?>
<Relationships xmlns="http://schemas.openxmlformats.org/package/2006/relationships"><Relationship Id="rId3" Type="http://schemas.openxmlformats.org/officeDocument/2006/relationships/image" Target="../media/image200.wmf"/><Relationship Id="rId2" Type="http://schemas.openxmlformats.org/officeDocument/2006/relationships/oleObject" Target="../embeddings/oleObject54.bin"/><Relationship Id="rId1" Type="http://schemas.openxmlformats.org/officeDocument/2006/relationships/slideLayout" Target="../slideLayouts/slideLayout2.xml"/><Relationship Id="rId6" Type="http://schemas.openxmlformats.org/officeDocument/2006/relationships/image" Target="../media/image202.png"/><Relationship Id="rId5" Type="http://schemas.openxmlformats.org/officeDocument/2006/relationships/image" Target="../media/image201.wmf"/><Relationship Id="rId4" Type="http://schemas.openxmlformats.org/officeDocument/2006/relationships/oleObject" Target="../embeddings/oleObject55.bin"/></Relationships>
</file>

<file path=ppt/slides/_rels/slide75.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image" Target="../media/image203.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05.wmf"/><Relationship Id="rId2" Type="http://schemas.openxmlformats.org/officeDocument/2006/relationships/oleObject" Target="../embeddings/oleObject56.bin"/><Relationship Id="rId1" Type="http://schemas.openxmlformats.org/officeDocument/2006/relationships/slideLayout" Target="../slideLayouts/slideLayout2.xml"/><Relationship Id="rId6" Type="http://schemas.openxmlformats.org/officeDocument/2006/relationships/image" Target="../media/image208.png"/><Relationship Id="rId5" Type="http://schemas.openxmlformats.org/officeDocument/2006/relationships/image" Target="../media/image207.png"/><Relationship Id="rId4" Type="http://schemas.openxmlformats.org/officeDocument/2006/relationships/image" Target="../media/image206.png"/></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57.bin"/><Relationship Id="rId7" Type="http://schemas.openxmlformats.org/officeDocument/2006/relationships/image" Target="../media/image212.png"/><Relationship Id="rId2" Type="http://schemas.openxmlformats.org/officeDocument/2006/relationships/image" Target="../media/image209.png"/><Relationship Id="rId1" Type="http://schemas.openxmlformats.org/officeDocument/2006/relationships/slideLayout" Target="../slideLayouts/slideLayout2.xml"/><Relationship Id="rId6" Type="http://schemas.openxmlformats.org/officeDocument/2006/relationships/image" Target="../media/image211.wmf"/><Relationship Id="rId5" Type="http://schemas.openxmlformats.org/officeDocument/2006/relationships/oleObject" Target="../embeddings/oleObject58.bin"/><Relationship Id="rId4" Type="http://schemas.openxmlformats.org/officeDocument/2006/relationships/image" Target="../media/image210.wmf"/></Relationships>
</file>

<file path=ppt/slides/_rels/slide78.xml.rels><?xml version="1.0" encoding="UTF-8" standalone="yes"?>
<Relationships xmlns="http://schemas.openxmlformats.org/package/2006/relationships"><Relationship Id="rId3" Type="http://schemas.openxmlformats.org/officeDocument/2006/relationships/image" Target="../media/image213.wmf"/><Relationship Id="rId2" Type="http://schemas.openxmlformats.org/officeDocument/2006/relationships/oleObject" Target="../embeddings/oleObject59.bin"/><Relationship Id="rId1" Type="http://schemas.openxmlformats.org/officeDocument/2006/relationships/slideLayout" Target="../slideLayouts/slideLayout2.xml"/><Relationship Id="rId4" Type="http://schemas.openxmlformats.org/officeDocument/2006/relationships/image" Target="../media/image214.png"/></Relationships>
</file>

<file path=ppt/slides/_rels/slide79.xml.rels><?xml version="1.0" encoding="UTF-8" standalone="yes"?>
<Relationships xmlns="http://schemas.openxmlformats.org/package/2006/relationships"><Relationship Id="rId3" Type="http://schemas.openxmlformats.org/officeDocument/2006/relationships/image" Target="../media/image215.wmf"/><Relationship Id="rId2" Type="http://schemas.openxmlformats.org/officeDocument/2006/relationships/oleObject" Target="../embeddings/oleObject60.bin"/><Relationship Id="rId1" Type="http://schemas.openxmlformats.org/officeDocument/2006/relationships/slideLayout" Target="../slideLayouts/slideLayout2.xml"/><Relationship Id="rId6" Type="http://schemas.openxmlformats.org/officeDocument/2006/relationships/image" Target="../media/image217.png"/><Relationship Id="rId5" Type="http://schemas.openxmlformats.org/officeDocument/2006/relationships/image" Target="../media/image216.wmf"/><Relationship Id="rId4" Type="http://schemas.openxmlformats.org/officeDocument/2006/relationships/oleObject" Target="../embeddings/oleObject61.bin"/></Relationships>
</file>

<file path=ppt/slides/_rels/slide80.xml.rels><?xml version="1.0" encoding="UTF-8" standalone="yes"?>
<Relationships xmlns="http://schemas.openxmlformats.org/package/2006/relationships"><Relationship Id="rId8" Type="http://schemas.openxmlformats.org/officeDocument/2006/relationships/image" Target="../media/image220.png"/><Relationship Id="rId3" Type="http://schemas.openxmlformats.org/officeDocument/2006/relationships/image" Target="../media/image218.wmf"/><Relationship Id="rId7" Type="http://schemas.openxmlformats.org/officeDocument/2006/relationships/image" Target="../media/image216.wmf"/><Relationship Id="rId2" Type="http://schemas.openxmlformats.org/officeDocument/2006/relationships/oleObject" Target="../embeddings/oleObject62.bin"/><Relationship Id="rId1" Type="http://schemas.openxmlformats.org/officeDocument/2006/relationships/slideLayout" Target="../slideLayouts/slideLayout2.xml"/><Relationship Id="rId6" Type="http://schemas.openxmlformats.org/officeDocument/2006/relationships/oleObject" Target="../embeddings/oleObject64.bin"/><Relationship Id="rId5" Type="http://schemas.openxmlformats.org/officeDocument/2006/relationships/image" Target="../media/image219.wmf"/><Relationship Id="rId4" Type="http://schemas.openxmlformats.org/officeDocument/2006/relationships/oleObject" Target="../embeddings/oleObject63.bin"/></Relationships>
</file>

<file path=ppt/slides/_rels/slide81.xml.rels><?xml version="1.0" encoding="UTF-8" standalone="yes"?>
<Relationships xmlns="http://schemas.openxmlformats.org/package/2006/relationships"><Relationship Id="rId8" Type="http://schemas.openxmlformats.org/officeDocument/2006/relationships/image" Target="../media/image224.wmf"/><Relationship Id="rId3" Type="http://schemas.openxmlformats.org/officeDocument/2006/relationships/oleObject" Target="../embeddings/oleObject65.bin"/><Relationship Id="rId7" Type="http://schemas.openxmlformats.org/officeDocument/2006/relationships/oleObject" Target="../embeddings/oleObject67.bin"/><Relationship Id="rId2" Type="http://schemas.openxmlformats.org/officeDocument/2006/relationships/image" Target="../media/image221.png"/><Relationship Id="rId1" Type="http://schemas.openxmlformats.org/officeDocument/2006/relationships/slideLayout" Target="../slideLayouts/slideLayout2.xml"/><Relationship Id="rId6" Type="http://schemas.openxmlformats.org/officeDocument/2006/relationships/image" Target="../media/image223.wmf"/><Relationship Id="rId5" Type="http://schemas.openxmlformats.org/officeDocument/2006/relationships/oleObject" Target="../embeddings/oleObject66.bin"/><Relationship Id="rId4" Type="http://schemas.openxmlformats.org/officeDocument/2006/relationships/image" Target="../media/image222.wmf"/><Relationship Id="rId9" Type="http://schemas.openxmlformats.org/officeDocument/2006/relationships/image" Target="../media/image225.png"/></Relationships>
</file>

<file path=ppt/slides/_rels/slide82.xml.rels><?xml version="1.0" encoding="UTF-8" standalone="yes"?>
<Relationships xmlns="http://schemas.openxmlformats.org/package/2006/relationships"><Relationship Id="rId3" Type="http://schemas.openxmlformats.org/officeDocument/2006/relationships/image" Target="../media/image226.wmf"/><Relationship Id="rId2" Type="http://schemas.openxmlformats.org/officeDocument/2006/relationships/oleObject" Target="../embeddings/oleObject68.bin"/><Relationship Id="rId1" Type="http://schemas.openxmlformats.org/officeDocument/2006/relationships/slideLayout" Target="../slideLayouts/slideLayout2.xml"/><Relationship Id="rId6" Type="http://schemas.openxmlformats.org/officeDocument/2006/relationships/image" Target="../media/image228.png"/><Relationship Id="rId5" Type="http://schemas.openxmlformats.org/officeDocument/2006/relationships/image" Target="../media/image227.wmf"/><Relationship Id="rId4" Type="http://schemas.openxmlformats.org/officeDocument/2006/relationships/oleObject" Target="../embeddings/oleObject69.bin"/></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30.png"/><Relationship Id="rId4" Type="http://schemas.openxmlformats.org/officeDocument/2006/relationships/image" Target="../media/image229.wmf"/></Relationships>
</file>

<file path=ppt/slides/_rels/slide84.xml.rels><?xml version="1.0" encoding="UTF-8" standalone="yes"?>
<Relationships xmlns="http://schemas.openxmlformats.org/package/2006/relationships"><Relationship Id="rId8" Type="http://schemas.openxmlformats.org/officeDocument/2006/relationships/image" Target="../media/image237.png"/><Relationship Id="rId3" Type="http://schemas.openxmlformats.org/officeDocument/2006/relationships/image" Target="../media/image232.png"/><Relationship Id="rId7" Type="http://schemas.openxmlformats.org/officeDocument/2006/relationships/image" Target="../media/image236.png"/><Relationship Id="rId2" Type="http://schemas.openxmlformats.org/officeDocument/2006/relationships/image" Target="../media/image231.png"/><Relationship Id="rId1" Type="http://schemas.openxmlformats.org/officeDocument/2006/relationships/slideLayout" Target="../slideLayouts/slideLayout2.xml"/><Relationship Id="rId6" Type="http://schemas.openxmlformats.org/officeDocument/2006/relationships/image" Target="../media/image235.png"/><Relationship Id="rId5" Type="http://schemas.openxmlformats.org/officeDocument/2006/relationships/image" Target="../media/image234.png"/><Relationship Id="rId4" Type="http://schemas.openxmlformats.org/officeDocument/2006/relationships/image" Target="../media/image233.png"/></Relationships>
</file>

<file path=ppt/slides/_rels/slide85.xml.rels><?xml version="1.0" encoding="UTF-8" standalone="yes"?>
<Relationships xmlns="http://schemas.openxmlformats.org/package/2006/relationships"><Relationship Id="rId3" Type="http://schemas.openxmlformats.org/officeDocument/2006/relationships/image" Target="../media/image238.wmf"/><Relationship Id="rId2" Type="http://schemas.openxmlformats.org/officeDocument/2006/relationships/oleObject" Target="../embeddings/oleObject71.bin"/><Relationship Id="rId1" Type="http://schemas.openxmlformats.org/officeDocument/2006/relationships/slideLayout" Target="../slideLayouts/slideLayout2.xml"/><Relationship Id="rId5" Type="http://schemas.openxmlformats.org/officeDocument/2006/relationships/image" Target="../media/image240.png"/><Relationship Id="rId4" Type="http://schemas.openxmlformats.org/officeDocument/2006/relationships/image" Target="../media/image239.png"/></Relationships>
</file>

<file path=ppt/slides/_rels/slide86.xml.rels><?xml version="1.0" encoding="UTF-8" standalone="yes"?>
<Relationships xmlns="http://schemas.openxmlformats.org/package/2006/relationships"><Relationship Id="rId3" Type="http://schemas.openxmlformats.org/officeDocument/2006/relationships/image" Target="../media/image242.png"/><Relationship Id="rId2" Type="http://schemas.openxmlformats.org/officeDocument/2006/relationships/image" Target="../media/image241.png"/><Relationship Id="rId1" Type="http://schemas.openxmlformats.org/officeDocument/2006/relationships/slideLayout" Target="../slideLayouts/slideLayout2.xml"/><Relationship Id="rId4" Type="http://schemas.openxmlformats.org/officeDocument/2006/relationships/image" Target="../media/image243.png"/></Relationships>
</file>

<file path=ppt/slides/_rels/slide87.xml.rels><?xml version="1.0" encoding="UTF-8" standalone="yes"?>
<Relationships xmlns="http://schemas.openxmlformats.org/package/2006/relationships"><Relationship Id="rId3" Type="http://schemas.openxmlformats.org/officeDocument/2006/relationships/image" Target="../media/image245.png"/><Relationship Id="rId2" Type="http://schemas.openxmlformats.org/officeDocument/2006/relationships/image" Target="../media/image24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47.png"/><Relationship Id="rId2" Type="http://schemas.openxmlformats.org/officeDocument/2006/relationships/image" Target="../media/image24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48.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249.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251.png"/><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52.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254.png"/><Relationship Id="rId2" Type="http://schemas.openxmlformats.org/officeDocument/2006/relationships/image" Target="../media/image253.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55.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256.png"/><Relationship Id="rId1" Type="http://schemas.openxmlformats.org/officeDocument/2006/relationships/slideLayout" Target="../slideLayouts/slideLayout16.xml"/></Relationships>
</file>

<file path=ppt/slides/_rels/slide99.xml.rels><?xml version="1.0" encoding="UTF-8" standalone="yes"?>
<Relationships xmlns="http://schemas.openxmlformats.org/package/2006/relationships"><Relationship Id="rId2" Type="http://schemas.openxmlformats.org/officeDocument/2006/relationships/image" Target="../media/image257.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25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oleObject" Target="../embeddings/oleObject72.bin"/><Relationship Id="rId2" Type="http://schemas.openxmlformats.org/officeDocument/2006/relationships/image" Target="../media/image259.png"/><Relationship Id="rId1" Type="http://schemas.openxmlformats.org/officeDocument/2006/relationships/slideLayout" Target="../slideLayouts/slideLayout2.xml"/><Relationship Id="rId6" Type="http://schemas.openxmlformats.org/officeDocument/2006/relationships/image" Target="../media/image262.png"/><Relationship Id="rId5" Type="http://schemas.openxmlformats.org/officeDocument/2006/relationships/image" Target="../media/image261.png"/><Relationship Id="rId4" Type="http://schemas.openxmlformats.org/officeDocument/2006/relationships/image" Target="../media/image260.wmf"/></Relationships>
</file>

<file path=ppt/slides/_rels/slide102.xml.rels><?xml version="1.0" encoding="UTF-8" standalone="yes"?>
<Relationships xmlns="http://schemas.openxmlformats.org/package/2006/relationships"><Relationship Id="rId3" Type="http://schemas.openxmlformats.org/officeDocument/2006/relationships/image" Target="../media/image260.wmf"/><Relationship Id="rId2" Type="http://schemas.openxmlformats.org/officeDocument/2006/relationships/oleObject" Target="../embeddings/oleObject73.bin"/><Relationship Id="rId1" Type="http://schemas.openxmlformats.org/officeDocument/2006/relationships/slideLayout" Target="../slideLayouts/slideLayout2.xml"/><Relationship Id="rId4" Type="http://schemas.openxmlformats.org/officeDocument/2006/relationships/image" Target="../media/image263.png"/></Relationships>
</file>

<file path=ppt/slides/_rels/slide103.xml.rels><?xml version="1.0" encoding="UTF-8" standalone="yes"?>
<Relationships xmlns="http://schemas.openxmlformats.org/package/2006/relationships"><Relationship Id="rId3" Type="http://schemas.openxmlformats.org/officeDocument/2006/relationships/image" Target="../media/image260.wmf"/><Relationship Id="rId2" Type="http://schemas.openxmlformats.org/officeDocument/2006/relationships/oleObject" Target="../embeddings/oleObject74.bin"/><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64.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260.wmf"/><Relationship Id="rId2" Type="http://schemas.openxmlformats.org/officeDocument/2006/relationships/oleObject" Target="../embeddings/oleObject75.bin"/><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266.png"/><Relationship Id="rId2" Type="http://schemas.openxmlformats.org/officeDocument/2006/relationships/image" Target="../media/image265.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76.bin"/><Relationship Id="rId7" Type="http://schemas.openxmlformats.org/officeDocument/2006/relationships/image" Target="../media/image26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68.wmf"/><Relationship Id="rId5" Type="http://schemas.openxmlformats.org/officeDocument/2006/relationships/oleObject" Target="../embeddings/oleObject77.bin"/><Relationship Id="rId4" Type="http://schemas.openxmlformats.org/officeDocument/2006/relationships/image" Target="../media/image267.wmf"/></Relationships>
</file>

<file path=ppt/slides/_rels/slide108.xml.rels><?xml version="1.0" encoding="UTF-8" standalone="yes"?>
<Relationships xmlns="http://schemas.openxmlformats.org/package/2006/relationships"><Relationship Id="rId3" Type="http://schemas.openxmlformats.org/officeDocument/2006/relationships/image" Target="../media/image268.wmf"/><Relationship Id="rId2" Type="http://schemas.openxmlformats.org/officeDocument/2006/relationships/oleObject" Target="../embeddings/oleObject78.bin"/><Relationship Id="rId1" Type="http://schemas.openxmlformats.org/officeDocument/2006/relationships/slideLayout" Target="../slideLayouts/slideLayout2.xml"/><Relationship Id="rId4" Type="http://schemas.openxmlformats.org/officeDocument/2006/relationships/image" Target="../media/image270.png"/></Relationships>
</file>

<file path=ppt/slides/_rels/slide109.xml.rels><?xml version="1.0" encoding="UTF-8" standalone="yes"?>
<Relationships xmlns="http://schemas.openxmlformats.org/package/2006/relationships"><Relationship Id="rId3" Type="http://schemas.openxmlformats.org/officeDocument/2006/relationships/image" Target="../media/image271.wmf"/><Relationship Id="rId2" Type="http://schemas.openxmlformats.org/officeDocument/2006/relationships/oleObject" Target="../embeddings/oleObject79.bin"/><Relationship Id="rId1" Type="http://schemas.openxmlformats.org/officeDocument/2006/relationships/slideLayout" Target="../slideLayouts/slideLayout2.xml"/><Relationship Id="rId5" Type="http://schemas.openxmlformats.org/officeDocument/2006/relationships/image" Target="../media/image272.wmf"/><Relationship Id="rId4" Type="http://schemas.openxmlformats.org/officeDocument/2006/relationships/oleObject" Target="../embeddings/oleObject80.bin"/></Relationships>
</file>

<file path=ppt/slides/_rels/slide110.xml.rels><?xml version="1.0" encoding="UTF-8" standalone="yes"?>
<Relationships xmlns="http://schemas.openxmlformats.org/package/2006/relationships"><Relationship Id="rId3" Type="http://schemas.openxmlformats.org/officeDocument/2006/relationships/image" Target="../media/image273.wmf"/><Relationship Id="rId2" Type="http://schemas.openxmlformats.org/officeDocument/2006/relationships/oleObject" Target="../embeddings/oleObject81.bin"/><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274.wmf"/><Relationship Id="rId2" Type="http://schemas.openxmlformats.org/officeDocument/2006/relationships/oleObject" Target="../embeddings/oleObject82.bin"/><Relationship Id="rId1" Type="http://schemas.openxmlformats.org/officeDocument/2006/relationships/slideLayout" Target="../slideLayouts/slideLayout2.xml"/><Relationship Id="rId5" Type="http://schemas.openxmlformats.org/officeDocument/2006/relationships/image" Target="../media/image155.wmf"/><Relationship Id="rId4" Type="http://schemas.openxmlformats.org/officeDocument/2006/relationships/oleObject" Target="../embeddings/oleObject83.bin"/></Relationships>
</file>

<file path=ppt/slides/_rels/slide112.xml.rels><?xml version="1.0" encoding="UTF-8" standalone="yes"?>
<Relationships xmlns="http://schemas.openxmlformats.org/package/2006/relationships"><Relationship Id="rId3" Type="http://schemas.openxmlformats.org/officeDocument/2006/relationships/image" Target="../media/image275.wmf"/><Relationship Id="rId2" Type="http://schemas.openxmlformats.org/officeDocument/2006/relationships/oleObject" Target="../embeddings/oleObject84.bin"/><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276.wmf"/><Relationship Id="rId2" Type="http://schemas.openxmlformats.org/officeDocument/2006/relationships/oleObject" Target="../embeddings/oleObject85.bin"/><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277.wmf"/><Relationship Id="rId2" Type="http://schemas.openxmlformats.org/officeDocument/2006/relationships/oleObject" Target="../embeddings/oleObject86.bin"/><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278.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279.png"/><Relationship Id="rId2" Type="http://schemas.openxmlformats.org/officeDocument/2006/relationships/image" Target="../media/image259.png"/><Relationship Id="rId1" Type="http://schemas.openxmlformats.org/officeDocument/2006/relationships/slideLayout" Target="../slideLayouts/slideLayout2.xml"/><Relationship Id="rId4" Type="http://schemas.openxmlformats.org/officeDocument/2006/relationships/image" Target="../media/image280.png"/></Relationships>
</file>

<file path=ppt/slides/_rels/slide122.xml.rels><?xml version="1.0" encoding="UTF-8" standalone="yes"?>
<Relationships xmlns="http://schemas.openxmlformats.org/package/2006/relationships"><Relationship Id="rId3" Type="http://schemas.openxmlformats.org/officeDocument/2006/relationships/image" Target="../media/image282.png"/><Relationship Id="rId2" Type="http://schemas.openxmlformats.org/officeDocument/2006/relationships/image" Target="../media/image281.png"/><Relationship Id="rId1" Type="http://schemas.openxmlformats.org/officeDocument/2006/relationships/slideLayout" Target="../slideLayouts/slideLayout2.xml"/><Relationship Id="rId5" Type="http://schemas.openxmlformats.org/officeDocument/2006/relationships/image" Target="../media/image284.png"/><Relationship Id="rId4" Type="http://schemas.openxmlformats.org/officeDocument/2006/relationships/image" Target="../media/image283.png"/></Relationships>
</file>

<file path=ppt/slides/_rels/slide123.xml.rels><?xml version="1.0" encoding="UTF-8" standalone="yes"?>
<Relationships xmlns="http://schemas.openxmlformats.org/package/2006/relationships"><Relationship Id="rId3" Type="http://schemas.openxmlformats.org/officeDocument/2006/relationships/image" Target="../media/image285.png"/><Relationship Id="rId2" Type="http://schemas.openxmlformats.org/officeDocument/2006/relationships/image" Target="../media/image282.png"/><Relationship Id="rId1" Type="http://schemas.openxmlformats.org/officeDocument/2006/relationships/slideLayout" Target="../slideLayouts/slideLayout2.xml"/><Relationship Id="rId4" Type="http://schemas.openxmlformats.org/officeDocument/2006/relationships/image" Target="../media/image284.png"/></Relationships>
</file>

<file path=ppt/slides/_rels/slide124.xml.rels><?xml version="1.0" encoding="UTF-8" standalone="yes"?>
<Relationships xmlns="http://schemas.openxmlformats.org/package/2006/relationships"><Relationship Id="rId3" Type="http://schemas.openxmlformats.org/officeDocument/2006/relationships/image" Target="../media/image286.png"/><Relationship Id="rId2" Type="http://schemas.openxmlformats.org/officeDocument/2006/relationships/image" Target="../media/image282.png"/><Relationship Id="rId1" Type="http://schemas.openxmlformats.org/officeDocument/2006/relationships/slideLayout" Target="../slideLayouts/slideLayout2.xml"/><Relationship Id="rId5" Type="http://schemas.openxmlformats.org/officeDocument/2006/relationships/image" Target="../media/image284.png"/><Relationship Id="rId4" Type="http://schemas.openxmlformats.org/officeDocument/2006/relationships/image" Target="../media/image285.png"/></Relationships>
</file>

<file path=ppt/slides/_rels/slide125.xml.rels><?xml version="1.0" encoding="UTF-8" standalone="yes"?>
<Relationships xmlns="http://schemas.openxmlformats.org/package/2006/relationships"><Relationship Id="rId3" Type="http://schemas.openxmlformats.org/officeDocument/2006/relationships/image" Target="../media/image287.png"/><Relationship Id="rId2" Type="http://schemas.openxmlformats.org/officeDocument/2006/relationships/image" Target="../media/image282.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288.png"/><Relationship Id="rId2" Type="http://schemas.openxmlformats.org/officeDocument/2006/relationships/image" Target="../media/image282.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289.png"/><Relationship Id="rId1" Type="http://schemas.openxmlformats.org/officeDocument/2006/relationships/slideLayout" Target="../slideLayouts/slideLayout2.xml"/><Relationship Id="rId5" Type="http://schemas.openxmlformats.org/officeDocument/2006/relationships/image" Target="../media/image291.png"/><Relationship Id="rId4" Type="http://schemas.openxmlformats.org/officeDocument/2006/relationships/image" Target="../media/image259.png"/></Relationships>
</file>

<file path=ppt/slides/_rels/slide129.xml.rels><?xml version="1.0" encoding="UTF-8" standalone="yes"?>
<Relationships xmlns="http://schemas.openxmlformats.org/package/2006/relationships"><Relationship Id="rId2" Type="http://schemas.openxmlformats.org/officeDocument/2006/relationships/image" Target="../media/image292.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293.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295.png"/><Relationship Id="rId2" Type="http://schemas.openxmlformats.org/officeDocument/2006/relationships/image" Target="../media/image294.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297.png"/><Relationship Id="rId2" Type="http://schemas.openxmlformats.org/officeDocument/2006/relationships/image" Target="../media/image296.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299.png"/><Relationship Id="rId2" Type="http://schemas.openxmlformats.org/officeDocument/2006/relationships/image" Target="../media/image298.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301.png"/><Relationship Id="rId2" Type="http://schemas.openxmlformats.org/officeDocument/2006/relationships/image" Target="../media/image300.png"/><Relationship Id="rId1" Type="http://schemas.openxmlformats.org/officeDocument/2006/relationships/slideLayout" Target="../slideLayouts/slideLayout2.xml"/><Relationship Id="rId4" Type="http://schemas.openxmlformats.org/officeDocument/2006/relationships/image" Target="../media/image302.png"/></Relationships>
</file>

<file path=ppt/slides/_rels/slide135.xml.rels><?xml version="1.0" encoding="UTF-8" standalone="yes"?>
<Relationships xmlns="http://schemas.openxmlformats.org/package/2006/relationships"><Relationship Id="rId2" Type="http://schemas.openxmlformats.org/officeDocument/2006/relationships/image" Target="../media/image302.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302.png"/><Relationship Id="rId2" Type="http://schemas.openxmlformats.org/officeDocument/2006/relationships/image" Target="../media/image303.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305.png"/><Relationship Id="rId2" Type="http://schemas.openxmlformats.org/officeDocument/2006/relationships/image" Target="../media/image304.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306.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307.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30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09.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7.xml.rels><?xml version="1.0" encoding="UTF-8" standalone="yes"?>
<Relationships xmlns="http://schemas.openxmlformats.org/package/2006/relationships"><Relationship Id="rId3" Type="http://schemas.openxmlformats.org/officeDocument/2006/relationships/image" Target="../media/image311.png"/><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312.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313.jpe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313.jpe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314.wmf"/><Relationship Id="rId2" Type="http://schemas.openxmlformats.org/officeDocument/2006/relationships/oleObject" Target="../embeddings/oleObject87.bin"/><Relationship Id="rId1" Type="http://schemas.openxmlformats.org/officeDocument/2006/relationships/slideLayout" Target="../slideLayouts/slideLayout2.xml"/><Relationship Id="rId5" Type="http://schemas.openxmlformats.org/officeDocument/2006/relationships/image" Target="../media/image315.wmf"/><Relationship Id="rId4" Type="http://schemas.openxmlformats.org/officeDocument/2006/relationships/oleObject" Target="../embeddings/oleObject88.bin"/></Relationships>
</file>

<file path=ppt/slides/_rels/slide161.xml.rels><?xml version="1.0" encoding="UTF-8" standalone="yes"?>
<Relationships xmlns="http://schemas.openxmlformats.org/package/2006/relationships"><Relationship Id="rId3" Type="http://schemas.openxmlformats.org/officeDocument/2006/relationships/image" Target="../media/image316.wmf"/><Relationship Id="rId2" Type="http://schemas.openxmlformats.org/officeDocument/2006/relationships/oleObject" Target="../embeddings/oleObject89.bin"/><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317.wmf"/><Relationship Id="rId2" Type="http://schemas.openxmlformats.org/officeDocument/2006/relationships/oleObject" Target="../embeddings/oleObject90.bin"/><Relationship Id="rId1" Type="http://schemas.openxmlformats.org/officeDocument/2006/relationships/slideLayout" Target="../slideLayouts/slideLayout2.xml"/><Relationship Id="rId5" Type="http://schemas.openxmlformats.org/officeDocument/2006/relationships/image" Target="../media/image318.wmf"/><Relationship Id="rId4" Type="http://schemas.openxmlformats.org/officeDocument/2006/relationships/oleObject" Target="../embeddings/oleObject91.bin"/></Relationships>
</file>

<file path=ppt/slides/_rels/slide163.xml.rels><?xml version="1.0" encoding="UTF-8" standalone="yes"?>
<Relationships xmlns="http://schemas.openxmlformats.org/package/2006/relationships"><Relationship Id="rId2" Type="http://schemas.openxmlformats.org/officeDocument/2006/relationships/image" Target="../media/image319.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20.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图片 4" descr="封面3.jpg">
            <a:extLst>
              <a:ext uri="{FF2B5EF4-FFF2-40B4-BE49-F238E27FC236}">
                <a16:creationId xmlns:a16="http://schemas.microsoft.com/office/drawing/2014/main" id="{FCB44519-4728-8503-5CAD-580B61B9D90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57171DA8-ABEA-90AF-8971-75A365CA41D2}"/>
              </a:ext>
            </a:extLst>
          </p:cNvPr>
          <p:cNvSpPr/>
          <p:nvPr/>
        </p:nvSpPr>
        <p:spPr>
          <a:xfrm>
            <a:off x="2214563" y="4940300"/>
            <a:ext cx="5500687" cy="646113"/>
          </a:xfrm>
          <a:prstGeom prst="rect">
            <a:avLst/>
          </a:prstGeom>
        </p:spPr>
        <p:txBody>
          <a:bodyPr>
            <a:spAutoFit/>
          </a:bodyPr>
          <a:lstStyle/>
          <a:p>
            <a:pPr fontAlgn="auto">
              <a:lnSpc>
                <a:spcPct val="150000"/>
              </a:lnSpc>
              <a:spcAft>
                <a:spcPts val="0"/>
              </a:spcAft>
              <a:buFont typeface="Arial" pitchFamily="34" charset="0"/>
              <a:buNone/>
              <a:defRPr/>
            </a:pPr>
            <a:r>
              <a:rPr lang="zh-CN" altLang="en-US" sz="2400" b="0" dirty="0">
                <a:solidFill>
                  <a:srgbClr val="003399"/>
                </a:solidFill>
                <a:latin typeface="黑体" pitchFamily="2" charset="-122"/>
                <a:ea typeface="黑体" pitchFamily="2" charset="-122"/>
              </a:rPr>
              <a:t>   制作：曹丽娜 </a:t>
            </a:r>
            <a:r>
              <a:rPr lang="en-US" altLang="zh-CN" sz="2000" b="0" dirty="0">
                <a:solidFill>
                  <a:srgbClr val="003399"/>
                </a:solidFill>
                <a:latin typeface="+mn-lt"/>
              </a:rPr>
              <a:t>ccllna@163.com</a:t>
            </a:r>
          </a:p>
        </p:txBody>
      </p:sp>
      <p:pic>
        <p:nvPicPr>
          <p:cNvPr id="55300" name="内容占位符 23" descr="图标.gif">
            <a:extLst>
              <a:ext uri="{FF2B5EF4-FFF2-40B4-BE49-F238E27FC236}">
                <a16:creationId xmlns:a16="http://schemas.microsoft.com/office/drawing/2014/main" id="{6CD57F59-4019-1EE6-D028-6CE3ED59815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58063" y="2786063"/>
            <a:ext cx="592137"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1" name="内容占位符 21" descr="校徽2.gif">
            <a:extLst>
              <a:ext uri="{FF2B5EF4-FFF2-40B4-BE49-F238E27FC236}">
                <a16:creationId xmlns:a16="http://schemas.microsoft.com/office/drawing/2014/main" id="{E4DE56CC-D1F1-34CA-0114-EF33FF57C7D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85875" y="2714625"/>
            <a:ext cx="5635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a:extLst>
              <a:ext uri="{FF2B5EF4-FFF2-40B4-BE49-F238E27FC236}">
                <a16:creationId xmlns:a16="http://schemas.microsoft.com/office/drawing/2014/main" id="{EBF5B631-8149-10EA-7E0A-679495C72406}"/>
              </a:ext>
            </a:extLst>
          </p:cNvPr>
          <p:cNvSpPr/>
          <p:nvPr/>
        </p:nvSpPr>
        <p:spPr>
          <a:xfrm>
            <a:off x="1643063" y="5786438"/>
            <a:ext cx="6286500" cy="560387"/>
          </a:xfrm>
          <a:prstGeom prst="rect">
            <a:avLst/>
          </a:prstGeom>
        </p:spPr>
        <p:txBody>
          <a:bodyPr>
            <a:spAutoFit/>
          </a:bodyPr>
          <a:lstStyle/>
          <a:p>
            <a:pPr fontAlgn="auto">
              <a:lnSpc>
                <a:spcPct val="150000"/>
              </a:lnSpc>
              <a:spcAft>
                <a:spcPts val="0"/>
              </a:spcAft>
              <a:buFont typeface="Arial" pitchFamily="34" charset="0"/>
              <a:buNone/>
              <a:defRPr/>
            </a:pPr>
            <a:r>
              <a:rPr lang="zh-CN" altLang="en-US" sz="2400" dirty="0">
                <a:solidFill>
                  <a:schemeClr val="tx1"/>
                </a:solidFill>
                <a:latin typeface="+mn-ea"/>
                <a:ea typeface="+mn-ea"/>
              </a:rPr>
              <a:t>  </a:t>
            </a:r>
            <a:r>
              <a:rPr lang="zh-CN" altLang="en-US" sz="2000" b="0" dirty="0">
                <a:solidFill>
                  <a:schemeClr val="bg2">
                    <a:lumMod val="90000"/>
                    <a:lumOff val="10000"/>
                  </a:schemeClr>
                </a:solidFill>
                <a:latin typeface="黑体" pitchFamily="2" charset="-122"/>
                <a:ea typeface="黑体" pitchFamily="2" charset="-122"/>
              </a:rPr>
              <a:t>美工设计：陈英         技术支持：张嘉等人</a:t>
            </a:r>
            <a:endParaRPr lang="en-US" altLang="zh-CN" sz="2000" b="0" dirty="0">
              <a:solidFill>
                <a:schemeClr val="bg2">
                  <a:lumMod val="90000"/>
                  <a:lumOff val="10000"/>
                </a:schemeClr>
              </a:solidFill>
              <a:latin typeface="+mn-lt"/>
            </a:endParaRPr>
          </a:p>
        </p:txBody>
      </p:sp>
      <p:sp>
        <p:nvSpPr>
          <p:cNvPr id="55303" name="矩形 7">
            <a:extLst>
              <a:ext uri="{FF2B5EF4-FFF2-40B4-BE49-F238E27FC236}">
                <a16:creationId xmlns:a16="http://schemas.microsoft.com/office/drawing/2014/main" id="{AFD9DD9C-B432-CC42-B7C6-8B24C77B0AF4}"/>
              </a:ext>
            </a:extLst>
          </p:cNvPr>
          <p:cNvSpPr>
            <a:spLocks noChangeArrowheads="1"/>
          </p:cNvSpPr>
          <p:nvPr/>
        </p:nvSpPr>
        <p:spPr bwMode="auto">
          <a:xfrm>
            <a:off x="3656013" y="3357563"/>
            <a:ext cx="1916112" cy="1144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lnSpc>
                <a:spcPct val="150000"/>
              </a:lnSpc>
              <a:buFont typeface="Arial" panose="020B0604020202020204" pitchFamily="34" charset="0"/>
              <a:buNone/>
            </a:pPr>
            <a:r>
              <a:rPr lang="zh-CN" altLang="en-US" sz="5400" b="0">
                <a:solidFill>
                  <a:srgbClr val="7030A0"/>
                </a:solidFill>
                <a:latin typeface="隶书" panose="02010509060101010101" pitchFamily="49" charset="-122"/>
                <a:ea typeface="隶书" panose="02010509060101010101" pitchFamily="49" charset="-122"/>
              </a:rPr>
              <a:t>课 件</a:t>
            </a:r>
            <a:endParaRPr lang="en-US" altLang="zh-CN" sz="5400" b="0">
              <a:solidFill>
                <a:srgbClr val="7030A0"/>
              </a:solidFill>
              <a:latin typeface="隶书" panose="02010509060101010101" pitchFamily="49" charset="-122"/>
              <a:ea typeface="隶书" panose="02010509060101010101" pitchFamily="49"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3">
            <a:extLst>
              <a:ext uri="{FF2B5EF4-FFF2-40B4-BE49-F238E27FC236}">
                <a16:creationId xmlns:a16="http://schemas.microsoft.com/office/drawing/2014/main" id="{70EECD6F-39DC-189A-86AB-4B8C4AE84FF9}"/>
              </a:ext>
            </a:extLst>
          </p:cNvPr>
          <p:cNvSpPr>
            <a:spLocks noGrp="1" noChangeArrowheads="1"/>
          </p:cNvSpPr>
          <p:nvPr>
            <p:ph type="body" idx="1"/>
          </p:nvPr>
        </p:nvSpPr>
        <p:spPr>
          <a:xfrm>
            <a:off x="0" y="2714625"/>
            <a:ext cx="5143500" cy="1643063"/>
          </a:xfrm>
          <a:solidFill>
            <a:srgbClr val="003399"/>
          </a:solidFill>
        </p:spPr>
        <p:txBody>
          <a:bodyPr/>
          <a:lstStyle/>
          <a:p>
            <a:pPr eaLnBrk="1" hangingPunct="1">
              <a:lnSpc>
                <a:spcPct val="150000"/>
              </a:lnSpc>
              <a:buFont typeface="Wingdings" panose="05000000000000000000" pitchFamily="2" charset="2"/>
              <a:buNone/>
              <a:defRPr/>
            </a:pPr>
            <a:r>
              <a:rPr lang="zh-CN" altLang="en-US" sz="6000" b="1" dirty="0">
                <a:solidFill>
                  <a:schemeClr val="bg1">
                    <a:lumMod val="95000"/>
                  </a:schemeClr>
                </a:solidFill>
                <a:latin typeface="微软雅黑" pitchFamily="34" charset="-122"/>
                <a:ea typeface="微软雅黑" pitchFamily="34" charset="-122"/>
              </a:rPr>
              <a:t> 差错控制编码</a:t>
            </a:r>
            <a:endParaRPr lang="en-US" altLang="zh-CN" sz="6000" b="1" dirty="0">
              <a:solidFill>
                <a:srgbClr val="000099"/>
              </a:solidFill>
            </a:endParaRPr>
          </a:p>
        </p:txBody>
      </p:sp>
      <p:pic>
        <p:nvPicPr>
          <p:cNvPr id="6" name="内容占位符 34" descr="通信原理（第7版）展开.jpg">
            <a:extLst>
              <a:ext uri="{FF2B5EF4-FFF2-40B4-BE49-F238E27FC236}">
                <a16:creationId xmlns:a16="http://schemas.microsoft.com/office/drawing/2014/main" id="{EB7BCA5E-0869-0D7A-EF6A-23161A7D9B84}"/>
              </a:ext>
            </a:extLst>
          </p:cNvPr>
          <p:cNvPicPr>
            <a:picLocks noChangeAspect="1"/>
          </p:cNvPicPr>
          <p:nvPr/>
        </p:nvPicPr>
        <p:blipFill>
          <a:blip r:embed="rId2" cstate="print"/>
          <a:srcRect l="55334" t="2000" r="15137" b="2000"/>
          <a:stretch>
            <a:fillRect/>
          </a:stretch>
        </p:blipFill>
        <p:spPr>
          <a:xfrm>
            <a:off x="5643577" y="1500174"/>
            <a:ext cx="2009195" cy="3214710"/>
          </a:xfrm>
          <a:prstGeom prst="rect">
            <a:avLst/>
          </a:prstGeom>
          <a:scene3d>
            <a:camera prst="orthographicFront"/>
            <a:lightRig rig="threePt" dir="t"/>
          </a:scene3d>
          <a:sp3d>
            <a:bevelT w="101600" prst="riblet"/>
          </a:sp3d>
        </p:spPr>
      </p:pic>
      <p:sp>
        <p:nvSpPr>
          <p:cNvPr id="7" name="Rectangle 3">
            <a:extLst>
              <a:ext uri="{FF2B5EF4-FFF2-40B4-BE49-F238E27FC236}">
                <a16:creationId xmlns:a16="http://schemas.microsoft.com/office/drawing/2014/main" id="{A18B03B8-2276-E75A-99BA-1640F642F7C3}"/>
              </a:ext>
            </a:extLst>
          </p:cNvPr>
          <p:cNvSpPr txBox="1">
            <a:spLocks noChangeArrowheads="1"/>
          </p:cNvSpPr>
          <p:nvPr/>
        </p:nvSpPr>
        <p:spPr bwMode="auto">
          <a:xfrm>
            <a:off x="8143875" y="2714625"/>
            <a:ext cx="785813" cy="1714500"/>
          </a:xfrm>
          <a:prstGeom prst="rect">
            <a:avLst/>
          </a:prstGeom>
          <a:solidFill>
            <a:srgbClr val="003399"/>
          </a:solidFill>
          <a:ln w="9525">
            <a:noFill/>
            <a:miter lim="800000"/>
            <a:headEnd/>
            <a:tailEnd/>
          </a:ln>
          <a:effectLst>
            <a:outerShdw blurRad="50800" dist="38100" dir="2700000" algn="tl" rotWithShape="0">
              <a:prstClr val="black">
                <a:alpha val="40000"/>
              </a:prstClr>
            </a:outerShdw>
          </a:effectLst>
        </p:spPr>
        <p:txBody>
          <a:bodyPr/>
          <a:lstStyle/>
          <a:p>
            <a:pPr marL="342900" indent="-342900">
              <a:lnSpc>
                <a:spcPct val="130000"/>
              </a:lnSpc>
              <a:spcBef>
                <a:spcPct val="20000"/>
              </a:spcBef>
              <a:buClr>
                <a:schemeClr val="folHlink"/>
              </a:buClr>
              <a:buSzPct val="60000"/>
              <a:buFont typeface="Wingdings" pitchFamily="2" charset="2"/>
              <a:buNone/>
              <a:defRPr/>
            </a:pPr>
            <a:r>
              <a:rPr lang="zh-CN" altLang="en-US" sz="5400" kern="0" dirty="0">
                <a:solidFill>
                  <a:schemeClr val="bg1">
                    <a:lumMod val="95000"/>
                  </a:schemeClr>
                </a:solidFill>
                <a:latin typeface="微软雅黑" pitchFamily="34" charset="-122"/>
                <a:ea typeface="微软雅黑" pitchFamily="34" charset="-122"/>
              </a:rPr>
              <a:t>   </a:t>
            </a:r>
            <a:endParaRPr lang="en-US" altLang="zh-CN" sz="6000" kern="0" dirty="0">
              <a:solidFill>
                <a:srgbClr val="000099"/>
              </a:solidFill>
              <a:latin typeface="+mn-lt"/>
              <a:ea typeface="+mn-ea"/>
            </a:endParaRPr>
          </a:p>
        </p:txBody>
      </p:sp>
      <p:sp>
        <p:nvSpPr>
          <p:cNvPr id="9" name="Rectangle 6">
            <a:extLst>
              <a:ext uri="{FF2B5EF4-FFF2-40B4-BE49-F238E27FC236}">
                <a16:creationId xmlns:a16="http://schemas.microsoft.com/office/drawing/2014/main" id="{89E74D6A-3D79-DEB4-FACF-D622D1DF6842}"/>
              </a:ext>
            </a:extLst>
          </p:cNvPr>
          <p:cNvSpPr>
            <a:spLocks noChangeArrowheads="1"/>
          </p:cNvSpPr>
          <p:nvPr/>
        </p:nvSpPr>
        <p:spPr bwMode="auto">
          <a:xfrm>
            <a:off x="5500688" y="4643438"/>
            <a:ext cx="2500312" cy="785812"/>
          </a:xfrm>
          <a:prstGeom prst="rect">
            <a:avLst/>
          </a:prstGeom>
          <a:noFill/>
          <a:ln w="9525">
            <a:noFill/>
            <a:miter lim="800000"/>
            <a:headEnd/>
            <a:tailEnd/>
          </a:ln>
          <a:effectLst>
            <a:outerShdw blurRad="50800" dist="38100" dir="2700000" algn="tl" rotWithShape="0">
              <a:prstClr val="black">
                <a:alpha val="40000"/>
              </a:prstClr>
            </a:outerShdw>
          </a:effectLst>
        </p:spPr>
        <p:txBody>
          <a:bodyPr anchor="ctr"/>
          <a:lstStyle/>
          <a:p>
            <a:pPr>
              <a:defRPr/>
            </a:pPr>
            <a:r>
              <a:rPr lang="zh-CN" altLang="en-US" sz="2000" b="0" dirty="0">
                <a:solidFill>
                  <a:srgbClr val="0000CC"/>
                </a:solidFill>
                <a:effectLst>
                  <a:outerShdw blurRad="38100" dist="38100" dir="2700000" algn="tl">
                    <a:srgbClr val="000000">
                      <a:alpha val="43137"/>
                    </a:srgbClr>
                  </a:outerShdw>
                </a:effectLst>
                <a:latin typeface="微软雅黑" pitchFamily="34" charset="-122"/>
                <a:ea typeface="微软雅黑" pitchFamily="34" charset="-122"/>
                <a:cs typeface="Arial" charset="0"/>
              </a:rPr>
              <a:t>通信原理（第</a:t>
            </a:r>
            <a:r>
              <a:rPr lang="en-US" altLang="zh-CN" sz="2000" b="0" dirty="0">
                <a:solidFill>
                  <a:srgbClr val="990099"/>
                </a:solidFill>
                <a:effectLst>
                  <a:outerShdw blurRad="38100" dist="38100" dir="2700000" algn="tl">
                    <a:srgbClr val="000000">
                      <a:alpha val="43137"/>
                    </a:srgbClr>
                  </a:outerShdw>
                </a:effectLst>
                <a:latin typeface="微软雅黑" pitchFamily="34" charset="-122"/>
                <a:ea typeface="微软雅黑" pitchFamily="34" charset="-122"/>
                <a:cs typeface="Arial" charset="0"/>
              </a:rPr>
              <a:t>7</a:t>
            </a:r>
            <a:r>
              <a:rPr lang="zh-CN" altLang="en-US" sz="2000" b="0" dirty="0">
                <a:solidFill>
                  <a:srgbClr val="0000CC"/>
                </a:solidFill>
                <a:effectLst>
                  <a:outerShdw blurRad="38100" dist="38100" dir="2700000" algn="tl">
                    <a:srgbClr val="000000">
                      <a:alpha val="43137"/>
                    </a:srgbClr>
                  </a:outerShdw>
                </a:effectLst>
                <a:latin typeface="微软雅黑" pitchFamily="34" charset="-122"/>
                <a:ea typeface="微软雅黑" pitchFamily="34" charset="-122"/>
                <a:cs typeface="Arial" charset="0"/>
              </a:rPr>
              <a:t>版</a:t>
            </a:r>
            <a:r>
              <a:rPr lang="zh-CN" altLang="en-US" sz="2400" b="0" dirty="0">
                <a:solidFill>
                  <a:srgbClr val="0000CC"/>
                </a:solidFill>
                <a:effectLst>
                  <a:outerShdw blurRad="38100" dist="38100" dir="2700000" algn="tl">
                    <a:srgbClr val="000000">
                      <a:alpha val="43137"/>
                    </a:srgbClr>
                  </a:outerShdw>
                </a:effectLst>
                <a:latin typeface="黑体" pitchFamily="2" charset="-122"/>
                <a:ea typeface="黑体" pitchFamily="2" charset="-122"/>
                <a:cs typeface="Arial" charset="0"/>
              </a:rPr>
              <a:t>）</a:t>
            </a:r>
          </a:p>
        </p:txBody>
      </p:sp>
      <p:sp>
        <p:nvSpPr>
          <p:cNvPr id="56326" name="矩形 11">
            <a:extLst>
              <a:ext uri="{FF2B5EF4-FFF2-40B4-BE49-F238E27FC236}">
                <a16:creationId xmlns:a16="http://schemas.microsoft.com/office/drawing/2014/main" id="{5619BFE4-563A-A93F-2A02-1CFE6F05345C}"/>
              </a:ext>
            </a:extLst>
          </p:cNvPr>
          <p:cNvSpPr>
            <a:spLocks noChangeArrowheads="1"/>
          </p:cNvSpPr>
          <p:nvPr/>
        </p:nvSpPr>
        <p:spPr bwMode="auto">
          <a:xfrm>
            <a:off x="0" y="0"/>
            <a:ext cx="9144000" cy="1285875"/>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pic>
        <p:nvPicPr>
          <p:cNvPr id="56327" name="内容占位符 12" descr="校徽3.gif">
            <a:extLst>
              <a:ext uri="{FF2B5EF4-FFF2-40B4-BE49-F238E27FC236}">
                <a16:creationId xmlns:a16="http://schemas.microsoft.com/office/drawing/2014/main" id="{3A296760-BDB1-E9E6-3DD9-8B77251B0C5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57875" y="5337175"/>
            <a:ext cx="57150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8" name="内容占位符 27" descr="图标3.gif">
            <a:extLst>
              <a:ext uri="{FF2B5EF4-FFF2-40B4-BE49-F238E27FC236}">
                <a16:creationId xmlns:a16="http://schemas.microsoft.com/office/drawing/2014/main" id="{C90F9EDF-FF76-B3F6-8E66-F4830A4A946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858000" y="5357813"/>
            <a:ext cx="5699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a:extLst>
              <a:ext uri="{FF2B5EF4-FFF2-40B4-BE49-F238E27FC236}">
                <a16:creationId xmlns:a16="http://schemas.microsoft.com/office/drawing/2014/main" id="{A56E5244-0B54-1E3A-C53A-19430CA63CDE}"/>
              </a:ext>
            </a:extLst>
          </p:cNvPr>
          <p:cNvSpPr/>
          <p:nvPr/>
        </p:nvSpPr>
        <p:spPr>
          <a:xfrm>
            <a:off x="466725" y="1928813"/>
            <a:ext cx="1633538" cy="769937"/>
          </a:xfrm>
          <a:prstGeom prst="rect">
            <a:avLst/>
          </a:prstGeom>
        </p:spPr>
        <p:txBody>
          <a:bodyPr wrap="none">
            <a:spAutoFit/>
          </a:bodyPr>
          <a:lstStyle/>
          <a:p>
            <a:pPr>
              <a:defRPr/>
            </a:pPr>
            <a:r>
              <a:rPr lang="zh-CN" altLang="en-US" sz="3200" kern="0" dirty="0">
                <a:solidFill>
                  <a:srgbClr val="003399"/>
                </a:solidFill>
                <a:latin typeface="微软雅黑" pitchFamily="34" charset="-122"/>
                <a:ea typeface="微软雅黑" pitchFamily="34" charset="-122"/>
              </a:rPr>
              <a:t>第</a:t>
            </a:r>
            <a:r>
              <a:rPr lang="en-US" altLang="zh-CN" sz="4400" kern="0" dirty="0">
                <a:solidFill>
                  <a:srgbClr val="990099"/>
                </a:solidFill>
                <a:latin typeface="Arial" pitchFamily="34" charset="0"/>
                <a:ea typeface="Arial Unicode MS" pitchFamily="34" charset="-122"/>
                <a:cs typeface="Arial" pitchFamily="34" charset="0"/>
              </a:rPr>
              <a:t>11</a:t>
            </a:r>
            <a:r>
              <a:rPr lang="zh-CN" altLang="en-US" sz="3200" kern="0" dirty="0">
                <a:solidFill>
                  <a:srgbClr val="003399"/>
                </a:solidFill>
                <a:latin typeface="微软雅黑" pitchFamily="34" charset="-122"/>
                <a:ea typeface="微软雅黑" pitchFamily="34" charset="-122"/>
              </a:rPr>
              <a:t>章</a:t>
            </a:r>
            <a:endParaRPr lang="zh-CN" altLang="en-US" sz="3200" dirty="0">
              <a:solidFill>
                <a:srgbClr val="003399"/>
              </a:solidFill>
            </a:endParaRPr>
          </a:p>
        </p:txBody>
      </p:sp>
      <p:sp>
        <p:nvSpPr>
          <p:cNvPr id="12" name="Rectangle 6">
            <a:extLst>
              <a:ext uri="{FF2B5EF4-FFF2-40B4-BE49-F238E27FC236}">
                <a16:creationId xmlns:a16="http://schemas.microsoft.com/office/drawing/2014/main" id="{D8C28DFE-8E13-DBBD-F40E-9382E9E136EA}"/>
              </a:ext>
            </a:extLst>
          </p:cNvPr>
          <p:cNvSpPr>
            <a:spLocks noChangeArrowheads="1"/>
          </p:cNvSpPr>
          <p:nvPr/>
        </p:nvSpPr>
        <p:spPr bwMode="auto">
          <a:xfrm>
            <a:off x="5572125" y="5929313"/>
            <a:ext cx="2500313" cy="500062"/>
          </a:xfrm>
          <a:prstGeom prst="rect">
            <a:avLst/>
          </a:prstGeom>
          <a:noFill/>
          <a:ln w="9525">
            <a:noFill/>
            <a:miter lim="800000"/>
            <a:headEnd/>
            <a:tailEnd/>
          </a:ln>
        </p:spPr>
        <p:txBody>
          <a:bodyPr anchor="ctr"/>
          <a:lstStyle/>
          <a:p>
            <a:pPr>
              <a:defRPr/>
            </a:pPr>
            <a:r>
              <a:rPr lang="zh-CN" altLang="en-US" sz="1800" b="0" dirty="0">
                <a:solidFill>
                  <a:srgbClr val="003399"/>
                </a:solidFill>
                <a:effectLst>
                  <a:outerShdw blurRad="38100" dist="38100" dir="2700000" algn="tl">
                    <a:srgbClr val="000000">
                      <a:alpha val="43137"/>
                    </a:srgbClr>
                  </a:outerShdw>
                </a:effectLst>
                <a:latin typeface="微软雅黑" pitchFamily="34" charset="-122"/>
                <a:ea typeface="微软雅黑" pitchFamily="34" charset="-122"/>
              </a:rPr>
              <a:t>樊昌信  曹丽娜 编著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9"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ppt_x</p:attrName>
                                        </p:attrNameLst>
                                      </p:cBhvr>
                                      <p:tavLst>
                                        <p:tav tm="0">
                                          <p:val>
                                            <p:strVal val="#ppt_x-.2"/>
                                          </p:val>
                                        </p:tav>
                                        <p:tav tm="100000">
                                          <p:val>
                                            <p:strVal val="#ppt_x"/>
                                          </p:val>
                                        </p:tav>
                                      </p:tavLst>
                                    </p:anim>
                                    <p:anim calcmode="lin" valueType="num">
                                      <p:cBhvr>
                                        <p:cTn id="8" dur="1000" fill="hold"/>
                                        <p:tgtEl>
                                          <p:spTgt spid="9"/>
                                        </p:tgtEl>
                                        <p:attrNameLst>
                                          <p:attrName>ppt_y</p:attrName>
                                        </p:attrNameLst>
                                      </p:cBhvr>
                                      <p:tavLst>
                                        <p:tav tm="0">
                                          <p:val>
                                            <p:strVal val="#ppt_y"/>
                                          </p:val>
                                        </p:tav>
                                        <p:tav tm="100000">
                                          <p:val>
                                            <p:strVal val="#ppt_y"/>
                                          </p:val>
                                        </p:tav>
                                      </p:tavLst>
                                    </p:anim>
                                    <p:animEffect transition="in" filter="wipe(right)" prLst="gradientSize: 0.1">
                                      <p:cBhvr>
                                        <p:cTn id="9" dur="1000"/>
                                        <p:tgtEl>
                                          <p:spTgt spid="9"/>
                                        </p:tgtEl>
                                      </p:cBhvr>
                                    </p:animEffect>
                                  </p:childTnLst>
                                </p:cTn>
                              </p:par>
                            </p:childTnLst>
                          </p:cTn>
                        </p:par>
                        <p:par>
                          <p:cTn id="10" fill="hold" nodeType="afterGroup">
                            <p:stCondLst>
                              <p:cond delay="1000"/>
                            </p:stCondLst>
                            <p:childTnLst>
                              <p:par>
                                <p:cTn id="11" presetID="22" presetClass="entr" presetSubtype="1"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up)">
                                      <p:cBhvr>
                                        <p:cTn id="13"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94CA792D-48D7-F445-5A3B-7029347BD9DB}"/>
              </a:ext>
            </a:extLst>
          </p:cNvPr>
          <p:cNvSpPr>
            <a:spLocks noChangeArrowheads="1"/>
          </p:cNvSpPr>
          <p:nvPr/>
        </p:nvSpPr>
        <p:spPr bwMode="auto">
          <a:xfrm>
            <a:off x="0" y="292100"/>
            <a:ext cx="2660650" cy="708025"/>
          </a:xfrm>
          <a:prstGeom prst="rect">
            <a:avLst/>
          </a:prstGeom>
          <a:solidFill>
            <a:srgbClr val="003399"/>
          </a:solidFill>
          <a:ln w="9525">
            <a:noFill/>
            <a:miter lim="800000"/>
            <a:headEnd/>
            <a:tailEnd/>
          </a:ln>
          <a:effectLst/>
        </p:spPr>
        <p:txBody>
          <a:bodyPr>
            <a:spAutoFit/>
          </a:bodyPr>
          <a:lstStyle/>
          <a:p>
            <a:pPr>
              <a:defRPr/>
            </a:pPr>
            <a:r>
              <a:rPr lang="zh-CN" altLang="en-US" sz="4000" dirty="0">
                <a:solidFill>
                  <a:schemeClr val="bg1"/>
                </a:solidFill>
                <a:latin typeface="微软雅黑" pitchFamily="34" charset="-122"/>
                <a:ea typeface="微软雅黑" pitchFamily="34" charset="-122"/>
              </a:rPr>
              <a:t>  </a:t>
            </a:r>
            <a:r>
              <a:rPr lang="zh-CN" altLang="en-US" sz="3600" dirty="0">
                <a:solidFill>
                  <a:schemeClr val="bg1"/>
                </a:solidFill>
                <a:latin typeface="微软雅黑" pitchFamily="34" charset="-122"/>
                <a:ea typeface="微软雅黑" pitchFamily="34" charset="-122"/>
              </a:rPr>
              <a:t>本章内容  </a:t>
            </a:r>
            <a:endParaRPr lang="zh-CN" altLang="en-US" sz="3600" dirty="0">
              <a:solidFill>
                <a:schemeClr val="bg1"/>
              </a:solidFill>
              <a:latin typeface="+mn-ea"/>
              <a:ea typeface="+mn-ea"/>
              <a:cs typeface="Arial" pitchFamily="34" charset="0"/>
            </a:endParaRPr>
          </a:p>
        </p:txBody>
      </p:sp>
      <p:grpSp>
        <p:nvGrpSpPr>
          <p:cNvPr id="2" name="Group 8">
            <a:extLst>
              <a:ext uri="{FF2B5EF4-FFF2-40B4-BE49-F238E27FC236}">
                <a16:creationId xmlns:a16="http://schemas.microsoft.com/office/drawing/2014/main" id="{923155B2-E419-F22C-6A4C-524F028DD638}"/>
              </a:ext>
            </a:extLst>
          </p:cNvPr>
          <p:cNvGrpSpPr>
            <a:grpSpLocks/>
          </p:cNvGrpSpPr>
          <p:nvPr/>
        </p:nvGrpSpPr>
        <p:grpSpPr bwMode="auto">
          <a:xfrm>
            <a:off x="1004888" y="1616075"/>
            <a:ext cx="185737" cy="207963"/>
            <a:chOff x="2976" y="1008"/>
            <a:chExt cx="1056" cy="432"/>
          </a:xfrm>
        </p:grpSpPr>
        <p:sp>
          <p:nvSpPr>
            <p:cNvPr id="57368" name="Oval 9">
              <a:extLst>
                <a:ext uri="{FF2B5EF4-FFF2-40B4-BE49-F238E27FC236}">
                  <a16:creationId xmlns:a16="http://schemas.microsoft.com/office/drawing/2014/main" id="{BFBBD43A-BDC3-98B0-C876-293DCF8CE57C}"/>
                </a:ext>
              </a:extLst>
            </p:cNvPr>
            <p:cNvSpPr>
              <a:spLocks noChangeArrowheads="1"/>
            </p:cNvSpPr>
            <p:nvPr/>
          </p:nvSpPr>
          <p:spPr bwMode="auto">
            <a:xfrm>
              <a:off x="2976" y="1008"/>
              <a:ext cx="1056" cy="432"/>
            </a:xfrm>
            <a:prstGeom prst="ellipse">
              <a:avLst/>
            </a:prstGeom>
            <a:gradFill rotWithShape="0">
              <a:gsLst>
                <a:gs pos="0">
                  <a:srgbClr val="454A4D"/>
                </a:gs>
                <a:gs pos="100000">
                  <a:srgbClr val="BCCAD4"/>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73025" tIns="36512" rIns="73025" bIns="36512"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lnSpc>
                  <a:spcPts val="2200"/>
                </a:lnSpc>
              </a:pPr>
              <a:endParaRPr lang="zh-CN" altLang="en-US"/>
            </a:p>
          </p:txBody>
        </p:sp>
        <p:sp>
          <p:nvSpPr>
            <p:cNvPr id="57369" name="Oval 10">
              <a:extLst>
                <a:ext uri="{FF2B5EF4-FFF2-40B4-BE49-F238E27FC236}">
                  <a16:creationId xmlns:a16="http://schemas.microsoft.com/office/drawing/2014/main" id="{293479CF-A4D1-763B-E428-B3C3EAEAEB31}"/>
                </a:ext>
              </a:extLst>
            </p:cNvPr>
            <p:cNvSpPr>
              <a:spLocks noChangeArrowheads="1"/>
            </p:cNvSpPr>
            <p:nvPr/>
          </p:nvSpPr>
          <p:spPr bwMode="auto">
            <a:xfrm>
              <a:off x="3024" y="1056"/>
              <a:ext cx="960" cy="336"/>
            </a:xfrm>
            <a:prstGeom prst="ellipse">
              <a:avLst/>
            </a:prstGeom>
            <a:gradFill rotWithShape="0">
              <a:gsLst>
                <a:gs pos="0">
                  <a:srgbClr val="BCCAD4"/>
                </a:gs>
                <a:gs pos="100000">
                  <a:srgbClr val="575D62"/>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73025" tIns="36512" rIns="73025" bIns="36512"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lnSpc>
                  <a:spcPts val="2200"/>
                </a:lnSpc>
              </a:pPr>
              <a:endParaRPr lang="zh-CN" altLang="en-US"/>
            </a:p>
          </p:txBody>
        </p:sp>
      </p:grpSp>
      <p:grpSp>
        <p:nvGrpSpPr>
          <p:cNvPr id="3" name="Group 17">
            <a:extLst>
              <a:ext uri="{FF2B5EF4-FFF2-40B4-BE49-F238E27FC236}">
                <a16:creationId xmlns:a16="http://schemas.microsoft.com/office/drawing/2014/main" id="{F3EA2234-B243-CBA3-6A62-F26E8E2D1593}"/>
              </a:ext>
            </a:extLst>
          </p:cNvPr>
          <p:cNvGrpSpPr>
            <a:grpSpLocks/>
          </p:cNvGrpSpPr>
          <p:nvPr/>
        </p:nvGrpSpPr>
        <p:grpSpPr bwMode="auto">
          <a:xfrm>
            <a:off x="1006475" y="2273300"/>
            <a:ext cx="185738" cy="207963"/>
            <a:chOff x="2976" y="1008"/>
            <a:chExt cx="1056" cy="432"/>
          </a:xfrm>
        </p:grpSpPr>
        <p:sp>
          <p:nvSpPr>
            <p:cNvPr id="57366" name="Oval 18">
              <a:extLst>
                <a:ext uri="{FF2B5EF4-FFF2-40B4-BE49-F238E27FC236}">
                  <a16:creationId xmlns:a16="http://schemas.microsoft.com/office/drawing/2014/main" id="{FE4BD435-6C94-4BDD-1FC1-BBCEAFB11025}"/>
                </a:ext>
              </a:extLst>
            </p:cNvPr>
            <p:cNvSpPr>
              <a:spLocks noChangeArrowheads="1"/>
            </p:cNvSpPr>
            <p:nvPr/>
          </p:nvSpPr>
          <p:spPr bwMode="auto">
            <a:xfrm>
              <a:off x="2976" y="1008"/>
              <a:ext cx="1056" cy="432"/>
            </a:xfrm>
            <a:prstGeom prst="ellipse">
              <a:avLst/>
            </a:prstGeom>
            <a:gradFill rotWithShape="0">
              <a:gsLst>
                <a:gs pos="0">
                  <a:srgbClr val="454A4D"/>
                </a:gs>
                <a:gs pos="100000">
                  <a:srgbClr val="BCCAD4"/>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73025" tIns="36512" rIns="73025" bIns="36512"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lnSpc>
                  <a:spcPts val="2200"/>
                </a:lnSpc>
              </a:pPr>
              <a:endParaRPr lang="zh-CN" altLang="en-US"/>
            </a:p>
          </p:txBody>
        </p:sp>
        <p:sp>
          <p:nvSpPr>
            <p:cNvPr id="57367" name="Oval 19">
              <a:extLst>
                <a:ext uri="{FF2B5EF4-FFF2-40B4-BE49-F238E27FC236}">
                  <a16:creationId xmlns:a16="http://schemas.microsoft.com/office/drawing/2014/main" id="{06729138-FE86-A61B-CEB7-756519D21F0C}"/>
                </a:ext>
              </a:extLst>
            </p:cNvPr>
            <p:cNvSpPr>
              <a:spLocks noChangeArrowheads="1"/>
            </p:cNvSpPr>
            <p:nvPr/>
          </p:nvSpPr>
          <p:spPr bwMode="auto">
            <a:xfrm>
              <a:off x="3024" y="1056"/>
              <a:ext cx="960" cy="336"/>
            </a:xfrm>
            <a:prstGeom prst="ellipse">
              <a:avLst/>
            </a:prstGeom>
            <a:gradFill rotWithShape="0">
              <a:gsLst>
                <a:gs pos="0">
                  <a:srgbClr val="BCCAD4"/>
                </a:gs>
                <a:gs pos="100000">
                  <a:srgbClr val="575D62"/>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73025" tIns="36512" rIns="73025" bIns="36512"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lnSpc>
                  <a:spcPts val="2200"/>
                </a:lnSpc>
              </a:pPr>
              <a:endParaRPr lang="zh-CN" altLang="en-US"/>
            </a:p>
          </p:txBody>
        </p:sp>
      </p:grpSp>
      <p:grpSp>
        <p:nvGrpSpPr>
          <p:cNvPr id="4" name="Group 20">
            <a:extLst>
              <a:ext uri="{FF2B5EF4-FFF2-40B4-BE49-F238E27FC236}">
                <a16:creationId xmlns:a16="http://schemas.microsoft.com/office/drawing/2014/main" id="{7A7E68A3-D581-00AB-B517-CB459DAC67B1}"/>
              </a:ext>
            </a:extLst>
          </p:cNvPr>
          <p:cNvGrpSpPr>
            <a:grpSpLocks/>
          </p:cNvGrpSpPr>
          <p:nvPr/>
        </p:nvGrpSpPr>
        <p:grpSpPr bwMode="auto">
          <a:xfrm>
            <a:off x="1006475" y="2930525"/>
            <a:ext cx="185738" cy="207963"/>
            <a:chOff x="2976" y="1008"/>
            <a:chExt cx="1056" cy="432"/>
          </a:xfrm>
        </p:grpSpPr>
        <p:sp>
          <p:nvSpPr>
            <p:cNvPr id="57364" name="Oval 21">
              <a:extLst>
                <a:ext uri="{FF2B5EF4-FFF2-40B4-BE49-F238E27FC236}">
                  <a16:creationId xmlns:a16="http://schemas.microsoft.com/office/drawing/2014/main" id="{A3854465-263B-06F8-0AEB-877878BA49E3}"/>
                </a:ext>
              </a:extLst>
            </p:cNvPr>
            <p:cNvSpPr>
              <a:spLocks noChangeArrowheads="1"/>
            </p:cNvSpPr>
            <p:nvPr/>
          </p:nvSpPr>
          <p:spPr bwMode="auto">
            <a:xfrm>
              <a:off x="2976" y="1008"/>
              <a:ext cx="1056" cy="432"/>
            </a:xfrm>
            <a:prstGeom prst="ellipse">
              <a:avLst/>
            </a:prstGeom>
            <a:gradFill rotWithShape="0">
              <a:gsLst>
                <a:gs pos="0">
                  <a:srgbClr val="454A4D"/>
                </a:gs>
                <a:gs pos="100000">
                  <a:srgbClr val="BCCAD4"/>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73025" tIns="36512" rIns="73025" bIns="36512"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lnSpc>
                  <a:spcPts val="2200"/>
                </a:lnSpc>
              </a:pPr>
              <a:endParaRPr lang="zh-CN" altLang="en-US"/>
            </a:p>
          </p:txBody>
        </p:sp>
        <p:sp>
          <p:nvSpPr>
            <p:cNvPr id="57365" name="Oval 22">
              <a:extLst>
                <a:ext uri="{FF2B5EF4-FFF2-40B4-BE49-F238E27FC236}">
                  <a16:creationId xmlns:a16="http://schemas.microsoft.com/office/drawing/2014/main" id="{6C122F93-FA18-AB25-4DDE-AA7537315AFD}"/>
                </a:ext>
              </a:extLst>
            </p:cNvPr>
            <p:cNvSpPr>
              <a:spLocks noChangeArrowheads="1"/>
            </p:cNvSpPr>
            <p:nvPr/>
          </p:nvSpPr>
          <p:spPr bwMode="auto">
            <a:xfrm>
              <a:off x="3024" y="1056"/>
              <a:ext cx="960" cy="336"/>
            </a:xfrm>
            <a:prstGeom prst="ellipse">
              <a:avLst/>
            </a:prstGeom>
            <a:gradFill rotWithShape="0">
              <a:gsLst>
                <a:gs pos="0">
                  <a:srgbClr val="BCCAD4"/>
                </a:gs>
                <a:gs pos="100000">
                  <a:srgbClr val="575D62"/>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73025" tIns="36512" rIns="73025" bIns="36512"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lnSpc>
                  <a:spcPts val="2200"/>
                </a:lnSpc>
              </a:pPr>
              <a:endParaRPr lang="zh-CN" altLang="en-US"/>
            </a:p>
          </p:txBody>
        </p:sp>
      </p:grpSp>
      <p:grpSp>
        <p:nvGrpSpPr>
          <p:cNvPr id="6" name="Group 8">
            <a:extLst>
              <a:ext uri="{FF2B5EF4-FFF2-40B4-BE49-F238E27FC236}">
                <a16:creationId xmlns:a16="http://schemas.microsoft.com/office/drawing/2014/main" id="{BA358448-EEB9-FBB6-EC42-5009671F0DDC}"/>
              </a:ext>
            </a:extLst>
          </p:cNvPr>
          <p:cNvGrpSpPr>
            <a:grpSpLocks/>
          </p:cNvGrpSpPr>
          <p:nvPr/>
        </p:nvGrpSpPr>
        <p:grpSpPr bwMode="auto">
          <a:xfrm>
            <a:off x="1006475" y="3602038"/>
            <a:ext cx="185738" cy="207962"/>
            <a:chOff x="2976" y="1008"/>
            <a:chExt cx="1056" cy="432"/>
          </a:xfrm>
        </p:grpSpPr>
        <p:sp>
          <p:nvSpPr>
            <p:cNvPr id="57362" name="Oval 9">
              <a:extLst>
                <a:ext uri="{FF2B5EF4-FFF2-40B4-BE49-F238E27FC236}">
                  <a16:creationId xmlns:a16="http://schemas.microsoft.com/office/drawing/2014/main" id="{997BA303-49BD-BB86-528C-F34E9D13A96A}"/>
                </a:ext>
              </a:extLst>
            </p:cNvPr>
            <p:cNvSpPr>
              <a:spLocks noChangeArrowheads="1"/>
            </p:cNvSpPr>
            <p:nvPr/>
          </p:nvSpPr>
          <p:spPr bwMode="auto">
            <a:xfrm>
              <a:off x="2976" y="1008"/>
              <a:ext cx="1056" cy="432"/>
            </a:xfrm>
            <a:prstGeom prst="ellipse">
              <a:avLst/>
            </a:prstGeom>
            <a:gradFill rotWithShape="0">
              <a:gsLst>
                <a:gs pos="0">
                  <a:srgbClr val="454A4D"/>
                </a:gs>
                <a:gs pos="100000">
                  <a:srgbClr val="BCCAD4"/>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73025" tIns="36512" rIns="73025" bIns="36512"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lnSpc>
                  <a:spcPts val="2200"/>
                </a:lnSpc>
              </a:pPr>
              <a:endParaRPr lang="zh-CN" altLang="en-US"/>
            </a:p>
          </p:txBody>
        </p:sp>
        <p:sp>
          <p:nvSpPr>
            <p:cNvPr id="57363" name="Oval 10">
              <a:extLst>
                <a:ext uri="{FF2B5EF4-FFF2-40B4-BE49-F238E27FC236}">
                  <a16:creationId xmlns:a16="http://schemas.microsoft.com/office/drawing/2014/main" id="{CB9B00F2-6143-02AA-F481-04F8A87124A2}"/>
                </a:ext>
              </a:extLst>
            </p:cNvPr>
            <p:cNvSpPr>
              <a:spLocks noChangeArrowheads="1"/>
            </p:cNvSpPr>
            <p:nvPr/>
          </p:nvSpPr>
          <p:spPr bwMode="auto">
            <a:xfrm>
              <a:off x="3024" y="1056"/>
              <a:ext cx="960" cy="336"/>
            </a:xfrm>
            <a:prstGeom prst="ellipse">
              <a:avLst/>
            </a:prstGeom>
            <a:gradFill rotWithShape="0">
              <a:gsLst>
                <a:gs pos="0">
                  <a:srgbClr val="BCCAD4"/>
                </a:gs>
                <a:gs pos="100000">
                  <a:srgbClr val="575D62"/>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73025" tIns="36512" rIns="73025" bIns="36512"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lnSpc>
                  <a:spcPts val="2200"/>
                </a:lnSpc>
              </a:pPr>
              <a:endParaRPr lang="zh-CN" altLang="en-US"/>
            </a:p>
          </p:txBody>
        </p:sp>
      </p:grpSp>
      <p:sp>
        <p:nvSpPr>
          <p:cNvPr id="19" name="Rectangle 3">
            <a:extLst>
              <a:ext uri="{FF2B5EF4-FFF2-40B4-BE49-F238E27FC236}">
                <a16:creationId xmlns:a16="http://schemas.microsoft.com/office/drawing/2014/main" id="{95970C1F-B09B-750C-DE1F-6A744E1BBC5F}"/>
              </a:ext>
            </a:extLst>
          </p:cNvPr>
          <p:cNvSpPr>
            <a:spLocks noChangeArrowheads="1"/>
          </p:cNvSpPr>
          <p:nvPr/>
        </p:nvSpPr>
        <p:spPr bwMode="auto">
          <a:xfrm>
            <a:off x="5572125" y="571500"/>
            <a:ext cx="3286125" cy="461963"/>
          </a:xfrm>
          <a:prstGeom prst="rect">
            <a:avLst/>
          </a:prstGeom>
          <a:noFill/>
          <a:ln w="9525">
            <a:noFill/>
            <a:miter lim="800000"/>
            <a:headEnd/>
            <a:tailEnd/>
          </a:ln>
          <a:effectLst>
            <a:outerShdw blurRad="50800" dist="38100" dir="2700000" algn="tl" rotWithShape="0">
              <a:prstClr val="black">
                <a:alpha val="40000"/>
              </a:prstClr>
            </a:outerShdw>
          </a:effectLst>
        </p:spPr>
        <p:txBody>
          <a:bodyPr>
            <a:spAutoFit/>
          </a:bodyPr>
          <a:lstStyle/>
          <a:p>
            <a:pPr>
              <a:defRPr/>
            </a:pPr>
            <a:r>
              <a:rPr lang="zh-CN" altLang="en-US" sz="2400" b="0" dirty="0">
                <a:solidFill>
                  <a:schemeClr val="bg2">
                    <a:lumMod val="75000"/>
                    <a:lumOff val="25000"/>
                  </a:schemeClr>
                </a:solidFill>
                <a:latin typeface="微软雅黑" pitchFamily="34" charset="-122"/>
                <a:ea typeface="微软雅黑" pitchFamily="34" charset="-122"/>
              </a:rPr>
              <a:t>第</a:t>
            </a:r>
            <a:r>
              <a:rPr lang="en-US" altLang="zh-CN" sz="2400" b="0" dirty="0">
                <a:solidFill>
                  <a:schemeClr val="bg2">
                    <a:lumMod val="75000"/>
                    <a:lumOff val="25000"/>
                  </a:schemeClr>
                </a:solidFill>
                <a:latin typeface="微软雅黑" pitchFamily="34" charset="-122"/>
                <a:ea typeface="微软雅黑" pitchFamily="34" charset="-122"/>
              </a:rPr>
              <a:t>11</a:t>
            </a:r>
            <a:r>
              <a:rPr lang="zh-CN" altLang="en-US" sz="2400" b="0" dirty="0">
                <a:solidFill>
                  <a:schemeClr val="bg2">
                    <a:lumMod val="75000"/>
                    <a:lumOff val="25000"/>
                  </a:schemeClr>
                </a:solidFill>
                <a:latin typeface="微软雅黑" pitchFamily="34" charset="-122"/>
                <a:ea typeface="微软雅黑" pitchFamily="34" charset="-122"/>
              </a:rPr>
              <a:t>章  差错控制编码  </a:t>
            </a:r>
            <a:r>
              <a:rPr lang="en-US" altLang="zh-CN" sz="2400" b="0" dirty="0">
                <a:solidFill>
                  <a:schemeClr val="bg2">
                    <a:lumMod val="75000"/>
                    <a:lumOff val="25000"/>
                  </a:schemeClr>
                </a:solidFill>
                <a:latin typeface="+mn-ea"/>
                <a:ea typeface="+mn-ea"/>
                <a:cs typeface="Arial" pitchFamily="34" charset="0"/>
              </a:rPr>
              <a:t> </a:t>
            </a:r>
            <a:endParaRPr lang="zh-CN" altLang="en-US" sz="2400" b="0" dirty="0">
              <a:solidFill>
                <a:schemeClr val="bg2">
                  <a:lumMod val="75000"/>
                  <a:lumOff val="25000"/>
                </a:schemeClr>
              </a:solidFill>
              <a:latin typeface="+mn-ea"/>
              <a:ea typeface="+mn-ea"/>
              <a:cs typeface="Arial" pitchFamily="34" charset="0"/>
            </a:endParaRPr>
          </a:p>
        </p:txBody>
      </p:sp>
      <p:sp>
        <p:nvSpPr>
          <p:cNvPr id="20" name="矩形 19">
            <a:extLst>
              <a:ext uri="{FF2B5EF4-FFF2-40B4-BE49-F238E27FC236}">
                <a16:creationId xmlns:a16="http://schemas.microsoft.com/office/drawing/2014/main" id="{D4125482-F27D-6ADE-A6E9-641A828F3917}"/>
              </a:ext>
            </a:extLst>
          </p:cNvPr>
          <p:cNvSpPr>
            <a:spLocks noChangeArrowheads="1"/>
          </p:cNvSpPr>
          <p:nvPr/>
        </p:nvSpPr>
        <p:spPr bwMode="auto">
          <a:xfrm>
            <a:off x="928688" y="1357313"/>
            <a:ext cx="7429500" cy="4670425"/>
          </a:xfrm>
          <a:prstGeom prst="rect">
            <a:avLst/>
          </a:prstGeom>
          <a:noFill/>
          <a:ln w="9525">
            <a:noFill/>
            <a:miter lim="800000"/>
            <a:headEnd/>
            <a:tailEnd/>
          </a:ln>
        </p:spPr>
        <p:txBody>
          <a:bodyPr>
            <a:spAutoFit/>
          </a:bodyPr>
          <a:lstStyle/>
          <a:p>
            <a:pPr lvl="1">
              <a:lnSpc>
                <a:spcPts val="5100"/>
              </a:lnSpc>
              <a:defRPr/>
            </a:pPr>
            <a:r>
              <a:rPr lang="zh-CN" altLang="en-US" sz="2400" dirty="0">
                <a:solidFill>
                  <a:srgbClr val="003399"/>
                </a:solidFill>
                <a:latin typeface="微软雅黑" pitchFamily="34" charset="-122"/>
                <a:ea typeface="微软雅黑" pitchFamily="34" charset="-122"/>
              </a:rPr>
              <a:t>基本概念 </a:t>
            </a:r>
            <a:r>
              <a:rPr lang="en-US" altLang="zh-CN"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rPr>
              <a:t>—</a:t>
            </a: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rPr>
              <a:t>差控方式   编码原理</a:t>
            </a:r>
            <a:r>
              <a:rPr lang="en-US" altLang="zh-CN"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rPr>
              <a:t>   </a:t>
            </a: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rPr>
              <a:t>码距</a:t>
            </a:r>
            <a:r>
              <a:rPr lang="en-US" altLang="zh-CN"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rPr>
              <a:t>   </a:t>
            </a: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rPr>
              <a:t>码率</a:t>
            </a:r>
            <a:r>
              <a:rPr lang="en-US" altLang="zh-CN"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rPr>
              <a:t>   </a:t>
            </a: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rPr>
              <a:t>性能</a:t>
            </a:r>
            <a:endParaRPr lang="zh-CN" altLang="en-US" sz="200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endParaRPr>
          </a:p>
          <a:p>
            <a:pPr lvl="1">
              <a:lnSpc>
                <a:spcPts val="5100"/>
              </a:lnSpc>
              <a:defRPr/>
            </a:pPr>
            <a:r>
              <a:rPr lang="zh-CN" altLang="en-US" sz="2400" dirty="0">
                <a:solidFill>
                  <a:srgbClr val="003399"/>
                </a:solidFill>
                <a:latin typeface="微软雅黑" pitchFamily="34" charset="-122"/>
                <a:ea typeface="微软雅黑" pitchFamily="34" charset="-122"/>
              </a:rPr>
              <a:t>简单实用码 </a:t>
            </a:r>
            <a:r>
              <a:rPr lang="en-US" altLang="zh-CN"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a:t>
            </a: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奇偶监督   恒比码</a:t>
            </a:r>
            <a:r>
              <a:rPr lang="en-US" altLang="zh-CN"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   </a:t>
            </a: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 正反码 </a:t>
            </a:r>
            <a:endParaRPr lang="zh-CN" altLang="en-US" sz="200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endParaRPr>
          </a:p>
          <a:p>
            <a:pPr lvl="1">
              <a:lnSpc>
                <a:spcPts val="5100"/>
              </a:lnSpc>
              <a:defRPr/>
            </a:pPr>
            <a:r>
              <a:rPr lang="zh-CN" altLang="en-US" sz="2400" dirty="0">
                <a:solidFill>
                  <a:srgbClr val="003399"/>
                </a:solidFill>
                <a:latin typeface="微软雅黑" pitchFamily="34" charset="-122"/>
                <a:ea typeface="微软雅黑" pitchFamily="34" charset="-122"/>
              </a:rPr>
              <a:t>线性分组码 </a:t>
            </a:r>
            <a:r>
              <a:rPr lang="en-US" altLang="zh-CN"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a:t>
            </a: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汉明码   监督矩阵</a:t>
            </a:r>
            <a:r>
              <a:rPr lang="en-US" altLang="zh-CN"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H</a:t>
            </a: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、生成矩阵</a:t>
            </a:r>
            <a:r>
              <a:rPr lang="en-US" altLang="zh-CN"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G</a:t>
            </a: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    </a:t>
            </a:r>
          </a:p>
          <a:p>
            <a:pPr lvl="1">
              <a:lnSpc>
                <a:spcPts val="5100"/>
              </a:lnSpc>
              <a:defRPr/>
            </a:pPr>
            <a:r>
              <a:rPr lang="zh-CN" altLang="en-US" sz="2400" dirty="0">
                <a:solidFill>
                  <a:srgbClr val="003399"/>
                </a:solidFill>
                <a:latin typeface="微软雅黑" pitchFamily="34" charset="-122"/>
                <a:ea typeface="微软雅黑" pitchFamily="34" charset="-122"/>
              </a:rPr>
              <a:t>循环码 </a:t>
            </a:r>
            <a:r>
              <a:rPr lang="en-US" altLang="zh-CN"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a:t>
            </a: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 生成多项式   编译方法   </a:t>
            </a:r>
            <a:r>
              <a:rPr lang="en-US" altLang="zh-CN"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BCH</a:t>
            </a: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码   </a:t>
            </a:r>
            <a:r>
              <a:rPr lang="en-US" altLang="zh-CN"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RS</a:t>
            </a: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码</a:t>
            </a:r>
          </a:p>
          <a:p>
            <a:pPr lvl="1">
              <a:lnSpc>
                <a:spcPts val="5100"/>
              </a:lnSpc>
              <a:defRPr/>
            </a:pPr>
            <a:r>
              <a:rPr lang="zh-CN" altLang="en-US" sz="2400" dirty="0">
                <a:solidFill>
                  <a:srgbClr val="003399"/>
                </a:solidFill>
                <a:latin typeface="微软雅黑" pitchFamily="34" charset="-122"/>
                <a:ea typeface="微软雅黑" pitchFamily="34" charset="-122"/>
              </a:rPr>
              <a:t>卷积码 </a:t>
            </a:r>
            <a:r>
              <a:rPr lang="en-US" altLang="zh-CN"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a:t>
            </a: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 编译原理   代数表述  几何表述</a:t>
            </a:r>
            <a:endParaRPr lang="en-US" altLang="zh-CN"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endParaRPr>
          </a:p>
          <a:p>
            <a:pPr lvl="1">
              <a:lnSpc>
                <a:spcPts val="5100"/>
              </a:lnSpc>
              <a:defRPr/>
            </a:pPr>
            <a:r>
              <a:rPr lang="en-US" altLang="zh-CN" sz="2400" dirty="0">
                <a:solidFill>
                  <a:srgbClr val="003399"/>
                </a:solidFill>
                <a:latin typeface="Arial" charset="0"/>
                <a:ea typeface="微软雅黑" pitchFamily="34" charset="-122"/>
              </a:rPr>
              <a:t>Turbo</a:t>
            </a:r>
            <a:r>
              <a:rPr lang="zh-CN" altLang="en-US" sz="2400" dirty="0">
                <a:solidFill>
                  <a:srgbClr val="003399"/>
                </a:solidFill>
                <a:latin typeface="Arial" charset="0"/>
                <a:ea typeface="微软雅黑" pitchFamily="34" charset="-122"/>
              </a:rPr>
              <a:t>码     低密度奇偶校验码</a:t>
            </a:r>
            <a:endParaRPr lang="en-US" altLang="zh-CN" sz="2400" dirty="0">
              <a:solidFill>
                <a:srgbClr val="003399"/>
              </a:solidFill>
              <a:latin typeface="Arial" charset="0"/>
              <a:ea typeface="微软雅黑" pitchFamily="34" charset="-122"/>
            </a:endParaRPr>
          </a:p>
          <a:p>
            <a:pPr lvl="1">
              <a:lnSpc>
                <a:spcPts val="5100"/>
              </a:lnSpc>
              <a:defRPr/>
            </a:pPr>
            <a:r>
              <a:rPr lang="zh-CN" altLang="en-US" sz="2400" dirty="0">
                <a:solidFill>
                  <a:srgbClr val="003399"/>
                </a:solidFill>
                <a:latin typeface="Arial" charset="0"/>
                <a:ea typeface="微软雅黑" pitchFamily="34" charset="-122"/>
              </a:rPr>
              <a:t>网格编码调制 </a:t>
            </a:r>
            <a:r>
              <a:rPr lang="en-US" altLang="zh-CN" sz="2000" b="0" dirty="0">
                <a:solidFill>
                  <a:schemeClr val="tx1"/>
                </a:solidFill>
                <a:effectLst>
                  <a:outerShdw blurRad="38100" dist="38100" dir="2700000" algn="tl">
                    <a:srgbClr val="000000">
                      <a:alpha val="43137"/>
                    </a:srgbClr>
                  </a:outerShdw>
                </a:effectLst>
                <a:latin typeface="Arial" charset="0"/>
                <a:ea typeface="微软雅黑" pitchFamily="34" charset="-122"/>
              </a:rPr>
              <a:t>—TCM</a:t>
            </a:r>
            <a:r>
              <a:rPr lang="zh-CN" altLang="en-US" sz="2000" b="0" dirty="0">
                <a:solidFill>
                  <a:schemeClr val="tx1"/>
                </a:solidFill>
                <a:effectLst>
                  <a:outerShdw blurRad="38100" dist="38100" dir="2700000" algn="tl">
                    <a:srgbClr val="000000">
                      <a:alpha val="43137"/>
                    </a:srgbClr>
                  </a:outerShdw>
                </a:effectLst>
                <a:latin typeface="Arial" charset="0"/>
                <a:ea typeface="微软雅黑" pitchFamily="34" charset="-122"/>
              </a:rPr>
              <a:t>信号的产生与解调</a:t>
            </a:r>
            <a:r>
              <a:rPr lang="zh-CN" altLang="en-US" sz="2400" dirty="0">
                <a:solidFill>
                  <a:schemeClr val="tx1"/>
                </a:solidFill>
                <a:effectLst>
                  <a:outerShdw blurRad="38100" dist="38100" dir="2700000" algn="tl">
                    <a:srgbClr val="000000">
                      <a:alpha val="43137"/>
                    </a:srgbClr>
                  </a:outerShdw>
                </a:effectLst>
                <a:latin typeface="Arial" charset="0"/>
                <a:ea typeface="微软雅黑" pitchFamily="34" charset="-122"/>
              </a:rPr>
              <a:t> </a:t>
            </a:r>
            <a:endParaRPr lang="zh-CN" altLang="en-US" sz="2000" dirty="0">
              <a:solidFill>
                <a:schemeClr val="tx1"/>
              </a:solidFill>
              <a:effectLst>
                <a:outerShdw blurRad="38100" dist="38100" dir="2700000" algn="tl">
                  <a:srgbClr val="000000">
                    <a:alpha val="43137"/>
                  </a:srgbClr>
                </a:outerShdw>
              </a:effectLst>
              <a:latin typeface="Arial" charset="0"/>
              <a:ea typeface="微软雅黑" pitchFamily="34" charset="-122"/>
            </a:endParaRPr>
          </a:p>
        </p:txBody>
      </p:sp>
      <p:grpSp>
        <p:nvGrpSpPr>
          <p:cNvPr id="7" name="Group 8">
            <a:extLst>
              <a:ext uri="{FF2B5EF4-FFF2-40B4-BE49-F238E27FC236}">
                <a16:creationId xmlns:a16="http://schemas.microsoft.com/office/drawing/2014/main" id="{6BF3CBCE-7DD4-8A18-653F-7B1AACE98BDB}"/>
              </a:ext>
            </a:extLst>
          </p:cNvPr>
          <p:cNvGrpSpPr>
            <a:grpSpLocks/>
          </p:cNvGrpSpPr>
          <p:nvPr/>
        </p:nvGrpSpPr>
        <p:grpSpPr bwMode="auto">
          <a:xfrm>
            <a:off x="1000125" y="4259263"/>
            <a:ext cx="185738" cy="207962"/>
            <a:chOff x="2976" y="1008"/>
            <a:chExt cx="1056" cy="432"/>
          </a:xfrm>
        </p:grpSpPr>
        <p:sp>
          <p:nvSpPr>
            <p:cNvPr id="57360" name="Oval 9">
              <a:extLst>
                <a:ext uri="{FF2B5EF4-FFF2-40B4-BE49-F238E27FC236}">
                  <a16:creationId xmlns:a16="http://schemas.microsoft.com/office/drawing/2014/main" id="{F2D3E084-0461-419C-E687-DAEDB2B5BDDA}"/>
                </a:ext>
              </a:extLst>
            </p:cNvPr>
            <p:cNvSpPr>
              <a:spLocks noChangeArrowheads="1"/>
            </p:cNvSpPr>
            <p:nvPr/>
          </p:nvSpPr>
          <p:spPr bwMode="auto">
            <a:xfrm>
              <a:off x="2976" y="1008"/>
              <a:ext cx="1056" cy="432"/>
            </a:xfrm>
            <a:prstGeom prst="ellipse">
              <a:avLst/>
            </a:prstGeom>
            <a:gradFill rotWithShape="0">
              <a:gsLst>
                <a:gs pos="0">
                  <a:srgbClr val="454A4D"/>
                </a:gs>
                <a:gs pos="100000">
                  <a:srgbClr val="BCCAD4"/>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73025" tIns="36512" rIns="73025" bIns="36512"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lnSpc>
                  <a:spcPts val="2200"/>
                </a:lnSpc>
              </a:pPr>
              <a:endParaRPr lang="zh-CN" altLang="en-US"/>
            </a:p>
          </p:txBody>
        </p:sp>
        <p:sp>
          <p:nvSpPr>
            <p:cNvPr id="57361" name="Oval 10">
              <a:extLst>
                <a:ext uri="{FF2B5EF4-FFF2-40B4-BE49-F238E27FC236}">
                  <a16:creationId xmlns:a16="http://schemas.microsoft.com/office/drawing/2014/main" id="{A14160EF-B0DF-0846-29BE-A29F5CA5DE53}"/>
                </a:ext>
              </a:extLst>
            </p:cNvPr>
            <p:cNvSpPr>
              <a:spLocks noChangeArrowheads="1"/>
            </p:cNvSpPr>
            <p:nvPr/>
          </p:nvSpPr>
          <p:spPr bwMode="auto">
            <a:xfrm>
              <a:off x="3024" y="1056"/>
              <a:ext cx="960" cy="336"/>
            </a:xfrm>
            <a:prstGeom prst="ellipse">
              <a:avLst/>
            </a:prstGeom>
            <a:gradFill rotWithShape="0">
              <a:gsLst>
                <a:gs pos="0">
                  <a:srgbClr val="BCCAD4"/>
                </a:gs>
                <a:gs pos="100000">
                  <a:srgbClr val="575D62"/>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73025" tIns="36512" rIns="73025" bIns="36512"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lnSpc>
                  <a:spcPts val="2200"/>
                </a:lnSpc>
              </a:pPr>
              <a:endParaRPr lang="zh-CN" altLang="en-US"/>
            </a:p>
          </p:txBody>
        </p:sp>
      </p:grpSp>
      <p:grpSp>
        <p:nvGrpSpPr>
          <p:cNvPr id="8" name="Group 8">
            <a:extLst>
              <a:ext uri="{FF2B5EF4-FFF2-40B4-BE49-F238E27FC236}">
                <a16:creationId xmlns:a16="http://schemas.microsoft.com/office/drawing/2014/main" id="{854E5CB8-E755-C154-6681-0736F529255E}"/>
              </a:ext>
            </a:extLst>
          </p:cNvPr>
          <p:cNvGrpSpPr>
            <a:grpSpLocks/>
          </p:cNvGrpSpPr>
          <p:nvPr/>
        </p:nvGrpSpPr>
        <p:grpSpPr bwMode="auto">
          <a:xfrm>
            <a:off x="1000125" y="4916488"/>
            <a:ext cx="185738" cy="207962"/>
            <a:chOff x="2976" y="1008"/>
            <a:chExt cx="1056" cy="432"/>
          </a:xfrm>
        </p:grpSpPr>
        <p:sp>
          <p:nvSpPr>
            <p:cNvPr id="57358" name="Oval 9">
              <a:extLst>
                <a:ext uri="{FF2B5EF4-FFF2-40B4-BE49-F238E27FC236}">
                  <a16:creationId xmlns:a16="http://schemas.microsoft.com/office/drawing/2014/main" id="{CBDA7DEC-A3EA-C570-5AD0-9527F3786B4F}"/>
                </a:ext>
              </a:extLst>
            </p:cNvPr>
            <p:cNvSpPr>
              <a:spLocks noChangeArrowheads="1"/>
            </p:cNvSpPr>
            <p:nvPr/>
          </p:nvSpPr>
          <p:spPr bwMode="auto">
            <a:xfrm>
              <a:off x="2976" y="1008"/>
              <a:ext cx="1056" cy="432"/>
            </a:xfrm>
            <a:prstGeom prst="ellipse">
              <a:avLst/>
            </a:prstGeom>
            <a:gradFill rotWithShape="0">
              <a:gsLst>
                <a:gs pos="0">
                  <a:srgbClr val="454A4D"/>
                </a:gs>
                <a:gs pos="100000">
                  <a:srgbClr val="BCCAD4"/>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73025" tIns="36512" rIns="73025" bIns="36512"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lnSpc>
                  <a:spcPts val="2200"/>
                </a:lnSpc>
              </a:pPr>
              <a:endParaRPr lang="zh-CN" altLang="en-US"/>
            </a:p>
          </p:txBody>
        </p:sp>
        <p:sp>
          <p:nvSpPr>
            <p:cNvPr id="57359" name="Oval 10">
              <a:extLst>
                <a:ext uri="{FF2B5EF4-FFF2-40B4-BE49-F238E27FC236}">
                  <a16:creationId xmlns:a16="http://schemas.microsoft.com/office/drawing/2014/main" id="{02633702-1D34-40DE-88F9-E82F9C7F0D17}"/>
                </a:ext>
              </a:extLst>
            </p:cNvPr>
            <p:cNvSpPr>
              <a:spLocks noChangeArrowheads="1"/>
            </p:cNvSpPr>
            <p:nvPr/>
          </p:nvSpPr>
          <p:spPr bwMode="auto">
            <a:xfrm>
              <a:off x="3024" y="1056"/>
              <a:ext cx="960" cy="336"/>
            </a:xfrm>
            <a:prstGeom prst="ellipse">
              <a:avLst/>
            </a:prstGeom>
            <a:gradFill rotWithShape="0">
              <a:gsLst>
                <a:gs pos="0">
                  <a:srgbClr val="BCCAD4"/>
                </a:gs>
                <a:gs pos="100000">
                  <a:srgbClr val="575D62"/>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73025" tIns="36512" rIns="73025" bIns="36512"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lnSpc>
                  <a:spcPts val="2200"/>
                </a:lnSpc>
              </a:pPr>
              <a:endParaRPr lang="zh-CN" altLang="en-US"/>
            </a:p>
          </p:txBody>
        </p:sp>
      </p:grpSp>
      <p:grpSp>
        <p:nvGrpSpPr>
          <p:cNvPr id="9" name="Group 8">
            <a:extLst>
              <a:ext uri="{FF2B5EF4-FFF2-40B4-BE49-F238E27FC236}">
                <a16:creationId xmlns:a16="http://schemas.microsoft.com/office/drawing/2014/main" id="{A8E2482A-C6D3-BA30-A2C7-C48253EA19CA}"/>
              </a:ext>
            </a:extLst>
          </p:cNvPr>
          <p:cNvGrpSpPr>
            <a:grpSpLocks/>
          </p:cNvGrpSpPr>
          <p:nvPr/>
        </p:nvGrpSpPr>
        <p:grpSpPr bwMode="auto">
          <a:xfrm>
            <a:off x="1000125" y="5578475"/>
            <a:ext cx="185738" cy="207963"/>
            <a:chOff x="2976" y="1008"/>
            <a:chExt cx="1056" cy="432"/>
          </a:xfrm>
        </p:grpSpPr>
        <p:sp>
          <p:nvSpPr>
            <p:cNvPr id="57356" name="Oval 9">
              <a:extLst>
                <a:ext uri="{FF2B5EF4-FFF2-40B4-BE49-F238E27FC236}">
                  <a16:creationId xmlns:a16="http://schemas.microsoft.com/office/drawing/2014/main" id="{6BFB28BA-EE2E-339B-656E-7D31E6B51360}"/>
                </a:ext>
              </a:extLst>
            </p:cNvPr>
            <p:cNvSpPr>
              <a:spLocks noChangeArrowheads="1"/>
            </p:cNvSpPr>
            <p:nvPr/>
          </p:nvSpPr>
          <p:spPr bwMode="auto">
            <a:xfrm>
              <a:off x="2976" y="1008"/>
              <a:ext cx="1056" cy="432"/>
            </a:xfrm>
            <a:prstGeom prst="ellipse">
              <a:avLst/>
            </a:prstGeom>
            <a:gradFill rotWithShape="0">
              <a:gsLst>
                <a:gs pos="0">
                  <a:srgbClr val="454A4D"/>
                </a:gs>
                <a:gs pos="100000">
                  <a:srgbClr val="BCCAD4"/>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73025" tIns="36512" rIns="73025" bIns="36512"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lnSpc>
                  <a:spcPts val="2200"/>
                </a:lnSpc>
              </a:pPr>
              <a:endParaRPr lang="zh-CN" altLang="en-US"/>
            </a:p>
          </p:txBody>
        </p:sp>
        <p:sp>
          <p:nvSpPr>
            <p:cNvPr id="57357" name="Oval 10">
              <a:extLst>
                <a:ext uri="{FF2B5EF4-FFF2-40B4-BE49-F238E27FC236}">
                  <a16:creationId xmlns:a16="http://schemas.microsoft.com/office/drawing/2014/main" id="{82020236-5701-1C38-1964-BCD1C1A56ADC}"/>
                </a:ext>
              </a:extLst>
            </p:cNvPr>
            <p:cNvSpPr>
              <a:spLocks noChangeArrowheads="1"/>
            </p:cNvSpPr>
            <p:nvPr/>
          </p:nvSpPr>
          <p:spPr bwMode="auto">
            <a:xfrm>
              <a:off x="3024" y="1056"/>
              <a:ext cx="960" cy="336"/>
            </a:xfrm>
            <a:prstGeom prst="ellipse">
              <a:avLst/>
            </a:prstGeom>
            <a:gradFill rotWithShape="0">
              <a:gsLst>
                <a:gs pos="0">
                  <a:srgbClr val="BCCAD4"/>
                </a:gs>
                <a:gs pos="100000">
                  <a:srgbClr val="575D62"/>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73025" tIns="36512" rIns="73025" bIns="36512"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lnSpc>
                  <a:spcPts val="2200"/>
                </a:lnSpc>
              </a:pPr>
              <a:endParaRPr lang="zh-CN" altLang="en-US"/>
            </a:p>
          </p:txBody>
        </p:sp>
      </p:gr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1000"/>
                                        <p:tgtEl>
                                          <p:spTgt spid="3"/>
                                        </p:tgtEl>
                                      </p:cBhvr>
                                    </p:animEffect>
                                  </p:childTnLst>
                                </p:cTn>
                              </p:par>
                              <p:par>
                                <p:cTn id="11" presetID="22" presetClass="entr" presetSubtype="8"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1000"/>
                                        <p:tgtEl>
                                          <p:spTgt spid="4"/>
                                        </p:tgtEl>
                                      </p:cBhvr>
                                    </p:animEffect>
                                  </p:childTnLst>
                                </p:cTn>
                              </p:par>
                              <p:par>
                                <p:cTn id="14" presetID="22" presetClass="entr" presetSubtype="8"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1000"/>
                                        <p:tgtEl>
                                          <p:spTgt spid="6"/>
                                        </p:tgtEl>
                                      </p:cBhvr>
                                    </p:animEffect>
                                  </p:childTnLst>
                                </p:cTn>
                              </p:par>
                              <p:par>
                                <p:cTn id="17" presetID="22" presetClass="entr" presetSubtype="8"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1000"/>
                                        <p:tgtEl>
                                          <p:spTgt spid="7"/>
                                        </p:tgtEl>
                                      </p:cBhvr>
                                    </p:animEffect>
                                  </p:childTnLst>
                                </p:cTn>
                              </p:par>
                              <p:par>
                                <p:cTn id="20" presetID="22" presetClass="entr" presetSubtype="8"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1000"/>
                                        <p:tgtEl>
                                          <p:spTgt spid="8"/>
                                        </p:tgtEl>
                                      </p:cBhvr>
                                    </p:animEffect>
                                  </p:childTnLst>
                                </p:cTn>
                              </p:par>
                            </p:childTnLst>
                          </p:cTn>
                        </p:par>
                        <p:par>
                          <p:cTn id="23" fill="hold" nodeType="afterGroup">
                            <p:stCondLst>
                              <p:cond delay="1000"/>
                            </p:stCondLst>
                            <p:childTnLst>
                              <p:par>
                                <p:cTn id="24" presetID="22" presetClass="entr" presetSubtype="1" fill="hold" nodeType="afterEffect">
                                  <p:stCondLst>
                                    <p:cond delay="0"/>
                                  </p:stCondLst>
                                  <p:childTnLst>
                                    <p:set>
                                      <p:cBhvr>
                                        <p:cTn id="25" dur="1" fill="hold">
                                          <p:stCondLst>
                                            <p:cond delay="0"/>
                                          </p:stCondLst>
                                        </p:cTn>
                                        <p:tgtEl>
                                          <p:spTgt spid="20">
                                            <p:txEl>
                                              <p:pRg st="0" end="0"/>
                                            </p:txEl>
                                          </p:spTgt>
                                        </p:tgtEl>
                                        <p:attrNameLst>
                                          <p:attrName>style.visibility</p:attrName>
                                        </p:attrNameLst>
                                      </p:cBhvr>
                                      <p:to>
                                        <p:strVal val="visible"/>
                                      </p:to>
                                    </p:set>
                                    <p:animEffect transition="in" filter="wipe(up)">
                                      <p:cBhvr>
                                        <p:cTn id="26" dur="1000"/>
                                        <p:tgtEl>
                                          <p:spTgt spid="20">
                                            <p:txEl>
                                              <p:pRg st="0" end="0"/>
                                            </p:txEl>
                                          </p:spTgt>
                                        </p:tgtEl>
                                      </p:cBhvr>
                                    </p:animEffect>
                                  </p:childTnLst>
                                </p:cTn>
                              </p:par>
                            </p:childTnLst>
                          </p:cTn>
                        </p:par>
                        <p:par>
                          <p:cTn id="27" fill="hold" nodeType="afterGroup">
                            <p:stCondLst>
                              <p:cond delay="2000"/>
                            </p:stCondLst>
                            <p:childTnLst>
                              <p:par>
                                <p:cTn id="28" presetID="22" presetClass="entr" presetSubtype="1" fill="hold" nodeType="afterEffect">
                                  <p:stCondLst>
                                    <p:cond delay="0"/>
                                  </p:stCondLst>
                                  <p:childTnLst>
                                    <p:set>
                                      <p:cBhvr>
                                        <p:cTn id="29" dur="1" fill="hold">
                                          <p:stCondLst>
                                            <p:cond delay="0"/>
                                          </p:stCondLst>
                                        </p:cTn>
                                        <p:tgtEl>
                                          <p:spTgt spid="20">
                                            <p:txEl>
                                              <p:pRg st="1" end="1"/>
                                            </p:txEl>
                                          </p:spTgt>
                                        </p:tgtEl>
                                        <p:attrNameLst>
                                          <p:attrName>style.visibility</p:attrName>
                                        </p:attrNameLst>
                                      </p:cBhvr>
                                      <p:to>
                                        <p:strVal val="visible"/>
                                      </p:to>
                                    </p:set>
                                    <p:animEffect transition="in" filter="wipe(up)">
                                      <p:cBhvr>
                                        <p:cTn id="30" dur="1000"/>
                                        <p:tgtEl>
                                          <p:spTgt spid="20">
                                            <p:txEl>
                                              <p:pRg st="1" end="1"/>
                                            </p:txEl>
                                          </p:spTgt>
                                        </p:tgtEl>
                                      </p:cBhvr>
                                    </p:animEffect>
                                  </p:childTnLst>
                                </p:cTn>
                              </p:par>
                            </p:childTnLst>
                          </p:cTn>
                        </p:par>
                        <p:par>
                          <p:cTn id="31" fill="hold" nodeType="afterGroup">
                            <p:stCondLst>
                              <p:cond delay="3000"/>
                            </p:stCondLst>
                            <p:childTnLst>
                              <p:par>
                                <p:cTn id="32" presetID="22" presetClass="entr" presetSubtype="1" fill="hold" nodeType="afterEffect">
                                  <p:stCondLst>
                                    <p:cond delay="0"/>
                                  </p:stCondLst>
                                  <p:childTnLst>
                                    <p:set>
                                      <p:cBhvr>
                                        <p:cTn id="33" dur="1" fill="hold">
                                          <p:stCondLst>
                                            <p:cond delay="0"/>
                                          </p:stCondLst>
                                        </p:cTn>
                                        <p:tgtEl>
                                          <p:spTgt spid="20">
                                            <p:txEl>
                                              <p:pRg st="2" end="2"/>
                                            </p:txEl>
                                          </p:spTgt>
                                        </p:tgtEl>
                                        <p:attrNameLst>
                                          <p:attrName>style.visibility</p:attrName>
                                        </p:attrNameLst>
                                      </p:cBhvr>
                                      <p:to>
                                        <p:strVal val="visible"/>
                                      </p:to>
                                    </p:set>
                                    <p:animEffect transition="in" filter="wipe(up)">
                                      <p:cBhvr>
                                        <p:cTn id="34" dur="1000"/>
                                        <p:tgtEl>
                                          <p:spTgt spid="20">
                                            <p:txEl>
                                              <p:pRg st="2" end="2"/>
                                            </p:txEl>
                                          </p:spTgt>
                                        </p:tgtEl>
                                      </p:cBhvr>
                                    </p:animEffect>
                                  </p:childTnLst>
                                </p:cTn>
                              </p:par>
                            </p:childTnLst>
                          </p:cTn>
                        </p:par>
                        <p:par>
                          <p:cTn id="35" fill="hold" nodeType="afterGroup">
                            <p:stCondLst>
                              <p:cond delay="4000"/>
                            </p:stCondLst>
                            <p:childTnLst>
                              <p:par>
                                <p:cTn id="36" presetID="22" presetClass="entr" presetSubtype="1" fill="hold" nodeType="afterEffect">
                                  <p:stCondLst>
                                    <p:cond delay="0"/>
                                  </p:stCondLst>
                                  <p:childTnLst>
                                    <p:set>
                                      <p:cBhvr>
                                        <p:cTn id="37" dur="1" fill="hold">
                                          <p:stCondLst>
                                            <p:cond delay="0"/>
                                          </p:stCondLst>
                                        </p:cTn>
                                        <p:tgtEl>
                                          <p:spTgt spid="20">
                                            <p:txEl>
                                              <p:pRg st="3" end="3"/>
                                            </p:txEl>
                                          </p:spTgt>
                                        </p:tgtEl>
                                        <p:attrNameLst>
                                          <p:attrName>style.visibility</p:attrName>
                                        </p:attrNameLst>
                                      </p:cBhvr>
                                      <p:to>
                                        <p:strVal val="visible"/>
                                      </p:to>
                                    </p:set>
                                    <p:animEffect transition="in" filter="wipe(up)">
                                      <p:cBhvr>
                                        <p:cTn id="38" dur="1000"/>
                                        <p:tgtEl>
                                          <p:spTgt spid="20">
                                            <p:txEl>
                                              <p:pRg st="3" end="3"/>
                                            </p:txEl>
                                          </p:spTgt>
                                        </p:tgtEl>
                                      </p:cBhvr>
                                    </p:animEffect>
                                  </p:childTnLst>
                                </p:cTn>
                              </p:par>
                            </p:childTnLst>
                          </p:cTn>
                        </p:par>
                        <p:par>
                          <p:cTn id="39" fill="hold" nodeType="afterGroup">
                            <p:stCondLst>
                              <p:cond delay="5000"/>
                            </p:stCondLst>
                            <p:childTnLst>
                              <p:par>
                                <p:cTn id="40" presetID="22" presetClass="entr" presetSubtype="1" fill="hold" nodeType="afterEffect">
                                  <p:stCondLst>
                                    <p:cond delay="0"/>
                                  </p:stCondLst>
                                  <p:childTnLst>
                                    <p:set>
                                      <p:cBhvr>
                                        <p:cTn id="41" dur="1" fill="hold">
                                          <p:stCondLst>
                                            <p:cond delay="0"/>
                                          </p:stCondLst>
                                        </p:cTn>
                                        <p:tgtEl>
                                          <p:spTgt spid="20">
                                            <p:txEl>
                                              <p:pRg st="4" end="4"/>
                                            </p:txEl>
                                          </p:spTgt>
                                        </p:tgtEl>
                                        <p:attrNameLst>
                                          <p:attrName>style.visibility</p:attrName>
                                        </p:attrNameLst>
                                      </p:cBhvr>
                                      <p:to>
                                        <p:strVal val="visible"/>
                                      </p:to>
                                    </p:set>
                                    <p:animEffect transition="in" filter="wipe(up)">
                                      <p:cBhvr>
                                        <p:cTn id="42" dur="1000"/>
                                        <p:tgtEl>
                                          <p:spTgt spid="20">
                                            <p:txEl>
                                              <p:pRg st="4" end="4"/>
                                            </p:txEl>
                                          </p:spTgt>
                                        </p:tgtEl>
                                      </p:cBhvr>
                                    </p:animEffect>
                                  </p:childTnLst>
                                </p:cTn>
                              </p:par>
                            </p:childTnLst>
                          </p:cTn>
                        </p:par>
                        <p:par>
                          <p:cTn id="43" fill="hold" nodeType="afterGroup">
                            <p:stCondLst>
                              <p:cond delay="6000"/>
                            </p:stCondLst>
                            <p:childTnLst>
                              <p:par>
                                <p:cTn id="44" presetID="22" presetClass="entr" presetSubtype="1" fill="hold" nodeType="afterEffect">
                                  <p:stCondLst>
                                    <p:cond delay="0"/>
                                  </p:stCondLst>
                                  <p:childTnLst>
                                    <p:set>
                                      <p:cBhvr>
                                        <p:cTn id="45" dur="1" fill="hold">
                                          <p:stCondLst>
                                            <p:cond delay="0"/>
                                          </p:stCondLst>
                                        </p:cTn>
                                        <p:tgtEl>
                                          <p:spTgt spid="20">
                                            <p:txEl>
                                              <p:pRg st="5" end="5"/>
                                            </p:txEl>
                                          </p:spTgt>
                                        </p:tgtEl>
                                        <p:attrNameLst>
                                          <p:attrName>style.visibility</p:attrName>
                                        </p:attrNameLst>
                                      </p:cBhvr>
                                      <p:to>
                                        <p:strVal val="visible"/>
                                      </p:to>
                                    </p:set>
                                    <p:animEffect transition="in" filter="wipe(up)">
                                      <p:cBhvr>
                                        <p:cTn id="46" dur="1000"/>
                                        <p:tgtEl>
                                          <p:spTgt spid="20">
                                            <p:txEl>
                                              <p:pRg st="5" end="5"/>
                                            </p:txEl>
                                          </p:spTgt>
                                        </p:tgtEl>
                                      </p:cBhvr>
                                    </p:animEffect>
                                  </p:childTnLst>
                                </p:cTn>
                              </p:par>
                            </p:childTnLst>
                          </p:cTn>
                        </p:par>
                        <p:par>
                          <p:cTn id="47" fill="hold" nodeType="afterGroup">
                            <p:stCondLst>
                              <p:cond delay="7000"/>
                            </p:stCondLst>
                            <p:childTnLst>
                              <p:par>
                                <p:cTn id="48" presetID="22" presetClass="entr" presetSubtype="1" fill="hold" nodeType="afterEffect">
                                  <p:stCondLst>
                                    <p:cond delay="0"/>
                                  </p:stCondLst>
                                  <p:childTnLst>
                                    <p:set>
                                      <p:cBhvr>
                                        <p:cTn id="49" dur="1" fill="hold">
                                          <p:stCondLst>
                                            <p:cond delay="0"/>
                                          </p:stCondLst>
                                        </p:cTn>
                                        <p:tgtEl>
                                          <p:spTgt spid="20">
                                            <p:txEl>
                                              <p:pRg st="6" end="6"/>
                                            </p:txEl>
                                          </p:spTgt>
                                        </p:tgtEl>
                                        <p:attrNameLst>
                                          <p:attrName>style.visibility</p:attrName>
                                        </p:attrNameLst>
                                      </p:cBhvr>
                                      <p:to>
                                        <p:strVal val="visible"/>
                                      </p:to>
                                    </p:set>
                                    <p:animEffect transition="in" filter="wipe(up)">
                                      <p:cBhvr>
                                        <p:cTn id="50" dur="1000"/>
                                        <p:tgtEl>
                                          <p:spTgt spid="20">
                                            <p:txEl>
                                              <p:pRg st="6" end="6"/>
                                            </p:txEl>
                                          </p:spTgt>
                                        </p:tgtEl>
                                      </p:cBhvr>
                                    </p:animEffect>
                                  </p:childTnLst>
                                </p:cTn>
                              </p:par>
                              <p:par>
                                <p:cTn id="51" presetID="22" presetClass="entr" presetSubtype="8" fill="hold" nodeType="with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wipe(left)">
                                      <p:cBhvr>
                                        <p:cTn id="53"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矩形 4">
            <a:extLst>
              <a:ext uri="{FF2B5EF4-FFF2-40B4-BE49-F238E27FC236}">
                <a16:creationId xmlns:a16="http://schemas.microsoft.com/office/drawing/2014/main" id="{F8C668C0-1493-F735-8B09-1320EAC40AD0}"/>
              </a:ext>
            </a:extLst>
          </p:cNvPr>
          <p:cNvSpPr>
            <a:spLocks noChangeArrowheads="1"/>
          </p:cNvSpPr>
          <p:nvPr/>
        </p:nvSpPr>
        <p:spPr bwMode="auto">
          <a:xfrm>
            <a:off x="642938" y="2214563"/>
            <a:ext cx="1927225" cy="708025"/>
          </a:xfrm>
          <a:prstGeom prst="rect">
            <a:avLst/>
          </a:prstGeom>
          <a:noFill/>
          <a:ln w="9525">
            <a:noFill/>
            <a:miter lim="800000"/>
            <a:headEnd/>
            <a:tailEnd/>
          </a:ln>
        </p:spPr>
        <p:txBody>
          <a:bodyPr wrap="none">
            <a:spAutoFit/>
          </a:bodyPr>
          <a:lstStyle/>
          <a:p>
            <a:pPr eaLnBrk="0" hangingPunct="0">
              <a:defRPr/>
            </a:pPr>
            <a:r>
              <a:rPr lang="en-US" altLang="en-US" sz="4000" u="sng" dirty="0">
                <a:solidFill>
                  <a:srgbClr val="800080"/>
                </a:solidFill>
                <a:effectLst>
                  <a:outerShdw blurRad="38100" dist="38100" dir="2700000" algn="tl">
                    <a:srgbClr val="000000">
                      <a:alpha val="43137"/>
                    </a:srgbClr>
                  </a:outerShdw>
                </a:effectLst>
                <a:latin typeface="+mn-ea"/>
                <a:ea typeface="+mn-ea"/>
              </a:rPr>
              <a:t>§</a:t>
            </a:r>
            <a:r>
              <a:rPr lang="en-US" altLang="en-US" sz="4000" u="sng" dirty="0">
                <a:solidFill>
                  <a:srgbClr val="80008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11</a:t>
            </a:r>
            <a:r>
              <a:rPr lang="en-US" altLang="zh-CN" sz="4000" u="sng" dirty="0">
                <a:solidFill>
                  <a:srgbClr val="80008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.1</a:t>
            </a:r>
            <a:r>
              <a:rPr lang="en-US" altLang="zh-CN" sz="4000" u="sng" dirty="0">
                <a:solidFill>
                  <a:srgbClr val="800080"/>
                </a:solidFill>
                <a:effectLst>
                  <a:outerShdw blurRad="38100" dist="38100" dir="2700000" algn="tl">
                    <a:srgbClr val="000000">
                      <a:alpha val="43137"/>
                    </a:srgbClr>
                  </a:outerShdw>
                </a:effectLst>
                <a:ea typeface="微软雅黑" pitchFamily="34" charset="-122"/>
                <a:cs typeface="Arial" charset="0"/>
              </a:rPr>
              <a:t> </a:t>
            </a:r>
            <a:endParaRPr lang="zh-CN" altLang="en-US" sz="4000" u="sng" dirty="0">
              <a:solidFill>
                <a:srgbClr val="800080"/>
              </a:solidFill>
              <a:effectLst>
                <a:outerShdw blurRad="38100" dist="38100" dir="2700000" algn="tl">
                  <a:srgbClr val="000000">
                    <a:alpha val="43137"/>
                  </a:srgbClr>
                </a:outerShdw>
              </a:effectLst>
            </a:endParaRPr>
          </a:p>
        </p:txBody>
      </p:sp>
      <p:sp>
        <p:nvSpPr>
          <p:cNvPr id="5" name="矩形 4">
            <a:extLst>
              <a:ext uri="{FF2B5EF4-FFF2-40B4-BE49-F238E27FC236}">
                <a16:creationId xmlns:a16="http://schemas.microsoft.com/office/drawing/2014/main" id="{760FEB6D-16A7-20DA-6047-093C355AFC31}"/>
              </a:ext>
            </a:extLst>
          </p:cNvPr>
          <p:cNvSpPr/>
          <p:nvPr/>
        </p:nvSpPr>
        <p:spPr>
          <a:xfrm>
            <a:off x="3771900" y="3429000"/>
            <a:ext cx="1649413" cy="769938"/>
          </a:xfrm>
          <a:prstGeom prst="rect">
            <a:avLst/>
          </a:prstGeom>
          <a:effectLst>
            <a:outerShdw blurRad="50800" dist="38100" dir="2700000" algn="tl" rotWithShape="0">
              <a:prstClr val="black">
                <a:alpha val="40000"/>
              </a:prstClr>
            </a:outerShdw>
          </a:effectLst>
        </p:spPr>
        <p:txBody>
          <a:bodyPr wrap="none">
            <a:spAutoFit/>
          </a:bodyPr>
          <a:lstStyle/>
          <a:p>
            <a:pPr>
              <a:defRPr/>
            </a:pPr>
            <a:r>
              <a:rPr lang="zh-CN" altLang="en-US" sz="4400" kern="0" dirty="0">
                <a:solidFill>
                  <a:srgbClr val="003399"/>
                </a:solidFill>
                <a:latin typeface="微软雅黑" pitchFamily="34" charset="-122"/>
                <a:ea typeface="微软雅黑" pitchFamily="34" charset="-122"/>
              </a:rPr>
              <a:t>概  述</a:t>
            </a:r>
            <a:endParaRPr lang="zh-CN" altLang="en-US" sz="4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8" descr="碎灯泡.jpg">
            <a:extLst>
              <a:ext uri="{FF2B5EF4-FFF2-40B4-BE49-F238E27FC236}">
                <a16:creationId xmlns:a16="http://schemas.microsoft.com/office/drawing/2014/main" id="{66951C49-28D2-D25D-1BA9-3A31EF0B06B4}"/>
              </a:ext>
            </a:extLst>
          </p:cNvPr>
          <p:cNvPicPr>
            <a:picLocks noChangeAspect="1"/>
          </p:cNvPicPr>
          <p:nvPr/>
        </p:nvPicPr>
        <p:blipFill>
          <a:blip r:embed="rId2">
            <a:extLst>
              <a:ext uri="{28A0092B-C50C-407E-A947-70E740481C1C}">
                <a14:useLocalDpi xmlns:a14="http://schemas.microsoft.com/office/drawing/2010/main" val="0"/>
              </a:ext>
            </a:extLst>
          </a:blip>
          <a:srcRect r="37569" b="24574"/>
          <a:stretch>
            <a:fillRect/>
          </a:stretch>
        </p:blipFill>
        <p:spPr bwMode="auto">
          <a:xfrm rot="-801240">
            <a:off x="1954213" y="1744663"/>
            <a:ext cx="2325687"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内容占位符 10" descr="灯泡.jpg">
            <a:extLst>
              <a:ext uri="{FF2B5EF4-FFF2-40B4-BE49-F238E27FC236}">
                <a16:creationId xmlns:a16="http://schemas.microsoft.com/office/drawing/2014/main" id="{986F0140-FDCD-72B9-3D56-2866982E106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86250" y="1857375"/>
            <a:ext cx="1357313" cy="135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内容占位符 12" descr="创意包装灯泡.jpg">
            <a:extLst>
              <a:ext uri="{FF2B5EF4-FFF2-40B4-BE49-F238E27FC236}">
                <a16:creationId xmlns:a16="http://schemas.microsoft.com/office/drawing/2014/main" id="{5A22A682-3B67-B535-3985-07CD11AA8E1A}"/>
              </a:ext>
            </a:extLst>
          </p:cNvPr>
          <p:cNvPicPr>
            <a:picLocks noChangeAspect="1"/>
          </p:cNvPicPr>
          <p:nvPr/>
        </p:nvPicPr>
        <p:blipFill>
          <a:blip r:embed="rId4">
            <a:extLst>
              <a:ext uri="{28A0092B-C50C-407E-A947-70E740481C1C}">
                <a14:useLocalDpi xmlns:a14="http://schemas.microsoft.com/office/drawing/2010/main" val="0"/>
              </a:ext>
            </a:extLst>
          </a:blip>
          <a:srcRect l="48044" t="4245" r="10776" b="6599"/>
          <a:stretch>
            <a:fillRect/>
          </a:stretch>
        </p:blipFill>
        <p:spPr bwMode="auto">
          <a:xfrm>
            <a:off x="71438" y="3286125"/>
            <a:ext cx="2143125"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内容占位符 12" descr="创意包装灯泡.jpg">
            <a:extLst>
              <a:ext uri="{FF2B5EF4-FFF2-40B4-BE49-F238E27FC236}">
                <a16:creationId xmlns:a16="http://schemas.microsoft.com/office/drawing/2014/main" id="{30162FC5-00C0-889E-ABC9-45AB4DFB0139}"/>
              </a:ext>
            </a:extLst>
          </p:cNvPr>
          <p:cNvPicPr>
            <a:picLocks noChangeAspect="1"/>
          </p:cNvPicPr>
          <p:nvPr/>
        </p:nvPicPr>
        <p:blipFill>
          <a:blip r:embed="rId4">
            <a:extLst>
              <a:ext uri="{28A0092B-C50C-407E-A947-70E740481C1C}">
                <a14:useLocalDpi xmlns:a14="http://schemas.microsoft.com/office/drawing/2010/main" val="0"/>
              </a:ext>
            </a:extLst>
          </a:blip>
          <a:srcRect l="6863" r="61565" b="27827"/>
          <a:stretch>
            <a:fillRect/>
          </a:stretch>
        </p:blipFill>
        <p:spPr bwMode="auto">
          <a:xfrm>
            <a:off x="6072188" y="1214438"/>
            <a:ext cx="1643062"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8" name="矩形 8">
            <a:extLst>
              <a:ext uri="{FF2B5EF4-FFF2-40B4-BE49-F238E27FC236}">
                <a16:creationId xmlns:a16="http://schemas.microsoft.com/office/drawing/2014/main" id="{46C77458-B994-B992-1C4A-D91E3167FCDD}"/>
              </a:ext>
            </a:extLst>
          </p:cNvPr>
          <p:cNvSpPr>
            <a:spLocks noChangeArrowheads="1"/>
          </p:cNvSpPr>
          <p:nvPr/>
        </p:nvSpPr>
        <p:spPr bwMode="auto">
          <a:xfrm>
            <a:off x="2000250" y="-19216688"/>
            <a:ext cx="4572000"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zh-CN" altLang="en-US" sz="2000"/>
              <a:t>开销。这就好像我们运送一批玻璃杯一样，为了保证运送途中不出现打烂玻璃杯的情况，我们通常都用一些泡沫或海棉等物将玻璃杯包装起来，这种包装使玻璃杯所占的容积变大，原来一部车能装</a:t>
            </a:r>
            <a:r>
              <a:rPr lang="en-US" altLang="zh-CN" sz="2000"/>
              <a:t>5000</a:t>
            </a:r>
            <a:r>
              <a:rPr lang="zh-CN" altLang="en-US" sz="2000"/>
              <a:t>个玻璃杯的，包装后就只能装</a:t>
            </a:r>
            <a:r>
              <a:rPr lang="en-US" altLang="zh-CN" sz="2000"/>
              <a:t>4000</a:t>
            </a:r>
            <a:r>
              <a:rPr lang="zh-CN" altLang="en-US" sz="2000"/>
              <a:t>个了，显然包装的代价使运送玻璃杯的有效个数减少了。</a:t>
            </a:r>
          </a:p>
        </p:txBody>
      </p:sp>
      <p:sp>
        <p:nvSpPr>
          <p:cNvPr id="10" name="Text Box 36">
            <a:extLst>
              <a:ext uri="{FF2B5EF4-FFF2-40B4-BE49-F238E27FC236}">
                <a16:creationId xmlns:a16="http://schemas.microsoft.com/office/drawing/2014/main" id="{6382EA20-2400-4456-FB1D-4D69DEEA97F8}"/>
              </a:ext>
            </a:extLst>
          </p:cNvPr>
          <p:cNvSpPr txBox="1">
            <a:spLocks noChangeArrowheads="1"/>
          </p:cNvSpPr>
          <p:nvPr/>
        </p:nvSpPr>
        <p:spPr bwMode="gray">
          <a:xfrm>
            <a:off x="2386013" y="3948113"/>
            <a:ext cx="5786437" cy="2124075"/>
          </a:xfrm>
          <a:prstGeom prst="rect">
            <a:avLst/>
          </a:prstGeom>
          <a:solidFill>
            <a:schemeClr val="bg2">
              <a:lumMod val="10000"/>
              <a:lumOff val="90000"/>
            </a:schemeClr>
          </a:solidFill>
          <a:ln w="9525">
            <a:noFill/>
            <a:miter lim="800000"/>
            <a:headEnd/>
            <a:tailEnd/>
          </a:ln>
          <a:effectLst>
            <a:outerShdw blurRad="50800" dist="38100" dir="2700000" algn="tl" rotWithShape="0">
              <a:prstClr val="black">
                <a:alpha val="40000"/>
              </a:prstClr>
            </a:outerShdw>
          </a:effectLst>
        </p:spPr>
        <p:txBody>
          <a:bodyPr>
            <a:spAutoFit/>
          </a:bodyPr>
          <a:lstStyle/>
          <a:p>
            <a:pPr defTabSz="801688" eaLnBrk="0" hangingPunct="0">
              <a:lnSpc>
                <a:spcPct val="150000"/>
              </a:lnSpc>
              <a:spcBef>
                <a:spcPct val="20000"/>
              </a:spcBef>
              <a:defRPr/>
            </a:pPr>
            <a:r>
              <a:rPr lang="zh-CN" altLang="en-US" sz="2000" b="0" dirty="0">
                <a:solidFill>
                  <a:schemeClr val="tx1"/>
                </a:solidFill>
                <a:latin typeface="微软雅黑" pitchFamily="34" charset="-122"/>
                <a:ea typeface="微软雅黑" pitchFamily="34" charset="-122"/>
              </a:rPr>
              <a:t>   为保证运送途中不出现打碎灯泡的情况</a:t>
            </a:r>
            <a:endParaRPr lang="en-US" altLang="zh-CN" sz="2000" b="0" dirty="0">
              <a:solidFill>
                <a:schemeClr val="tx1"/>
              </a:solidFill>
              <a:latin typeface="微软雅黑" pitchFamily="34" charset="-122"/>
              <a:ea typeface="微软雅黑" pitchFamily="34" charset="-122"/>
            </a:endParaRPr>
          </a:p>
          <a:p>
            <a:pPr defTabSz="801688" eaLnBrk="0" hangingPunct="0">
              <a:lnSpc>
                <a:spcPct val="150000"/>
              </a:lnSpc>
              <a:spcBef>
                <a:spcPct val="20000"/>
              </a:spcBef>
              <a:defRPr/>
            </a:pPr>
            <a:endParaRPr lang="en-US" altLang="zh-CN" sz="2000" b="0" dirty="0">
              <a:solidFill>
                <a:schemeClr val="tx1"/>
              </a:solidFill>
              <a:latin typeface="微软雅黑" pitchFamily="34" charset="-122"/>
              <a:ea typeface="微软雅黑" pitchFamily="34" charset="-122"/>
            </a:endParaRPr>
          </a:p>
          <a:p>
            <a:pPr defTabSz="801688" eaLnBrk="0" hangingPunct="0">
              <a:lnSpc>
                <a:spcPct val="150000"/>
              </a:lnSpc>
              <a:spcBef>
                <a:spcPct val="20000"/>
              </a:spcBef>
              <a:defRPr/>
            </a:pPr>
            <a:endParaRPr lang="en-US" altLang="zh-CN" sz="2000" b="0" dirty="0">
              <a:solidFill>
                <a:schemeClr val="tx1"/>
              </a:solidFill>
              <a:latin typeface="微软雅黑" pitchFamily="34" charset="-122"/>
              <a:ea typeface="微软雅黑" pitchFamily="34" charset="-122"/>
            </a:endParaRPr>
          </a:p>
          <a:p>
            <a:pPr defTabSz="801688" eaLnBrk="0" hangingPunct="0">
              <a:lnSpc>
                <a:spcPct val="150000"/>
              </a:lnSpc>
              <a:spcBef>
                <a:spcPct val="20000"/>
              </a:spcBef>
              <a:defRPr/>
            </a:pPr>
            <a:endParaRPr lang="en-US" altLang="zh-CN" sz="2000" b="0" dirty="0">
              <a:solidFill>
                <a:schemeClr val="tx1"/>
              </a:solidFill>
              <a:latin typeface="微软雅黑" pitchFamily="34" charset="-122"/>
              <a:ea typeface="微软雅黑" pitchFamily="34" charset="-122"/>
            </a:endParaRPr>
          </a:p>
        </p:txBody>
      </p:sp>
      <p:sp>
        <p:nvSpPr>
          <p:cNvPr id="17" name="矩形 16">
            <a:extLst>
              <a:ext uri="{FF2B5EF4-FFF2-40B4-BE49-F238E27FC236}">
                <a16:creationId xmlns:a16="http://schemas.microsoft.com/office/drawing/2014/main" id="{0BB559C7-53D9-7257-9AD7-37896A7AA449}"/>
              </a:ext>
            </a:extLst>
          </p:cNvPr>
          <p:cNvSpPr>
            <a:spLocks noChangeArrowheads="1"/>
          </p:cNvSpPr>
          <p:nvPr/>
        </p:nvSpPr>
        <p:spPr bwMode="auto">
          <a:xfrm>
            <a:off x="6100763" y="5619750"/>
            <a:ext cx="1585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en-US" altLang="zh-CN" sz="2000">
                <a:solidFill>
                  <a:srgbClr val="003399"/>
                </a:solidFill>
                <a:latin typeface="微软雅黑" panose="020B0503020204020204" pitchFamily="34" charset="-122"/>
                <a:ea typeface="微软雅黑" panose="020B0503020204020204" pitchFamily="34" charset="-122"/>
              </a:rPr>
              <a:t>——</a:t>
            </a:r>
            <a:r>
              <a:rPr lang="zh-CN" altLang="en-US" sz="2000">
                <a:solidFill>
                  <a:srgbClr val="003399"/>
                </a:solidFill>
                <a:latin typeface="微软雅黑" panose="020B0503020204020204" pitchFamily="34" charset="-122"/>
                <a:ea typeface="微软雅黑" panose="020B0503020204020204" pitchFamily="34" charset="-122"/>
              </a:rPr>
              <a:t>有效性 </a:t>
            </a:r>
            <a:endParaRPr lang="zh-CN" altLang="en-US">
              <a:solidFill>
                <a:srgbClr val="003399"/>
              </a:solidFill>
            </a:endParaRPr>
          </a:p>
        </p:txBody>
      </p:sp>
      <p:sp>
        <p:nvSpPr>
          <p:cNvPr id="18" name="矩形 17">
            <a:extLst>
              <a:ext uri="{FF2B5EF4-FFF2-40B4-BE49-F238E27FC236}">
                <a16:creationId xmlns:a16="http://schemas.microsoft.com/office/drawing/2014/main" id="{3CFA9743-9AFC-CCB0-2871-64898E09A838}"/>
              </a:ext>
            </a:extLst>
          </p:cNvPr>
          <p:cNvSpPr>
            <a:spLocks noChangeArrowheads="1"/>
          </p:cNvSpPr>
          <p:nvPr/>
        </p:nvSpPr>
        <p:spPr bwMode="auto">
          <a:xfrm>
            <a:off x="6072188" y="4578350"/>
            <a:ext cx="1585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en-US" altLang="zh-CN" sz="2000">
                <a:solidFill>
                  <a:srgbClr val="003399"/>
                </a:solidFill>
                <a:latin typeface="微软雅黑" panose="020B0503020204020204" pitchFamily="34" charset="-122"/>
                <a:ea typeface="微软雅黑" panose="020B0503020204020204" pitchFamily="34" charset="-122"/>
              </a:rPr>
              <a:t>——</a:t>
            </a:r>
            <a:r>
              <a:rPr lang="zh-CN" altLang="en-US" sz="2000">
                <a:solidFill>
                  <a:srgbClr val="003399"/>
                </a:solidFill>
                <a:latin typeface="微软雅黑" panose="020B0503020204020204" pitchFamily="34" charset="-122"/>
                <a:ea typeface="微软雅黑" panose="020B0503020204020204" pitchFamily="34" charset="-122"/>
              </a:rPr>
              <a:t>可靠性 </a:t>
            </a:r>
            <a:endParaRPr lang="zh-CN" altLang="en-US">
              <a:solidFill>
                <a:srgbClr val="003399"/>
              </a:solidFill>
            </a:endParaRPr>
          </a:p>
        </p:txBody>
      </p:sp>
      <p:sp>
        <p:nvSpPr>
          <p:cNvPr id="26" name="Freeform 12">
            <a:extLst>
              <a:ext uri="{FF2B5EF4-FFF2-40B4-BE49-F238E27FC236}">
                <a16:creationId xmlns:a16="http://schemas.microsoft.com/office/drawing/2014/main" id="{BA3D08EB-C3E4-7712-0CC0-94B3191F03F0}"/>
              </a:ext>
            </a:extLst>
          </p:cNvPr>
          <p:cNvSpPr>
            <a:spLocks noEditPoints="1"/>
          </p:cNvSpPr>
          <p:nvPr/>
        </p:nvSpPr>
        <p:spPr bwMode="auto">
          <a:xfrm flipV="1">
            <a:off x="7315200" y="5619750"/>
            <a:ext cx="500063" cy="357188"/>
          </a:xfrm>
          <a:custGeom>
            <a:avLst/>
            <a:gdLst>
              <a:gd name="T0" fmla="*/ 0 w 728"/>
              <a:gd name="T1" fmla="*/ 2147483647 h 604"/>
              <a:gd name="T2" fmla="*/ 2147483647 w 728"/>
              <a:gd name="T3" fmla="*/ 2147483647 h 604"/>
              <a:gd name="T4" fmla="*/ 0 w 728"/>
              <a:gd name="T5" fmla="*/ 2147483647 h 604"/>
              <a:gd name="T6" fmla="*/ 2147483647 w 728"/>
              <a:gd name="T7" fmla="*/ 0 h 604"/>
              <a:gd name="T8" fmla="*/ 2147483647 w 728"/>
              <a:gd name="T9" fmla="*/ 2147483647 h 604"/>
              <a:gd name="T10" fmla="*/ 2147483647 w 728"/>
              <a:gd name="T11" fmla="*/ 2147483647 h 604"/>
              <a:gd name="T12" fmla="*/ 2147483647 w 728"/>
              <a:gd name="T13" fmla="*/ 2147483647 h 604"/>
              <a:gd name="T14" fmla="*/ 2147483647 w 728"/>
              <a:gd name="T15" fmla="*/ 2147483647 h 604"/>
              <a:gd name="T16" fmla="*/ 2147483647 w 728"/>
              <a:gd name="T17" fmla="*/ 2147483647 h 604"/>
              <a:gd name="T18" fmla="*/ 2147483647 w 728"/>
              <a:gd name="T19" fmla="*/ 2147483647 h 604"/>
              <a:gd name="T20" fmla="*/ 2147483647 w 728"/>
              <a:gd name="T21" fmla="*/ 2147483647 h 604"/>
              <a:gd name="T22" fmla="*/ 2147483647 w 728"/>
              <a:gd name="T23" fmla="*/ 2147483647 h 604"/>
              <a:gd name="T24" fmla="*/ 2147483647 w 728"/>
              <a:gd name="T25" fmla="*/ 2147483647 h 604"/>
              <a:gd name="T26" fmla="*/ 2147483647 w 728"/>
              <a:gd name="T27" fmla="*/ 2147483647 h 604"/>
              <a:gd name="T28" fmla="*/ 2147483647 w 728"/>
              <a:gd name="T29" fmla="*/ 2147483647 h 604"/>
              <a:gd name="T30" fmla="*/ 2147483647 w 728"/>
              <a:gd name="T31" fmla="*/ 2147483647 h 604"/>
              <a:gd name="T32" fmla="*/ 2147483647 w 728"/>
              <a:gd name="T33" fmla="*/ 2147483647 h 604"/>
              <a:gd name="T34" fmla="*/ 2147483647 w 728"/>
              <a:gd name="T35" fmla="*/ 2147483647 h 604"/>
              <a:gd name="T36" fmla="*/ 2147483647 w 728"/>
              <a:gd name="T37" fmla="*/ 2147483647 h 604"/>
              <a:gd name="T38" fmla="*/ 2147483647 w 728"/>
              <a:gd name="T39" fmla="*/ 2147483647 h 604"/>
              <a:gd name="T40" fmla="*/ 2147483647 w 728"/>
              <a:gd name="T41" fmla="*/ 2147483647 h 604"/>
              <a:gd name="T42" fmla="*/ 2147483647 w 728"/>
              <a:gd name="T43" fmla="*/ 2147483647 h 604"/>
              <a:gd name="T44" fmla="*/ 2147483647 w 728"/>
              <a:gd name="T45" fmla="*/ 2147483647 h 604"/>
              <a:gd name="T46" fmla="*/ 2147483647 w 728"/>
              <a:gd name="T47" fmla="*/ 2147483647 h 604"/>
              <a:gd name="T48" fmla="*/ 2147483647 w 728"/>
              <a:gd name="T49" fmla="*/ 2147483647 h 604"/>
              <a:gd name="T50" fmla="*/ 2147483647 w 728"/>
              <a:gd name="T51" fmla="*/ 2147483647 h 604"/>
              <a:gd name="T52" fmla="*/ 2147483647 w 728"/>
              <a:gd name="T53" fmla="*/ 2147483647 h 604"/>
              <a:gd name="T54" fmla="*/ 2147483647 w 728"/>
              <a:gd name="T55" fmla="*/ 2147483647 h 604"/>
              <a:gd name="T56" fmla="*/ 2147483647 w 728"/>
              <a:gd name="T57" fmla="*/ 2147483647 h 604"/>
              <a:gd name="T58" fmla="*/ 2147483647 w 728"/>
              <a:gd name="T59" fmla="*/ 2147483647 h 604"/>
              <a:gd name="T60" fmla="*/ 2147483647 w 728"/>
              <a:gd name="T61" fmla="*/ 2147483647 h 604"/>
              <a:gd name="T62" fmla="*/ 2147483647 w 728"/>
              <a:gd name="T63" fmla="*/ 2147483647 h 604"/>
              <a:gd name="T64" fmla="*/ 2147483647 w 728"/>
              <a:gd name="T65" fmla="*/ 2147483647 h 604"/>
              <a:gd name="T66" fmla="*/ 2147483647 w 728"/>
              <a:gd name="T67" fmla="*/ 2147483647 h 604"/>
              <a:gd name="T68" fmla="*/ 2147483647 w 728"/>
              <a:gd name="T69" fmla="*/ 2147483647 h 604"/>
              <a:gd name="T70" fmla="*/ 2147483647 w 728"/>
              <a:gd name="T71" fmla="*/ 2147483647 h 604"/>
              <a:gd name="T72" fmla="*/ 2147483647 w 728"/>
              <a:gd name="T73" fmla="*/ 2147483647 h 604"/>
              <a:gd name="T74" fmla="*/ 2147483647 w 728"/>
              <a:gd name="T75" fmla="*/ 2147483647 h 604"/>
              <a:gd name="T76" fmla="*/ 2147483647 w 728"/>
              <a:gd name="T77" fmla="*/ 2147483647 h 604"/>
              <a:gd name="T78" fmla="*/ 2147483647 w 728"/>
              <a:gd name="T79" fmla="*/ 0 h 60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728"/>
              <a:gd name="T121" fmla="*/ 0 h 604"/>
              <a:gd name="T122" fmla="*/ 728 w 728"/>
              <a:gd name="T123" fmla="*/ 604 h 60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728" h="604">
                <a:moveTo>
                  <a:pt x="0" y="590"/>
                </a:moveTo>
                <a:lnTo>
                  <a:pt x="0" y="590"/>
                </a:lnTo>
                <a:lnTo>
                  <a:pt x="12" y="574"/>
                </a:lnTo>
                <a:lnTo>
                  <a:pt x="6" y="582"/>
                </a:lnTo>
                <a:lnTo>
                  <a:pt x="0" y="590"/>
                </a:lnTo>
                <a:close/>
                <a:moveTo>
                  <a:pt x="718" y="0"/>
                </a:moveTo>
                <a:lnTo>
                  <a:pt x="606" y="240"/>
                </a:lnTo>
                <a:lnTo>
                  <a:pt x="656" y="216"/>
                </a:lnTo>
                <a:lnTo>
                  <a:pt x="642" y="272"/>
                </a:lnTo>
                <a:lnTo>
                  <a:pt x="626" y="324"/>
                </a:lnTo>
                <a:lnTo>
                  <a:pt x="608" y="374"/>
                </a:lnTo>
                <a:lnTo>
                  <a:pt x="588" y="418"/>
                </a:lnTo>
                <a:lnTo>
                  <a:pt x="566" y="460"/>
                </a:lnTo>
                <a:lnTo>
                  <a:pt x="542" y="494"/>
                </a:lnTo>
                <a:lnTo>
                  <a:pt x="518" y="524"/>
                </a:lnTo>
                <a:lnTo>
                  <a:pt x="504" y="536"/>
                </a:lnTo>
                <a:lnTo>
                  <a:pt x="492" y="548"/>
                </a:lnTo>
                <a:lnTo>
                  <a:pt x="470" y="562"/>
                </a:lnTo>
                <a:lnTo>
                  <a:pt x="446" y="576"/>
                </a:lnTo>
                <a:lnTo>
                  <a:pt x="420" y="586"/>
                </a:lnTo>
                <a:lnTo>
                  <a:pt x="392" y="594"/>
                </a:lnTo>
                <a:lnTo>
                  <a:pt x="364" y="598"/>
                </a:lnTo>
                <a:lnTo>
                  <a:pt x="336" y="598"/>
                </a:lnTo>
                <a:lnTo>
                  <a:pt x="306" y="592"/>
                </a:lnTo>
                <a:lnTo>
                  <a:pt x="292" y="588"/>
                </a:lnTo>
                <a:lnTo>
                  <a:pt x="278" y="582"/>
                </a:lnTo>
                <a:lnTo>
                  <a:pt x="238" y="566"/>
                </a:lnTo>
                <a:lnTo>
                  <a:pt x="198" y="554"/>
                </a:lnTo>
                <a:lnTo>
                  <a:pt x="160" y="544"/>
                </a:lnTo>
                <a:lnTo>
                  <a:pt x="124" y="540"/>
                </a:lnTo>
                <a:lnTo>
                  <a:pt x="108" y="540"/>
                </a:lnTo>
                <a:lnTo>
                  <a:pt x="92" y="540"/>
                </a:lnTo>
                <a:lnTo>
                  <a:pt x="76" y="542"/>
                </a:lnTo>
                <a:lnTo>
                  <a:pt x="62" y="546"/>
                </a:lnTo>
                <a:lnTo>
                  <a:pt x="48" y="550"/>
                </a:lnTo>
                <a:lnTo>
                  <a:pt x="36" y="556"/>
                </a:lnTo>
                <a:lnTo>
                  <a:pt x="24" y="564"/>
                </a:lnTo>
                <a:lnTo>
                  <a:pt x="12" y="574"/>
                </a:lnTo>
                <a:lnTo>
                  <a:pt x="28" y="562"/>
                </a:lnTo>
                <a:lnTo>
                  <a:pt x="46" y="552"/>
                </a:lnTo>
                <a:lnTo>
                  <a:pt x="58" y="548"/>
                </a:lnTo>
                <a:lnTo>
                  <a:pt x="70" y="544"/>
                </a:lnTo>
                <a:lnTo>
                  <a:pt x="84" y="542"/>
                </a:lnTo>
                <a:lnTo>
                  <a:pt x="100" y="542"/>
                </a:lnTo>
                <a:lnTo>
                  <a:pt x="116" y="542"/>
                </a:lnTo>
                <a:lnTo>
                  <a:pt x="134" y="544"/>
                </a:lnTo>
                <a:lnTo>
                  <a:pt x="154" y="546"/>
                </a:lnTo>
                <a:lnTo>
                  <a:pt x="174" y="550"/>
                </a:lnTo>
                <a:lnTo>
                  <a:pt x="198" y="556"/>
                </a:lnTo>
                <a:lnTo>
                  <a:pt x="222" y="564"/>
                </a:lnTo>
                <a:lnTo>
                  <a:pt x="248" y="574"/>
                </a:lnTo>
                <a:lnTo>
                  <a:pt x="276" y="586"/>
                </a:lnTo>
                <a:lnTo>
                  <a:pt x="298" y="594"/>
                </a:lnTo>
                <a:lnTo>
                  <a:pt x="322" y="600"/>
                </a:lnTo>
                <a:lnTo>
                  <a:pt x="348" y="604"/>
                </a:lnTo>
                <a:lnTo>
                  <a:pt x="376" y="604"/>
                </a:lnTo>
                <a:lnTo>
                  <a:pt x="404" y="600"/>
                </a:lnTo>
                <a:lnTo>
                  <a:pt x="434" y="592"/>
                </a:lnTo>
                <a:lnTo>
                  <a:pt x="466" y="578"/>
                </a:lnTo>
                <a:lnTo>
                  <a:pt x="498" y="560"/>
                </a:lnTo>
                <a:lnTo>
                  <a:pt x="512" y="550"/>
                </a:lnTo>
                <a:lnTo>
                  <a:pt x="526" y="538"/>
                </a:lnTo>
                <a:lnTo>
                  <a:pt x="540" y="524"/>
                </a:lnTo>
                <a:lnTo>
                  <a:pt x="554" y="508"/>
                </a:lnTo>
                <a:lnTo>
                  <a:pt x="580" y="472"/>
                </a:lnTo>
                <a:lnTo>
                  <a:pt x="606" y="430"/>
                </a:lnTo>
                <a:lnTo>
                  <a:pt x="630" y="384"/>
                </a:lnTo>
                <a:lnTo>
                  <a:pt x="650" y="332"/>
                </a:lnTo>
                <a:lnTo>
                  <a:pt x="668" y="278"/>
                </a:lnTo>
                <a:lnTo>
                  <a:pt x="684" y="220"/>
                </a:lnTo>
                <a:lnTo>
                  <a:pt x="728" y="326"/>
                </a:lnTo>
                <a:lnTo>
                  <a:pt x="718" y="0"/>
                </a:lnTo>
                <a:close/>
              </a:path>
            </a:pathLst>
          </a:cu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27" name="Freeform 12">
            <a:extLst>
              <a:ext uri="{FF2B5EF4-FFF2-40B4-BE49-F238E27FC236}">
                <a16:creationId xmlns:a16="http://schemas.microsoft.com/office/drawing/2014/main" id="{4FB66757-75CE-F9EB-A75E-A09C351A344B}"/>
              </a:ext>
            </a:extLst>
          </p:cNvPr>
          <p:cNvSpPr>
            <a:spLocks noEditPoints="1"/>
          </p:cNvSpPr>
          <p:nvPr/>
        </p:nvSpPr>
        <p:spPr bwMode="auto">
          <a:xfrm>
            <a:off x="7342188" y="4549775"/>
            <a:ext cx="500062" cy="357188"/>
          </a:xfrm>
          <a:custGeom>
            <a:avLst/>
            <a:gdLst>
              <a:gd name="T0" fmla="*/ 0 w 728"/>
              <a:gd name="T1" fmla="*/ 2147483647 h 604"/>
              <a:gd name="T2" fmla="*/ 2147483647 w 728"/>
              <a:gd name="T3" fmla="*/ 2147483647 h 604"/>
              <a:gd name="T4" fmla="*/ 0 w 728"/>
              <a:gd name="T5" fmla="*/ 2147483647 h 604"/>
              <a:gd name="T6" fmla="*/ 2147483647 w 728"/>
              <a:gd name="T7" fmla="*/ 0 h 604"/>
              <a:gd name="T8" fmla="*/ 2147483647 w 728"/>
              <a:gd name="T9" fmla="*/ 2147483647 h 604"/>
              <a:gd name="T10" fmla="*/ 2147483647 w 728"/>
              <a:gd name="T11" fmla="*/ 2147483647 h 604"/>
              <a:gd name="T12" fmla="*/ 2147483647 w 728"/>
              <a:gd name="T13" fmla="*/ 2147483647 h 604"/>
              <a:gd name="T14" fmla="*/ 2147483647 w 728"/>
              <a:gd name="T15" fmla="*/ 2147483647 h 604"/>
              <a:gd name="T16" fmla="*/ 2147483647 w 728"/>
              <a:gd name="T17" fmla="*/ 2147483647 h 604"/>
              <a:gd name="T18" fmla="*/ 2147483647 w 728"/>
              <a:gd name="T19" fmla="*/ 2147483647 h 604"/>
              <a:gd name="T20" fmla="*/ 2147483647 w 728"/>
              <a:gd name="T21" fmla="*/ 2147483647 h 604"/>
              <a:gd name="T22" fmla="*/ 2147483647 w 728"/>
              <a:gd name="T23" fmla="*/ 2147483647 h 604"/>
              <a:gd name="T24" fmla="*/ 2147483647 w 728"/>
              <a:gd name="T25" fmla="*/ 2147483647 h 604"/>
              <a:gd name="T26" fmla="*/ 2147483647 w 728"/>
              <a:gd name="T27" fmla="*/ 2147483647 h 604"/>
              <a:gd name="T28" fmla="*/ 2147483647 w 728"/>
              <a:gd name="T29" fmla="*/ 2147483647 h 604"/>
              <a:gd name="T30" fmla="*/ 2147483647 w 728"/>
              <a:gd name="T31" fmla="*/ 2147483647 h 604"/>
              <a:gd name="T32" fmla="*/ 2147483647 w 728"/>
              <a:gd name="T33" fmla="*/ 2147483647 h 604"/>
              <a:gd name="T34" fmla="*/ 2147483647 w 728"/>
              <a:gd name="T35" fmla="*/ 2147483647 h 604"/>
              <a:gd name="T36" fmla="*/ 2147483647 w 728"/>
              <a:gd name="T37" fmla="*/ 2147483647 h 604"/>
              <a:gd name="T38" fmla="*/ 2147483647 w 728"/>
              <a:gd name="T39" fmla="*/ 2147483647 h 604"/>
              <a:gd name="T40" fmla="*/ 2147483647 w 728"/>
              <a:gd name="T41" fmla="*/ 2147483647 h 604"/>
              <a:gd name="T42" fmla="*/ 2147483647 w 728"/>
              <a:gd name="T43" fmla="*/ 2147483647 h 604"/>
              <a:gd name="T44" fmla="*/ 2147483647 w 728"/>
              <a:gd name="T45" fmla="*/ 2147483647 h 604"/>
              <a:gd name="T46" fmla="*/ 2147483647 w 728"/>
              <a:gd name="T47" fmla="*/ 2147483647 h 604"/>
              <a:gd name="T48" fmla="*/ 2147483647 w 728"/>
              <a:gd name="T49" fmla="*/ 2147483647 h 604"/>
              <a:gd name="T50" fmla="*/ 2147483647 w 728"/>
              <a:gd name="T51" fmla="*/ 2147483647 h 604"/>
              <a:gd name="T52" fmla="*/ 2147483647 w 728"/>
              <a:gd name="T53" fmla="*/ 2147483647 h 604"/>
              <a:gd name="T54" fmla="*/ 2147483647 w 728"/>
              <a:gd name="T55" fmla="*/ 2147483647 h 604"/>
              <a:gd name="T56" fmla="*/ 2147483647 w 728"/>
              <a:gd name="T57" fmla="*/ 2147483647 h 604"/>
              <a:gd name="T58" fmla="*/ 2147483647 w 728"/>
              <a:gd name="T59" fmla="*/ 2147483647 h 604"/>
              <a:gd name="T60" fmla="*/ 2147483647 w 728"/>
              <a:gd name="T61" fmla="*/ 2147483647 h 604"/>
              <a:gd name="T62" fmla="*/ 2147483647 w 728"/>
              <a:gd name="T63" fmla="*/ 2147483647 h 604"/>
              <a:gd name="T64" fmla="*/ 2147483647 w 728"/>
              <a:gd name="T65" fmla="*/ 2147483647 h 604"/>
              <a:gd name="T66" fmla="*/ 2147483647 w 728"/>
              <a:gd name="T67" fmla="*/ 2147483647 h 604"/>
              <a:gd name="T68" fmla="*/ 2147483647 w 728"/>
              <a:gd name="T69" fmla="*/ 2147483647 h 604"/>
              <a:gd name="T70" fmla="*/ 2147483647 w 728"/>
              <a:gd name="T71" fmla="*/ 2147483647 h 604"/>
              <a:gd name="T72" fmla="*/ 2147483647 w 728"/>
              <a:gd name="T73" fmla="*/ 2147483647 h 604"/>
              <a:gd name="T74" fmla="*/ 2147483647 w 728"/>
              <a:gd name="T75" fmla="*/ 2147483647 h 604"/>
              <a:gd name="T76" fmla="*/ 2147483647 w 728"/>
              <a:gd name="T77" fmla="*/ 2147483647 h 604"/>
              <a:gd name="T78" fmla="*/ 2147483647 w 728"/>
              <a:gd name="T79" fmla="*/ 0 h 60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728"/>
              <a:gd name="T121" fmla="*/ 0 h 604"/>
              <a:gd name="T122" fmla="*/ 728 w 728"/>
              <a:gd name="T123" fmla="*/ 604 h 60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728" h="604">
                <a:moveTo>
                  <a:pt x="0" y="590"/>
                </a:moveTo>
                <a:lnTo>
                  <a:pt x="0" y="590"/>
                </a:lnTo>
                <a:lnTo>
                  <a:pt x="12" y="574"/>
                </a:lnTo>
                <a:lnTo>
                  <a:pt x="6" y="582"/>
                </a:lnTo>
                <a:lnTo>
                  <a:pt x="0" y="590"/>
                </a:lnTo>
                <a:close/>
                <a:moveTo>
                  <a:pt x="718" y="0"/>
                </a:moveTo>
                <a:lnTo>
                  <a:pt x="606" y="240"/>
                </a:lnTo>
                <a:lnTo>
                  <a:pt x="656" y="216"/>
                </a:lnTo>
                <a:lnTo>
                  <a:pt x="642" y="272"/>
                </a:lnTo>
                <a:lnTo>
                  <a:pt x="626" y="324"/>
                </a:lnTo>
                <a:lnTo>
                  <a:pt x="608" y="374"/>
                </a:lnTo>
                <a:lnTo>
                  <a:pt x="588" y="418"/>
                </a:lnTo>
                <a:lnTo>
                  <a:pt x="566" y="460"/>
                </a:lnTo>
                <a:lnTo>
                  <a:pt x="542" y="494"/>
                </a:lnTo>
                <a:lnTo>
                  <a:pt x="518" y="524"/>
                </a:lnTo>
                <a:lnTo>
                  <a:pt x="504" y="536"/>
                </a:lnTo>
                <a:lnTo>
                  <a:pt x="492" y="548"/>
                </a:lnTo>
                <a:lnTo>
                  <a:pt x="470" y="562"/>
                </a:lnTo>
                <a:lnTo>
                  <a:pt x="446" y="576"/>
                </a:lnTo>
                <a:lnTo>
                  <a:pt x="420" y="586"/>
                </a:lnTo>
                <a:lnTo>
                  <a:pt x="392" y="594"/>
                </a:lnTo>
                <a:lnTo>
                  <a:pt x="364" y="598"/>
                </a:lnTo>
                <a:lnTo>
                  <a:pt x="336" y="598"/>
                </a:lnTo>
                <a:lnTo>
                  <a:pt x="306" y="592"/>
                </a:lnTo>
                <a:lnTo>
                  <a:pt x="292" y="588"/>
                </a:lnTo>
                <a:lnTo>
                  <a:pt x="278" y="582"/>
                </a:lnTo>
                <a:lnTo>
                  <a:pt x="238" y="566"/>
                </a:lnTo>
                <a:lnTo>
                  <a:pt x="198" y="554"/>
                </a:lnTo>
                <a:lnTo>
                  <a:pt x="160" y="544"/>
                </a:lnTo>
                <a:lnTo>
                  <a:pt x="124" y="540"/>
                </a:lnTo>
                <a:lnTo>
                  <a:pt x="108" y="540"/>
                </a:lnTo>
                <a:lnTo>
                  <a:pt x="92" y="540"/>
                </a:lnTo>
                <a:lnTo>
                  <a:pt x="76" y="542"/>
                </a:lnTo>
                <a:lnTo>
                  <a:pt x="62" y="546"/>
                </a:lnTo>
                <a:lnTo>
                  <a:pt x="48" y="550"/>
                </a:lnTo>
                <a:lnTo>
                  <a:pt x="36" y="556"/>
                </a:lnTo>
                <a:lnTo>
                  <a:pt x="24" y="564"/>
                </a:lnTo>
                <a:lnTo>
                  <a:pt x="12" y="574"/>
                </a:lnTo>
                <a:lnTo>
                  <a:pt x="28" y="562"/>
                </a:lnTo>
                <a:lnTo>
                  <a:pt x="46" y="552"/>
                </a:lnTo>
                <a:lnTo>
                  <a:pt x="58" y="548"/>
                </a:lnTo>
                <a:lnTo>
                  <a:pt x="70" y="544"/>
                </a:lnTo>
                <a:lnTo>
                  <a:pt x="84" y="542"/>
                </a:lnTo>
                <a:lnTo>
                  <a:pt x="100" y="542"/>
                </a:lnTo>
                <a:lnTo>
                  <a:pt x="116" y="542"/>
                </a:lnTo>
                <a:lnTo>
                  <a:pt x="134" y="544"/>
                </a:lnTo>
                <a:lnTo>
                  <a:pt x="154" y="546"/>
                </a:lnTo>
                <a:lnTo>
                  <a:pt x="174" y="550"/>
                </a:lnTo>
                <a:lnTo>
                  <a:pt x="198" y="556"/>
                </a:lnTo>
                <a:lnTo>
                  <a:pt x="222" y="564"/>
                </a:lnTo>
                <a:lnTo>
                  <a:pt x="248" y="574"/>
                </a:lnTo>
                <a:lnTo>
                  <a:pt x="276" y="586"/>
                </a:lnTo>
                <a:lnTo>
                  <a:pt x="298" y="594"/>
                </a:lnTo>
                <a:lnTo>
                  <a:pt x="322" y="600"/>
                </a:lnTo>
                <a:lnTo>
                  <a:pt x="348" y="604"/>
                </a:lnTo>
                <a:lnTo>
                  <a:pt x="376" y="604"/>
                </a:lnTo>
                <a:lnTo>
                  <a:pt x="404" y="600"/>
                </a:lnTo>
                <a:lnTo>
                  <a:pt x="434" y="592"/>
                </a:lnTo>
                <a:lnTo>
                  <a:pt x="466" y="578"/>
                </a:lnTo>
                <a:lnTo>
                  <a:pt x="498" y="560"/>
                </a:lnTo>
                <a:lnTo>
                  <a:pt x="512" y="550"/>
                </a:lnTo>
                <a:lnTo>
                  <a:pt x="526" y="538"/>
                </a:lnTo>
                <a:lnTo>
                  <a:pt x="540" y="524"/>
                </a:lnTo>
                <a:lnTo>
                  <a:pt x="554" y="508"/>
                </a:lnTo>
                <a:lnTo>
                  <a:pt x="580" y="472"/>
                </a:lnTo>
                <a:lnTo>
                  <a:pt x="606" y="430"/>
                </a:lnTo>
                <a:lnTo>
                  <a:pt x="630" y="384"/>
                </a:lnTo>
                <a:lnTo>
                  <a:pt x="650" y="332"/>
                </a:lnTo>
                <a:lnTo>
                  <a:pt x="668" y="278"/>
                </a:lnTo>
                <a:lnTo>
                  <a:pt x="684" y="220"/>
                </a:lnTo>
                <a:lnTo>
                  <a:pt x="728" y="326"/>
                </a:lnTo>
                <a:lnTo>
                  <a:pt x="718" y="0"/>
                </a:lnTo>
                <a:close/>
              </a:path>
            </a:pathLst>
          </a:cu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pic>
        <p:nvPicPr>
          <p:cNvPr id="69649" name="Picture 17">
            <a:extLst>
              <a:ext uri="{FF2B5EF4-FFF2-40B4-BE49-F238E27FC236}">
                <a16:creationId xmlns:a16="http://schemas.microsoft.com/office/drawing/2014/main" id="{08117662-D995-3E69-52A4-6A0E994D897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r="5701"/>
          <a:stretch>
            <a:fillRect/>
          </a:stretch>
        </p:blipFill>
        <p:spPr bwMode="auto">
          <a:xfrm>
            <a:off x="2598738" y="4506913"/>
            <a:ext cx="3544887"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50" name="Picture 18">
            <a:extLst>
              <a:ext uri="{FF2B5EF4-FFF2-40B4-BE49-F238E27FC236}">
                <a16:creationId xmlns:a16="http://schemas.microsoft.com/office/drawing/2014/main" id="{EF431CF8-21E4-7DF8-D744-7FB0F04D9FA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r="70284" b="-2728"/>
          <a:stretch>
            <a:fillRect/>
          </a:stretch>
        </p:blipFill>
        <p:spPr bwMode="auto">
          <a:xfrm>
            <a:off x="2586038" y="5121275"/>
            <a:ext cx="1614487"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8">
            <a:extLst>
              <a:ext uri="{FF2B5EF4-FFF2-40B4-BE49-F238E27FC236}">
                <a16:creationId xmlns:a16="http://schemas.microsoft.com/office/drawing/2014/main" id="{3DBF0FB1-75B3-613F-0DDC-CFAC143EFE0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28905"/>
          <a:stretch>
            <a:fillRect/>
          </a:stretch>
        </p:blipFill>
        <p:spPr bwMode="auto">
          <a:xfrm>
            <a:off x="4129088" y="5121275"/>
            <a:ext cx="3865562"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408" name="Picture 16">
            <a:extLst>
              <a:ext uri="{FF2B5EF4-FFF2-40B4-BE49-F238E27FC236}">
                <a16:creationId xmlns:a16="http://schemas.microsoft.com/office/drawing/2014/main" id="{6FEE6004-5B41-F03F-978E-7514C640C83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b="13799"/>
          <a:stretch>
            <a:fillRect/>
          </a:stretch>
        </p:blipFill>
        <p:spPr bwMode="auto">
          <a:xfrm>
            <a:off x="428625" y="357188"/>
            <a:ext cx="800100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9408"/>
                                        </p:tgtEl>
                                        <p:attrNameLst>
                                          <p:attrName>style.visibility</p:attrName>
                                        </p:attrNameLst>
                                      </p:cBhvr>
                                      <p:to>
                                        <p:strVal val="visible"/>
                                      </p:to>
                                    </p:set>
                                    <p:animEffect transition="in" filter="wipe(up)">
                                      <p:cBhvr>
                                        <p:cTn id="7" dur="1000"/>
                                        <p:tgtEl>
                                          <p:spTgt spid="594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edge">
                                      <p:cBhvr>
                                        <p:cTn id="12" dur="10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edge">
                                      <p:cBhvr>
                                        <p:cTn id="17" dur="10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up)">
                                      <p:cBhvr>
                                        <p:cTn id="22" dur="1000"/>
                                        <p:tgtEl>
                                          <p:spTgt spid="1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0"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edge">
                                      <p:cBhvr>
                                        <p:cTn id="27" dur="1000"/>
                                        <p:tgtEl>
                                          <p:spTgt spid="6"/>
                                        </p:tgtEl>
                                      </p:cBhvr>
                                    </p:animEffect>
                                  </p:childTnLst>
                                </p:cTn>
                              </p:par>
                            </p:childTnLst>
                          </p:cTn>
                        </p:par>
                        <p:par>
                          <p:cTn id="28" fill="hold" nodeType="afterGroup">
                            <p:stCondLst>
                              <p:cond delay="1000"/>
                            </p:stCondLst>
                            <p:childTnLst>
                              <p:par>
                                <p:cTn id="29" presetID="22" presetClass="entr" presetSubtype="1" fill="hold" nodeType="afterEffect">
                                  <p:stCondLst>
                                    <p:cond delay="0"/>
                                  </p:stCondLst>
                                  <p:childTnLst>
                                    <p:set>
                                      <p:cBhvr>
                                        <p:cTn id="30" dur="1" fill="hold">
                                          <p:stCondLst>
                                            <p:cond delay="0"/>
                                          </p:stCondLst>
                                        </p:cTn>
                                        <p:tgtEl>
                                          <p:spTgt spid="69649"/>
                                        </p:tgtEl>
                                        <p:attrNameLst>
                                          <p:attrName>style.visibility</p:attrName>
                                        </p:attrNameLst>
                                      </p:cBhvr>
                                      <p:to>
                                        <p:strVal val="visible"/>
                                      </p:to>
                                    </p:set>
                                    <p:animEffect transition="in" filter="wipe(up)">
                                      <p:cBhvr>
                                        <p:cTn id="31" dur="1000"/>
                                        <p:tgtEl>
                                          <p:spTgt spid="6964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left)">
                                      <p:cBhvr>
                                        <p:cTn id="36" dur="2000"/>
                                        <p:tgtEl>
                                          <p:spTgt spid="18"/>
                                        </p:tgtEl>
                                      </p:cBhvr>
                                    </p:animEffect>
                                  </p:childTnLst>
                                </p:cTn>
                              </p:par>
                            </p:childTnLst>
                          </p:cTn>
                        </p:par>
                        <p:par>
                          <p:cTn id="37" fill="hold" nodeType="afterGroup">
                            <p:stCondLst>
                              <p:cond delay="2000"/>
                            </p:stCondLst>
                            <p:childTnLst>
                              <p:par>
                                <p:cTn id="38" presetID="22" presetClass="entr" presetSubtype="4" fill="hold" nodeType="after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wipe(down)">
                                      <p:cBhvr>
                                        <p:cTn id="40" dur="1000"/>
                                        <p:tgtEl>
                                          <p:spTgt spid="2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1" fill="hold" nodeType="clickEffect">
                                  <p:stCondLst>
                                    <p:cond delay="0"/>
                                  </p:stCondLst>
                                  <p:childTnLst>
                                    <p:set>
                                      <p:cBhvr>
                                        <p:cTn id="44" dur="1" fill="hold">
                                          <p:stCondLst>
                                            <p:cond delay="0"/>
                                          </p:stCondLst>
                                        </p:cTn>
                                        <p:tgtEl>
                                          <p:spTgt spid="69650"/>
                                        </p:tgtEl>
                                        <p:attrNameLst>
                                          <p:attrName>style.visibility</p:attrName>
                                        </p:attrNameLst>
                                      </p:cBhvr>
                                      <p:to>
                                        <p:strVal val="visible"/>
                                      </p:to>
                                    </p:set>
                                    <p:animEffect transition="in" filter="wipe(up)">
                                      <p:cBhvr>
                                        <p:cTn id="45" dur="1000"/>
                                        <p:tgtEl>
                                          <p:spTgt spid="69650"/>
                                        </p:tgtEl>
                                      </p:cBhvr>
                                    </p:animEffect>
                                  </p:childTnLst>
                                </p:cTn>
                              </p:par>
                            </p:childTnLst>
                          </p:cTn>
                        </p:par>
                        <p:par>
                          <p:cTn id="46" fill="hold" nodeType="afterGroup">
                            <p:stCondLst>
                              <p:cond delay="1000"/>
                            </p:stCondLst>
                            <p:childTnLst>
                              <p:par>
                                <p:cTn id="47" presetID="22" presetClass="entr" presetSubtype="8" fill="hold" nodeType="after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wipe(left)">
                                      <p:cBhvr>
                                        <p:cTn id="49" dur="1000"/>
                                        <p:tgtEl>
                                          <p:spTgt spid="8"/>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wipe(left)">
                                      <p:cBhvr>
                                        <p:cTn id="54" dur="1000"/>
                                        <p:tgtEl>
                                          <p:spTgt spid="21"/>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1" fill="hold" nodeType="click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wipe(up)">
                                      <p:cBhvr>
                                        <p:cTn id="59" dur="2000"/>
                                        <p:tgtEl>
                                          <p:spTgt spid="17"/>
                                        </p:tgtEl>
                                      </p:cBhvr>
                                    </p:animEffect>
                                  </p:childTnLst>
                                </p:cTn>
                              </p:par>
                            </p:childTnLst>
                          </p:cTn>
                        </p:par>
                        <p:par>
                          <p:cTn id="60" fill="hold" nodeType="afterGroup">
                            <p:stCondLst>
                              <p:cond delay="2000"/>
                            </p:stCondLst>
                            <p:childTnLst>
                              <p:par>
                                <p:cTn id="61" presetID="22" presetClass="entr" presetSubtype="1" fill="hold" nodeType="after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wipe(up)">
                                      <p:cBhvr>
                                        <p:cTn id="63"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p:bldP spid="18" grpId="0"/>
      <p:bldP spid="26" grpId="0" animBg="1"/>
      <p:bldP spid="2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73" name="Picture 17">
            <a:extLst>
              <a:ext uri="{FF2B5EF4-FFF2-40B4-BE49-F238E27FC236}">
                <a16:creationId xmlns:a16="http://schemas.microsoft.com/office/drawing/2014/main" id="{F3B55797-2770-E8FC-6A54-0232F4F776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1850" y="5286375"/>
            <a:ext cx="3500438"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a:extLst>
              <a:ext uri="{FF2B5EF4-FFF2-40B4-BE49-F238E27FC236}">
                <a16:creationId xmlns:a16="http://schemas.microsoft.com/office/drawing/2014/main" id="{E08C6C4A-1C31-7475-A11C-7700143AAA05}"/>
              </a:ext>
            </a:extLst>
          </p:cNvPr>
          <p:cNvSpPr>
            <a:spLocks noChangeArrowheads="1"/>
          </p:cNvSpPr>
          <p:nvPr/>
        </p:nvSpPr>
        <p:spPr bwMode="auto">
          <a:xfrm>
            <a:off x="500063" y="357188"/>
            <a:ext cx="7858125"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lnSpc>
                <a:spcPct val="150000"/>
              </a:lnSpc>
              <a:buClr>
                <a:srgbClr val="FF0000"/>
              </a:buClr>
              <a:buSzPct val="85000"/>
              <a:buFont typeface="Wingdings" panose="05000000000000000000" pitchFamily="2" charset="2"/>
              <a:buChar char="n"/>
            </a:pPr>
            <a:r>
              <a:rPr lang="zh-CN" altLang="en-US" sz="2400">
                <a:solidFill>
                  <a:schemeClr val="tx1"/>
                </a:solidFill>
                <a:latin typeface="微软雅黑" panose="020B0503020204020204" pitchFamily="34" charset="-122"/>
                <a:ea typeface="微软雅黑" panose="020B0503020204020204" pitchFamily="34" charset="-122"/>
              </a:rPr>
              <a:t> </a:t>
            </a:r>
            <a:r>
              <a:rPr lang="zh-CN" altLang="en-US" sz="2800">
                <a:solidFill>
                  <a:schemeClr val="tx1"/>
                </a:solidFill>
                <a:latin typeface="微软雅黑" panose="020B0503020204020204" pitchFamily="34" charset="-122"/>
                <a:ea typeface="微软雅黑" panose="020B0503020204020204" pitchFamily="34" charset="-122"/>
              </a:rPr>
              <a:t>通信中的情况</a:t>
            </a:r>
            <a:r>
              <a:rPr lang="zh-CN" altLang="en-US" sz="2400">
                <a:solidFill>
                  <a:schemeClr val="tx1"/>
                </a:solidFill>
                <a:latin typeface="微软雅黑" panose="020B0503020204020204" pitchFamily="34" charset="-122"/>
                <a:ea typeface="微软雅黑" panose="020B0503020204020204" pitchFamily="34" charset="-122"/>
              </a:rPr>
              <a:t>：</a:t>
            </a:r>
            <a:endParaRPr lang="zh-CN" altLang="en-US" sz="2000">
              <a:solidFill>
                <a:srgbClr val="FF0000"/>
              </a:solidFill>
              <a:latin typeface="微软雅黑" panose="020B0503020204020204" pitchFamily="34" charset="-122"/>
              <a:ea typeface="微软雅黑" panose="020B0503020204020204" pitchFamily="34" charset="-122"/>
            </a:endParaRPr>
          </a:p>
        </p:txBody>
      </p:sp>
      <p:sp>
        <p:nvSpPr>
          <p:cNvPr id="60420" name="矩形 8">
            <a:extLst>
              <a:ext uri="{FF2B5EF4-FFF2-40B4-BE49-F238E27FC236}">
                <a16:creationId xmlns:a16="http://schemas.microsoft.com/office/drawing/2014/main" id="{3B64477B-AA5D-2740-0D6A-3CBCAE43E853}"/>
              </a:ext>
            </a:extLst>
          </p:cNvPr>
          <p:cNvSpPr>
            <a:spLocks noChangeArrowheads="1"/>
          </p:cNvSpPr>
          <p:nvPr/>
        </p:nvSpPr>
        <p:spPr bwMode="auto">
          <a:xfrm>
            <a:off x="2000250" y="-19216688"/>
            <a:ext cx="4572000"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zh-CN" altLang="en-US" sz="2000"/>
              <a:t>开销。这就好像我们运送一批玻璃杯一样，为了保证运送途中不出现打烂玻璃杯的情况，我们通常都用一些泡沫或海棉等物将玻璃杯包装起来，这种包装使玻璃杯所占的容积变大，原来一部车能装</a:t>
            </a:r>
            <a:r>
              <a:rPr lang="en-US" altLang="zh-CN" sz="2000"/>
              <a:t>5000</a:t>
            </a:r>
            <a:r>
              <a:rPr lang="zh-CN" altLang="en-US" sz="2000"/>
              <a:t>个玻璃杯的，包装后就只能装</a:t>
            </a:r>
            <a:r>
              <a:rPr lang="en-US" altLang="zh-CN" sz="2000"/>
              <a:t>4000</a:t>
            </a:r>
            <a:r>
              <a:rPr lang="zh-CN" altLang="en-US" sz="2000"/>
              <a:t>个了，显然包装的代价使运送玻璃杯的有效个数减少了。</a:t>
            </a:r>
          </a:p>
        </p:txBody>
      </p:sp>
      <p:sp>
        <p:nvSpPr>
          <p:cNvPr id="30" name="矩形 29">
            <a:extLst>
              <a:ext uri="{FF2B5EF4-FFF2-40B4-BE49-F238E27FC236}">
                <a16:creationId xmlns:a16="http://schemas.microsoft.com/office/drawing/2014/main" id="{9F40C020-0017-24BF-C6E2-8AA7BEA2B738}"/>
              </a:ext>
            </a:extLst>
          </p:cNvPr>
          <p:cNvSpPr/>
          <p:nvPr/>
        </p:nvSpPr>
        <p:spPr>
          <a:xfrm>
            <a:off x="1306513" y="4100513"/>
            <a:ext cx="1722437" cy="400050"/>
          </a:xfrm>
          <a:prstGeom prst="rect">
            <a:avLst/>
          </a:prstGeom>
        </p:spPr>
        <p:txBody>
          <a:bodyPr wrap="none">
            <a:spAutoFit/>
          </a:bodyPr>
          <a:lstStyle/>
          <a:p>
            <a:pPr>
              <a:defRPr/>
            </a:pPr>
            <a:r>
              <a:rPr lang="zh-CN" altLang="en-US" sz="2000" b="0" dirty="0">
                <a:solidFill>
                  <a:srgbClr val="000000"/>
                </a:solidFill>
                <a:latin typeface="微软雅黑" pitchFamily="34" charset="-122"/>
                <a:ea typeface="微软雅黑" pitchFamily="34" charset="-122"/>
              </a:rPr>
              <a:t>针对</a:t>
            </a:r>
            <a:r>
              <a:rPr lang="zh-CN" altLang="en-US" sz="2000" dirty="0">
                <a:solidFill>
                  <a:srgbClr val="000000"/>
                </a:solidFill>
                <a:latin typeface="微软雅黑" pitchFamily="34" charset="-122"/>
                <a:ea typeface="微软雅黑" pitchFamily="34" charset="-122"/>
              </a:rPr>
              <a:t>乘性</a:t>
            </a:r>
            <a:r>
              <a:rPr lang="zh-CN" altLang="en-US" sz="2000" b="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干扰</a:t>
            </a:r>
            <a:endParaRPr lang="zh-CN" altLang="en-US" sz="2000" b="0" dirty="0"/>
          </a:p>
        </p:txBody>
      </p:sp>
      <p:sp>
        <p:nvSpPr>
          <p:cNvPr id="31" name="矩形 30">
            <a:extLst>
              <a:ext uri="{FF2B5EF4-FFF2-40B4-BE49-F238E27FC236}">
                <a16:creationId xmlns:a16="http://schemas.microsoft.com/office/drawing/2014/main" id="{1B45E6B8-FB0C-1FAF-BCCE-C0E5EB4B5819}"/>
              </a:ext>
            </a:extLst>
          </p:cNvPr>
          <p:cNvSpPr/>
          <p:nvPr/>
        </p:nvSpPr>
        <p:spPr>
          <a:xfrm>
            <a:off x="1306513" y="4957763"/>
            <a:ext cx="1722437" cy="400050"/>
          </a:xfrm>
          <a:prstGeom prst="rect">
            <a:avLst/>
          </a:prstGeom>
        </p:spPr>
        <p:txBody>
          <a:bodyPr wrap="none">
            <a:spAutoFit/>
          </a:bodyPr>
          <a:lstStyle/>
          <a:p>
            <a:pPr>
              <a:defRPr/>
            </a:pPr>
            <a:r>
              <a:rPr lang="zh-CN" altLang="en-US" sz="2000" b="0" dirty="0">
                <a:solidFill>
                  <a:srgbClr val="000000"/>
                </a:solidFill>
                <a:latin typeface="微软雅黑" pitchFamily="34" charset="-122"/>
                <a:ea typeface="微软雅黑" pitchFamily="34" charset="-122"/>
              </a:rPr>
              <a:t>针对</a:t>
            </a:r>
            <a:r>
              <a:rPr lang="zh-CN" altLang="en-US" sz="2000" dirty="0">
                <a:solidFill>
                  <a:srgbClr val="000000"/>
                </a:solidFill>
                <a:latin typeface="微软雅黑" pitchFamily="34" charset="-122"/>
                <a:ea typeface="微软雅黑" pitchFamily="34" charset="-122"/>
              </a:rPr>
              <a:t>加性</a:t>
            </a:r>
            <a:r>
              <a:rPr lang="zh-CN" altLang="en-US" sz="2000" b="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干扰</a:t>
            </a:r>
            <a:endParaRPr lang="zh-CN" altLang="en-US" sz="2000" dirty="0"/>
          </a:p>
        </p:txBody>
      </p:sp>
      <p:sp>
        <p:nvSpPr>
          <p:cNvPr id="37" name="AutoShape 11">
            <a:extLst>
              <a:ext uri="{FF2B5EF4-FFF2-40B4-BE49-F238E27FC236}">
                <a16:creationId xmlns:a16="http://schemas.microsoft.com/office/drawing/2014/main" id="{6D656BAC-5531-C15C-F1A8-9CDD759652C7}"/>
              </a:ext>
            </a:extLst>
          </p:cNvPr>
          <p:cNvSpPr>
            <a:spLocks/>
          </p:cNvSpPr>
          <p:nvPr/>
        </p:nvSpPr>
        <p:spPr bwMode="auto">
          <a:xfrm>
            <a:off x="1143000" y="4300538"/>
            <a:ext cx="185738" cy="823912"/>
          </a:xfrm>
          <a:prstGeom prst="leftBrace">
            <a:avLst>
              <a:gd name="adj1" fmla="val 27191"/>
              <a:gd name="adj2" fmla="val 50000"/>
            </a:avLst>
          </a:prstGeom>
          <a:noFill/>
          <a:ln w="19050">
            <a:solidFill>
              <a:srgbClr val="FF0000"/>
            </a:solidFill>
            <a:round/>
            <a:headEnd/>
            <a:tailEnd/>
          </a:ln>
          <a:effectLst>
            <a:outerShdw blurRad="50800" dist="38100" dir="2700000" algn="tl" rotWithShape="0">
              <a:prstClr val="black">
                <a:alpha val="40000"/>
              </a:prstClr>
            </a:outerShdw>
          </a:effectLst>
        </p:spPr>
        <p:txBody>
          <a:bodyPr/>
          <a:lstStyle/>
          <a:p>
            <a:pPr>
              <a:defRPr/>
            </a:pPr>
            <a:endParaRPr lang="zh-CN" altLang="en-US" sz="2400" dirty="0"/>
          </a:p>
        </p:txBody>
      </p:sp>
      <p:sp>
        <p:nvSpPr>
          <p:cNvPr id="38" name="AutoShape 11">
            <a:extLst>
              <a:ext uri="{FF2B5EF4-FFF2-40B4-BE49-F238E27FC236}">
                <a16:creationId xmlns:a16="http://schemas.microsoft.com/office/drawing/2014/main" id="{1EA05AA1-722E-1087-5FD3-45D859E2AC92}"/>
              </a:ext>
            </a:extLst>
          </p:cNvPr>
          <p:cNvSpPr>
            <a:spLocks/>
          </p:cNvSpPr>
          <p:nvPr/>
        </p:nvSpPr>
        <p:spPr bwMode="auto">
          <a:xfrm>
            <a:off x="3302000" y="4914900"/>
            <a:ext cx="196850" cy="571500"/>
          </a:xfrm>
          <a:prstGeom prst="leftBrace">
            <a:avLst>
              <a:gd name="adj1" fmla="val 27191"/>
              <a:gd name="adj2" fmla="val 50000"/>
            </a:avLst>
          </a:prstGeom>
          <a:noFill/>
          <a:ln w="19050">
            <a:solidFill>
              <a:srgbClr val="003399"/>
            </a:solidFill>
            <a:round/>
            <a:headEnd/>
            <a:tailEnd/>
          </a:ln>
          <a:effectLst>
            <a:outerShdw blurRad="50800" dist="38100" dir="2700000" algn="tl" rotWithShape="0">
              <a:prstClr val="black">
                <a:alpha val="40000"/>
              </a:prstClr>
            </a:outerShdw>
          </a:effectLst>
        </p:spPr>
        <p:txBody>
          <a:bodyPr/>
          <a:lstStyle/>
          <a:p>
            <a:pPr>
              <a:defRPr/>
            </a:pPr>
            <a:endParaRPr lang="zh-CN" altLang="en-US" sz="2400" dirty="0"/>
          </a:p>
        </p:txBody>
      </p:sp>
      <p:sp>
        <p:nvSpPr>
          <p:cNvPr id="70667" name="矩形 39">
            <a:extLst>
              <a:ext uri="{FF2B5EF4-FFF2-40B4-BE49-F238E27FC236}">
                <a16:creationId xmlns:a16="http://schemas.microsoft.com/office/drawing/2014/main" id="{652F20F7-87B4-CFE8-2F65-16FD4751E66B}"/>
              </a:ext>
            </a:extLst>
          </p:cNvPr>
          <p:cNvSpPr>
            <a:spLocks noChangeArrowheads="1"/>
          </p:cNvSpPr>
          <p:nvPr/>
        </p:nvSpPr>
        <p:spPr bwMode="auto">
          <a:xfrm>
            <a:off x="3429000" y="4743450"/>
            <a:ext cx="4714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zh-CN" altLang="en-US" sz="2000" b="0">
                <a:solidFill>
                  <a:srgbClr val="000000"/>
                </a:solidFill>
                <a:latin typeface="微软雅黑" panose="020B0503020204020204" pitchFamily="34" charset="-122"/>
                <a:ea typeface="微软雅黑" panose="020B0503020204020204" pitchFamily="34" charset="-122"/>
              </a:rPr>
              <a:t>合理选择调制</a:t>
            </a:r>
            <a:r>
              <a:rPr lang="en-US" altLang="zh-CN" sz="2000" b="0">
                <a:solidFill>
                  <a:srgbClr val="000000"/>
                </a:solidFill>
                <a:latin typeface="微软雅黑" panose="020B0503020204020204" pitchFamily="34" charset="-122"/>
                <a:ea typeface="微软雅黑" panose="020B0503020204020204" pitchFamily="34" charset="-122"/>
              </a:rPr>
              <a:t>/</a:t>
            </a:r>
            <a:r>
              <a:rPr lang="zh-CN" altLang="en-US" sz="2000" b="0">
                <a:solidFill>
                  <a:srgbClr val="000000"/>
                </a:solidFill>
                <a:latin typeface="微软雅黑" panose="020B0503020204020204" pitchFamily="34" charset="-122"/>
                <a:ea typeface="微软雅黑" panose="020B0503020204020204" pitchFamily="34" charset="-122"/>
              </a:rPr>
              <a:t>解调方法，增大发射功率</a:t>
            </a:r>
            <a:endParaRPr lang="zh-CN" altLang="en-US" sz="2000"/>
          </a:p>
        </p:txBody>
      </p:sp>
      <p:sp>
        <p:nvSpPr>
          <p:cNvPr id="42" name="矩形 41">
            <a:extLst>
              <a:ext uri="{FF2B5EF4-FFF2-40B4-BE49-F238E27FC236}">
                <a16:creationId xmlns:a16="http://schemas.microsoft.com/office/drawing/2014/main" id="{A299F672-E499-8DD3-34B7-288D3B1A9354}"/>
              </a:ext>
            </a:extLst>
          </p:cNvPr>
          <p:cNvSpPr/>
          <p:nvPr/>
        </p:nvSpPr>
        <p:spPr>
          <a:xfrm>
            <a:off x="2944813" y="4057650"/>
            <a:ext cx="3160712" cy="400050"/>
          </a:xfrm>
          <a:prstGeom prst="rect">
            <a:avLst/>
          </a:prstGeom>
        </p:spPr>
        <p:txBody>
          <a:bodyPr>
            <a:spAutoFit/>
          </a:bodyPr>
          <a:lstStyle/>
          <a:p>
            <a:pPr>
              <a:defRPr/>
            </a:pPr>
            <a:r>
              <a:rPr lang="en-US" altLang="zh-CN" sz="2000" b="0" dirty="0">
                <a:solidFill>
                  <a:srgbClr val="003399"/>
                </a:solidFill>
                <a:effectLst>
                  <a:outerShdw blurRad="38100" dist="38100" dir="2700000" algn="tl">
                    <a:srgbClr val="000000">
                      <a:alpha val="43137"/>
                    </a:srgbClr>
                  </a:outerShdw>
                </a:effectLst>
                <a:latin typeface="微软雅黑" pitchFamily="34" charset="-122"/>
                <a:ea typeface="微软雅黑" pitchFamily="34" charset="-122"/>
              </a:rPr>
              <a:t>— </a:t>
            </a:r>
            <a:r>
              <a:rPr lang="zh-CN" altLang="en-US" sz="2000" b="0" dirty="0">
                <a:solidFill>
                  <a:srgbClr val="000000"/>
                </a:solidFill>
                <a:latin typeface="微软雅黑" pitchFamily="34" charset="-122"/>
                <a:ea typeface="微软雅黑" pitchFamily="34" charset="-122"/>
              </a:rPr>
              <a:t>采用</a:t>
            </a:r>
            <a:r>
              <a:rPr lang="zh-CN" altLang="en-US" sz="2000" b="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均衡</a:t>
            </a:r>
            <a:r>
              <a:rPr lang="zh-CN" altLang="en-US" sz="2000" b="0" dirty="0">
                <a:solidFill>
                  <a:srgbClr val="000000"/>
                </a:solidFill>
                <a:latin typeface="微软雅黑" pitchFamily="34" charset="-122"/>
                <a:ea typeface="微软雅黑" pitchFamily="34" charset="-122"/>
              </a:rPr>
              <a:t>等措施</a:t>
            </a:r>
            <a:endParaRPr lang="zh-CN" altLang="en-US" sz="2000" b="0" dirty="0"/>
          </a:p>
        </p:txBody>
      </p:sp>
      <p:cxnSp>
        <p:nvCxnSpPr>
          <p:cNvPr id="46" name="直接连接符 45">
            <a:extLst>
              <a:ext uri="{FF2B5EF4-FFF2-40B4-BE49-F238E27FC236}">
                <a16:creationId xmlns:a16="http://schemas.microsoft.com/office/drawing/2014/main" id="{6350FB3B-9C0C-42A0-67F5-8657CCF34348}"/>
              </a:ext>
            </a:extLst>
          </p:cNvPr>
          <p:cNvCxnSpPr/>
          <p:nvPr/>
        </p:nvCxnSpPr>
        <p:spPr bwMode="auto">
          <a:xfrm>
            <a:off x="3030538" y="5202238"/>
            <a:ext cx="285750" cy="1587"/>
          </a:xfrm>
          <a:prstGeom prst="line">
            <a:avLst/>
          </a:prstGeom>
          <a:solidFill>
            <a:schemeClr val="accent1"/>
          </a:solidFill>
          <a:ln w="19050" cap="flat" cmpd="sng" algn="ctr">
            <a:solidFill>
              <a:srgbClr val="003399"/>
            </a:solidFill>
            <a:prstDash val="solid"/>
            <a:miter lim="800000"/>
            <a:headEnd type="none" w="med" len="med"/>
            <a:tailEnd type="none" w="med" len="med"/>
          </a:ln>
          <a:effectLst>
            <a:outerShdw blurRad="50800" dist="38100" dir="2700000" algn="tl" rotWithShape="0">
              <a:prstClr val="black">
                <a:alpha val="40000"/>
              </a:prstClr>
            </a:outerShdw>
          </a:effectLst>
        </p:spPr>
      </p:cxnSp>
      <p:pic>
        <p:nvPicPr>
          <p:cNvPr id="70671" name="Picture 15">
            <a:extLst>
              <a:ext uri="{FF2B5EF4-FFF2-40B4-BE49-F238E27FC236}">
                <a16:creationId xmlns:a16="http://schemas.microsoft.com/office/drawing/2014/main" id="{CE28E73F-0725-052D-60C1-2BD1BCA638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550" y="1428750"/>
            <a:ext cx="7286625"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72" name="Picture 16">
            <a:extLst>
              <a:ext uri="{FF2B5EF4-FFF2-40B4-BE49-F238E27FC236}">
                <a16:creationId xmlns:a16="http://schemas.microsoft.com/office/drawing/2014/main" id="{708E1B7A-DE32-D6A2-29A2-4B385C43BB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6063" y="2403475"/>
            <a:ext cx="4329112"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0671"/>
                                        </p:tgtEl>
                                        <p:attrNameLst>
                                          <p:attrName>style.visibility</p:attrName>
                                        </p:attrNameLst>
                                      </p:cBhvr>
                                      <p:to>
                                        <p:strVal val="visible"/>
                                      </p:to>
                                    </p:set>
                                    <p:animEffect transition="in" filter="wipe(up)">
                                      <p:cBhvr>
                                        <p:cTn id="12" dur="1000"/>
                                        <p:tgtEl>
                                          <p:spTgt spid="706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70672"/>
                                        </p:tgtEl>
                                        <p:attrNameLst>
                                          <p:attrName>style.visibility</p:attrName>
                                        </p:attrNameLst>
                                      </p:cBhvr>
                                      <p:to>
                                        <p:strVal val="visible"/>
                                      </p:to>
                                    </p:set>
                                    <p:animEffect transition="in" filter="wipe(up)">
                                      <p:cBhvr>
                                        <p:cTn id="17" dur="1000"/>
                                        <p:tgtEl>
                                          <p:spTgt spid="7067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wipe(up)">
                                      <p:cBhvr>
                                        <p:cTn id="22" dur="1000"/>
                                        <p:tgtEl>
                                          <p:spTgt spid="30"/>
                                        </p:tgtEl>
                                      </p:cBhvr>
                                    </p:animEffect>
                                  </p:childTnLst>
                                </p:cTn>
                              </p:par>
                              <p:par>
                                <p:cTn id="23" presetID="22" presetClass="entr" presetSubtype="1" fill="hold" nodeType="with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wipe(up)">
                                      <p:cBhvr>
                                        <p:cTn id="25" dur="1000"/>
                                        <p:tgtEl>
                                          <p:spTgt spid="3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wipe(left)">
                                      <p:cBhvr>
                                        <p:cTn id="30" dur="1000"/>
                                        <p:tgtEl>
                                          <p:spTgt spid="4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wipe(up)">
                                      <p:cBhvr>
                                        <p:cTn id="35" dur="1000"/>
                                        <p:tgtEl>
                                          <p:spTgt spid="3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wipe(up)">
                                      <p:cBhvr>
                                        <p:cTn id="40" dur="1000"/>
                                        <p:tgtEl>
                                          <p:spTgt spid="38"/>
                                        </p:tgtEl>
                                      </p:cBhvr>
                                    </p:animEffect>
                                  </p:childTnLst>
                                </p:cTn>
                              </p:par>
                              <p:par>
                                <p:cTn id="41" presetID="22" presetClass="entr" presetSubtype="8" fill="hold" nodeType="withEffect">
                                  <p:stCondLst>
                                    <p:cond delay="0"/>
                                  </p:stCondLst>
                                  <p:childTnLst>
                                    <p:set>
                                      <p:cBhvr>
                                        <p:cTn id="42" dur="1" fill="hold">
                                          <p:stCondLst>
                                            <p:cond delay="0"/>
                                          </p:stCondLst>
                                        </p:cTn>
                                        <p:tgtEl>
                                          <p:spTgt spid="46"/>
                                        </p:tgtEl>
                                        <p:attrNameLst>
                                          <p:attrName>style.visibility</p:attrName>
                                        </p:attrNameLst>
                                      </p:cBhvr>
                                      <p:to>
                                        <p:strVal val="visible"/>
                                      </p:to>
                                    </p:set>
                                    <p:animEffect transition="in" filter="wipe(left)">
                                      <p:cBhvr>
                                        <p:cTn id="43" dur="1000"/>
                                        <p:tgtEl>
                                          <p:spTgt spid="4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1" fill="hold" nodeType="clickEffect">
                                  <p:stCondLst>
                                    <p:cond delay="0"/>
                                  </p:stCondLst>
                                  <p:childTnLst>
                                    <p:set>
                                      <p:cBhvr>
                                        <p:cTn id="47" dur="1" fill="hold">
                                          <p:stCondLst>
                                            <p:cond delay="0"/>
                                          </p:stCondLst>
                                        </p:cTn>
                                        <p:tgtEl>
                                          <p:spTgt spid="70667"/>
                                        </p:tgtEl>
                                        <p:attrNameLst>
                                          <p:attrName>style.visibility</p:attrName>
                                        </p:attrNameLst>
                                      </p:cBhvr>
                                      <p:to>
                                        <p:strVal val="visible"/>
                                      </p:to>
                                    </p:set>
                                    <p:animEffect transition="in" filter="wipe(up)">
                                      <p:cBhvr>
                                        <p:cTn id="48" dur="1000"/>
                                        <p:tgtEl>
                                          <p:spTgt spid="70667"/>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1" fill="hold" nodeType="clickEffect">
                                  <p:stCondLst>
                                    <p:cond delay="0"/>
                                  </p:stCondLst>
                                  <p:childTnLst>
                                    <p:set>
                                      <p:cBhvr>
                                        <p:cTn id="52" dur="1" fill="hold">
                                          <p:stCondLst>
                                            <p:cond delay="0"/>
                                          </p:stCondLst>
                                        </p:cTn>
                                        <p:tgtEl>
                                          <p:spTgt spid="70673"/>
                                        </p:tgtEl>
                                        <p:attrNameLst>
                                          <p:attrName>style.visibility</p:attrName>
                                        </p:attrNameLst>
                                      </p:cBhvr>
                                      <p:to>
                                        <p:strVal val="visible"/>
                                      </p:to>
                                    </p:set>
                                    <p:animEffect transition="in" filter="wipe(up)">
                                      <p:cBhvr>
                                        <p:cTn id="53" dur="1000"/>
                                        <p:tgtEl>
                                          <p:spTgt spid="706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0" grpId="0"/>
      <p:bldP spid="31" grpId="0"/>
      <p:bldP spid="37" grpId="0" animBg="1"/>
      <p:bldP spid="38" grpId="0" animBg="1"/>
      <p:bldP spid="70667" grpId="0"/>
      <p:bldP spid="4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98" name="Picture 18">
            <a:extLst>
              <a:ext uri="{FF2B5EF4-FFF2-40B4-BE49-F238E27FC236}">
                <a16:creationId xmlns:a16="http://schemas.microsoft.com/office/drawing/2014/main" id="{F248863A-C022-F1AF-1663-59A7831A00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0583"/>
          <a:stretch>
            <a:fillRect/>
          </a:stretch>
        </p:blipFill>
        <p:spPr bwMode="auto">
          <a:xfrm>
            <a:off x="717550" y="5584825"/>
            <a:ext cx="7953375"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97" name="Picture 17">
            <a:extLst>
              <a:ext uri="{FF2B5EF4-FFF2-40B4-BE49-F238E27FC236}">
                <a16:creationId xmlns:a16="http://schemas.microsoft.com/office/drawing/2014/main" id="{47D34FAB-9A8C-CEA0-3166-179EC47309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0438" y="2943225"/>
            <a:ext cx="3000375"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96" name="Picture 16">
            <a:extLst>
              <a:ext uri="{FF2B5EF4-FFF2-40B4-BE49-F238E27FC236}">
                <a16:creationId xmlns:a16="http://schemas.microsoft.com/office/drawing/2014/main" id="{E6C8E2A2-C031-719C-5194-D51C414F85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7413" y="3570288"/>
            <a:ext cx="7756525" cy="159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a:extLst>
              <a:ext uri="{FF2B5EF4-FFF2-40B4-BE49-F238E27FC236}">
                <a16:creationId xmlns:a16="http://schemas.microsoft.com/office/drawing/2014/main" id="{DADF9801-3EC1-4CFB-15BE-94C6F2C0463F}"/>
              </a:ext>
            </a:extLst>
          </p:cNvPr>
          <p:cNvSpPr>
            <a:spLocks noChangeArrowheads="1"/>
          </p:cNvSpPr>
          <p:nvPr/>
        </p:nvSpPr>
        <p:spPr bwMode="auto">
          <a:xfrm>
            <a:off x="500063" y="333375"/>
            <a:ext cx="3071812"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lnSpc>
                <a:spcPct val="150000"/>
              </a:lnSpc>
              <a:buClr>
                <a:srgbClr val="FF0000"/>
              </a:buClr>
              <a:buSzPct val="85000"/>
              <a:buFont typeface="Wingdings" panose="05000000000000000000" pitchFamily="2" charset="2"/>
              <a:buChar char="n"/>
            </a:pPr>
            <a:r>
              <a:rPr lang="zh-CN" altLang="en-US" sz="2400">
                <a:solidFill>
                  <a:schemeClr val="tx1"/>
                </a:solidFill>
                <a:latin typeface="微软雅黑" panose="020B0503020204020204" pitchFamily="34" charset="-122"/>
                <a:ea typeface="微软雅黑" panose="020B0503020204020204" pitchFamily="34" charset="-122"/>
              </a:rPr>
              <a:t> </a:t>
            </a:r>
            <a:r>
              <a:rPr lang="zh-CN" altLang="en-US" sz="2800">
                <a:solidFill>
                  <a:schemeClr val="tx1"/>
                </a:solidFill>
                <a:latin typeface="微软雅黑" panose="020B0503020204020204" pitchFamily="34" charset="-122"/>
                <a:ea typeface="微软雅黑" panose="020B0503020204020204" pitchFamily="34" charset="-122"/>
              </a:rPr>
              <a:t>差错控制编码</a:t>
            </a:r>
            <a:endParaRPr lang="zh-CN" altLang="en-US" sz="2000">
              <a:solidFill>
                <a:schemeClr val="tx1"/>
              </a:solidFill>
              <a:latin typeface="微软雅黑" panose="020B0503020204020204" pitchFamily="34" charset="-122"/>
              <a:ea typeface="微软雅黑" panose="020B0503020204020204" pitchFamily="34" charset="-122"/>
            </a:endParaRPr>
          </a:p>
        </p:txBody>
      </p:sp>
      <p:sp>
        <p:nvSpPr>
          <p:cNvPr id="22" name="左大括号 21">
            <a:extLst>
              <a:ext uri="{FF2B5EF4-FFF2-40B4-BE49-F238E27FC236}">
                <a16:creationId xmlns:a16="http://schemas.microsoft.com/office/drawing/2014/main" id="{03B890FE-39F4-9131-72B9-FF6BB9A1DAFC}"/>
              </a:ext>
            </a:extLst>
          </p:cNvPr>
          <p:cNvSpPr/>
          <p:nvPr/>
        </p:nvSpPr>
        <p:spPr bwMode="auto">
          <a:xfrm rot="16200000" flipH="1">
            <a:off x="3786188" y="2655887"/>
            <a:ext cx="285750" cy="1857375"/>
          </a:xfrm>
          <a:prstGeom prst="leftBrace">
            <a:avLst/>
          </a:prstGeom>
          <a:noFill/>
          <a:ln w="9525" cap="flat" cmpd="sng" algn="ctr">
            <a:solidFill>
              <a:srgbClr val="0000CC"/>
            </a:solidFill>
            <a:prstDash val="solid"/>
            <a:miter lim="800000"/>
            <a:headEnd type="none" w="med" len="med"/>
            <a:tailEnd type="none" w="med" len="med"/>
          </a:ln>
          <a:effectLst>
            <a:outerShdw blurRad="50800" dist="38100" dir="2700000" algn="tl" rotWithShape="0">
              <a:prstClr val="black">
                <a:alpha val="40000"/>
              </a:prstClr>
            </a:outerShdw>
          </a:effectLst>
        </p:spPr>
        <p:txBody>
          <a:bodyPr wrap="none"/>
          <a:lstStyle/>
          <a:p>
            <a:pPr>
              <a:defRPr/>
            </a:pPr>
            <a:endParaRPr lang="zh-CN" altLang="en-US"/>
          </a:p>
        </p:txBody>
      </p:sp>
      <p:pic>
        <p:nvPicPr>
          <p:cNvPr id="71694" name="Picture 14">
            <a:extLst>
              <a:ext uri="{FF2B5EF4-FFF2-40B4-BE49-F238E27FC236}">
                <a16:creationId xmlns:a16="http://schemas.microsoft.com/office/drawing/2014/main" id="{C63A1767-D338-C27A-651E-78A1F19D646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b="63918"/>
          <a:stretch>
            <a:fillRect/>
          </a:stretch>
        </p:blipFill>
        <p:spPr bwMode="auto">
          <a:xfrm>
            <a:off x="669925" y="1071563"/>
            <a:ext cx="79883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4">
            <a:extLst>
              <a:ext uri="{FF2B5EF4-FFF2-40B4-BE49-F238E27FC236}">
                <a16:creationId xmlns:a16="http://schemas.microsoft.com/office/drawing/2014/main" id="{FFEC4C2A-CA46-8603-01BD-F38CC28AAA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46391"/>
          <a:stretch>
            <a:fillRect/>
          </a:stretch>
        </p:blipFill>
        <p:spPr bwMode="auto">
          <a:xfrm>
            <a:off x="657225" y="1731963"/>
            <a:ext cx="7986713"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95" name="Picture 15">
            <a:extLst>
              <a:ext uri="{FF2B5EF4-FFF2-40B4-BE49-F238E27FC236}">
                <a16:creationId xmlns:a16="http://schemas.microsoft.com/office/drawing/2014/main" id="{A29160B1-EFD9-F56A-D304-0CF3A6AD8AF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7388" y="3016250"/>
            <a:ext cx="224155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10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1694"/>
                                        </p:tgtEl>
                                        <p:attrNameLst>
                                          <p:attrName>style.visibility</p:attrName>
                                        </p:attrNameLst>
                                      </p:cBhvr>
                                      <p:to>
                                        <p:strVal val="visible"/>
                                      </p:to>
                                    </p:set>
                                    <p:animEffect transition="in" filter="wipe(up)">
                                      <p:cBhvr>
                                        <p:cTn id="12" dur="1000"/>
                                        <p:tgtEl>
                                          <p:spTgt spid="716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up)">
                                      <p:cBhvr>
                                        <p:cTn id="17" dur="1000"/>
                                        <p:tgtEl>
                                          <p:spTgt spid="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71695"/>
                                        </p:tgtEl>
                                        <p:attrNameLst>
                                          <p:attrName>style.visibility</p:attrName>
                                        </p:attrNameLst>
                                      </p:cBhvr>
                                      <p:to>
                                        <p:strVal val="visible"/>
                                      </p:to>
                                    </p:set>
                                    <p:animEffect transition="in" filter="wipe(up)">
                                      <p:cBhvr>
                                        <p:cTn id="22" dur="1000"/>
                                        <p:tgtEl>
                                          <p:spTgt spid="7169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71696"/>
                                        </p:tgtEl>
                                        <p:attrNameLst>
                                          <p:attrName>style.visibility</p:attrName>
                                        </p:attrNameLst>
                                      </p:cBhvr>
                                      <p:to>
                                        <p:strVal val="visible"/>
                                      </p:to>
                                    </p:set>
                                    <p:animEffect transition="in" filter="wipe(up)">
                                      <p:cBhvr>
                                        <p:cTn id="27" dur="1000"/>
                                        <p:tgtEl>
                                          <p:spTgt spid="7169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down)">
                                      <p:cBhvr>
                                        <p:cTn id="32" dur="1000"/>
                                        <p:tgtEl>
                                          <p:spTgt spid="22"/>
                                        </p:tgtEl>
                                      </p:cBhvr>
                                    </p:animEffect>
                                  </p:childTnLst>
                                </p:cTn>
                              </p:par>
                            </p:childTnLst>
                          </p:cTn>
                        </p:par>
                        <p:par>
                          <p:cTn id="33" fill="hold" nodeType="afterGroup">
                            <p:stCondLst>
                              <p:cond delay="1000"/>
                            </p:stCondLst>
                            <p:childTnLst>
                              <p:par>
                                <p:cTn id="34" presetID="18" presetClass="entr" presetSubtype="3" fill="hold" nodeType="afterEffect">
                                  <p:stCondLst>
                                    <p:cond delay="0"/>
                                  </p:stCondLst>
                                  <p:childTnLst>
                                    <p:set>
                                      <p:cBhvr>
                                        <p:cTn id="35" dur="1" fill="hold">
                                          <p:stCondLst>
                                            <p:cond delay="0"/>
                                          </p:stCondLst>
                                        </p:cTn>
                                        <p:tgtEl>
                                          <p:spTgt spid="71697"/>
                                        </p:tgtEl>
                                        <p:attrNameLst>
                                          <p:attrName>style.visibility</p:attrName>
                                        </p:attrNameLst>
                                      </p:cBhvr>
                                      <p:to>
                                        <p:strVal val="visible"/>
                                      </p:to>
                                    </p:set>
                                    <p:animEffect transition="in" filter="strips(upRight)">
                                      <p:cBhvr>
                                        <p:cTn id="36" dur="1000"/>
                                        <p:tgtEl>
                                          <p:spTgt spid="7169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nodeType="clickEffect">
                                  <p:stCondLst>
                                    <p:cond delay="0"/>
                                  </p:stCondLst>
                                  <p:childTnLst>
                                    <p:set>
                                      <p:cBhvr>
                                        <p:cTn id="40" dur="1" fill="hold">
                                          <p:stCondLst>
                                            <p:cond delay="0"/>
                                          </p:stCondLst>
                                        </p:cTn>
                                        <p:tgtEl>
                                          <p:spTgt spid="71698"/>
                                        </p:tgtEl>
                                        <p:attrNameLst>
                                          <p:attrName>style.visibility</p:attrName>
                                        </p:attrNameLst>
                                      </p:cBhvr>
                                      <p:to>
                                        <p:strVal val="visible"/>
                                      </p:to>
                                    </p:set>
                                    <p:animEffect transition="in" filter="wipe(up)">
                                      <p:cBhvr>
                                        <p:cTn id="41" dur="1000"/>
                                        <p:tgtEl>
                                          <p:spTgt spid="716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15" name="Picture 11">
            <a:extLst>
              <a:ext uri="{FF2B5EF4-FFF2-40B4-BE49-F238E27FC236}">
                <a16:creationId xmlns:a16="http://schemas.microsoft.com/office/drawing/2014/main" id="{AA233E13-47E9-2906-7BE5-A868E111C0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3307"/>
          <a:stretch>
            <a:fillRect/>
          </a:stretch>
        </p:blipFill>
        <p:spPr bwMode="auto">
          <a:xfrm>
            <a:off x="741363" y="1068388"/>
            <a:ext cx="8143875"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76124FA7-B275-80FB-E57C-36A2B62A1A7B}"/>
              </a:ext>
            </a:extLst>
          </p:cNvPr>
          <p:cNvSpPr>
            <a:spLocks noChangeArrowheads="1"/>
          </p:cNvSpPr>
          <p:nvPr/>
        </p:nvSpPr>
        <p:spPr bwMode="auto">
          <a:xfrm>
            <a:off x="785813" y="1857375"/>
            <a:ext cx="6429375" cy="523875"/>
          </a:xfrm>
          <a:prstGeom prst="rect">
            <a:avLst/>
          </a:prstGeom>
          <a:noFill/>
          <a:ln w="9525">
            <a:noFill/>
            <a:miter lim="800000"/>
            <a:headEnd/>
            <a:tailEnd/>
          </a:ln>
        </p:spPr>
        <p:txBody>
          <a:bodyPr>
            <a:spAutoFit/>
          </a:bodyPr>
          <a:lstStyle/>
          <a:p>
            <a:pPr>
              <a:buClr>
                <a:srgbClr val="0000CC"/>
              </a:buClr>
              <a:buSzPct val="66000"/>
              <a:buFont typeface="Wingdings" pitchFamily="2" charset="2"/>
              <a:buChar char="u"/>
              <a:defRPr/>
            </a:pPr>
            <a:r>
              <a:rPr lang="zh-CN" altLang="en-US" sz="2400" dirty="0">
                <a:solidFill>
                  <a:schemeClr val="tx1"/>
                </a:solidFill>
                <a:latin typeface="微软雅黑" pitchFamily="34" charset="-122"/>
                <a:ea typeface="微软雅黑" pitchFamily="34" charset="-122"/>
              </a:rPr>
              <a:t> </a:t>
            </a:r>
            <a:r>
              <a:rPr lang="zh-CN" altLang="en-US" sz="2800" dirty="0">
                <a:solidFill>
                  <a:schemeClr val="tx1"/>
                </a:solidFill>
                <a:latin typeface="黑体" pitchFamily="2" charset="-122"/>
                <a:ea typeface="黑体" pitchFamily="2" charset="-122"/>
              </a:rPr>
              <a:t>信道类型 </a:t>
            </a:r>
            <a:r>
              <a:rPr lang="en-US" altLang="zh-CN" sz="2000" dirty="0">
                <a:solidFill>
                  <a:schemeClr val="tx1"/>
                </a:solidFill>
                <a:latin typeface="微软雅黑" pitchFamily="34" charset="-122"/>
                <a:ea typeface="微软雅黑" pitchFamily="34" charset="-122"/>
              </a:rPr>
              <a:t>—— </a:t>
            </a:r>
            <a:r>
              <a:rPr lang="zh-CN" altLang="en-US" sz="2000" b="0" dirty="0">
                <a:solidFill>
                  <a:schemeClr val="tx1"/>
                </a:solidFill>
                <a:latin typeface="微软雅黑" pitchFamily="34" charset="-122"/>
                <a:ea typeface="微软雅黑" pitchFamily="34" charset="-122"/>
              </a:rPr>
              <a:t>根据错码的不同分布规律分为</a:t>
            </a:r>
            <a:r>
              <a:rPr lang="zh-CN" altLang="en-US" sz="2000" b="0" dirty="0">
                <a:solidFill>
                  <a:schemeClr val="tx1"/>
                </a:solidFill>
                <a:latin typeface="+mn-ea"/>
                <a:ea typeface="+mn-ea"/>
              </a:rPr>
              <a:t>：</a:t>
            </a:r>
            <a:endParaRPr lang="zh-CN" altLang="en-US" sz="2000" dirty="0">
              <a:solidFill>
                <a:schemeClr val="tx1"/>
              </a:solidFill>
              <a:latin typeface="+mn-ea"/>
              <a:ea typeface="+mn-ea"/>
            </a:endParaRPr>
          </a:p>
        </p:txBody>
      </p:sp>
      <p:sp>
        <p:nvSpPr>
          <p:cNvPr id="8" name="矩形 7">
            <a:extLst>
              <a:ext uri="{FF2B5EF4-FFF2-40B4-BE49-F238E27FC236}">
                <a16:creationId xmlns:a16="http://schemas.microsoft.com/office/drawing/2014/main" id="{8775FD6D-E8C0-7ABA-AD61-B27C20EB06E5}"/>
              </a:ext>
            </a:extLst>
          </p:cNvPr>
          <p:cNvSpPr>
            <a:spLocks noChangeArrowheads="1"/>
          </p:cNvSpPr>
          <p:nvPr/>
        </p:nvSpPr>
        <p:spPr bwMode="auto">
          <a:xfrm>
            <a:off x="785813" y="4181475"/>
            <a:ext cx="3143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buClr>
                <a:srgbClr val="0000CC"/>
              </a:buClr>
              <a:buSzPct val="66000"/>
              <a:buFont typeface="Wingdings" panose="05000000000000000000" pitchFamily="2" charset="2"/>
              <a:buChar char="u"/>
            </a:pPr>
            <a:r>
              <a:rPr lang="zh-CN" altLang="en-US" sz="2400">
                <a:solidFill>
                  <a:schemeClr val="tx1"/>
                </a:solidFill>
                <a:latin typeface="微软雅黑" panose="020B0503020204020204" pitchFamily="34" charset="-122"/>
                <a:ea typeface="微软雅黑" panose="020B0503020204020204" pitchFamily="34" charset="-122"/>
              </a:rPr>
              <a:t> </a:t>
            </a:r>
            <a:r>
              <a:rPr lang="zh-CN" altLang="en-US" sz="2800">
                <a:solidFill>
                  <a:schemeClr val="tx1"/>
                </a:solidFill>
                <a:latin typeface="黑体" panose="02010609060101010101" pitchFamily="49" charset="-122"/>
                <a:ea typeface="黑体" panose="02010609060101010101" pitchFamily="49" charset="-122"/>
              </a:rPr>
              <a:t>差错控制方式：</a:t>
            </a:r>
          </a:p>
        </p:txBody>
      </p:sp>
      <p:sp>
        <p:nvSpPr>
          <p:cNvPr id="10" name="矩形 9">
            <a:extLst>
              <a:ext uri="{FF2B5EF4-FFF2-40B4-BE49-F238E27FC236}">
                <a16:creationId xmlns:a16="http://schemas.microsoft.com/office/drawing/2014/main" id="{5EEF233A-87AA-E280-754E-32B2DA7E1A5A}"/>
              </a:ext>
            </a:extLst>
          </p:cNvPr>
          <p:cNvSpPr>
            <a:spLocks noChangeArrowheads="1"/>
          </p:cNvSpPr>
          <p:nvPr/>
        </p:nvSpPr>
        <p:spPr bwMode="auto">
          <a:xfrm>
            <a:off x="500063" y="333375"/>
            <a:ext cx="34290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lnSpc>
                <a:spcPct val="150000"/>
              </a:lnSpc>
              <a:buClr>
                <a:srgbClr val="FF0000"/>
              </a:buClr>
              <a:buSzPct val="85000"/>
              <a:buFont typeface="Wingdings" panose="05000000000000000000" pitchFamily="2" charset="2"/>
              <a:buChar char="n"/>
            </a:pPr>
            <a:r>
              <a:rPr lang="zh-CN" altLang="en-US" sz="2400">
                <a:solidFill>
                  <a:schemeClr val="tx1"/>
                </a:solidFill>
                <a:latin typeface="微软雅黑" panose="020B0503020204020204" pitchFamily="34" charset="-122"/>
                <a:ea typeface="微软雅黑" panose="020B0503020204020204" pitchFamily="34" charset="-122"/>
              </a:rPr>
              <a:t> </a:t>
            </a:r>
            <a:r>
              <a:rPr lang="zh-CN" altLang="en-US" sz="2800">
                <a:solidFill>
                  <a:schemeClr val="tx1"/>
                </a:solidFill>
                <a:latin typeface="微软雅黑" panose="020B0503020204020204" pitchFamily="34" charset="-122"/>
                <a:ea typeface="微软雅黑" panose="020B0503020204020204" pitchFamily="34" charset="-122"/>
              </a:rPr>
              <a:t>差错控制方式</a:t>
            </a:r>
            <a:endParaRPr lang="zh-CN" altLang="en-US" sz="2000">
              <a:solidFill>
                <a:schemeClr val="tx1"/>
              </a:solidFill>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a16="http://schemas.microsoft.com/office/drawing/2014/main" id="{2A0F5FC9-69B1-B724-AC88-F87E777EE055}"/>
              </a:ext>
            </a:extLst>
          </p:cNvPr>
          <p:cNvSpPr>
            <a:spLocks noChangeArrowheads="1"/>
          </p:cNvSpPr>
          <p:nvPr/>
        </p:nvSpPr>
        <p:spPr bwMode="auto">
          <a:xfrm>
            <a:off x="6357938" y="4813300"/>
            <a:ext cx="14874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zh-CN" altLang="en-US" sz="2400">
                <a:solidFill>
                  <a:srgbClr val="0000CC"/>
                </a:solidFill>
                <a:latin typeface="Arial" panose="020B0604020202020204" pitchFamily="34" charset="0"/>
                <a:cs typeface="Arial" panose="020B0604020202020204" pitchFamily="34" charset="0"/>
              </a:rPr>
              <a:t>（</a:t>
            </a:r>
            <a:r>
              <a:rPr lang="en-US" altLang="zh-CN" sz="2400">
                <a:solidFill>
                  <a:srgbClr val="0000CC"/>
                </a:solidFill>
                <a:latin typeface="Arial" panose="020B0604020202020204" pitchFamily="34" charset="0"/>
                <a:cs typeface="Arial" panose="020B0604020202020204" pitchFamily="34" charset="0"/>
              </a:rPr>
              <a:t>ARQ</a:t>
            </a:r>
            <a:r>
              <a:rPr lang="zh-CN" altLang="en-US" sz="2400">
                <a:solidFill>
                  <a:srgbClr val="0000CC"/>
                </a:solidFill>
                <a:latin typeface="Arial" panose="020B0604020202020204" pitchFamily="34" charset="0"/>
                <a:cs typeface="Arial" panose="020B0604020202020204" pitchFamily="34" charset="0"/>
              </a:rPr>
              <a:t>）</a:t>
            </a:r>
            <a:endParaRPr lang="zh-CN" altLang="en-US">
              <a:solidFill>
                <a:srgbClr val="0000CC"/>
              </a:solidFill>
              <a:latin typeface="Arial" panose="020B0604020202020204" pitchFamily="34" charset="0"/>
              <a:cs typeface="Arial" panose="020B0604020202020204" pitchFamily="34" charset="0"/>
            </a:endParaRPr>
          </a:p>
        </p:txBody>
      </p:sp>
      <p:sp>
        <p:nvSpPr>
          <p:cNvPr id="15" name="矩形 14">
            <a:extLst>
              <a:ext uri="{FF2B5EF4-FFF2-40B4-BE49-F238E27FC236}">
                <a16:creationId xmlns:a16="http://schemas.microsoft.com/office/drawing/2014/main" id="{6748978F-DD35-CC12-0213-0283B168D19D}"/>
              </a:ext>
            </a:extLst>
          </p:cNvPr>
          <p:cNvSpPr/>
          <p:nvPr/>
        </p:nvSpPr>
        <p:spPr>
          <a:xfrm>
            <a:off x="2000250" y="4929188"/>
            <a:ext cx="2116138" cy="503237"/>
          </a:xfrm>
          <a:prstGeom prst="rect">
            <a:avLst/>
          </a:prstGeom>
        </p:spPr>
        <p:txBody>
          <a:bodyPr wrap="none">
            <a:spAutoFit/>
          </a:bodyPr>
          <a:lstStyle/>
          <a:p>
            <a:pPr marL="228600" indent="-228600" eaLnBrk="0" hangingPunct="0">
              <a:lnSpc>
                <a:spcPts val="3200"/>
              </a:lnSpc>
              <a:spcBef>
                <a:spcPct val="20000"/>
              </a:spcBef>
              <a:buClr>
                <a:srgbClr val="3333CC"/>
              </a:buClr>
              <a:buSzPct val="50000"/>
              <a:defRPr/>
            </a:pPr>
            <a:r>
              <a:rPr lang="zh-CN" altLang="en-US" sz="2400" b="0" dirty="0">
                <a:solidFill>
                  <a:srgbClr val="0000CC"/>
                </a:solidFill>
                <a:latin typeface="Arial" pitchFamily="34" charset="0"/>
                <a:cs typeface="Arial" pitchFamily="34" charset="0"/>
              </a:rPr>
              <a:t>（</a:t>
            </a:r>
            <a:r>
              <a:rPr lang="en-US" altLang="zh-CN" sz="2400" b="0" dirty="0">
                <a:solidFill>
                  <a:srgbClr val="0000CC"/>
                </a:solidFill>
                <a:latin typeface="Arial" pitchFamily="34" charset="0"/>
                <a:cs typeface="Arial" pitchFamily="34" charset="0"/>
              </a:rPr>
              <a:t>FEC</a:t>
            </a:r>
            <a:r>
              <a:rPr lang="zh-CN" altLang="en-US" sz="2400" b="0" dirty="0">
                <a:solidFill>
                  <a:srgbClr val="0000CC"/>
                </a:solidFill>
                <a:latin typeface="Arial" pitchFamily="34" charset="0"/>
                <a:cs typeface="Arial" pitchFamily="34" charset="0"/>
              </a:rPr>
              <a:t>）</a:t>
            </a:r>
            <a:r>
              <a:rPr lang="en-US" altLang="zh-CN" sz="2400" b="0" dirty="0">
                <a:solidFill>
                  <a:srgbClr val="0000CC"/>
                </a:solidFill>
                <a:latin typeface="Arial" pitchFamily="34" charset="0"/>
                <a:cs typeface="Arial" pitchFamily="34" charset="0"/>
              </a:rPr>
              <a:t>——</a:t>
            </a:r>
            <a:r>
              <a:rPr kumimoji="0" lang="zh-CN" altLang="en-US" sz="2400" b="0" kern="0" dirty="0">
                <a:solidFill>
                  <a:srgbClr val="0000CC"/>
                </a:solidFill>
                <a:latin typeface="Arial" pitchFamily="34" charset="0"/>
                <a:cs typeface="Arial" pitchFamily="34" charset="0"/>
              </a:rPr>
              <a:t> </a:t>
            </a:r>
          </a:p>
        </p:txBody>
      </p:sp>
      <p:sp>
        <p:nvSpPr>
          <p:cNvPr id="12" name="矩形 11">
            <a:extLst>
              <a:ext uri="{FF2B5EF4-FFF2-40B4-BE49-F238E27FC236}">
                <a16:creationId xmlns:a16="http://schemas.microsoft.com/office/drawing/2014/main" id="{ABCBB432-4981-237C-8A6E-65178D3C380F}"/>
              </a:ext>
            </a:extLst>
          </p:cNvPr>
          <p:cNvSpPr/>
          <p:nvPr/>
        </p:nvSpPr>
        <p:spPr>
          <a:xfrm>
            <a:off x="5715000" y="4484688"/>
            <a:ext cx="2857500" cy="400050"/>
          </a:xfrm>
          <a:prstGeom prst="rect">
            <a:avLst/>
          </a:prstGeom>
        </p:spPr>
        <p:txBody>
          <a:bodyPr>
            <a:spAutoFit/>
          </a:bodyPr>
          <a:lstStyle/>
          <a:p>
            <a:pPr>
              <a:defRPr/>
            </a:pPr>
            <a:r>
              <a:rPr lang="en-US" altLang="zh-CN" sz="2000" b="0" dirty="0">
                <a:solidFill>
                  <a:srgbClr val="0000CC"/>
                </a:solidFill>
                <a:effectLst>
                  <a:outerShdw blurRad="38100" dist="38100" dir="2700000" algn="tl">
                    <a:srgbClr val="000000">
                      <a:alpha val="43137"/>
                    </a:srgbClr>
                  </a:outerShdw>
                </a:effectLst>
                <a:latin typeface="微软雅黑" pitchFamily="34" charset="-122"/>
                <a:ea typeface="微软雅黑" pitchFamily="34" charset="-122"/>
              </a:rPr>
              <a:t>——</a:t>
            </a:r>
            <a:r>
              <a:rPr lang="zh-CN" altLang="en-US" sz="2000" b="0" dirty="0">
                <a:solidFill>
                  <a:srgbClr val="0000CC"/>
                </a:solidFill>
                <a:effectLst>
                  <a:outerShdw blurRad="38100" dist="38100" dir="2700000" algn="tl">
                    <a:srgbClr val="000000">
                      <a:alpha val="43137"/>
                    </a:srgbClr>
                  </a:outerShdw>
                </a:effectLst>
                <a:latin typeface="微软雅黑" pitchFamily="34" charset="-122"/>
                <a:ea typeface="微软雅黑" pitchFamily="34" charset="-122"/>
              </a:rPr>
              <a:t>自动请求重发</a:t>
            </a:r>
          </a:p>
        </p:txBody>
      </p:sp>
      <p:pic>
        <p:nvPicPr>
          <p:cNvPr id="72716" name="Picture 12">
            <a:extLst>
              <a:ext uri="{FF2B5EF4-FFF2-40B4-BE49-F238E27FC236}">
                <a16:creationId xmlns:a16="http://schemas.microsoft.com/office/drawing/2014/main" id="{D38400BD-A096-2C8D-2C33-BF2E8E48F9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7388" y="2473325"/>
            <a:ext cx="6142037" cy="159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7" name="Picture 13">
            <a:extLst>
              <a:ext uri="{FF2B5EF4-FFF2-40B4-BE49-F238E27FC236}">
                <a16:creationId xmlns:a16="http://schemas.microsoft.com/office/drawing/2014/main" id="{8656F950-9BF7-46D5-3C2A-80615ACDE7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00475" y="4389438"/>
            <a:ext cx="2071688" cy="216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10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2715"/>
                                        </p:tgtEl>
                                        <p:attrNameLst>
                                          <p:attrName>style.visibility</p:attrName>
                                        </p:attrNameLst>
                                      </p:cBhvr>
                                      <p:to>
                                        <p:strVal val="visible"/>
                                      </p:to>
                                    </p:set>
                                    <p:animEffect transition="in" filter="wipe(up)">
                                      <p:cBhvr>
                                        <p:cTn id="12" dur="1000"/>
                                        <p:tgtEl>
                                          <p:spTgt spid="727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10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72716"/>
                                        </p:tgtEl>
                                        <p:attrNameLst>
                                          <p:attrName>style.visibility</p:attrName>
                                        </p:attrNameLst>
                                      </p:cBhvr>
                                      <p:to>
                                        <p:strVal val="visible"/>
                                      </p:to>
                                    </p:set>
                                    <p:animEffect transition="in" filter="wipe(up)">
                                      <p:cBhvr>
                                        <p:cTn id="22" dur="1000"/>
                                        <p:tgtEl>
                                          <p:spTgt spid="7271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1000"/>
                                        <p:tgtEl>
                                          <p:spTgt spid="8"/>
                                        </p:tgtEl>
                                      </p:cBhvr>
                                    </p:animEffect>
                                  </p:childTnLst>
                                </p:cTn>
                              </p:par>
                            </p:childTnLst>
                          </p:cTn>
                        </p:par>
                        <p:par>
                          <p:cTn id="28" fill="hold" nodeType="afterGroup">
                            <p:stCondLst>
                              <p:cond delay="1000"/>
                            </p:stCondLst>
                            <p:childTnLst>
                              <p:par>
                                <p:cTn id="29" presetID="22" presetClass="entr" presetSubtype="1" fill="hold" nodeType="afterEffect">
                                  <p:stCondLst>
                                    <p:cond delay="0"/>
                                  </p:stCondLst>
                                  <p:childTnLst>
                                    <p:set>
                                      <p:cBhvr>
                                        <p:cTn id="30" dur="1" fill="hold">
                                          <p:stCondLst>
                                            <p:cond delay="0"/>
                                          </p:stCondLst>
                                        </p:cTn>
                                        <p:tgtEl>
                                          <p:spTgt spid="72717"/>
                                        </p:tgtEl>
                                        <p:attrNameLst>
                                          <p:attrName>style.visibility</p:attrName>
                                        </p:attrNameLst>
                                      </p:cBhvr>
                                      <p:to>
                                        <p:strVal val="visible"/>
                                      </p:to>
                                    </p:set>
                                    <p:animEffect transition="in" filter="wipe(up)">
                                      <p:cBhvr>
                                        <p:cTn id="31" dur="2000"/>
                                        <p:tgtEl>
                                          <p:spTgt spid="7271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left)">
                                      <p:cBhvr>
                                        <p:cTn id="36" dur="1000"/>
                                        <p:tgtEl>
                                          <p:spTgt spid="12"/>
                                        </p:tgtEl>
                                      </p:cBhvr>
                                    </p:animEffect>
                                  </p:childTnLst>
                                </p:cTn>
                              </p:par>
                            </p:childTnLst>
                          </p:cTn>
                        </p:par>
                        <p:par>
                          <p:cTn id="37" fill="hold" nodeType="afterGroup">
                            <p:stCondLst>
                              <p:cond delay="1000"/>
                            </p:stCondLst>
                            <p:childTnLst>
                              <p:par>
                                <p:cTn id="38" presetID="22" presetClass="entr" presetSubtype="1" fill="hold"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wipe(up)">
                                      <p:cBhvr>
                                        <p:cTn id="40" dur="1000"/>
                                        <p:tgtEl>
                                          <p:spTgt spid="14"/>
                                        </p:tgtEl>
                                      </p:cBhvr>
                                    </p:animEffect>
                                  </p:childTnLst>
                                </p:cTn>
                              </p:par>
                            </p:childTnLst>
                          </p:cTn>
                        </p:par>
                        <p:par>
                          <p:cTn id="41" fill="hold" nodeType="afterGroup">
                            <p:stCondLst>
                              <p:cond delay="2000"/>
                            </p:stCondLst>
                            <p:childTnLst>
                              <p:par>
                                <p:cTn id="42" presetID="22" presetClass="entr" presetSubtype="2" fill="hold" nodeType="after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right)">
                                      <p:cBhvr>
                                        <p:cTn id="44"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P spid="14" grpId="0"/>
      <p:bldP spid="15"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a:extLst>
              <a:ext uri="{FF2B5EF4-FFF2-40B4-BE49-F238E27FC236}">
                <a16:creationId xmlns:a16="http://schemas.microsoft.com/office/drawing/2014/main" id="{1E4D091E-09AE-1689-A64D-81BB9A270BF4}"/>
              </a:ext>
            </a:extLst>
          </p:cNvPr>
          <p:cNvSpPr>
            <a:spLocks noGrp="1" noChangeArrowheads="1"/>
          </p:cNvSpPr>
          <p:nvPr>
            <p:ph type="body" idx="1"/>
          </p:nvPr>
        </p:nvSpPr>
        <p:spPr>
          <a:xfrm>
            <a:off x="1058863" y="5643563"/>
            <a:ext cx="6942137" cy="571500"/>
          </a:xfrm>
        </p:spPr>
        <p:txBody>
          <a:bodyPr/>
          <a:lstStyle/>
          <a:p>
            <a:pPr>
              <a:buFont typeface="Wingdings" panose="05000000000000000000" pitchFamily="2" charset="2"/>
              <a:buNone/>
            </a:pPr>
            <a:r>
              <a:rPr lang="zh-CN" altLang="en-US" sz="2400" b="1">
                <a:latin typeface="Arial" panose="020B0604020202020204" pitchFamily="34" charset="0"/>
                <a:ea typeface="微软雅黑" panose="020B0503020204020204" pitchFamily="34" charset="-122"/>
                <a:cs typeface="Arial" panose="020B0604020202020204" pitchFamily="34" charset="0"/>
              </a:rPr>
              <a:t>  </a:t>
            </a:r>
            <a:r>
              <a:rPr lang="zh-CN" altLang="en-US" sz="2000" b="1">
                <a:latin typeface="Arial" panose="020B0604020202020204" pitchFamily="34" charset="0"/>
                <a:ea typeface="微软雅黑" panose="020B0503020204020204" pitchFamily="34" charset="-122"/>
                <a:cs typeface="Arial" panose="020B0604020202020204" pitchFamily="34" charset="0"/>
              </a:rPr>
              <a:t>缺点</a:t>
            </a:r>
            <a:r>
              <a:rPr lang="zh-CN" altLang="en-US" sz="2000">
                <a:latin typeface="Arial" panose="020B0604020202020204" pitchFamily="34" charset="0"/>
                <a:ea typeface="微软雅黑" panose="020B0503020204020204" pitchFamily="34" charset="-122"/>
                <a:cs typeface="Arial" panose="020B0604020202020204" pitchFamily="34" charset="0"/>
              </a:rPr>
              <a:t>：工作在半双工状态，传输效率较低。</a:t>
            </a:r>
          </a:p>
        </p:txBody>
      </p:sp>
      <p:sp>
        <p:nvSpPr>
          <p:cNvPr id="72" name="矩形 71">
            <a:extLst>
              <a:ext uri="{FF2B5EF4-FFF2-40B4-BE49-F238E27FC236}">
                <a16:creationId xmlns:a16="http://schemas.microsoft.com/office/drawing/2014/main" id="{4427D723-ACA9-2232-3F66-DED3D8E2B8F9}"/>
              </a:ext>
            </a:extLst>
          </p:cNvPr>
          <p:cNvSpPr>
            <a:spLocks noChangeArrowheads="1"/>
          </p:cNvSpPr>
          <p:nvPr/>
        </p:nvSpPr>
        <p:spPr bwMode="auto">
          <a:xfrm>
            <a:off x="571500" y="500063"/>
            <a:ext cx="67865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sz="8800" b="1">
                <a:solidFill>
                  <a:srgbClr val="D0CDCA"/>
                </a:solidFill>
                <a:latin typeface="楷体_GB2312" pitchFamily="49" charset="-122"/>
                <a:ea typeface="楷体_GB2312" pitchFamily="49" charset="-122"/>
              </a:defRPr>
            </a:lvl1pPr>
            <a:lvl2pPr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marL="0" lvl="1" eaLnBrk="1" hangingPunct="1">
              <a:buClr>
                <a:srgbClr val="0000CC"/>
              </a:buClr>
              <a:buSzPct val="66000"/>
              <a:buFont typeface="Wingdings" panose="05000000000000000000" pitchFamily="2" charset="2"/>
              <a:buChar char="u"/>
            </a:pPr>
            <a:r>
              <a:rPr lang="zh-CN" altLang="en-US" sz="2800">
                <a:solidFill>
                  <a:schemeClr val="tx1"/>
                </a:solidFill>
                <a:latin typeface="微软雅黑" panose="020B0503020204020204" pitchFamily="34" charset="-122"/>
                <a:ea typeface="微软雅黑" panose="020B0503020204020204" pitchFamily="34" charset="-122"/>
                <a:cs typeface="Arial" panose="020B0604020202020204" pitchFamily="34" charset="0"/>
              </a:rPr>
              <a:t> </a:t>
            </a:r>
            <a:r>
              <a:rPr lang="en-US" altLang="zh-CN" sz="2800">
                <a:solidFill>
                  <a:srgbClr val="003399"/>
                </a:solidFill>
                <a:latin typeface="微软雅黑" panose="020B0503020204020204" pitchFamily="34" charset="-122"/>
                <a:ea typeface="微软雅黑" panose="020B0503020204020204" pitchFamily="34" charset="-122"/>
                <a:cs typeface="Arial" panose="020B0604020202020204" pitchFamily="34" charset="0"/>
              </a:rPr>
              <a:t>3 </a:t>
            </a:r>
            <a:r>
              <a:rPr lang="zh-CN" altLang="en-US" sz="2800">
                <a:solidFill>
                  <a:srgbClr val="003399"/>
                </a:solidFill>
                <a:latin typeface="微软雅黑" panose="020B0503020204020204" pitchFamily="34" charset="-122"/>
                <a:ea typeface="微软雅黑" panose="020B0503020204020204" pitchFamily="34" charset="-122"/>
                <a:cs typeface="Arial" panose="020B0604020202020204" pitchFamily="34" charset="0"/>
              </a:rPr>
              <a:t>种自动要求重发</a:t>
            </a:r>
            <a:r>
              <a:rPr lang="en-US" altLang="zh-CN" sz="2800" b="0">
                <a:solidFill>
                  <a:srgbClr val="003399"/>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800">
                <a:solidFill>
                  <a:srgbClr val="003399"/>
                </a:solidFill>
                <a:latin typeface="微软雅黑" panose="020B0503020204020204" pitchFamily="34" charset="-122"/>
                <a:ea typeface="微软雅黑" panose="020B0503020204020204" pitchFamily="34" charset="-122"/>
                <a:cs typeface="Arial" panose="020B0604020202020204" pitchFamily="34" charset="0"/>
              </a:rPr>
              <a:t>ARQ</a:t>
            </a:r>
            <a:r>
              <a:rPr lang="en-US" altLang="zh-CN" sz="2800" b="0">
                <a:solidFill>
                  <a:srgbClr val="003399"/>
                </a:solidFill>
                <a:latin typeface="微软雅黑" panose="020B0503020204020204" pitchFamily="34" charset="-122"/>
                <a:ea typeface="微软雅黑" panose="020B0503020204020204" pitchFamily="34" charset="-122"/>
                <a:cs typeface="Arial" panose="020B0604020202020204" pitchFamily="34" charset="0"/>
              </a:rPr>
              <a:t>)</a:t>
            </a:r>
            <a:r>
              <a:rPr lang="zh-CN" altLang="en-US" sz="2800">
                <a:solidFill>
                  <a:srgbClr val="003399"/>
                </a:solidFill>
                <a:latin typeface="微软雅黑" panose="020B0503020204020204" pitchFamily="34" charset="-122"/>
                <a:ea typeface="微软雅黑" panose="020B0503020204020204" pitchFamily="34" charset="-122"/>
                <a:cs typeface="Arial" panose="020B0604020202020204" pitchFamily="34" charset="0"/>
              </a:rPr>
              <a:t>系统</a:t>
            </a:r>
          </a:p>
        </p:txBody>
      </p:sp>
      <p:sp>
        <p:nvSpPr>
          <p:cNvPr id="73" name="矩形 72">
            <a:extLst>
              <a:ext uri="{FF2B5EF4-FFF2-40B4-BE49-F238E27FC236}">
                <a16:creationId xmlns:a16="http://schemas.microsoft.com/office/drawing/2014/main" id="{9387E817-B395-EE3F-C8F2-F08121FB2F18}"/>
              </a:ext>
            </a:extLst>
          </p:cNvPr>
          <p:cNvSpPr/>
          <p:nvPr/>
        </p:nvSpPr>
        <p:spPr>
          <a:xfrm>
            <a:off x="500063" y="1243013"/>
            <a:ext cx="5072062" cy="461962"/>
          </a:xfrm>
          <a:prstGeom prst="rect">
            <a:avLst/>
          </a:prstGeom>
        </p:spPr>
        <p:txBody>
          <a:bodyPr>
            <a:spAutoFit/>
          </a:bodyPr>
          <a:lstStyle/>
          <a:p>
            <a:pPr marL="228600" indent="-228600" eaLnBrk="0" hangingPunct="0">
              <a:spcBef>
                <a:spcPct val="20000"/>
              </a:spcBef>
              <a:buClr>
                <a:srgbClr val="3333CC"/>
              </a:buClr>
              <a:buSzPct val="50000"/>
              <a:defRPr/>
            </a:pPr>
            <a:r>
              <a:rPr kumimoji="0" lang="zh-CN" altLang="en-US" sz="2400" kern="0" dirty="0">
                <a:solidFill>
                  <a:srgbClr val="0000CC"/>
                </a:solidFill>
                <a:latin typeface="+mn-ea"/>
                <a:ea typeface="+mn-ea"/>
                <a:cs typeface="Arial" pitchFamily="34" charset="0"/>
              </a:rPr>
              <a:t>（</a:t>
            </a:r>
            <a:r>
              <a:rPr kumimoji="0" lang="en-US" altLang="zh-CN" sz="2400" kern="0" dirty="0">
                <a:solidFill>
                  <a:srgbClr val="0000CC"/>
                </a:solidFill>
                <a:latin typeface="+mn-ea"/>
                <a:ea typeface="+mn-ea"/>
                <a:cs typeface="Arial" pitchFamily="34" charset="0"/>
              </a:rPr>
              <a:t>1</a:t>
            </a:r>
            <a:r>
              <a:rPr kumimoji="0" lang="zh-CN" altLang="en-US" sz="2400" kern="0" dirty="0">
                <a:solidFill>
                  <a:srgbClr val="0000CC"/>
                </a:solidFill>
                <a:latin typeface="+mn-ea"/>
                <a:ea typeface="+mn-ea"/>
                <a:cs typeface="Arial" pitchFamily="34" charset="0"/>
              </a:rPr>
              <a:t>）</a:t>
            </a:r>
            <a:r>
              <a:rPr kumimoji="0" lang="zh-CN" altLang="en-US" sz="2400" kern="0" dirty="0">
                <a:solidFill>
                  <a:srgbClr val="0000CC"/>
                </a:solidFill>
                <a:latin typeface="微软雅黑" pitchFamily="34" charset="-122"/>
                <a:ea typeface="微软雅黑" pitchFamily="34" charset="-122"/>
              </a:rPr>
              <a:t>停止等待</a:t>
            </a:r>
            <a:r>
              <a:rPr kumimoji="0" lang="en-US" altLang="zh-CN" sz="2400" kern="0" dirty="0">
                <a:solidFill>
                  <a:srgbClr val="0000CC"/>
                </a:solidFill>
                <a:latin typeface="微软雅黑" pitchFamily="34" charset="-122"/>
                <a:ea typeface="微软雅黑" pitchFamily="34" charset="-122"/>
              </a:rPr>
              <a:t>ARQ</a:t>
            </a:r>
            <a:r>
              <a:rPr kumimoji="0" lang="zh-CN" altLang="en-US" sz="2400" kern="0" dirty="0">
                <a:solidFill>
                  <a:srgbClr val="0000CC"/>
                </a:solidFill>
                <a:latin typeface="微软雅黑" pitchFamily="34" charset="-122"/>
                <a:ea typeface="微软雅黑" pitchFamily="34" charset="-122"/>
              </a:rPr>
              <a:t>系统 </a:t>
            </a:r>
          </a:p>
        </p:txBody>
      </p:sp>
      <p:pic>
        <p:nvPicPr>
          <p:cNvPr id="73735" name="Picture 3">
            <a:extLst>
              <a:ext uri="{FF2B5EF4-FFF2-40B4-BE49-F238E27FC236}">
                <a16:creationId xmlns:a16="http://schemas.microsoft.com/office/drawing/2014/main" id="{12EB3817-7018-59C4-7612-809066D242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5875" y="2454275"/>
            <a:ext cx="7143750" cy="183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7" name="Picture 9">
            <a:extLst>
              <a:ext uri="{FF2B5EF4-FFF2-40B4-BE49-F238E27FC236}">
                <a16:creationId xmlns:a16="http://schemas.microsoft.com/office/drawing/2014/main" id="{9569F005-1480-F8AA-36BF-3FBEC579FF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4275" y="1714500"/>
            <a:ext cx="7572375"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8" name="Picture 10">
            <a:extLst>
              <a:ext uri="{FF2B5EF4-FFF2-40B4-BE49-F238E27FC236}">
                <a16:creationId xmlns:a16="http://schemas.microsoft.com/office/drawing/2014/main" id="{B1367A22-ABAD-B527-458B-DB19FD6779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0250" y="4471988"/>
            <a:ext cx="6786563" cy="95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wipe(up)">
                                      <p:cBhvr>
                                        <p:cTn id="7" dur="1000"/>
                                        <p:tgtEl>
                                          <p:spTgt spid="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3"/>
                                        </p:tgtEl>
                                        <p:attrNameLst>
                                          <p:attrName>style.visibility</p:attrName>
                                        </p:attrNameLst>
                                      </p:cBhvr>
                                      <p:to>
                                        <p:strVal val="visible"/>
                                      </p:to>
                                    </p:set>
                                    <p:animEffect transition="in" filter="wipe(up)">
                                      <p:cBhvr>
                                        <p:cTn id="12" dur="1000"/>
                                        <p:tgtEl>
                                          <p:spTgt spid="73"/>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73735"/>
                                        </p:tgtEl>
                                        <p:attrNameLst>
                                          <p:attrName>style.visibility</p:attrName>
                                        </p:attrNameLst>
                                      </p:cBhvr>
                                      <p:to>
                                        <p:strVal val="visible"/>
                                      </p:to>
                                    </p:set>
                                    <p:animEffect transition="in" filter="wipe(up)">
                                      <p:cBhvr>
                                        <p:cTn id="16" dur="1000"/>
                                        <p:tgtEl>
                                          <p:spTgt spid="7373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73737"/>
                                        </p:tgtEl>
                                        <p:attrNameLst>
                                          <p:attrName>style.visibility</p:attrName>
                                        </p:attrNameLst>
                                      </p:cBhvr>
                                      <p:to>
                                        <p:strVal val="visible"/>
                                      </p:to>
                                    </p:set>
                                    <p:animEffect transition="in" filter="wipe(up)">
                                      <p:cBhvr>
                                        <p:cTn id="21" dur="1000"/>
                                        <p:tgtEl>
                                          <p:spTgt spid="73737"/>
                                        </p:tgtEl>
                                      </p:cBhvr>
                                    </p:animEffect>
                                  </p:childTnLst>
                                </p:cTn>
                              </p:par>
                            </p:childTnLst>
                          </p:cTn>
                        </p:par>
                        <p:par>
                          <p:cTn id="22" fill="hold" nodeType="afterGroup">
                            <p:stCondLst>
                              <p:cond delay="1000"/>
                            </p:stCondLst>
                            <p:childTnLst>
                              <p:par>
                                <p:cTn id="23" presetID="22" presetClass="entr" presetSubtype="1" fill="hold" nodeType="afterEffect">
                                  <p:stCondLst>
                                    <p:cond delay="0"/>
                                  </p:stCondLst>
                                  <p:childTnLst>
                                    <p:set>
                                      <p:cBhvr>
                                        <p:cTn id="24" dur="1" fill="hold">
                                          <p:stCondLst>
                                            <p:cond delay="0"/>
                                          </p:stCondLst>
                                        </p:cTn>
                                        <p:tgtEl>
                                          <p:spTgt spid="73738"/>
                                        </p:tgtEl>
                                        <p:attrNameLst>
                                          <p:attrName>style.visibility</p:attrName>
                                        </p:attrNameLst>
                                      </p:cBhvr>
                                      <p:to>
                                        <p:strVal val="visible"/>
                                      </p:to>
                                    </p:set>
                                    <p:animEffect transition="in" filter="wipe(up)">
                                      <p:cBhvr>
                                        <p:cTn id="25" dur="1000"/>
                                        <p:tgtEl>
                                          <p:spTgt spid="7373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26627">
                                            <p:txEl>
                                              <p:pRg st="0" end="0"/>
                                            </p:txEl>
                                          </p:spTgt>
                                        </p:tgtEl>
                                        <p:attrNameLst>
                                          <p:attrName>style.visibility</p:attrName>
                                        </p:attrNameLst>
                                      </p:cBhvr>
                                      <p:to>
                                        <p:strVal val="visible"/>
                                      </p:to>
                                    </p:set>
                                    <p:animEffect transition="in" filter="wipe(up)">
                                      <p:cBhvr>
                                        <p:cTn id="30" dur="1000"/>
                                        <p:tgtEl>
                                          <p:spTgt spid="2662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P spid="72" grpId="0"/>
      <p:bldP spid="7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842" name="Picture 90">
            <a:extLst>
              <a:ext uri="{FF2B5EF4-FFF2-40B4-BE49-F238E27FC236}">
                <a16:creationId xmlns:a16="http://schemas.microsoft.com/office/drawing/2014/main" id="{ABEBCCED-42F8-5C50-824C-10A8777D54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4438" y="1541463"/>
            <a:ext cx="7072312"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Rectangle 3">
            <a:extLst>
              <a:ext uri="{FF2B5EF4-FFF2-40B4-BE49-F238E27FC236}">
                <a16:creationId xmlns:a16="http://schemas.microsoft.com/office/drawing/2014/main" id="{FB7D5EE0-6F29-B2A4-DE6D-757A5E548A80}"/>
              </a:ext>
            </a:extLst>
          </p:cNvPr>
          <p:cNvSpPr>
            <a:spLocks noGrp="1" noChangeArrowheads="1"/>
          </p:cNvSpPr>
          <p:nvPr>
            <p:ph type="body" idx="1"/>
          </p:nvPr>
        </p:nvSpPr>
        <p:spPr>
          <a:xfrm>
            <a:off x="1071563" y="5929313"/>
            <a:ext cx="3606800" cy="500062"/>
          </a:xfrm>
        </p:spPr>
        <p:txBody>
          <a:bodyPr/>
          <a:lstStyle/>
          <a:p>
            <a:pPr>
              <a:lnSpc>
                <a:spcPct val="110000"/>
              </a:lnSpc>
              <a:buFont typeface="Wingdings" panose="05000000000000000000" pitchFamily="2" charset="2"/>
              <a:buNone/>
            </a:pPr>
            <a:r>
              <a:rPr lang="zh-CN" altLang="en-US" sz="2000">
                <a:latin typeface="微软雅黑" panose="020B0503020204020204" pitchFamily="34" charset="-122"/>
                <a:ea typeface="微软雅黑" panose="020B0503020204020204" pitchFamily="34" charset="-122"/>
                <a:cs typeface="Arial" panose="020B0604020202020204" pitchFamily="34" charset="0"/>
              </a:rPr>
              <a:t>    系统需要</a:t>
            </a:r>
            <a:r>
              <a:rPr lang="zh-CN" altLang="en-US" sz="2000">
                <a:solidFill>
                  <a:srgbClr val="0000CC"/>
                </a:solidFill>
                <a:latin typeface="微软雅黑" panose="020B0503020204020204" pitchFamily="34" charset="-122"/>
                <a:ea typeface="微软雅黑" panose="020B0503020204020204" pitchFamily="34" charset="-122"/>
                <a:cs typeface="Arial" panose="020B0604020202020204" pitchFamily="34" charset="0"/>
              </a:rPr>
              <a:t>双工</a:t>
            </a:r>
            <a:r>
              <a:rPr lang="zh-CN" altLang="en-US" sz="2000">
                <a:latin typeface="微软雅黑" panose="020B0503020204020204" pitchFamily="34" charset="-122"/>
                <a:ea typeface="微软雅黑" panose="020B0503020204020204" pitchFamily="34" charset="-122"/>
                <a:cs typeface="Arial" panose="020B0604020202020204" pitchFamily="34" charset="0"/>
              </a:rPr>
              <a:t>信道。 </a:t>
            </a:r>
          </a:p>
        </p:txBody>
      </p:sp>
      <p:sp>
        <p:nvSpPr>
          <p:cNvPr id="87" name="矩形 86">
            <a:extLst>
              <a:ext uri="{FF2B5EF4-FFF2-40B4-BE49-F238E27FC236}">
                <a16:creationId xmlns:a16="http://schemas.microsoft.com/office/drawing/2014/main" id="{A14BAFCB-5C7E-BA52-B81D-8ECC63842C13}"/>
              </a:ext>
            </a:extLst>
          </p:cNvPr>
          <p:cNvSpPr/>
          <p:nvPr/>
        </p:nvSpPr>
        <p:spPr>
          <a:xfrm>
            <a:off x="528638" y="1069975"/>
            <a:ext cx="3357562" cy="461963"/>
          </a:xfrm>
          <a:prstGeom prst="rect">
            <a:avLst/>
          </a:prstGeom>
        </p:spPr>
        <p:txBody>
          <a:bodyPr>
            <a:spAutoFit/>
          </a:bodyPr>
          <a:lstStyle/>
          <a:p>
            <a:pPr marL="228600" indent="-228600" eaLnBrk="0" hangingPunct="0">
              <a:spcBef>
                <a:spcPct val="20000"/>
              </a:spcBef>
              <a:buClr>
                <a:srgbClr val="3333CC"/>
              </a:buClr>
              <a:buSzPct val="50000"/>
              <a:defRPr/>
            </a:pPr>
            <a:r>
              <a:rPr kumimoji="0" lang="zh-CN" altLang="en-US" sz="2400" kern="0" dirty="0">
                <a:solidFill>
                  <a:srgbClr val="0000CC"/>
                </a:solidFill>
                <a:latin typeface="+mn-ea"/>
                <a:ea typeface="+mn-ea"/>
                <a:cs typeface="Arial" pitchFamily="34" charset="0"/>
              </a:rPr>
              <a:t>（</a:t>
            </a:r>
            <a:r>
              <a:rPr kumimoji="0" lang="en-US" altLang="zh-CN" sz="2400" kern="0" dirty="0">
                <a:solidFill>
                  <a:srgbClr val="0000CC"/>
                </a:solidFill>
                <a:latin typeface="+mn-ea"/>
                <a:ea typeface="+mn-ea"/>
                <a:cs typeface="Arial" pitchFamily="34" charset="0"/>
              </a:rPr>
              <a:t>2</a:t>
            </a:r>
            <a:r>
              <a:rPr kumimoji="0" lang="zh-CN" altLang="en-US" sz="2400" kern="0" dirty="0">
                <a:solidFill>
                  <a:srgbClr val="0000CC"/>
                </a:solidFill>
                <a:latin typeface="+mn-ea"/>
                <a:ea typeface="+mn-ea"/>
                <a:cs typeface="Arial" pitchFamily="34" charset="0"/>
              </a:rPr>
              <a:t>）</a:t>
            </a:r>
            <a:r>
              <a:rPr kumimoji="0" lang="zh-CN" altLang="en-US" sz="2400" kern="0" dirty="0">
                <a:solidFill>
                  <a:srgbClr val="0000CC"/>
                </a:solidFill>
                <a:latin typeface="微软雅黑" pitchFamily="34" charset="-122"/>
                <a:ea typeface="微软雅黑" pitchFamily="34" charset="-122"/>
                <a:cs typeface="Arial" pitchFamily="34" charset="0"/>
              </a:rPr>
              <a:t>拉后</a:t>
            </a:r>
            <a:r>
              <a:rPr kumimoji="0" lang="en-US" altLang="zh-CN" sz="2400" kern="0" dirty="0">
                <a:solidFill>
                  <a:srgbClr val="0000CC"/>
                </a:solidFill>
                <a:latin typeface="微软雅黑" pitchFamily="34" charset="-122"/>
                <a:ea typeface="微软雅黑" pitchFamily="34" charset="-122"/>
              </a:rPr>
              <a:t>ARQ</a:t>
            </a:r>
            <a:r>
              <a:rPr kumimoji="0" lang="zh-CN" altLang="en-US" sz="2400" kern="0" dirty="0">
                <a:solidFill>
                  <a:srgbClr val="0000CC"/>
                </a:solidFill>
                <a:latin typeface="微软雅黑" pitchFamily="34" charset="-122"/>
                <a:ea typeface="微软雅黑" pitchFamily="34" charset="-122"/>
              </a:rPr>
              <a:t>系统</a:t>
            </a:r>
          </a:p>
        </p:txBody>
      </p:sp>
      <p:sp>
        <p:nvSpPr>
          <p:cNvPr id="74758" name="矩形 168">
            <a:extLst>
              <a:ext uri="{FF2B5EF4-FFF2-40B4-BE49-F238E27FC236}">
                <a16:creationId xmlns:a16="http://schemas.microsoft.com/office/drawing/2014/main" id="{18E21EF4-436A-E5DD-BBE7-C03B8F894555}"/>
              </a:ext>
            </a:extLst>
          </p:cNvPr>
          <p:cNvSpPr>
            <a:spLocks noChangeArrowheads="1"/>
          </p:cNvSpPr>
          <p:nvPr/>
        </p:nvSpPr>
        <p:spPr bwMode="auto">
          <a:xfrm>
            <a:off x="4500563" y="2000250"/>
            <a:ext cx="974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zh-CN" altLang="en-US" sz="2400">
                <a:solidFill>
                  <a:srgbClr val="990099"/>
                </a:solidFill>
                <a:latin typeface="Arial" panose="020B0604020202020204" pitchFamily="34" charset="0"/>
                <a:cs typeface="Arial" panose="020B0604020202020204" pitchFamily="34" charset="0"/>
              </a:rPr>
              <a:t>第</a:t>
            </a:r>
            <a:r>
              <a:rPr lang="en-US" altLang="zh-CN" sz="2400">
                <a:solidFill>
                  <a:srgbClr val="990099"/>
                </a:solidFill>
                <a:latin typeface="Arial" panose="020B0604020202020204" pitchFamily="34" charset="0"/>
                <a:cs typeface="Arial" panose="020B0604020202020204" pitchFamily="34" charset="0"/>
              </a:rPr>
              <a:t>5</a:t>
            </a:r>
            <a:r>
              <a:rPr lang="zh-CN" altLang="en-US" sz="2400">
                <a:solidFill>
                  <a:srgbClr val="990099"/>
                </a:solidFill>
                <a:latin typeface="Arial" panose="020B0604020202020204" pitchFamily="34" charset="0"/>
                <a:cs typeface="Arial" panose="020B0604020202020204" pitchFamily="34" charset="0"/>
              </a:rPr>
              <a:t>组</a:t>
            </a:r>
            <a:endParaRPr lang="zh-CN" altLang="en-US">
              <a:solidFill>
                <a:srgbClr val="990099"/>
              </a:solidFill>
            </a:endParaRPr>
          </a:p>
        </p:txBody>
      </p:sp>
      <p:sp>
        <p:nvSpPr>
          <p:cNvPr id="172" name="矩形 171">
            <a:extLst>
              <a:ext uri="{FF2B5EF4-FFF2-40B4-BE49-F238E27FC236}">
                <a16:creationId xmlns:a16="http://schemas.microsoft.com/office/drawing/2014/main" id="{BE66C26B-4050-FDEB-26B2-813048193A92}"/>
              </a:ext>
            </a:extLst>
          </p:cNvPr>
          <p:cNvSpPr/>
          <p:nvPr/>
        </p:nvSpPr>
        <p:spPr>
          <a:xfrm>
            <a:off x="1357313" y="5429250"/>
            <a:ext cx="3148012" cy="400050"/>
          </a:xfrm>
          <a:prstGeom prst="rect">
            <a:avLst/>
          </a:prstGeom>
        </p:spPr>
        <p:txBody>
          <a:bodyPr wrap="none">
            <a:spAutoFit/>
          </a:bodyPr>
          <a:lstStyle/>
          <a:p>
            <a:pPr>
              <a:defRPr/>
            </a:pPr>
            <a:r>
              <a:rPr kumimoji="0" lang="zh-CN" altLang="en-US" sz="2000" b="0" kern="0" dirty="0">
                <a:solidFill>
                  <a:schemeClr val="tx1"/>
                </a:solidFill>
                <a:latin typeface="Arial" pitchFamily="34" charset="0"/>
                <a:ea typeface="微软雅黑" pitchFamily="34" charset="-122"/>
                <a:cs typeface="Arial" pitchFamily="34" charset="0"/>
              </a:rPr>
              <a:t>传输速率比第</a:t>
            </a:r>
            <a:r>
              <a:rPr kumimoji="0" lang="zh-CN" altLang="en-US" sz="2000" kern="0" dirty="0">
                <a:solidFill>
                  <a:srgbClr val="0000CC"/>
                </a:solidFill>
                <a:latin typeface="+mn-ea"/>
                <a:ea typeface="+mn-ea"/>
                <a:cs typeface="Arial" pitchFamily="34" charset="0"/>
              </a:rPr>
              <a:t>（</a:t>
            </a:r>
            <a:r>
              <a:rPr kumimoji="0" lang="en-US" altLang="zh-CN" sz="2000" kern="0" dirty="0">
                <a:solidFill>
                  <a:srgbClr val="0000CC"/>
                </a:solidFill>
                <a:latin typeface="+mn-ea"/>
                <a:ea typeface="+mn-ea"/>
                <a:cs typeface="Arial" pitchFamily="34" charset="0"/>
              </a:rPr>
              <a:t>1</a:t>
            </a:r>
            <a:r>
              <a:rPr kumimoji="0" lang="zh-CN" altLang="en-US" sz="2000" kern="0" dirty="0">
                <a:solidFill>
                  <a:srgbClr val="0000CC"/>
                </a:solidFill>
                <a:latin typeface="+mn-ea"/>
                <a:ea typeface="+mn-ea"/>
                <a:cs typeface="Arial" pitchFamily="34" charset="0"/>
              </a:rPr>
              <a:t>）</a:t>
            </a:r>
            <a:r>
              <a:rPr kumimoji="0" lang="zh-CN" altLang="en-US" sz="2000" b="0" kern="0" dirty="0">
                <a:solidFill>
                  <a:schemeClr val="tx1"/>
                </a:solidFill>
                <a:latin typeface="Arial" pitchFamily="34" charset="0"/>
                <a:ea typeface="微软雅黑" pitchFamily="34" charset="-122"/>
                <a:cs typeface="Arial" pitchFamily="34" charset="0"/>
              </a:rPr>
              <a:t>种高。</a:t>
            </a:r>
            <a:endParaRPr lang="zh-CN" altLang="en-US" sz="2000" dirty="0">
              <a:solidFill>
                <a:schemeClr val="tx1"/>
              </a:solidFill>
            </a:endParaRPr>
          </a:p>
        </p:txBody>
      </p:sp>
      <p:pic>
        <p:nvPicPr>
          <p:cNvPr id="74843" name="Picture 91">
            <a:extLst>
              <a:ext uri="{FF2B5EF4-FFF2-40B4-BE49-F238E27FC236}">
                <a16:creationId xmlns:a16="http://schemas.microsoft.com/office/drawing/2014/main" id="{F0A4E6DA-6B22-7488-4D29-99C59548AF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938" y="2786063"/>
            <a:ext cx="8234362" cy="227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wipe(up)">
                                      <p:cBhvr>
                                        <p:cTn id="7" dur="1000"/>
                                        <p:tgtEl>
                                          <p:spTgt spid="87"/>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74843"/>
                                        </p:tgtEl>
                                        <p:attrNameLst>
                                          <p:attrName>style.visibility</p:attrName>
                                        </p:attrNameLst>
                                      </p:cBhvr>
                                      <p:to>
                                        <p:strVal val="visible"/>
                                      </p:to>
                                    </p:set>
                                    <p:animEffect transition="in" filter="wipe(up)">
                                      <p:cBhvr>
                                        <p:cTn id="11" dur="2000"/>
                                        <p:tgtEl>
                                          <p:spTgt spid="7484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74842"/>
                                        </p:tgtEl>
                                        <p:attrNameLst>
                                          <p:attrName>style.visibility</p:attrName>
                                        </p:attrNameLst>
                                      </p:cBhvr>
                                      <p:to>
                                        <p:strVal val="visible"/>
                                      </p:to>
                                    </p:set>
                                    <p:animEffect transition="in" filter="wipe(up)">
                                      <p:cBhvr>
                                        <p:cTn id="16" dur="1000"/>
                                        <p:tgtEl>
                                          <p:spTgt spid="74842"/>
                                        </p:tgtEl>
                                      </p:cBhvr>
                                    </p:animEffect>
                                  </p:childTnLst>
                                </p:cTn>
                              </p:par>
                            </p:childTnLst>
                          </p:cTn>
                        </p:par>
                        <p:par>
                          <p:cTn id="17" fill="hold" nodeType="afterGroup">
                            <p:stCondLst>
                              <p:cond delay="1000"/>
                            </p:stCondLst>
                            <p:childTnLst>
                              <p:par>
                                <p:cTn id="18" presetID="22" presetClass="entr" presetSubtype="1" fill="hold" nodeType="afterEffect">
                                  <p:stCondLst>
                                    <p:cond delay="0"/>
                                  </p:stCondLst>
                                  <p:childTnLst>
                                    <p:set>
                                      <p:cBhvr>
                                        <p:cTn id="19" dur="1" fill="hold">
                                          <p:stCondLst>
                                            <p:cond delay="0"/>
                                          </p:stCondLst>
                                        </p:cTn>
                                        <p:tgtEl>
                                          <p:spTgt spid="74758"/>
                                        </p:tgtEl>
                                        <p:attrNameLst>
                                          <p:attrName>style.visibility</p:attrName>
                                        </p:attrNameLst>
                                      </p:cBhvr>
                                      <p:to>
                                        <p:strVal val="visible"/>
                                      </p:to>
                                    </p:set>
                                    <p:animEffect transition="in" filter="wipe(up)">
                                      <p:cBhvr>
                                        <p:cTn id="20" dur="1000"/>
                                        <p:tgtEl>
                                          <p:spTgt spid="7475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172"/>
                                        </p:tgtEl>
                                        <p:attrNameLst>
                                          <p:attrName>style.visibility</p:attrName>
                                        </p:attrNameLst>
                                      </p:cBhvr>
                                      <p:to>
                                        <p:strVal val="visible"/>
                                      </p:to>
                                    </p:set>
                                    <p:animEffect transition="in" filter="wipe(up)">
                                      <p:cBhvr>
                                        <p:cTn id="25" dur="1000"/>
                                        <p:tgtEl>
                                          <p:spTgt spid="172"/>
                                        </p:tgtEl>
                                      </p:cBhvr>
                                    </p:animEffect>
                                  </p:childTnLst>
                                </p:cTn>
                              </p:par>
                            </p:childTnLst>
                          </p:cTn>
                        </p:par>
                        <p:par>
                          <p:cTn id="26" fill="hold" nodeType="afterGroup">
                            <p:stCondLst>
                              <p:cond delay="1000"/>
                            </p:stCondLst>
                            <p:childTnLst>
                              <p:par>
                                <p:cTn id="27" presetID="22" presetClass="entr" presetSubtype="1" fill="hold" nodeType="afterEffect">
                                  <p:stCondLst>
                                    <p:cond delay="0"/>
                                  </p:stCondLst>
                                  <p:childTnLst>
                                    <p:set>
                                      <p:cBhvr>
                                        <p:cTn id="28" dur="1" fill="hold">
                                          <p:stCondLst>
                                            <p:cond delay="0"/>
                                          </p:stCondLst>
                                        </p:cTn>
                                        <p:tgtEl>
                                          <p:spTgt spid="27651">
                                            <p:txEl>
                                              <p:pRg st="0" end="0"/>
                                            </p:txEl>
                                          </p:spTgt>
                                        </p:tgtEl>
                                        <p:attrNameLst>
                                          <p:attrName>style.visibility</p:attrName>
                                        </p:attrNameLst>
                                      </p:cBhvr>
                                      <p:to>
                                        <p:strVal val="visible"/>
                                      </p:to>
                                    </p:set>
                                    <p:animEffect transition="in" filter="wipe(up)">
                                      <p:cBhvr>
                                        <p:cTn id="29" dur="1000"/>
                                        <p:tgtEl>
                                          <p:spTgt spid="276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P spid="87" grpId="0"/>
      <p:bldP spid="74758" grpId="0"/>
      <p:bldP spid="17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矩形 85">
            <a:extLst>
              <a:ext uri="{FF2B5EF4-FFF2-40B4-BE49-F238E27FC236}">
                <a16:creationId xmlns:a16="http://schemas.microsoft.com/office/drawing/2014/main" id="{F0D53036-A969-2E7A-AC3E-ED8540F436F4}"/>
              </a:ext>
            </a:extLst>
          </p:cNvPr>
          <p:cNvSpPr/>
          <p:nvPr/>
        </p:nvSpPr>
        <p:spPr>
          <a:xfrm>
            <a:off x="571500" y="1143000"/>
            <a:ext cx="3900488" cy="461963"/>
          </a:xfrm>
          <a:prstGeom prst="rect">
            <a:avLst/>
          </a:prstGeom>
        </p:spPr>
        <p:txBody>
          <a:bodyPr>
            <a:spAutoFit/>
          </a:bodyPr>
          <a:lstStyle/>
          <a:p>
            <a:pPr marL="228600" indent="-228600" eaLnBrk="0" hangingPunct="0">
              <a:spcBef>
                <a:spcPct val="20000"/>
              </a:spcBef>
              <a:buClr>
                <a:srgbClr val="3333CC"/>
              </a:buClr>
              <a:buSzPct val="50000"/>
              <a:defRPr/>
            </a:pPr>
            <a:r>
              <a:rPr kumimoji="0" lang="zh-CN" altLang="en-US" sz="2400" kern="0" dirty="0">
                <a:solidFill>
                  <a:srgbClr val="0000CC"/>
                </a:solidFill>
                <a:latin typeface="+mn-ea"/>
                <a:ea typeface="+mn-ea"/>
                <a:cs typeface="Arial" pitchFamily="34" charset="0"/>
              </a:rPr>
              <a:t>（</a:t>
            </a:r>
            <a:r>
              <a:rPr kumimoji="0" lang="en-US" altLang="zh-CN" sz="2400" kern="0" dirty="0">
                <a:solidFill>
                  <a:srgbClr val="0000CC"/>
                </a:solidFill>
                <a:latin typeface="+mn-ea"/>
                <a:ea typeface="+mn-ea"/>
                <a:cs typeface="Arial" pitchFamily="34" charset="0"/>
              </a:rPr>
              <a:t>3</a:t>
            </a:r>
            <a:r>
              <a:rPr kumimoji="0" lang="zh-CN" altLang="en-US" sz="2400" kern="0" dirty="0">
                <a:solidFill>
                  <a:srgbClr val="0000CC"/>
                </a:solidFill>
                <a:latin typeface="+mn-ea"/>
                <a:ea typeface="+mn-ea"/>
                <a:cs typeface="Arial" pitchFamily="34" charset="0"/>
              </a:rPr>
              <a:t>）</a:t>
            </a:r>
            <a:r>
              <a:rPr kumimoji="0" lang="zh-CN" altLang="en-US" sz="2400" kern="0" dirty="0">
                <a:solidFill>
                  <a:srgbClr val="0000CC"/>
                </a:solidFill>
                <a:latin typeface="微软雅黑" pitchFamily="34" charset="-122"/>
                <a:ea typeface="微软雅黑" pitchFamily="34" charset="-122"/>
                <a:cs typeface="Arial" pitchFamily="34" charset="0"/>
              </a:rPr>
              <a:t>选择重发</a:t>
            </a:r>
            <a:r>
              <a:rPr kumimoji="0" lang="en-US" altLang="zh-CN" sz="2400" kern="0" dirty="0">
                <a:solidFill>
                  <a:srgbClr val="0000CC"/>
                </a:solidFill>
                <a:latin typeface="微软雅黑" pitchFamily="34" charset="-122"/>
                <a:ea typeface="微软雅黑" pitchFamily="34" charset="-122"/>
              </a:rPr>
              <a:t>ARQ</a:t>
            </a:r>
            <a:r>
              <a:rPr kumimoji="0" lang="zh-CN" altLang="en-US" sz="2400" kern="0" dirty="0">
                <a:solidFill>
                  <a:srgbClr val="0000CC"/>
                </a:solidFill>
                <a:latin typeface="微软雅黑" pitchFamily="34" charset="-122"/>
                <a:ea typeface="微软雅黑" pitchFamily="34" charset="-122"/>
              </a:rPr>
              <a:t>系统</a:t>
            </a:r>
          </a:p>
        </p:txBody>
      </p:sp>
      <p:pic>
        <p:nvPicPr>
          <p:cNvPr id="75860" name="Picture 84">
            <a:extLst>
              <a:ext uri="{FF2B5EF4-FFF2-40B4-BE49-F238E27FC236}">
                <a16:creationId xmlns:a16="http://schemas.microsoft.com/office/drawing/2014/main" id="{C018CB39-7022-05AC-388B-2870196BBF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813" y="2687638"/>
            <a:ext cx="7786687" cy="195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861" name="Picture 85">
            <a:extLst>
              <a:ext uri="{FF2B5EF4-FFF2-40B4-BE49-F238E27FC236}">
                <a16:creationId xmlns:a16="http://schemas.microsoft.com/office/drawing/2014/main" id="{ED0482EC-C830-E3A5-4B56-FF544F2A63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4775" y="1725613"/>
            <a:ext cx="73406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after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wipe(down)">
                                      <p:cBhvr>
                                        <p:cTn id="7" dur="500"/>
                                        <p:tgtEl>
                                          <p:spTgt spid="86"/>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75861"/>
                                        </p:tgtEl>
                                        <p:attrNameLst>
                                          <p:attrName>style.visibility</p:attrName>
                                        </p:attrNameLst>
                                      </p:cBhvr>
                                      <p:to>
                                        <p:strVal val="visible"/>
                                      </p:to>
                                    </p:set>
                                    <p:animEffect transition="in" filter="wipe(up)">
                                      <p:cBhvr>
                                        <p:cTn id="11" dur="2000"/>
                                        <p:tgtEl>
                                          <p:spTgt spid="7586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75860"/>
                                        </p:tgtEl>
                                        <p:attrNameLst>
                                          <p:attrName>style.visibility</p:attrName>
                                        </p:attrNameLst>
                                      </p:cBhvr>
                                      <p:to>
                                        <p:strVal val="visible"/>
                                      </p:to>
                                    </p:set>
                                    <p:animEffect transition="in" filter="wipe(up)">
                                      <p:cBhvr>
                                        <p:cTn id="16" dur="1000"/>
                                        <p:tgtEl>
                                          <p:spTgt spid="758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03A9FCE4-34BE-D1F7-EF07-6CB8F237156D}"/>
              </a:ext>
            </a:extLst>
          </p:cNvPr>
          <p:cNvSpPr/>
          <p:nvPr/>
        </p:nvSpPr>
        <p:spPr>
          <a:xfrm>
            <a:off x="714375" y="3781425"/>
            <a:ext cx="4211638" cy="504825"/>
          </a:xfrm>
          <a:prstGeom prst="rect">
            <a:avLst/>
          </a:prstGeom>
        </p:spPr>
        <p:txBody>
          <a:bodyPr>
            <a:spAutoFit/>
          </a:bodyPr>
          <a:lstStyle/>
          <a:p>
            <a:pPr marL="342900" indent="-342900" eaLnBrk="0" hangingPunct="0">
              <a:lnSpc>
                <a:spcPts val="3400"/>
              </a:lnSpc>
              <a:spcBef>
                <a:spcPct val="20000"/>
              </a:spcBef>
              <a:buClr>
                <a:srgbClr val="3333CC"/>
              </a:buClr>
              <a:buSzPct val="60000"/>
              <a:buFont typeface="Wingdings" pitchFamily="2" charset="2"/>
              <a:buChar char="u"/>
              <a:defRPr/>
            </a:pPr>
            <a:r>
              <a:rPr kumimoji="0" lang="en-US" altLang="zh-CN" sz="2800" kern="0" dirty="0">
                <a:solidFill>
                  <a:srgbClr val="003399"/>
                </a:solidFill>
                <a:latin typeface="微软雅黑" pitchFamily="34" charset="-122"/>
                <a:ea typeface="微软雅黑" pitchFamily="34" charset="-122"/>
              </a:rPr>
              <a:t>ARQ</a:t>
            </a:r>
            <a:r>
              <a:rPr kumimoji="0" lang="zh-CN" altLang="en-US" sz="2800" kern="0" dirty="0">
                <a:solidFill>
                  <a:srgbClr val="003399"/>
                </a:solidFill>
                <a:latin typeface="微软雅黑" pitchFamily="34" charset="-122"/>
                <a:ea typeface="微软雅黑" pitchFamily="34" charset="-122"/>
              </a:rPr>
              <a:t>的主要</a:t>
            </a:r>
            <a:r>
              <a:rPr kumimoji="0" lang="zh-CN" altLang="en-US" sz="2800" kern="0" dirty="0">
                <a:solidFill>
                  <a:srgbClr val="FF0000"/>
                </a:solidFill>
                <a:latin typeface="微软雅黑" pitchFamily="34" charset="-122"/>
                <a:ea typeface="微软雅黑" pitchFamily="34" charset="-122"/>
              </a:rPr>
              <a:t>缺</a:t>
            </a:r>
            <a:r>
              <a:rPr kumimoji="0" lang="zh-CN" altLang="en-US" sz="2800" kern="0" dirty="0">
                <a:solidFill>
                  <a:srgbClr val="003399"/>
                </a:solidFill>
                <a:latin typeface="微软雅黑" pitchFamily="34" charset="-122"/>
                <a:ea typeface="微软雅黑" pitchFamily="34" charset="-122"/>
              </a:rPr>
              <a:t>点</a:t>
            </a:r>
            <a:r>
              <a:rPr kumimoji="0" lang="zh-CN" altLang="en-US" sz="2800" b="0" kern="0" dirty="0">
                <a:solidFill>
                  <a:srgbClr val="003399"/>
                </a:solidFill>
                <a:latin typeface="微软雅黑" pitchFamily="34" charset="-122"/>
                <a:ea typeface="微软雅黑" pitchFamily="34" charset="-122"/>
              </a:rPr>
              <a:t>：</a:t>
            </a:r>
          </a:p>
        </p:txBody>
      </p:sp>
      <p:sp>
        <p:nvSpPr>
          <p:cNvPr id="6" name="Rectangle 3">
            <a:extLst>
              <a:ext uri="{FF2B5EF4-FFF2-40B4-BE49-F238E27FC236}">
                <a16:creationId xmlns:a16="http://schemas.microsoft.com/office/drawing/2014/main" id="{33859337-1FDE-94A2-0E1B-C95CC6DCEDB4}"/>
              </a:ext>
            </a:extLst>
          </p:cNvPr>
          <p:cNvSpPr txBox="1">
            <a:spLocks noChangeArrowheads="1"/>
          </p:cNvSpPr>
          <p:nvPr/>
        </p:nvSpPr>
        <p:spPr bwMode="auto">
          <a:xfrm>
            <a:off x="1000125" y="1571625"/>
            <a:ext cx="7572375" cy="1928813"/>
          </a:xfrm>
          <a:prstGeom prst="rect">
            <a:avLst/>
          </a:prstGeom>
          <a:solidFill>
            <a:schemeClr val="bg2">
              <a:lumMod val="10000"/>
              <a:lumOff val="90000"/>
            </a:schemeClr>
          </a:solidFill>
          <a:ln w="9525">
            <a:noFill/>
            <a:miter lim="800000"/>
            <a:headEnd/>
            <a:tailEnd/>
          </a:ln>
          <a:effectLst>
            <a:outerShdw blurRad="50800" dist="38100" dir="2700000" algn="tl" rotWithShape="0">
              <a:prstClr val="black">
                <a:alpha val="40000"/>
              </a:prstClr>
            </a:outerShdw>
          </a:effectLst>
        </p:spPr>
        <p:txBody>
          <a:bodyPr/>
          <a:lstStyle/>
          <a:p>
            <a:pPr marL="285750" indent="-285750" eaLnBrk="0" hangingPunct="0">
              <a:lnSpc>
                <a:spcPts val="3400"/>
              </a:lnSpc>
              <a:spcBef>
                <a:spcPct val="20000"/>
              </a:spcBef>
              <a:buClr>
                <a:srgbClr val="FF0000"/>
              </a:buClr>
              <a:buSzPct val="55000"/>
              <a:buFont typeface="Wingdings" pitchFamily="2" charset="2"/>
              <a:buChar char="l"/>
              <a:defRPr/>
            </a:pPr>
            <a:r>
              <a:rPr kumimoji="0" lang="zh-CN" altLang="en-US" sz="2000" b="0" kern="0" dirty="0">
                <a:solidFill>
                  <a:schemeClr val="tx1"/>
                </a:solidFill>
                <a:latin typeface="微软雅黑" pitchFamily="34" charset="-122"/>
                <a:ea typeface="微软雅黑" pitchFamily="34" charset="-122"/>
              </a:rPr>
              <a:t>码率较高。</a:t>
            </a:r>
            <a:r>
              <a:rPr lang="en-US" sz="2400" dirty="0">
                <a:solidFill>
                  <a:srgbClr val="0000CC"/>
                </a:solidFill>
                <a:latin typeface="微软雅黑" pitchFamily="34" charset="-122"/>
                <a:ea typeface="微软雅黑" pitchFamily="34" charset="-122"/>
              </a:rPr>
              <a:t>∵ </a:t>
            </a:r>
            <a:r>
              <a:rPr kumimoji="0" lang="zh-CN" altLang="en-US" sz="2000" b="0" kern="0" dirty="0">
                <a:solidFill>
                  <a:schemeClr val="tx1"/>
                </a:solidFill>
                <a:latin typeface="微软雅黑" pitchFamily="34" charset="-122"/>
                <a:ea typeface="微软雅黑" pitchFamily="34" charset="-122"/>
              </a:rPr>
              <a:t>用较少的监督码元就能使误码率降到很低；</a:t>
            </a:r>
          </a:p>
          <a:p>
            <a:pPr marL="285750" indent="-285750" eaLnBrk="0" hangingPunct="0">
              <a:lnSpc>
                <a:spcPts val="3400"/>
              </a:lnSpc>
              <a:spcBef>
                <a:spcPct val="20000"/>
              </a:spcBef>
              <a:buClr>
                <a:srgbClr val="FF0000"/>
              </a:buClr>
              <a:buSzPct val="55000"/>
              <a:buFont typeface="Wingdings" pitchFamily="2" charset="2"/>
              <a:buChar char="l"/>
              <a:defRPr/>
            </a:pPr>
            <a:r>
              <a:rPr kumimoji="0" lang="zh-CN" altLang="en-US" sz="2000" b="0" kern="0" dirty="0">
                <a:solidFill>
                  <a:schemeClr val="tx1"/>
                </a:solidFill>
                <a:latin typeface="微软雅黑" pitchFamily="34" charset="-122"/>
                <a:ea typeface="微软雅黑" pitchFamily="34" charset="-122"/>
              </a:rPr>
              <a:t>检错的计算复杂度较低；</a:t>
            </a:r>
          </a:p>
          <a:p>
            <a:pPr marL="285750" indent="-285750" eaLnBrk="0" hangingPunct="0">
              <a:lnSpc>
                <a:spcPts val="3400"/>
              </a:lnSpc>
              <a:spcBef>
                <a:spcPct val="20000"/>
              </a:spcBef>
              <a:buClr>
                <a:srgbClr val="FF0000"/>
              </a:buClr>
              <a:buSzPct val="55000"/>
              <a:buFont typeface="Wingdings" pitchFamily="2" charset="2"/>
              <a:buChar char="l"/>
              <a:defRPr/>
            </a:pPr>
            <a:r>
              <a:rPr kumimoji="0" lang="zh-CN" altLang="en-US" sz="2000" b="0" kern="0" dirty="0">
                <a:solidFill>
                  <a:schemeClr val="tx1"/>
                </a:solidFill>
                <a:latin typeface="微软雅黑" pitchFamily="34" charset="-122"/>
                <a:ea typeface="微软雅黑" pitchFamily="34" charset="-122"/>
              </a:rPr>
              <a:t>检错用的编码方法 和 加性干扰的统计特性基本无关，能适应不同特性的信道。</a:t>
            </a:r>
          </a:p>
        </p:txBody>
      </p:sp>
      <p:sp>
        <p:nvSpPr>
          <p:cNvPr id="7" name="Rectangle 3">
            <a:extLst>
              <a:ext uri="{FF2B5EF4-FFF2-40B4-BE49-F238E27FC236}">
                <a16:creationId xmlns:a16="http://schemas.microsoft.com/office/drawing/2014/main" id="{F59531DB-DC64-8274-DE21-D6571D5AD19D}"/>
              </a:ext>
            </a:extLst>
          </p:cNvPr>
          <p:cNvSpPr txBox="1">
            <a:spLocks noChangeArrowheads="1"/>
          </p:cNvSpPr>
          <p:nvPr/>
        </p:nvSpPr>
        <p:spPr bwMode="auto">
          <a:xfrm>
            <a:off x="971550" y="4275138"/>
            <a:ext cx="7600950" cy="2011362"/>
          </a:xfrm>
          <a:prstGeom prst="rect">
            <a:avLst/>
          </a:prstGeom>
          <a:solidFill>
            <a:schemeClr val="bg2">
              <a:lumMod val="10000"/>
              <a:lumOff val="90000"/>
            </a:schemeClr>
          </a:solidFill>
          <a:ln w="9525">
            <a:noFill/>
            <a:miter lim="800000"/>
            <a:headEnd/>
            <a:tailEnd/>
          </a:ln>
          <a:effectLst>
            <a:outerShdw blurRad="50800" dist="38100" dir="2700000" algn="tl" rotWithShape="0">
              <a:prstClr val="black">
                <a:alpha val="40000"/>
              </a:prstClr>
            </a:outerShdw>
          </a:effectLst>
        </p:spPr>
        <p:txBody>
          <a:bodyPr/>
          <a:lstStyle/>
          <a:p>
            <a:pPr marL="285750" indent="-285750" eaLnBrk="0" hangingPunct="0">
              <a:lnSpc>
                <a:spcPts val="3400"/>
              </a:lnSpc>
              <a:spcBef>
                <a:spcPct val="20000"/>
              </a:spcBef>
              <a:buClr>
                <a:schemeClr val="hlink"/>
              </a:buClr>
              <a:buSzPct val="55000"/>
              <a:buFont typeface="Wingdings" pitchFamily="2" charset="2"/>
              <a:buChar char="l"/>
              <a:defRPr/>
            </a:pPr>
            <a:r>
              <a:rPr kumimoji="0" lang="zh-CN" altLang="en-US" sz="2000" b="0" kern="0" dirty="0">
                <a:solidFill>
                  <a:schemeClr val="tx1"/>
                </a:solidFill>
                <a:latin typeface="微软雅黑" pitchFamily="34" charset="-122"/>
                <a:ea typeface="微软雅黑" pitchFamily="34" charset="-122"/>
              </a:rPr>
              <a:t>需双向信道来重发，不适用单向信道和一点到多点的通信系统。</a:t>
            </a:r>
          </a:p>
          <a:p>
            <a:pPr marL="285750" indent="-285750" eaLnBrk="0" hangingPunct="0">
              <a:lnSpc>
                <a:spcPts val="3400"/>
              </a:lnSpc>
              <a:spcBef>
                <a:spcPct val="20000"/>
              </a:spcBef>
              <a:buClr>
                <a:schemeClr val="hlink"/>
              </a:buClr>
              <a:buSzPct val="55000"/>
              <a:buFont typeface="Wingdings" pitchFamily="2" charset="2"/>
              <a:buChar char="l"/>
              <a:defRPr/>
            </a:pPr>
            <a:r>
              <a:rPr kumimoji="0" lang="zh-CN" altLang="en-US" sz="2000" b="0" kern="0" dirty="0">
                <a:solidFill>
                  <a:schemeClr val="tx1"/>
                </a:solidFill>
                <a:latin typeface="微软雅黑" pitchFamily="34" charset="-122"/>
                <a:ea typeface="微软雅黑" pitchFamily="34" charset="-122"/>
              </a:rPr>
              <a:t>重发使得</a:t>
            </a:r>
            <a:r>
              <a:rPr kumimoji="0" lang="en-US" altLang="zh-CN" sz="2000" b="0" kern="0" dirty="0">
                <a:solidFill>
                  <a:schemeClr val="tx1"/>
                </a:solidFill>
                <a:latin typeface="微软雅黑" pitchFamily="34" charset="-122"/>
                <a:ea typeface="微软雅黑" pitchFamily="34" charset="-122"/>
              </a:rPr>
              <a:t>ARQ</a:t>
            </a:r>
            <a:r>
              <a:rPr kumimoji="0" lang="zh-CN" altLang="en-US" sz="2000" b="0" kern="0" dirty="0">
                <a:solidFill>
                  <a:schemeClr val="tx1"/>
                </a:solidFill>
                <a:latin typeface="微软雅黑" pitchFamily="34" charset="-122"/>
                <a:ea typeface="微软雅黑" pitchFamily="34" charset="-122"/>
              </a:rPr>
              <a:t>系统的传输效率降低。</a:t>
            </a:r>
          </a:p>
          <a:p>
            <a:pPr marL="285750" indent="-285750" eaLnBrk="0" hangingPunct="0">
              <a:lnSpc>
                <a:spcPts val="3400"/>
              </a:lnSpc>
              <a:spcBef>
                <a:spcPct val="20000"/>
              </a:spcBef>
              <a:buClr>
                <a:schemeClr val="hlink"/>
              </a:buClr>
              <a:buSzPct val="55000"/>
              <a:buFont typeface="Wingdings" pitchFamily="2" charset="2"/>
              <a:buChar char="l"/>
              <a:defRPr/>
            </a:pPr>
            <a:r>
              <a:rPr kumimoji="0" lang="zh-CN" altLang="en-US" sz="2000" b="0" kern="0" dirty="0">
                <a:solidFill>
                  <a:schemeClr val="tx1"/>
                </a:solidFill>
                <a:latin typeface="微软雅黑" pitchFamily="34" charset="-122"/>
                <a:ea typeface="微软雅黑" pitchFamily="34" charset="-122"/>
              </a:rPr>
              <a:t>信道干扰严重时，将发生因反复重发而造成事实上的通信中断。</a:t>
            </a:r>
          </a:p>
          <a:p>
            <a:pPr marL="285750" indent="-285750" eaLnBrk="0" hangingPunct="0">
              <a:lnSpc>
                <a:spcPts val="3400"/>
              </a:lnSpc>
              <a:spcBef>
                <a:spcPct val="20000"/>
              </a:spcBef>
              <a:buClr>
                <a:schemeClr val="hlink"/>
              </a:buClr>
              <a:buSzPct val="55000"/>
              <a:buFont typeface="Wingdings" pitchFamily="2" charset="2"/>
              <a:buChar char="l"/>
              <a:defRPr/>
            </a:pPr>
            <a:r>
              <a:rPr kumimoji="0" lang="zh-CN" altLang="en-US" sz="2000" b="0" kern="0" dirty="0">
                <a:solidFill>
                  <a:schemeClr val="tx1"/>
                </a:solidFill>
                <a:latin typeface="微软雅黑" pitchFamily="34" charset="-122"/>
                <a:ea typeface="微软雅黑" pitchFamily="34" charset="-122"/>
              </a:rPr>
              <a:t>不适用于要求实时通信的场合，例如电话通信。</a:t>
            </a:r>
          </a:p>
        </p:txBody>
      </p:sp>
      <p:sp>
        <p:nvSpPr>
          <p:cNvPr id="8" name="矩形 7">
            <a:extLst>
              <a:ext uri="{FF2B5EF4-FFF2-40B4-BE49-F238E27FC236}">
                <a16:creationId xmlns:a16="http://schemas.microsoft.com/office/drawing/2014/main" id="{2E0E63E3-EF8D-682E-52FA-58FB9C006A60}"/>
              </a:ext>
            </a:extLst>
          </p:cNvPr>
          <p:cNvSpPr/>
          <p:nvPr/>
        </p:nvSpPr>
        <p:spPr>
          <a:xfrm>
            <a:off x="714375" y="1071563"/>
            <a:ext cx="6804025" cy="528637"/>
          </a:xfrm>
          <a:prstGeom prst="rect">
            <a:avLst/>
          </a:prstGeom>
        </p:spPr>
        <p:txBody>
          <a:bodyPr>
            <a:spAutoFit/>
          </a:bodyPr>
          <a:lstStyle/>
          <a:p>
            <a:pPr marL="342900" indent="-342900" eaLnBrk="0" hangingPunct="0">
              <a:lnSpc>
                <a:spcPts val="3400"/>
              </a:lnSpc>
              <a:spcBef>
                <a:spcPct val="20000"/>
              </a:spcBef>
              <a:buClr>
                <a:srgbClr val="3333CC"/>
              </a:buClr>
              <a:buSzPct val="60000"/>
              <a:buFont typeface="Wingdings" pitchFamily="2" charset="2"/>
              <a:buChar char="u"/>
              <a:defRPr/>
            </a:pPr>
            <a:r>
              <a:rPr kumimoji="0" lang="en-US" altLang="zh-CN" sz="2800" kern="0" dirty="0">
                <a:solidFill>
                  <a:srgbClr val="003399"/>
                </a:solidFill>
                <a:latin typeface="微软雅黑" pitchFamily="34" charset="-122"/>
                <a:ea typeface="微软雅黑" pitchFamily="34" charset="-122"/>
              </a:rPr>
              <a:t>ARQ</a:t>
            </a:r>
            <a:r>
              <a:rPr kumimoji="0" lang="zh-CN" altLang="en-US" sz="2800" kern="0" dirty="0">
                <a:solidFill>
                  <a:srgbClr val="003399"/>
                </a:solidFill>
                <a:latin typeface="微软雅黑" pitchFamily="34" charset="-122"/>
                <a:ea typeface="微软雅黑" pitchFamily="34" charset="-122"/>
              </a:rPr>
              <a:t>的主要</a:t>
            </a:r>
            <a:r>
              <a:rPr kumimoji="0" lang="zh-CN" altLang="en-US" sz="2800" kern="0" dirty="0">
                <a:solidFill>
                  <a:srgbClr val="FF0000"/>
                </a:solidFill>
                <a:latin typeface="微软雅黑" pitchFamily="34" charset="-122"/>
                <a:ea typeface="微软雅黑" pitchFamily="34" charset="-122"/>
              </a:rPr>
              <a:t>优</a:t>
            </a:r>
            <a:r>
              <a:rPr kumimoji="0" lang="zh-CN" altLang="en-US" sz="2800" kern="0" dirty="0">
                <a:solidFill>
                  <a:srgbClr val="003399"/>
                </a:solidFill>
                <a:latin typeface="微软雅黑" pitchFamily="34" charset="-122"/>
                <a:ea typeface="微软雅黑" pitchFamily="34" charset="-122"/>
              </a:rPr>
              <a:t>点</a:t>
            </a:r>
            <a:r>
              <a:rPr kumimoji="0" lang="zh-CN" altLang="en-US" sz="2800" b="0" kern="0" dirty="0">
                <a:solidFill>
                  <a:srgbClr val="003399"/>
                </a:solidFill>
                <a:latin typeface="微软雅黑" pitchFamily="34" charset="-122"/>
                <a:ea typeface="微软雅黑" pitchFamily="34" charset="-122"/>
              </a:rPr>
              <a:t>：</a:t>
            </a:r>
            <a:r>
              <a:rPr kumimoji="0" lang="zh-CN" altLang="en-US" sz="2000" b="0" kern="0" dirty="0">
                <a:solidFill>
                  <a:srgbClr val="000000"/>
                </a:solidFill>
                <a:latin typeface="微软雅黑" pitchFamily="34" charset="-122"/>
                <a:ea typeface="微软雅黑" pitchFamily="34" charset="-122"/>
              </a:rPr>
              <a:t>与前向纠错</a:t>
            </a:r>
            <a:r>
              <a:rPr kumimoji="0" lang="zh-CN" altLang="en-US" sz="2000" b="0" kern="0" dirty="0">
                <a:solidFill>
                  <a:srgbClr val="0000CC"/>
                </a:solidFill>
                <a:latin typeface="Arial" charset="0"/>
                <a:ea typeface="宋体"/>
                <a:cs typeface="Arial" charset="0"/>
              </a:rPr>
              <a:t>（</a:t>
            </a:r>
            <a:r>
              <a:rPr kumimoji="0" lang="en-US" altLang="zh-CN" sz="2000" b="0" kern="0" dirty="0">
                <a:solidFill>
                  <a:srgbClr val="0000CC"/>
                </a:solidFill>
                <a:latin typeface="Arial" charset="0"/>
                <a:ea typeface="宋体"/>
                <a:cs typeface="Arial" charset="0"/>
              </a:rPr>
              <a:t>FEC</a:t>
            </a:r>
            <a:r>
              <a:rPr kumimoji="0" lang="zh-CN" altLang="en-US" sz="2000" b="0" kern="0" dirty="0">
                <a:solidFill>
                  <a:srgbClr val="0000CC"/>
                </a:solidFill>
                <a:latin typeface="Arial" charset="0"/>
                <a:ea typeface="宋体"/>
                <a:cs typeface="Arial" charset="0"/>
              </a:rPr>
              <a:t>）</a:t>
            </a:r>
            <a:r>
              <a:rPr kumimoji="0" lang="zh-CN" altLang="en-US" sz="2000" b="0" kern="0" dirty="0">
                <a:solidFill>
                  <a:srgbClr val="000000"/>
                </a:solidFill>
                <a:latin typeface="微软雅黑" pitchFamily="34" charset="-122"/>
                <a:ea typeface="微软雅黑" pitchFamily="34" charset="-122"/>
              </a:rPr>
              <a:t>方法相比</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1000"/>
                                        <p:tgtEl>
                                          <p:spTgt spid="8"/>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2000"/>
                                        <p:tgtEl>
                                          <p:spTgt spid="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up)">
                                      <p:cBhvr>
                                        <p:cTn id="16" dur="1000"/>
                                        <p:tgtEl>
                                          <p:spTgt spid="4"/>
                                        </p:tgtEl>
                                      </p:cBhvr>
                                    </p:animEffect>
                                  </p:childTnLst>
                                </p:cTn>
                              </p:par>
                            </p:childTnLst>
                          </p:cTn>
                        </p:par>
                        <p:par>
                          <p:cTn id="17" fill="hold" nodeType="afterGroup">
                            <p:stCondLst>
                              <p:cond delay="1000"/>
                            </p:stCondLst>
                            <p:childTnLst>
                              <p:par>
                                <p:cTn id="18" presetID="22" presetClass="entr" presetSubtype="1"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up)">
                                      <p:cBhvr>
                                        <p:cTn id="20"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7" grpId="0" animBg="1"/>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5" name="Picture 5" descr="t0901">
            <a:extLst>
              <a:ext uri="{FF2B5EF4-FFF2-40B4-BE49-F238E27FC236}">
                <a16:creationId xmlns:a16="http://schemas.microsoft.com/office/drawing/2014/main" id="{DEEBA56B-CC38-D136-539A-F282E26C08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8688" y="1963738"/>
            <a:ext cx="7643812" cy="160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DFF843AB-9BDF-7043-31A3-453CB282FDBA}"/>
              </a:ext>
            </a:extLst>
          </p:cNvPr>
          <p:cNvSpPr/>
          <p:nvPr/>
        </p:nvSpPr>
        <p:spPr>
          <a:xfrm>
            <a:off x="571500" y="1042988"/>
            <a:ext cx="4786313" cy="528637"/>
          </a:xfrm>
          <a:prstGeom prst="rect">
            <a:avLst/>
          </a:prstGeom>
        </p:spPr>
        <p:txBody>
          <a:bodyPr>
            <a:spAutoFit/>
          </a:bodyPr>
          <a:lstStyle/>
          <a:p>
            <a:pPr marL="342900" indent="-342900" eaLnBrk="0" hangingPunct="0">
              <a:lnSpc>
                <a:spcPts val="3400"/>
              </a:lnSpc>
              <a:spcBef>
                <a:spcPct val="20000"/>
              </a:spcBef>
              <a:buClr>
                <a:srgbClr val="3333CC"/>
              </a:buClr>
              <a:buSzPct val="60000"/>
              <a:buFont typeface="Wingdings" pitchFamily="2" charset="2"/>
              <a:buChar char="u"/>
              <a:defRPr/>
            </a:pPr>
            <a:r>
              <a:rPr kumimoji="0" lang="en-US" altLang="zh-CN" sz="2800" kern="0" dirty="0">
                <a:solidFill>
                  <a:srgbClr val="003399"/>
                </a:solidFill>
                <a:latin typeface="微软雅黑" pitchFamily="34" charset="-122"/>
                <a:ea typeface="微软雅黑" pitchFamily="34" charset="-122"/>
              </a:rPr>
              <a:t>ARQ</a:t>
            </a:r>
            <a:r>
              <a:rPr kumimoji="0" lang="zh-CN" altLang="en-US" sz="2800" kern="0" dirty="0">
                <a:solidFill>
                  <a:srgbClr val="003399"/>
                </a:solidFill>
                <a:latin typeface="微软雅黑" pitchFamily="34" charset="-122"/>
                <a:ea typeface="微软雅黑" pitchFamily="34" charset="-122"/>
              </a:rPr>
              <a:t>系统的原理方框图</a:t>
            </a:r>
            <a:endParaRPr kumimoji="0" lang="zh-CN" altLang="en-US" sz="2800" b="0" kern="0" dirty="0">
              <a:solidFill>
                <a:srgbClr val="003399"/>
              </a:solidFill>
              <a:latin typeface="微软雅黑" pitchFamily="34" charset="-122"/>
              <a:ea typeface="微软雅黑" pitchFamily="34" charset="-122"/>
            </a:endParaRPr>
          </a:p>
        </p:txBody>
      </p:sp>
      <p:pic>
        <p:nvPicPr>
          <p:cNvPr id="7" name="Picture 6">
            <a:extLst>
              <a:ext uri="{FF2B5EF4-FFF2-40B4-BE49-F238E27FC236}">
                <a16:creationId xmlns:a16="http://schemas.microsoft.com/office/drawing/2014/main" id="{37F659DF-B7A3-BF07-7366-D77C09FFD9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2670"/>
          <a:stretch>
            <a:fillRect/>
          </a:stretch>
        </p:blipFill>
        <p:spPr bwMode="auto">
          <a:xfrm>
            <a:off x="714375" y="3929063"/>
            <a:ext cx="78581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6">
            <a:extLst>
              <a:ext uri="{FF2B5EF4-FFF2-40B4-BE49-F238E27FC236}">
                <a16:creationId xmlns:a16="http://schemas.microsoft.com/office/drawing/2014/main" id="{21C51E33-E454-E5A0-122F-AB669740E2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287" b="-574"/>
          <a:stretch>
            <a:fillRect/>
          </a:stretch>
        </p:blipFill>
        <p:spPr bwMode="auto">
          <a:xfrm>
            <a:off x="714375" y="5214938"/>
            <a:ext cx="7858125" cy="1214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1000"/>
                                        <p:tgtEl>
                                          <p:spTgt spid="8"/>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30725"/>
                                        </p:tgtEl>
                                        <p:attrNameLst>
                                          <p:attrName>style.visibility</p:attrName>
                                        </p:attrNameLst>
                                      </p:cBhvr>
                                      <p:to>
                                        <p:strVal val="visible"/>
                                      </p:to>
                                    </p:set>
                                    <p:animEffect transition="in" filter="wipe(up)">
                                      <p:cBhvr>
                                        <p:cTn id="11" dur="2000"/>
                                        <p:tgtEl>
                                          <p:spTgt spid="3072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up)">
                                      <p:cBhvr>
                                        <p:cTn id="16" dur="1000"/>
                                        <p:tgtEl>
                                          <p:spTgt spid="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up)">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5" descr="t0901">
            <a:extLst>
              <a:ext uri="{FF2B5EF4-FFF2-40B4-BE49-F238E27FC236}">
                <a16:creationId xmlns:a16="http://schemas.microsoft.com/office/drawing/2014/main" id="{14E67004-6CED-7AC1-334C-179C330210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75" y="4357688"/>
            <a:ext cx="7929563" cy="166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4" name="Picture 6">
            <a:extLst>
              <a:ext uri="{FF2B5EF4-FFF2-40B4-BE49-F238E27FC236}">
                <a16:creationId xmlns:a16="http://schemas.microsoft.com/office/drawing/2014/main" id="{314B92FE-3326-D45D-8917-AD233FB380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813" y="1071563"/>
            <a:ext cx="7786687" cy="156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5" name="Picture 7">
            <a:extLst>
              <a:ext uri="{FF2B5EF4-FFF2-40B4-BE49-F238E27FC236}">
                <a16:creationId xmlns:a16="http://schemas.microsoft.com/office/drawing/2014/main" id="{A802B690-7A44-7888-E26A-53CBF38C57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4538" y="2814638"/>
            <a:ext cx="8042275" cy="110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78854"/>
                                        </p:tgtEl>
                                        <p:attrNameLst>
                                          <p:attrName>style.visibility</p:attrName>
                                        </p:attrNameLst>
                                      </p:cBhvr>
                                      <p:to>
                                        <p:strVal val="visible"/>
                                      </p:to>
                                    </p:set>
                                    <p:animEffect transition="in" filter="wipe(up)">
                                      <p:cBhvr>
                                        <p:cTn id="7" dur="2000"/>
                                        <p:tgtEl>
                                          <p:spTgt spid="788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8855"/>
                                        </p:tgtEl>
                                        <p:attrNameLst>
                                          <p:attrName>style.visibility</p:attrName>
                                        </p:attrNameLst>
                                      </p:cBhvr>
                                      <p:to>
                                        <p:strVal val="visible"/>
                                      </p:to>
                                    </p:set>
                                    <p:animEffect transition="in" filter="wipe(up)">
                                      <p:cBhvr>
                                        <p:cTn id="12" dur="2000"/>
                                        <p:tgtEl>
                                          <p:spTgt spid="788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矩形 4">
            <a:extLst>
              <a:ext uri="{FF2B5EF4-FFF2-40B4-BE49-F238E27FC236}">
                <a16:creationId xmlns:a16="http://schemas.microsoft.com/office/drawing/2014/main" id="{4A524E6B-4F98-ABC0-AEAF-F93CDC0460F5}"/>
              </a:ext>
            </a:extLst>
          </p:cNvPr>
          <p:cNvSpPr>
            <a:spLocks noChangeArrowheads="1"/>
          </p:cNvSpPr>
          <p:nvPr/>
        </p:nvSpPr>
        <p:spPr bwMode="auto">
          <a:xfrm>
            <a:off x="642938" y="2214563"/>
            <a:ext cx="1927225" cy="708025"/>
          </a:xfrm>
          <a:prstGeom prst="rect">
            <a:avLst/>
          </a:prstGeom>
          <a:noFill/>
          <a:ln w="9525">
            <a:noFill/>
            <a:miter lim="800000"/>
            <a:headEnd/>
            <a:tailEnd/>
          </a:ln>
        </p:spPr>
        <p:txBody>
          <a:bodyPr wrap="none">
            <a:spAutoFit/>
          </a:bodyPr>
          <a:lstStyle/>
          <a:p>
            <a:pPr eaLnBrk="0" hangingPunct="0">
              <a:defRPr/>
            </a:pPr>
            <a:r>
              <a:rPr lang="en-US" altLang="en-US" sz="4000" u="sng" dirty="0">
                <a:solidFill>
                  <a:srgbClr val="800080"/>
                </a:solidFill>
                <a:effectLst>
                  <a:outerShdw blurRad="38100" dist="38100" dir="2700000" algn="tl">
                    <a:srgbClr val="000000">
                      <a:alpha val="43137"/>
                    </a:srgbClr>
                  </a:outerShdw>
                </a:effectLst>
                <a:latin typeface="+mn-ea"/>
                <a:ea typeface="+mn-ea"/>
              </a:rPr>
              <a:t>§</a:t>
            </a:r>
            <a:r>
              <a:rPr lang="en-US" altLang="en-US" sz="4000" u="sng" dirty="0">
                <a:solidFill>
                  <a:srgbClr val="80008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11</a:t>
            </a:r>
            <a:r>
              <a:rPr lang="en-US" altLang="zh-CN" sz="4000" u="sng" dirty="0">
                <a:solidFill>
                  <a:srgbClr val="80008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.2</a:t>
            </a:r>
            <a:r>
              <a:rPr lang="en-US" altLang="zh-CN" sz="4000" u="sng" dirty="0">
                <a:solidFill>
                  <a:srgbClr val="800080"/>
                </a:solidFill>
                <a:effectLst>
                  <a:outerShdw blurRad="38100" dist="38100" dir="2700000" algn="tl">
                    <a:srgbClr val="000000">
                      <a:alpha val="43137"/>
                    </a:srgbClr>
                  </a:outerShdw>
                </a:effectLst>
                <a:ea typeface="微软雅黑" pitchFamily="34" charset="-122"/>
                <a:cs typeface="Arial" charset="0"/>
              </a:rPr>
              <a:t> </a:t>
            </a:r>
            <a:endParaRPr lang="zh-CN" altLang="en-US" sz="4000" u="sng" dirty="0">
              <a:solidFill>
                <a:srgbClr val="800080"/>
              </a:solidFill>
              <a:effectLst>
                <a:outerShdw blurRad="38100" dist="38100" dir="2700000" algn="tl">
                  <a:srgbClr val="000000">
                    <a:alpha val="43137"/>
                  </a:srgbClr>
                </a:outerShdw>
              </a:effectLst>
            </a:endParaRPr>
          </a:p>
        </p:txBody>
      </p:sp>
      <p:sp>
        <p:nvSpPr>
          <p:cNvPr id="5" name="矩形 4">
            <a:extLst>
              <a:ext uri="{FF2B5EF4-FFF2-40B4-BE49-F238E27FC236}">
                <a16:creationId xmlns:a16="http://schemas.microsoft.com/office/drawing/2014/main" id="{167B5150-4A29-C039-9A16-FECE04D99D59}"/>
              </a:ext>
            </a:extLst>
          </p:cNvPr>
          <p:cNvSpPr/>
          <p:nvPr/>
        </p:nvSpPr>
        <p:spPr>
          <a:xfrm>
            <a:off x="2428875" y="3429000"/>
            <a:ext cx="5430838" cy="769938"/>
          </a:xfrm>
          <a:prstGeom prst="rect">
            <a:avLst/>
          </a:prstGeom>
          <a:effectLst>
            <a:outerShdw blurRad="50800" dist="38100" dir="2700000" algn="tl" rotWithShape="0">
              <a:prstClr val="black">
                <a:alpha val="40000"/>
              </a:prstClr>
            </a:outerShdw>
          </a:effectLst>
        </p:spPr>
        <p:txBody>
          <a:bodyPr wrap="none">
            <a:spAutoFit/>
          </a:bodyPr>
          <a:lstStyle/>
          <a:p>
            <a:pPr>
              <a:defRPr/>
            </a:pPr>
            <a:r>
              <a:rPr lang="zh-CN" altLang="en-US" sz="4400" dirty="0">
                <a:solidFill>
                  <a:srgbClr val="003399"/>
                </a:solidFill>
                <a:latin typeface="微软雅黑" pitchFamily="34" charset="-122"/>
                <a:ea typeface="微软雅黑" pitchFamily="34" charset="-122"/>
              </a:rPr>
              <a:t>纠错编码</a:t>
            </a:r>
            <a:r>
              <a:rPr lang="zh-CN" altLang="en-US" sz="4400" b="0" dirty="0">
                <a:solidFill>
                  <a:srgbClr val="003399"/>
                </a:solidFill>
                <a:effectLst>
                  <a:outerShdw blurRad="38100" dist="38100" dir="2700000" algn="tl">
                    <a:srgbClr val="000000">
                      <a:alpha val="43137"/>
                    </a:srgbClr>
                  </a:outerShdw>
                </a:effectLst>
                <a:latin typeface="微软雅黑" pitchFamily="34" charset="-122"/>
                <a:ea typeface="微软雅黑" pitchFamily="34" charset="-122"/>
              </a:rPr>
              <a:t>的</a:t>
            </a:r>
            <a:r>
              <a:rPr lang="zh-CN" altLang="en-US" sz="4400" dirty="0">
                <a:solidFill>
                  <a:srgbClr val="003399"/>
                </a:solidFill>
                <a:latin typeface="微软雅黑" pitchFamily="34" charset="-122"/>
                <a:ea typeface="微软雅黑" pitchFamily="34" charset="-122"/>
              </a:rPr>
              <a:t>基本原理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927" name="Picture 31">
            <a:extLst>
              <a:ext uri="{FF2B5EF4-FFF2-40B4-BE49-F238E27FC236}">
                <a16:creationId xmlns:a16="http://schemas.microsoft.com/office/drawing/2014/main" id="{4FB76DC7-734E-07EA-7D91-1949C7B64B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4488" y="4857750"/>
            <a:ext cx="3214687"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24" name="Picture 28">
            <a:extLst>
              <a:ext uri="{FF2B5EF4-FFF2-40B4-BE49-F238E27FC236}">
                <a16:creationId xmlns:a16="http://schemas.microsoft.com/office/drawing/2014/main" id="{B1CBD044-B5CD-A2F3-43F5-67635FD0EC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8100" y="2228850"/>
            <a:ext cx="2430463" cy="241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3">
            <a:extLst>
              <a:ext uri="{FF2B5EF4-FFF2-40B4-BE49-F238E27FC236}">
                <a16:creationId xmlns:a16="http://schemas.microsoft.com/office/drawing/2014/main" id="{F52DA9F8-F466-872F-FBAF-DFF6F4F87040}"/>
              </a:ext>
            </a:extLst>
          </p:cNvPr>
          <p:cNvSpPr txBox="1">
            <a:spLocks noChangeArrowheads="1"/>
          </p:cNvSpPr>
          <p:nvPr/>
        </p:nvSpPr>
        <p:spPr>
          <a:xfrm>
            <a:off x="6357938" y="3729038"/>
            <a:ext cx="2357437" cy="857250"/>
          </a:xfrm>
          <a:prstGeom prst="rect">
            <a:avLst/>
          </a:prstGeom>
        </p:spPr>
        <p:txBody>
          <a:bodyPr/>
          <a:lstStyle/>
          <a:p>
            <a:pPr marL="342900" indent="-342900" eaLnBrk="0" hangingPunct="0">
              <a:lnSpc>
                <a:spcPts val="2600"/>
              </a:lnSpc>
              <a:spcBef>
                <a:spcPct val="20000"/>
              </a:spcBef>
              <a:buClr>
                <a:srgbClr val="FF9933"/>
              </a:buClr>
              <a:buSzPct val="65000"/>
              <a:defRPr/>
            </a:pP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规则：使码组中</a:t>
            </a:r>
            <a:endParaRPr kumimoji="0" lang="en-US" altLang="zh-CN"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a:p>
            <a:pPr marL="342900" indent="-342900" eaLnBrk="0" hangingPunct="0">
              <a:lnSpc>
                <a:spcPts val="2600"/>
              </a:lnSpc>
              <a:spcBef>
                <a:spcPct val="20000"/>
              </a:spcBef>
              <a:buClr>
                <a:srgbClr val="FF9933"/>
              </a:buClr>
              <a:buSzPct val="65000"/>
              <a:defRPr/>
            </a:pPr>
            <a:r>
              <a:rPr kumimoji="0" lang="zh-CN" altLang="en-US" sz="2000" kern="0" dirty="0">
                <a:solidFill>
                  <a:schemeClr val="tx1"/>
                </a:solidFill>
                <a:effectLst>
                  <a:outerShdw blurRad="38100" dist="38100" dir="2700000" algn="tl">
                    <a:srgbClr val="000000">
                      <a:alpha val="43137"/>
                    </a:srgbClr>
                  </a:outerShdw>
                </a:effectLst>
                <a:latin typeface="+mn-ea"/>
                <a:ea typeface="+mn-ea"/>
                <a:cs typeface="Arial" pitchFamily="34" charset="0"/>
              </a:rPr>
              <a:t>“</a:t>
            </a:r>
            <a:r>
              <a:rPr kumimoji="0" lang="en-US" altLang="zh-CN" sz="2000" kern="0" dirty="0">
                <a:solidFill>
                  <a:schemeClr val="tx1"/>
                </a:solidFill>
                <a:effectLst>
                  <a:outerShdw blurRad="38100" dist="38100" dir="2700000" algn="tl">
                    <a:srgbClr val="000000">
                      <a:alpha val="43137"/>
                    </a:srgbClr>
                  </a:outerShdw>
                </a:effectLst>
                <a:latin typeface="+mn-ea"/>
                <a:ea typeface="+mn-ea"/>
                <a:cs typeface="Arial" pitchFamily="34" charset="0"/>
              </a:rPr>
              <a:t>1”</a:t>
            </a: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的个数为偶数</a:t>
            </a:r>
          </a:p>
        </p:txBody>
      </p:sp>
      <p:sp>
        <p:nvSpPr>
          <p:cNvPr id="3" name="矩形 2">
            <a:extLst>
              <a:ext uri="{FF2B5EF4-FFF2-40B4-BE49-F238E27FC236}">
                <a16:creationId xmlns:a16="http://schemas.microsoft.com/office/drawing/2014/main" id="{1AC1AFB9-0695-825A-B537-B4F9A6954B4A}"/>
              </a:ext>
            </a:extLst>
          </p:cNvPr>
          <p:cNvSpPr/>
          <p:nvPr/>
        </p:nvSpPr>
        <p:spPr>
          <a:xfrm>
            <a:off x="428625" y="1171575"/>
            <a:ext cx="6643688" cy="436563"/>
          </a:xfrm>
          <a:prstGeom prst="rect">
            <a:avLst/>
          </a:prstGeom>
        </p:spPr>
        <p:txBody>
          <a:bodyPr>
            <a:spAutoFit/>
          </a:bodyPr>
          <a:lstStyle/>
          <a:p>
            <a:pPr marL="342900" indent="-342900" eaLnBrk="0" hangingPunct="0">
              <a:lnSpc>
                <a:spcPct val="80000"/>
              </a:lnSpc>
              <a:spcBef>
                <a:spcPct val="20000"/>
              </a:spcBef>
              <a:buClr>
                <a:srgbClr val="FF0000"/>
              </a:buClr>
              <a:buSzPct val="85000"/>
              <a:buFont typeface="Wingdings" pitchFamily="2" charset="2"/>
              <a:buChar char="n"/>
              <a:defRPr/>
            </a:pPr>
            <a:r>
              <a:rPr kumimoji="0" lang="zh-CN" altLang="en-US" sz="2400" b="0" kern="0" dirty="0">
                <a:solidFill>
                  <a:schemeClr val="tx1"/>
                </a:solidFill>
                <a:latin typeface="黑体" pitchFamily="2" charset="-122"/>
                <a:ea typeface="黑体" pitchFamily="2" charset="-122"/>
                <a:cs typeface="Arial" pitchFamily="34" charset="0"/>
              </a:rPr>
              <a:t>情形</a:t>
            </a:r>
            <a:r>
              <a:rPr kumimoji="0" lang="en-US" altLang="zh-CN" sz="2800" kern="0" dirty="0">
                <a:solidFill>
                  <a:srgbClr val="0066FF"/>
                </a:solidFill>
                <a:latin typeface="黑体" pitchFamily="2" charset="-122"/>
                <a:ea typeface="黑体" pitchFamily="2" charset="-122"/>
                <a:cs typeface="Arial" pitchFamily="34" charset="0"/>
              </a:rPr>
              <a:t>1</a:t>
            </a:r>
            <a:r>
              <a:rPr kumimoji="0" lang="zh-CN" altLang="en-US" sz="2400" b="0" kern="0" dirty="0">
                <a:solidFill>
                  <a:srgbClr val="000000"/>
                </a:solidFill>
                <a:latin typeface="微软雅黑" pitchFamily="34" charset="-122"/>
                <a:ea typeface="微软雅黑" pitchFamily="34" charset="-122"/>
              </a:rPr>
              <a:t>：</a:t>
            </a:r>
            <a:r>
              <a:rPr kumimoji="0" lang="zh-CN" altLang="en-US" sz="2400" kern="0" dirty="0">
                <a:solidFill>
                  <a:srgbClr val="000000"/>
                </a:solidFill>
                <a:latin typeface="微软雅黑" pitchFamily="34" charset="-122"/>
                <a:ea typeface="微软雅黑" pitchFamily="34" charset="-122"/>
              </a:rPr>
              <a:t>没有冗余 </a:t>
            </a:r>
            <a:r>
              <a:rPr kumimoji="0" lang="en-US" altLang="zh-CN" sz="2000" kern="0" dirty="0">
                <a:solidFill>
                  <a:srgbClr val="000000"/>
                </a:solidFill>
                <a:latin typeface="微软雅黑" pitchFamily="34" charset="-122"/>
                <a:ea typeface="微软雅黑" pitchFamily="34" charset="-122"/>
              </a:rPr>
              <a:t>—— </a:t>
            </a:r>
            <a:r>
              <a:rPr kumimoji="0" lang="zh-CN" altLang="en-US" sz="2400" kern="0" dirty="0">
                <a:solidFill>
                  <a:srgbClr val="000000"/>
                </a:solidFill>
                <a:latin typeface="微软雅黑" pitchFamily="34" charset="-122"/>
                <a:ea typeface="微软雅黑" pitchFamily="34" charset="-122"/>
              </a:rPr>
              <a:t>不能发现错误</a:t>
            </a:r>
          </a:p>
        </p:txBody>
      </p:sp>
      <p:sp>
        <p:nvSpPr>
          <p:cNvPr id="4" name="矩形 3">
            <a:extLst>
              <a:ext uri="{FF2B5EF4-FFF2-40B4-BE49-F238E27FC236}">
                <a16:creationId xmlns:a16="http://schemas.microsoft.com/office/drawing/2014/main" id="{A4C6C803-0295-AB84-0A16-4B5A3BD0DC37}"/>
              </a:ext>
            </a:extLst>
          </p:cNvPr>
          <p:cNvSpPr/>
          <p:nvPr/>
        </p:nvSpPr>
        <p:spPr>
          <a:xfrm>
            <a:off x="428625" y="2957513"/>
            <a:ext cx="6786563" cy="523875"/>
          </a:xfrm>
          <a:prstGeom prst="rect">
            <a:avLst/>
          </a:prstGeom>
        </p:spPr>
        <p:txBody>
          <a:bodyPr>
            <a:spAutoFit/>
          </a:bodyPr>
          <a:lstStyle/>
          <a:p>
            <a:pPr marL="342900" indent="-342900" eaLnBrk="0" hangingPunct="0">
              <a:spcBef>
                <a:spcPct val="20000"/>
              </a:spcBef>
              <a:buClr>
                <a:srgbClr val="FF0000"/>
              </a:buClr>
              <a:buSzPct val="85000"/>
              <a:buFont typeface="Wingdings" pitchFamily="2" charset="2"/>
              <a:buChar char="n"/>
              <a:defRPr/>
            </a:pPr>
            <a:r>
              <a:rPr kumimoji="0" lang="zh-CN" altLang="en-US" sz="2400" b="0" kern="0" dirty="0">
                <a:solidFill>
                  <a:schemeClr val="tx1"/>
                </a:solidFill>
                <a:effectLst>
                  <a:outerShdw blurRad="38100" dist="38100" dir="2700000" algn="tl">
                    <a:srgbClr val="000000">
                      <a:alpha val="43137"/>
                    </a:srgbClr>
                  </a:outerShdw>
                </a:effectLst>
                <a:latin typeface="+mn-ea"/>
                <a:ea typeface="+mn-ea"/>
                <a:cs typeface="Arial" pitchFamily="34" charset="0"/>
              </a:rPr>
              <a:t>情形</a:t>
            </a:r>
            <a:r>
              <a:rPr kumimoji="0" lang="en-US" altLang="zh-CN" sz="2800" kern="0" dirty="0">
                <a:solidFill>
                  <a:srgbClr val="0066FF"/>
                </a:solidFill>
                <a:latin typeface="Arial" pitchFamily="34" charset="0"/>
                <a:ea typeface="微软雅黑" pitchFamily="34" charset="-122"/>
                <a:cs typeface="Arial" pitchFamily="34" charset="0"/>
              </a:rPr>
              <a:t>2</a:t>
            </a:r>
            <a:r>
              <a:rPr kumimoji="0" lang="zh-CN" altLang="en-US" sz="2400" b="0" kern="0" dirty="0">
                <a:solidFill>
                  <a:srgbClr val="000000"/>
                </a:solidFill>
                <a:latin typeface="微软雅黑" pitchFamily="34" charset="-122"/>
                <a:ea typeface="微软雅黑" pitchFamily="34" charset="-122"/>
              </a:rPr>
              <a:t>：</a:t>
            </a:r>
            <a:r>
              <a:rPr kumimoji="0" lang="zh-CN" altLang="en-US" sz="2400" kern="0" dirty="0">
                <a:solidFill>
                  <a:srgbClr val="000000"/>
                </a:solidFill>
                <a:latin typeface="微软雅黑" pitchFamily="34" charset="-122"/>
                <a:ea typeface="微软雅黑" pitchFamily="34" charset="-122"/>
              </a:rPr>
              <a:t>加入冗余</a:t>
            </a:r>
            <a:r>
              <a:rPr kumimoji="0" lang="zh-CN" altLang="en-US" sz="2000" kern="0" dirty="0">
                <a:solidFill>
                  <a:srgbClr val="000000"/>
                </a:solidFill>
                <a:latin typeface="微软雅黑" pitchFamily="34" charset="-122"/>
                <a:ea typeface="微软雅黑" pitchFamily="34" charset="-122"/>
              </a:rPr>
              <a:t> </a:t>
            </a:r>
            <a:r>
              <a:rPr kumimoji="0" lang="en-US" altLang="zh-CN" sz="2000" kern="0" dirty="0">
                <a:solidFill>
                  <a:srgbClr val="000000"/>
                </a:solidFill>
                <a:latin typeface="微软雅黑" pitchFamily="34" charset="-122"/>
                <a:ea typeface="微软雅黑" pitchFamily="34" charset="-122"/>
              </a:rPr>
              <a:t>—— </a:t>
            </a:r>
            <a:r>
              <a:rPr kumimoji="0" lang="zh-CN" altLang="en-US" sz="2400" kern="0" dirty="0">
                <a:solidFill>
                  <a:srgbClr val="000000"/>
                </a:solidFill>
                <a:latin typeface="微软雅黑" pitchFamily="34" charset="-122"/>
                <a:ea typeface="微软雅黑" pitchFamily="34" charset="-122"/>
              </a:rPr>
              <a:t>可以发现错误</a:t>
            </a:r>
            <a:endParaRPr kumimoji="0" lang="zh-CN" altLang="en-US" sz="2400" b="0" kern="0" dirty="0">
              <a:solidFill>
                <a:srgbClr val="000000"/>
              </a:solidFill>
              <a:latin typeface="微软雅黑" pitchFamily="34" charset="-122"/>
              <a:ea typeface="微软雅黑" pitchFamily="34" charset="-122"/>
            </a:endParaRPr>
          </a:p>
        </p:txBody>
      </p:sp>
      <p:sp>
        <p:nvSpPr>
          <p:cNvPr id="14" name="矩形 13">
            <a:extLst>
              <a:ext uri="{FF2B5EF4-FFF2-40B4-BE49-F238E27FC236}">
                <a16:creationId xmlns:a16="http://schemas.microsoft.com/office/drawing/2014/main" id="{F5971D02-891B-B447-858E-9D158C1A00CC}"/>
              </a:ext>
            </a:extLst>
          </p:cNvPr>
          <p:cNvSpPr/>
          <p:nvPr/>
        </p:nvSpPr>
        <p:spPr>
          <a:xfrm>
            <a:off x="7519988" y="3113088"/>
            <a:ext cx="838200" cy="400050"/>
          </a:xfrm>
          <a:prstGeom prst="rect">
            <a:avLst/>
          </a:prstGeom>
          <a:solidFill>
            <a:schemeClr val="bg2">
              <a:lumMod val="10000"/>
              <a:lumOff val="90000"/>
            </a:schemeClr>
          </a:solidFill>
          <a:ln>
            <a:solidFill>
              <a:srgbClr val="FF0000"/>
            </a:solidFill>
            <a:prstDash val="dash"/>
          </a:ln>
        </p:spPr>
        <p:txBody>
          <a:bodyPr wrap="none">
            <a:spAutoFit/>
          </a:bodyPr>
          <a:lstStyle/>
          <a:p>
            <a:pPr>
              <a:defRPr/>
            </a:pPr>
            <a:r>
              <a:rPr kumimoji="0" lang="en-US" altLang="zh-CN"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冗余 </a:t>
            </a:r>
            <a:endParaRPr lang="zh-CN" altLang="en-US" dirty="0"/>
          </a:p>
        </p:txBody>
      </p:sp>
      <p:sp>
        <p:nvSpPr>
          <p:cNvPr id="15" name="AutoShape 24">
            <a:extLst>
              <a:ext uri="{FF2B5EF4-FFF2-40B4-BE49-F238E27FC236}">
                <a16:creationId xmlns:a16="http://schemas.microsoft.com/office/drawing/2014/main" id="{B59DAF61-FE20-5F4D-715D-AF33B83B3DF9}"/>
              </a:ext>
            </a:extLst>
          </p:cNvPr>
          <p:cNvSpPr>
            <a:spLocks noChangeArrowheads="1"/>
          </p:cNvSpPr>
          <p:nvPr/>
        </p:nvSpPr>
        <p:spPr bwMode="auto">
          <a:xfrm rot="-417712">
            <a:off x="5956300" y="2473325"/>
            <a:ext cx="357188" cy="1223963"/>
          </a:xfrm>
          <a:prstGeom prst="curvedLeftArrow">
            <a:avLst>
              <a:gd name="adj1" fmla="val 67930"/>
              <a:gd name="adj2" fmla="val 135861"/>
              <a:gd name="adj3" fmla="val 33333"/>
            </a:avLst>
          </a:prstGeom>
          <a:solidFill>
            <a:srgbClr val="D9D9FF"/>
          </a:solidFill>
          <a:ln w="9525">
            <a:solidFill>
              <a:schemeClr val="tx1"/>
            </a:solidFill>
            <a:miter lim="800000"/>
            <a:headEnd/>
            <a:tailEnd/>
          </a:ln>
        </p:spPr>
        <p:txBody>
          <a:bodyPr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6" name="矩形 15">
            <a:extLst>
              <a:ext uri="{FF2B5EF4-FFF2-40B4-BE49-F238E27FC236}">
                <a16:creationId xmlns:a16="http://schemas.microsoft.com/office/drawing/2014/main" id="{5D9DDD1A-A43E-9ACF-4643-484FF7511E36}"/>
              </a:ext>
            </a:extLst>
          </p:cNvPr>
          <p:cNvSpPr/>
          <p:nvPr/>
        </p:nvSpPr>
        <p:spPr>
          <a:xfrm>
            <a:off x="6429375" y="4926013"/>
            <a:ext cx="2006600" cy="503237"/>
          </a:xfrm>
          <a:prstGeom prst="rect">
            <a:avLst/>
          </a:prstGeom>
        </p:spPr>
        <p:txBody>
          <a:bodyPr>
            <a:spAutoFit/>
          </a:bodyPr>
          <a:lstStyle/>
          <a:p>
            <a:pPr>
              <a:lnSpc>
                <a:spcPts val="3200"/>
              </a:lnSpc>
              <a:defRPr/>
            </a:pPr>
            <a:r>
              <a:rPr kumimoji="0" lang="en-US" altLang="zh-CN" sz="2400" dirty="0">
                <a:solidFill>
                  <a:srgbClr val="0000CC"/>
                </a:solidFill>
                <a:effectLst>
                  <a:outerShdw blurRad="38100" dist="38100" dir="2700000" algn="tl">
                    <a:srgbClr val="000000">
                      <a:alpha val="43137"/>
                    </a:srgbClr>
                  </a:outerShdw>
                </a:effectLst>
                <a:latin typeface="Cambria Math"/>
                <a:ea typeface="Cambria Math"/>
                <a:cs typeface="Arial" pitchFamily="34" charset="0"/>
                <a:sym typeface="Symbol" pitchFamily="18" charset="2"/>
              </a:rPr>
              <a:t>⤎ </a:t>
            </a:r>
            <a:r>
              <a:rPr lang="zh-CN" altLang="en-US" sz="2000" b="0" dirty="0">
                <a:solidFill>
                  <a:srgbClr val="000000"/>
                </a:solidFill>
                <a:latin typeface="Arial" pitchFamily="34" charset="0"/>
                <a:ea typeface="微软雅黑" pitchFamily="34" charset="-122"/>
                <a:cs typeface="Arial" pitchFamily="34" charset="0"/>
              </a:rPr>
              <a:t>另外</a:t>
            </a:r>
            <a:r>
              <a:rPr lang="en-US" altLang="zh-CN" sz="2000" b="0" dirty="0">
                <a:solidFill>
                  <a:srgbClr val="000000"/>
                </a:solidFill>
                <a:latin typeface="Arial" pitchFamily="34" charset="0"/>
                <a:ea typeface="微软雅黑" pitchFamily="34" charset="-122"/>
                <a:cs typeface="Arial" pitchFamily="34" charset="0"/>
              </a:rPr>
              <a:t>4</a:t>
            </a:r>
            <a:r>
              <a:rPr lang="zh-CN" altLang="en-US" sz="2000" b="0" dirty="0">
                <a:solidFill>
                  <a:srgbClr val="000000"/>
                </a:solidFill>
                <a:latin typeface="Arial" pitchFamily="34" charset="0"/>
                <a:ea typeface="微软雅黑" pitchFamily="34" charset="-122"/>
                <a:cs typeface="Arial" pitchFamily="34" charset="0"/>
              </a:rPr>
              <a:t>个码组</a:t>
            </a:r>
          </a:p>
        </p:txBody>
      </p:sp>
      <p:grpSp>
        <p:nvGrpSpPr>
          <p:cNvPr id="5" name="组合 27">
            <a:extLst>
              <a:ext uri="{FF2B5EF4-FFF2-40B4-BE49-F238E27FC236}">
                <a16:creationId xmlns:a16="http://schemas.microsoft.com/office/drawing/2014/main" id="{3460F973-4959-3673-743A-A06E3CAEFFE1}"/>
              </a:ext>
            </a:extLst>
          </p:cNvPr>
          <p:cNvGrpSpPr>
            <a:grpSpLocks/>
          </p:cNvGrpSpPr>
          <p:nvPr/>
        </p:nvGrpSpPr>
        <p:grpSpPr bwMode="auto">
          <a:xfrm>
            <a:off x="1485900" y="3886200"/>
            <a:ext cx="1438275" cy="400050"/>
            <a:chOff x="1271338" y="3886146"/>
            <a:chExt cx="1438284" cy="400110"/>
          </a:xfrm>
        </p:grpSpPr>
        <p:grpSp>
          <p:nvGrpSpPr>
            <p:cNvPr id="70675" name="组合 29">
              <a:extLst>
                <a:ext uri="{FF2B5EF4-FFF2-40B4-BE49-F238E27FC236}">
                  <a16:creationId xmlns:a16="http://schemas.microsoft.com/office/drawing/2014/main" id="{405F3F72-140D-D135-E5A8-F760F0A39811}"/>
                </a:ext>
              </a:extLst>
            </p:cNvPr>
            <p:cNvGrpSpPr>
              <a:grpSpLocks/>
            </p:cNvGrpSpPr>
            <p:nvPr/>
          </p:nvGrpSpPr>
          <p:grpSpPr bwMode="auto">
            <a:xfrm>
              <a:off x="1352300" y="4113842"/>
              <a:ext cx="1357322" cy="158978"/>
              <a:chOff x="1600632" y="4000504"/>
              <a:chExt cx="1357322" cy="158978"/>
            </a:xfrm>
          </p:grpSpPr>
          <p:cxnSp>
            <p:nvCxnSpPr>
              <p:cNvPr id="20" name="直接连接符 19">
                <a:extLst>
                  <a:ext uri="{FF2B5EF4-FFF2-40B4-BE49-F238E27FC236}">
                    <a16:creationId xmlns:a16="http://schemas.microsoft.com/office/drawing/2014/main" id="{7241EACA-9A59-ACDF-B530-AAD8D183F8A2}"/>
                  </a:ext>
                </a:extLst>
              </p:cNvPr>
              <p:cNvCxnSpPr/>
              <p:nvPr/>
            </p:nvCxnSpPr>
            <p:spPr bwMode="auto">
              <a:xfrm>
                <a:off x="1600634" y="4144339"/>
                <a:ext cx="1071568" cy="15877"/>
              </a:xfrm>
              <a:prstGeom prst="line">
                <a:avLst/>
              </a:prstGeom>
              <a:solidFill>
                <a:schemeClr val="accent1"/>
              </a:solidFill>
              <a:ln w="19050" cap="flat" cmpd="sng" algn="ctr">
                <a:solidFill>
                  <a:srgbClr val="FF0000"/>
                </a:solidFill>
                <a:prstDash val="solid"/>
                <a:miter lim="800000"/>
                <a:headEnd type="none" w="med" len="med"/>
                <a:tailEnd type="none" w="med" len="med"/>
              </a:ln>
              <a:effectLst>
                <a:outerShdw blurRad="50800" dist="38100" dir="5400000" algn="t" rotWithShape="0">
                  <a:prstClr val="black">
                    <a:alpha val="40000"/>
                  </a:prstClr>
                </a:outerShdw>
              </a:effectLst>
            </p:spPr>
          </p:cxnSp>
          <p:cxnSp>
            <p:nvCxnSpPr>
              <p:cNvPr id="21" name="直接箭头连接符 20">
                <a:extLst>
                  <a:ext uri="{FF2B5EF4-FFF2-40B4-BE49-F238E27FC236}">
                    <a16:creationId xmlns:a16="http://schemas.microsoft.com/office/drawing/2014/main" id="{4415600E-BFE6-8B20-8FFE-BEF9784D529A}"/>
                  </a:ext>
                </a:extLst>
              </p:cNvPr>
              <p:cNvCxnSpPr/>
              <p:nvPr/>
            </p:nvCxnSpPr>
            <p:spPr bwMode="auto">
              <a:xfrm flipV="1">
                <a:off x="2672202" y="3999855"/>
                <a:ext cx="285752" cy="144484"/>
              </a:xfrm>
              <a:prstGeom prst="straightConnector1">
                <a:avLst/>
              </a:prstGeom>
              <a:solidFill>
                <a:schemeClr val="accent1"/>
              </a:solidFill>
              <a:ln w="19050" cap="flat" cmpd="sng" algn="ctr">
                <a:solidFill>
                  <a:srgbClr val="FF0000"/>
                </a:solidFill>
                <a:prstDash val="solid"/>
                <a:miter lim="800000"/>
                <a:headEnd type="none" w="med" len="med"/>
                <a:tailEnd type="arrow"/>
              </a:ln>
              <a:effectLst>
                <a:outerShdw blurRad="50800" dist="38100" dir="5400000" algn="t" rotWithShape="0">
                  <a:prstClr val="black">
                    <a:alpha val="40000"/>
                  </a:prstClr>
                </a:outerShdw>
              </a:effectLst>
            </p:spPr>
          </p:cxnSp>
        </p:grpSp>
        <p:sp>
          <p:nvSpPr>
            <p:cNvPr id="43032" name="矩形 21">
              <a:extLst>
                <a:ext uri="{FF2B5EF4-FFF2-40B4-BE49-F238E27FC236}">
                  <a16:creationId xmlns:a16="http://schemas.microsoft.com/office/drawing/2014/main" id="{B5C9F49C-5390-B647-DEBC-4BE6491C8F4A}"/>
                </a:ext>
              </a:extLst>
            </p:cNvPr>
            <p:cNvSpPr>
              <a:spLocks noChangeArrowheads="1"/>
            </p:cNvSpPr>
            <p:nvPr/>
          </p:nvSpPr>
          <p:spPr bwMode="auto">
            <a:xfrm>
              <a:off x="1271338" y="3886146"/>
              <a:ext cx="1211271" cy="400110"/>
            </a:xfrm>
            <a:prstGeom prst="rect">
              <a:avLst/>
            </a:prstGeom>
            <a:noFill/>
            <a:ln w="9525">
              <a:noFill/>
              <a:miter lim="800000"/>
              <a:headEnd/>
              <a:tailEnd/>
            </a:ln>
          </p:spPr>
          <p:txBody>
            <a:bodyPr wrap="none">
              <a:spAutoFit/>
            </a:bodyPr>
            <a:lstStyle/>
            <a:p>
              <a:pPr algn="ctr">
                <a:defRPr/>
              </a:pPr>
              <a:r>
                <a:rPr lang="zh-CN" altLang="en-US" sz="2000" b="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许用</a:t>
              </a:r>
              <a:r>
                <a:rPr lang="zh-CN" altLang="en-US" sz="2000" dirty="0">
                  <a:solidFill>
                    <a:srgbClr val="000000"/>
                  </a:solidFill>
                  <a:latin typeface="微软雅黑" pitchFamily="34" charset="-122"/>
                  <a:ea typeface="微软雅黑" pitchFamily="34" charset="-122"/>
                </a:rPr>
                <a:t>码组</a:t>
              </a:r>
            </a:p>
          </p:txBody>
        </p:sp>
      </p:grpSp>
      <p:grpSp>
        <p:nvGrpSpPr>
          <p:cNvPr id="7" name="组合 26">
            <a:extLst>
              <a:ext uri="{FF2B5EF4-FFF2-40B4-BE49-F238E27FC236}">
                <a16:creationId xmlns:a16="http://schemas.microsoft.com/office/drawing/2014/main" id="{8A40CD4B-39DE-1DAB-DE75-85DAAB4D6570}"/>
              </a:ext>
            </a:extLst>
          </p:cNvPr>
          <p:cNvGrpSpPr>
            <a:grpSpLocks/>
          </p:cNvGrpSpPr>
          <p:nvPr/>
        </p:nvGrpSpPr>
        <p:grpSpPr bwMode="auto">
          <a:xfrm>
            <a:off x="1458913" y="4986338"/>
            <a:ext cx="1443037" cy="400050"/>
            <a:chOff x="1271338" y="4986744"/>
            <a:chExt cx="1443274" cy="400110"/>
          </a:xfrm>
        </p:grpSpPr>
        <p:grpSp>
          <p:nvGrpSpPr>
            <p:cNvPr id="70671" name="组合 28">
              <a:extLst>
                <a:ext uri="{FF2B5EF4-FFF2-40B4-BE49-F238E27FC236}">
                  <a16:creationId xmlns:a16="http://schemas.microsoft.com/office/drawing/2014/main" id="{86FC6E5B-6458-E3DF-133C-0A5B4FE8E186}"/>
                </a:ext>
              </a:extLst>
            </p:cNvPr>
            <p:cNvGrpSpPr>
              <a:grpSpLocks/>
            </p:cNvGrpSpPr>
            <p:nvPr/>
          </p:nvGrpSpPr>
          <p:grpSpPr bwMode="auto">
            <a:xfrm>
              <a:off x="1357290" y="5214440"/>
              <a:ext cx="1357322" cy="158978"/>
              <a:chOff x="6143636" y="456500"/>
              <a:chExt cx="1357322" cy="158978"/>
            </a:xfrm>
          </p:grpSpPr>
          <p:cxnSp>
            <p:nvCxnSpPr>
              <p:cNvPr id="24" name="直接连接符 23">
                <a:extLst>
                  <a:ext uri="{FF2B5EF4-FFF2-40B4-BE49-F238E27FC236}">
                    <a16:creationId xmlns:a16="http://schemas.microsoft.com/office/drawing/2014/main" id="{E03803F2-58BB-CC09-BF50-7A9F01FF3DCA}"/>
                  </a:ext>
                </a:extLst>
              </p:cNvPr>
              <p:cNvCxnSpPr/>
              <p:nvPr/>
            </p:nvCxnSpPr>
            <p:spPr bwMode="auto">
              <a:xfrm>
                <a:off x="6143423" y="600335"/>
                <a:ext cx="1071738" cy="15877"/>
              </a:xfrm>
              <a:prstGeom prst="line">
                <a:avLst/>
              </a:prstGeom>
              <a:solidFill>
                <a:schemeClr val="accent1"/>
              </a:solidFill>
              <a:ln w="19050" cap="flat" cmpd="sng" algn="ctr">
                <a:solidFill>
                  <a:srgbClr val="0066FF"/>
                </a:solidFill>
                <a:prstDash val="solid"/>
                <a:miter lim="800000"/>
                <a:headEnd type="none" w="med" len="med"/>
                <a:tailEnd type="none" w="med" len="med"/>
              </a:ln>
              <a:effectLst>
                <a:outerShdw blurRad="50800" dist="38100" dir="5400000" algn="t" rotWithShape="0">
                  <a:prstClr val="black">
                    <a:alpha val="40000"/>
                  </a:prstClr>
                </a:outerShdw>
              </a:effectLst>
            </p:spPr>
          </p:cxnSp>
          <p:cxnSp>
            <p:nvCxnSpPr>
              <p:cNvPr id="25" name="直接箭头连接符 24">
                <a:extLst>
                  <a:ext uri="{FF2B5EF4-FFF2-40B4-BE49-F238E27FC236}">
                    <a16:creationId xmlns:a16="http://schemas.microsoft.com/office/drawing/2014/main" id="{FA0905A5-6745-8802-7FFD-DB0A860363EE}"/>
                  </a:ext>
                </a:extLst>
              </p:cNvPr>
              <p:cNvCxnSpPr/>
              <p:nvPr/>
            </p:nvCxnSpPr>
            <p:spPr bwMode="auto">
              <a:xfrm flipV="1">
                <a:off x="7215161" y="455850"/>
                <a:ext cx="285797" cy="144485"/>
              </a:xfrm>
              <a:prstGeom prst="straightConnector1">
                <a:avLst/>
              </a:prstGeom>
              <a:solidFill>
                <a:schemeClr val="accent1"/>
              </a:solidFill>
              <a:ln w="19050" cap="flat" cmpd="sng" algn="ctr">
                <a:solidFill>
                  <a:srgbClr val="0066FF"/>
                </a:solidFill>
                <a:prstDash val="solid"/>
                <a:miter lim="800000"/>
                <a:headEnd type="none" w="med" len="med"/>
                <a:tailEnd type="arrow"/>
              </a:ln>
              <a:effectLst>
                <a:outerShdw blurRad="50800" dist="38100" dir="5400000" algn="t" rotWithShape="0">
                  <a:prstClr val="black">
                    <a:alpha val="40000"/>
                  </a:prstClr>
                </a:outerShdw>
              </a:effectLst>
            </p:spPr>
          </p:cxnSp>
        </p:grpSp>
        <p:sp>
          <p:nvSpPr>
            <p:cNvPr id="43028" name="矩形 25">
              <a:extLst>
                <a:ext uri="{FF2B5EF4-FFF2-40B4-BE49-F238E27FC236}">
                  <a16:creationId xmlns:a16="http://schemas.microsoft.com/office/drawing/2014/main" id="{C46A7BCB-18EF-F95C-2D3C-45A8389A9675}"/>
                </a:ext>
              </a:extLst>
            </p:cNvPr>
            <p:cNvSpPr>
              <a:spLocks noChangeArrowheads="1"/>
            </p:cNvSpPr>
            <p:nvPr/>
          </p:nvSpPr>
          <p:spPr bwMode="auto">
            <a:xfrm>
              <a:off x="1271338" y="4986744"/>
              <a:ext cx="1209874" cy="400110"/>
            </a:xfrm>
            <a:prstGeom prst="rect">
              <a:avLst/>
            </a:prstGeom>
            <a:noFill/>
            <a:ln w="9525">
              <a:noFill/>
              <a:miter lim="800000"/>
              <a:headEnd/>
              <a:tailEnd/>
            </a:ln>
          </p:spPr>
          <p:txBody>
            <a:bodyPr wrap="none">
              <a:spAutoFit/>
            </a:bodyPr>
            <a:lstStyle/>
            <a:p>
              <a:pPr algn="ctr">
                <a:defRPr/>
              </a:pPr>
              <a:r>
                <a:rPr lang="zh-CN" altLang="en-US" sz="2000" b="0" dirty="0">
                  <a:solidFill>
                    <a:srgbClr val="0000CC"/>
                  </a:solidFill>
                  <a:effectLst>
                    <a:outerShdw blurRad="38100" dist="38100" dir="2700000" algn="tl">
                      <a:srgbClr val="000000">
                        <a:alpha val="43137"/>
                      </a:srgbClr>
                    </a:outerShdw>
                  </a:effectLst>
                  <a:latin typeface="微软雅黑" pitchFamily="34" charset="-122"/>
                  <a:ea typeface="微软雅黑" pitchFamily="34" charset="-122"/>
                </a:rPr>
                <a:t>禁用</a:t>
              </a:r>
              <a:r>
                <a:rPr lang="zh-CN" altLang="en-US" sz="2000" dirty="0">
                  <a:solidFill>
                    <a:srgbClr val="000000"/>
                  </a:solidFill>
                  <a:latin typeface="微软雅黑" pitchFamily="34" charset="-122"/>
                  <a:ea typeface="微软雅黑" pitchFamily="34" charset="-122"/>
                </a:rPr>
                <a:t>码组</a:t>
              </a:r>
            </a:p>
          </p:txBody>
        </p:sp>
      </p:grpSp>
      <p:pic>
        <p:nvPicPr>
          <p:cNvPr id="80923" name="Picture 27">
            <a:extLst>
              <a:ext uri="{FF2B5EF4-FFF2-40B4-BE49-F238E27FC236}">
                <a16:creationId xmlns:a16="http://schemas.microsoft.com/office/drawing/2014/main" id="{74AF6C3D-2582-6CD2-FDEB-813052F9FF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75" y="5813425"/>
            <a:ext cx="7286625"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25" name="Picture 29">
            <a:extLst>
              <a:ext uri="{FF2B5EF4-FFF2-40B4-BE49-F238E27FC236}">
                <a16:creationId xmlns:a16="http://schemas.microsoft.com/office/drawing/2014/main" id="{4A710197-2EE3-DFDC-421C-0F79AC354C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60713" y="1714500"/>
            <a:ext cx="2557462"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26" name="Picture 30">
            <a:extLst>
              <a:ext uri="{FF2B5EF4-FFF2-40B4-BE49-F238E27FC236}">
                <a16:creationId xmlns:a16="http://schemas.microsoft.com/office/drawing/2014/main" id="{5433795B-64C0-F06E-FC93-AF17D389213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8775" y="3636963"/>
            <a:ext cx="3148013"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1000"/>
                                        <p:tgtEl>
                                          <p:spTgt spid="3"/>
                                        </p:tgtEl>
                                      </p:cBhvr>
                                    </p:animEffect>
                                  </p:childTnLst>
                                </p:cTn>
                              </p:par>
                            </p:childTnLst>
                          </p:cTn>
                        </p:par>
                        <p:par>
                          <p:cTn id="8" fill="hold" nodeType="afterGroup">
                            <p:stCondLst>
                              <p:cond delay="1000"/>
                            </p:stCondLst>
                            <p:childTnLst>
                              <p:par>
                                <p:cTn id="9" presetID="3" presetClass="entr" presetSubtype="5" fill="hold" nodeType="afterEffect">
                                  <p:stCondLst>
                                    <p:cond delay="0"/>
                                  </p:stCondLst>
                                  <p:childTnLst>
                                    <p:set>
                                      <p:cBhvr>
                                        <p:cTn id="10" dur="1" fill="hold">
                                          <p:stCondLst>
                                            <p:cond delay="0"/>
                                          </p:stCondLst>
                                        </p:cTn>
                                        <p:tgtEl>
                                          <p:spTgt spid="80925"/>
                                        </p:tgtEl>
                                        <p:attrNameLst>
                                          <p:attrName>style.visibility</p:attrName>
                                        </p:attrNameLst>
                                      </p:cBhvr>
                                      <p:to>
                                        <p:strVal val="visible"/>
                                      </p:to>
                                    </p:set>
                                    <p:animEffect transition="in" filter="blinds(vertical)">
                                      <p:cBhvr>
                                        <p:cTn id="11" dur="500"/>
                                        <p:tgtEl>
                                          <p:spTgt spid="8092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up)">
                                      <p:cBhvr>
                                        <p:cTn id="16" dur="1000"/>
                                        <p:tgtEl>
                                          <p:spTgt spid="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80924"/>
                                        </p:tgtEl>
                                        <p:attrNameLst>
                                          <p:attrName>style.visibility</p:attrName>
                                        </p:attrNameLst>
                                      </p:cBhvr>
                                      <p:to>
                                        <p:strVal val="visible"/>
                                      </p:to>
                                    </p:set>
                                    <p:animEffect transition="in" filter="wipe(up)">
                                      <p:cBhvr>
                                        <p:cTn id="21" dur="1000"/>
                                        <p:tgtEl>
                                          <p:spTgt spid="80924"/>
                                        </p:tgtEl>
                                      </p:cBhvr>
                                    </p:animEffect>
                                  </p:childTnLst>
                                </p:cTn>
                              </p:par>
                            </p:childTnLst>
                          </p:cTn>
                        </p:par>
                        <p:par>
                          <p:cTn id="22" fill="hold" nodeType="afterGroup">
                            <p:stCondLst>
                              <p:cond delay="1000"/>
                            </p:stCondLst>
                            <p:childTnLst>
                              <p:par>
                                <p:cTn id="23" presetID="20" presetClass="entr" presetSubtype="0" fill="hold" nodeType="after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edge">
                                      <p:cBhvr>
                                        <p:cTn id="25" dur="2000"/>
                                        <p:tgtEl>
                                          <p:spTgt spid="1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2" presetClass="entr" presetSubtype="0" fill="hold" nodeType="clickEffect">
                                  <p:stCondLst>
                                    <p:cond delay="0"/>
                                  </p:stCondLst>
                                  <p:childTnLst>
                                    <p:set>
                                      <p:cBhvr>
                                        <p:cTn id="29" dur="1" fill="hold">
                                          <p:stCondLst>
                                            <p:cond delay="0"/>
                                          </p:stCondLst>
                                        </p:cTn>
                                        <p:tgtEl>
                                          <p:spTgt spid="2">
                                            <p:txEl>
                                              <p:pRg st="0" end="0"/>
                                            </p:txEl>
                                          </p:spTgt>
                                        </p:tgtEl>
                                        <p:attrNameLst>
                                          <p:attrName>style.visibility</p:attrName>
                                        </p:attrNameLst>
                                      </p:cBhvr>
                                      <p:to>
                                        <p:strVal val="visible"/>
                                      </p:to>
                                    </p:set>
                                    <p:animEffect transition="in" filter="fade">
                                      <p:cBhvr>
                                        <p:cTn id="30" dur="1000"/>
                                        <p:tgtEl>
                                          <p:spTgt spid="2">
                                            <p:txEl>
                                              <p:pRg st="0" end="0"/>
                                            </p:txEl>
                                          </p:spTgt>
                                        </p:tgtEl>
                                      </p:cBhvr>
                                    </p:animEffect>
                                    <p:anim calcmode="lin" valueType="num">
                                      <p:cBhvr>
                                        <p:cTn id="31"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32"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par>
                          <p:cTn id="33" fill="hold" nodeType="afterGroup">
                            <p:stCondLst>
                              <p:cond delay="1000"/>
                            </p:stCondLst>
                            <p:childTnLst>
                              <p:par>
                                <p:cTn id="34" presetID="42" presetClass="entr" presetSubtype="0" fill="hold" nodeType="afterEffect">
                                  <p:stCondLst>
                                    <p:cond delay="0"/>
                                  </p:stCondLst>
                                  <p:childTnLst>
                                    <p:set>
                                      <p:cBhvr>
                                        <p:cTn id="35" dur="1" fill="hold">
                                          <p:stCondLst>
                                            <p:cond delay="0"/>
                                          </p:stCondLst>
                                        </p:cTn>
                                        <p:tgtEl>
                                          <p:spTgt spid="2">
                                            <p:txEl>
                                              <p:pRg st="1" end="1"/>
                                            </p:txEl>
                                          </p:spTgt>
                                        </p:tgtEl>
                                        <p:attrNameLst>
                                          <p:attrName>style.visibility</p:attrName>
                                        </p:attrNameLst>
                                      </p:cBhvr>
                                      <p:to>
                                        <p:strVal val="visible"/>
                                      </p:to>
                                    </p:set>
                                    <p:animEffect transition="in" filter="fade">
                                      <p:cBhvr>
                                        <p:cTn id="36" dur="1000"/>
                                        <p:tgtEl>
                                          <p:spTgt spid="2">
                                            <p:txEl>
                                              <p:pRg st="1" end="1"/>
                                            </p:txEl>
                                          </p:spTgt>
                                        </p:tgtEl>
                                      </p:cBhvr>
                                    </p:animEffect>
                                    <p:anim calcmode="lin" valueType="num">
                                      <p:cBhvr>
                                        <p:cTn id="37"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38"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up)">
                                      <p:cBhvr>
                                        <p:cTn id="43" dur="1000"/>
                                        <p:tgtEl>
                                          <p:spTgt spid="15"/>
                                        </p:tgtEl>
                                      </p:cBhvr>
                                    </p:animEffect>
                                  </p:childTnLst>
                                </p:cTn>
                              </p:par>
                            </p:childTnLst>
                          </p:cTn>
                        </p:par>
                        <p:par>
                          <p:cTn id="44" fill="hold" nodeType="afterGroup">
                            <p:stCondLst>
                              <p:cond delay="1000"/>
                            </p:stCondLst>
                            <p:childTnLst>
                              <p:par>
                                <p:cTn id="45" presetID="3" presetClass="entr" presetSubtype="5" fill="hold" nodeType="afterEffect">
                                  <p:stCondLst>
                                    <p:cond delay="0"/>
                                  </p:stCondLst>
                                  <p:childTnLst>
                                    <p:set>
                                      <p:cBhvr>
                                        <p:cTn id="46" dur="1" fill="hold">
                                          <p:stCondLst>
                                            <p:cond delay="0"/>
                                          </p:stCondLst>
                                        </p:cTn>
                                        <p:tgtEl>
                                          <p:spTgt spid="80926"/>
                                        </p:tgtEl>
                                        <p:attrNameLst>
                                          <p:attrName>style.visibility</p:attrName>
                                        </p:attrNameLst>
                                      </p:cBhvr>
                                      <p:to>
                                        <p:strVal val="visible"/>
                                      </p:to>
                                    </p:set>
                                    <p:animEffect transition="in" filter="blinds(vertical)">
                                      <p:cBhvr>
                                        <p:cTn id="47" dur="500"/>
                                        <p:tgtEl>
                                          <p:spTgt spid="8092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2"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wipe(right)">
                                      <p:cBhvr>
                                        <p:cTn id="52" dur="1000"/>
                                        <p:tgtEl>
                                          <p:spTgt spid="16"/>
                                        </p:tgtEl>
                                      </p:cBhvr>
                                    </p:animEffect>
                                  </p:childTnLst>
                                </p:cTn>
                              </p:par>
                            </p:childTnLst>
                          </p:cTn>
                        </p:par>
                        <p:par>
                          <p:cTn id="53" fill="hold" nodeType="afterGroup">
                            <p:stCondLst>
                              <p:cond delay="1000"/>
                            </p:stCondLst>
                            <p:childTnLst>
                              <p:par>
                                <p:cTn id="54" presetID="22" presetClass="entr" presetSubtype="2" fill="hold" nodeType="afterEffect">
                                  <p:stCondLst>
                                    <p:cond delay="0"/>
                                  </p:stCondLst>
                                  <p:childTnLst>
                                    <p:set>
                                      <p:cBhvr>
                                        <p:cTn id="55" dur="1" fill="hold">
                                          <p:stCondLst>
                                            <p:cond delay="0"/>
                                          </p:stCondLst>
                                        </p:cTn>
                                        <p:tgtEl>
                                          <p:spTgt spid="80927"/>
                                        </p:tgtEl>
                                        <p:attrNameLst>
                                          <p:attrName>style.visibility</p:attrName>
                                        </p:attrNameLst>
                                      </p:cBhvr>
                                      <p:to>
                                        <p:strVal val="visible"/>
                                      </p:to>
                                    </p:set>
                                    <p:animEffect transition="in" filter="wipe(right)">
                                      <p:cBhvr>
                                        <p:cTn id="56" dur="1000"/>
                                        <p:tgtEl>
                                          <p:spTgt spid="80927"/>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2" fill="hold" nodeType="clickEffect">
                                  <p:stCondLst>
                                    <p:cond delay="0"/>
                                  </p:stCondLst>
                                  <p:childTnLst>
                                    <p:set>
                                      <p:cBhvr>
                                        <p:cTn id="60" dur="1" fill="hold">
                                          <p:stCondLst>
                                            <p:cond delay="0"/>
                                          </p:stCondLst>
                                        </p:cTn>
                                        <p:tgtEl>
                                          <p:spTgt spid="7"/>
                                        </p:tgtEl>
                                        <p:attrNameLst>
                                          <p:attrName>style.visibility</p:attrName>
                                        </p:attrNameLst>
                                      </p:cBhvr>
                                      <p:to>
                                        <p:strVal val="visible"/>
                                      </p:to>
                                    </p:set>
                                    <p:animEffect transition="in" filter="wipe(right)">
                                      <p:cBhvr>
                                        <p:cTn id="61" dur="1000"/>
                                        <p:tgtEl>
                                          <p:spTgt spid="7"/>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2" fill="hold" nodeType="clickEffect">
                                  <p:stCondLst>
                                    <p:cond delay="0"/>
                                  </p:stCondLst>
                                  <p:childTnLst>
                                    <p:set>
                                      <p:cBhvr>
                                        <p:cTn id="65" dur="1" fill="hold">
                                          <p:stCondLst>
                                            <p:cond delay="0"/>
                                          </p:stCondLst>
                                        </p:cTn>
                                        <p:tgtEl>
                                          <p:spTgt spid="5"/>
                                        </p:tgtEl>
                                        <p:attrNameLst>
                                          <p:attrName>style.visibility</p:attrName>
                                        </p:attrNameLst>
                                      </p:cBhvr>
                                      <p:to>
                                        <p:strVal val="visible"/>
                                      </p:to>
                                    </p:set>
                                    <p:animEffect transition="in" filter="wipe(right)">
                                      <p:cBhvr>
                                        <p:cTn id="66" dur="1000"/>
                                        <p:tgtEl>
                                          <p:spTgt spid="5"/>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1" fill="hold" nodeType="clickEffect">
                                  <p:stCondLst>
                                    <p:cond delay="0"/>
                                  </p:stCondLst>
                                  <p:childTnLst>
                                    <p:set>
                                      <p:cBhvr>
                                        <p:cTn id="70" dur="1" fill="hold">
                                          <p:stCondLst>
                                            <p:cond delay="0"/>
                                          </p:stCondLst>
                                        </p:cTn>
                                        <p:tgtEl>
                                          <p:spTgt spid="80923"/>
                                        </p:tgtEl>
                                        <p:attrNameLst>
                                          <p:attrName>style.visibility</p:attrName>
                                        </p:attrNameLst>
                                      </p:cBhvr>
                                      <p:to>
                                        <p:strVal val="visible"/>
                                      </p:to>
                                    </p:set>
                                    <p:animEffect transition="in" filter="wipe(up)">
                                      <p:cBhvr>
                                        <p:cTn id="71" dur="1000"/>
                                        <p:tgtEl>
                                          <p:spTgt spid="809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4" grpId="0" animBg="1"/>
      <p:bldP spid="15" grpId="0" animBg="1"/>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1" name="Picture 21">
            <a:extLst>
              <a:ext uri="{FF2B5EF4-FFF2-40B4-BE49-F238E27FC236}">
                <a16:creationId xmlns:a16="http://schemas.microsoft.com/office/drawing/2014/main" id="{F8A76BD6-A541-BC7C-5BC7-ABE9BF4783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263" y="4572000"/>
            <a:ext cx="7715250" cy="159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40" name="Picture 20">
            <a:extLst>
              <a:ext uri="{FF2B5EF4-FFF2-40B4-BE49-F238E27FC236}">
                <a16:creationId xmlns:a16="http://schemas.microsoft.com/office/drawing/2014/main" id="{81A5C8C5-5A2C-BA7D-477F-0BE72CF12C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1897"/>
          <a:stretch>
            <a:fillRect/>
          </a:stretch>
        </p:blipFill>
        <p:spPr bwMode="auto">
          <a:xfrm>
            <a:off x="758825" y="1116013"/>
            <a:ext cx="7786688"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22">
            <a:extLst>
              <a:ext uri="{FF2B5EF4-FFF2-40B4-BE49-F238E27FC236}">
                <a16:creationId xmlns:a16="http://schemas.microsoft.com/office/drawing/2014/main" id="{6436B31D-D715-D307-511E-D5A1E61F6E86}"/>
              </a:ext>
            </a:extLst>
          </p:cNvPr>
          <p:cNvGrpSpPr>
            <a:grpSpLocks/>
          </p:cNvGrpSpPr>
          <p:nvPr/>
        </p:nvGrpSpPr>
        <p:grpSpPr bwMode="auto">
          <a:xfrm>
            <a:off x="842963" y="4289425"/>
            <a:ext cx="649287" cy="692150"/>
            <a:chOff x="1655" y="845"/>
            <a:chExt cx="454" cy="453"/>
          </a:xfrm>
        </p:grpSpPr>
        <p:grpSp>
          <p:nvGrpSpPr>
            <p:cNvPr id="71691" name="Group 23">
              <a:extLst>
                <a:ext uri="{FF2B5EF4-FFF2-40B4-BE49-F238E27FC236}">
                  <a16:creationId xmlns:a16="http://schemas.microsoft.com/office/drawing/2014/main" id="{62F6AD6F-9627-4678-3537-AB950B847B1F}"/>
                </a:ext>
              </a:extLst>
            </p:cNvPr>
            <p:cNvGrpSpPr>
              <a:grpSpLocks/>
            </p:cNvGrpSpPr>
            <p:nvPr/>
          </p:nvGrpSpPr>
          <p:grpSpPr bwMode="auto">
            <a:xfrm>
              <a:off x="1655" y="845"/>
              <a:ext cx="454" cy="453"/>
              <a:chOff x="1289" y="582"/>
              <a:chExt cx="668" cy="668"/>
            </a:xfrm>
          </p:grpSpPr>
          <p:sp>
            <p:nvSpPr>
              <p:cNvPr id="71693" name="Oval 24">
                <a:extLst>
                  <a:ext uri="{FF2B5EF4-FFF2-40B4-BE49-F238E27FC236}">
                    <a16:creationId xmlns:a16="http://schemas.microsoft.com/office/drawing/2014/main" id="{2600CA81-E4CA-1ACE-44BE-97DD99F314B2}"/>
                  </a:ext>
                </a:extLst>
              </p:cNvPr>
              <p:cNvSpPr>
                <a:spLocks noChangeArrowheads="1"/>
              </p:cNvSpPr>
              <p:nvPr/>
            </p:nvSpPr>
            <p:spPr bwMode="gray">
              <a:xfrm>
                <a:off x="1289" y="582"/>
                <a:ext cx="668" cy="668"/>
              </a:xfrm>
              <a:prstGeom prst="ellipse">
                <a:avLst/>
              </a:prstGeom>
              <a:solidFill>
                <a:srgbClr val="333333"/>
              </a:soli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71694" name="Oval 25">
                <a:extLst>
                  <a:ext uri="{FF2B5EF4-FFF2-40B4-BE49-F238E27FC236}">
                    <a16:creationId xmlns:a16="http://schemas.microsoft.com/office/drawing/2014/main" id="{03A6FDE0-CF74-5DD3-8FD7-A4D940815978}"/>
                  </a:ext>
                </a:extLst>
              </p:cNvPr>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71695" name="Oval 26">
                <a:extLst>
                  <a:ext uri="{FF2B5EF4-FFF2-40B4-BE49-F238E27FC236}">
                    <a16:creationId xmlns:a16="http://schemas.microsoft.com/office/drawing/2014/main" id="{DDF3D457-B5A2-5ED5-82B9-A80F1BE82C69}"/>
                  </a:ext>
                </a:extLst>
              </p:cNvPr>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71696" name="Oval 27">
                <a:extLst>
                  <a:ext uri="{FF2B5EF4-FFF2-40B4-BE49-F238E27FC236}">
                    <a16:creationId xmlns:a16="http://schemas.microsoft.com/office/drawing/2014/main" id="{64D57615-7FE9-EB59-4718-56E6E8A2B444}"/>
                  </a:ext>
                </a:extLst>
              </p:cNvPr>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71697" name="Oval 28">
                <a:extLst>
                  <a:ext uri="{FF2B5EF4-FFF2-40B4-BE49-F238E27FC236}">
                    <a16:creationId xmlns:a16="http://schemas.microsoft.com/office/drawing/2014/main" id="{5C38BABB-825B-AAB2-FE51-2A4F85B9837B}"/>
                  </a:ext>
                </a:extLst>
              </p:cNvPr>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pSp>
        <p:sp>
          <p:nvSpPr>
            <p:cNvPr id="71692" name="Text Box 29">
              <a:extLst>
                <a:ext uri="{FF2B5EF4-FFF2-40B4-BE49-F238E27FC236}">
                  <a16:creationId xmlns:a16="http://schemas.microsoft.com/office/drawing/2014/main" id="{4C1A8B53-A11F-4A24-E9CD-E4B14E1AD3E5}"/>
                </a:ext>
              </a:extLst>
            </p:cNvPr>
            <p:cNvSpPr txBox="1">
              <a:spLocks noChangeArrowheads="1"/>
            </p:cNvSpPr>
            <p:nvPr/>
          </p:nvSpPr>
          <p:spPr bwMode="gray">
            <a:xfrm>
              <a:off x="1666" y="902"/>
              <a:ext cx="379"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zh-CN" altLang="en-US" sz="2800">
                  <a:solidFill>
                    <a:srgbClr val="0000CC"/>
                  </a:solidFill>
                </a:rPr>
                <a:t>例</a:t>
              </a:r>
            </a:p>
          </p:txBody>
        </p:sp>
      </p:grpSp>
      <p:sp>
        <p:nvSpPr>
          <p:cNvPr id="71685" name="矩形 21">
            <a:extLst>
              <a:ext uri="{FF2B5EF4-FFF2-40B4-BE49-F238E27FC236}">
                <a16:creationId xmlns:a16="http://schemas.microsoft.com/office/drawing/2014/main" id="{9063B05A-CE76-D026-6B54-E11A8EB0AAAA}"/>
              </a:ext>
            </a:extLst>
          </p:cNvPr>
          <p:cNvSpPr>
            <a:spLocks noChangeArrowheads="1"/>
          </p:cNvSpPr>
          <p:nvPr/>
        </p:nvSpPr>
        <p:spPr bwMode="auto">
          <a:xfrm>
            <a:off x="2543175" y="3600450"/>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zh-CN" altLang="en-US" sz="2000">
                <a:solidFill>
                  <a:srgbClr val="FF0000"/>
                </a:solidFill>
                <a:latin typeface="微软雅黑" panose="020B0503020204020204" pitchFamily="34" charset="-122"/>
                <a:ea typeface="微软雅黑" panose="020B0503020204020204" pitchFamily="34" charset="-122"/>
              </a:rPr>
              <a:t>许用</a:t>
            </a:r>
            <a:r>
              <a:rPr lang="zh-CN" altLang="en-US" sz="2000">
                <a:solidFill>
                  <a:srgbClr val="000000"/>
                </a:solidFill>
                <a:latin typeface="微软雅黑" panose="020B0503020204020204" pitchFamily="34" charset="-122"/>
                <a:ea typeface="微软雅黑" panose="020B0503020204020204" pitchFamily="34" charset="-122"/>
              </a:rPr>
              <a:t>码组</a:t>
            </a:r>
          </a:p>
        </p:txBody>
      </p:sp>
      <p:sp>
        <p:nvSpPr>
          <p:cNvPr id="71686" name="矩形 25">
            <a:extLst>
              <a:ext uri="{FF2B5EF4-FFF2-40B4-BE49-F238E27FC236}">
                <a16:creationId xmlns:a16="http://schemas.microsoft.com/office/drawing/2014/main" id="{FE2E9A9A-7455-D3D9-C4C1-FBF1DCC4B516}"/>
              </a:ext>
            </a:extLst>
          </p:cNvPr>
          <p:cNvSpPr>
            <a:spLocks noChangeArrowheads="1"/>
          </p:cNvSpPr>
          <p:nvPr/>
        </p:nvSpPr>
        <p:spPr bwMode="auto">
          <a:xfrm>
            <a:off x="6275388" y="3500438"/>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zh-CN" altLang="en-US" sz="2000">
                <a:solidFill>
                  <a:srgbClr val="0000CC"/>
                </a:solidFill>
                <a:latin typeface="微软雅黑" panose="020B0503020204020204" pitchFamily="34" charset="-122"/>
                <a:ea typeface="微软雅黑" panose="020B0503020204020204" pitchFamily="34" charset="-122"/>
              </a:rPr>
              <a:t>禁用</a:t>
            </a:r>
            <a:r>
              <a:rPr lang="zh-CN" altLang="en-US" sz="2000">
                <a:solidFill>
                  <a:srgbClr val="000000"/>
                </a:solidFill>
                <a:latin typeface="微软雅黑" panose="020B0503020204020204" pitchFamily="34" charset="-122"/>
                <a:ea typeface="微软雅黑" panose="020B0503020204020204" pitchFamily="34" charset="-122"/>
              </a:rPr>
              <a:t>码组</a:t>
            </a:r>
          </a:p>
        </p:txBody>
      </p:sp>
      <p:sp>
        <p:nvSpPr>
          <p:cNvPr id="18" name="矩形 17">
            <a:extLst>
              <a:ext uri="{FF2B5EF4-FFF2-40B4-BE49-F238E27FC236}">
                <a16:creationId xmlns:a16="http://schemas.microsoft.com/office/drawing/2014/main" id="{D4E60811-A972-F5C1-B1EC-06165AC445C5}"/>
              </a:ext>
            </a:extLst>
          </p:cNvPr>
          <p:cNvSpPr/>
          <p:nvPr/>
        </p:nvSpPr>
        <p:spPr>
          <a:xfrm>
            <a:off x="5929313" y="1609725"/>
            <a:ext cx="2551112" cy="461963"/>
          </a:xfrm>
          <a:prstGeom prst="rect">
            <a:avLst/>
          </a:prstGeom>
        </p:spPr>
        <p:txBody>
          <a:bodyPr wrap="none">
            <a:spAutoFit/>
          </a:bodyPr>
          <a:lstStyle/>
          <a:p>
            <a:pPr>
              <a:defRPr/>
            </a:pPr>
            <a:r>
              <a:rPr lang="zh-CN" altLang="en-US" sz="2000" b="0" kern="0" dirty="0">
                <a:solidFill>
                  <a:srgbClr val="080808"/>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也不能 </a:t>
            </a:r>
            <a:r>
              <a:rPr lang="zh-CN" altLang="en-US" sz="2400" kern="0" dirty="0">
                <a:solidFill>
                  <a:srgbClr val="003399"/>
                </a:solidFill>
                <a:latin typeface="Arial" pitchFamily="34" charset="0"/>
                <a:ea typeface="微软雅黑" pitchFamily="34" charset="-122"/>
                <a:cs typeface="Arial" pitchFamily="34" charset="0"/>
              </a:rPr>
              <a:t>纠正</a:t>
            </a:r>
            <a:r>
              <a:rPr lang="zh-CN" altLang="en-US" sz="2000" b="0" kern="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r>
              <a:rPr lang="zh-CN" altLang="en-US" sz="2000" b="0" kern="0" dirty="0">
                <a:solidFill>
                  <a:srgbClr val="080808"/>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错误 。</a:t>
            </a:r>
            <a:endParaRPr lang="zh-CN" altLang="en-US" dirty="0"/>
          </a:p>
        </p:txBody>
      </p:sp>
      <p:sp>
        <p:nvSpPr>
          <p:cNvPr id="17" name="矩形 16">
            <a:extLst>
              <a:ext uri="{FF2B5EF4-FFF2-40B4-BE49-F238E27FC236}">
                <a16:creationId xmlns:a16="http://schemas.microsoft.com/office/drawing/2014/main" id="{9F043845-5E2D-764F-F2A6-AD7907E6314E}"/>
              </a:ext>
            </a:extLst>
          </p:cNvPr>
          <p:cNvSpPr/>
          <p:nvPr/>
        </p:nvSpPr>
        <p:spPr>
          <a:xfrm>
            <a:off x="4929188" y="642938"/>
            <a:ext cx="1979612" cy="400050"/>
          </a:xfrm>
          <a:prstGeom prst="rect">
            <a:avLst/>
          </a:prstGeom>
        </p:spPr>
        <p:txBody>
          <a:bodyPr wrap="none">
            <a:spAutoFit/>
          </a:bodyPr>
          <a:lstStyle/>
          <a:p>
            <a:pPr>
              <a:defRPr/>
            </a:pPr>
            <a:r>
              <a:rPr lang="zh-CN" altLang="en-US" sz="2000" kern="0" dirty="0">
                <a:solidFill>
                  <a:srgbClr val="0066FF"/>
                </a:solidFill>
                <a:latin typeface="Arial" pitchFamily="34" charset="0"/>
                <a:ea typeface="微软雅黑" pitchFamily="34" charset="-122"/>
                <a:cs typeface="Arial" pitchFamily="34" charset="0"/>
              </a:rPr>
              <a:t>（</a:t>
            </a:r>
            <a:r>
              <a:rPr lang="zh-CN" altLang="en-US" sz="2000" b="0" kern="0" dirty="0">
                <a:solidFill>
                  <a:srgbClr val="0066FF"/>
                </a:solidFill>
                <a:latin typeface="Arial" pitchFamily="34" charset="0"/>
                <a:ea typeface="微软雅黑" pitchFamily="34" charset="-122"/>
                <a:cs typeface="Arial" pitchFamily="34" charset="0"/>
              </a:rPr>
              <a:t>奇数个错码</a:t>
            </a:r>
            <a:r>
              <a:rPr lang="zh-CN" altLang="en-US" sz="2000" kern="0" dirty="0">
                <a:solidFill>
                  <a:srgbClr val="0066FF"/>
                </a:solidFill>
                <a:latin typeface="Arial" pitchFamily="34" charset="0"/>
                <a:ea typeface="微软雅黑" pitchFamily="34" charset="-122"/>
                <a:cs typeface="Arial" pitchFamily="34" charset="0"/>
              </a:rPr>
              <a:t>）</a:t>
            </a:r>
            <a:endParaRPr lang="zh-CN" altLang="en-US" dirty="0">
              <a:solidFill>
                <a:srgbClr val="0066FF"/>
              </a:solidFill>
            </a:endParaRPr>
          </a:p>
        </p:txBody>
      </p:sp>
      <p:pic>
        <p:nvPicPr>
          <p:cNvPr id="71689" name="Picture 31">
            <a:extLst>
              <a:ext uri="{FF2B5EF4-FFF2-40B4-BE49-F238E27FC236}">
                <a16:creationId xmlns:a16="http://schemas.microsoft.com/office/drawing/2014/main" id="{CFFE43A2-FBB7-9E6A-BE11-A0B3275298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0663" y="2827338"/>
            <a:ext cx="3214687"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90" name="Picture 30">
            <a:extLst>
              <a:ext uri="{FF2B5EF4-FFF2-40B4-BE49-F238E27FC236}">
                <a16:creationId xmlns:a16="http://schemas.microsoft.com/office/drawing/2014/main" id="{D435F201-6DF9-0EB7-74F6-C7CB8F6AE7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14500" y="2636838"/>
            <a:ext cx="3148013"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81940"/>
                                        </p:tgtEl>
                                        <p:attrNameLst>
                                          <p:attrName>style.visibility</p:attrName>
                                        </p:attrNameLst>
                                      </p:cBhvr>
                                      <p:to>
                                        <p:strVal val="visible"/>
                                      </p:to>
                                    </p:set>
                                    <p:animEffect transition="in" filter="wipe(up)">
                                      <p:cBhvr>
                                        <p:cTn id="7" dur="1000"/>
                                        <p:tgtEl>
                                          <p:spTgt spid="81940"/>
                                        </p:tgtEl>
                                      </p:cBhvr>
                                    </p:animEffect>
                                  </p:childTnLst>
                                </p:cTn>
                              </p:par>
                            </p:childTnLst>
                          </p:cTn>
                        </p:par>
                        <p:par>
                          <p:cTn id="8" fill="hold" nodeType="afterGroup">
                            <p:stCondLst>
                              <p:cond delay="1000"/>
                            </p:stCondLst>
                            <p:childTnLst>
                              <p:par>
                                <p:cTn id="9" presetID="22" presetClass="entr" presetSubtype="4"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down)">
                                      <p:cBhvr>
                                        <p:cTn id="11" dur="1000"/>
                                        <p:tgtEl>
                                          <p:spTgt spid="1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left)">
                                      <p:cBhvr>
                                        <p:cTn id="16" dur="1000"/>
                                        <p:tgtEl>
                                          <p:spTgt spid="1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1000"/>
                                        <p:tgtEl>
                                          <p:spTgt spid="2"/>
                                        </p:tgtEl>
                                      </p:cBhvr>
                                    </p:animEffect>
                                  </p:childTnLst>
                                </p:cTn>
                              </p:par>
                            </p:childTnLst>
                          </p:cTn>
                        </p:par>
                        <p:par>
                          <p:cTn id="22" fill="hold" nodeType="afterGroup">
                            <p:stCondLst>
                              <p:cond delay="1000"/>
                            </p:stCondLst>
                            <p:childTnLst>
                              <p:par>
                                <p:cTn id="23" presetID="22" presetClass="entr" presetSubtype="1" fill="hold" nodeType="afterEffect">
                                  <p:stCondLst>
                                    <p:cond delay="0"/>
                                  </p:stCondLst>
                                  <p:childTnLst>
                                    <p:set>
                                      <p:cBhvr>
                                        <p:cTn id="24" dur="1" fill="hold">
                                          <p:stCondLst>
                                            <p:cond delay="0"/>
                                          </p:stCondLst>
                                        </p:cTn>
                                        <p:tgtEl>
                                          <p:spTgt spid="81941"/>
                                        </p:tgtEl>
                                        <p:attrNameLst>
                                          <p:attrName>style.visibility</p:attrName>
                                        </p:attrNameLst>
                                      </p:cBhvr>
                                      <p:to>
                                        <p:strVal val="visible"/>
                                      </p:to>
                                    </p:set>
                                    <p:animEffect transition="in" filter="wipe(up)">
                                      <p:cBhvr>
                                        <p:cTn id="25" dur="2000"/>
                                        <p:tgtEl>
                                          <p:spTgt spid="819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1">
            <a:extLst>
              <a:ext uri="{FF2B5EF4-FFF2-40B4-BE49-F238E27FC236}">
                <a16:creationId xmlns:a16="http://schemas.microsoft.com/office/drawing/2014/main" id="{FB19B645-0521-AF71-951D-46C16958B2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3412"/>
          <a:stretch>
            <a:fillRect/>
          </a:stretch>
        </p:blipFill>
        <p:spPr bwMode="auto">
          <a:xfrm>
            <a:off x="846138" y="5311775"/>
            <a:ext cx="7643812"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65" name="Picture 21">
            <a:extLst>
              <a:ext uri="{FF2B5EF4-FFF2-40B4-BE49-F238E27FC236}">
                <a16:creationId xmlns:a16="http://schemas.microsoft.com/office/drawing/2014/main" id="{F56BAD9E-6037-E339-3D84-9BCD649A2C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49728"/>
          <a:stretch>
            <a:fillRect/>
          </a:stretch>
        </p:blipFill>
        <p:spPr bwMode="auto">
          <a:xfrm>
            <a:off x="839788" y="4017963"/>
            <a:ext cx="76438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63" name="Picture 19">
            <a:extLst>
              <a:ext uri="{FF2B5EF4-FFF2-40B4-BE49-F238E27FC236}">
                <a16:creationId xmlns:a16="http://schemas.microsoft.com/office/drawing/2014/main" id="{EB2DD521-7429-A3C0-6753-9FC94DEC3B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8225" y="1687513"/>
            <a:ext cx="1752600"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矩形 19">
            <a:extLst>
              <a:ext uri="{FF2B5EF4-FFF2-40B4-BE49-F238E27FC236}">
                <a16:creationId xmlns:a16="http://schemas.microsoft.com/office/drawing/2014/main" id="{D09D5E7C-A2E5-DFEB-CB61-FA1267C1D8E8}"/>
              </a:ext>
            </a:extLst>
          </p:cNvPr>
          <p:cNvSpPr/>
          <p:nvPr/>
        </p:nvSpPr>
        <p:spPr>
          <a:xfrm>
            <a:off x="1171575" y="3214688"/>
            <a:ext cx="7072313" cy="461962"/>
          </a:xfrm>
          <a:prstGeom prst="rect">
            <a:avLst/>
          </a:prstGeom>
        </p:spPr>
        <p:txBody>
          <a:bodyPr>
            <a:spAutoFit/>
          </a:bodyPr>
          <a:lstStyle/>
          <a:p>
            <a:pPr>
              <a:defRPr/>
            </a:pPr>
            <a:r>
              <a:rPr lang="zh-CN" altLang="en-US" sz="2000" b="0" kern="0" dirty="0">
                <a:solidFill>
                  <a:srgbClr val="080808"/>
                </a:solidFill>
                <a:effectLst>
                  <a:outerShdw blurRad="38100" dist="38100" dir="2700000" algn="tl">
                    <a:srgbClr val="000000">
                      <a:alpha val="43137"/>
                    </a:srgbClr>
                  </a:outerShdw>
                </a:effectLst>
                <a:latin typeface="微软雅黑" pitchFamily="34" charset="-122"/>
                <a:ea typeface="微软雅黑" pitchFamily="34" charset="-122"/>
              </a:rPr>
              <a:t>这时，能够</a:t>
            </a:r>
            <a:r>
              <a:rPr lang="zh-CN" altLang="en-US" sz="2000" b="0" kern="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发现 </a:t>
            </a:r>
            <a:r>
              <a:rPr lang="en-US" altLang="zh-CN" sz="2400" kern="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2</a:t>
            </a:r>
            <a:r>
              <a:rPr lang="zh-CN" altLang="en-US" sz="2400" b="0" kern="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个</a:t>
            </a:r>
            <a:r>
              <a:rPr lang="zh-CN" altLang="en-US" sz="2000" b="0" kern="0" dirty="0">
                <a:solidFill>
                  <a:srgbClr val="080808"/>
                </a:solidFill>
                <a:effectLst>
                  <a:outerShdw blurRad="38100" dist="38100" dir="2700000" algn="tl">
                    <a:srgbClr val="000000">
                      <a:alpha val="43137"/>
                    </a:srgbClr>
                  </a:outerShdw>
                </a:effectLst>
                <a:latin typeface="微软雅黑" pitchFamily="34" charset="-122"/>
                <a:ea typeface="微软雅黑" pitchFamily="34" charset="-122"/>
              </a:rPr>
              <a:t>以下错码，或者</a:t>
            </a:r>
            <a:r>
              <a:rPr lang="zh-CN" altLang="en-US" sz="2000" b="0" kern="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纠正</a:t>
            </a:r>
            <a:r>
              <a:rPr lang="zh-CN" altLang="en-US" sz="2000" b="0" kern="0" dirty="0">
                <a:solidFill>
                  <a:srgbClr val="990099"/>
                </a:solidFill>
                <a:effectLst>
                  <a:outerShdw blurRad="38100" dist="38100" dir="2700000" algn="tl">
                    <a:srgbClr val="000000">
                      <a:alpha val="43137"/>
                    </a:srgbClr>
                  </a:outerShdw>
                </a:effectLst>
                <a:latin typeface="微软雅黑" pitchFamily="34" charset="-122"/>
                <a:ea typeface="微软雅黑" pitchFamily="34" charset="-122"/>
              </a:rPr>
              <a:t> </a:t>
            </a:r>
            <a:r>
              <a:rPr lang="en-US" altLang="zh-CN" sz="2400" kern="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1</a:t>
            </a:r>
            <a:r>
              <a:rPr lang="zh-CN" altLang="en-US" sz="2400" b="0" kern="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位</a:t>
            </a:r>
            <a:r>
              <a:rPr lang="zh-CN" altLang="en-US" sz="2000" b="0" kern="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 </a:t>
            </a:r>
            <a:r>
              <a:rPr lang="zh-CN" altLang="en-US" sz="2000" b="0" kern="0" dirty="0">
                <a:solidFill>
                  <a:srgbClr val="080808"/>
                </a:solidFill>
                <a:effectLst>
                  <a:outerShdw blurRad="38100" dist="38100" dir="2700000" algn="tl">
                    <a:srgbClr val="000000">
                      <a:alpha val="43137"/>
                    </a:srgbClr>
                  </a:outerShdw>
                </a:effectLst>
                <a:latin typeface="微软雅黑" pitchFamily="34" charset="-122"/>
                <a:ea typeface="微软雅黑" pitchFamily="34" charset="-122"/>
              </a:rPr>
              <a:t>错码 。 </a:t>
            </a:r>
            <a:endParaRPr lang="zh-CN" altLang="en-US" b="0" dirty="0">
              <a:effectLst>
                <a:outerShdw blurRad="38100" dist="38100" dir="2700000" algn="tl">
                  <a:srgbClr val="000000">
                    <a:alpha val="43137"/>
                  </a:srgbClr>
                </a:outerShdw>
              </a:effectLst>
              <a:latin typeface="微软雅黑" pitchFamily="34" charset="-122"/>
              <a:ea typeface="微软雅黑" pitchFamily="34" charset="-122"/>
            </a:endParaRPr>
          </a:p>
        </p:txBody>
      </p:sp>
      <p:grpSp>
        <p:nvGrpSpPr>
          <p:cNvPr id="2" name="Group 22">
            <a:extLst>
              <a:ext uri="{FF2B5EF4-FFF2-40B4-BE49-F238E27FC236}">
                <a16:creationId xmlns:a16="http://schemas.microsoft.com/office/drawing/2014/main" id="{DEE441D2-3C95-835B-80BB-ED913C52E50D}"/>
              </a:ext>
            </a:extLst>
          </p:cNvPr>
          <p:cNvGrpSpPr>
            <a:grpSpLocks/>
          </p:cNvGrpSpPr>
          <p:nvPr/>
        </p:nvGrpSpPr>
        <p:grpSpPr bwMode="auto">
          <a:xfrm>
            <a:off x="642938" y="3808413"/>
            <a:ext cx="649287" cy="692150"/>
            <a:chOff x="1655" y="845"/>
            <a:chExt cx="454" cy="453"/>
          </a:xfrm>
        </p:grpSpPr>
        <p:grpSp>
          <p:nvGrpSpPr>
            <p:cNvPr id="72713" name="Group 23">
              <a:extLst>
                <a:ext uri="{FF2B5EF4-FFF2-40B4-BE49-F238E27FC236}">
                  <a16:creationId xmlns:a16="http://schemas.microsoft.com/office/drawing/2014/main" id="{35A8F450-1CAC-2489-CE65-8772F43173BB}"/>
                </a:ext>
              </a:extLst>
            </p:cNvPr>
            <p:cNvGrpSpPr>
              <a:grpSpLocks/>
            </p:cNvGrpSpPr>
            <p:nvPr/>
          </p:nvGrpSpPr>
          <p:grpSpPr bwMode="auto">
            <a:xfrm>
              <a:off x="1655" y="845"/>
              <a:ext cx="454" cy="453"/>
              <a:chOff x="1289" y="582"/>
              <a:chExt cx="668" cy="668"/>
            </a:xfrm>
          </p:grpSpPr>
          <p:sp>
            <p:nvSpPr>
              <p:cNvPr id="72715" name="Oval 24">
                <a:extLst>
                  <a:ext uri="{FF2B5EF4-FFF2-40B4-BE49-F238E27FC236}">
                    <a16:creationId xmlns:a16="http://schemas.microsoft.com/office/drawing/2014/main" id="{5418A20F-40FF-31D4-D28D-099F7D1E2D09}"/>
                  </a:ext>
                </a:extLst>
              </p:cNvPr>
              <p:cNvSpPr>
                <a:spLocks noChangeArrowheads="1"/>
              </p:cNvSpPr>
              <p:nvPr/>
            </p:nvSpPr>
            <p:spPr bwMode="gray">
              <a:xfrm>
                <a:off x="1289" y="582"/>
                <a:ext cx="668" cy="668"/>
              </a:xfrm>
              <a:prstGeom prst="ellipse">
                <a:avLst/>
              </a:prstGeom>
              <a:solidFill>
                <a:srgbClr val="333333"/>
              </a:soli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72716" name="Oval 25">
                <a:extLst>
                  <a:ext uri="{FF2B5EF4-FFF2-40B4-BE49-F238E27FC236}">
                    <a16:creationId xmlns:a16="http://schemas.microsoft.com/office/drawing/2014/main" id="{C35DA672-D946-601E-C613-931C952A10B2}"/>
                  </a:ext>
                </a:extLst>
              </p:cNvPr>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72717" name="Oval 26">
                <a:extLst>
                  <a:ext uri="{FF2B5EF4-FFF2-40B4-BE49-F238E27FC236}">
                    <a16:creationId xmlns:a16="http://schemas.microsoft.com/office/drawing/2014/main" id="{6FB5FABF-B324-B911-56A7-A249E48AD67E}"/>
                  </a:ext>
                </a:extLst>
              </p:cNvPr>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72718" name="Oval 27">
                <a:extLst>
                  <a:ext uri="{FF2B5EF4-FFF2-40B4-BE49-F238E27FC236}">
                    <a16:creationId xmlns:a16="http://schemas.microsoft.com/office/drawing/2014/main" id="{10E076F8-1881-6731-0201-D4CA702D3224}"/>
                  </a:ext>
                </a:extLst>
              </p:cNvPr>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72719" name="Oval 28">
                <a:extLst>
                  <a:ext uri="{FF2B5EF4-FFF2-40B4-BE49-F238E27FC236}">
                    <a16:creationId xmlns:a16="http://schemas.microsoft.com/office/drawing/2014/main" id="{1901E7D3-CE58-F284-C5D9-A8C5239BF355}"/>
                  </a:ext>
                </a:extLst>
              </p:cNvPr>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pSp>
        <p:sp>
          <p:nvSpPr>
            <p:cNvPr id="72714" name="Text Box 29">
              <a:extLst>
                <a:ext uri="{FF2B5EF4-FFF2-40B4-BE49-F238E27FC236}">
                  <a16:creationId xmlns:a16="http://schemas.microsoft.com/office/drawing/2014/main" id="{0B2C61EE-5888-6CF0-A577-6840F1B9F3C2}"/>
                </a:ext>
              </a:extLst>
            </p:cNvPr>
            <p:cNvSpPr txBox="1">
              <a:spLocks noChangeArrowheads="1"/>
            </p:cNvSpPr>
            <p:nvPr/>
          </p:nvSpPr>
          <p:spPr bwMode="gray">
            <a:xfrm>
              <a:off x="1666" y="902"/>
              <a:ext cx="379"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zh-CN" altLang="en-US" sz="2800">
                  <a:solidFill>
                    <a:srgbClr val="0000CC"/>
                  </a:solidFill>
                </a:rPr>
                <a:t>例</a:t>
              </a:r>
            </a:p>
          </p:txBody>
        </p:sp>
      </p:grpSp>
      <p:pic>
        <p:nvPicPr>
          <p:cNvPr id="82962" name="Picture 18">
            <a:extLst>
              <a:ext uri="{FF2B5EF4-FFF2-40B4-BE49-F238E27FC236}">
                <a16:creationId xmlns:a16="http://schemas.microsoft.com/office/drawing/2014/main" id="{5F72CAB8-BED8-49FE-13A6-231F84A2A2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475" y="1044575"/>
            <a:ext cx="81295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64" name="Picture 20">
            <a:extLst>
              <a:ext uri="{FF2B5EF4-FFF2-40B4-BE49-F238E27FC236}">
                <a16:creationId xmlns:a16="http://schemas.microsoft.com/office/drawing/2014/main" id="{E63A34BE-8F98-8B34-B11A-C68C2009DBD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1563" y="2714625"/>
            <a:ext cx="7643812"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82962"/>
                                        </p:tgtEl>
                                        <p:attrNameLst>
                                          <p:attrName>style.visibility</p:attrName>
                                        </p:attrNameLst>
                                      </p:cBhvr>
                                      <p:to>
                                        <p:strVal val="visible"/>
                                      </p:to>
                                    </p:set>
                                    <p:animEffect transition="in" filter="wipe(up)">
                                      <p:cBhvr>
                                        <p:cTn id="7" dur="1000"/>
                                        <p:tgtEl>
                                          <p:spTgt spid="829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 presetClass="entr" presetSubtype="32" fill="hold" nodeType="clickEffect">
                                  <p:stCondLst>
                                    <p:cond delay="0"/>
                                  </p:stCondLst>
                                  <p:childTnLst>
                                    <p:set>
                                      <p:cBhvr>
                                        <p:cTn id="11" dur="1" fill="hold">
                                          <p:stCondLst>
                                            <p:cond delay="0"/>
                                          </p:stCondLst>
                                        </p:cTn>
                                        <p:tgtEl>
                                          <p:spTgt spid="82963"/>
                                        </p:tgtEl>
                                        <p:attrNameLst>
                                          <p:attrName>style.visibility</p:attrName>
                                        </p:attrNameLst>
                                      </p:cBhvr>
                                      <p:to>
                                        <p:strVal val="visible"/>
                                      </p:to>
                                    </p:set>
                                    <p:animEffect transition="in" filter="circle(out)">
                                      <p:cBhvr>
                                        <p:cTn id="12" dur="2000"/>
                                        <p:tgtEl>
                                          <p:spTgt spid="8296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82964"/>
                                        </p:tgtEl>
                                        <p:attrNameLst>
                                          <p:attrName>style.visibility</p:attrName>
                                        </p:attrNameLst>
                                      </p:cBhvr>
                                      <p:to>
                                        <p:strVal val="visible"/>
                                      </p:to>
                                    </p:set>
                                    <p:animEffect transition="in" filter="wipe(up)">
                                      <p:cBhvr>
                                        <p:cTn id="17" dur="1000"/>
                                        <p:tgtEl>
                                          <p:spTgt spid="829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up)">
                                      <p:cBhvr>
                                        <p:cTn id="22" dur="1000"/>
                                        <p:tgtEl>
                                          <p:spTgt spid="2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1000"/>
                                        <p:tgtEl>
                                          <p:spTgt spid="2"/>
                                        </p:tgtEl>
                                      </p:cBhvr>
                                    </p:animEffect>
                                  </p:childTnLst>
                                </p:cTn>
                              </p:par>
                            </p:childTnLst>
                          </p:cTn>
                        </p:par>
                        <p:par>
                          <p:cTn id="28" fill="hold" nodeType="afterGroup">
                            <p:stCondLst>
                              <p:cond delay="1000"/>
                            </p:stCondLst>
                            <p:childTnLst>
                              <p:par>
                                <p:cTn id="29" presetID="22" presetClass="entr" presetSubtype="1" fill="hold" nodeType="afterEffect">
                                  <p:stCondLst>
                                    <p:cond delay="0"/>
                                  </p:stCondLst>
                                  <p:childTnLst>
                                    <p:set>
                                      <p:cBhvr>
                                        <p:cTn id="30" dur="1" fill="hold">
                                          <p:stCondLst>
                                            <p:cond delay="0"/>
                                          </p:stCondLst>
                                        </p:cTn>
                                        <p:tgtEl>
                                          <p:spTgt spid="82965"/>
                                        </p:tgtEl>
                                        <p:attrNameLst>
                                          <p:attrName>style.visibility</p:attrName>
                                        </p:attrNameLst>
                                      </p:cBhvr>
                                      <p:to>
                                        <p:strVal val="visible"/>
                                      </p:to>
                                    </p:set>
                                    <p:animEffect transition="in" filter="wipe(up)">
                                      <p:cBhvr>
                                        <p:cTn id="31" dur="1000"/>
                                        <p:tgtEl>
                                          <p:spTgt spid="8296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wipe(up)">
                                      <p:cBhvr>
                                        <p:cTn id="36"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2">
            <a:extLst>
              <a:ext uri="{FF2B5EF4-FFF2-40B4-BE49-F238E27FC236}">
                <a16:creationId xmlns:a16="http://schemas.microsoft.com/office/drawing/2014/main" id="{C5B85BB6-FBD5-0CFA-6682-653392708A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6364" b="13074"/>
          <a:stretch>
            <a:fillRect/>
          </a:stretch>
        </p:blipFill>
        <p:spPr bwMode="auto">
          <a:xfrm>
            <a:off x="642938" y="3643313"/>
            <a:ext cx="7715250" cy="164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椭圆 11">
            <a:extLst>
              <a:ext uri="{FF2B5EF4-FFF2-40B4-BE49-F238E27FC236}">
                <a16:creationId xmlns:a16="http://schemas.microsoft.com/office/drawing/2014/main" id="{5132B852-AA07-2226-275E-2A4C13E753EB}"/>
              </a:ext>
            </a:extLst>
          </p:cNvPr>
          <p:cNvSpPr/>
          <p:nvPr/>
        </p:nvSpPr>
        <p:spPr bwMode="auto">
          <a:xfrm>
            <a:off x="714375" y="571500"/>
            <a:ext cx="2000250" cy="785813"/>
          </a:xfrm>
          <a:prstGeom prst="ellipse">
            <a:avLst/>
          </a:prstGeom>
          <a:solidFill>
            <a:schemeClr val="bg2">
              <a:lumMod val="10000"/>
              <a:lumOff val="90000"/>
            </a:schemeClr>
          </a:solidFill>
          <a:ln w="9525" cap="flat" cmpd="sng" algn="ctr">
            <a:solidFill>
              <a:srgbClr val="D6D6F2"/>
            </a:solidFill>
            <a:prstDash val="solid"/>
            <a:miter lim="800000"/>
            <a:headEnd type="none" w="med" len="med"/>
            <a:tailEnd type="none" w="med" len="med"/>
          </a:ln>
          <a:effectLst>
            <a:outerShdw blurRad="50800" dist="38100" dir="2700000" algn="tl" rotWithShape="0">
              <a:prstClr val="black">
                <a:alpha val="40000"/>
              </a:prstClr>
            </a:outerShdw>
          </a:effectLst>
        </p:spPr>
        <p:txBody>
          <a:bodyPr wrap="none"/>
          <a:lstStyle/>
          <a:p>
            <a:pPr>
              <a:defRPr/>
            </a:pPr>
            <a:endParaRPr lang="zh-CN" altLang="en-US" dirty="0"/>
          </a:p>
        </p:txBody>
      </p:sp>
      <p:sp>
        <p:nvSpPr>
          <p:cNvPr id="3" name="矩形 2">
            <a:extLst>
              <a:ext uri="{FF2B5EF4-FFF2-40B4-BE49-F238E27FC236}">
                <a16:creationId xmlns:a16="http://schemas.microsoft.com/office/drawing/2014/main" id="{B6403558-6827-F7E0-314C-9A17685A810E}"/>
              </a:ext>
            </a:extLst>
          </p:cNvPr>
          <p:cNvSpPr/>
          <p:nvPr/>
        </p:nvSpPr>
        <p:spPr>
          <a:xfrm>
            <a:off x="817563" y="704850"/>
            <a:ext cx="1979612" cy="523875"/>
          </a:xfrm>
          <a:prstGeom prst="rect">
            <a:avLst/>
          </a:prstGeom>
        </p:spPr>
        <p:txBody>
          <a:bodyPr wrap="none">
            <a:spAutoFit/>
          </a:bodyPr>
          <a:lstStyle/>
          <a:p>
            <a:pPr marL="342900" indent="-342900" eaLnBrk="0" hangingPunct="0">
              <a:spcBef>
                <a:spcPct val="20000"/>
              </a:spcBef>
              <a:buClr>
                <a:srgbClr val="FF0000"/>
              </a:buClr>
              <a:buSzPct val="85000"/>
              <a:defRPr/>
            </a:pPr>
            <a:r>
              <a:rPr lang="zh-CN" altLang="en-US" sz="2800" b="0" kern="0" dirty="0">
                <a:solidFill>
                  <a:srgbClr val="0000CC"/>
                </a:solidFill>
                <a:effectLst>
                  <a:outerShdw blurRad="38100" dist="38100" dir="2700000" algn="tl">
                    <a:srgbClr val="000000">
                      <a:alpha val="43137"/>
                    </a:srgbClr>
                  </a:outerShdw>
                </a:effectLst>
                <a:latin typeface="微软雅黑" pitchFamily="34" charset="-122"/>
                <a:ea typeface="微软雅黑" pitchFamily="34" charset="-122"/>
              </a:rPr>
              <a:t>综上所述</a:t>
            </a:r>
            <a:r>
              <a:rPr lang="zh-CN" altLang="en-US" sz="2800" kern="0" dirty="0">
                <a:solidFill>
                  <a:srgbClr val="0000CC"/>
                </a:solidFill>
                <a:latin typeface="+mn-ea"/>
                <a:ea typeface="+mn-ea"/>
              </a:rPr>
              <a:t>：</a:t>
            </a:r>
          </a:p>
        </p:txBody>
      </p:sp>
      <p:sp>
        <p:nvSpPr>
          <p:cNvPr id="20" name="矩形 19">
            <a:extLst>
              <a:ext uri="{FF2B5EF4-FFF2-40B4-BE49-F238E27FC236}">
                <a16:creationId xmlns:a16="http://schemas.microsoft.com/office/drawing/2014/main" id="{D0A64518-32D3-AE36-3B18-B6753429DAD9}"/>
              </a:ext>
            </a:extLst>
          </p:cNvPr>
          <p:cNvSpPr>
            <a:spLocks noChangeArrowheads="1"/>
          </p:cNvSpPr>
          <p:nvPr/>
        </p:nvSpPr>
        <p:spPr bwMode="auto">
          <a:xfrm>
            <a:off x="5572125" y="5486400"/>
            <a:ext cx="2281238" cy="400050"/>
          </a:xfrm>
          <a:prstGeom prst="rect">
            <a:avLst/>
          </a:prstGeom>
          <a:noFill/>
          <a:ln w="9525">
            <a:noFill/>
            <a:miter lim="800000"/>
            <a:headEnd/>
            <a:tailEnd/>
          </a:ln>
        </p:spPr>
        <p:txBody>
          <a:bodyPr wrap="none">
            <a:spAutoFit/>
          </a:bodyPr>
          <a:lstStyle/>
          <a:p>
            <a:pPr>
              <a:defRPr/>
            </a:pPr>
            <a:r>
              <a:rPr lang="en-US" altLang="zh-CN" sz="2000" b="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cs typeface="Arial" pitchFamily="34" charset="0"/>
              </a:rPr>
              <a:t> ---  </a:t>
            </a:r>
            <a:r>
              <a:rPr lang="zh-CN" altLang="en-US" sz="2000" b="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信息码元位数</a:t>
            </a:r>
            <a:endParaRPr lang="zh-CN" altLang="en-US" sz="2000" b="0" dirty="0">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p:txBody>
      </p:sp>
      <p:sp>
        <p:nvSpPr>
          <p:cNvPr id="21" name="矩形 20">
            <a:extLst>
              <a:ext uri="{FF2B5EF4-FFF2-40B4-BE49-F238E27FC236}">
                <a16:creationId xmlns:a16="http://schemas.microsoft.com/office/drawing/2014/main" id="{543D48FE-4144-5295-767C-E392AF6BAAB0}"/>
              </a:ext>
            </a:extLst>
          </p:cNvPr>
          <p:cNvSpPr>
            <a:spLocks noChangeArrowheads="1"/>
          </p:cNvSpPr>
          <p:nvPr/>
        </p:nvSpPr>
        <p:spPr bwMode="auto">
          <a:xfrm>
            <a:off x="5572125" y="5957888"/>
            <a:ext cx="2462213" cy="400050"/>
          </a:xfrm>
          <a:prstGeom prst="rect">
            <a:avLst/>
          </a:prstGeom>
          <a:noFill/>
          <a:ln w="9525">
            <a:noFill/>
            <a:miter lim="800000"/>
            <a:headEnd/>
            <a:tailEnd/>
          </a:ln>
        </p:spPr>
        <p:txBody>
          <a:bodyPr wrap="none">
            <a:spAutoFit/>
          </a:bodyPr>
          <a:lstStyle/>
          <a:p>
            <a:pPr>
              <a:defRPr/>
            </a:pPr>
            <a:r>
              <a:rPr lang="en-US" altLang="zh-CN" sz="2000" b="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cs typeface="Arial" pitchFamily="34" charset="0"/>
              </a:rPr>
              <a:t> --- </a:t>
            </a:r>
            <a:r>
              <a:rPr lang="zh-CN" altLang="en-US" sz="2000" b="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编码后码字位数</a:t>
            </a:r>
            <a:endParaRPr lang="zh-CN" altLang="en-US" sz="2000" b="0" dirty="0">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p:txBody>
      </p:sp>
      <p:graphicFrame>
        <p:nvGraphicFramePr>
          <p:cNvPr id="22" name="Object 1">
            <a:extLst>
              <a:ext uri="{FF2B5EF4-FFF2-40B4-BE49-F238E27FC236}">
                <a16:creationId xmlns:a16="http://schemas.microsoft.com/office/drawing/2014/main" id="{E51040C5-25F8-5B1A-6AF6-99837A87A0F6}"/>
              </a:ext>
            </a:extLst>
          </p:cNvPr>
          <p:cNvGraphicFramePr>
            <a:graphicFrameLocks noChangeAspect="1"/>
          </p:cNvGraphicFramePr>
          <p:nvPr/>
        </p:nvGraphicFramePr>
        <p:xfrm>
          <a:off x="4357688" y="5457825"/>
          <a:ext cx="1195387" cy="895350"/>
        </p:xfrm>
        <a:graphic>
          <a:graphicData uri="http://schemas.openxmlformats.org/presentationml/2006/ole">
            <mc:AlternateContent xmlns:mc="http://schemas.openxmlformats.org/markup-compatibility/2006">
              <mc:Choice xmlns:v="urn:schemas-microsoft-com:vml" Requires="v">
                <p:oleObj name="Equation" r:id="rId4" imgW="457200" imgH="393480" progId="Equation.DSMT4">
                  <p:embed/>
                </p:oleObj>
              </mc:Choice>
              <mc:Fallback>
                <p:oleObj name="Equation" r:id="rId4" imgW="457200" imgH="393480" progId="Equation.DSMT4">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57688" y="5457825"/>
                        <a:ext cx="1195387" cy="895350"/>
                      </a:xfrm>
                      <a:prstGeom prst="rect">
                        <a:avLst/>
                      </a:prstGeom>
                      <a:noFill/>
                      <a:ln w="38100" cmpd="dbl">
                        <a:solidFill>
                          <a:srgbClr val="9999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28" name="直接箭头连接符 27">
            <a:extLst>
              <a:ext uri="{FF2B5EF4-FFF2-40B4-BE49-F238E27FC236}">
                <a16:creationId xmlns:a16="http://schemas.microsoft.com/office/drawing/2014/main" id="{492AAABC-438A-7433-DB6D-957B4F738C7E}"/>
              </a:ext>
            </a:extLst>
          </p:cNvPr>
          <p:cNvCxnSpPr/>
          <p:nvPr/>
        </p:nvCxnSpPr>
        <p:spPr bwMode="auto">
          <a:xfrm rot="10800000" flipV="1">
            <a:off x="2500313" y="3214688"/>
            <a:ext cx="1571625" cy="500062"/>
          </a:xfrm>
          <a:prstGeom prst="straightConnector1">
            <a:avLst/>
          </a:prstGeom>
          <a:solidFill>
            <a:schemeClr val="accent1"/>
          </a:solidFill>
          <a:ln w="19050" cap="flat" cmpd="sng" algn="ctr">
            <a:solidFill>
              <a:schemeClr val="tx1">
                <a:lumMod val="65000"/>
                <a:lumOff val="35000"/>
              </a:schemeClr>
            </a:solidFill>
            <a:prstDash val="dash"/>
            <a:miter lim="800000"/>
            <a:headEnd type="none" w="med" len="med"/>
            <a:tailEnd type="arrow"/>
          </a:ln>
          <a:effectLst>
            <a:outerShdw blurRad="50800" dist="38100" dir="2700000" algn="tl" rotWithShape="0">
              <a:prstClr val="black">
                <a:alpha val="40000"/>
              </a:prstClr>
            </a:outerShdw>
          </a:effectLst>
        </p:spPr>
      </p:cxnSp>
      <p:pic>
        <p:nvPicPr>
          <p:cNvPr id="1036" name="Picture 12">
            <a:extLst>
              <a:ext uri="{FF2B5EF4-FFF2-40B4-BE49-F238E27FC236}">
                <a16:creationId xmlns:a16="http://schemas.microsoft.com/office/drawing/2014/main" id="{5A5C6575-AC5A-478E-3CC5-9A70F5EA28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6499" b="60910"/>
          <a:stretch>
            <a:fillRect/>
          </a:stretch>
        </p:blipFill>
        <p:spPr bwMode="auto">
          <a:xfrm>
            <a:off x="642938" y="1428750"/>
            <a:ext cx="7715250"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a:extLst>
              <a:ext uri="{FF2B5EF4-FFF2-40B4-BE49-F238E27FC236}">
                <a16:creationId xmlns:a16="http://schemas.microsoft.com/office/drawing/2014/main" id="{B30792C3-EE09-EE47-C2C9-98AB542316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9090" b="48952"/>
          <a:stretch>
            <a:fillRect/>
          </a:stretch>
        </p:blipFill>
        <p:spPr bwMode="auto">
          <a:xfrm>
            <a:off x="642938" y="2643188"/>
            <a:ext cx="771525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2">
            <a:extLst>
              <a:ext uri="{FF2B5EF4-FFF2-40B4-BE49-F238E27FC236}">
                <a16:creationId xmlns:a16="http://schemas.microsoft.com/office/drawing/2014/main" id="{BB92D3A1-D021-EEA7-E8F7-77F40AA83B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89584" r="52779" b="-214"/>
          <a:stretch>
            <a:fillRect/>
          </a:stretch>
        </p:blipFill>
        <p:spPr bwMode="auto">
          <a:xfrm>
            <a:off x="657225" y="5286375"/>
            <a:ext cx="3571875"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1000"/>
                                        <p:tgtEl>
                                          <p:spTgt spid="3"/>
                                        </p:tgtEl>
                                      </p:cBhvr>
                                    </p:animEffect>
                                  </p:childTnLst>
                                </p:cTn>
                              </p:par>
                              <p:par>
                                <p:cTn id="8" presetID="22" presetClass="entr" presetSubtype="8"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1" fill="hold" nodeType="clickEffect">
                                  <p:stCondLst>
                                    <p:cond delay="0"/>
                                  </p:stCondLst>
                                  <p:childTnLst>
                                    <p:set>
                                      <p:cBhvr>
                                        <p:cTn id="14" dur="1" fill="hold">
                                          <p:stCondLst>
                                            <p:cond delay="0"/>
                                          </p:stCondLst>
                                        </p:cTn>
                                        <p:tgtEl>
                                          <p:spTgt spid="1036"/>
                                        </p:tgtEl>
                                        <p:attrNameLst>
                                          <p:attrName>style.visibility</p:attrName>
                                        </p:attrNameLst>
                                      </p:cBhvr>
                                      <p:to>
                                        <p:strVal val="visible"/>
                                      </p:to>
                                    </p:set>
                                    <p:animEffect transition="in" filter="wipe(up)">
                                      <p:cBhvr>
                                        <p:cTn id="15" dur="1000"/>
                                        <p:tgtEl>
                                          <p:spTgt spid="103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up)">
                                      <p:cBhvr>
                                        <p:cTn id="20" dur="1000"/>
                                        <p:tgtEl>
                                          <p:spTgt spid="1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2" fill="hold"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wipe(right)">
                                      <p:cBhvr>
                                        <p:cTn id="25" dur="1000"/>
                                        <p:tgtEl>
                                          <p:spTgt spid="28"/>
                                        </p:tgtEl>
                                      </p:cBhvr>
                                    </p:animEffect>
                                  </p:childTnLst>
                                </p:cTn>
                              </p:par>
                            </p:childTnLst>
                          </p:cTn>
                        </p:par>
                        <p:par>
                          <p:cTn id="26" fill="hold" nodeType="afterGroup">
                            <p:stCondLst>
                              <p:cond delay="1000"/>
                            </p:stCondLst>
                            <p:childTnLst>
                              <p:par>
                                <p:cTn id="27" presetID="22" presetClass="entr" presetSubtype="1" fill="hold"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up)">
                                      <p:cBhvr>
                                        <p:cTn id="29" dur="1000"/>
                                        <p:tgtEl>
                                          <p:spTgt spid="1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up)">
                                      <p:cBhvr>
                                        <p:cTn id="34" dur="1000"/>
                                        <p:tgtEl>
                                          <p:spTgt spid="15"/>
                                        </p:tgtEl>
                                      </p:cBhvr>
                                    </p:animEffect>
                                  </p:childTnLst>
                                </p:cTn>
                              </p:par>
                            </p:childTnLst>
                          </p:cTn>
                        </p:par>
                        <p:par>
                          <p:cTn id="35" fill="hold" nodeType="afterGroup">
                            <p:stCondLst>
                              <p:cond delay="1000"/>
                            </p:stCondLst>
                            <p:childTnLst>
                              <p:par>
                                <p:cTn id="36" presetID="22" presetClass="entr" presetSubtype="8" fill="hold" nodeType="after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ipe(left)">
                                      <p:cBhvr>
                                        <p:cTn id="38" dur="2000"/>
                                        <p:tgtEl>
                                          <p:spTgt spid="22"/>
                                        </p:tgtEl>
                                      </p:cBhvr>
                                    </p:animEffect>
                                  </p:childTnLst>
                                </p:cTn>
                              </p:par>
                            </p:childTnLst>
                          </p:cTn>
                        </p:par>
                        <p:par>
                          <p:cTn id="39" fill="hold" nodeType="afterGroup">
                            <p:stCondLst>
                              <p:cond delay="3000"/>
                            </p:stCondLst>
                            <p:childTnLst>
                              <p:par>
                                <p:cTn id="40" presetID="22" presetClass="entr" presetSubtype="8" fill="hold" nodeType="after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left)">
                                      <p:cBhvr>
                                        <p:cTn id="42" dur="1000"/>
                                        <p:tgtEl>
                                          <p:spTgt spid="20"/>
                                        </p:tgtEl>
                                      </p:cBhvr>
                                    </p:animEffect>
                                  </p:childTnLst>
                                </p:cTn>
                              </p:par>
                            </p:childTnLst>
                          </p:cTn>
                        </p:par>
                        <p:par>
                          <p:cTn id="43" fill="hold" nodeType="afterGroup">
                            <p:stCondLst>
                              <p:cond delay="4000"/>
                            </p:stCondLst>
                            <p:childTnLst>
                              <p:par>
                                <p:cTn id="44" presetID="22" presetClass="entr" presetSubtype="8" fill="hold" nodeType="after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wipe(left)">
                                      <p:cBhvr>
                                        <p:cTn id="46"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3" grpId="0"/>
      <p:bldP spid="20" grpId="0"/>
      <p:bldP spid="2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6C13ED3C-F9A2-4FA1-FCB7-395DCA24048D}"/>
              </a:ext>
            </a:extLst>
          </p:cNvPr>
          <p:cNvSpPr/>
          <p:nvPr/>
        </p:nvSpPr>
        <p:spPr>
          <a:xfrm>
            <a:off x="1285875" y="2446338"/>
            <a:ext cx="6929438" cy="554037"/>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marL="285750" indent="-285750" eaLnBrk="0" hangingPunct="0">
              <a:lnSpc>
                <a:spcPts val="3600"/>
              </a:lnSpc>
              <a:spcBef>
                <a:spcPct val="20000"/>
              </a:spcBef>
              <a:buClr>
                <a:srgbClr val="0000CC"/>
              </a:buClr>
              <a:buSzPct val="56000"/>
              <a:buFont typeface="Wingdings" pitchFamily="2" charset="2"/>
              <a:buChar char="l"/>
              <a:defRPr/>
            </a:pP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不同的编码方法</a:t>
            </a:r>
            <a:r>
              <a:rPr kumimoji="0" lang="zh-CN" altLang="en-US" sz="2000" b="0" kern="0" dirty="0">
                <a:solidFill>
                  <a:srgbClr val="000000"/>
                </a:solidFill>
                <a:latin typeface="微软雅黑" pitchFamily="34" charset="-122"/>
                <a:ea typeface="微软雅黑" pitchFamily="34" charset="-122"/>
              </a:rPr>
              <a:t>，</a:t>
            </a:r>
            <a:r>
              <a:rPr kumimoji="0" lang="zh-CN" altLang="en-US" sz="2000" kern="0" dirty="0">
                <a:solidFill>
                  <a:srgbClr val="000000"/>
                </a:solidFill>
                <a:latin typeface="微软雅黑" pitchFamily="34" charset="-122"/>
                <a:ea typeface="微软雅黑" pitchFamily="34" charset="-122"/>
              </a:rPr>
              <a:t>检错 </a:t>
            </a:r>
            <a:r>
              <a:rPr kumimoji="0" lang="zh-CN" altLang="en-US" sz="2000" b="0" kern="0" dirty="0">
                <a:solidFill>
                  <a:srgbClr val="000000"/>
                </a:solidFill>
                <a:latin typeface="微软雅黑" pitchFamily="34" charset="-122"/>
                <a:ea typeface="微软雅黑" pitchFamily="34" charset="-122"/>
              </a:rPr>
              <a:t>或 </a:t>
            </a:r>
            <a:r>
              <a:rPr kumimoji="0" lang="zh-CN" altLang="en-US" sz="2000" kern="0" dirty="0">
                <a:solidFill>
                  <a:srgbClr val="000000"/>
                </a:solidFill>
                <a:latin typeface="微软雅黑" pitchFamily="34" charset="-122"/>
                <a:ea typeface="微软雅黑" pitchFamily="34" charset="-122"/>
              </a:rPr>
              <a:t>纠错 </a:t>
            </a:r>
            <a:r>
              <a:rPr kumimoji="0" lang="zh-CN" altLang="en-US" sz="2000" b="0" kern="0" dirty="0">
                <a:solidFill>
                  <a:srgbClr val="000000"/>
                </a:solidFill>
                <a:latin typeface="微软雅黑" pitchFamily="34" charset="-122"/>
                <a:ea typeface="微软雅黑" pitchFamily="34" charset="-122"/>
              </a:rPr>
              <a:t>能力也不同 。</a:t>
            </a:r>
            <a:endParaRPr lang="en-US" altLang="zh-CN" sz="2000" b="0" kern="0" dirty="0">
              <a:solidFill>
                <a:srgbClr val="080808"/>
              </a:solidFill>
              <a:effectLst>
                <a:outerShdw blurRad="38100" dist="38100" dir="2700000" algn="tl">
                  <a:srgbClr val="000000">
                    <a:alpha val="43137"/>
                  </a:srgbClr>
                </a:outerShdw>
              </a:effectLst>
              <a:latin typeface="微软雅黑" pitchFamily="34" charset="-122"/>
              <a:ea typeface="微软雅黑" pitchFamily="34" charset="-122"/>
            </a:endParaRPr>
          </a:p>
        </p:txBody>
      </p:sp>
      <p:pic>
        <p:nvPicPr>
          <p:cNvPr id="83973" name="Picture 5">
            <a:extLst>
              <a:ext uri="{FF2B5EF4-FFF2-40B4-BE49-F238E27FC236}">
                <a16:creationId xmlns:a16="http://schemas.microsoft.com/office/drawing/2014/main" id="{6122B2DE-846B-3870-239F-E522A53DDD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4438" y="1285875"/>
            <a:ext cx="7072312"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74" name="Picture 6">
            <a:extLst>
              <a:ext uri="{FF2B5EF4-FFF2-40B4-BE49-F238E27FC236}">
                <a16:creationId xmlns:a16="http://schemas.microsoft.com/office/drawing/2014/main" id="{FED2D1AC-026F-2669-33C8-7FF32CC028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9675" y="3509963"/>
            <a:ext cx="7077075" cy="120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83973"/>
                                        </p:tgtEl>
                                        <p:attrNameLst>
                                          <p:attrName>style.visibility</p:attrName>
                                        </p:attrNameLst>
                                      </p:cBhvr>
                                      <p:to>
                                        <p:strVal val="visible"/>
                                      </p:to>
                                    </p:set>
                                    <p:animEffect transition="in" filter="wipe(up)">
                                      <p:cBhvr>
                                        <p:cTn id="7" dur="1000"/>
                                        <p:tgtEl>
                                          <p:spTgt spid="839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up)">
                                      <p:cBhvr>
                                        <p:cTn id="12" dur="1000"/>
                                        <p:tgtEl>
                                          <p:spTgt spid="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83974"/>
                                        </p:tgtEl>
                                        <p:attrNameLst>
                                          <p:attrName>style.visibility</p:attrName>
                                        </p:attrNameLst>
                                      </p:cBhvr>
                                      <p:to>
                                        <p:strVal val="visible"/>
                                      </p:to>
                                    </p:set>
                                    <p:animEffect transition="in" filter="wipe(up)">
                                      <p:cBhvr>
                                        <p:cTn id="17" dur="1000"/>
                                        <p:tgtEl>
                                          <p:spTgt spid="839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5032" name="Picture 40">
            <a:extLst>
              <a:ext uri="{FF2B5EF4-FFF2-40B4-BE49-F238E27FC236}">
                <a16:creationId xmlns:a16="http://schemas.microsoft.com/office/drawing/2014/main" id="{18824509-4232-774C-6C50-4C1FD92955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813" y="1184275"/>
            <a:ext cx="7715250"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768CA08B-CAB9-6FFC-6D0E-09D545195C6C}"/>
              </a:ext>
            </a:extLst>
          </p:cNvPr>
          <p:cNvSpPr/>
          <p:nvPr/>
        </p:nvSpPr>
        <p:spPr>
          <a:xfrm>
            <a:off x="571500" y="476250"/>
            <a:ext cx="3044825" cy="523875"/>
          </a:xfrm>
          <a:prstGeom prst="rect">
            <a:avLst/>
          </a:prstGeom>
        </p:spPr>
        <p:txBody>
          <a:bodyPr wrap="none">
            <a:spAutoFit/>
          </a:bodyPr>
          <a:lstStyle/>
          <a:p>
            <a:pPr marL="342900" indent="-342900" eaLnBrk="0" hangingPunct="0">
              <a:spcBef>
                <a:spcPct val="20000"/>
              </a:spcBef>
              <a:buClr>
                <a:srgbClr val="FF0000"/>
              </a:buClr>
              <a:buSzPct val="85000"/>
              <a:buFont typeface="Wingdings" pitchFamily="2" charset="2"/>
              <a:buChar char="n"/>
              <a:defRPr/>
            </a:pPr>
            <a:r>
              <a:rPr kumimoji="0" lang="zh-CN" altLang="en-US" sz="2800" kern="0" dirty="0">
                <a:solidFill>
                  <a:schemeClr val="tx1"/>
                </a:solidFill>
                <a:latin typeface="微软雅黑" pitchFamily="34" charset="-122"/>
                <a:ea typeface="微软雅黑" pitchFamily="34" charset="-122"/>
              </a:rPr>
              <a:t>分组码</a:t>
            </a:r>
            <a:r>
              <a:rPr kumimoji="0" lang="zh-CN" altLang="en-US" sz="2800" b="0" kern="0" dirty="0">
                <a:solidFill>
                  <a:schemeClr val="tx1"/>
                </a:solidFill>
                <a:latin typeface="微软雅黑" pitchFamily="34" charset="-122"/>
                <a:ea typeface="微软雅黑" pitchFamily="34" charset="-122"/>
              </a:rPr>
              <a:t>和</a:t>
            </a:r>
            <a:r>
              <a:rPr kumimoji="0" lang="zh-CN" altLang="en-US" sz="2800" kern="0" dirty="0">
                <a:solidFill>
                  <a:schemeClr val="tx1"/>
                </a:solidFill>
                <a:latin typeface="微软雅黑" pitchFamily="34" charset="-122"/>
                <a:ea typeface="微软雅黑" pitchFamily="34" charset="-122"/>
              </a:rPr>
              <a:t>系统码</a:t>
            </a:r>
            <a:endParaRPr lang="zh-CN" altLang="en-US" sz="2800" kern="0" dirty="0">
              <a:solidFill>
                <a:srgbClr val="003399"/>
              </a:solidFill>
              <a:latin typeface="微软雅黑" pitchFamily="34" charset="-122"/>
              <a:ea typeface="微软雅黑" pitchFamily="34" charset="-122"/>
            </a:endParaRPr>
          </a:p>
        </p:txBody>
      </p:sp>
      <p:sp>
        <p:nvSpPr>
          <p:cNvPr id="8" name="矩形 7">
            <a:extLst>
              <a:ext uri="{FF2B5EF4-FFF2-40B4-BE49-F238E27FC236}">
                <a16:creationId xmlns:a16="http://schemas.microsoft.com/office/drawing/2014/main" id="{5B5CBAB9-6552-C02F-927C-9E2D44A38F4A}"/>
              </a:ext>
            </a:extLst>
          </p:cNvPr>
          <p:cNvSpPr/>
          <p:nvPr/>
        </p:nvSpPr>
        <p:spPr>
          <a:xfrm>
            <a:off x="4572000" y="1781175"/>
            <a:ext cx="3571875" cy="461963"/>
          </a:xfrm>
          <a:prstGeom prst="rect">
            <a:avLst/>
          </a:prstGeom>
        </p:spPr>
        <p:txBody>
          <a:bodyPr>
            <a:spAutoFit/>
          </a:bodyPr>
          <a:lstStyle/>
          <a:p>
            <a:pPr>
              <a:defRPr/>
            </a:pP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编码后的每组长度为 </a:t>
            </a:r>
            <a:r>
              <a:rPr kumimoji="0" lang="en-US" altLang="zh-CN" sz="2400" i="1" kern="0" dirty="0">
                <a:solidFill>
                  <a:srgbClr val="0000CC"/>
                </a:solidFill>
                <a:latin typeface="Arial" pitchFamily="34" charset="0"/>
                <a:ea typeface="微软雅黑" pitchFamily="34" charset="-122"/>
                <a:cs typeface="Arial" pitchFamily="34" charset="0"/>
              </a:rPr>
              <a:t>n </a:t>
            </a:r>
            <a:r>
              <a:rPr kumimoji="0" lang="en-US" altLang="zh-CN" sz="2400" kern="0" dirty="0">
                <a:solidFill>
                  <a:srgbClr val="0000CC"/>
                </a:solidFill>
                <a:latin typeface="Arial" pitchFamily="34" charset="0"/>
                <a:ea typeface="微软雅黑" pitchFamily="34" charset="-122"/>
                <a:cs typeface="Arial" pitchFamily="34" charset="0"/>
              </a:rPr>
              <a:t>= </a:t>
            </a:r>
            <a:r>
              <a:rPr kumimoji="0" lang="en-US" altLang="zh-CN" sz="2400" i="1" kern="0" dirty="0" err="1">
                <a:solidFill>
                  <a:srgbClr val="0000CC"/>
                </a:solidFill>
                <a:latin typeface="Arial" pitchFamily="34" charset="0"/>
                <a:ea typeface="微软雅黑" pitchFamily="34" charset="-122"/>
                <a:cs typeface="Arial" pitchFamily="34" charset="0"/>
              </a:rPr>
              <a:t>k+r</a:t>
            </a:r>
            <a:r>
              <a:rPr kumimoji="0" lang="en-US" altLang="zh-CN" sz="2400" i="1" kern="0" dirty="0">
                <a:solidFill>
                  <a:srgbClr val="0000CC"/>
                </a:solidFill>
                <a:latin typeface="Arial" pitchFamily="34" charset="0"/>
                <a:ea typeface="微软雅黑" pitchFamily="34" charset="-122"/>
                <a:cs typeface="Arial" pitchFamily="34" charset="0"/>
              </a:rPr>
              <a:t> </a:t>
            </a:r>
            <a:endParaRPr lang="zh-CN" altLang="en-US" sz="2400" dirty="0">
              <a:solidFill>
                <a:srgbClr val="0000CC"/>
              </a:solidFill>
              <a:latin typeface="Arial" pitchFamily="34" charset="0"/>
              <a:ea typeface="微软雅黑" pitchFamily="34" charset="-122"/>
              <a:cs typeface="Arial" pitchFamily="34" charset="0"/>
            </a:endParaRPr>
          </a:p>
        </p:txBody>
      </p:sp>
      <p:sp>
        <p:nvSpPr>
          <p:cNvPr id="103427" name="Rectangle 3">
            <a:extLst>
              <a:ext uri="{FF2B5EF4-FFF2-40B4-BE49-F238E27FC236}">
                <a16:creationId xmlns:a16="http://schemas.microsoft.com/office/drawing/2014/main" id="{A69D253C-D690-46B2-0231-C1098D9D432F}"/>
              </a:ext>
            </a:extLst>
          </p:cNvPr>
          <p:cNvSpPr>
            <a:spLocks noChangeArrowheads="1"/>
          </p:cNvSpPr>
          <p:nvPr/>
        </p:nvSpPr>
        <p:spPr bwMode="auto">
          <a:xfrm>
            <a:off x="0" y="0"/>
            <a:ext cx="9144000" cy="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19" name="Freeform 57">
            <a:extLst>
              <a:ext uri="{FF2B5EF4-FFF2-40B4-BE49-F238E27FC236}">
                <a16:creationId xmlns:a16="http://schemas.microsoft.com/office/drawing/2014/main" id="{A099BBB5-0015-37F7-B154-6C7AF1A87968}"/>
              </a:ext>
            </a:extLst>
          </p:cNvPr>
          <p:cNvSpPr>
            <a:spLocks/>
          </p:cNvSpPr>
          <p:nvPr/>
        </p:nvSpPr>
        <p:spPr bwMode="auto">
          <a:xfrm rot="-218973">
            <a:off x="4306888" y="4238625"/>
            <a:ext cx="1103312" cy="642938"/>
          </a:xfrm>
          <a:custGeom>
            <a:avLst/>
            <a:gdLst>
              <a:gd name="T0" fmla="*/ 2147483647 w 46"/>
              <a:gd name="T1" fmla="*/ 0 h 43"/>
              <a:gd name="T2" fmla="*/ 2147483647 w 46"/>
              <a:gd name="T3" fmla="*/ 2147483647 h 43"/>
              <a:gd name="T4" fmla="*/ 2147483647 w 46"/>
              <a:gd name="T5" fmla="*/ 2147483647 h 43"/>
              <a:gd name="T6" fmla="*/ 2147483647 w 46"/>
              <a:gd name="T7" fmla="*/ 2147483647 h 43"/>
              <a:gd name="T8" fmla="*/ 2147483647 w 46"/>
              <a:gd name="T9" fmla="*/ 2147483647 h 43"/>
              <a:gd name="T10" fmla="*/ 2147483647 w 46"/>
              <a:gd name="T11" fmla="*/ 2147483647 h 43"/>
              <a:gd name="T12" fmla="*/ 0 w 46"/>
              <a:gd name="T13" fmla="*/ 2147483647 h 43"/>
              <a:gd name="T14" fmla="*/ 2147483647 w 46"/>
              <a:gd name="T15" fmla="*/ 0 h 43"/>
              <a:gd name="T16" fmla="*/ 0 60000 65536"/>
              <a:gd name="T17" fmla="*/ 0 60000 65536"/>
              <a:gd name="T18" fmla="*/ 0 60000 65536"/>
              <a:gd name="T19" fmla="*/ 0 60000 65536"/>
              <a:gd name="T20" fmla="*/ 0 60000 65536"/>
              <a:gd name="T21" fmla="*/ 0 60000 65536"/>
              <a:gd name="T22" fmla="*/ 0 60000 65536"/>
              <a:gd name="T23" fmla="*/ 0 60000 65536"/>
              <a:gd name="T24" fmla="*/ 0 w 46"/>
              <a:gd name="T25" fmla="*/ 0 h 43"/>
              <a:gd name="T26" fmla="*/ 46 w 46"/>
              <a:gd name="T27" fmla="*/ 43 h 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6" h="43">
                <a:moveTo>
                  <a:pt x="4" y="0"/>
                </a:moveTo>
                <a:cubicBezTo>
                  <a:pt x="4" y="0"/>
                  <a:pt x="24" y="13"/>
                  <a:pt x="35" y="15"/>
                </a:cubicBezTo>
                <a:lnTo>
                  <a:pt x="30" y="6"/>
                </a:lnTo>
                <a:lnTo>
                  <a:pt x="46" y="22"/>
                </a:lnTo>
                <a:lnTo>
                  <a:pt x="27" y="40"/>
                </a:lnTo>
                <a:lnTo>
                  <a:pt x="34" y="30"/>
                </a:lnTo>
                <a:cubicBezTo>
                  <a:pt x="34" y="30"/>
                  <a:pt x="6" y="33"/>
                  <a:pt x="0" y="43"/>
                </a:cubicBezTo>
                <a:lnTo>
                  <a:pt x="4" y="0"/>
                </a:lnTo>
              </a:path>
            </a:pathLst>
          </a:custGeom>
          <a:gradFill rotWithShape="0">
            <a:gsLst>
              <a:gs pos="0">
                <a:srgbClr val="FFFFFF">
                  <a:alpha val="0"/>
                </a:srgbClr>
              </a:gs>
              <a:gs pos="100000">
                <a:srgbClr val="979797"/>
              </a:gs>
            </a:gsLst>
            <a:lin ang="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2" name="矩形 11">
            <a:extLst>
              <a:ext uri="{FF2B5EF4-FFF2-40B4-BE49-F238E27FC236}">
                <a16:creationId xmlns:a16="http://schemas.microsoft.com/office/drawing/2014/main" id="{6B126631-5F19-30F0-C3FA-46E3C87FE74A}"/>
              </a:ext>
            </a:extLst>
          </p:cNvPr>
          <p:cNvSpPr/>
          <p:nvPr/>
        </p:nvSpPr>
        <p:spPr>
          <a:xfrm>
            <a:off x="2982913" y="4386263"/>
            <a:ext cx="1466850" cy="400050"/>
          </a:xfrm>
          <a:prstGeom prst="rect">
            <a:avLst/>
          </a:prstGeom>
        </p:spPr>
        <p:txBody>
          <a:bodyPr wrap="none">
            <a:spAutoFit/>
          </a:bodyPr>
          <a:lstStyle/>
          <a:p>
            <a:pPr>
              <a:defRPr/>
            </a:pP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就是分组码</a:t>
            </a:r>
            <a:endParaRPr lang="zh-CN" altLang="en-US" dirty="0"/>
          </a:p>
        </p:txBody>
      </p:sp>
      <p:sp>
        <p:nvSpPr>
          <p:cNvPr id="13" name="Rectangle 3">
            <a:extLst>
              <a:ext uri="{FF2B5EF4-FFF2-40B4-BE49-F238E27FC236}">
                <a16:creationId xmlns:a16="http://schemas.microsoft.com/office/drawing/2014/main" id="{255650F7-E4E5-0BF0-6A48-94998CBAC8CD}"/>
              </a:ext>
            </a:extLst>
          </p:cNvPr>
          <p:cNvSpPr txBox="1">
            <a:spLocks noChangeArrowheads="1"/>
          </p:cNvSpPr>
          <p:nvPr/>
        </p:nvSpPr>
        <p:spPr>
          <a:xfrm>
            <a:off x="814388" y="2744788"/>
            <a:ext cx="2143125" cy="428625"/>
          </a:xfrm>
          <a:prstGeom prst="rect">
            <a:avLst/>
          </a:prstGeom>
        </p:spPr>
        <p:txBody>
          <a:bodyPr/>
          <a:lstStyle/>
          <a:p>
            <a:pPr marL="228600" indent="-228600" eaLnBrk="0" hangingPunct="0">
              <a:spcBef>
                <a:spcPct val="20000"/>
              </a:spcBef>
              <a:buClr>
                <a:srgbClr val="0000CC"/>
              </a:buClr>
              <a:buSzPct val="63000"/>
              <a:buFont typeface="Wingdings" pitchFamily="2" charset="2"/>
              <a:buChar char="l"/>
              <a:defRPr/>
            </a:pP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前面的例子</a:t>
            </a:r>
            <a:r>
              <a:rPr kumimoji="0" lang="zh-CN" altLang="en-US" sz="2000" b="0" kern="0" dirty="0">
                <a:solidFill>
                  <a:srgbClr val="000000"/>
                </a:solidFill>
                <a:effectLst>
                  <a:outerShdw blurRad="38100" dist="38100" dir="2700000" algn="tl">
                    <a:srgbClr val="000000">
                      <a:alpha val="43137"/>
                    </a:srgbClr>
                  </a:outerShdw>
                </a:effectLst>
                <a:latin typeface="+mn-ea"/>
                <a:ea typeface="+mn-ea"/>
              </a:rPr>
              <a:t>：</a:t>
            </a:r>
            <a:endParaRPr kumimoji="0" lang="zh-CN" altLang="en-US" sz="2000" b="0" kern="0" dirty="0">
              <a:solidFill>
                <a:schemeClr val="tx1"/>
              </a:solidFill>
              <a:effectLst>
                <a:outerShdw blurRad="38100" dist="38100" dir="2700000" algn="tl">
                  <a:srgbClr val="000000">
                    <a:alpha val="43137"/>
                  </a:srgbClr>
                </a:outerShdw>
              </a:effectLst>
              <a:latin typeface="+mn-ea"/>
              <a:ea typeface="+mn-ea"/>
            </a:endParaRPr>
          </a:p>
        </p:txBody>
      </p:sp>
      <p:sp>
        <p:nvSpPr>
          <p:cNvPr id="15" name="矩形 14">
            <a:extLst>
              <a:ext uri="{FF2B5EF4-FFF2-40B4-BE49-F238E27FC236}">
                <a16:creationId xmlns:a16="http://schemas.microsoft.com/office/drawing/2014/main" id="{91349978-2031-67AC-C679-590628B03434}"/>
              </a:ext>
            </a:extLst>
          </p:cNvPr>
          <p:cNvSpPr/>
          <p:nvPr/>
        </p:nvSpPr>
        <p:spPr>
          <a:xfrm>
            <a:off x="5429250" y="2743200"/>
            <a:ext cx="3071813" cy="400050"/>
          </a:xfrm>
          <a:prstGeom prst="rect">
            <a:avLst/>
          </a:prstGeom>
        </p:spPr>
        <p:txBody>
          <a:bodyPr>
            <a:spAutoFit/>
          </a:bodyPr>
          <a:lstStyle/>
          <a:p>
            <a:pPr marL="228600" indent="-228600" eaLnBrk="0" hangingPunct="0">
              <a:spcBef>
                <a:spcPct val="20000"/>
              </a:spcBef>
              <a:buClr>
                <a:srgbClr val="0000CC"/>
              </a:buClr>
              <a:buSzPct val="63000"/>
              <a:buFont typeface="Wingdings" pitchFamily="2" charset="2"/>
              <a:buChar char="l"/>
              <a:defRPr/>
            </a:pP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信息位与监督位关系</a:t>
            </a:r>
            <a:r>
              <a:rPr kumimoji="0" lang="zh-CN" altLang="en-US" sz="2000" b="0" kern="0" dirty="0">
                <a:solidFill>
                  <a:srgbClr val="000000"/>
                </a:solidFill>
                <a:effectLst>
                  <a:outerShdw blurRad="38100" dist="38100" dir="2700000" algn="tl">
                    <a:srgbClr val="000000">
                      <a:alpha val="43137"/>
                    </a:srgbClr>
                  </a:outerShdw>
                </a:effectLst>
                <a:latin typeface="+mn-ea"/>
                <a:ea typeface="+mn-ea"/>
              </a:rPr>
              <a:t>： </a:t>
            </a:r>
          </a:p>
        </p:txBody>
      </p:sp>
      <p:pic>
        <p:nvPicPr>
          <p:cNvPr id="17" name="Picture 30">
            <a:extLst>
              <a:ext uri="{FF2B5EF4-FFF2-40B4-BE49-F238E27FC236}">
                <a16:creationId xmlns:a16="http://schemas.microsoft.com/office/drawing/2014/main" id="{56E1997A-EE23-2421-98C8-3C47FC8F9C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7538" y="3476625"/>
            <a:ext cx="2684462"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33" name="Picture 41">
            <a:extLst>
              <a:ext uri="{FF2B5EF4-FFF2-40B4-BE49-F238E27FC236}">
                <a16:creationId xmlns:a16="http://schemas.microsoft.com/office/drawing/2014/main" id="{C4B65268-424D-3072-5078-404AA8D96E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6238" y="3143250"/>
            <a:ext cx="2973387" cy="254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8" name="Picture 42">
            <a:extLst>
              <a:ext uri="{FF2B5EF4-FFF2-40B4-BE49-F238E27FC236}">
                <a16:creationId xmlns:a16="http://schemas.microsoft.com/office/drawing/2014/main" id="{9D2EAEAC-12F3-1AAE-3C33-18D295DAB87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3275" y="5857875"/>
            <a:ext cx="6742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10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85032"/>
                                        </p:tgtEl>
                                        <p:attrNameLst>
                                          <p:attrName>style.visibility</p:attrName>
                                        </p:attrNameLst>
                                      </p:cBhvr>
                                      <p:to>
                                        <p:strVal val="visible"/>
                                      </p:to>
                                    </p:set>
                                    <p:animEffect transition="in" filter="wipe(up)">
                                      <p:cBhvr>
                                        <p:cTn id="12" dur="1000"/>
                                        <p:tgtEl>
                                          <p:spTgt spid="850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10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3">
                                            <p:txEl>
                                              <p:pRg st="0" end="0"/>
                                            </p:txEl>
                                          </p:spTgt>
                                        </p:tgtEl>
                                        <p:attrNameLst>
                                          <p:attrName>style.visibility</p:attrName>
                                        </p:attrNameLst>
                                      </p:cBhvr>
                                      <p:to>
                                        <p:strVal val="visible"/>
                                      </p:to>
                                    </p:set>
                                    <p:animEffect transition="in" filter="wipe(up)">
                                      <p:cBhvr>
                                        <p:cTn id="22" dur="1000"/>
                                        <p:tgtEl>
                                          <p:spTgt spid="13">
                                            <p:txEl>
                                              <p:pRg st="0" end="0"/>
                                            </p:txEl>
                                          </p:spTgt>
                                        </p:tgtEl>
                                      </p:cBhvr>
                                    </p:animEffect>
                                  </p:childTnLst>
                                </p:cTn>
                              </p:par>
                            </p:childTnLst>
                          </p:cTn>
                        </p:par>
                        <p:par>
                          <p:cTn id="23" fill="hold" nodeType="afterGroup">
                            <p:stCondLst>
                              <p:cond delay="1000"/>
                            </p:stCondLst>
                            <p:childTnLst>
                              <p:par>
                                <p:cTn id="24" presetID="3" presetClass="entr" presetSubtype="5" fill="hold" nodeType="after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blinds(vertical)">
                                      <p:cBhvr>
                                        <p:cTn id="26" dur="500"/>
                                        <p:tgtEl>
                                          <p:spTgt spid="1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1000"/>
                                        <p:tgtEl>
                                          <p:spTgt spid="12"/>
                                        </p:tgtEl>
                                      </p:cBhvr>
                                    </p:animEffect>
                                  </p:childTnLst>
                                </p:cTn>
                              </p:par>
                            </p:childTnLst>
                          </p:cTn>
                        </p:par>
                        <p:par>
                          <p:cTn id="32" fill="hold" nodeType="afterGroup">
                            <p:stCondLst>
                              <p:cond delay="1000"/>
                            </p:stCondLst>
                            <p:childTnLst>
                              <p:par>
                                <p:cTn id="33" presetID="22" presetClass="entr" presetSubtype="8" fill="hold" nodeType="after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wipe(left)">
                                      <p:cBhvr>
                                        <p:cTn id="35" dur="1000"/>
                                        <p:tgtEl>
                                          <p:spTgt spid="19"/>
                                        </p:tgtEl>
                                      </p:cBhvr>
                                    </p:animEffect>
                                  </p:childTnLst>
                                </p:cTn>
                              </p:par>
                            </p:childTnLst>
                          </p:cTn>
                        </p:par>
                        <p:par>
                          <p:cTn id="36" fill="hold" nodeType="afterGroup">
                            <p:stCondLst>
                              <p:cond delay="2000"/>
                            </p:stCondLst>
                            <p:childTnLst>
                              <p:par>
                                <p:cTn id="37" presetID="22" presetClass="entr" presetSubtype="8" fill="hold" nodeType="afterEffect">
                                  <p:stCondLst>
                                    <p:cond delay="0"/>
                                  </p:stCondLst>
                                  <p:childTnLst>
                                    <p:set>
                                      <p:cBhvr>
                                        <p:cTn id="38" dur="1" fill="hold">
                                          <p:stCondLst>
                                            <p:cond delay="0"/>
                                          </p:stCondLst>
                                        </p:cTn>
                                        <p:tgtEl>
                                          <p:spTgt spid="85033"/>
                                        </p:tgtEl>
                                        <p:attrNameLst>
                                          <p:attrName>style.visibility</p:attrName>
                                        </p:attrNameLst>
                                      </p:cBhvr>
                                      <p:to>
                                        <p:strVal val="visible"/>
                                      </p:to>
                                    </p:set>
                                    <p:animEffect transition="in" filter="wipe(left)">
                                      <p:cBhvr>
                                        <p:cTn id="39" dur="1000"/>
                                        <p:tgtEl>
                                          <p:spTgt spid="85033"/>
                                        </p:tgtEl>
                                      </p:cBhvr>
                                    </p:animEffect>
                                  </p:childTnLst>
                                </p:cTn>
                              </p:par>
                            </p:childTnLst>
                          </p:cTn>
                        </p:par>
                        <p:par>
                          <p:cTn id="40" fill="hold" nodeType="afterGroup">
                            <p:stCondLst>
                              <p:cond delay="3000"/>
                            </p:stCondLst>
                            <p:childTnLst>
                              <p:par>
                                <p:cTn id="41" presetID="22" presetClass="entr" presetSubtype="1" fill="hold" nodeType="after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up)">
                                      <p:cBhvr>
                                        <p:cTn id="43" dur="2000"/>
                                        <p:tgtEl>
                                          <p:spTgt spid="15"/>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4" fill="hold" nodeType="clickEffect">
                                  <p:stCondLst>
                                    <p:cond delay="0"/>
                                  </p:stCondLst>
                                  <p:childTnLst>
                                    <p:set>
                                      <p:cBhvr>
                                        <p:cTn id="47" dur="1" fill="hold">
                                          <p:stCondLst>
                                            <p:cond delay="0"/>
                                          </p:stCondLst>
                                        </p:cTn>
                                        <p:tgtEl>
                                          <p:spTgt spid="75788"/>
                                        </p:tgtEl>
                                        <p:attrNameLst>
                                          <p:attrName>style.visibility</p:attrName>
                                        </p:attrNameLst>
                                      </p:cBhvr>
                                      <p:to>
                                        <p:strVal val="visible"/>
                                      </p:to>
                                    </p:set>
                                    <p:animEffect transition="in" filter="wipe(down)">
                                      <p:cBhvr>
                                        <p:cTn id="48" dur="500"/>
                                        <p:tgtEl>
                                          <p:spTgt spid="757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9" grpId="0" animBg="1"/>
      <p:bldP spid="12" grpId="0"/>
      <p:bldP spid="1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04225C13-68C5-8C47-F7A0-0392531ADFB2}"/>
              </a:ext>
            </a:extLst>
          </p:cNvPr>
          <p:cNvSpPr/>
          <p:nvPr/>
        </p:nvSpPr>
        <p:spPr>
          <a:xfrm>
            <a:off x="928688" y="1143000"/>
            <a:ext cx="6357937" cy="461963"/>
          </a:xfrm>
          <a:prstGeom prst="rect">
            <a:avLst/>
          </a:prstGeom>
        </p:spPr>
        <p:txBody>
          <a:bodyPr>
            <a:spAutoFit/>
          </a:bodyPr>
          <a:lstStyle/>
          <a:p>
            <a:pPr>
              <a:buClr>
                <a:srgbClr val="0000CC"/>
              </a:buClr>
              <a:buSzPct val="65000"/>
              <a:buFont typeface="Wingdings" pitchFamily="2" charset="2"/>
              <a:buChar char="l"/>
              <a:defRPr/>
            </a:pP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  分组码 的 </a:t>
            </a:r>
            <a:r>
              <a:rPr kumimoji="0" lang="zh-CN" altLang="en-US" sz="2400" kern="0" dirty="0">
                <a:solidFill>
                  <a:srgbClr val="000000"/>
                </a:solidFill>
                <a:latin typeface="Arial" pitchFamily="34" charset="0"/>
                <a:ea typeface="微软雅黑" pitchFamily="34" charset="-122"/>
                <a:cs typeface="Arial" pitchFamily="34" charset="0"/>
              </a:rPr>
              <a:t>符号</a:t>
            </a:r>
            <a:r>
              <a:rPr kumimoji="0" lang="zh-CN" altLang="en-US" sz="2400" kern="0" dirty="0">
                <a:solidFill>
                  <a:srgbClr val="000000"/>
                </a:solidFill>
                <a:latin typeface="+mn-ea"/>
                <a:ea typeface="+mn-ea"/>
                <a:cs typeface="Arial" pitchFamily="34" charset="0"/>
              </a:rPr>
              <a:t>：</a:t>
            </a:r>
            <a:endParaRPr lang="zh-CN" altLang="en-US" dirty="0">
              <a:effectLst>
                <a:outerShdw blurRad="38100" dist="38100" dir="2700000" algn="tl">
                  <a:srgbClr val="000000">
                    <a:alpha val="43137"/>
                  </a:srgbClr>
                </a:outerShdw>
              </a:effectLst>
              <a:latin typeface="+mn-ea"/>
              <a:ea typeface="+mn-ea"/>
              <a:cs typeface="Arial" pitchFamily="34" charset="0"/>
            </a:endParaRPr>
          </a:p>
        </p:txBody>
      </p:sp>
      <p:sp>
        <p:nvSpPr>
          <p:cNvPr id="103427" name="Rectangle 3">
            <a:extLst>
              <a:ext uri="{FF2B5EF4-FFF2-40B4-BE49-F238E27FC236}">
                <a16:creationId xmlns:a16="http://schemas.microsoft.com/office/drawing/2014/main" id="{308A1879-817C-4142-98A2-19A34EFA07FA}"/>
              </a:ext>
            </a:extLst>
          </p:cNvPr>
          <p:cNvSpPr>
            <a:spLocks noChangeArrowheads="1"/>
          </p:cNvSpPr>
          <p:nvPr/>
        </p:nvSpPr>
        <p:spPr bwMode="auto">
          <a:xfrm>
            <a:off x="0" y="0"/>
            <a:ext cx="9144000" cy="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6" name="矩形 5">
            <a:extLst>
              <a:ext uri="{FF2B5EF4-FFF2-40B4-BE49-F238E27FC236}">
                <a16:creationId xmlns:a16="http://schemas.microsoft.com/office/drawing/2014/main" id="{E99825C4-3B72-62C9-71CB-7FE5A62F7371}"/>
              </a:ext>
            </a:extLst>
          </p:cNvPr>
          <p:cNvSpPr/>
          <p:nvPr/>
        </p:nvSpPr>
        <p:spPr>
          <a:xfrm>
            <a:off x="928688" y="2357438"/>
            <a:ext cx="6357937" cy="461962"/>
          </a:xfrm>
          <a:prstGeom prst="rect">
            <a:avLst/>
          </a:prstGeom>
        </p:spPr>
        <p:txBody>
          <a:bodyPr>
            <a:spAutoFit/>
          </a:bodyPr>
          <a:lstStyle/>
          <a:p>
            <a:pPr>
              <a:buClr>
                <a:srgbClr val="0000CC"/>
              </a:buClr>
              <a:buSzPct val="65000"/>
              <a:buFont typeface="Wingdings" pitchFamily="2" charset="2"/>
              <a:buChar char="l"/>
              <a:defRPr/>
            </a:pP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  分组码 的 </a:t>
            </a:r>
            <a:r>
              <a:rPr kumimoji="0" lang="zh-CN" altLang="en-US" sz="2400" kern="0" dirty="0">
                <a:solidFill>
                  <a:srgbClr val="000000"/>
                </a:solidFill>
                <a:latin typeface="Arial" pitchFamily="34" charset="0"/>
                <a:ea typeface="微软雅黑" pitchFamily="34" charset="-122"/>
                <a:cs typeface="Arial" pitchFamily="34" charset="0"/>
              </a:rPr>
              <a:t>结构</a:t>
            </a:r>
            <a:r>
              <a:rPr kumimoji="0" lang="zh-CN" altLang="en-US" sz="2400" b="0" kern="0" dirty="0">
                <a:solidFill>
                  <a:srgbClr val="000000"/>
                </a:solidFill>
                <a:effectLst>
                  <a:outerShdw blurRad="38100" dist="38100" dir="2700000" algn="tl">
                    <a:srgbClr val="000000">
                      <a:alpha val="43137"/>
                    </a:srgbClr>
                  </a:outerShdw>
                </a:effectLst>
                <a:latin typeface="+mn-ea"/>
                <a:ea typeface="+mn-ea"/>
                <a:cs typeface="Arial" pitchFamily="34" charset="0"/>
              </a:rPr>
              <a:t>：</a:t>
            </a:r>
            <a:r>
              <a:rPr kumimoji="0" lang="zh-CN" altLang="en-US" sz="2000" b="0" kern="0" dirty="0">
                <a:solidFill>
                  <a:srgbClr val="000000"/>
                </a:solidFill>
                <a:effectLst>
                  <a:outerShdw blurRad="38100" dist="38100" dir="2700000" algn="tl">
                    <a:srgbClr val="000000">
                      <a:alpha val="43137"/>
                    </a:srgbClr>
                  </a:outerShdw>
                </a:effectLst>
                <a:latin typeface="+mn-ea"/>
                <a:ea typeface="+mn-ea"/>
                <a:cs typeface="Arial" pitchFamily="34" charset="0"/>
              </a:rPr>
              <a:t> </a:t>
            </a:r>
            <a:endParaRPr lang="zh-CN" altLang="en-US" dirty="0">
              <a:effectLst>
                <a:outerShdw blurRad="38100" dist="38100" dir="2700000" algn="tl">
                  <a:srgbClr val="000000">
                    <a:alpha val="43137"/>
                  </a:srgbClr>
                </a:outerShdw>
              </a:effectLst>
              <a:latin typeface="+mn-ea"/>
              <a:ea typeface="+mn-ea"/>
              <a:cs typeface="Arial" pitchFamily="34" charset="0"/>
            </a:endParaRPr>
          </a:p>
        </p:txBody>
      </p:sp>
      <p:sp>
        <p:nvSpPr>
          <p:cNvPr id="8" name="矩形 7">
            <a:extLst>
              <a:ext uri="{FF2B5EF4-FFF2-40B4-BE49-F238E27FC236}">
                <a16:creationId xmlns:a16="http://schemas.microsoft.com/office/drawing/2014/main" id="{58D3F47E-B418-3BE4-ED25-FED80375CB52}"/>
              </a:ext>
            </a:extLst>
          </p:cNvPr>
          <p:cNvSpPr/>
          <p:nvPr/>
        </p:nvSpPr>
        <p:spPr>
          <a:xfrm>
            <a:off x="3857625" y="1500174"/>
            <a:ext cx="1857375" cy="523875"/>
          </a:xfrm>
          <a:prstGeom prst="rect">
            <a:avLst/>
          </a:prstGeom>
          <a:solidFill>
            <a:schemeClr val="bg2">
              <a:lumMod val="10000"/>
              <a:lumOff val="90000"/>
            </a:schemeClr>
          </a:solidFill>
          <a:ln>
            <a:noFill/>
          </a:ln>
          <a:effectLst>
            <a:innerShdw blurRad="114300">
              <a:prstClr val="black"/>
            </a:innerShdw>
          </a:effectLst>
        </p:spPr>
        <p:txBody>
          <a:bodyPr>
            <a:spAutoFit/>
          </a:bodyPr>
          <a:lstStyle/>
          <a:p>
            <a:pPr>
              <a:buClr>
                <a:srgbClr val="0000CC"/>
              </a:buClr>
              <a:buSzPct val="65000"/>
              <a:defRPr/>
            </a:pPr>
            <a:r>
              <a:rPr kumimoji="0" lang="zh-CN" altLang="en-US" sz="2800" kern="0" dirty="0">
                <a:solidFill>
                  <a:srgbClr val="0000CC"/>
                </a:solidFill>
                <a:latin typeface="Arial" pitchFamily="34" charset="0"/>
                <a:ea typeface="微软雅黑" pitchFamily="34" charset="-122"/>
                <a:cs typeface="Arial" pitchFamily="34" charset="0"/>
              </a:rPr>
              <a:t> </a:t>
            </a:r>
            <a:r>
              <a:rPr kumimoji="0" lang="zh-CN" altLang="en-US" sz="2800" kern="0" dirty="0">
                <a:solidFill>
                  <a:srgbClr val="FF0000"/>
                </a:solidFill>
                <a:latin typeface="Arial" pitchFamily="34" charset="0"/>
                <a:ea typeface="微软雅黑" pitchFamily="34" charset="-122"/>
                <a:cs typeface="Arial" pitchFamily="34" charset="0"/>
              </a:rPr>
              <a:t>（</a:t>
            </a:r>
            <a:r>
              <a:rPr kumimoji="0" lang="en-US" altLang="zh-CN" sz="2800" i="1" kern="0" dirty="0">
                <a:solidFill>
                  <a:srgbClr val="FF0000"/>
                </a:solidFill>
                <a:latin typeface="Arial" pitchFamily="34" charset="0"/>
                <a:ea typeface="微软雅黑" pitchFamily="34" charset="-122"/>
                <a:cs typeface="Arial" pitchFamily="34" charset="0"/>
              </a:rPr>
              <a:t>n</a:t>
            </a:r>
            <a:r>
              <a:rPr kumimoji="0" lang="zh-CN" altLang="en-US" sz="2800" kern="0" dirty="0">
                <a:solidFill>
                  <a:srgbClr val="FF0000"/>
                </a:solidFill>
                <a:latin typeface="Arial" pitchFamily="34" charset="0"/>
                <a:ea typeface="微软雅黑" pitchFamily="34" charset="-122"/>
                <a:cs typeface="Arial" pitchFamily="34" charset="0"/>
              </a:rPr>
              <a:t>，</a:t>
            </a:r>
            <a:r>
              <a:rPr kumimoji="0" lang="en-US" altLang="zh-CN" sz="2800" i="1" kern="0" dirty="0">
                <a:solidFill>
                  <a:srgbClr val="FF0000"/>
                </a:solidFill>
                <a:latin typeface="Arial" pitchFamily="34" charset="0"/>
                <a:ea typeface="微软雅黑" pitchFamily="34" charset="-122"/>
                <a:cs typeface="Arial" pitchFamily="34" charset="0"/>
              </a:rPr>
              <a:t>k</a:t>
            </a:r>
            <a:r>
              <a:rPr kumimoji="0" lang="zh-CN" altLang="en-US" sz="2800" kern="0" dirty="0">
                <a:solidFill>
                  <a:srgbClr val="FF0000"/>
                </a:solidFill>
                <a:latin typeface="Arial" pitchFamily="34" charset="0"/>
                <a:ea typeface="微软雅黑" pitchFamily="34" charset="-122"/>
                <a:cs typeface="Arial" pitchFamily="34" charset="0"/>
              </a:rPr>
              <a:t>）</a:t>
            </a:r>
            <a:r>
              <a:rPr kumimoji="0" lang="zh-CN" altLang="en-US" sz="2800" b="0" kern="0" dirty="0">
                <a:solidFill>
                  <a:srgbClr val="FF0000"/>
                </a:solidFill>
                <a:effectLst>
                  <a:outerShdw blurRad="38100" dist="38100" dir="2700000" algn="tl">
                    <a:srgbClr val="000000">
                      <a:alpha val="43137"/>
                    </a:srgbClr>
                  </a:outerShdw>
                </a:effectLst>
                <a:latin typeface="宋体"/>
                <a:ea typeface="宋体"/>
                <a:cs typeface="Arial" pitchFamily="34" charset="0"/>
              </a:rPr>
              <a:t> </a:t>
            </a:r>
            <a:endParaRPr lang="zh-CN" altLang="en-US" sz="2800" dirty="0">
              <a:solidFill>
                <a:srgbClr val="FF0000"/>
              </a:solidFill>
              <a:effectLst>
                <a:outerShdw blurRad="38100" dist="38100" dir="2700000" algn="tl">
                  <a:srgbClr val="000000">
                    <a:alpha val="43137"/>
                  </a:srgbClr>
                </a:outerShdw>
              </a:effectLst>
              <a:latin typeface="宋体"/>
              <a:ea typeface="宋体"/>
              <a:cs typeface="Arial" pitchFamily="34" charset="0"/>
            </a:endParaRPr>
          </a:p>
        </p:txBody>
      </p:sp>
      <p:pic>
        <p:nvPicPr>
          <p:cNvPr id="2060" name="Picture 12">
            <a:extLst>
              <a:ext uri="{FF2B5EF4-FFF2-40B4-BE49-F238E27FC236}">
                <a16:creationId xmlns:a16="http://schemas.microsoft.com/office/drawing/2014/main" id="{7762C600-0E90-A12C-7889-C84C36EAED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0" y="5143500"/>
            <a:ext cx="75438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9">
            <a:extLst>
              <a:ext uri="{FF2B5EF4-FFF2-40B4-BE49-F238E27FC236}">
                <a16:creationId xmlns:a16="http://schemas.microsoft.com/office/drawing/2014/main" id="{33AB6445-33FF-3069-CE7F-6A874EC22A2D}"/>
              </a:ext>
            </a:extLst>
          </p:cNvPr>
          <p:cNvGrpSpPr>
            <a:grpSpLocks/>
          </p:cNvGrpSpPr>
          <p:nvPr/>
        </p:nvGrpSpPr>
        <p:grpSpPr bwMode="auto">
          <a:xfrm>
            <a:off x="1928813" y="3071813"/>
            <a:ext cx="5857875" cy="1714500"/>
            <a:chOff x="1928794" y="3071813"/>
            <a:chExt cx="5857916" cy="1714500"/>
          </a:xfrm>
        </p:grpSpPr>
        <p:sp>
          <p:nvSpPr>
            <p:cNvPr id="7" name="矩形 6">
              <a:extLst>
                <a:ext uri="{FF2B5EF4-FFF2-40B4-BE49-F238E27FC236}">
                  <a16:creationId xmlns:a16="http://schemas.microsoft.com/office/drawing/2014/main" id="{7D6B09F2-05D0-2358-62B5-B893C799494B}"/>
                </a:ext>
              </a:extLst>
            </p:cNvPr>
            <p:cNvSpPr/>
            <p:nvPr/>
          </p:nvSpPr>
          <p:spPr bwMode="auto">
            <a:xfrm>
              <a:off x="1928794" y="3071813"/>
              <a:ext cx="5857916" cy="1714500"/>
            </a:xfrm>
            <a:prstGeom prst="rect">
              <a:avLst/>
            </a:prstGeom>
            <a:solidFill>
              <a:schemeClr val="bg2">
                <a:lumMod val="10000"/>
                <a:lumOff val="90000"/>
              </a:schemeClr>
            </a:solidFill>
            <a:ln w="9525" cap="flat" cmpd="sng" algn="ctr">
              <a:noFill/>
              <a:prstDash val="solid"/>
              <a:miter lim="800000"/>
              <a:headEnd type="none" w="med" len="med"/>
              <a:tailEnd type="none" w="med" len="med"/>
            </a:ln>
            <a:effectLst>
              <a:outerShdw blurRad="63500" sx="102000" sy="102000" algn="ctr" rotWithShape="0">
                <a:prstClr val="black">
                  <a:alpha val="40000"/>
                </a:prstClr>
              </a:outerShdw>
            </a:effectLst>
          </p:spPr>
          <p:txBody>
            <a:bodyPr wrap="none"/>
            <a:lstStyle/>
            <a:p>
              <a:pPr>
                <a:defRPr/>
              </a:pPr>
              <a:endParaRPr lang="zh-CN" altLang="en-US"/>
            </a:p>
          </p:txBody>
        </p:sp>
        <p:pic>
          <p:nvPicPr>
            <p:cNvPr id="75787" name="Picture 11">
              <a:extLst>
                <a:ext uri="{FF2B5EF4-FFF2-40B4-BE49-F238E27FC236}">
                  <a16:creationId xmlns:a16="http://schemas.microsoft.com/office/drawing/2014/main" id="{A142BF0A-7E42-A69D-4CEC-B7A01F384F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190" t="50719" r="1190"/>
            <a:stretch>
              <a:fillRect/>
            </a:stretch>
          </p:blipFill>
          <p:spPr bwMode="auto">
            <a:xfrm>
              <a:off x="1928794" y="3104468"/>
              <a:ext cx="5857916" cy="1629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1000"/>
                                        <p:tgtEl>
                                          <p:spTgt spid="11"/>
                                        </p:tgtEl>
                                      </p:cBhvr>
                                    </p:animEffect>
                                  </p:childTnLst>
                                </p:cTn>
                              </p:par>
                            </p:childTnLst>
                          </p:cTn>
                        </p:par>
                        <p:par>
                          <p:cTn id="8" fill="hold" nodeType="afterGroup">
                            <p:stCondLst>
                              <p:cond delay="1000"/>
                            </p:stCondLst>
                            <p:childTnLst>
                              <p:par>
                                <p:cTn id="9" presetID="2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edge">
                                      <p:cBhvr>
                                        <p:cTn id="11" dur="2000"/>
                                        <p:tgtEl>
                                          <p:spTgt spid="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1000"/>
                                        <p:tgtEl>
                                          <p:spTgt spid="6"/>
                                        </p:tgtEl>
                                      </p:cBhvr>
                                    </p:animEffect>
                                  </p:childTnLst>
                                </p:cTn>
                              </p:par>
                            </p:childTnLst>
                          </p:cTn>
                        </p:par>
                        <p:par>
                          <p:cTn id="17" fill="hold" nodeType="afterGroup">
                            <p:stCondLst>
                              <p:cond delay="1000"/>
                            </p:stCondLst>
                            <p:childTnLst>
                              <p:par>
                                <p:cTn id="18" presetID="22" presetClass="entr" presetSubtype="1"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up)">
                                      <p:cBhvr>
                                        <p:cTn id="20" dur="1000"/>
                                        <p:tgtEl>
                                          <p:spTgt spid="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2060"/>
                                        </p:tgtEl>
                                        <p:attrNameLst>
                                          <p:attrName>style.visibility</p:attrName>
                                        </p:attrNameLst>
                                      </p:cBhvr>
                                      <p:to>
                                        <p:strVal val="visible"/>
                                      </p:to>
                                    </p:set>
                                    <p:animEffect transition="in" filter="wipe(up)">
                                      <p:cBhvr>
                                        <p:cTn id="25" dur="1000"/>
                                        <p:tgtEl>
                                          <p:spTgt spid="2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36" name="Picture 20">
            <a:extLst>
              <a:ext uri="{FF2B5EF4-FFF2-40B4-BE49-F238E27FC236}">
                <a16:creationId xmlns:a16="http://schemas.microsoft.com/office/drawing/2014/main" id="{BDA74F29-B776-8AD3-FE24-0BE65364AB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7663" y="2627313"/>
            <a:ext cx="5214937"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DDC8A8AD-96FC-2106-2C1E-215DB5FE36CB}"/>
              </a:ext>
            </a:extLst>
          </p:cNvPr>
          <p:cNvSpPr/>
          <p:nvPr/>
        </p:nvSpPr>
        <p:spPr>
          <a:xfrm>
            <a:off x="914400" y="1252538"/>
            <a:ext cx="5000625" cy="461962"/>
          </a:xfrm>
          <a:prstGeom prst="rect">
            <a:avLst/>
          </a:prstGeom>
        </p:spPr>
        <p:txBody>
          <a:bodyPr>
            <a:spAutoFit/>
          </a:bodyPr>
          <a:lstStyle/>
          <a:p>
            <a:pPr>
              <a:buClr>
                <a:srgbClr val="0000CC"/>
              </a:buClr>
              <a:buSzPct val="60000"/>
              <a:buFont typeface="Wingdings" pitchFamily="2" charset="2"/>
              <a:buChar char="l"/>
              <a:defRPr/>
            </a:pPr>
            <a:r>
              <a:rPr kumimoji="0" lang="zh-CN" altLang="en-US" sz="2400" kern="0" dirty="0">
                <a:solidFill>
                  <a:schemeClr val="tx1"/>
                </a:solidFill>
                <a:latin typeface="Arial" pitchFamily="34" charset="0"/>
                <a:ea typeface="微软雅黑" pitchFamily="34" charset="-122"/>
                <a:cs typeface="Arial" pitchFamily="34" charset="0"/>
              </a:rPr>
              <a:t> </a:t>
            </a:r>
            <a:r>
              <a:rPr kumimoji="0" lang="zh-CN" altLang="en-US" sz="2400" kern="0" dirty="0">
                <a:solidFill>
                  <a:srgbClr val="003399"/>
                </a:solidFill>
                <a:latin typeface="黑体" pitchFamily="2" charset="-122"/>
                <a:ea typeface="黑体" pitchFamily="2" charset="-122"/>
                <a:cs typeface="Arial" pitchFamily="34" charset="0"/>
              </a:rPr>
              <a:t>码长</a:t>
            </a:r>
            <a:r>
              <a:rPr kumimoji="0" lang="zh-CN" altLang="en-US" sz="2400" kern="0" dirty="0">
                <a:solidFill>
                  <a:srgbClr val="003399"/>
                </a:solidFill>
                <a:latin typeface="Arial" pitchFamily="34" charset="0"/>
                <a:ea typeface="微软雅黑" pitchFamily="34" charset="-122"/>
                <a:cs typeface="Arial" pitchFamily="34" charset="0"/>
              </a:rPr>
              <a:t> </a:t>
            </a:r>
            <a:r>
              <a:rPr kumimoji="0" lang="en-US" altLang="zh-CN" sz="2400" b="0" kern="0" dirty="0">
                <a:solidFill>
                  <a:srgbClr val="003399"/>
                </a:solidFill>
                <a:latin typeface="Arial" pitchFamily="34" charset="0"/>
                <a:ea typeface="微软雅黑" pitchFamily="34" charset="-122"/>
                <a:cs typeface="Arial" pitchFamily="34" charset="0"/>
              </a:rPr>
              <a:t>(</a:t>
            </a:r>
            <a:r>
              <a:rPr kumimoji="0" lang="en-US" altLang="zh-CN" sz="2400" kern="0" dirty="0">
                <a:solidFill>
                  <a:srgbClr val="0000CC"/>
                </a:solidFill>
                <a:latin typeface="Arial" pitchFamily="34" charset="0"/>
                <a:ea typeface="微软雅黑" pitchFamily="34" charset="-122"/>
                <a:cs typeface="Arial" pitchFamily="34" charset="0"/>
              </a:rPr>
              <a:t>n</a:t>
            </a:r>
            <a:r>
              <a:rPr kumimoji="0" lang="en-US" altLang="zh-CN" sz="2400" b="0" kern="0" dirty="0">
                <a:solidFill>
                  <a:srgbClr val="003399"/>
                </a:solidFill>
                <a:latin typeface="Arial" pitchFamily="34" charset="0"/>
                <a:ea typeface="微软雅黑" pitchFamily="34" charset="-122"/>
                <a:cs typeface="Arial" pitchFamily="34" charset="0"/>
              </a:rPr>
              <a:t>)</a:t>
            </a:r>
            <a:r>
              <a:rPr lang="zh-CN" altLang="en-US" sz="2000" b="0" dirty="0">
                <a:solidFill>
                  <a:schemeClr val="tx1"/>
                </a:solidFill>
                <a:latin typeface="Arial" pitchFamily="34" charset="0"/>
                <a:cs typeface="Arial" pitchFamily="34" charset="0"/>
              </a:rPr>
              <a:t>：</a:t>
            </a:r>
            <a:r>
              <a:rPr lang="zh-CN" altLang="en-US" sz="2000" b="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码组（码字）中的码元个数</a:t>
            </a:r>
            <a:r>
              <a:rPr lang="zh-CN" altLang="en-US" sz="2000" b="0" dirty="0">
                <a:solidFill>
                  <a:schemeClr val="tx1"/>
                </a:solidFill>
                <a:latin typeface="Arial" pitchFamily="34" charset="0"/>
                <a:ea typeface="微软雅黑" pitchFamily="34" charset="-122"/>
                <a:cs typeface="Arial" pitchFamily="34" charset="0"/>
              </a:rPr>
              <a:t>。</a:t>
            </a:r>
          </a:p>
        </p:txBody>
      </p:sp>
      <p:sp>
        <p:nvSpPr>
          <p:cNvPr id="13" name="矩形 12">
            <a:extLst>
              <a:ext uri="{FF2B5EF4-FFF2-40B4-BE49-F238E27FC236}">
                <a16:creationId xmlns:a16="http://schemas.microsoft.com/office/drawing/2014/main" id="{F04CC54E-7559-3D5F-9816-D0807B62ECEB}"/>
              </a:ext>
            </a:extLst>
          </p:cNvPr>
          <p:cNvSpPr/>
          <p:nvPr/>
        </p:nvSpPr>
        <p:spPr>
          <a:xfrm>
            <a:off x="915988" y="1895475"/>
            <a:ext cx="4714875" cy="461963"/>
          </a:xfrm>
          <a:prstGeom prst="rect">
            <a:avLst/>
          </a:prstGeom>
        </p:spPr>
        <p:txBody>
          <a:bodyPr>
            <a:spAutoFit/>
          </a:bodyPr>
          <a:lstStyle/>
          <a:p>
            <a:pPr>
              <a:buClr>
                <a:srgbClr val="0000CC"/>
              </a:buClr>
              <a:buSzPct val="60000"/>
              <a:buFont typeface="Wingdings" pitchFamily="2" charset="2"/>
              <a:buChar char="l"/>
              <a:defRPr/>
            </a:pPr>
            <a:r>
              <a:rPr kumimoji="0" lang="zh-CN" altLang="en-US" sz="2400" kern="0" dirty="0">
                <a:solidFill>
                  <a:schemeClr val="tx1"/>
                </a:solidFill>
                <a:latin typeface="Arial" pitchFamily="34" charset="0"/>
                <a:ea typeface="微软雅黑" pitchFamily="34" charset="-122"/>
                <a:cs typeface="Arial" pitchFamily="34" charset="0"/>
              </a:rPr>
              <a:t> </a:t>
            </a:r>
            <a:r>
              <a:rPr kumimoji="0" lang="zh-CN" altLang="en-US" sz="2400" kern="0" dirty="0">
                <a:solidFill>
                  <a:srgbClr val="003399"/>
                </a:solidFill>
                <a:latin typeface="黑体" pitchFamily="2" charset="-122"/>
                <a:ea typeface="黑体" pitchFamily="2" charset="-122"/>
                <a:cs typeface="Arial" pitchFamily="34" charset="0"/>
              </a:rPr>
              <a:t>码重</a:t>
            </a:r>
            <a:r>
              <a:rPr kumimoji="0" lang="en-US" altLang="zh-CN" sz="2400" b="0" kern="0" dirty="0">
                <a:solidFill>
                  <a:srgbClr val="003399"/>
                </a:solidFill>
                <a:latin typeface="Arial" pitchFamily="34" charset="0"/>
                <a:ea typeface="微软雅黑" pitchFamily="34" charset="-122"/>
                <a:cs typeface="Arial" pitchFamily="34" charset="0"/>
              </a:rPr>
              <a:t>(</a:t>
            </a:r>
            <a:r>
              <a:rPr kumimoji="0" lang="en-US" altLang="zh-CN" sz="2000" kern="0" dirty="0">
                <a:solidFill>
                  <a:srgbClr val="0000CC"/>
                </a:solidFill>
                <a:latin typeface="Arial" pitchFamily="34" charset="0"/>
                <a:ea typeface="微软雅黑" pitchFamily="34" charset="-122"/>
                <a:cs typeface="Arial" pitchFamily="34" charset="0"/>
              </a:rPr>
              <a:t>W</a:t>
            </a:r>
            <a:r>
              <a:rPr kumimoji="0" lang="en-US" altLang="zh-CN" sz="2400" b="0" kern="0" dirty="0">
                <a:solidFill>
                  <a:srgbClr val="003399"/>
                </a:solidFill>
                <a:latin typeface="Arial" pitchFamily="34" charset="0"/>
                <a:ea typeface="微软雅黑" pitchFamily="34" charset="-122"/>
                <a:cs typeface="Arial" pitchFamily="34" charset="0"/>
              </a:rPr>
              <a:t>)</a:t>
            </a:r>
            <a:r>
              <a:rPr lang="zh-CN" altLang="en-US" sz="2000" b="0" dirty="0">
                <a:solidFill>
                  <a:schemeClr val="tx1"/>
                </a:solidFill>
                <a:latin typeface="Arial" pitchFamily="34" charset="0"/>
                <a:cs typeface="Arial" pitchFamily="34" charset="0"/>
              </a:rPr>
              <a:t>：</a:t>
            </a:r>
            <a:r>
              <a:rPr lang="zh-CN" altLang="en-US" sz="2000" b="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码组中“</a:t>
            </a:r>
            <a:r>
              <a:rPr lang="en-US" altLang="zh-CN" sz="2000" b="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1</a:t>
            </a:r>
            <a:r>
              <a:rPr lang="zh-CN" altLang="en-US" sz="2000" b="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”的数目</a:t>
            </a:r>
            <a:r>
              <a:rPr lang="zh-CN" altLang="en-US" sz="2000" b="0" dirty="0">
                <a:solidFill>
                  <a:schemeClr val="tx1"/>
                </a:solidFill>
                <a:latin typeface="Arial" pitchFamily="34" charset="0"/>
                <a:ea typeface="微软雅黑" pitchFamily="34" charset="-122"/>
                <a:cs typeface="Arial" pitchFamily="34" charset="0"/>
              </a:rPr>
              <a:t>。</a:t>
            </a:r>
          </a:p>
        </p:txBody>
      </p:sp>
      <p:sp>
        <p:nvSpPr>
          <p:cNvPr id="18" name="矩形 17">
            <a:extLst>
              <a:ext uri="{FF2B5EF4-FFF2-40B4-BE49-F238E27FC236}">
                <a16:creationId xmlns:a16="http://schemas.microsoft.com/office/drawing/2014/main" id="{6654E584-22BB-EBF0-9C15-4F8794894D68}"/>
              </a:ext>
            </a:extLst>
          </p:cNvPr>
          <p:cNvSpPr>
            <a:spLocks noChangeArrowheads="1"/>
          </p:cNvSpPr>
          <p:nvPr/>
        </p:nvSpPr>
        <p:spPr bwMode="auto">
          <a:xfrm>
            <a:off x="3155950" y="3343275"/>
            <a:ext cx="4214813" cy="400050"/>
          </a:xfrm>
          <a:prstGeom prst="rect">
            <a:avLst/>
          </a:prstGeom>
          <a:noFill/>
          <a:ln w="9525">
            <a:noFill/>
            <a:miter lim="800000"/>
            <a:headEnd/>
            <a:tailEnd/>
          </a:ln>
        </p:spPr>
        <p:txBody>
          <a:bodyPr>
            <a:spAutoFit/>
          </a:bodyPr>
          <a:lstStyle/>
          <a:p>
            <a:pPr>
              <a:defRPr/>
            </a:pPr>
            <a:r>
              <a:rPr lang="zh-CN" altLang="en-US" sz="2000" b="0" dirty="0">
                <a:solidFill>
                  <a:schemeClr val="tx1"/>
                </a:solidFill>
                <a:latin typeface="+mn-ea"/>
                <a:ea typeface="+mn-ea"/>
                <a:cs typeface="Arial" pitchFamily="34" charset="0"/>
              </a:rPr>
              <a:t>“</a:t>
            </a:r>
            <a:r>
              <a:rPr lang="zh-CN" altLang="en-US" sz="2000" dirty="0">
                <a:solidFill>
                  <a:schemeClr val="tx1"/>
                </a:solidFill>
                <a:latin typeface="Arial" charset="0"/>
                <a:ea typeface="微软雅黑" pitchFamily="34" charset="-122"/>
                <a:cs typeface="Arial" charset="0"/>
              </a:rPr>
              <a:t> </a:t>
            </a:r>
            <a:r>
              <a:rPr lang="en-US" altLang="zh-CN" sz="2000" dirty="0">
                <a:solidFill>
                  <a:schemeClr val="tx1"/>
                </a:solidFill>
                <a:latin typeface="Arial" charset="0"/>
                <a:ea typeface="微软雅黑" pitchFamily="34" charset="-122"/>
                <a:cs typeface="Arial" charset="0"/>
              </a:rPr>
              <a:t>0 1 1 0 1 1</a:t>
            </a:r>
            <a:r>
              <a:rPr lang="zh-CN" altLang="en-US" sz="2000" b="0" dirty="0">
                <a:solidFill>
                  <a:schemeClr val="tx1"/>
                </a:solidFill>
                <a:latin typeface="+mn-ea"/>
                <a:ea typeface="+mn-ea"/>
                <a:cs typeface="Arial" pitchFamily="34" charset="0"/>
              </a:rPr>
              <a:t>”</a:t>
            </a:r>
            <a:r>
              <a:rPr lang="zh-CN" altLang="en-US" sz="2000" dirty="0">
                <a:solidFill>
                  <a:schemeClr val="tx1"/>
                </a:solidFill>
                <a:latin typeface="Arial" charset="0"/>
                <a:ea typeface="微软雅黑" pitchFamily="34" charset="-122"/>
                <a:cs typeface="Arial" charset="0"/>
              </a:rPr>
              <a:t>    </a:t>
            </a:r>
            <a:r>
              <a:rPr lang="zh-CN" altLang="en-US" sz="2000" b="0" dirty="0">
                <a:solidFill>
                  <a:schemeClr val="tx1"/>
                </a:solidFill>
                <a:latin typeface="Arial" pitchFamily="34" charset="0"/>
                <a:ea typeface="微软雅黑" pitchFamily="34" charset="-122"/>
                <a:cs typeface="Arial" pitchFamily="34" charset="0"/>
              </a:rPr>
              <a:t>的</a:t>
            </a:r>
            <a:r>
              <a:rPr lang="zh-CN" altLang="en-US" sz="2000" dirty="0">
                <a:solidFill>
                  <a:schemeClr val="tx1"/>
                </a:solidFill>
                <a:latin typeface="Arial" charset="0"/>
                <a:ea typeface="微软雅黑" pitchFamily="34" charset="-122"/>
                <a:cs typeface="Arial" charset="0"/>
              </a:rPr>
              <a:t>距离</a:t>
            </a:r>
            <a:r>
              <a:rPr lang="zh-CN" altLang="en-US" sz="2000" b="0"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rPr>
              <a:t>为</a:t>
            </a:r>
            <a:r>
              <a:rPr lang="zh-CN" altLang="en-US" sz="2000"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rPr>
              <a:t> </a:t>
            </a:r>
            <a:r>
              <a:rPr lang="en-US" altLang="zh-CN" sz="2000"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rPr>
              <a:t>3</a:t>
            </a:r>
            <a:endParaRPr lang="zh-CN" altLang="en-US" sz="2000"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endParaRPr>
          </a:p>
        </p:txBody>
      </p:sp>
      <p:grpSp>
        <p:nvGrpSpPr>
          <p:cNvPr id="2" name="Group 22">
            <a:extLst>
              <a:ext uri="{FF2B5EF4-FFF2-40B4-BE49-F238E27FC236}">
                <a16:creationId xmlns:a16="http://schemas.microsoft.com/office/drawing/2014/main" id="{DAB91454-5C6F-92C6-4A53-822320195C55}"/>
              </a:ext>
            </a:extLst>
          </p:cNvPr>
          <p:cNvGrpSpPr>
            <a:grpSpLocks/>
          </p:cNvGrpSpPr>
          <p:nvPr/>
        </p:nvGrpSpPr>
        <p:grpSpPr bwMode="auto">
          <a:xfrm>
            <a:off x="2636838" y="2808288"/>
            <a:ext cx="649287" cy="692150"/>
            <a:chOff x="1655" y="845"/>
            <a:chExt cx="454" cy="453"/>
          </a:xfrm>
        </p:grpSpPr>
        <p:grpSp>
          <p:nvGrpSpPr>
            <p:cNvPr id="76813" name="Group 23">
              <a:extLst>
                <a:ext uri="{FF2B5EF4-FFF2-40B4-BE49-F238E27FC236}">
                  <a16:creationId xmlns:a16="http://schemas.microsoft.com/office/drawing/2014/main" id="{A76DEF68-D7E0-8B7C-F5A7-9F7771ADF560}"/>
                </a:ext>
              </a:extLst>
            </p:cNvPr>
            <p:cNvGrpSpPr>
              <a:grpSpLocks/>
            </p:cNvGrpSpPr>
            <p:nvPr/>
          </p:nvGrpSpPr>
          <p:grpSpPr bwMode="auto">
            <a:xfrm>
              <a:off x="1655" y="845"/>
              <a:ext cx="454" cy="453"/>
              <a:chOff x="1289" y="582"/>
              <a:chExt cx="668" cy="668"/>
            </a:xfrm>
          </p:grpSpPr>
          <p:sp>
            <p:nvSpPr>
              <p:cNvPr id="76815" name="Oval 24">
                <a:extLst>
                  <a:ext uri="{FF2B5EF4-FFF2-40B4-BE49-F238E27FC236}">
                    <a16:creationId xmlns:a16="http://schemas.microsoft.com/office/drawing/2014/main" id="{2D6C269D-816B-214C-5AC3-8667314172CC}"/>
                  </a:ext>
                </a:extLst>
              </p:cNvPr>
              <p:cNvSpPr>
                <a:spLocks noChangeArrowheads="1"/>
              </p:cNvSpPr>
              <p:nvPr/>
            </p:nvSpPr>
            <p:spPr bwMode="gray">
              <a:xfrm>
                <a:off x="1289" y="582"/>
                <a:ext cx="668" cy="668"/>
              </a:xfrm>
              <a:prstGeom prst="ellipse">
                <a:avLst/>
              </a:prstGeom>
              <a:solidFill>
                <a:srgbClr val="333333"/>
              </a:soli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76816" name="Oval 25">
                <a:extLst>
                  <a:ext uri="{FF2B5EF4-FFF2-40B4-BE49-F238E27FC236}">
                    <a16:creationId xmlns:a16="http://schemas.microsoft.com/office/drawing/2014/main" id="{5C410704-6EC9-F493-1BA4-54ED3B7698EA}"/>
                  </a:ext>
                </a:extLst>
              </p:cNvPr>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76817" name="Oval 26">
                <a:extLst>
                  <a:ext uri="{FF2B5EF4-FFF2-40B4-BE49-F238E27FC236}">
                    <a16:creationId xmlns:a16="http://schemas.microsoft.com/office/drawing/2014/main" id="{8D4C89BB-C25C-92E8-375E-FED0AF9D7AFB}"/>
                  </a:ext>
                </a:extLst>
              </p:cNvPr>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76818" name="Oval 27">
                <a:extLst>
                  <a:ext uri="{FF2B5EF4-FFF2-40B4-BE49-F238E27FC236}">
                    <a16:creationId xmlns:a16="http://schemas.microsoft.com/office/drawing/2014/main" id="{92DC993F-2EE7-9A34-F827-FD23EFA01652}"/>
                  </a:ext>
                </a:extLst>
              </p:cNvPr>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76819" name="Oval 28">
                <a:extLst>
                  <a:ext uri="{FF2B5EF4-FFF2-40B4-BE49-F238E27FC236}">
                    <a16:creationId xmlns:a16="http://schemas.microsoft.com/office/drawing/2014/main" id="{B560DDC0-443F-1FB6-4EFA-849165D7E677}"/>
                  </a:ext>
                </a:extLst>
              </p:cNvPr>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pSp>
        <p:sp>
          <p:nvSpPr>
            <p:cNvPr id="76814" name="Text Box 29">
              <a:extLst>
                <a:ext uri="{FF2B5EF4-FFF2-40B4-BE49-F238E27FC236}">
                  <a16:creationId xmlns:a16="http://schemas.microsoft.com/office/drawing/2014/main" id="{D41FC3B9-6CEF-1253-AC2E-514D8B2420AB}"/>
                </a:ext>
              </a:extLst>
            </p:cNvPr>
            <p:cNvSpPr txBox="1">
              <a:spLocks noChangeArrowheads="1"/>
            </p:cNvSpPr>
            <p:nvPr/>
          </p:nvSpPr>
          <p:spPr bwMode="gray">
            <a:xfrm>
              <a:off x="1666" y="902"/>
              <a:ext cx="379"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a:r>
                <a:rPr kumimoji="0" lang="zh-CN" altLang="en-US" sz="2800">
                  <a:solidFill>
                    <a:srgbClr val="0000CC"/>
                  </a:solidFill>
                  <a:latin typeface="Arial" panose="020B0604020202020204" pitchFamily="34" charset="0"/>
                  <a:ea typeface="宋体" panose="02010600030101010101" pitchFamily="2" charset="-122"/>
                </a:rPr>
                <a:t>例</a:t>
              </a:r>
            </a:p>
          </p:txBody>
        </p:sp>
      </p:grpSp>
      <p:sp>
        <p:nvSpPr>
          <p:cNvPr id="23" name="矩形 22">
            <a:extLst>
              <a:ext uri="{FF2B5EF4-FFF2-40B4-BE49-F238E27FC236}">
                <a16:creationId xmlns:a16="http://schemas.microsoft.com/office/drawing/2014/main" id="{309A7907-D06D-334B-3F0F-D370761972F7}"/>
              </a:ext>
            </a:extLst>
          </p:cNvPr>
          <p:cNvSpPr>
            <a:spLocks noChangeArrowheads="1"/>
          </p:cNvSpPr>
          <p:nvPr/>
        </p:nvSpPr>
        <p:spPr bwMode="auto">
          <a:xfrm>
            <a:off x="500063" y="333375"/>
            <a:ext cx="3929062"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lnSpc>
                <a:spcPct val="150000"/>
              </a:lnSpc>
              <a:buClr>
                <a:srgbClr val="FF0000"/>
              </a:buClr>
              <a:buSzPct val="85000"/>
              <a:buFont typeface="Wingdings" panose="05000000000000000000" pitchFamily="2" charset="2"/>
              <a:buChar char="n"/>
            </a:pPr>
            <a:r>
              <a:rPr lang="zh-CN" altLang="en-US" sz="2400">
                <a:solidFill>
                  <a:schemeClr val="tx1"/>
                </a:solidFill>
                <a:latin typeface="微软雅黑" panose="020B0503020204020204" pitchFamily="34" charset="-122"/>
                <a:ea typeface="微软雅黑" panose="020B0503020204020204" pitchFamily="34" charset="-122"/>
              </a:rPr>
              <a:t>  </a:t>
            </a:r>
            <a:r>
              <a:rPr lang="zh-CN" altLang="en-US" sz="2800">
                <a:solidFill>
                  <a:schemeClr val="tx1"/>
                </a:solidFill>
                <a:latin typeface="微软雅黑" panose="020B0503020204020204" pitchFamily="34" charset="-122"/>
                <a:ea typeface="微软雅黑" panose="020B0503020204020204" pitchFamily="34" charset="-122"/>
              </a:rPr>
              <a:t>码重</a:t>
            </a:r>
            <a:r>
              <a:rPr lang="zh-CN" altLang="en-US" sz="2800" b="0">
                <a:solidFill>
                  <a:schemeClr val="tx1"/>
                </a:solidFill>
                <a:latin typeface="微软雅黑" panose="020B0503020204020204" pitchFamily="34" charset="-122"/>
                <a:ea typeface="微软雅黑" panose="020B0503020204020204" pitchFamily="34" charset="-122"/>
              </a:rPr>
              <a:t>和</a:t>
            </a:r>
            <a:r>
              <a:rPr lang="zh-CN" altLang="en-US" sz="2800">
                <a:solidFill>
                  <a:schemeClr val="tx1"/>
                </a:solidFill>
                <a:latin typeface="微软雅黑" panose="020B0503020204020204" pitchFamily="34" charset="-122"/>
                <a:ea typeface="微软雅黑" panose="020B0503020204020204" pitchFamily="34" charset="-122"/>
              </a:rPr>
              <a:t>码距</a:t>
            </a:r>
            <a:endParaRPr lang="zh-CN" altLang="en-US" sz="2000">
              <a:solidFill>
                <a:schemeClr val="tx1"/>
              </a:solidFill>
              <a:latin typeface="微软雅黑" panose="020B0503020204020204" pitchFamily="34" charset="-122"/>
              <a:ea typeface="微软雅黑" panose="020B0503020204020204" pitchFamily="34" charset="-122"/>
            </a:endParaRPr>
          </a:p>
        </p:txBody>
      </p:sp>
      <p:sp>
        <p:nvSpPr>
          <p:cNvPr id="19" name="矩形 18">
            <a:extLst>
              <a:ext uri="{FF2B5EF4-FFF2-40B4-BE49-F238E27FC236}">
                <a16:creationId xmlns:a16="http://schemas.microsoft.com/office/drawing/2014/main" id="{8992720E-DBC2-249E-156D-2997B6A5E3F1}"/>
              </a:ext>
            </a:extLst>
          </p:cNvPr>
          <p:cNvSpPr>
            <a:spLocks noChangeArrowheads="1"/>
          </p:cNvSpPr>
          <p:nvPr/>
        </p:nvSpPr>
        <p:spPr bwMode="auto">
          <a:xfrm>
            <a:off x="6619875" y="2743200"/>
            <a:ext cx="1238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en-US"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zh-CN" altLang="en-US" sz="2000">
                <a:solidFill>
                  <a:srgbClr val="000000"/>
                </a:solidFill>
                <a:latin typeface="Arial" panose="020B0604020202020204" pitchFamily="34" charset="0"/>
                <a:ea typeface="微软雅黑" panose="020B0503020204020204" pitchFamily="34" charset="-122"/>
                <a:cs typeface="Arial" panose="020B0604020202020204" pitchFamily="34" charset="0"/>
              </a:rPr>
              <a:t>码重</a:t>
            </a:r>
            <a:r>
              <a:rPr lang="zh-CN" altLang="en-US" sz="2000" b="0">
                <a:solidFill>
                  <a:srgbClr val="000000"/>
                </a:solidFill>
                <a:latin typeface="Arial" panose="020B0604020202020204" pitchFamily="34" charset="0"/>
                <a:ea typeface="微软雅黑" panose="020B0503020204020204" pitchFamily="34" charset="-122"/>
                <a:cs typeface="Arial" panose="020B0604020202020204" pitchFamily="34" charset="0"/>
              </a:rPr>
              <a:t>为</a:t>
            </a:r>
            <a:r>
              <a:rPr lang="zh-CN" altLang="en-US" sz="200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en-US"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3</a:t>
            </a:r>
            <a:endParaRPr lang="zh-CN" altLang="en-US">
              <a:ea typeface="微软雅黑" panose="020B0503020204020204" pitchFamily="34" charset="-122"/>
              <a:cs typeface="Arial" panose="020B0604020202020204" pitchFamily="34" charset="0"/>
            </a:endParaRPr>
          </a:p>
        </p:txBody>
      </p:sp>
      <p:sp>
        <p:nvSpPr>
          <p:cNvPr id="20" name="右大括号 19">
            <a:extLst>
              <a:ext uri="{FF2B5EF4-FFF2-40B4-BE49-F238E27FC236}">
                <a16:creationId xmlns:a16="http://schemas.microsoft.com/office/drawing/2014/main" id="{26B9A04D-F5BD-86F7-5796-0FD6F0432591}"/>
              </a:ext>
            </a:extLst>
          </p:cNvPr>
          <p:cNvSpPr>
            <a:spLocks/>
          </p:cNvSpPr>
          <p:nvPr/>
        </p:nvSpPr>
        <p:spPr bwMode="auto">
          <a:xfrm>
            <a:off x="4886325" y="3001963"/>
            <a:ext cx="357188" cy="642937"/>
          </a:xfrm>
          <a:prstGeom prst="rightBrace">
            <a:avLst>
              <a:gd name="adj1" fmla="val 8333"/>
              <a:gd name="adj2" fmla="val 81958"/>
            </a:avLst>
          </a:prstGeom>
          <a:noFill/>
          <a:ln w="9525" algn="ctr">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solidFill>
                <a:srgbClr val="0000CC"/>
              </a:solidFill>
            </a:endParaRPr>
          </a:p>
        </p:txBody>
      </p:sp>
      <p:pic>
        <p:nvPicPr>
          <p:cNvPr id="86037" name="Picture 21">
            <a:extLst>
              <a:ext uri="{FF2B5EF4-FFF2-40B4-BE49-F238E27FC236}">
                <a16:creationId xmlns:a16="http://schemas.microsoft.com/office/drawing/2014/main" id="{D8874FC3-61E9-8FC2-FEC4-586560AC04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50330"/>
          <a:stretch>
            <a:fillRect/>
          </a:stretch>
        </p:blipFill>
        <p:spPr bwMode="auto">
          <a:xfrm>
            <a:off x="895350" y="4000500"/>
            <a:ext cx="8091488"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21">
            <a:extLst>
              <a:ext uri="{FF2B5EF4-FFF2-40B4-BE49-F238E27FC236}">
                <a16:creationId xmlns:a16="http://schemas.microsoft.com/office/drawing/2014/main" id="{5E714F06-49D4-7E17-CA51-165BD425A3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4413" b="16782"/>
          <a:stretch>
            <a:fillRect/>
          </a:stretch>
        </p:blipFill>
        <p:spPr bwMode="auto">
          <a:xfrm>
            <a:off x="898525" y="5229225"/>
            <a:ext cx="8091488"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21">
            <a:extLst>
              <a:ext uri="{FF2B5EF4-FFF2-40B4-BE49-F238E27FC236}">
                <a16:creationId xmlns:a16="http://schemas.microsoft.com/office/drawing/2014/main" id="{BE6428F4-58AB-B6E8-7C2C-3542104631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80019" b="777"/>
          <a:stretch>
            <a:fillRect/>
          </a:stretch>
        </p:blipFill>
        <p:spPr bwMode="auto">
          <a:xfrm>
            <a:off x="909638" y="5857875"/>
            <a:ext cx="809148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up)">
                                      <p:cBhvr>
                                        <p:cTn id="7" dur="1000"/>
                                        <p:tgtEl>
                                          <p:spTgt spid="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10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up)">
                                      <p:cBhvr>
                                        <p:cTn id="17" dur="1000"/>
                                        <p:tgtEl>
                                          <p:spTgt spid="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1000"/>
                                        <p:tgtEl>
                                          <p:spTgt spid="2"/>
                                        </p:tgtEl>
                                      </p:cBhvr>
                                    </p:animEffect>
                                  </p:childTnLst>
                                </p:cTn>
                              </p:par>
                            </p:childTnLst>
                          </p:cTn>
                        </p:par>
                        <p:par>
                          <p:cTn id="23" fill="hold" nodeType="afterGroup">
                            <p:stCondLst>
                              <p:cond delay="1000"/>
                            </p:stCondLst>
                            <p:childTnLst>
                              <p:par>
                                <p:cTn id="24" presetID="22" presetClass="entr" presetSubtype="1" fill="hold" nodeType="afterEffect">
                                  <p:stCondLst>
                                    <p:cond delay="0"/>
                                  </p:stCondLst>
                                  <p:childTnLst>
                                    <p:set>
                                      <p:cBhvr>
                                        <p:cTn id="25" dur="1" fill="hold">
                                          <p:stCondLst>
                                            <p:cond delay="0"/>
                                          </p:stCondLst>
                                        </p:cTn>
                                        <p:tgtEl>
                                          <p:spTgt spid="86036"/>
                                        </p:tgtEl>
                                        <p:attrNameLst>
                                          <p:attrName>style.visibility</p:attrName>
                                        </p:attrNameLst>
                                      </p:cBhvr>
                                      <p:to>
                                        <p:strVal val="visible"/>
                                      </p:to>
                                    </p:set>
                                    <p:animEffect transition="in" filter="wipe(up)">
                                      <p:cBhvr>
                                        <p:cTn id="26" dur="1000"/>
                                        <p:tgtEl>
                                          <p:spTgt spid="8603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wipe(left)">
                                      <p:cBhvr>
                                        <p:cTn id="31" dur="2000"/>
                                        <p:tgtEl>
                                          <p:spTgt spid="1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86037"/>
                                        </p:tgtEl>
                                        <p:attrNameLst>
                                          <p:attrName>style.visibility</p:attrName>
                                        </p:attrNameLst>
                                      </p:cBhvr>
                                      <p:to>
                                        <p:strVal val="visible"/>
                                      </p:to>
                                    </p:set>
                                    <p:animEffect transition="in" filter="wipe(up)">
                                      <p:cBhvr>
                                        <p:cTn id="36" dur="1000"/>
                                        <p:tgtEl>
                                          <p:spTgt spid="8603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left)">
                                      <p:cBhvr>
                                        <p:cTn id="41" dur="2000"/>
                                        <p:tgtEl>
                                          <p:spTgt spid="18"/>
                                        </p:tgtEl>
                                      </p:cBhvr>
                                    </p:animEffect>
                                  </p:childTnLst>
                                </p:cTn>
                              </p:par>
                              <p:par>
                                <p:cTn id="42" presetID="22" presetClass="entr" presetSubtype="1" fill="hold"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wipe(up)">
                                      <p:cBhvr>
                                        <p:cTn id="44" dur="1000"/>
                                        <p:tgtEl>
                                          <p:spTgt spid="20"/>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1" fill="hold" nodeType="click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wipe(up)">
                                      <p:cBhvr>
                                        <p:cTn id="49" dur="1000"/>
                                        <p:tgtEl>
                                          <p:spTgt spid="2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1" fill="hold" nodeType="click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wipe(up)">
                                      <p:cBhvr>
                                        <p:cTn id="54"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p:bldP spid="18" grpId="0"/>
      <p:bldP spid="23" grpId="0"/>
      <p:bldP spid="19" grpId="0"/>
      <p:bldP spid="2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79" name="Picture 39">
            <a:extLst>
              <a:ext uri="{FF2B5EF4-FFF2-40B4-BE49-F238E27FC236}">
                <a16:creationId xmlns:a16="http://schemas.microsoft.com/office/drawing/2014/main" id="{8FFCDB1D-0A6B-DD00-666E-289FA8A11C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7008"/>
          <a:stretch>
            <a:fillRect/>
          </a:stretch>
        </p:blipFill>
        <p:spPr bwMode="auto">
          <a:xfrm>
            <a:off x="4271963" y="1071563"/>
            <a:ext cx="4422775" cy="284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1" name="Rectangle 3">
            <a:extLst>
              <a:ext uri="{FF2B5EF4-FFF2-40B4-BE49-F238E27FC236}">
                <a16:creationId xmlns:a16="http://schemas.microsoft.com/office/drawing/2014/main" id="{D77F4445-8DCB-852C-180D-AEA933A7CBC0}"/>
              </a:ext>
            </a:extLst>
          </p:cNvPr>
          <p:cNvSpPr>
            <a:spLocks noGrp="1" noChangeArrowheads="1"/>
          </p:cNvSpPr>
          <p:nvPr>
            <p:ph type="body" idx="1"/>
          </p:nvPr>
        </p:nvSpPr>
        <p:spPr>
          <a:xfrm>
            <a:off x="1000125" y="4187825"/>
            <a:ext cx="5286375" cy="500063"/>
          </a:xfrm>
        </p:spPr>
        <p:txBody>
          <a:bodyPr/>
          <a:lstStyle/>
          <a:p>
            <a:pPr>
              <a:lnSpc>
                <a:spcPts val="3800"/>
              </a:lnSpc>
              <a:buClr>
                <a:schemeClr val="tx1">
                  <a:lumMod val="50000"/>
                  <a:lumOff val="50000"/>
                </a:schemeClr>
              </a:buClr>
              <a:buFont typeface="Wingdings" panose="05000000000000000000" pitchFamily="2" charset="2"/>
              <a:buChar char="Ø"/>
              <a:defRPr/>
            </a:pPr>
            <a:r>
              <a:rPr lang="zh-CN" altLang="en-US" sz="2000" dirty="0">
                <a:effectLst>
                  <a:outerShdw blurRad="38100" dist="38100" dir="2700000" algn="tl">
                    <a:srgbClr val="000000">
                      <a:alpha val="43137"/>
                    </a:srgbClr>
                  </a:outerShdw>
                </a:effectLst>
                <a:latin typeface="微软雅黑" pitchFamily="34" charset="-122"/>
                <a:ea typeface="微软雅黑" pitchFamily="34" charset="-122"/>
              </a:rPr>
              <a:t>对于</a:t>
            </a:r>
            <a:r>
              <a:rPr lang="en-US" altLang="zh-CN" sz="2000" dirty="0">
                <a:effectLst>
                  <a:outerShdw blurRad="38100" dist="38100" dir="2700000" algn="tl">
                    <a:srgbClr val="000000">
                      <a:alpha val="43137"/>
                    </a:srgbClr>
                  </a:outerShdw>
                </a:effectLst>
                <a:latin typeface="微软雅黑" pitchFamily="34" charset="-122"/>
                <a:ea typeface="微软雅黑" pitchFamily="34" charset="-122"/>
              </a:rPr>
              <a:t>3</a:t>
            </a:r>
            <a:r>
              <a:rPr lang="zh-CN" altLang="en-US" sz="2000" dirty="0">
                <a:effectLst>
                  <a:outerShdw blurRad="38100" dist="38100" dir="2700000" algn="tl">
                    <a:srgbClr val="000000">
                      <a:alpha val="43137"/>
                    </a:srgbClr>
                  </a:outerShdw>
                </a:effectLst>
                <a:latin typeface="微软雅黑" pitchFamily="34" charset="-122"/>
                <a:ea typeface="微软雅黑" pitchFamily="34" charset="-122"/>
              </a:rPr>
              <a:t>位的编码组，可用</a:t>
            </a:r>
            <a:r>
              <a:rPr lang="en-US" altLang="zh-CN" sz="2000" dirty="0">
                <a:effectLst>
                  <a:outerShdw blurRad="38100" dist="38100" dir="2700000" algn="tl">
                    <a:srgbClr val="000000">
                      <a:alpha val="43137"/>
                    </a:srgbClr>
                  </a:outerShdw>
                </a:effectLst>
                <a:latin typeface="微软雅黑" pitchFamily="34" charset="-122"/>
                <a:ea typeface="微软雅黑" pitchFamily="34" charset="-122"/>
              </a:rPr>
              <a:t>3</a:t>
            </a:r>
            <a:r>
              <a:rPr lang="zh-CN" altLang="en-US" sz="2000" dirty="0">
                <a:effectLst>
                  <a:outerShdw blurRad="38100" dist="38100" dir="2700000" algn="tl">
                    <a:srgbClr val="000000">
                      <a:alpha val="43137"/>
                    </a:srgbClr>
                  </a:outerShdw>
                </a:effectLst>
                <a:latin typeface="微软雅黑" pitchFamily="34" charset="-122"/>
                <a:ea typeface="微软雅黑" pitchFamily="34" charset="-122"/>
              </a:rPr>
              <a:t>维空间来说明</a:t>
            </a:r>
          </a:p>
        </p:txBody>
      </p:sp>
      <p:sp>
        <p:nvSpPr>
          <p:cNvPr id="36" name="矩形 35">
            <a:extLst>
              <a:ext uri="{FF2B5EF4-FFF2-40B4-BE49-F238E27FC236}">
                <a16:creationId xmlns:a16="http://schemas.microsoft.com/office/drawing/2014/main" id="{8D30EBD0-6328-8F49-C736-6760505C7574}"/>
              </a:ext>
            </a:extLst>
          </p:cNvPr>
          <p:cNvSpPr/>
          <p:nvPr/>
        </p:nvSpPr>
        <p:spPr>
          <a:xfrm>
            <a:off x="642938" y="1143000"/>
            <a:ext cx="3214687" cy="523875"/>
          </a:xfrm>
          <a:prstGeom prst="rect">
            <a:avLst/>
          </a:prstGeom>
        </p:spPr>
        <p:txBody>
          <a:bodyPr>
            <a:spAutoFit/>
          </a:bodyPr>
          <a:lstStyle/>
          <a:p>
            <a:pPr marL="228600" indent="-228600" eaLnBrk="0" hangingPunct="0">
              <a:spcBef>
                <a:spcPct val="20000"/>
              </a:spcBef>
              <a:buClr>
                <a:srgbClr val="3333CC"/>
              </a:buClr>
              <a:buSzPct val="50000"/>
              <a:defRPr/>
            </a:pPr>
            <a:endParaRPr kumimoji="0" lang="zh-CN" altLang="en-US" sz="2800" b="0" kern="0" dirty="0">
              <a:solidFill>
                <a:srgbClr val="0000CC"/>
              </a:solidFill>
              <a:effectLst>
                <a:outerShdw blurRad="38100" dist="38100" dir="2700000" algn="tl">
                  <a:srgbClr val="000000">
                    <a:alpha val="43137"/>
                  </a:srgbClr>
                </a:outerShdw>
              </a:effectLst>
              <a:latin typeface="黑体" pitchFamily="2" charset="-122"/>
              <a:ea typeface="黑体" pitchFamily="2" charset="-122"/>
            </a:endParaRPr>
          </a:p>
        </p:txBody>
      </p:sp>
      <p:sp>
        <p:nvSpPr>
          <p:cNvPr id="35" name="矩形 34">
            <a:extLst>
              <a:ext uri="{FF2B5EF4-FFF2-40B4-BE49-F238E27FC236}">
                <a16:creationId xmlns:a16="http://schemas.microsoft.com/office/drawing/2014/main" id="{0CE70EE0-8C93-D473-2A70-3B5C334E9A22}"/>
              </a:ext>
            </a:extLst>
          </p:cNvPr>
          <p:cNvSpPr/>
          <p:nvPr/>
        </p:nvSpPr>
        <p:spPr>
          <a:xfrm>
            <a:off x="5715000" y="5845175"/>
            <a:ext cx="2643188" cy="400050"/>
          </a:xfrm>
          <a:prstGeom prst="rect">
            <a:avLst/>
          </a:prstGeom>
          <a:solidFill>
            <a:schemeClr val="bg2">
              <a:lumMod val="10000"/>
              <a:lumOff val="90000"/>
            </a:schemeClr>
          </a:solidFill>
        </p:spPr>
        <p:txBody>
          <a:bodyPr wrap="none">
            <a:spAutoFit/>
          </a:bodyPr>
          <a:lstStyle/>
          <a:p>
            <a:pPr>
              <a:defRPr/>
            </a:pP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a:t>
            </a:r>
            <a:r>
              <a:rPr kumimoji="0" lang="en-US" altLang="zh-CN"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4</a:t>
            </a: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个</a:t>
            </a:r>
            <a:r>
              <a:rPr kumimoji="0" lang="zh-CN" altLang="en-US" sz="2000" b="0" kern="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许用</a:t>
            </a: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码组之间）</a:t>
            </a:r>
            <a:endParaRPr lang="zh-CN" altLang="en-US" dirty="0"/>
          </a:p>
        </p:txBody>
      </p:sp>
      <p:sp>
        <p:nvSpPr>
          <p:cNvPr id="39" name="Rectangle 3">
            <a:extLst>
              <a:ext uri="{FF2B5EF4-FFF2-40B4-BE49-F238E27FC236}">
                <a16:creationId xmlns:a16="http://schemas.microsoft.com/office/drawing/2014/main" id="{A345379C-8304-A68E-CEB1-62F0F26B6170}"/>
              </a:ext>
            </a:extLst>
          </p:cNvPr>
          <p:cNvSpPr txBox="1">
            <a:spLocks noChangeArrowheads="1"/>
          </p:cNvSpPr>
          <p:nvPr/>
        </p:nvSpPr>
        <p:spPr bwMode="auto">
          <a:xfrm>
            <a:off x="1000125" y="5259388"/>
            <a:ext cx="7215188" cy="642937"/>
          </a:xfrm>
          <a:prstGeom prst="rect">
            <a:avLst/>
          </a:prstGeom>
          <a:noFill/>
          <a:ln w="9525">
            <a:noFill/>
            <a:miter lim="800000"/>
            <a:headEnd/>
            <a:tailEnd/>
          </a:ln>
        </p:spPr>
        <p:txBody>
          <a:bodyPr/>
          <a:lstStyle/>
          <a:p>
            <a:pPr marL="342900" indent="-342900" eaLnBrk="0" hangingPunct="0">
              <a:lnSpc>
                <a:spcPts val="3800"/>
              </a:lnSpc>
              <a:spcBef>
                <a:spcPct val="20000"/>
              </a:spcBef>
              <a:buClr>
                <a:schemeClr val="tx1">
                  <a:lumMod val="50000"/>
                  <a:lumOff val="50000"/>
                </a:schemeClr>
              </a:buClr>
              <a:buSzPct val="60000"/>
              <a:buFont typeface="Wingdings" pitchFamily="2" charset="2"/>
              <a:buChar char="Ø"/>
              <a:defRPr/>
            </a:pPr>
            <a:r>
              <a:rPr kumimoji="0" lang="zh-CN" altLang="en-US" sz="2000" b="0" kern="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各顶点之间沿立方体各边行走的几何距离 </a:t>
            </a:r>
            <a:r>
              <a:rPr kumimoji="0" lang="en-US" altLang="zh-CN" sz="2000" b="0" kern="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 </a:t>
            </a:r>
            <a:r>
              <a:rPr kumimoji="0" lang="zh-CN" altLang="en-US" sz="2000" b="0" kern="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码距</a:t>
            </a:r>
            <a:r>
              <a:rPr kumimoji="0" lang="en-US" altLang="zh-CN" sz="2000" b="0" kern="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a:t>
            </a:r>
            <a:r>
              <a:rPr kumimoji="0" lang="en-US" altLang="zh-CN" sz="2400" b="0" kern="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2</a:t>
            </a:r>
            <a:r>
              <a:rPr kumimoji="0" lang="en-US" altLang="zh-CN" sz="2400" b="0" kern="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 </a:t>
            </a:r>
            <a:endParaRPr kumimoji="0" lang="zh-CN" altLang="en-US" sz="2000" b="0" kern="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41" name="矩形 40">
            <a:extLst>
              <a:ext uri="{FF2B5EF4-FFF2-40B4-BE49-F238E27FC236}">
                <a16:creationId xmlns:a16="http://schemas.microsoft.com/office/drawing/2014/main" id="{0BEA8C3E-F8E1-B043-0C9E-D990CA7B5E8D}"/>
              </a:ext>
            </a:extLst>
          </p:cNvPr>
          <p:cNvSpPr/>
          <p:nvPr/>
        </p:nvSpPr>
        <p:spPr>
          <a:xfrm>
            <a:off x="785813" y="1047750"/>
            <a:ext cx="4714875" cy="523875"/>
          </a:xfrm>
          <a:prstGeom prst="rect">
            <a:avLst/>
          </a:prstGeom>
        </p:spPr>
        <p:txBody>
          <a:bodyPr>
            <a:spAutoFit/>
          </a:bodyPr>
          <a:lstStyle/>
          <a:p>
            <a:pPr>
              <a:buClr>
                <a:srgbClr val="0000CC"/>
              </a:buClr>
              <a:buSzPct val="65000"/>
              <a:buFont typeface="Wingdings" pitchFamily="2" charset="2"/>
              <a:buChar char="l"/>
              <a:defRPr/>
            </a:pPr>
            <a:r>
              <a:rPr kumimoji="0" lang="zh-CN" altLang="en-US" sz="2400" kern="0" dirty="0">
                <a:solidFill>
                  <a:schemeClr val="tx1"/>
                </a:solidFill>
                <a:latin typeface="Arial" pitchFamily="34" charset="0"/>
                <a:ea typeface="微软雅黑" pitchFamily="34" charset="-122"/>
                <a:cs typeface="Arial" pitchFamily="34" charset="0"/>
              </a:rPr>
              <a:t> </a:t>
            </a:r>
            <a:r>
              <a:rPr kumimoji="0" lang="zh-CN" altLang="en-US" sz="2800" kern="0" dirty="0">
                <a:solidFill>
                  <a:srgbClr val="003399"/>
                </a:solidFill>
                <a:latin typeface="黑体" pitchFamily="2" charset="-122"/>
                <a:ea typeface="黑体" pitchFamily="2" charset="-122"/>
              </a:rPr>
              <a:t>码距的几何意义：</a:t>
            </a:r>
          </a:p>
        </p:txBody>
      </p:sp>
      <p:pic>
        <p:nvPicPr>
          <p:cNvPr id="87080" name="Picture 40">
            <a:extLst>
              <a:ext uri="{FF2B5EF4-FFF2-40B4-BE49-F238E27FC236}">
                <a16:creationId xmlns:a16="http://schemas.microsoft.com/office/drawing/2014/main" id="{C99B3E04-93A9-5016-42BD-110100C548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1563" y="2214563"/>
            <a:ext cx="2741612" cy="101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81" name="Picture 41">
            <a:extLst>
              <a:ext uri="{FF2B5EF4-FFF2-40B4-BE49-F238E27FC236}">
                <a16:creationId xmlns:a16="http://schemas.microsoft.com/office/drawing/2014/main" id="{B9591737-FBD3-363D-9780-5E6B8B0204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3138" y="4687888"/>
            <a:ext cx="6313487"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up)">
                                      <p:cBhvr>
                                        <p:cTn id="7" dur="1000"/>
                                        <p:tgtEl>
                                          <p:spTgt spid="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7891">
                                            <p:txEl>
                                              <p:pRg st="0" end="0"/>
                                            </p:txEl>
                                          </p:spTgt>
                                        </p:tgtEl>
                                        <p:attrNameLst>
                                          <p:attrName>style.visibility</p:attrName>
                                        </p:attrNameLst>
                                      </p:cBhvr>
                                      <p:to>
                                        <p:strVal val="visible"/>
                                      </p:to>
                                    </p:set>
                                    <p:animEffect transition="in" filter="wipe(down)">
                                      <p:cBhvr>
                                        <p:cTn id="12" dur="1000"/>
                                        <p:tgtEl>
                                          <p:spTgt spid="37891">
                                            <p:txEl>
                                              <p:pRg st="0" end="0"/>
                                            </p:txEl>
                                          </p:spTgt>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87080"/>
                                        </p:tgtEl>
                                        <p:attrNameLst>
                                          <p:attrName>style.visibility</p:attrName>
                                        </p:attrNameLst>
                                      </p:cBhvr>
                                      <p:to>
                                        <p:strVal val="visible"/>
                                      </p:to>
                                    </p:set>
                                    <p:animEffect transition="in" filter="wipe(up)">
                                      <p:cBhvr>
                                        <p:cTn id="16" dur="1000"/>
                                        <p:tgtEl>
                                          <p:spTgt spid="87080"/>
                                        </p:tgtEl>
                                      </p:cBhvr>
                                    </p:animEffect>
                                  </p:childTnLst>
                                </p:cTn>
                              </p:par>
                            </p:childTnLst>
                          </p:cTn>
                        </p:par>
                        <p:par>
                          <p:cTn id="17" fill="hold" nodeType="afterGroup">
                            <p:stCondLst>
                              <p:cond delay="2000"/>
                            </p:stCondLst>
                            <p:childTnLst>
                              <p:par>
                                <p:cTn id="18" presetID="22" presetClass="entr" presetSubtype="8" fill="hold" nodeType="afterEffect">
                                  <p:stCondLst>
                                    <p:cond delay="0"/>
                                  </p:stCondLst>
                                  <p:childTnLst>
                                    <p:set>
                                      <p:cBhvr>
                                        <p:cTn id="19" dur="1" fill="hold">
                                          <p:stCondLst>
                                            <p:cond delay="0"/>
                                          </p:stCondLst>
                                        </p:cTn>
                                        <p:tgtEl>
                                          <p:spTgt spid="87079"/>
                                        </p:tgtEl>
                                        <p:attrNameLst>
                                          <p:attrName>style.visibility</p:attrName>
                                        </p:attrNameLst>
                                      </p:cBhvr>
                                      <p:to>
                                        <p:strVal val="visible"/>
                                      </p:to>
                                    </p:set>
                                    <p:animEffect transition="in" filter="wipe(left)">
                                      <p:cBhvr>
                                        <p:cTn id="20" dur="2000"/>
                                        <p:tgtEl>
                                          <p:spTgt spid="8707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87081"/>
                                        </p:tgtEl>
                                        <p:attrNameLst>
                                          <p:attrName>style.visibility</p:attrName>
                                        </p:attrNameLst>
                                      </p:cBhvr>
                                      <p:to>
                                        <p:strVal val="visible"/>
                                      </p:to>
                                    </p:set>
                                    <p:animEffect transition="in" filter="wipe(up)">
                                      <p:cBhvr>
                                        <p:cTn id="25" dur="1000"/>
                                        <p:tgtEl>
                                          <p:spTgt spid="8708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39">
                                            <p:txEl>
                                              <p:pRg st="0" end="0"/>
                                            </p:txEl>
                                          </p:spTgt>
                                        </p:tgtEl>
                                        <p:attrNameLst>
                                          <p:attrName>style.visibility</p:attrName>
                                        </p:attrNameLst>
                                      </p:cBhvr>
                                      <p:to>
                                        <p:strVal val="visible"/>
                                      </p:to>
                                    </p:set>
                                    <p:animEffect transition="in" filter="wipe(up)">
                                      <p:cBhvr>
                                        <p:cTn id="30" dur="1000"/>
                                        <p:tgtEl>
                                          <p:spTgt spid="39">
                                            <p:txEl>
                                              <p:pRg st="0" end="0"/>
                                            </p:txEl>
                                          </p:spTgt>
                                        </p:tgtEl>
                                      </p:cBhvr>
                                    </p:animEffect>
                                  </p:childTnLst>
                                </p:cTn>
                              </p:par>
                            </p:childTnLst>
                          </p:cTn>
                        </p:par>
                        <p:par>
                          <p:cTn id="31" fill="hold" nodeType="afterGroup">
                            <p:stCondLst>
                              <p:cond delay="1000"/>
                            </p:stCondLst>
                            <p:childTnLst>
                              <p:par>
                                <p:cTn id="32" presetID="22" presetClass="entr" presetSubtype="1" fill="hold" nodeType="after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wipe(up)">
                                      <p:cBhvr>
                                        <p:cTn id="34" dur="1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4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6" name="Object 2">
            <a:extLst>
              <a:ext uri="{FF2B5EF4-FFF2-40B4-BE49-F238E27FC236}">
                <a16:creationId xmlns:a16="http://schemas.microsoft.com/office/drawing/2014/main" id="{F34E44B5-9886-6B2C-2DAC-A2D8D2B63F7A}"/>
              </a:ext>
            </a:extLst>
          </p:cNvPr>
          <p:cNvGraphicFramePr>
            <a:graphicFrameLocks noChangeAspect="1"/>
          </p:cNvGraphicFramePr>
          <p:nvPr/>
        </p:nvGraphicFramePr>
        <p:xfrm>
          <a:off x="4814888" y="2357438"/>
          <a:ext cx="1500187" cy="561975"/>
        </p:xfrm>
        <a:graphic>
          <a:graphicData uri="http://schemas.openxmlformats.org/presentationml/2006/ole">
            <mc:AlternateContent xmlns:mc="http://schemas.openxmlformats.org/markup-compatibility/2006">
              <mc:Choice xmlns:v="urn:schemas-microsoft-com:vml" Requires="v">
                <p:oleObj name="公式" r:id="rId2" imgW="609600" imgH="228600" progId="Equation.3">
                  <p:embed/>
                </p:oleObj>
              </mc:Choice>
              <mc:Fallback>
                <p:oleObj name="公式" r:id="rId2" imgW="609600" imgH="2286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4888" y="2357438"/>
                        <a:ext cx="1500187" cy="561975"/>
                      </a:xfrm>
                      <a:prstGeom prst="rect">
                        <a:avLst/>
                      </a:prstGeom>
                      <a:noFill/>
                      <a:ln w="38100" cmpd="dbl">
                        <a:solidFill>
                          <a:srgbClr val="6666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7" name="Object 3">
            <a:extLst>
              <a:ext uri="{FF2B5EF4-FFF2-40B4-BE49-F238E27FC236}">
                <a16:creationId xmlns:a16="http://schemas.microsoft.com/office/drawing/2014/main" id="{8CAE2211-8A05-E5B1-DA15-6DF631B07465}"/>
              </a:ext>
            </a:extLst>
          </p:cNvPr>
          <p:cNvGraphicFramePr>
            <a:graphicFrameLocks noChangeAspect="1"/>
          </p:cNvGraphicFramePr>
          <p:nvPr/>
        </p:nvGraphicFramePr>
        <p:xfrm>
          <a:off x="4816475" y="3398838"/>
          <a:ext cx="1525588" cy="530225"/>
        </p:xfrm>
        <a:graphic>
          <a:graphicData uri="http://schemas.openxmlformats.org/presentationml/2006/ole">
            <mc:AlternateContent xmlns:mc="http://schemas.openxmlformats.org/markup-compatibility/2006">
              <mc:Choice xmlns:v="urn:schemas-microsoft-com:vml" Requires="v">
                <p:oleObj name="公式" r:id="rId4" imgW="660240" imgH="228600" progId="Equation.3">
                  <p:embed/>
                </p:oleObj>
              </mc:Choice>
              <mc:Fallback>
                <p:oleObj name="公式" r:id="rId4" imgW="660240" imgH="2286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16475" y="3398838"/>
                        <a:ext cx="1525588" cy="530225"/>
                      </a:xfrm>
                      <a:prstGeom prst="rect">
                        <a:avLst/>
                      </a:prstGeom>
                      <a:noFill/>
                      <a:ln w="38100" cmpd="dbl">
                        <a:solidFill>
                          <a:srgbClr val="6666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8" name="Object 4">
            <a:extLst>
              <a:ext uri="{FF2B5EF4-FFF2-40B4-BE49-F238E27FC236}">
                <a16:creationId xmlns:a16="http://schemas.microsoft.com/office/drawing/2014/main" id="{C711B8B1-489A-E4AE-5D48-6D1FE1A9702E}"/>
              </a:ext>
            </a:extLst>
          </p:cNvPr>
          <p:cNvGraphicFramePr>
            <a:graphicFrameLocks noChangeAspect="1"/>
          </p:cNvGraphicFramePr>
          <p:nvPr/>
        </p:nvGraphicFramePr>
        <p:xfrm>
          <a:off x="3990975" y="4786313"/>
          <a:ext cx="3243263" cy="571500"/>
        </p:xfrm>
        <a:graphic>
          <a:graphicData uri="http://schemas.openxmlformats.org/presentationml/2006/ole">
            <mc:AlternateContent xmlns:mc="http://schemas.openxmlformats.org/markup-compatibility/2006">
              <mc:Choice xmlns:v="urn:schemas-microsoft-com:vml" Requires="v">
                <p:oleObj name="公式" r:id="rId6" imgW="1295280" imgH="228600" progId="Equation.3">
                  <p:embed/>
                </p:oleObj>
              </mc:Choice>
              <mc:Fallback>
                <p:oleObj name="公式" r:id="rId6" imgW="1295280" imgH="2286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90975" y="4786313"/>
                        <a:ext cx="3243263" cy="571500"/>
                      </a:xfrm>
                      <a:prstGeom prst="rect">
                        <a:avLst/>
                      </a:prstGeom>
                      <a:noFill/>
                      <a:ln w="38100" cmpd="dbl">
                        <a:solidFill>
                          <a:srgbClr val="6666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52" name="矩形 7">
            <a:extLst>
              <a:ext uri="{FF2B5EF4-FFF2-40B4-BE49-F238E27FC236}">
                <a16:creationId xmlns:a16="http://schemas.microsoft.com/office/drawing/2014/main" id="{C9F1EF9F-164E-1D17-212F-E64F70E661E1}"/>
              </a:ext>
            </a:extLst>
          </p:cNvPr>
          <p:cNvSpPr>
            <a:spLocks noChangeArrowheads="1"/>
          </p:cNvSpPr>
          <p:nvPr/>
        </p:nvSpPr>
        <p:spPr bwMode="auto">
          <a:xfrm>
            <a:off x="1185863" y="1314450"/>
            <a:ext cx="6429375" cy="461963"/>
          </a:xfrm>
          <a:prstGeom prst="rect">
            <a:avLst/>
          </a:prstGeom>
          <a:noFill/>
          <a:ln w="9525">
            <a:noFill/>
            <a:miter lim="800000"/>
            <a:headEnd/>
            <a:tailEnd/>
          </a:ln>
        </p:spPr>
        <p:txBody>
          <a:bodyPr>
            <a:spAutoFit/>
          </a:bodyPr>
          <a:lstStyle/>
          <a:p>
            <a:pPr>
              <a:defRPr/>
            </a:pPr>
            <a:r>
              <a:rPr lang="zh-CN" altLang="en-US" sz="2400" b="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对于</a:t>
            </a:r>
            <a:r>
              <a:rPr lang="zh-CN" altLang="en-US" sz="2400" dirty="0">
                <a:solidFill>
                  <a:schemeClr val="tx1"/>
                </a:solidFill>
                <a:latin typeface="Arial" pitchFamily="34" charset="0"/>
                <a:ea typeface="微软雅黑" pitchFamily="34" charset="-122"/>
                <a:cs typeface="Arial" pitchFamily="34" charset="0"/>
              </a:rPr>
              <a:t>（</a:t>
            </a:r>
            <a:r>
              <a:rPr lang="en-US" altLang="zh-CN" sz="2400" i="1" dirty="0">
                <a:solidFill>
                  <a:schemeClr val="tx1"/>
                </a:solidFill>
                <a:latin typeface="Arial" pitchFamily="34" charset="0"/>
                <a:ea typeface="微软雅黑" pitchFamily="34" charset="-122"/>
                <a:cs typeface="Arial" pitchFamily="34" charset="0"/>
              </a:rPr>
              <a:t>n</a:t>
            </a:r>
            <a:r>
              <a:rPr lang="zh-CN" altLang="en-US" sz="2400" dirty="0">
                <a:solidFill>
                  <a:schemeClr val="tx1"/>
                </a:solidFill>
                <a:latin typeface="Arial" pitchFamily="34" charset="0"/>
                <a:ea typeface="微软雅黑" pitchFamily="34" charset="-122"/>
                <a:cs typeface="Arial" pitchFamily="34" charset="0"/>
              </a:rPr>
              <a:t>，</a:t>
            </a:r>
            <a:r>
              <a:rPr lang="en-US" altLang="zh-CN" sz="2400" i="1" dirty="0">
                <a:solidFill>
                  <a:schemeClr val="tx1"/>
                </a:solidFill>
                <a:latin typeface="Arial" pitchFamily="34" charset="0"/>
                <a:ea typeface="微软雅黑" pitchFamily="34" charset="-122"/>
                <a:cs typeface="Arial" pitchFamily="34" charset="0"/>
              </a:rPr>
              <a:t>k</a:t>
            </a:r>
            <a:r>
              <a:rPr lang="zh-CN" altLang="en-US" sz="2400" dirty="0">
                <a:solidFill>
                  <a:schemeClr val="tx1"/>
                </a:solidFill>
                <a:latin typeface="Arial" pitchFamily="34" charset="0"/>
                <a:ea typeface="微软雅黑" pitchFamily="34" charset="-122"/>
                <a:cs typeface="Arial" pitchFamily="34" charset="0"/>
              </a:rPr>
              <a:t>）</a:t>
            </a:r>
            <a:r>
              <a:rPr lang="zh-CN" altLang="en-US" sz="2400" b="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分组码，有以下结论： </a:t>
            </a:r>
          </a:p>
        </p:txBody>
      </p:sp>
      <p:sp>
        <p:nvSpPr>
          <p:cNvPr id="18" name="矩形 17">
            <a:extLst>
              <a:ext uri="{FF2B5EF4-FFF2-40B4-BE49-F238E27FC236}">
                <a16:creationId xmlns:a16="http://schemas.microsoft.com/office/drawing/2014/main" id="{82418F01-923D-D839-2EE8-ACDC7B63F691}"/>
              </a:ext>
            </a:extLst>
          </p:cNvPr>
          <p:cNvSpPr/>
          <p:nvPr/>
        </p:nvSpPr>
        <p:spPr>
          <a:xfrm>
            <a:off x="571500" y="404813"/>
            <a:ext cx="7358063" cy="584200"/>
          </a:xfrm>
          <a:prstGeom prst="rect">
            <a:avLst/>
          </a:prstGeom>
        </p:spPr>
        <p:txBody>
          <a:bodyPr>
            <a:spAutoFit/>
          </a:bodyPr>
          <a:lstStyle/>
          <a:p>
            <a:pPr marL="342900" indent="-342900" eaLnBrk="0" hangingPunct="0">
              <a:spcBef>
                <a:spcPct val="20000"/>
              </a:spcBef>
              <a:buClr>
                <a:srgbClr val="FF0000"/>
              </a:buClr>
              <a:buSzPct val="85000"/>
              <a:buFont typeface="Wingdings" pitchFamily="2" charset="2"/>
              <a:buChar char="n"/>
              <a:defRPr/>
            </a:pPr>
            <a:r>
              <a:rPr lang="zh-CN" altLang="en-US" sz="2800" dirty="0">
                <a:solidFill>
                  <a:schemeClr val="tx1"/>
                </a:solidFill>
                <a:latin typeface="微软雅黑" pitchFamily="34" charset="-122"/>
                <a:ea typeface="微软雅黑" pitchFamily="34" charset="-122"/>
              </a:rPr>
              <a:t>最小码距</a:t>
            </a:r>
            <a:r>
              <a:rPr lang="en-US" altLang="zh-CN" sz="2800" b="0" i="1" dirty="0">
                <a:solidFill>
                  <a:srgbClr val="FF0000"/>
                </a:solidFill>
                <a:latin typeface="微软雅黑" pitchFamily="34" charset="-122"/>
                <a:ea typeface="微软雅黑" pitchFamily="34" charset="-122"/>
              </a:rPr>
              <a:t>d</a:t>
            </a:r>
            <a:r>
              <a:rPr lang="en-US" altLang="zh-CN" sz="2800" b="0" baseline="-25000" dirty="0">
                <a:solidFill>
                  <a:srgbClr val="FF0000"/>
                </a:solidFill>
                <a:latin typeface="微软雅黑" pitchFamily="34" charset="-122"/>
                <a:ea typeface="微软雅黑" pitchFamily="34" charset="-122"/>
              </a:rPr>
              <a:t>0 </a:t>
            </a:r>
            <a:r>
              <a:rPr lang="zh-CN" altLang="en-US" sz="2800" b="0" dirty="0">
                <a:solidFill>
                  <a:schemeClr val="tx1"/>
                </a:solidFill>
                <a:latin typeface="微软雅黑" pitchFamily="34" charset="-122"/>
                <a:ea typeface="微软雅黑" pitchFamily="34" charset="-122"/>
              </a:rPr>
              <a:t> </a:t>
            </a:r>
            <a:r>
              <a:rPr lang="zh-CN" altLang="en-US" sz="3200" b="0" dirty="0">
                <a:solidFill>
                  <a:schemeClr val="tx1"/>
                </a:solidFill>
                <a:latin typeface="微软雅黑" pitchFamily="34" charset="-122"/>
                <a:ea typeface="微软雅黑" pitchFamily="34" charset="-122"/>
              </a:rPr>
              <a:t>和</a:t>
            </a:r>
            <a:r>
              <a:rPr lang="zh-CN" altLang="en-US" sz="2800" dirty="0">
                <a:solidFill>
                  <a:schemeClr val="tx1"/>
                </a:solidFill>
                <a:latin typeface="微软雅黑" pitchFamily="34" charset="-122"/>
                <a:ea typeface="微软雅黑" pitchFamily="34" charset="-122"/>
              </a:rPr>
              <a:t>检纠错能力</a:t>
            </a:r>
            <a:r>
              <a:rPr lang="zh-CN" altLang="en-US" sz="2800" b="0" dirty="0">
                <a:solidFill>
                  <a:schemeClr val="tx1"/>
                </a:solidFill>
                <a:latin typeface="微软雅黑" pitchFamily="34" charset="-122"/>
                <a:ea typeface="微软雅黑" pitchFamily="34" charset="-122"/>
              </a:rPr>
              <a:t>的</a:t>
            </a:r>
            <a:r>
              <a:rPr lang="zh-CN" altLang="en-US" sz="2800" dirty="0">
                <a:solidFill>
                  <a:schemeClr val="tx1"/>
                </a:solidFill>
                <a:latin typeface="微软雅黑" pitchFamily="34" charset="-122"/>
                <a:ea typeface="微软雅黑" pitchFamily="34" charset="-122"/>
              </a:rPr>
              <a:t>关系</a:t>
            </a:r>
            <a:endParaRPr lang="zh-CN" altLang="en-US" sz="2800" kern="0" dirty="0">
              <a:solidFill>
                <a:schemeClr val="tx1"/>
              </a:solidFill>
              <a:latin typeface="微软雅黑" pitchFamily="34" charset="-122"/>
              <a:ea typeface="微软雅黑" pitchFamily="34" charset="-122"/>
            </a:endParaRPr>
          </a:p>
        </p:txBody>
      </p:sp>
      <p:sp>
        <p:nvSpPr>
          <p:cNvPr id="19" name="矩形 18">
            <a:extLst>
              <a:ext uri="{FF2B5EF4-FFF2-40B4-BE49-F238E27FC236}">
                <a16:creationId xmlns:a16="http://schemas.microsoft.com/office/drawing/2014/main" id="{60E6B8FF-6B76-B18F-10D4-460E690CFDC2}"/>
              </a:ext>
            </a:extLst>
          </p:cNvPr>
          <p:cNvSpPr>
            <a:spLocks noChangeArrowheads="1"/>
          </p:cNvSpPr>
          <p:nvPr/>
        </p:nvSpPr>
        <p:spPr bwMode="auto">
          <a:xfrm>
            <a:off x="1428750" y="2143125"/>
            <a:ext cx="40719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buClr>
                <a:srgbClr val="0000CC"/>
              </a:buClr>
              <a:buSzPct val="65000"/>
              <a:buFont typeface="Wingdings" panose="05000000000000000000" pitchFamily="2" charset="2"/>
              <a:buChar char="l"/>
            </a:pPr>
            <a:r>
              <a:rPr kumimoji="0" lang="zh-CN" altLang="en-US" sz="2400" b="0">
                <a:solidFill>
                  <a:srgbClr val="000000"/>
                </a:solidFill>
                <a:latin typeface="Arial" panose="020B0604020202020204" pitchFamily="34" charset="0"/>
                <a:ea typeface="微软雅黑" panose="020B0503020204020204" pitchFamily="34" charset="-122"/>
                <a:cs typeface="Arial" panose="020B0604020202020204" pitchFamily="34" charset="0"/>
              </a:rPr>
              <a:t> 检</a:t>
            </a:r>
            <a:r>
              <a:rPr kumimoji="0" lang="zh-CN" altLang="en-US" sz="2400" i="1">
                <a:solidFill>
                  <a:srgbClr val="0000CC"/>
                </a:solidFill>
                <a:latin typeface="Arial" panose="020B0604020202020204" pitchFamily="34" charset="0"/>
                <a:ea typeface="微软雅黑" panose="020B0503020204020204" pitchFamily="34" charset="-122"/>
                <a:cs typeface="Arial" panose="020B0604020202020204" pitchFamily="34" charset="0"/>
              </a:rPr>
              <a:t>ｅ</a:t>
            </a:r>
            <a:r>
              <a:rPr kumimoji="0" lang="zh-CN" altLang="en-US" sz="2400" b="0">
                <a:solidFill>
                  <a:srgbClr val="000000"/>
                </a:solidFill>
                <a:latin typeface="Arial" panose="020B0604020202020204" pitchFamily="34" charset="0"/>
                <a:ea typeface="微软雅黑" panose="020B0503020204020204" pitchFamily="34" charset="-122"/>
                <a:cs typeface="Arial" panose="020B0604020202020204" pitchFamily="34" charset="0"/>
              </a:rPr>
              <a:t>个错码，要求：</a:t>
            </a:r>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20" name="矩形 19">
            <a:extLst>
              <a:ext uri="{FF2B5EF4-FFF2-40B4-BE49-F238E27FC236}">
                <a16:creationId xmlns:a16="http://schemas.microsoft.com/office/drawing/2014/main" id="{8EA24139-2866-F418-5E81-9F43ABF603F1}"/>
              </a:ext>
            </a:extLst>
          </p:cNvPr>
          <p:cNvSpPr>
            <a:spLocks noChangeArrowheads="1"/>
          </p:cNvSpPr>
          <p:nvPr/>
        </p:nvSpPr>
        <p:spPr bwMode="auto">
          <a:xfrm>
            <a:off x="1428750" y="3109913"/>
            <a:ext cx="38925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buClr>
                <a:srgbClr val="0000CC"/>
              </a:buClr>
              <a:buSzPct val="65000"/>
              <a:buFont typeface="Wingdings" panose="05000000000000000000" pitchFamily="2" charset="2"/>
              <a:buChar char="l"/>
            </a:pPr>
            <a:r>
              <a:rPr kumimoji="0" lang="zh-CN" altLang="en-US" sz="2400" b="0">
                <a:solidFill>
                  <a:srgbClr val="000000"/>
                </a:solidFill>
                <a:latin typeface="Arial" panose="020B0604020202020204" pitchFamily="34" charset="0"/>
                <a:ea typeface="微软雅黑" panose="020B0503020204020204" pitchFamily="34" charset="-122"/>
                <a:cs typeface="Arial" panose="020B0604020202020204" pitchFamily="34" charset="0"/>
              </a:rPr>
              <a:t> 纠</a:t>
            </a:r>
            <a:r>
              <a:rPr kumimoji="0" lang="zh-CN" altLang="en-US" sz="2400" i="1">
                <a:solidFill>
                  <a:srgbClr val="0000CC"/>
                </a:solidFill>
                <a:latin typeface="Arial" panose="020B0604020202020204" pitchFamily="34" charset="0"/>
                <a:ea typeface="微软雅黑" panose="020B0503020204020204" pitchFamily="34" charset="-122"/>
                <a:cs typeface="Arial" panose="020B0604020202020204" pitchFamily="34" charset="0"/>
              </a:rPr>
              <a:t>ｔ</a:t>
            </a:r>
            <a:r>
              <a:rPr kumimoji="0" lang="zh-CN" altLang="en-US" sz="2400" b="0">
                <a:solidFill>
                  <a:srgbClr val="000000"/>
                </a:solidFill>
                <a:latin typeface="Arial" panose="020B0604020202020204" pitchFamily="34" charset="0"/>
                <a:ea typeface="微软雅黑" panose="020B0503020204020204" pitchFamily="34" charset="-122"/>
                <a:cs typeface="Arial" panose="020B0604020202020204" pitchFamily="34" charset="0"/>
              </a:rPr>
              <a:t>个错码，要求：</a:t>
            </a:r>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21" name="矩形 20">
            <a:extLst>
              <a:ext uri="{FF2B5EF4-FFF2-40B4-BE49-F238E27FC236}">
                <a16:creationId xmlns:a16="http://schemas.microsoft.com/office/drawing/2014/main" id="{61662570-222B-54B0-6F33-059ED0265066}"/>
              </a:ext>
            </a:extLst>
          </p:cNvPr>
          <p:cNvSpPr/>
          <p:nvPr/>
        </p:nvSpPr>
        <p:spPr>
          <a:xfrm>
            <a:off x="1428750" y="4181475"/>
            <a:ext cx="5786438" cy="461963"/>
          </a:xfrm>
          <a:prstGeom prst="rect">
            <a:avLst/>
          </a:prstGeom>
        </p:spPr>
        <p:txBody>
          <a:bodyPr>
            <a:spAutoFit/>
          </a:bodyPr>
          <a:lstStyle/>
          <a:p>
            <a:pPr>
              <a:buClr>
                <a:srgbClr val="0000CC"/>
              </a:buClr>
              <a:buSzPct val="65000"/>
              <a:buFont typeface="Wingdings" pitchFamily="2" charset="2"/>
              <a:buChar char="l"/>
              <a:defRPr/>
            </a:pPr>
            <a:r>
              <a:rPr kumimoji="0" lang="zh-CN" altLang="en-US" sz="2400" b="0" kern="0" dirty="0">
                <a:solidFill>
                  <a:srgbClr val="000000"/>
                </a:solidFill>
                <a:latin typeface="Arial" pitchFamily="34" charset="0"/>
                <a:ea typeface="微软雅黑" pitchFamily="34" charset="-122"/>
                <a:cs typeface="Arial" pitchFamily="34" charset="0"/>
              </a:rPr>
              <a:t> 纠</a:t>
            </a:r>
            <a:r>
              <a:rPr kumimoji="0" lang="en-US" altLang="zh-CN" sz="2400" b="0" kern="0" dirty="0">
                <a:solidFill>
                  <a:srgbClr val="000000"/>
                </a:solidFill>
                <a:latin typeface="Arial" pitchFamily="34" charset="0"/>
                <a:ea typeface="微软雅黑" pitchFamily="34" charset="-122"/>
                <a:cs typeface="Arial" pitchFamily="34" charset="0"/>
              </a:rPr>
              <a:t> </a:t>
            </a:r>
            <a:r>
              <a:rPr kumimoji="0" lang="en-US" sz="2400" i="1" kern="0" dirty="0">
                <a:solidFill>
                  <a:srgbClr val="0000CC"/>
                </a:solidFill>
                <a:latin typeface="Arial" pitchFamily="34" charset="0"/>
                <a:ea typeface="微软雅黑" pitchFamily="34" charset="-122"/>
                <a:cs typeface="Arial" pitchFamily="34" charset="0"/>
              </a:rPr>
              <a:t>t</a:t>
            </a:r>
            <a:r>
              <a:rPr kumimoji="0" lang="en-US" sz="2400" b="0" i="1" kern="0" dirty="0">
                <a:solidFill>
                  <a:srgbClr val="000000"/>
                </a:solidFill>
                <a:latin typeface="Arial" pitchFamily="34" charset="0"/>
                <a:ea typeface="微软雅黑" pitchFamily="34" charset="-122"/>
                <a:cs typeface="Arial" pitchFamily="34" charset="0"/>
              </a:rPr>
              <a:t> </a:t>
            </a:r>
            <a:r>
              <a:rPr kumimoji="0" lang="zh-CN" altLang="en-US" sz="2400" b="0" kern="0" dirty="0">
                <a:solidFill>
                  <a:srgbClr val="000000"/>
                </a:solidFill>
                <a:latin typeface="Arial" pitchFamily="34" charset="0"/>
                <a:ea typeface="微软雅黑" pitchFamily="34" charset="-122"/>
                <a:cs typeface="Arial" pitchFamily="34" charset="0"/>
              </a:rPr>
              <a:t>个错码</a:t>
            </a:r>
            <a:r>
              <a:rPr kumimoji="0" lang="en-US" altLang="zh-CN" sz="2400" b="0" kern="0" dirty="0">
                <a:solidFill>
                  <a:srgbClr val="000000"/>
                </a:solidFill>
                <a:latin typeface="Arial" pitchFamily="34" charset="0"/>
                <a:ea typeface="+mn-ea"/>
                <a:cs typeface="Arial" pitchFamily="34" charset="0"/>
              </a:rPr>
              <a:t>,</a:t>
            </a:r>
            <a:r>
              <a:rPr kumimoji="0" lang="zh-CN" altLang="en-US" sz="2400" b="0" kern="0" dirty="0">
                <a:solidFill>
                  <a:srgbClr val="000000"/>
                </a:solidFill>
                <a:latin typeface="Arial" pitchFamily="34" charset="0"/>
                <a:ea typeface="微软雅黑" pitchFamily="34" charset="-122"/>
                <a:cs typeface="Arial" pitchFamily="34" charset="0"/>
              </a:rPr>
              <a:t>同时检</a:t>
            </a:r>
            <a:r>
              <a:rPr kumimoji="0" lang="en-US" altLang="zh-CN" sz="2400" b="0" kern="0" dirty="0">
                <a:solidFill>
                  <a:srgbClr val="0000CC"/>
                </a:solidFill>
                <a:latin typeface="Arial" pitchFamily="34" charset="0"/>
                <a:ea typeface="微软雅黑" pitchFamily="34" charset="-122"/>
                <a:cs typeface="Arial" pitchFamily="34" charset="0"/>
              </a:rPr>
              <a:t> </a:t>
            </a:r>
            <a:r>
              <a:rPr kumimoji="0" lang="en-US" sz="2400" i="1" kern="0" dirty="0">
                <a:solidFill>
                  <a:srgbClr val="0000CC"/>
                </a:solidFill>
                <a:latin typeface="Arial" pitchFamily="34" charset="0"/>
                <a:ea typeface="微软雅黑" pitchFamily="34" charset="-122"/>
                <a:cs typeface="Arial" pitchFamily="34" charset="0"/>
              </a:rPr>
              <a:t>e </a:t>
            </a:r>
            <a:r>
              <a:rPr kumimoji="0" lang="zh-CN" altLang="en-US" sz="2400" b="0" kern="0" dirty="0">
                <a:solidFill>
                  <a:srgbClr val="000000"/>
                </a:solidFill>
                <a:latin typeface="Arial" pitchFamily="34" charset="0"/>
                <a:ea typeface="微软雅黑" pitchFamily="34" charset="-122"/>
                <a:cs typeface="Arial" pitchFamily="34" charset="0"/>
              </a:rPr>
              <a:t>个错码，要求：   </a:t>
            </a:r>
            <a:endParaRPr lang="zh-CN" altLang="en-US" dirty="0">
              <a:latin typeface="Arial" pitchFamily="34" charset="0"/>
              <a:cs typeface="Arial" pitchFamily="34" charset="0"/>
            </a:endParaRPr>
          </a:p>
        </p:txBody>
      </p:sp>
      <p:sp>
        <p:nvSpPr>
          <p:cNvPr id="23" name="圆角矩形 22">
            <a:extLst>
              <a:ext uri="{FF2B5EF4-FFF2-40B4-BE49-F238E27FC236}">
                <a16:creationId xmlns:a16="http://schemas.microsoft.com/office/drawing/2014/main" id="{0B7AE0AF-180A-E8D1-BFB1-41074657A720}"/>
              </a:ext>
            </a:extLst>
          </p:cNvPr>
          <p:cNvSpPr/>
          <p:nvPr/>
        </p:nvSpPr>
        <p:spPr bwMode="auto">
          <a:xfrm>
            <a:off x="1157288" y="1857375"/>
            <a:ext cx="6772275" cy="3714750"/>
          </a:xfrm>
          <a:prstGeom prst="roundRect">
            <a:avLst/>
          </a:prstGeom>
          <a:noFill/>
          <a:ln w="57150" cap="flat" cmpd="sng" algn="ctr">
            <a:solidFill>
              <a:schemeClr val="tx2">
                <a:lumMod val="20000"/>
                <a:lumOff val="80000"/>
              </a:schemeClr>
            </a:solidFill>
            <a:prstDash val="solid"/>
            <a:miter lim="800000"/>
            <a:headEnd type="none" w="med" len="med"/>
            <a:tailEnd type="none" w="med" len="med"/>
          </a:ln>
          <a:effectLst>
            <a:outerShdw blurRad="50800" dist="38100" dir="2700000" algn="tl" rotWithShape="0">
              <a:prstClr val="black">
                <a:alpha val="40000"/>
              </a:prstClr>
            </a:outerShdw>
          </a:effectLst>
        </p:spPr>
        <p:txBody>
          <a:bodyPr wrap="none"/>
          <a:lstStyle/>
          <a:p>
            <a:pPr>
              <a:defRPr/>
            </a:pPr>
            <a:endParaRPr lang="zh-CN" altLang="en-US" dirty="0">
              <a:latin typeface="Arial" pitchFamily="34" charset="0"/>
              <a:cs typeface="Arial" pitchFamily="34" charset="0"/>
            </a:endParaRPr>
          </a:p>
        </p:txBody>
      </p:sp>
      <p:pic>
        <p:nvPicPr>
          <p:cNvPr id="3086" name="Picture 14">
            <a:extLst>
              <a:ext uri="{FF2B5EF4-FFF2-40B4-BE49-F238E27FC236}">
                <a16:creationId xmlns:a16="http://schemas.microsoft.com/office/drawing/2014/main" id="{B97EC2E8-1B39-B228-EFF9-1D6DC3376DB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2963" y="5759450"/>
            <a:ext cx="7358062"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up)">
                                      <p:cBhvr>
                                        <p:cTn id="7" dur="1000"/>
                                        <p:tgtEl>
                                          <p:spTgt spid="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152"/>
                                        </p:tgtEl>
                                        <p:attrNameLst>
                                          <p:attrName>style.visibility</p:attrName>
                                        </p:attrNameLst>
                                      </p:cBhvr>
                                      <p:to>
                                        <p:strVal val="visible"/>
                                      </p:to>
                                    </p:set>
                                    <p:animEffect transition="in" filter="wipe(up)">
                                      <p:cBhvr>
                                        <p:cTn id="12" dur="1000"/>
                                        <p:tgtEl>
                                          <p:spTgt spid="6152"/>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wipe(up)">
                                      <p:cBhvr>
                                        <p:cTn id="16" dur="1000"/>
                                        <p:tgtEl>
                                          <p:spTgt spid="2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wipe(up)">
                                      <p:cBhvr>
                                        <p:cTn id="21" dur="1000"/>
                                        <p:tgtEl>
                                          <p:spTgt spid="19"/>
                                        </p:tgtEl>
                                      </p:cBhvr>
                                    </p:animEffect>
                                  </p:childTnLst>
                                </p:cTn>
                              </p:par>
                            </p:childTnLst>
                          </p:cTn>
                        </p:par>
                        <p:par>
                          <p:cTn id="22" fill="hold" nodeType="afterGroup">
                            <p:stCondLst>
                              <p:cond delay="1000"/>
                            </p:stCondLst>
                            <p:childTnLst>
                              <p:par>
                                <p:cTn id="23" presetID="22" presetClass="entr" presetSubtype="8" fill="hold" nodeType="afterEffect">
                                  <p:stCondLst>
                                    <p:cond delay="0"/>
                                  </p:stCondLst>
                                  <p:childTnLst>
                                    <p:set>
                                      <p:cBhvr>
                                        <p:cTn id="24" dur="1" fill="hold">
                                          <p:stCondLst>
                                            <p:cond delay="0"/>
                                          </p:stCondLst>
                                        </p:cTn>
                                        <p:tgtEl>
                                          <p:spTgt spid="6146"/>
                                        </p:tgtEl>
                                        <p:attrNameLst>
                                          <p:attrName>style.visibility</p:attrName>
                                        </p:attrNameLst>
                                      </p:cBhvr>
                                      <p:to>
                                        <p:strVal val="visible"/>
                                      </p:to>
                                    </p:set>
                                    <p:animEffect transition="in" filter="wipe(left)">
                                      <p:cBhvr>
                                        <p:cTn id="25" dur="2000"/>
                                        <p:tgtEl>
                                          <p:spTgt spid="614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wipe(up)">
                                      <p:cBhvr>
                                        <p:cTn id="30" dur="1000"/>
                                        <p:tgtEl>
                                          <p:spTgt spid="20"/>
                                        </p:tgtEl>
                                      </p:cBhvr>
                                    </p:animEffect>
                                  </p:childTnLst>
                                </p:cTn>
                              </p:par>
                            </p:childTnLst>
                          </p:cTn>
                        </p:par>
                        <p:par>
                          <p:cTn id="31" fill="hold" nodeType="afterGroup">
                            <p:stCondLst>
                              <p:cond delay="1000"/>
                            </p:stCondLst>
                            <p:childTnLst>
                              <p:par>
                                <p:cTn id="32" presetID="22" presetClass="entr" presetSubtype="8" fill="hold" nodeType="afterEffect">
                                  <p:stCondLst>
                                    <p:cond delay="0"/>
                                  </p:stCondLst>
                                  <p:childTnLst>
                                    <p:set>
                                      <p:cBhvr>
                                        <p:cTn id="33" dur="1" fill="hold">
                                          <p:stCondLst>
                                            <p:cond delay="0"/>
                                          </p:stCondLst>
                                        </p:cTn>
                                        <p:tgtEl>
                                          <p:spTgt spid="6147"/>
                                        </p:tgtEl>
                                        <p:attrNameLst>
                                          <p:attrName>style.visibility</p:attrName>
                                        </p:attrNameLst>
                                      </p:cBhvr>
                                      <p:to>
                                        <p:strVal val="visible"/>
                                      </p:to>
                                    </p:set>
                                    <p:animEffect transition="in" filter="wipe(left)">
                                      <p:cBhvr>
                                        <p:cTn id="34" dur="2000"/>
                                        <p:tgtEl>
                                          <p:spTgt spid="6147"/>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wipe(up)">
                                      <p:cBhvr>
                                        <p:cTn id="39" dur="1000"/>
                                        <p:tgtEl>
                                          <p:spTgt spid="21"/>
                                        </p:tgtEl>
                                      </p:cBhvr>
                                    </p:animEffect>
                                  </p:childTnLst>
                                </p:cTn>
                              </p:par>
                            </p:childTnLst>
                          </p:cTn>
                        </p:par>
                        <p:par>
                          <p:cTn id="40" fill="hold" nodeType="afterGroup">
                            <p:stCondLst>
                              <p:cond delay="1000"/>
                            </p:stCondLst>
                            <p:childTnLst>
                              <p:par>
                                <p:cTn id="41" presetID="22" presetClass="entr" presetSubtype="1" fill="hold" nodeType="afterEffect">
                                  <p:stCondLst>
                                    <p:cond delay="0"/>
                                  </p:stCondLst>
                                  <p:childTnLst>
                                    <p:set>
                                      <p:cBhvr>
                                        <p:cTn id="42" dur="1" fill="hold">
                                          <p:stCondLst>
                                            <p:cond delay="0"/>
                                          </p:stCondLst>
                                        </p:cTn>
                                        <p:tgtEl>
                                          <p:spTgt spid="6148"/>
                                        </p:tgtEl>
                                        <p:attrNameLst>
                                          <p:attrName>style.visibility</p:attrName>
                                        </p:attrNameLst>
                                      </p:cBhvr>
                                      <p:to>
                                        <p:strVal val="visible"/>
                                      </p:to>
                                    </p:set>
                                    <p:animEffect transition="in" filter="wipe(up)">
                                      <p:cBhvr>
                                        <p:cTn id="43" dur="1000"/>
                                        <p:tgtEl>
                                          <p:spTgt spid="614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1" fill="hold" nodeType="clickEffect">
                                  <p:stCondLst>
                                    <p:cond delay="0"/>
                                  </p:stCondLst>
                                  <p:childTnLst>
                                    <p:set>
                                      <p:cBhvr>
                                        <p:cTn id="47" dur="1" fill="hold">
                                          <p:stCondLst>
                                            <p:cond delay="0"/>
                                          </p:stCondLst>
                                        </p:cTn>
                                        <p:tgtEl>
                                          <p:spTgt spid="3086"/>
                                        </p:tgtEl>
                                        <p:attrNameLst>
                                          <p:attrName>style.visibility</p:attrName>
                                        </p:attrNameLst>
                                      </p:cBhvr>
                                      <p:to>
                                        <p:strVal val="visible"/>
                                      </p:to>
                                    </p:set>
                                    <p:animEffect transition="in" filter="wipe(up)">
                                      <p:cBhvr>
                                        <p:cTn id="48" dur="1000"/>
                                        <p:tgtEl>
                                          <p:spTgt spid="30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2" grpId="0"/>
      <p:bldP spid="18" grpId="0"/>
      <p:bldP spid="19" grpId="0"/>
      <p:bldP spid="20" grpId="0"/>
      <p:bldP spid="21" grpId="0"/>
      <p:bldP spid="2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descr="0802">
            <a:extLst>
              <a:ext uri="{FF2B5EF4-FFF2-40B4-BE49-F238E27FC236}">
                <a16:creationId xmlns:a16="http://schemas.microsoft.com/office/drawing/2014/main" id="{71B6BAF8-A010-44D3-3B7B-95C130506300}"/>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69950" y="1643063"/>
            <a:ext cx="7845425" cy="213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146" name="Object 2">
            <a:extLst>
              <a:ext uri="{FF2B5EF4-FFF2-40B4-BE49-F238E27FC236}">
                <a16:creationId xmlns:a16="http://schemas.microsoft.com/office/drawing/2014/main" id="{756163C0-796A-90D4-C453-2D6F94B31155}"/>
              </a:ext>
            </a:extLst>
          </p:cNvPr>
          <p:cNvGraphicFramePr>
            <a:graphicFrameLocks noChangeAspect="1"/>
          </p:cNvGraphicFramePr>
          <p:nvPr/>
        </p:nvGraphicFramePr>
        <p:xfrm>
          <a:off x="976313" y="3846513"/>
          <a:ext cx="1252537" cy="469900"/>
        </p:xfrm>
        <a:graphic>
          <a:graphicData uri="http://schemas.openxmlformats.org/presentationml/2006/ole">
            <mc:AlternateContent xmlns:mc="http://schemas.openxmlformats.org/markup-compatibility/2006">
              <mc:Choice xmlns:v="urn:schemas-microsoft-com:vml" Requires="v">
                <p:oleObj name="公式" r:id="rId3" imgW="609600" imgH="228600" progId="Equation.3">
                  <p:embed/>
                </p:oleObj>
              </mc:Choice>
              <mc:Fallback>
                <p:oleObj name="公式" r:id="rId3" imgW="609600" imgH="228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6313" y="3846513"/>
                        <a:ext cx="1252537" cy="469900"/>
                      </a:xfrm>
                      <a:prstGeom prst="rect">
                        <a:avLst/>
                      </a:prstGeom>
                      <a:noFill/>
                      <a:ln w="38100" cmpd="dbl">
                        <a:solidFill>
                          <a:srgbClr val="6666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7" name="Object 3">
            <a:extLst>
              <a:ext uri="{FF2B5EF4-FFF2-40B4-BE49-F238E27FC236}">
                <a16:creationId xmlns:a16="http://schemas.microsoft.com/office/drawing/2014/main" id="{82AFC482-E133-D74A-B04B-9F55DA21DD2B}"/>
              </a:ext>
            </a:extLst>
          </p:cNvPr>
          <p:cNvGraphicFramePr>
            <a:graphicFrameLocks noChangeAspect="1"/>
          </p:cNvGraphicFramePr>
          <p:nvPr/>
        </p:nvGraphicFramePr>
        <p:xfrm>
          <a:off x="3357563" y="3862388"/>
          <a:ext cx="1450975" cy="484187"/>
        </p:xfrm>
        <a:graphic>
          <a:graphicData uri="http://schemas.openxmlformats.org/presentationml/2006/ole">
            <mc:AlternateContent xmlns:mc="http://schemas.openxmlformats.org/markup-compatibility/2006">
              <mc:Choice xmlns:v="urn:schemas-microsoft-com:vml" Requires="v">
                <p:oleObj name="公式" r:id="rId5" imgW="685800" imgH="228600" progId="Equation.3">
                  <p:embed/>
                </p:oleObj>
              </mc:Choice>
              <mc:Fallback>
                <p:oleObj name="公式" r:id="rId5" imgW="685800" imgH="2286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7563" y="3862388"/>
                        <a:ext cx="1450975" cy="484187"/>
                      </a:xfrm>
                      <a:prstGeom prst="rect">
                        <a:avLst/>
                      </a:prstGeom>
                      <a:noFill/>
                      <a:ln w="38100" cmpd="dbl">
                        <a:solidFill>
                          <a:srgbClr val="6666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8" name="Object 4">
            <a:extLst>
              <a:ext uri="{FF2B5EF4-FFF2-40B4-BE49-F238E27FC236}">
                <a16:creationId xmlns:a16="http://schemas.microsoft.com/office/drawing/2014/main" id="{E8381DD8-147F-9B4E-8EBC-23F3DE56F00A}"/>
              </a:ext>
            </a:extLst>
          </p:cNvPr>
          <p:cNvGraphicFramePr>
            <a:graphicFrameLocks noChangeAspect="1"/>
          </p:cNvGraphicFramePr>
          <p:nvPr/>
        </p:nvGraphicFramePr>
        <p:xfrm>
          <a:off x="5514975" y="3846513"/>
          <a:ext cx="2786063" cy="477837"/>
        </p:xfrm>
        <a:graphic>
          <a:graphicData uri="http://schemas.openxmlformats.org/presentationml/2006/ole">
            <mc:AlternateContent xmlns:mc="http://schemas.openxmlformats.org/markup-compatibility/2006">
              <mc:Choice xmlns:v="urn:schemas-microsoft-com:vml" Requires="v">
                <p:oleObj name="公式" r:id="rId7" imgW="1333500" imgH="228600" progId="Equation.3">
                  <p:embed/>
                </p:oleObj>
              </mc:Choice>
              <mc:Fallback>
                <p:oleObj name="公式" r:id="rId7" imgW="1333500" imgH="2286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14975" y="3846513"/>
                        <a:ext cx="2786063" cy="477837"/>
                      </a:xfrm>
                      <a:prstGeom prst="rect">
                        <a:avLst/>
                      </a:prstGeom>
                      <a:noFill/>
                      <a:ln w="38100" cmpd="dbl">
                        <a:solidFill>
                          <a:srgbClr val="6666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矩形 5">
            <a:extLst>
              <a:ext uri="{FF2B5EF4-FFF2-40B4-BE49-F238E27FC236}">
                <a16:creationId xmlns:a16="http://schemas.microsoft.com/office/drawing/2014/main" id="{051FAF45-B3BD-222F-5A6B-3E2D582EEBF7}"/>
              </a:ext>
            </a:extLst>
          </p:cNvPr>
          <p:cNvSpPr/>
          <p:nvPr/>
        </p:nvSpPr>
        <p:spPr>
          <a:xfrm>
            <a:off x="785813" y="1143000"/>
            <a:ext cx="1108075" cy="461963"/>
          </a:xfrm>
          <a:prstGeom prst="rect">
            <a:avLst/>
          </a:prstGeom>
        </p:spPr>
        <p:txBody>
          <a:bodyPr wrap="none">
            <a:spAutoFit/>
          </a:bodyPr>
          <a:lstStyle/>
          <a:p>
            <a:pPr>
              <a:defRPr/>
            </a:pPr>
            <a:r>
              <a:rPr kumimoji="0" lang="zh-CN" altLang="en-US" sz="2400" kern="0" dirty="0">
                <a:solidFill>
                  <a:srgbClr val="000000"/>
                </a:solidFill>
                <a:latin typeface="Arial" pitchFamily="34" charset="0"/>
                <a:ea typeface="微软雅黑" pitchFamily="34" charset="-122"/>
                <a:cs typeface="Arial" pitchFamily="34" charset="0"/>
              </a:rPr>
              <a:t>证明：</a:t>
            </a:r>
            <a:endParaRPr lang="zh-CN" altLang="en-US" sz="2400" dirty="0"/>
          </a:p>
        </p:txBody>
      </p:sp>
      <p:sp>
        <p:nvSpPr>
          <p:cNvPr id="16" name="矩形 15">
            <a:extLst>
              <a:ext uri="{FF2B5EF4-FFF2-40B4-BE49-F238E27FC236}">
                <a16:creationId xmlns:a16="http://schemas.microsoft.com/office/drawing/2014/main" id="{EC3082EA-4ADE-6615-2342-8A7E20416259}"/>
              </a:ext>
            </a:extLst>
          </p:cNvPr>
          <p:cNvSpPr/>
          <p:nvPr/>
        </p:nvSpPr>
        <p:spPr bwMode="auto">
          <a:xfrm>
            <a:off x="1000125" y="3532188"/>
            <a:ext cx="6643688" cy="285750"/>
          </a:xfrm>
          <a:prstGeom prst="rect">
            <a:avLst/>
          </a:prstGeom>
          <a:solidFill>
            <a:schemeClr val="bg1">
              <a:lumMod val="95000"/>
            </a:schemeClr>
          </a:solidFill>
          <a:ln w="9525" cap="flat" cmpd="sng" algn="ctr">
            <a:solidFill>
              <a:schemeClr val="bg1">
                <a:lumMod val="95000"/>
              </a:schemeClr>
            </a:solidFill>
            <a:prstDash val="solid"/>
            <a:miter lim="800000"/>
            <a:headEnd type="none" w="med" len="med"/>
            <a:tailEnd type="none" w="med" len="med"/>
          </a:ln>
          <a:effectLst/>
        </p:spPr>
        <p:txBody>
          <a:bodyPr wrap="none"/>
          <a:lstStyle/>
          <a:p>
            <a:pPr>
              <a:defRPr/>
            </a:pPr>
            <a:endParaRPr lang="zh-CN" altLang="en-US"/>
          </a:p>
        </p:txBody>
      </p:sp>
      <p:pic>
        <p:nvPicPr>
          <p:cNvPr id="4106" name="Picture 10">
            <a:extLst>
              <a:ext uri="{FF2B5EF4-FFF2-40B4-BE49-F238E27FC236}">
                <a16:creationId xmlns:a16="http://schemas.microsoft.com/office/drawing/2014/main" id="{7B11A755-E6BE-4015-C80E-E824C7DBCA8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0100" y="4786313"/>
            <a:ext cx="7602538" cy="149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10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vertical)">
                                      <p:cBhvr>
                                        <p:cTn id="12" dur="1000"/>
                                        <p:tgtEl>
                                          <p:spTgt spid="2"/>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6146"/>
                                        </p:tgtEl>
                                        <p:attrNameLst>
                                          <p:attrName>style.visibility</p:attrName>
                                        </p:attrNameLst>
                                      </p:cBhvr>
                                      <p:to>
                                        <p:strVal val="visible"/>
                                      </p:to>
                                    </p:set>
                                    <p:animEffect transition="in" filter="wipe(up)">
                                      <p:cBhvr>
                                        <p:cTn id="16" dur="1000"/>
                                        <p:tgtEl>
                                          <p:spTgt spid="6146"/>
                                        </p:tgtEl>
                                      </p:cBhvr>
                                    </p:animEffect>
                                  </p:childTnLst>
                                </p:cTn>
                              </p:par>
                            </p:childTnLst>
                          </p:cTn>
                        </p:par>
                        <p:par>
                          <p:cTn id="17" fill="hold" nodeType="afterGroup">
                            <p:stCondLst>
                              <p:cond delay="2000"/>
                            </p:stCondLst>
                            <p:childTnLst>
                              <p:par>
                                <p:cTn id="18" presetID="22" presetClass="entr" presetSubtype="1" fill="hold" nodeType="afterEffect">
                                  <p:stCondLst>
                                    <p:cond delay="0"/>
                                  </p:stCondLst>
                                  <p:childTnLst>
                                    <p:set>
                                      <p:cBhvr>
                                        <p:cTn id="19" dur="1" fill="hold">
                                          <p:stCondLst>
                                            <p:cond delay="0"/>
                                          </p:stCondLst>
                                        </p:cTn>
                                        <p:tgtEl>
                                          <p:spTgt spid="6147"/>
                                        </p:tgtEl>
                                        <p:attrNameLst>
                                          <p:attrName>style.visibility</p:attrName>
                                        </p:attrNameLst>
                                      </p:cBhvr>
                                      <p:to>
                                        <p:strVal val="visible"/>
                                      </p:to>
                                    </p:set>
                                    <p:animEffect transition="in" filter="wipe(up)">
                                      <p:cBhvr>
                                        <p:cTn id="20" dur="1000"/>
                                        <p:tgtEl>
                                          <p:spTgt spid="6147"/>
                                        </p:tgtEl>
                                      </p:cBhvr>
                                    </p:animEffect>
                                  </p:childTnLst>
                                </p:cTn>
                              </p:par>
                            </p:childTnLst>
                          </p:cTn>
                        </p:par>
                        <p:par>
                          <p:cTn id="21" fill="hold" nodeType="afterGroup">
                            <p:stCondLst>
                              <p:cond delay="3000"/>
                            </p:stCondLst>
                            <p:childTnLst>
                              <p:par>
                                <p:cTn id="22" presetID="22" presetClass="entr" presetSubtype="1" fill="hold" nodeType="afterEffect">
                                  <p:stCondLst>
                                    <p:cond delay="0"/>
                                  </p:stCondLst>
                                  <p:childTnLst>
                                    <p:set>
                                      <p:cBhvr>
                                        <p:cTn id="23" dur="1" fill="hold">
                                          <p:stCondLst>
                                            <p:cond delay="0"/>
                                          </p:stCondLst>
                                        </p:cTn>
                                        <p:tgtEl>
                                          <p:spTgt spid="6148"/>
                                        </p:tgtEl>
                                        <p:attrNameLst>
                                          <p:attrName>style.visibility</p:attrName>
                                        </p:attrNameLst>
                                      </p:cBhvr>
                                      <p:to>
                                        <p:strVal val="visible"/>
                                      </p:to>
                                    </p:set>
                                    <p:animEffect transition="in" filter="wipe(up)">
                                      <p:cBhvr>
                                        <p:cTn id="24" dur="1000"/>
                                        <p:tgtEl>
                                          <p:spTgt spid="614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4106"/>
                                        </p:tgtEl>
                                        <p:attrNameLst>
                                          <p:attrName>style.visibility</p:attrName>
                                        </p:attrNameLst>
                                      </p:cBhvr>
                                      <p:to>
                                        <p:strVal val="visible"/>
                                      </p:to>
                                    </p:set>
                                    <p:animEffect transition="in" filter="wipe(up)">
                                      <p:cBhvr>
                                        <p:cTn id="29" dur="2000"/>
                                        <p:tgtEl>
                                          <p:spTgt spid="4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矩形 4">
            <a:extLst>
              <a:ext uri="{FF2B5EF4-FFF2-40B4-BE49-F238E27FC236}">
                <a16:creationId xmlns:a16="http://schemas.microsoft.com/office/drawing/2014/main" id="{CB85F25C-FE56-61D5-563E-6CC7EEEF06A5}"/>
              </a:ext>
            </a:extLst>
          </p:cNvPr>
          <p:cNvSpPr>
            <a:spLocks noChangeArrowheads="1"/>
          </p:cNvSpPr>
          <p:nvPr/>
        </p:nvSpPr>
        <p:spPr bwMode="auto">
          <a:xfrm>
            <a:off x="642938" y="2214563"/>
            <a:ext cx="1927225" cy="708025"/>
          </a:xfrm>
          <a:prstGeom prst="rect">
            <a:avLst/>
          </a:prstGeom>
          <a:noFill/>
          <a:ln w="9525">
            <a:noFill/>
            <a:miter lim="800000"/>
            <a:headEnd/>
            <a:tailEnd/>
          </a:ln>
        </p:spPr>
        <p:txBody>
          <a:bodyPr wrap="none">
            <a:spAutoFit/>
          </a:bodyPr>
          <a:lstStyle/>
          <a:p>
            <a:pPr eaLnBrk="0" hangingPunct="0">
              <a:defRPr/>
            </a:pPr>
            <a:r>
              <a:rPr lang="en-US" altLang="en-US" sz="4000" u="sng" dirty="0">
                <a:solidFill>
                  <a:srgbClr val="800080"/>
                </a:solidFill>
                <a:effectLst>
                  <a:outerShdw blurRad="38100" dist="38100" dir="2700000" algn="tl">
                    <a:srgbClr val="000000">
                      <a:alpha val="43137"/>
                    </a:srgbClr>
                  </a:outerShdw>
                </a:effectLst>
                <a:latin typeface="+mn-ea"/>
                <a:ea typeface="+mn-ea"/>
              </a:rPr>
              <a:t>§</a:t>
            </a:r>
            <a:r>
              <a:rPr lang="en-US" altLang="en-US" sz="4000" u="sng" dirty="0">
                <a:solidFill>
                  <a:srgbClr val="80008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11</a:t>
            </a:r>
            <a:r>
              <a:rPr lang="en-US" altLang="zh-CN" sz="4000" u="sng" dirty="0">
                <a:solidFill>
                  <a:srgbClr val="80008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.3</a:t>
            </a:r>
            <a:r>
              <a:rPr lang="en-US" altLang="zh-CN" sz="4000" u="sng" dirty="0">
                <a:solidFill>
                  <a:srgbClr val="800080"/>
                </a:solidFill>
                <a:effectLst>
                  <a:outerShdw blurRad="38100" dist="38100" dir="2700000" algn="tl">
                    <a:srgbClr val="000000">
                      <a:alpha val="43137"/>
                    </a:srgbClr>
                  </a:outerShdw>
                </a:effectLst>
                <a:ea typeface="微软雅黑" pitchFamily="34" charset="-122"/>
                <a:cs typeface="Arial" charset="0"/>
              </a:rPr>
              <a:t> </a:t>
            </a:r>
            <a:endParaRPr lang="zh-CN" altLang="en-US" sz="4000" u="sng" dirty="0">
              <a:solidFill>
                <a:srgbClr val="800080"/>
              </a:solidFill>
              <a:effectLst>
                <a:outerShdw blurRad="38100" dist="38100" dir="2700000" algn="tl">
                  <a:srgbClr val="000000">
                    <a:alpha val="43137"/>
                  </a:srgbClr>
                </a:outerShdw>
              </a:effectLst>
            </a:endParaRPr>
          </a:p>
        </p:txBody>
      </p:sp>
      <p:sp>
        <p:nvSpPr>
          <p:cNvPr id="5" name="矩形 4">
            <a:extLst>
              <a:ext uri="{FF2B5EF4-FFF2-40B4-BE49-F238E27FC236}">
                <a16:creationId xmlns:a16="http://schemas.microsoft.com/office/drawing/2014/main" id="{ED81A3B1-D2B3-97AC-3BF5-C68F403D982D}"/>
              </a:ext>
            </a:extLst>
          </p:cNvPr>
          <p:cNvSpPr/>
          <p:nvPr/>
        </p:nvSpPr>
        <p:spPr>
          <a:xfrm>
            <a:off x="2573338" y="3429000"/>
            <a:ext cx="4302125" cy="769938"/>
          </a:xfrm>
          <a:prstGeom prst="rect">
            <a:avLst/>
          </a:prstGeom>
          <a:effectLst>
            <a:outerShdw blurRad="50800" dist="38100" dir="2700000" algn="tl" rotWithShape="0">
              <a:prstClr val="black">
                <a:alpha val="40000"/>
              </a:prstClr>
            </a:outerShdw>
          </a:effectLst>
        </p:spPr>
        <p:txBody>
          <a:bodyPr wrap="none">
            <a:spAutoFit/>
          </a:bodyPr>
          <a:lstStyle/>
          <a:p>
            <a:pPr>
              <a:defRPr/>
            </a:pPr>
            <a:r>
              <a:rPr lang="zh-CN" altLang="en-US" sz="4400" dirty="0">
                <a:solidFill>
                  <a:srgbClr val="003399"/>
                </a:solidFill>
                <a:latin typeface="微软雅黑" pitchFamily="34" charset="-122"/>
                <a:ea typeface="微软雅黑" pitchFamily="34" charset="-122"/>
              </a:rPr>
              <a:t>纠错编码</a:t>
            </a:r>
            <a:r>
              <a:rPr lang="zh-CN" altLang="en-US" sz="4400" b="0" dirty="0">
                <a:solidFill>
                  <a:srgbClr val="003399"/>
                </a:solidFill>
                <a:effectLst>
                  <a:outerShdw blurRad="38100" dist="38100" dir="2700000" algn="tl">
                    <a:srgbClr val="000000">
                      <a:alpha val="43137"/>
                    </a:srgbClr>
                  </a:outerShdw>
                </a:effectLst>
                <a:latin typeface="微软雅黑" pitchFamily="34" charset="-122"/>
                <a:ea typeface="微软雅黑" pitchFamily="34" charset="-122"/>
              </a:rPr>
              <a:t>的</a:t>
            </a:r>
            <a:r>
              <a:rPr lang="zh-CN" altLang="en-US" sz="4400" dirty="0">
                <a:solidFill>
                  <a:srgbClr val="003399"/>
                </a:solidFill>
                <a:latin typeface="微软雅黑" pitchFamily="34" charset="-122"/>
                <a:ea typeface="微软雅黑" pitchFamily="34" charset="-122"/>
              </a:rPr>
              <a:t>性能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BEE06204-A1BC-2AA5-C2E1-FBB32A00F0DE}"/>
              </a:ext>
            </a:extLst>
          </p:cNvPr>
          <p:cNvSpPr/>
          <p:nvPr/>
        </p:nvSpPr>
        <p:spPr>
          <a:xfrm>
            <a:off x="571500" y="476250"/>
            <a:ext cx="5788025" cy="523875"/>
          </a:xfrm>
          <a:prstGeom prst="rect">
            <a:avLst/>
          </a:prstGeom>
        </p:spPr>
        <p:txBody>
          <a:bodyPr>
            <a:spAutoFit/>
          </a:bodyPr>
          <a:lstStyle/>
          <a:p>
            <a:pPr marL="285750" indent="-285750" eaLnBrk="0" hangingPunct="0">
              <a:spcBef>
                <a:spcPct val="20000"/>
              </a:spcBef>
              <a:buClr>
                <a:srgbClr val="FF0000"/>
              </a:buClr>
              <a:buSzPct val="85000"/>
              <a:buFont typeface="Wingdings" pitchFamily="2" charset="2"/>
              <a:buChar char="n"/>
              <a:defRPr/>
            </a:pPr>
            <a:r>
              <a:rPr kumimoji="0" lang="zh-CN" altLang="en-US" sz="2800" kern="0" dirty="0">
                <a:solidFill>
                  <a:srgbClr val="000000"/>
                </a:solidFill>
                <a:latin typeface="黑体" pitchFamily="2" charset="-122"/>
                <a:ea typeface="黑体" pitchFamily="2" charset="-122"/>
              </a:rPr>
              <a:t>系统带宽和信噪比的矛盾</a:t>
            </a:r>
          </a:p>
        </p:txBody>
      </p:sp>
      <p:pic>
        <p:nvPicPr>
          <p:cNvPr id="89095" name="Picture 7">
            <a:extLst>
              <a:ext uri="{FF2B5EF4-FFF2-40B4-BE49-F238E27FC236}">
                <a16:creationId xmlns:a16="http://schemas.microsoft.com/office/drawing/2014/main" id="{65C4ECBA-D7C3-D939-2D58-C9F3074FDC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8240" b="65178"/>
          <a:stretch>
            <a:fillRect/>
          </a:stretch>
        </p:blipFill>
        <p:spPr bwMode="auto">
          <a:xfrm>
            <a:off x="928688" y="2143125"/>
            <a:ext cx="7858125"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7">
            <a:extLst>
              <a:ext uri="{FF2B5EF4-FFF2-40B4-BE49-F238E27FC236}">
                <a16:creationId xmlns:a16="http://schemas.microsoft.com/office/drawing/2014/main" id="{E37FE1D2-2555-EDB8-56FF-FB66582BD0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83418"/>
          <a:stretch>
            <a:fillRect/>
          </a:stretch>
        </p:blipFill>
        <p:spPr bwMode="auto">
          <a:xfrm>
            <a:off x="928688" y="1285875"/>
            <a:ext cx="7858125"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7">
            <a:extLst>
              <a:ext uri="{FF2B5EF4-FFF2-40B4-BE49-F238E27FC236}">
                <a16:creationId xmlns:a16="http://schemas.microsoft.com/office/drawing/2014/main" id="{BA4B2394-BD89-043D-7E60-E3E392AB46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71811"/>
          <a:stretch>
            <a:fillRect/>
          </a:stretch>
        </p:blipFill>
        <p:spPr bwMode="auto">
          <a:xfrm>
            <a:off x="928688" y="4714875"/>
            <a:ext cx="7858125"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7">
            <a:extLst>
              <a:ext uri="{FF2B5EF4-FFF2-40B4-BE49-F238E27FC236}">
                <a16:creationId xmlns:a16="http://schemas.microsoft.com/office/drawing/2014/main" id="{2E792348-CC7E-8465-8A3A-0549C099E3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8138" b="28699"/>
          <a:stretch>
            <a:fillRect/>
          </a:stretch>
        </p:blipFill>
        <p:spPr bwMode="auto">
          <a:xfrm>
            <a:off x="928688" y="3143250"/>
            <a:ext cx="7858125"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10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89095"/>
                                        </p:tgtEl>
                                        <p:attrNameLst>
                                          <p:attrName>style.visibility</p:attrName>
                                        </p:attrNameLst>
                                      </p:cBhvr>
                                      <p:to>
                                        <p:strVal val="visible"/>
                                      </p:to>
                                    </p:set>
                                    <p:animEffect transition="in" filter="wipe(up)">
                                      <p:cBhvr>
                                        <p:cTn id="12" dur="1000"/>
                                        <p:tgtEl>
                                          <p:spTgt spid="890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up)">
                                      <p:cBhvr>
                                        <p:cTn id="17" dur="1000"/>
                                        <p:tgtEl>
                                          <p:spTgt spid="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up)">
                                      <p:cBhvr>
                                        <p:cTn id="22"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78" name="Picture 66">
            <a:extLst>
              <a:ext uri="{FF2B5EF4-FFF2-40B4-BE49-F238E27FC236}">
                <a16:creationId xmlns:a16="http://schemas.microsoft.com/office/drawing/2014/main" id="{52C321A7-96D6-0F23-8F47-619609D80B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088" y="2428875"/>
            <a:ext cx="351472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76" name="Picture 64">
            <a:extLst>
              <a:ext uri="{FF2B5EF4-FFF2-40B4-BE49-F238E27FC236}">
                <a16:creationId xmlns:a16="http://schemas.microsoft.com/office/drawing/2014/main" id="{2C478001-EAAD-16A2-769A-CB3170FC15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 y="3848100"/>
            <a:ext cx="3500438" cy="1166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 name="矩形 65">
            <a:extLst>
              <a:ext uri="{FF2B5EF4-FFF2-40B4-BE49-F238E27FC236}">
                <a16:creationId xmlns:a16="http://schemas.microsoft.com/office/drawing/2014/main" id="{E5AAA0E5-FF4F-1525-97EB-94D0732D2F55}"/>
              </a:ext>
            </a:extLst>
          </p:cNvPr>
          <p:cNvSpPr/>
          <p:nvPr/>
        </p:nvSpPr>
        <p:spPr>
          <a:xfrm>
            <a:off x="714375" y="1001713"/>
            <a:ext cx="3643313" cy="485775"/>
          </a:xfrm>
          <a:prstGeom prst="rect">
            <a:avLst/>
          </a:prstGeom>
          <a:solidFill>
            <a:schemeClr val="bg2">
              <a:lumMod val="10000"/>
              <a:lumOff val="90000"/>
            </a:schemeClr>
          </a:solidFill>
          <a:ln>
            <a:solidFill>
              <a:schemeClr val="bg1">
                <a:lumMod val="50000"/>
              </a:schemeClr>
            </a:solidFill>
          </a:ln>
        </p:spPr>
        <p:txBody>
          <a:bodyPr>
            <a:spAutoFit/>
          </a:bodyPr>
          <a:lstStyle/>
          <a:p>
            <a:pPr>
              <a:lnSpc>
                <a:spcPts val="3500"/>
              </a:lnSpc>
              <a:defRPr/>
            </a:pPr>
            <a:r>
              <a:rPr kumimoji="0" lang="zh-CN" altLang="en-US" sz="2000" kern="0" dirty="0">
                <a:solidFill>
                  <a:schemeClr val="tx1"/>
                </a:solidFill>
                <a:latin typeface="Arial" pitchFamily="34" charset="0"/>
                <a:ea typeface="幼圆" pitchFamily="49" charset="-122"/>
                <a:cs typeface="Arial" pitchFamily="34" charset="0"/>
              </a:rPr>
              <a:t>    右图所示的某种编码性能</a:t>
            </a:r>
            <a:endParaRPr kumimoji="0" lang="en-US" altLang="zh-CN" sz="2000" kern="0" dirty="0">
              <a:solidFill>
                <a:schemeClr val="tx1"/>
              </a:solidFill>
              <a:latin typeface="Arial" pitchFamily="34" charset="0"/>
              <a:ea typeface="幼圆" pitchFamily="49" charset="-122"/>
              <a:cs typeface="Arial" pitchFamily="34" charset="0"/>
            </a:endParaRPr>
          </a:p>
        </p:txBody>
      </p:sp>
      <p:sp>
        <p:nvSpPr>
          <p:cNvPr id="5" name="矩形 4">
            <a:extLst>
              <a:ext uri="{FF2B5EF4-FFF2-40B4-BE49-F238E27FC236}">
                <a16:creationId xmlns:a16="http://schemas.microsoft.com/office/drawing/2014/main" id="{6156D685-6D46-BED3-1589-859D90D0EA58}"/>
              </a:ext>
            </a:extLst>
          </p:cNvPr>
          <p:cNvSpPr/>
          <p:nvPr/>
        </p:nvSpPr>
        <p:spPr>
          <a:xfrm>
            <a:off x="642938" y="5286375"/>
            <a:ext cx="3643312" cy="974725"/>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marL="342900" indent="-342900" eaLnBrk="0" hangingPunct="0">
              <a:lnSpc>
                <a:spcPts val="3200"/>
              </a:lnSpc>
              <a:spcBef>
                <a:spcPct val="20000"/>
              </a:spcBef>
              <a:buClr>
                <a:srgbClr val="3333CC"/>
              </a:buClr>
              <a:buSzPct val="60000"/>
              <a:defRPr/>
            </a:pPr>
            <a:r>
              <a:rPr kumimoji="0" lang="zh-CN" altLang="en-US" sz="2000" kern="0" dirty="0">
                <a:solidFill>
                  <a:srgbClr val="0000CC"/>
                </a:solidFill>
                <a:latin typeface="微软雅黑" pitchFamily="34" charset="-122"/>
                <a:ea typeface="微软雅黑" pitchFamily="34" charset="-122"/>
                <a:cs typeface="Arial" pitchFamily="34" charset="0"/>
              </a:rPr>
              <a:t>可见</a:t>
            </a:r>
            <a:r>
              <a:rPr kumimoji="0" lang="zh-CN" altLang="en-US" sz="2000" kern="0" dirty="0">
                <a:solidFill>
                  <a:srgbClr val="0000CC"/>
                </a:solidFill>
                <a:latin typeface="Arial" pitchFamily="34" charset="0"/>
                <a:ea typeface="幼圆" pitchFamily="49" charset="-122"/>
                <a:cs typeface="Arial" pitchFamily="34" charset="0"/>
              </a:rPr>
              <a:t>：</a:t>
            </a:r>
            <a:r>
              <a:rPr kumimoji="0" lang="zh-CN" altLang="en-US" sz="2000" kern="0" dirty="0">
                <a:solidFill>
                  <a:srgbClr val="000000"/>
                </a:solidFill>
                <a:latin typeface="Arial" pitchFamily="34" charset="0"/>
                <a:ea typeface="幼圆" pitchFamily="49" charset="-122"/>
                <a:cs typeface="Arial" pitchFamily="34" charset="0"/>
              </a:rPr>
              <a:t>不增大发送功率</a:t>
            </a:r>
            <a:r>
              <a:rPr kumimoji="0" lang="en-US" altLang="zh-CN" sz="2000" kern="0" dirty="0">
                <a:solidFill>
                  <a:srgbClr val="000000"/>
                </a:solidFill>
                <a:latin typeface="Arial" pitchFamily="34" charset="0"/>
                <a:ea typeface="幼圆" pitchFamily="49" charset="-122"/>
                <a:cs typeface="Arial" pitchFamily="34" charset="0"/>
              </a:rPr>
              <a:t>, </a:t>
            </a:r>
            <a:r>
              <a:rPr kumimoji="0" lang="zh-CN" altLang="en-US" sz="2000" kern="0" dirty="0">
                <a:solidFill>
                  <a:srgbClr val="000000"/>
                </a:solidFill>
                <a:latin typeface="Arial" pitchFamily="34" charset="0"/>
                <a:ea typeface="幼圆" pitchFamily="49" charset="-122"/>
                <a:cs typeface="Arial" pitchFamily="34" charset="0"/>
              </a:rPr>
              <a:t>就能</a:t>
            </a:r>
            <a:endParaRPr kumimoji="0" lang="en-US" altLang="zh-CN" sz="2000" kern="0" dirty="0">
              <a:solidFill>
                <a:srgbClr val="000000"/>
              </a:solidFill>
              <a:latin typeface="Arial" pitchFamily="34" charset="0"/>
              <a:ea typeface="幼圆" pitchFamily="49" charset="-122"/>
              <a:cs typeface="Arial" pitchFamily="34" charset="0"/>
            </a:endParaRPr>
          </a:p>
          <a:p>
            <a:pPr marL="342900" indent="-342900" eaLnBrk="0" hangingPunct="0">
              <a:lnSpc>
                <a:spcPts val="3200"/>
              </a:lnSpc>
              <a:spcBef>
                <a:spcPct val="20000"/>
              </a:spcBef>
              <a:buClr>
                <a:srgbClr val="3333CC"/>
              </a:buClr>
              <a:buSzPct val="60000"/>
              <a:defRPr/>
            </a:pPr>
            <a:r>
              <a:rPr kumimoji="0" lang="zh-CN" altLang="en-US" sz="2000" kern="0" dirty="0">
                <a:solidFill>
                  <a:srgbClr val="000000"/>
                </a:solidFill>
                <a:latin typeface="Arial" pitchFamily="34" charset="0"/>
                <a:ea typeface="幼圆" pitchFamily="49" charset="-122"/>
                <a:cs typeface="Arial" pitchFamily="34" charset="0"/>
              </a:rPr>
              <a:t> 降低误码率约一个半数量级。</a:t>
            </a:r>
          </a:p>
        </p:txBody>
      </p:sp>
      <p:sp>
        <p:nvSpPr>
          <p:cNvPr id="8" name="Oval 20">
            <a:extLst>
              <a:ext uri="{FF2B5EF4-FFF2-40B4-BE49-F238E27FC236}">
                <a16:creationId xmlns:a16="http://schemas.microsoft.com/office/drawing/2014/main" id="{8E49029B-B497-B328-35FD-03DBECCBAC42}"/>
              </a:ext>
            </a:extLst>
          </p:cNvPr>
          <p:cNvSpPr>
            <a:spLocks noChangeArrowheads="1"/>
          </p:cNvSpPr>
          <p:nvPr/>
        </p:nvSpPr>
        <p:spPr bwMode="auto">
          <a:xfrm>
            <a:off x="3328988" y="2411413"/>
            <a:ext cx="928687" cy="517525"/>
          </a:xfrm>
          <a:prstGeom prst="ellipse">
            <a:avLst/>
          </a:prstGeom>
          <a:solidFill>
            <a:schemeClr val="bg1">
              <a:lumMod val="95000"/>
            </a:schemeClr>
          </a:solidFill>
          <a:ln w="19050">
            <a:solidFill>
              <a:schemeClr val="bg1">
                <a:lumMod val="75000"/>
              </a:schemeClr>
            </a:solidFill>
            <a:round/>
            <a:headEnd/>
            <a:tailEnd/>
          </a:ln>
          <a:effectLst>
            <a:prstShdw prst="shdw17" dist="17961" dir="13500000">
              <a:srgbClr val="5A5A5A"/>
            </a:prstShdw>
          </a:effectLst>
        </p:spPr>
        <p:txBody>
          <a:bodyPr wrap="none" anchor="ctr"/>
          <a:lstStyle/>
          <a:p>
            <a:pPr algn="ctr">
              <a:defRPr/>
            </a:pPr>
            <a:r>
              <a:rPr lang="en-US" altLang="zh-CN" sz="2000" dirty="0">
                <a:solidFill>
                  <a:srgbClr val="0066FF"/>
                </a:solidFill>
                <a:latin typeface="Arial" pitchFamily="34" charset="0"/>
                <a:ea typeface="幼圆" pitchFamily="49" charset="-122"/>
                <a:cs typeface="Arial" pitchFamily="34" charset="0"/>
              </a:rPr>
              <a:t>A</a:t>
            </a:r>
            <a:r>
              <a:rPr lang="zh-CN" altLang="en-US" sz="2000" dirty="0">
                <a:solidFill>
                  <a:srgbClr val="0066FF"/>
                </a:solidFill>
                <a:latin typeface="Arial" pitchFamily="34" charset="0"/>
                <a:ea typeface="幼圆" pitchFamily="49" charset="-122"/>
                <a:cs typeface="Arial" pitchFamily="34" charset="0"/>
              </a:rPr>
              <a:t>点</a:t>
            </a:r>
            <a:endParaRPr kumimoji="0" lang="zh-CN" altLang="en-US" sz="2000" dirty="0">
              <a:solidFill>
                <a:srgbClr val="0000CC"/>
              </a:solidFill>
              <a:effectLst>
                <a:outerShdw blurRad="38100" dist="38100" dir="2700000" algn="tl">
                  <a:srgbClr val="000000">
                    <a:alpha val="43137"/>
                  </a:srgbClr>
                </a:outerShdw>
              </a:effectLst>
              <a:latin typeface="黑体" pitchFamily="2" charset="-122"/>
              <a:ea typeface="黑体" pitchFamily="2" charset="-122"/>
            </a:endParaRPr>
          </a:p>
        </p:txBody>
      </p:sp>
      <p:sp>
        <p:nvSpPr>
          <p:cNvPr id="9" name="Oval 20">
            <a:extLst>
              <a:ext uri="{FF2B5EF4-FFF2-40B4-BE49-F238E27FC236}">
                <a16:creationId xmlns:a16="http://schemas.microsoft.com/office/drawing/2014/main" id="{14795BAB-B13F-FA7C-8DA7-E67B337DD514}"/>
              </a:ext>
            </a:extLst>
          </p:cNvPr>
          <p:cNvSpPr>
            <a:spLocks noChangeArrowheads="1"/>
          </p:cNvSpPr>
          <p:nvPr/>
        </p:nvSpPr>
        <p:spPr bwMode="auto">
          <a:xfrm>
            <a:off x="3328988" y="3825875"/>
            <a:ext cx="928687" cy="517525"/>
          </a:xfrm>
          <a:prstGeom prst="ellipse">
            <a:avLst/>
          </a:prstGeom>
          <a:solidFill>
            <a:schemeClr val="bg1">
              <a:lumMod val="95000"/>
            </a:schemeClr>
          </a:solidFill>
          <a:ln w="19050">
            <a:solidFill>
              <a:schemeClr val="bg1">
                <a:lumMod val="75000"/>
              </a:schemeClr>
            </a:solidFill>
            <a:round/>
            <a:headEnd/>
            <a:tailEnd/>
          </a:ln>
          <a:effectLst>
            <a:prstShdw prst="shdw17" dist="17961" dir="13500000">
              <a:srgbClr val="5A5A5A"/>
            </a:prstShdw>
          </a:effectLst>
        </p:spPr>
        <p:txBody>
          <a:bodyPr wrap="none" anchor="ctr"/>
          <a:lstStyle/>
          <a:p>
            <a:pPr algn="ctr">
              <a:defRPr/>
            </a:pPr>
            <a:r>
              <a:rPr kumimoji="0" lang="en-US" altLang="zh-CN" sz="2000" kern="0" dirty="0">
                <a:solidFill>
                  <a:srgbClr val="FF0000"/>
                </a:solidFill>
                <a:latin typeface="Arial" pitchFamily="34" charset="0"/>
                <a:ea typeface="幼圆" pitchFamily="49" charset="-122"/>
                <a:cs typeface="Arial" pitchFamily="34" charset="0"/>
              </a:rPr>
              <a:t>B</a:t>
            </a:r>
            <a:r>
              <a:rPr kumimoji="0" lang="zh-CN" altLang="en-US" sz="2000" kern="0" dirty="0">
                <a:solidFill>
                  <a:srgbClr val="FF0000"/>
                </a:solidFill>
                <a:latin typeface="Arial" pitchFamily="34" charset="0"/>
                <a:ea typeface="幼圆" pitchFamily="49" charset="-122"/>
                <a:cs typeface="Arial" pitchFamily="34" charset="0"/>
              </a:rPr>
              <a:t>点</a:t>
            </a:r>
            <a:endParaRPr kumimoji="0" lang="zh-CN" altLang="en-US" sz="2000" dirty="0">
              <a:solidFill>
                <a:srgbClr val="0000CC"/>
              </a:solidFill>
              <a:effectLst>
                <a:outerShdw blurRad="38100" dist="38100" dir="2700000" algn="tl">
                  <a:srgbClr val="000000">
                    <a:alpha val="43137"/>
                  </a:srgbClr>
                </a:outerShdw>
              </a:effectLst>
              <a:latin typeface="黑体" pitchFamily="2" charset="-122"/>
              <a:ea typeface="黑体" pitchFamily="2" charset="-122"/>
            </a:endParaRPr>
          </a:p>
        </p:txBody>
      </p:sp>
      <p:grpSp>
        <p:nvGrpSpPr>
          <p:cNvPr id="2" name="Group 22">
            <a:extLst>
              <a:ext uri="{FF2B5EF4-FFF2-40B4-BE49-F238E27FC236}">
                <a16:creationId xmlns:a16="http://schemas.microsoft.com/office/drawing/2014/main" id="{403A0D5F-6F9A-7B9C-D5F2-C4CF18A9A8CC}"/>
              </a:ext>
            </a:extLst>
          </p:cNvPr>
          <p:cNvGrpSpPr>
            <a:grpSpLocks/>
          </p:cNvGrpSpPr>
          <p:nvPr/>
        </p:nvGrpSpPr>
        <p:grpSpPr bwMode="auto">
          <a:xfrm>
            <a:off x="357188" y="642938"/>
            <a:ext cx="649287" cy="692150"/>
            <a:chOff x="1655" y="845"/>
            <a:chExt cx="454" cy="453"/>
          </a:xfrm>
        </p:grpSpPr>
        <p:grpSp>
          <p:nvGrpSpPr>
            <p:cNvPr id="80953" name="Group 23">
              <a:extLst>
                <a:ext uri="{FF2B5EF4-FFF2-40B4-BE49-F238E27FC236}">
                  <a16:creationId xmlns:a16="http://schemas.microsoft.com/office/drawing/2014/main" id="{113336BA-A406-4EC5-589D-0F24665462A1}"/>
                </a:ext>
              </a:extLst>
            </p:cNvPr>
            <p:cNvGrpSpPr>
              <a:grpSpLocks/>
            </p:cNvGrpSpPr>
            <p:nvPr/>
          </p:nvGrpSpPr>
          <p:grpSpPr bwMode="auto">
            <a:xfrm>
              <a:off x="1655" y="845"/>
              <a:ext cx="454" cy="453"/>
              <a:chOff x="1289" y="582"/>
              <a:chExt cx="668" cy="668"/>
            </a:xfrm>
          </p:grpSpPr>
          <p:sp>
            <p:nvSpPr>
              <p:cNvPr id="80955" name="Oval 24">
                <a:extLst>
                  <a:ext uri="{FF2B5EF4-FFF2-40B4-BE49-F238E27FC236}">
                    <a16:creationId xmlns:a16="http://schemas.microsoft.com/office/drawing/2014/main" id="{8E955C5C-6659-926A-6A67-F3501D8BD6AA}"/>
                  </a:ext>
                </a:extLst>
              </p:cNvPr>
              <p:cNvSpPr>
                <a:spLocks noChangeArrowheads="1"/>
              </p:cNvSpPr>
              <p:nvPr/>
            </p:nvSpPr>
            <p:spPr bwMode="gray">
              <a:xfrm>
                <a:off x="1289" y="582"/>
                <a:ext cx="668" cy="668"/>
              </a:xfrm>
              <a:prstGeom prst="ellipse">
                <a:avLst/>
              </a:prstGeom>
              <a:solidFill>
                <a:srgbClr val="333333"/>
              </a:soli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80956" name="Oval 25">
                <a:extLst>
                  <a:ext uri="{FF2B5EF4-FFF2-40B4-BE49-F238E27FC236}">
                    <a16:creationId xmlns:a16="http://schemas.microsoft.com/office/drawing/2014/main" id="{472F8802-1D97-3267-96B4-31BD5B42C30B}"/>
                  </a:ext>
                </a:extLst>
              </p:cNvPr>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80957" name="Oval 26">
                <a:extLst>
                  <a:ext uri="{FF2B5EF4-FFF2-40B4-BE49-F238E27FC236}">
                    <a16:creationId xmlns:a16="http://schemas.microsoft.com/office/drawing/2014/main" id="{CFA70DF5-D35C-BD58-E33D-7695797E7C5C}"/>
                  </a:ext>
                </a:extLst>
              </p:cNvPr>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80958" name="Oval 27">
                <a:extLst>
                  <a:ext uri="{FF2B5EF4-FFF2-40B4-BE49-F238E27FC236}">
                    <a16:creationId xmlns:a16="http://schemas.microsoft.com/office/drawing/2014/main" id="{7B31EB18-2BE0-1F20-45BF-2BFF42794A20}"/>
                  </a:ext>
                </a:extLst>
              </p:cNvPr>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80959" name="Oval 28">
                <a:extLst>
                  <a:ext uri="{FF2B5EF4-FFF2-40B4-BE49-F238E27FC236}">
                    <a16:creationId xmlns:a16="http://schemas.microsoft.com/office/drawing/2014/main" id="{157684BB-6A6D-55ED-A98D-9BDF49FBCBB2}"/>
                  </a:ext>
                </a:extLst>
              </p:cNvPr>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pSp>
        <p:sp>
          <p:nvSpPr>
            <p:cNvPr id="80954" name="Text Box 29">
              <a:extLst>
                <a:ext uri="{FF2B5EF4-FFF2-40B4-BE49-F238E27FC236}">
                  <a16:creationId xmlns:a16="http://schemas.microsoft.com/office/drawing/2014/main" id="{6FE6BB75-420E-8A81-F9F5-23E050E99177}"/>
                </a:ext>
              </a:extLst>
            </p:cNvPr>
            <p:cNvSpPr txBox="1">
              <a:spLocks noChangeArrowheads="1"/>
            </p:cNvSpPr>
            <p:nvPr/>
          </p:nvSpPr>
          <p:spPr bwMode="gray">
            <a:xfrm>
              <a:off x="1666" y="902"/>
              <a:ext cx="379"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zh-CN" altLang="en-US" sz="2800">
                  <a:solidFill>
                    <a:srgbClr val="0000CC"/>
                  </a:solidFill>
                </a:rPr>
                <a:t>例</a:t>
              </a:r>
            </a:p>
          </p:txBody>
        </p:sp>
      </p:grpSp>
      <p:grpSp>
        <p:nvGrpSpPr>
          <p:cNvPr id="4" name="组合 25">
            <a:extLst>
              <a:ext uri="{FF2B5EF4-FFF2-40B4-BE49-F238E27FC236}">
                <a16:creationId xmlns:a16="http://schemas.microsoft.com/office/drawing/2014/main" id="{350295DF-7E95-25D5-D2D6-C7A93AEF582C}"/>
              </a:ext>
            </a:extLst>
          </p:cNvPr>
          <p:cNvGrpSpPr>
            <a:grpSpLocks/>
          </p:cNvGrpSpPr>
          <p:nvPr/>
        </p:nvGrpSpPr>
        <p:grpSpPr bwMode="auto">
          <a:xfrm>
            <a:off x="4643438" y="876300"/>
            <a:ext cx="4471987" cy="5453063"/>
            <a:chOff x="4730510" y="786718"/>
            <a:chExt cx="4472241" cy="5453237"/>
          </a:xfrm>
        </p:grpSpPr>
        <p:grpSp>
          <p:nvGrpSpPr>
            <p:cNvPr id="80909" name="Group 50">
              <a:extLst>
                <a:ext uri="{FF2B5EF4-FFF2-40B4-BE49-F238E27FC236}">
                  <a16:creationId xmlns:a16="http://schemas.microsoft.com/office/drawing/2014/main" id="{32822D3F-1728-F8A4-14D5-A64ACFFA12C3}"/>
                </a:ext>
              </a:extLst>
            </p:cNvPr>
            <p:cNvGrpSpPr>
              <a:grpSpLocks/>
            </p:cNvGrpSpPr>
            <p:nvPr/>
          </p:nvGrpSpPr>
          <p:grpSpPr bwMode="auto">
            <a:xfrm>
              <a:off x="4730510" y="786718"/>
              <a:ext cx="4472241" cy="5453237"/>
              <a:chOff x="2527" y="900"/>
              <a:chExt cx="2512" cy="3038"/>
            </a:xfrm>
          </p:grpSpPr>
          <p:grpSp>
            <p:nvGrpSpPr>
              <p:cNvPr id="80911" name="Group 5">
                <a:extLst>
                  <a:ext uri="{FF2B5EF4-FFF2-40B4-BE49-F238E27FC236}">
                    <a16:creationId xmlns:a16="http://schemas.microsoft.com/office/drawing/2014/main" id="{C5553FF9-92E8-EBC8-065C-41EF805D823E}"/>
                  </a:ext>
                </a:extLst>
              </p:cNvPr>
              <p:cNvGrpSpPr>
                <a:grpSpLocks/>
              </p:cNvGrpSpPr>
              <p:nvPr/>
            </p:nvGrpSpPr>
            <p:grpSpPr bwMode="auto">
              <a:xfrm>
                <a:off x="2527" y="900"/>
                <a:ext cx="2512" cy="3024"/>
                <a:chOff x="6227" y="2101"/>
                <a:chExt cx="4004" cy="5774"/>
              </a:xfrm>
            </p:grpSpPr>
            <p:grpSp>
              <p:nvGrpSpPr>
                <p:cNvPr id="80913" name="Group 6">
                  <a:extLst>
                    <a:ext uri="{FF2B5EF4-FFF2-40B4-BE49-F238E27FC236}">
                      <a16:creationId xmlns:a16="http://schemas.microsoft.com/office/drawing/2014/main" id="{90569D76-6364-4284-C1BF-F72D21011931}"/>
                    </a:ext>
                  </a:extLst>
                </p:cNvPr>
                <p:cNvGrpSpPr>
                  <a:grpSpLocks/>
                </p:cNvGrpSpPr>
                <p:nvPr/>
              </p:nvGrpSpPr>
              <p:grpSpPr bwMode="auto">
                <a:xfrm>
                  <a:off x="6227" y="2101"/>
                  <a:ext cx="4004" cy="5774"/>
                  <a:chOff x="6227" y="2101"/>
                  <a:chExt cx="4004" cy="5774"/>
                </a:xfrm>
              </p:grpSpPr>
              <p:grpSp>
                <p:nvGrpSpPr>
                  <p:cNvPr id="80915" name="Group 7">
                    <a:extLst>
                      <a:ext uri="{FF2B5EF4-FFF2-40B4-BE49-F238E27FC236}">
                        <a16:creationId xmlns:a16="http://schemas.microsoft.com/office/drawing/2014/main" id="{25244E7B-FF84-07E5-5D4D-F8BA8BEC5EF8}"/>
                      </a:ext>
                    </a:extLst>
                  </p:cNvPr>
                  <p:cNvGrpSpPr>
                    <a:grpSpLocks/>
                  </p:cNvGrpSpPr>
                  <p:nvPr/>
                </p:nvGrpSpPr>
                <p:grpSpPr bwMode="auto">
                  <a:xfrm>
                    <a:off x="6227" y="2695"/>
                    <a:ext cx="3928" cy="5180"/>
                    <a:chOff x="6215" y="4726"/>
                    <a:chExt cx="3928" cy="5180"/>
                  </a:xfrm>
                </p:grpSpPr>
                <p:grpSp>
                  <p:nvGrpSpPr>
                    <p:cNvPr id="80943" name="Group 8">
                      <a:extLst>
                        <a:ext uri="{FF2B5EF4-FFF2-40B4-BE49-F238E27FC236}">
                          <a16:creationId xmlns:a16="http://schemas.microsoft.com/office/drawing/2014/main" id="{805623F4-D366-F96D-A3FF-E82843745440}"/>
                        </a:ext>
                      </a:extLst>
                    </p:cNvPr>
                    <p:cNvGrpSpPr>
                      <a:grpSpLocks/>
                    </p:cNvGrpSpPr>
                    <p:nvPr/>
                  </p:nvGrpSpPr>
                  <p:grpSpPr bwMode="auto">
                    <a:xfrm>
                      <a:off x="6612" y="4797"/>
                      <a:ext cx="3531" cy="5109"/>
                      <a:chOff x="6174" y="4797"/>
                      <a:chExt cx="3969" cy="5109"/>
                    </a:xfrm>
                  </p:grpSpPr>
                  <p:pic>
                    <p:nvPicPr>
                      <p:cNvPr id="80951" name="Picture 9" descr="编码与误码率关系">
                        <a:extLst>
                          <a:ext uri="{FF2B5EF4-FFF2-40B4-BE49-F238E27FC236}">
                            <a16:creationId xmlns:a16="http://schemas.microsoft.com/office/drawing/2014/main" id="{CA032E79-C5AE-2A7A-96EE-C3F7692E6D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4" y="4797"/>
                        <a:ext cx="3969" cy="5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52" name="Line 10">
                        <a:extLst>
                          <a:ext uri="{FF2B5EF4-FFF2-40B4-BE49-F238E27FC236}">
                            <a16:creationId xmlns:a16="http://schemas.microsoft.com/office/drawing/2014/main" id="{6093F9C3-AF08-7CC2-0E91-106B2E2285BE}"/>
                          </a:ext>
                        </a:extLst>
                      </p:cNvPr>
                      <p:cNvSpPr>
                        <a:spLocks noChangeShapeType="1"/>
                      </p:cNvSpPr>
                      <p:nvPr/>
                    </p:nvSpPr>
                    <p:spPr bwMode="auto">
                      <a:xfrm>
                        <a:off x="6297" y="4872"/>
                        <a:ext cx="0" cy="453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0944" name="Group 11">
                      <a:extLst>
                        <a:ext uri="{FF2B5EF4-FFF2-40B4-BE49-F238E27FC236}">
                          <a16:creationId xmlns:a16="http://schemas.microsoft.com/office/drawing/2014/main" id="{06C2D81C-3EDD-6C77-F485-E81367AE3039}"/>
                        </a:ext>
                      </a:extLst>
                    </p:cNvPr>
                    <p:cNvGrpSpPr>
                      <a:grpSpLocks/>
                    </p:cNvGrpSpPr>
                    <p:nvPr/>
                  </p:nvGrpSpPr>
                  <p:grpSpPr bwMode="auto">
                    <a:xfrm>
                      <a:off x="6215" y="4726"/>
                      <a:ext cx="600" cy="4924"/>
                      <a:chOff x="6215" y="4726"/>
                      <a:chExt cx="600" cy="4924"/>
                    </a:xfrm>
                  </p:grpSpPr>
                  <p:sp>
                    <p:nvSpPr>
                      <p:cNvPr id="80945" name="Text Box 12">
                        <a:extLst>
                          <a:ext uri="{FF2B5EF4-FFF2-40B4-BE49-F238E27FC236}">
                            <a16:creationId xmlns:a16="http://schemas.microsoft.com/office/drawing/2014/main" id="{A1EF5DD2-D1E9-A3C4-D082-07F4A3E3FC46}"/>
                          </a:ext>
                        </a:extLst>
                      </p:cNvPr>
                      <p:cNvSpPr txBox="1">
                        <a:spLocks noChangeArrowheads="1"/>
                      </p:cNvSpPr>
                      <p:nvPr/>
                    </p:nvSpPr>
                    <p:spPr bwMode="auto">
                      <a:xfrm>
                        <a:off x="6215" y="9212"/>
                        <a:ext cx="60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a:solidFill>
                              <a:schemeClr val="tx1"/>
                            </a:solidFill>
                            <a:latin typeface="Arial" panose="020B0604020202020204" pitchFamily="34" charset="0"/>
                            <a:cs typeface="Arial" panose="020B0604020202020204" pitchFamily="34" charset="0"/>
                          </a:rPr>
                          <a:t>10</a:t>
                        </a:r>
                        <a:r>
                          <a:rPr lang="en-US" altLang="zh-CN" sz="2000" baseline="30000">
                            <a:solidFill>
                              <a:schemeClr val="tx1"/>
                            </a:solidFill>
                            <a:latin typeface="Arial" panose="020B0604020202020204" pitchFamily="34" charset="0"/>
                            <a:cs typeface="Arial" panose="020B0604020202020204" pitchFamily="34" charset="0"/>
                          </a:rPr>
                          <a:t>-6</a:t>
                        </a:r>
                        <a:endParaRPr lang="en-US" altLang="zh-CN" sz="2000">
                          <a:solidFill>
                            <a:schemeClr val="tx1"/>
                          </a:solidFill>
                          <a:latin typeface="Arial" panose="020B0604020202020204" pitchFamily="34" charset="0"/>
                          <a:cs typeface="Arial" panose="020B0604020202020204" pitchFamily="34" charset="0"/>
                        </a:endParaRPr>
                      </a:p>
                    </p:txBody>
                  </p:sp>
                  <p:sp>
                    <p:nvSpPr>
                      <p:cNvPr id="80946" name="Text Box 13">
                        <a:extLst>
                          <a:ext uri="{FF2B5EF4-FFF2-40B4-BE49-F238E27FC236}">
                            <a16:creationId xmlns:a16="http://schemas.microsoft.com/office/drawing/2014/main" id="{5DCB0AE0-7120-48F0-37CE-701EA63D240E}"/>
                          </a:ext>
                        </a:extLst>
                      </p:cNvPr>
                      <p:cNvSpPr txBox="1">
                        <a:spLocks noChangeArrowheads="1"/>
                      </p:cNvSpPr>
                      <p:nvPr/>
                    </p:nvSpPr>
                    <p:spPr bwMode="auto">
                      <a:xfrm>
                        <a:off x="6215" y="8323"/>
                        <a:ext cx="60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a:solidFill>
                              <a:schemeClr val="tx1"/>
                            </a:solidFill>
                            <a:latin typeface="Arial" panose="020B0604020202020204" pitchFamily="34" charset="0"/>
                            <a:cs typeface="Arial" panose="020B0604020202020204" pitchFamily="34" charset="0"/>
                          </a:rPr>
                          <a:t>10</a:t>
                        </a:r>
                        <a:r>
                          <a:rPr lang="en-US" altLang="zh-CN" sz="2000" baseline="30000">
                            <a:solidFill>
                              <a:schemeClr val="tx1"/>
                            </a:solidFill>
                            <a:latin typeface="Arial" panose="020B0604020202020204" pitchFamily="34" charset="0"/>
                            <a:cs typeface="Arial" panose="020B0604020202020204" pitchFamily="34" charset="0"/>
                          </a:rPr>
                          <a:t>-5</a:t>
                        </a:r>
                        <a:endParaRPr lang="en-US" altLang="zh-CN" sz="2000">
                          <a:solidFill>
                            <a:schemeClr val="tx1"/>
                          </a:solidFill>
                          <a:latin typeface="Arial" panose="020B0604020202020204" pitchFamily="34" charset="0"/>
                          <a:cs typeface="Arial" panose="020B0604020202020204" pitchFamily="34" charset="0"/>
                        </a:endParaRPr>
                      </a:p>
                    </p:txBody>
                  </p:sp>
                  <p:sp>
                    <p:nvSpPr>
                      <p:cNvPr id="80947" name="Text Box 14">
                        <a:extLst>
                          <a:ext uri="{FF2B5EF4-FFF2-40B4-BE49-F238E27FC236}">
                            <a16:creationId xmlns:a16="http://schemas.microsoft.com/office/drawing/2014/main" id="{D486BA5F-80CA-D0D2-5C9D-D39E6AE8D009}"/>
                          </a:ext>
                        </a:extLst>
                      </p:cNvPr>
                      <p:cNvSpPr txBox="1">
                        <a:spLocks noChangeArrowheads="1"/>
                      </p:cNvSpPr>
                      <p:nvPr/>
                    </p:nvSpPr>
                    <p:spPr bwMode="auto">
                      <a:xfrm>
                        <a:off x="6215" y="7435"/>
                        <a:ext cx="60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a:solidFill>
                              <a:schemeClr val="tx1"/>
                            </a:solidFill>
                            <a:latin typeface="Arial" panose="020B0604020202020204" pitchFamily="34" charset="0"/>
                            <a:cs typeface="Arial" panose="020B0604020202020204" pitchFamily="34" charset="0"/>
                          </a:rPr>
                          <a:t>10</a:t>
                        </a:r>
                        <a:r>
                          <a:rPr lang="en-US" altLang="zh-CN" sz="2000" baseline="30000">
                            <a:solidFill>
                              <a:schemeClr val="tx1"/>
                            </a:solidFill>
                            <a:latin typeface="Arial" panose="020B0604020202020204" pitchFamily="34" charset="0"/>
                            <a:cs typeface="Arial" panose="020B0604020202020204" pitchFamily="34" charset="0"/>
                          </a:rPr>
                          <a:t>-4</a:t>
                        </a:r>
                        <a:endParaRPr lang="en-US" altLang="zh-CN" sz="2000">
                          <a:solidFill>
                            <a:schemeClr val="tx1"/>
                          </a:solidFill>
                          <a:latin typeface="Arial" panose="020B0604020202020204" pitchFamily="34" charset="0"/>
                          <a:cs typeface="Arial" panose="020B0604020202020204" pitchFamily="34" charset="0"/>
                        </a:endParaRPr>
                      </a:p>
                    </p:txBody>
                  </p:sp>
                  <p:sp>
                    <p:nvSpPr>
                      <p:cNvPr id="80948" name="Text Box 15">
                        <a:extLst>
                          <a:ext uri="{FF2B5EF4-FFF2-40B4-BE49-F238E27FC236}">
                            <a16:creationId xmlns:a16="http://schemas.microsoft.com/office/drawing/2014/main" id="{100FC48D-A8E1-8402-5740-6A977B27C046}"/>
                          </a:ext>
                        </a:extLst>
                      </p:cNvPr>
                      <p:cNvSpPr txBox="1">
                        <a:spLocks noChangeArrowheads="1"/>
                      </p:cNvSpPr>
                      <p:nvPr/>
                    </p:nvSpPr>
                    <p:spPr bwMode="auto">
                      <a:xfrm>
                        <a:off x="6215" y="6496"/>
                        <a:ext cx="60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a:solidFill>
                              <a:schemeClr val="tx1"/>
                            </a:solidFill>
                            <a:latin typeface="Arial" panose="020B0604020202020204" pitchFamily="34" charset="0"/>
                            <a:cs typeface="Arial" panose="020B0604020202020204" pitchFamily="34" charset="0"/>
                          </a:rPr>
                          <a:t>10</a:t>
                        </a:r>
                        <a:r>
                          <a:rPr lang="en-US" altLang="zh-CN" sz="2000" baseline="30000">
                            <a:solidFill>
                              <a:schemeClr val="tx1"/>
                            </a:solidFill>
                            <a:latin typeface="Arial" panose="020B0604020202020204" pitchFamily="34" charset="0"/>
                            <a:cs typeface="Arial" panose="020B0604020202020204" pitchFamily="34" charset="0"/>
                          </a:rPr>
                          <a:t>-3</a:t>
                        </a:r>
                        <a:endParaRPr lang="en-US" altLang="zh-CN" sz="2000">
                          <a:solidFill>
                            <a:schemeClr val="tx1"/>
                          </a:solidFill>
                          <a:latin typeface="Arial" panose="020B0604020202020204" pitchFamily="34" charset="0"/>
                          <a:cs typeface="Arial" panose="020B0604020202020204" pitchFamily="34" charset="0"/>
                        </a:endParaRPr>
                      </a:p>
                    </p:txBody>
                  </p:sp>
                  <p:sp>
                    <p:nvSpPr>
                      <p:cNvPr id="80949" name="Text Box 16">
                        <a:extLst>
                          <a:ext uri="{FF2B5EF4-FFF2-40B4-BE49-F238E27FC236}">
                            <a16:creationId xmlns:a16="http://schemas.microsoft.com/office/drawing/2014/main" id="{3513AC68-D241-6832-A9BE-37A258909B10}"/>
                          </a:ext>
                        </a:extLst>
                      </p:cNvPr>
                      <p:cNvSpPr txBox="1">
                        <a:spLocks noChangeArrowheads="1"/>
                      </p:cNvSpPr>
                      <p:nvPr/>
                    </p:nvSpPr>
                    <p:spPr bwMode="auto">
                      <a:xfrm>
                        <a:off x="6215" y="5617"/>
                        <a:ext cx="60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a:solidFill>
                              <a:schemeClr val="tx1"/>
                            </a:solidFill>
                            <a:latin typeface="Arial" panose="020B0604020202020204" pitchFamily="34" charset="0"/>
                            <a:cs typeface="Arial" panose="020B0604020202020204" pitchFamily="34" charset="0"/>
                          </a:rPr>
                          <a:t>10</a:t>
                        </a:r>
                        <a:r>
                          <a:rPr lang="en-US" altLang="zh-CN" sz="2000" baseline="30000">
                            <a:solidFill>
                              <a:schemeClr val="tx1"/>
                            </a:solidFill>
                            <a:latin typeface="Arial" panose="020B0604020202020204" pitchFamily="34" charset="0"/>
                            <a:cs typeface="Arial" panose="020B0604020202020204" pitchFamily="34" charset="0"/>
                          </a:rPr>
                          <a:t>-2</a:t>
                        </a:r>
                        <a:endParaRPr lang="en-US" altLang="zh-CN" sz="2000">
                          <a:solidFill>
                            <a:schemeClr val="tx1"/>
                          </a:solidFill>
                          <a:latin typeface="Arial" panose="020B0604020202020204" pitchFamily="34" charset="0"/>
                          <a:cs typeface="Arial" panose="020B0604020202020204" pitchFamily="34" charset="0"/>
                        </a:endParaRPr>
                      </a:p>
                    </p:txBody>
                  </p:sp>
                  <p:sp>
                    <p:nvSpPr>
                      <p:cNvPr id="80950" name="Text Box 17">
                        <a:extLst>
                          <a:ext uri="{FF2B5EF4-FFF2-40B4-BE49-F238E27FC236}">
                            <a16:creationId xmlns:a16="http://schemas.microsoft.com/office/drawing/2014/main" id="{F4E5E23C-1D28-0691-6405-5C70B1D929D1}"/>
                          </a:ext>
                        </a:extLst>
                      </p:cNvPr>
                      <p:cNvSpPr txBox="1">
                        <a:spLocks noChangeArrowheads="1"/>
                      </p:cNvSpPr>
                      <p:nvPr/>
                    </p:nvSpPr>
                    <p:spPr bwMode="auto">
                      <a:xfrm>
                        <a:off x="6215" y="4726"/>
                        <a:ext cx="60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a:solidFill>
                              <a:schemeClr val="tx1"/>
                            </a:solidFill>
                            <a:latin typeface="Arial" panose="020B0604020202020204" pitchFamily="34" charset="0"/>
                            <a:cs typeface="Arial" panose="020B0604020202020204" pitchFamily="34" charset="0"/>
                          </a:rPr>
                          <a:t>10</a:t>
                        </a:r>
                        <a:r>
                          <a:rPr lang="en-US" altLang="zh-CN" sz="2000" baseline="30000">
                            <a:solidFill>
                              <a:schemeClr val="tx1"/>
                            </a:solidFill>
                            <a:latin typeface="Arial" panose="020B0604020202020204" pitchFamily="34" charset="0"/>
                            <a:cs typeface="Arial" panose="020B0604020202020204" pitchFamily="34" charset="0"/>
                          </a:rPr>
                          <a:t>-1</a:t>
                        </a:r>
                        <a:endParaRPr lang="en-US" altLang="zh-CN" sz="2000">
                          <a:solidFill>
                            <a:schemeClr val="tx1"/>
                          </a:solidFill>
                          <a:latin typeface="Arial" panose="020B0604020202020204" pitchFamily="34" charset="0"/>
                          <a:cs typeface="Arial" panose="020B0604020202020204" pitchFamily="34" charset="0"/>
                        </a:endParaRPr>
                      </a:p>
                    </p:txBody>
                  </p:sp>
                </p:grpSp>
              </p:grpSp>
              <p:sp>
                <p:nvSpPr>
                  <p:cNvPr id="80916" name="Text Box 18">
                    <a:extLst>
                      <a:ext uri="{FF2B5EF4-FFF2-40B4-BE49-F238E27FC236}">
                        <a16:creationId xmlns:a16="http://schemas.microsoft.com/office/drawing/2014/main" id="{ED17544E-E8EF-89EE-89DA-DDDC7EFD18E6}"/>
                      </a:ext>
                    </a:extLst>
                  </p:cNvPr>
                  <p:cNvSpPr txBox="1">
                    <a:spLocks noChangeArrowheads="1"/>
                  </p:cNvSpPr>
                  <p:nvPr/>
                </p:nvSpPr>
                <p:spPr bwMode="auto">
                  <a:xfrm>
                    <a:off x="8944" y="5515"/>
                    <a:ext cx="287" cy="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zh-CN" altLang="en-US" sz="1800">
                        <a:solidFill>
                          <a:schemeClr val="tx1"/>
                        </a:solidFill>
                        <a:latin typeface="幼圆" panose="02010509060101010101" pitchFamily="49" charset="-122"/>
                        <a:ea typeface="幼圆" panose="02010509060101010101" pitchFamily="49" charset="-122"/>
                      </a:rPr>
                      <a:t>编</a:t>
                    </a:r>
                    <a:endParaRPr lang="en-US" altLang="zh-CN" sz="1800">
                      <a:solidFill>
                        <a:schemeClr val="tx1"/>
                      </a:solidFill>
                      <a:latin typeface="幼圆" panose="02010509060101010101" pitchFamily="49" charset="-122"/>
                      <a:ea typeface="幼圆" panose="02010509060101010101" pitchFamily="49" charset="-122"/>
                    </a:endParaRPr>
                  </a:p>
                  <a:p>
                    <a:pPr algn="just" eaLnBrk="1" hangingPunct="1"/>
                    <a:r>
                      <a:rPr lang="zh-CN" altLang="en-US" sz="1800">
                        <a:solidFill>
                          <a:schemeClr val="tx1"/>
                        </a:solidFill>
                        <a:latin typeface="幼圆" panose="02010509060101010101" pitchFamily="49" charset="-122"/>
                        <a:ea typeface="幼圆" panose="02010509060101010101" pitchFamily="49" charset="-122"/>
                      </a:rPr>
                      <a:t>码</a:t>
                    </a:r>
                    <a:endParaRPr lang="en-US" altLang="zh-CN" sz="1800">
                      <a:solidFill>
                        <a:schemeClr val="tx1"/>
                      </a:solidFill>
                      <a:latin typeface="幼圆" panose="02010509060101010101" pitchFamily="49" charset="-122"/>
                      <a:ea typeface="幼圆" panose="02010509060101010101" pitchFamily="49" charset="-122"/>
                    </a:endParaRPr>
                  </a:p>
                  <a:p>
                    <a:pPr algn="just" eaLnBrk="1" hangingPunct="1"/>
                    <a:r>
                      <a:rPr lang="zh-CN" altLang="en-US" sz="1800">
                        <a:solidFill>
                          <a:srgbClr val="FF0000"/>
                        </a:solidFill>
                        <a:latin typeface="幼圆" panose="02010509060101010101" pitchFamily="49" charset="-122"/>
                        <a:ea typeface="幼圆" panose="02010509060101010101" pitchFamily="49" charset="-122"/>
                      </a:rPr>
                      <a:t>后</a:t>
                    </a:r>
                    <a:endParaRPr lang="zh-CN" altLang="en-US" sz="4400">
                      <a:solidFill>
                        <a:srgbClr val="FF0000"/>
                      </a:solidFill>
                      <a:latin typeface="幼圆" panose="02010509060101010101" pitchFamily="49" charset="-122"/>
                      <a:ea typeface="幼圆" panose="02010509060101010101" pitchFamily="49" charset="-122"/>
                    </a:endParaRPr>
                  </a:p>
                </p:txBody>
              </p:sp>
              <p:grpSp>
                <p:nvGrpSpPr>
                  <p:cNvPr id="80917" name="Group 19">
                    <a:extLst>
                      <a:ext uri="{FF2B5EF4-FFF2-40B4-BE49-F238E27FC236}">
                        <a16:creationId xmlns:a16="http://schemas.microsoft.com/office/drawing/2014/main" id="{32044F9B-978C-FDBA-58F0-A26E38A5BAE0}"/>
                      </a:ext>
                    </a:extLst>
                  </p:cNvPr>
                  <p:cNvGrpSpPr>
                    <a:grpSpLocks/>
                  </p:cNvGrpSpPr>
                  <p:nvPr/>
                </p:nvGrpSpPr>
                <p:grpSpPr bwMode="auto">
                  <a:xfrm>
                    <a:off x="7038" y="2837"/>
                    <a:ext cx="2466" cy="4545"/>
                    <a:chOff x="7026" y="4869"/>
                    <a:chExt cx="2466" cy="4545"/>
                  </a:xfrm>
                </p:grpSpPr>
                <p:grpSp>
                  <p:nvGrpSpPr>
                    <p:cNvPr id="80934" name="Group 20">
                      <a:extLst>
                        <a:ext uri="{FF2B5EF4-FFF2-40B4-BE49-F238E27FC236}">
                          <a16:creationId xmlns:a16="http://schemas.microsoft.com/office/drawing/2014/main" id="{DB09B87F-6CF2-49C5-A9D6-37556FCC7849}"/>
                        </a:ext>
                      </a:extLst>
                    </p:cNvPr>
                    <p:cNvGrpSpPr>
                      <a:grpSpLocks/>
                    </p:cNvGrpSpPr>
                    <p:nvPr/>
                  </p:nvGrpSpPr>
                  <p:grpSpPr bwMode="auto">
                    <a:xfrm>
                      <a:off x="7026" y="4870"/>
                      <a:ext cx="2466" cy="4533"/>
                      <a:chOff x="7026" y="4870"/>
                      <a:chExt cx="2466" cy="4533"/>
                    </a:xfrm>
                  </p:grpSpPr>
                  <p:sp>
                    <p:nvSpPr>
                      <p:cNvPr id="80938" name="Line 21">
                        <a:extLst>
                          <a:ext uri="{FF2B5EF4-FFF2-40B4-BE49-F238E27FC236}">
                            <a16:creationId xmlns:a16="http://schemas.microsoft.com/office/drawing/2014/main" id="{72A44E54-26C4-5795-3E2B-67BAACCFB949}"/>
                          </a:ext>
                        </a:extLst>
                      </p:cNvPr>
                      <p:cNvSpPr>
                        <a:spLocks noChangeShapeType="1"/>
                      </p:cNvSpPr>
                      <p:nvPr/>
                    </p:nvSpPr>
                    <p:spPr bwMode="auto">
                      <a:xfrm>
                        <a:off x="7437" y="4870"/>
                        <a:ext cx="0" cy="453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39" name="Line 22">
                        <a:extLst>
                          <a:ext uri="{FF2B5EF4-FFF2-40B4-BE49-F238E27FC236}">
                            <a16:creationId xmlns:a16="http://schemas.microsoft.com/office/drawing/2014/main" id="{B077B48E-3568-8448-43E6-D744C87279DD}"/>
                          </a:ext>
                        </a:extLst>
                      </p:cNvPr>
                      <p:cNvSpPr>
                        <a:spLocks noChangeShapeType="1"/>
                      </p:cNvSpPr>
                      <p:nvPr/>
                    </p:nvSpPr>
                    <p:spPr bwMode="auto">
                      <a:xfrm>
                        <a:off x="7026" y="4870"/>
                        <a:ext cx="0" cy="453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40" name="Line 23">
                        <a:extLst>
                          <a:ext uri="{FF2B5EF4-FFF2-40B4-BE49-F238E27FC236}">
                            <a16:creationId xmlns:a16="http://schemas.microsoft.com/office/drawing/2014/main" id="{2945F23A-6443-DB1A-FC7D-7586B9F08217}"/>
                          </a:ext>
                        </a:extLst>
                      </p:cNvPr>
                      <p:cNvSpPr>
                        <a:spLocks noChangeShapeType="1"/>
                      </p:cNvSpPr>
                      <p:nvPr/>
                    </p:nvSpPr>
                    <p:spPr bwMode="auto">
                      <a:xfrm>
                        <a:off x="8238" y="4870"/>
                        <a:ext cx="0" cy="453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41" name="Line 24">
                        <a:extLst>
                          <a:ext uri="{FF2B5EF4-FFF2-40B4-BE49-F238E27FC236}">
                            <a16:creationId xmlns:a16="http://schemas.microsoft.com/office/drawing/2014/main" id="{6ADD6645-BBCE-D036-433C-D9DD7CA7BCBB}"/>
                          </a:ext>
                        </a:extLst>
                      </p:cNvPr>
                      <p:cNvSpPr>
                        <a:spLocks noChangeShapeType="1"/>
                      </p:cNvSpPr>
                      <p:nvPr/>
                    </p:nvSpPr>
                    <p:spPr bwMode="auto">
                      <a:xfrm>
                        <a:off x="8664" y="4870"/>
                        <a:ext cx="0" cy="453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42" name="Line 25">
                        <a:extLst>
                          <a:ext uri="{FF2B5EF4-FFF2-40B4-BE49-F238E27FC236}">
                            <a16:creationId xmlns:a16="http://schemas.microsoft.com/office/drawing/2014/main" id="{A3EECE71-BE8A-4009-C3A3-87C052A5F013}"/>
                          </a:ext>
                        </a:extLst>
                      </p:cNvPr>
                      <p:cNvSpPr>
                        <a:spLocks noChangeShapeType="1"/>
                      </p:cNvSpPr>
                      <p:nvPr/>
                    </p:nvSpPr>
                    <p:spPr bwMode="auto">
                      <a:xfrm>
                        <a:off x="9492" y="4870"/>
                        <a:ext cx="0" cy="453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0935" name="Group 26">
                      <a:extLst>
                        <a:ext uri="{FF2B5EF4-FFF2-40B4-BE49-F238E27FC236}">
                          <a16:creationId xmlns:a16="http://schemas.microsoft.com/office/drawing/2014/main" id="{388748E0-2325-B95A-CDA4-43EE68E4A3A8}"/>
                        </a:ext>
                      </a:extLst>
                    </p:cNvPr>
                    <p:cNvGrpSpPr>
                      <a:grpSpLocks/>
                    </p:cNvGrpSpPr>
                    <p:nvPr/>
                  </p:nvGrpSpPr>
                  <p:grpSpPr bwMode="auto">
                    <a:xfrm>
                      <a:off x="9054" y="4869"/>
                      <a:ext cx="0" cy="4545"/>
                      <a:chOff x="9054" y="4869"/>
                      <a:chExt cx="0" cy="4545"/>
                    </a:xfrm>
                  </p:grpSpPr>
                  <p:sp>
                    <p:nvSpPr>
                      <p:cNvPr id="80936" name="Line 27">
                        <a:extLst>
                          <a:ext uri="{FF2B5EF4-FFF2-40B4-BE49-F238E27FC236}">
                            <a16:creationId xmlns:a16="http://schemas.microsoft.com/office/drawing/2014/main" id="{341995B0-5121-A255-C5DD-729EA8B0756A}"/>
                          </a:ext>
                        </a:extLst>
                      </p:cNvPr>
                      <p:cNvSpPr>
                        <a:spLocks noChangeShapeType="1"/>
                      </p:cNvSpPr>
                      <p:nvPr/>
                    </p:nvSpPr>
                    <p:spPr bwMode="auto">
                      <a:xfrm>
                        <a:off x="9054" y="4869"/>
                        <a:ext cx="0" cy="279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37" name="Line 28">
                        <a:extLst>
                          <a:ext uri="{FF2B5EF4-FFF2-40B4-BE49-F238E27FC236}">
                            <a16:creationId xmlns:a16="http://schemas.microsoft.com/office/drawing/2014/main" id="{206614CD-401F-1992-AF91-636C206540C8}"/>
                          </a:ext>
                        </a:extLst>
                      </p:cNvPr>
                      <p:cNvSpPr>
                        <a:spLocks noChangeShapeType="1"/>
                      </p:cNvSpPr>
                      <p:nvPr/>
                    </p:nvSpPr>
                    <p:spPr bwMode="auto">
                      <a:xfrm>
                        <a:off x="9054" y="8064"/>
                        <a:ext cx="0" cy="13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36" name="Text Box 29">
                    <a:extLst>
                      <a:ext uri="{FF2B5EF4-FFF2-40B4-BE49-F238E27FC236}">
                        <a16:creationId xmlns:a16="http://schemas.microsoft.com/office/drawing/2014/main" id="{8DF6EACC-E94D-53A7-FDAD-6605DCA36EF0}"/>
                      </a:ext>
                    </a:extLst>
                  </p:cNvPr>
                  <p:cNvSpPr txBox="1">
                    <a:spLocks noChangeArrowheads="1"/>
                  </p:cNvSpPr>
                  <p:nvPr/>
                </p:nvSpPr>
                <p:spPr bwMode="auto">
                  <a:xfrm>
                    <a:off x="6287" y="2101"/>
                    <a:ext cx="516" cy="490"/>
                  </a:xfrm>
                  <a:prstGeom prst="rect">
                    <a:avLst/>
                  </a:prstGeom>
                  <a:noFill/>
                  <a:ln w="9525">
                    <a:noFill/>
                    <a:miter lim="800000"/>
                    <a:headEnd/>
                    <a:tailEnd/>
                  </a:ln>
                </p:spPr>
                <p:txBody>
                  <a:bodyPr/>
                  <a:lstStyle/>
                  <a:p>
                    <a:pPr algn="just">
                      <a:defRPr/>
                    </a:pPr>
                    <a:r>
                      <a:rPr lang="en-US" altLang="zh-CN" sz="2400" i="1" dirty="0" err="1">
                        <a:solidFill>
                          <a:srgbClr val="0000CC"/>
                        </a:solidFill>
                        <a:effectLst>
                          <a:outerShdw blurRad="38100" dist="38100" dir="2700000" algn="tl">
                            <a:srgbClr val="000000">
                              <a:alpha val="43137"/>
                            </a:srgbClr>
                          </a:outerShdw>
                        </a:effectLst>
                        <a:latin typeface="Times New Roman" pitchFamily="18" charset="0"/>
                      </a:rPr>
                      <a:t>P</a:t>
                    </a:r>
                    <a:r>
                      <a:rPr lang="en-US" altLang="zh-CN" sz="2400" baseline="-25000" dirty="0" err="1">
                        <a:solidFill>
                          <a:srgbClr val="0000CC"/>
                        </a:solidFill>
                        <a:effectLst>
                          <a:outerShdw blurRad="38100" dist="38100" dir="2700000" algn="tl">
                            <a:srgbClr val="000000">
                              <a:alpha val="43137"/>
                            </a:srgbClr>
                          </a:outerShdw>
                        </a:effectLst>
                        <a:latin typeface="Times New Roman" pitchFamily="18" charset="0"/>
                      </a:rPr>
                      <a:t>e</a:t>
                    </a:r>
                    <a:endParaRPr lang="en-US" altLang="zh-CN" sz="4000" dirty="0">
                      <a:solidFill>
                        <a:srgbClr val="0000CC"/>
                      </a:solidFill>
                      <a:effectLst>
                        <a:outerShdw blurRad="38100" dist="38100" dir="2700000" algn="tl">
                          <a:srgbClr val="000000">
                            <a:alpha val="43137"/>
                          </a:srgbClr>
                        </a:outerShdw>
                      </a:effectLst>
                    </a:endParaRPr>
                  </a:p>
                </p:txBody>
              </p:sp>
              <p:grpSp>
                <p:nvGrpSpPr>
                  <p:cNvPr id="80919" name="Group 30">
                    <a:extLst>
                      <a:ext uri="{FF2B5EF4-FFF2-40B4-BE49-F238E27FC236}">
                        <a16:creationId xmlns:a16="http://schemas.microsoft.com/office/drawing/2014/main" id="{9B96752B-9439-64EB-332C-35552EE9BECB}"/>
                      </a:ext>
                    </a:extLst>
                  </p:cNvPr>
                  <p:cNvGrpSpPr>
                    <a:grpSpLocks/>
                  </p:cNvGrpSpPr>
                  <p:nvPr/>
                </p:nvGrpSpPr>
                <p:grpSpPr bwMode="auto">
                  <a:xfrm>
                    <a:off x="8671" y="4755"/>
                    <a:ext cx="1560" cy="2117"/>
                    <a:chOff x="8671" y="6939"/>
                    <a:chExt cx="1560" cy="2117"/>
                  </a:xfrm>
                </p:grpSpPr>
                <p:grpSp>
                  <p:nvGrpSpPr>
                    <p:cNvPr id="80927" name="Group 31">
                      <a:extLst>
                        <a:ext uri="{FF2B5EF4-FFF2-40B4-BE49-F238E27FC236}">
                          <a16:creationId xmlns:a16="http://schemas.microsoft.com/office/drawing/2014/main" id="{232E28AF-657E-FAD6-9BEB-64CC3B602355}"/>
                        </a:ext>
                      </a:extLst>
                    </p:cNvPr>
                    <p:cNvGrpSpPr>
                      <a:grpSpLocks/>
                    </p:cNvGrpSpPr>
                    <p:nvPr/>
                  </p:nvGrpSpPr>
                  <p:grpSpPr bwMode="auto">
                    <a:xfrm>
                      <a:off x="8735" y="6939"/>
                      <a:ext cx="1496" cy="1966"/>
                      <a:chOff x="8735" y="6939"/>
                      <a:chExt cx="1496" cy="1966"/>
                    </a:xfrm>
                  </p:grpSpPr>
                  <p:sp>
                    <p:nvSpPr>
                      <p:cNvPr id="80931" name="Text Box 32">
                        <a:extLst>
                          <a:ext uri="{FF2B5EF4-FFF2-40B4-BE49-F238E27FC236}">
                            <a16:creationId xmlns:a16="http://schemas.microsoft.com/office/drawing/2014/main" id="{8E832D74-B16A-CBF0-7132-3033498C3C74}"/>
                          </a:ext>
                        </a:extLst>
                      </p:cNvPr>
                      <p:cNvSpPr txBox="1">
                        <a:spLocks noChangeArrowheads="1"/>
                      </p:cNvSpPr>
                      <p:nvPr/>
                    </p:nvSpPr>
                    <p:spPr bwMode="auto">
                      <a:xfrm>
                        <a:off x="9619" y="8368"/>
                        <a:ext cx="612" cy="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800" baseline="30000">
                            <a:solidFill>
                              <a:srgbClr val="0066FF"/>
                            </a:solidFill>
                            <a:latin typeface="Times New Roman" panose="02020603050405020304" pitchFamily="18" charset="0"/>
                            <a:sym typeface="Symbol" panose="05050102010706020507" pitchFamily="18" charset="2"/>
                          </a:rPr>
                          <a:t></a:t>
                        </a:r>
                        <a:endParaRPr lang="en-US" altLang="zh-CN" sz="4400">
                          <a:solidFill>
                            <a:srgbClr val="0066FF"/>
                          </a:solidFill>
                        </a:endParaRPr>
                      </a:p>
                    </p:txBody>
                  </p:sp>
                  <p:sp>
                    <p:nvSpPr>
                      <p:cNvPr id="80932" name="Text Box 33">
                        <a:extLst>
                          <a:ext uri="{FF2B5EF4-FFF2-40B4-BE49-F238E27FC236}">
                            <a16:creationId xmlns:a16="http://schemas.microsoft.com/office/drawing/2014/main" id="{72BDA4F1-6753-7CB4-8A8B-C01046A511A1}"/>
                          </a:ext>
                        </a:extLst>
                      </p:cNvPr>
                      <p:cNvSpPr txBox="1">
                        <a:spLocks noChangeArrowheads="1"/>
                      </p:cNvSpPr>
                      <p:nvPr/>
                    </p:nvSpPr>
                    <p:spPr bwMode="auto">
                      <a:xfrm>
                        <a:off x="8763" y="6939"/>
                        <a:ext cx="612" cy="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800" baseline="30000">
                            <a:solidFill>
                              <a:schemeClr val="tx1"/>
                            </a:solidFill>
                            <a:latin typeface="Times New Roman" panose="02020603050405020304" pitchFamily="18" charset="0"/>
                            <a:sym typeface="Symbol" panose="05050102010706020507" pitchFamily="18" charset="2"/>
                          </a:rPr>
                          <a:t></a:t>
                        </a:r>
                        <a:endParaRPr lang="en-US" altLang="zh-CN" sz="4400">
                          <a:solidFill>
                            <a:schemeClr val="tx1"/>
                          </a:solidFill>
                        </a:endParaRPr>
                      </a:p>
                    </p:txBody>
                  </p:sp>
                  <p:sp>
                    <p:nvSpPr>
                      <p:cNvPr id="80933" name="Text Box 34">
                        <a:extLst>
                          <a:ext uri="{FF2B5EF4-FFF2-40B4-BE49-F238E27FC236}">
                            <a16:creationId xmlns:a16="http://schemas.microsoft.com/office/drawing/2014/main" id="{471D8757-9E21-6C4B-2030-35E1E0CDE154}"/>
                          </a:ext>
                        </a:extLst>
                      </p:cNvPr>
                      <p:cNvSpPr txBox="1">
                        <a:spLocks noChangeArrowheads="1"/>
                      </p:cNvSpPr>
                      <p:nvPr/>
                    </p:nvSpPr>
                    <p:spPr bwMode="auto">
                      <a:xfrm>
                        <a:off x="8735" y="8368"/>
                        <a:ext cx="612" cy="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800" baseline="30000">
                            <a:solidFill>
                              <a:srgbClr val="FF0000"/>
                            </a:solidFill>
                            <a:latin typeface="Times New Roman" panose="02020603050405020304" pitchFamily="18" charset="0"/>
                            <a:sym typeface="Symbol" panose="05050102010706020507" pitchFamily="18" charset="2"/>
                          </a:rPr>
                          <a:t></a:t>
                        </a:r>
                        <a:endParaRPr lang="en-US" altLang="zh-CN" sz="4400">
                          <a:solidFill>
                            <a:srgbClr val="FF0000"/>
                          </a:solidFill>
                        </a:endParaRPr>
                      </a:p>
                    </p:txBody>
                  </p:sp>
                </p:grpSp>
                <p:grpSp>
                  <p:nvGrpSpPr>
                    <p:cNvPr id="80928" name="Group 36">
                      <a:extLst>
                        <a:ext uri="{FF2B5EF4-FFF2-40B4-BE49-F238E27FC236}">
                          <a16:creationId xmlns:a16="http://schemas.microsoft.com/office/drawing/2014/main" id="{A0BF7F2C-F1CC-4E39-1FEF-93A104BEA643}"/>
                        </a:ext>
                      </a:extLst>
                    </p:cNvPr>
                    <p:cNvGrpSpPr>
                      <a:grpSpLocks/>
                    </p:cNvGrpSpPr>
                    <p:nvPr/>
                  </p:nvGrpSpPr>
                  <p:grpSpPr bwMode="auto">
                    <a:xfrm>
                      <a:off x="8671" y="8084"/>
                      <a:ext cx="1509" cy="972"/>
                      <a:chOff x="8671" y="8084"/>
                      <a:chExt cx="1509" cy="972"/>
                    </a:xfrm>
                  </p:grpSpPr>
                  <p:sp>
                    <p:nvSpPr>
                      <p:cNvPr id="80929" name="Text Box 37">
                        <a:extLst>
                          <a:ext uri="{FF2B5EF4-FFF2-40B4-BE49-F238E27FC236}">
                            <a16:creationId xmlns:a16="http://schemas.microsoft.com/office/drawing/2014/main" id="{D02FA893-8C66-828A-5A41-34B574F2A8F7}"/>
                          </a:ext>
                        </a:extLst>
                      </p:cNvPr>
                      <p:cNvSpPr txBox="1">
                        <a:spLocks noChangeArrowheads="1"/>
                      </p:cNvSpPr>
                      <p:nvPr/>
                    </p:nvSpPr>
                    <p:spPr bwMode="auto">
                      <a:xfrm>
                        <a:off x="9568" y="8084"/>
                        <a:ext cx="612"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800" baseline="30000">
                            <a:solidFill>
                              <a:schemeClr val="tx1"/>
                            </a:solidFill>
                            <a:latin typeface="Times New Roman" panose="02020603050405020304" pitchFamily="18" charset="0"/>
                          </a:rPr>
                          <a:t>C</a:t>
                        </a:r>
                        <a:endParaRPr lang="en-US" altLang="zh-CN" sz="4400">
                          <a:solidFill>
                            <a:schemeClr val="tx1"/>
                          </a:solidFill>
                        </a:endParaRPr>
                      </a:p>
                    </p:txBody>
                  </p:sp>
                  <p:sp>
                    <p:nvSpPr>
                      <p:cNvPr id="80930" name="Text Box 39">
                        <a:extLst>
                          <a:ext uri="{FF2B5EF4-FFF2-40B4-BE49-F238E27FC236}">
                            <a16:creationId xmlns:a16="http://schemas.microsoft.com/office/drawing/2014/main" id="{BC80B811-8F77-87B1-3330-707D25BD4590}"/>
                          </a:ext>
                        </a:extLst>
                      </p:cNvPr>
                      <p:cNvSpPr txBox="1">
                        <a:spLocks noChangeArrowheads="1"/>
                      </p:cNvSpPr>
                      <p:nvPr/>
                    </p:nvSpPr>
                    <p:spPr bwMode="auto">
                      <a:xfrm>
                        <a:off x="8671" y="8594"/>
                        <a:ext cx="612"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800" baseline="30000">
                            <a:solidFill>
                              <a:schemeClr val="tx1"/>
                            </a:solidFill>
                            <a:latin typeface="Times New Roman" panose="02020603050405020304" pitchFamily="18" charset="0"/>
                          </a:rPr>
                          <a:t>D</a:t>
                        </a:r>
                        <a:endParaRPr lang="en-US" altLang="zh-CN" sz="4400">
                          <a:solidFill>
                            <a:schemeClr val="tx1"/>
                          </a:solidFill>
                        </a:endParaRPr>
                      </a:p>
                    </p:txBody>
                  </p:sp>
                </p:grpSp>
              </p:grpSp>
              <p:grpSp>
                <p:nvGrpSpPr>
                  <p:cNvPr id="80920" name="Group 41">
                    <a:extLst>
                      <a:ext uri="{FF2B5EF4-FFF2-40B4-BE49-F238E27FC236}">
                        <a16:creationId xmlns:a16="http://schemas.microsoft.com/office/drawing/2014/main" id="{6E99973C-54F1-29BA-F005-DCFBBD422E27}"/>
                      </a:ext>
                    </a:extLst>
                  </p:cNvPr>
                  <p:cNvGrpSpPr>
                    <a:grpSpLocks/>
                  </p:cNvGrpSpPr>
                  <p:nvPr/>
                </p:nvGrpSpPr>
                <p:grpSpPr bwMode="auto">
                  <a:xfrm>
                    <a:off x="8379" y="4496"/>
                    <a:ext cx="786" cy="1779"/>
                    <a:chOff x="8379" y="6680"/>
                    <a:chExt cx="786" cy="1779"/>
                  </a:xfrm>
                </p:grpSpPr>
                <p:sp>
                  <p:nvSpPr>
                    <p:cNvPr id="80923" name="Text Box 42">
                      <a:extLst>
                        <a:ext uri="{FF2B5EF4-FFF2-40B4-BE49-F238E27FC236}">
                          <a16:creationId xmlns:a16="http://schemas.microsoft.com/office/drawing/2014/main" id="{9EB0EA71-E06E-0352-ACD8-CDD7C0AD972D}"/>
                        </a:ext>
                      </a:extLst>
                    </p:cNvPr>
                    <p:cNvSpPr txBox="1">
                      <a:spLocks noChangeArrowheads="1"/>
                    </p:cNvSpPr>
                    <p:nvPr/>
                  </p:nvSpPr>
                  <p:spPr bwMode="auto">
                    <a:xfrm>
                      <a:off x="8553" y="7922"/>
                      <a:ext cx="612" cy="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800" baseline="30000">
                          <a:solidFill>
                            <a:srgbClr val="FF0000"/>
                          </a:solidFill>
                          <a:latin typeface="Times New Roman" panose="02020603050405020304" pitchFamily="18" charset="0"/>
                          <a:sym typeface="Symbol" panose="05050102010706020507" pitchFamily="18" charset="2"/>
                        </a:rPr>
                        <a:t></a:t>
                      </a:r>
                      <a:endParaRPr lang="en-US" altLang="zh-CN" sz="4400">
                        <a:solidFill>
                          <a:srgbClr val="FF0000"/>
                        </a:solidFill>
                      </a:endParaRPr>
                    </a:p>
                  </p:txBody>
                </p:sp>
                <p:grpSp>
                  <p:nvGrpSpPr>
                    <p:cNvPr id="80924" name="Group 43">
                      <a:extLst>
                        <a:ext uri="{FF2B5EF4-FFF2-40B4-BE49-F238E27FC236}">
                          <a16:creationId xmlns:a16="http://schemas.microsoft.com/office/drawing/2014/main" id="{BEB3FC7E-48CC-4BF4-6DBA-7D75254896D5}"/>
                        </a:ext>
                      </a:extLst>
                    </p:cNvPr>
                    <p:cNvGrpSpPr>
                      <a:grpSpLocks/>
                    </p:cNvGrpSpPr>
                    <p:nvPr/>
                  </p:nvGrpSpPr>
                  <p:grpSpPr bwMode="auto">
                    <a:xfrm>
                      <a:off x="8379" y="6680"/>
                      <a:ext cx="776" cy="537"/>
                      <a:chOff x="8379" y="6680"/>
                      <a:chExt cx="776" cy="537"/>
                    </a:xfrm>
                  </p:grpSpPr>
                  <p:sp>
                    <p:nvSpPr>
                      <p:cNvPr id="80925" name="Text Box 44">
                        <a:extLst>
                          <a:ext uri="{FF2B5EF4-FFF2-40B4-BE49-F238E27FC236}">
                            <a16:creationId xmlns:a16="http://schemas.microsoft.com/office/drawing/2014/main" id="{DBFD8855-5522-A91D-C683-336A32F00E35}"/>
                          </a:ext>
                        </a:extLst>
                      </p:cNvPr>
                      <p:cNvSpPr txBox="1">
                        <a:spLocks noChangeArrowheads="1"/>
                      </p:cNvSpPr>
                      <p:nvPr/>
                    </p:nvSpPr>
                    <p:spPr bwMode="auto">
                      <a:xfrm>
                        <a:off x="8379" y="6737"/>
                        <a:ext cx="612"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800" baseline="30000">
                            <a:solidFill>
                              <a:schemeClr val="tx1"/>
                            </a:solidFill>
                            <a:latin typeface="Times New Roman" panose="02020603050405020304" pitchFamily="18" charset="0"/>
                          </a:rPr>
                          <a:t>A</a:t>
                        </a:r>
                        <a:endParaRPr lang="en-US" altLang="zh-CN" sz="4400">
                          <a:solidFill>
                            <a:schemeClr val="tx1"/>
                          </a:solidFill>
                        </a:endParaRPr>
                      </a:p>
                    </p:txBody>
                  </p:sp>
                  <p:sp>
                    <p:nvSpPr>
                      <p:cNvPr id="80926" name="Text Box 45">
                        <a:extLst>
                          <a:ext uri="{FF2B5EF4-FFF2-40B4-BE49-F238E27FC236}">
                            <a16:creationId xmlns:a16="http://schemas.microsoft.com/office/drawing/2014/main" id="{FAABBBFB-FC0B-F4F3-9AEB-7BE58284CB8E}"/>
                          </a:ext>
                        </a:extLst>
                      </p:cNvPr>
                      <p:cNvSpPr txBox="1">
                        <a:spLocks noChangeArrowheads="1"/>
                      </p:cNvSpPr>
                      <p:nvPr/>
                    </p:nvSpPr>
                    <p:spPr bwMode="auto">
                      <a:xfrm>
                        <a:off x="8543" y="6680"/>
                        <a:ext cx="612" cy="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800" baseline="30000">
                            <a:solidFill>
                              <a:srgbClr val="0066FF"/>
                            </a:solidFill>
                            <a:latin typeface="Times New Roman" panose="02020603050405020304" pitchFamily="18" charset="0"/>
                            <a:sym typeface="Symbol" panose="05050102010706020507" pitchFamily="18" charset="2"/>
                          </a:rPr>
                          <a:t></a:t>
                        </a:r>
                        <a:endParaRPr lang="en-US" altLang="zh-CN" sz="4400">
                          <a:solidFill>
                            <a:srgbClr val="0066FF"/>
                          </a:solidFill>
                        </a:endParaRPr>
                      </a:p>
                    </p:txBody>
                  </p:sp>
                </p:grpSp>
              </p:grpSp>
              <p:sp>
                <p:nvSpPr>
                  <p:cNvPr id="80921" name="Text Box 46">
                    <a:extLst>
                      <a:ext uri="{FF2B5EF4-FFF2-40B4-BE49-F238E27FC236}">
                        <a16:creationId xmlns:a16="http://schemas.microsoft.com/office/drawing/2014/main" id="{5B3A62C6-415A-4E22-60FC-AA233E8BD12C}"/>
                      </a:ext>
                    </a:extLst>
                  </p:cNvPr>
                  <p:cNvSpPr txBox="1">
                    <a:spLocks noChangeArrowheads="1"/>
                  </p:cNvSpPr>
                  <p:nvPr/>
                </p:nvSpPr>
                <p:spPr bwMode="auto">
                  <a:xfrm>
                    <a:off x="8389" y="5721"/>
                    <a:ext cx="612"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800" baseline="30000">
                        <a:solidFill>
                          <a:schemeClr val="tx1"/>
                        </a:solidFill>
                        <a:latin typeface="Times New Roman" panose="02020603050405020304" pitchFamily="18" charset="0"/>
                      </a:rPr>
                      <a:t>B</a:t>
                    </a:r>
                    <a:endParaRPr lang="en-US" altLang="zh-CN" sz="4400">
                      <a:solidFill>
                        <a:schemeClr val="tx1"/>
                      </a:solidFill>
                    </a:endParaRPr>
                  </a:p>
                </p:txBody>
              </p:sp>
              <p:sp>
                <p:nvSpPr>
                  <p:cNvPr id="40" name="Text Box 18">
                    <a:extLst>
                      <a:ext uri="{FF2B5EF4-FFF2-40B4-BE49-F238E27FC236}">
                        <a16:creationId xmlns:a16="http://schemas.microsoft.com/office/drawing/2014/main" id="{60E42420-4783-F31E-2914-6139CE10799D}"/>
                      </a:ext>
                    </a:extLst>
                  </p:cNvPr>
                  <p:cNvSpPr txBox="1">
                    <a:spLocks noChangeArrowheads="1"/>
                  </p:cNvSpPr>
                  <p:nvPr/>
                </p:nvSpPr>
                <p:spPr bwMode="auto">
                  <a:xfrm>
                    <a:off x="8975" y="3705"/>
                    <a:ext cx="320" cy="961"/>
                  </a:xfrm>
                  <a:prstGeom prst="rect">
                    <a:avLst/>
                  </a:prstGeom>
                  <a:noFill/>
                  <a:ln w="9525">
                    <a:noFill/>
                    <a:miter lim="800000"/>
                    <a:headEnd/>
                    <a:tailEnd/>
                  </a:ln>
                </p:spPr>
                <p:txBody>
                  <a:bodyPr/>
                  <a:lstStyle/>
                  <a:p>
                    <a:pPr algn="just">
                      <a:defRPr/>
                    </a:pPr>
                    <a:r>
                      <a:rPr lang="zh-CN" altLang="en-US" sz="1800" dirty="0">
                        <a:solidFill>
                          <a:schemeClr val="tx1"/>
                        </a:solidFill>
                        <a:effectLst>
                          <a:outerShdw blurRad="38100" dist="38100" dir="2700000" algn="tl">
                            <a:srgbClr val="000000">
                              <a:alpha val="43137"/>
                            </a:srgbClr>
                          </a:outerShdw>
                        </a:effectLst>
                        <a:latin typeface="幼圆" pitchFamily="49" charset="-122"/>
                        <a:ea typeface="幼圆" pitchFamily="49" charset="-122"/>
                      </a:rPr>
                      <a:t>编</a:t>
                    </a:r>
                    <a:endParaRPr lang="en-US" altLang="zh-CN" sz="1800" dirty="0">
                      <a:solidFill>
                        <a:schemeClr val="tx1"/>
                      </a:solidFill>
                      <a:effectLst>
                        <a:outerShdw blurRad="38100" dist="38100" dir="2700000" algn="tl">
                          <a:srgbClr val="000000">
                            <a:alpha val="43137"/>
                          </a:srgbClr>
                        </a:outerShdw>
                      </a:effectLst>
                      <a:latin typeface="幼圆" pitchFamily="49" charset="-122"/>
                      <a:ea typeface="幼圆" pitchFamily="49" charset="-122"/>
                    </a:endParaRPr>
                  </a:p>
                  <a:p>
                    <a:pPr algn="just">
                      <a:defRPr/>
                    </a:pPr>
                    <a:r>
                      <a:rPr lang="zh-CN" altLang="en-US" sz="1800" dirty="0">
                        <a:solidFill>
                          <a:schemeClr val="tx1"/>
                        </a:solidFill>
                        <a:effectLst>
                          <a:outerShdw blurRad="38100" dist="38100" dir="2700000" algn="tl">
                            <a:srgbClr val="000000">
                              <a:alpha val="43137"/>
                            </a:srgbClr>
                          </a:outerShdw>
                        </a:effectLst>
                        <a:latin typeface="幼圆" pitchFamily="49" charset="-122"/>
                        <a:ea typeface="幼圆" pitchFamily="49" charset="-122"/>
                      </a:rPr>
                      <a:t>码</a:t>
                    </a:r>
                    <a:endParaRPr lang="en-US" altLang="zh-CN" sz="1800" dirty="0">
                      <a:solidFill>
                        <a:schemeClr val="tx1"/>
                      </a:solidFill>
                      <a:effectLst>
                        <a:outerShdw blurRad="38100" dist="38100" dir="2700000" algn="tl">
                          <a:srgbClr val="000000">
                            <a:alpha val="43137"/>
                          </a:srgbClr>
                        </a:outerShdw>
                      </a:effectLst>
                      <a:latin typeface="幼圆" pitchFamily="49" charset="-122"/>
                      <a:ea typeface="幼圆" pitchFamily="49" charset="-122"/>
                    </a:endParaRPr>
                  </a:p>
                  <a:p>
                    <a:pPr algn="just">
                      <a:defRPr/>
                    </a:pPr>
                    <a:r>
                      <a:rPr lang="zh-CN" altLang="en-US" sz="1800" dirty="0">
                        <a:solidFill>
                          <a:srgbClr val="0066FF"/>
                        </a:solidFill>
                        <a:effectLst>
                          <a:outerShdw blurRad="38100" dist="38100" dir="2700000" algn="tl">
                            <a:srgbClr val="000000">
                              <a:alpha val="43137"/>
                            </a:srgbClr>
                          </a:outerShdw>
                        </a:effectLst>
                        <a:latin typeface="幼圆" pitchFamily="49" charset="-122"/>
                        <a:ea typeface="幼圆" pitchFamily="49" charset="-122"/>
                      </a:rPr>
                      <a:t>前</a:t>
                    </a:r>
                  </a:p>
                </p:txBody>
              </p:sp>
            </p:grpSp>
            <p:sp>
              <p:nvSpPr>
                <p:cNvPr id="80914" name="Line 47">
                  <a:extLst>
                    <a:ext uri="{FF2B5EF4-FFF2-40B4-BE49-F238E27FC236}">
                      <a16:creationId xmlns:a16="http://schemas.microsoft.com/office/drawing/2014/main" id="{0F9BE07B-A208-C3EB-F2FA-3149621EE4E4}"/>
                    </a:ext>
                  </a:extLst>
                </p:cNvPr>
                <p:cNvSpPr>
                  <a:spLocks noChangeShapeType="1"/>
                </p:cNvSpPr>
                <p:nvPr/>
              </p:nvSpPr>
              <p:spPr bwMode="auto">
                <a:xfrm flipH="1">
                  <a:off x="8790" y="5946"/>
                  <a:ext cx="237" cy="23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0912" name="Text Box 49">
                <a:extLst>
                  <a:ext uri="{FF2B5EF4-FFF2-40B4-BE49-F238E27FC236}">
                    <a16:creationId xmlns:a16="http://schemas.microsoft.com/office/drawing/2014/main" id="{C795DB8E-7769-D5A2-D52F-CB5673652AAB}"/>
                  </a:ext>
                </a:extLst>
              </p:cNvPr>
              <p:cNvSpPr txBox="1">
                <a:spLocks noChangeArrowheads="1"/>
              </p:cNvSpPr>
              <p:nvPr/>
            </p:nvSpPr>
            <p:spPr bwMode="auto">
              <a:xfrm>
                <a:off x="3390" y="3725"/>
                <a:ext cx="99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zh-CN" altLang="en-US" sz="2000">
                    <a:solidFill>
                      <a:srgbClr val="0000CC"/>
                    </a:solidFill>
                    <a:latin typeface="Arial" panose="020B0604020202020204" pitchFamily="34" charset="0"/>
                    <a:ea typeface="幼圆" panose="02010509060101010101" pitchFamily="49" charset="-122"/>
                    <a:cs typeface="Arial" panose="020B0604020202020204" pitchFamily="34" charset="0"/>
                  </a:rPr>
                  <a:t>信噪比</a:t>
                </a:r>
                <a:r>
                  <a:rPr lang="zh-CN" altLang="en-US" sz="2000">
                    <a:solidFill>
                      <a:srgbClr val="990099"/>
                    </a:solidFill>
                    <a:latin typeface="Arial" panose="020B0604020202020204" pitchFamily="34" charset="0"/>
                    <a:ea typeface="幼圆" panose="02010509060101010101" pitchFamily="49" charset="-122"/>
                    <a:cs typeface="Arial" panose="020B0604020202020204" pitchFamily="34" charset="0"/>
                  </a:rPr>
                  <a:t> </a:t>
                </a:r>
                <a:r>
                  <a:rPr lang="en-US" altLang="zh-CN" sz="2000">
                    <a:solidFill>
                      <a:srgbClr val="0000CC"/>
                    </a:solidFill>
                    <a:latin typeface="Arial" panose="020B0604020202020204" pitchFamily="34" charset="0"/>
                    <a:ea typeface="幼圆" panose="02010509060101010101" pitchFamily="49" charset="-122"/>
                    <a:cs typeface="Arial" panose="020B0604020202020204" pitchFamily="34" charset="0"/>
                  </a:rPr>
                  <a:t>(dB)</a:t>
                </a:r>
              </a:p>
            </p:txBody>
          </p:sp>
        </p:grpSp>
        <p:sp>
          <p:nvSpPr>
            <p:cNvPr id="28" name="矩形 27">
              <a:extLst>
                <a:ext uri="{FF2B5EF4-FFF2-40B4-BE49-F238E27FC236}">
                  <a16:creationId xmlns:a16="http://schemas.microsoft.com/office/drawing/2014/main" id="{3E0479DB-57EC-69FA-EFA9-4FCF51048EE1}"/>
                </a:ext>
              </a:extLst>
            </p:cNvPr>
            <p:cNvSpPr/>
            <p:nvPr/>
          </p:nvSpPr>
          <p:spPr bwMode="auto">
            <a:xfrm>
              <a:off x="7472278" y="2785445"/>
              <a:ext cx="428649" cy="214319"/>
            </a:xfrm>
            <a:prstGeom prst="rect">
              <a:avLst/>
            </a:prstGeom>
            <a:solidFill>
              <a:schemeClr val="bg1">
                <a:lumMod val="95000"/>
              </a:schemeClr>
            </a:solidFill>
            <a:ln w="9525" cap="flat" cmpd="sng" algn="ctr">
              <a:solidFill>
                <a:schemeClr val="bg1">
                  <a:lumMod val="95000"/>
                </a:schemeClr>
              </a:solidFill>
              <a:prstDash val="solid"/>
              <a:miter lim="800000"/>
              <a:headEnd type="none" w="med" len="med"/>
              <a:tailEnd type="none" w="med" len="med"/>
            </a:ln>
            <a:effectLst/>
          </p:spPr>
          <p:txBody>
            <a:bodyPr wrap="none"/>
            <a:lstStyle/>
            <a:p>
              <a:pPr>
                <a:defRPr/>
              </a:pPr>
              <a:endParaRPr lang="zh-CN" altLang="en-US"/>
            </a:p>
          </p:txBody>
        </p:sp>
      </p:grpSp>
      <p:sp>
        <p:nvSpPr>
          <p:cNvPr id="75" name="矩形 74">
            <a:extLst>
              <a:ext uri="{FF2B5EF4-FFF2-40B4-BE49-F238E27FC236}">
                <a16:creationId xmlns:a16="http://schemas.microsoft.com/office/drawing/2014/main" id="{41312753-C201-045B-7F0B-1CC5D037AD82}"/>
              </a:ext>
            </a:extLst>
          </p:cNvPr>
          <p:cNvSpPr/>
          <p:nvPr/>
        </p:nvSpPr>
        <p:spPr>
          <a:xfrm>
            <a:off x="7386638" y="1374775"/>
            <a:ext cx="1371600" cy="400050"/>
          </a:xfrm>
          <a:prstGeom prst="rect">
            <a:avLst/>
          </a:prstGeom>
          <a:solidFill>
            <a:schemeClr val="bg2">
              <a:lumMod val="10000"/>
              <a:lumOff val="90000"/>
            </a:schemeClr>
          </a:solidFill>
          <a:ln>
            <a:solidFill>
              <a:schemeClr val="bg1">
                <a:lumMod val="75000"/>
              </a:schemeClr>
            </a:solidFill>
          </a:ln>
          <a:effectLst>
            <a:outerShdw blurRad="63500" sx="102000" sy="102000" algn="ctr" rotWithShape="0">
              <a:prstClr val="black">
                <a:alpha val="40000"/>
              </a:prstClr>
            </a:outerShdw>
          </a:effectLst>
        </p:spPr>
        <p:txBody>
          <a:bodyPr wrap="none">
            <a:spAutoFit/>
          </a:bodyPr>
          <a:lstStyle/>
          <a:p>
            <a:pPr>
              <a:defRPr/>
            </a:pPr>
            <a:r>
              <a:rPr kumimoji="0" lang="en-US" altLang="zh-CN" sz="2000" kern="0" dirty="0">
                <a:solidFill>
                  <a:srgbClr val="0000CC"/>
                </a:solidFill>
                <a:latin typeface="Arial" pitchFamily="34" charset="0"/>
                <a:ea typeface="幼圆" pitchFamily="49" charset="-122"/>
                <a:cs typeface="Arial" pitchFamily="34" charset="0"/>
              </a:rPr>
              <a:t>2PSK</a:t>
            </a:r>
            <a:r>
              <a:rPr kumimoji="0" lang="zh-CN" altLang="en-US" sz="2000" kern="0" dirty="0">
                <a:solidFill>
                  <a:srgbClr val="0000CC"/>
                </a:solidFill>
                <a:latin typeface="Arial" pitchFamily="34" charset="0"/>
                <a:ea typeface="幼圆" pitchFamily="49" charset="-122"/>
                <a:cs typeface="Arial" pitchFamily="34" charset="0"/>
              </a:rPr>
              <a:t>调制</a:t>
            </a:r>
            <a:endParaRPr lang="zh-CN" altLang="en-US" sz="2000" dirty="0">
              <a:solidFill>
                <a:srgbClr val="0000CC"/>
              </a:solidFill>
              <a:latin typeface="Arial" pitchFamily="34" charset="0"/>
              <a:ea typeface="幼圆" pitchFamily="49" charset="-122"/>
              <a:cs typeface="Arial" pitchFamily="34" charset="0"/>
            </a:endParaRPr>
          </a:p>
        </p:txBody>
      </p:sp>
      <p:cxnSp>
        <p:nvCxnSpPr>
          <p:cNvPr id="68" name="直接连接符 67">
            <a:extLst>
              <a:ext uri="{FF2B5EF4-FFF2-40B4-BE49-F238E27FC236}">
                <a16:creationId xmlns:a16="http://schemas.microsoft.com/office/drawing/2014/main" id="{9E648EDA-6A91-A97E-0CA7-4BCE2B4EEE76}"/>
              </a:ext>
            </a:extLst>
          </p:cNvPr>
          <p:cNvCxnSpPr>
            <a:cxnSpLocks noChangeShapeType="1"/>
          </p:cNvCxnSpPr>
          <p:nvPr/>
        </p:nvCxnSpPr>
        <p:spPr bwMode="auto">
          <a:xfrm rot="5400000">
            <a:off x="6001544" y="4571207"/>
            <a:ext cx="2714625" cy="1587"/>
          </a:xfrm>
          <a:prstGeom prst="line">
            <a:avLst/>
          </a:prstGeom>
          <a:noFill/>
          <a:ln w="28575" algn="ctr">
            <a:solidFill>
              <a:srgbClr val="990099"/>
            </a:solidFill>
            <a:prstDash val="sysDot"/>
            <a:miter lim="800000"/>
            <a:headEnd/>
            <a:tailEnd/>
          </a:ln>
          <a:extLst>
            <a:ext uri="{909E8E84-426E-40DD-AFC4-6F175D3DCCD1}">
              <a14:hiddenFill xmlns:a14="http://schemas.microsoft.com/office/drawing/2010/main">
                <a:noFill/>
              </a14:hiddenFill>
            </a:ext>
          </a:extLst>
        </p:spPr>
      </p:cxnSp>
      <p:pic>
        <p:nvPicPr>
          <p:cNvPr id="90177" name="Picture 65">
            <a:extLst>
              <a:ext uri="{FF2B5EF4-FFF2-40B4-BE49-F238E27FC236}">
                <a16:creationId xmlns:a16="http://schemas.microsoft.com/office/drawing/2014/main" id="{FAF7D55D-6043-B8A7-0488-7D4019F1011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500" y="1643063"/>
            <a:ext cx="385762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66"/>
                                        </p:tgtEl>
                                        <p:attrNameLst>
                                          <p:attrName>style.visibility</p:attrName>
                                        </p:attrNameLst>
                                      </p:cBhvr>
                                      <p:to>
                                        <p:strVal val="visible"/>
                                      </p:to>
                                    </p:set>
                                    <p:animEffect transition="in" filter="wipe(up)">
                                      <p:cBhvr>
                                        <p:cTn id="11" dur="1000"/>
                                        <p:tgtEl>
                                          <p:spTgt spid="66"/>
                                        </p:tgtEl>
                                      </p:cBhvr>
                                    </p:animEffect>
                                  </p:childTnLst>
                                </p:cTn>
                              </p:par>
                              <p:par>
                                <p:cTn id="12" presetID="22" presetClass="entr" presetSubtype="8"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left)">
                                      <p:cBhvr>
                                        <p:cTn id="14" dur="2000"/>
                                        <p:tgtEl>
                                          <p:spTgt spid="4"/>
                                        </p:tgtEl>
                                      </p:cBhvr>
                                    </p:animEffect>
                                  </p:childTnLst>
                                </p:cTn>
                              </p:par>
                              <p:par>
                                <p:cTn id="15" presetID="22" presetClass="entr" presetSubtype="1" fill="hold" nodeType="withEffect">
                                  <p:stCondLst>
                                    <p:cond delay="0"/>
                                  </p:stCondLst>
                                  <p:childTnLst>
                                    <p:set>
                                      <p:cBhvr>
                                        <p:cTn id="16" dur="1" fill="hold">
                                          <p:stCondLst>
                                            <p:cond delay="0"/>
                                          </p:stCondLst>
                                        </p:cTn>
                                        <p:tgtEl>
                                          <p:spTgt spid="75"/>
                                        </p:tgtEl>
                                        <p:attrNameLst>
                                          <p:attrName>style.visibility</p:attrName>
                                        </p:attrNameLst>
                                      </p:cBhvr>
                                      <p:to>
                                        <p:strVal val="visible"/>
                                      </p:to>
                                    </p:set>
                                    <p:animEffect transition="in" filter="wipe(up)">
                                      <p:cBhvr>
                                        <p:cTn id="17" dur="1000"/>
                                        <p:tgtEl>
                                          <p:spTgt spid="7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90177"/>
                                        </p:tgtEl>
                                        <p:attrNameLst>
                                          <p:attrName>style.visibility</p:attrName>
                                        </p:attrNameLst>
                                      </p:cBhvr>
                                      <p:to>
                                        <p:strVal val="visible"/>
                                      </p:to>
                                    </p:set>
                                    <p:animEffect transition="in" filter="wipe(up)">
                                      <p:cBhvr>
                                        <p:cTn id="22" dur="1000"/>
                                        <p:tgtEl>
                                          <p:spTgt spid="90177"/>
                                        </p:tgtEl>
                                      </p:cBhvr>
                                    </p:animEffect>
                                  </p:childTnLst>
                                </p:cTn>
                              </p:par>
                            </p:childTnLst>
                          </p:cTn>
                        </p:par>
                        <p:par>
                          <p:cTn id="23" fill="hold" nodeType="afterGroup">
                            <p:stCondLst>
                              <p:cond delay="1000"/>
                            </p:stCondLst>
                            <p:childTnLst>
                              <p:par>
                                <p:cTn id="24" presetID="22" presetClass="entr" presetSubtype="4" fill="hold" nodeType="afterEffect">
                                  <p:stCondLst>
                                    <p:cond delay="0"/>
                                  </p:stCondLst>
                                  <p:childTnLst>
                                    <p:set>
                                      <p:cBhvr>
                                        <p:cTn id="25" dur="1" fill="hold">
                                          <p:stCondLst>
                                            <p:cond delay="0"/>
                                          </p:stCondLst>
                                        </p:cTn>
                                        <p:tgtEl>
                                          <p:spTgt spid="68"/>
                                        </p:tgtEl>
                                        <p:attrNameLst>
                                          <p:attrName>style.visibility</p:attrName>
                                        </p:attrNameLst>
                                      </p:cBhvr>
                                      <p:to>
                                        <p:strVal val="visible"/>
                                      </p:to>
                                    </p:set>
                                    <p:animEffect transition="in" filter="wipe(down)">
                                      <p:cBhvr>
                                        <p:cTn id="26" dur="1000"/>
                                        <p:tgtEl>
                                          <p:spTgt spid="6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90178"/>
                                        </p:tgtEl>
                                        <p:attrNameLst>
                                          <p:attrName>style.visibility</p:attrName>
                                        </p:attrNameLst>
                                      </p:cBhvr>
                                      <p:to>
                                        <p:strVal val="visible"/>
                                      </p:to>
                                    </p:set>
                                    <p:animEffect transition="in" filter="wipe(up)">
                                      <p:cBhvr>
                                        <p:cTn id="31" dur="1000"/>
                                        <p:tgtEl>
                                          <p:spTgt spid="90178"/>
                                        </p:tgtEl>
                                      </p:cBhvr>
                                    </p:animEffect>
                                  </p:childTnLst>
                                </p:cTn>
                              </p:par>
                            </p:childTnLst>
                          </p:cTn>
                        </p:par>
                        <p:par>
                          <p:cTn id="32" fill="hold" nodeType="afterGroup">
                            <p:stCondLst>
                              <p:cond delay="1000"/>
                            </p:stCondLst>
                            <p:childTnLst>
                              <p:par>
                                <p:cTn id="33" presetID="22" presetClass="entr" presetSubtype="8" fill="hold"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1000"/>
                                        <p:tgtEl>
                                          <p:spTgt spid="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90176"/>
                                        </p:tgtEl>
                                        <p:attrNameLst>
                                          <p:attrName>style.visibility</p:attrName>
                                        </p:attrNameLst>
                                      </p:cBhvr>
                                      <p:to>
                                        <p:strVal val="visible"/>
                                      </p:to>
                                    </p:set>
                                    <p:animEffect transition="in" filter="wipe(up)">
                                      <p:cBhvr>
                                        <p:cTn id="40" dur="1000"/>
                                        <p:tgtEl>
                                          <p:spTgt spid="90176"/>
                                        </p:tgtEl>
                                      </p:cBhvr>
                                    </p:animEffect>
                                  </p:childTnLst>
                                </p:cTn>
                              </p:par>
                            </p:childTnLst>
                          </p:cTn>
                        </p:par>
                        <p:par>
                          <p:cTn id="41" fill="hold" nodeType="afterGroup">
                            <p:stCondLst>
                              <p:cond delay="1000"/>
                            </p:stCondLst>
                            <p:childTnLst>
                              <p:par>
                                <p:cTn id="42" presetID="22" presetClass="entr" presetSubtype="8" fill="hold" nodeType="after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wipe(left)">
                                      <p:cBhvr>
                                        <p:cTn id="44" dur="1000"/>
                                        <p:tgtEl>
                                          <p:spTgt spid="9"/>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1" fill="hold" nodeType="click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wipe(up)">
                                      <p:cBhvr>
                                        <p:cTn id="4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5" grpId="0" animBg="1"/>
      <p:bldP spid="8" grpId="0" animBg="1"/>
      <p:bldP spid="9" grpId="0" animBg="1"/>
      <p:bldP spid="7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93" name="Picture 57">
            <a:extLst>
              <a:ext uri="{FF2B5EF4-FFF2-40B4-BE49-F238E27FC236}">
                <a16:creationId xmlns:a16="http://schemas.microsoft.com/office/drawing/2014/main" id="{57C785C1-5234-F387-2C57-C83FDF668F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3336925"/>
            <a:ext cx="3786188"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92" name="Picture 56">
            <a:extLst>
              <a:ext uri="{FF2B5EF4-FFF2-40B4-BE49-F238E27FC236}">
                <a16:creationId xmlns:a16="http://schemas.microsoft.com/office/drawing/2014/main" id="{AA74D5A6-2AFB-4272-44C7-45CA830201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963" y="1830388"/>
            <a:ext cx="3752850" cy="1176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1DD8340D-0BA6-AC1A-FB30-463A0098ABF5}"/>
              </a:ext>
            </a:extLst>
          </p:cNvPr>
          <p:cNvSpPr/>
          <p:nvPr/>
        </p:nvSpPr>
        <p:spPr>
          <a:xfrm>
            <a:off x="714375" y="5021263"/>
            <a:ext cx="3500438" cy="1050925"/>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marL="342900" indent="-342900" eaLnBrk="0" hangingPunct="0">
              <a:lnSpc>
                <a:spcPts val="3500"/>
              </a:lnSpc>
              <a:spcBef>
                <a:spcPct val="20000"/>
              </a:spcBef>
              <a:buClr>
                <a:schemeClr val="folHlink"/>
              </a:buClr>
              <a:buSzPct val="60000"/>
              <a:defRPr/>
            </a:pPr>
            <a:r>
              <a:rPr kumimoji="0" lang="zh-CN" altLang="en-US" sz="2000" kern="0" dirty="0">
                <a:solidFill>
                  <a:srgbClr val="0000CC"/>
                </a:solidFill>
                <a:latin typeface="微软雅黑" pitchFamily="34" charset="-122"/>
                <a:ea typeface="微软雅黑" pitchFamily="34" charset="-122"/>
                <a:cs typeface="Arial" pitchFamily="34" charset="0"/>
              </a:rPr>
              <a:t>可见</a:t>
            </a:r>
            <a:r>
              <a:rPr kumimoji="0" lang="zh-CN" altLang="en-US" sz="2000" kern="0" dirty="0">
                <a:solidFill>
                  <a:srgbClr val="0000CC"/>
                </a:solidFill>
                <a:latin typeface="Arial" pitchFamily="34" charset="0"/>
                <a:ea typeface="幼圆" pitchFamily="49" charset="-122"/>
                <a:cs typeface="Arial" pitchFamily="34" charset="0"/>
              </a:rPr>
              <a:t>：</a:t>
            </a:r>
            <a:r>
              <a:rPr kumimoji="0" lang="zh-CN" altLang="en-US" sz="2000" kern="0" dirty="0">
                <a:solidFill>
                  <a:schemeClr val="tx1"/>
                </a:solidFill>
                <a:latin typeface="幼圆" pitchFamily="49" charset="-122"/>
                <a:ea typeface="幼圆" pitchFamily="49" charset="-122"/>
                <a:cs typeface="Arial" pitchFamily="34" charset="0"/>
              </a:rPr>
              <a:t>能</a:t>
            </a:r>
            <a:r>
              <a:rPr kumimoji="0" lang="zh-CN" altLang="en-US" sz="2000" kern="0" dirty="0">
                <a:solidFill>
                  <a:schemeClr val="tx1"/>
                </a:solidFill>
                <a:latin typeface="幼圆" pitchFamily="49" charset="-122"/>
                <a:ea typeface="幼圆" pitchFamily="49" charset="-122"/>
              </a:rPr>
              <a:t>节省功率 </a:t>
            </a:r>
            <a:r>
              <a:rPr kumimoji="0" lang="en-US" altLang="zh-CN" sz="2400" kern="0" dirty="0">
                <a:solidFill>
                  <a:srgbClr val="990099"/>
                </a:solidFill>
                <a:latin typeface="Arial" pitchFamily="34" charset="0"/>
                <a:ea typeface="幼圆" pitchFamily="49" charset="-122"/>
                <a:cs typeface="Arial" pitchFamily="34" charset="0"/>
              </a:rPr>
              <a:t>2 </a:t>
            </a:r>
            <a:r>
              <a:rPr kumimoji="0" lang="en-US" altLang="zh-CN" sz="2000" kern="0" dirty="0">
                <a:solidFill>
                  <a:srgbClr val="990099"/>
                </a:solidFill>
                <a:latin typeface="Arial" pitchFamily="34" charset="0"/>
                <a:ea typeface="幼圆" pitchFamily="49" charset="-122"/>
                <a:cs typeface="Arial" pitchFamily="34" charset="0"/>
              </a:rPr>
              <a:t>dB</a:t>
            </a:r>
          </a:p>
          <a:p>
            <a:pPr marL="342900" indent="-342900" eaLnBrk="0" hangingPunct="0">
              <a:lnSpc>
                <a:spcPts val="3500"/>
              </a:lnSpc>
              <a:spcBef>
                <a:spcPct val="20000"/>
              </a:spcBef>
              <a:buClr>
                <a:schemeClr val="folHlink"/>
              </a:buClr>
              <a:buSzPct val="60000"/>
              <a:defRPr/>
            </a:pPr>
            <a:r>
              <a:rPr kumimoji="0" lang="en-US" altLang="zh-CN" sz="2000" kern="0" dirty="0">
                <a:solidFill>
                  <a:schemeClr val="tx1"/>
                </a:solidFill>
                <a:latin typeface="Arial" pitchFamily="34" charset="0"/>
                <a:ea typeface="幼圆" pitchFamily="49" charset="-122"/>
                <a:cs typeface="Arial" pitchFamily="34" charset="0"/>
              </a:rPr>
              <a:t>               </a:t>
            </a:r>
            <a:r>
              <a:rPr kumimoji="0" lang="en-US" altLang="zh-CN" sz="2000" kern="0" dirty="0">
                <a:solidFill>
                  <a:schemeClr val="tx1"/>
                </a:solidFill>
                <a:latin typeface="幼圆" pitchFamily="49" charset="-122"/>
                <a:ea typeface="幼圆" pitchFamily="49" charset="-122"/>
              </a:rPr>
              <a:t>——</a:t>
            </a:r>
            <a:r>
              <a:rPr kumimoji="0" lang="zh-CN" altLang="en-US" sz="2000" kern="0" dirty="0">
                <a:solidFill>
                  <a:schemeClr val="tx1"/>
                </a:solidFill>
                <a:latin typeface="幼圆" pitchFamily="49" charset="-122"/>
                <a:ea typeface="幼圆" pitchFamily="49" charset="-122"/>
              </a:rPr>
              <a:t>称为</a:t>
            </a:r>
            <a:r>
              <a:rPr kumimoji="0" lang="zh-CN" altLang="en-US" sz="2000" kern="0" dirty="0">
                <a:solidFill>
                  <a:srgbClr val="990099"/>
                </a:solidFill>
                <a:latin typeface="幼圆" pitchFamily="49" charset="-122"/>
                <a:ea typeface="幼圆" pitchFamily="49" charset="-122"/>
              </a:rPr>
              <a:t>编码增益</a:t>
            </a:r>
            <a:endParaRPr kumimoji="0" lang="en-US" altLang="zh-CN" sz="2000" kern="0" dirty="0">
              <a:solidFill>
                <a:srgbClr val="990099"/>
              </a:solidFill>
              <a:latin typeface="幼圆" pitchFamily="49" charset="-122"/>
              <a:ea typeface="幼圆" pitchFamily="49" charset="-122"/>
            </a:endParaRPr>
          </a:p>
        </p:txBody>
      </p:sp>
      <p:sp>
        <p:nvSpPr>
          <p:cNvPr id="9" name="Oval 20">
            <a:extLst>
              <a:ext uri="{FF2B5EF4-FFF2-40B4-BE49-F238E27FC236}">
                <a16:creationId xmlns:a16="http://schemas.microsoft.com/office/drawing/2014/main" id="{EFBF9CAC-A51E-76AA-3ED1-05DF7FC12CB2}"/>
              </a:ext>
            </a:extLst>
          </p:cNvPr>
          <p:cNvSpPr>
            <a:spLocks noChangeArrowheads="1"/>
          </p:cNvSpPr>
          <p:nvPr/>
        </p:nvSpPr>
        <p:spPr bwMode="auto">
          <a:xfrm>
            <a:off x="3429000" y="4054475"/>
            <a:ext cx="928688" cy="517525"/>
          </a:xfrm>
          <a:prstGeom prst="ellipse">
            <a:avLst/>
          </a:prstGeom>
          <a:solidFill>
            <a:schemeClr val="bg1">
              <a:lumMod val="95000"/>
            </a:schemeClr>
          </a:solidFill>
          <a:ln w="19050">
            <a:solidFill>
              <a:schemeClr val="bg1">
                <a:lumMod val="75000"/>
              </a:schemeClr>
            </a:solidFill>
            <a:round/>
            <a:headEnd/>
            <a:tailEnd/>
          </a:ln>
          <a:effectLst>
            <a:prstShdw prst="shdw17" dist="17961" dir="13500000">
              <a:srgbClr val="5A5A5A"/>
            </a:prstShdw>
          </a:effectLst>
        </p:spPr>
        <p:txBody>
          <a:bodyPr wrap="none" anchor="ctr"/>
          <a:lstStyle/>
          <a:p>
            <a:pPr algn="ctr">
              <a:defRPr/>
            </a:pPr>
            <a:r>
              <a:rPr kumimoji="0" lang="en-US" altLang="zh-CN" sz="2000" kern="0" dirty="0">
                <a:solidFill>
                  <a:srgbClr val="FF0000"/>
                </a:solidFill>
                <a:latin typeface="Arial" pitchFamily="34" charset="0"/>
                <a:ea typeface="幼圆" pitchFamily="49" charset="-122"/>
                <a:cs typeface="Arial" pitchFamily="34" charset="0"/>
              </a:rPr>
              <a:t>D</a:t>
            </a:r>
            <a:r>
              <a:rPr kumimoji="0" lang="zh-CN" altLang="en-US" sz="2000" kern="0" dirty="0">
                <a:solidFill>
                  <a:srgbClr val="FF0000"/>
                </a:solidFill>
                <a:latin typeface="Arial" pitchFamily="34" charset="0"/>
                <a:ea typeface="幼圆" pitchFamily="49" charset="-122"/>
                <a:cs typeface="Arial" pitchFamily="34" charset="0"/>
              </a:rPr>
              <a:t>点</a:t>
            </a:r>
            <a:endParaRPr kumimoji="0" lang="zh-CN" altLang="en-US" sz="2000" dirty="0">
              <a:solidFill>
                <a:srgbClr val="0000CC"/>
              </a:solidFill>
              <a:effectLst>
                <a:outerShdw blurRad="38100" dist="38100" dir="2700000" algn="tl">
                  <a:srgbClr val="000000">
                    <a:alpha val="43137"/>
                  </a:srgbClr>
                </a:outerShdw>
              </a:effectLst>
              <a:latin typeface="黑体" pitchFamily="2" charset="-122"/>
              <a:ea typeface="黑体" pitchFamily="2" charset="-122"/>
            </a:endParaRPr>
          </a:p>
        </p:txBody>
      </p:sp>
      <p:grpSp>
        <p:nvGrpSpPr>
          <p:cNvPr id="81926" name="组合 25">
            <a:extLst>
              <a:ext uri="{FF2B5EF4-FFF2-40B4-BE49-F238E27FC236}">
                <a16:creationId xmlns:a16="http://schemas.microsoft.com/office/drawing/2014/main" id="{5D7CE1DE-EBD6-F46A-A460-1BEB775CD855}"/>
              </a:ext>
            </a:extLst>
          </p:cNvPr>
          <p:cNvGrpSpPr>
            <a:grpSpLocks/>
          </p:cNvGrpSpPr>
          <p:nvPr/>
        </p:nvGrpSpPr>
        <p:grpSpPr bwMode="auto">
          <a:xfrm>
            <a:off x="4643438" y="876300"/>
            <a:ext cx="4471987" cy="5453063"/>
            <a:chOff x="4730510" y="786718"/>
            <a:chExt cx="4472241" cy="5453237"/>
          </a:xfrm>
        </p:grpSpPr>
        <p:grpSp>
          <p:nvGrpSpPr>
            <p:cNvPr id="81931" name="Group 50">
              <a:extLst>
                <a:ext uri="{FF2B5EF4-FFF2-40B4-BE49-F238E27FC236}">
                  <a16:creationId xmlns:a16="http://schemas.microsoft.com/office/drawing/2014/main" id="{A9D0FA33-CCE1-E400-D59B-9E05D02019D2}"/>
                </a:ext>
              </a:extLst>
            </p:cNvPr>
            <p:cNvGrpSpPr>
              <a:grpSpLocks/>
            </p:cNvGrpSpPr>
            <p:nvPr/>
          </p:nvGrpSpPr>
          <p:grpSpPr bwMode="auto">
            <a:xfrm>
              <a:off x="4730510" y="786718"/>
              <a:ext cx="4472241" cy="5453237"/>
              <a:chOff x="2527" y="900"/>
              <a:chExt cx="2512" cy="3038"/>
            </a:xfrm>
          </p:grpSpPr>
          <p:grpSp>
            <p:nvGrpSpPr>
              <p:cNvPr id="81933" name="Group 5">
                <a:extLst>
                  <a:ext uri="{FF2B5EF4-FFF2-40B4-BE49-F238E27FC236}">
                    <a16:creationId xmlns:a16="http://schemas.microsoft.com/office/drawing/2014/main" id="{47754F4A-B526-0C73-13A7-9329B291F796}"/>
                  </a:ext>
                </a:extLst>
              </p:cNvPr>
              <p:cNvGrpSpPr>
                <a:grpSpLocks/>
              </p:cNvGrpSpPr>
              <p:nvPr/>
            </p:nvGrpSpPr>
            <p:grpSpPr bwMode="auto">
              <a:xfrm>
                <a:off x="2527" y="900"/>
                <a:ext cx="2512" cy="3024"/>
                <a:chOff x="6227" y="2101"/>
                <a:chExt cx="4004" cy="5774"/>
              </a:xfrm>
            </p:grpSpPr>
            <p:grpSp>
              <p:nvGrpSpPr>
                <p:cNvPr id="81935" name="Group 6">
                  <a:extLst>
                    <a:ext uri="{FF2B5EF4-FFF2-40B4-BE49-F238E27FC236}">
                      <a16:creationId xmlns:a16="http://schemas.microsoft.com/office/drawing/2014/main" id="{EEC76F76-5024-1408-39CF-567F7A1D4B6B}"/>
                    </a:ext>
                  </a:extLst>
                </p:cNvPr>
                <p:cNvGrpSpPr>
                  <a:grpSpLocks/>
                </p:cNvGrpSpPr>
                <p:nvPr/>
              </p:nvGrpSpPr>
              <p:grpSpPr bwMode="auto">
                <a:xfrm>
                  <a:off x="6227" y="2101"/>
                  <a:ext cx="4004" cy="5774"/>
                  <a:chOff x="6227" y="2101"/>
                  <a:chExt cx="4004" cy="5774"/>
                </a:xfrm>
              </p:grpSpPr>
              <p:grpSp>
                <p:nvGrpSpPr>
                  <p:cNvPr id="81937" name="Group 7">
                    <a:extLst>
                      <a:ext uri="{FF2B5EF4-FFF2-40B4-BE49-F238E27FC236}">
                        <a16:creationId xmlns:a16="http://schemas.microsoft.com/office/drawing/2014/main" id="{F75F391F-2D6E-89E5-DEA9-D87CAA9175E2}"/>
                      </a:ext>
                    </a:extLst>
                  </p:cNvPr>
                  <p:cNvGrpSpPr>
                    <a:grpSpLocks/>
                  </p:cNvGrpSpPr>
                  <p:nvPr/>
                </p:nvGrpSpPr>
                <p:grpSpPr bwMode="auto">
                  <a:xfrm>
                    <a:off x="6227" y="2695"/>
                    <a:ext cx="3928" cy="5180"/>
                    <a:chOff x="6215" y="4726"/>
                    <a:chExt cx="3928" cy="5180"/>
                  </a:xfrm>
                </p:grpSpPr>
                <p:grpSp>
                  <p:nvGrpSpPr>
                    <p:cNvPr id="81965" name="Group 8">
                      <a:extLst>
                        <a:ext uri="{FF2B5EF4-FFF2-40B4-BE49-F238E27FC236}">
                          <a16:creationId xmlns:a16="http://schemas.microsoft.com/office/drawing/2014/main" id="{04597087-AAC5-5B0F-002D-DC09D206456E}"/>
                        </a:ext>
                      </a:extLst>
                    </p:cNvPr>
                    <p:cNvGrpSpPr>
                      <a:grpSpLocks/>
                    </p:cNvGrpSpPr>
                    <p:nvPr/>
                  </p:nvGrpSpPr>
                  <p:grpSpPr bwMode="auto">
                    <a:xfrm>
                      <a:off x="6612" y="4797"/>
                      <a:ext cx="3531" cy="5109"/>
                      <a:chOff x="6174" y="4797"/>
                      <a:chExt cx="3969" cy="5109"/>
                    </a:xfrm>
                  </p:grpSpPr>
                  <p:pic>
                    <p:nvPicPr>
                      <p:cNvPr id="81973" name="Picture 9" descr="编码与误码率关系">
                        <a:extLst>
                          <a:ext uri="{FF2B5EF4-FFF2-40B4-BE49-F238E27FC236}">
                            <a16:creationId xmlns:a16="http://schemas.microsoft.com/office/drawing/2014/main" id="{DA60F384-24F1-E978-1EEA-899FAB5F29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4" y="4797"/>
                        <a:ext cx="3969" cy="5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4" name="Line 10">
                        <a:extLst>
                          <a:ext uri="{FF2B5EF4-FFF2-40B4-BE49-F238E27FC236}">
                            <a16:creationId xmlns:a16="http://schemas.microsoft.com/office/drawing/2014/main" id="{49A82663-85C2-1F72-75CF-EECD5D7700AA}"/>
                          </a:ext>
                        </a:extLst>
                      </p:cNvPr>
                      <p:cNvSpPr>
                        <a:spLocks noChangeShapeType="1"/>
                      </p:cNvSpPr>
                      <p:nvPr/>
                    </p:nvSpPr>
                    <p:spPr bwMode="auto">
                      <a:xfrm>
                        <a:off x="6297" y="4872"/>
                        <a:ext cx="0" cy="453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1966" name="Group 11">
                      <a:extLst>
                        <a:ext uri="{FF2B5EF4-FFF2-40B4-BE49-F238E27FC236}">
                          <a16:creationId xmlns:a16="http://schemas.microsoft.com/office/drawing/2014/main" id="{74C8EBF3-D5BC-5DCA-C717-DC408762EAEE}"/>
                        </a:ext>
                      </a:extLst>
                    </p:cNvPr>
                    <p:cNvGrpSpPr>
                      <a:grpSpLocks/>
                    </p:cNvGrpSpPr>
                    <p:nvPr/>
                  </p:nvGrpSpPr>
                  <p:grpSpPr bwMode="auto">
                    <a:xfrm>
                      <a:off x="6215" y="4726"/>
                      <a:ext cx="600" cy="4924"/>
                      <a:chOff x="6215" y="4726"/>
                      <a:chExt cx="600" cy="4924"/>
                    </a:xfrm>
                  </p:grpSpPr>
                  <p:sp>
                    <p:nvSpPr>
                      <p:cNvPr id="81967" name="Text Box 12">
                        <a:extLst>
                          <a:ext uri="{FF2B5EF4-FFF2-40B4-BE49-F238E27FC236}">
                            <a16:creationId xmlns:a16="http://schemas.microsoft.com/office/drawing/2014/main" id="{83F5C026-80CE-F5A0-C157-E290FB9712CA}"/>
                          </a:ext>
                        </a:extLst>
                      </p:cNvPr>
                      <p:cNvSpPr txBox="1">
                        <a:spLocks noChangeArrowheads="1"/>
                      </p:cNvSpPr>
                      <p:nvPr/>
                    </p:nvSpPr>
                    <p:spPr bwMode="auto">
                      <a:xfrm>
                        <a:off x="6215" y="9212"/>
                        <a:ext cx="60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a:solidFill>
                              <a:schemeClr val="tx1"/>
                            </a:solidFill>
                            <a:latin typeface="Arial" panose="020B0604020202020204" pitchFamily="34" charset="0"/>
                            <a:cs typeface="Arial" panose="020B0604020202020204" pitchFamily="34" charset="0"/>
                          </a:rPr>
                          <a:t>10</a:t>
                        </a:r>
                        <a:r>
                          <a:rPr lang="en-US" altLang="zh-CN" sz="2000" baseline="30000">
                            <a:solidFill>
                              <a:schemeClr val="tx1"/>
                            </a:solidFill>
                            <a:latin typeface="Arial" panose="020B0604020202020204" pitchFamily="34" charset="0"/>
                            <a:cs typeface="Arial" panose="020B0604020202020204" pitchFamily="34" charset="0"/>
                          </a:rPr>
                          <a:t>-6</a:t>
                        </a:r>
                        <a:endParaRPr lang="en-US" altLang="zh-CN" sz="2000">
                          <a:solidFill>
                            <a:schemeClr val="tx1"/>
                          </a:solidFill>
                          <a:latin typeface="Arial" panose="020B0604020202020204" pitchFamily="34" charset="0"/>
                          <a:cs typeface="Arial" panose="020B0604020202020204" pitchFamily="34" charset="0"/>
                        </a:endParaRPr>
                      </a:p>
                    </p:txBody>
                  </p:sp>
                  <p:sp>
                    <p:nvSpPr>
                      <p:cNvPr id="81968" name="Text Box 13">
                        <a:extLst>
                          <a:ext uri="{FF2B5EF4-FFF2-40B4-BE49-F238E27FC236}">
                            <a16:creationId xmlns:a16="http://schemas.microsoft.com/office/drawing/2014/main" id="{40C7B0AC-AA8D-74A4-B5B7-5A48A285F4FF}"/>
                          </a:ext>
                        </a:extLst>
                      </p:cNvPr>
                      <p:cNvSpPr txBox="1">
                        <a:spLocks noChangeArrowheads="1"/>
                      </p:cNvSpPr>
                      <p:nvPr/>
                    </p:nvSpPr>
                    <p:spPr bwMode="auto">
                      <a:xfrm>
                        <a:off x="6215" y="8323"/>
                        <a:ext cx="60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a:solidFill>
                              <a:schemeClr val="tx1"/>
                            </a:solidFill>
                            <a:latin typeface="Arial" panose="020B0604020202020204" pitchFamily="34" charset="0"/>
                            <a:cs typeface="Arial" panose="020B0604020202020204" pitchFamily="34" charset="0"/>
                          </a:rPr>
                          <a:t>10</a:t>
                        </a:r>
                        <a:r>
                          <a:rPr lang="en-US" altLang="zh-CN" sz="2000" baseline="30000">
                            <a:solidFill>
                              <a:schemeClr val="tx1"/>
                            </a:solidFill>
                            <a:latin typeface="Arial" panose="020B0604020202020204" pitchFamily="34" charset="0"/>
                            <a:cs typeface="Arial" panose="020B0604020202020204" pitchFamily="34" charset="0"/>
                          </a:rPr>
                          <a:t>-5</a:t>
                        </a:r>
                        <a:endParaRPr lang="en-US" altLang="zh-CN" sz="2000">
                          <a:solidFill>
                            <a:schemeClr val="tx1"/>
                          </a:solidFill>
                          <a:latin typeface="Arial" panose="020B0604020202020204" pitchFamily="34" charset="0"/>
                          <a:cs typeface="Arial" panose="020B0604020202020204" pitchFamily="34" charset="0"/>
                        </a:endParaRPr>
                      </a:p>
                    </p:txBody>
                  </p:sp>
                  <p:sp>
                    <p:nvSpPr>
                      <p:cNvPr id="81969" name="Text Box 14">
                        <a:extLst>
                          <a:ext uri="{FF2B5EF4-FFF2-40B4-BE49-F238E27FC236}">
                            <a16:creationId xmlns:a16="http://schemas.microsoft.com/office/drawing/2014/main" id="{23056A2F-CFBE-F36F-837E-BBE00FD7347D}"/>
                          </a:ext>
                        </a:extLst>
                      </p:cNvPr>
                      <p:cNvSpPr txBox="1">
                        <a:spLocks noChangeArrowheads="1"/>
                      </p:cNvSpPr>
                      <p:nvPr/>
                    </p:nvSpPr>
                    <p:spPr bwMode="auto">
                      <a:xfrm>
                        <a:off x="6215" y="7435"/>
                        <a:ext cx="60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a:solidFill>
                              <a:schemeClr val="tx1"/>
                            </a:solidFill>
                            <a:latin typeface="Arial" panose="020B0604020202020204" pitchFamily="34" charset="0"/>
                            <a:cs typeface="Arial" panose="020B0604020202020204" pitchFamily="34" charset="0"/>
                          </a:rPr>
                          <a:t>10</a:t>
                        </a:r>
                        <a:r>
                          <a:rPr lang="en-US" altLang="zh-CN" sz="2000" baseline="30000">
                            <a:solidFill>
                              <a:schemeClr val="tx1"/>
                            </a:solidFill>
                            <a:latin typeface="Arial" panose="020B0604020202020204" pitchFamily="34" charset="0"/>
                            <a:cs typeface="Arial" panose="020B0604020202020204" pitchFamily="34" charset="0"/>
                          </a:rPr>
                          <a:t>-4</a:t>
                        </a:r>
                        <a:endParaRPr lang="en-US" altLang="zh-CN" sz="2000">
                          <a:solidFill>
                            <a:schemeClr val="tx1"/>
                          </a:solidFill>
                          <a:latin typeface="Arial" panose="020B0604020202020204" pitchFamily="34" charset="0"/>
                          <a:cs typeface="Arial" panose="020B0604020202020204" pitchFamily="34" charset="0"/>
                        </a:endParaRPr>
                      </a:p>
                    </p:txBody>
                  </p:sp>
                  <p:sp>
                    <p:nvSpPr>
                      <p:cNvPr id="81970" name="Text Box 15">
                        <a:extLst>
                          <a:ext uri="{FF2B5EF4-FFF2-40B4-BE49-F238E27FC236}">
                            <a16:creationId xmlns:a16="http://schemas.microsoft.com/office/drawing/2014/main" id="{37E7E2AE-791A-12F6-9FE7-98A53DBA9D71}"/>
                          </a:ext>
                        </a:extLst>
                      </p:cNvPr>
                      <p:cNvSpPr txBox="1">
                        <a:spLocks noChangeArrowheads="1"/>
                      </p:cNvSpPr>
                      <p:nvPr/>
                    </p:nvSpPr>
                    <p:spPr bwMode="auto">
                      <a:xfrm>
                        <a:off x="6215" y="6496"/>
                        <a:ext cx="60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a:solidFill>
                              <a:schemeClr val="tx1"/>
                            </a:solidFill>
                            <a:latin typeface="Arial" panose="020B0604020202020204" pitchFamily="34" charset="0"/>
                            <a:cs typeface="Arial" panose="020B0604020202020204" pitchFamily="34" charset="0"/>
                          </a:rPr>
                          <a:t>10</a:t>
                        </a:r>
                        <a:r>
                          <a:rPr lang="en-US" altLang="zh-CN" sz="2000" baseline="30000">
                            <a:solidFill>
                              <a:schemeClr val="tx1"/>
                            </a:solidFill>
                            <a:latin typeface="Arial" panose="020B0604020202020204" pitchFamily="34" charset="0"/>
                            <a:cs typeface="Arial" panose="020B0604020202020204" pitchFamily="34" charset="0"/>
                          </a:rPr>
                          <a:t>-3</a:t>
                        </a:r>
                        <a:endParaRPr lang="en-US" altLang="zh-CN" sz="2000">
                          <a:solidFill>
                            <a:schemeClr val="tx1"/>
                          </a:solidFill>
                          <a:latin typeface="Arial" panose="020B0604020202020204" pitchFamily="34" charset="0"/>
                          <a:cs typeface="Arial" panose="020B0604020202020204" pitchFamily="34" charset="0"/>
                        </a:endParaRPr>
                      </a:p>
                    </p:txBody>
                  </p:sp>
                  <p:sp>
                    <p:nvSpPr>
                      <p:cNvPr id="81971" name="Text Box 16">
                        <a:extLst>
                          <a:ext uri="{FF2B5EF4-FFF2-40B4-BE49-F238E27FC236}">
                            <a16:creationId xmlns:a16="http://schemas.microsoft.com/office/drawing/2014/main" id="{37D862DD-2BBD-C151-F046-7A5C20A01B3E}"/>
                          </a:ext>
                        </a:extLst>
                      </p:cNvPr>
                      <p:cNvSpPr txBox="1">
                        <a:spLocks noChangeArrowheads="1"/>
                      </p:cNvSpPr>
                      <p:nvPr/>
                    </p:nvSpPr>
                    <p:spPr bwMode="auto">
                      <a:xfrm>
                        <a:off x="6215" y="5617"/>
                        <a:ext cx="60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a:solidFill>
                              <a:schemeClr val="tx1"/>
                            </a:solidFill>
                            <a:latin typeface="Arial" panose="020B0604020202020204" pitchFamily="34" charset="0"/>
                            <a:cs typeface="Arial" panose="020B0604020202020204" pitchFamily="34" charset="0"/>
                          </a:rPr>
                          <a:t>10</a:t>
                        </a:r>
                        <a:r>
                          <a:rPr lang="en-US" altLang="zh-CN" sz="2000" baseline="30000">
                            <a:solidFill>
                              <a:schemeClr val="tx1"/>
                            </a:solidFill>
                            <a:latin typeface="Arial" panose="020B0604020202020204" pitchFamily="34" charset="0"/>
                            <a:cs typeface="Arial" panose="020B0604020202020204" pitchFamily="34" charset="0"/>
                          </a:rPr>
                          <a:t>-2</a:t>
                        </a:r>
                        <a:endParaRPr lang="en-US" altLang="zh-CN" sz="2000">
                          <a:solidFill>
                            <a:schemeClr val="tx1"/>
                          </a:solidFill>
                          <a:latin typeface="Arial" panose="020B0604020202020204" pitchFamily="34" charset="0"/>
                          <a:cs typeface="Arial" panose="020B0604020202020204" pitchFamily="34" charset="0"/>
                        </a:endParaRPr>
                      </a:p>
                    </p:txBody>
                  </p:sp>
                  <p:sp>
                    <p:nvSpPr>
                      <p:cNvPr id="81972" name="Text Box 17">
                        <a:extLst>
                          <a:ext uri="{FF2B5EF4-FFF2-40B4-BE49-F238E27FC236}">
                            <a16:creationId xmlns:a16="http://schemas.microsoft.com/office/drawing/2014/main" id="{8408628C-A74F-97C5-72A5-9B88308D4998}"/>
                          </a:ext>
                        </a:extLst>
                      </p:cNvPr>
                      <p:cNvSpPr txBox="1">
                        <a:spLocks noChangeArrowheads="1"/>
                      </p:cNvSpPr>
                      <p:nvPr/>
                    </p:nvSpPr>
                    <p:spPr bwMode="auto">
                      <a:xfrm>
                        <a:off x="6215" y="4726"/>
                        <a:ext cx="60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a:solidFill>
                              <a:schemeClr val="tx1"/>
                            </a:solidFill>
                            <a:latin typeface="Arial" panose="020B0604020202020204" pitchFamily="34" charset="0"/>
                            <a:cs typeface="Arial" panose="020B0604020202020204" pitchFamily="34" charset="0"/>
                          </a:rPr>
                          <a:t>10</a:t>
                        </a:r>
                        <a:r>
                          <a:rPr lang="en-US" altLang="zh-CN" sz="2000" baseline="30000">
                            <a:solidFill>
                              <a:schemeClr val="tx1"/>
                            </a:solidFill>
                            <a:latin typeface="Arial" panose="020B0604020202020204" pitchFamily="34" charset="0"/>
                            <a:cs typeface="Arial" panose="020B0604020202020204" pitchFamily="34" charset="0"/>
                          </a:rPr>
                          <a:t>-1</a:t>
                        </a:r>
                        <a:endParaRPr lang="en-US" altLang="zh-CN" sz="2000">
                          <a:solidFill>
                            <a:schemeClr val="tx1"/>
                          </a:solidFill>
                          <a:latin typeface="Arial" panose="020B0604020202020204" pitchFamily="34" charset="0"/>
                          <a:cs typeface="Arial" panose="020B0604020202020204" pitchFamily="34" charset="0"/>
                        </a:endParaRPr>
                      </a:p>
                    </p:txBody>
                  </p:sp>
                </p:grpSp>
              </p:grpSp>
              <p:sp>
                <p:nvSpPr>
                  <p:cNvPr id="81938" name="Text Box 18">
                    <a:extLst>
                      <a:ext uri="{FF2B5EF4-FFF2-40B4-BE49-F238E27FC236}">
                        <a16:creationId xmlns:a16="http://schemas.microsoft.com/office/drawing/2014/main" id="{39471258-9597-3663-5BC3-F2592E4FE350}"/>
                      </a:ext>
                    </a:extLst>
                  </p:cNvPr>
                  <p:cNvSpPr txBox="1">
                    <a:spLocks noChangeArrowheads="1"/>
                  </p:cNvSpPr>
                  <p:nvPr/>
                </p:nvSpPr>
                <p:spPr bwMode="auto">
                  <a:xfrm>
                    <a:off x="8944" y="5515"/>
                    <a:ext cx="287" cy="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zh-CN" altLang="en-US" sz="1800">
                        <a:solidFill>
                          <a:schemeClr val="tx1"/>
                        </a:solidFill>
                        <a:latin typeface="幼圆" panose="02010509060101010101" pitchFamily="49" charset="-122"/>
                        <a:ea typeface="幼圆" panose="02010509060101010101" pitchFamily="49" charset="-122"/>
                      </a:rPr>
                      <a:t>编</a:t>
                    </a:r>
                    <a:endParaRPr lang="en-US" altLang="zh-CN" sz="1800">
                      <a:solidFill>
                        <a:schemeClr val="tx1"/>
                      </a:solidFill>
                      <a:latin typeface="幼圆" panose="02010509060101010101" pitchFamily="49" charset="-122"/>
                      <a:ea typeface="幼圆" panose="02010509060101010101" pitchFamily="49" charset="-122"/>
                    </a:endParaRPr>
                  </a:p>
                  <a:p>
                    <a:pPr algn="just" eaLnBrk="1" hangingPunct="1"/>
                    <a:r>
                      <a:rPr lang="zh-CN" altLang="en-US" sz="1800">
                        <a:solidFill>
                          <a:schemeClr val="tx1"/>
                        </a:solidFill>
                        <a:latin typeface="幼圆" panose="02010509060101010101" pitchFamily="49" charset="-122"/>
                        <a:ea typeface="幼圆" panose="02010509060101010101" pitchFamily="49" charset="-122"/>
                      </a:rPr>
                      <a:t>码</a:t>
                    </a:r>
                    <a:endParaRPr lang="en-US" altLang="zh-CN" sz="1800">
                      <a:solidFill>
                        <a:schemeClr val="tx1"/>
                      </a:solidFill>
                      <a:latin typeface="幼圆" panose="02010509060101010101" pitchFamily="49" charset="-122"/>
                      <a:ea typeface="幼圆" panose="02010509060101010101" pitchFamily="49" charset="-122"/>
                    </a:endParaRPr>
                  </a:p>
                  <a:p>
                    <a:pPr algn="just" eaLnBrk="1" hangingPunct="1"/>
                    <a:r>
                      <a:rPr lang="zh-CN" altLang="en-US" sz="1800">
                        <a:solidFill>
                          <a:srgbClr val="FF0000"/>
                        </a:solidFill>
                        <a:latin typeface="幼圆" panose="02010509060101010101" pitchFamily="49" charset="-122"/>
                        <a:ea typeface="幼圆" panose="02010509060101010101" pitchFamily="49" charset="-122"/>
                      </a:rPr>
                      <a:t>后</a:t>
                    </a:r>
                    <a:endParaRPr lang="zh-CN" altLang="en-US" sz="4400">
                      <a:solidFill>
                        <a:srgbClr val="FF0000"/>
                      </a:solidFill>
                      <a:latin typeface="幼圆" panose="02010509060101010101" pitchFamily="49" charset="-122"/>
                      <a:ea typeface="幼圆" panose="02010509060101010101" pitchFamily="49" charset="-122"/>
                    </a:endParaRPr>
                  </a:p>
                </p:txBody>
              </p:sp>
              <p:grpSp>
                <p:nvGrpSpPr>
                  <p:cNvPr id="81939" name="Group 19">
                    <a:extLst>
                      <a:ext uri="{FF2B5EF4-FFF2-40B4-BE49-F238E27FC236}">
                        <a16:creationId xmlns:a16="http://schemas.microsoft.com/office/drawing/2014/main" id="{F8C7C93C-7044-606E-9B22-5A24E2B3C8CD}"/>
                      </a:ext>
                    </a:extLst>
                  </p:cNvPr>
                  <p:cNvGrpSpPr>
                    <a:grpSpLocks/>
                  </p:cNvGrpSpPr>
                  <p:nvPr/>
                </p:nvGrpSpPr>
                <p:grpSpPr bwMode="auto">
                  <a:xfrm>
                    <a:off x="7038" y="2837"/>
                    <a:ext cx="2466" cy="4545"/>
                    <a:chOff x="7026" y="4869"/>
                    <a:chExt cx="2466" cy="4545"/>
                  </a:xfrm>
                </p:grpSpPr>
                <p:grpSp>
                  <p:nvGrpSpPr>
                    <p:cNvPr id="81956" name="Group 20">
                      <a:extLst>
                        <a:ext uri="{FF2B5EF4-FFF2-40B4-BE49-F238E27FC236}">
                          <a16:creationId xmlns:a16="http://schemas.microsoft.com/office/drawing/2014/main" id="{3B3CDCDF-9354-9A22-709E-C132C1FE8E45}"/>
                        </a:ext>
                      </a:extLst>
                    </p:cNvPr>
                    <p:cNvGrpSpPr>
                      <a:grpSpLocks/>
                    </p:cNvGrpSpPr>
                    <p:nvPr/>
                  </p:nvGrpSpPr>
                  <p:grpSpPr bwMode="auto">
                    <a:xfrm>
                      <a:off x="7026" y="4870"/>
                      <a:ext cx="2466" cy="4533"/>
                      <a:chOff x="7026" y="4870"/>
                      <a:chExt cx="2466" cy="4533"/>
                    </a:xfrm>
                  </p:grpSpPr>
                  <p:sp>
                    <p:nvSpPr>
                      <p:cNvPr id="81960" name="Line 21">
                        <a:extLst>
                          <a:ext uri="{FF2B5EF4-FFF2-40B4-BE49-F238E27FC236}">
                            <a16:creationId xmlns:a16="http://schemas.microsoft.com/office/drawing/2014/main" id="{AA44F3C8-AA5E-1E94-96C5-671CF2AC7D61}"/>
                          </a:ext>
                        </a:extLst>
                      </p:cNvPr>
                      <p:cNvSpPr>
                        <a:spLocks noChangeShapeType="1"/>
                      </p:cNvSpPr>
                      <p:nvPr/>
                    </p:nvSpPr>
                    <p:spPr bwMode="auto">
                      <a:xfrm>
                        <a:off x="7437" y="4870"/>
                        <a:ext cx="0" cy="453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61" name="Line 22">
                        <a:extLst>
                          <a:ext uri="{FF2B5EF4-FFF2-40B4-BE49-F238E27FC236}">
                            <a16:creationId xmlns:a16="http://schemas.microsoft.com/office/drawing/2014/main" id="{8424E94C-EAC5-3426-AF09-3F68F061AB2C}"/>
                          </a:ext>
                        </a:extLst>
                      </p:cNvPr>
                      <p:cNvSpPr>
                        <a:spLocks noChangeShapeType="1"/>
                      </p:cNvSpPr>
                      <p:nvPr/>
                    </p:nvSpPr>
                    <p:spPr bwMode="auto">
                      <a:xfrm>
                        <a:off x="7026" y="4870"/>
                        <a:ext cx="0" cy="453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62" name="Line 23">
                        <a:extLst>
                          <a:ext uri="{FF2B5EF4-FFF2-40B4-BE49-F238E27FC236}">
                            <a16:creationId xmlns:a16="http://schemas.microsoft.com/office/drawing/2014/main" id="{8DA33289-7ED3-C418-0F2C-881E6AFF9979}"/>
                          </a:ext>
                        </a:extLst>
                      </p:cNvPr>
                      <p:cNvSpPr>
                        <a:spLocks noChangeShapeType="1"/>
                      </p:cNvSpPr>
                      <p:nvPr/>
                    </p:nvSpPr>
                    <p:spPr bwMode="auto">
                      <a:xfrm>
                        <a:off x="8238" y="4870"/>
                        <a:ext cx="0" cy="453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63" name="Line 24">
                        <a:extLst>
                          <a:ext uri="{FF2B5EF4-FFF2-40B4-BE49-F238E27FC236}">
                            <a16:creationId xmlns:a16="http://schemas.microsoft.com/office/drawing/2014/main" id="{C46EEDCD-CB2E-0B6C-BA38-8E94002D7D18}"/>
                          </a:ext>
                        </a:extLst>
                      </p:cNvPr>
                      <p:cNvSpPr>
                        <a:spLocks noChangeShapeType="1"/>
                      </p:cNvSpPr>
                      <p:nvPr/>
                    </p:nvSpPr>
                    <p:spPr bwMode="auto">
                      <a:xfrm>
                        <a:off x="8664" y="4870"/>
                        <a:ext cx="0" cy="453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64" name="Line 25">
                        <a:extLst>
                          <a:ext uri="{FF2B5EF4-FFF2-40B4-BE49-F238E27FC236}">
                            <a16:creationId xmlns:a16="http://schemas.microsoft.com/office/drawing/2014/main" id="{4C71C466-38D2-DFD5-8F87-80C297A03C4A}"/>
                          </a:ext>
                        </a:extLst>
                      </p:cNvPr>
                      <p:cNvSpPr>
                        <a:spLocks noChangeShapeType="1"/>
                      </p:cNvSpPr>
                      <p:nvPr/>
                    </p:nvSpPr>
                    <p:spPr bwMode="auto">
                      <a:xfrm>
                        <a:off x="9492" y="4870"/>
                        <a:ext cx="0" cy="453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1957" name="Group 26">
                      <a:extLst>
                        <a:ext uri="{FF2B5EF4-FFF2-40B4-BE49-F238E27FC236}">
                          <a16:creationId xmlns:a16="http://schemas.microsoft.com/office/drawing/2014/main" id="{E24251D1-5174-C153-6440-0AA8FB16CD96}"/>
                        </a:ext>
                      </a:extLst>
                    </p:cNvPr>
                    <p:cNvGrpSpPr>
                      <a:grpSpLocks/>
                    </p:cNvGrpSpPr>
                    <p:nvPr/>
                  </p:nvGrpSpPr>
                  <p:grpSpPr bwMode="auto">
                    <a:xfrm>
                      <a:off x="9054" y="4869"/>
                      <a:ext cx="0" cy="4545"/>
                      <a:chOff x="9054" y="4869"/>
                      <a:chExt cx="0" cy="4545"/>
                    </a:xfrm>
                  </p:grpSpPr>
                  <p:sp>
                    <p:nvSpPr>
                      <p:cNvPr id="81958" name="Line 27">
                        <a:extLst>
                          <a:ext uri="{FF2B5EF4-FFF2-40B4-BE49-F238E27FC236}">
                            <a16:creationId xmlns:a16="http://schemas.microsoft.com/office/drawing/2014/main" id="{47855380-0B26-64CB-F4E7-D6E7CEFD1CFD}"/>
                          </a:ext>
                        </a:extLst>
                      </p:cNvPr>
                      <p:cNvSpPr>
                        <a:spLocks noChangeShapeType="1"/>
                      </p:cNvSpPr>
                      <p:nvPr/>
                    </p:nvSpPr>
                    <p:spPr bwMode="auto">
                      <a:xfrm>
                        <a:off x="9054" y="4869"/>
                        <a:ext cx="0" cy="279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9" name="Line 28">
                        <a:extLst>
                          <a:ext uri="{FF2B5EF4-FFF2-40B4-BE49-F238E27FC236}">
                            <a16:creationId xmlns:a16="http://schemas.microsoft.com/office/drawing/2014/main" id="{6EC18621-17E0-1CBC-CC4B-E78A6C6A072F}"/>
                          </a:ext>
                        </a:extLst>
                      </p:cNvPr>
                      <p:cNvSpPr>
                        <a:spLocks noChangeShapeType="1"/>
                      </p:cNvSpPr>
                      <p:nvPr/>
                    </p:nvSpPr>
                    <p:spPr bwMode="auto">
                      <a:xfrm>
                        <a:off x="9054" y="8064"/>
                        <a:ext cx="0" cy="13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36" name="Text Box 29">
                    <a:extLst>
                      <a:ext uri="{FF2B5EF4-FFF2-40B4-BE49-F238E27FC236}">
                        <a16:creationId xmlns:a16="http://schemas.microsoft.com/office/drawing/2014/main" id="{91C51352-0670-4E16-A876-874AF5EDE454}"/>
                      </a:ext>
                    </a:extLst>
                  </p:cNvPr>
                  <p:cNvSpPr txBox="1">
                    <a:spLocks noChangeArrowheads="1"/>
                  </p:cNvSpPr>
                  <p:nvPr/>
                </p:nvSpPr>
                <p:spPr bwMode="auto">
                  <a:xfrm>
                    <a:off x="6287" y="2101"/>
                    <a:ext cx="516" cy="490"/>
                  </a:xfrm>
                  <a:prstGeom prst="rect">
                    <a:avLst/>
                  </a:prstGeom>
                  <a:noFill/>
                  <a:ln w="9525">
                    <a:noFill/>
                    <a:miter lim="800000"/>
                    <a:headEnd/>
                    <a:tailEnd/>
                  </a:ln>
                </p:spPr>
                <p:txBody>
                  <a:bodyPr/>
                  <a:lstStyle/>
                  <a:p>
                    <a:pPr algn="just">
                      <a:defRPr/>
                    </a:pPr>
                    <a:r>
                      <a:rPr lang="en-US" altLang="zh-CN" sz="2400" i="1" dirty="0" err="1">
                        <a:solidFill>
                          <a:srgbClr val="0000CC"/>
                        </a:solidFill>
                        <a:effectLst>
                          <a:outerShdw blurRad="38100" dist="38100" dir="2700000" algn="tl">
                            <a:srgbClr val="000000">
                              <a:alpha val="43137"/>
                            </a:srgbClr>
                          </a:outerShdw>
                        </a:effectLst>
                        <a:latin typeface="Times New Roman" pitchFamily="18" charset="0"/>
                      </a:rPr>
                      <a:t>P</a:t>
                    </a:r>
                    <a:r>
                      <a:rPr lang="en-US" altLang="zh-CN" sz="2400" baseline="-25000" dirty="0" err="1">
                        <a:solidFill>
                          <a:srgbClr val="0000CC"/>
                        </a:solidFill>
                        <a:effectLst>
                          <a:outerShdw blurRad="38100" dist="38100" dir="2700000" algn="tl">
                            <a:srgbClr val="000000">
                              <a:alpha val="43137"/>
                            </a:srgbClr>
                          </a:outerShdw>
                        </a:effectLst>
                        <a:latin typeface="Times New Roman" pitchFamily="18" charset="0"/>
                      </a:rPr>
                      <a:t>e</a:t>
                    </a:r>
                    <a:endParaRPr lang="en-US" altLang="zh-CN" sz="4000" dirty="0">
                      <a:solidFill>
                        <a:srgbClr val="0000CC"/>
                      </a:solidFill>
                      <a:effectLst>
                        <a:outerShdw blurRad="38100" dist="38100" dir="2700000" algn="tl">
                          <a:srgbClr val="000000">
                            <a:alpha val="43137"/>
                          </a:srgbClr>
                        </a:outerShdw>
                      </a:effectLst>
                    </a:endParaRPr>
                  </a:p>
                </p:txBody>
              </p:sp>
              <p:grpSp>
                <p:nvGrpSpPr>
                  <p:cNvPr id="81941" name="Group 30">
                    <a:extLst>
                      <a:ext uri="{FF2B5EF4-FFF2-40B4-BE49-F238E27FC236}">
                        <a16:creationId xmlns:a16="http://schemas.microsoft.com/office/drawing/2014/main" id="{99CF3627-765F-7F87-8387-817AF2B11F21}"/>
                      </a:ext>
                    </a:extLst>
                  </p:cNvPr>
                  <p:cNvGrpSpPr>
                    <a:grpSpLocks/>
                  </p:cNvGrpSpPr>
                  <p:nvPr/>
                </p:nvGrpSpPr>
                <p:grpSpPr bwMode="auto">
                  <a:xfrm>
                    <a:off x="8671" y="4755"/>
                    <a:ext cx="1560" cy="2117"/>
                    <a:chOff x="8671" y="6939"/>
                    <a:chExt cx="1560" cy="2117"/>
                  </a:xfrm>
                </p:grpSpPr>
                <p:grpSp>
                  <p:nvGrpSpPr>
                    <p:cNvPr id="81949" name="Group 31">
                      <a:extLst>
                        <a:ext uri="{FF2B5EF4-FFF2-40B4-BE49-F238E27FC236}">
                          <a16:creationId xmlns:a16="http://schemas.microsoft.com/office/drawing/2014/main" id="{65A2780A-85FA-B818-70A9-FB4EEFE434C5}"/>
                        </a:ext>
                      </a:extLst>
                    </p:cNvPr>
                    <p:cNvGrpSpPr>
                      <a:grpSpLocks/>
                    </p:cNvGrpSpPr>
                    <p:nvPr/>
                  </p:nvGrpSpPr>
                  <p:grpSpPr bwMode="auto">
                    <a:xfrm>
                      <a:off x="8735" y="6939"/>
                      <a:ext cx="1496" cy="1966"/>
                      <a:chOff x="8735" y="6939"/>
                      <a:chExt cx="1496" cy="1966"/>
                    </a:xfrm>
                  </p:grpSpPr>
                  <p:sp>
                    <p:nvSpPr>
                      <p:cNvPr id="81953" name="Text Box 32">
                        <a:extLst>
                          <a:ext uri="{FF2B5EF4-FFF2-40B4-BE49-F238E27FC236}">
                            <a16:creationId xmlns:a16="http://schemas.microsoft.com/office/drawing/2014/main" id="{8BACAD76-7C41-817E-C11A-E71D7F418168}"/>
                          </a:ext>
                        </a:extLst>
                      </p:cNvPr>
                      <p:cNvSpPr txBox="1">
                        <a:spLocks noChangeArrowheads="1"/>
                      </p:cNvSpPr>
                      <p:nvPr/>
                    </p:nvSpPr>
                    <p:spPr bwMode="auto">
                      <a:xfrm>
                        <a:off x="9619" y="8368"/>
                        <a:ext cx="612" cy="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800" baseline="30000">
                            <a:solidFill>
                              <a:srgbClr val="0066FF"/>
                            </a:solidFill>
                            <a:latin typeface="Times New Roman" panose="02020603050405020304" pitchFamily="18" charset="0"/>
                            <a:sym typeface="Symbol" panose="05050102010706020507" pitchFamily="18" charset="2"/>
                          </a:rPr>
                          <a:t></a:t>
                        </a:r>
                        <a:endParaRPr lang="en-US" altLang="zh-CN" sz="4400">
                          <a:solidFill>
                            <a:srgbClr val="0066FF"/>
                          </a:solidFill>
                        </a:endParaRPr>
                      </a:p>
                    </p:txBody>
                  </p:sp>
                  <p:sp>
                    <p:nvSpPr>
                      <p:cNvPr id="81954" name="Text Box 33">
                        <a:extLst>
                          <a:ext uri="{FF2B5EF4-FFF2-40B4-BE49-F238E27FC236}">
                            <a16:creationId xmlns:a16="http://schemas.microsoft.com/office/drawing/2014/main" id="{50ECE93C-A6CA-45FD-F55F-D0AC1C76E00E}"/>
                          </a:ext>
                        </a:extLst>
                      </p:cNvPr>
                      <p:cNvSpPr txBox="1">
                        <a:spLocks noChangeArrowheads="1"/>
                      </p:cNvSpPr>
                      <p:nvPr/>
                    </p:nvSpPr>
                    <p:spPr bwMode="auto">
                      <a:xfrm>
                        <a:off x="8763" y="6939"/>
                        <a:ext cx="612" cy="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800" baseline="30000">
                            <a:solidFill>
                              <a:schemeClr val="tx1"/>
                            </a:solidFill>
                            <a:latin typeface="Times New Roman" panose="02020603050405020304" pitchFamily="18" charset="0"/>
                            <a:sym typeface="Symbol" panose="05050102010706020507" pitchFamily="18" charset="2"/>
                          </a:rPr>
                          <a:t></a:t>
                        </a:r>
                        <a:endParaRPr lang="en-US" altLang="zh-CN" sz="4400">
                          <a:solidFill>
                            <a:schemeClr val="tx1"/>
                          </a:solidFill>
                        </a:endParaRPr>
                      </a:p>
                    </p:txBody>
                  </p:sp>
                  <p:sp>
                    <p:nvSpPr>
                      <p:cNvPr id="81955" name="Text Box 34">
                        <a:extLst>
                          <a:ext uri="{FF2B5EF4-FFF2-40B4-BE49-F238E27FC236}">
                            <a16:creationId xmlns:a16="http://schemas.microsoft.com/office/drawing/2014/main" id="{22115D78-D868-3964-A387-90064CCCDD81}"/>
                          </a:ext>
                        </a:extLst>
                      </p:cNvPr>
                      <p:cNvSpPr txBox="1">
                        <a:spLocks noChangeArrowheads="1"/>
                      </p:cNvSpPr>
                      <p:nvPr/>
                    </p:nvSpPr>
                    <p:spPr bwMode="auto">
                      <a:xfrm>
                        <a:off x="8735" y="8368"/>
                        <a:ext cx="612" cy="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800" baseline="30000">
                            <a:solidFill>
                              <a:srgbClr val="FF0000"/>
                            </a:solidFill>
                            <a:latin typeface="Times New Roman" panose="02020603050405020304" pitchFamily="18" charset="0"/>
                            <a:sym typeface="Symbol" panose="05050102010706020507" pitchFamily="18" charset="2"/>
                          </a:rPr>
                          <a:t></a:t>
                        </a:r>
                        <a:endParaRPr lang="en-US" altLang="zh-CN" sz="4400">
                          <a:solidFill>
                            <a:srgbClr val="FF0000"/>
                          </a:solidFill>
                        </a:endParaRPr>
                      </a:p>
                    </p:txBody>
                  </p:sp>
                </p:grpSp>
                <p:grpSp>
                  <p:nvGrpSpPr>
                    <p:cNvPr id="81950" name="Group 36">
                      <a:extLst>
                        <a:ext uri="{FF2B5EF4-FFF2-40B4-BE49-F238E27FC236}">
                          <a16:creationId xmlns:a16="http://schemas.microsoft.com/office/drawing/2014/main" id="{BA0A6DBB-A37D-8BB2-D5F4-6EFB8FDCE10D}"/>
                        </a:ext>
                      </a:extLst>
                    </p:cNvPr>
                    <p:cNvGrpSpPr>
                      <a:grpSpLocks/>
                    </p:cNvGrpSpPr>
                    <p:nvPr/>
                  </p:nvGrpSpPr>
                  <p:grpSpPr bwMode="auto">
                    <a:xfrm>
                      <a:off x="8671" y="8084"/>
                      <a:ext cx="1509" cy="972"/>
                      <a:chOff x="8671" y="8084"/>
                      <a:chExt cx="1509" cy="972"/>
                    </a:xfrm>
                  </p:grpSpPr>
                  <p:sp>
                    <p:nvSpPr>
                      <p:cNvPr id="81951" name="Text Box 37">
                        <a:extLst>
                          <a:ext uri="{FF2B5EF4-FFF2-40B4-BE49-F238E27FC236}">
                            <a16:creationId xmlns:a16="http://schemas.microsoft.com/office/drawing/2014/main" id="{C8257CD7-758B-DC2A-8032-237A5895CAF4}"/>
                          </a:ext>
                        </a:extLst>
                      </p:cNvPr>
                      <p:cNvSpPr txBox="1">
                        <a:spLocks noChangeArrowheads="1"/>
                      </p:cNvSpPr>
                      <p:nvPr/>
                    </p:nvSpPr>
                    <p:spPr bwMode="auto">
                      <a:xfrm>
                        <a:off x="9568" y="8084"/>
                        <a:ext cx="612"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800" baseline="30000">
                            <a:solidFill>
                              <a:schemeClr val="tx1"/>
                            </a:solidFill>
                            <a:latin typeface="Times New Roman" panose="02020603050405020304" pitchFamily="18" charset="0"/>
                          </a:rPr>
                          <a:t>C</a:t>
                        </a:r>
                        <a:endParaRPr lang="en-US" altLang="zh-CN" sz="4400">
                          <a:solidFill>
                            <a:schemeClr val="tx1"/>
                          </a:solidFill>
                        </a:endParaRPr>
                      </a:p>
                    </p:txBody>
                  </p:sp>
                  <p:sp>
                    <p:nvSpPr>
                      <p:cNvPr id="81952" name="Text Box 39">
                        <a:extLst>
                          <a:ext uri="{FF2B5EF4-FFF2-40B4-BE49-F238E27FC236}">
                            <a16:creationId xmlns:a16="http://schemas.microsoft.com/office/drawing/2014/main" id="{AA5E7266-7FFA-0A08-3CFD-FE069A352926}"/>
                          </a:ext>
                        </a:extLst>
                      </p:cNvPr>
                      <p:cNvSpPr txBox="1">
                        <a:spLocks noChangeArrowheads="1"/>
                      </p:cNvSpPr>
                      <p:nvPr/>
                    </p:nvSpPr>
                    <p:spPr bwMode="auto">
                      <a:xfrm>
                        <a:off x="8671" y="8594"/>
                        <a:ext cx="612"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800" baseline="30000">
                            <a:solidFill>
                              <a:schemeClr val="tx1"/>
                            </a:solidFill>
                            <a:latin typeface="Times New Roman" panose="02020603050405020304" pitchFamily="18" charset="0"/>
                          </a:rPr>
                          <a:t>D</a:t>
                        </a:r>
                        <a:endParaRPr lang="en-US" altLang="zh-CN" sz="4400">
                          <a:solidFill>
                            <a:schemeClr val="tx1"/>
                          </a:solidFill>
                        </a:endParaRPr>
                      </a:p>
                    </p:txBody>
                  </p:sp>
                </p:grpSp>
              </p:grpSp>
              <p:grpSp>
                <p:nvGrpSpPr>
                  <p:cNvPr id="81942" name="Group 41">
                    <a:extLst>
                      <a:ext uri="{FF2B5EF4-FFF2-40B4-BE49-F238E27FC236}">
                        <a16:creationId xmlns:a16="http://schemas.microsoft.com/office/drawing/2014/main" id="{0DEA2D15-331F-6946-70EE-DA5B1850B398}"/>
                      </a:ext>
                    </a:extLst>
                  </p:cNvPr>
                  <p:cNvGrpSpPr>
                    <a:grpSpLocks/>
                  </p:cNvGrpSpPr>
                  <p:nvPr/>
                </p:nvGrpSpPr>
                <p:grpSpPr bwMode="auto">
                  <a:xfrm>
                    <a:off x="8379" y="4542"/>
                    <a:ext cx="786" cy="1617"/>
                    <a:chOff x="8379" y="6726"/>
                    <a:chExt cx="786" cy="1617"/>
                  </a:xfrm>
                </p:grpSpPr>
                <p:sp>
                  <p:nvSpPr>
                    <p:cNvPr id="81945" name="Text Box 42">
                      <a:extLst>
                        <a:ext uri="{FF2B5EF4-FFF2-40B4-BE49-F238E27FC236}">
                          <a16:creationId xmlns:a16="http://schemas.microsoft.com/office/drawing/2014/main" id="{A4F21543-C980-556A-E6A2-A174F9DC5898}"/>
                        </a:ext>
                      </a:extLst>
                    </p:cNvPr>
                    <p:cNvSpPr txBox="1">
                      <a:spLocks noChangeArrowheads="1"/>
                    </p:cNvSpPr>
                    <p:nvPr/>
                  </p:nvSpPr>
                  <p:spPr bwMode="auto">
                    <a:xfrm>
                      <a:off x="8553" y="7806"/>
                      <a:ext cx="612" cy="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800" baseline="30000">
                          <a:solidFill>
                            <a:srgbClr val="FF0000"/>
                          </a:solidFill>
                          <a:latin typeface="Times New Roman" panose="02020603050405020304" pitchFamily="18" charset="0"/>
                          <a:sym typeface="Symbol" panose="05050102010706020507" pitchFamily="18" charset="2"/>
                        </a:rPr>
                        <a:t></a:t>
                      </a:r>
                      <a:endParaRPr lang="en-US" altLang="zh-CN" sz="4400">
                        <a:solidFill>
                          <a:srgbClr val="FF0000"/>
                        </a:solidFill>
                      </a:endParaRPr>
                    </a:p>
                  </p:txBody>
                </p:sp>
                <p:grpSp>
                  <p:nvGrpSpPr>
                    <p:cNvPr id="81946" name="Group 43">
                      <a:extLst>
                        <a:ext uri="{FF2B5EF4-FFF2-40B4-BE49-F238E27FC236}">
                          <a16:creationId xmlns:a16="http://schemas.microsoft.com/office/drawing/2014/main" id="{66BF9834-8C1A-CD58-09B6-CCA4CB456A17}"/>
                        </a:ext>
                      </a:extLst>
                    </p:cNvPr>
                    <p:cNvGrpSpPr>
                      <a:grpSpLocks/>
                    </p:cNvGrpSpPr>
                    <p:nvPr/>
                  </p:nvGrpSpPr>
                  <p:grpSpPr bwMode="auto">
                    <a:xfrm>
                      <a:off x="8379" y="6726"/>
                      <a:ext cx="776" cy="537"/>
                      <a:chOff x="8379" y="6726"/>
                      <a:chExt cx="776" cy="537"/>
                    </a:xfrm>
                  </p:grpSpPr>
                  <p:sp>
                    <p:nvSpPr>
                      <p:cNvPr id="81947" name="Text Box 44">
                        <a:extLst>
                          <a:ext uri="{FF2B5EF4-FFF2-40B4-BE49-F238E27FC236}">
                            <a16:creationId xmlns:a16="http://schemas.microsoft.com/office/drawing/2014/main" id="{E0F932EE-A528-2A82-6435-481F0C3C68CB}"/>
                          </a:ext>
                        </a:extLst>
                      </p:cNvPr>
                      <p:cNvSpPr txBox="1">
                        <a:spLocks noChangeArrowheads="1"/>
                      </p:cNvSpPr>
                      <p:nvPr/>
                    </p:nvSpPr>
                    <p:spPr bwMode="auto">
                      <a:xfrm>
                        <a:off x="8379" y="6737"/>
                        <a:ext cx="612"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800" baseline="30000">
                            <a:solidFill>
                              <a:schemeClr val="tx1"/>
                            </a:solidFill>
                            <a:latin typeface="Times New Roman" panose="02020603050405020304" pitchFamily="18" charset="0"/>
                          </a:rPr>
                          <a:t>A</a:t>
                        </a:r>
                        <a:endParaRPr lang="en-US" altLang="zh-CN" sz="4400">
                          <a:solidFill>
                            <a:schemeClr val="tx1"/>
                          </a:solidFill>
                        </a:endParaRPr>
                      </a:p>
                    </p:txBody>
                  </p:sp>
                  <p:sp>
                    <p:nvSpPr>
                      <p:cNvPr id="81948" name="Text Box 45">
                        <a:extLst>
                          <a:ext uri="{FF2B5EF4-FFF2-40B4-BE49-F238E27FC236}">
                            <a16:creationId xmlns:a16="http://schemas.microsoft.com/office/drawing/2014/main" id="{DE039D08-1E38-23F3-34E7-03A8C1F03C18}"/>
                          </a:ext>
                        </a:extLst>
                      </p:cNvPr>
                      <p:cNvSpPr txBox="1">
                        <a:spLocks noChangeArrowheads="1"/>
                      </p:cNvSpPr>
                      <p:nvPr/>
                    </p:nvSpPr>
                    <p:spPr bwMode="auto">
                      <a:xfrm>
                        <a:off x="8543" y="6726"/>
                        <a:ext cx="612" cy="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800" baseline="30000">
                            <a:solidFill>
                              <a:srgbClr val="0066FF"/>
                            </a:solidFill>
                            <a:latin typeface="Times New Roman" panose="02020603050405020304" pitchFamily="18" charset="0"/>
                            <a:sym typeface="Symbol" panose="05050102010706020507" pitchFamily="18" charset="2"/>
                          </a:rPr>
                          <a:t></a:t>
                        </a:r>
                        <a:endParaRPr lang="en-US" altLang="zh-CN" sz="4400">
                          <a:solidFill>
                            <a:srgbClr val="0066FF"/>
                          </a:solidFill>
                        </a:endParaRPr>
                      </a:p>
                    </p:txBody>
                  </p:sp>
                </p:grpSp>
              </p:grpSp>
              <p:sp>
                <p:nvSpPr>
                  <p:cNvPr id="81943" name="Text Box 46">
                    <a:extLst>
                      <a:ext uri="{FF2B5EF4-FFF2-40B4-BE49-F238E27FC236}">
                        <a16:creationId xmlns:a16="http://schemas.microsoft.com/office/drawing/2014/main" id="{F0728876-DEF1-9281-9C98-483283935B61}"/>
                      </a:ext>
                    </a:extLst>
                  </p:cNvPr>
                  <p:cNvSpPr txBox="1">
                    <a:spLocks noChangeArrowheads="1"/>
                  </p:cNvSpPr>
                  <p:nvPr/>
                </p:nvSpPr>
                <p:spPr bwMode="auto">
                  <a:xfrm>
                    <a:off x="8389" y="5721"/>
                    <a:ext cx="612"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800" baseline="30000">
                        <a:solidFill>
                          <a:schemeClr val="tx1"/>
                        </a:solidFill>
                        <a:latin typeface="Times New Roman" panose="02020603050405020304" pitchFamily="18" charset="0"/>
                      </a:rPr>
                      <a:t>B</a:t>
                    </a:r>
                    <a:endParaRPr lang="en-US" altLang="zh-CN" sz="4400">
                      <a:solidFill>
                        <a:schemeClr val="tx1"/>
                      </a:solidFill>
                    </a:endParaRPr>
                  </a:p>
                </p:txBody>
              </p:sp>
              <p:sp>
                <p:nvSpPr>
                  <p:cNvPr id="40" name="Text Box 18">
                    <a:extLst>
                      <a:ext uri="{FF2B5EF4-FFF2-40B4-BE49-F238E27FC236}">
                        <a16:creationId xmlns:a16="http://schemas.microsoft.com/office/drawing/2014/main" id="{8B4735C2-2269-398C-0A34-DECD0D984219}"/>
                      </a:ext>
                    </a:extLst>
                  </p:cNvPr>
                  <p:cNvSpPr txBox="1">
                    <a:spLocks noChangeArrowheads="1"/>
                  </p:cNvSpPr>
                  <p:nvPr/>
                </p:nvSpPr>
                <p:spPr bwMode="auto">
                  <a:xfrm>
                    <a:off x="8975" y="3705"/>
                    <a:ext cx="320" cy="961"/>
                  </a:xfrm>
                  <a:prstGeom prst="rect">
                    <a:avLst/>
                  </a:prstGeom>
                  <a:noFill/>
                  <a:ln w="9525">
                    <a:noFill/>
                    <a:miter lim="800000"/>
                    <a:headEnd/>
                    <a:tailEnd/>
                  </a:ln>
                </p:spPr>
                <p:txBody>
                  <a:bodyPr/>
                  <a:lstStyle/>
                  <a:p>
                    <a:pPr algn="just">
                      <a:defRPr/>
                    </a:pPr>
                    <a:r>
                      <a:rPr lang="zh-CN" altLang="en-US" sz="1800" dirty="0">
                        <a:solidFill>
                          <a:schemeClr val="tx1"/>
                        </a:solidFill>
                        <a:effectLst>
                          <a:outerShdw blurRad="38100" dist="38100" dir="2700000" algn="tl">
                            <a:srgbClr val="000000">
                              <a:alpha val="43137"/>
                            </a:srgbClr>
                          </a:outerShdw>
                        </a:effectLst>
                        <a:latin typeface="幼圆" pitchFamily="49" charset="-122"/>
                        <a:ea typeface="幼圆" pitchFamily="49" charset="-122"/>
                      </a:rPr>
                      <a:t>编</a:t>
                    </a:r>
                    <a:endParaRPr lang="en-US" altLang="zh-CN" sz="1800" dirty="0">
                      <a:solidFill>
                        <a:schemeClr val="tx1"/>
                      </a:solidFill>
                      <a:effectLst>
                        <a:outerShdw blurRad="38100" dist="38100" dir="2700000" algn="tl">
                          <a:srgbClr val="000000">
                            <a:alpha val="43137"/>
                          </a:srgbClr>
                        </a:outerShdw>
                      </a:effectLst>
                      <a:latin typeface="幼圆" pitchFamily="49" charset="-122"/>
                      <a:ea typeface="幼圆" pitchFamily="49" charset="-122"/>
                    </a:endParaRPr>
                  </a:p>
                  <a:p>
                    <a:pPr algn="just">
                      <a:defRPr/>
                    </a:pPr>
                    <a:r>
                      <a:rPr lang="zh-CN" altLang="en-US" sz="1800" dirty="0">
                        <a:solidFill>
                          <a:schemeClr val="tx1"/>
                        </a:solidFill>
                        <a:effectLst>
                          <a:outerShdw blurRad="38100" dist="38100" dir="2700000" algn="tl">
                            <a:srgbClr val="000000">
                              <a:alpha val="43137"/>
                            </a:srgbClr>
                          </a:outerShdw>
                        </a:effectLst>
                        <a:latin typeface="幼圆" pitchFamily="49" charset="-122"/>
                        <a:ea typeface="幼圆" pitchFamily="49" charset="-122"/>
                      </a:rPr>
                      <a:t>码</a:t>
                    </a:r>
                    <a:endParaRPr lang="en-US" altLang="zh-CN" sz="1800" dirty="0">
                      <a:solidFill>
                        <a:schemeClr val="tx1"/>
                      </a:solidFill>
                      <a:effectLst>
                        <a:outerShdw blurRad="38100" dist="38100" dir="2700000" algn="tl">
                          <a:srgbClr val="000000">
                            <a:alpha val="43137"/>
                          </a:srgbClr>
                        </a:outerShdw>
                      </a:effectLst>
                      <a:latin typeface="幼圆" pitchFamily="49" charset="-122"/>
                      <a:ea typeface="幼圆" pitchFamily="49" charset="-122"/>
                    </a:endParaRPr>
                  </a:p>
                  <a:p>
                    <a:pPr algn="just">
                      <a:defRPr/>
                    </a:pPr>
                    <a:r>
                      <a:rPr lang="zh-CN" altLang="en-US" sz="1800" dirty="0">
                        <a:solidFill>
                          <a:srgbClr val="0066FF"/>
                        </a:solidFill>
                        <a:effectLst>
                          <a:outerShdw blurRad="38100" dist="38100" dir="2700000" algn="tl">
                            <a:srgbClr val="000000">
                              <a:alpha val="43137"/>
                            </a:srgbClr>
                          </a:outerShdw>
                        </a:effectLst>
                        <a:latin typeface="幼圆" pitchFamily="49" charset="-122"/>
                        <a:ea typeface="幼圆" pitchFamily="49" charset="-122"/>
                      </a:rPr>
                      <a:t>前</a:t>
                    </a:r>
                  </a:p>
                </p:txBody>
              </p:sp>
            </p:grpSp>
            <p:sp>
              <p:nvSpPr>
                <p:cNvPr id="81936" name="Line 47">
                  <a:extLst>
                    <a:ext uri="{FF2B5EF4-FFF2-40B4-BE49-F238E27FC236}">
                      <a16:creationId xmlns:a16="http://schemas.microsoft.com/office/drawing/2014/main" id="{85D3C6F3-E0A0-20BB-38F1-1ED4885A9B5B}"/>
                    </a:ext>
                  </a:extLst>
                </p:cNvPr>
                <p:cNvSpPr>
                  <a:spLocks noChangeShapeType="1"/>
                </p:cNvSpPr>
                <p:nvPr/>
              </p:nvSpPr>
              <p:spPr bwMode="auto">
                <a:xfrm flipH="1">
                  <a:off x="8790" y="5946"/>
                  <a:ext cx="237" cy="23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1934" name="Text Box 49">
                <a:extLst>
                  <a:ext uri="{FF2B5EF4-FFF2-40B4-BE49-F238E27FC236}">
                    <a16:creationId xmlns:a16="http://schemas.microsoft.com/office/drawing/2014/main" id="{8EFEB379-74D9-18FC-3C85-787E6E832CFF}"/>
                  </a:ext>
                </a:extLst>
              </p:cNvPr>
              <p:cNvSpPr txBox="1">
                <a:spLocks noChangeArrowheads="1"/>
              </p:cNvSpPr>
              <p:nvPr/>
            </p:nvSpPr>
            <p:spPr bwMode="auto">
              <a:xfrm>
                <a:off x="3390" y="3725"/>
                <a:ext cx="99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zh-CN" altLang="en-US" sz="2000">
                    <a:solidFill>
                      <a:srgbClr val="0000CC"/>
                    </a:solidFill>
                    <a:latin typeface="Arial" panose="020B0604020202020204" pitchFamily="34" charset="0"/>
                    <a:ea typeface="幼圆" panose="02010509060101010101" pitchFamily="49" charset="-122"/>
                    <a:cs typeface="Arial" panose="020B0604020202020204" pitchFamily="34" charset="0"/>
                  </a:rPr>
                  <a:t>信噪比 </a:t>
                </a:r>
                <a:r>
                  <a:rPr lang="en-US" altLang="zh-CN" sz="2000">
                    <a:solidFill>
                      <a:srgbClr val="0000CC"/>
                    </a:solidFill>
                    <a:latin typeface="Arial" panose="020B0604020202020204" pitchFamily="34" charset="0"/>
                    <a:ea typeface="幼圆" panose="02010509060101010101" pitchFamily="49" charset="-122"/>
                    <a:cs typeface="Arial" panose="020B0604020202020204" pitchFamily="34" charset="0"/>
                  </a:rPr>
                  <a:t>(dB)</a:t>
                </a:r>
              </a:p>
            </p:txBody>
          </p:sp>
        </p:grpSp>
        <p:sp>
          <p:nvSpPr>
            <p:cNvPr id="28" name="矩形 27">
              <a:extLst>
                <a:ext uri="{FF2B5EF4-FFF2-40B4-BE49-F238E27FC236}">
                  <a16:creationId xmlns:a16="http://schemas.microsoft.com/office/drawing/2014/main" id="{5E50D56E-9E67-A912-5317-1528932F2218}"/>
                </a:ext>
              </a:extLst>
            </p:cNvPr>
            <p:cNvSpPr/>
            <p:nvPr/>
          </p:nvSpPr>
          <p:spPr bwMode="auto">
            <a:xfrm>
              <a:off x="7472278" y="2785445"/>
              <a:ext cx="428649" cy="214319"/>
            </a:xfrm>
            <a:prstGeom prst="rect">
              <a:avLst/>
            </a:prstGeom>
            <a:solidFill>
              <a:schemeClr val="bg1">
                <a:lumMod val="95000"/>
              </a:schemeClr>
            </a:solidFill>
            <a:ln w="9525" cap="flat" cmpd="sng" algn="ctr">
              <a:solidFill>
                <a:schemeClr val="bg1">
                  <a:lumMod val="95000"/>
                </a:schemeClr>
              </a:solidFill>
              <a:prstDash val="solid"/>
              <a:miter lim="800000"/>
              <a:headEnd type="none" w="med" len="med"/>
              <a:tailEnd type="none" w="med" len="med"/>
            </a:ln>
            <a:effectLst/>
          </p:spPr>
          <p:txBody>
            <a:bodyPr wrap="none"/>
            <a:lstStyle/>
            <a:p>
              <a:pPr>
                <a:defRPr/>
              </a:pPr>
              <a:endParaRPr lang="zh-CN" altLang="en-US"/>
            </a:p>
          </p:txBody>
        </p:sp>
      </p:grpSp>
      <p:sp>
        <p:nvSpPr>
          <p:cNvPr id="75" name="矩形 74">
            <a:extLst>
              <a:ext uri="{FF2B5EF4-FFF2-40B4-BE49-F238E27FC236}">
                <a16:creationId xmlns:a16="http://schemas.microsoft.com/office/drawing/2014/main" id="{ADFA2E35-19C8-2B96-583B-00BB21D3E59B}"/>
              </a:ext>
            </a:extLst>
          </p:cNvPr>
          <p:cNvSpPr/>
          <p:nvPr/>
        </p:nvSpPr>
        <p:spPr>
          <a:xfrm>
            <a:off x="7386638" y="1374775"/>
            <a:ext cx="1371600" cy="400050"/>
          </a:xfrm>
          <a:prstGeom prst="rect">
            <a:avLst/>
          </a:prstGeom>
          <a:solidFill>
            <a:schemeClr val="bg2">
              <a:lumMod val="10000"/>
              <a:lumOff val="90000"/>
            </a:schemeClr>
          </a:solidFill>
          <a:ln>
            <a:solidFill>
              <a:schemeClr val="bg1">
                <a:lumMod val="75000"/>
              </a:schemeClr>
            </a:solidFill>
          </a:ln>
          <a:effectLst>
            <a:outerShdw blurRad="63500" sx="102000" sy="102000" algn="ctr" rotWithShape="0">
              <a:prstClr val="black">
                <a:alpha val="40000"/>
              </a:prstClr>
            </a:outerShdw>
          </a:effectLst>
        </p:spPr>
        <p:txBody>
          <a:bodyPr wrap="none">
            <a:spAutoFit/>
          </a:bodyPr>
          <a:lstStyle/>
          <a:p>
            <a:pPr>
              <a:defRPr/>
            </a:pPr>
            <a:r>
              <a:rPr kumimoji="0" lang="en-US" altLang="zh-CN" sz="2000" kern="0" dirty="0">
                <a:solidFill>
                  <a:srgbClr val="0000CC"/>
                </a:solidFill>
                <a:latin typeface="Arial" pitchFamily="34" charset="0"/>
                <a:ea typeface="幼圆" pitchFamily="49" charset="-122"/>
                <a:cs typeface="Arial" pitchFamily="34" charset="0"/>
              </a:rPr>
              <a:t>2PSK</a:t>
            </a:r>
            <a:r>
              <a:rPr kumimoji="0" lang="zh-CN" altLang="en-US" sz="2000" kern="0" dirty="0">
                <a:solidFill>
                  <a:srgbClr val="0000CC"/>
                </a:solidFill>
                <a:latin typeface="Arial" pitchFamily="34" charset="0"/>
                <a:ea typeface="幼圆" pitchFamily="49" charset="-122"/>
                <a:cs typeface="Arial" pitchFamily="34" charset="0"/>
              </a:rPr>
              <a:t>调制</a:t>
            </a:r>
            <a:endParaRPr lang="zh-CN" altLang="en-US" sz="2000" dirty="0">
              <a:solidFill>
                <a:srgbClr val="0000CC"/>
              </a:solidFill>
              <a:latin typeface="Arial" pitchFamily="34" charset="0"/>
              <a:ea typeface="幼圆" pitchFamily="49" charset="-122"/>
              <a:cs typeface="Arial" pitchFamily="34" charset="0"/>
            </a:endParaRPr>
          </a:p>
        </p:txBody>
      </p:sp>
      <p:sp>
        <p:nvSpPr>
          <p:cNvPr id="67" name="Oval 20">
            <a:extLst>
              <a:ext uri="{FF2B5EF4-FFF2-40B4-BE49-F238E27FC236}">
                <a16:creationId xmlns:a16="http://schemas.microsoft.com/office/drawing/2014/main" id="{501D0159-D093-8F99-FBEA-25ACBB5DBBA8}"/>
              </a:ext>
            </a:extLst>
          </p:cNvPr>
          <p:cNvSpPr>
            <a:spLocks noChangeArrowheads="1"/>
          </p:cNvSpPr>
          <p:nvPr/>
        </p:nvSpPr>
        <p:spPr bwMode="auto">
          <a:xfrm>
            <a:off x="3429000" y="2503488"/>
            <a:ext cx="928688" cy="517525"/>
          </a:xfrm>
          <a:prstGeom prst="ellipse">
            <a:avLst/>
          </a:prstGeom>
          <a:solidFill>
            <a:schemeClr val="bg1">
              <a:lumMod val="95000"/>
            </a:schemeClr>
          </a:solidFill>
          <a:ln w="19050">
            <a:solidFill>
              <a:schemeClr val="bg1">
                <a:lumMod val="75000"/>
              </a:schemeClr>
            </a:solidFill>
            <a:round/>
            <a:headEnd/>
            <a:tailEnd/>
          </a:ln>
          <a:effectLst>
            <a:prstShdw prst="shdw17" dist="17961" dir="13500000">
              <a:srgbClr val="5A5A5A"/>
            </a:prstShdw>
          </a:effectLst>
        </p:spPr>
        <p:txBody>
          <a:bodyPr wrap="none" anchor="ctr"/>
          <a:lstStyle/>
          <a:p>
            <a:pPr algn="ctr">
              <a:defRPr/>
            </a:pPr>
            <a:r>
              <a:rPr lang="en-US" altLang="zh-CN" sz="2000" dirty="0">
                <a:solidFill>
                  <a:srgbClr val="0066FF"/>
                </a:solidFill>
                <a:latin typeface="Arial" pitchFamily="34" charset="0"/>
                <a:ea typeface="幼圆" pitchFamily="49" charset="-122"/>
                <a:cs typeface="Arial" pitchFamily="34" charset="0"/>
              </a:rPr>
              <a:t>C</a:t>
            </a:r>
            <a:r>
              <a:rPr lang="zh-CN" altLang="en-US" sz="2000" dirty="0">
                <a:solidFill>
                  <a:srgbClr val="0066FF"/>
                </a:solidFill>
                <a:latin typeface="Arial" pitchFamily="34" charset="0"/>
                <a:ea typeface="幼圆" pitchFamily="49" charset="-122"/>
                <a:cs typeface="Arial" pitchFamily="34" charset="0"/>
              </a:rPr>
              <a:t>点</a:t>
            </a:r>
            <a:endParaRPr kumimoji="0" lang="zh-CN" altLang="en-US" sz="2000" dirty="0">
              <a:solidFill>
                <a:srgbClr val="0000CC"/>
              </a:solidFill>
              <a:effectLst>
                <a:outerShdw blurRad="38100" dist="38100" dir="2700000" algn="tl">
                  <a:srgbClr val="000000">
                    <a:alpha val="43137"/>
                  </a:srgbClr>
                </a:outerShdw>
              </a:effectLst>
              <a:latin typeface="黑体" pitchFamily="2" charset="-122"/>
              <a:ea typeface="黑体" pitchFamily="2" charset="-122"/>
            </a:endParaRPr>
          </a:p>
        </p:txBody>
      </p:sp>
      <p:cxnSp>
        <p:nvCxnSpPr>
          <p:cNvPr id="71" name="直接连接符 70">
            <a:extLst>
              <a:ext uri="{FF2B5EF4-FFF2-40B4-BE49-F238E27FC236}">
                <a16:creationId xmlns:a16="http://schemas.microsoft.com/office/drawing/2014/main" id="{0151DCE9-6077-7752-AE9F-8424ECF6C876}"/>
              </a:ext>
            </a:extLst>
          </p:cNvPr>
          <p:cNvCxnSpPr>
            <a:cxnSpLocks noChangeShapeType="1"/>
          </p:cNvCxnSpPr>
          <p:nvPr/>
        </p:nvCxnSpPr>
        <p:spPr bwMode="auto">
          <a:xfrm>
            <a:off x="5214938" y="4943475"/>
            <a:ext cx="3357562" cy="15875"/>
          </a:xfrm>
          <a:prstGeom prst="line">
            <a:avLst/>
          </a:prstGeom>
          <a:noFill/>
          <a:ln w="28575" algn="ctr">
            <a:solidFill>
              <a:srgbClr val="990099"/>
            </a:solidFill>
            <a:prstDash val="sysDot"/>
            <a:miter lim="800000"/>
            <a:headEnd/>
            <a:tailEnd/>
          </a:ln>
          <a:extLst>
            <a:ext uri="{909E8E84-426E-40DD-AFC4-6F175D3DCCD1}">
              <a14:hiddenFill xmlns:a14="http://schemas.microsoft.com/office/drawing/2010/main">
                <a:noFill/>
              </a14:hiddenFill>
            </a:ext>
          </a:extLst>
        </p:spPr>
      </p:cxnSp>
      <p:pic>
        <p:nvPicPr>
          <p:cNvPr id="91191" name="Picture 55">
            <a:extLst>
              <a:ext uri="{FF2B5EF4-FFF2-40B4-BE49-F238E27FC236}">
                <a16:creationId xmlns:a16="http://schemas.microsoft.com/office/drawing/2014/main" id="{5BA96480-0289-738D-EFCA-376339F8F2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7213" y="1128713"/>
            <a:ext cx="381476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91191"/>
                                        </p:tgtEl>
                                        <p:attrNameLst>
                                          <p:attrName>style.visibility</p:attrName>
                                        </p:attrNameLst>
                                      </p:cBhvr>
                                      <p:to>
                                        <p:strVal val="visible"/>
                                      </p:to>
                                    </p:set>
                                    <p:animEffect transition="in" filter="wipe(up)">
                                      <p:cBhvr>
                                        <p:cTn id="7" dur="1000"/>
                                        <p:tgtEl>
                                          <p:spTgt spid="91191"/>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71"/>
                                        </p:tgtEl>
                                        <p:attrNameLst>
                                          <p:attrName>style.visibility</p:attrName>
                                        </p:attrNameLst>
                                      </p:cBhvr>
                                      <p:to>
                                        <p:strVal val="visible"/>
                                      </p:to>
                                    </p:set>
                                    <p:animEffect transition="in" filter="wipe(left)">
                                      <p:cBhvr>
                                        <p:cTn id="11" dur="2000"/>
                                        <p:tgtEl>
                                          <p:spTgt spid="7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91192"/>
                                        </p:tgtEl>
                                        <p:attrNameLst>
                                          <p:attrName>style.visibility</p:attrName>
                                        </p:attrNameLst>
                                      </p:cBhvr>
                                      <p:to>
                                        <p:strVal val="visible"/>
                                      </p:to>
                                    </p:set>
                                    <p:animEffect transition="in" filter="wipe(up)">
                                      <p:cBhvr>
                                        <p:cTn id="16" dur="1000"/>
                                        <p:tgtEl>
                                          <p:spTgt spid="91192"/>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67"/>
                                        </p:tgtEl>
                                        <p:attrNameLst>
                                          <p:attrName>style.visibility</p:attrName>
                                        </p:attrNameLst>
                                      </p:cBhvr>
                                      <p:to>
                                        <p:strVal val="visible"/>
                                      </p:to>
                                    </p:set>
                                    <p:animEffect transition="in" filter="wipe(left)">
                                      <p:cBhvr>
                                        <p:cTn id="20" dur="1000"/>
                                        <p:tgtEl>
                                          <p:spTgt spid="6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91193"/>
                                        </p:tgtEl>
                                        <p:attrNameLst>
                                          <p:attrName>style.visibility</p:attrName>
                                        </p:attrNameLst>
                                      </p:cBhvr>
                                      <p:to>
                                        <p:strVal val="visible"/>
                                      </p:to>
                                    </p:set>
                                    <p:animEffect transition="in" filter="wipe(up)">
                                      <p:cBhvr>
                                        <p:cTn id="25" dur="1000"/>
                                        <p:tgtEl>
                                          <p:spTgt spid="91193"/>
                                        </p:tgtEl>
                                      </p:cBhvr>
                                    </p:animEffect>
                                  </p:childTnLst>
                                </p:cTn>
                              </p:par>
                            </p:childTnLst>
                          </p:cTn>
                        </p:par>
                        <p:par>
                          <p:cTn id="26" fill="hold" nodeType="afterGroup">
                            <p:stCondLst>
                              <p:cond delay="1000"/>
                            </p:stCondLst>
                            <p:childTnLst>
                              <p:par>
                                <p:cTn id="27" presetID="22" presetClass="entr" presetSubtype="1"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up)">
                                      <p:cBhvr>
                                        <p:cTn id="29" dur="1000"/>
                                        <p:tgtEl>
                                          <p:spTgt spid="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wipe(up)">
                                      <p:cBhvr>
                                        <p:cTn id="34"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6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B578949D-4872-98D2-0225-52C356FEF05F}"/>
              </a:ext>
            </a:extLst>
          </p:cNvPr>
          <p:cNvSpPr txBox="1">
            <a:spLocks noChangeArrowheads="1"/>
          </p:cNvSpPr>
          <p:nvPr/>
        </p:nvSpPr>
        <p:spPr>
          <a:xfrm>
            <a:off x="214313" y="3500438"/>
            <a:ext cx="8675687" cy="1071562"/>
          </a:xfrm>
          <a:prstGeom prst="rect">
            <a:avLst/>
          </a:prstGeom>
        </p:spPr>
        <p:txBody>
          <a:bodyPr/>
          <a:lstStyle/>
          <a:p>
            <a:pPr marL="342900" indent="-342900" eaLnBrk="0" hangingPunct="0">
              <a:spcBef>
                <a:spcPct val="20000"/>
              </a:spcBef>
              <a:buClr>
                <a:schemeClr val="folHlink"/>
              </a:buClr>
              <a:buSzPct val="60000"/>
              <a:buFont typeface="Wingdings" pitchFamily="2" charset="2"/>
              <a:buNone/>
              <a:defRPr/>
            </a:pPr>
            <a:r>
              <a:rPr kumimoji="0" lang="zh-CN" altLang="en-US" sz="2000" b="0" kern="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     </a:t>
            </a:r>
          </a:p>
          <a:p>
            <a:pPr marL="342900" indent="-342900" eaLnBrk="0" hangingPunct="0">
              <a:spcBef>
                <a:spcPct val="20000"/>
              </a:spcBef>
              <a:buClr>
                <a:schemeClr val="folHlink"/>
              </a:buClr>
              <a:buSzPct val="60000"/>
              <a:buFont typeface="Wingdings" pitchFamily="2" charset="2"/>
              <a:buNone/>
              <a:defRPr/>
            </a:pPr>
            <a:r>
              <a:rPr kumimoji="0" lang="zh-CN" altLang="en-US" sz="2000" b="0" kern="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        因此，纠错码主要应用于功率受限而带宽不太受限的信道中。 </a:t>
            </a:r>
          </a:p>
        </p:txBody>
      </p:sp>
      <p:sp>
        <p:nvSpPr>
          <p:cNvPr id="4" name="矩形 3">
            <a:extLst>
              <a:ext uri="{FF2B5EF4-FFF2-40B4-BE49-F238E27FC236}">
                <a16:creationId xmlns:a16="http://schemas.microsoft.com/office/drawing/2014/main" id="{48632018-F3D0-7D4F-17E8-F38160536A1A}"/>
              </a:ext>
            </a:extLst>
          </p:cNvPr>
          <p:cNvSpPr/>
          <p:nvPr/>
        </p:nvSpPr>
        <p:spPr>
          <a:xfrm>
            <a:off x="785813" y="2886075"/>
            <a:ext cx="4556125" cy="400050"/>
          </a:xfrm>
          <a:prstGeom prst="rect">
            <a:avLst/>
          </a:prstGeom>
        </p:spPr>
        <p:txBody>
          <a:bodyPr>
            <a:spAutoFit/>
          </a:bodyPr>
          <a:lstStyle/>
          <a:p>
            <a:pPr>
              <a:defRPr/>
            </a:pPr>
            <a:r>
              <a:rPr kumimoji="0" lang="en-US" altLang="zh-CN"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 </a:t>
            </a: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付出的</a:t>
            </a:r>
            <a:r>
              <a:rPr kumimoji="0" lang="zh-CN" altLang="en-US" sz="2000" b="0" kern="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代价</a:t>
            </a: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是</a:t>
            </a:r>
            <a:r>
              <a:rPr kumimoji="0" lang="zh-CN" altLang="en-US" sz="2000" b="0" kern="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带宽增大</a:t>
            </a: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a:t>
            </a:r>
            <a:endParaRPr lang="zh-CN" altLang="en-US" sz="2000" dirty="0">
              <a:effectLst>
                <a:outerShdw blurRad="38100" dist="38100" dir="2700000" algn="tl">
                  <a:srgbClr val="000000">
                    <a:alpha val="43137"/>
                  </a:srgbClr>
                </a:outerShdw>
              </a:effectLst>
              <a:latin typeface="微软雅黑" pitchFamily="34" charset="-122"/>
              <a:ea typeface="微软雅黑" pitchFamily="34" charset="-122"/>
            </a:endParaRPr>
          </a:p>
        </p:txBody>
      </p:sp>
      <p:pic>
        <p:nvPicPr>
          <p:cNvPr id="92165" name="Picture 5">
            <a:extLst>
              <a:ext uri="{FF2B5EF4-FFF2-40B4-BE49-F238E27FC236}">
                <a16:creationId xmlns:a16="http://schemas.microsoft.com/office/drawing/2014/main" id="{1821E303-C5AC-03CA-D521-16E2CDF07E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063" y="1214438"/>
            <a:ext cx="8286750" cy="124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92165"/>
                                        </p:tgtEl>
                                        <p:attrNameLst>
                                          <p:attrName>style.visibility</p:attrName>
                                        </p:attrNameLst>
                                      </p:cBhvr>
                                      <p:to>
                                        <p:strVal val="visible"/>
                                      </p:to>
                                    </p:set>
                                    <p:animEffect transition="in" filter="wipe(up)">
                                      <p:cBhvr>
                                        <p:cTn id="7" dur="1000"/>
                                        <p:tgtEl>
                                          <p:spTgt spid="921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10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wipe(up)">
                                      <p:cBhvr>
                                        <p:cTn id="1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a:extLst>
              <a:ext uri="{FF2B5EF4-FFF2-40B4-BE49-F238E27FC236}">
                <a16:creationId xmlns:a16="http://schemas.microsoft.com/office/drawing/2014/main" id="{E2F04BBB-FCA1-1486-870A-A2478FA4C9BE}"/>
              </a:ext>
            </a:extLst>
          </p:cNvPr>
          <p:cNvSpPr>
            <a:spLocks noGrp="1" noChangeArrowheads="1"/>
          </p:cNvSpPr>
          <p:nvPr>
            <p:ph type="body" idx="1"/>
          </p:nvPr>
        </p:nvSpPr>
        <p:spPr>
          <a:xfrm>
            <a:off x="571500" y="3757613"/>
            <a:ext cx="4214813" cy="1062037"/>
          </a:xfrm>
        </p:spPr>
        <p:txBody>
          <a:bodyPr/>
          <a:lstStyle/>
          <a:p>
            <a:pPr>
              <a:lnSpc>
                <a:spcPts val="3500"/>
              </a:lnSpc>
              <a:buFont typeface="Wingdings" panose="05000000000000000000" pitchFamily="2" charset="2"/>
              <a:buNone/>
              <a:defRPr/>
            </a:pPr>
            <a:r>
              <a:rPr lang="zh-CN" altLang="en-US" sz="2000" b="1" dirty="0">
                <a:latin typeface="Arial" pitchFamily="34" charset="0"/>
                <a:ea typeface="幼圆" pitchFamily="49" charset="-122"/>
                <a:cs typeface="Arial" pitchFamily="34" charset="0"/>
              </a:rPr>
              <a:t>设编码</a:t>
            </a:r>
            <a:r>
              <a:rPr lang="zh-CN" altLang="en-US" sz="2000" b="1" dirty="0">
                <a:solidFill>
                  <a:srgbClr val="0066FF"/>
                </a:solidFill>
                <a:latin typeface="Arial" pitchFamily="34" charset="0"/>
                <a:ea typeface="幼圆" pitchFamily="49" charset="-122"/>
                <a:cs typeface="Arial" pitchFamily="34" charset="0"/>
              </a:rPr>
              <a:t>前 </a:t>
            </a:r>
            <a:r>
              <a:rPr lang="zh-CN" altLang="en-US" sz="2000" b="1" dirty="0">
                <a:latin typeface="Arial" pitchFamily="34" charset="0"/>
                <a:ea typeface="幼圆" pitchFamily="49" charset="-122"/>
                <a:cs typeface="Arial" pitchFamily="34" charset="0"/>
              </a:rPr>
              <a:t>系统工作在图中</a:t>
            </a:r>
            <a:r>
              <a:rPr lang="en-US" altLang="zh-CN" sz="2000" b="1" dirty="0">
                <a:solidFill>
                  <a:srgbClr val="0066FF"/>
                </a:solidFill>
                <a:latin typeface="Arial" pitchFamily="34" charset="0"/>
                <a:ea typeface="幼圆" pitchFamily="49" charset="-122"/>
                <a:cs typeface="Arial" pitchFamily="34" charset="0"/>
              </a:rPr>
              <a:t>C</a:t>
            </a:r>
            <a:r>
              <a:rPr lang="zh-CN" altLang="en-US" sz="2000" b="1" dirty="0">
                <a:latin typeface="Arial" pitchFamily="34" charset="0"/>
                <a:ea typeface="幼圆" pitchFamily="49" charset="-122"/>
                <a:cs typeface="Arial" pitchFamily="34" charset="0"/>
              </a:rPr>
              <a:t>点，</a:t>
            </a:r>
            <a:endParaRPr lang="en-US" altLang="zh-CN" sz="2000" b="1" dirty="0">
              <a:latin typeface="Arial" pitchFamily="34" charset="0"/>
              <a:ea typeface="幼圆" pitchFamily="49" charset="-122"/>
              <a:cs typeface="Arial" pitchFamily="34" charset="0"/>
            </a:endParaRPr>
          </a:p>
          <a:p>
            <a:pPr>
              <a:lnSpc>
                <a:spcPts val="3500"/>
              </a:lnSpc>
              <a:buFont typeface="Wingdings" panose="05000000000000000000" pitchFamily="2" charset="2"/>
              <a:buNone/>
              <a:defRPr/>
            </a:pPr>
            <a:r>
              <a:rPr lang="zh-CN" altLang="en-US" sz="2000" b="1" dirty="0">
                <a:latin typeface="Arial" pitchFamily="34" charset="0"/>
                <a:ea typeface="幼圆" pitchFamily="49" charset="-122"/>
                <a:cs typeface="Arial" pitchFamily="34" charset="0"/>
              </a:rPr>
              <a:t>      提高速率后</a:t>
            </a:r>
            <a:r>
              <a:rPr lang="en-US" altLang="zh-CN" sz="2400" i="1" dirty="0" err="1">
                <a:solidFill>
                  <a:srgbClr val="FF0000"/>
                </a:solidFill>
                <a:effectLst>
                  <a:outerShdw blurRad="38100" dist="38100" dir="2700000" algn="tl">
                    <a:srgbClr val="000000">
                      <a:alpha val="43137"/>
                    </a:srgbClr>
                  </a:outerShdw>
                </a:effectLst>
                <a:latin typeface="Arial" pitchFamily="34" charset="0"/>
                <a:cs typeface="Arial" pitchFamily="34" charset="0"/>
              </a:rPr>
              <a:t>P</a:t>
            </a:r>
            <a:r>
              <a:rPr lang="en-US" altLang="zh-CN" sz="2400" baseline="-25000" dirty="0" err="1">
                <a:solidFill>
                  <a:srgbClr val="FF0000"/>
                </a:solidFill>
                <a:effectLst>
                  <a:outerShdw blurRad="38100" dist="38100" dir="2700000" algn="tl">
                    <a:srgbClr val="000000">
                      <a:alpha val="43137"/>
                    </a:srgbClr>
                  </a:outerShdw>
                </a:effectLst>
                <a:latin typeface="Arial" pitchFamily="34" charset="0"/>
                <a:cs typeface="Arial" pitchFamily="34" charset="0"/>
              </a:rPr>
              <a:t>e</a:t>
            </a:r>
            <a:r>
              <a:rPr lang="zh-CN" altLang="en-US" sz="2000" b="1" dirty="0">
                <a:latin typeface="Arial" pitchFamily="34" charset="0"/>
                <a:ea typeface="幼圆" pitchFamily="49" charset="-122"/>
                <a:cs typeface="Arial" pitchFamily="34" charset="0"/>
              </a:rPr>
              <a:t>由</a:t>
            </a:r>
            <a:r>
              <a:rPr lang="en-US" altLang="zh-CN" sz="2000" b="1" dirty="0">
                <a:solidFill>
                  <a:srgbClr val="0066FF"/>
                </a:solidFill>
                <a:latin typeface="Arial" pitchFamily="34" charset="0"/>
                <a:ea typeface="幼圆" pitchFamily="49" charset="-122"/>
                <a:cs typeface="Arial" pitchFamily="34" charset="0"/>
              </a:rPr>
              <a:t>C</a:t>
            </a:r>
            <a:r>
              <a:rPr lang="zh-CN" altLang="en-US" sz="2000" b="1" dirty="0">
                <a:latin typeface="Arial" pitchFamily="34" charset="0"/>
                <a:ea typeface="幼圆" pitchFamily="49" charset="-122"/>
                <a:cs typeface="Arial" pitchFamily="34" charset="0"/>
              </a:rPr>
              <a:t>点升到</a:t>
            </a:r>
            <a:r>
              <a:rPr lang="en-US" altLang="zh-CN" sz="2000" b="1" dirty="0">
                <a:solidFill>
                  <a:srgbClr val="0066FF"/>
                </a:solidFill>
                <a:latin typeface="Arial" pitchFamily="34" charset="0"/>
                <a:ea typeface="幼圆" pitchFamily="49" charset="-122"/>
                <a:cs typeface="Arial" pitchFamily="34" charset="0"/>
              </a:rPr>
              <a:t>E</a:t>
            </a:r>
            <a:r>
              <a:rPr lang="zh-CN" altLang="en-US" sz="2000" b="1" dirty="0">
                <a:latin typeface="Arial" pitchFamily="34" charset="0"/>
                <a:ea typeface="幼圆" pitchFamily="49" charset="-122"/>
                <a:cs typeface="Arial" pitchFamily="34" charset="0"/>
              </a:rPr>
              <a:t>点。</a:t>
            </a:r>
            <a:endParaRPr lang="en-US" altLang="zh-CN" sz="2000" b="1" dirty="0">
              <a:latin typeface="Arial" pitchFamily="34" charset="0"/>
              <a:ea typeface="幼圆" pitchFamily="49" charset="-122"/>
              <a:cs typeface="Arial" pitchFamily="34" charset="0"/>
            </a:endParaRPr>
          </a:p>
          <a:p>
            <a:pPr>
              <a:lnSpc>
                <a:spcPts val="3500"/>
              </a:lnSpc>
              <a:buFont typeface="Wingdings" panose="05000000000000000000" pitchFamily="2" charset="2"/>
              <a:buNone/>
              <a:defRPr/>
            </a:pPr>
            <a:endParaRPr lang="en-US" altLang="zh-CN" sz="2000" b="1" dirty="0">
              <a:latin typeface="Arial" pitchFamily="34" charset="0"/>
              <a:ea typeface="幼圆" pitchFamily="49" charset="-122"/>
              <a:cs typeface="Arial" pitchFamily="34" charset="0"/>
            </a:endParaRPr>
          </a:p>
        </p:txBody>
      </p:sp>
      <p:sp>
        <p:nvSpPr>
          <p:cNvPr id="4100" name="Rectangle 5">
            <a:extLst>
              <a:ext uri="{FF2B5EF4-FFF2-40B4-BE49-F238E27FC236}">
                <a16:creationId xmlns:a16="http://schemas.microsoft.com/office/drawing/2014/main" id="{173E4B30-4C87-D663-C76F-B6604452F57D}"/>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53" name="矩形 52">
            <a:extLst>
              <a:ext uri="{FF2B5EF4-FFF2-40B4-BE49-F238E27FC236}">
                <a16:creationId xmlns:a16="http://schemas.microsoft.com/office/drawing/2014/main" id="{717C9640-17DC-3B34-E528-E1286B05F901}"/>
              </a:ext>
            </a:extLst>
          </p:cNvPr>
          <p:cNvSpPr/>
          <p:nvPr/>
        </p:nvSpPr>
        <p:spPr>
          <a:xfrm>
            <a:off x="571500" y="476250"/>
            <a:ext cx="7929563" cy="523875"/>
          </a:xfrm>
          <a:prstGeom prst="rect">
            <a:avLst/>
          </a:prstGeom>
        </p:spPr>
        <p:txBody>
          <a:bodyPr>
            <a:spAutoFit/>
          </a:bodyPr>
          <a:lstStyle/>
          <a:p>
            <a:pPr marL="285750" lvl="1" indent="-285750" eaLnBrk="0" hangingPunct="0">
              <a:spcBef>
                <a:spcPct val="20000"/>
              </a:spcBef>
              <a:buClr>
                <a:srgbClr val="FF0000"/>
              </a:buClr>
              <a:buSzPct val="85000"/>
              <a:buFont typeface="Wingdings" pitchFamily="2" charset="2"/>
              <a:buChar char="n"/>
              <a:defRPr/>
            </a:pPr>
            <a:r>
              <a:rPr lang="zh-CN" altLang="en-US" sz="2800" dirty="0">
                <a:solidFill>
                  <a:schemeClr val="tx1"/>
                </a:solidFill>
                <a:latin typeface="Arial" pitchFamily="34" charset="0"/>
                <a:ea typeface="黑体" pitchFamily="2" charset="-122"/>
                <a:cs typeface="Arial" pitchFamily="34" charset="0"/>
              </a:rPr>
              <a:t>传输速率</a:t>
            </a:r>
            <a:r>
              <a:rPr lang="en-US" altLang="zh-CN" sz="2800" i="1" dirty="0">
                <a:solidFill>
                  <a:srgbClr val="0000CC"/>
                </a:solidFill>
                <a:latin typeface="Arial" pitchFamily="34" charset="0"/>
                <a:ea typeface="幼圆" pitchFamily="49" charset="-122"/>
                <a:cs typeface="Arial" pitchFamily="34" charset="0"/>
              </a:rPr>
              <a:t>R</a:t>
            </a:r>
            <a:r>
              <a:rPr lang="en-US" altLang="zh-CN" sz="2800" i="1" baseline="-25000" dirty="0">
                <a:solidFill>
                  <a:srgbClr val="0000CC"/>
                </a:solidFill>
                <a:latin typeface="Arial" pitchFamily="34" charset="0"/>
                <a:ea typeface="幼圆" pitchFamily="49" charset="-122"/>
                <a:cs typeface="Arial" pitchFamily="34" charset="0"/>
              </a:rPr>
              <a:t>B</a:t>
            </a:r>
            <a:r>
              <a:rPr lang="zh-CN" altLang="en-US" sz="2800" dirty="0">
                <a:solidFill>
                  <a:srgbClr val="0000CC"/>
                </a:solidFill>
                <a:latin typeface="Arial" pitchFamily="34" charset="0"/>
                <a:ea typeface="黑体" pitchFamily="2" charset="-122"/>
                <a:cs typeface="Arial" pitchFamily="34" charset="0"/>
              </a:rPr>
              <a:t> </a:t>
            </a:r>
            <a:r>
              <a:rPr lang="zh-CN" altLang="en-US" sz="2800" dirty="0">
                <a:solidFill>
                  <a:schemeClr val="tx1"/>
                </a:solidFill>
                <a:latin typeface="Arial" pitchFamily="34" charset="0"/>
                <a:ea typeface="黑体" pitchFamily="2" charset="-122"/>
                <a:cs typeface="Arial" pitchFamily="34" charset="0"/>
              </a:rPr>
              <a:t>和 信噪比</a:t>
            </a:r>
            <a:r>
              <a:rPr lang="en-US" altLang="zh-CN" sz="2800" dirty="0" err="1">
                <a:solidFill>
                  <a:srgbClr val="0000CC"/>
                </a:solidFill>
                <a:latin typeface="Arial" pitchFamily="34" charset="0"/>
                <a:ea typeface="黑体" pitchFamily="2" charset="-122"/>
                <a:cs typeface="Arial" pitchFamily="34" charset="0"/>
              </a:rPr>
              <a:t>E</a:t>
            </a:r>
            <a:r>
              <a:rPr lang="en-US" altLang="zh-CN" sz="2800" baseline="-25000" dirty="0" err="1">
                <a:solidFill>
                  <a:srgbClr val="0000CC"/>
                </a:solidFill>
                <a:latin typeface="Arial" pitchFamily="34" charset="0"/>
                <a:ea typeface="黑体" pitchFamily="2" charset="-122"/>
                <a:cs typeface="Arial" pitchFamily="34" charset="0"/>
              </a:rPr>
              <a:t>b</a:t>
            </a:r>
            <a:r>
              <a:rPr lang="en-US" altLang="zh-CN" sz="2800" dirty="0">
                <a:solidFill>
                  <a:srgbClr val="0000CC"/>
                </a:solidFill>
                <a:latin typeface="Arial" pitchFamily="34" charset="0"/>
                <a:ea typeface="黑体" pitchFamily="2" charset="-122"/>
                <a:cs typeface="Arial" pitchFamily="34" charset="0"/>
              </a:rPr>
              <a:t>/n</a:t>
            </a:r>
            <a:r>
              <a:rPr lang="en-US" altLang="zh-CN" sz="2800" baseline="-25000" dirty="0">
                <a:solidFill>
                  <a:srgbClr val="0000CC"/>
                </a:solidFill>
                <a:latin typeface="Arial" pitchFamily="34" charset="0"/>
                <a:ea typeface="黑体" pitchFamily="2" charset="-122"/>
                <a:cs typeface="Arial" pitchFamily="34" charset="0"/>
              </a:rPr>
              <a:t>0</a:t>
            </a:r>
            <a:r>
              <a:rPr lang="zh-CN" altLang="en-US" sz="2800" dirty="0">
                <a:solidFill>
                  <a:schemeClr val="tx1"/>
                </a:solidFill>
                <a:latin typeface="Arial" pitchFamily="34" charset="0"/>
                <a:ea typeface="黑体" pitchFamily="2" charset="-122"/>
                <a:cs typeface="Arial" pitchFamily="34" charset="0"/>
              </a:rPr>
              <a:t>的关系</a:t>
            </a:r>
            <a:endParaRPr kumimoji="0" lang="zh-CN" altLang="en-US" sz="2800" kern="0" dirty="0">
              <a:solidFill>
                <a:srgbClr val="000000"/>
              </a:solidFill>
              <a:latin typeface="黑体" pitchFamily="2" charset="-122"/>
              <a:ea typeface="黑体" pitchFamily="2" charset="-122"/>
            </a:endParaRPr>
          </a:p>
        </p:txBody>
      </p:sp>
      <p:sp>
        <p:nvSpPr>
          <p:cNvPr id="55" name="矩形 54">
            <a:extLst>
              <a:ext uri="{FF2B5EF4-FFF2-40B4-BE49-F238E27FC236}">
                <a16:creationId xmlns:a16="http://schemas.microsoft.com/office/drawing/2014/main" id="{774DD292-25DA-4BC9-C8F6-616C1FE93206}"/>
              </a:ext>
            </a:extLst>
          </p:cNvPr>
          <p:cNvSpPr/>
          <p:nvPr/>
        </p:nvSpPr>
        <p:spPr>
          <a:xfrm>
            <a:off x="600075" y="2579688"/>
            <a:ext cx="4329113" cy="1063625"/>
          </a:xfrm>
          <a:prstGeom prst="rect">
            <a:avLst/>
          </a:prstGeom>
        </p:spPr>
        <p:txBody>
          <a:bodyPr>
            <a:spAutoFit/>
          </a:bodyPr>
          <a:lstStyle/>
          <a:p>
            <a:pPr marL="285750" indent="-285750" eaLnBrk="0" hangingPunct="0">
              <a:lnSpc>
                <a:spcPts val="3500"/>
              </a:lnSpc>
              <a:spcBef>
                <a:spcPct val="20000"/>
              </a:spcBef>
              <a:buClr>
                <a:srgbClr val="FF0000"/>
              </a:buClr>
              <a:buSzPct val="55000"/>
              <a:defRPr/>
            </a:pPr>
            <a:r>
              <a:rPr kumimoji="0" lang="zh-CN" altLang="en-US" sz="2000" kern="0" dirty="0">
                <a:solidFill>
                  <a:srgbClr val="000000"/>
                </a:solidFill>
                <a:latin typeface="幼圆" pitchFamily="49" charset="-122"/>
                <a:ea typeface="幼圆" pitchFamily="49" charset="-122"/>
              </a:rPr>
              <a:t>若希望提高</a:t>
            </a:r>
            <a:r>
              <a:rPr lang="en-US" altLang="zh-CN" sz="2400" i="1" dirty="0">
                <a:solidFill>
                  <a:srgbClr val="0000CC"/>
                </a:solidFill>
                <a:latin typeface="Arial" pitchFamily="34" charset="0"/>
                <a:ea typeface="幼圆" pitchFamily="49" charset="-122"/>
                <a:cs typeface="Arial" pitchFamily="34" charset="0"/>
              </a:rPr>
              <a:t>R</a:t>
            </a:r>
            <a:r>
              <a:rPr lang="en-US" altLang="zh-CN" sz="2400" i="1" baseline="-25000" dirty="0">
                <a:solidFill>
                  <a:srgbClr val="0000CC"/>
                </a:solidFill>
                <a:latin typeface="Arial" pitchFamily="34" charset="0"/>
                <a:ea typeface="幼圆" pitchFamily="49" charset="-122"/>
                <a:cs typeface="Arial" pitchFamily="34" charset="0"/>
              </a:rPr>
              <a:t>B</a:t>
            </a:r>
            <a:r>
              <a:rPr kumimoji="0" lang="zh-CN" altLang="en-US" sz="2000" kern="0" dirty="0">
                <a:solidFill>
                  <a:srgbClr val="000000"/>
                </a:solidFill>
                <a:latin typeface="幼圆" pitchFamily="49" charset="-122"/>
                <a:ea typeface="幼圆" pitchFamily="49" charset="-122"/>
              </a:rPr>
              <a:t>，</a:t>
            </a:r>
            <a:endParaRPr kumimoji="0" lang="en-US" altLang="zh-CN" sz="2000" kern="0" dirty="0">
              <a:solidFill>
                <a:srgbClr val="000000"/>
              </a:solidFill>
              <a:latin typeface="幼圆" pitchFamily="49" charset="-122"/>
              <a:ea typeface="幼圆" pitchFamily="49" charset="-122"/>
            </a:endParaRPr>
          </a:p>
          <a:p>
            <a:pPr marL="285750" indent="-285750" eaLnBrk="0" hangingPunct="0">
              <a:lnSpc>
                <a:spcPts val="3500"/>
              </a:lnSpc>
              <a:spcBef>
                <a:spcPct val="20000"/>
              </a:spcBef>
              <a:buClr>
                <a:srgbClr val="FF0000"/>
              </a:buClr>
              <a:buSzPct val="55000"/>
              <a:defRPr/>
            </a:pPr>
            <a:r>
              <a:rPr kumimoji="0" lang="zh-CN" altLang="en-US" sz="2000" kern="0" dirty="0">
                <a:solidFill>
                  <a:srgbClr val="000000"/>
                </a:solidFill>
                <a:latin typeface="幼圆" pitchFamily="49" charset="-122"/>
                <a:ea typeface="幼圆" pitchFamily="49" charset="-122"/>
              </a:rPr>
              <a:t>则必使</a:t>
            </a:r>
            <a:r>
              <a:rPr lang="en-US" altLang="zh-CN" sz="2400" dirty="0" err="1">
                <a:solidFill>
                  <a:srgbClr val="0000CC"/>
                </a:solidFill>
                <a:latin typeface="Arial" pitchFamily="34" charset="0"/>
                <a:ea typeface="黑体" pitchFamily="2" charset="-122"/>
                <a:cs typeface="Arial" pitchFamily="34" charset="0"/>
              </a:rPr>
              <a:t>E</a:t>
            </a:r>
            <a:r>
              <a:rPr lang="en-US" altLang="zh-CN" sz="2400" baseline="-25000" dirty="0" err="1">
                <a:solidFill>
                  <a:srgbClr val="0000CC"/>
                </a:solidFill>
                <a:latin typeface="Arial" pitchFamily="34" charset="0"/>
                <a:ea typeface="黑体" pitchFamily="2" charset="-122"/>
                <a:cs typeface="Arial" pitchFamily="34" charset="0"/>
              </a:rPr>
              <a:t>b</a:t>
            </a:r>
            <a:r>
              <a:rPr lang="en-US" altLang="zh-CN" sz="2400" dirty="0">
                <a:solidFill>
                  <a:srgbClr val="0000CC"/>
                </a:solidFill>
                <a:latin typeface="Arial" pitchFamily="34" charset="0"/>
                <a:ea typeface="黑体" pitchFamily="2" charset="-122"/>
                <a:cs typeface="Arial" pitchFamily="34" charset="0"/>
              </a:rPr>
              <a:t>/n</a:t>
            </a:r>
            <a:r>
              <a:rPr lang="en-US" altLang="zh-CN" sz="2400" baseline="-25000" dirty="0">
                <a:solidFill>
                  <a:srgbClr val="0000CC"/>
                </a:solidFill>
                <a:latin typeface="Arial" pitchFamily="34" charset="0"/>
                <a:ea typeface="黑体" pitchFamily="2" charset="-122"/>
                <a:cs typeface="Arial" pitchFamily="34" charset="0"/>
              </a:rPr>
              <a:t>0</a:t>
            </a:r>
            <a:r>
              <a:rPr kumimoji="0" lang="zh-CN" altLang="en-US" sz="2000" kern="0" dirty="0">
                <a:solidFill>
                  <a:srgbClr val="000000"/>
                </a:solidFill>
                <a:latin typeface="幼圆" pitchFamily="49" charset="-122"/>
                <a:ea typeface="幼圆" pitchFamily="49" charset="-122"/>
              </a:rPr>
              <a:t>下降，误码率</a:t>
            </a:r>
            <a:r>
              <a:rPr lang="en-US" altLang="zh-CN" sz="2400" b="0" i="1" dirty="0" err="1">
                <a:solidFill>
                  <a:srgbClr val="FF0000"/>
                </a:solidFill>
                <a:effectLst>
                  <a:outerShdw blurRad="38100" dist="38100" dir="2700000" algn="tl">
                    <a:srgbClr val="000000">
                      <a:alpha val="43137"/>
                    </a:srgbClr>
                  </a:outerShdw>
                </a:effectLst>
                <a:latin typeface="Arial" pitchFamily="34" charset="0"/>
                <a:cs typeface="Arial" pitchFamily="34" charset="0"/>
              </a:rPr>
              <a:t>P</a:t>
            </a:r>
            <a:r>
              <a:rPr lang="en-US" altLang="zh-CN" sz="2400" b="0" baseline="-25000" dirty="0" err="1">
                <a:solidFill>
                  <a:srgbClr val="FF0000"/>
                </a:solidFill>
                <a:effectLst>
                  <a:outerShdw blurRad="38100" dist="38100" dir="2700000" algn="tl">
                    <a:srgbClr val="000000">
                      <a:alpha val="43137"/>
                    </a:srgbClr>
                  </a:outerShdw>
                </a:effectLst>
                <a:latin typeface="Arial" pitchFamily="34" charset="0"/>
                <a:cs typeface="Arial" pitchFamily="34" charset="0"/>
              </a:rPr>
              <a:t>e</a:t>
            </a:r>
            <a:r>
              <a:rPr kumimoji="0" lang="zh-CN" altLang="en-US" sz="2000" kern="0" dirty="0">
                <a:solidFill>
                  <a:srgbClr val="000000"/>
                </a:solidFill>
                <a:latin typeface="幼圆" pitchFamily="49" charset="-122"/>
                <a:ea typeface="幼圆" pitchFamily="49" charset="-122"/>
              </a:rPr>
              <a:t>增大。</a:t>
            </a:r>
            <a:endParaRPr lang="zh-CN" altLang="en-US" dirty="0"/>
          </a:p>
        </p:txBody>
      </p:sp>
      <p:sp>
        <p:nvSpPr>
          <p:cNvPr id="56" name="矩形 55">
            <a:extLst>
              <a:ext uri="{FF2B5EF4-FFF2-40B4-BE49-F238E27FC236}">
                <a16:creationId xmlns:a16="http://schemas.microsoft.com/office/drawing/2014/main" id="{2DAF0FB1-AA07-06C3-8F31-114DB17338F3}"/>
              </a:ext>
            </a:extLst>
          </p:cNvPr>
          <p:cNvSpPr/>
          <p:nvPr/>
        </p:nvSpPr>
        <p:spPr>
          <a:xfrm>
            <a:off x="571500" y="5715000"/>
            <a:ext cx="4286250" cy="541338"/>
          </a:xfrm>
          <a:prstGeom prst="rect">
            <a:avLst/>
          </a:prstGeom>
        </p:spPr>
        <p:txBody>
          <a:bodyPr>
            <a:spAutoFit/>
          </a:bodyPr>
          <a:lstStyle/>
          <a:p>
            <a:pPr marL="342900" indent="-342900" eaLnBrk="0" hangingPunct="0">
              <a:lnSpc>
                <a:spcPts val="3500"/>
              </a:lnSpc>
              <a:spcBef>
                <a:spcPct val="20000"/>
              </a:spcBef>
              <a:buClr>
                <a:srgbClr val="3333CC"/>
              </a:buClr>
              <a:buSzPct val="60000"/>
              <a:defRPr/>
            </a:pPr>
            <a:r>
              <a:rPr kumimoji="0" lang="zh-CN" altLang="en-US" sz="2000" kern="0" dirty="0">
                <a:solidFill>
                  <a:srgbClr val="000000"/>
                </a:solidFill>
                <a:latin typeface="Arial" pitchFamily="34" charset="0"/>
                <a:ea typeface="幼圆" pitchFamily="49" charset="-122"/>
                <a:cs typeface="Arial" pitchFamily="34" charset="0"/>
              </a:rPr>
              <a:t>这时付出的代价仍是带宽增大。</a:t>
            </a:r>
          </a:p>
        </p:txBody>
      </p:sp>
      <p:grpSp>
        <p:nvGrpSpPr>
          <p:cNvPr id="4104" name="组合 25">
            <a:extLst>
              <a:ext uri="{FF2B5EF4-FFF2-40B4-BE49-F238E27FC236}">
                <a16:creationId xmlns:a16="http://schemas.microsoft.com/office/drawing/2014/main" id="{C18FD93B-74C5-CCF6-F16E-A7AF2B6C2421}"/>
              </a:ext>
            </a:extLst>
          </p:cNvPr>
          <p:cNvGrpSpPr>
            <a:grpSpLocks/>
          </p:cNvGrpSpPr>
          <p:nvPr/>
        </p:nvGrpSpPr>
        <p:grpSpPr bwMode="auto">
          <a:xfrm>
            <a:off x="4643438" y="1435100"/>
            <a:ext cx="4471987" cy="4894263"/>
            <a:chOff x="4730510" y="1344966"/>
            <a:chExt cx="4472241" cy="4894989"/>
          </a:xfrm>
        </p:grpSpPr>
        <p:grpSp>
          <p:nvGrpSpPr>
            <p:cNvPr id="4107" name="Group 50">
              <a:extLst>
                <a:ext uri="{FF2B5EF4-FFF2-40B4-BE49-F238E27FC236}">
                  <a16:creationId xmlns:a16="http://schemas.microsoft.com/office/drawing/2014/main" id="{75D6482E-01DF-EE07-D967-AD5940CFC0B8}"/>
                </a:ext>
              </a:extLst>
            </p:cNvPr>
            <p:cNvGrpSpPr>
              <a:grpSpLocks/>
            </p:cNvGrpSpPr>
            <p:nvPr/>
          </p:nvGrpSpPr>
          <p:grpSpPr bwMode="auto">
            <a:xfrm>
              <a:off x="4730510" y="1344966"/>
              <a:ext cx="4472241" cy="4894989"/>
              <a:chOff x="2527" y="1211"/>
              <a:chExt cx="2512" cy="2727"/>
            </a:xfrm>
          </p:grpSpPr>
          <p:grpSp>
            <p:nvGrpSpPr>
              <p:cNvPr id="4109" name="Group 5">
                <a:extLst>
                  <a:ext uri="{FF2B5EF4-FFF2-40B4-BE49-F238E27FC236}">
                    <a16:creationId xmlns:a16="http://schemas.microsoft.com/office/drawing/2014/main" id="{8802C1CD-5DDE-5EC1-6273-3956FEA919D5}"/>
                  </a:ext>
                </a:extLst>
              </p:cNvPr>
              <p:cNvGrpSpPr>
                <a:grpSpLocks/>
              </p:cNvGrpSpPr>
              <p:nvPr/>
            </p:nvGrpSpPr>
            <p:grpSpPr bwMode="auto">
              <a:xfrm>
                <a:off x="2527" y="1211"/>
                <a:ext cx="2512" cy="2713"/>
                <a:chOff x="6227" y="2695"/>
                <a:chExt cx="4004" cy="5180"/>
              </a:xfrm>
            </p:grpSpPr>
            <p:grpSp>
              <p:nvGrpSpPr>
                <p:cNvPr id="4111" name="Group 6">
                  <a:extLst>
                    <a:ext uri="{FF2B5EF4-FFF2-40B4-BE49-F238E27FC236}">
                      <a16:creationId xmlns:a16="http://schemas.microsoft.com/office/drawing/2014/main" id="{BBBB6636-FE35-C914-1AC2-EEE89F5F85C2}"/>
                    </a:ext>
                  </a:extLst>
                </p:cNvPr>
                <p:cNvGrpSpPr>
                  <a:grpSpLocks/>
                </p:cNvGrpSpPr>
                <p:nvPr/>
              </p:nvGrpSpPr>
              <p:grpSpPr bwMode="auto">
                <a:xfrm>
                  <a:off x="6227" y="2695"/>
                  <a:ext cx="4004" cy="5180"/>
                  <a:chOff x="6227" y="2695"/>
                  <a:chExt cx="4004" cy="5180"/>
                </a:xfrm>
              </p:grpSpPr>
              <p:grpSp>
                <p:nvGrpSpPr>
                  <p:cNvPr id="4113" name="Group 7">
                    <a:extLst>
                      <a:ext uri="{FF2B5EF4-FFF2-40B4-BE49-F238E27FC236}">
                        <a16:creationId xmlns:a16="http://schemas.microsoft.com/office/drawing/2014/main" id="{4F93F74C-EEE6-D39A-7CB0-684FB5B810CC}"/>
                      </a:ext>
                    </a:extLst>
                  </p:cNvPr>
                  <p:cNvGrpSpPr>
                    <a:grpSpLocks/>
                  </p:cNvGrpSpPr>
                  <p:nvPr/>
                </p:nvGrpSpPr>
                <p:grpSpPr bwMode="auto">
                  <a:xfrm>
                    <a:off x="6227" y="2695"/>
                    <a:ext cx="3928" cy="5180"/>
                    <a:chOff x="6215" y="4726"/>
                    <a:chExt cx="3928" cy="5180"/>
                  </a:xfrm>
                </p:grpSpPr>
                <p:grpSp>
                  <p:nvGrpSpPr>
                    <p:cNvPr id="4139" name="Group 8">
                      <a:extLst>
                        <a:ext uri="{FF2B5EF4-FFF2-40B4-BE49-F238E27FC236}">
                          <a16:creationId xmlns:a16="http://schemas.microsoft.com/office/drawing/2014/main" id="{AF5A9BEC-2851-E9FF-EAC6-E04DABC983A1}"/>
                        </a:ext>
                      </a:extLst>
                    </p:cNvPr>
                    <p:cNvGrpSpPr>
                      <a:grpSpLocks/>
                    </p:cNvGrpSpPr>
                    <p:nvPr/>
                  </p:nvGrpSpPr>
                  <p:grpSpPr bwMode="auto">
                    <a:xfrm>
                      <a:off x="6612" y="4797"/>
                      <a:ext cx="3531" cy="5109"/>
                      <a:chOff x="6174" y="4797"/>
                      <a:chExt cx="3969" cy="5109"/>
                    </a:xfrm>
                  </p:grpSpPr>
                  <p:pic>
                    <p:nvPicPr>
                      <p:cNvPr id="4147" name="Picture 9" descr="编码与误码率关系">
                        <a:extLst>
                          <a:ext uri="{FF2B5EF4-FFF2-40B4-BE49-F238E27FC236}">
                            <a16:creationId xmlns:a16="http://schemas.microsoft.com/office/drawing/2014/main" id="{43378083-55EF-7AE2-CFDE-879168BA13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4" y="4797"/>
                        <a:ext cx="3969" cy="5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48" name="Line 10">
                        <a:extLst>
                          <a:ext uri="{FF2B5EF4-FFF2-40B4-BE49-F238E27FC236}">
                            <a16:creationId xmlns:a16="http://schemas.microsoft.com/office/drawing/2014/main" id="{9FC8AB5A-2CA9-3DA1-BB61-D169366D115F}"/>
                          </a:ext>
                        </a:extLst>
                      </p:cNvPr>
                      <p:cNvSpPr>
                        <a:spLocks noChangeShapeType="1"/>
                      </p:cNvSpPr>
                      <p:nvPr/>
                    </p:nvSpPr>
                    <p:spPr bwMode="auto">
                      <a:xfrm>
                        <a:off x="6297" y="4872"/>
                        <a:ext cx="0" cy="453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140" name="Group 11">
                      <a:extLst>
                        <a:ext uri="{FF2B5EF4-FFF2-40B4-BE49-F238E27FC236}">
                          <a16:creationId xmlns:a16="http://schemas.microsoft.com/office/drawing/2014/main" id="{1A91F9BE-BD51-BA8B-424A-B405FCEF979D}"/>
                        </a:ext>
                      </a:extLst>
                    </p:cNvPr>
                    <p:cNvGrpSpPr>
                      <a:grpSpLocks/>
                    </p:cNvGrpSpPr>
                    <p:nvPr/>
                  </p:nvGrpSpPr>
                  <p:grpSpPr bwMode="auto">
                    <a:xfrm>
                      <a:off x="6215" y="4726"/>
                      <a:ext cx="600" cy="4924"/>
                      <a:chOff x="6215" y="4726"/>
                      <a:chExt cx="600" cy="4924"/>
                    </a:xfrm>
                  </p:grpSpPr>
                  <p:sp>
                    <p:nvSpPr>
                      <p:cNvPr id="4141" name="Text Box 12">
                        <a:extLst>
                          <a:ext uri="{FF2B5EF4-FFF2-40B4-BE49-F238E27FC236}">
                            <a16:creationId xmlns:a16="http://schemas.microsoft.com/office/drawing/2014/main" id="{AC1A32E7-F0DB-69B1-5AA5-6E78772D85DA}"/>
                          </a:ext>
                        </a:extLst>
                      </p:cNvPr>
                      <p:cNvSpPr txBox="1">
                        <a:spLocks noChangeArrowheads="1"/>
                      </p:cNvSpPr>
                      <p:nvPr/>
                    </p:nvSpPr>
                    <p:spPr bwMode="auto">
                      <a:xfrm>
                        <a:off x="6215" y="9212"/>
                        <a:ext cx="60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a:solidFill>
                              <a:schemeClr val="tx1"/>
                            </a:solidFill>
                            <a:latin typeface="Arial" panose="020B0604020202020204" pitchFamily="34" charset="0"/>
                            <a:cs typeface="Arial" panose="020B0604020202020204" pitchFamily="34" charset="0"/>
                          </a:rPr>
                          <a:t>10</a:t>
                        </a:r>
                        <a:r>
                          <a:rPr lang="en-US" altLang="zh-CN" sz="2000" baseline="30000">
                            <a:solidFill>
                              <a:schemeClr val="tx1"/>
                            </a:solidFill>
                            <a:latin typeface="Arial" panose="020B0604020202020204" pitchFamily="34" charset="0"/>
                            <a:cs typeface="Arial" panose="020B0604020202020204" pitchFamily="34" charset="0"/>
                          </a:rPr>
                          <a:t>-6</a:t>
                        </a:r>
                        <a:endParaRPr lang="en-US" altLang="zh-CN" sz="2000">
                          <a:solidFill>
                            <a:schemeClr val="tx1"/>
                          </a:solidFill>
                          <a:latin typeface="Arial" panose="020B0604020202020204" pitchFamily="34" charset="0"/>
                          <a:cs typeface="Arial" panose="020B0604020202020204" pitchFamily="34" charset="0"/>
                        </a:endParaRPr>
                      </a:p>
                    </p:txBody>
                  </p:sp>
                  <p:sp>
                    <p:nvSpPr>
                      <p:cNvPr id="4142" name="Text Box 13">
                        <a:extLst>
                          <a:ext uri="{FF2B5EF4-FFF2-40B4-BE49-F238E27FC236}">
                            <a16:creationId xmlns:a16="http://schemas.microsoft.com/office/drawing/2014/main" id="{9F57D3F6-23CA-2DA6-DC35-372F9FFECEB3}"/>
                          </a:ext>
                        </a:extLst>
                      </p:cNvPr>
                      <p:cNvSpPr txBox="1">
                        <a:spLocks noChangeArrowheads="1"/>
                      </p:cNvSpPr>
                      <p:nvPr/>
                    </p:nvSpPr>
                    <p:spPr bwMode="auto">
                      <a:xfrm>
                        <a:off x="6215" y="8323"/>
                        <a:ext cx="60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a:solidFill>
                              <a:schemeClr val="tx1"/>
                            </a:solidFill>
                            <a:latin typeface="Arial" panose="020B0604020202020204" pitchFamily="34" charset="0"/>
                            <a:cs typeface="Arial" panose="020B0604020202020204" pitchFamily="34" charset="0"/>
                          </a:rPr>
                          <a:t>10</a:t>
                        </a:r>
                        <a:r>
                          <a:rPr lang="en-US" altLang="zh-CN" sz="2000" baseline="30000">
                            <a:solidFill>
                              <a:schemeClr val="tx1"/>
                            </a:solidFill>
                            <a:latin typeface="Arial" panose="020B0604020202020204" pitchFamily="34" charset="0"/>
                            <a:cs typeface="Arial" panose="020B0604020202020204" pitchFamily="34" charset="0"/>
                          </a:rPr>
                          <a:t>-5</a:t>
                        </a:r>
                        <a:endParaRPr lang="en-US" altLang="zh-CN" sz="2000">
                          <a:solidFill>
                            <a:schemeClr val="tx1"/>
                          </a:solidFill>
                          <a:latin typeface="Arial" panose="020B0604020202020204" pitchFamily="34" charset="0"/>
                          <a:cs typeface="Arial" panose="020B0604020202020204" pitchFamily="34" charset="0"/>
                        </a:endParaRPr>
                      </a:p>
                    </p:txBody>
                  </p:sp>
                  <p:sp>
                    <p:nvSpPr>
                      <p:cNvPr id="4143" name="Text Box 14">
                        <a:extLst>
                          <a:ext uri="{FF2B5EF4-FFF2-40B4-BE49-F238E27FC236}">
                            <a16:creationId xmlns:a16="http://schemas.microsoft.com/office/drawing/2014/main" id="{F6F6D74D-D40B-2146-C254-164014B4E3C7}"/>
                          </a:ext>
                        </a:extLst>
                      </p:cNvPr>
                      <p:cNvSpPr txBox="1">
                        <a:spLocks noChangeArrowheads="1"/>
                      </p:cNvSpPr>
                      <p:nvPr/>
                    </p:nvSpPr>
                    <p:spPr bwMode="auto">
                      <a:xfrm>
                        <a:off x="6215" y="7435"/>
                        <a:ext cx="60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a:solidFill>
                              <a:schemeClr val="tx1"/>
                            </a:solidFill>
                            <a:latin typeface="Arial" panose="020B0604020202020204" pitchFamily="34" charset="0"/>
                            <a:cs typeface="Arial" panose="020B0604020202020204" pitchFamily="34" charset="0"/>
                          </a:rPr>
                          <a:t>10</a:t>
                        </a:r>
                        <a:r>
                          <a:rPr lang="en-US" altLang="zh-CN" sz="2000" baseline="30000">
                            <a:solidFill>
                              <a:schemeClr val="tx1"/>
                            </a:solidFill>
                            <a:latin typeface="Arial" panose="020B0604020202020204" pitchFamily="34" charset="0"/>
                            <a:cs typeface="Arial" panose="020B0604020202020204" pitchFamily="34" charset="0"/>
                          </a:rPr>
                          <a:t>-4</a:t>
                        </a:r>
                        <a:endParaRPr lang="en-US" altLang="zh-CN" sz="2000">
                          <a:solidFill>
                            <a:schemeClr val="tx1"/>
                          </a:solidFill>
                          <a:latin typeface="Arial" panose="020B0604020202020204" pitchFamily="34" charset="0"/>
                          <a:cs typeface="Arial" panose="020B0604020202020204" pitchFamily="34" charset="0"/>
                        </a:endParaRPr>
                      </a:p>
                    </p:txBody>
                  </p:sp>
                  <p:sp>
                    <p:nvSpPr>
                      <p:cNvPr id="4144" name="Text Box 15">
                        <a:extLst>
                          <a:ext uri="{FF2B5EF4-FFF2-40B4-BE49-F238E27FC236}">
                            <a16:creationId xmlns:a16="http://schemas.microsoft.com/office/drawing/2014/main" id="{0FD2AB3B-4C72-440D-B174-7598377CB2D5}"/>
                          </a:ext>
                        </a:extLst>
                      </p:cNvPr>
                      <p:cNvSpPr txBox="1">
                        <a:spLocks noChangeArrowheads="1"/>
                      </p:cNvSpPr>
                      <p:nvPr/>
                    </p:nvSpPr>
                    <p:spPr bwMode="auto">
                      <a:xfrm>
                        <a:off x="6215" y="6496"/>
                        <a:ext cx="60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a:solidFill>
                              <a:schemeClr val="tx1"/>
                            </a:solidFill>
                            <a:latin typeface="Arial" panose="020B0604020202020204" pitchFamily="34" charset="0"/>
                            <a:cs typeface="Arial" panose="020B0604020202020204" pitchFamily="34" charset="0"/>
                          </a:rPr>
                          <a:t>10</a:t>
                        </a:r>
                        <a:r>
                          <a:rPr lang="en-US" altLang="zh-CN" sz="2000" baseline="30000">
                            <a:solidFill>
                              <a:schemeClr val="tx1"/>
                            </a:solidFill>
                            <a:latin typeface="Arial" panose="020B0604020202020204" pitchFamily="34" charset="0"/>
                            <a:cs typeface="Arial" panose="020B0604020202020204" pitchFamily="34" charset="0"/>
                          </a:rPr>
                          <a:t>-3</a:t>
                        </a:r>
                        <a:endParaRPr lang="en-US" altLang="zh-CN" sz="2000">
                          <a:solidFill>
                            <a:schemeClr val="tx1"/>
                          </a:solidFill>
                          <a:latin typeface="Arial" panose="020B0604020202020204" pitchFamily="34" charset="0"/>
                          <a:cs typeface="Arial" panose="020B0604020202020204" pitchFamily="34" charset="0"/>
                        </a:endParaRPr>
                      </a:p>
                    </p:txBody>
                  </p:sp>
                  <p:sp>
                    <p:nvSpPr>
                      <p:cNvPr id="4145" name="Text Box 16">
                        <a:extLst>
                          <a:ext uri="{FF2B5EF4-FFF2-40B4-BE49-F238E27FC236}">
                            <a16:creationId xmlns:a16="http://schemas.microsoft.com/office/drawing/2014/main" id="{5B0311C3-BEE8-474E-752F-60C7C0DE36B1}"/>
                          </a:ext>
                        </a:extLst>
                      </p:cNvPr>
                      <p:cNvSpPr txBox="1">
                        <a:spLocks noChangeArrowheads="1"/>
                      </p:cNvSpPr>
                      <p:nvPr/>
                    </p:nvSpPr>
                    <p:spPr bwMode="auto">
                      <a:xfrm>
                        <a:off x="6215" y="5617"/>
                        <a:ext cx="60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a:solidFill>
                              <a:schemeClr val="tx1"/>
                            </a:solidFill>
                            <a:latin typeface="Arial" panose="020B0604020202020204" pitchFamily="34" charset="0"/>
                            <a:cs typeface="Arial" panose="020B0604020202020204" pitchFamily="34" charset="0"/>
                          </a:rPr>
                          <a:t>10</a:t>
                        </a:r>
                        <a:r>
                          <a:rPr lang="en-US" altLang="zh-CN" sz="2000" baseline="30000">
                            <a:solidFill>
                              <a:schemeClr val="tx1"/>
                            </a:solidFill>
                            <a:latin typeface="Arial" panose="020B0604020202020204" pitchFamily="34" charset="0"/>
                            <a:cs typeface="Arial" panose="020B0604020202020204" pitchFamily="34" charset="0"/>
                          </a:rPr>
                          <a:t>-2</a:t>
                        </a:r>
                        <a:endParaRPr lang="en-US" altLang="zh-CN" sz="2000">
                          <a:solidFill>
                            <a:schemeClr val="tx1"/>
                          </a:solidFill>
                          <a:latin typeface="Arial" panose="020B0604020202020204" pitchFamily="34" charset="0"/>
                          <a:cs typeface="Arial" panose="020B0604020202020204" pitchFamily="34" charset="0"/>
                        </a:endParaRPr>
                      </a:p>
                    </p:txBody>
                  </p:sp>
                  <p:sp>
                    <p:nvSpPr>
                      <p:cNvPr id="4146" name="Text Box 17">
                        <a:extLst>
                          <a:ext uri="{FF2B5EF4-FFF2-40B4-BE49-F238E27FC236}">
                            <a16:creationId xmlns:a16="http://schemas.microsoft.com/office/drawing/2014/main" id="{BAAE74D0-DFF7-F257-B1C4-621ACDE90E77}"/>
                          </a:ext>
                        </a:extLst>
                      </p:cNvPr>
                      <p:cNvSpPr txBox="1">
                        <a:spLocks noChangeArrowheads="1"/>
                      </p:cNvSpPr>
                      <p:nvPr/>
                    </p:nvSpPr>
                    <p:spPr bwMode="auto">
                      <a:xfrm>
                        <a:off x="6215" y="4726"/>
                        <a:ext cx="60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a:solidFill>
                              <a:schemeClr val="tx1"/>
                            </a:solidFill>
                            <a:latin typeface="Arial" panose="020B0604020202020204" pitchFamily="34" charset="0"/>
                            <a:cs typeface="Arial" panose="020B0604020202020204" pitchFamily="34" charset="0"/>
                          </a:rPr>
                          <a:t>10</a:t>
                        </a:r>
                        <a:r>
                          <a:rPr lang="en-US" altLang="zh-CN" sz="2000" baseline="30000">
                            <a:solidFill>
                              <a:schemeClr val="tx1"/>
                            </a:solidFill>
                            <a:latin typeface="Arial" panose="020B0604020202020204" pitchFamily="34" charset="0"/>
                            <a:cs typeface="Arial" panose="020B0604020202020204" pitchFamily="34" charset="0"/>
                          </a:rPr>
                          <a:t>-1</a:t>
                        </a:r>
                        <a:endParaRPr lang="en-US" altLang="zh-CN" sz="2000">
                          <a:solidFill>
                            <a:schemeClr val="tx1"/>
                          </a:solidFill>
                          <a:latin typeface="Arial" panose="020B0604020202020204" pitchFamily="34" charset="0"/>
                          <a:cs typeface="Arial" panose="020B0604020202020204" pitchFamily="34" charset="0"/>
                        </a:endParaRPr>
                      </a:p>
                    </p:txBody>
                  </p:sp>
                </p:grpSp>
              </p:grpSp>
              <p:sp>
                <p:nvSpPr>
                  <p:cNvPr id="4114" name="Text Box 18">
                    <a:extLst>
                      <a:ext uri="{FF2B5EF4-FFF2-40B4-BE49-F238E27FC236}">
                        <a16:creationId xmlns:a16="http://schemas.microsoft.com/office/drawing/2014/main" id="{F2574BE3-E3E4-EC79-922B-CA273457ECA7}"/>
                      </a:ext>
                    </a:extLst>
                  </p:cNvPr>
                  <p:cNvSpPr txBox="1">
                    <a:spLocks noChangeArrowheads="1"/>
                  </p:cNvSpPr>
                  <p:nvPr/>
                </p:nvSpPr>
                <p:spPr bwMode="auto">
                  <a:xfrm>
                    <a:off x="8944" y="5515"/>
                    <a:ext cx="287" cy="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zh-CN" altLang="en-US" sz="1800">
                        <a:solidFill>
                          <a:schemeClr val="tx1"/>
                        </a:solidFill>
                        <a:latin typeface="幼圆" panose="02010509060101010101" pitchFamily="49" charset="-122"/>
                        <a:ea typeface="幼圆" panose="02010509060101010101" pitchFamily="49" charset="-122"/>
                      </a:rPr>
                      <a:t>编</a:t>
                    </a:r>
                    <a:endParaRPr lang="en-US" altLang="zh-CN" sz="1800">
                      <a:solidFill>
                        <a:schemeClr val="tx1"/>
                      </a:solidFill>
                      <a:latin typeface="幼圆" panose="02010509060101010101" pitchFamily="49" charset="-122"/>
                      <a:ea typeface="幼圆" panose="02010509060101010101" pitchFamily="49" charset="-122"/>
                    </a:endParaRPr>
                  </a:p>
                  <a:p>
                    <a:pPr algn="just" eaLnBrk="1" hangingPunct="1"/>
                    <a:r>
                      <a:rPr lang="zh-CN" altLang="en-US" sz="1800">
                        <a:solidFill>
                          <a:schemeClr val="tx1"/>
                        </a:solidFill>
                        <a:latin typeface="幼圆" panose="02010509060101010101" pitchFamily="49" charset="-122"/>
                        <a:ea typeface="幼圆" panose="02010509060101010101" pitchFamily="49" charset="-122"/>
                      </a:rPr>
                      <a:t>码</a:t>
                    </a:r>
                    <a:endParaRPr lang="en-US" altLang="zh-CN" sz="1800">
                      <a:solidFill>
                        <a:schemeClr val="tx1"/>
                      </a:solidFill>
                      <a:latin typeface="幼圆" panose="02010509060101010101" pitchFamily="49" charset="-122"/>
                      <a:ea typeface="幼圆" panose="02010509060101010101" pitchFamily="49" charset="-122"/>
                    </a:endParaRPr>
                  </a:p>
                  <a:p>
                    <a:pPr algn="just" eaLnBrk="1" hangingPunct="1"/>
                    <a:r>
                      <a:rPr lang="zh-CN" altLang="en-US" sz="1800">
                        <a:solidFill>
                          <a:srgbClr val="FF0000"/>
                        </a:solidFill>
                        <a:latin typeface="幼圆" panose="02010509060101010101" pitchFamily="49" charset="-122"/>
                        <a:ea typeface="幼圆" panose="02010509060101010101" pitchFamily="49" charset="-122"/>
                      </a:rPr>
                      <a:t>后</a:t>
                    </a:r>
                    <a:endParaRPr lang="zh-CN" altLang="en-US" sz="4400">
                      <a:solidFill>
                        <a:srgbClr val="FF0000"/>
                      </a:solidFill>
                      <a:latin typeface="幼圆" panose="02010509060101010101" pitchFamily="49" charset="-122"/>
                      <a:ea typeface="幼圆" panose="02010509060101010101" pitchFamily="49" charset="-122"/>
                    </a:endParaRPr>
                  </a:p>
                </p:txBody>
              </p:sp>
              <p:grpSp>
                <p:nvGrpSpPr>
                  <p:cNvPr id="4115" name="Group 19">
                    <a:extLst>
                      <a:ext uri="{FF2B5EF4-FFF2-40B4-BE49-F238E27FC236}">
                        <a16:creationId xmlns:a16="http://schemas.microsoft.com/office/drawing/2014/main" id="{AD23E588-8743-78D6-4F43-8E024AE904B4}"/>
                      </a:ext>
                    </a:extLst>
                  </p:cNvPr>
                  <p:cNvGrpSpPr>
                    <a:grpSpLocks/>
                  </p:cNvGrpSpPr>
                  <p:nvPr/>
                </p:nvGrpSpPr>
                <p:grpSpPr bwMode="auto">
                  <a:xfrm>
                    <a:off x="7038" y="2837"/>
                    <a:ext cx="2466" cy="4545"/>
                    <a:chOff x="7026" y="4869"/>
                    <a:chExt cx="2466" cy="4545"/>
                  </a:xfrm>
                </p:grpSpPr>
                <p:grpSp>
                  <p:nvGrpSpPr>
                    <p:cNvPr id="4130" name="Group 20">
                      <a:extLst>
                        <a:ext uri="{FF2B5EF4-FFF2-40B4-BE49-F238E27FC236}">
                          <a16:creationId xmlns:a16="http://schemas.microsoft.com/office/drawing/2014/main" id="{2BCC467D-53DB-4289-43F8-F608D9B7A976}"/>
                        </a:ext>
                      </a:extLst>
                    </p:cNvPr>
                    <p:cNvGrpSpPr>
                      <a:grpSpLocks/>
                    </p:cNvGrpSpPr>
                    <p:nvPr/>
                  </p:nvGrpSpPr>
                  <p:grpSpPr bwMode="auto">
                    <a:xfrm>
                      <a:off x="7026" y="4870"/>
                      <a:ext cx="2466" cy="4533"/>
                      <a:chOff x="7026" y="4870"/>
                      <a:chExt cx="2466" cy="4533"/>
                    </a:xfrm>
                  </p:grpSpPr>
                  <p:sp>
                    <p:nvSpPr>
                      <p:cNvPr id="4134" name="Line 21">
                        <a:extLst>
                          <a:ext uri="{FF2B5EF4-FFF2-40B4-BE49-F238E27FC236}">
                            <a16:creationId xmlns:a16="http://schemas.microsoft.com/office/drawing/2014/main" id="{11DC1175-4D77-16A4-696B-8BECF2843E58}"/>
                          </a:ext>
                        </a:extLst>
                      </p:cNvPr>
                      <p:cNvSpPr>
                        <a:spLocks noChangeShapeType="1"/>
                      </p:cNvSpPr>
                      <p:nvPr/>
                    </p:nvSpPr>
                    <p:spPr bwMode="auto">
                      <a:xfrm>
                        <a:off x="7437" y="4870"/>
                        <a:ext cx="0" cy="453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35" name="Line 22">
                        <a:extLst>
                          <a:ext uri="{FF2B5EF4-FFF2-40B4-BE49-F238E27FC236}">
                            <a16:creationId xmlns:a16="http://schemas.microsoft.com/office/drawing/2014/main" id="{C3A8E1C8-7F49-D613-F9E5-740979C4F2DA}"/>
                          </a:ext>
                        </a:extLst>
                      </p:cNvPr>
                      <p:cNvSpPr>
                        <a:spLocks noChangeShapeType="1"/>
                      </p:cNvSpPr>
                      <p:nvPr/>
                    </p:nvSpPr>
                    <p:spPr bwMode="auto">
                      <a:xfrm>
                        <a:off x="7026" y="4870"/>
                        <a:ext cx="0" cy="453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36" name="Line 23">
                        <a:extLst>
                          <a:ext uri="{FF2B5EF4-FFF2-40B4-BE49-F238E27FC236}">
                            <a16:creationId xmlns:a16="http://schemas.microsoft.com/office/drawing/2014/main" id="{E959F2A9-0196-C9AD-2364-BF9C2B66F0D7}"/>
                          </a:ext>
                        </a:extLst>
                      </p:cNvPr>
                      <p:cNvSpPr>
                        <a:spLocks noChangeShapeType="1"/>
                      </p:cNvSpPr>
                      <p:nvPr/>
                    </p:nvSpPr>
                    <p:spPr bwMode="auto">
                      <a:xfrm>
                        <a:off x="8238" y="4870"/>
                        <a:ext cx="0" cy="453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37" name="Line 24">
                        <a:extLst>
                          <a:ext uri="{FF2B5EF4-FFF2-40B4-BE49-F238E27FC236}">
                            <a16:creationId xmlns:a16="http://schemas.microsoft.com/office/drawing/2014/main" id="{EADDD445-0CD3-8EA2-A549-AC978E1971FF}"/>
                          </a:ext>
                        </a:extLst>
                      </p:cNvPr>
                      <p:cNvSpPr>
                        <a:spLocks noChangeShapeType="1"/>
                      </p:cNvSpPr>
                      <p:nvPr/>
                    </p:nvSpPr>
                    <p:spPr bwMode="auto">
                      <a:xfrm>
                        <a:off x="8664" y="4870"/>
                        <a:ext cx="0" cy="453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38" name="Line 25">
                        <a:extLst>
                          <a:ext uri="{FF2B5EF4-FFF2-40B4-BE49-F238E27FC236}">
                            <a16:creationId xmlns:a16="http://schemas.microsoft.com/office/drawing/2014/main" id="{05EC8C87-A239-B8BB-91A6-0801CE3359D4}"/>
                          </a:ext>
                        </a:extLst>
                      </p:cNvPr>
                      <p:cNvSpPr>
                        <a:spLocks noChangeShapeType="1"/>
                      </p:cNvSpPr>
                      <p:nvPr/>
                    </p:nvSpPr>
                    <p:spPr bwMode="auto">
                      <a:xfrm>
                        <a:off x="9492" y="4870"/>
                        <a:ext cx="0" cy="453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131" name="Group 26">
                      <a:extLst>
                        <a:ext uri="{FF2B5EF4-FFF2-40B4-BE49-F238E27FC236}">
                          <a16:creationId xmlns:a16="http://schemas.microsoft.com/office/drawing/2014/main" id="{E15C724A-B757-5E51-4867-CF3BB2263206}"/>
                        </a:ext>
                      </a:extLst>
                    </p:cNvPr>
                    <p:cNvGrpSpPr>
                      <a:grpSpLocks/>
                    </p:cNvGrpSpPr>
                    <p:nvPr/>
                  </p:nvGrpSpPr>
                  <p:grpSpPr bwMode="auto">
                    <a:xfrm>
                      <a:off x="9054" y="4869"/>
                      <a:ext cx="0" cy="4545"/>
                      <a:chOff x="9054" y="4869"/>
                      <a:chExt cx="0" cy="4545"/>
                    </a:xfrm>
                  </p:grpSpPr>
                  <p:sp>
                    <p:nvSpPr>
                      <p:cNvPr id="4132" name="Line 27">
                        <a:extLst>
                          <a:ext uri="{FF2B5EF4-FFF2-40B4-BE49-F238E27FC236}">
                            <a16:creationId xmlns:a16="http://schemas.microsoft.com/office/drawing/2014/main" id="{759473C5-57AA-F912-EE85-EE05324480AA}"/>
                          </a:ext>
                        </a:extLst>
                      </p:cNvPr>
                      <p:cNvSpPr>
                        <a:spLocks noChangeShapeType="1"/>
                      </p:cNvSpPr>
                      <p:nvPr/>
                    </p:nvSpPr>
                    <p:spPr bwMode="auto">
                      <a:xfrm>
                        <a:off x="9054" y="4869"/>
                        <a:ext cx="0" cy="279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33" name="Line 28">
                        <a:extLst>
                          <a:ext uri="{FF2B5EF4-FFF2-40B4-BE49-F238E27FC236}">
                            <a16:creationId xmlns:a16="http://schemas.microsoft.com/office/drawing/2014/main" id="{84A5CEC5-C109-D2AD-53FE-CA37BE810FCE}"/>
                          </a:ext>
                        </a:extLst>
                      </p:cNvPr>
                      <p:cNvSpPr>
                        <a:spLocks noChangeShapeType="1"/>
                      </p:cNvSpPr>
                      <p:nvPr/>
                    </p:nvSpPr>
                    <p:spPr bwMode="auto">
                      <a:xfrm>
                        <a:off x="9054" y="8064"/>
                        <a:ext cx="0" cy="13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4116" name="Group 30">
                    <a:extLst>
                      <a:ext uri="{FF2B5EF4-FFF2-40B4-BE49-F238E27FC236}">
                        <a16:creationId xmlns:a16="http://schemas.microsoft.com/office/drawing/2014/main" id="{F19E6D2F-EEF1-E05C-B92D-80A4C6A40EAB}"/>
                      </a:ext>
                    </a:extLst>
                  </p:cNvPr>
                  <p:cNvGrpSpPr>
                    <a:grpSpLocks/>
                  </p:cNvGrpSpPr>
                  <p:nvPr/>
                </p:nvGrpSpPr>
                <p:grpSpPr bwMode="auto">
                  <a:xfrm>
                    <a:off x="8671" y="4608"/>
                    <a:ext cx="1560" cy="2264"/>
                    <a:chOff x="8671" y="6792"/>
                    <a:chExt cx="1560" cy="2264"/>
                  </a:xfrm>
                </p:grpSpPr>
                <p:grpSp>
                  <p:nvGrpSpPr>
                    <p:cNvPr id="4120" name="Group 31">
                      <a:extLst>
                        <a:ext uri="{FF2B5EF4-FFF2-40B4-BE49-F238E27FC236}">
                          <a16:creationId xmlns:a16="http://schemas.microsoft.com/office/drawing/2014/main" id="{2D4DE64A-B2C8-E8C2-39CA-0C817A7BE19E}"/>
                        </a:ext>
                      </a:extLst>
                    </p:cNvPr>
                    <p:cNvGrpSpPr>
                      <a:grpSpLocks/>
                    </p:cNvGrpSpPr>
                    <p:nvPr/>
                  </p:nvGrpSpPr>
                  <p:grpSpPr bwMode="auto">
                    <a:xfrm>
                      <a:off x="8735" y="6913"/>
                      <a:ext cx="1496" cy="1992"/>
                      <a:chOff x="8735" y="6913"/>
                      <a:chExt cx="1496" cy="1992"/>
                    </a:xfrm>
                  </p:grpSpPr>
                  <p:sp>
                    <p:nvSpPr>
                      <p:cNvPr id="4126" name="Text Box 32">
                        <a:extLst>
                          <a:ext uri="{FF2B5EF4-FFF2-40B4-BE49-F238E27FC236}">
                            <a16:creationId xmlns:a16="http://schemas.microsoft.com/office/drawing/2014/main" id="{5CD2B150-6741-11FD-6DBB-BCD6B7AA95A4}"/>
                          </a:ext>
                        </a:extLst>
                      </p:cNvPr>
                      <p:cNvSpPr txBox="1">
                        <a:spLocks noChangeArrowheads="1"/>
                      </p:cNvSpPr>
                      <p:nvPr/>
                    </p:nvSpPr>
                    <p:spPr bwMode="auto">
                      <a:xfrm>
                        <a:off x="9619" y="8368"/>
                        <a:ext cx="612" cy="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800" baseline="30000">
                            <a:solidFill>
                              <a:srgbClr val="0066FF"/>
                            </a:solidFill>
                            <a:latin typeface="Times New Roman" panose="02020603050405020304" pitchFamily="18" charset="0"/>
                            <a:sym typeface="Symbol" panose="05050102010706020507" pitchFamily="18" charset="2"/>
                          </a:rPr>
                          <a:t></a:t>
                        </a:r>
                        <a:endParaRPr lang="en-US" altLang="zh-CN" sz="4400">
                          <a:solidFill>
                            <a:srgbClr val="0066FF"/>
                          </a:solidFill>
                        </a:endParaRPr>
                      </a:p>
                    </p:txBody>
                  </p:sp>
                  <p:sp>
                    <p:nvSpPr>
                      <p:cNvPr id="4127" name="Text Box 33">
                        <a:extLst>
                          <a:ext uri="{FF2B5EF4-FFF2-40B4-BE49-F238E27FC236}">
                            <a16:creationId xmlns:a16="http://schemas.microsoft.com/office/drawing/2014/main" id="{B1259D00-DDBA-A3F6-A1BD-1E34BCB41F74}"/>
                          </a:ext>
                        </a:extLst>
                      </p:cNvPr>
                      <p:cNvSpPr txBox="1">
                        <a:spLocks noChangeArrowheads="1"/>
                      </p:cNvSpPr>
                      <p:nvPr/>
                    </p:nvSpPr>
                    <p:spPr bwMode="auto">
                      <a:xfrm>
                        <a:off x="8763" y="6939"/>
                        <a:ext cx="612" cy="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800" baseline="30000">
                            <a:solidFill>
                              <a:schemeClr val="tx1"/>
                            </a:solidFill>
                            <a:latin typeface="Times New Roman" panose="02020603050405020304" pitchFamily="18" charset="0"/>
                            <a:sym typeface="Symbol" panose="05050102010706020507" pitchFamily="18" charset="2"/>
                          </a:rPr>
                          <a:t></a:t>
                        </a:r>
                        <a:endParaRPr lang="en-US" altLang="zh-CN" sz="4400">
                          <a:solidFill>
                            <a:schemeClr val="tx1"/>
                          </a:solidFill>
                        </a:endParaRPr>
                      </a:p>
                    </p:txBody>
                  </p:sp>
                  <p:sp>
                    <p:nvSpPr>
                      <p:cNvPr id="4128" name="Text Box 34">
                        <a:extLst>
                          <a:ext uri="{FF2B5EF4-FFF2-40B4-BE49-F238E27FC236}">
                            <a16:creationId xmlns:a16="http://schemas.microsoft.com/office/drawing/2014/main" id="{34766B4B-6356-5DD2-D2A1-268301B80DF9}"/>
                          </a:ext>
                        </a:extLst>
                      </p:cNvPr>
                      <p:cNvSpPr txBox="1">
                        <a:spLocks noChangeArrowheads="1"/>
                      </p:cNvSpPr>
                      <p:nvPr/>
                    </p:nvSpPr>
                    <p:spPr bwMode="auto">
                      <a:xfrm>
                        <a:off x="8735" y="8368"/>
                        <a:ext cx="612" cy="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800" baseline="30000">
                            <a:solidFill>
                              <a:srgbClr val="FF0000"/>
                            </a:solidFill>
                            <a:latin typeface="Times New Roman" panose="02020603050405020304" pitchFamily="18" charset="0"/>
                            <a:sym typeface="Symbol" panose="05050102010706020507" pitchFamily="18" charset="2"/>
                          </a:rPr>
                          <a:t></a:t>
                        </a:r>
                        <a:endParaRPr lang="en-US" altLang="zh-CN" sz="4400">
                          <a:solidFill>
                            <a:srgbClr val="FF0000"/>
                          </a:solidFill>
                        </a:endParaRPr>
                      </a:p>
                    </p:txBody>
                  </p:sp>
                  <p:sp>
                    <p:nvSpPr>
                      <p:cNvPr id="4129" name="Text Box 32">
                        <a:extLst>
                          <a:ext uri="{FF2B5EF4-FFF2-40B4-BE49-F238E27FC236}">
                            <a16:creationId xmlns:a16="http://schemas.microsoft.com/office/drawing/2014/main" id="{55B3F39A-F205-E3C7-DE49-C4CA0B91D81C}"/>
                          </a:ext>
                        </a:extLst>
                      </p:cNvPr>
                      <p:cNvSpPr txBox="1">
                        <a:spLocks noChangeArrowheads="1"/>
                      </p:cNvSpPr>
                      <p:nvPr/>
                    </p:nvSpPr>
                    <p:spPr bwMode="auto">
                      <a:xfrm>
                        <a:off x="8760" y="6913"/>
                        <a:ext cx="612" cy="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800" baseline="30000">
                            <a:solidFill>
                              <a:srgbClr val="0066FF"/>
                            </a:solidFill>
                            <a:latin typeface="Times New Roman" panose="02020603050405020304" pitchFamily="18" charset="0"/>
                            <a:sym typeface="Symbol" panose="05050102010706020507" pitchFamily="18" charset="2"/>
                          </a:rPr>
                          <a:t></a:t>
                        </a:r>
                        <a:endParaRPr lang="en-US" altLang="zh-CN" sz="4400">
                          <a:solidFill>
                            <a:srgbClr val="0066FF"/>
                          </a:solidFill>
                        </a:endParaRPr>
                      </a:p>
                    </p:txBody>
                  </p:sp>
                </p:grpSp>
                <p:grpSp>
                  <p:nvGrpSpPr>
                    <p:cNvPr id="4121" name="Group 36">
                      <a:extLst>
                        <a:ext uri="{FF2B5EF4-FFF2-40B4-BE49-F238E27FC236}">
                          <a16:creationId xmlns:a16="http://schemas.microsoft.com/office/drawing/2014/main" id="{9D190D52-6B74-22CA-CF84-73DE20888531}"/>
                        </a:ext>
                      </a:extLst>
                    </p:cNvPr>
                    <p:cNvGrpSpPr>
                      <a:grpSpLocks/>
                    </p:cNvGrpSpPr>
                    <p:nvPr/>
                  </p:nvGrpSpPr>
                  <p:grpSpPr bwMode="auto">
                    <a:xfrm>
                      <a:off x="8671" y="6792"/>
                      <a:ext cx="1509" cy="2264"/>
                      <a:chOff x="8671" y="6792"/>
                      <a:chExt cx="1509" cy="2264"/>
                    </a:xfrm>
                  </p:grpSpPr>
                  <p:sp>
                    <p:nvSpPr>
                      <p:cNvPr id="4122" name="Text Box 37">
                        <a:extLst>
                          <a:ext uri="{FF2B5EF4-FFF2-40B4-BE49-F238E27FC236}">
                            <a16:creationId xmlns:a16="http://schemas.microsoft.com/office/drawing/2014/main" id="{75DE6806-962C-16F4-08E1-21293A6C4150}"/>
                          </a:ext>
                        </a:extLst>
                      </p:cNvPr>
                      <p:cNvSpPr txBox="1">
                        <a:spLocks noChangeArrowheads="1"/>
                      </p:cNvSpPr>
                      <p:nvPr/>
                    </p:nvSpPr>
                    <p:spPr bwMode="auto">
                      <a:xfrm>
                        <a:off x="9568" y="8084"/>
                        <a:ext cx="612"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800" baseline="30000">
                            <a:solidFill>
                              <a:schemeClr val="tx1"/>
                            </a:solidFill>
                            <a:latin typeface="Times New Roman" panose="02020603050405020304" pitchFamily="18" charset="0"/>
                          </a:rPr>
                          <a:t>C</a:t>
                        </a:r>
                        <a:endParaRPr lang="en-US" altLang="zh-CN" sz="4400">
                          <a:solidFill>
                            <a:schemeClr val="tx1"/>
                          </a:solidFill>
                        </a:endParaRPr>
                      </a:p>
                    </p:txBody>
                  </p:sp>
                  <p:grpSp>
                    <p:nvGrpSpPr>
                      <p:cNvPr id="4123" name="Group 38">
                        <a:extLst>
                          <a:ext uri="{FF2B5EF4-FFF2-40B4-BE49-F238E27FC236}">
                            <a16:creationId xmlns:a16="http://schemas.microsoft.com/office/drawing/2014/main" id="{CC597BB3-3836-E730-0DB5-1C30FDE314DB}"/>
                          </a:ext>
                        </a:extLst>
                      </p:cNvPr>
                      <p:cNvGrpSpPr>
                        <a:grpSpLocks/>
                      </p:cNvGrpSpPr>
                      <p:nvPr/>
                    </p:nvGrpSpPr>
                    <p:grpSpPr bwMode="auto">
                      <a:xfrm>
                        <a:off x="8671" y="6792"/>
                        <a:ext cx="776" cy="2264"/>
                        <a:chOff x="8671" y="6792"/>
                        <a:chExt cx="776" cy="2264"/>
                      </a:xfrm>
                    </p:grpSpPr>
                    <p:sp>
                      <p:nvSpPr>
                        <p:cNvPr id="4124" name="Text Box 39">
                          <a:extLst>
                            <a:ext uri="{FF2B5EF4-FFF2-40B4-BE49-F238E27FC236}">
                              <a16:creationId xmlns:a16="http://schemas.microsoft.com/office/drawing/2014/main" id="{308B853E-716C-0E2D-5C55-628B88592E6C}"/>
                            </a:ext>
                          </a:extLst>
                        </p:cNvPr>
                        <p:cNvSpPr txBox="1">
                          <a:spLocks noChangeArrowheads="1"/>
                        </p:cNvSpPr>
                        <p:nvPr/>
                      </p:nvSpPr>
                      <p:spPr bwMode="auto">
                        <a:xfrm>
                          <a:off x="8671" y="8594"/>
                          <a:ext cx="612"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800" baseline="30000">
                              <a:solidFill>
                                <a:schemeClr val="tx1"/>
                              </a:solidFill>
                              <a:latin typeface="Times New Roman" panose="02020603050405020304" pitchFamily="18" charset="0"/>
                            </a:rPr>
                            <a:t>D</a:t>
                          </a:r>
                          <a:endParaRPr lang="en-US" altLang="zh-CN" sz="4400">
                            <a:solidFill>
                              <a:schemeClr val="tx1"/>
                            </a:solidFill>
                          </a:endParaRPr>
                        </a:p>
                      </p:txBody>
                    </p:sp>
                    <p:sp>
                      <p:nvSpPr>
                        <p:cNvPr id="4125" name="Text Box 40">
                          <a:extLst>
                            <a:ext uri="{FF2B5EF4-FFF2-40B4-BE49-F238E27FC236}">
                              <a16:creationId xmlns:a16="http://schemas.microsoft.com/office/drawing/2014/main" id="{CF218246-3323-8C0B-474F-384C46BCA2D3}"/>
                            </a:ext>
                          </a:extLst>
                        </p:cNvPr>
                        <p:cNvSpPr txBox="1">
                          <a:spLocks noChangeArrowheads="1"/>
                        </p:cNvSpPr>
                        <p:nvPr/>
                      </p:nvSpPr>
                      <p:spPr bwMode="auto">
                        <a:xfrm>
                          <a:off x="8835" y="6792"/>
                          <a:ext cx="612"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800" baseline="30000">
                              <a:solidFill>
                                <a:schemeClr val="tx1"/>
                              </a:solidFill>
                              <a:latin typeface="Times New Roman" panose="02020603050405020304" pitchFamily="18" charset="0"/>
                            </a:rPr>
                            <a:t>E</a:t>
                          </a:r>
                          <a:endParaRPr lang="en-US" altLang="zh-CN" sz="4400">
                            <a:solidFill>
                              <a:schemeClr val="tx1"/>
                            </a:solidFill>
                          </a:endParaRPr>
                        </a:p>
                      </p:txBody>
                    </p:sp>
                  </p:grpSp>
                </p:grpSp>
              </p:grpSp>
              <p:sp>
                <p:nvSpPr>
                  <p:cNvPr id="4117" name="Text Box 44">
                    <a:extLst>
                      <a:ext uri="{FF2B5EF4-FFF2-40B4-BE49-F238E27FC236}">
                        <a16:creationId xmlns:a16="http://schemas.microsoft.com/office/drawing/2014/main" id="{1CB6E758-22F6-BD9C-964B-7E34BF148A42}"/>
                      </a:ext>
                    </a:extLst>
                  </p:cNvPr>
                  <p:cNvSpPr txBox="1">
                    <a:spLocks noChangeArrowheads="1"/>
                  </p:cNvSpPr>
                  <p:nvPr/>
                </p:nvSpPr>
                <p:spPr bwMode="auto">
                  <a:xfrm>
                    <a:off x="8379" y="4553"/>
                    <a:ext cx="612"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800" baseline="30000">
                        <a:solidFill>
                          <a:schemeClr val="tx1"/>
                        </a:solidFill>
                        <a:latin typeface="Times New Roman" panose="02020603050405020304" pitchFamily="18" charset="0"/>
                      </a:rPr>
                      <a:t>A</a:t>
                    </a:r>
                    <a:endParaRPr lang="en-US" altLang="zh-CN" sz="4400">
                      <a:solidFill>
                        <a:schemeClr val="tx1"/>
                      </a:solidFill>
                    </a:endParaRPr>
                  </a:p>
                </p:txBody>
              </p:sp>
              <p:sp>
                <p:nvSpPr>
                  <p:cNvPr id="4118" name="Text Box 46">
                    <a:extLst>
                      <a:ext uri="{FF2B5EF4-FFF2-40B4-BE49-F238E27FC236}">
                        <a16:creationId xmlns:a16="http://schemas.microsoft.com/office/drawing/2014/main" id="{DC72B6DF-86A8-ACB5-F561-63F220E6B384}"/>
                      </a:ext>
                    </a:extLst>
                  </p:cNvPr>
                  <p:cNvSpPr txBox="1">
                    <a:spLocks noChangeArrowheads="1"/>
                  </p:cNvSpPr>
                  <p:nvPr/>
                </p:nvSpPr>
                <p:spPr bwMode="auto">
                  <a:xfrm>
                    <a:off x="8389" y="5721"/>
                    <a:ext cx="612"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800" baseline="30000">
                        <a:solidFill>
                          <a:schemeClr val="tx1"/>
                        </a:solidFill>
                        <a:latin typeface="Times New Roman" panose="02020603050405020304" pitchFamily="18" charset="0"/>
                      </a:rPr>
                      <a:t>B</a:t>
                    </a:r>
                    <a:endParaRPr lang="en-US" altLang="zh-CN" sz="4400">
                      <a:solidFill>
                        <a:schemeClr val="tx1"/>
                      </a:solidFill>
                    </a:endParaRPr>
                  </a:p>
                </p:txBody>
              </p:sp>
              <p:sp>
                <p:nvSpPr>
                  <p:cNvPr id="170" name="Text Box 18">
                    <a:extLst>
                      <a:ext uri="{FF2B5EF4-FFF2-40B4-BE49-F238E27FC236}">
                        <a16:creationId xmlns:a16="http://schemas.microsoft.com/office/drawing/2014/main" id="{5804BCFF-F081-E4BB-BFF4-039660B34122}"/>
                      </a:ext>
                    </a:extLst>
                  </p:cNvPr>
                  <p:cNvSpPr txBox="1">
                    <a:spLocks noChangeArrowheads="1"/>
                  </p:cNvSpPr>
                  <p:nvPr/>
                </p:nvSpPr>
                <p:spPr bwMode="auto">
                  <a:xfrm>
                    <a:off x="8975" y="3705"/>
                    <a:ext cx="320" cy="961"/>
                  </a:xfrm>
                  <a:prstGeom prst="rect">
                    <a:avLst/>
                  </a:prstGeom>
                  <a:noFill/>
                  <a:ln w="9525">
                    <a:noFill/>
                    <a:miter lim="800000"/>
                    <a:headEnd/>
                    <a:tailEnd/>
                  </a:ln>
                </p:spPr>
                <p:txBody>
                  <a:bodyPr/>
                  <a:lstStyle/>
                  <a:p>
                    <a:pPr algn="just">
                      <a:defRPr/>
                    </a:pPr>
                    <a:r>
                      <a:rPr lang="zh-CN" altLang="en-US" sz="1800" dirty="0">
                        <a:solidFill>
                          <a:schemeClr val="tx1"/>
                        </a:solidFill>
                        <a:effectLst>
                          <a:outerShdw blurRad="38100" dist="38100" dir="2700000" algn="tl">
                            <a:srgbClr val="000000">
                              <a:alpha val="43137"/>
                            </a:srgbClr>
                          </a:outerShdw>
                        </a:effectLst>
                        <a:latin typeface="幼圆" pitchFamily="49" charset="-122"/>
                        <a:ea typeface="幼圆" pitchFamily="49" charset="-122"/>
                      </a:rPr>
                      <a:t>编</a:t>
                    </a:r>
                    <a:endParaRPr lang="en-US" altLang="zh-CN" sz="1800" dirty="0">
                      <a:solidFill>
                        <a:schemeClr val="tx1"/>
                      </a:solidFill>
                      <a:effectLst>
                        <a:outerShdw blurRad="38100" dist="38100" dir="2700000" algn="tl">
                          <a:srgbClr val="000000">
                            <a:alpha val="43137"/>
                          </a:srgbClr>
                        </a:outerShdw>
                      </a:effectLst>
                      <a:latin typeface="幼圆" pitchFamily="49" charset="-122"/>
                      <a:ea typeface="幼圆" pitchFamily="49" charset="-122"/>
                    </a:endParaRPr>
                  </a:p>
                  <a:p>
                    <a:pPr algn="just">
                      <a:defRPr/>
                    </a:pPr>
                    <a:r>
                      <a:rPr lang="zh-CN" altLang="en-US" sz="1800" dirty="0">
                        <a:solidFill>
                          <a:schemeClr val="tx1"/>
                        </a:solidFill>
                        <a:effectLst>
                          <a:outerShdw blurRad="38100" dist="38100" dir="2700000" algn="tl">
                            <a:srgbClr val="000000">
                              <a:alpha val="43137"/>
                            </a:srgbClr>
                          </a:outerShdw>
                        </a:effectLst>
                        <a:latin typeface="幼圆" pitchFamily="49" charset="-122"/>
                        <a:ea typeface="幼圆" pitchFamily="49" charset="-122"/>
                      </a:rPr>
                      <a:t>码</a:t>
                    </a:r>
                    <a:endParaRPr lang="en-US" altLang="zh-CN" sz="1800" dirty="0">
                      <a:solidFill>
                        <a:schemeClr val="tx1"/>
                      </a:solidFill>
                      <a:effectLst>
                        <a:outerShdw blurRad="38100" dist="38100" dir="2700000" algn="tl">
                          <a:srgbClr val="000000">
                            <a:alpha val="43137"/>
                          </a:srgbClr>
                        </a:outerShdw>
                      </a:effectLst>
                      <a:latin typeface="幼圆" pitchFamily="49" charset="-122"/>
                      <a:ea typeface="幼圆" pitchFamily="49" charset="-122"/>
                    </a:endParaRPr>
                  </a:p>
                  <a:p>
                    <a:pPr algn="just">
                      <a:defRPr/>
                    </a:pPr>
                    <a:r>
                      <a:rPr lang="zh-CN" altLang="en-US" sz="1800" dirty="0">
                        <a:solidFill>
                          <a:srgbClr val="0066FF"/>
                        </a:solidFill>
                        <a:effectLst>
                          <a:outerShdw blurRad="38100" dist="38100" dir="2700000" algn="tl">
                            <a:srgbClr val="000000">
                              <a:alpha val="43137"/>
                            </a:srgbClr>
                          </a:outerShdw>
                        </a:effectLst>
                        <a:latin typeface="幼圆" pitchFamily="49" charset="-122"/>
                        <a:ea typeface="幼圆" pitchFamily="49" charset="-122"/>
                      </a:rPr>
                      <a:t>前</a:t>
                    </a:r>
                  </a:p>
                </p:txBody>
              </p:sp>
            </p:grpSp>
            <p:sp>
              <p:nvSpPr>
                <p:cNvPr id="4112" name="Line 47">
                  <a:extLst>
                    <a:ext uri="{FF2B5EF4-FFF2-40B4-BE49-F238E27FC236}">
                      <a16:creationId xmlns:a16="http://schemas.microsoft.com/office/drawing/2014/main" id="{E1EEAECB-3E27-58DA-90FA-A9548833BA4C}"/>
                    </a:ext>
                  </a:extLst>
                </p:cNvPr>
                <p:cNvSpPr>
                  <a:spLocks noChangeShapeType="1"/>
                </p:cNvSpPr>
                <p:nvPr/>
              </p:nvSpPr>
              <p:spPr bwMode="auto">
                <a:xfrm flipH="1">
                  <a:off x="8790" y="5946"/>
                  <a:ext cx="237" cy="23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110" name="Text Box 49">
                <a:extLst>
                  <a:ext uri="{FF2B5EF4-FFF2-40B4-BE49-F238E27FC236}">
                    <a16:creationId xmlns:a16="http://schemas.microsoft.com/office/drawing/2014/main" id="{CDAB2B7C-426E-3B37-09B8-96695E1B33D4}"/>
                  </a:ext>
                </a:extLst>
              </p:cNvPr>
              <p:cNvSpPr txBox="1">
                <a:spLocks noChangeArrowheads="1"/>
              </p:cNvSpPr>
              <p:nvPr/>
            </p:nvSpPr>
            <p:spPr bwMode="auto">
              <a:xfrm>
                <a:off x="3390" y="3725"/>
                <a:ext cx="99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zh-CN" altLang="en-US" sz="2000">
                    <a:solidFill>
                      <a:srgbClr val="0000CC"/>
                    </a:solidFill>
                    <a:latin typeface="Arial" panose="020B0604020202020204" pitchFamily="34" charset="0"/>
                    <a:ea typeface="幼圆" panose="02010509060101010101" pitchFamily="49" charset="-122"/>
                    <a:cs typeface="Arial" panose="020B0604020202020204" pitchFamily="34" charset="0"/>
                  </a:rPr>
                  <a:t>信噪比</a:t>
                </a:r>
                <a:r>
                  <a:rPr lang="zh-CN" altLang="en-US" sz="2000">
                    <a:solidFill>
                      <a:srgbClr val="990099"/>
                    </a:solidFill>
                    <a:latin typeface="Arial" panose="020B0604020202020204" pitchFamily="34" charset="0"/>
                    <a:ea typeface="幼圆" panose="02010509060101010101" pitchFamily="49" charset="-122"/>
                    <a:cs typeface="Arial" panose="020B0604020202020204" pitchFamily="34" charset="0"/>
                  </a:rPr>
                  <a:t> </a:t>
                </a:r>
                <a:r>
                  <a:rPr lang="en-US" altLang="zh-CN" sz="2000">
                    <a:solidFill>
                      <a:srgbClr val="0000CC"/>
                    </a:solidFill>
                    <a:latin typeface="Arial" panose="020B0604020202020204" pitchFamily="34" charset="0"/>
                    <a:ea typeface="幼圆" panose="02010509060101010101" pitchFamily="49" charset="-122"/>
                    <a:cs typeface="Arial" panose="020B0604020202020204" pitchFamily="34" charset="0"/>
                  </a:rPr>
                  <a:t>(dB)</a:t>
                </a:r>
              </a:p>
            </p:txBody>
          </p:sp>
        </p:grpSp>
        <p:sp>
          <p:nvSpPr>
            <p:cNvPr id="158" name="矩形 157">
              <a:extLst>
                <a:ext uri="{FF2B5EF4-FFF2-40B4-BE49-F238E27FC236}">
                  <a16:creationId xmlns:a16="http://schemas.microsoft.com/office/drawing/2014/main" id="{81544545-2869-5461-C615-714196C40BAF}"/>
                </a:ext>
              </a:extLst>
            </p:cNvPr>
            <p:cNvSpPr/>
            <p:nvPr/>
          </p:nvSpPr>
          <p:spPr bwMode="auto">
            <a:xfrm>
              <a:off x="7472278" y="2785043"/>
              <a:ext cx="428649" cy="214344"/>
            </a:xfrm>
            <a:prstGeom prst="rect">
              <a:avLst/>
            </a:prstGeom>
            <a:solidFill>
              <a:schemeClr val="bg1">
                <a:lumMod val="95000"/>
              </a:schemeClr>
            </a:solidFill>
            <a:ln w="9525" cap="flat" cmpd="sng" algn="ctr">
              <a:solidFill>
                <a:schemeClr val="bg1">
                  <a:lumMod val="95000"/>
                </a:schemeClr>
              </a:solidFill>
              <a:prstDash val="solid"/>
              <a:miter lim="800000"/>
              <a:headEnd type="none" w="med" len="med"/>
              <a:tailEnd type="none" w="med" len="med"/>
            </a:ln>
            <a:effectLst/>
          </p:spPr>
          <p:txBody>
            <a:bodyPr wrap="none"/>
            <a:lstStyle/>
            <a:p>
              <a:pPr>
                <a:defRPr/>
              </a:pPr>
              <a:endParaRPr lang="zh-CN" altLang="en-US"/>
            </a:p>
          </p:txBody>
        </p:sp>
      </p:grpSp>
      <p:graphicFrame>
        <p:nvGraphicFramePr>
          <p:cNvPr id="67585" name="Object 1">
            <a:extLst>
              <a:ext uri="{FF2B5EF4-FFF2-40B4-BE49-F238E27FC236}">
                <a16:creationId xmlns:a16="http://schemas.microsoft.com/office/drawing/2014/main" id="{EF8B96C6-F9A7-6337-DB53-59C1DD6F2CC6}"/>
              </a:ext>
            </a:extLst>
          </p:cNvPr>
          <p:cNvGraphicFramePr>
            <a:graphicFrameLocks noChangeAspect="1"/>
          </p:cNvGraphicFramePr>
          <p:nvPr/>
        </p:nvGraphicFramePr>
        <p:xfrm>
          <a:off x="714375" y="1285875"/>
          <a:ext cx="4414838" cy="954088"/>
        </p:xfrm>
        <a:graphic>
          <a:graphicData uri="http://schemas.openxmlformats.org/presentationml/2006/ole">
            <mc:AlternateContent xmlns:mc="http://schemas.openxmlformats.org/markup-compatibility/2006">
              <mc:Choice xmlns:v="urn:schemas-microsoft-com:vml" Requires="v">
                <p:oleObj name="Equation" r:id="rId3" imgW="1739880" imgH="431640" progId="Equation.DSMT4">
                  <p:embed/>
                </p:oleObj>
              </mc:Choice>
              <mc:Fallback>
                <p:oleObj name="Equation" r:id="rId3" imgW="1739880" imgH="43164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75" y="1285875"/>
                        <a:ext cx="4414838" cy="954088"/>
                      </a:xfrm>
                      <a:prstGeom prst="rect">
                        <a:avLst/>
                      </a:prstGeom>
                      <a:solidFill>
                        <a:srgbClr val="FFFFFF"/>
                      </a:solidFill>
                      <a:ln w="38100" cmpd="dbl">
                        <a:solidFill>
                          <a:srgbClr val="6666FF"/>
                        </a:solidFill>
                        <a:miter lim="800000"/>
                        <a:headEnd/>
                        <a:tailEnd/>
                      </a:ln>
                    </p:spPr>
                  </p:pic>
                </p:oleObj>
              </mc:Fallback>
            </mc:AlternateContent>
          </a:graphicData>
        </a:graphic>
      </p:graphicFrame>
      <p:cxnSp>
        <p:nvCxnSpPr>
          <p:cNvPr id="106" name="直接连接符 105">
            <a:extLst>
              <a:ext uri="{FF2B5EF4-FFF2-40B4-BE49-F238E27FC236}">
                <a16:creationId xmlns:a16="http://schemas.microsoft.com/office/drawing/2014/main" id="{141A343D-3BF3-0D7D-3BB8-09E1285804FA}"/>
              </a:ext>
            </a:extLst>
          </p:cNvPr>
          <p:cNvCxnSpPr>
            <a:cxnSpLocks noChangeShapeType="1"/>
          </p:cNvCxnSpPr>
          <p:nvPr/>
        </p:nvCxnSpPr>
        <p:spPr bwMode="auto">
          <a:xfrm rot="5400000">
            <a:off x="6887369" y="4285456"/>
            <a:ext cx="1428750" cy="1588"/>
          </a:xfrm>
          <a:prstGeom prst="line">
            <a:avLst/>
          </a:prstGeom>
          <a:noFill/>
          <a:ln w="19050" algn="ctr">
            <a:solidFill>
              <a:srgbClr val="FF0000"/>
            </a:solidFill>
            <a:prstDash val="dash"/>
            <a:miter lim="800000"/>
            <a:headEnd/>
            <a:tailEnd/>
          </a:ln>
          <a:extLst>
            <a:ext uri="{909E8E84-426E-40DD-AFC4-6F175D3DCCD1}">
              <a14:hiddenFill xmlns:a14="http://schemas.microsoft.com/office/drawing/2010/main">
                <a:noFill/>
              </a14:hiddenFill>
            </a:ext>
          </a:extLst>
        </p:spPr>
      </p:cxnSp>
      <p:sp>
        <p:nvSpPr>
          <p:cNvPr id="204" name="矩形 203">
            <a:extLst>
              <a:ext uri="{FF2B5EF4-FFF2-40B4-BE49-F238E27FC236}">
                <a16:creationId xmlns:a16="http://schemas.microsoft.com/office/drawing/2014/main" id="{719A8DF5-BE75-640A-A5A3-4770780F57EE}"/>
              </a:ext>
            </a:extLst>
          </p:cNvPr>
          <p:cNvSpPr/>
          <p:nvPr/>
        </p:nvSpPr>
        <p:spPr>
          <a:xfrm>
            <a:off x="571500" y="5102225"/>
            <a:ext cx="4867275" cy="541338"/>
          </a:xfrm>
          <a:prstGeom prst="rect">
            <a:avLst/>
          </a:prstGeom>
        </p:spPr>
        <p:txBody>
          <a:bodyPr>
            <a:spAutoFit/>
          </a:bodyPr>
          <a:lstStyle/>
          <a:p>
            <a:pPr marL="342900" indent="-342900" eaLnBrk="0" hangingPunct="0">
              <a:lnSpc>
                <a:spcPts val="3500"/>
              </a:lnSpc>
              <a:spcBef>
                <a:spcPct val="20000"/>
              </a:spcBef>
              <a:buClr>
                <a:srgbClr val="3333CC"/>
              </a:buClr>
              <a:buSzPct val="60000"/>
              <a:defRPr/>
            </a:pPr>
            <a:r>
              <a:rPr kumimoji="0" lang="zh-CN" altLang="en-US" sz="2000" kern="0" dirty="0">
                <a:solidFill>
                  <a:srgbClr val="000000"/>
                </a:solidFill>
                <a:latin typeface="Arial" pitchFamily="34" charset="0"/>
                <a:ea typeface="幼圆" pitchFamily="49" charset="-122"/>
                <a:cs typeface="Arial" pitchFamily="34" charset="0"/>
              </a:rPr>
              <a:t>但采用纠错编码</a:t>
            </a:r>
            <a:r>
              <a:rPr kumimoji="0" lang="zh-CN" altLang="en-US" sz="2000" kern="0" dirty="0">
                <a:solidFill>
                  <a:srgbClr val="FF0000"/>
                </a:solidFill>
                <a:latin typeface="Arial" pitchFamily="34" charset="0"/>
                <a:ea typeface="幼圆" pitchFamily="49" charset="-122"/>
                <a:cs typeface="Arial" pitchFamily="34" charset="0"/>
              </a:rPr>
              <a:t>后</a:t>
            </a:r>
            <a:r>
              <a:rPr kumimoji="0" lang="zh-CN" altLang="en-US" sz="2000" kern="0" dirty="0">
                <a:solidFill>
                  <a:srgbClr val="000000"/>
                </a:solidFill>
                <a:latin typeface="Arial" pitchFamily="34" charset="0"/>
                <a:ea typeface="幼圆" pitchFamily="49" charset="-122"/>
                <a:cs typeface="Arial" pitchFamily="34" charset="0"/>
              </a:rPr>
              <a:t>，</a:t>
            </a:r>
            <a:r>
              <a:rPr lang="en-US" altLang="zh-CN" sz="2400" b="0" i="1" dirty="0" err="1">
                <a:solidFill>
                  <a:srgbClr val="FF0000"/>
                </a:solidFill>
                <a:effectLst>
                  <a:outerShdw blurRad="38100" dist="38100" dir="2700000" algn="tl">
                    <a:srgbClr val="000000">
                      <a:alpha val="43137"/>
                    </a:srgbClr>
                  </a:outerShdw>
                </a:effectLst>
                <a:latin typeface="Arial" pitchFamily="34" charset="0"/>
                <a:cs typeface="Arial" pitchFamily="34" charset="0"/>
              </a:rPr>
              <a:t>P</a:t>
            </a:r>
            <a:r>
              <a:rPr lang="en-US" altLang="zh-CN" sz="2400" b="0" baseline="-25000" dirty="0" err="1">
                <a:solidFill>
                  <a:srgbClr val="FF0000"/>
                </a:solidFill>
                <a:effectLst>
                  <a:outerShdw blurRad="38100" dist="38100" dir="2700000" algn="tl">
                    <a:srgbClr val="000000">
                      <a:alpha val="43137"/>
                    </a:srgbClr>
                  </a:outerShdw>
                </a:effectLst>
                <a:latin typeface="Arial" pitchFamily="34" charset="0"/>
                <a:cs typeface="Arial" pitchFamily="34" charset="0"/>
              </a:rPr>
              <a:t>e</a:t>
            </a:r>
            <a:r>
              <a:rPr kumimoji="0" lang="zh-CN" altLang="en-US" sz="2000" kern="0" dirty="0">
                <a:solidFill>
                  <a:srgbClr val="000000"/>
                </a:solidFill>
                <a:latin typeface="Arial" pitchFamily="34" charset="0"/>
                <a:ea typeface="幼圆" pitchFamily="49" charset="-122"/>
                <a:cs typeface="Arial" pitchFamily="34" charset="0"/>
              </a:rPr>
              <a:t>仍可降到 </a:t>
            </a:r>
            <a:r>
              <a:rPr kumimoji="0" lang="en-US" altLang="zh-CN" sz="2000" kern="0" dirty="0">
                <a:solidFill>
                  <a:srgbClr val="FF0000"/>
                </a:solidFill>
                <a:latin typeface="Arial" pitchFamily="34" charset="0"/>
                <a:ea typeface="幼圆" pitchFamily="49" charset="-122"/>
                <a:cs typeface="Arial" pitchFamily="34" charset="0"/>
              </a:rPr>
              <a:t>D</a:t>
            </a:r>
            <a:r>
              <a:rPr kumimoji="0" lang="zh-CN" altLang="en-US" sz="2000" kern="0" dirty="0">
                <a:solidFill>
                  <a:srgbClr val="000000"/>
                </a:solidFill>
                <a:latin typeface="Arial" pitchFamily="34" charset="0"/>
                <a:ea typeface="幼圆" pitchFamily="49" charset="-122"/>
                <a:cs typeface="Arial" pitchFamily="34" charset="0"/>
              </a:rPr>
              <a:t>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wipe(up)">
                                      <p:cBhvr>
                                        <p:cTn id="7" dur="1000"/>
                                        <p:tgtEl>
                                          <p:spTgt spid="53"/>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67585"/>
                                        </p:tgtEl>
                                        <p:attrNameLst>
                                          <p:attrName>style.visibility</p:attrName>
                                        </p:attrNameLst>
                                      </p:cBhvr>
                                      <p:to>
                                        <p:strVal val="visible"/>
                                      </p:to>
                                    </p:set>
                                    <p:animEffect transition="in" filter="wipe(up)">
                                      <p:cBhvr>
                                        <p:cTn id="11" dur="1000"/>
                                        <p:tgtEl>
                                          <p:spTgt spid="6758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55"/>
                                        </p:tgtEl>
                                        <p:attrNameLst>
                                          <p:attrName>style.visibility</p:attrName>
                                        </p:attrNameLst>
                                      </p:cBhvr>
                                      <p:to>
                                        <p:strVal val="visible"/>
                                      </p:to>
                                    </p:set>
                                    <p:animEffect transition="in" filter="wipe(up)">
                                      <p:cBhvr>
                                        <p:cTn id="16" dur="1000"/>
                                        <p:tgtEl>
                                          <p:spTgt spid="5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48131">
                                            <p:txEl>
                                              <p:pRg st="0" end="0"/>
                                            </p:txEl>
                                          </p:spTgt>
                                        </p:tgtEl>
                                        <p:attrNameLst>
                                          <p:attrName>style.visibility</p:attrName>
                                        </p:attrNameLst>
                                      </p:cBhvr>
                                      <p:to>
                                        <p:strVal val="visible"/>
                                      </p:to>
                                    </p:set>
                                    <p:animEffect transition="in" filter="wipe(up)">
                                      <p:cBhvr>
                                        <p:cTn id="21" dur="1000"/>
                                        <p:tgtEl>
                                          <p:spTgt spid="48131">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48131">
                                            <p:txEl>
                                              <p:pRg st="1" end="1"/>
                                            </p:txEl>
                                          </p:spTgt>
                                        </p:tgtEl>
                                        <p:attrNameLst>
                                          <p:attrName>style.visibility</p:attrName>
                                        </p:attrNameLst>
                                      </p:cBhvr>
                                      <p:to>
                                        <p:strVal val="visible"/>
                                      </p:to>
                                    </p:set>
                                    <p:animEffect transition="in" filter="wipe(up)">
                                      <p:cBhvr>
                                        <p:cTn id="26" dur="1000"/>
                                        <p:tgtEl>
                                          <p:spTgt spid="48131">
                                            <p:txEl>
                                              <p:pRg st="1" end="1"/>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204"/>
                                        </p:tgtEl>
                                        <p:attrNameLst>
                                          <p:attrName>style.visibility</p:attrName>
                                        </p:attrNameLst>
                                      </p:cBhvr>
                                      <p:to>
                                        <p:strVal val="visible"/>
                                      </p:to>
                                    </p:set>
                                    <p:animEffect transition="in" filter="wipe(up)">
                                      <p:cBhvr>
                                        <p:cTn id="31" dur="1000"/>
                                        <p:tgtEl>
                                          <p:spTgt spid="204"/>
                                        </p:tgtEl>
                                      </p:cBhvr>
                                    </p:animEffect>
                                  </p:childTnLst>
                                </p:cTn>
                              </p:par>
                            </p:childTnLst>
                          </p:cTn>
                        </p:par>
                        <p:par>
                          <p:cTn id="32" fill="hold" nodeType="afterGroup">
                            <p:stCondLst>
                              <p:cond delay="1000"/>
                            </p:stCondLst>
                            <p:childTnLst>
                              <p:par>
                                <p:cTn id="33" presetID="22" presetClass="entr" presetSubtype="1" fill="hold" nodeType="afterEffect">
                                  <p:stCondLst>
                                    <p:cond delay="0"/>
                                  </p:stCondLst>
                                  <p:childTnLst>
                                    <p:set>
                                      <p:cBhvr>
                                        <p:cTn id="34" dur="1" fill="hold">
                                          <p:stCondLst>
                                            <p:cond delay="0"/>
                                          </p:stCondLst>
                                        </p:cTn>
                                        <p:tgtEl>
                                          <p:spTgt spid="106"/>
                                        </p:tgtEl>
                                        <p:attrNameLst>
                                          <p:attrName>style.visibility</p:attrName>
                                        </p:attrNameLst>
                                      </p:cBhvr>
                                      <p:to>
                                        <p:strVal val="visible"/>
                                      </p:to>
                                    </p:set>
                                    <p:animEffect transition="in" filter="wipe(up)">
                                      <p:cBhvr>
                                        <p:cTn id="35" dur="1000"/>
                                        <p:tgtEl>
                                          <p:spTgt spid="10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56"/>
                                        </p:tgtEl>
                                        <p:attrNameLst>
                                          <p:attrName>style.visibility</p:attrName>
                                        </p:attrNameLst>
                                      </p:cBhvr>
                                      <p:to>
                                        <p:strVal val="visible"/>
                                      </p:to>
                                    </p:set>
                                    <p:animEffect transition="in" filter="wipe(up)">
                                      <p:cBhvr>
                                        <p:cTn id="40" dur="10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5" grpId="0"/>
      <p:bldP spid="56" grpId="0"/>
      <p:bldP spid="20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矩形 4">
            <a:extLst>
              <a:ext uri="{FF2B5EF4-FFF2-40B4-BE49-F238E27FC236}">
                <a16:creationId xmlns:a16="http://schemas.microsoft.com/office/drawing/2014/main" id="{E5A5AC8C-8BF0-6DF8-54FB-E143AD8CC484}"/>
              </a:ext>
            </a:extLst>
          </p:cNvPr>
          <p:cNvSpPr>
            <a:spLocks noChangeArrowheads="1"/>
          </p:cNvSpPr>
          <p:nvPr/>
        </p:nvSpPr>
        <p:spPr bwMode="auto">
          <a:xfrm>
            <a:off x="642938" y="2214563"/>
            <a:ext cx="1927225" cy="708025"/>
          </a:xfrm>
          <a:prstGeom prst="rect">
            <a:avLst/>
          </a:prstGeom>
          <a:noFill/>
          <a:ln w="9525">
            <a:noFill/>
            <a:miter lim="800000"/>
            <a:headEnd/>
            <a:tailEnd/>
          </a:ln>
        </p:spPr>
        <p:txBody>
          <a:bodyPr wrap="none">
            <a:spAutoFit/>
          </a:bodyPr>
          <a:lstStyle/>
          <a:p>
            <a:pPr eaLnBrk="0" hangingPunct="0">
              <a:defRPr/>
            </a:pPr>
            <a:r>
              <a:rPr lang="en-US" altLang="en-US" sz="4000" u="sng" dirty="0">
                <a:solidFill>
                  <a:srgbClr val="800080"/>
                </a:solidFill>
                <a:effectLst>
                  <a:outerShdw blurRad="38100" dist="38100" dir="2700000" algn="tl">
                    <a:srgbClr val="000000">
                      <a:alpha val="43137"/>
                    </a:srgbClr>
                  </a:outerShdw>
                </a:effectLst>
                <a:latin typeface="+mn-ea"/>
                <a:ea typeface="+mn-ea"/>
              </a:rPr>
              <a:t>§</a:t>
            </a:r>
            <a:r>
              <a:rPr lang="en-US" altLang="en-US" sz="4000" u="sng" dirty="0">
                <a:solidFill>
                  <a:srgbClr val="80008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11</a:t>
            </a:r>
            <a:r>
              <a:rPr lang="en-US" altLang="zh-CN" sz="4000" u="sng" dirty="0">
                <a:solidFill>
                  <a:srgbClr val="80008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.4</a:t>
            </a:r>
            <a:r>
              <a:rPr lang="en-US" altLang="zh-CN" sz="4000" u="sng" dirty="0">
                <a:solidFill>
                  <a:srgbClr val="800080"/>
                </a:solidFill>
                <a:effectLst>
                  <a:outerShdw blurRad="38100" dist="38100" dir="2700000" algn="tl">
                    <a:srgbClr val="000000">
                      <a:alpha val="43137"/>
                    </a:srgbClr>
                  </a:outerShdw>
                </a:effectLst>
                <a:ea typeface="微软雅黑" pitchFamily="34" charset="-122"/>
                <a:cs typeface="Arial" charset="0"/>
              </a:rPr>
              <a:t> </a:t>
            </a:r>
            <a:endParaRPr lang="zh-CN" altLang="en-US" sz="4000" u="sng" dirty="0">
              <a:solidFill>
                <a:srgbClr val="800080"/>
              </a:solidFill>
              <a:effectLst>
                <a:outerShdw blurRad="38100" dist="38100" dir="2700000" algn="tl">
                  <a:srgbClr val="000000">
                    <a:alpha val="43137"/>
                  </a:srgbClr>
                </a:outerShdw>
              </a:effectLst>
            </a:endParaRPr>
          </a:p>
        </p:txBody>
      </p:sp>
      <p:sp>
        <p:nvSpPr>
          <p:cNvPr id="5" name="矩形 4">
            <a:extLst>
              <a:ext uri="{FF2B5EF4-FFF2-40B4-BE49-F238E27FC236}">
                <a16:creationId xmlns:a16="http://schemas.microsoft.com/office/drawing/2014/main" id="{21433C6E-9745-E03A-7BBC-54948C6CA1CD}"/>
              </a:ext>
            </a:extLst>
          </p:cNvPr>
          <p:cNvSpPr/>
          <p:nvPr/>
        </p:nvSpPr>
        <p:spPr>
          <a:xfrm>
            <a:off x="2786063" y="3429000"/>
            <a:ext cx="4356100" cy="769938"/>
          </a:xfrm>
          <a:prstGeom prst="rect">
            <a:avLst/>
          </a:prstGeom>
          <a:effectLst>
            <a:outerShdw blurRad="50800" dist="38100" dir="2700000" algn="tl" rotWithShape="0">
              <a:prstClr val="black">
                <a:alpha val="40000"/>
              </a:prstClr>
            </a:outerShdw>
          </a:effectLst>
        </p:spPr>
        <p:txBody>
          <a:bodyPr>
            <a:spAutoFit/>
          </a:bodyPr>
          <a:lstStyle/>
          <a:p>
            <a:pPr>
              <a:defRPr/>
            </a:pPr>
            <a:r>
              <a:rPr lang="zh-CN" altLang="en-US" sz="4400" dirty="0">
                <a:solidFill>
                  <a:srgbClr val="003399"/>
                </a:solidFill>
                <a:latin typeface="微软雅黑" pitchFamily="34" charset="-122"/>
                <a:ea typeface="微软雅黑" pitchFamily="34" charset="-122"/>
              </a:rPr>
              <a:t>简单</a:t>
            </a:r>
            <a:r>
              <a:rPr lang="zh-CN" altLang="en-US" sz="4400" b="0" dirty="0">
                <a:solidFill>
                  <a:srgbClr val="003399"/>
                </a:solidFill>
                <a:effectLst>
                  <a:outerShdw blurRad="38100" dist="38100" dir="2700000" algn="tl">
                    <a:srgbClr val="000000">
                      <a:alpha val="43137"/>
                    </a:srgbClr>
                  </a:outerShdw>
                </a:effectLst>
                <a:latin typeface="微软雅黑" pitchFamily="34" charset="-122"/>
                <a:ea typeface="微软雅黑" pitchFamily="34" charset="-122"/>
              </a:rPr>
              <a:t>的</a:t>
            </a:r>
            <a:r>
              <a:rPr lang="zh-CN" altLang="en-US" sz="4400" dirty="0">
                <a:solidFill>
                  <a:srgbClr val="003399"/>
                </a:solidFill>
                <a:latin typeface="微软雅黑" pitchFamily="34" charset="-122"/>
                <a:ea typeface="微软雅黑" pitchFamily="34" charset="-122"/>
              </a:rPr>
              <a:t>实用编码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17">
            <a:extLst>
              <a:ext uri="{FF2B5EF4-FFF2-40B4-BE49-F238E27FC236}">
                <a16:creationId xmlns:a16="http://schemas.microsoft.com/office/drawing/2014/main" id="{B5B9E9FC-7287-48B9-A607-1A8C770178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50980"/>
          <a:stretch>
            <a:fillRect/>
          </a:stretch>
        </p:blipFill>
        <p:spPr bwMode="auto">
          <a:xfrm>
            <a:off x="2486025" y="1928813"/>
            <a:ext cx="348615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193213CD-7421-EF55-BB7B-95AF5E383C99}"/>
              </a:ext>
            </a:extLst>
          </p:cNvPr>
          <p:cNvSpPr/>
          <p:nvPr/>
        </p:nvSpPr>
        <p:spPr>
          <a:xfrm>
            <a:off x="128588" y="457200"/>
            <a:ext cx="3657600" cy="584200"/>
          </a:xfrm>
          <a:prstGeom prst="rect">
            <a:avLst/>
          </a:prstGeom>
        </p:spPr>
        <p:txBody>
          <a:bodyPr>
            <a:spAutoFit/>
          </a:bodyPr>
          <a:lstStyle/>
          <a:p>
            <a:pPr>
              <a:buClr>
                <a:srgbClr val="FF0000"/>
              </a:buClr>
              <a:buSzPct val="80000"/>
              <a:defRPr/>
            </a:pPr>
            <a:r>
              <a:rPr lang="en-US" altLang="en-US" sz="3200" dirty="0">
                <a:solidFill>
                  <a:srgbClr val="990099"/>
                </a:solidFill>
                <a:latin typeface="Arial" pitchFamily="34" charset="0"/>
                <a:ea typeface="微软雅黑" pitchFamily="34" charset="-122"/>
                <a:cs typeface="Arial" pitchFamily="34" charset="0"/>
              </a:rPr>
              <a:t>11</a:t>
            </a:r>
            <a:r>
              <a:rPr lang="en-US" altLang="zh-CN" sz="3200" dirty="0">
                <a:solidFill>
                  <a:srgbClr val="990099"/>
                </a:solidFill>
                <a:latin typeface="Arial" pitchFamily="34" charset="0"/>
                <a:ea typeface="微软雅黑" pitchFamily="34" charset="-122"/>
                <a:cs typeface="Arial" pitchFamily="34" charset="0"/>
              </a:rPr>
              <a:t>.4.1</a:t>
            </a:r>
            <a:r>
              <a:rPr kumimoji="0" lang="zh-CN" altLang="en-US" sz="3200" kern="0" dirty="0">
                <a:solidFill>
                  <a:schemeClr val="tx1"/>
                </a:solidFill>
                <a:latin typeface="微软雅黑" pitchFamily="34" charset="-122"/>
                <a:ea typeface="微软雅黑" pitchFamily="34" charset="-122"/>
              </a:rPr>
              <a:t>  </a:t>
            </a:r>
            <a:r>
              <a:rPr lang="zh-CN" altLang="en-US" sz="3200" dirty="0">
                <a:solidFill>
                  <a:schemeClr val="tx1"/>
                </a:solidFill>
                <a:latin typeface="微软雅黑" pitchFamily="34" charset="-122"/>
                <a:ea typeface="微软雅黑" pitchFamily="34" charset="-122"/>
              </a:rPr>
              <a:t>奇偶监督码</a:t>
            </a:r>
            <a:endParaRPr lang="zh-CN" altLang="en-US" sz="3200" b="0" dirty="0">
              <a:solidFill>
                <a:schemeClr val="tx1"/>
              </a:solidFill>
              <a:latin typeface="微软雅黑" pitchFamily="34" charset="-122"/>
              <a:ea typeface="微软雅黑" pitchFamily="34" charset="-122"/>
            </a:endParaRPr>
          </a:p>
        </p:txBody>
      </p:sp>
      <p:sp>
        <p:nvSpPr>
          <p:cNvPr id="23557" name="Rectangle 5">
            <a:extLst>
              <a:ext uri="{FF2B5EF4-FFF2-40B4-BE49-F238E27FC236}">
                <a16:creationId xmlns:a16="http://schemas.microsoft.com/office/drawing/2014/main" id="{99175B4C-3F63-0EE5-4F60-6542E31FCC31}"/>
              </a:ext>
            </a:extLst>
          </p:cNvPr>
          <p:cNvSpPr>
            <a:spLocks noChangeArrowheads="1"/>
          </p:cNvSpPr>
          <p:nvPr/>
        </p:nvSpPr>
        <p:spPr bwMode="auto">
          <a:xfrm>
            <a:off x="0" y="0"/>
            <a:ext cx="9144000" cy="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8" name="矩形 7">
            <a:extLst>
              <a:ext uri="{FF2B5EF4-FFF2-40B4-BE49-F238E27FC236}">
                <a16:creationId xmlns:a16="http://schemas.microsoft.com/office/drawing/2014/main" id="{3ABDD443-E749-17B4-2B70-6CC8253DF287}"/>
              </a:ext>
            </a:extLst>
          </p:cNvPr>
          <p:cNvSpPr/>
          <p:nvPr/>
        </p:nvSpPr>
        <p:spPr>
          <a:xfrm>
            <a:off x="6157913" y="2936875"/>
            <a:ext cx="1211262" cy="400050"/>
          </a:xfrm>
          <a:prstGeom prst="rect">
            <a:avLst/>
          </a:prstGeom>
        </p:spPr>
        <p:txBody>
          <a:bodyPr wrap="none">
            <a:spAutoFit/>
          </a:bodyPr>
          <a:lstStyle/>
          <a:p>
            <a:pPr marL="342900" indent="-342900" eaLnBrk="0" hangingPunct="0">
              <a:spcBef>
                <a:spcPct val="20000"/>
              </a:spcBef>
              <a:buClr>
                <a:srgbClr val="3333CC"/>
              </a:buClr>
              <a:buSzPct val="60000"/>
              <a:defRPr/>
            </a:pP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偶数监督</a:t>
            </a:r>
            <a:endParaRPr kumimoji="0" lang="zh-CN" altLang="en-US" sz="2000" b="0" kern="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9" name="矩形 8">
            <a:extLst>
              <a:ext uri="{FF2B5EF4-FFF2-40B4-BE49-F238E27FC236}">
                <a16:creationId xmlns:a16="http://schemas.microsoft.com/office/drawing/2014/main" id="{5EF37F2B-0E1D-7B01-B5FC-ABF82FD141E8}"/>
              </a:ext>
            </a:extLst>
          </p:cNvPr>
          <p:cNvSpPr/>
          <p:nvPr/>
        </p:nvSpPr>
        <p:spPr>
          <a:xfrm>
            <a:off x="6157913" y="2071688"/>
            <a:ext cx="1211262" cy="400050"/>
          </a:xfrm>
          <a:prstGeom prst="rect">
            <a:avLst/>
          </a:prstGeom>
        </p:spPr>
        <p:txBody>
          <a:bodyPr wrap="none">
            <a:spAutoFit/>
          </a:bodyPr>
          <a:lstStyle/>
          <a:p>
            <a:pPr>
              <a:defRPr/>
            </a:pP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奇数监督</a:t>
            </a:r>
            <a:endParaRPr lang="zh-CN" altLang="en-US" sz="2000" b="0" dirty="0">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10" name="矩形 9">
            <a:extLst>
              <a:ext uri="{FF2B5EF4-FFF2-40B4-BE49-F238E27FC236}">
                <a16:creationId xmlns:a16="http://schemas.microsoft.com/office/drawing/2014/main" id="{C9104083-9E30-0CCE-235E-FF1C4E0576BE}"/>
              </a:ext>
            </a:extLst>
          </p:cNvPr>
          <p:cNvSpPr/>
          <p:nvPr/>
        </p:nvSpPr>
        <p:spPr>
          <a:xfrm>
            <a:off x="642938" y="4786313"/>
            <a:ext cx="5072062" cy="503237"/>
          </a:xfrm>
          <a:prstGeom prst="rect">
            <a:avLst/>
          </a:prstGeom>
        </p:spPr>
        <p:txBody>
          <a:bodyPr>
            <a:spAutoFit/>
          </a:bodyPr>
          <a:lstStyle/>
          <a:p>
            <a:pPr marL="342900" indent="-342900" eaLnBrk="0" hangingPunct="0">
              <a:lnSpc>
                <a:spcPts val="3200"/>
              </a:lnSpc>
              <a:spcBef>
                <a:spcPct val="20000"/>
              </a:spcBef>
              <a:buClr>
                <a:srgbClr val="3333CC"/>
              </a:buClr>
              <a:buSzPct val="60000"/>
              <a:buFont typeface="Wingdings" pitchFamily="2" charset="2"/>
              <a:buChar char="u"/>
              <a:defRPr/>
            </a:pPr>
            <a:r>
              <a:rPr kumimoji="0" lang="zh-CN" altLang="en-US" sz="2000" b="0" kern="0" dirty="0">
                <a:solidFill>
                  <a:srgbClr val="003399"/>
                </a:solidFill>
                <a:latin typeface="微软雅黑" pitchFamily="34" charset="-122"/>
                <a:ea typeface="微软雅黑" pitchFamily="34" charset="-122"/>
              </a:rPr>
              <a:t> </a:t>
            </a:r>
            <a:r>
              <a:rPr kumimoji="0" lang="zh-CN" altLang="en-US" sz="2400" kern="0" dirty="0">
                <a:solidFill>
                  <a:srgbClr val="003399"/>
                </a:solidFill>
                <a:latin typeface="微软雅黑" pitchFamily="34" charset="-122"/>
                <a:ea typeface="微软雅黑" pitchFamily="34" charset="-122"/>
              </a:rPr>
              <a:t>适用</a:t>
            </a:r>
            <a:r>
              <a:rPr kumimoji="0" lang="zh-CN" altLang="en-US" sz="2000" b="0" kern="0" dirty="0">
                <a:solidFill>
                  <a:srgbClr val="003399"/>
                </a:solidFill>
                <a:latin typeface="+mn-ea"/>
              </a:rPr>
              <a:t>：    </a:t>
            </a: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检测</a:t>
            </a: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随机出现的零星差错。</a:t>
            </a:r>
            <a:endParaRPr kumimoji="0" lang="zh-CN" altLang="en-US" sz="2000" b="0" kern="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11" name="矩形 10">
            <a:extLst>
              <a:ext uri="{FF2B5EF4-FFF2-40B4-BE49-F238E27FC236}">
                <a16:creationId xmlns:a16="http://schemas.microsoft.com/office/drawing/2014/main" id="{8B58D2A3-10D2-6F2D-1B47-6049D822B608}"/>
              </a:ext>
            </a:extLst>
          </p:cNvPr>
          <p:cNvSpPr/>
          <p:nvPr/>
        </p:nvSpPr>
        <p:spPr>
          <a:xfrm>
            <a:off x="650875" y="1214438"/>
            <a:ext cx="4735513" cy="503237"/>
          </a:xfrm>
          <a:prstGeom prst="rect">
            <a:avLst/>
          </a:prstGeom>
        </p:spPr>
        <p:txBody>
          <a:bodyPr>
            <a:spAutoFit/>
          </a:bodyPr>
          <a:lstStyle/>
          <a:p>
            <a:pPr marL="342900" indent="-342900" eaLnBrk="0" hangingPunct="0">
              <a:lnSpc>
                <a:spcPts val="3200"/>
              </a:lnSpc>
              <a:spcBef>
                <a:spcPct val="20000"/>
              </a:spcBef>
              <a:buClr>
                <a:srgbClr val="3333CC"/>
              </a:buClr>
              <a:buSzPct val="60000"/>
              <a:buFont typeface="Wingdings" pitchFamily="2" charset="2"/>
              <a:buChar char="u"/>
              <a:defRPr/>
            </a:pPr>
            <a:r>
              <a:rPr kumimoji="0" lang="zh-CN" altLang="en-US" sz="2400" kern="0" dirty="0">
                <a:solidFill>
                  <a:srgbClr val="003399"/>
                </a:solidFill>
                <a:latin typeface="微软雅黑" pitchFamily="34" charset="-122"/>
                <a:ea typeface="微软雅黑" pitchFamily="34" charset="-122"/>
              </a:rPr>
              <a:t>编码规则</a:t>
            </a:r>
            <a:r>
              <a:rPr kumimoji="0" lang="zh-CN" altLang="en-US" sz="2000" b="0" kern="0" dirty="0">
                <a:solidFill>
                  <a:srgbClr val="003399"/>
                </a:solidFill>
                <a:latin typeface="+mn-ea"/>
                <a:ea typeface="+mn-ea"/>
              </a:rPr>
              <a:t>：</a:t>
            </a:r>
            <a:endParaRPr kumimoji="0" lang="zh-CN" altLang="en-US" sz="2000" b="0" kern="0" dirty="0">
              <a:solidFill>
                <a:srgbClr val="000000"/>
              </a:solidFill>
              <a:latin typeface="+mn-ea"/>
              <a:ea typeface="+mn-ea"/>
            </a:endParaRPr>
          </a:p>
        </p:txBody>
      </p:sp>
      <p:sp>
        <p:nvSpPr>
          <p:cNvPr id="14" name="线形标注 2 13">
            <a:extLst>
              <a:ext uri="{FF2B5EF4-FFF2-40B4-BE49-F238E27FC236}">
                <a16:creationId xmlns:a16="http://schemas.microsoft.com/office/drawing/2014/main" id="{F7A10869-2554-6E94-5B38-5F56C6F02236}"/>
              </a:ext>
            </a:extLst>
          </p:cNvPr>
          <p:cNvSpPr/>
          <p:nvPr/>
        </p:nvSpPr>
        <p:spPr bwMode="auto">
          <a:xfrm>
            <a:off x="5715000" y="1357313"/>
            <a:ext cx="2000250" cy="428625"/>
          </a:xfrm>
          <a:prstGeom prst="borderCallout2">
            <a:avLst>
              <a:gd name="adj1" fmla="val 42454"/>
              <a:gd name="adj2" fmla="val -1561"/>
              <a:gd name="adj3" fmla="val 52612"/>
              <a:gd name="adj4" fmla="val -18021"/>
              <a:gd name="adj5" fmla="val 149747"/>
              <a:gd name="adj6" fmla="val -25674"/>
            </a:avLst>
          </a:prstGeom>
          <a:solidFill>
            <a:schemeClr val="bg2">
              <a:lumMod val="10000"/>
              <a:lumOff val="90000"/>
            </a:schemeClr>
          </a:solidFill>
          <a:ln w="9525" cap="flat" cmpd="sng" algn="ctr">
            <a:solidFill>
              <a:srgbClr val="FF0000"/>
            </a:solidFill>
            <a:prstDash val="dash"/>
            <a:miter lim="800000"/>
            <a:headEnd type="none" w="med" len="med"/>
            <a:tailEnd type="none" w="med" len="med"/>
          </a:ln>
          <a:effectLst>
            <a:outerShdw blurRad="50800" dist="38100" dir="2700000" algn="tl" rotWithShape="0">
              <a:prstClr val="black">
                <a:alpha val="40000"/>
              </a:prstClr>
            </a:outerShdw>
          </a:effectLst>
        </p:spPr>
        <p:txBody>
          <a:bodyPr wrap="none"/>
          <a:lstStyle/>
          <a:p>
            <a:pPr>
              <a:defRPr/>
            </a:pPr>
            <a:r>
              <a:rPr lang="zh-CN" altLang="en-US" sz="2000" b="0" dirty="0">
                <a:solidFill>
                  <a:srgbClr val="003399"/>
                </a:solidFill>
                <a:latin typeface="黑体" pitchFamily="2" charset="-122"/>
                <a:ea typeface="黑体" pitchFamily="2" charset="-122"/>
              </a:rPr>
              <a:t>只有一位监督元</a:t>
            </a:r>
          </a:p>
          <a:p>
            <a:pPr>
              <a:defRPr/>
            </a:pPr>
            <a:endParaRPr lang="zh-CN" altLang="en-US" sz="2000" dirty="0">
              <a:solidFill>
                <a:srgbClr val="003399"/>
              </a:solidFill>
              <a:latin typeface="微软雅黑" pitchFamily="34" charset="-122"/>
              <a:ea typeface="微软雅黑" pitchFamily="34" charset="-122"/>
            </a:endParaRPr>
          </a:p>
        </p:txBody>
      </p:sp>
      <p:sp>
        <p:nvSpPr>
          <p:cNvPr id="17" name="矩形 16">
            <a:extLst>
              <a:ext uri="{FF2B5EF4-FFF2-40B4-BE49-F238E27FC236}">
                <a16:creationId xmlns:a16="http://schemas.microsoft.com/office/drawing/2014/main" id="{549940DC-8325-0FD1-4311-2881083B2C28}"/>
              </a:ext>
            </a:extLst>
          </p:cNvPr>
          <p:cNvSpPr/>
          <p:nvPr/>
        </p:nvSpPr>
        <p:spPr>
          <a:xfrm>
            <a:off x="5429250" y="4286250"/>
            <a:ext cx="2493963" cy="400050"/>
          </a:xfrm>
          <a:prstGeom prst="rect">
            <a:avLst/>
          </a:prstGeom>
        </p:spPr>
        <p:txBody>
          <a:bodyPr wrap="none">
            <a:spAutoFit/>
          </a:bodyPr>
          <a:lstStyle/>
          <a:p>
            <a:pPr>
              <a:defRPr/>
            </a:pPr>
            <a:r>
              <a:rPr kumimoji="0" lang="zh-CN" altLang="en-US" sz="2000" b="0" kern="0" dirty="0">
                <a:solidFill>
                  <a:srgbClr val="003399"/>
                </a:solidFill>
                <a:effectLst>
                  <a:outerShdw blurRad="38100" dist="38100" dir="2700000" algn="tl">
                    <a:srgbClr val="000000">
                      <a:alpha val="43137"/>
                    </a:srgbClr>
                  </a:outerShdw>
                </a:effectLst>
                <a:latin typeface="微软雅黑" pitchFamily="34" charset="-122"/>
                <a:ea typeface="微软雅黑" pitchFamily="34" charset="-122"/>
              </a:rPr>
              <a:t>（</a:t>
            </a:r>
            <a:r>
              <a:rPr lang="en-US" sz="2000" dirty="0">
                <a:solidFill>
                  <a:srgbClr val="0000CC"/>
                </a:solidFill>
              </a:rPr>
              <a:t>∵</a:t>
            </a:r>
            <a:r>
              <a:rPr kumimoji="0" lang="zh-CN" altLang="en-US" sz="2000" b="0" kern="0" dirty="0">
                <a:solidFill>
                  <a:srgbClr val="003399"/>
                </a:solidFill>
                <a:effectLst>
                  <a:outerShdw blurRad="38100" dist="38100" dir="2700000" algn="tl">
                    <a:srgbClr val="000000">
                      <a:alpha val="43137"/>
                    </a:srgbClr>
                  </a:outerShdw>
                </a:effectLst>
                <a:latin typeface="微软雅黑" pitchFamily="34" charset="-122"/>
                <a:ea typeface="微软雅黑" pitchFamily="34" charset="-122"/>
              </a:rPr>
              <a:t>不知错码位置）</a:t>
            </a:r>
            <a:endParaRPr lang="zh-CN" altLang="en-US" sz="2000" dirty="0">
              <a:solidFill>
                <a:srgbClr val="003399"/>
              </a:solidFill>
              <a:effectLst>
                <a:outerShdw blurRad="38100" dist="38100" dir="2700000" algn="tl">
                  <a:srgbClr val="000000">
                    <a:alpha val="43137"/>
                  </a:srgbClr>
                </a:outerShdw>
              </a:effectLst>
            </a:endParaRPr>
          </a:p>
        </p:txBody>
      </p:sp>
      <p:graphicFrame>
        <p:nvGraphicFramePr>
          <p:cNvPr id="6154" name="Object 10">
            <a:extLst>
              <a:ext uri="{FF2B5EF4-FFF2-40B4-BE49-F238E27FC236}">
                <a16:creationId xmlns:a16="http://schemas.microsoft.com/office/drawing/2014/main" id="{59A9C65B-BAC9-E6BE-C3F4-EC2496DF8A9D}"/>
              </a:ext>
            </a:extLst>
          </p:cNvPr>
          <p:cNvGraphicFramePr>
            <a:graphicFrameLocks noChangeAspect="1"/>
          </p:cNvGraphicFramePr>
          <p:nvPr/>
        </p:nvGraphicFramePr>
        <p:xfrm>
          <a:off x="2470150" y="5572125"/>
          <a:ext cx="1816100" cy="785813"/>
        </p:xfrm>
        <a:graphic>
          <a:graphicData uri="http://schemas.openxmlformats.org/presentationml/2006/ole">
            <mc:AlternateContent xmlns:mc="http://schemas.openxmlformats.org/markup-compatibility/2006">
              <mc:Choice xmlns:v="urn:schemas-microsoft-com:vml" Requires="v">
                <p:oleObj name="Equation" r:id="rId3" imgW="812520" imgH="355320" progId="Equation.DSMT4">
                  <p:embed/>
                </p:oleObj>
              </mc:Choice>
              <mc:Fallback>
                <p:oleObj name="Equation" r:id="rId3" imgW="812520" imgH="355320" progId="Equation.DSMT4">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0150" y="5572125"/>
                        <a:ext cx="1816100" cy="785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60" name="矩形 17">
            <a:extLst>
              <a:ext uri="{FF2B5EF4-FFF2-40B4-BE49-F238E27FC236}">
                <a16:creationId xmlns:a16="http://schemas.microsoft.com/office/drawing/2014/main" id="{B0395680-D23B-4A22-9042-1DA941DA8F1C}"/>
              </a:ext>
            </a:extLst>
          </p:cNvPr>
          <p:cNvSpPr>
            <a:spLocks noChangeArrowheads="1"/>
          </p:cNvSpPr>
          <p:nvPr/>
        </p:nvSpPr>
        <p:spPr bwMode="auto">
          <a:xfrm>
            <a:off x="4429125" y="5675313"/>
            <a:ext cx="3929063" cy="554037"/>
          </a:xfrm>
          <a:prstGeom prst="rect">
            <a:avLst/>
          </a:prstGeom>
          <a:noFill/>
          <a:ln w="9525">
            <a:noFill/>
            <a:miter lim="800000"/>
            <a:headEnd/>
            <a:tailEnd/>
          </a:ln>
        </p:spPr>
        <p:txBody>
          <a:bodyPr>
            <a:spAutoFit/>
          </a:bodyPr>
          <a:lstStyle/>
          <a:p>
            <a:pPr>
              <a:lnSpc>
                <a:spcPct val="150000"/>
              </a:lnSpc>
              <a:buSzPct val="65000"/>
              <a:defRPr/>
            </a:pP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很高 </a:t>
            </a:r>
            <a:r>
              <a:rPr lang="zh-CN" altLang="en-US" sz="18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（因为只有一位监督位）</a:t>
            </a: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a:t>
            </a:r>
          </a:p>
        </p:txBody>
      </p:sp>
      <p:sp>
        <p:nvSpPr>
          <p:cNvPr id="19" name="矩形 18">
            <a:extLst>
              <a:ext uri="{FF2B5EF4-FFF2-40B4-BE49-F238E27FC236}">
                <a16:creationId xmlns:a16="http://schemas.microsoft.com/office/drawing/2014/main" id="{40F3C29E-0753-316F-8F25-67B8403A77C8}"/>
              </a:ext>
            </a:extLst>
          </p:cNvPr>
          <p:cNvSpPr/>
          <p:nvPr/>
        </p:nvSpPr>
        <p:spPr>
          <a:xfrm>
            <a:off x="642938" y="5630863"/>
            <a:ext cx="4500562" cy="503237"/>
          </a:xfrm>
          <a:prstGeom prst="rect">
            <a:avLst/>
          </a:prstGeom>
        </p:spPr>
        <p:txBody>
          <a:bodyPr>
            <a:spAutoFit/>
          </a:bodyPr>
          <a:lstStyle/>
          <a:p>
            <a:pPr marL="342900" indent="-342900" eaLnBrk="0" hangingPunct="0">
              <a:lnSpc>
                <a:spcPts val="3200"/>
              </a:lnSpc>
              <a:spcBef>
                <a:spcPct val="20000"/>
              </a:spcBef>
              <a:buClr>
                <a:srgbClr val="3333CC"/>
              </a:buClr>
              <a:buSzPct val="60000"/>
              <a:buFont typeface="Wingdings" pitchFamily="2" charset="2"/>
              <a:buChar char="u"/>
              <a:defRPr/>
            </a:pPr>
            <a:r>
              <a:rPr kumimoji="0" lang="zh-CN" altLang="en-US" sz="2000" b="0" kern="0" dirty="0">
                <a:solidFill>
                  <a:srgbClr val="003399"/>
                </a:solidFill>
                <a:latin typeface="微软雅黑" pitchFamily="34" charset="-122"/>
                <a:ea typeface="微软雅黑" pitchFamily="34" charset="-122"/>
              </a:rPr>
              <a:t> </a:t>
            </a:r>
            <a:r>
              <a:rPr lang="zh-CN" altLang="en-US" sz="2400" dirty="0">
                <a:solidFill>
                  <a:srgbClr val="003399"/>
                </a:solidFill>
                <a:latin typeface="微软雅黑" pitchFamily="34" charset="-122"/>
                <a:ea typeface="微软雅黑" pitchFamily="34" charset="-122"/>
              </a:rPr>
              <a:t>码率</a:t>
            </a:r>
            <a:r>
              <a:rPr lang="zh-CN" altLang="en-US" sz="2000" dirty="0">
                <a:solidFill>
                  <a:srgbClr val="003399"/>
                </a:solidFill>
                <a:latin typeface="+mn-ea"/>
                <a:ea typeface="+mn-ea"/>
              </a:rPr>
              <a:t>：                 </a:t>
            </a:r>
            <a:endParaRPr kumimoji="0" lang="zh-CN" altLang="en-US" sz="2000" b="0" kern="0" dirty="0">
              <a:solidFill>
                <a:srgbClr val="003399"/>
              </a:solidFill>
              <a:latin typeface="微软雅黑" pitchFamily="34" charset="-122"/>
              <a:ea typeface="微软雅黑" pitchFamily="34" charset="-122"/>
            </a:endParaRPr>
          </a:p>
        </p:txBody>
      </p:sp>
      <p:pic>
        <p:nvPicPr>
          <p:cNvPr id="6159" name="Picture 17">
            <a:extLst>
              <a:ext uri="{FF2B5EF4-FFF2-40B4-BE49-F238E27FC236}">
                <a16:creationId xmlns:a16="http://schemas.microsoft.com/office/drawing/2014/main" id="{F101F668-E55E-E4C5-7A69-C5FAB0C300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9020"/>
          <a:stretch>
            <a:fillRect/>
          </a:stretch>
        </p:blipFill>
        <p:spPr bwMode="auto">
          <a:xfrm>
            <a:off x="2500313" y="2713038"/>
            <a:ext cx="348615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6" name="Picture 16">
            <a:extLst>
              <a:ext uri="{FF2B5EF4-FFF2-40B4-BE49-F238E27FC236}">
                <a16:creationId xmlns:a16="http://schemas.microsoft.com/office/drawing/2014/main" id="{C905CA5D-9DC8-229B-245F-D44A07C705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2938" y="3741738"/>
            <a:ext cx="7429500"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1000"/>
                                        <p:tgtEl>
                                          <p:spTgt spid="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6147"/>
                                        </p:tgtEl>
                                        <p:attrNameLst>
                                          <p:attrName>style.visibility</p:attrName>
                                        </p:attrNameLst>
                                      </p:cBhvr>
                                      <p:to>
                                        <p:strVal val="visible"/>
                                      </p:to>
                                    </p:set>
                                    <p:animEffect transition="in" filter="wipe(up)">
                                      <p:cBhvr>
                                        <p:cTn id="17" dur="2000"/>
                                        <p:tgtEl>
                                          <p:spTgt spid="6147"/>
                                        </p:tgtEl>
                                      </p:cBhvr>
                                    </p:animEffect>
                                  </p:childTnLst>
                                </p:cTn>
                              </p:par>
                              <p:par>
                                <p:cTn id="18" presetID="22" presetClass="entr" presetSubtype="1" fill="hold" nodeType="withEffect">
                                  <p:stCondLst>
                                    <p:cond delay="0"/>
                                  </p:stCondLst>
                                  <p:childTnLst>
                                    <p:set>
                                      <p:cBhvr>
                                        <p:cTn id="19" dur="1" fill="hold">
                                          <p:stCondLst>
                                            <p:cond delay="0"/>
                                          </p:stCondLst>
                                        </p:cTn>
                                        <p:tgtEl>
                                          <p:spTgt spid="6159"/>
                                        </p:tgtEl>
                                        <p:attrNameLst>
                                          <p:attrName>style.visibility</p:attrName>
                                        </p:attrNameLst>
                                      </p:cBhvr>
                                      <p:to>
                                        <p:strVal val="visible"/>
                                      </p:to>
                                    </p:set>
                                    <p:animEffect transition="in" filter="wipe(up)">
                                      <p:cBhvr>
                                        <p:cTn id="20" dur="2000"/>
                                        <p:tgtEl>
                                          <p:spTgt spid="615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1000"/>
                                        <p:tgtEl>
                                          <p:spTgt spid="9"/>
                                        </p:tgtEl>
                                      </p:cBhvr>
                                    </p:animEffect>
                                  </p:childTnLst>
                                </p:cTn>
                              </p:par>
                            </p:childTnLst>
                          </p:cTn>
                        </p:par>
                        <p:par>
                          <p:cTn id="26" fill="hold" nodeType="afterGroup">
                            <p:stCondLst>
                              <p:cond delay="1000"/>
                            </p:stCondLst>
                            <p:childTnLst>
                              <p:par>
                                <p:cTn id="27" presetID="22" presetClass="entr" presetSubtype="8" fill="hold"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left)">
                                      <p:cBhvr>
                                        <p:cTn id="29" dur="2000"/>
                                        <p:tgtEl>
                                          <p:spTgt spid="1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left)">
                                      <p:cBhvr>
                                        <p:cTn id="34" dur="1000"/>
                                        <p:tgtEl>
                                          <p:spTgt spid="8"/>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5136"/>
                                        </p:tgtEl>
                                        <p:attrNameLst>
                                          <p:attrName>style.visibility</p:attrName>
                                        </p:attrNameLst>
                                      </p:cBhvr>
                                      <p:to>
                                        <p:strVal val="visible"/>
                                      </p:to>
                                    </p:set>
                                    <p:animEffect transition="in" filter="wipe(up)">
                                      <p:cBhvr>
                                        <p:cTn id="39" dur="1000"/>
                                        <p:tgtEl>
                                          <p:spTgt spid="5136"/>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4" fill="hold"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wipe(down)">
                                      <p:cBhvr>
                                        <p:cTn id="44" dur="1000"/>
                                        <p:tgtEl>
                                          <p:spTgt spid="17"/>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1"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wipe(up)">
                                      <p:cBhvr>
                                        <p:cTn id="49" dur="1000"/>
                                        <p:tgtEl>
                                          <p:spTgt spid="10"/>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1" fill="hold" nodeType="click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wipe(up)">
                                      <p:cBhvr>
                                        <p:cTn id="54" dur="1000"/>
                                        <p:tgtEl>
                                          <p:spTgt spid="19"/>
                                        </p:tgtEl>
                                      </p:cBhvr>
                                    </p:animEffect>
                                  </p:childTnLst>
                                </p:cTn>
                              </p:par>
                            </p:childTnLst>
                          </p:cTn>
                        </p:par>
                        <p:par>
                          <p:cTn id="55" fill="hold" nodeType="afterGroup">
                            <p:stCondLst>
                              <p:cond delay="1000"/>
                            </p:stCondLst>
                            <p:childTnLst>
                              <p:par>
                                <p:cTn id="56" presetID="3" presetClass="entr" presetSubtype="5" fill="hold" nodeType="afterEffect">
                                  <p:stCondLst>
                                    <p:cond delay="0"/>
                                  </p:stCondLst>
                                  <p:childTnLst>
                                    <p:set>
                                      <p:cBhvr>
                                        <p:cTn id="57" dur="1" fill="hold">
                                          <p:stCondLst>
                                            <p:cond delay="0"/>
                                          </p:stCondLst>
                                        </p:cTn>
                                        <p:tgtEl>
                                          <p:spTgt spid="6154"/>
                                        </p:tgtEl>
                                        <p:attrNameLst>
                                          <p:attrName>style.visibility</p:attrName>
                                        </p:attrNameLst>
                                      </p:cBhvr>
                                      <p:to>
                                        <p:strVal val="visible"/>
                                      </p:to>
                                    </p:set>
                                    <p:animEffect transition="in" filter="blinds(vertical)">
                                      <p:cBhvr>
                                        <p:cTn id="58" dur="1000"/>
                                        <p:tgtEl>
                                          <p:spTgt spid="6154"/>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6160"/>
                                        </p:tgtEl>
                                        <p:attrNameLst>
                                          <p:attrName>style.visibility</p:attrName>
                                        </p:attrNameLst>
                                      </p:cBhvr>
                                      <p:to>
                                        <p:strVal val="visible"/>
                                      </p:to>
                                    </p:set>
                                    <p:animEffect transition="in" filter="wipe(left)">
                                      <p:cBhvr>
                                        <p:cTn id="63" dur="2000"/>
                                        <p:tgtEl>
                                          <p:spTgt spid="61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9" grpId="0"/>
      <p:bldP spid="10" grpId="0"/>
      <p:bldP spid="11" grpId="0"/>
      <p:bldP spid="14" grpId="0" animBg="1"/>
      <p:bldP spid="17" grpId="0"/>
      <p:bldP spid="6160" grpId="0"/>
      <p:bldP spid="1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17">
            <a:extLst>
              <a:ext uri="{FF2B5EF4-FFF2-40B4-BE49-F238E27FC236}">
                <a16:creationId xmlns:a16="http://schemas.microsoft.com/office/drawing/2014/main" id="{34DB9237-365F-E48D-664C-DF3FEC445E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9020"/>
          <a:stretch>
            <a:fillRect/>
          </a:stretch>
        </p:blipFill>
        <p:spPr bwMode="auto">
          <a:xfrm>
            <a:off x="1785938" y="2643188"/>
            <a:ext cx="3286125" cy="70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95" name="Picture 27">
            <a:extLst>
              <a:ext uri="{FF2B5EF4-FFF2-40B4-BE49-F238E27FC236}">
                <a16:creationId xmlns:a16="http://schemas.microsoft.com/office/drawing/2014/main" id="{925AD169-AF2B-F0F1-B06B-674D3E5FC0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938" y="571500"/>
            <a:ext cx="7885112"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3" name="Rectangle 5">
            <a:extLst>
              <a:ext uri="{FF2B5EF4-FFF2-40B4-BE49-F238E27FC236}">
                <a16:creationId xmlns:a16="http://schemas.microsoft.com/office/drawing/2014/main" id="{7D883A02-47D8-FE4D-CFC4-063FF76367BC}"/>
              </a:ext>
            </a:extLst>
          </p:cNvPr>
          <p:cNvSpPr>
            <a:spLocks noChangeArrowheads="1"/>
          </p:cNvSpPr>
          <p:nvPr/>
        </p:nvSpPr>
        <p:spPr bwMode="auto">
          <a:xfrm>
            <a:off x="0" y="0"/>
            <a:ext cx="9144000" cy="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aphicFrame>
        <p:nvGraphicFramePr>
          <p:cNvPr id="73732" name="Object 2">
            <a:extLst>
              <a:ext uri="{FF2B5EF4-FFF2-40B4-BE49-F238E27FC236}">
                <a16:creationId xmlns:a16="http://schemas.microsoft.com/office/drawing/2014/main" id="{809A42A4-ED4B-DCF5-CC36-A391FDF2883C}"/>
              </a:ext>
            </a:extLst>
          </p:cNvPr>
          <p:cNvGraphicFramePr>
            <a:graphicFrameLocks noChangeAspect="1"/>
          </p:cNvGraphicFramePr>
          <p:nvPr/>
        </p:nvGraphicFramePr>
        <p:xfrm>
          <a:off x="4125913" y="4772025"/>
          <a:ext cx="2874962" cy="423863"/>
        </p:xfrm>
        <a:graphic>
          <a:graphicData uri="http://schemas.openxmlformats.org/presentationml/2006/ole">
            <mc:AlternateContent xmlns:mc="http://schemas.openxmlformats.org/markup-compatibility/2006">
              <mc:Choice xmlns:v="urn:schemas-microsoft-com:vml" Requires="v">
                <p:oleObj r:id="rId4" imgW="1091726" imgH="165028" progId="Equation.DSMT4">
                  <p:embed/>
                </p:oleObj>
              </mc:Choice>
              <mc:Fallback>
                <p:oleObj r:id="rId4" imgW="1091726" imgH="165028"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25913" y="4772025"/>
                        <a:ext cx="2874962" cy="423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735" name="Rectangle 7">
            <a:extLst>
              <a:ext uri="{FF2B5EF4-FFF2-40B4-BE49-F238E27FC236}">
                <a16:creationId xmlns:a16="http://schemas.microsoft.com/office/drawing/2014/main" id="{F01B7074-C3F7-060B-20CA-8D4243C2E1CD}"/>
              </a:ext>
            </a:extLst>
          </p:cNvPr>
          <p:cNvSpPr>
            <a:spLocks noChangeArrowheads="1"/>
          </p:cNvSpPr>
          <p:nvPr/>
        </p:nvSpPr>
        <p:spPr bwMode="auto">
          <a:xfrm>
            <a:off x="0" y="0"/>
            <a:ext cx="9144000" cy="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73737" name="Rectangle 9">
            <a:extLst>
              <a:ext uri="{FF2B5EF4-FFF2-40B4-BE49-F238E27FC236}">
                <a16:creationId xmlns:a16="http://schemas.microsoft.com/office/drawing/2014/main" id="{129F9BF3-CD54-D985-C49C-B355E044146B}"/>
              </a:ext>
            </a:extLst>
          </p:cNvPr>
          <p:cNvSpPr>
            <a:spLocks noChangeArrowheads="1"/>
          </p:cNvSpPr>
          <p:nvPr/>
        </p:nvSpPr>
        <p:spPr bwMode="auto">
          <a:xfrm>
            <a:off x="0" y="0"/>
            <a:ext cx="9144000" cy="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aphicFrame>
        <p:nvGraphicFramePr>
          <p:cNvPr id="73736" name="Object 3">
            <a:extLst>
              <a:ext uri="{FF2B5EF4-FFF2-40B4-BE49-F238E27FC236}">
                <a16:creationId xmlns:a16="http://schemas.microsoft.com/office/drawing/2014/main" id="{E51FD8B9-6653-CA67-E311-2FD04CBB6918}"/>
              </a:ext>
            </a:extLst>
          </p:cNvPr>
          <p:cNvGraphicFramePr>
            <a:graphicFrameLocks noChangeAspect="1"/>
          </p:cNvGraphicFramePr>
          <p:nvPr/>
        </p:nvGraphicFramePr>
        <p:xfrm>
          <a:off x="4125913" y="5356225"/>
          <a:ext cx="2874962" cy="409575"/>
        </p:xfrm>
        <a:graphic>
          <a:graphicData uri="http://schemas.openxmlformats.org/presentationml/2006/ole">
            <mc:AlternateContent xmlns:mc="http://schemas.openxmlformats.org/markup-compatibility/2006">
              <mc:Choice xmlns:v="urn:schemas-microsoft-com:vml" Requires="v">
                <p:oleObj r:id="rId6" imgW="1129810" imgH="165028" progId="Equation.DSMT4">
                  <p:embed/>
                </p:oleObj>
              </mc:Choice>
              <mc:Fallback>
                <p:oleObj r:id="rId6" imgW="1129810" imgH="165028"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25913" y="5356225"/>
                        <a:ext cx="2874962"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矩形 9">
            <a:extLst>
              <a:ext uri="{FF2B5EF4-FFF2-40B4-BE49-F238E27FC236}">
                <a16:creationId xmlns:a16="http://schemas.microsoft.com/office/drawing/2014/main" id="{D73E1189-9E1F-305A-3FB0-B813E087B4D1}"/>
              </a:ext>
            </a:extLst>
          </p:cNvPr>
          <p:cNvSpPr/>
          <p:nvPr/>
        </p:nvSpPr>
        <p:spPr>
          <a:xfrm>
            <a:off x="5572125" y="2316163"/>
            <a:ext cx="2357438" cy="974725"/>
          </a:xfrm>
          <a:prstGeom prst="rect">
            <a:avLst/>
          </a:prstGeom>
        </p:spPr>
        <p:txBody>
          <a:bodyPr>
            <a:spAutoFit/>
          </a:bodyPr>
          <a:lstStyle/>
          <a:p>
            <a:pPr marL="342900" indent="-342900" eaLnBrk="0" hangingPunct="0">
              <a:lnSpc>
                <a:spcPts val="3200"/>
              </a:lnSpc>
              <a:spcBef>
                <a:spcPct val="20000"/>
              </a:spcBef>
              <a:buClr>
                <a:srgbClr val="3333CC"/>
              </a:buClr>
              <a:buSzPct val="60000"/>
              <a:defRPr/>
            </a:pP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编出的码字应为</a:t>
            </a:r>
            <a:r>
              <a:rPr kumimoji="0" lang="en-US" altLang="zh-CN"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 </a:t>
            </a:r>
            <a:r>
              <a:rPr kumimoji="0" lang="zh-CN" altLang="en-US" sz="2000" b="0" kern="0" dirty="0">
                <a:solidFill>
                  <a:srgbClr val="000000"/>
                </a:solidFill>
                <a:effectLst>
                  <a:outerShdw blurRad="38100" dist="38100" dir="2700000" algn="tl">
                    <a:srgbClr val="000000">
                      <a:alpha val="43137"/>
                    </a:srgbClr>
                  </a:outerShdw>
                </a:effectLst>
                <a:latin typeface="+mn-ea"/>
                <a:ea typeface="+mn-ea"/>
              </a:rPr>
              <a:t>：</a:t>
            </a:r>
            <a:r>
              <a:rPr kumimoji="0" lang="en-US" altLang="zh-CN"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     </a:t>
            </a:r>
          </a:p>
          <a:p>
            <a:pPr marL="342900" indent="-342900" eaLnBrk="0" hangingPunct="0">
              <a:lnSpc>
                <a:spcPts val="3200"/>
              </a:lnSpc>
              <a:spcBef>
                <a:spcPct val="20000"/>
              </a:spcBef>
              <a:buClr>
                <a:srgbClr val="3333CC"/>
              </a:buClr>
              <a:buSzPct val="60000"/>
              <a:defRPr/>
            </a:pPr>
            <a:r>
              <a:rPr kumimoji="0" lang="en-US" altLang="zh-CN"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        </a:t>
            </a:r>
            <a:endParaRPr kumimoji="0" lang="en-US" altLang="zh-CN" sz="2000" b="0" kern="0" dirty="0">
              <a:solidFill>
                <a:srgbClr val="FF3300"/>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11" name="矩形 10">
            <a:extLst>
              <a:ext uri="{FF2B5EF4-FFF2-40B4-BE49-F238E27FC236}">
                <a16:creationId xmlns:a16="http://schemas.microsoft.com/office/drawing/2014/main" id="{52388E96-53D5-B674-7257-3360DB4B407F}"/>
              </a:ext>
            </a:extLst>
          </p:cNvPr>
          <p:cNvSpPr/>
          <p:nvPr/>
        </p:nvSpPr>
        <p:spPr>
          <a:xfrm>
            <a:off x="625475" y="4660900"/>
            <a:ext cx="3786188" cy="554038"/>
          </a:xfrm>
          <a:prstGeom prst="rect">
            <a:avLst/>
          </a:prstGeom>
        </p:spPr>
        <p:txBody>
          <a:bodyPr>
            <a:spAutoFit/>
          </a:bodyPr>
          <a:lstStyle/>
          <a:p>
            <a:pPr marL="342900" indent="-342900" eaLnBrk="0" hangingPunct="0">
              <a:lnSpc>
                <a:spcPts val="3600"/>
              </a:lnSpc>
              <a:spcBef>
                <a:spcPct val="20000"/>
              </a:spcBef>
              <a:buClr>
                <a:srgbClr val="3333CC"/>
              </a:buClr>
              <a:buSzPct val="60000"/>
              <a:defRPr/>
            </a:pP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若收到 </a:t>
            </a:r>
            <a:r>
              <a:rPr kumimoji="0" lang="en-US" altLang="zh-CN" sz="2400" kern="0" dirty="0">
                <a:solidFill>
                  <a:schemeClr val="tx1"/>
                </a:solidFill>
                <a:latin typeface="Arial" pitchFamily="34" charset="0"/>
                <a:ea typeface="幼圆" pitchFamily="49" charset="-122"/>
                <a:cs typeface="Arial" pitchFamily="34" charset="0"/>
              </a:rPr>
              <a:t>1</a:t>
            </a:r>
            <a:r>
              <a:rPr kumimoji="0" lang="en-US" altLang="zh-CN" sz="2400" u="sng" kern="0" dirty="0">
                <a:solidFill>
                  <a:srgbClr val="0000CC"/>
                </a:solidFill>
                <a:latin typeface="Arial" pitchFamily="34" charset="0"/>
                <a:ea typeface="幼圆" pitchFamily="49" charset="-122"/>
                <a:cs typeface="Arial" pitchFamily="34" charset="0"/>
              </a:rPr>
              <a:t>0</a:t>
            </a:r>
            <a:r>
              <a:rPr kumimoji="0" lang="en-US" altLang="zh-CN" sz="2400" kern="0" dirty="0">
                <a:solidFill>
                  <a:schemeClr val="tx1"/>
                </a:solidFill>
                <a:latin typeface="Arial" pitchFamily="34" charset="0"/>
                <a:ea typeface="幼圆" pitchFamily="49" charset="-122"/>
                <a:cs typeface="Arial" pitchFamily="34" charset="0"/>
              </a:rPr>
              <a:t>011</a:t>
            </a: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，检测结果为</a:t>
            </a:r>
            <a:r>
              <a:rPr kumimoji="0" lang="zh-CN" altLang="en-US" sz="2000" b="0" kern="0" dirty="0">
                <a:solidFill>
                  <a:srgbClr val="000000"/>
                </a:solidFill>
                <a:effectLst>
                  <a:outerShdw blurRad="38100" dist="38100" dir="2700000" algn="tl">
                    <a:srgbClr val="000000">
                      <a:alpha val="43137"/>
                    </a:srgbClr>
                  </a:outerShdw>
                </a:effectLst>
                <a:latin typeface="+mn-ea"/>
                <a:ea typeface="+mn-ea"/>
              </a:rPr>
              <a:t>：</a:t>
            </a:r>
          </a:p>
        </p:txBody>
      </p:sp>
      <p:sp>
        <p:nvSpPr>
          <p:cNvPr id="13" name="矩形 12">
            <a:extLst>
              <a:ext uri="{FF2B5EF4-FFF2-40B4-BE49-F238E27FC236}">
                <a16:creationId xmlns:a16="http://schemas.microsoft.com/office/drawing/2014/main" id="{F519F57B-0706-A363-F020-46BBCCDD23D4}"/>
              </a:ext>
            </a:extLst>
          </p:cNvPr>
          <p:cNvSpPr/>
          <p:nvPr/>
        </p:nvSpPr>
        <p:spPr>
          <a:xfrm>
            <a:off x="1285875" y="2357438"/>
            <a:ext cx="2492375" cy="400050"/>
          </a:xfrm>
          <a:prstGeom prst="rect">
            <a:avLst/>
          </a:prstGeom>
        </p:spPr>
        <p:txBody>
          <a:bodyPr wrap="none">
            <a:spAutoFit/>
          </a:bodyPr>
          <a:lstStyle/>
          <a:p>
            <a:pPr marL="342900" indent="-342900" eaLnBrk="0" hangingPunct="0">
              <a:spcBef>
                <a:spcPct val="20000"/>
              </a:spcBef>
              <a:buClr>
                <a:srgbClr val="3333CC"/>
              </a:buClr>
              <a:buSzPct val="60000"/>
              <a:defRPr/>
            </a:pPr>
            <a:r>
              <a:rPr kumimoji="0" lang="zh-CN" altLang="en-US" sz="2000" b="0" kern="0" dirty="0">
                <a:solidFill>
                  <a:srgbClr val="000000"/>
                </a:solidFill>
                <a:latin typeface="微软雅黑" pitchFamily="34" charset="-122"/>
                <a:ea typeface="微软雅黑" pitchFamily="34" charset="-122"/>
              </a:rPr>
              <a:t>根据</a:t>
            </a:r>
            <a:r>
              <a:rPr kumimoji="0" lang="zh-CN" altLang="en-US" sz="2000" kern="0" dirty="0">
                <a:solidFill>
                  <a:srgbClr val="000000"/>
                </a:solidFill>
                <a:latin typeface="微软雅黑" pitchFamily="34" charset="-122"/>
                <a:ea typeface="微软雅黑" pitchFamily="34" charset="-122"/>
              </a:rPr>
              <a:t>偶数监督</a:t>
            </a:r>
            <a:r>
              <a:rPr kumimoji="0" lang="zh-CN" altLang="en-US" sz="2000" b="0" kern="0" dirty="0">
                <a:solidFill>
                  <a:srgbClr val="000000"/>
                </a:solidFill>
                <a:latin typeface="微软雅黑" pitchFamily="34" charset="-122"/>
                <a:ea typeface="微软雅黑" pitchFamily="34" charset="-122"/>
              </a:rPr>
              <a:t>规则</a:t>
            </a:r>
            <a:r>
              <a:rPr kumimoji="0" lang="zh-CN" altLang="en-US" sz="2000" b="0" kern="0" dirty="0">
                <a:solidFill>
                  <a:srgbClr val="000000"/>
                </a:solidFill>
                <a:latin typeface="+mn-ea"/>
                <a:ea typeface="+mn-ea"/>
              </a:rPr>
              <a:t>：</a:t>
            </a:r>
            <a:endParaRPr kumimoji="0" lang="zh-CN" altLang="en-US" sz="2000" b="0" kern="0" dirty="0">
              <a:solidFill>
                <a:schemeClr val="tx1"/>
              </a:solidFill>
              <a:latin typeface="+mn-ea"/>
              <a:ea typeface="+mn-ea"/>
            </a:endParaRPr>
          </a:p>
        </p:txBody>
      </p:sp>
      <p:sp>
        <p:nvSpPr>
          <p:cNvPr id="14" name="矩形 13">
            <a:extLst>
              <a:ext uri="{FF2B5EF4-FFF2-40B4-BE49-F238E27FC236}">
                <a16:creationId xmlns:a16="http://schemas.microsoft.com/office/drawing/2014/main" id="{576F617F-A888-7841-03F0-7B3DE54657B3}"/>
              </a:ext>
            </a:extLst>
          </p:cNvPr>
          <p:cNvSpPr/>
          <p:nvPr/>
        </p:nvSpPr>
        <p:spPr>
          <a:xfrm>
            <a:off x="6929438" y="4784725"/>
            <a:ext cx="1571625" cy="400050"/>
          </a:xfrm>
          <a:prstGeom prst="rect">
            <a:avLst/>
          </a:prstGeom>
        </p:spPr>
        <p:txBody>
          <a:bodyPr>
            <a:spAutoFit/>
          </a:bodyPr>
          <a:lstStyle/>
          <a:p>
            <a:pPr>
              <a:defRPr/>
            </a:pPr>
            <a:r>
              <a:rPr kumimoji="0" lang="en-US" altLang="zh-CN"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a:t>
            </a: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存在错码</a:t>
            </a:r>
            <a:endParaRPr lang="zh-CN" altLang="en-US" dirty="0"/>
          </a:p>
        </p:txBody>
      </p:sp>
      <p:sp>
        <p:nvSpPr>
          <p:cNvPr id="15" name="矩形 14">
            <a:extLst>
              <a:ext uri="{FF2B5EF4-FFF2-40B4-BE49-F238E27FC236}">
                <a16:creationId xmlns:a16="http://schemas.microsoft.com/office/drawing/2014/main" id="{635CFC99-FE96-3145-66D1-BCBE375AB99F}"/>
              </a:ext>
            </a:extLst>
          </p:cNvPr>
          <p:cNvSpPr/>
          <p:nvPr/>
        </p:nvSpPr>
        <p:spPr>
          <a:xfrm>
            <a:off x="554038" y="5286375"/>
            <a:ext cx="3643312" cy="461963"/>
          </a:xfrm>
          <a:prstGeom prst="rect">
            <a:avLst/>
          </a:prstGeom>
        </p:spPr>
        <p:txBody>
          <a:bodyPr>
            <a:spAutoFit/>
          </a:bodyPr>
          <a:lstStyle/>
          <a:p>
            <a:pPr>
              <a:defRPr/>
            </a:pP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 若收到 </a:t>
            </a:r>
            <a:r>
              <a:rPr kumimoji="0" lang="en-US" altLang="zh-CN" sz="2400" u="sng" kern="0" dirty="0">
                <a:solidFill>
                  <a:srgbClr val="0000CC"/>
                </a:solidFill>
                <a:latin typeface="Arial" pitchFamily="34" charset="0"/>
                <a:ea typeface="幼圆" pitchFamily="49" charset="-122"/>
                <a:cs typeface="Arial" pitchFamily="34" charset="0"/>
              </a:rPr>
              <a:t>00</a:t>
            </a:r>
            <a:r>
              <a:rPr kumimoji="0" lang="en-US" altLang="zh-CN" sz="2400" kern="0" dirty="0">
                <a:solidFill>
                  <a:schemeClr val="tx1"/>
                </a:solidFill>
                <a:latin typeface="Arial" pitchFamily="34" charset="0"/>
                <a:ea typeface="幼圆" pitchFamily="49" charset="-122"/>
                <a:cs typeface="Arial" pitchFamily="34" charset="0"/>
              </a:rPr>
              <a:t>011</a:t>
            </a: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，检测结果为</a:t>
            </a:r>
            <a:r>
              <a:rPr kumimoji="0" lang="zh-CN" altLang="en-US" sz="2000" b="0" kern="0" dirty="0">
                <a:solidFill>
                  <a:srgbClr val="000000"/>
                </a:solidFill>
                <a:effectLst>
                  <a:outerShdw blurRad="38100" dist="38100" dir="2700000" algn="tl">
                    <a:srgbClr val="000000">
                      <a:alpha val="43137"/>
                    </a:srgbClr>
                  </a:outerShdw>
                </a:effectLst>
                <a:latin typeface="+mn-ea"/>
                <a:ea typeface="+mn-ea"/>
              </a:rPr>
              <a:t>：</a:t>
            </a:r>
            <a:endParaRPr lang="zh-CN" altLang="en-US" dirty="0">
              <a:latin typeface="+mn-ea"/>
              <a:ea typeface="+mn-ea"/>
            </a:endParaRPr>
          </a:p>
        </p:txBody>
      </p:sp>
      <p:sp>
        <p:nvSpPr>
          <p:cNvPr id="16" name="矩形 15">
            <a:extLst>
              <a:ext uri="{FF2B5EF4-FFF2-40B4-BE49-F238E27FC236}">
                <a16:creationId xmlns:a16="http://schemas.microsoft.com/office/drawing/2014/main" id="{607D2A6D-649A-9508-5F39-6D6DDCEF97C9}"/>
              </a:ext>
            </a:extLst>
          </p:cNvPr>
          <p:cNvSpPr/>
          <p:nvPr/>
        </p:nvSpPr>
        <p:spPr>
          <a:xfrm>
            <a:off x="1857375" y="5857875"/>
            <a:ext cx="5143500" cy="554038"/>
          </a:xfrm>
          <a:prstGeom prst="rect">
            <a:avLst/>
          </a:prstGeom>
        </p:spPr>
        <p:txBody>
          <a:bodyPr>
            <a:spAutoFit/>
          </a:bodyPr>
          <a:lstStyle/>
          <a:p>
            <a:pPr marL="342900" indent="-342900" eaLnBrk="0" hangingPunct="0">
              <a:lnSpc>
                <a:spcPts val="3600"/>
              </a:lnSpc>
              <a:spcBef>
                <a:spcPct val="20000"/>
              </a:spcBef>
              <a:buClr>
                <a:srgbClr val="3333CC"/>
              </a:buClr>
              <a:buSzPct val="60000"/>
              <a:defRPr/>
            </a:pP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 </a:t>
            </a:r>
            <a:r>
              <a:rPr kumimoji="0" lang="zh-CN" altLang="en-US" sz="2000" kern="0" dirty="0">
                <a:solidFill>
                  <a:srgbClr val="990099"/>
                </a:solidFill>
                <a:effectLst>
                  <a:outerShdw blurRad="38100" dist="38100" dir="2700000" algn="tl">
                    <a:srgbClr val="000000">
                      <a:alpha val="43137"/>
                    </a:srgbClr>
                  </a:outerShdw>
                </a:effectLst>
                <a:latin typeface="微软雅黑" pitchFamily="34" charset="-122"/>
                <a:ea typeface="微软雅黑" pitchFamily="34" charset="-122"/>
              </a:rPr>
              <a:t>可见</a:t>
            </a: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，奇偶监督码 不能 检出 </a:t>
            </a:r>
            <a:r>
              <a:rPr kumimoji="0" lang="zh-CN" altLang="en-US" sz="2000" b="0" kern="0" dirty="0">
                <a:solidFill>
                  <a:srgbClr val="0000CC"/>
                </a:solidFill>
                <a:effectLst>
                  <a:outerShdw blurRad="38100" dist="38100" dir="2700000" algn="tl">
                    <a:srgbClr val="000000">
                      <a:alpha val="43137"/>
                    </a:srgbClr>
                  </a:outerShdw>
                </a:effectLst>
                <a:latin typeface="微软雅黑" pitchFamily="34" charset="-122"/>
                <a:ea typeface="微软雅黑" pitchFamily="34" charset="-122"/>
              </a:rPr>
              <a:t>偶数 </a:t>
            </a: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个错码。</a:t>
            </a:r>
            <a:r>
              <a:rPr kumimoji="0" lang="zh-CN" altLang="en-US" sz="28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 </a:t>
            </a:r>
          </a:p>
        </p:txBody>
      </p:sp>
      <p:grpSp>
        <p:nvGrpSpPr>
          <p:cNvPr id="2" name="Group 22">
            <a:extLst>
              <a:ext uri="{FF2B5EF4-FFF2-40B4-BE49-F238E27FC236}">
                <a16:creationId xmlns:a16="http://schemas.microsoft.com/office/drawing/2014/main" id="{A94E5FA1-22ED-38E1-C39D-0A8A2F4CEC84}"/>
              </a:ext>
            </a:extLst>
          </p:cNvPr>
          <p:cNvGrpSpPr>
            <a:grpSpLocks/>
          </p:cNvGrpSpPr>
          <p:nvPr/>
        </p:nvGrpSpPr>
        <p:grpSpPr bwMode="auto">
          <a:xfrm>
            <a:off x="350838" y="428625"/>
            <a:ext cx="649287" cy="692150"/>
            <a:chOff x="1655" y="845"/>
            <a:chExt cx="454" cy="453"/>
          </a:xfrm>
        </p:grpSpPr>
        <p:grpSp>
          <p:nvGrpSpPr>
            <p:cNvPr id="6164" name="Group 23">
              <a:extLst>
                <a:ext uri="{FF2B5EF4-FFF2-40B4-BE49-F238E27FC236}">
                  <a16:creationId xmlns:a16="http://schemas.microsoft.com/office/drawing/2014/main" id="{3188DC15-41D3-7F53-5895-4BEED4D76270}"/>
                </a:ext>
              </a:extLst>
            </p:cNvPr>
            <p:cNvGrpSpPr>
              <a:grpSpLocks/>
            </p:cNvGrpSpPr>
            <p:nvPr/>
          </p:nvGrpSpPr>
          <p:grpSpPr bwMode="auto">
            <a:xfrm>
              <a:off x="1655" y="845"/>
              <a:ext cx="454" cy="453"/>
              <a:chOff x="1289" y="582"/>
              <a:chExt cx="668" cy="668"/>
            </a:xfrm>
          </p:grpSpPr>
          <p:sp>
            <p:nvSpPr>
              <p:cNvPr id="6166" name="Oval 24">
                <a:extLst>
                  <a:ext uri="{FF2B5EF4-FFF2-40B4-BE49-F238E27FC236}">
                    <a16:creationId xmlns:a16="http://schemas.microsoft.com/office/drawing/2014/main" id="{8A8360A6-24B1-F8CB-21ED-CE9E444FDAF4}"/>
                  </a:ext>
                </a:extLst>
              </p:cNvPr>
              <p:cNvSpPr>
                <a:spLocks noChangeArrowheads="1"/>
              </p:cNvSpPr>
              <p:nvPr/>
            </p:nvSpPr>
            <p:spPr bwMode="gray">
              <a:xfrm>
                <a:off x="1289" y="582"/>
                <a:ext cx="668" cy="668"/>
              </a:xfrm>
              <a:prstGeom prst="ellipse">
                <a:avLst/>
              </a:prstGeom>
              <a:solidFill>
                <a:srgbClr val="333333"/>
              </a:soli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6167" name="Oval 25">
                <a:extLst>
                  <a:ext uri="{FF2B5EF4-FFF2-40B4-BE49-F238E27FC236}">
                    <a16:creationId xmlns:a16="http://schemas.microsoft.com/office/drawing/2014/main" id="{8FD97256-CBB9-3EDF-282A-D4F9036AD8F4}"/>
                  </a:ext>
                </a:extLst>
              </p:cNvPr>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6168" name="Oval 26">
                <a:extLst>
                  <a:ext uri="{FF2B5EF4-FFF2-40B4-BE49-F238E27FC236}">
                    <a16:creationId xmlns:a16="http://schemas.microsoft.com/office/drawing/2014/main" id="{3FE18FB4-0C8D-2EEA-2F46-5166721192EA}"/>
                  </a:ext>
                </a:extLst>
              </p:cNvPr>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6169" name="Oval 27">
                <a:extLst>
                  <a:ext uri="{FF2B5EF4-FFF2-40B4-BE49-F238E27FC236}">
                    <a16:creationId xmlns:a16="http://schemas.microsoft.com/office/drawing/2014/main" id="{316E36D0-47C3-92CB-306F-B290E0E282C1}"/>
                  </a:ext>
                </a:extLst>
              </p:cNvPr>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6170" name="Oval 28">
                <a:extLst>
                  <a:ext uri="{FF2B5EF4-FFF2-40B4-BE49-F238E27FC236}">
                    <a16:creationId xmlns:a16="http://schemas.microsoft.com/office/drawing/2014/main" id="{08A6ACB5-794D-5E1B-2E6B-F350EBFD88BB}"/>
                  </a:ext>
                </a:extLst>
              </p:cNvPr>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pSp>
        <p:sp>
          <p:nvSpPr>
            <p:cNvPr id="6165" name="Text Box 29">
              <a:extLst>
                <a:ext uri="{FF2B5EF4-FFF2-40B4-BE49-F238E27FC236}">
                  <a16:creationId xmlns:a16="http://schemas.microsoft.com/office/drawing/2014/main" id="{6BA23024-4B89-ACD9-C299-BDF622734538}"/>
                </a:ext>
              </a:extLst>
            </p:cNvPr>
            <p:cNvSpPr txBox="1">
              <a:spLocks noChangeArrowheads="1"/>
            </p:cNvSpPr>
            <p:nvPr/>
          </p:nvSpPr>
          <p:spPr bwMode="gray">
            <a:xfrm>
              <a:off x="1666" y="902"/>
              <a:ext cx="379"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zh-CN" altLang="en-US" sz="2800">
                  <a:solidFill>
                    <a:srgbClr val="0000CC"/>
                  </a:solidFill>
                </a:rPr>
                <a:t>例</a:t>
              </a:r>
            </a:p>
          </p:txBody>
        </p:sp>
      </p:grpSp>
      <p:sp>
        <p:nvSpPr>
          <p:cNvPr id="28" name="Oval 12">
            <a:extLst>
              <a:ext uri="{FF2B5EF4-FFF2-40B4-BE49-F238E27FC236}">
                <a16:creationId xmlns:a16="http://schemas.microsoft.com/office/drawing/2014/main" id="{E42E6E4C-13AF-75CC-2D69-D13AFE1A4E36}"/>
              </a:ext>
            </a:extLst>
          </p:cNvPr>
          <p:cNvSpPr>
            <a:spLocks noChangeArrowheads="1"/>
          </p:cNvSpPr>
          <p:nvPr/>
        </p:nvSpPr>
        <p:spPr bwMode="auto">
          <a:xfrm>
            <a:off x="214313" y="2286000"/>
            <a:ext cx="842962" cy="496888"/>
          </a:xfrm>
          <a:prstGeom prst="ellipse">
            <a:avLst/>
          </a:prstGeom>
          <a:solidFill>
            <a:schemeClr val="bg2">
              <a:lumMod val="10000"/>
              <a:lumOff val="90000"/>
            </a:schemeClr>
          </a:solidFill>
          <a:ln w="9525">
            <a:solidFill>
              <a:schemeClr val="bg1">
                <a:lumMod val="85000"/>
              </a:schemeClr>
            </a:solidFill>
            <a:round/>
            <a:headEnd/>
            <a:tailEnd/>
          </a:ln>
          <a:effectLst>
            <a:outerShdw blurRad="50800" dist="38100" dir="2700000" algn="tl" rotWithShape="0">
              <a:prstClr val="black">
                <a:alpha val="40000"/>
              </a:prstClr>
            </a:outerShdw>
          </a:effectLst>
        </p:spPr>
        <p:txBody>
          <a:bodyPr wrap="none" anchor="ctr"/>
          <a:lstStyle/>
          <a:p>
            <a:pPr algn="ctr">
              <a:defRPr/>
            </a:pPr>
            <a:r>
              <a:rPr lang="zh-CN" altLang="en-US" sz="2400" dirty="0">
                <a:solidFill>
                  <a:schemeClr val="tx1"/>
                </a:solidFill>
                <a:latin typeface="黑体" pitchFamily="2" charset="-122"/>
                <a:ea typeface="黑体" pitchFamily="2" charset="-122"/>
              </a:rPr>
              <a:t>解</a:t>
            </a:r>
          </a:p>
        </p:txBody>
      </p:sp>
      <p:sp>
        <p:nvSpPr>
          <p:cNvPr id="29" name="矩形 28">
            <a:extLst>
              <a:ext uri="{FF2B5EF4-FFF2-40B4-BE49-F238E27FC236}">
                <a16:creationId xmlns:a16="http://schemas.microsoft.com/office/drawing/2014/main" id="{16354D6C-5CBD-F6E8-8A24-1CFD2BAE9D67}"/>
              </a:ext>
            </a:extLst>
          </p:cNvPr>
          <p:cNvSpPr/>
          <p:nvPr/>
        </p:nvSpPr>
        <p:spPr>
          <a:xfrm>
            <a:off x="6946900" y="5345113"/>
            <a:ext cx="1543050" cy="400050"/>
          </a:xfrm>
          <a:prstGeom prst="rect">
            <a:avLst/>
          </a:prstGeom>
        </p:spPr>
        <p:txBody>
          <a:bodyPr wrap="none">
            <a:spAutoFit/>
          </a:bodyPr>
          <a:lstStyle/>
          <a:p>
            <a:pPr>
              <a:defRPr/>
            </a:pPr>
            <a:r>
              <a:rPr kumimoji="0" lang="en-US" altLang="zh-CN"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a:t>
            </a: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认为无错</a:t>
            </a:r>
            <a:endParaRPr lang="zh-CN" altLang="en-US" dirty="0"/>
          </a:p>
        </p:txBody>
      </p:sp>
      <p:sp>
        <p:nvSpPr>
          <p:cNvPr id="30" name="矩形 29">
            <a:extLst>
              <a:ext uri="{FF2B5EF4-FFF2-40B4-BE49-F238E27FC236}">
                <a16:creationId xmlns:a16="http://schemas.microsoft.com/office/drawing/2014/main" id="{12CFC7FC-F39A-6580-90AE-E8E11E9CC99E}"/>
              </a:ext>
            </a:extLst>
          </p:cNvPr>
          <p:cNvSpPr/>
          <p:nvPr/>
        </p:nvSpPr>
        <p:spPr>
          <a:xfrm>
            <a:off x="6621463" y="2859088"/>
            <a:ext cx="1239837" cy="400050"/>
          </a:xfrm>
          <a:prstGeom prst="rect">
            <a:avLst/>
          </a:prstGeom>
          <a:solidFill>
            <a:schemeClr val="bg2">
              <a:lumMod val="10000"/>
              <a:lumOff val="90000"/>
            </a:schemeClr>
          </a:solidFill>
          <a:ln w="38100" cmpd="dbl">
            <a:solidFill>
              <a:srgbClr val="6666FF"/>
            </a:solidFill>
          </a:ln>
        </p:spPr>
        <p:txBody>
          <a:bodyPr wrap="none">
            <a:spAutoFit/>
          </a:bodyPr>
          <a:lstStyle/>
          <a:p>
            <a:pPr>
              <a:defRPr/>
            </a:pPr>
            <a:r>
              <a:rPr kumimoji="0" lang="en-US" altLang="zh-CN"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1 1 0 1 </a:t>
            </a:r>
            <a:r>
              <a:rPr kumimoji="0" lang="en-US" altLang="zh-CN" sz="2000" b="0" kern="0" dirty="0">
                <a:solidFill>
                  <a:srgbClr val="FF3300"/>
                </a:solidFill>
                <a:effectLst>
                  <a:outerShdw blurRad="38100" dist="38100" dir="2700000" algn="tl">
                    <a:srgbClr val="000000">
                      <a:alpha val="43137"/>
                    </a:srgbClr>
                  </a:outerShdw>
                </a:effectLst>
                <a:latin typeface="微软雅黑" pitchFamily="34" charset="-122"/>
                <a:ea typeface="微软雅黑" pitchFamily="34" charset="-122"/>
              </a:rPr>
              <a:t>1</a:t>
            </a:r>
            <a:endParaRPr lang="zh-CN" altLang="en-US" dirty="0"/>
          </a:p>
        </p:txBody>
      </p:sp>
      <p:pic>
        <p:nvPicPr>
          <p:cNvPr id="7196" name="Picture 28">
            <a:extLst>
              <a:ext uri="{FF2B5EF4-FFF2-40B4-BE49-F238E27FC236}">
                <a16:creationId xmlns:a16="http://schemas.microsoft.com/office/drawing/2014/main" id="{67C31521-03D4-747C-99E3-B6807ED8DB1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8650" y="3497263"/>
            <a:ext cx="79025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7195"/>
                                        </p:tgtEl>
                                        <p:attrNameLst>
                                          <p:attrName>style.visibility</p:attrName>
                                        </p:attrNameLst>
                                      </p:cBhvr>
                                      <p:to>
                                        <p:strVal val="visible"/>
                                      </p:to>
                                    </p:set>
                                    <p:animEffect transition="in" filter="wipe(up)">
                                      <p:cBhvr>
                                        <p:cTn id="11" dur="2000"/>
                                        <p:tgtEl>
                                          <p:spTgt spid="719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wipe(left)">
                                      <p:cBhvr>
                                        <p:cTn id="16" dur="1000"/>
                                        <p:tgtEl>
                                          <p:spTgt spid="2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up)">
                                      <p:cBhvr>
                                        <p:cTn id="21" dur="1000"/>
                                        <p:tgtEl>
                                          <p:spTgt spid="13"/>
                                        </p:tgtEl>
                                      </p:cBhvr>
                                    </p:animEffect>
                                  </p:childTnLst>
                                </p:cTn>
                              </p:par>
                            </p:childTnLst>
                          </p:cTn>
                        </p:par>
                        <p:par>
                          <p:cTn id="22" fill="hold" nodeType="afterGroup">
                            <p:stCondLst>
                              <p:cond delay="1000"/>
                            </p:stCondLst>
                            <p:childTnLst>
                              <p:par>
                                <p:cTn id="23" presetID="22" presetClass="entr" presetSubtype="1" fill="hold" nodeType="after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wipe(up)">
                                      <p:cBhvr>
                                        <p:cTn id="25" dur="1000"/>
                                        <p:tgtEl>
                                          <p:spTgt spid="3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up)">
                                      <p:cBhvr>
                                        <p:cTn id="30" dur="1000"/>
                                        <p:tgtEl>
                                          <p:spTgt spid="10"/>
                                        </p:tgtEl>
                                      </p:cBhvr>
                                    </p:animEffect>
                                  </p:childTnLst>
                                </p:cTn>
                              </p:par>
                            </p:childTnLst>
                          </p:cTn>
                        </p:par>
                        <p:par>
                          <p:cTn id="31" fill="hold" nodeType="afterGroup">
                            <p:stCondLst>
                              <p:cond delay="1000"/>
                            </p:stCondLst>
                            <p:childTnLst>
                              <p:par>
                                <p:cTn id="32" presetID="22" presetClass="entr" presetSubtype="1" fill="hold" nodeType="after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wipe(up)">
                                      <p:cBhvr>
                                        <p:cTn id="34" dur="1000"/>
                                        <p:tgtEl>
                                          <p:spTgt spid="3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7196"/>
                                        </p:tgtEl>
                                        <p:attrNameLst>
                                          <p:attrName>style.visibility</p:attrName>
                                        </p:attrNameLst>
                                      </p:cBhvr>
                                      <p:to>
                                        <p:strVal val="visible"/>
                                      </p:to>
                                    </p:set>
                                    <p:animEffect transition="in" filter="wipe(up)">
                                      <p:cBhvr>
                                        <p:cTn id="39" dur="1000"/>
                                        <p:tgtEl>
                                          <p:spTgt spid="7196"/>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ipe(left)">
                                      <p:cBhvr>
                                        <p:cTn id="44" dur="1000"/>
                                        <p:tgtEl>
                                          <p:spTgt spid="11"/>
                                        </p:tgtEl>
                                      </p:cBhvr>
                                    </p:animEffect>
                                  </p:childTnLst>
                                </p:cTn>
                              </p:par>
                            </p:childTnLst>
                          </p:cTn>
                        </p:par>
                        <p:par>
                          <p:cTn id="45" fill="hold" nodeType="afterGroup">
                            <p:stCondLst>
                              <p:cond delay="1000"/>
                            </p:stCondLst>
                            <p:childTnLst>
                              <p:par>
                                <p:cTn id="46" presetID="22" presetClass="entr" presetSubtype="1" fill="hold" nodeType="afterEffect">
                                  <p:stCondLst>
                                    <p:cond delay="0"/>
                                  </p:stCondLst>
                                  <p:childTnLst>
                                    <p:set>
                                      <p:cBhvr>
                                        <p:cTn id="47" dur="1" fill="hold">
                                          <p:stCondLst>
                                            <p:cond delay="0"/>
                                          </p:stCondLst>
                                        </p:cTn>
                                        <p:tgtEl>
                                          <p:spTgt spid="73732"/>
                                        </p:tgtEl>
                                        <p:attrNameLst>
                                          <p:attrName>style.visibility</p:attrName>
                                        </p:attrNameLst>
                                      </p:cBhvr>
                                      <p:to>
                                        <p:strVal val="visible"/>
                                      </p:to>
                                    </p:set>
                                    <p:animEffect transition="in" filter="wipe(up)">
                                      <p:cBhvr>
                                        <p:cTn id="48" dur="1000"/>
                                        <p:tgtEl>
                                          <p:spTgt spid="7373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wipe(left)">
                                      <p:cBhvr>
                                        <p:cTn id="53" dur="1000"/>
                                        <p:tgtEl>
                                          <p:spTgt spid="14"/>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wipe(left)">
                                      <p:cBhvr>
                                        <p:cTn id="58" dur="1000"/>
                                        <p:tgtEl>
                                          <p:spTgt spid="15"/>
                                        </p:tgtEl>
                                      </p:cBhvr>
                                    </p:animEffect>
                                  </p:childTnLst>
                                </p:cTn>
                              </p:par>
                            </p:childTnLst>
                          </p:cTn>
                        </p:par>
                        <p:par>
                          <p:cTn id="59" fill="hold" nodeType="afterGroup">
                            <p:stCondLst>
                              <p:cond delay="1000"/>
                            </p:stCondLst>
                            <p:childTnLst>
                              <p:par>
                                <p:cTn id="60" presetID="22" presetClass="entr" presetSubtype="1" fill="hold" nodeType="afterEffect">
                                  <p:stCondLst>
                                    <p:cond delay="0"/>
                                  </p:stCondLst>
                                  <p:childTnLst>
                                    <p:set>
                                      <p:cBhvr>
                                        <p:cTn id="61" dur="1" fill="hold">
                                          <p:stCondLst>
                                            <p:cond delay="0"/>
                                          </p:stCondLst>
                                        </p:cTn>
                                        <p:tgtEl>
                                          <p:spTgt spid="73736"/>
                                        </p:tgtEl>
                                        <p:attrNameLst>
                                          <p:attrName>style.visibility</p:attrName>
                                        </p:attrNameLst>
                                      </p:cBhvr>
                                      <p:to>
                                        <p:strVal val="visible"/>
                                      </p:to>
                                    </p:set>
                                    <p:animEffect transition="in" filter="wipe(up)">
                                      <p:cBhvr>
                                        <p:cTn id="62" dur="1000"/>
                                        <p:tgtEl>
                                          <p:spTgt spid="7373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wipe(left)">
                                      <p:cBhvr>
                                        <p:cTn id="67" dur="1000"/>
                                        <p:tgtEl>
                                          <p:spTgt spid="29"/>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4" fill="hold" nodeType="clickEffect">
                                  <p:stCondLst>
                                    <p:cond delay="0"/>
                                  </p:stCondLst>
                                  <p:childTnLst>
                                    <p:set>
                                      <p:cBhvr>
                                        <p:cTn id="71" dur="1" fill="hold">
                                          <p:stCondLst>
                                            <p:cond delay="0"/>
                                          </p:stCondLst>
                                        </p:cTn>
                                        <p:tgtEl>
                                          <p:spTgt spid="16"/>
                                        </p:tgtEl>
                                        <p:attrNameLst>
                                          <p:attrName>style.visibility</p:attrName>
                                        </p:attrNameLst>
                                      </p:cBhvr>
                                      <p:to>
                                        <p:strVal val="visible"/>
                                      </p:to>
                                    </p:set>
                                    <p:animEffect transition="in" filter="wipe(down)">
                                      <p:cBhvr>
                                        <p:cTn id="72"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3" grpId="0"/>
      <p:bldP spid="14" grpId="0"/>
      <p:bldP spid="15" grpId="0"/>
      <p:bldP spid="16" grpId="0"/>
      <p:bldP spid="28" grpId="0" animBg="1"/>
      <p:bldP spid="29" grpId="0"/>
      <p:bldP spid="3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08" name="Picture 16">
            <a:extLst>
              <a:ext uri="{FF2B5EF4-FFF2-40B4-BE49-F238E27FC236}">
                <a16:creationId xmlns:a16="http://schemas.microsoft.com/office/drawing/2014/main" id="{97DB6011-B26A-CE52-BA89-7FBDC71389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650" y="4560888"/>
            <a:ext cx="6872288"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7" name="Picture 15">
            <a:extLst>
              <a:ext uri="{FF2B5EF4-FFF2-40B4-BE49-F238E27FC236}">
                <a16:creationId xmlns:a16="http://schemas.microsoft.com/office/drawing/2014/main" id="{D1D5DB31-BDE3-B271-8D85-9D045BCEB9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3825" y="3771900"/>
            <a:ext cx="20002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6" name="Picture 14">
            <a:extLst>
              <a:ext uri="{FF2B5EF4-FFF2-40B4-BE49-F238E27FC236}">
                <a16:creationId xmlns:a16="http://schemas.microsoft.com/office/drawing/2014/main" id="{BD4583F5-8AA3-B4B2-94BF-2BE1EFE15D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2750" y="1771650"/>
            <a:ext cx="1666875"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5" name="Picture 13">
            <a:extLst>
              <a:ext uri="{FF2B5EF4-FFF2-40B4-BE49-F238E27FC236}">
                <a16:creationId xmlns:a16="http://schemas.microsoft.com/office/drawing/2014/main" id="{E672B2AB-FD52-296D-9484-46BBF36FC83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71625" y="1414463"/>
            <a:ext cx="5237163" cy="292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78183E9A-93AC-7511-7692-8D99CE6672B3}"/>
              </a:ext>
            </a:extLst>
          </p:cNvPr>
          <p:cNvSpPr/>
          <p:nvPr/>
        </p:nvSpPr>
        <p:spPr>
          <a:xfrm>
            <a:off x="128588" y="485775"/>
            <a:ext cx="4800600" cy="584200"/>
          </a:xfrm>
          <a:prstGeom prst="rect">
            <a:avLst/>
          </a:prstGeom>
        </p:spPr>
        <p:txBody>
          <a:bodyPr>
            <a:spAutoFit/>
          </a:bodyPr>
          <a:lstStyle/>
          <a:p>
            <a:pPr>
              <a:buClr>
                <a:srgbClr val="FF0000"/>
              </a:buClr>
              <a:buSzPct val="80000"/>
              <a:defRPr/>
            </a:pPr>
            <a:r>
              <a:rPr lang="en-US" altLang="en-US" sz="3200" dirty="0">
                <a:solidFill>
                  <a:srgbClr val="990099"/>
                </a:solidFill>
                <a:latin typeface="Arial" pitchFamily="34" charset="0"/>
                <a:ea typeface="微软雅黑" pitchFamily="34" charset="-122"/>
                <a:cs typeface="Arial" pitchFamily="34" charset="0"/>
              </a:rPr>
              <a:t>11</a:t>
            </a:r>
            <a:r>
              <a:rPr lang="en-US" altLang="zh-CN" sz="3200" dirty="0">
                <a:solidFill>
                  <a:srgbClr val="990099"/>
                </a:solidFill>
                <a:latin typeface="Arial" pitchFamily="34" charset="0"/>
                <a:ea typeface="微软雅黑" pitchFamily="34" charset="-122"/>
                <a:cs typeface="Arial" pitchFamily="34" charset="0"/>
              </a:rPr>
              <a:t>.4.2  </a:t>
            </a:r>
            <a:r>
              <a:rPr kumimoji="0" lang="zh-CN" altLang="en-US" sz="3200" kern="0" dirty="0">
                <a:solidFill>
                  <a:schemeClr val="tx1"/>
                </a:solidFill>
                <a:latin typeface="微软雅黑" pitchFamily="34" charset="-122"/>
                <a:ea typeface="微软雅黑" pitchFamily="34" charset="-122"/>
              </a:rPr>
              <a:t>二维</a:t>
            </a:r>
            <a:r>
              <a:rPr lang="zh-CN" altLang="en-US" sz="3200" dirty="0">
                <a:solidFill>
                  <a:schemeClr val="tx1"/>
                </a:solidFill>
                <a:latin typeface="微软雅黑" pitchFamily="34" charset="-122"/>
                <a:ea typeface="微软雅黑" pitchFamily="34" charset="-122"/>
              </a:rPr>
              <a:t>奇偶监督码</a:t>
            </a:r>
            <a:endParaRPr lang="zh-CN" altLang="en-US" sz="3200" b="0" dirty="0">
              <a:solidFill>
                <a:schemeClr val="tx1"/>
              </a:solidFill>
              <a:latin typeface="微软雅黑" pitchFamily="34" charset="-122"/>
              <a:ea typeface="微软雅黑" pitchFamily="34" charset="-122"/>
            </a:endParaRPr>
          </a:p>
        </p:txBody>
      </p:sp>
      <p:sp>
        <p:nvSpPr>
          <p:cNvPr id="23557" name="Rectangle 5">
            <a:extLst>
              <a:ext uri="{FF2B5EF4-FFF2-40B4-BE49-F238E27FC236}">
                <a16:creationId xmlns:a16="http://schemas.microsoft.com/office/drawing/2014/main" id="{3FA5F0CC-0625-CD4D-23CB-56D5BE44C7C2}"/>
              </a:ext>
            </a:extLst>
          </p:cNvPr>
          <p:cNvSpPr>
            <a:spLocks noChangeArrowheads="1"/>
          </p:cNvSpPr>
          <p:nvPr/>
        </p:nvSpPr>
        <p:spPr bwMode="auto">
          <a:xfrm>
            <a:off x="0" y="0"/>
            <a:ext cx="9144000" cy="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11" name="矩形 10">
            <a:extLst>
              <a:ext uri="{FF2B5EF4-FFF2-40B4-BE49-F238E27FC236}">
                <a16:creationId xmlns:a16="http://schemas.microsoft.com/office/drawing/2014/main" id="{56AB0B5A-C589-6323-8093-01AC63BEF312}"/>
              </a:ext>
            </a:extLst>
          </p:cNvPr>
          <p:cNvSpPr/>
          <p:nvPr/>
        </p:nvSpPr>
        <p:spPr>
          <a:xfrm>
            <a:off x="650875" y="1214438"/>
            <a:ext cx="4735513" cy="469900"/>
          </a:xfrm>
          <a:prstGeom prst="rect">
            <a:avLst/>
          </a:prstGeom>
        </p:spPr>
        <p:txBody>
          <a:bodyPr>
            <a:spAutoFit/>
          </a:bodyPr>
          <a:lstStyle/>
          <a:p>
            <a:pPr marL="342900" indent="-342900" eaLnBrk="0" hangingPunct="0">
              <a:lnSpc>
                <a:spcPts val="3200"/>
              </a:lnSpc>
              <a:spcBef>
                <a:spcPct val="20000"/>
              </a:spcBef>
              <a:buClr>
                <a:srgbClr val="3333CC"/>
              </a:buClr>
              <a:buSzPct val="60000"/>
              <a:buFont typeface="Wingdings" pitchFamily="2" charset="2"/>
              <a:buChar char="u"/>
              <a:defRPr/>
            </a:pPr>
            <a:r>
              <a:rPr kumimoji="0" lang="zh-CN" altLang="en-US" sz="2400" kern="0" dirty="0">
                <a:solidFill>
                  <a:srgbClr val="003399"/>
                </a:solidFill>
                <a:latin typeface="微软雅黑" pitchFamily="34" charset="-122"/>
                <a:ea typeface="微软雅黑" pitchFamily="34" charset="-122"/>
              </a:rPr>
              <a:t>编码规则</a:t>
            </a:r>
            <a:r>
              <a:rPr kumimoji="0" lang="zh-CN" altLang="en-US" sz="2400" b="0" kern="0" dirty="0">
                <a:solidFill>
                  <a:srgbClr val="003399"/>
                </a:solidFill>
                <a:latin typeface="+mn-ea"/>
                <a:ea typeface="+mn-ea"/>
              </a:rPr>
              <a:t>：</a:t>
            </a:r>
            <a:endParaRPr kumimoji="0" lang="zh-CN" altLang="en-US" sz="2400" b="0" kern="0" dirty="0">
              <a:solidFill>
                <a:srgbClr val="000000"/>
              </a:solidFill>
              <a:latin typeface="+mn-ea"/>
              <a:ea typeface="+mn-ea"/>
            </a:endParaRPr>
          </a:p>
        </p:txBody>
      </p:sp>
      <p:sp>
        <p:nvSpPr>
          <p:cNvPr id="21" name="矩形 14">
            <a:extLst>
              <a:ext uri="{FF2B5EF4-FFF2-40B4-BE49-F238E27FC236}">
                <a16:creationId xmlns:a16="http://schemas.microsoft.com/office/drawing/2014/main" id="{3A9258E9-5B6A-8E99-129F-F522506DD79F}"/>
              </a:ext>
            </a:extLst>
          </p:cNvPr>
          <p:cNvSpPr>
            <a:spLocks noChangeArrowheads="1"/>
          </p:cNvSpPr>
          <p:nvPr/>
        </p:nvSpPr>
        <p:spPr bwMode="auto">
          <a:xfrm>
            <a:off x="4268788" y="538163"/>
            <a:ext cx="1731962" cy="461962"/>
          </a:xfrm>
          <a:prstGeom prst="rect">
            <a:avLst/>
          </a:prstGeom>
          <a:noFill/>
          <a:ln w="9525">
            <a:noFill/>
            <a:miter lim="800000"/>
            <a:headEnd/>
            <a:tailEnd/>
          </a:ln>
        </p:spPr>
        <p:txBody>
          <a:bodyPr wrap="none">
            <a:spAutoFit/>
          </a:bodyPr>
          <a:lstStyle/>
          <a:p>
            <a:pPr>
              <a:buClr>
                <a:srgbClr val="FF0000"/>
              </a:buClr>
              <a:buSzPct val="80000"/>
              <a:defRPr/>
            </a:pPr>
            <a:r>
              <a:rPr lang="zh-CN" altLang="en-US" sz="2400" b="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（方阵码）</a:t>
            </a:r>
          </a:p>
        </p:txBody>
      </p:sp>
      <p:pic>
        <p:nvPicPr>
          <p:cNvPr id="85003" name="Picture 11">
            <a:extLst>
              <a:ext uri="{FF2B5EF4-FFF2-40B4-BE49-F238E27FC236}">
                <a16:creationId xmlns:a16="http://schemas.microsoft.com/office/drawing/2014/main" id="{FBB4BDFD-E4BB-B01D-4C51-184433C574A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5950" y="5715000"/>
            <a:ext cx="714375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1000"/>
                                        <p:tgtEl>
                                          <p:spTgt spid="11"/>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8205"/>
                                        </p:tgtEl>
                                        <p:attrNameLst>
                                          <p:attrName>style.visibility</p:attrName>
                                        </p:attrNameLst>
                                      </p:cBhvr>
                                      <p:to>
                                        <p:strVal val="visible"/>
                                      </p:to>
                                    </p:set>
                                    <p:animEffect transition="in" filter="wipe(up)">
                                      <p:cBhvr>
                                        <p:cTn id="16" dur="2000"/>
                                        <p:tgtEl>
                                          <p:spTgt spid="820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8206"/>
                                        </p:tgtEl>
                                        <p:attrNameLst>
                                          <p:attrName>style.visibility</p:attrName>
                                        </p:attrNameLst>
                                      </p:cBhvr>
                                      <p:to>
                                        <p:strVal val="visible"/>
                                      </p:to>
                                    </p:set>
                                    <p:animEffect transition="in" filter="wipe(left)">
                                      <p:cBhvr>
                                        <p:cTn id="21" dur="1000"/>
                                        <p:tgtEl>
                                          <p:spTgt spid="820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8207"/>
                                        </p:tgtEl>
                                        <p:attrNameLst>
                                          <p:attrName>style.visibility</p:attrName>
                                        </p:attrNameLst>
                                      </p:cBhvr>
                                      <p:to>
                                        <p:strVal val="visible"/>
                                      </p:to>
                                    </p:set>
                                    <p:animEffect transition="in" filter="wipe(left)">
                                      <p:cBhvr>
                                        <p:cTn id="26" dur="1000"/>
                                        <p:tgtEl>
                                          <p:spTgt spid="820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8208"/>
                                        </p:tgtEl>
                                        <p:attrNameLst>
                                          <p:attrName>style.visibility</p:attrName>
                                        </p:attrNameLst>
                                      </p:cBhvr>
                                      <p:to>
                                        <p:strVal val="visible"/>
                                      </p:to>
                                    </p:set>
                                    <p:animEffect transition="in" filter="wipe(up)">
                                      <p:cBhvr>
                                        <p:cTn id="31" dur="1000"/>
                                        <p:tgtEl>
                                          <p:spTgt spid="820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85003"/>
                                        </p:tgtEl>
                                        <p:attrNameLst>
                                          <p:attrName>style.visibility</p:attrName>
                                        </p:attrNameLst>
                                      </p:cBhvr>
                                      <p:to>
                                        <p:strVal val="visible"/>
                                      </p:to>
                                    </p:set>
                                    <p:animEffect transition="in" filter="wipe(up)">
                                      <p:cBhvr>
                                        <p:cTn id="36" dur="1000"/>
                                        <p:tgtEl>
                                          <p:spTgt spid="85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9239" name="Picture 23">
            <a:extLst>
              <a:ext uri="{FF2B5EF4-FFF2-40B4-BE49-F238E27FC236}">
                <a16:creationId xmlns:a16="http://schemas.microsoft.com/office/drawing/2014/main" id="{81AFE8F6-2DB4-839D-DC89-46FA1DFAE1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538" y="4786313"/>
            <a:ext cx="8170862"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4" name="Rectangle 3">
            <a:extLst>
              <a:ext uri="{FF2B5EF4-FFF2-40B4-BE49-F238E27FC236}">
                <a16:creationId xmlns:a16="http://schemas.microsoft.com/office/drawing/2014/main" id="{A336A150-3945-FBDA-C681-87BD81E0EB4E}"/>
              </a:ext>
            </a:extLst>
          </p:cNvPr>
          <p:cNvSpPr>
            <a:spLocks noGrp="1" noChangeArrowheads="1"/>
          </p:cNvSpPr>
          <p:nvPr>
            <p:ph type="body" idx="1"/>
          </p:nvPr>
        </p:nvSpPr>
        <p:spPr>
          <a:xfrm>
            <a:off x="649288" y="3143250"/>
            <a:ext cx="8137525" cy="500063"/>
          </a:xfrm>
        </p:spPr>
        <p:txBody>
          <a:bodyPr/>
          <a:lstStyle/>
          <a:p>
            <a:pPr>
              <a:lnSpc>
                <a:spcPts val="3200"/>
              </a:lnSpc>
              <a:buFont typeface="Wingdings" panose="05000000000000000000" pitchFamily="2" charset="2"/>
              <a:buChar char="u"/>
              <a:defRPr/>
            </a:pPr>
            <a:r>
              <a:rPr lang="zh-CN" sz="2400" b="1" dirty="0">
                <a:solidFill>
                  <a:srgbClr val="003399"/>
                </a:solidFill>
                <a:latin typeface="微软雅黑" pitchFamily="34" charset="-122"/>
                <a:ea typeface="微软雅黑" pitchFamily="34" charset="-122"/>
              </a:rPr>
              <a:t>检</a:t>
            </a:r>
            <a:r>
              <a:rPr lang="zh-CN" altLang="en-US" sz="2400" b="1" dirty="0">
                <a:solidFill>
                  <a:srgbClr val="003399"/>
                </a:solidFill>
                <a:latin typeface="微软雅黑" pitchFamily="34" charset="-122"/>
                <a:ea typeface="微软雅黑" pitchFamily="34" charset="-122"/>
              </a:rPr>
              <a:t>测方法</a:t>
            </a:r>
            <a:r>
              <a:rPr lang="zh-CN" altLang="en-US" sz="2000" dirty="0">
                <a:solidFill>
                  <a:srgbClr val="003399"/>
                </a:solidFill>
                <a:latin typeface="+mn-ea"/>
              </a:rPr>
              <a:t>：</a:t>
            </a:r>
            <a:r>
              <a:rPr lang="zh-CN" altLang="en-US" sz="2000" dirty="0">
                <a:solidFill>
                  <a:srgbClr val="000000"/>
                </a:solidFill>
                <a:latin typeface="微软雅黑" pitchFamily="34" charset="-122"/>
                <a:ea typeface="微软雅黑" pitchFamily="34" charset="-122"/>
              </a:rPr>
              <a:t>计算接收码组中“</a:t>
            </a:r>
            <a:r>
              <a:rPr lang="en-US" altLang="zh-CN" sz="2000" dirty="0">
                <a:solidFill>
                  <a:srgbClr val="000000"/>
                </a:solidFill>
                <a:latin typeface="微软雅黑" pitchFamily="34" charset="-122"/>
                <a:ea typeface="微软雅黑" pitchFamily="34" charset="-122"/>
              </a:rPr>
              <a:t>1”</a:t>
            </a:r>
            <a:r>
              <a:rPr lang="zh-CN" altLang="en-US" sz="2000" dirty="0">
                <a:solidFill>
                  <a:srgbClr val="000000"/>
                </a:solidFill>
                <a:latin typeface="微软雅黑" pitchFamily="34" charset="-122"/>
                <a:ea typeface="微软雅黑" pitchFamily="34" charset="-122"/>
              </a:rPr>
              <a:t>的数目，就可知</a:t>
            </a:r>
            <a:r>
              <a:rPr kumimoji="1" lang="zh-CN" altLang="en-US" sz="2000" dirty="0">
                <a:latin typeface="微软雅黑" pitchFamily="34" charset="-122"/>
                <a:ea typeface="微软雅黑" pitchFamily="34" charset="-122"/>
                <a:cs typeface="Times New Roman" pitchFamily="18" charset="0"/>
              </a:rPr>
              <a:t>是否有错</a:t>
            </a:r>
            <a:r>
              <a:rPr lang="zh-CN" altLang="en-US" sz="2000" dirty="0">
                <a:solidFill>
                  <a:srgbClr val="000000"/>
                </a:solidFill>
                <a:latin typeface="微软雅黑" pitchFamily="34" charset="-122"/>
                <a:ea typeface="微软雅黑" pitchFamily="34" charset="-122"/>
              </a:rPr>
              <a:t>。</a:t>
            </a:r>
            <a:endParaRPr lang="zh-CN" altLang="en-US" sz="2000" dirty="0"/>
          </a:p>
          <a:p>
            <a:pPr>
              <a:lnSpc>
                <a:spcPts val="3200"/>
              </a:lnSpc>
              <a:buFont typeface="Wingdings" panose="05000000000000000000" pitchFamily="2" charset="2"/>
              <a:buChar char="u"/>
              <a:defRPr/>
            </a:pPr>
            <a:endParaRPr lang="zh-CN" altLang="en-US" sz="1200" dirty="0">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4" name="矩形 3">
            <a:extLst>
              <a:ext uri="{FF2B5EF4-FFF2-40B4-BE49-F238E27FC236}">
                <a16:creationId xmlns:a16="http://schemas.microsoft.com/office/drawing/2014/main" id="{BCA2E79E-2828-8662-6BCD-65E51C27566D}"/>
              </a:ext>
            </a:extLst>
          </p:cNvPr>
          <p:cNvSpPr>
            <a:spLocks noChangeArrowheads="1"/>
          </p:cNvSpPr>
          <p:nvPr/>
        </p:nvSpPr>
        <p:spPr bwMode="auto">
          <a:xfrm>
            <a:off x="128588" y="485775"/>
            <a:ext cx="3571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buClr>
                <a:srgbClr val="FF0000"/>
              </a:buClr>
              <a:buSzPct val="80000"/>
            </a:pPr>
            <a:r>
              <a:rPr lang="en-US" altLang="en-US" sz="3200">
                <a:solidFill>
                  <a:srgbClr val="990099"/>
                </a:solidFill>
                <a:latin typeface="Arial" panose="020B0604020202020204" pitchFamily="34" charset="0"/>
                <a:ea typeface="微软雅黑" panose="020B0503020204020204" pitchFamily="34" charset="-122"/>
                <a:cs typeface="Arial" panose="020B0604020202020204" pitchFamily="34" charset="0"/>
              </a:rPr>
              <a:t>11</a:t>
            </a:r>
            <a:r>
              <a:rPr lang="en-US" altLang="zh-CN" sz="3200">
                <a:solidFill>
                  <a:srgbClr val="990099"/>
                </a:solidFill>
                <a:latin typeface="Arial" panose="020B0604020202020204" pitchFamily="34" charset="0"/>
                <a:ea typeface="微软雅黑" panose="020B0503020204020204" pitchFamily="34" charset="-122"/>
                <a:cs typeface="Arial" panose="020B0604020202020204" pitchFamily="34" charset="0"/>
              </a:rPr>
              <a:t>.4.3  </a:t>
            </a:r>
            <a:r>
              <a:rPr lang="zh-CN" altLang="en-US" sz="3200">
                <a:solidFill>
                  <a:schemeClr val="tx1"/>
                </a:solidFill>
                <a:latin typeface="微软雅黑" panose="020B0503020204020204" pitchFamily="34" charset="-122"/>
                <a:ea typeface="微软雅黑" panose="020B0503020204020204" pitchFamily="34" charset="-122"/>
                <a:cs typeface="Arial" panose="020B0604020202020204" pitchFamily="34" charset="0"/>
              </a:rPr>
              <a:t>恒比码</a:t>
            </a:r>
            <a:endParaRPr lang="zh-CN" altLang="en-US" sz="3200" b="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3557" name="Rectangle 5">
            <a:extLst>
              <a:ext uri="{FF2B5EF4-FFF2-40B4-BE49-F238E27FC236}">
                <a16:creationId xmlns:a16="http://schemas.microsoft.com/office/drawing/2014/main" id="{B8946E89-0044-00ED-FF18-499102374EAF}"/>
              </a:ext>
            </a:extLst>
          </p:cNvPr>
          <p:cNvSpPr>
            <a:spLocks noChangeArrowheads="1"/>
          </p:cNvSpPr>
          <p:nvPr/>
        </p:nvSpPr>
        <p:spPr bwMode="auto">
          <a:xfrm>
            <a:off x="0" y="0"/>
            <a:ext cx="9144000" cy="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10" name="矩形 9">
            <a:extLst>
              <a:ext uri="{FF2B5EF4-FFF2-40B4-BE49-F238E27FC236}">
                <a16:creationId xmlns:a16="http://schemas.microsoft.com/office/drawing/2014/main" id="{C0E3FB74-B5BA-7F15-EB18-74A35E9B94F6}"/>
              </a:ext>
            </a:extLst>
          </p:cNvPr>
          <p:cNvSpPr/>
          <p:nvPr/>
        </p:nvSpPr>
        <p:spPr>
          <a:xfrm>
            <a:off x="642938" y="3929063"/>
            <a:ext cx="7715250" cy="503237"/>
          </a:xfrm>
          <a:prstGeom prst="rect">
            <a:avLst/>
          </a:prstGeom>
        </p:spPr>
        <p:txBody>
          <a:bodyPr>
            <a:spAutoFit/>
          </a:bodyPr>
          <a:lstStyle/>
          <a:p>
            <a:pPr marL="342900" indent="-342900" eaLnBrk="0" hangingPunct="0">
              <a:lnSpc>
                <a:spcPts val="3200"/>
              </a:lnSpc>
              <a:spcBef>
                <a:spcPct val="20000"/>
              </a:spcBef>
              <a:buClr>
                <a:srgbClr val="3333CC"/>
              </a:buClr>
              <a:buSzPct val="60000"/>
              <a:buFont typeface="Wingdings" pitchFamily="2" charset="2"/>
              <a:buChar char="u"/>
              <a:defRPr/>
            </a:pPr>
            <a:r>
              <a:rPr kumimoji="0" lang="zh-CN" altLang="en-US" sz="2400" kern="0" dirty="0">
                <a:solidFill>
                  <a:srgbClr val="003399"/>
                </a:solidFill>
                <a:latin typeface="微软雅黑" pitchFamily="34" charset="-122"/>
                <a:ea typeface="微软雅黑" pitchFamily="34" charset="-122"/>
              </a:rPr>
              <a:t>适用</a:t>
            </a:r>
            <a:r>
              <a:rPr kumimoji="0" lang="zh-CN" altLang="en-US" sz="2000" b="0" kern="0" dirty="0">
                <a:solidFill>
                  <a:srgbClr val="003399"/>
                </a:solidFill>
                <a:latin typeface="+mn-ea"/>
              </a:rPr>
              <a:t>：</a:t>
            </a:r>
            <a:r>
              <a:rPr kumimoji="0" lang="zh-CN" altLang="en-US" sz="2000" b="0" kern="0" dirty="0">
                <a:solidFill>
                  <a:srgbClr val="000000"/>
                </a:solidFill>
                <a:latin typeface="微软雅黑" pitchFamily="34" charset="-122"/>
                <a:ea typeface="微软雅黑" pitchFamily="34" charset="-122"/>
              </a:rPr>
              <a:t>用于电报</a:t>
            </a:r>
            <a:r>
              <a:rPr kumimoji="0" lang="zh-CN" altLang="en-US" sz="2000" b="0" kern="0" dirty="0">
                <a:solidFill>
                  <a:schemeClr val="tx1"/>
                </a:solidFill>
                <a:latin typeface="微软雅黑" pitchFamily="34" charset="-122"/>
                <a:ea typeface="微软雅黑" pitchFamily="34" charset="-122"/>
              </a:rPr>
              <a:t>传输系统或其他键盘设备产生的字母和符号。</a:t>
            </a:r>
          </a:p>
        </p:txBody>
      </p:sp>
      <p:sp>
        <p:nvSpPr>
          <p:cNvPr id="11" name="矩形 10">
            <a:extLst>
              <a:ext uri="{FF2B5EF4-FFF2-40B4-BE49-F238E27FC236}">
                <a16:creationId xmlns:a16="http://schemas.microsoft.com/office/drawing/2014/main" id="{579EDC17-454E-F354-F117-02ECF0330DAE}"/>
              </a:ext>
            </a:extLst>
          </p:cNvPr>
          <p:cNvSpPr/>
          <p:nvPr/>
        </p:nvSpPr>
        <p:spPr>
          <a:xfrm>
            <a:off x="650875" y="1214438"/>
            <a:ext cx="4735513" cy="503237"/>
          </a:xfrm>
          <a:prstGeom prst="rect">
            <a:avLst/>
          </a:prstGeom>
        </p:spPr>
        <p:txBody>
          <a:bodyPr>
            <a:spAutoFit/>
          </a:bodyPr>
          <a:lstStyle/>
          <a:p>
            <a:pPr marL="342900" indent="-342900" eaLnBrk="0" hangingPunct="0">
              <a:lnSpc>
                <a:spcPts val="3200"/>
              </a:lnSpc>
              <a:spcBef>
                <a:spcPct val="20000"/>
              </a:spcBef>
              <a:buClr>
                <a:srgbClr val="3333CC"/>
              </a:buClr>
              <a:buSzPct val="60000"/>
              <a:buFont typeface="Wingdings" pitchFamily="2" charset="2"/>
              <a:buChar char="u"/>
              <a:defRPr/>
            </a:pPr>
            <a:r>
              <a:rPr kumimoji="0" lang="zh-CN" altLang="en-US" sz="2400" kern="0" dirty="0">
                <a:solidFill>
                  <a:srgbClr val="003399"/>
                </a:solidFill>
                <a:latin typeface="微软雅黑" pitchFamily="34" charset="-122"/>
                <a:ea typeface="微软雅黑" pitchFamily="34" charset="-122"/>
              </a:rPr>
              <a:t>编码规则</a:t>
            </a:r>
            <a:r>
              <a:rPr kumimoji="0" lang="zh-CN" altLang="en-US" sz="2000" b="0" kern="0" dirty="0">
                <a:solidFill>
                  <a:srgbClr val="003399"/>
                </a:solidFill>
                <a:latin typeface="+mn-ea"/>
                <a:ea typeface="+mn-ea"/>
              </a:rPr>
              <a:t>：</a:t>
            </a:r>
            <a:endParaRPr kumimoji="0" lang="zh-CN" altLang="en-US" sz="2000" b="0" kern="0" dirty="0">
              <a:solidFill>
                <a:srgbClr val="000000"/>
              </a:solidFill>
              <a:latin typeface="+mn-ea"/>
              <a:ea typeface="+mn-ea"/>
            </a:endParaRPr>
          </a:p>
        </p:txBody>
      </p:sp>
      <p:sp>
        <p:nvSpPr>
          <p:cNvPr id="23" name="矩形 22">
            <a:extLst>
              <a:ext uri="{FF2B5EF4-FFF2-40B4-BE49-F238E27FC236}">
                <a16:creationId xmlns:a16="http://schemas.microsoft.com/office/drawing/2014/main" id="{D93621CC-9085-5448-3F32-286FE59F518B}"/>
              </a:ext>
            </a:extLst>
          </p:cNvPr>
          <p:cNvSpPr>
            <a:spLocks noChangeArrowheads="1"/>
          </p:cNvSpPr>
          <p:nvPr/>
        </p:nvSpPr>
        <p:spPr bwMode="auto">
          <a:xfrm>
            <a:off x="2805113" y="600075"/>
            <a:ext cx="11239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en-US" altLang="zh-CN" sz="20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等重码</a:t>
            </a:r>
            <a:r>
              <a:rPr lang="en-US" altLang="zh-CN" sz="20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2000" b="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Group 22">
            <a:extLst>
              <a:ext uri="{FF2B5EF4-FFF2-40B4-BE49-F238E27FC236}">
                <a16:creationId xmlns:a16="http://schemas.microsoft.com/office/drawing/2014/main" id="{547A45CE-3E64-CB77-F33B-69EA558E48DC}"/>
              </a:ext>
            </a:extLst>
          </p:cNvPr>
          <p:cNvGrpSpPr>
            <a:grpSpLocks/>
          </p:cNvGrpSpPr>
          <p:nvPr/>
        </p:nvGrpSpPr>
        <p:grpSpPr bwMode="auto">
          <a:xfrm>
            <a:off x="547688" y="4719638"/>
            <a:ext cx="649287" cy="692150"/>
            <a:chOff x="1655" y="845"/>
            <a:chExt cx="454" cy="453"/>
          </a:xfrm>
        </p:grpSpPr>
        <p:grpSp>
          <p:nvGrpSpPr>
            <p:cNvPr id="7182" name="Group 23">
              <a:extLst>
                <a:ext uri="{FF2B5EF4-FFF2-40B4-BE49-F238E27FC236}">
                  <a16:creationId xmlns:a16="http://schemas.microsoft.com/office/drawing/2014/main" id="{0422885A-7230-3514-9036-BEC478A4E840}"/>
                </a:ext>
              </a:extLst>
            </p:cNvPr>
            <p:cNvGrpSpPr>
              <a:grpSpLocks/>
            </p:cNvGrpSpPr>
            <p:nvPr/>
          </p:nvGrpSpPr>
          <p:grpSpPr bwMode="auto">
            <a:xfrm>
              <a:off x="1655" y="845"/>
              <a:ext cx="454" cy="453"/>
              <a:chOff x="1289" y="582"/>
              <a:chExt cx="668" cy="668"/>
            </a:xfrm>
          </p:grpSpPr>
          <p:sp>
            <p:nvSpPr>
              <p:cNvPr id="7184" name="Oval 24">
                <a:extLst>
                  <a:ext uri="{FF2B5EF4-FFF2-40B4-BE49-F238E27FC236}">
                    <a16:creationId xmlns:a16="http://schemas.microsoft.com/office/drawing/2014/main" id="{7D78A288-77AD-A8D2-B5BB-9A750EB3DC99}"/>
                  </a:ext>
                </a:extLst>
              </p:cNvPr>
              <p:cNvSpPr>
                <a:spLocks noChangeArrowheads="1"/>
              </p:cNvSpPr>
              <p:nvPr/>
            </p:nvSpPr>
            <p:spPr bwMode="gray">
              <a:xfrm>
                <a:off x="1289" y="582"/>
                <a:ext cx="668" cy="668"/>
              </a:xfrm>
              <a:prstGeom prst="ellipse">
                <a:avLst/>
              </a:prstGeom>
              <a:solidFill>
                <a:srgbClr val="333333"/>
              </a:soli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7185" name="Oval 25">
                <a:extLst>
                  <a:ext uri="{FF2B5EF4-FFF2-40B4-BE49-F238E27FC236}">
                    <a16:creationId xmlns:a16="http://schemas.microsoft.com/office/drawing/2014/main" id="{39EA974D-75C6-3BE5-044E-A8A65D512D94}"/>
                  </a:ext>
                </a:extLst>
              </p:cNvPr>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7186" name="Oval 26">
                <a:extLst>
                  <a:ext uri="{FF2B5EF4-FFF2-40B4-BE49-F238E27FC236}">
                    <a16:creationId xmlns:a16="http://schemas.microsoft.com/office/drawing/2014/main" id="{6BBC18C4-344E-5447-C134-D328B93FC391}"/>
                  </a:ext>
                </a:extLst>
              </p:cNvPr>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7187" name="Oval 27">
                <a:extLst>
                  <a:ext uri="{FF2B5EF4-FFF2-40B4-BE49-F238E27FC236}">
                    <a16:creationId xmlns:a16="http://schemas.microsoft.com/office/drawing/2014/main" id="{E2B9F340-D8A0-40BF-72E7-FB10DB4A7F79}"/>
                  </a:ext>
                </a:extLst>
              </p:cNvPr>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7188" name="Oval 28">
                <a:extLst>
                  <a:ext uri="{FF2B5EF4-FFF2-40B4-BE49-F238E27FC236}">
                    <a16:creationId xmlns:a16="http://schemas.microsoft.com/office/drawing/2014/main" id="{D92617FF-9B26-D175-D70A-7AEE901FB0C3}"/>
                  </a:ext>
                </a:extLst>
              </p:cNvPr>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pSp>
        <p:sp>
          <p:nvSpPr>
            <p:cNvPr id="7183" name="Text Box 29">
              <a:extLst>
                <a:ext uri="{FF2B5EF4-FFF2-40B4-BE49-F238E27FC236}">
                  <a16:creationId xmlns:a16="http://schemas.microsoft.com/office/drawing/2014/main" id="{35F71D13-25E3-CD6C-EED9-22884BD9D342}"/>
                </a:ext>
              </a:extLst>
            </p:cNvPr>
            <p:cNvSpPr txBox="1">
              <a:spLocks noChangeArrowheads="1"/>
            </p:cNvSpPr>
            <p:nvPr/>
          </p:nvSpPr>
          <p:spPr bwMode="gray">
            <a:xfrm>
              <a:off x="1666" y="902"/>
              <a:ext cx="379"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zh-CN" altLang="en-US" sz="2800">
                  <a:solidFill>
                    <a:srgbClr val="0000CC"/>
                  </a:solidFill>
                </a:rPr>
                <a:t>例</a:t>
              </a:r>
            </a:p>
          </p:txBody>
        </p:sp>
      </p:grpSp>
      <p:sp>
        <p:nvSpPr>
          <p:cNvPr id="109578" name="Rectangle 10">
            <a:extLst>
              <a:ext uri="{FF2B5EF4-FFF2-40B4-BE49-F238E27FC236}">
                <a16:creationId xmlns:a16="http://schemas.microsoft.com/office/drawing/2014/main" id="{39437D4F-1B53-B903-22CA-1B9548E0FECF}"/>
              </a:ext>
            </a:extLst>
          </p:cNvPr>
          <p:cNvSpPr>
            <a:spLocks noChangeArrowheads="1"/>
          </p:cNvSpPr>
          <p:nvPr/>
        </p:nvSpPr>
        <p:spPr bwMode="auto">
          <a:xfrm>
            <a:off x="0" y="0"/>
            <a:ext cx="9144000" cy="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109579" name="Rectangle 11">
            <a:extLst>
              <a:ext uri="{FF2B5EF4-FFF2-40B4-BE49-F238E27FC236}">
                <a16:creationId xmlns:a16="http://schemas.microsoft.com/office/drawing/2014/main" id="{9163B8F0-5EDE-2D07-878D-F52FD836CF0D}"/>
              </a:ext>
            </a:extLst>
          </p:cNvPr>
          <p:cNvSpPr>
            <a:spLocks noChangeArrowheads="1"/>
          </p:cNvSpPr>
          <p:nvPr/>
        </p:nvSpPr>
        <p:spPr bwMode="auto">
          <a:xfrm>
            <a:off x="982663" y="5888038"/>
            <a:ext cx="6946900" cy="40005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wrap="none" anchor="ctr">
            <a:spAutoFit/>
          </a:bodyPr>
          <a:lstStyle/>
          <a:p>
            <a:pPr indent="152400" eaLnBrk="0" hangingPunct="0">
              <a:defRPr/>
            </a:pP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rPr>
              <a:t>个</a:t>
            </a:r>
            <a:r>
              <a:rPr lang="zh-CN"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rPr>
              <a:t>许用码组，</a:t>
            </a: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rPr>
              <a:t>可</a:t>
            </a:r>
            <a:r>
              <a:rPr lang="zh-CN"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rPr>
              <a:t>分别用来代表</a:t>
            </a:r>
            <a:r>
              <a:rPr lang="en-US" altLang="zh-CN"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rPr>
              <a:t>26</a:t>
            </a: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rPr>
              <a:t>个英文字母 及 其他符号。</a:t>
            </a:r>
            <a:endPar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endParaRPr>
          </a:p>
        </p:txBody>
      </p:sp>
      <p:graphicFrame>
        <p:nvGraphicFramePr>
          <p:cNvPr id="2" name="Object 10">
            <a:extLst>
              <a:ext uri="{FF2B5EF4-FFF2-40B4-BE49-F238E27FC236}">
                <a16:creationId xmlns:a16="http://schemas.microsoft.com/office/drawing/2014/main" id="{578A493D-42D3-E321-7A3E-4ED60D00AE0C}"/>
              </a:ext>
            </a:extLst>
          </p:cNvPr>
          <p:cNvGraphicFramePr>
            <a:graphicFrameLocks noChangeAspect="1"/>
          </p:cNvGraphicFramePr>
          <p:nvPr/>
        </p:nvGraphicFramePr>
        <p:xfrm>
          <a:off x="5572125" y="5357813"/>
          <a:ext cx="2497138" cy="488950"/>
        </p:xfrm>
        <a:graphic>
          <a:graphicData uri="http://schemas.openxmlformats.org/presentationml/2006/ole">
            <mc:AlternateContent xmlns:mc="http://schemas.openxmlformats.org/markup-compatibility/2006">
              <mc:Choice xmlns:v="urn:schemas-microsoft-com:vml" Requires="v">
                <p:oleObj name="Equation" r:id="rId3" imgW="1091880" imgH="215640" progId="Equation.DSMT4">
                  <p:embed/>
                </p:oleObj>
              </mc:Choice>
              <mc:Fallback>
                <p:oleObj name="Equation" r:id="rId3" imgW="1091880" imgH="215640" progId="Equation.DSMT4">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72125" y="5357813"/>
                        <a:ext cx="2497138"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9238" name="Picture 22">
            <a:extLst>
              <a:ext uri="{FF2B5EF4-FFF2-40B4-BE49-F238E27FC236}">
                <a16:creationId xmlns:a16="http://schemas.microsoft.com/office/drawing/2014/main" id="{E6409EC3-A1B0-1731-AE69-70DBB0CAC2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3125" y="1741488"/>
            <a:ext cx="5857875"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1000"/>
                                        <p:tgtEl>
                                          <p:spTgt spid="11"/>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9238"/>
                                        </p:tgtEl>
                                        <p:attrNameLst>
                                          <p:attrName>style.visibility</p:attrName>
                                        </p:attrNameLst>
                                      </p:cBhvr>
                                      <p:to>
                                        <p:strVal val="visible"/>
                                      </p:to>
                                    </p:set>
                                    <p:animEffect transition="in" filter="wipe(up)">
                                      <p:cBhvr>
                                        <p:cTn id="16" dur="1000"/>
                                        <p:tgtEl>
                                          <p:spTgt spid="923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wipe(left)">
                                      <p:cBhvr>
                                        <p:cTn id="21" dur="1000"/>
                                        <p:tgtEl>
                                          <p:spTgt spid="2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23554">
                                            <p:txEl>
                                              <p:pRg st="0" end="0"/>
                                            </p:txEl>
                                          </p:spTgt>
                                        </p:tgtEl>
                                        <p:attrNameLst>
                                          <p:attrName>style.visibility</p:attrName>
                                        </p:attrNameLst>
                                      </p:cBhvr>
                                      <p:to>
                                        <p:strVal val="visible"/>
                                      </p:to>
                                    </p:set>
                                    <p:animEffect transition="in" filter="wipe(up)">
                                      <p:cBhvr>
                                        <p:cTn id="26" dur="1000"/>
                                        <p:tgtEl>
                                          <p:spTgt spid="23554">
                                            <p:txEl>
                                              <p:pRg st="0" end="0"/>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up)">
                                      <p:cBhvr>
                                        <p:cTn id="31" dur="1000"/>
                                        <p:tgtEl>
                                          <p:spTgt spid="1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wipe(left)">
                                      <p:cBhvr>
                                        <p:cTn id="36" dur="1000"/>
                                        <p:tgtEl>
                                          <p:spTgt spid="3"/>
                                        </p:tgtEl>
                                      </p:cBhvr>
                                    </p:animEffect>
                                  </p:childTnLst>
                                </p:cTn>
                              </p:par>
                            </p:childTnLst>
                          </p:cTn>
                        </p:par>
                        <p:par>
                          <p:cTn id="37" fill="hold" nodeType="afterGroup">
                            <p:stCondLst>
                              <p:cond delay="1000"/>
                            </p:stCondLst>
                            <p:childTnLst>
                              <p:par>
                                <p:cTn id="38" presetID="22" presetClass="entr" presetSubtype="1" fill="hold" nodeType="afterEffect">
                                  <p:stCondLst>
                                    <p:cond delay="0"/>
                                  </p:stCondLst>
                                  <p:childTnLst>
                                    <p:set>
                                      <p:cBhvr>
                                        <p:cTn id="39" dur="1" fill="hold">
                                          <p:stCondLst>
                                            <p:cond delay="0"/>
                                          </p:stCondLst>
                                        </p:cTn>
                                        <p:tgtEl>
                                          <p:spTgt spid="9239"/>
                                        </p:tgtEl>
                                        <p:attrNameLst>
                                          <p:attrName>style.visibility</p:attrName>
                                        </p:attrNameLst>
                                      </p:cBhvr>
                                      <p:to>
                                        <p:strVal val="visible"/>
                                      </p:to>
                                    </p:set>
                                    <p:animEffect transition="in" filter="wipe(up)">
                                      <p:cBhvr>
                                        <p:cTn id="40" dur="1000"/>
                                        <p:tgtEl>
                                          <p:spTgt spid="923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nodeType="clickEffect">
                                  <p:stCondLst>
                                    <p:cond delay="0"/>
                                  </p:stCondLst>
                                  <p:childTnLst>
                                    <p:set>
                                      <p:cBhvr>
                                        <p:cTn id="44" dur="1" fill="hold">
                                          <p:stCondLst>
                                            <p:cond delay="0"/>
                                          </p:stCondLst>
                                        </p:cTn>
                                        <p:tgtEl>
                                          <p:spTgt spid="2"/>
                                        </p:tgtEl>
                                        <p:attrNameLst>
                                          <p:attrName>style.visibility</p:attrName>
                                        </p:attrNameLst>
                                      </p:cBhvr>
                                      <p:to>
                                        <p:strVal val="visible"/>
                                      </p:to>
                                    </p:set>
                                    <p:animEffect transition="in" filter="blinds(horizontal)">
                                      <p:cBhvr>
                                        <p:cTn id="45" dur="1000"/>
                                        <p:tgtEl>
                                          <p:spTgt spid="2"/>
                                        </p:tgtEl>
                                      </p:cBhvr>
                                    </p:animEffect>
                                  </p:childTnLst>
                                </p:cTn>
                              </p:par>
                            </p:childTnLst>
                          </p:cTn>
                        </p:par>
                        <p:par>
                          <p:cTn id="46" fill="hold" nodeType="afterGroup">
                            <p:stCondLst>
                              <p:cond delay="1000"/>
                            </p:stCondLst>
                            <p:childTnLst>
                              <p:par>
                                <p:cTn id="47" presetID="22" presetClass="entr" presetSubtype="4" fill="hold" nodeType="afterEffect">
                                  <p:stCondLst>
                                    <p:cond delay="0"/>
                                  </p:stCondLst>
                                  <p:childTnLst>
                                    <p:set>
                                      <p:cBhvr>
                                        <p:cTn id="48" dur="1" fill="hold">
                                          <p:stCondLst>
                                            <p:cond delay="0"/>
                                          </p:stCondLst>
                                        </p:cTn>
                                        <p:tgtEl>
                                          <p:spTgt spid="109579"/>
                                        </p:tgtEl>
                                        <p:attrNameLst>
                                          <p:attrName>style.visibility</p:attrName>
                                        </p:attrNameLst>
                                      </p:cBhvr>
                                      <p:to>
                                        <p:strVal val="visible"/>
                                      </p:to>
                                    </p:set>
                                    <p:animEffect transition="in" filter="wipe(down)">
                                      <p:cBhvr>
                                        <p:cTn id="49" dur="1000"/>
                                        <p:tgtEl>
                                          <p:spTgt spid="1095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build="p" autoUpdateAnimBg="0"/>
      <p:bldP spid="4" grpId="0" autoUpdateAnimBg="0"/>
      <p:bldP spid="10" grpId="0" autoUpdateAnimBg="0"/>
      <p:bldP spid="11" grpId="0" autoUpdateAnimBg="0"/>
      <p:bldP spid="23" grpId="0"/>
      <p:bldP spid="109579" grpId="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94229" name="Picture 21">
            <a:extLst>
              <a:ext uri="{FF2B5EF4-FFF2-40B4-BE49-F238E27FC236}">
                <a16:creationId xmlns:a16="http://schemas.microsoft.com/office/drawing/2014/main" id="{D12E2321-5189-F8F1-F4F6-B0E1123E05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7213" y="5027613"/>
            <a:ext cx="5745162" cy="116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F917E3E1-6791-9117-20C9-D71C57174D8B}"/>
              </a:ext>
            </a:extLst>
          </p:cNvPr>
          <p:cNvSpPr>
            <a:spLocks noChangeArrowheads="1"/>
          </p:cNvSpPr>
          <p:nvPr/>
        </p:nvSpPr>
        <p:spPr bwMode="auto">
          <a:xfrm>
            <a:off x="128588" y="457200"/>
            <a:ext cx="3571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buClr>
                <a:srgbClr val="FF0000"/>
              </a:buClr>
              <a:buSzPct val="80000"/>
            </a:pPr>
            <a:r>
              <a:rPr lang="en-US" altLang="en-US" sz="3200">
                <a:solidFill>
                  <a:srgbClr val="990099"/>
                </a:solidFill>
                <a:latin typeface="Arial" panose="020B0604020202020204" pitchFamily="34" charset="0"/>
                <a:ea typeface="微软雅黑" panose="020B0503020204020204" pitchFamily="34" charset="-122"/>
                <a:cs typeface="Arial" panose="020B0604020202020204" pitchFamily="34" charset="0"/>
              </a:rPr>
              <a:t>11</a:t>
            </a:r>
            <a:r>
              <a:rPr lang="en-US" altLang="zh-CN" sz="3200">
                <a:solidFill>
                  <a:srgbClr val="990099"/>
                </a:solidFill>
                <a:latin typeface="Arial" panose="020B0604020202020204" pitchFamily="34" charset="0"/>
                <a:ea typeface="微软雅黑" panose="020B0503020204020204" pitchFamily="34" charset="-122"/>
                <a:cs typeface="Arial" panose="020B0604020202020204" pitchFamily="34" charset="0"/>
              </a:rPr>
              <a:t>.4.4  </a:t>
            </a:r>
            <a:r>
              <a:rPr lang="zh-CN" altLang="en-US" sz="3200">
                <a:solidFill>
                  <a:schemeClr val="tx1"/>
                </a:solidFill>
                <a:latin typeface="微软雅黑" panose="020B0503020204020204" pitchFamily="34" charset="-122"/>
                <a:ea typeface="微软雅黑" panose="020B0503020204020204" pitchFamily="34" charset="-122"/>
                <a:cs typeface="Arial" panose="020B0604020202020204" pitchFamily="34" charset="0"/>
              </a:rPr>
              <a:t>正反码</a:t>
            </a:r>
            <a:endParaRPr lang="zh-CN" altLang="en-US" sz="3200" b="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3557" name="Rectangle 5">
            <a:extLst>
              <a:ext uri="{FF2B5EF4-FFF2-40B4-BE49-F238E27FC236}">
                <a16:creationId xmlns:a16="http://schemas.microsoft.com/office/drawing/2014/main" id="{E419D9CB-0EE1-E9B1-3155-739307E60E23}"/>
              </a:ext>
            </a:extLst>
          </p:cNvPr>
          <p:cNvSpPr>
            <a:spLocks noChangeArrowheads="1"/>
          </p:cNvSpPr>
          <p:nvPr/>
        </p:nvSpPr>
        <p:spPr bwMode="auto">
          <a:xfrm>
            <a:off x="0" y="0"/>
            <a:ext cx="9144000" cy="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11" name="矩形 10">
            <a:extLst>
              <a:ext uri="{FF2B5EF4-FFF2-40B4-BE49-F238E27FC236}">
                <a16:creationId xmlns:a16="http://schemas.microsoft.com/office/drawing/2014/main" id="{0A8F2DD0-3845-69AC-EDEF-E0FAFEDFCECF}"/>
              </a:ext>
            </a:extLst>
          </p:cNvPr>
          <p:cNvSpPr/>
          <p:nvPr/>
        </p:nvSpPr>
        <p:spPr>
          <a:xfrm>
            <a:off x="650875" y="1357313"/>
            <a:ext cx="4735513" cy="469900"/>
          </a:xfrm>
          <a:prstGeom prst="rect">
            <a:avLst/>
          </a:prstGeom>
        </p:spPr>
        <p:txBody>
          <a:bodyPr>
            <a:spAutoFit/>
          </a:bodyPr>
          <a:lstStyle/>
          <a:p>
            <a:pPr marL="342900" indent="-342900" eaLnBrk="0" hangingPunct="0">
              <a:lnSpc>
                <a:spcPts val="3200"/>
              </a:lnSpc>
              <a:spcBef>
                <a:spcPct val="20000"/>
              </a:spcBef>
              <a:buClr>
                <a:srgbClr val="3333CC"/>
              </a:buClr>
              <a:buSzPct val="60000"/>
              <a:buFont typeface="Wingdings" pitchFamily="2" charset="2"/>
              <a:buChar char="u"/>
              <a:defRPr/>
            </a:pPr>
            <a:r>
              <a:rPr kumimoji="0" lang="zh-CN" altLang="en-US" sz="2400" kern="0" dirty="0">
                <a:solidFill>
                  <a:srgbClr val="003399"/>
                </a:solidFill>
                <a:latin typeface="微软雅黑" pitchFamily="34" charset="-122"/>
                <a:ea typeface="微软雅黑" pitchFamily="34" charset="-122"/>
              </a:rPr>
              <a:t>编码规则</a:t>
            </a:r>
            <a:r>
              <a:rPr kumimoji="0" lang="zh-CN" altLang="en-US" sz="2400" b="0" kern="0" dirty="0">
                <a:solidFill>
                  <a:srgbClr val="003399"/>
                </a:solidFill>
                <a:latin typeface="+mn-ea"/>
                <a:ea typeface="+mn-ea"/>
              </a:rPr>
              <a:t>：</a:t>
            </a:r>
            <a:endParaRPr kumimoji="0" lang="zh-CN" altLang="en-US" sz="2400" b="0" kern="0" dirty="0">
              <a:solidFill>
                <a:srgbClr val="000000"/>
              </a:solidFill>
              <a:latin typeface="+mn-ea"/>
              <a:ea typeface="+mn-ea"/>
            </a:endParaRPr>
          </a:p>
        </p:txBody>
      </p:sp>
      <p:sp>
        <p:nvSpPr>
          <p:cNvPr id="109578" name="Rectangle 10">
            <a:extLst>
              <a:ext uri="{FF2B5EF4-FFF2-40B4-BE49-F238E27FC236}">
                <a16:creationId xmlns:a16="http://schemas.microsoft.com/office/drawing/2014/main" id="{1EBBB50E-7E7E-93FD-4351-7603F14D9F6D}"/>
              </a:ext>
            </a:extLst>
          </p:cNvPr>
          <p:cNvSpPr>
            <a:spLocks noChangeArrowheads="1"/>
          </p:cNvSpPr>
          <p:nvPr/>
        </p:nvSpPr>
        <p:spPr bwMode="auto">
          <a:xfrm>
            <a:off x="0" y="0"/>
            <a:ext cx="9144000" cy="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26" name="矩形 25">
            <a:extLst>
              <a:ext uri="{FF2B5EF4-FFF2-40B4-BE49-F238E27FC236}">
                <a16:creationId xmlns:a16="http://schemas.microsoft.com/office/drawing/2014/main" id="{E36D1B1E-5703-7660-02C4-F4F7DF4FC6C3}"/>
              </a:ext>
            </a:extLst>
          </p:cNvPr>
          <p:cNvSpPr/>
          <p:nvPr/>
        </p:nvSpPr>
        <p:spPr>
          <a:xfrm>
            <a:off x="1149350" y="4478338"/>
            <a:ext cx="7215188" cy="1630362"/>
          </a:xfrm>
          <a:prstGeom prst="rect">
            <a:avLst/>
          </a:prstGeom>
          <a:noFill/>
          <a:ln w="15875" cmpd="dbl">
            <a:solidFill>
              <a:schemeClr val="bg1">
                <a:lumMod val="50000"/>
              </a:schemeClr>
            </a:solidFill>
          </a:ln>
          <a:effectLst>
            <a:outerShdw blurRad="50800" dist="38100" dir="2700000" algn="tl" rotWithShape="0">
              <a:prstClr val="black">
                <a:alpha val="40000"/>
              </a:prstClr>
            </a:outerShdw>
          </a:effectLst>
        </p:spPr>
        <p:txBody>
          <a:bodyPr>
            <a:spAutoFit/>
          </a:bodyPr>
          <a:lstStyle/>
          <a:p>
            <a:pPr>
              <a:lnSpc>
                <a:spcPts val="4000"/>
              </a:lnSpc>
              <a:defRPr/>
            </a:pPr>
            <a:r>
              <a:rPr lang="zh-CN" altLang="en-US" sz="2000" b="0" dirty="0">
                <a:solidFill>
                  <a:schemeClr val="tx1"/>
                </a:solidFill>
                <a:latin typeface="Arial" pitchFamily="34" charset="0"/>
                <a:ea typeface="微软雅黑" pitchFamily="34" charset="-122"/>
                <a:cs typeface="Arial" pitchFamily="34" charset="0"/>
              </a:rPr>
              <a:t>   设码长</a:t>
            </a:r>
            <a:r>
              <a:rPr lang="en-US" altLang="zh-CN" sz="2000" i="1" dirty="0">
                <a:solidFill>
                  <a:schemeClr val="tx1"/>
                </a:solidFill>
                <a:latin typeface="Arial" pitchFamily="34" charset="0"/>
                <a:ea typeface="微软雅黑" pitchFamily="34" charset="-122"/>
                <a:cs typeface="Arial" pitchFamily="34" charset="0"/>
              </a:rPr>
              <a:t>n</a:t>
            </a:r>
            <a:r>
              <a:rPr lang="en-US" altLang="zh-CN" sz="2000" dirty="0">
                <a:solidFill>
                  <a:schemeClr val="tx1"/>
                </a:solidFill>
                <a:latin typeface="Arial" pitchFamily="34" charset="0"/>
                <a:ea typeface="微软雅黑" pitchFamily="34" charset="-122"/>
                <a:cs typeface="Arial" pitchFamily="34" charset="0"/>
              </a:rPr>
              <a:t> = 10</a:t>
            </a:r>
            <a:r>
              <a:rPr lang="zh-CN" altLang="en-US" sz="2000" b="0" dirty="0">
                <a:solidFill>
                  <a:schemeClr val="tx1"/>
                </a:solidFill>
                <a:latin typeface="Arial" pitchFamily="34" charset="0"/>
                <a:ea typeface="微软雅黑" pitchFamily="34" charset="-122"/>
                <a:cs typeface="Arial" pitchFamily="34" charset="0"/>
              </a:rPr>
              <a:t>，其中信息位 </a:t>
            </a:r>
            <a:r>
              <a:rPr lang="en-US" altLang="zh-CN" sz="2000" i="1" dirty="0">
                <a:solidFill>
                  <a:schemeClr val="tx1"/>
                </a:solidFill>
                <a:latin typeface="Arial" pitchFamily="34" charset="0"/>
                <a:ea typeface="微软雅黑" pitchFamily="34" charset="-122"/>
                <a:cs typeface="Arial" pitchFamily="34" charset="0"/>
              </a:rPr>
              <a:t>k</a:t>
            </a:r>
            <a:r>
              <a:rPr lang="en-US" altLang="zh-CN" sz="2000" dirty="0">
                <a:solidFill>
                  <a:schemeClr val="tx1"/>
                </a:solidFill>
                <a:latin typeface="Arial" pitchFamily="34" charset="0"/>
                <a:ea typeface="微软雅黑" pitchFamily="34" charset="-122"/>
                <a:cs typeface="Arial" pitchFamily="34" charset="0"/>
              </a:rPr>
              <a:t> = 5</a:t>
            </a:r>
            <a:r>
              <a:rPr lang="zh-CN" altLang="en-US" sz="2000" b="0" dirty="0">
                <a:solidFill>
                  <a:schemeClr val="tx1"/>
                </a:solidFill>
                <a:latin typeface="Arial" pitchFamily="34" charset="0"/>
                <a:ea typeface="微软雅黑" pitchFamily="34" charset="-122"/>
                <a:cs typeface="Arial" pitchFamily="34" charset="0"/>
              </a:rPr>
              <a:t>，监督位 </a:t>
            </a:r>
            <a:r>
              <a:rPr lang="en-US" altLang="zh-CN" sz="2000" i="1" dirty="0">
                <a:solidFill>
                  <a:schemeClr val="tx1"/>
                </a:solidFill>
                <a:latin typeface="Arial" pitchFamily="34" charset="0"/>
                <a:ea typeface="微软雅黑" pitchFamily="34" charset="-122"/>
                <a:cs typeface="Arial" pitchFamily="34" charset="0"/>
              </a:rPr>
              <a:t>r</a:t>
            </a:r>
            <a:r>
              <a:rPr lang="en-US" altLang="zh-CN" sz="2000" dirty="0">
                <a:solidFill>
                  <a:schemeClr val="tx1"/>
                </a:solidFill>
                <a:latin typeface="Arial" pitchFamily="34" charset="0"/>
                <a:ea typeface="微软雅黑" pitchFamily="34" charset="-122"/>
                <a:cs typeface="Arial" pitchFamily="34" charset="0"/>
              </a:rPr>
              <a:t> = 5</a:t>
            </a:r>
            <a:r>
              <a:rPr lang="zh-CN" altLang="en-US" sz="2000" b="0" dirty="0">
                <a:solidFill>
                  <a:schemeClr val="tx1"/>
                </a:solidFill>
                <a:latin typeface="Arial" pitchFamily="34" charset="0"/>
                <a:ea typeface="微软雅黑" pitchFamily="34" charset="-122"/>
                <a:cs typeface="Arial" pitchFamily="34" charset="0"/>
              </a:rPr>
              <a:t>。其</a:t>
            </a:r>
            <a:r>
              <a:rPr lang="zh-CN" altLang="en-US" sz="2000" dirty="0">
                <a:solidFill>
                  <a:srgbClr val="003399"/>
                </a:solidFill>
                <a:latin typeface="Arial" pitchFamily="34" charset="0"/>
                <a:ea typeface="微软雅黑" pitchFamily="34" charset="-122"/>
                <a:cs typeface="Arial" pitchFamily="34" charset="0"/>
              </a:rPr>
              <a:t>编码规则</a:t>
            </a:r>
            <a:r>
              <a:rPr lang="zh-CN" altLang="en-US" sz="2000" b="0" dirty="0">
                <a:solidFill>
                  <a:schemeClr val="tx1"/>
                </a:solidFill>
                <a:latin typeface="Arial" pitchFamily="34" charset="0"/>
                <a:ea typeface="微软雅黑" pitchFamily="34" charset="-122"/>
                <a:cs typeface="Arial" pitchFamily="34" charset="0"/>
              </a:rPr>
              <a:t>为</a:t>
            </a:r>
            <a:r>
              <a:rPr lang="zh-CN" altLang="en-US" sz="2000" b="0" dirty="0">
                <a:solidFill>
                  <a:schemeClr val="tx1"/>
                </a:solidFill>
                <a:latin typeface="+mn-ea"/>
                <a:ea typeface="+mn-ea"/>
                <a:cs typeface="Arial" pitchFamily="34" charset="0"/>
              </a:rPr>
              <a:t>：</a:t>
            </a:r>
            <a:endParaRPr lang="en-US" altLang="zh-CN" sz="2000" b="0" dirty="0">
              <a:solidFill>
                <a:schemeClr val="tx1"/>
              </a:solidFill>
              <a:latin typeface="+mn-ea"/>
              <a:ea typeface="+mn-ea"/>
              <a:cs typeface="Arial" pitchFamily="34" charset="0"/>
            </a:endParaRPr>
          </a:p>
          <a:p>
            <a:pPr>
              <a:lnSpc>
                <a:spcPts val="4000"/>
              </a:lnSpc>
              <a:defRPr/>
            </a:pPr>
            <a:endParaRPr lang="zh-CN" altLang="en-US" sz="2000" b="0" dirty="0">
              <a:solidFill>
                <a:schemeClr val="tx1"/>
              </a:solidFill>
              <a:latin typeface="Arial" pitchFamily="34" charset="0"/>
              <a:ea typeface="微软雅黑" pitchFamily="34" charset="-122"/>
              <a:cs typeface="Arial" pitchFamily="34" charset="0"/>
            </a:endParaRPr>
          </a:p>
        </p:txBody>
      </p:sp>
      <p:sp>
        <p:nvSpPr>
          <p:cNvPr id="86024" name="矩形 26">
            <a:extLst>
              <a:ext uri="{FF2B5EF4-FFF2-40B4-BE49-F238E27FC236}">
                <a16:creationId xmlns:a16="http://schemas.microsoft.com/office/drawing/2014/main" id="{34B4A9CC-0CD9-FC09-C099-E3FE8BEAEA1E}"/>
              </a:ext>
            </a:extLst>
          </p:cNvPr>
          <p:cNvSpPr>
            <a:spLocks noChangeArrowheads="1"/>
          </p:cNvSpPr>
          <p:nvPr/>
        </p:nvSpPr>
        <p:spPr bwMode="auto">
          <a:xfrm>
            <a:off x="2857500" y="500063"/>
            <a:ext cx="5500688"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lnSpc>
                <a:spcPct val="150000"/>
              </a:lnSpc>
            </a:pPr>
            <a:r>
              <a:rPr lang="en-US" altLang="zh-CN" sz="2000" b="0">
                <a:solidFill>
                  <a:srgbClr val="000000"/>
                </a:solidFill>
                <a:latin typeface="微软雅黑" panose="020B0503020204020204" pitchFamily="34" charset="-122"/>
                <a:ea typeface="微软雅黑" panose="020B0503020204020204" pitchFamily="34" charset="-122"/>
              </a:rPr>
              <a:t>—— </a:t>
            </a:r>
            <a:r>
              <a:rPr lang="zh-CN" altLang="en-US" sz="2000" b="0">
                <a:solidFill>
                  <a:srgbClr val="000000"/>
                </a:solidFill>
                <a:latin typeface="微软雅黑" panose="020B0503020204020204" pitchFamily="34" charset="-122"/>
                <a:ea typeface="微软雅黑" panose="020B0503020204020204" pitchFamily="34" charset="-122"/>
              </a:rPr>
              <a:t>一种能够纠错的编码。</a:t>
            </a:r>
            <a:endParaRPr lang="en-US" altLang="zh-CN" sz="2000" b="0">
              <a:solidFill>
                <a:srgbClr val="000000"/>
              </a:solidFill>
              <a:latin typeface="微软雅黑" panose="020B0503020204020204" pitchFamily="34" charset="-122"/>
              <a:ea typeface="微软雅黑" panose="020B0503020204020204" pitchFamily="34" charset="-122"/>
            </a:endParaRPr>
          </a:p>
        </p:txBody>
      </p:sp>
      <p:grpSp>
        <p:nvGrpSpPr>
          <p:cNvPr id="2" name="Group 22">
            <a:extLst>
              <a:ext uri="{FF2B5EF4-FFF2-40B4-BE49-F238E27FC236}">
                <a16:creationId xmlns:a16="http://schemas.microsoft.com/office/drawing/2014/main" id="{641AD376-4F64-B937-7423-0B9B0CFA3C7D}"/>
              </a:ext>
            </a:extLst>
          </p:cNvPr>
          <p:cNvGrpSpPr>
            <a:grpSpLocks/>
          </p:cNvGrpSpPr>
          <p:nvPr/>
        </p:nvGrpSpPr>
        <p:grpSpPr bwMode="auto">
          <a:xfrm>
            <a:off x="714375" y="4286250"/>
            <a:ext cx="649288" cy="692150"/>
            <a:chOff x="1655" y="845"/>
            <a:chExt cx="454" cy="454"/>
          </a:xfrm>
        </p:grpSpPr>
        <p:grpSp>
          <p:nvGrpSpPr>
            <p:cNvPr id="86027" name="Group 23">
              <a:extLst>
                <a:ext uri="{FF2B5EF4-FFF2-40B4-BE49-F238E27FC236}">
                  <a16:creationId xmlns:a16="http://schemas.microsoft.com/office/drawing/2014/main" id="{846764C6-92C0-26D1-9468-713406D6155F}"/>
                </a:ext>
              </a:extLst>
            </p:cNvPr>
            <p:cNvGrpSpPr>
              <a:grpSpLocks/>
            </p:cNvGrpSpPr>
            <p:nvPr/>
          </p:nvGrpSpPr>
          <p:grpSpPr bwMode="auto">
            <a:xfrm>
              <a:off x="1655" y="845"/>
              <a:ext cx="454" cy="454"/>
              <a:chOff x="1289" y="582"/>
              <a:chExt cx="668" cy="668"/>
            </a:xfrm>
          </p:grpSpPr>
          <p:sp>
            <p:nvSpPr>
              <p:cNvPr id="86029" name="Oval 24">
                <a:extLst>
                  <a:ext uri="{FF2B5EF4-FFF2-40B4-BE49-F238E27FC236}">
                    <a16:creationId xmlns:a16="http://schemas.microsoft.com/office/drawing/2014/main" id="{31ACC472-11A0-0D39-AD82-030AF986A684}"/>
                  </a:ext>
                </a:extLst>
              </p:cNvPr>
              <p:cNvSpPr>
                <a:spLocks noChangeArrowheads="1"/>
              </p:cNvSpPr>
              <p:nvPr/>
            </p:nvSpPr>
            <p:spPr bwMode="gray">
              <a:xfrm>
                <a:off x="1289" y="582"/>
                <a:ext cx="668" cy="668"/>
              </a:xfrm>
              <a:prstGeom prst="ellipse">
                <a:avLst/>
              </a:prstGeom>
              <a:solidFill>
                <a:srgbClr val="333333"/>
              </a:soli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86030" name="Oval 25">
                <a:extLst>
                  <a:ext uri="{FF2B5EF4-FFF2-40B4-BE49-F238E27FC236}">
                    <a16:creationId xmlns:a16="http://schemas.microsoft.com/office/drawing/2014/main" id="{803366D5-46DC-4E7F-DAE3-6FD4611582D4}"/>
                  </a:ext>
                </a:extLst>
              </p:cNvPr>
              <p:cNvSpPr>
                <a:spLocks noChangeArrowheads="1"/>
              </p:cNvSpPr>
              <p:nvPr/>
            </p:nvSpPr>
            <p:spPr bwMode="gray">
              <a:xfrm>
                <a:off x="1296" y="587"/>
                <a:ext cx="646" cy="645"/>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86031" name="Oval 26">
                <a:extLst>
                  <a:ext uri="{FF2B5EF4-FFF2-40B4-BE49-F238E27FC236}">
                    <a16:creationId xmlns:a16="http://schemas.microsoft.com/office/drawing/2014/main" id="{8124D7C0-E890-997D-6E26-4D6D8AFF1F07}"/>
                  </a:ext>
                </a:extLst>
              </p:cNvPr>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86032" name="Oval 27">
                <a:extLst>
                  <a:ext uri="{FF2B5EF4-FFF2-40B4-BE49-F238E27FC236}">
                    <a16:creationId xmlns:a16="http://schemas.microsoft.com/office/drawing/2014/main" id="{9DAEA6A4-EAD7-DFB9-3E7C-3E22496937FC}"/>
                  </a:ext>
                </a:extLst>
              </p:cNvPr>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86033" name="Oval 28">
                <a:extLst>
                  <a:ext uri="{FF2B5EF4-FFF2-40B4-BE49-F238E27FC236}">
                    <a16:creationId xmlns:a16="http://schemas.microsoft.com/office/drawing/2014/main" id="{54670379-3144-277A-AF21-E90FC41690EB}"/>
                  </a:ext>
                </a:extLst>
              </p:cNvPr>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pSp>
        <p:sp>
          <p:nvSpPr>
            <p:cNvPr id="86028" name="Text Box 29">
              <a:extLst>
                <a:ext uri="{FF2B5EF4-FFF2-40B4-BE49-F238E27FC236}">
                  <a16:creationId xmlns:a16="http://schemas.microsoft.com/office/drawing/2014/main" id="{14E36528-C7FA-E460-AA25-215AF60208C3}"/>
                </a:ext>
              </a:extLst>
            </p:cNvPr>
            <p:cNvSpPr txBox="1">
              <a:spLocks noChangeArrowheads="1"/>
            </p:cNvSpPr>
            <p:nvPr/>
          </p:nvSpPr>
          <p:spPr bwMode="gray">
            <a:xfrm>
              <a:off x="1666" y="902"/>
              <a:ext cx="379"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zh-CN" altLang="en-US" sz="2800">
                  <a:solidFill>
                    <a:srgbClr val="0000CC"/>
                  </a:solidFill>
                </a:rPr>
                <a:t>例</a:t>
              </a:r>
            </a:p>
          </p:txBody>
        </p:sp>
      </p:grpSp>
      <p:pic>
        <p:nvPicPr>
          <p:cNvPr id="94228" name="Picture 20">
            <a:extLst>
              <a:ext uri="{FF2B5EF4-FFF2-40B4-BE49-F238E27FC236}">
                <a16:creationId xmlns:a16="http://schemas.microsoft.com/office/drawing/2014/main" id="{22AC729D-3E92-3351-AB68-CB752B84B5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7313" y="1863725"/>
            <a:ext cx="6858000" cy="220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par>
                          <p:cTn id="13" fill="hold" nodeType="afterGroup">
                            <p:stCondLst>
                              <p:cond delay="500"/>
                            </p:stCondLst>
                            <p:childTnLst>
                              <p:par>
                                <p:cTn id="14" presetID="22" presetClass="entr" presetSubtype="1" fill="hold" nodeType="afterEffect">
                                  <p:stCondLst>
                                    <p:cond delay="0"/>
                                  </p:stCondLst>
                                  <p:childTnLst>
                                    <p:set>
                                      <p:cBhvr>
                                        <p:cTn id="15" dur="1" fill="hold">
                                          <p:stCondLst>
                                            <p:cond delay="0"/>
                                          </p:stCondLst>
                                        </p:cTn>
                                        <p:tgtEl>
                                          <p:spTgt spid="94228"/>
                                        </p:tgtEl>
                                        <p:attrNameLst>
                                          <p:attrName>style.visibility</p:attrName>
                                        </p:attrNameLst>
                                      </p:cBhvr>
                                      <p:to>
                                        <p:strVal val="visible"/>
                                      </p:to>
                                    </p:set>
                                    <p:animEffect transition="in" filter="wipe(up)">
                                      <p:cBhvr>
                                        <p:cTn id="16" dur="2000"/>
                                        <p:tgtEl>
                                          <p:spTgt spid="9422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1000"/>
                                        <p:tgtEl>
                                          <p:spTgt spid="2"/>
                                        </p:tgtEl>
                                      </p:cBhvr>
                                    </p:animEffect>
                                  </p:childTnLst>
                                </p:cTn>
                              </p:par>
                            </p:childTnLst>
                          </p:cTn>
                        </p:par>
                        <p:par>
                          <p:cTn id="22" fill="hold" nodeType="afterGroup">
                            <p:stCondLst>
                              <p:cond delay="1000"/>
                            </p:stCondLst>
                            <p:childTnLst>
                              <p:par>
                                <p:cTn id="23" presetID="22" presetClass="entr" presetSubtype="1" fill="hold" nodeType="after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wipe(up)">
                                      <p:cBhvr>
                                        <p:cTn id="25" dur="500"/>
                                        <p:tgtEl>
                                          <p:spTgt spid="2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94229"/>
                                        </p:tgtEl>
                                        <p:attrNameLst>
                                          <p:attrName>style.visibility</p:attrName>
                                        </p:attrNameLst>
                                      </p:cBhvr>
                                      <p:to>
                                        <p:strVal val="visible"/>
                                      </p:to>
                                    </p:set>
                                    <p:animEffect transition="in" filter="wipe(up)">
                                      <p:cBhvr>
                                        <p:cTn id="30" dur="1000"/>
                                        <p:tgtEl>
                                          <p:spTgt spid="94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11" grpId="0" autoUpdateAnimBg="0"/>
      <p:bldP spid="2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56" name="Picture 24">
            <a:extLst>
              <a:ext uri="{FF2B5EF4-FFF2-40B4-BE49-F238E27FC236}">
                <a16:creationId xmlns:a16="http://schemas.microsoft.com/office/drawing/2014/main" id="{C9AE7160-95ED-7A4C-E87F-5049F5993D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488" y="5192713"/>
            <a:ext cx="8529637" cy="116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254" name="Picture 22">
            <a:extLst>
              <a:ext uri="{FF2B5EF4-FFF2-40B4-BE49-F238E27FC236}">
                <a16:creationId xmlns:a16="http://schemas.microsoft.com/office/drawing/2014/main" id="{C9AE4379-38F9-03A9-2DF5-4A79A6C028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063" y="2847975"/>
            <a:ext cx="8429625" cy="215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251" name="Picture 19">
            <a:extLst>
              <a:ext uri="{FF2B5EF4-FFF2-40B4-BE49-F238E27FC236}">
                <a16:creationId xmlns:a16="http://schemas.microsoft.com/office/drawing/2014/main" id="{CC49F9C3-221B-A482-2F22-D0B6EE9917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7050" y="1625600"/>
            <a:ext cx="8474075" cy="117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252" name="Picture 20">
            <a:extLst>
              <a:ext uri="{FF2B5EF4-FFF2-40B4-BE49-F238E27FC236}">
                <a16:creationId xmlns:a16="http://schemas.microsoft.com/office/drawing/2014/main" id="{A9729A67-DDB5-79DF-9774-D8C301925C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8963" y="1714500"/>
            <a:ext cx="5595937"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6FBF8BD1-E514-B3E6-9967-3096AE6F9142}"/>
              </a:ext>
            </a:extLst>
          </p:cNvPr>
          <p:cNvSpPr/>
          <p:nvPr/>
        </p:nvSpPr>
        <p:spPr>
          <a:xfrm>
            <a:off x="650875" y="1071563"/>
            <a:ext cx="4735513" cy="469900"/>
          </a:xfrm>
          <a:prstGeom prst="rect">
            <a:avLst/>
          </a:prstGeom>
        </p:spPr>
        <p:txBody>
          <a:bodyPr>
            <a:spAutoFit/>
          </a:bodyPr>
          <a:lstStyle/>
          <a:p>
            <a:pPr marL="342900" indent="-342900" eaLnBrk="0" hangingPunct="0">
              <a:lnSpc>
                <a:spcPts val="3200"/>
              </a:lnSpc>
              <a:spcBef>
                <a:spcPct val="20000"/>
              </a:spcBef>
              <a:buClr>
                <a:srgbClr val="3333CC"/>
              </a:buClr>
              <a:buSzPct val="60000"/>
              <a:buFont typeface="Wingdings" pitchFamily="2" charset="2"/>
              <a:buChar char="u"/>
              <a:defRPr/>
            </a:pPr>
            <a:r>
              <a:rPr kumimoji="0" lang="zh-CN" altLang="en-US" sz="2400" kern="0" dirty="0">
                <a:solidFill>
                  <a:srgbClr val="003399"/>
                </a:solidFill>
                <a:latin typeface="微软雅黑" pitchFamily="34" charset="-122"/>
                <a:ea typeface="微软雅黑" pitchFamily="34" charset="-122"/>
              </a:rPr>
              <a:t>译码方法</a:t>
            </a:r>
            <a:r>
              <a:rPr kumimoji="0" lang="zh-CN" altLang="en-US" sz="2400" b="0" kern="0" dirty="0">
                <a:solidFill>
                  <a:srgbClr val="003399"/>
                </a:solidFill>
                <a:latin typeface="+mn-ea"/>
                <a:ea typeface="+mn-ea"/>
              </a:rPr>
              <a:t>：</a:t>
            </a:r>
            <a:endParaRPr kumimoji="0" lang="zh-CN" altLang="en-US" sz="2400" b="0" kern="0" dirty="0">
              <a:solidFill>
                <a:srgbClr val="000000"/>
              </a:solidFill>
              <a:latin typeface="+mn-ea"/>
              <a:ea typeface="+mn-ea"/>
            </a:endParaRPr>
          </a:p>
        </p:txBody>
      </p:sp>
      <p:sp>
        <p:nvSpPr>
          <p:cNvPr id="19" name="矩形 18">
            <a:extLst>
              <a:ext uri="{FF2B5EF4-FFF2-40B4-BE49-F238E27FC236}">
                <a16:creationId xmlns:a16="http://schemas.microsoft.com/office/drawing/2014/main" id="{D9CB4C38-9220-B6D9-71BB-E7F9252AAA18}"/>
              </a:ext>
            </a:extLst>
          </p:cNvPr>
          <p:cNvSpPr>
            <a:spLocks noChangeArrowheads="1"/>
          </p:cNvSpPr>
          <p:nvPr/>
        </p:nvSpPr>
        <p:spPr bwMode="auto">
          <a:xfrm>
            <a:off x="6100763" y="1743075"/>
            <a:ext cx="4286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en-US" altLang="zh-CN" sz="2400">
                <a:solidFill>
                  <a:srgbClr val="990099"/>
                </a:solidFill>
                <a:sym typeface="Symbol" panose="05050102010706020507" pitchFamily="18" charset="2"/>
              </a:rPr>
              <a:t> </a:t>
            </a:r>
            <a:r>
              <a:rPr lang="en-US" altLang="zh-CN" sz="2000">
                <a:sym typeface="Symbol" panose="05050102010706020507" pitchFamily="18" charset="2"/>
              </a:rPr>
              <a:t> </a:t>
            </a:r>
            <a:endParaRPr lang="zh-CN" altLang="en-US"/>
          </a:p>
        </p:txBody>
      </p:sp>
      <p:sp>
        <p:nvSpPr>
          <p:cNvPr id="20" name="矩形 19">
            <a:extLst>
              <a:ext uri="{FF2B5EF4-FFF2-40B4-BE49-F238E27FC236}">
                <a16:creationId xmlns:a16="http://schemas.microsoft.com/office/drawing/2014/main" id="{1DB3060A-C163-2F24-674F-0B8D62667198}"/>
              </a:ext>
            </a:extLst>
          </p:cNvPr>
          <p:cNvSpPr/>
          <p:nvPr/>
        </p:nvSpPr>
        <p:spPr>
          <a:xfrm>
            <a:off x="7143750" y="1785938"/>
            <a:ext cx="1200150" cy="412750"/>
          </a:xfrm>
          <a:prstGeom prst="rect">
            <a:avLst/>
          </a:prstGeom>
        </p:spPr>
        <p:txBody>
          <a:bodyPr wrap="none">
            <a:spAutoFit/>
          </a:bodyPr>
          <a:lstStyle/>
          <a:p>
            <a:pPr>
              <a:lnSpc>
                <a:spcPts val="2500"/>
              </a:lnSpc>
              <a:defRPr/>
            </a:pPr>
            <a:r>
              <a:rPr kumimoji="0" lang="en-US" altLang="zh-CN" sz="2400" dirty="0">
                <a:solidFill>
                  <a:srgbClr val="0000CC"/>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sym typeface="Wingdings" pitchFamily="2" charset="2"/>
              </a:rPr>
              <a:t>=</a:t>
            </a:r>
            <a:r>
              <a:rPr kumimoji="0" lang="en-US" altLang="zh-CN" sz="2000" b="0" dirty="0">
                <a:solidFill>
                  <a:srgbClr val="FF0000"/>
                </a:solidFill>
                <a:latin typeface="Times New Roman" pitchFamily="18" charset="0"/>
                <a:ea typeface="宋体" pitchFamily="2" charset="-122"/>
                <a:cs typeface="Times New Roman" pitchFamily="18" charset="0"/>
                <a:sym typeface="Wingdings" pitchFamily="2" charset="2"/>
              </a:rPr>
              <a:t>  </a:t>
            </a:r>
            <a:r>
              <a:rPr lang="en-US" altLang="zh-CN" sz="2000" b="0" dirty="0">
                <a:solidFill>
                  <a:srgbClr val="990099"/>
                </a:solidFill>
                <a:latin typeface="Arial" charset="0"/>
                <a:ea typeface="微软雅黑" pitchFamily="34" charset="-122"/>
                <a:cs typeface="Arial" charset="0"/>
              </a:rPr>
              <a:t>00000</a:t>
            </a:r>
          </a:p>
        </p:txBody>
      </p:sp>
      <p:pic>
        <p:nvPicPr>
          <p:cNvPr id="95253" name="Picture 21">
            <a:extLst>
              <a:ext uri="{FF2B5EF4-FFF2-40B4-BE49-F238E27FC236}">
                <a16:creationId xmlns:a16="http://schemas.microsoft.com/office/drawing/2014/main" id="{134C205D-13AE-DA4D-4EE7-41642E59C3C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05475" y="3400425"/>
            <a:ext cx="2738438"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255" name="Picture 23">
            <a:extLst>
              <a:ext uri="{FF2B5EF4-FFF2-40B4-BE49-F238E27FC236}">
                <a16:creationId xmlns:a16="http://schemas.microsoft.com/office/drawing/2014/main" id="{64DFBE3C-1AD9-815E-9D44-A5EEC7C67D7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00713" y="4914900"/>
            <a:ext cx="27432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直接连接符 17">
            <a:extLst>
              <a:ext uri="{FF2B5EF4-FFF2-40B4-BE49-F238E27FC236}">
                <a16:creationId xmlns:a16="http://schemas.microsoft.com/office/drawing/2014/main" id="{CBC49C9E-3414-6688-1EDB-32F051473058}"/>
              </a:ext>
            </a:extLst>
          </p:cNvPr>
          <p:cNvCxnSpPr/>
          <p:nvPr/>
        </p:nvCxnSpPr>
        <p:spPr bwMode="auto">
          <a:xfrm>
            <a:off x="7315200" y="5043488"/>
            <a:ext cx="714375" cy="1587"/>
          </a:xfrm>
          <a:prstGeom prst="line">
            <a:avLst/>
          </a:prstGeom>
          <a:solidFill>
            <a:schemeClr val="accent1"/>
          </a:solidFill>
          <a:ln w="28575" cap="flat" cmpd="sng" algn="ctr">
            <a:solidFill>
              <a:srgbClr val="FF0000"/>
            </a:solidFill>
            <a:prstDash val="solid"/>
            <a:miter lim="800000"/>
            <a:headEnd type="none" w="med" len="med"/>
            <a:tailEnd type="none" w="med" len="med"/>
          </a:ln>
          <a:effectLst>
            <a:outerShdw blurRad="50800" dist="38100" dir="5400000" algn="t" rotWithShape="0">
              <a:prstClr val="black">
                <a:alpha val="40000"/>
              </a:prstClr>
            </a:outerShdw>
          </a:effectLst>
        </p:spPr>
      </p:cxn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10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95251"/>
                                        </p:tgtEl>
                                        <p:attrNameLst>
                                          <p:attrName>style.visibility</p:attrName>
                                        </p:attrNameLst>
                                      </p:cBhvr>
                                      <p:to>
                                        <p:strVal val="visible"/>
                                      </p:to>
                                    </p:set>
                                    <p:animEffect transition="in" filter="wipe(up)">
                                      <p:cBhvr>
                                        <p:cTn id="12" dur="1000"/>
                                        <p:tgtEl>
                                          <p:spTgt spid="952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95252"/>
                                        </p:tgtEl>
                                        <p:attrNameLst>
                                          <p:attrName>style.visibility</p:attrName>
                                        </p:attrNameLst>
                                      </p:cBhvr>
                                      <p:to>
                                        <p:strVal val="visible"/>
                                      </p:to>
                                    </p:set>
                                    <p:animEffect transition="in" filter="wipe(down)">
                                      <p:cBhvr>
                                        <p:cTn id="17" dur="1000"/>
                                        <p:tgtEl>
                                          <p:spTgt spid="9525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left)">
                                      <p:cBhvr>
                                        <p:cTn id="22" dur="2000"/>
                                        <p:tgtEl>
                                          <p:spTgt spid="1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7"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1000"/>
                                        <p:tgtEl>
                                          <p:spTgt spid="20"/>
                                        </p:tgtEl>
                                      </p:cBhvr>
                                    </p:animEffect>
                                    <p:anim calcmode="lin" valueType="num">
                                      <p:cBhvr>
                                        <p:cTn id="28" dur="1000" fill="hold"/>
                                        <p:tgtEl>
                                          <p:spTgt spid="20"/>
                                        </p:tgtEl>
                                        <p:attrNameLst>
                                          <p:attrName>ppt_x</p:attrName>
                                        </p:attrNameLst>
                                      </p:cBhvr>
                                      <p:tavLst>
                                        <p:tav tm="0">
                                          <p:val>
                                            <p:strVal val="#ppt_x"/>
                                          </p:val>
                                        </p:tav>
                                        <p:tav tm="100000">
                                          <p:val>
                                            <p:strVal val="#ppt_x"/>
                                          </p:val>
                                        </p:tav>
                                      </p:tavLst>
                                    </p:anim>
                                    <p:anim calcmode="lin" valueType="num">
                                      <p:cBhvr>
                                        <p:cTn id="2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95254"/>
                                        </p:tgtEl>
                                        <p:attrNameLst>
                                          <p:attrName>style.visibility</p:attrName>
                                        </p:attrNameLst>
                                      </p:cBhvr>
                                      <p:to>
                                        <p:strVal val="visible"/>
                                      </p:to>
                                    </p:set>
                                    <p:animEffect transition="in" filter="wipe(up)">
                                      <p:cBhvr>
                                        <p:cTn id="34" dur="1000"/>
                                        <p:tgtEl>
                                          <p:spTgt spid="95254"/>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4" fill="hold" nodeType="clickEffect">
                                  <p:stCondLst>
                                    <p:cond delay="0"/>
                                  </p:stCondLst>
                                  <p:childTnLst>
                                    <p:set>
                                      <p:cBhvr>
                                        <p:cTn id="38" dur="1" fill="hold">
                                          <p:stCondLst>
                                            <p:cond delay="0"/>
                                          </p:stCondLst>
                                        </p:cTn>
                                        <p:tgtEl>
                                          <p:spTgt spid="95253"/>
                                        </p:tgtEl>
                                        <p:attrNameLst>
                                          <p:attrName>style.visibility</p:attrName>
                                        </p:attrNameLst>
                                      </p:cBhvr>
                                      <p:to>
                                        <p:strVal val="visible"/>
                                      </p:to>
                                    </p:set>
                                    <p:animEffect transition="in" filter="wipe(down)">
                                      <p:cBhvr>
                                        <p:cTn id="39" dur="500"/>
                                        <p:tgtEl>
                                          <p:spTgt spid="95253"/>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nodeType="clickEffect">
                                  <p:stCondLst>
                                    <p:cond delay="0"/>
                                  </p:stCondLst>
                                  <p:childTnLst>
                                    <p:set>
                                      <p:cBhvr>
                                        <p:cTn id="43" dur="1" fill="hold">
                                          <p:stCondLst>
                                            <p:cond delay="0"/>
                                          </p:stCondLst>
                                        </p:cTn>
                                        <p:tgtEl>
                                          <p:spTgt spid="95255"/>
                                        </p:tgtEl>
                                        <p:attrNameLst>
                                          <p:attrName>style.visibility</p:attrName>
                                        </p:attrNameLst>
                                      </p:cBhvr>
                                      <p:to>
                                        <p:strVal val="visible"/>
                                      </p:to>
                                    </p:set>
                                    <p:animEffect transition="in" filter="wipe(up)">
                                      <p:cBhvr>
                                        <p:cTn id="44" dur="1000"/>
                                        <p:tgtEl>
                                          <p:spTgt spid="95255"/>
                                        </p:tgtEl>
                                      </p:cBhvr>
                                    </p:animEffect>
                                  </p:childTnLst>
                                </p:cTn>
                              </p:par>
                              <p:par>
                                <p:cTn id="45" presetID="22" presetClass="entr" presetSubtype="8"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left)">
                                      <p:cBhvr>
                                        <p:cTn id="47" dur="2000"/>
                                        <p:tgtEl>
                                          <p:spTgt spid="1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95256"/>
                                        </p:tgtEl>
                                        <p:attrNameLst>
                                          <p:attrName>style.visibility</p:attrName>
                                        </p:attrNameLst>
                                      </p:cBhvr>
                                      <p:to>
                                        <p:strVal val="visible"/>
                                      </p:to>
                                    </p:set>
                                    <p:animEffect transition="in" filter="wipe(up)">
                                      <p:cBhvr>
                                        <p:cTn id="52" dur="1000"/>
                                        <p:tgtEl>
                                          <p:spTgt spid="952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9" grpId="0"/>
      <p:bldP spid="2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92" name="Picture 36">
            <a:extLst>
              <a:ext uri="{FF2B5EF4-FFF2-40B4-BE49-F238E27FC236}">
                <a16:creationId xmlns:a16="http://schemas.microsoft.com/office/drawing/2014/main" id="{0034DD7B-385B-1B0A-BAE2-5B2DF362AF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4856163"/>
            <a:ext cx="6654800" cy="148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椭圆 12">
            <a:extLst>
              <a:ext uri="{FF2B5EF4-FFF2-40B4-BE49-F238E27FC236}">
                <a16:creationId xmlns:a16="http://schemas.microsoft.com/office/drawing/2014/main" id="{86897598-3B76-0D0E-C44E-E9F383A263E8}"/>
              </a:ext>
            </a:extLst>
          </p:cNvPr>
          <p:cNvSpPr/>
          <p:nvPr/>
        </p:nvSpPr>
        <p:spPr bwMode="auto">
          <a:xfrm>
            <a:off x="7158038" y="4943475"/>
            <a:ext cx="1571625" cy="1271588"/>
          </a:xfrm>
          <a:prstGeom prst="ellipse">
            <a:avLst/>
          </a:prstGeom>
          <a:solidFill>
            <a:schemeClr val="bg2">
              <a:lumMod val="10000"/>
              <a:lumOff val="90000"/>
            </a:schemeClr>
          </a:solidFill>
          <a:ln w="38100" cap="flat" cmpd="dbl" algn="ctr">
            <a:noFill/>
            <a:prstDash val="solid"/>
            <a:miter lim="800000"/>
            <a:headEnd type="none" w="med" len="med"/>
            <a:tailEnd type="none" w="med" len="med"/>
          </a:ln>
          <a:effectLst>
            <a:outerShdw blurRad="63500" sx="102000" sy="102000" algn="ctr" rotWithShape="0">
              <a:prstClr val="black">
                <a:alpha val="40000"/>
              </a:prstClr>
            </a:outerShdw>
          </a:effectLst>
        </p:spPr>
        <p:txBody>
          <a:bodyPr wrap="none"/>
          <a:lstStyle/>
          <a:p>
            <a:pPr>
              <a:defRPr/>
            </a:pPr>
            <a:endParaRPr lang="zh-CN" altLang="en-US"/>
          </a:p>
        </p:txBody>
      </p:sp>
      <p:sp>
        <p:nvSpPr>
          <p:cNvPr id="6" name="矩形 5">
            <a:extLst>
              <a:ext uri="{FF2B5EF4-FFF2-40B4-BE49-F238E27FC236}">
                <a16:creationId xmlns:a16="http://schemas.microsoft.com/office/drawing/2014/main" id="{4072D5FB-610F-3433-DEF3-779AF7DBC469}"/>
              </a:ext>
            </a:extLst>
          </p:cNvPr>
          <p:cNvSpPr/>
          <p:nvPr/>
        </p:nvSpPr>
        <p:spPr>
          <a:xfrm>
            <a:off x="650875" y="1071563"/>
            <a:ext cx="4735513" cy="469900"/>
          </a:xfrm>
          <a:prstGeom prst="rect">
            <a:avLst/>
          </a:prstGeom>
        </p:spPr>
        <p:txBody>
          <a:bodyPr>
            <a:spAutoFit/>
          </a:bodyPr>
          <a:lstStyle/>
          <a:p>
            <a:pPr marL="342900" indent="-342900" eaLnBrk="0" hangingPunct="0">
              <a:lnSpc>
                <a:spcPts val="3200"/>
              </a:lnSpc>
              <a:spcBef>
                <a:spcPct val="20000"/>
              </a:spcBef>
              <a:buClr>
                <a:srgbClr val="3333CC"/>
              </a:buClr>
              <a:buSzPct val="60000"/>
              <a:defRPr/>
            </a:pPr>
            <a:r>
              <a:rPr kumimoji="0" lang="zh-CN" altLang="en-US" sz="2400" b="0" dirty="0">
                <a:solidFill>
                  <a:srgbClr val="0000CC"/>
                </a:solidFill>
                <a:effectLst>
                  <a:outerShdw blurRad="38100" dist="38100" dir="2700000" algn="tl">
                    <a:srgbClr val="000000">
                      <a:alpha val="43137"/>
                    </a:srgbClr>
                  </a:outerShdw>
                </a:effectLst>
                <a:latin typeface="微软雅黑" pitchFamily="34" charset="-122"/>
                <a:ea typeface="微软雅黑" pitchFamily="34" charset="-122"/>
              </a:rPr>
              <a:t>校验码组和错码的关系</a:t>
            </a:r>
            <a:r>
              <a:rPr kumimoji="0" lang="zh-CN" altLang="en-US" sz="2400" b="0" kern="0" dirty="0">
                <a:solidFill>
                  <a:srgbClr val="0000CC"/>
                </a:solidFill>
                <a:effectLst>
                  <a:outerShdw blurRad="38100" dist="38100" dir="2700000" algn="tl">
                    <a:srgbClr val="000000">
                      <a:alpha val="43137"/>
                    </a:srgbClr>
                  </a:outerShdw>
                </a:effectLst>
                <a:latin typeface="+mn-ea"/>
                <a:ea typeface="+mn-ea"/>
              </a:rPr>
              <a:t>：</a:t>
            </a:r>
          </a:p>
        </p:txBody>
      </p:sp>
      <p:sp>
        <p:nvSpPr>
          <p:cNvPr id="12" name="矩形 11">
            <a:extLst>
              <a:ext uri="{FF2B5EF4-FFF2-40B4-BE49-F238E27FC236}">
                <a16:creationId xmlns:a16="http://schemas.microsoft.com/office/drawing/2014/main" id="{D48F4AE3-450E-25CE-43D7-C95E7EC48417}"/>
              </a:ext>
            </a:extLst>
          </p:cNvPr>
          <p:cNvSpPr/>
          <p:nvPr/>
        </p:nvSpPr>
        <p:spPr>
          <a:xfrm>
            <a:off x="7173913" y="5072063"/>
            <a:ext cx="1571625" cy="1016000"/>
          </a:xfrm>
          <a:prstGeom prst="rect">
            <a:avLst/>
          </a:prstGeom>
        </p:spPr>
        <p:txBody>
          <a:bodyPr>
            <a:spAutoFit/>
          </a:bodyPr>
          <a:lstStyle/>
          <a:p>
            <a:pPr>
              <a:lnSpc>
                <a:spcPct val="150000"/>
              </a:lnSpc>
              <a:defRPr/>
            </a:pPr>
            <a:r>
              <a:rPr kumimoji="0" lang="en-US" altLang="zh-CN" sz="2000" b="0" kern="0" dirty="0">
                <a:solidFill>
                  <a:srgbClr val="000000"/>
                </a:solidFill>
                <a:latin typeface="Arial" pitchFamily="34" charset="0"/>
                <a:ea typeface="微软雅黑" pitchFamily="34" charset="-122"/>
                <a:cs typeface="Arial" pitchFamily="34" charset="0"/>
              </a:rPr>
              <a:t> </a:t>
            </a:r>
            <a:r>
              <a:rPr kumimoji="0" lang="zh-CN" altLang="en-US" sz="2000" b="0" kern="0" dirty="0">
                <a:solidFill>
                  <a:srgbClr val="000000"/>
                </a:solidFill>
                <a:latin typeface="Arial" pitchFamily="34" charset="0"/>
                <a:ea typeface="微软雅黑" pitchFamily="34" charset="-122"/>
                <a:cs typeface="Arial" pitchFamily="34" charset="0"/>
              </a:rPr>
              <a:t>按上表判决</a:t>
            </a:r>
            <a:r>
              <a:rPr kumimoji="0" lang="en-US" altLang="zh-CN" sz="2000" b="0" kern="0" dirty="0">
                <a:solidFill>
                  <a:srgbClr val="000000"/>
                </a:solidFill>
                <a:latin typeface="Arial" pitchFamily="34" charset="0"/>
                <a:ea typeface="微软雅黑" pitchFamily="34" charset="-122"/>
                <a:cs typeface="Arial" pitchFamily="34" charset="0"/>
              </a:rPr>
              <a:t>:</a:t>
            </a:r>
          </a:p>
          <a:p>
            <a:pPr>
              <a:lnSpc>
                <a:spcPct val="150000"/>
              </a:lnSpc>
              <a:defRPr/>
            </a:pPr>
            <a:r>
              <a:rPr kumimoji="0" lang="zh-CN" altLang="en-US" sz="2000" kern="0" dirty="0">
                <a:solidFill>
                  <a:srgbClr val="000000"/>
                </a:solidFill>
                <a:latin typeface="Arial" pitchFamily="34" charset="0"/>
                <a:ea typeface="微软雅黑" pitchFamily="34" charset="-122"/>
                <a:cs typeface="Arial" pitchFamily="34" charset="0"/>
              </a:rPr>
              <a:t>    无错码</a:t>
            </a:r>
            <a:r>
              <a:rPr kumimoji="0" lang="zh-CN" altLang="en-US" sz="2000" b="0" kern="0" dirty="0">
                <a:solidFill>
                  <a:srgbClr val="000000"/>
                </a:solidFill>
                <a:latin typeface="Arial" pitchFamily="34" charset="0"/>
                <a:ea typeface="微软雅黑" pitchFamily="34" charset="-122"/>
                <a:cs typeface="Arial" pitchFamily="34" charset="0"/>
              </a:rPr>
              <a:t> </a:t>
            </a:r>
            <a:endParaRPr lang="zh-CN" altLang="en-US" dirty="0"/>
          </a:p>
        </p:txBody>
      </p:sp>
      <p:sp>
        <p:nvSpPr>
          <p:cNvPr id="7" name="内容占位符 2">
            <a:extLst>
              <a:ext uri="{FF2B5EF4-FFF2-40B4-BE49-F238E27FC236}">
                <a16:creationId xmlns:a16="http://schemas.microsoft.com/office/drawing/2014/main" id="{B3EDA048-19E2-D35F-2E9C-190B0D314EA5}"/>
              </a:ext>
            </a:extLst>
          </p:cNvPr>
          <p:cNvSpPr>
            <a:spLocks noGrp="1"/>
          </p:cNvSpPr>
          <p:nvPr>
            <p:ph idx="1"/>
          </p:nvPr>
        </p:nvSpPr>
        <p:spPr>
          <a:xfrm>
            <a:off x="800100" y="5808663"/>
            <a:ext cx="6357938" cy="517525"/>
          </a:xfrm>
        </p:spPr>
        <p:txBody>
          <a:bodyPr/>
          <a:lstStyle/>
          <a:p>
            <a:pPr marL="342900" lvl="2" indent="-342900">
              <a:buSzPct val="60000"/>
              <a:buFont typeface="Wingdings" panose="05000000000000000000" pitchFamily="2" charset="2"/>
              <a:buNone/>
            </a:pPr>
            <a:r>
              <a:rPr lang="en-US" altLang="zh-CN" b="1">
                <a:solidFill>
                  <a:srgbClr val="0000CC"/>
                </a:solidFill>
                <a:latin typeface="Arial" panose="020B0604020202020204" pitchFamily="34" charset="0"/>
                <a:ea typeface="微软雅黑" panose="020B0503020204020204" pitchFamily="34" charset="-122"/>
                <a:cs typeface="Arial" panose="020B0604020202020204" pitchFamily="34" charset="0"/>
              </a:rPr>
              <a:t>∵</a:t>
            </a:r>
            <a:r>
              <a:rPr lang="zh-CN" altLang="en-US" sz="2000">
                <a:latin typeface="Arial" panose="020B0604020202020204" pitchFamily="34" charset="0"/>
                <a:ea typeface="微软雅黑" panose="020B0503020204020204" pitchFamily="34" charset="-122"/>
                <a:cs typeface="Arial" panose="020B0604020202020204" pitchFamily="34" charset="0"/>
              </a:rPr>
              <a:t>信息位中有</a:t>
            </a:r>
            <a:r>
              <a:rPr lang="zh-CN" altLang="en-US" sz="2000" b="1">
                <a:latin typeface="Arial" panose="020B0604020202020204" pitchFamily="34" charset="0"/>
                <a:ea typeface="微软雅黑" panose="020B0503020204020204" pitchFamily="34" charset="-122"/>
                <a:cs typeface="Arial" panose="020B0604020202020204" pitchFamily="34" charset="0"/>
              </a:rPr>
              <a:t>奇数</a:t>
            </a:r>
            <a:r>
              <a:rPr lang="zh-CN" altLang="en-US" sz="2000">
                <a:latin typeface="Arial" panose="020B0604020202020204" pitchFamily="34" charset="0"/>
                <a:ea typeface="微软雅黑" panose="020B0503020204020204" pitchFamily="34" charset="-122"/>
                <a:cs typeface="Arial" panose="020B0604020202020204" pitchFamily="34" charset="0"/>
              </a:rPr>
              <a:t>个“</a:t>
            </a:r>
            <a:r>
              <a:rPr lang="en-US" altLang="zh-CN" sz="2000">
                <a:latin typeface="Arial" panose="020B0604020202020204" pitchFamily="34" charset="0"/>
                <a:ea typeface="微软雅黑" panose="020B0503020204020204" pitchFamily="34" charset="-122"/>
                <a:cs typeface="Arial" panose="020B0604020202020204" pitchFamily="34" charset="0"/>
              </a:rPr>
              <a:t>1”</a:t>
            </a:r>
            <a:r>
              <a:rPr lang="zh-CN" altLang="en-US" sz="2000">
                <a:latin typeface="Arial" panose="020B0604020202020204" pitchFamily="34" charset="0"/>
                <a:ea typeface="微软雅黑" panose="020B0503020204020204" pitchFamily="34" charset="-122"/>
                <a:cs typeface="Arial" panose="020B0604020202020204" pitchFamily="34" charset="0"/>
              </a:rPr>
              <a:t>，</a:t>
            </a:r>
            <a:r>
              <a:rPr lang="en-US" altLang="zh-CN" b="1">
                <a:solidFill>
                  <a:srgbClr val="0000CC"/>
                </a:solidFill>
                <a:latin typeface="Arial" panose="020B0604020202020204" pitchFamily="34" charset="0"/>
                <a:ea typeface="微软雅黑" panose="020B0503020204020204" pitchFamily="34" charset="-122"/>
                <a:cs typeface="Arial" panose="020B0604020202020204" pitchFamily="34" charset="0"/>
              </a:rPr>
              <a:t>∴</a:t>
            </a:r>
            <a:r>
              <a:rPr lang="zh-CN" altLang="en-US" sz="2000">
                <a:solidFill>
                  <a:srgbClr val="FF0000"/>
                </a:solidFill>
                <a:latin typeface="Arial" panose="020B0604020202020204" pitchFamily="34" charset="0"/>
                <a:ea typeface="微软雅黑" panose="020B0503020204020204" pitchFamily="34" charset="-122"/>
                <a:cs typeface="Arial" panose="020B0604020202020204" pitchFamily="34" charset="0"/>
              </a:rPr>
              <a:t>校验码组 </a:t>
            </a:r>
            <a:r>
              <a:rPr lang="en-US" altLang="zh-CN" sz="2000">
                <a:latin typeface="Arial" panose="020B0604020202020204" pitchFamily="34" charset="0"/>
                <a:ea typeface="微软雅黑" panose="020B0503020204020204" pitchFamily="34" charset="-122"/>
                <a:cs typeface="Arial" panose="020B0604020202020204" pitchFamily="34" charset="0"/>
              </a:rPr>
              <a:t>= </a:t>
            </a:r>
            <a:r>
              <a:rPr lang="en-US" altLang="zh-CN" sz="2000" b="1">
                <a:solidFill>
                  <a:srgbClr val="990099"/>
                </a:solidFill>
                <a:latin typeface="Arial" panose="020B0604020202020204" pitchFamily="34" charset="0"/>
                <a:ea typeface="微软雅黑" panose="020B0503020204020204" pitchFamily="34" charset="-122"/>
                <a:cs typeface="Arial" panose="020B0604020202020204" pitchFamily="34" charset="0"/>
              </a:rPr>
              <a:t>00000 </a:t>
            </a:r>
            <a:endParaRPr lang="zh-CN" altLang="en-US" sz="2000">
              <a:latin typeface="Arial" panose="020B0604020202020204" pitchFamily="34" charset="0"/>
              <a:ea typeface="微软雅黑" panose="020B0503020204020204" pitchFamily="34" charset="-122"/>
              <a:cs typeface="Arial" panose="020B0604020202020204" pitchFamily="34" charset="0"/>
            </a:endParaRPr>
          </a:p>
        </p:txBody>
      </p:sp>
      <p:pic>
        <p:nvPicPr>
          <p:cNvPr id="96291" name="Picture 35">
            <a:extLst>
              <a:ext uri="{FF2B5EF4-FFF2-40B4-BE49-F238E27FC236}">
                <a16:creationId xmlns:a16="http://schemas.microsoft.com/office/drawing/2014/main" id="{1EC50D1C-E58B-7C6E-73E1-77D846CA9A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913" y="1500188"/>
            <a:ext cx="8415337"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1000"/>
                                        <p:tgtEl>
                                          <p:spTgt spid="6"/>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96291"/>
                                        </p:tgtEl>
                                        <p:attrNameLst>
                                          <p:attrName>style.visibility</p:attrName>
                                        </p:attrNameLst>
                                      </p:cBhvr>
                                      <p:to>
                                        <p:strVal val="visible"/>
                                      </p:to>
                                    </p:set>
                                    <p:animEffect transition="in" filter="wipe(up)">
                                      <p:cBhvr>
                                        <p:cTn id="11" dur="2000"/>
                                        <p:tgtEl>
                                          <p:spTgt spid="9629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96292"/>
                                        </p:tgtEl>
                                        <p:attrNameLst>
                                          <p:attrName>style.visibility</p:attrName>
                                        </p:attrNameLst>
                                      </p:cBhvr>
                                      <p:to>
                                        <p:strVal val="visible"/>
                                      </p:to>
                                    </p:set>
                                    <p:animEffect transition="in" filter="wipe(up)">
                                      <p:cBhvr>
                                        <p:cTn id="16" dur="1000"/>
                                        <p:tgtEl>
                                          <p:spTgt spid="9629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wipe(up)">
                                      <p:cBhvr>
                                        <p:cTn id="21" dur="1000"/>
                                        <p:tgtEl>
                                          <p:spTgt spid="7">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left)">
                                      <p:cBhvr>
                                        <p:cTn id="26" dur="1000"/>
                                        <p:tgtEl>
                                          <p:spTgt spid="12"/>
                                        </p:tgtEl>
                                      </p:cBhvr>
                                    </p:animEffect>
                                  </p:childTnLst>
                                </p:cTn>
                              </p:par>
                            </p:childTnLst>
                          </p:cTn>
                        </p:par>
                        <p:par>
                          <p:cTn id="27" fill="hold" nodeType="afterGroup">
                            <p:stCondLst>
                              <p:cond delay="1000"/>
                            </p:stCondLst>
                            <p:childTnLst>
                              <p:par>
                                <p:cTn id="28" presetID="22" presetClass="entr" presetSubtype="8" fill="hold" nodeType="after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left)">
                                      <p:cBhvr>
                                        <p:cTn id="30"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P spid="7"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9" name="Picture 9">
            <a:extLst>
              <a:ext uri="{FF2B5EF4-FFF2-40B4-BE49-F238E27FC236}">
                <a16:creationId xmlns:a16="http://schemas.microsoft.com/office/drawing/2014/main" id="{6B276A3F-B299-66AC-DC12-2ECF3006A7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75" y="1035050"/>
            <a:ext cx="8372475" cy="159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90" name="Picture 10">
            <a:extLst>
              <a:ext uri="{FF2B5EF4-FFF2-40B4-BE49-F238E27FC236}">
                <a16:creationId xmlns:a16="http://schemas.microsoft.com/office/drawing/2014/main" id="{9CCFC6F1-3E40-B0AB-53B9-E9239B1A48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825" y="2587625"/>
            <a:ext cx="8408988" cy="157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91" name="Picture 11">
            <a:extLst>
              <a:ext uri="{FF2B5EF4-FFF2-40B4-BE49-F238E27FC236}">
                <a16:creationId xmlns:a16="http://schemas.microsoft.com/office/drawing/2014/main" id="{1C396541-009F-FEAB-7ADD-F0D365EACF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600" y="4213225"/>
            <a:ext cx="8374063"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92" name="Picture 12">
            <a:extLst>
              <a:ext uri="{FF2B5EF4-FFF2-40B4-BE49-F238E27FC236}">
                <a16:creationId xmlns:a16="http://schemas.microsoft.com/office/drawing/2014/main" id="{AD891D9C-C28B-1F2F-B3C4-F6DD8E654E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8763" y="5292725"/>
            <a:ext cx="8456612"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C019282B-EC92-9324-2677-DC66035B7225}"/>
              </a:ext>
            </a:extLst>
          </p:cNvPr>
          <p:cNvSpPr/>
          <p:nvPr/>
        </p:nvSpPr>
        <p:spPr>
          <a:xfrm>
            <a:off x="1000125" y="428625"/>
            <a:ext cx="3214688" cy="400050"/>
          </a:xfrm>
          <a:prstGeom prst="rect">
            <a:avLst/>
          </a:prstGeom>
          <a:solidFill>
            <a:schemeClr val="bg1">
              <a:lumMod val="95000"/>
            </a:schemeClr>
          </a:solidFill>
          <a:ln>
            <a:solidFill>
              <a:srgbClr val="6666FF"/>
            </a:solidFill>
          </a:ln>
          <a:effectLst>
            <a:outerShdw blurRad="63500" sx="102000" sy="102000" algn="ctr" rotWithShape="0">
              <a:prstClr val="black">
                <a:alpha val="40000"/>
              </a:prstClr>
            </a:outerShdw>
          </a:effectLst>
        </p:spPr>
        <p:txBody>
          <a:bodyPr>
            <a:spAutoFit/>
          </a:bodyPr>
          <a:lstStyle/>
          <a:p>
            <a:pPr>
              <a:defRPr/>
            </a:pPr>
            <a:r>
              <a:rPr lang="zh-CN" altLang="en-US" sz="2000" b="0" dirty="0">
                <a:solidFill>
                  <a:srgbClr val="000000"/>
                </a:solidFill>
                <a:latin typeface="Arial" pitchFamily="34" charset="0"/>
                <a:ea typeface="微软雅黑" pitchFamily="34" charset="-122"/>
                <a:cs typeface="Arial" pitchFamily="34" charset="0"/>
              </a:rPr>
              <a:t>  发送码组为</a:t>
            </a:r>
            <a:r>
              <a:rPr lang="en-US" altLang="zh-CN" sz="2000" dirty="0">
                <a:solidFill>
                  <a:srgbClr val="000000"/>
                </a:solidFill>
                <a:latin typeface="Arial" pitchFamily="34" charset="0"/>
                <a:ea typeface="微软雅黑" pitchFamily="34" charset="-122"/>
                <a:cs typeface="Arial" pitchFamily="34" charset="0"/>
              </a:rPr>
              <a:t>11001 11001</a:t>
            </a:r>
            <a:endParaRPr lang="zh-CN" altLang="en-US" sz="2000" dirty="0"/>
          </a:p>
        </p:txBody>
      </p:sp>
      <p:cxnSp>
        <p:nvCxnSpPr>
          <p:cNvPr id="9" name="直接连接符 8">
            <a:extLst>
              <a:ext uri="{FF2B5EF4-FFF2-40B4-BE49-F238E27FC236}">
                <a16:creationId xmlns:a16="http://schemas.microsoft.com/office/drawing/2014/main" id="{DE80C640-AA98-8376-9AB5-F7691F7C336E}"/>
              </a:ext>
            </a:extLst>
          </p:cNvPr>
          <p:cNvCxnSpPr/>
          <p:nvPr/>
        </p:nvCxnSpPr>
        <p:spPr bwMode="auto">
          <a:xfrm>
            <a:off x="5000625" y="1655763"/>
            <a:ext cx="714375" cy="1587"/>
          </a:xfrm>
          <a:prstGeom prst="line">
            <a:avLst/>
          </a:prstGeom>
          <a:solidFill>
            <a:schemeClr val="accent1"/>
          </a:solidFill>
          <a:ln w="28575" cap="flat" cmpd="sng" algn="ctr">
            <a:solidFill>
              <a:srgbClr val="FF0000"/>
            </a:solidFill>
            <a:prstDash val="solid"/>
            <a:miter lim="800000"/>
            <a:headEnd type="none" w="med" len="med"/>
            <a:tailEnd type="none" w="med" len="med"/>
          </a:ln>
          <a:effectLst>
            <a:outerShdw blurRad="50800" dist="38100" dir="5400000" algn="t" rotWithShape="0">
              <a:prstClr val="black">
                <a:alpha val="40000"/>
              </a:prstClr>
            </a:outerShdw>
          </a:effectLst>
        </p:spPr>
      </p:cxnSp>
      <p:sp>
        <p:nvSpPr>
          <p:cNvPr id="10" name="矩形 9">
            <a:extLst>
              <a:ext uri="{FF2B5EF4-FFF2-40B4-BE49-F238E27FC236}">
                <a16:creationId xmlns:a16="http://schemas.microsoft.com/office/drawing/2014/main" id="{A9595657-D650-7BB1-2B4C-65865A95CF8B}"/>
              </a:ext>
            </a:extLst>
          </p:cNvPr>
          <p:cNvSpPr/>
          <p:nvPr/>
        </p:nvSpPr>
        <p:spPr>
          <a:xfrm>
            <a:off x="571500" y="5387975"/>
            <a:ext cx="2135188" cy="503238"/>
          </a:xfrm>
          <a:prstGeom prst="rect">
            <a:avLst/>
          </a:prstGeom>
        </p:spPr>
        <p:txBody>
          <a:bodyPr>
            <a:spAutoFit/>
          </a:bodyPr>
          <a:lstStyle/>
          <a:p>
            <a:pPr marL="342900" indent="-342900" eaLnBrk="0" hangingPunct="0">
              <a:lnSpc>
                <a:spcPts val="3200"/>
              </a:lnSpc>
              <a:spcBef>
                <a:spcPct val="20000"/>
              </a:spcBef>
              <a:buClr>
                <a:srgbClr val="3333CC"/>
              </a:buClr>
              <a:buSzPct val="60000"/>
              <a:buFont typeface="Wingdings" pitchFamily="2" charset="2"/>
              <a:buChar char="u"/>
              <a:defRPr/>
            </a:pPr>
            <a:r>
              <a:rPr kumimoji="0" lang="zh-CN" altLang="en-US" sz="2400" kern="0" dirty="0">
                <a:solidFill>
                  <a:srgbClr val="003399"/>
                </a:solidFill>
                <a:latin typeface="微软雅黑" pitchFamily="34" charset="-122"/>
                <a:ea typeface="微软雅黑" pitchFamily="34" charset="-122"/>
              </a:rPr>
              <a:t>纠检能力</a:t>
            </a:r>
            <a:r>
              <a:rPr kumimoji="0" lang="zh-CN" altLang="en-US" sz="2400" b="0" kern="0" dirty="0">
                <a:solidFill>
                  <a:srgbClr val="003399"/>
                </a:solidFill>
                <a:latin typeface="+mn-ea"/>
                <a:ea typeface="+mn-ea"/>
              </a:rPr>
              <a:t>：</a:t>
            </a:r>
            <a:endParaRPr kumimoji="0" lang="zh-CN" altLang="en-US" sz="2400" b="0" kern="0" dirty="0">
              <a:solidFill>
                <a:srgbClr val="000000"/>
              </a:solidFill>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97289"/>
                                        </p:tgtEl>
                                        <p:attrNameLst>
                                          <p:attrName>style.visibility</p:attrName>
                                        </p:attrNameLst>
                                      </p:cBhvr>
                                      <p:to>
                                        <p:strVal val="visible"/>
                                      </p:to>
                                    </p:set>
                                    <p:animEffect transition="in" filter="wipe(up)">
                                      <p:cBhvr>
                                        <p:cTn id="7" dur="1000"/>
                                        <p:tgtEl>
                                          <p:spTgt spid="97289"/>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2000"/>
                                        <p:tgtEl>
                                          <p:spTgt spid="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97290"/>
                                        </p:tgtEl>
                                        <p:attrNameLst>
                                          <p:attrName>style.visibility</p:attrName>
                                        </p:attrNameLst>
                                      </p:cBhvr>
                                      <p:to>
                                        <p:strVal val="visible"/>
                                      </p:to>
                                    </p:set>
                                    <p:animEffect transition="in" filter="wipe(up)">
                                      <p:cBhvr>
                                        <p:cTn id="16" dur="1000"/>
                                        <p:tgtEl>
                                          <p:spTgt spid="9729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97291"/>
                                        </p:tgtEl>
                                        <p:attrNameLst>
                                          <p:attrName>style.visibility</p:attrName>
                                        </p:attrNameLst>
                                      </p:cBhvr>
                                      <p:to>
                                        <p:strVal val="visible"/>
                                      </p:to>
                                    </p:set>
                                    <p:animEffect transition="in" filter="wipe(up)">
                                      <p:cBhvr>
                                        <p:cTn id="21" dur="1000"/>
                                        <p:tgtEl>
                                          <p:spTgt spid="9729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up)">
                                      <p:cBhvr>
                                        <p:cTn id="26" dur="1000"/>
                                        <p:tgtEl>
                                          <p:spTgt spid="1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97292"/>
                                        </p:tgtEl>
                                        <p:attrNameLst>
                                          <p:attrName>style.visibility</p:attrName>
                                        </p:attrNameLst>
                                      </p:cBhvr>
                                      <p:to>
                                        <p:strVal val="visible"/>
                                      </p:to>
                                    </p:set>
                                    <p:animEffect transition="in" filter="wipe(up)">
                                      <p:cBhvr>
                                        <p:cTn id="31" dur="1000"/>
                                        <p:tgtEl>
                                          <p:spTgt spid="97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6">
            <a:extLst>
              <a:ext uri="{FF2B5EF4-FFF2-40B4-BE49-F238E27FC236}">
                <a16:creationId xmlns:a16="http://schemas.microsoft.com/office/drawing/2014/main" id="{CD50B8C9-4A92-2C79-4ED2-2D730A45A509}"/>
              </a:ext>
            </a:extLst>
          </p:cNvPr>
          <p:cNvSpPr txBox="1">
            <a:spLocks noChangeArrowheads="1"/>
          </p:cNvSpPr>
          <p:nvPr/>
        </p:nvSpPr>
        <p:spPr bwMode="gray">
          <a:xfrm>
            <a:off x="2071688" y="3292475"/>
            <a:ext cx="5857875" cy="769938"/>
          </a:xfrm>
          <a:prstGeom prst="rect">
            <a:avLst/>
          </a:prstGeom>
          <a:noFill/>
          <a:ln w="9525">
            <a:noFill/>
            <a:miter lim="800000"/>
            <a:headEnd/>
            <a:tailEnd/>
          </a:ln>
          <a:effectLst>
            <a:outerShdw blurRad="50800" dist="38100" dir="2700000" algn="tl" rotWithShape="0">
              <a:prstClr val="black">
                <a:alpha val="40000"/>
              </a:prstClr>
            </a:outerShdw>
          </a:effectLst>
        </p:spPr>
        <p:txBody>
          <a:bodyPr>
            <a:spAutoFit/>
          </a:bodyPr>
          <a:lstStyle/>
          <a:p>
            <a:pPr>
              <a:defRPr/>
            </a:pPr>
            <a:r>
              <a:rPr lang="zh-CN" altLang="en-US" sz="4400" b="0" dirty="0">
                <a:solidFill>
                  <a:schemeClr val="tx1">
                    <a:lumMod val="65000"/>
                    <a:lumOff val="35000"/>
                  </a:schemeClr>
                </a:solidFill>
                <a:latin typeface="Arial" pitchFamily="34" charset="0"/>
                <a:cs typeface="Arial" pitchFamily="34" charset="0"/>
              </a:rPr>
              <a:t>（</a:t>
            </a:r>
            <a:r>
              <a:rPr lang="en-US" altLang="zh-CN" sz="4400" b="0" dirty="0">
                <a:solidFill>
                  <a:schemeClr val="tx1">
                    <a:lumMod val="65000"/>
                    <a:lumOff val="35000"/>
                  </a:schemeClr>
                </a:solidFill>
                <a:latin typeface="Arial" pitchFamily="34" charset="0"/>
                <a:cs typeface="Arial" pitchFamily="34" charset="0"/>
              </a:rPr>
              <a:t>n, k</a:t>
            </a:r>
            <a:r>
              <a:rPr lang="zh-CN" altLang="en-US" sz="4400" b="0" dirty="0">
                <a:solidFill>
                  <a:schemeClr val="tx1">
                    <a:lumMod val="65000"/>
                    <a:lumOff val="35000"/>
                  </a:schemeClr>
                </a:solidFill>
                <a:latin typeface="Arial" pitchFamily="34" charset="0"/>
                <a:cs typeface="Arial" pitchFamily="34" charset="0"/>
              </a:rPr>
              <a:t>）</a:t>
            </a:r>
            <a:r>
              <a:rPr lang="zh-CN" altLang="en-US" sz="4400" dirty="0">
                <a:solidFill>
                  <a:srgbClr val="003399"/>
                </a:solidFill>
                <a:latin typeface="微软雅黑" pitchFamily="34" charset="-122"/>
                <a:ea typeface="微软雅黑" pitchFamily="34" charset="-122"/>
              </a:rPr>
              <a:t>线性分组码</a:t>
            </a:r>
          </a:p>
        </p:txBody>
      </p:sp>
      <p:sp>
        <p:nvSpPr>
          <p:cNvPr id="13" name="矩形 4">
            <a:extLst>
              <a:ext uri="{FF2B5EF4-FFF2-40B4-BE49-F238E27FC236}">
                <a16:creationId xmlns:a16="http://schemas.microsoft.com/office/drawing/2014/main" id="{C91B8F29-C493-B725-0504-EBAAB4DA08FD}"/>
              </a:ext>
            </a:extLst>
          </p:cNvPr>
          <p:cNvSpPr>
            <a:spLocks noChangeArrowheads="1"/>
          </p:cNvSpPr>
          <p:nvPr/>
        </p:nvSpPr>
        <p:spPr bwMode="auto">
          <a:xfrm>
            <a:off x="642938" y="2214563"/>
            <a:ext cx="1927225" cy="708025"/>
          </a:xfrm>
          <a:prstGeom prst="rect">
            <a:avLst/>
          </a:prstGeom>
          <a:noFill/>
          <a:ln w="9525">
            <a:noFill/>
            <a:miter lim="800000"/>
            <a:headEnd/>
            <a:tailEnd/>
          </a:ln>
        </p:spPr>
        <p:txBody>
          <a:bodyPr wrap="none">
            <a:spAutoFit/>
          </a:bodyPr>
          <a:lstStyle/>
          <a:p>
            <a:pPr eaLnBrk="0" hangingPunct="0">
              <a:defRPr/>
            </a:pPr>
            <a:r>
              <a:rPr lang="en-US" altLang="en-US" sz="4000" u="sng" dirty="0">
                <a:solidFill>
                  <a:srgbClr val="800080"/>
                </a:solidFill>
                <a:effectLst>
                  <a:outerShdw blurRad="38100" dist="38100" dir="2700000" algn="tl">
                    <a:srgbClr val="000000">
                      <a:alpha val="43137"/>
                    </a:srgbClr>
                  </a:outerShdw>
                </a:effectLst>
                <a:latin typeface="+mn-ea"/>
                <a:ea typeface="+mn-ea"/>
              </a:rPr>
              <a:t>§</a:t>
            </a:r>
            <a:r>
              <a:rPr lang="en-US" altLang="en-US" sz="4000" u="sng" dirty="0">
                <a:solidFill>
                  <a:srgbClr val="80008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11</a:t>
            </a:r>
            <a:r>
              <a:rPr lang="en-US" altLang="zh-CN" sz="4000" u="sng" dirty="0">
                <a:solidFill>
                  <a:srgbClr val="80008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.5</a:t>
            </a:r>
            <a:r>
              <a:rPr lang="en-US" altLang="zh-CN" sz="4000" u="sng" dirty="0">
                <a:solidFill>
                  <a:srgbClr val="800080"/>
                </a:solidFill>
                <a:effectLst>
                  <a:outerShdw blurRad="38100" dist="38100" dir="2700000" algn="tl">
                    <a:srgbClr val="000000">
                      <a:alpha val="43137"/>
                    </a:srgbClr>
                  </a:outerShdw>
                </a:effectLst>
                <a:ea typeface="微软雅黑" pitchFamily="34" charset="-122"/>
                <a:cs typeface="Arial" charset="0"/>
              </a:rPr>
              <a:t> </a:t>
            </a:r>
            <a:endParaRPr lang="zh-CN" altLang="en-US" sz="4000" u="sng" dirty="0">
              <a:solidFill>
                <a:srgbClr val="80008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476E1B82-E128-A2D1-564B-58DC575E462B}"/>
              </a:ext>
            </a:extLst>
          </p:cNvPr>
          <p:cNvSpPr txBox="1">
            <a:spLocks noChangeArrowheads="1"/>
          </p:cNvSpPr>
          <p:nvPr/>
        </p:nvSpPr>
        <p:spPr>
          <a:xfrm>
            <a:off x="857250" y="1214438"/>
            <a:ext cx="7358063" cy="1000125"/>
          </a:xfrm>
          <a:prstGeom prst="rect">
            <a:avLst/>
          </a:prstGeom>
          <a:effectLst/>
        </p:spPr>
        <p:txBody>
          <a:bodyPr/>
          <a:lstStyle/>
          <a:p>
            <a:pPr marL="228600" indent="-228600">
              <a:lnSpc>
                <a:spcPct val="150000"/>
              </a:lnSpc>
              <a:spcBef>
                <a:spcPct val="20000"/>
              </a:spcBef>
              <a:buClr>
                <a:schemeClr val="folHlink"/>
              </a:buClr>
              <a:buSzPct val="65000"/>
              <a:buFont typeface="Wingdings" pitchFamily="2" charset="2"/>
              <a:buChar char="l"/>
              <a:defRPr/>
            </a:pPr>
            <a:r>
              <a:rPr kumimoji="0" lang="zh-CN" altLang="en-US" sz="2000" kern="0" dirty="0">
                <a:solidFill>
                  <a:srgbClr val="003399"/>
                </a:solidFill>
                <a:latin typeface="微软雅黑" pitchFamily="34" charset="-122"/>
                <a:ea typeface="微软雅黑" pitchFamily="34" charset="-122"/>
              </a:rPr>
              <a:t>线性码</a:t>
            </a:r>
            <a:r>
              <a:rPr kumimoji="0" lang="zh-CN" altLang="en-US" sz="2000" b="0" kern="0" dirty="0">
                <a:solidFill>
                  <a:srgbClr val="003399"/>
                </a:solidFill>
                <a:latin typeface="+mn-ea"/>
                <a:ea typeface="+mn-ea"/>
              </a:rPr>
              <a:t>：</a:t>
            </a:r>
            <a:r>
              <a:rPr kumimoji="0" lang="zh-CN" altLang="en-US" sz="2000" b="0" kern="0" dirty="0">
                <a:solidFill>
                  <a:schemeClr val="tx1"/>
                </a:solidFill>
                <a:latin typeface="微软雅黑" pitchFamily="34" charset="-122"/>
                <a:ea typeface="微软雅黑" pitchFamily="34" charset="-122"/>
              </a:rPr>
              <a:t>按照一组</a:t>
            </a:r>
            <a:r>
              <a:rPr kumimoji="0" lang="zh-CN" altLang="en-US" sz="2400" b="0" kern="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线性</a:t>
            </a:r>
            <a:r>
              <a:rPr kumimoji="0" lang="zh-CN" altLang="en-US" sz="2000" b="0" kern="0" dirty="0">
                <a:solidFill>
                  <a:schemeClr val="tx1"/>
                </a:solidFill>
                <a:latin typeface="微软雅黑" pitchFamily="34" charset="-122"/>
                <a:ea typeface="微软雅黑" pitchFamily="34" charset="-122"/>
              </a:rPr>
              <a:t>方程构成的</a:t>
            </a:r>
            <a:r>
              <a:rPr kumimoji="0" lang="zh-CN" altLang="en-US" sz="2000" kern="0" dirty="0">
                <a:solidFill>
                  <a:srgbClr val="003399"/>
                </a:solidFill>
                <a:latin typeface="微软雅黑" pitchFamily="34" charset="-122"/>
                <a:ea typeface="微软雅黑" pitchFamily="34" charset="-122"/>
              </a:rPr>
              <a:t>代数码</a:t>
            </a:r>
            <a:r>
              <a:rPr kumimoji="0" lang="zh-CN" altLang="en-US" sz="2000" b="0" kern="0" dirty="0">
                <a:solidFill>
                  <a:schemeClr val="tx1"/>
                </a:solidFill>
                <a:latin typeface="微软雅黑" pitchFamily="34" charset="-122"/>
                <a:ea typeface="微软雅黑" pitchFamily="34" charset="-122"/>
              </a:rPr>
              <a:t>。</a:t>
            </a:r>
            <a:endParaRPr kumimoji="0" lang="en-US" altLang="zh-CN" sz="2000" b="0" kern="0" dirty="0">
              <a:solidFill>
                <a:schemeClr val="tx1"/>
              </a:solidFill>
              <a:latin typeface="微软雅黑" pitchFamily="34" charset="-122"/>
              <a:ea typeface="微软雅黑" pitchFamily="34" charset="-122"/>
            </a:endParaRPr>
          </a:p>
          <a:p>
            <a:pPr marL="228600" indent="-228600">
              <a:lnSpc>
                <a:spcPct val="150000"/>
              </a:lnSpc>
              <a:spcBef>
                <a:spcPct val="20000"/>
              </a:spcBef>
              <a:buClr>
                <a:schemeClr val="folHlink"/>
              </a:buClr>
              <a:buSzPct val="65000"/>
              <a:defRPr/>
            </a:pPr>
            <a:r>
              <a:rPr kumimoji="0" lang="en-US" altLang="zh-CN" sz="2000" b="0" kern="0" dirty="0">
                <a:solidFill>
                  <a:schemeClr val="tx1"/>
                </a:solidFill>
                <a:latin typeface="微软雅黑" pitchFamily="34" charset="-122"/>
                <a:ea typeface="微软雅黑" pitchFamily="34" charset="-122"/>
              </a:rPr>
              <a:t>                 </a:t>
            </a:r>
            <a:r>
              <a:rPr kumimoji="0" lang="zh-CN" altLang="en-US" sz="2000" b="0" kern="0" dirty="0">
                <a:solidFill>
                  <a:schemeClr val="tx1"/>
                </a:solidFill>
                <a:latin typeface="微软雅黑" pitchFamily="34" charset="-122"/>
                <a:ea typeface="微软雅黑" pitchFamily="34" charset="-122"/>
              </a:rPr>
              <a:t>即</a:t>
            </a:r>
            <a:r>
              <a:rPr lang="zh-CN" altLang="en-US" sz="2000" b="0" dirty="0">
                <a:solidFill>
                  <a:schemeClr val="tx1"/>
                </a:solidFill>
                <a:latin typeface="微软雅黑" pitchFamily="34" charset="-122"/>
                <a:ea typeface="微软雅黑" pitchFamily="34" charset="-122"/>
              </a:rPr>
              <a:t>每个码字的监督码元是信息码元的线性组合</a:t>
            </a:r>
            <a:r>
              <a:rPr kumimoji="0" lang="zh-CN" altLang="en-US" sz="2000" b="0" kern="0" dirty="0">
                <a:solidFill>
                  <a:schemeClr val="tx1"/>
                </a:solidFill>
                <a:latin typeface="微软雅黑" pitchFamily="34" charset="-122"/>
                <a:ea typeface="微软雅黑" pitchFamily="34" charset="-122"/>
              </a:rPr>
              <a:t>。</a:t>
            </a:r>
          </a:p>
        </p:txBody>
      </p:sp>
      <p:sp>
        <p:nvSpPr>
          <p:cNvPr id="9" name="矩形 8">
            <a:extLst>
              <a:ext uri="{FF2B5EF4-FFF2-40B4-BE49-F238E27FC236}">
                <a16:creationId xmlns:a16="http://schemas.microsoft.com/office/drawing/2014/main" id="{C1253139-ED3B-5EE0-F1C8-8D4E9A607BA0}"/>
              </a:ext>
            </a:extLst>
          </p:cNvPr>
          <p:cNvSpPr/>
          <p:nvPr/>
        </p:nvSpPr>
        <p:spPr>
          <a:xfrm>
            <a:off x="519113" y="500063"/>
            <a:ext cx="1909762" cy="514350"/>
          </a:xfrm>
          <a:prstGeom prst="rect">
            <a:avLst/>
          </a:prstGeom>
        </p:spPr>
        <p:txBody>
          <a:bodyPr wrap="none">
            <a:spAutoFit/>
          </a:bodyPr>
          <a:lstStyle/>
          <a:p>
            <a:pPr marL="285750" indent="-285750">
              <a:lnSpc>
                <a:spcPts val="3500"/>
              </a:lnSpc>
              <a:spcBef>
                <a:spcPct val="20000"/>
              </a:spcBef>
              <a:buClr>
                <a:srgbClr val="FF0000"/>
              </a:buClr>
              <a:buSzPct val="81000"/>
              <a:buFont typeface="Wingdings" pitchFamily="2" charset="2"/>
              <a:buChar char="n"/>
              <a:defRPr/>
            </a:pPr>
            <a:r>
              <a:rPr kumimoji="0" lang="zh-CN" altLang="en-US" sz="2800" kern="0" dirty="0">
                <a:solidFill>
                  <a:srgbClr val="000000"/>
                </a:solidFill>
                <a:latin typeface="微软雅黑" pitchFamily="34" charset="-122"/>
                <a:ea typeface="微软雅黑" pitchFamily="34" charset="-122"/>
              </a:rPr>
              <a:t>基本概念</a:t>
            </a:r>
          </a:p>
        </p:txBody>
      </p:sp>
      <p:sp>
        <p:nvSpPr>
          <p:cNvPr id="11" name="矩形 10">
            <a:extLst>
              <a:ext uri="{FF2B5EF4-FFF2-40B4-BE49-F238E27FC236}">
                <a16:creationId xmlns:a16="http://schemas.microsoft.com/office/drawing/2014/main" id="{9DDBB189-02AE-81A6-2B94-3693153B22E3}"/>
              </a:ext>
            </a:extLst>
          </p:cNvPr>
          <p:cNvSpPr/>
          <p:nvPr/>
        </p:nvSpPr>
        <p:spPr>
          <a:xfrm>
            <a:off x="841375" y="2446338"/>
            <a:ext cx="7072313" cy="496887"/>
          </a:xfrm>
          <a:prstGeom prst="rect">
            <a:avLst/>
          </a:prstGeom>
          <a:effectLst/>
        </p:spPr>
        <p:txBody>
          <a:bodyPr>
            <a:spAutoFit/>
          </a:bodyPr>
          <a:lstStyle/>
          <a:p>
            <a:pPr marL="228600" indent="-228600">
              <a:lnSpc>
                <a:spcPct val="150000"/>
              </a:lnSpc>
              <a:spcBef>
                <a:spcPct val="20000"/>
              </a:spcBef>
              <a:buClr>
                <a:srgbClr val="3333CC"/>
              </a:buClr>
              <a:buSzPct val="65000"/>
              <a:buFont typeface="Wingdings" pitchFamily="2" charset="2"/>
              <a:buChar char="l"/>
              <a:defRPr/>
            </a:pPr>
            <a:r>
              <a:rPr kumimoji="0" lang="zh-CN" altLang="en-US" sz="2000" kern="0" dirty="0">
                <a:solidFill>
                  <a:srgbClr val="003399"/>
                </a:solidFill>
                <a:latin typeface="微软雅黑" pitchFamily="34" charset="-122"/>
                <a:ea typeface="微软雅黑" pitchFamily="34" charset="-122"/>
              </a:rPr>
              <a:t>代数码</a:t>
            </a:r>
            <a:r>
              <a:rPr kumimoji="0" lang="zh-CN" altLang="en-US" sz="2000" b="0" kern="0" dirty="0">
                <a:solidFill>
                  <a:srgbClr val="003399"/>
                </a:solidFill>
                <a:latin typeface="+mn-ea"/>
              </a:rPr>
              <a:t>：</a:t>
            </a:r>
            <a:r>
              <a:rPr kumimoji="0" lang="zh-CN" altLang="en-US" sz="2000" b="0" kern="0" dirty="0">
                <a:solidFill>
                  <a:srgbClr val="000000"/>
                </a:solidFill>
                <a:latin typeface="微软雅黑" pitchFamily="34" charset="-122"/>
                <a:ea typeface="微软雅黑" pitchFamily="34" charset="-122"/>
              </a:rPr>
              <a:t>建立在代数学基础上的编码。</a:t>
            </a:r>
          </a:p>
        </p:txBody>
      </p:sp>
      <p:pic>
        <p:nvPicPr>
          <p:cNvPr id="10250" name="Picture 10">
            <a:extLst>
              <a:ext uri="{FF2B5EF4-FFF2-40B4-BE49-F238E27FC236}">
                <a16:creationId xmlns:a16="http://schemas.microsoft.com/office/drawing/2014/main" id="{0057C9CA-2250-55BA-4990-12DEF6DF33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813" y="4786313"/>
            <a:ext cx="7500937"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1" name="Picture 11">
            <a:extLst>
              <a:ext uri="{FF2B5EF4-FFF2-40B4-BE49-F238E27FC236}">
                <a16:creationId xmlns:a16="http://schemas.microsoft.com/office/drawing/2014/main" id="{E642D407-0D84-5489-6A91-0AEFDC26DB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6100" y="5500688"/>
            <a:ext cx="5072063"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43" name="Picture 9">
            <a:extLst>
              <a:ext uri="{FF2B5EF4-FFF2-40B4-BE49-F238E27FC236}">
                <a16:creationId xmlns:a16="http://schemas.microsoft.com/office/drawing/2014/main" id="{145B95C0-3196-50C7-AFE0-F3E608A9EF5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2800" y="3071813"/>
            <a:ext cx="7286625" cy="66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44" name="Picture 10">
            <a:extLst>
              <a:ext uri="{FF2B5EF4-FFF2-40B4-BE49-F238E27FC236}">
                <a16:creationId xmlns:a16="http://schemas.microsoft.com/office/drawing/2014/main" id="{A8F64F4B-0957-AE70-2B5B-126CDF39FDC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2800" y="3786188"/>
            <a:ext cx="7372350"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10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wipe(up)">
                                      <p:cBhvr>
                                        <p:cTn id="12" dur="1000"/>
                                        <p:tgtEl>
                                          <p:spTgt spid="2">
                                            <p:txEl>
                                              <p:pRg st="0" end="0"/>
                                            </p:txEl>
                                          </p:spTgt>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2">
                                            <p:txEl>
                                              <p:pRg st="1" end="1"/>
                                            </p:txEl>
                                          </p:spTgt>
                                        </p:tgtEl>
                                        <p:attrNameLst>
                                          <p:attrName>style.visibility</p:attrName>
                                        </p:attrNameLst>
                                      </p:cBhvr>
                                      <p:to>
                                        <p:strVal val="visible"/>
                                      </p:to>
                                    </p:set>
                                    <p:animEffect transition="in" filter="wipe(up)">
                                      <p:cBhvr>
                                        <p:cTn id="16" dur="1000"/>
                                        <p:tgtEl>
                                          <p:spTgt spid="2">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up)">
                                      <p:cBhvr>
                                        <p:cTn id="21" dur="1000"/>
                                        <p:tgtEl>
                                          <p:spTgt spid="1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10250"/>
                                        </p:tgtEl>
                                        <p:attrNameLst>
                                          <p:attrName>style.visibility</p:attrName>
                                        </p:attrNameLst>
                                      </p:cBhvr>
                                      <p:to>
                                        <p:strVal val="visible"/>
                                      </p:to>
                                    </p:set>
                                    <p:animEffect transition="in" filter="wipe(up)">
                                      <p:cBhvr>
                                        <p:cTn id="26" dur="1000"/>
                                        <p:tgtEl>
                                          <p:spTgt spid="1025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10251"/>
                                        </p:tgtEl>
                                        <p:attrNameLst>
                                          <p:attrName>style.visibility</p:attrName>
                                        </p:attrNameLst>
                                      </p:cBhvr>
                                      <p:to>
                                        <p:strVal val="visible"/>
                                      </p:to>
                                    </p:set>
                                    <p:animEffect transition="in" filter="wipe(up)">
                                      <p:cBhvr>
                                        <p:cTn id="31" dur="1000"/>
                                        <p:tgtEl>
                                          <p:spTgt spid="10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a:extLst>
              <a:ext uri="{FF2B5EF4-FFF2-40B4-BE49-F238E27FC236}">
                <a16:creationId xmlns:a16="http://schemas.microsoft.com/office/drawing/2014/main" id="{1DD6FF7C-58DB-0727-CC0F-5BDACBF83308}"/>
              </a:ext>
            </a:extLst>
          </p:cNvPr>
          <p:cNvSpPr>
            <a:spLocks noChangeArrowheads="1"/>
          </p:cNvSpPr>
          <p:nvPr/>
        </p:nvSpPr>
        <p:spPr bwMode="auto">
          <a:xfrm>
            <a:off x="0" y="0"/>
            <a:ext cx="9144000" cy="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aphicFrame>
        <p:nvGraphicFramePr>
          <p:cNvPr id="13314" name="Object 2">
            <a:extLst>
              <a:ext uri="{FF2B5EF4-FFF2-40B4-BE49-F238E27FC236}">
                <a16:creationId xmlns:a16="http://schemas.microsoft.com/office/drawing/2014/main" id="{1F2EAFE3-073E-AE3F-E4B0-8B2A52EF142B}"/>
              </a:ext>
            </a:extLst>
          </p:cNvPr>
          <p:cNvGraphicFramePr>
            <a:graphicFrameLocks noChangeAspect="1"/>
          </p:cNvGraphicFramePr>
          <p:nvPr/>
        </p:nvGraphicFramePr>
        <p:xfrm>
          <a:off x="2643188" y="1357313"/>
          <a:ext cx="3440112" cy="523875"/>
        </p:xfrm>
        <a:graphic>
          <a:graphicData uri="http://schemas.openxmlformats.org/presentationml/2006/ole">
            <mc:AlternateContent xmlns:mc="http://schemas.openxmlformats.org/markup-compatibility/2006">
              <mc:Choice xmlns:v="urn:schemas-microsoft-com:vml" Requires="v">
                <p:oleObj name="Equation" r:id="rId2" imgW="1498320" imgH="228600" progId="Equation.DSMT4">
                  <p:embed/>
                </p:oleObj>
              </mc:Choice>
              <mc:Fallback>
                <p:oleObj name="Equation" r:id="rId2" imgW="1498320" imgH="2286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3188" y="1357313"/>
                        <a:ext cx="3440112" cy="523875"/>
                      </a:xfrm>
                      <a:prstGeom prst="rect">
                        <a:avLst/>
                      </a:prstGeom>
                      <a:noFill/>
                      <a:ln w="38100" cmpd="dbl">
                        <a:solidFill>
                          <a:srgbClr val="969696"/>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20" name="矩形 4">
            <a:extLst>
              <a:ext uri="{FF2B5EF4-FFF2-40B4-BE49-F238E27FC236}">
                <a16:creationId xmlns:a16="http://schemas.microsoft.com/office/drawing/2014/main" id="{9C928E54-78C9-78F0-6968-CA988F1CEDC8}"/>
              </a:ext>
            </a:extLst>
          </p:cNvPr>
          <p:cNvSpPr>
            <a:spLocks noChangeArrowheads="1"/>
          </p:cNvSpPr>
          <p:nvPr/>
        </p:nvSpPr>
        <p:spPr bwMode="auto">
          <a:xfrm>
            <a:off x="6215063" y="1457325"/>
            <a:ext cx="2286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en-US" altLang="zh-CN" sz="2000">
                <a:solidFill>
                  <a:srgbClr val="FF0000"/>
                </a:solidFill>
                <a:latin typeface="微软雅黑" panose="020B0503020204020204" pitchFamily="34" charset="-122"/>
                <a:ea typeface="微软雅黑" panose="020B0503020204020204" pitchFamily="34" charset="-122"/>
              </a:rPr>
              <a:t>---</a:t>
            </a:r>
            <a:r>
              <a:rPr lang="zh-CN" altLang="en-US" sz="2000">
                <a:solidFill>
                  <a:srgbClr val="FF0000"/>
                </a:solidFill>
                <a:latin typeface="微软雅黑" panose="020B0503020204020204" pitchFamily="34" charset="-122"/>
                <a:ea typeface="微软雅黑" panose="020B0503020204020204" pitchFamily="34" charset="-122"/>
              </a:rPr>
              <a:t>监督关系式</a:t>
            </a:r>
          </a:p>
        </p:txBody>
      </p:sp>
      <p:sp>
        <p:nvSpPr>
          <p:cNvPr id="6" name="矩形 5">
            <a:extLst>
              <a:ext uri="{FF2B5EF4-FFF2-40B4-BE49-F238E27FC236}">
                <a16:creationId xmlns:a16="http://schemas.microsoft.com/office/drawing/2014/main" id="{10802C6A-0808-731B-8AE8-F42C9009757D}"/>
              </a:ext>
            </a:extLst>
          </p:cNvPr>
          <p:cNvSpPr>
            <a:spLocks noChangeArrowheads="1"/>
          </p:cNvSpPr>
          <p:nvPr/>
        </p:nvSpPr>
        <p:spPr bwMode="auto">
          <a:xfrm>
            <a:off x="785813" y="2243138"/>
            <a:ext cx="6416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zh-CN" altLang="en-US" sz="2000" b="0">
                <a:solidFill>
                  <a:schemeClr val="tx1"/>
                </a:solidFill>
                <a:latin typeface="微软雅黑" panose="020B0503020204020204" pitchFamily="34" charset="-122"/>
                <a:ea typeface="微软雅黑" panose="020B0503020204020204" pitchFamily="34" charset="-122"/>
                <a:cs typeface="Arial" panose="020B0604020202020204" pitchFamily="34" charset="0"/>
              </a:rPr>
              <a:t>若 </a:t>
            </a:r>
            <a:r>
              <a:rPr lang="en-US" altLang="zh-CN" sz="2000">
                <a:solidFill>
                  <a:schemeClr val="tx1"/>
                </a:solidFill>
                <a:latin typeface="微软雅黑" panose="020B0503020204020204" pitchFamily="34" charset="-122"/>
                <a:ea typeface="微软雅黑" panose="020B0503020204020204" pitchFamily="34" charset="-122"/>
                <a:cs typeface="Arial" panose="020B0604020202020204" pitchFamily="34" charset="0"/>
              </a:rPr>
              <a:t>S=0</a:t>
            </a:r>
            <a:r>
              <a:rPr lang="zh-CN" altLang="en-US" sz="2000" b="0">
                <a:solidFill>
                  <a:schemeClr val="tx1"/>
                </a:solidFill>
                <a:latin typeface="微软雅黑" panose="020B0503020204020204" pitchFamily="34" charset="-122"/>
                <a:ea typeface="微软雅黑" panose="020B0503020204020204" pitchFamily="34" charset="-122"/>
                <a:cs typeface="Arial" panose="020B0604020202020204" pitchFamily="34" charset="0"/>
              </a:rPr>
              <a:t>，认为</a:t>
            </a:r>
            <a:r>
              <a:rPr lang="zh-CN" altLang="en-US" sz="2000">
                <a:solidFill>
                  <a:schemeClr val="tx1"/>
                </a:solidFill>
                <a:latin typeface="微软雅黑" panose="020B0503020204020204" pitchFamily="34" charset="-122"/>
                <a:ea typeface="微软雅黑" panose="020B0503020204020204" pitchFamily="34" charset="-122"/>
                <a:cs typeface="Arial" panose="020B0604020202020204" pitchFamily="34" charset="0"/>
              </a:rPr>
              <a:t>无错</a:t>
            </a:r>
            <a:r>
              <a:rPr lang="zh-CN" altLang="en-US" sz="2000" b="0">
                <a:solidFill>
                  <a:schemeClr val="tx1"/>
                </a:solidFill>
                <a:latin typeface="微软雅黑" panose="020B0503020204020204" pitchFamily="34" charset="-122"/>
                <a:ea typeface="微软雅黑" panose="020B0503020204020204" pitchFamily="34" charset="-122"/>
                <a:cs typeface="Arial" panose="020B0604020202020204" pitchFamily="34" charset="0"/>
              </a:rPr>
              <a:t>（偶监督时）；若 </a:t>
            </a:r>
            <a:r>
              <a:rPr lang="en-US" altLang="zh-CN" sz="2000">
                <a:solidFill>
                  <a:schemeClr val="tx1"/>
                </a:solidFill>
                <a:latin typeface="微软雅黑" panose="020B0503020204020204" pitchFamily="34" charset="-122"/>
                <a:ea typeface="微软雅黑" panose="020B0503020204020204" pitchFamily="34" charset="-122"/>
                <a:cs typeface="Arial" panose="020B0604020202020204" pitchFamily="34" charset="0"/>
              </a:rPr>
              <a:t>S=1</a:t>
            </a:r>
            <a:r>
              <a:rPr lang="zh-CN" altLang="en-US" sz="2000" b="0">
                <a:solidFill>
                  <a:schemeClr val="tx1"/>
                </a:solidFill>
                <a:latin typeface="微软雅黑" panose="020B0503020204020204" pitchFamily="34" charset="-122"/>
                <a:ea typeface="微软雅黑" panose="020B0503020204020204" pitchFamily="34" charset="-122"/>
                <a:cs typeface="Arial" panose="020B0604020202020204" pitchFamily="34" charset="0"/>
              </a:rPr>
              <a:t>，认为</a:t>
            </a:r>
            <a:r>
              <a:rPr lang="zh-CN" altLang="en-US" sz="2000">
                <a:solidFill>
                  <a:schemeClr val="tx1"/>
                </a:solidFill>
                <a:latin typeface="微软雅黑" panose="020B0503020204020204" pitchFamily="34" charset="-122"/>
                <a:ea typeface="微软雅黑" panose="020B0503020204020204" pitchFamily="34" charset="-122"/>
                <a:cs typeface="Arial" panose="020B0604020202020204" pitchFamily="34" charset="0"/>
              </a:rPr>
              <a:t>有错 </a:t>
            </a:r>
            <a:r>
              <a:rPr lang="zh-CN" altLang="en-US" sz="2000" b="0">
                <a:solidFill>
                  <a:schemeClr val="tx1"/>
                </a:solidFill>
                <a:latin typeface="微软雅黑" panose="020B0503020204020204" pitchFamily="34" charset="-122"/>
                <a:ea typeface="微软雅黑" panose="020B0503020204020204" pitchFamily="34" charset="-122"/>
                <a:cs typeface="Arial" panose="020B0604020202020204" pitchFamily="34" charset="0"/>
              </a:rPr>
              <a:t>。</a:t>
            </a:r>
          </a:p>
        </p:txBody>
      </p:sp>
      <p:sp>
        <p:nvSpPr>
          <p:cNvPr id="8" name="矩形 7">
            <a:extLst>
              <a:ext uri="{FF2B5EF4-FFF2-40B4-BE49-F238E27FC236}">
                <a16:creationId xmlns:a16="http://schemas.microsoft.com/office/drawing/2014/main" id="{650677FE-7CE5-A41B-3173-CC73607F0E24}"/>
              </a:ext>
            </a:extLst>
          </p:cNvPr>
          <p:cNvSpPr>
            <a:spLocks noChangeArrowheads="1"/>
          </p:cNvSpPr>
          <p:nvPr/>
        </p:nvSpPr>
        <p:spPr bwMode="auto">
          <a:xfrm>
            <a:off x="785813" y="2886075"/>
            <a:ext cx="7715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zh-CN" altLang="en-US" sz="2000" b="0">
                <a:solidFill>
                  <a:schemeClr val="tx1"/>
                </a:solidFill>
                <a:latin typeface="微软雅黑" panose="020B0503020204020204" pitchFamily="34" charset="-122"/>
                <a:ea typeface="微软雅黑" panose="020B0503020204020204" pitchFamily="34" charset="-122"/>
              </a:rPr>
              <a:t>若要构造具有</a:t>
            </a:r>
            <a:r>
              <a:rPr lang="zh-CN" altLang="en-US" sz="2000">
                <a:solidFill>
                  <a:srgbClr val="0000CC"/>
                </a:solidFill>
                <a:latin typeface="微软雅黑" panose="020B0503020204020204" pitchFamily="34" charset="-122"/>
                <a:ea typeface="微软雅黑" panose="020B0503020204020204" pitchFamily="34" charset="-122"/>
              </a:rPr>
              <a:t>纠错</a:t>
            </a:r>
            <a:r>
              <a:rPr lang="zh-CN" altLang="en-US" sz="2000" b="0">
                <a:solidFill>
                  <a:schemeClr val="tx1"/>
                </a:solidFill>
                <a:latin typeface="微软雅黑" panose="020B0503020204020204" pitchFamily="34" charset="-122"/>
                <a:ea typeface="微软雅黑" panose="020B0503020204020204" pitchFamily="34" charset="-122"/>
              </a:rPr>
              <a:t>能力的</a:t>
            </a:r>
            <a:r>
              <a:rPr lang="zh-CN" altLang="en-US" sz="2000">
                <a:solidFill>
                  <a:schemeClr val="tx1"/>
                </a:solidFill>
                <a:latin typeface="微软雅黑" panose="020B0503020204020204" pitchFamily="34" charset="-122"/>
                <a:ea typeface="微软雅黑" panose="020B0503020204020204" pitchFamily="34" charset="-122"/>
              </a:rPr>
              <a:t>（</a:t>
            </a:r>
            <a:r>
              <a:rPr lang="en-US" altLang="zh-CN" sz="2000" i="1">
                <a:solidFill>
                  <a:schemeClr val="tx1"/>
                </a:solidFill>
                <a:latin typeface="微软雅黑" panose="020B0503020204020204" pitchFamily="34" charset="-122"/>
                <a:ea typeface="微软雅黑" panose="020B0503020204020204" pitchFamily="34" charset="-122"/>
              </a:rPr>
              <a:t>n</a:t>
            </a:r>
            <a:r>
              <a:rPr lang="zh-CN" altLang="en-US" sz="2000">
                <a:solidFill>
                  <a:schemeClr val="tx1"/>
                </a:solidFill>
                <a:latin typeface="微软雅黑" panose="020B0503020204020204" pitchFamily="34" charset="-122"/>
                <a:ea typeface="微软雅黑" panose="020B0503020204020204" pitchFamily="34" charset="-122"/>
              </a:rPr>
              <a:t>，</a:t>
            </a:r>
            <a:r>
              <a:rPr lang="en-US" altLang="zh-CN" sz="2000" i="1">
                <a:solidFill>
                  <a:schemeClr val="tx1"/>
                </a:solidFill>
                <a:latin typeface="微软雅黑" panose="020B0503020204020204" pitchFamily="34" charset="-122"/>
                <a:ea typeface="微软雅黑" panose="020B0503020204020204" pitchFamily="34" charset="-122"/>
              </a:rPr>
              <a:t>k</a:t>
            </a:r>
            <a:r>
              <a:rPr lang="zh-CN" altLang="en-US" sz="2000">
                <a:solidFill>
                  <a:schemeClr val="tx1"/>
                </a:solidFill>
                <a:latin typeface="微软雅黑" panose="020B0503020204020204" pitchFamily="34" charset="-122"/>
                <a:ea typeface="微软雅黑" panose="020B0503020204020204" pitchFamily="34" charset="-122"/>
              </a:rPr>
              <a:t>）</a:t>
            </a:r>
            <a:r>
              <a:rPr lang="zh-CN" altLang="en-US" sz="2000" b="0">
                <a:solidFill>
                  <a:schemeClr val="tx1"/>
                </a:solidFill>
                <a:latin typeface="微软雅黑" panose="020B0503020204020204" pitchFamily="34" charset="-122"/>
                <a:ea typeface="微软雅黑" panose="020B0503020204020204" pitchFamily="34" charset="-122"/>
              </a:rPr>
              <a:t>码，则需增加督元的数目。</a:t>
            </a:r>
          </a:p>
        </p:txBody>
      </p:sp>
      <p:graphicFrame>
        <p:nvGraphicFramePr>
          <p:cNvPr id="13315" name="Object 7">
            <a:extLst>
              <a:ext uri="{FF2B5EF4-FFF2-40B4-BE49-F238E27FC236}">
                <a16:creationId xmlns:a16="http://schemas.microsoft.com/office/drawing/2014/main" id="{5784E10B-556B-417B-8DF8-62DBAB50BE1E}"/>
              </a:ext>
            </a:extLst>
          </p:cNvPr>
          <p:cNvGraphicFramePr>
            <a:graphicFrameLocks noChangeAspect="1"/>
          </p:cNvGraphicFramePr>
          <p:nvPr/>
        </p:nvGraphicFramePr>
        <p:xfrm>
          <a:off x="2643188" y="4572000"/>
          <a:ext cx="4143375" cy="552450"/>
        </p:xfrm>
        <a:graphic>
          <a:graphicData uri="http://schemas.openxmlformats.org/presentationml/2006/ole">
            <mc:AlternateContent xmlns:mc="http://schemas.openxmlformats.org/markup-compatibility/2006">
              <mc:Choice xmlns:v="urn:schemas-microsoft-com:vml" Requires="v">
                <p:oleObj name="Equation" r:id="rId4" imgW="1714320" imgH="228600" progId="Equation.DSMT4">
                  <p:embed/>
                </p:oleObj>
              </mc:Choice>
              <mc:Fallback>
                <p:oleObj name="Equation" r:id="rId4" imgW="1714320" imgH="22860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43188" y="4572000"/>
                        <a:ext cx="4143375" cy="552450"/>
                      </a:xfrm>
                      <a:prstGeom prst="rect">
                        <a:avLst/>
                      </a:prstGeom>
                      <a:noFill/>
                      <a:ln w="38100" cmpd="dbl">
                        <a:solidFill>
                          <a:srgbClr val="6666FF"/>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17961" dir="2700000" algn="ctr" rotWithShape="0">
                                <a:srgbClr val="6666FF">
                                  <a:gamma/>
                                  <a:shade val="60000"/>
                                  <a:invGamma/>
                                </a:srgbClr>
                              </a:outerShdw>
                            </a:effectLst>
                          </a14:hiddenEffects>
                        </a:ext>
                      </a:extLst>
                    </p:spPr>
                  </p:pic>
                </p:oleObj>
              </mc:Fallback>
            </mc:AlternateContent>
          </a:graphicData>
        </a:graphic>
      </p:graphicFrame>
      <p:sp>
        <p:nvSpPr>
          <p:cNvPr id="65545" name="Rectangle 9">
            <a:extLst>
              <a:ext uri="{FF2B5EF4-FFF2-40B4-BE49-F238E27FC236}">
                <a16:creationId xmlns:a16="http://schemas.microsoft.com/office/drawing/2014/main" id="{2C3489BA-AE1E-06A4-3D45-BE8EDE8A7169}"/>
              </a:ext>
            </a:extLst>
          </p:cNvPr>
          <p:cNvSpPr>
            <a:spLocks noChangeArrowheads="1"/>
          </p:cNvSpPr>
          <p:nvPr/>
        </p:nvSpPr>
        <p:spPr bwMode="auto">
          <a:xfrm>
            <a:off x="0" y="0"/>
            <a:ext cx="9144000" cy="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19" name="矩形 18">
            <a:extLst>
              <a:ext uri="{FF2B5EF4-FFF2-40B4-BE49-F238E27FC236}">
                <a16:creationId xmlns:a16="http://schemas.microsoft.com/office/drawing/2014/main" id="{E92E20B4-847A-503A-CE17-F1EFBD4A94C1}"/>
              </a:ext>
            </a:extLst>
          </p:cNvPr>
          <p:cNvSpPr/>
          <p:nvPr/>
        </p:nvSpPr>
        <p:spPr>
          <a:xfrm>
            <a:off x="714375" y="5399088"/>
            <a:ext cx="7786688" cy="387350"/>
          </a:xfrm>
          <a:prstGeom prst="rect">
            <a:avLst/>
          </a:prstGeom>
          <a:noFill/>
          <a:effectLst>
            <a:outerShdw blurRad="50800" dist="38100" dir="2700000" algn="tl" rotWithShape="0">
              <a:prstClr val="black">
                <a:alpha val="40000"/>
              </a:prstClr>
            </a:outerShdw>
          </a:effectLst>
        </p:spPr>
        <p:txBody>
          <a:bodyPr>
            <a:spAutoFit/>
          </a:bodyPr>
          <a:lstStyle/>
          <a:p>
            <a:pPr>
              <a:lnSpc>
                <a:spcPts val="2300"/>
              </a:lnSpc>
              <a:defRPr/>
            </a:pPr>
            <a:r>
              <a:rPr lang="zh-CN" altLang="en-US" sz="2000" b="0" dirty="0">
                <a:solidFill>
                  <a:schemeClr val="tx1"/>
                </a:solidFill>
                <a:latin typeface="Arial" pitchFamily="34" charset="0"/>
                <a:ea typeface="微软雅黑" pitchFamily="34" charset="-122"/>
                <a:cs typeface="Arial" pitchFamily="34" charset="0"/>
              </a:rPr>
              <a:t> 当</a:t>
            </a:r>
            <a:r>
              <a:rPr lang="zh-CN" altLang="en-US" sz="2400" b="0" dirty="0">
                <a:solidFill>
                  <a:srgbClr val="FF0000"/>
                </a:solidFill>
                <a:latin typeface="Arial" pitchFamily="34" charset="0"/>
                <a:ea typeface="微软雅黑" pitchFamily="34" charset="-122"/>
                <a:cs typeface="Arial" pitchFamily="34" charset="0"/>
              </a:rPr>
              <a:t>“</a:t>
            </a:r>
            <a:r>
              <a:rPr lang="en-US" altLang="zh-CN" sz="2400" b="0" dirty="0">
                <a:solidFill>
                  <a:srgbClr val="FF0000"/>
                </a:solidFill>
                <a:latin typeface="Arial" pitchFamily="34" charset="0"/>
                <a:ea typeface="微软雅黑" pitchFamily="34" charset="-122"/>
                <a:cs typeface="Arial" pitchFamily="34" charset="0"/>
              </a:rPr>
              <a:t>=</a:t>
            </a:r>
            <a:r>
              <a:rPr lang="zh-CN" altLang="en-US" sz="2400" b="0" dirty="0">
                <a:solidFill>
                  <a:srgbClr val="FF0000"/>
                </a:solidFill>
                <a:latin typeface="Arial" pitchFamily="34" charset="0"/>
                <a:ea typeface="微软雅黑" pitchFamily="34" charset="-122"/>
                <a:cs typeface="Arial" pitchFamily="34" charset="0"/>
              </a:rPr>
              <a:t>”</a:t>
            </a:r>
            <a:r>
              <a:rPr lang="zh-CN" altLang="en-US" sz="2000" b="0" dirty="0">
                <a:solidFill>
                  <a:schemeClr val="tx1"/>
                </a:solidFill>
                <a:latin typeface="Arial" pitchFamily="34" charset="0"/>
                <a:ea typeface="微软雅黑" pitchFamily="34" charset="-122"/>
                <a:cs typeface="Arial" pitchFamily="34" charset="0"/>
              </a:rPr>
              <a:t>成立时，构造的线性分组码 </a:t>
            </a:r>
            <a:r>
              <a:rPr lang="zh-CN" altLang="en-US" sz="2000" b="0" dirty="0">
                <a:solidFill>
                  <a:schemeClr val="tx1"/>
                </a:solidFill>
                <a:latin typeface="微软雅黑" pitchFamily="34" charset="-122"/>
                <a:ea typeface="微软雅黑" pitchFamily="34" charset="-122"/>
                <a:cs typeface="Arial" pitchFamily="34" charset="0"/>
              </a:rPr>
              <a:t>称为</a:t>
            </a:r>
            <a:r>
              <a:rPr lang="zh-CN" altLang="en-US" sz="2000" dirty="0">
                <a:solidFill>
                  <a:srgbClr val="FF0000"/>
                </a:solidFill>
                <a:latin typeface="微软雅黑" pitchFamily="34" charset="-122"/>
                <a:ea typeface="微软雅黑" pitchFamily="34" charset="-122"/>
              </a:rPr>
              <a:t>汉明码</a:t>
            </a:r>
            <a:endParaRPr lang="en-US" altLang="zh-CN" sz="2000" dirty="0">
              <a:solidFill>
                <a:srgbClr val="003399"/>
              </a:solidFill>
              <a:latin typeface="Arial" pitchFamily="34" charset="0"/>
              <a:ea typeface="微软雅黑" pitchFamily="34" charset="-122"/>
              <a:cs typeface="Arial" pitchFamily="34" charset="0"/>
            </a:endParaRPr>
          </a:p>
        </p:txBody>
      </p:sp>
      <p:graphicFrame>
        <p:nvGraphicFramePr>
          <p:cNvPr id="13317" name="Object 12">
            <a:extLst>
              <a:ext uri="{FF2B5EF4-FFF2-40B4-BE49-F238E27FC236}">
                <a16:creationId xmlns:a16="http://schemas.microsoft.com/office/drawing/2014/main" id="{8B912C2A-E3A2-91A1-0DB2-7926FC97F1E4}"/>
              </a:ext>
            </a:extLst>
          </p:cNvPr>
          <p:cNvGraphicFramePr>
            <a:graphicFrameLocks noChangeAspect="1"/>
          </p:cNvGraphicFramePr>
          <p:nvPr/>
        </p:nvGraphicFramePr>
        <p:xfrm>
          <a:off x="2657475" y="5929313"/>
          <a:ext cx="3700463" cy="500062"/>
        </p:xfrm>
        <a:graphic>
          <a:graphicData uri="http://schemas.openxmlformats.org/presentationml/2006/ole">
            <mc:AlternateContent xmlns:mc="http://schemas.openxmlformats.org/markup-compatibility/2006">
              <mc:Choice xmlns:v="urn:schemas-microsoft-com:vml" Requires="v">
                <p:oleObj name="公式" r:id="rId6" imgW="1688760" imgH="228600" progId="Equation.3">
                  <p:embed/>
                </p:oleObj>
              </mc:Choice>
              <mc:Fallback>
                <p:oleObj name="公式" r:id="rId6" imgW="1688760" imgH="228600" progId="Equation.3">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57475" y="5929313"/>
                        <a:ext cx="3700463" cy="500062"/>
                      </a:xfrm>
                      <a:prstGeom prst="rect">
                        <a:avLst/>
                      </a:prstGeom>
                      <a:noFill/>
                      <a:ln w="38100" cmpd="dbl">
                        <a:solidFill>
                          <a:srgbClr val="6666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27" name="矩形 15">
            <a:extLst>
              <a:ext uri="{FF2B5EF4-FFF2-40B4-BE49-F238E27FC236}">
                <a16:creationId xmlns:a16="http://schemas.microsoft.com/office/drawing/2014/main" id="{4C248DDF-A1C9-DAE0-6270-E56255E4DE3A}"/>
              </a:ext>
            </a:extLst>
          </p:cNvPr>
          <p:cNvSpPr>
            <a:spLocks noChangeArrowheads="1"/>
          </p:cNvSpPr>
          <p:nvPr/>
        </p:nvSpPr>
        <p:spPr bwMode="auto">
          <a:xfrm rot="-653729">
            <a:off x="1214438" y="1554163"/>
            <a:ext cx="13795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zh-CN" altLang="en-US" sz="2400">
                <a:solidFill>
                  <a:schemeClr val="hlink"/>
                </a:solidFill>
                <a:latin typeface="黑体" panose="02010609060101010101" pitchFamily="49" charset="-122"/>
                <a:ea typeface="黑体" panose="02010609060101010101" pitchFamily="49" charset="-122"/>
              </a:rPr>
              <a:t>校正子</a:t>
            </a:r>
            <a:r>
              <a:rPr lang="zh-CN" altLang="en-US" sz="2400">
                <a:solidFill>
                  <a:schemeClr val="hlink"/>
                </a:solidFill>
                <a:latin typeface="Cambria Math" panose="02040503050406030204" pitchFamily="18" charset="0"/>
              </a:rPr>
              <a:t>⤏</a:t>
            </a:r>
            <a:endParaRPr lang="zh-CN" altLang="en-US" sz="2400"/>
          </a:p>
        </p:txBody>
      </p:sp>
      <p:sp>
        <p:nvSpPr>
          <p:cNvPr id="16" name="矩形 15">
            <a:extLst>
              <a:ext uri="{FF2B5EF4-FFF2-40B4-BE49-F238E27FC236}">
                <a16:creationId xmlns:a16="http://schemas.microsoft.com/office/drawing/2014/main" id="{242DF50B-13E7-0E1D-48E9-414CAD291291}"/>
              </a:ext>
            </a:extLst>
          </p:cNvPr>
          <p:cNvSpPr/>
          <p:nvPr/>
        </p:nvSpPr>
        <p:spPr>
          <a:xfrm>
            <a:off x="519113" y="485775"/>
            <a:ext cx="3413125" cy="541338"/>
          </a:xfrm>
          <a:prstGeom prst="rect">
            <a:avLst/>
          </a:prstGeom>
        </p:spPr>
        <p:txBody>
          <a:bodyPr wrap="none">
            <a:spAutoFit/>
          </a:bodyPr>
          <a:lstStyle/>
          <a:p>
            <a:pPr marL="285750" indent="-285750">
              <a:lnSpc>
                <a:spcPts val="3500"/>
              </a:lnSpc>
              <a:spcBef>
                <a:spcPct val="20000"/>
              </a:spcBef>
              <a:buClr>
                <a:srgbClr val="FF0000"/>
              </a:buClr>
              <a:buSzPct val="81000"/>
              <a:buFont typeface="Wingdings" pitchFamily="2" charset="2"/>
              <a:buChar char="n"/>
              <a:defRPr/>
            </a:pPr>
            <a:r>
              <a:rPr lang="zh-CN" altLang="en-US" sz="2800" dirty="0">
                <a:solidFill>
                  <a:schemeClr val="tx1"/>
                </a:solidFill>
                <a:latin typeface="微软雅黑" pitchFamily="34" charset="-122"/>
                <a:ea typeface="微软雅黑" pitchFamily="34" charset="-122"/>
                <a:cs typeface="Times New Roman" pitchFamily="18" charset="0"/>
              </a:rPr>
              <a:t>              构造原理</a:t>
            </a:r>
            <a:endParaRPr kumimoji="0" lang="zh-CN" altLang="en-US" sz="2800" kern="0" dirty="0">
              <a:solidFill>
                <a:srgbClr val="000000"/>
              </a:solidFill>
              <a:latin typeface="微软雅黑" pitchFamily="34" charset="-122"/>
              <a:ea typeface="微软雅黑" pitchFamily="34" charset="-122"/>
            </a:endParaRPr>
          </a:p>
        </p:txBody>
      </p:sp>
      <p:sp>
        <p:nvSpPr>
          <p:cNvPr id="17" name="线形标注 2 16">
            <a:extLst>
              <a:ext uri="{FF2B5EF4-FFF2-40B4-BE49-F238E27FC236}">
                <a16:creationId xmlns:a16="http://schemas.microsoft.com/office/drawing/2014/main" id="{3AB44E83-1E58-566A-6CE1-BBAF5FCBB944}"/>
              </a:ext>
            </a:extLst>
          </p:cNvPr>
          <p:cNvSpPr/>
          <p:nvPr/>
        </p:nvSpPr>
        <p:spPr bwMode="auto">
          <a:xfrm>
            <a:off x="6357938" y="785813"/>
            <a:ext cx="2000250" cy="428625"/>
          </a:xfrm>
          <a:prstGeom prst="borderCallout2">
            <a:avLst>
              <a:gd name="adj1" fmla="val 42454"/>
              <a:gd name="adj2" fmla="val -1561"/>
              <a:gd name="adj3" fmla="val 52612"/>
              <a:gd name="adj4" fmla="val -12942"/>
              <a:gd name="adj5" fmla="val 132816"/>
              <a:gd name="adj6" fmla="val -22425"/>
            </a:avLst>
          </a:prstGeom>
          <a:solidFill>
            <a:schemeClr val="bg2">
              <a:lumMod val="10000"/>
              <a:lumOff val="90000"/>
            </a:schemeClr>
          </a:solidFill>
          <a:ln w="9525" cap="flat" cmpd="sng" algn="ctr">
            <a:solidFill>
              <a:srgbClr val="FF0000"/>
            </a:solidFill>
            <a:prstDash val="dash"/>
            <a:miter lim="800000"/>
            <a:headEnd type="none" w="med" len="med"/>
            <a:tailEnd type="none" w="med" len="med"/>
          </a:ln>
          <a:effectLst>
            <a:outerShdw blurRad="50800" dist="38100" dir="2700000" algn="tl" rotWithShape="0">
              <a:prstClr val="black">
                <a:alpha val="40000"/>
              </a:prstClr>
            </a:outerShdw>
          </a:effectLst>
        </p:spPr>
        <p:txBody>
          <a:bodyPr wrap="none"/>
          <a:lstStyle/>
          <a:p>
            <a:pPr>
              <a:defRPr/>
            </a:pPr>
            <a:r>
              <a:rPr lang="zh-CN" altLang="en-US" sz="2000" b="0" dirty="0">
                <a:solidFill>
                  <a:srgbClr val="0000CC"/>
                </a:solidFill>
                <a:latin typeface="黑体" pitchFamily="2" charset="-122"/>
                <a:ea typeface="黑体" pitchFamily="2" charset="-122"/>
              </a:rPr>
              <a:t>只有一位监督元</a:t>
            </a:r>
          </a:p>
          <a:p>
            <a:pPr>
              <a:defRPr/>
            </a:pPr>
            <a:endParaRPr lang="zh-CN" altLang="en-US" sz="2000" dirty="0">
              <a:solidFill>
                <a:srgbClr val="003399"/>
              </a:solidFill>
              <a:latin typeface="微软雅黑" pitchFamily="34" charset="-122"/>
              <a:ea typeface="微软雅黑" pitchFamily="34" charset="-122"/>
            </a:endParaRPr>
          </a:p>
        </p:txBody>
      </p:sp>
      <p:sp>
        <p:nvSpPr>
          <p:cNvPr id="18" name="矩形 4">
            <a:extLst>
              <a:ext uri="{FF2B5EF4-FFF2-40B4-BE49-F238E27FC236}">
                <a16:creationId xmlns:a16="http://schemas.microsoft.com/office/drawing/2014/main" id="{433E9198-0AF8-CC3A-3A9B-C45FEEEA5B48}"/>
              </a:ext>
            </a:extLst>
          </p:cNvPr>
          <p:cNvSpPr>
            <a:spLocks noChangeArrowheads="1"/>
          </p:cNvSpPr>
          <p:nvPr/>
        </p:nvSpPr>
        <p:spPr bwMode="auto">
          <a:xfrm>
            <a:off x="7072313" y="2171700"/>
            <a:ext cx="13573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en-US" altLang="zh-CN" sz="2000" b="0">
                <a:solidFill>
                  <a:srgbClr val="0000CC"/>
                </a:solidFill>
                <a:latin typeface="黑体" panose="02010609060101010101" pitchFamily="49" charset="-122"/>
                <a:ea typeface="黑体" panose="02010609060101010101" pitchFamily="49" charset="-122"/>
              </a:rPr>
              <a:t>---</a:t>
            </a:r>
            <a:r>
              <a:rPr lang="zh-CN" altLang="en-US" sz="2400">
                <a:solidFill>
                  <a:srgbClr val="0000CC"/>
                </a:solidFill>
                <a:latin typeface="黑体" panose="02010609060101010101" pitchFamily="49" charset="-122"/>
                <a:ea typeface="黑体" panose="02010609060101010101" pitchFamily="49" charset="-122"/>
              </a:rPr>
              <a:t>检错</a:t>
            </a:r>
          </a:p>
        </p:txBody>
      </p:sp>
      <p:sp>
        <p:nvSpPr>
          <p:cNvPr id="20" name="矩形 19">
            <a:extLst>
              <a:ext uri="{FF2B5EF4-FFF2-40B4-BE49-F238E27FC236}">
                <a16:creationId xmlns:a16="http://schemas.microsoft.com/office/drawing/2014/main" id="{992A1398-428A-DFC6-3324-4705D5AA14E6}"/>
              </a:ext>
            </a:extLst>
          </p:cNvPr>
          <p:cNvSpPr>
            <a:spLocks noChangeArrowheads="1"/>
          </p:cNvSpPr>
          <p:nvPr/>
        </p:nvSpPr>
        <p:spPr bwMode="auto">
          <a:xfrm>
            <a:off x="828675" y="476250"/>
            <a:ext cx="16208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zh-CN" altLang="en-US" sz="2800">
                <a:solidFill>
                  <a:srgbClr val="000000"/>
                </a:solidFill>
                <a:latin typeface="微软雅黑" panose="020B0503020204020204" pitchFamily="34" charset="-122"/>
                <a:ea typeface="微软雅黑" panose="020B0503020204020204" pitchFamily="34" charset="-122"/>
              </a:rPr>
              <a:t>汉明码的</a:t>
            </a:r>
            <a:endParaRPr lang="zh-CN" altLang="en-US"/>
          </a:p>
        </p:txBody>
      </p:sp>
      <p:sp>
        <p:nvSpPr>
          <p:cNvPr id="21" name="矩形 20">
            <a:extLst>
              <a:ext uri="{FF2B5EF4-FFF2-40B4-BE49-F238E27FC236}">
                <a16:creationId xmlns:a16="http://schemas.microsoft.com/office/drawing/2014/main" id="{4D730463-6CBF-8A06-8264-19A60A12B7EB}"/>
              </a:ext>
            </a:extLst>
          </p:cNvPr>
          <p:cNvSpPr/>
          <p:nvPr/>
        </p:nvSpPr>
        <p:spPr>
          <a:xfrm>
            <a:off x="6357938" y="5376863"/>
            <a:ext cx="2286000" cy="1016000"/>
          </a:xfrm>
          <a:prstGeom prst="rect">
            <a:avLst/>
          </a:prstGeom>
        </p:spPr>
        <p:txBody>
          <a:bodyPr>
            <a:spAutoFit/>
          </a:bodyPr>
          <a:lstStyle/>
          <a:p>
            <a:pPr>
              <a:defRPr/>
            </a:pPr>
            <a:r>
              <a:rPr lang="en-US" altLang="zh-CN"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rPr>
              <a:t>——</a:t>
            </a:r>
            <a:r>
              <a:rPr lang="zh-CN" altLang="en-US" sz="2000" b="0" dirty="0">
                <a:solidFill>
                  <a:schemeClr val="tx1"/>
                </a:solidFill>
                <a:effectLst>
                  <a:outerShdw blurRad="38100" dist="38100" dir="2700000" algn="tl">
                    <a:srgbClr val="000000">
                      <a:alpha val="43137"/>
                    </a:srgbClr>
                  </a:outerShdw>
                </a:effectLst>
                <a:latin typeface="黑体" pitchFamily="2" charset="-122"/>
                <a:ea typeface="黑体" pitchFamily="2" charset="-122"/>
                <a:cs typeface="Times New Roman" pitchFamily="18" charset="0"/>
              </a:rPr>
              <a:t>能</a:t>
            </a:r>
            <a:r>
              <a:rPr lang="zh-CN" altLang="en-US" sz="2000" b="0" dirty="0">
                <a:solidFill>
                  <a:srgbClr val="FF0000"/>
                </a:solidFill>
                <a:effectLst>
                  <a:outerShdw blurRad="38100" dist="38100" dir="2700000" algn="tl">
                    <a:srgbClr val="000000">
                      <a:alpha val="43137"/>
                    </a:srgbClr>
                  </a:outerShdw>
                </a:effectLst>
                <a:latin typeface="黑体" pitchFamily="2" charset="-122"/>
                <a:ea typeface="黑体" pitchFamily="2" charset="-122"/>
                <a:cs typeface="Times New Roman" pitchFamily="18" charset="0"/>
              </a:rPr>
              <a:t>纠</a:t>
            </a:r>
            <a:r>
              <a:rPr lang="en-US" altLang="zh-CN" sz="2000" b="0" dirty="0">
                <a:solidFill>
                  <a:srgbClr val="FF0000"/>
                </a:solidFill>
                <a:effectLst>
                  <a:outerShdw blurRad="38100" dist="38100" dir="2700000" algn="tl">
                    <a:srgbClr val="000000">
                      <a:alpha val="43137"/>
                    </a:srgbClr>
                  </a:outerShdw>
                </a:effectLst>
                <a:latin typeface="黑体" pitchFamily="2" charset="-122"/>
                <a:ea typeface="黑体" pitchFamily="2" charset="-122"/>
                <a:cs typeface="Times New Roman" pitchFamily="18" charset="0"/>
              </a:rPr>
              <a:t>1</a:t>
            </a:r>
            <a:r>
              <a:rPr lang="zh-CN" altLang="en-US" sz="2000" b="0" dirty="0">
                <a:solidFill>
                  <a:srgbClr val="FF0000"/>
                </a:solidFill>
                <a:effectLst>
                  <a:outerShdw blurRad="38100" dist="38100" dir="2700000" algn="tl">
                    <a:srgbClr val="000000">
                      <a:alpha val="43137"/>
                    </a:srgbClr>
                  </a:outerShdw>
                </a:effectLst>
                <a:latin typeface="黑体" pitchFamily="2" charset="-122"/>
                <a:ea typeface="黑体" pitchFamily="2" charset="-122"/>
                <a:cs typeface="Times New Roman" pitchFamily="18" charset="0"/>
              </a:rPr>
              <a:t>位</a:t>
            </a:r>
            <a:r>
              <a:rPr lang="zh-CN" altLang="en-US" sz="2000" b="0" dirty="0">
                <a:solidFill>
                  <a:schemeClr val="tx1"/>
                </a:solidFill>
                <a:effectLst>
                  <a:outerShdw blurRad="38100" dist="38100" dir="2700000" algn="tl">
                    <a:srgbClr val="000000">
                      <a:alpha val="43137"/>
                    </a:srgbClr>
                  </a:outerShdw>
                </a:effectLst>
                <a:latin typeface="黑体" pitchFamily="2" charset="-122"/>
                <a:ea typeface="黑体" pitchFamily="2" charset="-122"/>
                <a:cs typeface="Times New Roman" pitchFamily="18" charset="0"/>
              </a:rPr>
              <a:t>错码</a:t>
            </a:r>
            <a:endParaRPr lang="en-US" altLang="zh-CN" sz="2000" b="0" dirty="0">
              <a:solidFill>
                <a:schemeClr val="tx1"/>
              </a:solidFill>
              <a:effectLst>
                <a:outerShdw blurRad="38100" dist="38100" dir="2700000" algn="tl">
                  <a:srgbClr val="000000">
                    <a:alpha val="43137"/>
                  </a:srgbClr>
                </a:outerShdw>
              </a:effectLst>
              <a:latin typeface="黑体" pitchFamily="2" charset="-122"/>
              <a:ea typeface="黑体" pitchFamily="2" charset="-122"/>
              <a:cs typeface="Times New Roman" pitchFamily="18" charset="0"/>
            </a:endParaRPr>
          </a:p>
          <a:p>
            <a:pPr>
              <a:defRPr/>
            </a:pPr>
            <a:r>
              <a:rPr lang="zh-CN" altLang="en-US" sz="2000" b="0" dirty="0">
                <a:solidFill>
                  <a:schemeClr val="tx1"/>
                </a:solidFill>
                <a:effectLst>
                  <a:outerShdw blurRad="38100" dist="38100" dir="2700000" algn="tl">
                    <a:srgbClr val="000000">
                      <a:alpha val="43137"/>
                    </a:srgbClr>
                  </a:outerShdw>
                </a:effectLst>
                <a:latin typeface="黑体" pitchFamily="2" charset="-122"/>
                <a:ea typeface="黑体" pitchFamily="2" charset="-122"/>
                <a:cs typeface="Times New Roman" pitchFamily="18" charset="0"/>
              </a:rPr>
              <a:t>       的高效 </a:t>
            </a:r>
            <a:endParaRPr lang="en-US" altLang="zh-CN" sz="2000" b="0" dirty="0">
              <a:solidFill>
                <a:schemeClr val="tx1"/>
              </a:solidFill>
              <a:effectLst>
                <a:outerShdw blurRad="38100" dist="38100" dir="2700000" algn="tl">
                  <a:srgbClr val="000000">
                    <a:alpha val="43137"/>
                  </a:srgbClr>
                </a:outerShdw>
              </a:effectLst>
              <a:latin typeface="黑体" pitchFamily="2" charset="-122"/>
              <a:ea typeface="黑体" pitchFamily="2" charset="-122"/>
              <a:cs typeface="Times New Roman" pitchFamily="18" charset="0"/>
            </a:endParaRPr>
          </a:p>
          <a:p>
            <a:pPr>
              <a:defRPr/>
            </a:pPr>
            <a:r>
              <a:rPr lang="en-US" altLang="zh-CN" sz="2000" b="0" dirty="0">
                <a:solidFill>
                  <a:schemeClr val="tx1"/>
                </a:solidFill>
                <a:effectLst>
                  <a:outerShdw blurRad="38100" dist="38100" dir="2700000" algn="tl">
                    <a:srgbClr val="000000">
                      <a:alpha val="43137"/>
                    </a:srgbClr>
                  </a:outerShdw>
                </a:effectLst>
                <a:latin typeface="黑体" pitchFamily="2" charset="-122"/>
                <a:ea typeface="黑体" pitchFamily="2" charset="-122"/>
                <a:cs typeface="Times New Roman" pitchFamily="18" charset="0"/>
              </a:rPr>
              <a:t>     </a:t>
            </a:r>
            <a:r>
              <a:rPr lang="zh-CN" altLang="en-US" sz="2000" b="0" dirty="0">
                <a:solidFill>
                  <a:schemeClr val="tx1"/>
                </a:solidFill>
                <a:effectLst>
                  <a:outerShdw blurRad="38100" dist="38100" dir="2700000" algn="tl">
                    <a:srgbClr val="000000">
                      <a:alpha val="43137"/>
                    </a:srgbClr>
                  </a:outerShdw>
                </a:effectLst>
                <a:latin typeface="黑体" pitchFamily="2" charset="-122"/>
                <a:ea typeface="黑体" pitchFamily="2" charset="-122"/>
                <a:cs typeface="Times New Roman" pitchFamily="18" charset="0"/>
              </a:rPr>
              <a:t>线性分组码 </a:t>
            </a:r>
            <a:endParaRPr lang="zh-CN" altLang="en-US" sz="2000" dirty="0">
              <a:latin typeface="黑体" pitchFamily="2" charset="-122"/>
              <a:ea typeface="黑体" pitchFamily="2" charset="-122"/>
            </a:endParaRPr>
          </a:p>
        </p:txBody>
      </p:sp>
      <p:pic>
        <p:nvPicPr>
          <p:cNvPr id="11282" name="Picture 18">
            <a:extLst>
              <a:ext uri="{FF2B5EF4-FFF2-40B4-BE49-F238E27FC236}">
                <a16:creationId xmlns:a16="http://schemas.microsoft.com/office/drawing/2014/main" id="{231ECD83-A4D3-CB41-8BDD-D849E41BFF5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1338" y="3402013"/>
            <a:ext cx="8102600"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up)">
                                      <p:cBhvr>
                                        <p:cTn id="7" dur="1000"/>
                                        <p:tgtEl>
                                          <p:spTgt spid="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3314"/>
                                        </p:tgtEl>
                                        <p:attrNameLst>
                                          <p:attrName>style.visibility</p:attrName>
                                        </p:attrNameLst>
                                      </p:cBhvr>
                                      <p:to>
                                        <p:strVal val="visible"/>
                                      </p:to>
                                    </p:set>
                                    <p:animEffect transition="in" filter="wipe(up)">
                                      <p:cBhvr>
                                        <p:cTn id="12" dur="1000"/>
                                        <p:tgtEl>
                                          <p:spTgt spid="1331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13327"/>
                                        </p:tgtEl>
                                        <p:attrNameLst>
                                          <p:attrName>style.visibility</p:attrName>
                                        </p:attrNameLst>
                                      </p:cBhvr>
                                      <p:to>
                                        <p:strVal val="visible"/>
                                      </p:to>
                                    </p:set>
                                    <p:animEffect transition="in" filter="wipe(right)">
                                      <p:cBhvr>
                                        <p:cTn id="17" dur="1000"/>
                                        <p:tgtEl>
                                          <p:spTgt spid="1332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3320"/>
                                        </p:tgtEl>
                                        <p:attrNameLst>
                                          <p:attrName>style.visibility</p:attrName>
                                        </p:attrNameLst>
                                      </p:cBhvr>
                                      <p:to>
                                        <p:strVal val="visible"/>
                                      </p:to>
                                    </p:set>
                                    <p:animEffect transition="in" filter="wipe(up)">
                                      <p:cBhvr>
                                        <p:cTn id="22" dur="1000"/>
                                        <p:tgtEl>
                                          <p:spTgt spid="1332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up)">
                                      <p:cBhvr>
                                        <p:cTn id="27" dur="1000"/>
                                        <p:tgtEl>
                                          <p:spTgt spid="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wipe(left)">
                                      <p:cBhvr>
                                        <p:cTn id="32" dur="1000"/>
                                        <p:tgtEl>
                                          <p:spTgt spid="1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left)">
                                      <p:cBhvr>
                                        <p:cTn id="37" dur="1000"/>
                                        <p:tgtEl>
                                          <p:spTgt spid="1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up)">
                                      <p:cBhvr>
                                        <p:cTn id="42" dur="1000"/>
                                        <p:tgtEl>
                                          <p:spTgt spid="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nodeType="clickEffect">
                                  <p:stCondLst>
                                    <p:cond delay="0"/>
                                  </p:stCondLst>
                                  <p:childTnLst>
                                    <p:set>
                                      <p:cBhvr>
                                        <p:cTn id="46" dur="1" fill="hold">
                                          <p:stCondLst>
                                            <p:cond delay="0"/>
                                          </p:stCondLst>
                                        </p:cTn>
                                        <p:tgtEl>
                                          <p:spTgt spid="11282"/>
                                        </p:tgtEl>
                                        <p:attrNameLst>
                                          <p:attrName>style.visibility</p:attrName>
                                        </p:attrNameLst>
                                      </p:cBhvr>
                                      <p:to>
                                        <p:strVal val="visible"/>
                                      </p:to>
                                    </p:set>
                                    <p:animEffect transition="in" filter="wipe(up)">
                                      <p:cBhvr>
                                        <p:cTn id="47" dur="1000"/>
                                        <p:tgtEl>
                                          <p:spTgt spid="1128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13315"/>
                                        </p:tgtEl>
                                        <p:attrNameLst>
                                          <p:attrName>style.visibility</p:attrName>
                                        </p:attrNameLst>
                                      </p:cBhvr>
                                      <p:to>
                                        <p:strVal val="visible"/>
                                      </p:to>
                                    </p:set>
                                    <p:animEffect transition="in" filter="wipe(up)">
                                      <p:cBhvr>
                                        <p:cTn id="52" dur="1000"/>
                                        <p:tgtEl>
                                          <p:spTgt spid="1331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wipe(up)">
                                      <p:cBhvr>
                                        <p:cTn id="57" dur="1000"/>
                                        <p:tgtEl>
                                          <p:spTgt spid="1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nodeType="clickEffect">
                                  <p:stCondLst>
                                    <p:cond delay="0"/>
                                  </p:stCondLst>
                                  <p:childTnLst>
                                    <p:set>
                                      <p:cBhvr>
                                        <p:cTn id="61" dur="1" fill="hold">
                                          <p:stCondLst>
                                            <p:cond delay="0"/>
                                          </p:stCondLst>
                                        </p:cTn>
                                        <p:tgtEl>
                                          <p:spTgt spid="13317"/>
                                        </p:tgtEl>
                                        <p:attrNameLst>
                                          <p:attrName>style.visibility</p:attrName>
                                        </p:attrNameLst>
                                      </p:cBhvr>
                                      <p:to>
                                        <p:strVal val="visible"/>
                                      </p:to>
                                    </p:set>
                                    <p:animEffect transition="in" filter="wipe(up)">
                                      <p:cBhvr>
                                        <p:cTn id="62" dur="1000"/>
                                        <p:tgtEl>
                                          <p:spTgt spid="1331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6" presetClass="entr" presetSubtype="32" fill="hold"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circle(out)">
                                      <p:cBhvr>
                                        <p:cTn id="67" dur="2000"/>
                                        <p:tgtEl>
                                          <p:spTgt spid="21"/>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47" presetClass="entr" presetSubtype="0" fill="hold" nodeType="click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fade">
                                      <p:cBhvr>
                                        <p:cTn id="72" dur="1000"/>
                                        <p:tgtEl>
                                          <p:spTgt spid="20"/>
                                        </p:tgtEl>
                                      </p:cBhvr>
                                    </p:animEffect>
                                    <p:anim calcmode="lin" valueType="num">
                                      <p:cBhvr>
                                        <p:cTn id="73" dur="1000" fill="hold"/>
                                        <p:tgtEl>
                                          <p:spTgt spid="20"/>
                                        </p:tgtEl>
                                        <p:attrNameLst>
                                          <p:attrName>ppt_x</p:attrName>
                                        </p:attrNameLst>
                                      </p:cBhvr>
                                      <p:tavLst>
                                        <p:tav tm="0">
                                          <p:val>
                                            <p:strVal val="#ppt_x"/>
                                          </p:val>
                                        </p:tav>
                                        <p:tav tm="100000">
                                          <p:val>
                                            <p:strVal val="#ppt_x"/>
                                          </p:val>
                                        </p:tav>
                                      </p:tavLst>
                                    </p:anim>
                                    <p:anim calcmode="lin" valueType="num">
                                      <p:cBhvr>
                                        <p:cTn id="74"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0" grpId="0"/>
      <p:bldP spid="6" grpId="0"/>
      <p:bldP spid="8" grpId="0"/>
      <p:bldP spid="19" grpId="0"/>
      <p:bldP spid="13327" grpId="0"/>
      <p:bldP spid="16" grpId="0"/>
      <p:bldP spid="17" grpId="0" animBg="1"/>
      <p:bldP spid="18" grpId="0"/>
      <p:bldP spid="20" grpId="0"/>
      <p:bldP spid="2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3" name="Picture 46">
            <a:extLst>
              <a:ext uri="{FF2B5EF4-FFF2-40B4-BE49-F238E27FC236}">
                <a16:creationId xmlns:a16="http://schemas.microsoft.com/office/drawing/2014/main" id="{22ED0CBA-8300-B747-8035-3374B57B6A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813" y="1187450"/>
            <a:ext cx="7786687"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22">
            <a:extLst>
              <a:ext uri="{FF2B5EF4-FFF2-40B4-BE49-F238E27FC236}">
                <a16:creationId xmlns:a16="http://schemas.microsoft.com/office/drawing/2014/main" id="{FA6B547E-6D50-4213-69E1-C0EBDE89F9C0}"/>
              </a:ext>
            </a:extLst>
          </p:cNvPr>
          <p:cNvGrpSpPr>
            <a:grpSpLocks/>
          </p:cNvGrpSpPr>
          <p:nvPr/>
        </p:nvGrpSpPr>
        <p:grpSpPr bwMode="auto">
          <a:xfrm>
            <a:off x="565150" y="642938"/>
            <a:ext cx="649288" cy="692150"/>
            <a:chOff x="1655" y="845"/>
            <a:chExt cx="454" cy="453"/>
          </a:xfrm>
        </p:grpSpPr>
        <p:grpSp>
          <p:nvGrpSpPr>
            <p:cNvPr id="9223" name="Group 23">
              <a:extLst>
                <a:ext uri="{FF2B5EF4-FFF2-40B4-BE49-F238E27FC236}">
                  <a16:creationId xmlns:a16="http://schemas.microsoft.com/office/drawing/2014/main" id="{DCA7647C-9964-BD2B-84B6-8F16A4BDF95E}"/>
                </a:ext>
              </a:extLst>
            </p:cNvPr>
            <p:cNvGrpSpPr>
              <a:grpSpLocks/>
            </p:cNvGrpSpPr>
            <p:nvPr/>
          </p:nvGrpSpPr>
          <p:grpSpPr bwMode="auto">
            <a:xfrm>
              <a:off x="1655" y="845"/>
              <a:ext cx="454" cy="453"/>
              <a:chOff x="1289" y="582"/>
              <a:chExt cx="668" cy="668"/>
            </a:xfrm>
          </p:grpSpPr>
          <p:sp>
            <p:nvSpPr>
              <p:cNvPr id="9225" name="Oval 24">
                <a:extLst>
                  <a:ext uri="{FF2B5EF4-FFF2-40B4-BE49-F238E27FC236}">
                    <a16:creationId xmlns:a16="http://schemas.microsoft.com/office/drawing/2014/main" id="{C65A6E77-868B-B506-67EF-6D3B605C3A59}"/>
                  </a:ext>
                </a:extLst>
              </p:cNvPr>
              <p:cNvSpPr>
                <a:spLocks noChangeArrowheads="1"/>
              </p:cNvSpPr>
              <p:nvPr/>
            </p:nvSpPr>
            <p:spPr bwMode="gray">
              <a:xfrm>
                <a:off x="1289" y="582"/>
                <a:ext cx="668" cy="668"/>
              </a:xfrm>
              <a:prstGeom prst="ellipse">
                <a:avLst/>
              </a:prstGeom>
              <a:solidFill>
                <a:srgbClr val="333333"/>
              </a:soli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9226" name="Oval 25">
                <a:extLst>
                  <a:ext uri="{FF2B5EF4-FFF2-40B4-BE49-F238E27FC236}">
                    <a16:creationId xmlns:a16="http://schemas.microsoft.com/office/drawing/2014/main" id="{B2B5674A-B184-899C-C71F-FA3CB1CB8BF7}"/>
                  </a:ext>
                </a:extLst>
              </p:cNvPr>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9227" name="Oval 26">
                <a:extLst>
                  <a:ext uri="{FF2B5EF4-FFF2-40B4-BE49-F238E27FC236}">
                    <a16:creationId xmlns:a16="http://schemas.microsoft.com/office/drawing/2014/main" id="{0AD22CA5-DA5D-9BFA-8B2C-BD3E3A4A7649}"/>
                  </a:ext>
                </a:extLst>
              </p:cNvPr>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9228" name="Oval 27">
                <a:extLst>
                  <a:ext uri="{FF2B5EF4-FFF2-40B4-BE49-F238E27FC236}">
                    <a16:creationId xmlns:a16="http://schemas.microsoft.com/office/drawing/2014/main" id="{64EB6D14-72CA-5B64-432C-BDBCC8313B64}"/>
                  </a:ext>
                </a:extLst>
              </p:cNvPr>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9229" name="Oval 28">
                <a:extLst>
                  <a:ext uri="{FF2B5EF4-FFF2-40B4-BE49-F238E27FC236}">
                    <a16:creationId xmlns:a16="http://schemas.microsoft.com/office/drawing/2014/main" id="{C52C5D66-B05C-C78C-5342-4C4CBAF1EBC1}"/>
                  </a:ext>
                </a:extLst>
              </p:cNvPr>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pSp>
        <p:sp>
          <p:nvSpPr>
            <p:cNvPr id="9224" name="Text Box 29">
              <a:extLst>
                <a:ext uri="{FF2B5EF4-FFF2-40B4-BE49-F238E27FC236}">
                  <a16:creationId xmlns:a16="http://schemas.microsoft.com/office/drawing/2014/main" id="{95686772-14FB-10F4-4EFF-C7BD58B35587}"/>
                </a:ext>
              </a:extLst>
            </p:cNvPr>
            <p:cNvSpPr txBox="1">
              <a:spLocks noChangeArrowheads="1"/>
            </p:cNvSpPr>
            <p:nvPr/>
          </p:nvSpPr>
          <p:spPr bwMode="gray">
            <a:xfrm>
              <a:off x="1666" y="902"/>
              <a:ext cx="379"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zh-CN" altLang="en-US" sz="2800">
                  <a:solidFill>
                    <a:srgbClr val="0000CC"/>
                  </a:solidFill>
                </a:rPr>
                <a:t>例</a:t>
              </a:r>
            </a:p>
          </p:txBody>
        </p:sp>
      </p:grpSp>
      <p:graphicFrame>
        <p:nvGraphicFramePr>
          <p:cNvPr id="13315" name="Object 7">
            <a:extLst>
              <a:ext uri="{FF2B5EF4-FFF2-40B4-BE49-F238E27FC236}">
                <a16:creationId xmlns:a16="http://schemas.microsoft.com/office/drawing/2014/main" id="{9FAB3585-E9A8-0476-DD07-97A869E73013}"/>
              </a:ext>
            </a:extLst>
          </p:cNvPr>
          <p:cNvGraphicFramePr>
            <a:graphicFrameLocks noChangeAspect="1"/>
          </p:cNvGraphicFramePr>
          <p:nvPr/>
        </p:nvGraphicFramePr>
        <p:xfrm>
          <a:off x="7027863" y="1357313"/>
          <a:ext cx="1258887" cy="428625"/>
        </p:xfrm>
        <a:graphic>
          <a:graphicData uri="http://schemas.openxmlformats.org/presentationml/2006/ole">
            <mc:AlternateContent xmlns:mc="http://schemas.openxmlformats.org/markup-compatibility/2006">
              <mc:Choice xmlns:v="urn:schemas-microsoft-com:vml" Requires="v">
                <p:oleObj name="Equation" r:id="rId3" imgW="596880" imgH="203040" progId="Equation.DSMT4">
                  <p:embed/>
                </p:oleObj>
              </mc:Choice>
              <mc:Fallback>
                <p:oleObj name="Equation" r:id="rId3" imgW="596880" imgH="20304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27863" y="1357313"/>
                        <a:ext cx="1258887" cy="428625"/>
                      </a:xfrm>
                      <a:prstGeom prst="rect">
                        <a:avLst/>
                      </a:prstGeom>
                      <a:noFill/>
                      <a:ln w="38100" cmpd="dbl">
                        <a:solidFill>
                          <a:srgbClr val="9999FF"/>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17961" dir="2700000" algn="ctr" rotWithShape="0">
                                <a:srgbClr val="9999FF">
                                  <a:gamma/>
                                  <a:shade val="60000"/>
                                  <a:invGamma/>
                                </a:srgbClr>
                              </a:outerShdw>
                            </a:effectLst>
                          </a14:hiddenEffects>
                        </a:ext>
                      </a:extLst>
                    </p:spPr>
                  </p:pic>
                </p:oleObj>
              </mc:Fallback>
            </mc:AlternateContent>
          </a:graphicData>
        </a:graphic>
      </p:graphicFrame>
      <p:sp>
        <p:nvSpPr>
          <p:cNvPr id="14" name="矩形 13">
            <a:extLst>
              <a:ext uri="{FF2B5EF4-FFF2-40B4-BE49-F238E27FC236}">
                <a16:creationId xmlns:a16="http://schemas.microsoft.com/office/drawing/2014/main" id="{5544952D-84C9-E7F1-7E77-7094F45DDE1D}"/>
              </a:ext>
            </a:extLst>
          </p:cNvPr>
          <p:cNvSpPr/>
          <p:nvPr/>
        </p:nvSpPr>
        <p:spPr>
          <a:xfrm>
            <a:off x="1231900" y="752475"/>
            <a:ext cx="1825625" cy="461963"/>
          </a:xfrm>
          <a:prstGeom prst="rect">
            <a:avLst/>
          </a:prstGeom>
          <a:solidFill>
            <a:schemeClr val="accent2">
              <a:lumMod val="20000"/>
              <a:lumOff val="80000"/>
            </a:schemeClr>
          </a:solidFill>
          <a:effectLst>
            <a:outerShdw blurRad="63500" sx="102000" sy="102000" algn="ctr" rotWithShape="0">
              <a:prstClr val="black">
                <a:alpha val="40000"/>
              </a:prstClr>
            </a:outerShdw>
          </a:effectLst>
        </p:spPr>
        <p:txBody>
          <a:bodyPr wrap="none">
            <a:spAutoFit/>
          </a:bodyPr>
          <a:lstStyle/>
          <a:p>
            <a:pPr>
              <a:defRPr/>
            </a:pPr>
            <a:r>
              <a:rPr kumimoji="0" lang="en-US" altLang="zh-CN" sz="24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(7, 4)</a:t>
            </a:r>
            <a:r>
              <a:rPr kumimoji="0" lang="zh-CN" altLang="en-US" sz="24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汉明码</a:t>
            </a:r>
            <a:endParaRPr lang="zh-CN" altLang="en-US" sz="2400" dirty="0"/>
          </a:p>
        </p:txBody>
      </p:sp>
      <p:pic>
        <p:nvPicPr>
          <p:cNvPr id="10246" name="Picture 47">
            <a:extLst>
              <a:ext uri="{FF2B5EF4-FFF2-40B4-BE49-F238E27FC236}">
                <a16:creationId xmlns:a16="http://schemas.microsoft.com/office/drawing/2014/main" id="{14A8B0DD-AB4F-D1D7-A600-A7EC5DCB0DA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5813" y="2643188"/>
            <a:ext cx="7723187" cy="378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up)">
                                      <p:cBhvr>
                                        <p:cTn id="11" dur="1000"/>
                                        <p:tgtEl>
                                          <p:spTgt spid="14"/>
                                        </p:tgtEl>
                                      </p:cBhvr>
                                    </p:animEffect>
                                  </p:childTnLst>
                                </p:cTn>
                              </p:par>
                            </p:childTnLst>
                          </p:cTn>
                        </p:par>
                        <p:par>
                          <p:cTn id="12" fill="hold" nodeType="afterGroup">
                            <p:stCondLst>
                              <p:cond delay="2000"/>
                            </p:stCondLst>
                            <p:childTnLst>
                              <p:par>
                                <p:cTn id="13" presetID="22" presetClass="entr" presetSubtype="1" fill="hold" nodeType="afterEffect">
                                  <p:stCondLst>
                                    <p:cond delay="0"/>
                                  </p:stCondLst>
                                  <p:childTnLst>
                                    <p:set>
                                      <p:cBhvr>
                                        <p:cTn id="14" dur="1" fill="hold">
                                          <p:stCondLst>
                                            <p:cond delay="0"/>
                                          </p:stCondLst>
                                        </p:cTn>
                                        <p:tgtEl>
                                          <p:spTgt spid="10243"/>
                                        </p:tgtEl>
                                        <p:attrNameLst>
                                          <p:attrName>style.visibility</p:attrName>
                                        </p:attrNameLst>
                                      </p:cBhvr>
                                      <p:to>
                                        <p:strVal val="visible"/>
                                      </p:to>
                                    </p:set>
                                    <p:animEffect transition="in" filter="wipe(up)">
                                      <p:cBhvr>
                                        <p:cTn id="15" dur="1000"/>
                                        <p:tgtEl>
                                          <p:spTgt spid="10243"/>
                                        </p:tgtEl>
                                      </p:cBhvr>
                                    </p:animEffect>
                                  </p:childTnLst>
                                </p:cTn>
                              </p:par>
                              <p:par>
                                <p:cTn id="16" presetID="22" presetClass="entr" presetSubtype="1" fill="hold" nodeType="withEffect">
                                  <p:stCondLst>
                                    <p:cond delay="0"/>
                                  </p:stCondLst>
                                  <p:childTnLst>
                                    <p:set>
                                      <p:cBhvr>
                                        <p:cTn id="17" dur="1" fill="hold">
                                          <p:stCondLst>
                                            <p:cond delay="0"/>
                                          </p:stCondLst>
                                        </p:cTn>
                                        <p:tgtEl>
                                          <p:spTgt spid="13315"/>
                                        </p:tgtEl>
                                        <p:attrNameLst>
                                          <p:attrName>style.visibility</p:attrName>
                                        </p:attrNameLst>
                                      </p:cBhvr>
                                      <p:to>
                                        <p:strVal val="visible"/>
                                      </p:to>
                                    </p:set>
                                    <p:animEffect transition="in" filter="wipe(up)">
                                      <p:cBhvr>
                                        <p:cTn id="18" dur="1000"/>
                                        <p:tgtEl>
                                          <p:spTgt spid="1331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nodeType="clickEffect">
                                  <p:stCondLst>
                                    <p:cond delay="0"/>
                                  </p:stCondLst>
                                  <p:childTnLst>
                                    <p:set>
                                      <p:cBhvr>
                                        <p:cTn id="22" dur="1" fill="hold">
                                          <p:stCondLst>
                                            <p:cond delay="0"/>
                                          </p:stCondLst>
                                        </p:cTn>
                                        <p:tgtEl>
                                          <p:spTgt spid="10246"/>
                                        </p:tgtEl>
                                        <p:attrNameLst>
                                          <p:attrName>style.visibility</p:attrName>
                                        </p:attrNameLst>
                                      </p:cBhvr>
                                      <p:to>
                                        <p:strVal val="visible"/>
                                      </p:to>
                                    </p:set>
                                    <p:animEffect transition="in" filter="wipe(up)">
                                      <p:cBhvr>
                                        <p:cTn id="23" dur="1000"/>
                                        <p:tgtEl>
                                          <p:spTgt spid="10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52" name="Picture 12">
            <a:extLst>
              <a:ext uri="{FF2B5EF4-FFF2-40B4-BE49-F238E27FC236}">
                <a16:creationId xmlns:a16="http://schemas.microsoft.com/office/drawing/2014/main" id="{306D7A7F-CB13-E2B5-454F-EC2B297056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0426"/>
          <a:stretch>
            <a:fillRect/>
          </a:stretch>
        </p:blipFill>
        <p:spPr bwMode="auto">
          <a:xfrm>
            <a:off x="3648075" y="2286000"/>
            <a:ext cx="4781550" cy="168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6CB8337C-4B4B-C132-0A76-B699CD73903C}"/>
              </a:ext>
            </a:extLst>
          </p:cNvPr>
          <p:cNvSpPr/>
          <p:nvPr/>
        </p:nvSpPr>
        <p:spPr>
          <a:xfrm>
            <a:off x="1406525" y="1000125"/>
            <a:ext cx="1808163" cy="523875"/>
          </a:xfrm>
          <a:prstGeom prst="rect">
            <a:avLst/>
          </a:prstGeom>
        </p:spPr>
        <p:txBody>
          <a:bodyPr wrap="none">
            <a:spAutoFit/>
          </a:bodyPr>
          <a:lstStyle/>
          <a:p>
            <a:pPr>
              <a:defRPr/>
            </a:pPr>
            <a:r>
              <a:rPr kumimoji="0" lang="zh-CN" altLang="en-US" sz="2800" kern="0" dirty="0">
                <a:solidFill>
                  <a:srgbClr val="003399"/>
                </a:solidFill>
                <a:latin typeface="黑体" pitchFamily="2" charset="-122"/>
                <a:ea typeface="黑体" pitchFamily="2" charset="-122"/>
                <a:cs typeface="Arial" pitchFamily="34" charset="0"/>
              </a:rPr>
              <a:t>由表可见</a:t>
            </a:r>
            <a:r>
              <a:rPr kumimoji="0" lang="en-US" altLang="zh-CN" sz="2800" kern="0" dirty="0">
                <a:solidFill>
                  <a:srgbClr val="003399"/>
                </a:solidFill>
                <a:latin typeface="黑体" pitchFamily="2" charset="-122"/>
                <a:ea typeface="黑体" pitchFamily="2" charset="-122"/>
                <a:cs typeface="Arial" pitchFamily="34" charset="0"/>
              </a:rPr>
              <a:t>:</a:t>
            </a:r>
            <a:endParaRPr lang="zh-CN" altLang="en-US" sz="2800" dirty="0">
              <a:solidFill>
                <a:srgbClr val="003399"/>
              </a:solidFill>
              <a:latin typeface="黑体" pitchFamily="2" charset="-122"/>
              <a:ea typeface="黑体" pitchFamily="2" charset="-122"/>
            </a:endParaRPr>
          </a:p>
        </p:txBody>
      </p:sp>
      <p:sp>
        <p:nvSpPr>
          <p:cNvPr id="7" name="矩形 6">
            <a:extLst>
              <a:ext uri="{FF2B5EF4-FFF2-40B4-BE49-F238E27FC236}">
                <a16:creationId xmlns:a16="http://schemas.microsoft.com/office/drawing/2014/main" id="{6F2402DA-598D-CE2E-A82E-5B1819E9B331}"/>
              </a:ext>
            </a:extLst>
          </p:cNvPr>
          <p:cNvSpPr/>
          <p:nvPr/>
        </p:nvSpPr>
        <p:spPr>
          <a:xfrm>
            <a:off x="3714750" y="1028700"/>
            <a:ext cx="4643438" cy="1063625"/>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marL="228600" indent="-228600">
              <a:lnSpc>
                <a:spcPts val="3500"/>
              </a:lnSpc>
              <a:spcBef>
                <a:spcPct val="20000"/>
              </a:spcBef>
              <a:buClr>
                <a:srgbClr val="FFCF01"/>
              </a:buClr>
              <a:buSzPct val="55000"/>
              <a:defRPr/>
            </a:pPr>
            <a:r>
              <a:rPr kumimoji="0" lang="zh-CN" altLang="en-US" sz="2000" b="0" kern="0" dirty="0">
                <a:solidFill>
                  <a:srgbClr val="000000"/>
                </a:solidFill>
                <a:latin typeface="Arial" pitchFamily="34" charset="0"/>
                <a:ea typeface="微软雅黑" pitchFamily="34" charset="-122"/>
                <a:cs typeface="Arial" pitchFamily="34" charset="0"/>
              </a:rPr>
              <a:t>  仅当一位错码的位置在</a:t>
            </a:r>
            <a:r>
              <a:rPr kumimoji="0" lang="en-US" altLang="zh-CN" sz="2400" i="1" kern="0" dirty="0">
                <a:solidFill>
                  <a:srgbClr val="000000"/>
                </a:solidFill>
                <a:latin typeface="Arial" pitchFamily="34" charset="0"/>
                <a:ea typeface="微软雅黑" pitchFamily="34" charset="-122"/>
                <a:cs typeface="Arial" pitchFamily="34" charset="0"/>
              </a:rPr>
              <a:t>a</a:t>
            </a:r>
            <a:r>
              <a:rPr kumimoji="0" lang="en-US" altLang="zh-CN" sz="2400" kern="0" baseline="-25000" dirty="0">
                <a:solidFill>
                  <a:srgbClr val="000000"/>
                </a:solidFill>
                <a:latin typeface="Arial" pitchFamily="34" charset="0"/>
                <a:ea typeface="微软雅黑" pitchFamily="34" charset="-122"/>
                <a:cs typeface="Arial" pitchFamily="34" charset="0"/>
              </a:rPr>
              <a:t>2</a:t>
            </a:r>
            <a:r>
              <a:rPr kumimoji="0" lang="en-US" altLang="zh-CN" sz="2400" kern="0" dirty="0">
                <a:solidFill>
                  <a:srgbClr val="000000"/>
                </a:solidFill>
                <a:latin typeface="Arial" pitchFamily="34" charset="0"/>
                <a:ea typeface="微软雅黑" pitchFamily="34" charset="-122"/>
                <a:cs typeface="Arial" pitchFamily="34" charset="0"/>
              </a:rPr>
              <a:t> </a:t>
            </a:r>
            <a:r>
              <a:rPr kumimoji="0" lang="zh-CN" altLang="en-US" sz="2400" kern="0" dirty="0">
                <a:solidFill>
                  <a:srgbClr val="000000"/>
                </a:solidFill>
                <a:latin typeface="Arial" pitchFamily="34" charset="0"/>
                <a:ea typeface="微软雅黑" pitchFamily="34" charset="-122"/>
                <a:cs typeface="Arial" pitchFamily="34" charset="0"/>
              </a:rPr>
              <a:t>、</a:t>
            </a:r>
            <a:r>
              <a:rPr kumimoji="0" lang="en-US" altLang="zh-CN" sz="2400" i="1" kern="0" dirty="0">
                <a:solidFill>
                  <a:srgbClr val="000000"/>
                </a:solidFill>
                <a:latin typeface="Arial" pitchFamily="34" charset="0"/>
                <a:ea typeface="微软雅黑" pitchFamily="34" charset="-122"/>
                <a:cs typeface="Arial" pitchFamily="34" charset="0"/>
              </a:rPr>
              <a:t>a</a:t>
            </a:r>
            <a:r>
              <a:rPr kumimoji="0" lang="en-US" altLang="zh-CN" sz="2400" kern="0" baseline="-25000" dirty="0">
                <a:solidFill>
                  <a:srgbClr val="000000"/>
                </a:solidFill>
                <a:latin typeface="Arial" pitchFamily="34" charset="0"/>
                <a:ea typeface="微软雅黑" pitchFamily="34" charset="-122"/>
                <a:cs typeface="Arial" pitchFamily="34" charset="0"/>
              </a:rPr>
              <a:t>4</a:t>
            </a:r>
            <a:r>
              <a:rPr kumimoji="0" lang="zh-CN" altLang="en-US" sz="2400" kern="0" dirty="0">
                <a:solidFill>
                  <a:srgbClr val="000000"/>
                </a:solidFill>
                <a:latin typeface="Arial" pitchFamily="34" charset="0"/>
                <a:ea typeface="微软雅黑" pitchFamily="34" charset="-122"/>
                <a:cs typeface="Arial" pitchFamily="34" charset="0"/>
              </a:rPr>
              <a:t>、</a:t>
            </a:r>
            <a:r>
              <a:rPr kumimoji="0" lang="en-US" altLang="zh-CN" sz="2400" i="1" kern="0" dirty="0">
                <a:solidFill>
                  <a:srgbClr val="000000"/>
                </a:solidFill>
                <a:latin typeface="Arial" pitchFamily="34" charset="0"/>
                <a:ea typeface="微软雅黑" pitchFamily="34" charset="-122"/>
                <a:cs typeface="Arial" pitchFamily="34" charset="0"/>
              </a:rPr>
              <a:t>a</a:t>
            </a:r>
            <a:r>
              <a:rPr kumimoji="0" lang="en-US" altLang="zh-CN" sz="2400" kern="0" baseline="-25000" dirty="0">
                <a:solidFill>
                  <a:srgbClr val="000000"/>
                </a:solidFill>
                <a:latin typeface="Arial" pitchFamily="34" charset="0"/>
                <a:ea typeface="微软雅黑" pitchFamily="34" charset="-122"/>
                <a:cs typeface="Arial" pitchFamily="34" charset="0"/>
              </a:rPr>
              <a:t>5 </a:t>
            </a:r>
          </a:p>
          <a:p>
            <a:pPr marL="228600" indent="-228600">
              <a:lnSpc>
                <a:spcPts val="3500"/>
              </a:lnSpc>
              <a:spcBef>
                <a:spcPct val="20000"/>
              </a:spcBef>
              <a:buClr>
                <a:srgbClr val="FFCF01"/>
              </a:buClr>
              <a:buSzPct val="55000"/>
              <a:defRPr/>
            </a:pPr>
            <a:r>
              <a:rPr kumimoji="0" lang="zh-CN" altLang="en-US" sz="2000" b="0" kern="0" dirty="0">
                <a:solidFill>
                  <a:srgbClr val="000000"/>
                </a:solidFill>
                <a:latin typeface="Arial" pitchFamily="34" charset="0"/>
                <a:ea typeface="微软雅黑" pitchFamily="34" charset="-122"/>
                <a:cs typeface="Arial" pitchFamily="34" charset="0"/>
              </a:rPr>
              <a:t> 或</a:t>
            </a:r>
            <a:r>
              <a:rPr kumimoji="0" lang="en-US" altLang="zh-CN" sz="2400" i="1" kern="0" dirty="0">
                <a:solidFill>
                  <a:srgbClr val="000000"/>
                </a:solidFill>
                <a:latin typeface="Arial" pitchFamily="34" charset="0"/>
                <a:ea typeface="微软雅黑" pitchFamily="34" charset="-122"/>
                <a:cs typeface="Arial" pitchFamily="34" charset="0"/>
              </a:rPr>
              <a:t>a</a:t>
            </a:r>
            <a:r>
              <a:rPr kumimoji="0" lang="en-US" altLang="zh-CN" sz="2400" kern="0" baseline="-25000" dirty="0">
                <a:solidFill>
                  <a:srgbClr val="000000"/>
                </a:solidFill>
                <a:latin typeface="Arial" pitchFamily="34" charset="0"/>
                <a:ea typeface="微软雅黑" pitchFamily="34" charset="-122"/>
                <a:cs typeface="Arial" pitchFamily="34" charset="0"/>
              </a:rPr>
              <a:t>6</a:t>
            </a:r>
            <a:r>
              <a:rPr kumimoji="0" lang="en-US" altLang="zh-CN" sz="2400" b="0" kern="0" baseline="-25000" dirty="0">
                <a:solidFill>
                  <a:srgbClr val="000000"/>
                </a:solidFill>
                <a:latin typeface="Arial" pitchFamily="34" charset="0"/>
                <a:ea typeface="微软雅黑" pitchFamily="34" charset="-122"/>
                <a:cs typeface="Arial" pitchFamily="34" charset="0"/>
              </a:rPr>
              <a:t> </a:t>
            </a:r>
            <a:r>
              <a:rPr kumimoji="0" lang="zh-CN" altLang="en-US" sz="2000" b="0" kern="0" dirty="0">
                <a:solidFill>
                  <a:srgbClr val="000000"/>
                </a:solidFill>
                <a:latin typeface="Arial" pitchFamily="34" charset="0"/>
                <a:ea typeface="微软雅黑" pitchFamily="34" charset="-122"/>
                <a:cs typeface="Arial" pitchFamily="34" charset="0"/>
              </a:rPr>
              <a:t>时，</a:t>
            </a:r>
            <a:r>
              <a:rPr kumimoji="0" lang="en-US" altLang="zh-CN" sz="2000" b="0" kern="0" dirty="0">
                <a:solidFill>
                  <a:srgbClr val="000000"/>
                </a:solidFill>
                <a:latin typeface="Arial" pitchFamily="34" charset="0"/>
                <a:ea typeface="微软雅黑" pitchFamily="34" charset="-122"/>
                <a:cs typeface="Arial" pitchFamily="34" charset="0"/>
              </a:rPr>
              <a:t> </a:t>
            </a:r>
            <a:r>
              <a:rPr kumimoji="0" lang="zh-CN" altLang="en-US" sz="2000" b="0" kern="0" dirty="0">
                <a:solidFill>
                  <a:srgbClr val="000000"/>
                </a:solidFill>
                <a:latin typeface="Arial" pitchFamily="34" charset="0"/>
                <a:ea typeface="微软雅黑" pitchFamily="34" charset="-122"/>
                <a:cs typeface="Arial" pitchFamily="34" charset="0"/>
              </a:rPr>
              <a:t>校正子</a:t>
            </a:r>
            <a:r>
              <a:rPr kumimoji="0" lang="en-US" altLang="zh-CN" sz="2000" i="1" kern="0" dirty="0">
                <a:solidFill>
                  <a:schemeClr val="tx1"/>
                </a:solidFill>
                <a:latin typeface="Arial" pitchFamily="34" charset="0"/>
                <a:ea typeface="微软雅黑" pitchFamily="34" charset="-122"/>
                <a:cs typeface="Arial" pitchFamily="34" charset="0"/>
              </a:rPr>
              <a:t>S</a:t>
            </a:r>
            <a:r>
              <a:rPr kumimoji="0" lang="en-US" altLang="zh-CN" sz="2000" kern="0" baseline="-25000" dirty="0">
                <a:solidFill>
                  <a:schemeClr val="tx1"/>
                </a:solidFill>
                <a:latin typeface="Arial" pitchFamily="34" charset="0"/>
                <a:ea typeface="微软雅黑" pitchFamily="34" charset="-122"/>
                <a:cs typeface="Arial" pitchFamily="34" charset="0"/>
              </a:rPr>
              <a:t>1</a:t>
            </a:r>
            <a:r>
              <a:rPr kumimoji="0" lang="zh-CN" altLang="en-US" sz="2000" b="0" kern="0" dirty="0">
                <a:solidFill>
                  <a:schemeClr val="tx1"/>
                </a:solidFill>
                <a:latin typeface="Arial" pitchFamily="34" charset="0"/>
                <a:ea typeface="微软雅黑" pitchFamily="34" charset="-122"/>
                <a:cs typeface="Arial" pitchFamily="34" charset="0"/>
              </a:rPr>
              <a:t>为</a:t>
            </a:r>
            <a:r>
              <a:rPr kumimoji="0" lang="en-US" altLang="zh-CN" sz="2400" kern="0" dirty="0">
                <a:solidFill>
                  <a:schemeClr val="tx1"/>
                </a:solidFill>
                <a:latin typeface="Arial" pitchFamily="34" charset="0"/>
                <a:ea typeface="微软雅黑" pitchFamily="34" charset="-122"/>
                <a:cs typeface="Arial" pitchFamily="34" charset="0"/>
              </a:rPr>
              <a:t>1</a:t>
            </a:r>
            <a:r>
              <a:rPr kumimoji="0" lang="zh-CN" altLang="en-US" sz="2000" b="0" kern="0" dirty="0">
                <a:solidFill>
                  <a:schemeClr val="tx1"/>
                </a:solidFill>
                <a:latin typeface="Arial" pitchFamily="34" charset="0"/>
                <a:ea typeface="微软雅黑" pitchFamily="34" charset="-122"/>
                <a:cs typeface="Arial" pitchFamily="34" charset="0"/>
              </a:rPr>
              <a:t>；否则</a:t>
            </a:r>
            <a:r>
              <a:rPr kumimoji="0" lang="en-US" altLang="zh-CN" sz="2000" i="1" kern="0" dirty="0">
                <a:solidFill>
                  <a:schemeClr val="tx1"/>
                </a:solidFill>
                <a:latin typeface="Arial" pitchFamily="34" charset="0"/>
                <a:ea typeface="微软雅黑" pitchFamily="34" charset="-122"/>
                <a:cs typeface="Arial" pitchFamily="34" charset="0"/>
              </a:rPr>
              <a:t>S</a:t>
            </a:r>
            <a:r>
              <a:rPr kumimoji="0" lang="en-US" altLang="zh-CN" sz="2000" kern="0" baseline="-25000" dirty="0">
                <a:solidFill>
                  <a:schemeClr val="tx1"/>
                </a:solidFill>
                <a:latin typeface="Arial" pitchFamily="34" charset="0"/>
                <a:ea typeface="微软雅黑" pitchFamily="34" charset="-122"/>
                <a:cs typeface="Arial" pitchFamily="34" charset="0"/>
              </a:rPr>
              <a:t>1</a:t>
            </a:r>
            <a:r>
              <a:rPr kumimoji="0" lang="zh-CN" altLang="en-US" sz="2000" b="0" kern="0" dirty="0">
                <a:solidFill>
                  <a:srgbClr val="000000"/>
                </a:solidFill>
                <a:latin typeface="Arial" pitchFamily="34" charset="0"/>
                <a:ea typeface="微软雅黑" pitchFamily="34" charset="-122"/>
                <a:cs typeface="Arial" pitchFamily="34" charset="0"/>
              </a:rPr>
              <a:t>为</a:t>
            </a:r>
            <a:r>
              <a:rPr kumimoji="0" lang="zh-CN" altLang="en-US" sz="2000" kern="0" dirty="0">
                <a:solidFill>
                  <a:srgbClr val="000000"/>
                </a:solidFill>
                <a:latin typeface="Arial" pitchFamily="34" charset="0"/>
                <a:ea typeface="微软雅黑" pitchFamily="34" charset="-122"/>
                <a:cs typeface="Arial" pitchFamily="34" charset="0"/>
              </a:rPr>
              <a:t> </a:t>
            </a:r>
            <a:r>
              <a:rPr kumimoji="0" lang="en-US" altLang="zh-CN" sz="2400" kern="0" dirty="0">
                <a:solidFill>
                  <a:srgbClr val="000000"/>
                </a:solidFill>
                <a:latin typeface="Arial" pitchFamily="34" charset="0"/>
                <a:ea typeface="微软雅黑" pitchFamily="34" charset="-122"/>
                <a:cs typeface="Arial" pitchFamily="34" charset="0"/>
              </a:rPr>
              <a:t>0</a:t>
            </a:r>
            <a:r>
              <a:rPr kumimoji="0" lang="zh-CN" altLang="en-US" sz="2000" b="0" kern="0" dirty="0">
                <a:solidFill>
                  <a:srgbClr val="000000"/>
                </a:solidFill>
                <a:latin typeface="Arial" pitchFamily="34" charset="0"/>
                <a:ea typeface="微软雅黑" pitchFamily="34" charset="-122"/>
                <a:cs typeface="Arial" pitchFamily="34" charset="0"/>
              </a:rPr>
              <a:t>。</a:t>
            </a:r>
            <a:endParaRPr lang="zh-CN" altLang="en-US" dirty="0"/>
          </a:p>
        </p:txBody>
      </p:sp>
      <p:sp>
        <p:nvSpPr>
          <p:cNvPr id="9" name="矩形 8">
            <a:extLst>
              <a:ext uri="{FF2B5EF4-FFF2-40B4-BE49-F238E27FC236}">
                <a16:creationId xmlns:a16="http://schemas.microsoft.com/office/drawing/2014/main" id="{8CEE315D-E61C-B2DA-1EE9-183EDDC9DFA9}"/>
              </a:ext>
            </a:extLst>
          </p:cNvPr>
          <p:cNvSpPr/>
          <p:nvPr/>
        </p:nvSpPr>
        <p:spPr>
          <a:xfrm>
            <a:off x="3857625" y="4000500"/>
            <a:ext cx="1000125" cy="400050"/>
          </a:xfrm>
          <a:prstGeom prst="rect">
            <a:avLst/>
          </a:prstGeom>
        </p:spPr>
        <p:txBody>
          <a:bodyPr>
            <a:spAutoFit/>
          </a:bodyPr>
          <a:lstStyle/>
          <a:p>
            <a:pPr>
              <a:defRPr/>
            </a:pP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同理</a:t>
            </a:r>
            <a:r>
              <a:rPr kumimoji="0" lang="zh-CN" altLang="en-US" sz="2000" b="0" kern="0" dirty="0">
                <a:solidFill>
                  <a:srgbClr val="000000"/>
                </a:solidFill>
                <a:effectLst>
                  <a:outerShdw blurRad="38100" dist="38100" dir="2700000" algn="tl">
                    <a:srgbClr val="000000">
                      <a:alpha val="43137"/>
                    </a:srgbClr>
                  </a:outerShdw>
                </a:effectLst>
                <a:latin typeface="+mn-ea"/>
                <a:ea typeface="+mn-ea"/>
                <a:cs typeface="Arial" pitchFamily="34" charset="0"/>
              </a:rPr>
              <a:t>：</a:t>
            </a:r>
            <a:endParaRPr lang="zh-CN" altLang="en-US" dirty="0">
              <a:effectLst>
                <a:outerShdw blurRad="38100" dist="38100" dir="2700000" algn="tl">
                  <a:srgbClr val="000000">
                    <a:alpha val="43137"/>
                  </a:srgbClr>
                </a:outerShdw>
              </a:effectLst>
              <a:latin typeface="+mn-ea"/>
              <a:ea typeface="+mn-ea"/>
            </a:endParaRPr>
          </a:p>
        </p:txBody>
      </p:sp>
      <p:graphicFrame>
        <p:nvGraphicFramePr>
          <p:cNvPr id="17410" name="Object 7">
            <a:extLst>
              <a:ext uri="{FF2B5EF4-FFF2-40B4-BE49-F238E27FC236}">
                <a16:creationId xmlns:a16="http://schemas.microsoft.com/office/drawing/2014/main" id="{BC44E957-620C-3220-E81C-BAAEC85AB43B}"/>
              </a:ext>
            </a:extLst>
          </p:cNvPr>
          <p:cNvGraphicFramePr>
            <a:graphicFrameLocks noChangeAspect="1"/>
          </p:cNvGraphicFramePr>
          <p:nvPr/>
        </p:nvGraphicFramePr>
        <p:xfrm>
          <a:off x="4816475" y="3357563"/>
          <a:ext cx="3100388" cy="527050"/>
        </p:xfrm>
        <a:graphic>
          <a:graphicData uri="http://schemas.openxmlformats.org/presentationml/2006/ole">
            <mc:AlternateContent xmlns:mc="http://schemas.openxmlformats.org/markup-compatibility/2006">
              <mc:Choice xmlns:v="urn:schemas-microsoft-com:vml" Requires="v">
                <p:oleObj name="Equation" r:id="rId4" imgW="1346040" imgH="228600" progId="Equation.DSMT4">
                  <p:embed/>
                </p:oleObj>
              </mc:Choice>
              <mc:Fallback>
                <p:oleObj name="Equation" r:id="rId4" imgW="1346040" imgH="22860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16475" y="3357563"/>
                        <a:ext cx="3100388"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graphicFrame>
        <p:nvGraphicFramePr>
          <p:cNvPr id="17411" name="Object 3">
            <a:extLst>
              <a:ext uri="{FF2B5EF4-FFF2-40B4-BE49-F238E27FC236}">
                <a16:creationId xmlns:a16="http://schemas.microsoft.com/office/drawing/2014/main" id="{D53BAE48-8817-0BE7-D1ED-C90B38463F02}"/>
              </a:ext>
            </a:extLst>
          </p:cNvPr>
          <p:cNvGraphicFramePr>
            <a:graphicFrameLocks noChangeAspect="1"/>
          </p:cNvGraphicFramePr>
          <p:nvPr/>
        </p:nvGraphicFramePr>
        <p:xfrm>
          <a:off x="4799013" y="4000500"/>
          <a:ext cx="3100387" cy="527050"/>
        </p:xfrm>
        <a:graphic>
          <a:graphicData uri="http://schemas.openxmlformats.org/presentationml/2006/ole">
            <mc:AlternateContent xmlns:mc="http://schemas.openxmlformats.org/markup-compatibility/2006">
              <mc:Choice xmlns:v="urn:schemas-microsoft-com:vml" Requires="v">
                <p:oleObj name="Equation" r:id="rId6" imgW="1346040" imgH="228600" progId="Equation.DSMT4">
                  <p:embed/>
                </p:oleObj>
              </mc:Choice>
              <mc:Fallback>
                <p:oleObj name="Equation" r:id="rId6" imgW="1346040" imgH="228600"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99013" y="4000500"/>
                        <a:ext cx="3100387"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graphicFrame>
        <p:nvGraphicFramePr>
          <p:cNvPr id="17412" name="Object 9">
            <a:extLst>
              <a:ext uri="{FF2B5EF4-FFF2-40B4-BE49-F238E27FC236}">
                <a16:creationId xmlns:a16="http://schemas.microsoft.com/office/drawing/2014/main" id="{7978191E-232C-308A-9D9A-EF23EC2C4E5B}"/>
              </a:ext>
            </a:extLst>
          </p:cNvPr>
          <p:cNvGraphicFramePr>
            <a:graphicFrameLocks noChangeAspect="1"/>
          </p:cNvGraphicFramePr>
          <p:nvPr/>
        </p:nvGraphicFramePr>
        <p:xfrm>
          <a:off x="4799013" y="4643438"/>
          <a:ext cx="3130550" cy="527050"/>
        </p:xfrm>
        <a:graphic>
          <a:graphicData uri="http://schemas.openxmlformats.org/presentationml/2006/ole">
            <mc:AlternateContent xmlns:mc="http://schemas.openxmlformats.org/markup-compatibility/2006">
              <mc:Choice xmlns:v="urn:schemas-microsoft-com:vml" Requires="v">
                <p:oleObj name="Equation" r:id="rId8" imgW="1358640" imgH="228600" progId="Equation.DSMT4">
                  <p:embed/>
                </p:oleObj>
              </mc:Choice>
              <mc:Fallback>
                <p:oleObj name="Equation" r:id="rId8" imgW="1358640" imgH="228600"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99013" y="4643438"/>
                        <a:ext cx="3130550"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pic>
        <p:nvPicPr>
          <p:cNvPr id="10249" name="Picture 42">
            <a:extLst>
              <a:ext uri="{FF2B5EF4-FFF2-40B4-BE49-F238E27FC236}">
                <a16:creationId xmlns:a16="http://schemas.microsoft.com/office/drawing/2014/main" id="{DF3B8FC3-E222-462E-93F2-9EF8963A0C9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1838" y="1571625"/>
            <a:ext cx="2627312" cy="418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1" name="Picture 11">
            <a:extLst>
              <a:ext uri="{FF2B5EF4-FFF2-40B4-BE49-F238E27FC236}">
                <a16:creationId xmlns:a16="http://schemas.microsoft.com/office/drawing/2014/main" id="{28B7B3BB-36C3-9481-D3AE-DC15BDD7DAF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71875" y="5249863"/>
            <a:ext cx="485775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10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10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0252"/>
                                        </p:tgtEl>
                                        <p:attrNameLst>
                                          <p:attrName>style.visibility</p:attrName>
                                        </p:attrNameLst>
                                      </p:cBhvr>
                                      <p:to>
                                        <p:strVal val="visible"/>
                                      </p:to>
                                    </p:set>
                                    <p:animEffect transition="in" filter="wipe(up)">
                                      <p:cBhvr>
                                        <p:cTn id="17" dur="1000"/>
                                        <p:tgtEl>
                                          <p:spTgt spid="10252"/>
                                        </p:tgtEl>
                                      </p:cBhvr>
                                    </p:animEffect>
                                  </p:childTnLst>
                                </p:cTn>
                              </p:par>
                            </p:childTnLst>
                          </p:cTn>
                        </p:par>
                        <p:par>
                          <p:cTn id="18" fill="hold" nodeType="afterGroup">
                            <p:stCondLst>
                              <p:cond delay="1000"/>
                            </p:stCondLst>
                            <p:childTnLst>
                              <p:par>
                                <p:cTn id="19" presetID="22" presetClass="entr" presetSubtype="1" fill="hold" nodeType="afterEffect">
                                  <p:stCondLst>
                                    <p:cond delay="0"/>
                                  </p:stCondLst>
                                  <p:childTnLst>
                                    <p:set>
                                      <p:cBhvr>
                                        <p:cTn id="20" dur="1" fill="hold">
                                          <p:stCondLst>
                                            <p:cond delay="0"/>
                                          </p:stCondLst>
                                        </p:cTn>
                                        <p:tgtEl>
                                          <p:spTgt spid="17410"/>
                                        </p:tgtEl>
                                        <p:attrNameLst>
                                          <p:attrName>style.visibility</p:attrName>
                                        </p:attrNameLst>
                                      </p:cBhvr>
                                      <p:to>
                                        <p:strVal val="visible"/>
                                      </p:to>
                                    </p:set>
                                    <p:animEffect transition="in" filter="wipe(up)">
                                      <p:cBhvr>
                                        <p:cTn id="21" dur="1000"/>
                                        <p:tgtEl>
                                          <p:spTgt spid="1741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up)">
                                      <p:cBhvr>
                                        <p:cTn id="26" dur="1000"/>
                                        <p:tgtEl>
                                          <p:spTgt spid="9"/>
                                        </p:tgtEl>
                                      </p:cBhvr>
                                    </p:animEffect>
                                  </p:childTnLst>
                                </p:cTn>
                              </p:par>
                            </p:childTnLst>
                          </p:cTn>
                        </p:par>
                        <p:par>
                          <p:cTn id="27" fill="hold" nodeType="afterGroup">
                            <p:stCondLst>
                              <p:cond delay="1000"/>
                            </p:stCondLst>
                            <p:childTnLst>
                              <p:par>
                                <p:cTn id="28" presetID="22" presetClass="entr" presetSubtype="1" fill="hold" nodeType="afterEffect">
                                  <p:stCondLst>
                                    <p:cond delay="0"/>
                                  </p:stCondLst>
                                  <p:childTnLst>
                                    <p:set>
                                      <p:cBhvr>
                                        <p:cTn id="29" dur="1" fill="hold">
                                          <p:stCondLst>
                                            <p:cond delay="0"/>
                                          </p:stCondLst>
                                        </p:cTn>
                                        <p:tgtEl>
                                          <p:spTgt spid="17411"/>
                                        </p:tgtEl>
                                        <p:attrNameLst>
                                          <p:attrName>style.visibility</p:attrName>
                                        </p:attrNameLst>
                                      </p:cBhvr>
                                      <p:to>
                                        <p:strVal val="visible"/>
                                      </p:to>
                                    </p:set>
                                    <p:animEffect transition="in" filter="wipe(up)">
                                      <p:cBhvr>
                                        <p:cTn id="30" dur="1000"/>
                                        <p:tgtEl>
                                          <p:spTgt spid="17411"/>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17412"/>
                                        </p:tgtEl>
                                        <p:attrNameLst>
                                          <p:attrName>style.visibility</p:attrName>
                                        </p:attrNameLst>
                                      </p:cBhvr>
                                      <p:to>
                                        <p:strVal val="visible"/>
                                      </p:to>
                                    </p:set>
                                    <p:animEffect transition="in" filter="wipe(up)">
                                      <p:cBhvr>
                                        <p:cTn id="35" dur="1000"/>
                                        <p:tgtEl>
                                          <p:spTgt spid="1741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10251"/>
                                        </p:tgtEl>
                                        <p:attrNameLst>
                                          <p:attrName>style.visibility</p:attrName>
                                        </p:attrNameLst>
                                      </p:cBhvr>
                                      <p:to>
                                        <p:strVal val="visible"/>
                                      </p:to>
                                    </p:set>
                                    <p:animEffect transition="in" filter="wipe(up)">
                                      <p:cBhvr>
                                        <p:cTn id="40" dur="1000"/>
                                        <p:tgtEl>
                                          <p:spTgt spid="10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40" name="Object 2">
            <a:extLst>
              <a:ext uri="{FF2B5EF4-FFF2-40B4-BE49-F238E27FC236}">
                <a16:creationId xmlns:a16="http://schemas.microsoft.com/office/drawing/2014/main" id="{BE24FA38-3E69-B86B-55BD-EA2A929ED28E}"/>
              </a:ext>
            </a:extLst>
          </p:cNvPr>
          <p:cNvGraphicFramePr>
            <a:graphicFrameLocks noChangeAspect="1"/>
          </p:cNvGraphicFramePr>
          <p:nvPr/>
        </p:nvGraphicFramePr>
        <p:xfrm>
          <a:off x="642938" y="1071563"/>
          <a:ext cx="3000375" cy="1543050"/>
        </p:xfrm>
        <a:graphic>
          <a:graphicData uri="http://schemas.openxmlformats.org/presentationml/2006/ole">
            <mc:AlternateContent xmlns:mc="http://schemas.openxmlformats.org/markup-compatibility/2006">
              <mc:Choice xmlns:v="urn:schemas-microsoft-com:vml" Requires="v">
                <p:oleObj name="Equation" r:id="rId3" imgW="1384200" imgH="711000" progId="Equation.DSMT4">
                  <p:embed/>
                </p:oleObj>
              </mc:Choice>
              <mc:Fallback>
                <p:oleObj name="Equation" r:id="rId3" imgW="1384200" imgH="7110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2938" y="1071563"/>
                        <a:ext cx="3000375" cy="15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graphicFrame>
        <p:nvGraphicFramePr>
          <p:cNvPr id="10" name="Object 8">
            <a:extLst>
              <a:ext uri="{FF2B5EF4-FFF2-40B4-BE49-F238E27FC236}">
                <a16:creationId xmlns:a16="http://schemas.microsoft.com/office/drawing/2014/main" id="{0E4AB71E-7A2D-559F-4E47-39743DC3754F}"/>
              </a:ext>
            </a:extLst>
          </p:cNvPr>
          <p:cNvGraphicFramePr>
            <a:graphicFrameLocks noChangeAspect="1"/>
          </p:cNvGraphicFramePr>
          <p:nvPr/>
        </p:nvGraphicFramePr>
        <p:xfrm>
          <a:off x="1019175" y="3571875"/>
          <a:ext cx="2552700" cy="1571625"/>
        </p:xfrm>
        <a:graphic>
          <a:graphicData uri="http://schemas.openxmlformats.org/presentationml/2006/ole">
            <mc:AlternateContent xmlns:mc="http://schemas.openxmlformats.org/markup-compatibility/2006">
              <mc:Choice xmlns:v="urn:schemas-microsoft-com:vml" Requires="v">
                <p:oleObj name="Equation" r:id="rId5" imgW="1155600" imgH="711000" progId="Equation.DSMT4">
                  <p:embed/>
                </p:oleObj>
              </mc:Choice>
              <mc:Fallback>
                <p:oleObj name="Equation" r:id="rId5" imgW="1155600" imgH="7110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9175" y="3571875"/>
                        <a:ext cx="2552700" cy="157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sp>
        <p:nvSpPr>
          <p:cNvPr id="11" name="右箭头 10">
            <a:extLst>
              <a:ext uri="{FF2B5EF4-FFF2-40B4-BE49-F238E27FC236}">
                <a16:creationId xmlns:a16="http://schemas.microsoft.com/office/drawing/2014/main" id="{34F2AF17-CDDF-B926-310B-AB42025B01CE}"/>
              </a:ext>
            </a:extLst>
          </p:cNvPr>
          <p:cNvSpPr/>
          <p:nvPr/>
        </p:nvSpPr>
        <p:spPr bwMode="auto">
          <a:xfrm rot="5400000">
            <a:off x="1000125" y="3000375"/>
            <a:ext cx="714375" cy="142875"/>
          </a:xfrm>
          <a:prstGeom prst="rightArrow">
            <a:avLst/>
          </a:prstGeom>
          <a:solidFill>
            <a:schemeClr val="tx2">
              <a:lumMod val="20000"/>
              <a:lumOff val="80000"/>
            </a:schemeClr>
          </a:solidFill>
          <a:ln w="9525" cap="flat" cmpd="sng" algn="ctr">
            <a:solidFill>
              <a:srgbClr val="0066FF"/>
            </a:solidFill>
            <a:prstDash val="solid"/>
            <a:miter lim="800000"/>
            <a:headEnd type="none" w="med" len="med"/>
            <a:tailEnd type="none" w="med" len="med"/>
          </a:ln>
          <a:effectLst>
            <a:outerShdw blurRad="50800" dist="38100" dir="2700000" algn="tl" rotWithShape="0">
              <a:prstClr val="black">
                <a:alpha val="40000"/>
              </a:prstClr>
            </a:outerShdw>
          </a:effectLst>
        </p:spPr>
        <p:txBody>
          <a:bodyPr wrap="none"/>
          <a:lstStyle/>
          <a:p>
            <a:pPr>
              <a:defRPr/>
            </a:pPr>
            <a:endParaRPr lang="zh-CN" altLang="en-US"/>
          </a:p>
        </p:txBody>
      </p:sp>
      <p:sp>
        <p:nvSpPr>
          <p:cNvPr id="13" name="矩形 12">
            <a:extLst>
              <a:ext uri="{FF2B5EF4-FFF2-40B4-BE49-F238E27FC236}">
                <a16:creationId xmlns:a16="http://schemas.microsoft.com/office/drawing/2014/main" id="{8C10F6E0-816C-3F75-B84B-25BD1AD831CB}"/>
              </a:ext>
            </a:extLst>
          </p:cNvPr>
          <p:cNvSpPr/>
          <p:nvPr/>
        </p:nvSpPr>
        <p:spPr>
          <a:xfrm>
            <a:off x="546100" y="4143375"/>
            <a:ext cx="525463" cy="400050"/>
          </a:xfrm>
          <a:prstGeom prst="rect">
            <a:avLst/>
          </a:prstGeom>
        </p:spPr>
        <p:txBody>
          <a:bodyPr wrap="none">
            <a:spAutoFit/>
          </a:bodyPr>
          <a:lstStyle/>
          <a:p>
            <a:pPr>
              <a:defRPr/>
            </a:pPr>
            <a:r>
              <a:rPr kumimoji="0" lang="en-US" altLang="zh-CN" sz="2000" b="0" kern="0" dirty="0">
                <a:solidFill>
                  <a:srgbClr val="FF0000"/>
                </a:solidFill>
                <a:latin typeface="Arial" pitchFamily="34" charset="0"/>
                <a:ea typeface="微软雅黑" pitchFamily="34" charset="-122"/>
                <a:cs typeface="Arial" pitchFamily="34" charset="0"/>
              </a:rPr>
              <a:t>(A)</a:t>
            </a:r>
            <a:endParaRPr lang="zh-CN" altLang="en-US" dirty="0"/>
          </a:p>
        </p:txBody>
      </p:sp>
      <p:sp>
        <p:nvSpPr>
          <p:cNvPr id="14" name="矩形 13">
            <a:extLst>
              <a:ext uri="{FF2B5EF4-FFF2-40B4-BE49-F238E27FC236}">
                <a16:creationId xmlns:a16="http://schemas.microsoft.com/office/drawing/2014/main" id="{B32CC023-0CF9-B635-0373-21D7F257CFC0}"/>
              </a:ext>
            </a:extLst>
          </p:cNvPr>
          <p:cNvSpPr/>
          <p:nvPr/>
        </p:nvSpPr>
        <p:spPr>
          <a:xfrm>
            <a:off x="1500188" y="2714625"/>
            <a:ext cx="1338262" cy="773113"/>
          </a:xfrm>
          <a:prstGeom prst="rect">
            <a:avLst/>
          </a:prstGeom>
        </p:spPr>
        <p:txBody>
          <a:bodyPr wrap="none">
            <a:spAutoFit/>
          </a:bodyPr>
          <a:lstStyle/>
          <a:p>
            <a:pPr>
              <a:lnSpc>
                <a:spcPts val="2800"/>
              </a:lnSpc>
              <a:defRPr/>
            </a:pPr>
            <a:r>
              <a:rPr kumimoji="0" lang="zh-CN" altLang="en-US" sz="1800" b="0" kern="0" dirty="0">
                <a:solidFill>
                  <a:srgbClr val="000000"/>
                </a:solidFill>
                <a:latin typeface="Arial" pitchFamily="34" charset="0"/>
                <a:ea typeface="微软雅黑" pitchFamily="34" charset="-122"/>
                <a:cs typeface="Arial" pitchFamily="34" charset="0"/>
              </a:rPr>
              <a:t>移项运算</a:t>
            </a:r>
            <a:endParaRPr kumimoji="0" lang="en-US" altLang="zh-CN" sz="1800" b="0" kern="0" dirty="0">
              <a:solidFill>
                <a:srgbClr val="000000"/>
              </a:solidFill>
              <a:latin typeface="Arial" pitchFamily="34" charset="0"/>
              <a:ea typeface="微软雅黑" pitchFamily="34" charset="-122"/>
              <a:cs typeface="Arial" pitchFamily="34" charset="0"/>
            </a:endParaRPr>
          </a:p>
          <a:p>
            <a:pPr>
              <a:lnSpc>
                <a:spcPts val="2800"/>
              </a:lnSpc>
              <a:defRPr/>
            </a:pPr>
            <a:r>
              <a:rPr kumimoji="0" lang="zh-CN" altLang="en-US" sz="1800" b="0" kern="0" dirty="0">
                <a:solidFill>
                  <a:srgbClr val="000000"/>
                </a:solidFill>
                <a:latin typeface="Arial" pitchFamily="34" charset="0"/>
                <a:ea typeface="微软雅黑" pitchFamily="34" charset="-122"/>
                <a:cs typeface="Arial" pitchFamily="34" charset="0"/>
              </a:rPr>
              <a:t>解出监督位</a:t>
            </a:r>
            <a:endParaRPr lang="zh-CN" altLang="en-US" sz="1800" b="0" dirty="0"/>
          </a:p>
        </p:txBody>
      </p:sp>
      <p:pic>
        <p:nvPicPr>
          <p:cNvPr id="14397" name="Picture 61">
            <a:extLst>
              <a:ext uri="{FF2B5EF4-FFF2-40B4-BE49-F238E27FC236}">
                <a16:creationId xmlns:a16="http://schemas.microsoft.com/office/drawing/2014/main" id="{0CE97418-6C06-0F6B-AA90-472D46E493E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1163" y="5214938"/>
            <a:ext cx="3500437" cy="117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98" name="Picture 62">
            <a:extLst>
              <a:ext uri="{FF2B5EF4-FFF2-40B4-BE49-F238E27FC236}">
                <a16:creationId xmlns:a16="http://schemas.microsoft.com/office/drawing/2014/main" id="{05DC908B-2B7C-89B9-BD13-040B409DBEE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32275" y="1154113"/>
            <a:ext cx="4098925" cy="1176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25" name="Picture 61">
            <a:extLst>
              <a:ext uri="{FF2B5EF4-FFF2-40B4-BE49-F238E27FC236}">
                <a16:creationId xmlns:a16="http://schemas.microsoft.com/office/drawing/2014/main" id="{2DB83DCD-5519-FFA8-EE6F-2D46754422D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t="23357"/>
          <a:stretch>
            <a:fillRect/>
          </a:stretch>
        </p:blipFill>
        <p:spPr bwMode="auto">
          <a:xfrm>
            <a:off x="4035425" y="2428875"/>
            <a:ext cx="4465638"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8440"/>
                                        </p:tgtEl>
                                        <p:attrNameLst>
                                          <p:attrName>style.visibility</p:attrName>
                                        </p:attrNameLst>
                                      </p:cBhvr>
                                      <p:to>
                                        <p:strVal val="visible"/>
                                      </p:to>
                                    </p:set>
                                    <p:animEffect transition="in" filter="wipe(up)">
                                      <p:cBhvr>
                                        <p:cTn id="7" dur="1000"/>
                                        <p:tgtEl>
                                          <p:spTgt spid="184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up)">
                                      <p:cBhvr>
                                        <p:cTn id="12" dur="1000"/>
                                        <p:tgtEl>
                                          <p:spTgt spid="14"/>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up)">
                                      <p:cBhvr>
                                        <p:cTn id="16" dur="1000"/>
                                        <p:tgtEl>
                                          <p:spTgt spid="11"/>
                                        </p:tgtEl>
                                      </p:cBhvr>
                                    </p:animEffect>
                                  </p:childTnLst>
                                </p:cTn>
                              </p:par>
                            </p:childTnLst>
                          </p:cTn>
                        </p:par>
                        <p:par>
                          <p:cTn id="17" fill="hold" nodeType="afterGroup">
                            <p:stCondLst>
                              <p:cond delay="2000"/>
                            </p:stCondLst>
                            <p:childTnLst>
                              <p:par>
                                <p:cTn id="18" presetID="22" presetClass="entr" presetSubtype="1" fill="hold"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up)">
                                      <p:cBhvr>
                                        <p:cTn id="20" dur="1000"/>
                                        <p:tgtEl>
                                          <p:spTgt spid="10"/>
                                        </p:tgtEl>
                                      </p:cBhvr>
                                    </p:animEffect>
                                  </p:childTnLst>
                                </p:cTn>
                              </p:par>
                            </p:childTnLst>
                          </p:cTn>
                        </p:par>
                        <p:par>
                          <p:cTn id="21" fill="hold" nodeType="afterGroup">
                            <p:stCondLst>
                              <p:cond delay="3000"/>
                            </p:stCondLst>
                            <p:childTnLst>
                              <p:par>
                                <p:cTn id="22" presetID="6" presetClass="entr" presetSubtype="32"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circle(out)">
                                      <p:cBhvr>
                                        <p:cTn id="24" dur="1000"/>
                                        <p:tgtEl>
                                          <p:spTgt spid="1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14397"/>
                                        </p:tgtEl>
                                        <p:attrNameLst>
                                          <p:attrName>style.visibility</p:attrName>
                                        </p:attrNameLst>
                                      </p:cBhvr>
                                      <p:to>
                                        <p:strVal val="visible"/>
                                      </p:to>
                                    </p:set>
                                    <p:animEffect transition="in" filter="wipe(up)">
                                      <p:cBhvr>
                                        <p:cTn id="29" dur="1000"/>
                                        <p:tgtEl>
                                          <p:spTgt spid="14397"/>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14398"/>
                                        </p:tgtEl>
                                        <p:attrNameLst>
                                          <p:attrName>style.visibility</p:attrName>
                                        </p:attrNameLst>
                                      </p:cBhvr>
                                      <p:to>
                                        <p:strVal val="visible"/>
                                      </p:to>
                                    </p:set>
                                    <p:animEffect transition="in" filter="wipe(up)">
                                      <p:cBhvr>
                                        <p:cTn id="34" dur="1000"/>
                                        <p:tgtEl>
                                          <p:spTgt spid="14398"/>
                                        </p:tgtEl>
                                      </p:cBhvr>
                                    </p:animEffect>
                                  </p:childTnLst>
                                </p:cTn>
                              </p:par>
                            </p:childTnLst>
                          </p:cTn>
                        </p:par>
                        <p:par>
                          <p:cTn id="35" fill="hold" nodeType="afterGroup">
                            <p:stCondLst>
                              <p:cond delay="1000"/>
                            </p:stCondLst>
                            <p:childTnLst>
                              <p:par>
                                <p:cTn id="36" presetID="22" presetClass="entr" presetSubtype="1" fill="hold" nodeType="afterEffect">
                                  <p:stCondLst>
                                    <p:cond delay="0"/>
                                  </p:stCondLst>
                                  <p:childTnLst>
                                    <p:set>
                                      <p:cBhvr>
                                        <p:cTn id="37" dur="1" fill="hold">
                                          <p:stCondLst>
                                            <p:cond delay="0"/>
                                          </p:stCondLst>
                                        </p:cTn>
                                        <p:tgtEl>
                                          <p:spTgt spid="11325"/>
                                        </p:tgtEl>
                                        <p:attrNameLst>
                                          <p:attrName>style.visibility</p:attrName>
                                        </p:attrNameLst>
                                      </p:cBhvr>
                                      <p:to>
                                        <p:strVal val="visible"/>
                                      </p:to>
                                    </p:set>
                                    <p:animEffect transition="in" filter="wipe(up)">
                                      <p:cBhvr>
                                        <p:cTn id="38" dur="2000"/>
                                        <p:tgtEl>
                                          <p:spTgt spid="113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p:bldP spid="1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0CBF1EF4-6F08-BD92-BD7E-F8FA66CB1595}"/>
              </a:ext>
            </a:extLst>
          </p:cNvPr>
          <p:cNvSpPr/>
          <p:nvPr/>
        </p:nvSpPr>
        <p:spPr>
          <a:xfrm>
            <a:off x="142875" y="5286375"/>
            <a:ext cx="525463" cy="400050"/>
          </a:xfrm>
          <a:prstGeom prst="rect">
            <a:avLst/>
          </a:prstGeom>
        </p:spPr>
        <p:txBody>
          <a:bodyPr wrap="none">
            <a:spAutoFit/>
          </a:bodyPr>
          <a:lstStyle/>
          <a:p>
            <a:pPr>
              <a:defRPr/>
            </a:pPr>
            <a:r>
              <a:rPr kumimoji="0" lang="en-US" altLang="zh-CN" sz="2000" b="0" kern="0" dirty="0">
                <a:solidFill>
                  <a:srgbClr val="FF0000"/>
                </a:solidFill>
                <a:latin typeface="Arial" pitchFamily="34" charset="0"/>
                <a:ea typeface="微软雅黑" pitchFamily="34" charset="-122"/>
                <a:cs typeface="Arial" pitchFamily="34" charset="0"/>
              </a:rPr>
              <a:t>(A)</a:t>
            </a:r>
            <a:endParaRPr lang="zh-CN" altLang="en-US" dirty="0"/>
          </a:p>
        </p:txBody>
      </p:sp>
      <p:pic>
        <p:nvPicPr>
          <p:cNvPr id="15365" name="Picture 8">
            <a:extLst>
              <a:ext uri="{FF2B5EF4-FFF2-40B4-BE49-F238E27FC236}">
                <a16:creationId xmlns:a16="http://schemas.microsoft.com/office/drawing/2014/main" id="{7C919C7A-C57B-8767-1CFF-62367F41F6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5438" y="2047875"/>
            <a:ext cx="5064125"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Object 8">
            <a:extLst>
              <a:ext uri="{FF2B5EF4-FFF2-40B4-BE49-F238E27FC236}">
                <a16:creationId xmlns:a16="http://schemas.microsoft.com/office/drawing/2014/main" id="{32E8B31E-03D2-5B8F-5D83-D523D1D3BEF9}"/>
              </a:ext>
            </a:extLst>
          </p:cNvPr>
          <p:cNvGraphicFramePr>
            <a:graphicFrameLocks noChangeAspect="1"/>
          </p:cNvGraphicFramePr>
          <p:nvPr/>
        </p:nvGraphicFramePr>
        <p:xfrm>
          <a:off x="538163" y="4786313"/>
          <a:ext cx="2319337" cy="1428750"/>
        </p:xfrm>
        <a:graphic>
          <a:graphicData uri="http://schemas.openxmlformats.org/presentationml/2006/ole">
            <mc:AlternateContent xmlns:mc="http://schemas.openxmlformats.org/markup-compatibility/2006">
              <mc:Choice xmlns:v="urn:schemas-microsoft-com:vml" Requires="v">
                <p:oleObj name="Equation" r:id="rId3" imgW="1155600" imgH="711000" progId="Equation.DSMT4">
                  <p:embed/>
                </p:oleObj>
              </mc:Choice>
              <mc:Fallback>
                <p:oleObj name="Equation" r:id="rId3" imgW="1155600" imgH="71100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8163" y="4786313"/>
                        <a:ext cx="2319337" cy="142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pic>
        <p:nvPicPr>
          <p:cNvPr id="15366" name="Picture 6">
            <a:extLst>
              <a:ext uri="{FF2B5EF4-FFF2-40B4-BE49-F238E27FC236}">
                <a16:creationId xmlns:a16="http://schemas.microsoft.com/office/drawing/2014/main" id="{D7A0504D-7054-E03C-0607-65EA953A2A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063" y="1284288"/>
            <a:ext cx="68580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5366"/>
                                        </p:tgtEl>
                                        <p:attrNameLst>
                                          <p:attrName>style.visibility</p:attrName>
                                        </p:attrNameLst>
                                      </p:cBhvr>
                                      <p:to>
                                        <p:strVal val="visible"/>
                                      </p:to>
                                    </p:set>
                                    <p:animEffect transition="in" filter="wipe(up)">
                                      <p:cBhvr>
                                        <p:cTn id="7" dur="1000"/>
                                        <p:tgtEl>
                                          <p:spTgt spid="15366"/>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15365"/>
                                        </p:tgtEl>
                                        <p:attrNameLst>
                                          <p:attrName>style.visibility</p:attrName>
                                        </p:attrNameLst>
                                      </p:cBhvr>
                                      <p:to>
                                        <p:strVal val="visible"/>
                                      </p:to>
                                    </p:set>
                                    <p:animEffect transition="in" filter="wipe(up)">
                                      <p:cBhvr>
                                        <p:cTn id="11" dur="2000"/>
                                        <p:tgtEl>
                                          <p:spTgt spid="153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439" name="Picture 55">
            <a:extLst>
              <a:ext uri="{FF2B5EF4-FFF2-40B4-BE49-F238E27FC236}">
                <a16:creationId xmlns:a16="http://schemas.microsoft.com/office/drawing/2014/main" id="{1A50A1CD-C243-0E57-EF78-1B20E59034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2975" y="3716338"/>
            <a:ext cx="3757613" cy="207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38" name="Picture 54">
            <a:extLst>
              <a:ext uri="{FF2B5EF4-FFF2-40B4-BE49-F238E27FC236}">
                <a16:creationId xmlns:a16="http://schemas.microsoft.com/office/drawing/2014/main" id="{34C4B232-A5F7-6CAD-E3D9-ADCF7067A8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3025" y="1601788"/>
            <a:ext cx="3116263"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矩形 29">
            <a:extLst>
              <a:ext uri="{FF2B5EF4-FFF2-40B4-BE49-F238E27FC236}">
                <a16:creationId xmlns:a16="http://schemas.microsoft.com/office/drawing/2014/main" id="{6AA12A00-CEBF-8F6B-8001-3ED9142262DA}"/>
              </a:ext>
            </a:extLst>
          </p:cNvPr>
          <p:cNvSpPr/>
          <p:nvPr/>
        </p:nvSpPr>
        <p:spPr bwMode="auto">
          <a:xfrm>
            <a:off x="5500688" y="642938"/>
            <a:ext cx="2928937" cy="1500187"/>
          </a:xfrm>
          <a:prstGeom prst="rect">
            <a:avLst/>
          </a:prstGeom>
          <a:solidFill>
            <a:schemeClr val="bg2">
              <a:lumMod val="10000"/>
              <a:lumOff val="90000"/>
            </a:schemeClr>
          </a:solidFill>
          <a:ln w="9525" cap="flat" cmpd="sng" algn="ctr">
            <a:solidFill>
              <a:schemeClr val="tx2">
                <a:lumMod val="40000"/>
                <a:lumOff val="60000"/>
              </a:schemeClr>
            </a:solidFill>
            <a:prstDash val="solid"/>
            <a:miter lim="800000"/>
            <a:headEnd type="none" w="med" len="med"/>
            <a:tailEnd type="none" w="med" len="med"/>
          </a:ln>
          <a:effectLst>
            <a:outerShdw blurRad="50800" dist="38100" dir="2700000" algn="tl" rotWithShape="0">
              <a:prstClr val="black">
                <a:alpha val="40000"/>
              </a:prstClr>
            </a:outerShdw>
          </a:effectLst>
        </p:spPr>
        <p:txBody>
          <a:bodyPr wrap="none"/>
          <a:lstStyle/>
          <a:p>
            <a:pPr>
              <a:defRPr/>
            </a:pPr>
            <a:endParaRPr lang="zh-CN" altLang="en-US"/>
          </a:p>
        </p:txBody>
      </p:sp>
      <p:graphicFrame>
        <p:nvGraphicFramePr>
          <p:cNvPr id="134148" name="Object 7">
            <a:extLst>
              <a:ext uri="{FF2B5EF4-FFF2-40B4-BE49-F238E27FC236}">
                <a16:creationId xmlns:a16="http://schemas.microsoft.com/office/drawing/2014/main" id="{C27D09F3-509A-22C0-5FF0-FFCD2D7BF8DD}"/>
              </a:ext>
            </a:extLst>
          </p:cNvPr>
          <p:cNvGraphicFramePr>
            <a:graphicFrameLocks noChangeAspect="1"/>
          </p:cNvGraphicFramePr>
          <p:nvPr/>
        </p:nvGraphicFramePr>
        <p:xfrm>
          <a:off x="5599113" y="671513"/>
          <a:ext cx="2830512" cy="481012"/>
        </p:xfrm>
        <a:graphic>
          <a:graphicData uri="http://schemas.openxmlformats.org/presentationml/2006/ole">
            <mc:AlternateContent xmlns:mc="http://schemas.openxmlformats.org/markup-compatibility/2006">
              <mc:Choice xmlns:v="urn:schemas-microsoft-com:vml" Requires="v">
                <p:oleObj name="Equation" r:id="rId4" imgW="1346040" imgH="228600" progId="Equation.DSMT4">
                  <p:embed/>
                </p:oleObj>
              </mc:Choice>
              <mc:Fallback>
                <p:oleObj name="Equation" r:id="rId4" imgW="1346040" imgH="22860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99113" y="671513"/>
                        <a:ext cx="2830512" cy="481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graphicFrame>
        <p:nvGraphicFramePr>
          <p:cNvPr id="134149" name="Object 5">
            <a:extLst>
              <a:ext uri="{FF2B5EF4-FFF2-40B4-BE49-F238E27FC236}">
                <a16:creationId xmlns:a16="http://schemas.microsoft.com/office/drawing/2014/main" id="{04BECB4C-40A2-BE91-CF26-F10937664CAB}"/>
              </a:ext>
            </a:extLst>
          </p:cNvPr>
          <p:cNvGraphicFramePr>
            <a:graphicFrameLocks noChangeAspect="1"/>
          </p:cNvGraphicFramePr>
          <p:nvPr/>
        </p:nvGraphicFramePr>
        <p:xfrm>
          <a:off x="5572125" y="1171575"/>
          <a:ext cx="2830513" cy="481013"/>
        </p:xfrm>
        <a:graphic>
          <a:graphicData uri="http://schemas.openxmlformats.org/presentationml/2006/ole">
            <mc:AlternateContent xmlns:mc="http://schemas.openxmlformats.org/markup-compatibility/2006">
              <mc:Choice xmlns:v="urn:schemas-microsoft-com:vml" Requires="v">
                <p:oleObj name="Equation" r:id="rId6" imgW="1346040" imgH="228600" progId="Equation.DSMT4">
                  <p:embed/>
                </p:oleObj>
              </mc:Choice>
              <mc:Fallback>
                <p:oleObj name="Equation" r:id="rId6" imgW="1346040" imgH="22860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72125" y="1171575"/>
                        <a:ext cx="2830513"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graphicFrame>
        <p:nvGraphicFramePr>
          <p:cNvPr id="134150" name="Object 9">
            <a:extLst>
              <a:ext uri="{FF2B5EF4-FFF2-40B4-BE49-F238E27FC236}">
                <a16:creationId xmlns:a16="http://schemas.microsoft.com/office/drawing/2014/main" id="{14D60D73-29E6-A1FD-2D2F-0199274809A8}"/>
              </a:ext>
            </a:extLst>
          </p:cNvPr>
          <p:cNvGraphicFramePr>
            <a:graphicFrameLocks noChangeAspect="1"/>
          </p:cNvGraphicFramePr>
          <p:nvPr/>
        </p:nvGraphicFramePr>
        <p:xfrm>
          <a:off x="5572125" y="1657350"/>
          <a:ext cx="2857500" cy="481013"/>
        </p:xfrm>
        <a:graphic>
          <a:graphicData uri="http://schemas.openxmlformats.org/presentationml/2006/ole">
            <mc:AlternateContent xmlns:mc="http://schemas.openxmlformats.org/markup-compatibility/2006">
              <mc:Choice xmlns:v="urn:schemas-microsoft-com:vml" Requires="v">
                <p:oleObj name="Equation" r:id="rId8" imgW="1358640" imgH="228600" progId="Equation.DSMT4">
                  <p:embed/>
                </p:oleObj>
              </mc:Choice>
              <mc:Fallback>
                <p:oleObj name="Equation" r:id="rId8" imgW="1358640" imgH="228600"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72125" y="1657350"/>
                        <a:ext cx="2857500"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grpSp>
        <p:nvGrpSpPr>
          <p:cNvPr id="2" name="Group 22">
            <a:extLst>
              <a:ext uri="{FF2B5EF4-FFF2-40B4-BE49-F238E27FC236}">
                <a16:creationId xmlns:a16="http://schemas.microsoft.com/office/drawing/2014/main" id="{D19D5DBA-613F-1547-7971-5AA17CAF52A3}"/>
              </a:ext>
            </a:extLst>
          </p:cNvPr>
          <p:cNvGrpSpPr>
            <a:grpSpLocks/>
          </p:cNvGrpSpPr>
          <p:nvPr/>
        </p:nvGrpSpPr>
        <p:grpSpPr bwMode="auto">
          <a:xfrm>
            <a:off x="708025" y="3451225"/>
            <a:ext cx="649288" cy="692150"/>
            <a:chOff x="1655" y="845"/>
            <a:chExt cx="454" cy="453"/>
          </a:xfrm>
        </p:grpSpPr>
        <p:grpSp>
          <p:nvGrpSpPr>
            <p:cNvPr id="13326" name="Group 23">
              <a:extLst>
                <a:ext uri="{FF2B5EF4-FFF2-40B4-BE49-F238E27FC236}">
                  <a16:creationId xmlns:a16="http://schemas.microsoft.com/office/drawing/2014/main" id="{8F463DF9-8C0A-CB4B-C510-93A33DA08CB6}"/>
                </a:ext>
              </a:extLst>
            </p:cNvPr>
            <p:cNvGrpSpPr>
              <a:grpSpLocks/>
            </p:cNvGrpSpPr>
            <p:nvPr/>
          </p:nvGrpSpPr>
          <p:grpSpPr bwMode="auto">
            <a:xfrm>
              <a:off x="1655" y="845"/>
              <a:ext cx="454" cy="453"/>
              <a:chOff x="1289" y="582"/>
              <a:chExt cx="668" cy="668"/>
            </a:xfrm>
          </p:grpSpPr>
          <p:sp>
            <p:nvSpPr>
              <p:cNvPr id="13328" name="Oval 24">
                <a:extLst>
                  <a:ext uri="{FF2B5EF4-FFF2-40B4-BE49-F238E27FC236}">
                    <a16:creationId xmlns:a16="http://schemas.microsoft.com/office/drawing/2014/main" id="{A5E06F94-EB64-1B59-9B08-1D5C1722C21F}"/>
                  </a:ext>
                </a:extLst>
              </p:cNvPr>
              <p:cNvSpPr>
                <a:spLocks noChangeArrowheads="1"/>
              </p:cNvSpPr>
              <p:nvPr/>
            </p:nvSpPr>
            <p:spPr bwMode="gray">
              <a:xfrm>
                <a:off x="1289" y="582"/>
                <a:ext cx="668" cy="668"/>
              </a:xfrm>
              <a:prstGeom prst="ellipse">
                <a:avLst/>
              </a:prstGeom>
              <a:solidFill>
                <a:srgbClr val="333333"/>
              </a:soli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3329" name="Oval 25">
                <a:extLst>
                  <a:ext uri="{FF2B5EF4-FFF2-40B4-BE49-F238E27FC236}">
                    <a16:creationId xmlns:a16="http://schemas.microsoft.com/office/drawing/2014/main" id="{03979D37-2202-49A8-5F15-9AEE69CCD409}"/>
                  </a:ext>
                </a:extLst>
              </p:cNvPr>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3330" name="Oval 26">
                <a:extLst>
                  <a:ext uri="{FF2B5EF4-FFF2-40B4-BE49-F238E27FC236}">
                    <a16:creationId xmlns:a16="http://schemas.microsoft.com/office/drawing/2014/main" id="{8B331784-0CE9-8680-6212-A383E425E931}"/>
                  </a:ext>
                </a:extLst>
              </p:cNvPr>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3331" name="Oval 27">
                <a:extLst>
                  <a:ext uri="{FF2B5EF4-FFF2-40B4-BE49-F238E27FC236}">
                    <a16:creationId xmlns:a16="http://schemas.microsoft.com/office/drawing/2014/main" id="{E9295EF6-8619-8877-134A-31DC54475785}"/>
                  </a:ext>
                </a:extLst>
              </p:cNvPr>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3332" name="Oval 28">
                <a:extLst>
                  <a:ext uri="{FF2B5EF4-FFF2-40B4-BE49-F238E27FC236}">
                    <a16:creationId xmlns:a16="http://schemas.microsoft.com/office/drawing/2014/main" id="{933BE6A3-A792-9483-E227-80E98799398F}"/>
                  </a:ext>
                </a:extLst>
              </p:cNvPr>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pSp>
        <p:sp>
          <p:nvSpPr>
            <p:cNvPr id="13327" name="Text Box 29">
              <a:extLst>
                <a:ext uri="{FF2B5EF4-FFF2-40B4-BE49-F238E27FC236}">
                  <a16:creationId xmlns:a16="http://schemas.microsoft.com/office/drawing/2014/main" id="{5C90F143-4FA5-02A6-6E8B-3A85B21C33A8}"/>
                </a:ext>
              </a:extLst>
            </p:cNvPr>
            <p:cNvSpPr txBox="1">
              <a:spLocks noChangeArrowheads="1"/>
            </p:cNvSpPr>
            <p:nvPr/>
          </p:nvSpPr>
          <p:spPr bwMode="gray">
            <a:xfrm>
              <a:off x="1666" y="902"/>
              <a:ext cx="379"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zh-CN" altLang="en-US" sz="2800">
                  <a:solidFill>
                    <a:srgbClr val="0000CC"/>
                  </a:solidFill>
                </a:rPr>
                <a:t>例</a:t>
              </a:r>
            </a:p>
          </p:txBody>
        </p:sp>
      </p:grpSp>
      <p:sp>
        <p:nvSpPr>
          <p:cNvPr id="29" name="矩形 28">
            <a:extLst>
              <a:ext uri="{FF2B5EF4-FFF2-40B4-BE49-F238E27FC236}">
                <a16:creationId xmlns:a16="http://schemas.microsoft.com/office/drawing/2014/main" id="{0CB35CC7-EEED-B773-BEEB-ACA99EA49071}"/>
              </a:ext>
            </a:extLst>
          </p:cNvPr>
          <p:cNvSpPr/>
          <p:nvPr/>
        </p:nvSpPr>
        <p:spPr>
          <a:xfrm>
            <a:off x="654050" y="1071563"/>
            <a:ext cx="3775075" cy="461962"/>
          </a:xfrm>
          <a:prstGeom prst="rect">
            <a:avLst/>
          </a:prstGeom>
        </p:spPr>
        <p:txBody>
          <a:bodyPr wrap="none">
            <a:spAutoFit/>
          </a:bodyPr>
          <a:lstStyle/>
          <a:p>
            <a:pPr>
              <a:defRPr/>
            </a:pPr>
            <a:r>
              <a:rPr kumimoji="0" lang="zh-CN" altLang="en-US" sz="2400" kern="0" dirty="0">
                <a:solidFill>
                  <a:srgbClr val="000000"/>
                </a:solidFill>
                <a:latin typeface="Arial" pitchFamily="34" charset="0"/>
                <a:ea typeface="微软雅黑" pitchFamily="34" charset="-122"/>
                <a:cs typeface="Arial" pitchFamily="34" charset="0"/>
              </a:rPr>
              <a:t>接收端译码</a:t>
            </a:r>
            <a:r>
              <a:rPr kumimoji="0" lang="en-US" altLang="zh-CN" sz="2000" b="0" kern="0" dirty="0">
                <a:solidFill>
                  <a:srgbClr val="000000"/>
                </a:solidFill>
                <a:latin typeface="Arial" pitchFamily="34" charset="0"/>
                <a:ea typeface="微软雅黑" pitchFamily="34" charset="-122"/>
                <a:cs typeface="Arial" pitchFamily="34" charset="0"/>
              </a:rPr>
              <a:t>——</a:t>
            </a:r>
            <a:r>
              <a:rPr kumimoji="0" lang="zh-CN" altLang="en-US" sz="2000" b="0" kern="0" dirty="0">
                <a:solidFill>
                  <a:srgbClr val="000000"/>
                </a:solidFill>
                <a:latin typeface="Arial" pitchFamily="34" charset="0"/>
                <a:ea typeface="微软雅黑" pitchFamily="34" charset="-122"/>
                <a:cs typeface="Arial" pitchFamily="34" charset="0"/>
              </a:rPr>
              <a:t>检错纠错过程</a:t>
            </a:r>
            <a:endParaRPr lang="zh-CN" altLang="en-US" dirty="0"/>
          </a:p>
        </p:txBody>
      </p:sp>
      <p:sp>
        <p:nvSpPr>
          <p:cNvPr id="16428" name="矩形 11">
            <a:extLst>
              <a:ext uri="{FF2B5EF4-FFF2-40B4-BE49-F238E27FC236}">
                <a16:creationId xmlns:a16="http://schemas.microsoft.com/office/drawing/2014/main" id="{918FF40E-51FA-7633-7B7E-6EAF73AC0B84}"/>
              </a:ext>
            </a:extLst>
          </p:cNvPr>
          <p:cNvSpPr>
            <a:spLocks noChangeArrowheads="1"/>
          </p:cNvSpPr>
          <p:nvPr/>
        </p:nvSpPr>
        <p:spPr bwMode="auto">
          <a:xfrm>
            <a:off x="642938" y="6072188"/>
            <a:ext cx="49291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zh-CN" altLang="en-US" sz="2000" b="0">
                <a:solidFill>
                  <a:schemeClr val="tx1"/>
                </a:solidFill>
                <a:latin typeface="Arial" panose="020B0604020202020204" pitchFamily="34" charset="0"/>
                <a:ea typeface="微软雅黑" panose="020B0503020204020204" pitchFamily="34" charset="-122"/>
                <a:cs typeface="Arial" panose="020B0604020202020204" pitchFamily="34" charset="0"/>
              </a:rPr>
              <a:t>以上构造的线性分组码 </a:t>
            </a:r>
            <a:r>
              <a:rPr lang="zh-CN" altLang="en-US" sz="2000" b="0">
                <a:solidFill>
                  <a:schemeClr val="tx1"/>
                </a:solidFill>
                <a:latin typeface="微软雅黑" panose="020B0503020204020204" pitchFamily="34" charset="-122"/>
                <a:ea typeface="微软雅黑" panose="020B0503020204020204" pitchFamily="34" charset="-122"/>
                <a:cs typeface="Arial" panose="020B0604020202020204" pitchFamily="34" charset="0"/>
              </a:rPr>
              <a:t>，称为</a:t>
            </a:r>
            <a:r>
              <a:rPr lang="zh-CN" altLang="en-US" sz="2000">
                <a:solidFill>
                  <a:srgbClr val="FF0000"/>
                </a:solidFill>
                <a:latin typeface="微软雅黑" panose="020B0503020204020204" pitchFamily="34" charset="-122"/>
                <a:ea typeface="微软雅黑" panose="020B0503020204020204" pitchFamily="34" charset="-122"/>
                <a:cs typeface="Arial" panose="020B0604020202020204" pitchFamily="34" charset="0"/>
              </a:rPr>
              <a:t>汉明码</a:t>
            </a:r>
            <a:r>
              <a:rPr lang="zh-CN" altLang="en-US" sz="2000" b="0">
                <a:solidFill>
                  <a:schemeClr val="tx1"/>
                </a:solidFill>
                <a:latin typeface="微软雅黑" panose="020B0503020204020204" pitchFamily="34" charset="-122"/>
                <a:ea typeface="微软雅黑" panose="020B0503020204020204" pitchFamily="34" charset="-122"/>
                <a:cs typeface="Arial" panose="020B0604020202020204" pitchFamily="34" charset="0"/>
              </a:rPr>
              <a:t>。</a:t>
            </a:r>
            <a:endParaRPr lang="zh-CN" altLang="en-US" sz="2000" b="0">
              <a:solidFill>
                <a:schemeClr val="tx1"/>
              </a:solidFill>
              <a:ea typeface="微软雅黑" panose="020B0503020204020204" pitchFamily="34" charset="-122"/>
              <a:cs typeface="Arial" panose="020B0604020202020204" pitchFamily="34" charset="0"/>
            </a:endParaRPr>
          </a:p>
        </p:txBody>
      </p:sp>
      <p:sp>
        <p:nvSpPr>
          <p:cNvPr id="16429" name="Freeform 10">
            <a:extLst>
              <a:ext uri="{FF2B5EF4-FFF2-40B4-BE49-F238E27FC236}">
                <a16:creationId xmlns:a16="http://schemas.microsoft.com/office/drawing/2014/main" id="{944D69E8-EB72-C961-BBD4-4D8DEC672B8B}"/>
              </a:ext>
            </a:extLst>
          </p:cNvPr>
          <p:cNvSpPr>
            <a:spLocks/>
          </p:cNvSpPr>
          <p:nvPr/>
        </p:nvSpPr>
        <p:spPr bwMode="auto">
          <a:xfrm flipH="1">
            <a:off x="3814763" y="1857375"/>
            <a:ext cx="1614487" cy="571500"/>
          </a:xfrm>
          <a:custGeom>
            <a:avLst/>
            <a:gdLst>
              <a:gd name="T0" fmla="*/ 2147483647 w 1612"/>
              <a:gd name="T1" fmla="*/ 2147483647 h 1618"/>
              <a:gd name="T2" fmla="*/ 2147483647 w 1612"/>
              <a:gd name="T3" fmla="*/ 2147483647 h 1618"/>
              <a:gd name="T4" fmla="*/ 2147483647 w 1612"/>
              <a:gd name="T5" fmla="*/ 2147483647 h 1618"/>
              <a:gd name="T6" fmla="*/ 2147483647 w 1612"/>
              <a:gd name="T7" fmla="*/ 2147483647 h 1618"/>
              <a:gd name="T8" fmla="*/ 2147483647 w 1612"/>
              <a:gd name="T9" fmla="*/ 2147483647 h 1618"/>
              <a:gd name="T10" fmla="*/ 2147483647 w 1612"/>
              <a:gd name="T11" fmla="*/ 2147483647 h 1618"/>
              <a:gd name="T12" fmla="*/ 2147483647 w 1612"/>
              <a:gd name="T13" fmla="*/ 2147483647 h 1618"/>
              <a:gd name="T14" fmla="*/ 2147483647 w 1612"/>
              <a:gd name="T15" fmla="*/ 0 h 1618"/>
              <a:gd name="T16" fmla="*/ 2147483647 w 1612"/>
              <a:gd name="T17" fmla="*/ 2147483647 h 1618"/>
              <a:gd name="T18" fmla="*/ 2147483647 w 1612"/>
              <a:gd name="T19" fmla="*/ 2147483647 h 1618"/>
              <a:gd name="T20" fmla="*/ 2147483647 w 1612"/>
              <a:gd name="T21" fmla="*/ 2147483647 h 1618"/>
              <a:gd name="T22" fmla="*/ 2147483647 w 1612"/>
              <a:gd name="T23" fmla="*/ 2147483647 h 1618"/>
              <a:gd name="T24" fmla="*/ 2147483647 w 1612"/>
              <a:gd name="T25" fmla="*/ 2147483647 h 1618"/>
              <a:gd name="T26" fmla="*/ 2147483647 w 1612"/>
              <a:gd name="T27" fmla="*/ 2147483647 h 1618"/>
              <a:gd name="T28" fmla="*/ 2147483647 w 1612"/>
              <a:gd name="T29" fmla="*/ 2147483647 h 1618"/>
              <a:gd name="T30" fmla="*/ 2147483647 w 1612"/>
              <a:gd name="T31" fmla="*/ 2147483647 h 1618"/>
              <a:gd name="T32" fmla="*/ 2147483647 w 1612"/>
              <a:gd name="T33" fmla="*/ 2147483647 h 1618"/>
              <a:gd name="T34" fmla="*/ 2147483647 w 1612"/>
              <a:gd name="T35" fmla="*/ 2147483647 h 1618"/>
              <a:gd name="T36" fmla="*/ 2147483647 w 1612"/>
              <a:gd name="T37" fmla="*/ 2147483647 h 1618"/>
              <a:gd name="T38" fmla="*/ 2147483647 w 1612"/>
              <a:gd name="T39" fmla="*/ 2147483647 h 1618"/>
              <a:gd name="T40" fmla="*/ 2147483647 w 1612"/>
              <a:gd name="T41" fmla="*/ 2147483647 h 1618"/>
              <a:gd name="T42" fmla="*/ 2147483647 w 1612"/>
              <a:gd name="T43" fmla="*/ 2147483647 h 1618"/>
              <a:gd name="T44" fmla="*/ 2147483647 w 1612"/>
              <a:gd name="T45" fmla="*/ 2147483647 h 1618"/>
              <a:gd name="T46" fmla="*/ 2147483647 w 1612"/>
              <a:gd name="T47" fmla="*/ 2147483647 h 1618"/>
              <a:gd name="T48" fmla="*/ 2147483647 w 1612"/>
              <a:gd name="T49" fmla="*/ 2147483647 h 1618"/>
              <a:gd name="T50" fmla="*/ 2147483647 w 1612"/>
              <a:gd name="T51" fmla="*/ 2147483647 h 1618"/>
              <a:gd name="T52" fmla="*/ 2147483647 w 1612"/>
              <a:gd name="T53" fmla="*/ 2147483647 h 1618"/>
              <a:gd name="T54" fmla="*/ 2147483647 w 1612"/>
              <a:gd name="T55" fmla="*/ 2147483647 h 1618"/>
              <a:gd name="T56" fmla="*/ 2147483647 w 1612"/>
              <a:gd name="T57" fmla="*/ 2147483647 h 1618"/>
              <a:gd name="T58" fmla="*/ 2147483647 w 1612"/>
              <a:gd name="T59" fmla="*/ 2147483647 h 1618"/>
              <a:gd name="T60" fmla="*/ 2147483647 w 1612"/>
              <a:gd name="T61" fmla="*/ 2147483647 h 1618"/>
              <a:gd name="T62" fmla="*/ 2147483647 w 1612"/>
              <a:gd name="T63" fmla="*/ 2147483647 h 1618"/>
              <a:gd name="T64" fmla="*/ 2147483647 w 1612"/>
              <a:gd name="T65" fmla="*/ 2147483647 h 1618"/>
              <a:gd name="T66" fmla="*/ 2147483647 w 1612"/>
              <a:gd name="T67" fmla="*/ 2147483647 h 1618"/>
              <a:gd name="T68" fmla="*/ 2147483647 w 1612"/>
              <a:gd name="T69" fmla="*/ 2147483647 h 1618"/>
              <a:gd name="T70" fmla="*/ 2147483647 w 1612"/>
              <a:gd name="T71" fmla="*/ 2147483647 h 1618"/>
              <a:gd name="T72" fmla="*/ 2147483647 w 1612"/>
              <a:gd name="T73" fmla="*/ 2147483647 h 1618"/>
              <a:gd name="T74" fmla="*/ 2147483647 w 1612"/>
              <a:gd name="T75" fmla="*/ 2147483647 h 1618"/>
              <a:gd name="T76" fmla="*/ 2147483647 w 1612"/>
              <a:gd name="T77" fmla="*/ 2147483647 h 1618"/>
              <a:gd name="T78" fmla="*/ 2147483647 w 1612"/>
              <a:gd name="T79" fmla="*/ 2147483647 h 1618"/>
              <a:gd name="T80" fmla="*/ 2147483647 w 1612"/>
              <a:gd name="T81" fmla="*/ 2147483647 h 161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612"/>
              <a:gd name="T124" fmla="*/ 0 h 1618"/>
              <a:gd name="T125" fmla="*/ 1612 w 1612"/>
              <a:gd name="T126" fmla="*/ 1618 h 161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612" h="1618">
                <a:moveTo>
                  <a:pt x="464" y="966"/>
                </a:moveTo>
                <a:lnTo>
                  <a:pt x="464" y="966"/>
                </a:lnTo>
                <a:lnTo>
                  <a:pt x="418" y="892"/>
                </a:lnTo>
                <a:lnTo>
                  <a:pt x="378" y="822"/>
                </a:lnTo>
                <a:lnTo>
                  <a:pt x="342" y="754"/>
                </a:lnTo>
                <a:lnTo>
                  <a:pt x="310" y="690"/>
                </a:lnTo>
                <a:lnTo>
                  <a:pt x="280" y="630"/>
                </a:lnTo>
                <a:lnTo>
                  <a:pt x="256" y="572"/>
                </a:lnTo>
                <a:lnTo>
                  <a:pt x="234" y="520"/>
                </a:lnTo>
                <a:lnTo>
                  <a:pt x="214" y="472"/>
                </a:lnTo>
                <a:lnTo>
                  <a:pt x="184" y="390"/>
                </a:lnTo>
                <a:lnTo>
                  <a:pt x="166" y="328"/>
                </a:lnTo>
                <a:lnTo>
                  <a:pt x="156" y="290"/>
                </a:lnTo>
                <a:lnTo>
                  <a:pt x="152" y="276"/>
                </a:lnTo>
                <a:lnTo>
                  <a:pt x="244" y="300"/>
                </a:lnTo>
                <a:lnTo>
                  <a:pt x="34" y="0"/>
                </a:lnTo>
                <a:lnTo>
                  <a:pt x="0" y="396"/>
                </a:lnTo>
                <a:lnTo>
                  <a:pt x="82" y="294"/>
                </a:lnTo>
                <a:lnTo>
                  <a:pt x="86" y="308"/>
                </a:lnTo>
                <a:lnTo>
                  <a:pt x="98" y="350"/>
                </a:lnTo>
                <a:lnTo>
                  <a:pt x="120" y="414"/>
                </a:lnTo>
                <a:lnTo>
                  <a:pt x="152" y="500"/>
                </a:lnTo>
                <a:lnTo>
                  <a:pt x="174" y="550"/>
                </a:lnTo>
                <a:lnTo>
                  <a:pt x="200" y="604"/>
                </a:lnTo>
                <a:lnTo>
                  <a:pt x="228" y="662"/>
                </a:lnTo>
                <a:lnTo>
                  <a:pt x="260" y="722"/>
                </a:lnTo>
                <a:lnTo>
                  <a:pt x="296" y="788"/>
                </a:lnTo>
                <a:lnTo>
                  <a:pt x="336" y="856"/>
                </a:lnTo>
                <a:lnTo>
                  <a:pt x="382" y="926"/>
                </a:lnTo>
                <a:lnTo>
                  <a:pt x="430" y="998"/>
                </a:lnTo>
                <a:lnTo>
                  <a:pt x="472" y="1052"/>
                </a:lnTo>
                <a:lnTo>
                  <a:pt x="514" y="1104"/>
                </a:lnTo>
                <a:lnTo>
                  <a:pt x="558" y="1152"/>
                </a:lnTo>
                <a:lnTo>
                  <a:pt x="602" y="1196"/>
                </a:lnTo>
                <a:lnTo>
                  <a:pt x="650" y="1238"/>
                </a:lnTo>
                <a:lnTo>
                  <a:pt x="696" y="1278"/>
                </a:lnTo>
                <a:lnTo>
                  <a:pt x="744" y="1314"/>
                </a:lnTo>
                <a:lnTo>
                  <a:pt x="794" y="1348"/>
                </a:lnTo>
                <a:lnTo>
                  <a:pt x="842" y="1380"/>
                </a:lnTo>
                <a:lnTo>
                  <a:pt x="892" y="1408"/>
                </a:lnTo>
                <a:lnTo>
                  <a:pt x="942" y="1434"/>
                </a:lnTo>
                <a:lnTo>
                  <a:pt x="990" y="1458"/>
                </a:lnTo>
                <a:lnTo>
                  <a:pt x="1038" y="1480"/>
                </a:lnTo>
                <a:lnTo>
                  <a:pt x="1086" y="1500"/>
                </a:lnTo>
                <a:lnTo>
                  <a:pt x="1134" y="1518"/>
                </a:lnTo>
                <a:lnTo>
                  <a:pt x="1180" y="1534"/>
                </a:lnTo>
                <a:lnTo>
                  <a:pt x="1224" y="1548"/>
                </a:lnTo>
                <a:lnTo>
                  <a:pt x="1268" y="1560"/>
                </a:lnTo>
                <a:lnTo>
                  <a:pt x="1350" y="1580"/>
                </a:lnTo>
                <a:lnTo>
                  <a:pt x="1424" y="1596"/>
                </a:lnTo>
                <a:lnTo>
                  <a:pt x="1486" y="1606"/>
                </a:lnTo>
                <a:lnTo>
                  <a:pt x="1540" y="1612"/>
                </a:lnTo>
                <a:lnTo>
                  <a:pt x="1578" y="1616"/>
                </a:lnTo>
                <a:lnTo>
                  <a:pt x="1612" y="1618"/>
                </a:lnTo>
                <a:lnTo>
                  <a:pt x="1580" y="1616"/>
                </a:lnTo>
                <a:lnTo>
                  <a:pt x="1540" y="1612"/>
                </a:lnTo>
                <a:lnTo>
                  <a:pt x="1488" y="1606"/>
                </a:lnTo>
                <a:lnTo>
                  <a:pt x="1426" y="1594"/>
                </a:lnTo>
                <a:lnTo>
                  <a:pt x="1354" y="1578"/>
                </a:lnTo>
                <a:lnTo>
                  <a:pt x="1274" y="1558"/>
                </a:lnTo>
                <a:lnTo>
                  <a:pt x="1230" y="1544"/>
                </a:lnTo>
                <a:lnTo>
                  <a:pt x="1186" y="1530"/>
                </a:lnTo>
                <a:lnTo>
                  <a:pt x="1142" y="1512"/>
                </a:lnTo>
                <a:lnTo>
                  <a:pt x="1096" y="1494"/>
                </a:lnTo>
                <a:lnTo>
                  <a:pt x="1048" y="1474"/>
                </a:lnTo>
                <a:lnTo>
                  <a:pt x="1002" y="1450"/>
                </a:lnTo>
                <a:lnTo>
                  <a:pt x="954" y="1426"/>
                </a:lnTo>
                <a:lnTo>
                  <a:pt x="906" y="1398"/>
                </a:lnTo>
                <a:lnTo>
                  <a:pt x="858" y="1368"/>
                </a:lnTo>
                <a:lnTo>
                  <a:pt x="810" y="1336"/>
                </a:lnTo>
                <a:lnTo>
                  <a:pt x="764" y="1300"/>
                </a:lnTo>
                <a:lnTo>
                  <a:pt x="718" y="1262"/>
                </a:lnTo>
                <a:lnTo>
                  <a:pt x="672" y="1220"/>
                </a:lnTo>
                <a:lnTo>
                  <a:pt x="626" y="1176"/>
                </a:lnTo>
                <a:lnTo>
                  <a:pt x="584" y="1128"/>
                </a:lnTo>
                <a:lnTo>
                  <a:pt x="542" y="1078"/>
                </a:lnTo>
                <a:lnTo>
                  <a:pt x="502" y="1024"/>
                </a:lnTo>
                <a:lnTo>
                  <a:pt x="464" y="966"/>
                </a:lnTo>
                <a:close/>
              </a:path>
            </a:pathLst>
          </a:custGeom>
          <a:solidFill>
            <a:srgbClr val="9900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6430" name="Freeform 10">
            <a:extLst>
              <a:ext uri="{FF2B5EF4-FFF2-40B4-BE49-F238E27FC236}">
                <a16:creationId xmlns:a16="http://schemas.microsoft.com/office/drawing/2014/main" id="{A5EB257C-AA4E-0772-DB77-E94066E560E1}"/>
              </a:ext>
            </a:extLst>
          </p:cNvPr>
          <p:cNvSpPr>
            <a:spLocks/>
          </p:cNvSpPr>
          <p:nvPr/>
        </p:nvSpPr>
        <p:spPr bwMode="auto">
          <a:xfrm rot="-671715" flipH="1" flipV="1">
            <a:off x="3754438" y="2770188"/>
            <a:ext cx="1685925" cy="571500"/>
          </a:xfrm>
          <a:custGeom>
            <a:avLst/>
            <a:gdLst>
              <a:gd name="T0" fmla="*/ 2147483647 w 1612"/>
              <a:gd name="T1" fmla="*/ 2147483647 h 1618"/>
              <a:gd name="T2" fmla="*/ 2147483647 w 1612"/>
              <a:gd name="T3" fmla="*/ 2147483647 h 1618"/>
              <a:gd name="T4" fmla="*/ 2147483647 w 1612"/>
              <a:gd name="T5" fmla="*/ 2147483647 h 1618"/>
              <a:gd name="T6" fmla="*/ 2147483647 w 1612"/>
              <a:gd name="T7" fmla="*/ 2147483647 h 1618"/>
              <a:gd name="T8" fmla="*/ 2147483647 w 1612"/>
              <a:gd name="T9" fmla="*/ 2147483647 h 1618"/>
              <a:gd name="T10" fmla="*/ 2147483647 w 1612"/>
              <a:gd name="T11" fmla="*/ 2147483647 h 1618"/>
              <a:gd name="T12" fmla="*/ 2147483647 w 1612"/>
              <a:gd name="T13" fmla="*/ 2147483647 h 1618"/>
              <a:gd name="T14" fmla="*/ 2147483647 w 1612"/>
              <a:gd name="T15" fmla="*/ 0 h 1618"/>
              <a:gd name="T16" fmla="*/ 2147483647 w 1612"/>
              <a:gd name="T17" fmla="*/ 2147483647 h 1618"/>
              <a:gd name="T18" fmla="*/ 2147483647 w 1612"/>
              <a:gd name="T19" fmla="*/ 2147483647 h 1618"/>
              <a:gd name="T20" fmla="*/ 2147483647 w 1612"/>
              <a:gd name="T21" fmla="*/ 2147483647 h 1618"/>
              <a:gd name="T22" fmla="*/ 2147483647 w 1612"/>
              <a:gd name="T23" fmla="*/ 2147483647 h 1618"/>
              <a:gd name="T24" fmla="*/ 2147483647 w 1612"/>
              <a:gd name="T25" fmla="*/ 2147483647 h 1618"/>
              <a:gd name="T26" fmla="*/ 2147483647 w 1612"/>
              <a:gd name="T27" fmla="*/ 2147483647 h 1618"/>
              <a:gd name="T28" fmla="*/ 2147483647 w 1612"/>
              <a:gd name="T29" fmla="*/ 2147483647 h 1618"/>
              <a:gd name="T30" fmla="*/ 2147483647 w 1612"/>
              <a:gd name="T31" fmla="*/ 2147483647 h 1618"/>
              <a:gd name="T32" fmla="*/ 2147483647 w 1612"/>
              <a:gd name="T33" fmla="*/ 2147483647 h 1618"/>
              <a:gd name="T34" fmla="*/ 2147483647 w 1612"/>
              <a:gd name="T35" fmla="*/ 2147483647 h 1618"/>
              <a:gd name="T36" fmla="*/ 2147483647 w 1612"/>
              <a:gd name="T37" fmla="*/ 2147483647 h 1618"/>
              <a:gd name="T38" fmla="*/ 2147483647 w 1612"/>
              <a:gd name="T39" fmla="*/ 2147483647 h 1618"/>
              <a:gd name="T40" fmla="*/ 2147483647 w 1612"/>
              <a:gd name="T41" fmla="*/ 2147483647 h 1618"/>
              <a:gd name="T42" fmla="*/ 2147483647 w 1612"/>
              <a:gd name="T43" fmla="*/ 2147483647 h 1618"/>
              <a:gd name="T44" fmla="*/ 2147483647 w 1612"/>
              <a:gd name="T45" fmla="*/ 2147483647 h 1618"/>
              <a:gd name="T46" fmla="*/ 2147483647 w 1612"/>
              <a:gd name="T47" fmla="*/ 2147483647 h 1618"/>
              <a:gd name="T48" fmla="*/ 2147483647 w 1612"/>
              <a:gd name="T49" fmla="*/ 2147483647 h 1618"/>
              <a:gd name="T50" fmla="*/ 2147483647 w 1612"/>
              <a:gd name="T51" fmla="*/ 2147483647 h 1618"/>
              <a:gd name="T52" fmla="*/ 2147483647 w 1612"/>
              <a:gd name="T53" fmla="*/ 2147483647 h 1618"/>
              <a:gd name="T54" fmla="*/ 2147483647 w 1612"/>
              <a:gd name="T55" fmla="*/ 2147483647 h 1618"/>
              <a:gd name="T56" fmla="*/ 2147483647 w 1612"/>
              <a:gd name="T57" fmla="*/ 2147483647 h 1618"/>
              <a:gd name="T58" fmla="*/ 2147483647 w 1612"/>
              <a:gd name="T59" fmla="*/ 2147483647 h 1618"/>
              <a:gd name="T60" fmla="*/ 2147483647 w 1612"/>
              <a:gd name="T61" fmla="*/ 2147483647 h 1618"/>
              <a:gd name="T62" fmla="*/ 2147483647 w 1612"/>
              <a:gd name="T63" fmla="*/ 2147483647 h 1618"/>
              <a:gd name="T64" fmla="*/ 2147483647 w 1612"/>
              <a:gd name="T65" fmla="*/ 2147483647 h 1618"/>
              <a:gd name="T66" fmla="*/ 2147483647 w 1612"/>
              <a:gd name="T67" fmla="*/ 2147483647 h 1618"/>
              <a:gd name="T68" fmla="*/ 2147483647 w 1612"/>
              <a:gd name="T69" fmla="*/ 2147483647 h 1618"/>
              <a:gd name="T70" fmla="*/ 2147483647 w 1612"/>
              <a:gd name="T71" fmla="*/ 2147483647 h 1618"/>
              <a:gd name="T72" fmla="*/ 2147483647 w 1612"/>
              <a:gd name="T73" fmla="*/ 2147483647 h 1618"/>
              <a:gd name="T74" fmla="*/ 2147483647 w 1612"/>
              <a:gd name="T75" fmla="*/ 2147483647 h 1618"/>
              <a:gd name="T76" fmla="*/ 2147483647 w 1612"/>
              <a:gd name="T77" fmla="*/ 2147483647 h 1618"/>
              <a:gd name="T78" fmla="*/ 2147483647 w 1612"/>
              <a:gd name="T79" fmla="*/ 2147483647 h 1618"/>
              <a:gd name="T80" fmla="*/ 2147483647 w 1612"/>
              <a:gd name="T81" fmla="*/ 2147483647 h 161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612"/>
              <a:gd name="T124" fmla="*/ 0 h 1618"/>
              <a:gd name="T125" fmla="*/ 1612 w 1612"/>
              <a:gd name="T126" fmla="*/ 1618 h 161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612" h="1618">
                <a:moveTo>
                  <a:pt x="464" y="966"/>
                </a:moveTo>
                <a:lnTo>
                  <a:pt x="464" y="966"/>
                </a:lnTo>
                <a:lnTo>
                  <a:pt x="418" y="892"/>
                </a:lnTo>
                <a:lnTo>
                  <a:pt x="378" y="822"/>
                </a:lnTo>
                <a:lnTo>
                  <a:pt x="342" y="754"/>
                </a:lnTo>
                <a:lnTo>
                  <a:pt x="310" y="690"/>
                </a:lnTo>
                <a:lnTo>
                  <a:pt x="280" y="630"/>
                </a:lnTo>
                <a:lnTo>
                  <a:pt x="256" y="572"/>
                </a:lnTo>
                <a:lnTo>
                  <a:pt x="234" y="520"/>
                </a:lnTo>
                <a:lnTo>
                  <a:pt x="214" y="472"/>
                </a:lnTo>
                <a:lnTo>
                  <a:pt x="184" y="390"/>
                </a:lnTo>
                <a:lnTo>
                  <a:pt x="166" y="328"/>
                </a:lnTo>
                <a:lnTo>
                  <a:pt x="156" y="290"/>
                </a:lnTo>
                <a:lnTo>
                  <a:pt x="152" y="276"/>
                </a:lnTo>
                <a:lnTo>
                  <a:pt x="244" y="300"/>
                </a:lnTo>
                <a:lnTo>
                  <a:pt x="34" y="0"/>
                </a:lnTo>
                <a:lnTo>
                  <a:pt x="0" y="396"/>
                </a:lnTo>
                <a:lnTo>
                  <a:pt x="82" y="294"/>
                </a:lnTo>
                <a:lnTo>
                  <a:pt x="86" y="308"/>
                </a:lnTo>
                <a:lnTo>
                  <a:pt x="98" y="350"/>
                </a:lnTo>
                <a:lnTo>
                  <a:pt x="120" y="414"/>
                </a:lnTo>
                <a:lnTo>
                  <a:pt x="152" y="500"/>
                </a:lnTo>
                <a:lnTo>
                  <a:pt x="174" y="550"/>
                </a:lnTo>
                <a:lnTo>
                  <a:pt x="200" y="604"/>
                </a:lnTo>
                <a:lnTo>
                  <a:pt x="228" y="662"/>
                </a:lnTo>
                <a:lnTo>
                  <a:pt x="260" y="722"/>
                </a:lnTo>
                <a:lnTo>
                  <a:pt x="296" y="788"/>
                </a:lnTo>
                <a:lnTo>
                  <a:pt x="336" y="856"/>
                </a:lnTo>
                <a:lnTo>
                  <a:pt x="382" y="926"/>
                </a:lnTo>
                <a:lnTo>
                  <a:pt x="430" y="998"/>
                </a:lnTo>
                <a:lnTo>
                  <a:pt x="472" y="1052"/>
                </a:lnTo>
                <a:lnTo>
                  <a:pt x="514" y="1104"/>
                </a:lnTo>
                <a:lnTo>
                  <a:pt x="558" y="1152"/>
                </a:lnTo>
                <a:lnTo>
                  <a:pt x="602" y="1196"/>
                </a:lnTo>
                <a:lnTo>
                  <a:pt x="650" y="1238"/>
                </a:lnTo>
                <a:lnTo>
                  <a:pt x="696" y="1278"/>
                </a:lnTo>
                <a:lnTo>
                  <a:pt x="744" y="1314"/>
                </a:lnTo>
                <a:lnTo>
                  <a:pt x="794" y="1348"/>
                </a:lnTo>
                <a:lnTo>
                  <a:pt x="842" y="1380"/>
                </a:lnTo>
                <a:lnTo>
                  <a:pt x="892" y="1408"/>
                </a:lnTo>
                <a:lnTo>
                  <a:pt x="942" y="1434"/>
                </a:lnTo>
                <a:lnTo>
                  <a:pt x="990" y="1458"/>
                </a:lnTo>
                <a:lnTo>
                  <a:pt x="1038" y="1480"/>
                </a:lnTo>
                <a:lnTo>
                  <a:pt x="1086" y="1500"/>
                </a:lnTo>
                <a:lnTo>
                  <a:pt x="1134" y="1518"/>
                </a:lnTo>
                <a:lnTo>
                  <a:pt x="1180" y="1534"/>
                </a:lnTo>
                <a:lnTo>
                  <a:pt x="1224" y="1548"/>
                </a:lnTo>
                <a:lnTo>
                  <a:pt x="1268" y="1560"/>
                </a:lnTo>
                <a:lnTo>
                  <a:pt x="1350" y="1580"/>
                </a:lnTo>
                <a:lnTo>
                  <a:pt x="1424" y="1596"/>
                </a:lnTo>
                <a:lnTo>
                  <a:pt x="1486" y="1606"/>
                </a:lnTo>
                <a:lnTo>
                  <a:pt x="1540" y="1612"/>
                </a:lnTo>
                <a:lnTo>
                  <a:pt x="1578" y="1616"/>
                </a:lnTo>
                <a:lnTo>
                  <a:pt x="1612" y="1618"/>
                </a:lnTo>
                <a:lnTo>
                  <a:pt x="1580" y="1616"/>
                </a:lnTo>
                <a:lnTo>
                  <a:pt x="1540" y="1612"/>
                </a:lnTo>
                <a:lnTo>
                  <a:pt x="1488" y="1606"/>
                </a:lnTo>
                <a:lnTo>
                  <a:pt x="1426" y="1594"/>
                </a:lnTo>
                <a:lnTo>
                  <a:pt x="1354" y="1578"/>
                </a:lnTo>
                <a:lnTo>
                  <a:pt x="1274" y="1558"/>
                </a:lnTo>
                <a:lnTo>
                  <a:pt x="1230" y="1544"/>
                </a:lnTo>
                <a:lnTo>
                  <a:pt x="1186" y="1530"/>
                </a:lnTo>
                <a:lnTo>
                  <a:pt x="1142" y="1512"/>
                </a:lnTo>
                <a:lnTo>
                  <a:pt x="1096" y="1494"/>
                </a:lnTo>
                <a:lnTo>
                  <a:pt x="1048" y="1474"/>
                </a:lnTo>
                <a:lnTo>
                  <a:pt x="1002" y="1450"/>
                </a:lnTo>
                <a:lnTo>
                  <a:pt x="954" y="1426"/>
                </a:lnTo>
                <a:lnTo>
                  <a:pt x="906" y="1398"/>
                </a:lnTo>
                <a:lnTo>
                  <a:pt x="858" y="1368"/>
                </a:lnTo>
                <a:lnTo>
                  <a:pt x="810" y="1336"/>
                </a:lnTo>
                <a:lnTo>
                  <a:pt x="764" y="1300"/>
                </a:lnTo>
                <a:lnTo>
                  <a:pt x="718" y="1262"/>
                </a:lnTo>
                <a:lnTo>
                  <a:pt x="672" y="1220"/>
                </a:lnTo>
                <a:lnTo>
                  <a:pt x="626" y="1176"/>
                </a:lnTo>
                <a:lnTo>
                  <a:pt x="584" y="1128"/>
                </a:lnTo>
                <a:lnTo>
                  <a:pt x="542" y="1078"/>
                </a:lnTo>
                <a:lnTo>
                  <a:pt x="502" y="1024"/>
                </a:lnTo>
                <a:lnTo>
                  <a:pt x="464" y="966"/>
                </a:lnTo>
                <a:close/>
              </a:path>
            </a:pathLst>
          </a:custGeom>
          <a:solidFill>
            <a:srgbClr val="9900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pic>
        <p:nvPicPr>
          <p:cNvPr id="13325" name="Picture 56">
            <a:extLst>
              <a:ext uri="{FF2B5EF4-FFF2-40B4-BE49-F238E27FC236}">
                <a16:creationId xmlns:a16="http://schemas.microsoft.com/office/drawing/2014/main" id="{07812DD6-3982-889C-AC0D-44B0B4EB3A4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00688" y="2332038"/>
            <a:ext cx="2619375" cy="416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up)">
                                      <p:cBhvr>
                                        <p:cTn id="7" dur="1000"/>
                                        <p:tgtEl>
                                          <p:spTgt spid="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6438"/>
                                        </p:tgtEl>
                                        <p:attrNameLst>
                                          <p:attrName>style.visibility</p:attrName>
                                        </p:attrNameLst>
                                      </p:cBhvr>
                                      <p:to>
                                        <p:strVal val="visible"/>
                                      </p:to>
                                    </p:set>
                                    <p:animEffect transition="in" filter="wipe(up)">
                                      <p:cBhvr>
                                        <p:cTn id="12" dur="1000"/>
                                        <p:tgtEl>
                                          <p:spTgt spid="164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6429"/>
                                        </p:tgtEl>
                                        <p:attrNameLst>
                                          <p:attrName>style.visibility</p:attrName>
                                        </p:attrNameLst>
                                      </p:cBhvr>
                                      <p:to>
                                        <p:strVal val="visible"/>
                                      </p:to>
                                    </p:set>
                                    <p:animEffect transition="in" filter="wipe(left)">
                                      <p:cBhvr>
                                        <p:cTn id="17" dur="1000"/>
                                        <p:tgtEl>
                                          <p:spTgt spid="1642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6430"/>
                                        </p:tgtEl>
                                        <p:attrNameLst>
                                          <p:attrName>style.visibility</p:attrName>
                                        </p:attrNameLst>
                                      </p:cBhvr>
                                      <p:to>
                                        <p:strVal val="visible"/>
                                      </p:to>
                                    </p:set>
                                    <p:animEffect transition="in" filter="wipe(left)">
                                      <p:cBhvr>
                                        <p:cTn id="22" dur="1000"/>
                                        <p:tgtEl>
                                          <p:spTgt spid="1643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up)">
                                      <p:cBhvr>
                                        <p:cTn id="27" dur="1000"/>
                                        <p:tgtEl>
                                          <p:spTgt spid="2"/>
                                        </p:tgtEl>
                                      </p:cBhvr>
                                    </p:animEffect>
                                  </p:childTnLst>
                                </p:cTn>
                              </p:par>
                            </p:childTnLst>
                          </p:cTn>
                        </p:par>
                        <p:par>
                          <p:cTn id="28" fill="hold" nodeType="afterGroup">
                            <p:stCondLst>
                              <p:cond delay="1000"/>
                            </p:stCondLst>
                            <p:childTnLst>
                              <p:par>
                                <p:cTn id="29" presetID="22" presetClass="entr" presetSubtype="1" fill="hold" nodeType="afterEffect">
                                  <p:stCondLst>
                                    <p:cond delay="0"/>
                                  </p:stCondLst>
                                  <p:childTnLst>
                                    <p:set>
                                      <p:cBhvr>
                                        <p:cTn id="30" dur="1" fill="hold">
                                          <p:stCondLst>
                                            <p:cond delay="0"/>
                                          </p:stCondLst>
                                        </p:cTn>
                                        <p:tgtEl>
                                          <p:spTgt spid="16439"/>
                                        </p:tgtEl>
                                        <p:attrNameLst>
                                          <p:attrName>style.visibility</p:attrName>
                                        </p:attrNameLst>
                                      </p:cBhvr>
                                      <p:to>
                                        <p:strVal val="visible"/>
                                      </p:to>
                                    </p:set>
                                    <p:animEffect transition="in" filter="wipe(up)">
                                      <p:cBhvr>
                                        <p:cTn id="31" dur="1000"/>
                                        <p:tgtEl>
                                          <p:spTgt spid="1643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16428"/>
                                        </p:tgtEl>
                                        <p:attrNameLst>
                                          <p:attrName>style.visibility</p:attrName>
                                        </p:attrNameLst>
                                      </p:cBhvr>
                                      <p:to>
                                        <p:strVal val="visible"/>
                                      </p:to>
                                    </p:set>
                                    <p:animEffect transition="in" filter="wipe(up)">
                                      <p:cBhvr>
                                        <p:cTn id="36" dur="1000"/>
                                        <p:tgtEl>
                                          <p:spTgt spid="164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16428" grpId="0"/>
      <p:bldP spid="16429" grpId="0" animBg="1"/>
      <p:bldP spid="16430"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1">
            <a:extLst>
              <a:ext uri="{FF2B5EF4-FFF2-40B4-BE49-F238E27FC236}">
                <a16:creationId xmlns:a16="http://schemas.microsoft.com/office/drawing/2014/main" id="{C7562732-57A8-1A90-EE60-0A71E60DA104}"/>
              </a:ext>
            </a:extLst>
          </p:cNvPr>
          <p:cNvSpPr>
            <a:spLocks noChangeArrowheads="1"/>
          </p:cNvSpPr>
          <p:nvPr/>
        </p:nvSpPr>
        <p:spPr bwMode="auto">
          <a:xfrm>
            <a:off x="857250" y="3071813"/>
            <a:ext cx="4286250" cy="40005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anchor="ctr">
            <a:spAutoFit/>
          </a:bodyPr>
          <a:lstStyle/>
          <a:p>
            <a:pPr indent="304800" eaLnBrk="0" hangingPunct="0">
              <a:defRPr/>
            </a:pPr>
            <a:r>
              <a:rPr lang="zh-CN" sz="2000" dirty="0">
                <a:solidFill>
                  <a:schemeClr val="tx1"/>
                </a:solidFill>
                <a:latin typeface="微软雅黑" pitchFamily="34" charset="-122"/>
                <a:ea typeface="微软雅黑" pitchFamily="34" charset="-122"/>
                <a:cs typeface="Times New Roman" pitchFamily="18" charset="0"/>
              </a:rPr>
              <a:t>最小码距</a:t>
            </a:r>
            <a:r>
              <a:rPr lang="zh-CN" altLang="en-US" sz="2000" dirty="0">
                <a:solidFill>
                  <a:schemeClr val="tx1"/>
                </a:solidFill>
                <a:latin typeface="+mn-ea"/>
                <a:ea typeface="+mn-ea"/>
                <a:cs typeface="Times New Roman" pitchFamily="18" charset="0"/>
              </a:rPr>
              <a:t>：</a:t>
            </a:r>
            <a:endParaRPr lang="en-US" altLang="zh-CN" sz="2000" b="0" dirty="0">
              <a:solidFill>
                <a:schemeClr val="tx1"/>
              </a:solidFill>
              <a:latin typeface="+mn-ea"/>
              <a:ea typeface="+mn-ea"/>
              <a:cs typeface="Times New Roman" pitchFamily="18" charset="0"/>
            </a:endParaRPr>
          </a:p>
        </p:txBody>
      </p:sp>
      <p:sp>
        <p:nvSpPr>
          <p:cNvPr id="67587" name="Rectangle 3">
            <a:extLst>
              <a:ext uri="{FF2B5EF4-FFF2-40B4-BE49-F238E27FC236}">
                <a16:creationId xmlns:a16="http://schemas.microsoft.com/office/drawing/2014/main" id="{9366FC8B-C98C-3499-23C0-57EF4337588C}"/>
              </a:ext>
            </a:extLst>
          </p:cNvPr>
          <p:cNvSpPr>
            <a:spLocks noChangeArrowheads="1"/>
          </p:cNvSpPr>
          <p:nvPr/>
        </p:nvSpPr>
        <p:spPr bwMode="auto">
          <a:xfrm>
            <a:off x="0" y="0"/>
            <a:ext cx="9144000" cy="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aphicFrame>
        <p:nvGraphicFramePr>
          <p:cNvPr id="20482" name="Object 2">
            <a:extLst>
              <a:ext uri="{FF2B5EF4-FFF2-40B4-BE49-F238E27FC236}">
                <a16:creationId xmlns:a16="http://schemas.microsoft.com/office/drawing/2014/main" id="{D7D33863-61FA-A40B-DC54-D2889E66DC31}"/>
              </a:ext>
            </a:extLst>
          </p:cNvPr>
          <p:cNvGraphicFramePr>
            <a:graphicFrameLocks noChangeAspect="1"/>
          </p:cNvGraphicFramePr>
          <p:nvPr/>
        </p:nvGraphicFramePr>
        <p:xfrm>
          <a:off x="3357563" y="4114800"/>
          <a:ext cx="3357562" cy="785813"/>
        </p:xfrm>
        <a:graphic>
          <a:graphicData uri="http://schemas.openxmlformats.org/presentationml/2006/ole">
            <mc:AlternateContent xmlns:mc="http://schemas.openxmlformats.org/markup-compatibility/2006">
              <mc:Choice xmlns:v="urn:schemas-microsoft-com:vml" Requires="v">
                <p:oleObj name="Equation" r:id="rId2" imgW="1587240" imgH="393480" progId="Equation.DSMT4">
                  <p:embed/>
                </p:oleObj>
              </mc:Choice>
              <mc:Fallback>
                <p:oleObj name="Equation" r:id="rId2" imgW="1587240" imgH="39348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7563" y="4114800"/>
                        <a:ext cx="3357562" cy="785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9" name="矩形 6">
            <a:extLst>
              <a:ext uri="{FF2B5EF4-FFF2-40B4-BE49-F238E27FC236}">
                <a16:creationId xmlns:a16="http://schemas.microsoft.com/office/drawing/2014/main" id="{B2F65C25-589A-0FD9-25DD-11B1B7FF61FB}"/>
              </a:ext>
            </a:extLst>
          </p:cNvPr>
          <p:cNvSpPr>
            <a:spLocks noChangeArrowheads="1"/>
          </p:cNvSpPr>
          <p:nvPr/>
        </p:nvSpPr>
        <p:spPr bwMode="auto">
          <a:xfrm>
            <a:off x="3286125" y="5072063"/>
            <a:ext cx="5500688" cy="461962"/>
          </a:xfrm>
          <a:prstGeom prst="rect">
            <a:avLst/>
          </a:prstGeom>
          <a:noFill/>
          <a:ln w="9525">
            <a:noFill/>
            <a:miter lim="800000"/>
            <a:headEnd/>
            <a:tailEnd/>
          </a:ln>
        </p:spPr>
        <p:txBody>
          <a:bodyPr>
            <a:spAutoFit/>
          </a:bodyPr>
          <a:lstStyle/>
          <a:p>
            <a:pPr eaLnBrk="0" fontAlgn="ctr" hangingPunct="0">
              <a:defRPr/>
            </a:pPr>
            <a:r>
              <a:rPr lang="zh-CN" altLang="en-US" sz="2000" b="0" dirty="0">
                <a:solidFill>
                  <a:srgbClr val="000000"/>
                </a:solidFill>
                <a:latin typeface="Arial" pitchFamily="34" charset="0"/>
                <a:ea typeface="微软雅黑" pitchFamily="34" charset="-122"/>
                <a:cs typeface="Arial" pitchFamily="34" charset="0"/>
              </a:rPr>
              <a:t>当 </a:t>
            </a:r>
            <a:r>
              <a:rPr lang="en-US" altLang="zh-CN" sz="2400" i="1" dirty="0">
                <a:solidFill>
                  <a:schemeClr val="tx1"/>
                </a:solidFill>
                <a:latin typeface="Arial" pitchFamily="34" charset="0"/>
                <a:ea typeface="微软雅黑" pitchFamily="34" charset="-122"/>
                <a:cs typeface="Arial" pitchFamily="34" charset="0"/>
              </a:rPr>
              <a:t>n</a:t>
            </a:r>
            <a:r>
              <a:rPr lang="zh-CN" altLang="en-US" sz="2000" b="0" dirty="0">
                <a:solidFill>
                  <a:srgbClr val="000000"/>
                </a:solidFill>
                <a:latin typeface="Arial" pitchFamily="34" charset="0"/>
                <a:ea typeface="微软雅黑" pitchFamily="34" charset="-122"/>
                <a:cs typeface="Arial" pitchFamily="34" charset="0"/>
              </a:rPr>
              <a:t>很大</a:t>
            </a:r>
            <a:r>
              <a:rPr kumimoji="0" lang="zh-CN" altLang="en-US" sz="2000" b="0" kern="0" dirty="0">
                <a:solidFill>
                  <a:srgbClr val="000000"/>
                </a:solidFill>
                <a:latin typeface="Arial" pitchFamily="34" charset="0"/>
                <a:ea typeface="微软雅黑" pitchFamily="34" charset="-122"/>
                <a:cs typeface="Arial" pitchFamily="34" charset="0"/>
              </a:rPr>
              <a:t>和 </a:t>
            </a:r>
            <a:r>
              <a:rPr kumimoji="0" lang="en-US" altLang="zh-CN" sz="2400" i="1" kern="0" dirty="0">
                <a:solidFill>
                  <a:schemeClr val="tx1"/>
                </a:solidFill>
                <a:latin typeface="Arial" pitchFamily="34" charset="0"/>
                <a:ea typeface="微软雅黑" pitchFamily="34" charset="-122"/>
                <a:cs typeface="Arial" pitchFamily="34" charset="0"/>
              </a:rPr>
              <a:t>r </a:t>
            </a:r>
            <a:r>
              <a:rPr kumimoji="0" lang="zh-CN" altLang="en-US" sz="2000" b="0" kern="0" dirty="0">
                <a:solidFill>
                  <a:srgbClr val="000000"/>
                </a:solidFill>
                <a:latin typeface="Arial" pitchFamily="34" charset="0"/>
                <a:ea typeface="微软雅黑" pitchFamily="34" charset="-122"/>
                <a:cs typeface="Arial" pitchFamily="34" charset="0"/>
              </a:rPr>
              <a:t>很小</a:t>
            </a:r>
            <a:r>
              <a:rPr lang="zh-CN" altLang="en-US" sz="2000" b="0" dirty="0">
                <a:solidFill>
                  <a:srgbClr val="000000"/>
                </a:solidFill>
                <a:latin typeface="Arial" pitchFamily="34" charset="0"/>
                <a:ea typeface="微软雅黑" pitchFamily="34" charset="-122"/>
                <a:cs typeface="Arial" pitchFamily="34" charset="0"/>
              </a:rPr>
              <a:t>时，</a:t>
            </a:r>
            <a:r>
              <a:rPr kumimoji="0" lang="zh-CN" altLang="en-US" sz="2000" b="0" kern="0" dirty="0">
                <a:solidFill>
                  <a:srgbClr val="000000"/>
                </a:solidFill>
                <a:latin typeface="Arial" pitchFamily="34" charset="0"/>
                <a:ea typeface="微软雅黑" pitchFamily="34" charset="-122"/>
                <a:cs typeface="Arial" pitchFamily="34" charset="0"/>
              </a:rPr>
              <a:t>码率 </a:t>
            </a:r>
            <a:r>
              <a:rPr lang="en-US" altLang="zh-CN" sz="2000" i="1" dirty="0" err="1">
                <a:solidFill>
                  <a:srgbClr val="000000"/>
                </a:solidFill>
                <a:latin typeface="Arial" pitchFamily="34" charset="0"/>
                <a:ea typeface="微软雅黑" pitchFamily="34" charset="-122"/>
                <a:cs typeface="Arial" pitchFamily="34" charset="0"/>
              </a:rPr>
              <a:t>R</a:t>
            </a:r>
            <a:r>
              <a:rPr lang="en-US" altLang="zh-CN" sz="2000" baseline="-30000" dirty="0" err="1">
                <a:solidFill>
                  <a:srgbClr val="000000"/>
                </a:solidFill>
                <a:latin typeface="Arial" pitchFamily="34" charset="0"/>
                <a:ea typeface="微软雅黑" pitchFamily="34" charset="-122"/>
                <a:cs typeface="Arial" pitchFamily="34" charset="0"/>
              </a:rPr>
              <a:t>c</a:t>
            </a:r>
            <a:r>
              <a:rPr lang="en-US" altLang="zh-CN" sz="2000" baseline="-30000" dirty="0">
                <a:solidFill>
                  <a:srgbClr val="000000"/>
                </a:solidFill>
                <a:latin typeface="Arial" pitchFamily="34" charset="0"/>
                <a:ea typeface="微软雅黑" pitchFamily="34" charset="-122"/>
                <a:cs typeface="Arial" pitchFamily="34" charset="0"/>
              </a:rPr>
              <a:t> </a:t>
            </a:r>
            <a:r>
              <a:rPr kumimoji="0" lang="zh-CN" altLang="en-US" sz="2000" b="0" kern="0" dirty="0">
                <a:solidFill>
                  <a:srgbClr val="000000"/>
                </a:solidFill>
                <a:latin typeface="Arial" pitchFamily="34" charset="0"/>
                <a:ea typeface="微软雅黑" pitchFamily="34" charset="-122"/>
                <a:cs typeface="Arial" pitchFamily="34" charset="0"/>
              </a:rPr>
              <a:t>接近 </a:t>
            </a:r>
            <a:r>
              <a:rPr lang="en-US" altLang="zh-CN" sz="2000" dirty="0">
                <a:solidFill>
                  <a:srgbClr val="000000"/>
                </a:solidFill>
                <a:latin typeface="Arial" pitchFamily="34" charset="0"/>
                <a:ea typeface="微软雅黑" pitchFamily="34" charset="-122"/>
                <a:cs typeface="Arial" pitchFamily="34" charset="0"/>
              </a:rPr>
              <a:t>1</a:t>
            </a:r>
            <a:r>
              <a:rPr lang="zh-CN" altLang="en-US" sz="2000" b="0" dirty="0">
                <a:solidFill>
                  <a:srgbClr val="000000"/>
                </a:solidFill>
                <a:latin typeface="Arial" pitchFamily="34" charset="0"/>
                <a:ea typeface="微软雅黑" pitchFamily="34" charset="-122"/>
                <a:cs typeface="Arial" pitchFamily="34" charset="0"/>
              </a:rPr>
              <a:t>。</a:t>
            </a:r>
            <a:endParaRPr lang="en-US" altLang="zh-CN" sz="2000" b="0" dirty="0">
              <a:solidFill>
                <a:srgbClr val="000000"/>
              </a:solidFill>
              <a:latin typeface="Arial" pitchFamily="34" charset="0"/>
              <a:ea typeface="微软雅黑" pitchFamily="34" charset="-122"/>
              <a:cs typeface="Arial" pitchFamily="34" charset="0"/>
            </a:endParaRPr>
          </a:p>
        </p:txBody>
      </p:sp>
      <p:sp>
        <p:nvSpPr>
          <p:cNvPr id="67590" name="Rectangle 6">
            <a:extLst>
              <a:ext uri="{FF2B5EF4-FFF2-40B4-BE49-F238E27FC236}">
                <a16:creationId xmlns:a16="http://schemas.microsoft.com/office/drawing/2014/main" id="{B7C66C1E-1867-ADEC-FC3C-5F03315F3AF0}"/>
              </a:ext>
            </a:extLst>
          </p:cNvPr>
          <p:cNvSpPr>
            <a:spLocks noChangeArrowheads="1"/>
          </p:cNvSpPr>
          <p:nvPr/>
        </p:nvSpPr>
        <p:spPr bwMode="auto">
          <a:xfrm>
            <a:off x="0" y="0"/>
            <a:ext cx="9144000" cy="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67592" name="Rectangle 8">
            <a:extLst>
              <a:ext uri="{FF2B5EF4-FFF2-40B4-BE49-F238E27FC236}">
                <a16:creationId xmlns:a16="http://schemas.microsoft.com/office/drawing/2014/main" id="{A0D04A95-B712-44D3-29CE-42D5A2DCA7F7}"/>
              </a:ext>
            </a:extLst>
          </p:cNvPr>
          <p:cNvSpPr>
            <a:spLocks noChangeArrowheads="1"/>
          </p:cNvSpPr>
          <p:nvPr/>
        </p:nvSpPr>
        <p:spPr bwMode="auto">
          <a:xfrm>
            <a:off x="0" y="0"/>
            <a:ext cx="9144000" cy="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20495" name="矩形 15">
            <a:extLst>
              <a:ext uri="{FF2B5EF4-FFF2-40B4-BE49-F238E27FC236}">
                <a16:creationId xmlns:a16="http://schemas.microsoft.com/office/drawing/2014/main" id="{3F495A0F-9CBA-8E1D-A6D9-E0A7B2A9CF6E}"/>
              </a:ext>
            </a:extLst>
          </p:cNvPr>
          <p:cNvSpPr>
            <a:spLocks noChangeArrowheads="1"/>
          </p:cNvSpPr>
          <p:nvPr/>
        </p:nvSpPr>
        <p:spPr bwMode="auto">
          <a:xfrm>
            <a:off x="785813" y="3886200"/>
            <a:ext cx="1851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indent="304800"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r>
              <a:rPr lang="zh-CN" altLang="en-US" sz="20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编码效率</a:t>
            </a:r>
            <a:r>
              <a:rPr lang="zh-CN" altLang="en-US" sz="2000">
                <a:solidFill>
                  <a:schemeClr val="tx1"/>
                </a:solidFill>
                <a:latin typeface="宋体" panose="02010600030101010101" pitchFamily="2" charset="-122"/>
                <a:ea typeface="微软雅黑" panose="020B0503020204020204" pitchFamily="34" charset="-122"/>
                <a:cs typeface="Times New Roman" panose="02020603050405020304" pitchFamily="18" charset="0"/>
              </a:rPr>
              <a:t>：</a:t>
            </a:r>
            <a:endParaRPr lang="en-US" altLang="zh-CN" sz="2000" b="0">
              <a:solidFill>
                <a:schemeClr val="tx1"/>
              </a:solidFill>
              <a:latin typeface="宋体" panose="02010600030101010101" pitchFamily="2" charset="-122"/>
              <a:ea typeface="微软雅黑" panose="020B0503020204020204" pitchFamily="34" charset="-122"/>
              <a:cs typeface="Times New Roman" panose="02020603050405020304" pitchFamily="18" charset="0"/>
            </a:endParaRPr>
          </a:p>
        </p:txBody>
      </p:sp>
      <p:graphicFrame>
        <p:nvGraphicFramePr>
          <p:cNvPr id="13317" name="Object 12">
            <a:extLst>
              <a:ext uri="{FF2B5EF4-FFF2-40B4-BE49-F238E27FC236}">
                <a16:creationId xmlns:a16="http://schemas.microsoft.com/office/drawing/2014/main" id="{3EE3D5FF-0976-76EE-0B0E-3FFD8492D047}"/>
              </a:ext>
            </a:extLst>
          </p:cNvPr>
          <p:cNvGraphicFramePr>
            <a:graphicFrameLocks noChangeAspect="1"/>
          </p:cNvGraphicFramePr>
          <p:nvPr/>
        </p:nvGraphicFramePr>
        <p:xfrm>
          <a:off x="3286125" y="2428875"/>
          <a:ext cx="3524250" cy="476250"/>
        </p:xfrm>
        <a:graphic>
          <a:graphicData uri="http://schemas.openxmlformats.org/presentationml/2006/ole">
            <mc:AlternateContent xmlns:mc="http://schemas.openxmlformats.org/markup-compatibility/2006">
              <mc:Choice xmlns:v="urn:schemas-microsoft-com:vml" Requires="v">
                <p:oleObj name="公式" r:id="rId4" imgW="1688760" imgH="228600" progId="Equation.3">
                  <p:embed/>
                </p:oleObj>
              </mc:Choice>
              <mc:Fallback>
                <p:oleObj name="公式" r:id="rId4" imgW="1688760" imgH="228600" progId="Equation.3">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86125" y="2428875"/>
                        <a:ext cx="3524250" cy="476250"/>
                      </a:xfrm>
                      <a:prstGeom prst="rect">
                        <a:avLst/>
                      </a:prstGeom>
                      <a:noFill/>
                      <a:ln w="38100" cmpd="dbl">
                        <a:solidFill>
                          <a:srgbClr val="6666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矩形 16">
            <a:extLst>
              <a:ext uri="{FF2B5EF4-FFF2-40B4-BE49-F238E27FC236}">
                <a16:creationId xmlns:a16="http://schemas.microsoft.com/office/drawing/2014/main" id="{1CD12416-F222-724E-FE21-FE0DA3627231}"/>
              </a:ext>
            </a:extLst>
          </p:cNvPr>
          <p:cNvSpPr>
            <a:spLocks noChangeArrowheads="1"/>
          </p:cNvSpPr>
          <p:nvPr/>
        </p:nvSpPr>
        <p:spPr bwMode="auto">
          <a:xfrm>
            <a:off x="714375" y="1071563"/>
            <a:ext cx="18113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zh-CN" altLang="en-US" sz="240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汉明码</a:t>
            </a:r>
            <a:r>
              <a:rPr lang="zh-CN" altLang="en-US" sz="24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特点</a:t>
            </a:r>
            <a:r>
              <a:rPr lang="en-US" altLang="zh-CN" sz="24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a:ea typeface="微软雅黑" panose="020B0503020204020204" pitchFamily="34" charset="-122"/>
              <a:cs typeface="Times New Roman" panose="02020603050405020304" pitchFamily="18" charset="0"/>
            </a:endParaRPr>
          </a:p>
        </p:txBody>
      </p:sp>
      <p:grpSp>
        <p:nvGrpSpPr>
          <p:cNvPr id="2" name="组合 22">
            <a:extLst>
              <a:ext uri="{FF2B5EF4-FFF2-40B4-BE49-F238E27FC236}">
                <a16:creationId xmlns:a16="http://schemas.microsoft.com/office/drawing/2014/main" id="{11909AFD-C44B-EBC8-2F67-839DB336F312}"/>
              </a:ext>
            </a:extLst>
          </p:cNvPr>
          <p:cNvGrpSpPr>
            <a:grpSpLocks/>
          </p:cNvGrpSpPr>
          <p:nvPr/>
        </p:nvGrpSpPr>
        <p:grpSpPr bwMode="auto">
          <a:xfrm>
            <a:off x="1214438" y="1643063"/>
            <a:ext cx="4641850" cy="514350"/>
            <a:chOff x="2615278" y="1314888"/>
            <a:chExt cx="4642338" cy="513958"/>
          </a:xfrm>
        </p:grpSpPr>
        <p:graphicFrame>
          <p:nvGraphicFramePr>
            <p:cNvPr id="13315" name="Object 7">
              <a:extLst>
                <a:ext uri="{FF2B5EF4-FFF2-40B4-BE49-F238E27FC236}">
                  <a16:creationId xmlns:a16="http://schemas.microsoft.com/office/drawing/2014/main" id="{DAD8C8C2-55B3-F894-5073-07547FBCA90B}"/>
                </a:ext>
              </a:extLst>
            </p:cNvPr>
            <p:cNvGraphicFramePr>
              <a:graphicFrameLocks noChangeAspect="1"/>
            </p:cNvGraphicFramePr>
            <p:nvPr/>
          </p:nvGraphicFramePr>
          <p:xfrm>
            <a:off x="3143240" y="1314888"/>
            <a:ext cx="1492250" cy="508000"/>
          </p:xfrm>
          <a:graphic>
            <a:graphicData uri="http://schemas.openxmlformats.org/presentationml/2006/ole">
              <mc:AlternateContent xmlns:mc="http://schemas.openxmlformats.org/markup-compatibility/2006">
                <mc:Choice xmlns:v="urn:schemas-microsoft-com:vml" Requires="v">
                  <p:oleObj name="Equation" r:id="rId6" imgW="596880" imgH="203040" progId="Equation.DSMT4">
                    <p:embed/>
                  </p:oleObj>
                </mc:Choice>
                <mc:Fallback>
                  <p:oleObj name="Equation" r:id="rId6" imgW="596880" imgH="20304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43240" y="1314888"/>
                          <a:ext cx="1492250" cy="508000"/>
                        </a:xfrm>
                        <a:prstGeom prst="rect">
                          <a:avLst/>
                        </a:prstGeom>
                        <a:solidFill>
                          <a:srgbClr val="FFFFCC"/>
                        </a:solidFill>
                        <a:ln>
                          <a:noFill/>
                        </a:ln>
                        <a:effectLst/>
                        <a:extLst>
                          <a:ext uri="{91240B29-F687-4F45-9708-019B960494DF}">
                            <a14:hiddenLine xmlns:a14="http://schemas.microsoft.com/office/drawing/2010/main" w="38100" cmpd="dbl">
                              <a:solidFill>
                                <a:srgbClr val="9999FF"/>
                              </a:solidFill>
                              <a:miter lim="800000"/>
                              <a:headEnd/>
                              <a:tailEnd/>
                            </a14:hiddenLine>
                          </a:ext>
                          <a:ext uri="{AF507438-7753-43E0-B8FC-AC1667EBCBE1}">
                            <a14:hiddenEffects xmlns:a14="http://schemas.microsoft.com/office/drawing/2010/main">
                              <a:effectLst>
                                <a:outerShdw dist="17961" dir="2700000" algn="ctr" rotWithShape="0">
                                  <a:srgbClr val="FFFFCC">
                                    <a:gamma/>
                                    <a:shade val="60000"/>
                                    <a:invGamma/>
                                  </a:srgbClr>
                                </a:outerShdw>
                              </a:effectLst>
                            </a14:hiddenEffects>
                          </a:ext>
                        </a:extLst>
                      </p:spPr>
                    </p:pic>
                  </p:oleObj>
                </mc:Fallback>
              </mc:AlternateContent>
            </a:graphicData>
          </a:graphic>
        </p:graphicFrame>
        <p:sp>
          <p:nvSpPr>
            <p:cNvPr id="20" name="矩形 19">
              <a:extLst>
                <a:ext uri="{FF2B5EF4-FFF2-40B4-BE49-F238E27FC236}">
                  <a16:creationId xmlns:a16="http://schemas.microsoft.com/office/drawing/2014/main" id="{5F0EA112-3E16-3CF4-B8DC-5AB778F9FF12}"/>
                </a:ext>
              </a:extLst>
            </p:cNvPr>
            <p:cNvSpPr/>
            <p:nvPr/>
          </p:nvSpPr>
          <p:spPr>
            <a:xfrm>
              <a:off x="2615278" y="1429101"/>
              <a:ext cx="441371" cy="399745"/>
            </a:xfrm>
            <a:prstGeom prst="rect">
              <a:avLst/>
            </a:prstGeom>
          </p:spPr>
          <p:txBody>
            <a:bodyPr wrap="none">
              <a:spAutoFit/>
            </a:bodyPr>
            <a:lstStyle/>
            <a:p>
              <a:pPr>
                <a:defRPr/>
              </a:pPr>
              <a:r>
                <a:rPr lang="zh-CN" altLang="en-US" sz="2000" b="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式</a:t>
              </a:r>
              <a:endParaRPr lang="zh-CN" altLang="en-US" b="0" dirty="0">
                <a:effectLst>
                  <a:outerShdw blurRad="38100" dist="38100" dir="2700000" algn="tl">
                    <a:srgbClr val="000000">
                      <a:alpha val="43137"/>
                    </a:srgbClr>
                  </a:outerShdw>
                </a:effectLst>
              </a:endParaRPr>
            </a:p>
          </p:txBody>
        </p:sp>
        <p:sp>
          <p:nvSpPr>
            <p:cNvPr id="22" name="矩形 21">
              <a:extLst>
                <a:ext uri="{FF2B5EF4-FFF2-40B4-BE49-F238E27FC236}">
                  <a16:creationId xmlns:a16="http://schemas.microsoft.com/office/drawing/2014/main" id="{22BDEFC0-BA72-2362-0BBE-C8A4EB1F0C13}"/>
                </a:ext>
              </a:extLst>
            </p:cNvPr>
            <p:cNvSpPr/>
            <p:nvPr/>
          </p:nvSpPr>
          <p:spPr>
            <a:xfrm>
              <a:off x="4685596" y="1429101"/>
              <a:ext cx="2572020" cy="399745"/>
            </a:xfrm>
            <a:prstGeom prst="rect">
              <a:avLst/>
            </a:prstGeom>
          </p:spPr>
          <p:txBody>
            <a:bodyPr>
              <a:spAutoFit/>
            </a:bodyPr>
            <a:lstStyle/>
            <a:p>
              <a:pPr>
                <a:defRPr/>
              </a:pPr>
              <a:r>
                <a:rPr lang="zh-CN" altLang="en-US" sz="2000" b="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中的等号成立，即</a:t>
              </a:r>
              <a:r>
                <a:rPr lang="en-US" altLang="zh-CN" sz="2000" b="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a:t>
              </a:r>
              <a:endParaRPr lang="zh-CN" altLang="en-US" sz="2000" b="0" dirty="0">
                <a:effectLst>
                  <a:outerShdw blurRad="38100" dist="38100" dir="2700000" algn="tl">
                    <a:srgbClr val="000000">
                      <a:alpha val="43137"/>
                    </a:srgbClr>
                  </a:outerShdw>
                </a:effectLst>
              </a:endParaRPr>
            </a:p>
          </p:txBody>
        </p:sp>
      </p:grpSp>
      <p:sp>
        <p:nvSpPr>
          <p:cNvPr id="24" name="Rectangle 1">
            <a:extLst>
              <a:ext uri="{FF2B5EF4-FFF2-40B4-BE49-F238E27FC236}">
                <a16:creationId xmlns:a16="http://schemas.microsoft.com/office/drawing/2014/main" id="{E1827954-632E-79BE-0C7A-E9DA418CA595}"/>
              </a:ext>
            </a:extLst>
          </p:cNvPr>
          <p:cNvSpPr>
            <a:spLocks noChangeArrowheads="1"/>
          </p:cNvSpPr>
          <p:nvPr/>
        </p:nvSpPr>
        <p:spPr bwMode="auto">
          <a:xfrm>
            <a:off x="3000375" y="3386138"/>
            <a:ext cx="4286250" cy="40005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anchor="ctr">
            <a:spAutoFit/>
          </a:bodyPr>
          <a:lstStyle/>
          <a:p>
            <a:pPr indent="304800" eaLnBrk="0" hangingPunct="0">
              <a:defRPr/>
            </a:pPr>
            <a:r>
              <a:rPr lang="en-US" altLang="zh-CN" sz="2000" i="1" dirty="0">
                <a:solidFill>
                  <a:schemeClr val="tx1"/>
                </a:solidFill>
                <a:latin typeface="微软雅黑" pitchFamily="34" charset="-122"/>
                <a:ea typeface="微软雅黑" pitchFamily="34" charset="-122"/>
                <a:cs typeface="Times New Roman" pitchFamily="18" charset="0"/>
              </a:rPr>
              <a:t>d</a:t>
            </a:r>
            <a:r>
              <a:rPr lang="en-US" altLang="zh-CN" sz="2000" baseline="-30000" dirty="0">
                <a:solidFill>
                  <a:schemeClr val="tx1"/>
                </a:solidFill>
                <a:latin typeface="微软雅黑" pitchFamily="34" charset="-122"/>
                <a:ea typeface="微软雅黑" pitchFamily="34" charset="-122"/>
                <a:cs typeface="Times New Roman" pitchFamily="18" charset="0"/>
              </a:rPr>
              <a:t>0</a:t>
            </a:r>
            <a:r>
              <a:rPr lang="en-US" altLang="zh-CN" sz="2000" dirty="0">
                <a:solidFill>
                  <a:schemeClr val="tx1"/>
                </a:solidFill>
                <a:latin typeface="微软雅黑" pitchFamily="34" charset="-122"/>
                <a:ea typeface="微软雅黑" pitchFamily="34" charset="-122"/>
                <a:cs typeface="Times New Roman" pitchFamily="18" charset="0"/>
              </a:rPr>
              <a:t> = 3 </a:t>
            </a:r>
            <a:r>
              <a:rPr lang="zh-CN" altLang="en-US" sz="2000" dirty="0">
                <a:solidFill>
                  <a:schemeClr val="tx1"/>
                </a:solidFill>
                <a:latin typeface="微软雅黑" pitchFamily="34" charset="-122"/>
                <a:ea typeface="微软雅黑" pitchFamily="34" charset="-122"/>
                <a:cs typeface="Times New Roman" pitchFamily="18" charset="0"/>
              </a:rPr>
              <a:t>（纠</a:t>
            </a:r>
            <a:r>
              <a:rPr lang="en-US" altLang="zh-CN" sz="2000" dirty="0">
                <a:solidFill>
                  <a:schemeClr val="tx1"/>
                </a:solidFill>
                <a:latin typeface="微软雅黑" pitchFamily="34" charset="-122"/>
                <a:ea typeface="微软雅黑" pitchFamily="34" charset="-122"/>
                <a:cs typeface="Times New Roman" pitchFamily="18" charset="0"/>
              </a:rPr>
              <a:t>1</a:t>
            </a:r>
            <a:r>
              <a:rPr lang="zh-CN" altLang="en-US" sz="2000" dirty="0">
                <a:solidFill>
                  <a:schemeClr val="tx1"/>
                </a:solidFill>
                <a:latin typeface="微软雅黑" pitchFamily="34" charset="-122"/>
                <a:ea typeface="微软雅黑" pitchFamily="34" charset="-122"/>
                <a:cs typeface="Times New Roman" pitchFamily="18" charset="0"/>
              </a:rPr>
              <a:t>或检</a:t>
            </a:r>
            <a:r>
              <a:rPr lang="en-US" altLang="zh-CN" sz="2000" dirty="0">
                <a:solidFill>
                  <a:schemeClr val="tx1"/>
                </a:solidFill>
                <a:latin typeface="微软雅黑" pitchFamily="34" charset="-122"/>
                <a:ea typeface="微软雅黑" pitchFamily="34" charset="-122"/>
                <a:cs typeface="Times New Roman" pitchFamily="18" charset="0"/>
              </a:rPr>
              <a:t>2</a:t>
            </a:r>
            <a:r>
              <a:rPr lang="zh-CN" altLang="en-US" sz="2000" dirty="0">
                <a:solidFill>
                  <a:schemeClr val="tx1"/>
                </a:solidFill>
                <a:latin typeface="微软雅黑" pitchFamily="34" charset="-122"/>
                <a:ea typeface="微软雅黑" pitchFamily="34" charset="-122"/>
                <a:cs typeface="Times New Roman" pitchFamily="18" charset="0"/>
              </a:rPr>
              <a:t>）</a:t>
            </a:r>
            <a:endParaRPr lang="en-US" altLang="zh-CN" sz="2000" dirty="0">
              <a:solidFill>
                <a:schemeClr val="tx1"/>
              </a:solidFill>
              <a:latin typeface="微软雅黑" pitchFamily="34" charset="-122"/>
              <a:ea typeface="微软雅黑" pitchFamily="34" charset="-122"/>
              <a:cs typeface="Times New Roman" pitchFamily="18" charset="0"/>
            </a:endParaRPr>
          </a:p>
        </p:txBody>
      </p:sp>
      <p:sp>
        <p:nvSpPr>
          <p:cNvPr id="18" name="矩形 17">
            <a:extLst>
              <a:ext uri="{FF2B5EF4-FFF2-40B4-BE49-F238E27FC236}">
                <a16:creationId xmlns:a16="http://schemas.microsoft.com/office/drawing/2014/main" id="{3AFCE00A-2FDA-4120-6A01-6B660E25C1B0}"/>
              </a:ext>
            </a:extLst>
          </p:cNvPr>
          <p:cNvSpPr/>
          <p:nvPr/>
        </p:nvSpPr>
        <p:spPr>
          <a:xfrm>
            <a:off x="6929438" y="3000375"/>
            <a:ext cx="1724025" cy="769938"/>
          </a:xfrm>
          <a:prstGeom prst="rect">
            <a:avLst/>
          </a:prstGeom>
        </p:spPr>
        <p:txBody>
          <a:bodyPr wrap="none">
            <a:spAutoFit/>
          </a:bodyPr>
          <a:lstStyle/>
          <a:p>
            <a:pPr>
              <a:defRPr/>
            </a:pPr>
            <a:r>
              <a:rPr kumimoji="0" lang="en-US" altLang="zh-CN" sz="2400" b="0" i="1" kern="0" dirty="0">
                <a:solidFill>
                  <a:srgbClr val="000000"/>
                </a:solidFill>
                <a:latin typeface="Times New Roman" pitchFamily="18" charset="0"/>
                <a:ea typeface="黑体" pitchFamily="2" charset="-122"/>
                <a:cs typeface="Times New Roman" pitchFamily="18" charset="0"/>
              </a:rPr>
              <a:t>r</a:t>
            </a:r>
            <a:r>
              <a:rPr kumimoji="0" lang="en-US" altLang="zh-CN" sz="2000" b="0" i="1" kern="0" dirty="0">
                <a:solidFill>
                  <a:srgbClr val="000000"/>
                </a:solidFill>
                <a:latin typeface="Times New Roman" pitchFamily="18" charset="0"/>
                <a:ea typeface="黑体" pitchFamily="2" charset="-122"/>
                <a:cs typeface="Times New Roman" pitchFamily="18" charset="0"/>
              </a:rPr>
              <a:t> </a:t>
            </a:r>
            <a:r>
              <a:rPr kumimoji="0" lang="zh-CN" altLang="en-US" sz="2000" b="0" kern="0" dirty="0">
                <a:solidFill>
                  <a:srgbClr val="000000"/>
                </a:solidFill>
                <a:latin typeface="黑体" pitchFamily="2" charset="-122"/>
                <a:ea typeface="黑体" pitchFamily="2" charset="-122"/>
                <a:cs typeface="Arial" pitchFamily="34" charset="0"/>
              </a:rPr>
              <a:t>是不小于</a:t>
            </a:r>
            <a:r>
              <a:rPr kumimoji="0" lang="en-US" altLang="zh-CN" sz="2400" kern="0" dirty="0">
                <a:solidFill>
                  <a:srgbClr val="000000"/>
                </a:solidFill>
                <a:latin typeface="Times New Roman" pitchFamily="18" charset="0"/>
                <a:ea typeface="黑体" pitchFamily="2" charset="-122"/>
                <a:cs typeface="Times New Roman" pitchFamily="18" charset="0"/>
              </a:rPr>
              <a:t>3</a:t>
            </a:r>
          </a:p>
          <a:p>
            <a:pPr>
              <a:defRPr/>
            </a:pPr>
            <a:r>
              <a:rPr kumimoji="0" lang="zh-CN" altLang="en-US" sz="2000" b="0" kern="0" dirty="0">
                <a:solidFill>
                  <a:srgbClr val="000000"/>
                </a:solidFill>
                <a:latin typeface="黑体" pitchFamily="2" charset="-122"/>
                <a:ea typeface="黑体" pitchFamily="2" charset="-122"/>
                <a:cs typeface="Arial" pitchFamily="34" charset="0"/>
              </a:rPr>
              <a:t>的任意正整数</a:t>
            </a:r>
            <a:endParaRPr lang="zh-CN" altLang="en-US" b="0" dirty="0">
              <a:latin typeface="黑体" pitchFamily="2" charset="-122"/>
              <a:ea typeface="黑体" pitchFamily="2" charset="-122"/>
            </a:endParaRPr>
          </a:p>
        </p:txBody>
      </p:sp>
      <p:pic>
        <p:nvPicPr>
          <p:cNvPr id="15375" name="Picture 18">
            <a:extLst>
              <a:ext uri="{FF2B5EF4-FFF2-40B4-BE49-F238E27FC236}">
                <a16:creationId xmlns:a16="http://schemas.microsoft.com/office/drawing/2014/main" id="{08229A8D-0B5C-3CE9-1BDC-87482A2B116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58850" y="5715000"/>
            <a:ext cx="714375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1000"/>
                                        <p:tgtEl>
                                          <p:spTgt spid="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1000"/>
                                        <p:tgtEl>
                                          <p:spTgt spid="2"/>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13317"/>
                                        </p:tgtEl>
                                        <p:attrNameLst>
                                          <p:attrName>style.visibility</p:attrName>
                                        </p:attrNameLst>
                                      </p:cBhvr>
                                      <p:to>
                                        <p:strVal val="visible"/>
                                      </p:to>
                                    </p:set>
                                    <p:animEffect transition="in" filter="wipe(up)">
                                      <p:cBhvr>
                                        <p:cTn id="16" dur="1000"/>
                                        <p:tgtEl>
                                          <p:spTgt spid="13317"/>
                                        </p:tgtEl>
                                      </p:cBhvr>
                                    </p:animEffect>
                                  </p:childTnLst>
                                </p:cTn>
                              </p:par>
                            </p:childTnLst>
                          </p:cTn>
                        </p:par>
                        <p:par>
                          <p:cTn id="17" fill="hold" nodeType="afterGroup">
                            <p:stCondLst>
                              <p:cond delay="2000"/>
                            </p:stCondLst>
                            <p:childTnLst>
                              <p:par>
                                <p:cTn id="18" presetID="22" presetClass="entr" presetSubtype="1"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up)">
                                      <p:cBhvr>
                                        <p:cTn id="20" dur="1000"/>
                                        <p:tgtEl>
                                          <p:spTgt spid="1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67585"/>
                                        </p:tgtEl>
                                        <p:attrNameLst>
                                          <p:attrName>style.visibility</p:attrName>
                                        </p:attrNameLst>
                                      </p:cBhvr>
                                      <p:to>
                                        <p:strVal val="visible"/>
                                      </p:to>
                                    </p:set>
                                    <p:animEffect transition="in" filter="wipe(up)">
                                      <p:cBhvr>
                                        <p:cTn id="25" dur="1000"/>
                                        <p:tgtEl>
                                          <p:spTgt spid="67585"/>
                                        </p:tgtEl>
                                      </p:cBhvr>
                                    </p:animEffect>
                                  </p:childTnLst>
                                </p:cTn>
                              </p:par>
                            </p:childTnLst>
                          </p:cTn>
                        </p:par>
                        <p:par>
                          <p:cTn id="26" fill="hold" nodeType="afterGroup">
                            <p:stCondLst>
                              <p:cond delay="1000"/>
                            </p:stCondLst>
                            <p:childTnLst>
                              <p:par>
                                <p:cTn id="27" presetID="22" presetClass="entr" presetSubtype="1" fill="hold" nodeType="after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wipe(up)">
                                      <p:cBhvr>
                                        <p:cTn id="29" dur="1000"/>
                                        <p:tgtEl>
                                          <p:spTgt spid="2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20495"/>
                                        </p:tgtEl>
                                        <p:attrNameLst>
                                          <p:attrName>style.visibility</p:attrName>
                                        </p:attrNameLst>
                                      </p:cBhvr>
                                      <p:to>
                                        <p:strVal val="visible"/>
                                      </p:to>
                                    </p:set>
                                    <p:animEffect transition="in" filter="wipe(up)">
                                      <p:cBhvr>
                                        <p:cTn id="34" dur="1000"/>
                                        <p:tgtEl>
                                          <p:spTgt spid="20495"/>
                                        </p:tgtEl>
                                      </p:cBhvr>
                                    </p:animEffect>
                                  </p:childTnLst>
                                </p:cTn>
                              </p:par>
                            </p:childTnLst>
                          </p:cTn>
                        </p:par>
                        <p:par>
                          <p:cTn id="35" fill="hold" nodeType="afterGroup">
                            <p:stCondLst>
                              <p:cond delay="1000"/>
                            </p:stCondLst>
                            <p:childTnLst>
                              <p:par>
                                <p:cTn id="36" presetID="22" presetClass="entr" presetSubtype="1" fill="hold" nodeType="afterEffect">
                                  <p:stCondLst>
                                    <p:cond delay="0"/>
                                  </p:stCondLst>
                                  <p:childTnLst>
                                    <p:set>
                                      <p:cBhvr>
                                        <p:cTn id="37" dur="1" fill="hold">
                                          <p:stCondLst>
                                            <p:cond delay="0"/>
                                          </p:stCondLst>
                                        </p:cTn>
                                        <p:tgtEl>
                                          <p:spTgt spid="20482"/>
                                        </p:tgtEl>
                                        <p:attrNameLst>
                                          <p:attrName>style.visibility</p:attrName>
                                        </p:attrNameLst>
                                      </p:cBhvr>
                                      <p:to>
                                        <p:strVal val="visible"/>
                                      </p:to>
                                    </p:set>
                                    <p:animEffect transition="in" filter="wipe(up)">
                                      <p:cBhvr>
                                        <p:cTn id="38" dur="1000"/>
                                        <p:tgtEl>
                                          <p:spTgt spid="2048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15369"/>
                                        </p:tgtEl>
                                        <p:attrNameLst>
                                          <p:attrName>style.visibility</p:attrName>
                                        </p:attrNameLst>
                                      </p:cBhvr>
                                      <p:to>
                                        <p:strVal val="visible"/>
                                      </p:to>
                                    </p:set>
                                    <p:animEffect transition="in" filter="wipe(up)">
                                      <p:cBhvr>
                                        <p:cTn id="43" dur="1000"/>
                                        <p:tgtEl>
                                          <p:spTgt spid="15369"/>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1" fill="hold" nodeType="clickEffect">
                                  <p:stCondLst>
                                    <p:cond delay="0"/>
                                  </p:stCondLst>
                                  <p:childTnLst>
                                    <p:set>
                                      <p:cBhvr>
                                        <p:cTn id="47" dur="1" fill="hold">
                                          <p:stCondLst>
                                            <p:cond delay="0"/>
                                          </p:stCondLst>
                                        </p:cTn>
                                        <p:tgtEl>
                                          <p:spTgt spid="15375"/>
                                        </p:tgtEl>
                                        <p:attrNameLst>
                                          <p:attrName>style.visibility</p:attrName>
                                        </p:attrNameLst>
                                      </p:cBhvr>
                                      <p:to>
                                        <p:strVal val="visible"/>
                                      </p:to>
                                    </p:set>
                                    <p:animEffect transition="in" filter="wipe(up)">
                                      <p:cBhvr>
                                        <p:cTn id="48" dur="1000"/>
                                        <p:tgtEl>
                                          <p:spTgt spid="153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5" grpId="0"/>
      <p:bldP spid="15369" grpId="0"/>
      <p:bldP spid="20495" grpId="0"/>
      <p:bldP spid="17" grpId="0"/>
      <p:bldP spid="24" grpId="0"/>
      <p:bldP spid="1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62" name="Picture 60">
            <a:extLst>
              <a:ext uri="{FF2B5EF4-FFF2-40B4-BE49-F238E27FC236}">
                <a16:creationId xmlns:a16="http://schemas.microsoft.com/office/drawing/2014/main" id="{F081D5FB-CCDC-0995-7DC9-35D2301282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88" y="1122363"/>
            <a:ext cx="8072437" cy="473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8FE551D1-2E44-2996-78E5-67E20FABADA3}"/>
              </a:ext>
            </a:extLst>
          </p:cNvPr>
          <p:cNvSpPr/>
          <p:nvPr/>
        </p:nvSpPr>
        <p:spPr>
          <a:xfrm>
            <a:off x="500063" y="2428875"/>
            <a:ext cx="2500312" cy="461963"/>
          </a:xfrm>
          <a:prstGeom prst="rect">
            <a:avLst/>
          </a:prstGeom>
        </p:spPr>
        <p:txBody>
          <a:bodyPr>
            <a:spAutoFit/>
          </a:bodyPr>
          <a:lstStyle/>
          <a:p>
            <a:pPr>
              <a:defRPr/>
            </a:pPr>
            <a:r>
              <a:rPr kumimoji="0" lang="zh-CN" altLang="en-US" sz="2400" b="0" kern="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答</a:t>
            </a:r>
            <a:r>
              <a:rPr kumimoji="0" lang="zh-CN" altLang="en-US" sz="24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：最小码距</a:t>
            </a:r>
            <a:r>
              <a:rPr kumimoji="0" lang="en-US" altLang="zh-CN" sz="24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a:t>
            </a:r>
            <a:endParaRPr lang="zh-CN" altLang="en-US" sz="2400" dirty="0">
              <a:solidFill>
                <a:srgbClr val="FF0000"/>
              </a:solidFill>
              <a:effectLst>
                <a:outerShdw blurRad="38100" dist="38100" dir="2700000" algn="tl">
                  <a:srgbClr val="000000">
                    <a:alpha val="43137"/>
                  </a:srgbClr>
                </a:outerShdw>
              </a:effectLst>
            </a:endParaRPr>
          </a:p>
        </p:txBody>
      </p:sp>
      <p:sp>
        <p:nvSpPr>
          <p:cNvPr id="7" name="矩形 6">
            <a:extLst>
              <a:ext uri="{FF2B5EF4-FFF2-40B4-BE49-F238E27FC236}">
                <a16:creationId xmlns:a16="http://schemas.microsoft.com/office/drawing/2014/main" id="{8B065178-091C-BD2F-163E-74CE7DF48C90}"/>
              </a:ext>
            </a:extLst>
          </p:cNvPr>
          <p:cNvSpPr/>
          <p:nvPr/>
        </p:nvSpPr>
        <p:spPr>
          <a:xfrm>
            <a:off x="500063" y="4000500"/>
            <a:ext cx="2428875" cy="461963"/>
          </a:xfrm>
          <a:prstGeom prst="rect">
            <a:avLst/>
          </a:prstGeom>
        </p:spPr>
        <p:txBody>
          <a:bodyPr>
            <a:spAutoFit/>
          </a:bodyPr>
          <a:lstStyle/>
          <a:p>
            <a:pPr>
              <a:defRPr/>
            </a:pPr>
            <a:r>
              <a:rPr kumimoji="0" lang="zh-CN" altLang="en-US" sz="24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故能 纠</a:t>
            </a:r>
            <a:r>
              <a:rPr kumimoji="0" lang="en-US" altLang="zh-CN" sz="24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1  </a:t>
            </a:r>
            <a:r>
              <a:rPr kumimoji="0" lang="zh-CN" altLang="en-US" sz="24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或检</a:t>
            </a:r>
            <a:r>
              <a:rPr kumimoji="0" lang="en-US" altLang="zh-CN" sz="24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2</a:t>
            </a:r>
            <a:endParaRPr lang="zh-CN" altLang="en-US" sz="2400" dirty="0">
              <a:effectLst>
                <a:outerShdw blurRad="38100" dist="38100" dir="2700000" algn="tl">
                  <a:srgbClr val="000000">
                    <a:alpha val="43137"/>
                  </a:srgbClr>
                </a:outerShdw>
              </a:effectLst>
            </a:endParaRPr>
          </a:p>
        </p:txBody>
      </p:sp>
      <p:sp>
        <p:nvSpPr>
          <p:cNvPr id="10" name="矩形 9">
            <a:extLst>
              <a:ext uri="{FF2B5EF4-FFF2-40B4-BE49-F238E27FC236}">
                <a16:creationId xmlns:a16="http://schemas.microsoft.com/office/drawing/2014/main" id="{E389B54F-205F-65F1-9C76-F09B52299D34}"/>
              </a:ext>
            </a:extLst>
          </p:cNvPr>
          <p:cNvSpPr/>
          <p:nvPr/>
        </p:nvSpPr>
        <p:spPr>
          <a:xfrm>
            <a:off x="1428750" y="3214688"/>
            <a:ext cx="990600" cy="461962"/>
          </a:xfrm>
          <a:prstGeom prst="rect">
            <a:avLst/>
          </a:prstGeom>
        </p:spPr>
        <p:txBody>
          <a:bodyPr wrap="none">
            <a:spAutoFit/>
          </a:bodyPr>
          <a:lstStyle/>
          <a:p>
            <a:pPr>
              <a:defRPr/>
            </a:pPr>
            <a:r>
              <a:rPr kumimoji="0" lang="en-US" altLang="zh-CN" sz="2400" b="0" i="1" kern="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d</a:t>
            </a:r>
            <a:r>
              <a:rPr kumimoji="0" lang="en-US" altLang="zh-CN" sz="2400" b="0" kern="0" baseline="-2500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0</a:t>
            </a:r>
            <a:r>
              <a:rPr kumimoji="0" lang="en-US" altLang="zh-CN" sz="2400" b="0" kern="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=3 </a:t>
            </a:r>
            <a:endParaRPr lang="zh-CN" altLang="en-US" sz="2400" dirty="0">
              <a:solidFill>
                <a:srgbClr val="0000CC"/>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10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up)">
                                      <p:cBhvr>
                                        <p:cTn id="12" dur="10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5540" name="Object 4">
            <a:extLst>
              <a:ext uri="{FF2B5EF4-FFF2-40B4-BE49-F238E27FC236}">
                <a16:creationId xmlns:a16="http://schemas.microsoft.com/office/drawing/2014/main" id="{032AAF5A-84AA-FE6D-063D-F3D9817C805B}"/>
              </a:ext>
            </a:extLst>
          </p:cNvPr>
          <p:cNvGraphicFramePr>
            <a:graphicFrameLocks noChangeAspect="1"/>
          </p:cNvGraphicFramePr>
          <p:nvPr/>
        </p:nvGraphicFramePr>
        <p:xfrm>
          <a:off x="3214688" y="2571750"/>
          <a:ext cx="2714625" cy="1376363"/>
        </p:xfrm>
        <a:graphic>
          <a:graphicData uri="http://schemas.openxmlformats.org/presentationml/2006/ole">
            <mc:AlternateContent xmlns:mc="http://schemas.openxmlformats.org/markup-compatibility/2006">
              <mc:Choice xmlns:v="urn:schemas-microsoft-com:vml" Requires="v">
                <p:oleObj name="公式" r:id="rId3" imgW="1409088" imgH="710891" progId="Equation.3">
                  <p:embed/>
                </p:oleObj>
              </mc:Choice>
              <mc:Fallback>
                <p:oleObj name="公式" r:id="rId3" imgW="1409088" imgH="710891"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4688" y="2571750"/>
                        <a:ext cx="2714625" cy="1376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5541" name="Object 5">
            <a:extLst>
              <a:ext uri="{FF2B5EF4-FFF2-40B4-BE49-F238E27FC236}">
                <a16:creationId xmlns:a16="http://schemas.microsoft.com/office/drawing/2014/main" id="{DAF8F960-6F97-2EC8-86F4-4986DA5ED67B}"/>
              </a:ext>
            </a:extLst>
          </p:cNvPr>
          <p:cNvGraphicFramePr>
            <a:graphicFrameLocks noChangeAspect="1"/>
          </p:cNvGraphicFramePr>
          <p:nvPr/>
        </p:nvGraphicFramePr>
        <p:xfrm>
          <a:off x="1844675" y="4214813"/>
          <a:ext cx="6156325" cy="1357312"/>
        </p:xfrm>
        <a:graphic>
          <a:graphicData uri="http://schemas.openxmlformats.org/presentationml/2006/ole">
            <mc:AlternateContent xmlns:mc="http://schemas.openxmlformats.org/markup-compatibility/2006">
              <mc:Choice xmlns:v="urn:schemas-microsoft-com:vml" Requires="v">
                <p:oleObj name="公式" r:id="rId5" imgW="3238500" imgH="711200" progId="Equation.3">
                  <p:embed/>
                </p:oleObj>
              </mc:Choice>
              <mc:Fallback>
                <p:oleObj name="公式" r:id="rId5" imgW="3238500" imgH="7112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44675" y="4214813"/>
                        <a:ext cx="6156325" cy="1357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a:extLst>
              <a:ext uri="{FF2B5EF4-FFF2-40B4-BE49-F238E27FC236}">
                <a16:creationId xmlns:a16="http://schemas.microsoft.com/office/drawing/2014/main" id="{ABEE2825-582A-DE6B-E6F0-37BC15BD9DE7}"/>
              </a:ext>
            </a:extLst>
          </p:cNvPr>
          <p:cNvSpPr/>
          <p:nvPr/>
        </p:nvSpPr>
        <p:spPr>
          <a:xfrm>
            <a:off x="357188" y="485775"/>
            <a:ext cx="4910137" cy="541338"/>
          </a:xfrm>
          <a:prstGeom prst="rect">
            <a:avLst/>
          </a:prstGeom>
        </p:spPr>
        <p:txBody>
          <a:bodyPr>
            <a:spAutoFit/>
          </a:bodyPr>
          <a:lstStyle/>
          <a:p>
            <a:pPr marL="285750" indent="-285750">
              <a:lnSpc>
                <a:spcPts val="3500"/>
              </a:lnSpc>
              <a:spcBef>
                <a:spcPct val="20000"/>
              </a:spcBef>
              <a:buClr>
                <a:srgbClr val="FF0000"/>
              </a:buClr>
              <a:buSzPct val="81000"/>
              <a:buFont typeface="Wingdings" pitchFamily="2" charset="2"/>
              <a:buChar char="n"/>
              <a:defRPr/>
            </a:pPr>
            <a:r>
              <a:rPr kumimoji="0" lang="zh-CN" altLang="en-US" sz="2800" kern="0" dirty="0">
                <a:solidFill>
                  <a:schemeClr val="tx1"/>
                </a:solidFill>
                <a:latin typeface="Arial" pitchFamily="34" charset="0"/>
                <a:ea typeface="微软雅黑" pitchFamily="34" charset="-122"/>
                <a:cs typeface="Arial" pitchFamily="34" charset="0"/>
              </a:rPr>
              <a:t>线性分组码</a:t>
            </a:r>
            <a:r>
              <a:rPr kumimoji="0" lang="zh-CN" altLang="en-US" sz="2800" b="0" kern="0" dirty="0">
                <a:solidFill>
                  <a:schemeClr val="tx1"/>
                </a:solidFill>
                <a:latin typeface="Arial" pitchFamily="34" charset="0"/>
                <a:ea typeface="微软雅黑" pitchFamily="34" charset="-122"/>
                <a:cs typeface="Arial" pitchFamily="34" charset="0"/>
              </a:rPr>
              <a:t>的</a:t>
            </a:r>
            <a:r>
              <a:rPr kumimoji="0" lang="zh-CN" altLang="en-US" sz="2800" kern="0" dirty="0">
                <a:solidFill>
                  <a:schemeClr val="tx1"/>
                </a:solidFill>
                <a:latin typeface="Arial" pitchFamily="34" charset="0"/>
                <a:ea typeface="微软雅黑" pitchFamily="34" charset="-122"/>
                <a:cs typeface="Arial" pitchFamily="34" charset="0"/>
              </a:rPr>
              <a:t>一般原理</a:t>
            </a:r>
            <a:endParaRPr kumimoji="0" lang="zh-CN" altLang="en-US" sz="2800" kern="0" dirty="0">
              <a:solidFill>
                <a:srgbClr val="000000"/>
              </a:solidFill>
              <a:latin typeface="微软雅黑" pitchFamily="34" charset="-122"/>
              <a:ea typeface="微软雅黑" pitchFamily="34" charset="-122"/>
            </a:endParaRPr>
          </a:p>
        </p:txBody>
      </p:sp>
      <p:sp>
        <p:nvSpPr>
          <p:cNvPr id="8" name="矩形 7">
            <a:extLst>
              <a:ext uri="{FF2B5EF4-FFF2-40B4-BE49-F238E27FC236}">
                <a16:creationId xmlns:a16="http://schemas.microsoft.com/office/drawing/2014/main" id="{D1667080-46AC-5FB3-9D3D-6DABBB41E62D}"/>
              </a:ext>
            </a:extLst>
          </p:cNvPr>
          <p:cNvSpPr/>
          <p:nvPr/>
        </p:nvSpPr>
        <p:spPr>
          <a:xfrm>
            <a:off x="857250" y="2100263"/>
            <a:ext cx="4429125" cy="400050"/>
          </a:xfrm>
          <a:prstGeom prst="rect">
            <a:avLst/>
          </a:prstGeom>
        </p:spPr>
        <p:txBody>
          <a:bodyPr>
            <a:spAutoFit/>
          </a:bodyPr>
          <a:lstStyle/>
          <a:p>
            <a:pPr>
              <a:defRPr/>
            </a:pP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将前面</a:t>
            </a:r>
            <a:r>
              <a:rPr kumimoji="0" lang="en-US" altLang="zh-CN"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(7, 4)</a:t>
            </a: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汉明码的监督方程</a:t>
            </a:r>
            <a:r>
              <a:rPr kumimoji="0" lang="zh-CN" altLang="en-US" sz="2000" b="0" kern="0" dirty="0">
                <a:solidFill>
                  <a:srgbClr val="000000"/>
                </a:solidFill>
                <a:effectLst>
                  <a:outerShdw blurRad="38100" dist="38100" dir="2700000" algn="tl">
                    <a:srgbClr val="000000">
                      <a:alpha val="43137"/>
                    </a:srgbClr>
                  </a:outerShdw>
                </a:effectLst>
                <a:latin typeface="+mn-ea"/>
                <a:ea typeface="+mn-ea"/>
                <a:cs typeface="Arial" pitchFamily="34" charset="0"/>
              </a:rPr>
              <a:t>：</a:t>
            </a:r>
            <a:endParaRPr lang="zh-CN" altLang="en-US" dirty="0">
              <a:effectLst>
                <a:outerShdw blurRad="38100" dist="38100" dir="2700000" algn="tl">
                  <a:srgbClr val="000000">
                    <a:alpha val="43137"/>
                  </a:srgbClr>
                </a:outerShdw>
              </a:effectLst>
              <a:latin typeface="+mn-ea"/>
              <a:ea typeface="+mn-ea"/>
            </a:endParaRPr>
          </a:p>
        </p:txBody>
      </p:sp>
      <p:sp>
        <p:nvSpPr>
          <p:cNvPr id="9" name="矩形 8">
            <a:extLst>
              <a:ext uri="{FF2B5EF4-FFF2-40B4-BE49-F238E27FC236}">
                <a16:creationId xmlns:a16="http://schemas.microsoft.com/office/drawing/2014/main" id="{1B1FC8F9-6E9A-40B7-9F15-6D0F280C3AD1}"/>
              </a:ext>
            </a:extLst>
          </p:cNvPr>
          <p:cNvSpPr/>
          <p:nvPr/>
        </p:nvSpPr>
        <p:spPr>
          <a:xfrm>
            <a:off x="857250" y="3786188"/>
            <a:ext cx="2286000" cy="400050"/>
          </a:xfrm>
          <a:prstGeom prst="rect">
            <a:avLst/>
          </a:prstGeom>
        </p:spPr>
        <p:txBody>
          <a:bodyPr>
            <a:spAutoFit/>
          </a:bodyPr>
          <a:lstStyle/>
          <a:p>
            <a:pPr>
              <a:defRPr/>
            </a:pP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改写为</a:t>
            </a:r>
            <a:r>
              <a:rPr kumimoji="0" lang="zh-CN" altLang="en-US" sz="2000" b="0" kern="0" dirty="0">
                <a:solidFill>
                  <a:srgbClr val="000000"/>
                </a:solidFill>
                <a:effectLst>
                  <a:outerShdw blurRad="38100" dist="38100" dir="2700000" algn="tl">
                    <a:srgbClr val="000000">
                      <a:alpha val="43137"/>
                    </a:srgbClr>
                  </a:outerShdw>
                </a:effectLst>
                <a:latin typeface="+mn-ea"/>
                <a:ea typeface="+mn-ea"/>
                <a:cs typeface="Arial" pitchFamily="34" charset="0"/>
              </a:rPr>
              <a:t>：</a:t>
            </a:r>
            <a:endParaRPr lang="zh-CN" altLang="en-US" dirty="0">
              <a:effectLst>
                <a:outerShdw blurRad="38100" dist="38100" dir="2700000" algn="tl">
                  <a:srgbClr val="000000">
                    <a:alpha val="43137"/>
                  </a:srgbClr>
                </a:outerShdw>
              </a:effectLst>
              <a:latin typeface="+mn-ea"/>
              <a:ea typeface="+mn-ea"/>
            </a:endParaRPr>
          </a:p>
        </p:txBody>
      </p:sp>
      <p:sp>
        <p:nvSpPr>
          <p:cNvPr id="12" name="矩形 11">
            <a:extLst>
              <a:ext uri="{FF2B5EF4-FFF2-40B4-BE49-F238E27FC236}">
                <a16:creationId xmlns:a16="http://schemas.microsoft.com/office/drawing/2014/main" id="{0320B3AF-51D0-15E6-53EF-298EDC7D838B}"/>
              </a:ext>
            </a:extLst>
          </p:cNvPr>
          <p:cNvSpPr/>
          <p:nvPr/>
        </p:nvSpPr>
        <p:spPr>
          <a:xfrm>
            <a:off x="838200" y="5815013"/>
            <a:ext cx="2947988" cy="400050"/>
          </a:xfrm>
          <a:prstGeom prst="rect">
            <a:avLst/>
          </a:prstGeom>
        </p:spPr>
        <p:txBody>
          <a:bodyPr>
            <a:spAutoFit/>
          </a:bodyPr>
          <a:lstStyle/>
          <a:p>
            <a:pPr>
              <a:defRPr/>
            </a:pP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表示成如下矩阵形式</a:t>
            </a:r>
            <a:r>
              <a:rPr kumimoji="0" lang="zh-CN" altLang="en-US" sz="2000" b="0" kern="0" dirty="0">
                <a:solidFill>
                  <a:srgbClr val="000000"/>
                </a:solidFill>
                <a:effectLst>
                  <a:outerShdw blurRad="38100" dist="38100" dir="2700000" algn="tl">
                    <a:srgbClr val="000000">
                      <a:alpha val="43137"/>
                    </a:srgbClr>
                  </a:outerShdw>
                </a:effectLst>
                <a:latin typeface="+mn-ea"/>
                <a:ea typeface="+mn-ea"/>
                <a:cs typeface="Arial" pitchFamily="34" charset="0"/>
              </a:rPr>
              <a:t>：</a:t>
            </a:r>
            <a:endParaRPr lang="zh-CN" altLang="en-US" dirty="0">
              <a:effectLst>
                <a:outerShdw blurRad="38100" dist="38100" dir="2700000" algn="tl">
                  <a:srgbClr val="000000">
                    <a:alpha val="43137"/>
                  </a:srgbClr>
                </a:outerShdw>
              </a:effectLst>
              <a:latin typeface="+mn-ea"/>
              <a:ea typeface="+mn-ea"/>
            </a:endParaRPr>
          </a:p>
        </p:txBody>
      </p:sp>
      <p:sp>
        <p:nvSpPr>
          <p:cNvPr id="13" name="矩形 12">
            <a:extLst>
              <a:ext uri="{FF2B5EF4-FFF2-40B4-BE49-F238E27FC236}">
                <a16:creationId xmlns:a16="http://schemas.microsoft.com/office/drawing/2014/main" id="{83563F53-3840-74EE-5309-E064F13E310C}"/>
              </a:ext>
            </a:extLst>
          </p:cNvPr>
          <p:cNvSpPr/>
          <p:nvPr/>
        </p:nvSpPr>
        <p:spPr>
          <a:xfrm>
            <a:off x="785813" y="1190625"/>
            <a:ext cx="2428875" cy="523875"/>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a:buClr>
                <a:srgbClr val="0000CC"/>
              </a:buClr>
              <a:buSzPct val="65000"/>
              <a:buFont typeface="Wingdings" pitchFamily="2" charset="2"/>
              <a:buChar char="u"/>
              <a:defRPr/>
            </a:pPr>
            <a:r>
              <a:rPr kumimoji="0" lang="en-US" altLang="zh-CN" sz="2800" i="1" kern="0" dirty="0">
                <a:solidFill>
                  <a:srgbClr val="FF0000"/>
                </a:solidFill>
                <a:latin typeface="Arial" pitchFamily="34" charset="0"/>
                <a:ea typeface="微软雅黑" pitchFamily="34" charset="-122"/>
                <a:cs typeface="Arial" pitchFamily="34" charset="0"/>
              </a:rPr>
              <a:t> H</a:t>
            </a:r>
            <a:r>
              <a:rPr kumimoji="0" lang="en-US" altLang="zh-CN" sz="2400" i="1" kern="0" dirty="0">
                <a:solidFill>
                  <a:srgbClr val="FF0000"/>
                </a:solidFill>
                <a:latin typeface="Arial" pitchFamily="34" charset="0"/>
                <a:ea typeface="微软雅黑" pitchFamily="34" charset="-122"/>
                <a:cs typeface="Arial" pitchFamily="34" charset="0"/>
              </a:rPr>
              <a:t> </a:t>
            </a:r>
            <a:r>
              <a:rPr kumimoji="0" lang="en-US" altLang="zh-CN" sz="2400" b="0" i="1" kern="0" dirty="0">
                <a:solidFill>
                  <a:srgbClr val="FF0000"/>
                </a:solidFill>
                <a:latin typeface="Arial" pitchFamily="34" charset="0"/>
                <a:ea typeface="微软雅黑" pitchFamily="34" charset="-122"/>
                <a:cs typeface="Arial" pitchFamily="34" charset="0"/>
              </a:rPr>
              <a:t>---</a:t>
            </a:r>
            <a:r>
              <a:rPr kumimoji="0" lang="zh-CN" altLang="en-US" sz="2400" kern="0" dirty="0">
                <a:solidFill>
                  <a:srgbClr val="FF0000"/>
                </a:solidFill>
                <a:latin typeface="Arial" pitchFamily="34" charset="0"/>
                <a:ea typeface="微软雅黑" pitchFamily="34" charset="-122"/>
                <a:cs typeface="Arial" pitchFamily="34" charset="0"/>
              </a:rPr>
              <a:t>监督矩阵</a:t>
            </a:r>
            <a:r>
              <a:rPr kumimoji="0" lang="zh-CN" altLang="en-US" sz="2400" b="0" kern="0" dirty="0">
                <a:solidFill>
                  <a:srgbClr val="000000"/>
                </a:solidFill>
                <a:latin typeface="Arial" pitchFamily="34" charset="0"/>
                <a:ea typeface="微软雅黑" pitchFamily="34" charset="-122"/>
                <a:cs typeface="Arial" pitchFamily="34" charset="0"/>
              </a:rPr>
              <a:t> </a:t>
            </a:r>
            <a:endParaRPr lang="zh-CN" altLang="en-US" sz="2400" dirty="0"/>
          </a:p>
        </p:txBody>
      </p:sp>
      <p:pic>
        <p:nvPicPr>
          <p:cNvPr id="18443" name="Picture 11">
            <a:extLst>
              <a:ext uri="{FF2B5EF4-FFF2-40B4-BE49-F238E27FC236}">
                <a16:creationId xmlns:a16="http://schemas.microsoft.com/office/drawing/2014/main" id="{75F75229-690F-77A7-0DD5-FEB81E2AA62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00563" y="5756275"/>
            <a:ext cx="37147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10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up)">
                                      <p:cBhvr>
                                        <p:cTn id="12" dur="1000"/>
                                        <p:tgtEl>
                                          <p:spTgt spid="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1000"/>
                                        <p:tgtEl>
                                          <p:spTgt spid="8"/>
                                        </p:tgtEl>
                                      </p:cBhvr>
                                    </p:animEffect>
                                  </p:childTnLst>
                                </p:cTn>
                              </p:par>
                            </p:childTnLst>
                          </p:cTn>
                        </p:par>
                        <p:par>
                          <p:cTn id="18" fill="hold" nodeType="afterGroup">
                            <p:stCondLst>
                              <p:cond delay="1000"/>
                            </p:stCondLst>
                            <p:childTnLst>
                              <p:par>
                                <p:cTn id="19" presetID="22" presetClass="entr" presetSubtype="1" fill="hold" nodeType="afterEffect">
                                  <p:stCondLst>
                                    <p:cond delay="0"/>
                                  </p:stCondLst>
                                  <p:childTnLst>
                                    <p:set>
                                      <p:cBhvr>
                                        <p:cTn id="20" dur="1" fill="hold">
                                          <p:stCondLst>
                                            <p:cond delay="0"/>
                                          </p:stCondLst>
                                        </p:cTn>
                                        <p:tgtEl>
                                          <p:spTgt spid="65540"/>
                                        </p:tgtEl>
                                        <p:attrNameLst>
                                          <p:attrName>style.visibility</p:attrName>
                                        </p:attrNameLst>
                                      </p:cBhvr>
                                      <p:to>
                                        <p:strVal val="visible"/>
                                      </p:to>
                                    </p:set>
                                    <p:animEffect transition="in" filter="wipe(up)">
                                      <p:cBhvr>
                                        <p:cTn id="21" dur="1000"/>
                                        <p:tgtEl>
                                          <p:spTgt spid="6554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up)">
                                      <p:cBhvr>
                                        <p:cTn id="26" dur="1000"/>
                                        <p:tgtEl>
                                          <p:spTgt spid="9"/>
                                        </p:tgtEl>
                                      </p:cBhvr>
                                    </p:animEffect>
                                  </p:childTnLst>
                                </p:cTn>
                              </p:par>
                            </p:childTnLst>
                          </p:cTn>
                        </p:par>
                        <p:par>
                          <p:cTn id="27" fill="hold" nodeType="afterGroup">
                            <p:stCondLst>
                              <p:cond delay="1000"/>
                            </p:stCondLst>
                            <p:childTnLst>
                              <p:par>
                                <p:cTn id="28" presetID="22" presetClass="entr" presetSubtype="1" fill="hold" nodeType="afterEffect">
                                  <p:stCondLst>
                                    <p:cond delay="0"/>
                                  </p:stCondLst>
                                  <p:childTnLst>
                                    <p:set>
                                      <p:cBhvr>
                                        <p:cTn id="29" dur="1" fill="hold">
                                          <p:stCondLst>
                                            <p:cond delay="0"/>
                                          </p:stCondLst>
                                        </p:cTn>
                                        <p:tgtEl>
                                          <p:spTgt spid="65541"/>
                                        </p:tgtEl>
                                        <p:attrNameLst>
                                          <p:attrName>style.visibility</p:attrName>
                                        </p:attrNameLst>
                                      </p:cBhvr>
                                      <p:to>
                                        <p:strVal val="visible"/>
                                      </p:to>
                                    </p:set>
                                    <p:animEffect transition="in" filter="wipe(up)">
                                      <p:cBhvr>
                                        <p:cTn id="30" dur="1000"/>
                                        <p:tgtEl>
                                          <p:spTgt spid="65541"/>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18443"/>
                                        </p:tgtEl>
                                        <p:attrNameLst>
                                          <p:attrName>style.visibility</p:attrName>
                                        </p:attrNameLst>
                                      </p:cBhvr>
                                      <p:to>
                                        <p:strVal val="visible"/>
                                      </p:to>
                                    </p:set>
                                    <p:animEffect transition="in" filter="wipe(up)">
                                      <p:cBhvr>
                                        <p:cTn id="35" dur="1000"/>
                                        <p:tgtEl>
                                          <p:spTgt spid="1844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up)">
                                      <p:cBhvr>
                                        <p:cTn id="40"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12" grpId="0"/>
      <p:bldP spid="13"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a:extLst>
              <a:ext uri="{FF2B5EF4-FFF2-40B4-BE49-F238E27FC236}">
                <a16:creationId xmlns:a16="http://schemas.microsoft.com/office/drawing/2014/main" id="{D7B20B2A-1253-8E9C-C64B-DC10B4760C24}"/>
              </a:ext>
            </a:extLst>
          </p:cNvPr>
          <p:cNvSpPr/>
          <p:nvPr/>
        </p:nvSpPr>
        <p:spPr bwMode="auto">
          <a:xfrm>
            <a:off x="1928813" y="1757363"/>
            <a:ext cx="1428750" cy="1571625"/>
          </a:xfrm>
          <a:prstGeom prst="roundRect">
            <a:avLst/>
          </a:prstGeom>
          <a:solidFill>
            <a:schemeClr val="bg2">
              <a:lumMod val="10000"/>
              <a:lumOff val="90000"/>
            </a:schemeClr>
          </a:solidFill>
          <a:ln w="38100" cap="flat" cmpd="dbl" algn="ctr">
            <a:solidFill>
              <a:srgbClr val="6666FF"/>
            </a:solidFill>
            <a:prstDash val="solid"/>
            <a:miter lim="800000"/>
            <a:headEnd type="none" w="med" len="med"/>
            <a:tailEnd type="none" w="med" len="med"/>
          </a:ln>
          <a:effectLst/>
        </p:spPr>
        <p:txBody>
          <a:bodyPr wrap="none"/>
          <a:lstStyle/>
          <a:p>
            <a:pPr>
              <a:defRPr/>
            </a:pPr>
            <a:endParaRPr lang="zh-CN" altLang="en-US"/>
          </a:p>
        </p:txBody>
      </p:sp>
      <p:graphicFrame>
        <p:nvGraphicFramePr>
          <p:cNvPr id="16386" name="Object 5">
            <a:extLst>
              <a:ext uri="{FF2B5EF4-FFF2-40B4-BE49-F238E27FC236}">
                <a16:creationId xmlns:a16="http://schemas.microsoft.com/office/drawing/2014/main" id="{67E771C1-F89F-32CF-7349-93DE2CF462E0}"/>
              </a:ext>
            </a:extLst>
          </p:cNvPr>
          <p:cNvGraphicFramePr>
            <a:graphicFrameLocks noChangeAspect="1"/>
          </p:cNvGraphicFramePr>
          <p:nvPr/>
        </p:nvGraphicFramePr>
        <p:xfrm>
          <a:off x="4725988" y="142875"/>
          <a:ext cx="4211637" cy="928688"/>
        </p:xfrm>
        <a:graphic>
          <a:graphicData uri="http://schemas.openxmlformats.org/presentationml/2006/ole">
            <mc:AlternateContent xmlns:mc="http://schemas.openxmlformats.org/markup-compatibility/2006">
              <mc:Choice xmlns:v="urn:schemas-microsoft-com:vml" Requires="v">
                <p:oleObj name="公式" r:id="rId2" imgW="3238500" imgH="711200" progId="Equation.3">
                  <p:embed/>
                </p:oleObj>
              </mc:Choice>
              <mc:Fallback>
                <p:oleObj name="公式" r:id="rId2" imgW="3238500" imgH="7112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5988" y="142875"/>
                        <a:ext cx="4211637" cy="928688"/>
                      </a:xfrm>
                      <a:prstGeom prst="rect">
                        <a:avLst/>
                      </a:prstGeom>
                      <a:solidFill>
                        <a:schemeClr val="bg1"/>
                      </a:solidFill>
                    </p:spPr>
                  </p:pic>
                </p:oleObj>
              </mc:Fallback>
            </mc:AlternateContent>
          </a:graphicData>
        </a:graphic>
      </p:graphicFrame>
      <p:sp>
        <p:nvSpPr>
          <p:cNvPr id="7" name="矩形 6">
            <a:extLst>
              <a:ext uri="{FF2B5EF4-FFF2-40B4-BE49-F238E27FC236}">
                <a16:creationId xmlns:a16="http://schemas.microsoft.com/office/drawing/2014/main" id="{999F30ED-FC58-5DB0-1AEC-37072420BD14}"/>
              </a:ext>
            </a:extLst>
          </p:cNvPr>
          <p:cNvSpPr/>
          <p:nvPr/>
        </p:nvSpPr>
        <p:spPr>
          <a:xfrm>
            <a:off x="785813" y="4214813"/>
            <a:ext cx="954087" cy="400050"/>
          </a:xfrm>
          <a:prstGeom prst="rect">
            <a:avLst/>
          </a:prstGeom>
        </p:spPr>
        <p:txBody>
          <a:bodyPr wrap="none">
            <a:spAutoFit/>
          </a:bodyPr>
          <a:lstStyle/>
          <a:p>
            <a:pPr>
              <a:defRPr/>
            </a:pP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简记为</a:t>
            </a:r>
            <a:endParaRPr lang="zh-CN" altLang="en-US" dirty="0">
              <a:effectLst>
                <a:outerShdw blurRad="38100" dist="38100" dir="2700000" algn="tl">
                  <a:srgbClr val="000000">
                    <a:alpha val="43137"/>
                  </a:srgbClr>
                </a:outerShdw>
              </a:effectLst>
            </a:endParaRPr>
          </a:p>
        </p:txBody>
      </p:sp>
      <p:graphicFrame>
        <p:nvGraphicFramePr>
          <p:cNvPr id="6154" name="Object 10">
            <a:extLst>
              <a:ext uri="{FF2B5EF4-FFF2-40B4-BE49-F238E27FC236}">
                <a16:creationId xmlns:a16="http://schemas.microsoft.com/office/drawing/2014/main" id="{5B9EC4D5-88CB-56D0-F8CC-30718118C39F}"/>
              </a:ext>
            </a:extLst>
          </p:cNvPr>
          <p:cNvGraphicFramePr>
            <a:graphicFrameLocks noChangeAspect="1"/>
          </p:cNvGraphicFramePr>
          <p:nvPr/>
        </p:nvGraphicFramePr>
        <p:xfrm>
          <a:off x="2032000" y="1071563"/>
          <a:ext cx="3540125" cy="2978150"/>
        </p:xfrm>
        <a:graphic>
          <a:graphicData uri="http://schemas.openxmlformats.org/presentationml/2006/ole">
            <mc:AlternateContent xmlns:mc="http://schemas.openxmlformats.org/markup-compatibility/2006">
              <mc:Choice xmlns:v="urn:schemas-microsoft-com:vml" Requires="v">
                <p:oleObj name="Equation" r:id="rId4" imgW="1701720" imgH="1447560" progId="Equation.DSMT4">
                  <p:embed/>
                </p:oleObj>
              </mc:Choice>
              <mc:Fallback>
                <p:oleObj name="Equation" r:id="rId4" imgW="1701720" imgH="1447560"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2000" y="1071563"/>
                        <a:ext cx="3540125" cy="297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矩形 16">
            <a:extLst>
              <a:ext uri="{FF2B5EF4-FFF2-40B4-BE49-F238E27FC236}">
                <a16:creationId xmlns:a16="http://schemas.microsoft.com/office/drawing/2014/main" id="{93A4721A-7527-B858-F203-DEBD0E9DB68D}"/>
              </a:ext>
            </a:extLst>
          </p:cNvPr>
          <p:cNvSpPr/>
          <p:nvPr/>
        </p:nvSpPr>
        <p:spPr>
          <a:xfrm>
            <a:off x="2390775" y="3429000"/>
            <a:ext cx="500063" cy="461963"/>
          </a:xfrm>
          <a:prstGeom prst="rect">
            <a:avLst/>
          </a:prstGeom>
        </p:spPr>
        <p:txBody>
          <a:bodyPr>
            <a:spAutoFit/>
          </a:bodyPr>
          <a:lstStyle/>
          <a:p>
            <a:pPr>
              <a:defRPr/>
            </a:pPr>
            <a:r>
              <a:rPr kumimoji="0" lang="en-US" altLang="zh-CN" sz="2400" i="1" kern="0" dirty="0">
                <a:solidFill>
                  <a:srgbClr val="FF0000"/>
                </a:solidFill>
                <a:latin typeface="Arial" pitchFamily="34" charset="0"/>
                <a:ea typeface="微软雅黑" pitchFamily="34" charset="-122"/>
                <a:cs typeface="Arial" pitchFamily="34" charset="0"/>
              </a:rPr>
              <a:t>H</a:t>
            </a:r>
            <a:r>
              <a:rPr kumimoji="0" lang="en-US" altLang="zh-CN" sz="2400" b="0" i="1" kern="0" dirty="0">
                <a:solidFill>
                  <a:srgbClr val="FF0000"/>
                </a:solidFill>
                <a:latin typeface="Arial" pitchFamily="34" charset="0"/>
                <a:ea typeface="微软雅黑" pitchFamily="34" charset="-122"/>
                <a:cs typeface="Arial" pitchFamily="34" charset="0"/>
              </a:rPr>
              <a:t> </a:t>
            </a:r>
            <a:r>
              <a:rPr kumimoji="0" lang="zh-CN" altLang="en-US" sz="2400" b="0" kern="0" dirty="0">
                <a:solidFill>
                  <a:srgbClr val="000000"/>
                </a:solidFill>
                <a:latin typeface="Arial" pitchFamily="34" charset="0"/>
                <a:ea typeface="微软雅黑" pitchFamily="34" charset="-122"/>
                <a:cs typeface="Arial" pitchFamily="34" charset="0"/>
              </a:rPr>
              <a:t> </a:t>
            </a:r>
            <a:endParaRPr lang="zh-CN" altLang="en-US" sz="2400" dirty="0"/>
          </a:p>
        </p:txBody>
      </p:sp>
      <p:sp>
        <p:nvSpPr>
          <p:cNvPr id="18" name="矩形 17">
            <a:extLst>
              <a:ext uri="{FF2B5EF4-FFF2-40B4-BE49-F238E27FC236}">
                <a16:creationId xmlns:a16="http://schemas.microsoft.com/office/drawing/2014/main" id="{D9FC8994-9A9B-0A52-CD1F-1CD39EFA2074}"/>
              </a:ext>
            </a:extLst>
          </p:cNvPr>
          <p:cNvSpPr/>
          <p:nvPr/>
        </p:nvSpPr>
        <p:spPr>
          <a:xfrm>
            <a:off x="4786313" y="4714875"/>
            <a:ext cx="3429000" cy="461963"/>
          </a:xfrm>
          <a:prstGeom prst="rect">
            <a:avLst/>
          </a:prstGeom>
        </p:spPr>
        <p:txBody>
          <a:bodyPr>
            <a:spAutoFit/>
          </a:bodyPr>
          <a:lstStyle/>
          <a:p>
            <a:pPr marL="228600" indent="-228600">
              <a:spcBef>
                <a:spcPct val="20000"/>
              </a:spcBef>
              <a:buClr>
                <a:schemeClr val="accent2"/>
              </a:buClr>
              <a:buSzPct val="55000"/>
              <a:buFont typeface="Wingdings" pitchFamily="2" charset="2"/>
              <a:buNone/>
              <a:defRPr/>
            </a:pPr>
            <a:r>
              <a:rPr kumimoji="0" lang="en-US" altLang="zh-CN" sz="2400" i="1" kern="0" dirty="0">
                <a:solidFill>
                  <a:schemeClr val="tx1"/>
                </a:solidFill>
                <a:latin typeface="Arial" pitchFamily="34" charset="0"/>
                <a:ea typeface="微软雅黑" pitchFamily="34" charset="-122"/>
                <a:cs typeface="Arial" pitchFamily="34" charset="0"/>
              </a:rPr>
              <a:t>A </a:t>
            </a:r>
            <a:r>
              <a:rPr kumimoji="0" lang="en-US" altLang="zh-CN" sz="2400" b="0" kern="0" dirty="0">
                <a:solidFill>
                  <a:schemeClr val="tx1"/>
                </a:solidFill>
                <a:latin typeface="Arial" pitchFamily="34" charset="0"/>
                <a:ea typeface="微软雅黑" pitchFamily="34" charset="-122"/>
                <a:cs typeface="Arial" pitchFamily="34" charset="0"/>
              </a:rPr>
              <a:t>= [</a:t>
            </a:r>
            <a:r>
              <a:rPr kumimoji="0" lang="en-US" altLang="zh-CN" sz="2400" b="0" i="1" kern="0" dirty="0">
                <a:solidFill>
                  <a:schemeClr val="tx1"/>
                </a:solidFill>
                <a:latin typeface="Arial" pitchFamily="34" charset="0"/>
                <a:ea typeface="微软雅黑" pitchFamily="34" charset="-122"/>
                <a:cs typeface="Arial" pitchFamily="34" charset="0"/>
              </a:rPr>
              <a:t>a</a:t>
            </a:r>
            <a:r>
              <a:rPr kumimoji="0" lang="en-US" altLang="zh-CN" sz="2400" b="0" kern="0" baseline="-25000" dirty="0">
                <a:solidFill>
                  <a:schemeClr val="tx1"/>
                </a:solidFill>
                <a:latin typeface="Arial" pitchFamily="34" charset="0"/>
                <a:ea typeface="微软雅黑" pitchFamily="34" charset="-122"/>
                <a:cs typeface="Arial" pitchFamily="34" charset="0"/>
              </a:rPr>
              <a:t>6</a:t>
            </a:r>
            <a:r>
              <a:rPr kumimoji="0" lang="en-US" altLang="zh-CN" sz="2400" b="0" kern="0" dirty="0">
                <a:solidFill>
                  <a:schemeClr val="tx1"/>
                </a:solidFill>
                <a:latin typeface="Arial" pitchFamily="34" charset="0"/>
                <a:ea typeface="微软雅黑" pitchFamily="34" charset="-122"/>
                <a:cs typeface="Arial" pitchFamily="34" charset="0"/>
              </a:rPr>
              <a:t> </a:t>
            </a:r>
            <a:r>
              <a:rPr kumimoji="0" lang="en-US" altLang="zh-CN" sz="2400" b="0" i="1" kern="0" dirty="0">
                <a:solidFill>
                  <a:schemeClr val="tx1"/>
                </a:solidFill>
                <a:latin typeface="Arial" pitchFamily="34" charset="0"/>
                <a:ea typeface="微软雅黑" pitchFamily="34" charset="-122"/>
                <a:cs typeface="Arial" pitchFamily="34" charset="0"/>
              </a:rPr>
              <a:t>a</a:t>
            </a:r>
            <a:r>
              <a:rPr kumimoji="0" lang="en-US" altLang="zh-CN" sz="2400" b="0" kern="0" baseline="-25000" dirty="0">
                <a:solidFill>
                  <a:schemeClr val="tx1"/>
                </a:solidFill>
                <a:latin typeface="Arial" pitchFamily="34" charset="0"/>
                <a:ea typeface="微软雅黑" pitchFamily="34" charset="-122"/>
                <a:cs typeface="Arial" pitchFamily="34" charset="0"/>
              </a:rPr>
              <a:t>5</a:t>
            </a:r>
            <a:r>
              <a:rPr kumimoji="0" lang="en-US" altLang="zh-CN" sz="2400" b="0" kern="0" dirty="0">
                <a:solidFill>
                  <a:schemeClr val="tx1"/>
                </a:solidFill>
                <a:latin typeface="Arial" pitchFamily="34" charset="0"/>
                <a:ea typeface="微软雅黑" pitchFamily="34" charset="-122"/>
                <a:cs typeface="Arial" pitchFamily="34" charset="0"/>
              </a:rPr>
              <a:t> </a:t>
            </a:r>
            <a:r>
              <a:rPr kumimoji="0" lang="en-US" altLang="zh-CN" sz="2400" b="0" i="1" kern="0" dirty="0">
                <a:solidFill>
                  <a:schemeClr val="tx1"/>
                </a:solidFill>
                <a:latin typeface="Arial" pitchFamily="34" charset="0"/>
                <a:ea typeface="微软雅黑" pitchFamily="34" charset="-122"/>
                <a:cs typeface="Arial" pitchFamily="34" charset="0"/>
              </a:rPr>
              <a:t>a</a:t>
            </a:r>
            <a:r>
              <a:rPr kumimoji="0" lang="en-US" altLang="zh-CN" sz="2400" b="0" kern="0" baseline="-25000" dirty="0">
                <a:solidFill>
                  <a:schemeClr val="tx1"/>
                </a:solidFill>
                <a:latin typeface="Arial" pitchFamily="34" charset="0"/>
                <a:ea typeface="微软雅黑" pitchFamily="34" charset="-122"/>
                <a:cs typeface="Arial" pitchFamily="34" charset="0"/>
              </a:rPr>
              <a:t>4</a:t>
            </a:r>
            <a:r>
              <a:rPr kumimoji="0" lang="en-US" altLang="zh-CN" sz="2400" b="0" kern="0" dirty="0">
                <a:solidFill>
                  <a:schemeClr val="tx1"/>
                </a:solidFill>
                <a:latin typeface="Arial" pitchFamily="34" charset="0"/>
                <a:ea typeface="微软雅黑" pitchFamily="34" charset="-122"/>
                <a:cs typeface="Arial" pitchFamily="34" charset="0"/>
              </a:rPr>
              <a:t> </a:t>
            </a:r>
            <a:r>
              <a:rPr kumimoji="0" lang="en-US" altLang="zh-CN" sz="2400" b="0" i="1" kern="0" dirty="0">
                <a:solidFill>
                  <a:schemeClr val="tx1"/>
                </a:solidFill>
                <a:latin typeface="Arial" pitchFamily="34" charset="0"/>
                <a:ea typeface="微软雅黑" pitchFamily="34" charset="-122"/>
                <a:cs typeface="Arial" pitchFamily="34" charset="0"/>
              </a:rPr>
              <a:t>a</a:t>
            </a:r>
            <a:r>
              <a:rPr kumimoji="0" lang="en-US" altLang="zh-CN" sz="2400" b="0" kern="0" baseline="-25000" dirty="0">
                <a:solidFill>
                  <a:schemeClr val="tx1"/>
                </a:solidFill>
                <a:latin typeface="Arial" pitchFamily="34" charset="0"/>
                <a:ea typeface="微软雅黑" pitchFamily="34" charset="-122"/>
                <a:cs typeface="Arial" pitchFamily="34" charset="0"/>
              </a:rPr>
              <a:t>3</a:t>
            </a:r>
            <a:r>
              <a:rPr kumimoji="0" lang="en-US" altLang="zh-CN" sz="2400" b="0" kern="0" dirty="0">
                <a:solidFill>
                  <a:schemeClr val="tx1"/>
                </a:solidFill>
                <a:latin typeface="Arial" pitchFamily="34" charset="0"/>
                <a:ea typeface="微软雅黑" pitchFamily="34" charset="-122"/>
                <a:cs typeface="Arial" pitchFamily="34" charset="0"/>
              </a:rPr>
              <a:t> </a:t>
            </a:r>
            <a:r>
              <a:rPr kumimoji="0" lang="en-US" altLang="zh-CN" sz="2400" b="0" i="1" kern="0" dirty="0">
                <a:solidFill>
                  <a:schemeClr val="tx1"/>
                </a:solidFill>
                <a:latin typeface="Arial" pitchFamily="34" charset="0"/>
                <a:ea typeface="微软雅黑" pitchFamily="34" charset="-122"/>
                <a:cs typeface="Arial" pitchFamily="34" charset="0"/>
              </a:rPr>
              <a:t>a</a:t>
            </a:r>
            <a:r>
              <a:rPr kumimoji="0" lang="en-US" altLang="zh-CN" sz="2400" b="0" kern="0" baseline="-25000" dirty="0">
                <a:solidFill>
                  <a:schemeClr val="tx1"/>
                </a:solidFill>
                <a:latin typeface="Arial" pitchFamily="34" charset="0"/>
                <a:ea typeface="微软雅黑" pitchFamily="34" charset="-122"/>
                <a:cs typeface="Arial" pitchFamily="34" charset="0"/>
              </a:rPr>
              <a:t>2</a:t>
            </a:r>
            <a:r>
              <a:rPr kumimoji="0" lang="en-US" altLang="zh-CN" sz="2400" b="0" kern="0" dirty="0">
                <a:solidFill>
                  <a:schemeClr val="tx1"/>
                </a:solidFill>
                <a:latin typeface="Arial" pitchFamily="34" charset="0"/>
                <a:ea typeface="微软雅黑" pitchFamily="34" charset="-122"/>
                <a:cs typeface="Arial" pitchFamily="34" charset="0"/>
              </a:rPr>
              <a:t> </a:t>
            </a:r>
            <a:r>
              <a:rPr kumimoji="0" lang="en-US" altLang="zh-CN" sz="2400" b="0" i="1" kern="0" dirty="0">
                <a:solidFill>
                  <a:schemeClr val="tx1"/>
                </a:solidFill>
                <a:latin typeface="Arial" pitchFamily="34" charset="0"/>
                <a:ea typeface="微软雅黑" pitchFamily="34" charset="-122"/>
                <a:cs typeface="Arial" pitchFamily="34" charset="0"/>
              </a:rPr>
              <a:t>a</a:t>
            </a:r>
            <a:r>
              <a:rPr kumimoji="0" lang="en-US" altLang="zh-CN" sz="2400" b="0" kern="0" baseline="-25000" dirty="0">
                <a:solidFill>
                  <a:schemeClr val="tx1"/>
                </a:solidFill>
                <a:latin typeface="Arial" pitchFamily="34" charset="0"/>
                <a:ea typeface="微软雅黑" pitchFamily="34" charset="-122"/>
                <a:cs typeface="Arial" pitchFamily="34" charset="0"/>
              </a:rPr>
              <a:t>1</a:t>
            </a:r>
            <a:r>
              <a:rPr kumimoji="0" lang="en-US" altLang="zh-CN" sz="2400" b="0" kern="0" dirty="0">
                <a:solidFill>
                  <a:schemeClr val="tx1"/>
                </a:solidFill>
                <a:latin typeface="Arial" pitchFamily="34" charset="0"/>
                <a:ea typeface="微软雅黑" pitchFamily="34" charset="-122"/>
                <a:cs typeface="Arial" pitchFamily="34" charset="0"/>
              </a:rPr>
              <a:t> </a:t>
            </a:r>
            <a:r>
              <a:rPr kumimoji="0" lang="en-US" altLang="zh-CN" sz="2400" b="0" i="1" kern="0" dirty="0">
                <a:solidFill>
                  <a:schemeClr val="tx1"/>
                </a:solidFill>
                <a:latin typeface="Arial" pitchFamily="34" charset="0"/>
                <a:ea typeface="微软雅黑" pitchFamily="34" charset="-122"/>
                <a:cs typeface="Arial" pitchFamily="34" charset="0"/>
              </a:rPr>
              <a:t>a</a:t>
            </a:r>
            <a:r>
              <a:rPr kumimoji="0" lang="en-US" altLang="zh-CN" sz="2400" b="0" kern="0" baseline="-25000" dirty="0">
                <a:solidFill>
                  <a:schemeClr val="tx1"/>
                </a:solidFill>
                <a:latin typeface="Arial" pitchFamily="34" charset="0"/>
                <a:ea typeface="微软雅黑" pitchFamily="34" charset="-122"/>
                <a:cs typeface="Arial" pitchFamily="34" charset="0"/>
              </a:rPr>
              <a:t>0</a:t>
            </a:r>
            <a:r>
              <a:rPr kumimoji="0" lang="en-US" altLang="zh-CN" sz="2400" b="0" kern="0" dirty="0">
                <a:solidFill>
                  <a:schemeClr val="tx1"/>
                </a:solidFill>
                <a:latin typeface="Arial" pitchFamily="34" charset="0"/>
                <a:ea typeface="微软雅黑" pitchFamily="34" charset="-122"/>
                <a:cs typeface="Arial" pitchFamily="34" charset="0"/>
              </a:rPr>
              <a:t>]</a:t>
            </a:r>
          </a:p>
        </p:txBody>
      </p:sp>
      <p:sp>
        <p:nvSpPr>
          <p:cNvPr id="19" name="矩形 18">
            <a:extLst>
              <a:ext uri="{FF2B5EF4-FFF2-40B4-BE49-F238E27FC236}">
                <a16:creationId xmlns:a16="http://schemas.microsoft.com/office/drawing/2014/main" id="{CAAD1128-EA75-0175-4838-11A72DE93D1B}"/>
              </a:ext>
            </a:extLst>
          </p:cNvPr>
          <p:cNvSpPr/>
          <p:nvPr/>
        </p:nvSpPr>
        <p:spPr>
          <a:xfrm>
            <a:off x="5753100" y="3668713"/>
            <a:ext cx="1390650" cy="646112"/>
          </a:xfrm>
          <a:prstGeom prst="rect">
            <a:avLst/>
          </a:prstGeom>
        </p:spPr>
        <p:txBody>
          <a:bodyPr wrap="none">
            <a:spAutoFit/>
          </a:bodyPr>
          <a:lstStyle/>
          <a:p>
            <a:pPr marL="228600" indent="-228600">
              <a:lnSpc>
                <a:spcPct val="150000"/>
              </a:lnSpc>
              <a:spcBef>
                <a:spcPct val="20000"/>
              </a:spcBef>
              <a:buClr>
                <a:srgbClr val="FFCF01"/>
              </a:buClr>
              <a:buSzPct val="55000"/>
              <a:defRPr/>
            </a:pPr>
            <a:r>
              <a:rPr kumimoji="0" lang="en-US" altLang="zh-CN" sz="2400" kern="0" dirty="0">
                <a:solidFill>
                  <a:srgbClr val="000000"/>
                </a:solidFill>
                <a:latin typeface="Arial" pitchFamily="34" charset="0"/>
                <a:ea typeface="微软雅黑" pitchFamily="34" charset="-122"/>
                <a:cs typeface="Arial" pitchFamily="34" charset="0"/>
              </a:rPr>
              <a:t>0</a:t>
            </a:r>
            <a:r>
              <a:rPr kumimoji="0" lang="en-US" altLang="zh-CN" sz="2400" b="0" kern="0" dirty="0">
                <a:solidFill>
                  <a:srgbClr val="000000"/>
                </a:solidFill>
                <a:latin typeface="Arial" pitchFamily="34" charset="0"/>
                <a:ea typeface="微软雅黑" pitchFamily="34" charset="-122"/>
                <a:cs typeface="Arial" pitchFamily="34" charset="0"/>
              </a:rPr>
              <a:t> = [000]</a:t>
            </a:r>
          </a:p>
        </p:txBody>
      </p:sp>
      <p:sp>
        <p:nvSpPr>
          <p:cNvPr id="22" name="矩形 21">
            <a:extLst>
              <a:ext uri="{FF2B5EF4-FFF2-40B4-BE49-F238E27FC236}">
                <a16:creationId xmlns:a16="http://schemas.microsoft.com/office/drawing/2014/main" id="{20E1C62A-D13B-7A74-75D5-CBB410F20BDF}"/>
              </a:ext>
            </a:extLst>
          </p:cNvPr>
          <p:cNvSpPr/>
          <p:nvPr/>
        </p:nvSpPr>
        <p:spPr>
          <a:xfrm>
            <a:off x="2057400" y="1285875"/>
            <a:ext cx="1285875" cy="400050"/>
          </a:xfrm>
          <a:prstGeom prst="rect">
            <a:avLst/>
          </a:prstGeom>
        </p:spPr>
        <p:txBody>
          <a:bodyPr>
            <a:spAutoFit/>
          </a:bodyPr>
          <a:lstStyle/>
          <a:p>
            <a:pPr>
              <a:defRPr/>
            </a:pPr>
            <a:r>
              <a:rPr kumimoji="0" lang="zh-CN" altLang="en-US" sz="2000" kern="0" dirty="0">
                <a:solidFill>
                  <a:srgbClr val="FF0000"/>
                </a:solidFill>
                <a:latin typeface="Arial" pitchFamily="34" charset="0"/>
                <a:ea typeface="微软雅黑" pitchFamily="34" charset="-122"/>
                <a:cs typeface="Arial" pitchFamily="34" charset="0"/>
              </a:rPr>
              <a:t>监督矩阵</a:t>
            </a:r>
            <a:r>
              <a:rPr kumimoji="0" lang="zh-CN" altLang="en-US" sz="2000" b="0" kern="0" dirty="0">
                <a:solidFill>
                  <a:srgbClr val="000000"/>
                </a:solidFill>
                <a:latin typeface="Arial" pitchFamily="34" charset="0"/>
                <a:ea typeface="微软雅黑" pitchFamily="34" charset="-122"/>
                <a:cs typeface="Arial" pitchFamily="34" charset="0"/>
              </a:rPr>
              <a:t> </a:t>
            </a:r>
            <a:endParaRPr lang="zh-CN" altLang="en-US" dirty="0"/>
          </a:p>
        </p:txBody>
      </p:sp>
      <p:sp>
        <p:nvSpPr>
          <p:cNvPr id="24" name="矩形 23">
            <a:extLst>
              <a:ext uri="{FF2B5EF4-FFF2-40B4-BE49-F238E27FC236}">
                <a16:creationId xmlns:a16="http://schemas.microsoft.com/office/drawing/2014/main" id="{13127CC8-8357-67A0-88E9-9CBFB286DD40}"/>
              </a:ext>
            </a:extLst>
          </p:cNvPr>
          <p:cNvSpPr/>
          <p:nvPr/>
        </p:nvSpPr>
        <p:spPr>
          <a:xfrm>
            <a:off x="785813" y="5457825"/>
            <a:ext cx="441325" cy="400050"/>
          </a:xfrm>
          <a:prstGeom prst="rect">
            <a:avLst/>
          </a:prstGeom>
        </p:spPr>
        <p:txBody>
          <a:bodyPr wrap="none">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或</a:t>
            </a:r>
            <a:endParaRPr lang="zh-CN" altLang="en-US" dirty="0"/>
          </a:p>
        </p:txBody>
      </p:sp>
      <p:sp>
        <p:nvSpPr>
          <p:cNvPr id="28" name="Freeform 10">
            <a:extLst>
              <a:ext uri="{FF2B5EF4-FFF2-40B4-BE49-F238E27FC236}">
                <a16:creationId xmlns:a16="http://schemas.microsoft.com/office/drawing/2014/main" id="{FEB8E5E5-4FAD-D3C7-16B1-6620895CF4D4}"/>
              </a:ext>
            </a:extLst>
          </p:cNvPr>
          <p:cNvSpPr>
            <a:spLocks/>
          </p:cNvSpPr>
          <p:nvPr/>
        </p:nvSpPr>
        <p:spPr bwMode="auto">
          <a:xfrm rot="9975282" flipH="1" flipV="1">
            <a:off x="4041775" y="3927475"/>
            <a:ext cx="960438" cy="1062038"/>
          </a:xfrm>
          <a:custGeom>
            <a:avLst/>
            <a:gdLst>
              <a:gd name="T0" fmla="*/ 2147483647 w 1612"/>
              <a:gd name="T1" fmla="*/ 2147483647 h 1618"/>
              <a:gd name="T2" fmla="*/ 2147483647 w 1612"/>
              <a:gd name="T3" fmla="*/ 2147483647 h 1618"/>
              <a:gd name="T4" fmla="*/ 2147483647 w 1612"/>
              <a:gd name="T5" fmla="*/ 2147483647 h 1618"/>
              <a:gd name="T6" fmla="*/ 2147483647 w 1612"/>
              <a:gd name="T7" fmla="*/ 2147483647 h 1618"/>
              <a:gd name="T8" fmla="*/ 2147483647 w 1612"/>
              <a:gd name="T9" fmla="*/ 2147483647 h 1618"/>
              <a:gd name="T10" fmla="*/ 2147483647 w 1612"/>
              <a:gd name="T11" fmla="*/ 2147483647 h 1618"/>
              <a:gd name="T12" fmla="*/ 2147483647 w 1612"/>
              <a:gd name="T13" fmla="*/ 2147483647 h 1618"/>
              <a:gd name="T14" fmla="*/ 2147483647 w 1612"/>
              <a:gd name="T15" fmla="*/ 0 h 1618"/>
              <a:gd name="T16" fmla="*/ 2147483647 w 1612"/>
              <a:gd name="T17" fmla="*/ 2147483647 h 1618"/>
              <a:gd name="T18" fmla="*/ 2147483647 w 1612"/>
              <a:gd name="T19" fmla="*/ 2147483647 h 1618"/>
              <a:gd name="T20" fmla="*/ 2147483647 w 1612"/>
              <a:gd name="T21" fmla="*/ 2147483647 h 1618"/>
              <a:gd name="T22" fmla="*/ 2147483647 w 1612"/>
              <a:gd name="T23" fmla="*/ 2147483647 h 1618"/>
              <a:gd name="T24" fmla="*/ 2147483647 w 1612"/>
              <a:gd name="T25" fmla="*/ 2147483647 h 1618"/>
              <a:gd name="T26" fmla="*/ 2147483647 w 1612"/>
              <a:gd name="T27" fmla="*/ 2147483647 h 1618"/>
              <a:gd name="T28" fmla="*/ 2147483647 w 1612"/>
              <a:gd name="T29" fmla="*/ 2147483647 h 1618"/>
              <a:gd name="T30" fmla="*/ 2147483647 w 1612"/>
              <a:gd name="T31" fmla="*/ 2147483647 h 1618"/>
              <a:gd name="T32" fmla="*/ 2147483647 w 1612"/>
              <a:gd name="T33" fmla="*/ 2147483647 h 1618"/>
              <a:gd name="T34" fmla="*/ 2147483647 w 1612"/>
              <a:gd name="T35" fmla="*/ 2147483647 h 1618"/>
              <a:gd name="T36" fmla="*/ 2147483647 w 1612"/>
              <a:gd name="T37" fmla="*/ 2147483647 h 1618"/>
              <a:gd name="T38" fmla="*/ 2147483647 w 1612"/>
              <a:gd name="T39" fmla="*/ 2147483647 h 1618"/>
              <a:gd name="T40" fmla="*/ 2147483647 w 1612"/>
              <a:gd name="T41" fmla="*/ 2147483647 h 1618"/>
              <a:gd name="T42" fmla="*/ 2147483647 w 1612"/>
              <a:gd name="T43" fmla="*/ 2147483647 h 1618"/>
              <a:gd name="T44" fmla="*/ 2147483647 w 1612"/>
              <a:gd name="T45" fmla="*/ 2147483647 h 1618"/>
              <a:gd name="T46" fmla="*/ 2147483647 w 1612"/>
              <a:gd name="T47" fmla="*/ 2147483647 h 1618"/>
              <a:gd name="T48" fmla="*/ 2147483647 w 1612"/>
              <a:gd name="T49" fmla="*/ 2147483647 h 1618"/>
              <a:gd name="T50" fmla="*/ 2147483647 w 1612"/>
              <a:gd name="T51" fmla="*/ 2147483647 h 1618"/>
              <a:gd name="T52" fmla="*/ 2147483647 w 1612"/>
              <a:gd name="T53" fmla="*/ 2147483647 h 1618"/>
              <a:gd name="T54" fmla="*/ 2147483647 w 1612"/>
              <a:gd name="T55" fmla="*/ 2147483647 h 1618"/>
              <a:gd name="T56" fmla="*/ 2147483647 w 1612"/>
              <a:gd name="T57" fmla="*/ 2147483647 h 1618"/>
              <a:gd name="T58" fmla="*/ 2147483647 w 1612"/>
              <a:gd name="T59" fmla="*/ 2147483647 h 1618"/>
              <a:gd name="T60" fmla="*/ 2147483647 w 1612"/>
              <a:gd name="T61" fmla="*/ 2147483647 h 1618"/>
              <a:gd name="T62" fmla="*/ 2147483647 w 1612"/>
              <a:gd name="T63" fmla="*/ 2147483647 h 1618"/>
              <a:gd name="T64" fmla="*/ 2147483647 w 1612"/>
              <a:gd name="T65" fmla="*/ 2147483647 h 1618"/>
              <a:gd name="T66" fmla="*/ 2147483647 w 1612"/>
              <a:gd name="T67" fmla="*/ 2147483647 h 1618"/>
              <a:gd name="T68" fmla="*/ 2147483647 w 1612"/>
              <a:gd name="T69" fmla="*/ 2147483647 h 1618"/>
              <a:gd name="T70" fmla="*/ 2147483647 w 1612"/>
              <a:gd name="T71" fmla="*/ 2147483647 h 1618"/>
              <a:gd name="T72" fmla="*/ 2147483647 w 1612"/>
              <a:gd name="T73" fmla="*/ 2147483647 h 1618"/>
              <a:gd name="T74" fmla="*/ 2147483647 w 1612"/>
              <a:gd name="T75" fmla="*/ 2147483647 h 1618"/>
              <a:gd name="T76" fmla="*/ 2147483647 w 1612"/>
              <a:gd name="T77" fmla="*/ 2147483647 h 1618"/>
              <a:gd name="T78" fmla="*/ 2147483647 w 1612"/>
              <a:gd name="T79" fmla="*/ 2147483647 h 1618"/>
              <a:gd name="T80" fmla="*/ 2147483647 w 1612"/>
              <a:gd name="T81" fmla="*/ 2147483647 h 161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612"/>
              <a:gd name="T124" fmla="*/ 0 h 1618"/>
              <a:gd name="T125" fmla="*/ 1612 w 1612"/>
              <a:gd name="T126" fmla="*/ 1618 h 161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612" h="1618">
                <a:moveTo>
                  <a:pt x="464" y="966"/>
                </a:moveTo>
                <a:lnTo>
                  <a:pt x="464" y="966"/>
                </a:lnTo>
                <a:lnTo>
                  <a:pt x="418" y="892"/>
                </a:lnTo>
                <a:lnTo>
                  <a:pt x="378" y="822"/>
                </a:lnTo>
                <a:lnTo>
                  <a:pt x="342" y="754"/>
                </a:lnTo>
                <a:lnTo>
                  <a:pt x="310" y="690"/>
                </a:lnTo>
                <a:lnTo>
                  <a:pt x="280" y="630"/>
                </a:lnTo>
                <a:lnTo>
                  <a:pt x="256" y="572"/>
                </a:lnTo>
                <a:lnTo>
                  <a:pt x="234" y="520"/>
                </a:lnTo>
                <a:lnTo>
                  <a:pt x="214" y="472"/>
                </a:lnTo>
                <a:lnTo>
                  <a:pt x="184" y="390"/>
                </a:lnTo>
                <a:lnTo>
                  <a:pt x="166" y="328"/>
                </a:lnTo>
                <a:lnTo>
                  <a:pt x="156" y="290"/>
                </a:lnTo>
                <a:lnTo>
                  <a:pt x="152" y="276"/>
                </a:lnTo>
                <a:lnTo>
                  <a:pt x="244" y="300"/>
                </a:lnTo>
                <a:lnTo>
                  <a:pt x="34" y="0"/>
                </a:lnTo>
                <a:lnTo>
                  <a:pt x="0" y="396"/>
                </a:lnTo>
                <a:lnTo>
                  <a:pt x="82" y="294"/>
                </a:lnTo>
                <a:lnTo>
                  <a:pt x="86" y="308"/>
                </a:lnTo>
                <a:lnTo>
                  <a:pt x="98" y="350"/>
                </a:lnTo>
                <a:lnTo>
                  <a:pt x="120" y="414"/>
                </a:lnTo>
                <a:lnTo>
                  <a:pt x="152" y="500"/>
                </a:lnTo>
                <a:lnTo>
                  <a:pt x="174" y="550"/>
                </a:lnTo>
                <a:lnTo>
                  <a:pt x="200" y="604"/>
                </a:lnTo>
                <a:lnTo>
                  <a:pt x="228" y="662"/>
                </a:lnTo>
                <a:lnTo>
                  <a:pt x="260" y="722"/>
                </a:lnTo>
                <a:lnTo>
                  <a:pt x="296" y="788"/>
                </a:lnTo>
                <a:lnTo>
                  <a:pt x="336" y="856"/>
                </a:lnTo>
                <a:lnTo>
                  <a:pt x="382" y="926"/>
                </a:lnTo>
                <a:lnTo>
                  <a:pt x="430" y="998"/>
                </a:lnTo>
                <a:lnTo>
                  <a:pt x="472" y="1052"/>
                </a:lnTo>
                <a:lnTo>
                  <a:pt x="514" y="1104"/>
                </a:lnTo>
                <a:lnTo>
                  <a:pt x="558" y="1152"/>
                </a:lnTo>
                <a:lnTo>
                  <a:pt x="602" y="1196"/>
                </a:lnTo>
                <a:lnTo>
                  <a:pt x="650" y="1238"/>
                </a:lnTo>
                <a:lnTo>
                  <a:pt x="696" y="1278"/>
                </a:lnTo>
                <a:lnTo>
                  <a:pt x="744" y="1314"/>
                </a:lnTo>
                <a:lnTo>
                  <a:pt x="794" y="1348"/>
                </a:lnTo>
                <a:lnTo>
                  <a:pt x="842" y="1380"/>
                </a:lnTo>
                <a:lnTo>
                  <a:pt x="892" y="1408"/>
                </a:lnTo>
                <a:lnTo>
                  <a:pt x="942" y="1434"/>
                </a:lnTo>
                <a:lnTo>
                  <a:pt x="990" y="1458"/>
                </a:lnTo>
                <a:lnTo>
                  <a:pt x="1038" y="1480"/>
                </a:lnTo>
                <a:lnTo>
                  <a:pt x="1086" y="1500"/>
                </a:lnTo>
                <a:lnTo>
                  <a:pt x="1134" y="1518"/>
                </a:lnTo>
                <a:lnTo>
                  <a:pt x="1180" y="1534"/>
                </a:lnTo>
                <a:lnTo>
                  <a:pt x="1224" y="1548"/>
                </a:lnTo>
                <a:lnTo>
                  <a:pt x="1268" y="1560"/>
                </a:lnTo>
                <a:lnTo>
                  <a:pt x="1350" y="1580"/>
                </a:lnTo>
                <a:lnTo>
                  <a:pt x="1424" y="1596"/>
                </a:lnTo>
                <a:lnTo>
                  <a:pt x="1486" y="1606"/>
                </a:lnTo>
                <a:lnTo>
                  <a:pt x="1540" y="1612"/>
                </a:lnTo>
                <a:lnTo>
                  <a:pt x="1578" y="1616"/>
                </a:lnTo>
                <a:lnTo>
                  <a:pt x="1612" y="1618"/>
                </a:lnTo>
                <a:lnTo>
                  <a:pt x="1580" y="1616"/>
                </a:lnTo>
                <a:lnTo>
                  <a:pt x="1540" y="1612"/>
                </a:lnTo>
                <a:lnTo>
                  <a:pt x="1488" y="1606"/>
                </a:lnTo>
                <a:lnTo>
                  <a:pt x="1426" y="1594"/>
                </a:lnTo>
                <a:lnTo>
                  <a:pt x="1354" y="1578"/>
                </a:lnTo>
                <a:lnTo>
                  <a:pt x="1274" y="1558"/>
                </a:lnTo>
                <a:lnTo>
                  <a:pt x="1230" y="1544"/>
                </a:lnTo>
                <a:lnTo>
                  <a:pt x="1186" y="1530"/>
                </a:lnTo>
                <a:lnTo>
                  <a:pt x="1142" y="1512"/>
                </a:lnTo>
                <a:lnTo>
                  <a:pt x="1096" y="1494"/>
                </a:lnTo>
                <a:lnTo>
                  <a:pt x="1048" y="1474"/>
                </a:lnTo>
                <a:lnTo>
                  <a:pt x="1002" y="1450"/>
                </a:lnTo>
                <a:lnTo>
                  <a:pt x="954" y="1426"/>
                </a:lnTo>
                <a:lnTo>
                  <a:pt x="906" y="1398"/>
                </a:lnTo>
                <a:lnTo>
                  <a:pt x="858" y="1368"/>
                </a:lnTo>
                <a:lnTo>
                  <a:pt x="810" y="1336"/>
                </a:lnTo>
                <a:lnTo>
                  <a:pt x="764" y="1300"/>
                </a:lnTo>
                <a:lnTo>
                  <a:pt x="718" y="1262"/>
                </a:lnTo>
                <a:lnTo>
                  <a:pt x="672" y="1220"/>
                </a:lnTo>
                <a:lnTo>
                  <a:pt x="626" y="1176"/>
                </a:lnTo>
                <a:lnTo>
                  <a:pt x="584" y="1128"/>
                </a:lnTo>
                <a:lnTo>
                  <a:pt x="542" y="1078"/>
                </a:lnTo>
                <a:lnTo>
                  <a:pt x="502" y="1024"/>
                </a:lnTo>
                <a:lnTo>
                  <a:pt x="464" y="966"/>
                </a:lnTo>
                <a:close/>
              </a:path>
            </a:pathLst>
          </a:custGeom>
          <a:solidFill>
            <a:srgbClr val="6666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30" name="矩形 29">
            <a:extLst>
              <a:ext uri="{FF2B5EF4-FFF2-40B4-BE49-F238E27FC236}">
                <a16:creationId xmlns:a16="http://schemas.microsoft.com/office/drawing/2014/main" id="{7C864FC5-0BAE-F001-6198-92DA98D37CA4}"/>
              </a:ext>
            </a:extLst>
          </p:cNvPr>
          <p:cNvSpPr/>
          <p:nvPr/>
        </p:nvSpPr>
        <p:spPr>
          <a:xfrm>
            <a:off x="4214813" y="4214813"/>
            <a:ext cx="696912" cy="400050"/>
          </a:xfrm>
          <a:prstGeom prst="rect">
            <a:avLst/>
          </a:prstGeom>
        </p:spPr>
        <p:txBody>
          <a:bodyPr wrap="none">
            <a:spAutoFit/>
          </a:bodyPr>
          <a:lstStyle/>
          <a:p>
            <a:pPr>
              <a:defRPr/>
            </a:pPr>
            <a:r>
              <a:rPr kumimoji="0" lang="zh-CN" altLang="en-US" sz="2000" b="0" kern="0" dirty="0">
                <a:solidFill>
                  <a:srgbClr val="0000CC"/>
                </a:solidFill>
                <a:latin typeface="黑体" pitchFamily="2" charset="-122"/>
                <a:ea typeface="黑体" pitchFamily="2" charset="-122"/>
                <a:cs typeface="Arial" pitchFamily="34" charset="0"/>
              </a:rPr>
              <a:t>转置</a:t>
            </a:r>
            <a:endParaRPr lang="zh-CN" altLang="en-US" dirty="0">
              <a:solidFill>
                <a:srgbClr val="0000CC"/>
              </a:solidFill>
              <a:latin typeface="黑体" pitchFamily="2" charset="-122"/>
              <a:ea typeface="黑体" pitchFamily="2" charset="-122"/>
            </a:endParaRPr>
          </a:p>
        </p:txBody>
      </p:sp>
      <p:sp>
        <p:nvSpPr>
          <p:cNvPr id="32" name="矩形 31">
            <a:extLst>
              <a:ext uri="{FF2B5EF4-FFF2-40B4-BE49-F238E27FC236}">
                <a16:creationId xmlns:a16="http://schemas.microsoft.com/office/drawing/2014/main" id="{631BE61C-AB41-9B50-3C37-097A911BCCD3}"/>
              </a:ext>
            </a:extLst>
          </p:cNvPr>
          <p:cNvSpPr/>
          <p:nvPr/>
        </p:nvSpPr>
        <p:spPr>
          <a:xfrm>
            <a:off x="4837113" y="3243263"/>
            <a:ext cx="696912" cy="400050"/>
          </a:xfrm>
          <a:prstGeom prst="rect">
            <a:avLst/>
          </a:prstGeom>
        </p:spPr>
        <p:txBody>
          <a:bodyPr wrap="none">
            <a:spAutoFit/>
          </a:bodyPr>
          <a:lstStyle/>
          <a:p>
            <a:pPr>
              <a:defRPr/>
            </a:pPr>
            <a:r>
              <a:rPr kumimoji="0" lang="zh-CN" altLang="en-US" sz="2000" b="0" kern="0" dirty="0">
                <a:solidFill>
                  <a:srgbClr val="0000CC"/>
                </a:solidFill>
                <a:latin typeface="黑体" pitchFamily="2" charset="-122"/>
                <a:ea typeface="黑体" pitchFamily="2" charset="-122"/>
                <a:cs typeface="Arial" pitchFamily="34" charset="0"/>
              </a:rPr>
              <a:t>转置</a:t>
            </a:r>
            <a:endParaRPr lang="zh-CN" altLang="en-US" dirty="0">
              <a:solidFill>
                <a:srgbClr val="0000CC"/>
              </a:solidFill>
              <a:latin typeface="黑体" pitchFamily="2" charset="-122"/>
              <a:ea typeface="黑体" pitchFamily="2" charset="-122"/>
            </a:endParaRPr>
          </a:p>
        </p:txBody>
      </p:sp>
      <p:sp>
        <p:nvSpPr>
          <p:cNvPr id="34" name="Freeform 10">
            <a:extLst>
              <a:ext uri="{FF2B5EF4-FFF2-40B4-BE49-F238E27FC236}">
                <a16:creationId xmlns:a16="http://schemas.microsoft.com/office/drawing/2014/main" id="{3B8E7E61-0C4C-BCA8-000F-9E43E118943D}"/>
              </a:ext>
            </a:extLst>
          </p:cNvPr>
          <p:cNvSpPr>
            <a:spLocks/>
          </p:cNvSpPr>
          <p:nvPr/>
        </p:nvSpPr>
        <p:spPr bwMode="auto">
          <a:xfrm rot="9366397" flipH="1" flipV="1">
            <a:off x="4770438" y="3046413"/>
            <a:ext cx="962025" cy="1062037"/>
          </a:xfrm>
          <a:custGeom>
            <a:avLst/>
            <a:gdLst>
              <a:gd name="T0" fmla="*/ 2147483647 w 1612"/>
              <a:gd name="T1" fmla="*/ 2147483647 h 1618"/>
              <a:gd name="T2" fmla="*/ 2147483647 w 1612"/>
              <a:gd name="T3" fmla="*/ 2147483647 h 1618"/>
              <a:gd name="T4" fmla="*/ 2147483647 w 1612"/>
              <a:gd name="T5" fmla="*/ 2147483647 h 1618"/>
              <a:gd name="T6" fmla="*/ 2147483647 w 1612"/>
              <a:gd name="T7" fmla="*/ 2147483647 h 1618"/>
              <a:gd name="T8" fmla="*/ 2147483647 w 1612"/>
              <a:gd name="T9" fmla="*/ 2147483647 h 1618"/>
              <a:gd name="T10" fmla="*/ 2147483647 w 1612"/>
              <a:gd name="T11" fmla="*/ 2147483647 h 1618"/>
              <a:gd name="T12" fmla="*/ 2147483647 w 1612"/>
              <a:gd name="T13" fmla="*/ 2147483647 h 1618"/>
              <a:gd name="T14" fmla="*/ 2147483647 w 1612"/>
              <a:gd name="T15" fmla="*/ 0 h 1618"/>
              <a:gd name="T16" fmla="*/ 2147483647 w 1612"/>
              <a:gd name="T17" fmla="*/ 2147483647 h 1618"/>
              <a:gd name="T18" fmla="*/ 2147483647 w 1612"/>
              <a:gd name="T19" fmla="*/ 2147483647 h 1618"/>
              <a:gd name="T20" fmla="*/ 2147483647 w 1612"/>
              <a:gd name="T21" fmla="*/ 2147483647 h 1618"/>
              <a:gd name="T22" fmla="*/ 2147483647 w 1612"/>
              <a:gd name="T23" fmla="*/ 2147483647 h 1618"/>
              <a:gd name="T24" fmla="*/ 2147483647 w 1612"/>
              <a:gd name="T25" fmla="*/ 2147483647 h 1618"/>
              <a:gd name="T26" fmla="*/ 2147483647 w 1612"/>
              <a:gd name="T27" fmla="*/ 2147483647 h 1618"/>
              <a:gd name="T28" fmla="*/ 2147483647 w 1612"/>
              <a:gd name="T29" fmla="*/ 2147483647 h 1618"/>
              <a:gd name="T30" fmla="*/ 2147483647 w 1612"/>
              <a:gd name="T31" fmla="*/ 2147483647 h 1618"/>
              <a:gd name="T32" fmla="*/ 2147483647 w 1612"/>
              <a:gd name="T33" fmla="*/ 2147483647 h 1618"/>
              <a:gd name="T34" fmla="*/ 2147483647 w 1612"/>
              <a:gd name="T35" fmla="*/ 2147483647 h 1618"/>
              <a:gd name="T36" fmla="*/ 2147483647 w 1612"/>
              <a:gd name="T37" fmla="*/ 2147483647 h 1618"/>
              <a:gd name="T38" fmla="*/ 2147483647 w 1612"/>
              <a:gd name="T39" fmla="*/ 2147483647 h 1618"/>
              <a:gd name="T40" fmla="*/ 2147483647 w 1612"/>
              <a:gd name="T41" fmla="*/ 2147483647 h 1618"/>
              <a:gd name="T42" fmla="*/ 2147483647 w 1612"/>
              <a:gd name="T43" fmla="*/ 2147483647 h 1618"/>
              <a:gd name="T44" fmla="*/ 2147483647 w 1612"/>
              <a:gd name="T45" fmla="*/ 2147483647 h 1618"/>
              <a:gd name="T46" fmla="*/ 2147483647 w 1612"/>
              <a:gd name="T47" fmla="*/ 2147483647 h 1618"/>
              <a:gd name="T48" fmla="*/ 2147483647 w 1612"/>
              <a:gd name="T49" fmla="*/ 2147483647 h 1618"/>
              <a:gd name="T50" fmla="*/ 2147483647 w 1612"/>
              <a:gd name="T51" fmla="*/ 2147483647 h 1618"/>
              <a:gd name="T52" fmla="*/ 2147483647 w 1612"/>
              <a:gd name="T53" fmla="*/ 2147483647 h 1618"/>
              <a:gd name="T54" fmla="*/ 2147483647 w 1612"/>
              <a:gd name="T55" fmla="*/ 2147483647 h 1618"/>
              <a:gd name="T56" fmla="*/ 2147483647 w 1612"/>
              <a:gd name="T57" fmla="*/ 2147483647 h 1618"/>
              <a:gd name="T58" fmla="*/ 2147483647 w 1612"/>
              <a:gd name="T59" fmla="*/ 2147483647 h 1618"/>
              <a:gd name="T60" fmla="*/ 2147483647 w 1612"/>
              <a:gd name="T61" fmla="*/ 2147483647 h 1618"/>
              <a:gd name="T62" fmla="*/ 2147483647 w 1612"/>
              <a:gd name="T63" fmla="*/ 2147483647 h 1618"/>
              <a:gd name="T64" fmla="*/ 2147483647 w 1612"/>
              <a:gd name="T65" fmla="*/ 2147483647 h 1618"/>
              <a:gd name="T66" fmla="*/ 2147483647 w 1612"/>
              <a:gd name="T67" fmla="*/ 2147483647 h 1618"/>
              <a:gd name="T68" fmla="*/ 2147483647 w 1612"/>
              <a:gd name="T69" fmla="*/ 2147483647 h 1618"/>
              <a:gd name="T70" fmla="*/ 2147483647 w 1612"/>
              <a:gd name="T71" fmla="*/ 2147483647 h 1618"/>
              <a:gd name="T72" fmla="*/ 2147483647 w 1612"/>
              <a:gd name="T73" fmla="*/ 2147483647 h 1618"/>
              <a:gd name="T74" fmla="*/ 2147483647 w 1612"/>
              <a:gd name="T75" fmla="*/ 2147483647 h 1618"/>
              <a:gd name="T76" fmla="*/ 2147483647 w 1612"/>
              <a:gd name="T77" fmla="*/ 2147483647 h 1618"/>
              <a:gd name="T78" fmla="*/ 2147483647 w 1612"/>
              <a:gd name="T79" fmla="*/ 2147483647 h 1618"/>
              <a:gd name="T80" fmla="*/ 2147483647 w 1612"/>
              <a:gd name="T81" fmla="*/ 2147483647 h 161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612"/>
              <a:gd name="T124" fmla="*/ 0 h 1618"/>
              <a:gd name="T125" fmla="*/ 1612 w 1612"/>
              <a:gd name="T126" fmla="*/ 1618 h 161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612" h="1618">
                <a:moveTo>
                  <a:pt x="464" y="966"/>
                </a:moveTo>
                <a:lnTo>
                  <a:pt x="464" y="966"/>
                </a:lnTo>
                <a:lnTo>
                  <a:pt x="418" y="892"/>
                </a:lnTo>
                <a:lnTo>
                  <a:pt x="378" y="822"/>
                </a:lnTo>
                <a:lnTo>
                  <a:pt x="342" y="754"/>
                </a:lnTo>
                <a:lnTo>
                  <a:pt x="310" y="690"/>
                </a:lnTo>
                <a:lnTo>
                  <a:pt x="280" y="630"/>
                </a:lnTo>
                <a:lnTo>
                  <a:pt x="256" y="572"/>
                </a:lnTo>
                <a:lnTo>
                  <a:pt x="234" y="520"/>
                </a:lnTo>
                <a:lnTo>
                  <a:pt x="214" y="472"/>
                </a:lnTo>
                <a:lnTo>
                  <a:pt x="184" y="390"/>
                </a:lnTo>
                <a:lnTo>
                  <a:pt x="166" y="328"/>
                </a:lnTo>
                <a:lnTo>
                  <a:pt x="156" y="290"/>
                </a:lnTo>
                <a:lnTo>
                  <a:pt x="152" y="276"/>
                </a:lnTo>
                <a:lnTo>
                  <a:pt x="244" y="300"/>
                </a:lnTo>
                <a:lnTo>
                  <a:pt x="34" y="0"/>
                </a:lnTo>
                <a:lnTo>
                  <a:pt x="0" y="396"/>
                </a:lnTo>
                <a:lnTo>
                  <a:pt x="82" y="294"/>
                </a:lnTo>
                <a:lnTo>
                  <a:pt x="86" y="308"/>
                </a:lnTo>
                <a:lnTo>
                  <a:pt x="98" y="350"/>
                </a:lnTo>
                <a:lnTo>
                  <a:pt x="120" y="414"/>
                </a:lnTo>
                <a:lnTo>
                  <a:pt x="152" y="500"/>
                </a:lnTo>
                <a:lnTo>
                  <a:pt x="174" y="550"/>
                </a:lnTo>
                <a:lnTo>
                  <a:pt x="200" y="604"/>
                </a:lnTo>
                <a:lnTo>
                  <a:pt x="228" y="662"/>
                </a:lnTo>
                <a:lnTo>
                  <a:pt x="260" y="722"/>
                </a:lnTo>
                <a:lnTo>
                  <a:pt x="296" y="788"/>
                </a:lnTo>
                <a:lnTo>
                  <a:pt x="336" y="856"/>
                </a:lnTo>
                <a:lnTo>
                  <a:pt x="382" y="926"/>
                </a:lnTo>
                <a:lnTo>
                  <a:pt x="430" y="998"/>
                </a:lnTo>
                <a:lnTo>
                  <a:pt x="472" y="1052"/>
                </a:lnTo>
                <a:lnTo>
                  <a:pt x="514" y="1104"/>
                </a:lnTo>
                <a:lnTo>
                  <a:pt x="558" y="1152"/>
                </a:lnTo>
                <a:lnTo>
                  <a:pt x="602" y="1196"/>
                </a:lnTo>
                <a:lnTo>
                  <a:pt x="650" y="1238"/>
                </a:lnTo>
                <a:lnTo>
                  <a:pt x="696" y="1278"/>
                </a:lnTo>
                <a:lnTo>
                  <a:pt x="744" y="1314"/>
                </a:lnTo>
                <a:lnTo>
                  <a:pt x="794" y="1348"/>
                </a:lnTo>
                <a:lnTo>
                  <a:pt x="842" y="1380"/>
                </a:lnTo>
                <a:lnTo>
                  <a:pt x="892" y="1408"/>
                </a:lnTo>
                <a:lnTo>
                  <a:pt x="942" y="1434"/>
                </a:lnTo>
                <a:lnTo>
                  <a:pt x="990" y="1458"/>
                </a:lnTo>
                <a:lnTo>
                  <a:pt x="1038" y="1480"/>
                </a:lnTo>
                <a:lnTo>
                  <a:pt x="1086" y="1500"/>
                </a:lnTo>
                <a:lnTo>
                  <a:pt x="1134" y="1518"/>
                </a:lnTo>
                <a:lnTo>
                  <a:pt x="1180" y="1534"/>
                </a:lnTo>
                <a:lnTo>
                  <a:pt x="1224" y="1548"/>
                </a:lnTo>
                <a:lnTo>
                  <a:pt x="1268" y="1560"/>
                </a:lnTo>
                <a:lnTo>
                  <a:pt x="1350" y="1580"/>
                </a:lnTo>
                <a:lnTo>
                  <a:pt x="1424" y="1596"/>
                </a:lnTo>
                <a:lnTo>
                  <a:pt x="1486" y="1606"/>
                </a:lnTo>
                <a:lnTo>
                  <a:pt x="1540" y="1612"/>
                </a:lnTo>
                <a:lnTo>
                  <a:pt x="1578" y="1616"/>
                </a:lnTo>
                <a:lnTo>
                  <a:pt x="1612" y="1618"/>
                </a:lnTo>
                <a:lnTo>
                  <a:pt x="1580" y="1616"/>
                </a:lnTo>
                <a:lnTo>
                  <a:pt x="1540" y="1612"/>
                </a:lnTo>
                <a:lnTo>
                  <a:pt x="1488" y="1606"/>
                </a:lnTo>
                <a:lnTo>
                  <a:pt x="1426" y="1594"/>
                </a:lnTo>
                <a:lnTo>
                  <a:pt x="1354" y="1578"/>
                </a:lnTo>
                <a:lnTo>
                  <a:pt x="1274" y="1558"/>
                </a:lnTo>
                <a:lnTo>
                  <a:pt x="1230" y="1544"/>
                </a:lnTo>
                <a:lnTo>
                  <a:pt x="1186" y="1530"/>
                </a:lnTo>
                <a:lnTo>
                  <a:pt x="1142" y="1512"/>
                </a:lnTo>
                <a:lnTo>
                  <a:pt x="1096" y="1494"/>
                </a:lnTo>
                <a:lnTo>
                  <a:pt x="1048" y="1474"/>
                </a:lnTo>
                <a:lnTo>
                  <a:pt x="1002" y="1450"/>
                </a:lnTo>
                <a:lnTo>
                  <a:pt x="954" y="1426"/>
                </a:lnTo>
                <a:lnTo>
                  <a:pt x="906" y="1398"/>
                </a:lnTo>
                <a:lnTo>
                  <a:pt x="858" y="1368"/>
                </a:lnTo>
                <a:lnTo>
                  <a:pt x="810" y="1336"/>
                </a:lnTo>
                <a:lnTo>
                  <a:pt x="764" y="1300"/>
                </a:lnTo>
                <a:lnTo>
                  <a:pt x="718" y="1262"/>
                </a:lnTo>
                <a:lnTo>
                  <a:pt x="672" y="1220"/>
                </a:lnTo>
                <a:lnTo>
                  <a:pt x="626" y="1176"/>
                </a:lnTo>
                <a:lnTo>
                  <a:pt x="584" y="1128"/>
                </a:lnTo>
                <a:lnTo>
                  <a:pt x="542" y="1078"/>
                </a:lnTo>
                <a:lnTo>
                  <a:pt x="502" y="1024"/>
                </a:lnTo>
                <a:lnTo>
                  <a:pt x="464" y="966"/>
                </a:lnTo>
                <a:close/>
              </a:path>
            </a:pathLst>
          </a:custGeom>
          <a:solidFill>
            <a:srgbClr val="6666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36" name="矩形 35">
            <a:extLst>
              <a:ext uri="{FF2B5EF4-FFF2-40B4-BE49-F238E27FC236}">
                <a16:creationId xmlns:a16="http://schemas.microsoft.com/office/drawing/2014/main" id="{23C20B77-5591-4F31-D5AE-2BF7911A12E7}"/>
              </a:ext>
            </a:extLst>
          </p:cNvPr>
          <p:cNvSpPr/>
          <p:nvPr/>
        </p:nvSpPr>
        <p:spPr>
          <a:xfrm>
            <a:off x="4529138" y="3957638"/>
            <a:ext cx="866775" cy="461962"/>
          </a:xfrm>
          <a:prstGeom prst="rect">
            <a:avLst/>
          </a:prstGeom>
        </p:spPr>
        <p:txBody>
          <a:bodyPr wrap="none">
            <a:spAutoFit/>
          </a:bodyPr>
          <a:lstStyle/>
          <a:p>
            <a:pPr>
              <a:defRPr/>
            </a:pPr>
            <a:r>
              <a:rPr kumimoji="0" lang="zh-CN" altLang="en-US" sz="2400" b="0" kern="0" dirty="0">
                <a:solidFill>
                  <a:srgbClr val="0000CC"/>
                </a:solidFill>
                <a:latin typeface="Arial" pitchFamily="34" charset="0"/>
                <a:ea typeface="微软雅黑" pitchFamily="34" charset="-122"/>
                <a:cs typeface="Arial" pitchFamily="34" charset="0"/>
              </a:rPr>
              <a:t>“</a:t>
            </a:r>
            <a:r>
              <a:rPr kumimoji="0" lang="en-US" altLang="zh-CN" sz="2400" kern="0" dirty="0">
                <a:solidFill>
                  <a:srgbClr val="0000CC"/>
                </a:solidFill>
                <a:latin typeface="Arial" pitchFamily="34" charset="0"/>
                <a:ea typeface="微软雅黑" pitchFamily="34" charset="-122"/>
                <a:cs typeface="Arial" pitchFamily="34" charset="0"/>
              </a:rPr>
              <a:t>T</a:t>
            </a:r>
            <a:r>
              <a:rPr kumimoji="0" lang="en-US" altLang="zh-CN" sz="2400" b="0" kern="0" dirty="0">
                <a:solidFill>
                  <a:srgbClr val="0000CC"/>
                </a:solidFill>
                <a:latin typeface="Arial" pitchFamily="34" charset="0"/>
                <a:ea typeface="微软雅黑" pitchFamily="34" charset="-122"/>
                <a:cs typeface="Arial" pitchFamily="34" charset="0"/>
              </a:rPr>
              <a:t>” </a:t>
            </a:r>
            <a:endParaRPr lang="zh-CN" altLang="en-US" dirty="0">
              <a:solidFill>
                <a:srgbClr val="0000CC"/>
              </a:solidFill>
            </a:endParaRPr>
          </a:p>
        </p:txBody>
      </p:sp>
      <p:pic>
        <p:nvPicPr>
          <p:cNvPr id="19479" name="Picture 23">
            <a:extLst>
              <a:ext uri="{FF2B5EF4-FFF2-40B4-BE49-F238E27FC236}">
                <a16:creationId xmlns:a16="http://schemas.microsoft.com/office/drawing/2014/main" id="{2A56B4CA-D6AC-70EF-D7DB-26D3823E9C8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55891"/>
          <a:stretch>
            <a:fillRect/>
          </a:stretch>
        </p:blipFill>
        <p:spPr bwMode="auto">
          <a:xfrm>
            <a:off x="1700213" y="5522913"/>
            <a:ext cx="1857375"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23">
            <a:extLst>
              <a:ext uri="{FF2B5EF4-FFF2-40B4-BE49-F238E27FC236}">
                <a16:creationId xmlns:a16="http://schemas.microsoft.com/office/drawing/2014/main" id="{9062997D-C636-84E7-DC75-2DB1E19B9AB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2" b="54271"/>
          <a:stretch>
            <a:fillRect/>
          </a:stretch>
        </p:blipFill>
        <p:spPr bwMode="auto">
          <a:xfrm>
            <a:off x="1714500" y="4714875"/>
            <a:ext cx="1857375"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80" name="Picture 24">
            <a:extLst>
              <a:ext uri="{FF2B5EF4-FFF2-40B4-BE49-F238E27FC236}">
                <a16:creationId xmlns:a16="http://schemas.microsoft.com/office/drawing/2014/main" id="{4DFF1D0D-D4A6-9BA4-EF0B-1D68617E9D1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r="5659" b="6343"/>
          <a:stretch>
            <a:fillRect/>
          </a:stretch>
        </p:blipFill>
        <p:spPr bwMode="auto">
          <a:xfrm>
            <a:off x="4572000" y="5286375"/>
            <a:ext cx="3571875"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154"/>
                                        </p:tgtEl>
                                        <p:attrNameLst>
                                          <p:attrName>style.visibility</p:attrName>
                                        </p:attrNameLst>
                                      </p:cBhvr>
                                      <p:to>
                                        <p:strVal val="visible"/>
                                      </p:to>
                                    </p:set>
                                    <p:animEffect transition="in" filter="wipe(left)">
                                      <p:cBhvr>
                                        <p:cTn id="7" dur="2000"/>
                                        <p:tgtEl>
                                          <p:spTgt spid="61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10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up)">
                                      <p:cBhvr>
                                        <p:cTn id="17" dur="1000"/>
                                        <p:tgtEl>
                                          <p:spTgt spid="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1" presetClass="entr" presetSubtype="4"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heel(4)">
                                      <p:cBhvr>
                                        <p:cTn id="22" dur="1000"/>
                                        <p:tgtEl>
                                          <p:spTgt spid="23"/>
                                        </p:tgtEl>
                                      </p:cBhvr>
                                    </p:animEffect>
                                  </p:childTnLst>
                                </p:cTn>
                              </p:par>
                            </p:childTnLst>
                          </p:cTn>
                        </p:par>
                        <p:par>
                          <p:cTn id="23" fill="hold" nodeType="afterGroup">
                            <p:stCondLst>
                              <p:cond delay="1000"/>
                            </p:stCondLst>
                            <p:childTnLst>
                              <p:par>
                                <p:cTn id="24" presetID="22" presetClass="entr" presetSubtype="1" fill="hold" nodeType="after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wipe(up)">
                                      <p:cBhvr>
                                        <p:cTn id="26" dur="1000"/>
                                        <p:tgtEl>
                                          <p:spTgt spid="22"/>
                                        </p:tgtEl>
                                      </p:cBhvr>
                                    </p:animEffect>
                                  </p:childTnLst>
                                </p:cTn>
                              </p:par>
                            </p:childTnLst>
                          </p:cTn>
                        </p:par>
                        <p:par>
                          <p:cTn id="27" fill="hold" nodeType="afterGroup">
                            <p:stCondLst>
                              <p:cond delay="2000"/>
                            </p:stCondLst>
                            <p:childTnLst>
                              <p:par>
                                <p:cTn id="28" presetID="6" presetClass="entr" presetSubtype="32" fill="hold" nodeType="after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circle(out)">
                                      <p:cBhvr>
                                        <p:cTn id="30" dur="2000"/>
                                        <p:tgtEl>
                                          <p:spTgt spid="1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up)">
                                      <p:cBhvr>
                                        <p:cTn id="35" dur="1000"/>
                                        <p:tgtEl>
                                          <p:spTgt spid="18"/>
                                        </p:tgtEl>
                                      </p:cBhvr>
                                    </p:animEffect>
                                  </p:childTnLst>
                                </p:cTn>
                              </p:par>
                            </p:childTnLst>
                          </p:cTn>
                        </p:par>
                        <p:par>
                          <p:cTn id="36" fill="hold" nodeType="afterGroup">
                            <p:stCondLst>
                              <p:cond delay="1000"/>
                            </p:stCondLst>
                            <p:childTnLst>
                              <p:par>
                                <p:cTn id="37" presetID="22" presetClass="entr" presetSubtype="2" fill="hold" nodeType="after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wipe(right)">
                                      <p:cBhvr>
                                        <p:cTn id="39" dur="1000"/>
                                        <p:tgtEl>
                                          <p:spTgt spid="28"/>
                                        </p:tgtEl>
                                      </p:cBhvr>
                                    </p:animEffect>
                                  </p:childTnLst>
                                </p:cTn>
                              </p:par>
                              <p:par>
                                <p:cTn id="40" presetID="22" presetClass="entr" presetSubtype="4" fill="hold" nodeType="with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wipe(down)">
                                      <p:cBhvr>
                                        <p:cTn id="42" dur="500"/>
                                        <p:tgtEl>
                                          <p:spTgt spid="36"/>
                                        </p:tgtEl>
                                      </p:cBhvr>
                                    </p:animEffect>
                                  </p:childTnLst>
                                </p:cTn>
                              </p:par>
                              <p:par>
                                <p:cTn id="43" presetID="22" presetClass="entr" presetSubtype="2"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wipe(right)">
                                      <p:cBhvr>
                                        <p:cTn id="45" dur="1000"/>
                                        <p:tgtEl>
                                          <p:spTgt spid="30"/>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nodeType="click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wipe(up)">
                                      <p:cBhvr>
                                        <p:cTn id="50" dur="1000"/>
                                        <p:tgtEl>
                                          <p:spTgt spid="19"/>
                                        </p:tgtEl>
                                      </p:cBhvr>
                                    </p:animEffect>
                                  </p:childTnLst>
                                </p:cTn>
                              </p:par>
                            </p:childTnLst>
                          </p:cTn>
                        </p:par>
                        <p:par>
                          <p:cTn id="51" fill="hold" nodeType="afterGroup">
                            <p:stCondLst>
                              <p:cond delay="1000"/>
                            </p:stCondLst>
                            <p:childTnLst>
                              <p:par>
                                <p:cTn id="52" presetID="22" presetClass="entr" presetSubtype="2" fill="hold" nodeType="after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wipe(right)">
                                      <p:cBhvr>
                                        <p:cTn id="54" dur="1000"/>
                                        <p:tgtEl>
                                          <p:spTgt spid="34"/>
                                        </p:tgtEl>
                                      </p:cBhvr>
                                    </p:animEffect>
                                  </p:childTnLst>
                                </p:cTn>
                              </p:par>
                              <p:par>
                                <p:cTn id="55" presetID="22" presetClass="entr" presetSubtype="2" fill="hold" nodeType="with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wipe(right)">
                                      <p:cBhvr>
                                        <p:cTn id="57" dur="1000"/>
                                        <p:tgtEl>
                                          <p:spTgt spid="3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nodeType="click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wipe(up)">
                                      <p:cBhvr>
                                        <p:cTn id="62" dur="1000"/>
                                        <p:tgtEl>
                                          <p:spTgt spid="24"/>
                                        </p:tgtEl>
                                      </p:cBhvr>
                                    </p:animEffect>
                                  </p:childTnLst>
                                </p:cTn>
                              </p:par>
                            </p:childTnLst>
                          </p:cTn>
                        </p:par>
                        <p:par>
                          <p:cTn id="63" fill="hold" nodeType="afterGroup">
                            <p:stCondLst>
                              <p:cond delay="1000"/>
                            </p:stCondLst>
                            <p:childTnLst>
                              <p:par>
                                <p:cTn id="64" presetID="22" presetClass="entr" presetSubtype="1" fill="hold" nodeType="afterEffect">
                                  <p:stCondLst>
                                    <p:cond delay="0"/>
                                  </p:stCondLst>
                                  <p:childTnLst>
                                    <p:set>
                                      <p:cBhvr>
                                        <p:cTn id="65" dur="1" fill="hold">
                                          <p:stCondLst>
                                            <p:cond delay="0"/>
                                          </p:stCondLst>
                                        </p:cTn>
                                        <p:tgtEl>
                                          <p:spTgt spid="19479"/>
                                        </p:tgtEl>
                                        <p:attrNameLst>
                                          <p:attrName>style.visibility</p:attrName>
                                        </p:attrNameLst>
                                      </p:cBhvr>
                                      <p:to>
                                        <p:strVal val="visible"/>
                                      </p:to>
                                    </p:set>
                                    <p:animEffect transition="in" filter="wipe(up)">
                                      <p:cBhvr>
                                        <p:cTn id="66" dur="1000"/>
                                        <p:tgtEl>
                                          <p:spTgt spid="19479"/>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19480"/>
                                        </p:tgtEl>
                                        <p:attrNameLst>
                                          <p:attrName>style.visibility</p:attrName>
                                        </p:attrNameLst>
                                      </p:cBhvr>
                                      <p:to>
                                        <p:strVal val="visible"/>
                                      </p:to>
                                    </p:set>
                                    <p:animEffect transition="in" filter="wipe(left)">
                                      <p:cBhvr>
                                        <p:cTn id="71" dur="1000"/>
                                        <p:tgtEl>
                                          <p:spTgt spid="194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7" grpId="0"/>
      <p:bldP spid="17" grpId="0"/>
      <p:bldP spid="18" grpId="0"/>
      <p:bldP spid="19" grpId="0"/>
      <p:bldP spid="22" grpId="0"/>
      <p:bldP spid="24" grpId="0"/>
      <p:bldP spid="28" grpId="0" animBg="1"/>
      <p:bldP spid="30" grpId="0"/>
      <p:bldP spid="32" grpId="0"/>
      <p:bldP spid="34" grpId="0" animBg="1"/>
      <p:bldP spid="3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6" name="Picture 26">
            <a:extLst>
              <a:ext uri="{FF2B5EF4-FFF2-40B4-BE49-F238E27FC236}">
                <a16:creationId xmlns:a16="http://schemas.microsoft.com/office/drawing/2014/main" id="{77BADBCE-F1AC-750E-7DF3-91C7CC99CA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813" y="2487613"/>
            <a:ext cx="7715250"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0" name="AutoShape 2">
            <a:extLst>
              <a:ext uri="{FF2B5EF4-FFF2-40B4-BE49-F238E27FC236}">
                <a16:creationId xmlns:a16="http://schemas.microsoft.com/office/drawing/2014/main" id="{505D9462-1D45-8E34-FD92-E9A22BD7907A}"/>
              </a:ext>
            </a:extLst>
          </p:cNvPr>
          <p:cNvSpPr>
            <a:spLocks noChangeArrowheads="1"/>
          </p:cNvSpPr>
          <p:nvPr/>
        </p:nvSpPr>
        <p:spPr bwMode="auto">
          <a:xfrm>
            <a:off x="2143140" y="4417817"/>
            <a:ext cx="785818" cy="714380"/>
          </a:xfrm>
          <a:prstGeom prst="wedgeRoundRectCallout">
            <a:avLst>
              <a:gd name="adj1" fmla="val 30715"/>
              <a:gd name="adj2" fmla="val -72852"/>
              <a:gd name="adj3" fmla="val 16667"/>
            </a:avLst>
          </a:prstGeom>
          <a:solidFill>
            <a:schemeClr val="bg1">
              <a:lumMod val="95000"/>
            </a:schemeClr>
          </a:solidFill>
          <a:ln w="9525">
            <a:noFill/>
            <a:miter lim="800000"/>
            <a:headEnd/>
            <a:tailEnd/>
          </a:ln>
          <a:effectLst>
            <a:innerShdw blurRad="63500" dist="50800" dir="16200000">
              <a:prstClr val="black">
                <a:alpha val="50000"/>
              </a:prstClr>
            </a:innerShdw>
          </a:effectLst>
        </p:spPr>
        <p:txBody>
          <a:bodyPr/>
          <a:lstStyle/>
          <a:p>
            <a:pPr algn="just">
              <a:lnSpc>
                <a:spcPts val="2600"/>
              </a:lnSpc>
              <a:defRPr/>
            </a:pPr>
            <a:r>
              <a:rPr lang="en-US" altLang="zh-CN" sz="2000" i="1" dirty="0">
                <a:solidFill>
                  <a:srgbClr val="FF0000"/>
                </a:solidFill>
                <a:latin typeface="微软雅黑" pitchFamily="34" charset="-122"/>
                <a:ea typeface="微软雅黑" pitchFamily="34" charset="-122"/>
              </a:rPr>
              <a:t>r </a:t>
            </a:r>
            <a:r>
              <a:rPr lang="en-US" altLang="zh-CN" sz="2000" i="1" dirty="0">
                <a:solidFill>
                  <a:srgbClr val="003399"/>
                </a:solidFill>
                <a:latin typeface="微软雅黑" pitchFamily="34" charset="-122"/>
                <a:ea typeface="微软雅黑" pitchFamily="34" charset="-122"/>
              </a:rPr>
              <a:t> </a:t>
            </a:r>
            <a:r>
              <a:rPr lang="zh-CN" altLang="en-US" sz="2000" dirty="0">
                <a:solidFill>
                  <a:srgbClr val="003399"/>
                </a:solidFill>
                <a:latin typeface="微软雅黑" pitchFamily="34" charset="-122"/>
                <a:ea typeface="微软雅黑" pitchFamily="34" charset="-122"/>
              </a:rPr>
              <a:t>行</a:t>
            </a:r>
            <a:endParaRPr lang="en-US" altLang="zh-CN" sz="2000" dirty="0">
              <a:solidFill>
                <a:srgbClr val="003399"/>
              </a:solidFill>
              <a:latin typeface="微软雅黑" pitchFamily="34" charset="-122"/>
              <a:ea typeface="微软雅黑" pitchFamily="34" charset="-122"/>
              <a:sym typeface="Symbol" pitchFamily="18" charset="2"/>
            </a:endParaRPr>
          </a:p>
          <a:p>
            <a:pPr algn="just">
              <a:lnSpc>
                <a:spcPts val="2600"/>
              </a:lnSpc>
              <a:defRPr/>
            </a:pPr>
            <a:r>
              <a:rPr lang="en-US" altLang="zh-CN" sz="2000" i="1" dirty="0">
                <a:solidFill>
                  <a:srgbClr val="0000CC"/>
                </a:solidFill>
                <a:latin typeface="微软雅黑" pitchFamily="34" charset="-122"/>
                <a:ea typeface="微软雅黑" pitchFamily="34" charset="-122"/>
              </a:rPr>
              <a:t>n</a:t>
            </a:r>
            <a:r>
              <a:rPr lang="en-US" altLang="zh-CN" sz="2000" i="1" dirty="0">
                <a:solidFill>
                  <a:srgbClr val="003399"/>
                </a:solidFill>
                <a:latin typeface="微软雅黑" pitchFamily="34" charset="-122"/>
                <a:ea typeface="微软雅黑" pitchFamily="34" charset="-122"/>
              </a:rPr>
              <a:t> </a:t>
            </a:r>
            <a:r>
              <a:rPr lang="zh-CN" altLang="en-US" sz="2000" dirty="0">
                <a:solidFill>
                  <a:srgbClr val="003399"/>
                </a:solidFill>
                <a:latin typeface="微软雅黑" pitchFamily="34" charset="-122"/>
                <a:ea typeface="微软雅黑" pitchFamily="34" charset="-122"/>
              </a:rPr>
              <a:t>列</a:t>
            </a:r>
            <a:endParaRPr lang="zh-CN" sz="2000" dirty="0">
              <a:solidFill>
                <a:srgbClr val="003399"/>
              </a:solidFill>
              <a:latin typeface="微软雅黑" pitchFamily="34" charset="-122"/>
              <a:ea typeface="微软雅黑" pitchFamily="34" charset="-122"/>
            </a:endParaRPr>
          </a:p>
        </p:txBody>
      </p:sp>
      <p:sp>
        <p:nvSpPr>
          <p:cNvPr id="68612" name="Rectangle 4">
            <a:extLst>
              <a:ext uri="{FF2B5EF4-FFF2-40B4-BE49-F238E27FC236}">
                <a16:creationId xmlns:a16="http://schemas.microsoft.com/office/drawing/2014/main" id="{3A620E9F-4D05-1397-29A2-53C941B835AD}"/>
              </a:ext>
            </a:extLst>
          </p:cNvPr>
          <p:cNvSpPr>
            <a:spLocks noChangeArrowheads="1"/>
          </p:cNvSpPr>
          <p:nvPr/>
        </p:nvSpPr>
        <p:spPr bwMode="auto">
          <a:xfrm>
            <a:off x="0" y="0"/>
            <a:ext cx="9144000" cy="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aphicFrame>
        <p:nvGraphicFramePr>
          <p:cNvPr id="68613" name="Object 2">
            <a:extLst>
              <a:ext uri="{FF2B5EF4-FFF2-40B4-BE49-F238E27FC236}">
                <a16:creationId xmlns:a16="http://schemas.microsoft.com/office/drawing/2014/main" id="{4155179E-8756-2323-B528-057EFF08EAF4}"/>
              </a:ext>
            </a:extLst>
          </p:cNvPr>
          <p:cNvGraphicFramePr>
            <a:graphicFrameLocks noChangeAspect="1"/>
          </p:cNvGraphicFramePr>
          <p:nvPr/>
        </p:nvGraphicFramePr>
        <p:xfrm>
          <a:off x="2571750" y="3346450"/>
          <a:ext cx="2449513" cy="1428750"/>
        </p:xfrm>
        <a:graphic>
          <a:graphicData uri="http://schemas.openxmlformats.org/presentationml/2006/ole">
            <mc:AlternateContent xmlns:mc="http://schemas.openxmlformats.org/markup-compatibility/2006">
              <mc:Choice xmlns:v="urn:schemas-microsoft-com:vml" Requires="v">
                <p:oleObj name="Equation" r:id="rId4" imgW="1218960" imgH="711000" progId="Equation.DSMT4">
                  <p:embed/>
                </p:oleObj>
              </mc:Choice>
              <mc:Fallback>
                <p:oleObj name="Equation" r:id="rId4" imgW="1218960" imgH="71100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71750" y="3346450"/>
                        <a:ext cx="2449513" cy="142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mpd="dbl">
                            <a:solidFill>
                              <a:srgbClr val="6666FF"/>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sp>
        <p:nvSpPr>
          <p:cNvPr id="28" name="矩形 27">
            <a:extLst>
              <a:ext uri="{FF2B5EF4-FFF2-40B4-BE49-F238E27FC236}">
                <a16:creationId xmlns:a16="http://schemas.microsoft.com/office/drawing/2014/main" id="{FF768354-B6AA-AB3A-6918-54B5560AF33D}"/>
              </a:ext>
            </a:extLst>
          </p:cNvPr>
          <p:cNvSpPr>
            <a:spLocks noChangeArrowheads="1"/>
          </p:cNvSpPr>
          <p:nvPr/>
        </p:nvSpPr>
        <p:spPr bwMode="auto">
          <a:xfrm>
            <a:off x="5000625" y="3760788"/>
            <a:ext cx="14160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en-US" altLang="zh-CN" sz="2800" b="0">
                <a:solidFill>
                  <a:srgbClr val="FF0000"/>
                </a:solidFill>
                <a:latin typeface="Arial" panose="020B0604020202020204" pitchFamily="34" charset="0"/>
                <a:cs typeface="Arial" panose="020B0604020202020204" pitchFamily="34" charset="0"/>
              </a:rPr>
              <a:t>=[ </a:t>
            </a:r>
            <a:r>
              <a:rPr lang="en-US" altLang="zh-CN" sz="2800" i="1">
                <a:solidFill>
                  <a:srgbClr val="FF0000"/>
                </a:solidFill>
                <a:latin typeface="Arial" panose="020B0604020202020204" pitchFamily="34" charset="0"/>
                <a:cs typeface="Arial" panose="020B0604020202020204" pitchFamily="34" charset="0"/>
              </a:rPr>
              <a:t>P  I</a:t>
            </a:r>
            <a:r>
              <a:rPr lang="en-US" altLang="zh-CN" sz="2800" baseline="-25000">
                <a:solidFill>
                  <a:srgbClr val="FF0000"/>
                </a:solidFill>
                <a:latin typeface="Arial" panose="020B0604020202020204" pitchFamily="34" charset="0"/>
                <a:cs typeface="Arial" panose="020B0604020202020204" pitchFamily="34" charset="0"/>
              </a:rPr>
              <a:t>r </a:t>
            </a:r>
            <a:r>
              <a:rPr lang="en-US" altLang="zh-CN" sz="2800" b="0">
                <a:solidFill>
                  <a:srgbClr val="FF0000"/>
                </a:solidFill>
                <a:latin typeface="Arial" panose="020B0604020202020204" pitchFamily="34" charset="0"/>
                <a:cs typeface="Arial" panose="020B0604020202020204" pitchFamily="34" charset="0"/>
              </a:rPr>
              <a:t>]</a:t>
            </a:r>
            <a:endParaRPr lang="zh-CN" altLang="en-US" sz="2800" b="0">
              <a:solidFill>
                <a:srgbClr val="FF0000"/>
              </a:solidFill>
              <a:latin typeface="Arial" panose="020B0604020202020204" pitchFamily="34" charset="0"/>
              <a:cs typeface="Arial" panose="020B0604020202020204" pitchFamily="34" charset="0"/>
            </a:endParaRPr>
          </a:p>
        </p:txBody>
      </p:sp>
      <p:sp>
        <p:nvSpPr>
          <p:cNvPr id="68621" name="AutoShape 13">
            <a:extLst>
              <a:ext uri="{FF2B5EF4-FFF2-40B4-BE49-F238E27FC236}">
                <a16:creationId xmlns:a16="http://schemas.microsoft.com/office/drawing/2014/main" id="{8278FD3A-6436-6D50-0BBE-0210F446A1A7}"/>
              </a:ext>
            </a:extLst>
          </p:cNvPr>
          <p:cNvSpPr>
            <a:spLocks noChangeArrowheads="1"/>
          </p:cNvSpPr>
          <p:nvPr/>
        </p:nvSpPr>
        <p:spPr bwMode="auto">
          <a:xfrm>
            <a:off x="5143536" y="4575206"/>
            <a:ext cx="1071538" cy="714380"/>
          </a:xfrm>
          <a:prstGeom prst="wedgeRoundRectCallout">
            <a:avLst>
              <a:gd name="adj1" fmla="val -10314"/>
              <a:gd name="adj2" fmla="val -94351"/>
              <a:gd name="adj3" fmla="val 16667"/>
            </a:avLst>
          </a:prstGeom>
          <a:solidFill>
            <a:schemeClr val="bg2">
              <a:lumMod val="10000"/>
              <a:lumOff val="90000"/>
            </a:schemeClr>
          </a:solidFill>
          <a:ln w="9525">
            <a:noFill/>
            <a:miter lim="800000"/>
            <a:headEnd/>
            <a:tailEnd/>
          </a:ln>
          <a:effectLst>
            <a:innerShdw blurRad="63500" dist="50800" dir="16200000">
              <a:prstClr val="black">
                <a:alpha val="50000"/>
              </a:prstClr>
            </a:innerShdw>
          </a:effectLst>
        </p:spPr>
        <p:txBody>
          <a:bodyPr/>
          <a:lstStyle/>
          <a:p>
            <a:pPr algn="just">
              <a:lnSpc>
                <a:spcPts val="2600"/>
              </a:lnSpc>
              <a:defRPr/>
            </a:pPr>
            <a:r>
              <a:rPr lang="en-US" altLang="zh-CN" sz="2000" i="1" dirty="0">
                <a:solidFill>
                  <a:srgbClr val="FF0000"/>
                </a:solidFill>
                <a:latin typeface="Arial" pitchFamily="34" charset="0"/>
                <a:ea typeface="黑体" pitchFamily="2" charset="-122"/>
                <a:cs typeface="Arial" pitchFamily="34" charset="0"/>
              </a:rPr>
              <a:t>r</a:t>
            </a:r>
            <a:r>
              <a:rPr lang="en-US" altLang="zh-CN" sz="2000" i="1" dirty="0">
                <a:solidFill>
                  <a:srgbClr val="0000CC"/>
                </a:solidFill>
                <a:latin typeface="Arial" pitchFamily="34" charset="0"/>
                <a:ea typeface="黑体" pitchFamily="2" charset="-122"/>
                <a:cs typeface="Arial" pitchFamily="34" charset="0"/>
              </a:rPr>
              <a:t> </a:t>
            </a:r>
            <a:r>
              <a:rPr lang="en-US" altLang="zh-CN" sz="2000" dirty="0">
                <a:solidFill>
                  <a:srgbClr val="0000CC"/>
                </a:solidFill>
                <a:latin typeface="Arial" pitchFamily="34" charset="0"/>
                <a:ea typeface="黑体" pitchFamily="2" charset="-122"/>
                <a:cs typeface="Arial" pitchFamily="34" charset="0"/>
                <a:sym typeface="Symbol" pitchFamily="18" charset="2"/>
              </a:rPr>
              <a:t></a:t>
            </a:r>
            <a:r>
              <a:rPr lang="en-US" altLang="zh-CN" sz="2000" i="1" dirty="0">
                <a:solidFill>
                  <a:srgbClr val="0000CC"/>
                </a:solidFill>
                <a:latin typeface="Arial" pitchFamily="34" charset="0"/>
                <a:ea typeface="黑体" pitchFamily="2" charset="-122"/>
                <a:cs typeface="Arial" pitchFamily="34" charset="0"/>
              </a:rPr>
              <a:t>k </a:t>
            </a:r>
            <a:r>
              <a:rPr lang="zh-CN" altLang="en-US" sz="2000" b="0" dirty="0">
                <a:solidFill>
                  <a:srgbClr val="003399"/>
                </a:solidFill>
                <a:latin typeface="Arial" pitchFamily="34" charset="0"/>
                <a:ea typeface="黑体" pitchFamily="2" charset="-122"/>
                <a:cs typeface="Arial" pitchFamily="34" charset="0"/>
              </a:rPr>
              <a:t>阶</a:t>
            </a:r>
            <a:endParaRPr lang="en-US" altLang="zh-CN" sz="2000" b="0" dirty="0">
              <a:solidFill>
                <a:srgbClr val="003399"/>
              </a:solidFill>
              <a:latin typeface="Arial" pitchFamily="34" charset="0"/>
              <a:ea typeface="黑体" pitchFamily="2" charset="-122"/>
              <a:cs typeface="Arial" pitchFamily="34" charset="0"/>
            </a:endParaRPr>
          </a:p>
          <a:p>
            <a:pPr algn="just">
              <a:lnSpc>
                <a:spcPts val="2600"/>
              </a:lnSpc>
              <a:defRPr/>
            </a:pPr>
            <a:r>
              <a:rPr lang="zh-CN" altLang="en-US" sz="2000" b="0" dirty="0">
                <a:solidFill>
                  <a:srgbClr val="003399"/>
                </a:solidFill>
                <a:latin typeface="Arial" pitchFamily="34" charset="0"/>
                <a:ea typeface="黑体" pitchFamily="2" charset="-122"/>
                <a:cs typeface="Arial" pitchFamily="34" charset="0"/>
              </a:rPr>
              <a:t>矩阵</a:t>
            </a:r>
            <a:endParaRPr lang="zh-CN" sz="2000" b="0" dirty="0">
              <a:solidFill>
                <a:srgbClr val="003399"/>
              </a:solidFill>
              <a:latin typeface="Arial" pitchFamily="34" charset="0"/>
              <a:ea typeface="黑体" pitchFamily="2" charset="-122"/>
              <a:cs typeface="Arial" pitchFamily="34" charset="0"/>
            </a:endParaRPr>
          </a:p>
        </p:txBody>
      </p:sp>
      <p:sp>
        <p:nvSpPr>
          <p:cNvPr id="68622" name="AutoShape 14">
            <a:extLst>
              <a:ext uri="{FF2B5EF4-FFF2-40B4-BE49-F238E27FC236}">
                <a16:creationId xmlns:a16="http://schemas.microsoft.com/office/drawing/2014/main" id="{2C06883A-7A75-F5BF-1006-A575E0F688B9}"/>
              </a:ext>
            </a:extLst>
          </p:cNvPr>
          <p:cNvSpPr>
            <a:spLocks noChangeArrowheads="1"/>
          </p:cNvSpPr>
          <p:nvPr/>
        </p:nvSpPr>
        <p:spPr bwMode="auto">
          <a:xfrm>
            <a:off x="6572328" y="4503768"/>
            <a:ext cx="1000100" cy="714380"/>
          </a:xfrm>
          <a:prstGeom prst="wedgeRoundRectCallout">
            <a:avLst>
              <a:gd name="adj1" fmla="val -88279"/>
              <a:gd name="adj2" fmla="val -75155"/>
              <a:gd name="adj3" fmla="val 16667"/>
            </a:avLst>
          </a:prstGeom>
          <a:solidFill>
            <a:schemeClr val="bg2">
              <a:lumMod val="10000"/>
              <a:lumOff val="90000"/>
            </a:schemeClr>
          </a:solidFill>
          <a:ln w="9525">
            <a:noFill/>
            <a:miter lim="800000"/>
            <a:headEnd/>
            <a:tailEnd/>
          </a:ln>
          <a:effectLst>
            <a:innerShdw blurRad="63500" dist="50800" dir="16200000">
              <a:prstClr val="black">
                <a:alpha val="50000"/>
              </a:prstClr>
            </a:innerShdw>
          </a:effectLst>
        </p:spPr>
        <p:txBody>
          <a:bodyPr/>
          <a:lstStyle/>
          <a:p>
            <a:pPr algn="just">
              <a:lnSpc>
                <a:spcPts val="2600"/>
              </a:lnSpc>
              <a:defRPr/>
            </a:pPr>
            <a:r>
              <a:rPr lang="en-US" altLang="zh-CN" sz="2000" i="1" dirty="0">
                <a:solidFill>
                  <a:srgbClr val="FF0000"/>
                </a:solidFill>
                <a:latin typeface="Arial" pitchFamily="34" charset="0"/>
                <a:ea typeface="黑体" pitchFamily="2" charset="-122"/>
                <a:cs typeface="Arial" pitchFamily="34" charset="0"/>
              </a:rPr>
              <a:t>r</a:t>
            </a:r>
            <a:r>
              <a:rPr lang="en-US" altLang="zh-CN" sz="2000" i="1" dirty="0">
                <a:solidFill>
                  <a:srgbClr val="0000CC"/>
                </a:solidFill>
                <a:latin typeface="Arial" pitchFamily="34" charset="0"/>
                <a:ea typeface="黑体" pitchFamily="2" charset="-122"/>
                <a:cs typeface="Arial" pitchFamily="34" charset="0"/>
              </a:rPr>
              <a:t> </a:t>
            </a:r>
            <a:r>
              <a:rPr lang="en-US" altLang="zh-CN" sz="2000" dirty="0">
                <a:solidFill>
                  <a:srgbClr val="0000CC"/>
                </a:solidFill>
                <a:latin typeface="Arial" pitchFamily="34" charset="0"/>
                <a:ea typeface="黑体" pitchFamily="2" charset="-122"/>
                <a:cs typeface="Arial" pitchFamily="34" charset="0"/>
                <a:sym typeface="Symbol" pitchFamily="18" charset="2"/>
              </a:rPr>
              <a:t></a:t>
            </a:r>
            <a:r>
              <a:rPr lang="en-US" altLang="zh-CN" sz="2000" i="1" dirty="0">
                <a:solidFill>
                  <a:srgbClr val="0000CC"/>
                </a:solidFill>
                <a:latin typeface="Arial" pitchFamily="34" charset="0"/>
                <a:ea typeface="黑体" pitchFamily="2" charset="-122"/>
                <a:cs typeface="Arial" pitchFamily="34" charset="0"/>
              </a:rPr>
              <a:t>r </a:t>
            </a:r>
            <a:r>
              <a:rPr lang="zh-CN" altLang="en-US" sz="2000" b="0" dirty="0">
                <a:solidFill>
                  <a:srgbClr val="003399"/>
                </a:solidFill>
                <a:latin typeface="Arial" pitchFamily="34" charset="0"/>
                <a:ea typeface="黑体" pitchFamily="2" charset="-122"/>
                <a:cs typeface="Arial" pitchFamily="34" charset="0"/>
              </a:rPr>
              <a:t>阶</a:t>
            </a:r>
            <a:endParaRPr lang="en-US" altLang="zh-CN" sz="2000" b="0" dirty="0">
              <a:solidFill>
                <a:srgbClr val="003399"/>
              </a:solidFill>
              <a:latin typeface="Arial" pitchFamily="34" charset="0"/>
              <a:ea typeface="黑体" pitchFamily="2" charset="-122"/>
              <a:cs typeface="Arial" pitchFamily="34" charset="0"/>
            </a:endParaRPr>
          </a:p>
          <a:p>
            <a:pPr algn="just">
              <a:lnSpc>
                <a:spcPts val="2600"/>
              </a:lnSpc>
              <a:defRPr/>
            </a:pPr>
            <a:r>
              <a:rPr lang="zh-CN" altLang="en-US" sz="2000" b="0" dirty="0">
                <a:solidFill>
                  <a:srgbClr val="003399"/>
                </a:solidFill>
                <a:latin typeface="Arial" pitchFamily="34" charset="0"/>
                <a:ea typeface="黑体" pitchFamily="2" charset="-122"/>
                <a:cs typeface="Arial" pitchFamily="34" charset="0"/>
              </a:rPr>
              <a:t>方阵</a:t>
            </a:r>
            <a:endParaRPr lang="zh-CN" sz="2000" b="0" dirty="0">
              <a:solidFill>
                <a:srgbClr val="003399"/>
              </a:solidFill>
              <a:latin typeface="Arial" pitchFamily="34" charset="0"/>
              <a:ea typeface="黑体" pitchFamily="2" charset="-122"/>
              <a:cs typeface="Arial" pitchFamily="34" charset="0"/>
            </a:endParaRPr>
          </a:p>
        </p:txBody>
      </p:sp>
      <p:sp>
        <p:nvSpPr>
          <p:cNvPr id="32" name="矩形 31">
            <a:extLst>
              <a:ext uri="{FF2B5EF4-FFF2-40B4-BE49-F238E27FC236}">
                <a16:creationId xmlns:a16="http://schemas.microsoft.com/office/drawing/2014/main" id="{AC8330A3-19EA-50E9-09BD-B1768AAEE738}"/>
              </a:ext>
            </a:extLst>
          </p:cNvPr>
          <p:cNvSpPr>
            <a:spLocks noChangeArrowheads="1"/>
          </p:cNvSpPr>
          <p:nvPr/>
        </p:nvSpPr>
        <p:spPr bwMode="auto">
          <a:xfrm>
            <a:off x="6215063" y="3802063"/>
            <a:ext cx="2928937" cy="461962"/>
          </a:xfrm>
          <a:prstGeom prst="rect">
            <a:avLst/>
          </a:prstGeom>
          <a:noFill/>
          <a:ln w="9525">
            <a:noFill/>
            <a:miter lim="800000"/>
            <a:headEnd/>
            <a:tailEnd/>
          </a:ln>
        </p:spPr>
        <p:txBody>
          <a:bodyPr>
            <a:spAutoFit/>
          </a:bodyPr>
          <a:lstStyle/>
          <a:p>
            <a:pPr>
              <a:defRPr/>
            </a:pPr>
            <a:r>
              <a:rPr lang="en-US" altLang="zh-CN" sz="1800" b="0" dirty="0">
                <a:solidFill>
                  <a:schemeClr val="tx1"/>
                </a:solidFill>
                <a:latin typeface="微软雅黑" pitchFamily="34" charset="-122"/>
                <a:ea typeface="微软雅黑" pitchFamily="34" charset="-122"/>
              </a:rPr>
              <a:t>—— </a:t>
            </a:r>
            <a:r>
              <a:rPr lang="zh-CN" altLang="en-US" sz="2400" b="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典型</a:t>
            </a: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监督矩阵</a:t>
            </a:r>
          </a:p>
        </p:txBody>
      </p:sp>
      <p:sp>
        <p:nvSpPr>
          <p:cNvPr id="21" name="矩形 20">
            <a:extLst>
              <a:ext uri="{FF2B5EF4-FFF2-40B4-BE49-F238E27FC236}">
                <a16:creationId xmlns:a16="http://schemas.microsoft.com/office/drawing/2014/main" id="{DED73954-6EB8-B0F9-1D30-A1619BF9ED17}"/>
              </a:ext>
            </a:extLst>
          </p:cNvPr>
          <p:cNvSpPr/>
          <p:nvPr/>
        </p:nvSpPr>
        <p:spPr>
          <a:xfrm>
            <a:off x="642938" y="785813"/>
            <a:ext cx="2428875" cy="523875"/>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a:buClr>
                <a:srgbClr val="0000CC"/>
              </a:buClr>
              <a:buSzPct val="65000"/>
              <a:buFont typeface="Wingdings" pitchFamily="2" charset="2"/>
              <a:buChar char="u"/>
              <a:defRPr/>
            </a:pPr>
            <a:r>
              <a:rPr kumimoji="0" lang="en-US" altLang="zh-CN" sz="2800" i="1" kern="0" dirty="0">
                <a:solidFill>
                  <a:srgbClr val="FF0000"/>
                </a:solidFill>
                <a:latin typeface="Arial" pitchFamily="34" charset="0"/>
                <a:ea typeface="微软雅黑" pitchFamily="34" charset="-122"/>
                <a:cs typeface="Arial" pitchFamily="34" charset="0"/>
              </a:rPr>
              <a:t> H</a:t>
            </a:r>
            <a:r>
              <a:rPr kumimoji="0" lang="en-US" altLang="zh-CN" sz="2400" i="1" kern="0" dirty="0">
                <a:solidFill>
                  <a:srgbClr val="FF0000"/>
                </a:solidFill>
                <a:latin typeface="Arial" pitchFamily="34" charset="0"/>
                <a:ea typeface="微软雅黑" pitchFamily="34" charset="-122"/>
                <a:cs typeface="Arial" pitchFamily="34" charset="0"/>
              </a:rPr>
              <a:t> </a:t>
            </a:r>
            <a:r>
              <a:rPr kumimoji="0" lang="zh-CN" altLang="en-US" sz="2400" kern="0" dirty="0">
                <a:solidFill>
                  <a:srgbClr val="003399"/>
                </a:solidFill>
                <a:latin typeface="Arial" pitchFamily="34" charset="0"/>
                <a:ea typeface="微软雅黑" pitchFamily="34" charset="-122"/>
                <a:cs typeface="Arial" pitchFamily="34" charset="0"/>
              </a:rPr>
              <a:t>矩阵的</a:t>
            </a:r>
            <a:r>
              <a:rPr kumimoji="0" lang="zh-CN" altLang="en-US" sz="2400" kern="0" dirty="0">
                <a:solidFill>
                  <a:srgbClr val="FF0000"/>
                </a:solidFill>
                <a:latin typeface="Arial" pitchFamily="34" charset="0"/>
                <a:ea typeface="微软雅黑" pitchFamily="34" charset="-122"/>
                <a:cs typeface="Arial" pitchFamily="34" charset="0"/>
              </a:rPr>
              <a:t>性质</a:t>
            </a:r>
            <a:r>
              <a:rPr kumimoji="0" lang="zh-CN" altLang="en-US" sz="2400" b="0" kern="0" dirty="0">
                <a:solidFill>
                  <a:srgbClr val="000000"/>
                </a:solidFill>
                <a:latin typeface="Arial" pitchFamily="34" charset="0"/>
                <a:ea typeface="微软雅黑" pitchFamily="34" charset="-122"/>
                <a:cs typeface="Arial" pitchFamily="34" charset="0"/>
              </a:rPr>
              <a:t> </a:t>
            </a:r>
            <a:endParaRPr lang="zh-CN" altLang="en-US" sz="2400" dirty="0"/>
          </a:p>
        </p:txBody>
      </p:sp>
      <p:sp>
        <p:nvSpPr>
          <p:cNvPr id="23" name="矩形 22">
            <a:extLst>
              <a:ext uri="{FF2B5EF4-FFF2-40B4-BE49-F238E27FC236}">
                <a16:creationId xmlns:a16="http://schemas.microsoft.com/office/drawing/2014/main" id="{83BBB6DD-3BCB-D677-4ADA-CC878DBB309B}"/>
              </a:ext>
            </a:extLst>
          </p:cNvPr>
          <p:cNvSpPr/>
          <p:nvPr/>
        </p:nvSpPr>
        <p:spPr>
          <a:xfrm>
            <a:off x="642938" y="1538288"/>
            <a:ext cx="4429125" cy="461962"/>
          </a:xfrm>
          <a:prstGeom prst="rect">
            <a:avLst/>
          </a:prstGeom>
        </p:spPr>
        <p:txBody>
          <a:bodyPr>
            <a:spAutoFit/>
          </a:bodyPr>
          <a:lstStyle/>
          <a:p>
            <a:pPr>
              <a:defRPr/>
            </a:pPr>
            <a:r>
              <a:rPr kumimoji="0" lang="zh-CN" altLang="en-US" sz="2000" kern="0" dirty="0">
                <a:solidFill>
                  <a:srgbClr val="0066FF"/>
                </a:solidFill>
                <a:latin typeface="Arial" pitchFamily="34" charset="0"/>
                <a:ea typeface="微软雅黑" pitchFamily="34" charset="-122"/>
                <a:cs typeface="Arial" pitchFamily="34" charset="0"/>
              </a:rPr>
              <a:t> </a:t>
            </a:r>
            <a:r>
              <a:rPr kumimoji="0" lang="en-US" altLang="zh-CN" sz="2400" dirty="0">
                <a:solidFill>
                  <a:srgbClr val="0066FF"/>
                </a:solidFill>
                <a:latin typeface="微软雅黑" pitchFamily="34" charset="-122"/>
                <a:ea typeface="微软雅黑" pitchFamily="34" charset="-122"/>
                <a:cs typeface="Arial" pitchFamily="34" charset="0"/>
                <a:sym typeface="Symbol" pitchFamily="18" charset="2"/>
              </a:rPr>
              <a:t>① </a:t>
            </a:r>
            <a:r>
              <a:rPr kumimoji="0" lang="en-US" altLang="zh-CN" sz="2400" i="1" kern="0" dirty="0">
                <a:solidFill>
                  <a:srgbClr val="000000"/>
                </a:solidFill>
                <a:latin typeface="Arial" pitchFamily="34" charset="0"/>
                <a:ea typeface="微软雅黑" pitchFamily="34" charset="-122"/>
                <a:cs typeface="Arial" pitchFamily="34" charset="0"/>
              </a:rPr>
              <a:t>H</a:t>
            </a:r>
            <a:r>
              <a:rPr kumimoji="0" lang="en-US" altLang="zh-CN" sz="2000" i="1" kern="0" dirty="0">
                <a:solidFill>
                  <a:srgbClr val="000000"/>
                </a:solidFill>
                <a:latin typeface="Arial" pitchFamily="34" charset="0"/>
                <a:ea typeface="微软雅黑" pitchFamily="34" charset="-122"/>
                <a:cs typeface="Arial" pitchFamily="34" charset="0"/>
              </a:rPr>
              <a:t> </a:t>
            </a:r>
            <a:r>
              <a:rPr kumimoji="0" lang="zh-CN" altLang="en-US" sz="2000" b="0" kern="0" dirty="0">
                <a:solidFill>
                  <a:srgbClr val="000000"/>
                </a:solidFill>
                <a:latin typeface="Arial" pitchFamily="34" charset="0"/>
                <a:ea typeface="微软雅黑" pitchFamily="34" charset="-122"/>
                <a:cs typeface="Arial" pitchFamily="34" charset="0"/>
              </a:rPr>
              <a:t>的</a:t>
            </a:r>
            <a:r>
              <a:rPr kumimoji="0" lang="zh-CN" altLang="en-US" sz="2000" b="0" kern="0" dirty="0">
                <a:solidFill>
                  <a:srgbClr val="FF0000"/>
                </a:solidFill>
                <a:latin typeface="Arial" pitchFamily="34" charset="0"/>
                <a:ea typeface="微软雅黑" pitchFamily="34" charset="-122"/>
                <a:cs typeface="Arial" pitchFamily="34" charset="0"/>
              </a:rPr>
              <a:t>行数 </a:t>
            </a:r>
            <a:r>
              <a:rPr kumimoji="0" lang="zh-CN" altLang="en-US" sz="2000" b="0" kern="0" dirty="0">
                <a:solidFill>
                  <a:srgbClr val="000000"/>
                </a:solidFill>
                <a:latin typeface="Arial" pitchFamily="34" charset="0"/>
                <a:ea typeface="微软雅黑" pitchFamily="34" charset="-122"/>
                <a:cs typeface="Arial" pitchFamily="34" charset="0"/>
              </a:rPr>
              <a:t>等于监督位的数目</a:t>
            </a:r>
            <a:r>
              <a:rPr kumimoji="0" lang="en-US" altLang="zh-CN" sz="2400" i="1" kern="0" dirty="0">
                <a:solidFill>
                  <a:srgbClr val="FF0000"/>
                </a:solidFill>
                <a:latin typeface="Arial" pitchFamily="34" charset="0"/>
                <a:ea typeface="微软雅黑" pitchFamily="34" charset="-122"/>
                <a:cs typeface="Arial" pitchFamily="34" charset="0"/>
              </a:rPr>
              <a:t>r</a:t>
            </a:r>
            <a:r>
              <a:rPr kumimoji="0" lang="en-US" altLang="zh-CN" sz="2000" i="1" kern="0" dirty="0">
                <a:solidFill>
                  <a:srgbClr val="000000"/>
                </a:solidFill>
                <a:latin typeface="Arial" pitchFamily="34" charset="0"/>
                <a:ea typeface="微软雅黑" pitchFamily="34" charset="-122"/>
                <a:cs typeface="Arial" pitchFamily="34" charset="0"/>
              </a:rPr>
              <a:t> </a:t>
            </a:r>
            <a:r>
              <a:rPr kumimoji="0" lang="zh-CN" altLang="en-US" sz="2000" b="0" kern="0" dirty="0">
                <a:solidFill>
                  <a:srgbClr val="000000"/>
                </a:solidFill>
                <a:latin typeface="Arial" pitchFamily="34" charset="0"/>
                <a:ea typeface="微软雅黑" pitchFamily="34" charset="-122"/>
                <a:cs typeface="Arial" pitchFamily="34" charset="0"/>
              </a:rPr>
              <a:t>。</a:t>
            </a:r>
            <a:endParaRPr lang="zh-CN" altLang="en-US" dirty="0"/>
          </a:p>
        </p:txBody>
      </p:sp>
      <p:sp>
        <p:nvSpPr>
          <p:cNvPr id="24" name="矩形 23">
            <a:extLst>
              <a:ext uri="{FF2B5EF4-FFF2-40B4-BE49-F238E27FC236}">
                <a16:creationId xmlns:a16="http://schemas.microsoft.com/office/drawing/2014/main" id="{94B9240B-5800-7116-3BB0-51B7E0BF17E2}"/>
              </a:ext>
            </a:extLst>
          </p:cNvPr>
          <p:cNvSpPr/>
          <p:nvPr/>
        </p:nvSpPr>
        <p:spPr>
          <a:xfrm>
            <a:off x="1071563" y="2101850"/>
            <a:ext cx="6715125" cy="461963"/>
          </a:xfrm>
          <a:prstGeom prst="rect">
            <a:avLst/>
          </a:prstGeom>
        </p:spPr>
        <p:txBody>
          <a:bodyPr>
            <a:spAutoFit/>
          </a:bodyPr>
          <a:lstStyle/>
          <a:p>
            <a:pPr>
              <a:defRPr/>
            </a:pPr>
            <a:r>
              <a:rPr kumimoji="0" lang="en-US" altLang="zh-CN" sz="2400" i="1" kern="0" dirty="0">
                <a:solidFill>
                  <a:srgbClr val="000000"/>
                </a:solidFill>
                <a:latin typeface="Arial" pitchFamily="34" charset="0"/>
                <a:ea typeface="微软雅黑" pitchFamily="34" charset="-122"/>
                <a:cs typeface="Arial" pitchFamily="34" charset="0"/>
              </a:rPr>
              <a:t>H </a:t>
            </a:r>
            <a:r>
              <a:rPr kumimoji="0" lang="zh-CN" altLang="en-US" sz="2000" b="0" kern="0" dirty="0">
                <a:solidFill>
                  <a:srgbClr val="000000"/>
                </a:solidFill>
                <a:latin typeface="Arial" pitchFamily="34" charset="0"/>
                <a:ea typeface="微软雅黑" pitchFamily="34" charset="-122"/>
                <a:cs typeface="Arial" pitchFamily="34" charset="0"/>
              </a:rPr>
              <a:t>的每行中“</a:t>
            </a:r>
            <a:r>
              <a:rPr kumimoji="0" lang="en-US" altLang="zh-CN" sz="2000" kern="0" dirty="0">
                <a:solidFill>
                  <a:srgbClr val="000000"/>
                </a:solidFill>
                <a:latin typeface="Arial" pitchFamily="34" charset="0"/>
                <a:ea typeface="微软雅黑" pitchFamily="34" charset="-122"/>
                <a:cs typeface="Arial" pitchFamily="34" charset="0"/>
              </a:rPr>
              <a:t>1</a:t>
            </a:r>
            <a:r>
              <a:rPr kumimoji="0" lang="en-US" altLang="zh-CN" sz="2000" b="0" kern="0" dirty="0">
                <a:solidFill>
                  <a:srgbClr val="000000"/>
                </a:solidFill>
                <a:latin typeface="Arial" pitchFamily="34" charset="0"/>
                <a:ea typeface="微软雅黑" pitchFamily="34" charset="-122"/>
                <a:cs typeface="Arial" pitchFamily="34" charset="0"/>
              </a:rPr>
              <a:t>”</a:t>
            </a:r>
            <a:r>
              <a:rPr kumimoji="0" lang="zh-CN" altLang="en-US" sz="2000" b="0" kern="0" dirty="0">
                <a:solidFill>
                  <a:srgbClr val="000000"/>
                </a:solidFill>
                <a:latin typeface="Arial" pitchFamily="34" charset="0"/>
                <a:ea typeface="微软雅黑" pitchFamily="34" charset="-122"/>
                <a:cs typeface="Arial" pitchFamily="34" charset="0"/>
              </a:rPr>
              <a:t>的位置表示相应码元之间存在的监督关系。</a:t>
            </a:r>
            <a:endParaRPr lang="zh-CN" altLang="en-US" dirty="0"/>
          </a:p>
        </p:txBody>
      </p:sp>
      <p:grpSp>
        <p:nvGrpSpPr>
          <p:cNvPr id="2" name="组合 20">
            <a:extLst>
              <a:ext uri="{FF2B5EF4-FFF2-40B4-BE49-F238E27FC236}">
                <a16:creationId xmlns:a16="http://schemas.microsoft.com/office/drawing/2014/main" id="{F9E0027D-3CC3-9815-F835-137630AFBA17}"/>
              </a:ext>
            </a:extLst>
          </p:cNvPr>
          <p:cNvGrpSpPr>
            <a:grpSpLocks/>
          </p:cNvGrpSpPr>
          <p:nvPr/>
        </p:nvGrpSpPr>
        <p:grpSpPr bwMode="auto">
          <a:xfrm>
            <a:off x="642938" y="3346450"/>
            <a:ext cx="1214437" cy="928688"/>
            <a:chOff x="6000772" y="428604"/>
            <a:chExt cx="1214469" cy="928696"/>
          </a:xfrm>
        </p:grpSpPr>
        <p:sp>
          <p:nvSpPr>
            <p:cNvPr id="30" name="圆角矩形 29">
              <a:extLst>
                <a:ext uri="{FF2B5EF4-FFF2-40B4-BE49-F238E27FC236}">
                  <a16:creationId xmlns:a16="http://schemas.microsoft.com/office/drawing/2014/main" id="{FF605DFC-D0E7-75F5-AC20-B70A8187CDD2}"/>
                </a:ext>
              </a:extLst>
            </p:cNvPr>
            <p:cNvSpPr/>
            <p:nvPr/>
          </p:nvSpPr>
          <p:spPr bwMode="auto">
            <a:xfrm>
              <a:off x="6000772" y="428604"/>
              <a:ext cx="1214469" cy="857257"/>
            </a:xfrm>
            <a:prstGeom prst="roundRect">
              <a:avLst>
                <a:gd name="adj" fmla="val 0"/>
              </a:avLst>
            </a:prstGeom>
            <a:solidFill>
              <a:schemeClr val="bg2">
                <a:lumMod val="10000"/>
                <a:lumOff val="90000"/>
              </a:schemeClr>
            </a:solidFill>
            <a:ln w="9525" cap="flat" cmpd="sng" algn="ctr">
              <a:solidFill>
                <a:schemeClr val="bg1">
                  <a:lumMod val="50000"/>
                </a:schemeClr>
              </a:solidFill>
              <a:prstDash val="solid"/>
              <a:miter lim="800000"/>
              <a:headEnd type="none" w="med" len="med"/>
              <a:tailEnd type="none" w="med" len="med"/>
            </a:ln>
            <a:effectLst>
              <a:outerShdw blurRad="50800" dist="38100" dir="2700000" algn="tl" rotWithShape="0">
                <a:prstClr val="black">
                  <a:alpha val="40000"/>
                </a:prstClr>
              </a:outerShdw>
            </a:effectLst>
          </p:spPr>
          <p:txBody>
            <a:bodyPr wrap="none"/>
            <a:lstStyle/>
            <a:p>
              <a:pPr>
                <a:defRPr/>
              </a:pPr>
              <a:endParaRPr lang="zh-CN" altLang="en-US" sz="2000" dirty="0"/>
            </a:p>
          </p:txBody>
        </p:sp>
        <p:sp>
          <p:nvSpPr>
            <p:cNvPr id="17432" name="矩形 15">
              <a:extLst>
                <a:ext uri="{FF2B5EF4-FFF2-40B4-BE49-F238E27FC236}">
                  <a16:creationId xmlns:a16="http://schemas.microsoft.com/office/drawing/2014/main" id="{BA858E58-2F8B-9190-D785-69D044E520DF}"/>
                </a:ext>
              </a:extLst>
            </p:cNvPr>
            <p:cNvSpPr>
              <a:spLocks noChangeArrowheads="1"/>
            </p:cNvSpPr>
            <p:nvPr/>
          </p:nvSpPr>
          <p:spPr bwMode="auto">
            <a:xfrm>
              <a:off x="6000789" y="500042"/>
              <a:ext cx="1214452" cy="4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en-US" altLang="zh-CN" sz="2000">
                  <a:solidFill>
                    <a:schemeClr val="tx1"/>
                  </a:solidFill>
                  <a:latin typeface="Arial" panose="020B0604020202020204" pitchFamily="34" charset="0"/>
                  <a:ea typeface="微软雅黑" panose="020B0503020204020204" pitchFamily="34" charset="-122"/>
                  <a:cs typeface="Arial" panose="020B0604020202020204" pitchFamily="34" charset="0"/>
                </a:rPr>
                <a:t>(7</a:t>
              </a:r>
              <a:r>
                <a:rPr lang="zh-CN" altLang="en-US" sz="2000">
                  <a:solidFill>
                    <a:schemeClr val="tx1"/>
                  </a:solidFill>
                  <a:latin typeface="Arial" panose="020B0604020202020204" pitchFamily="34" charset="0"/>
                  <a:ea typeface="微软雅黑" panose="020B0503020204020204" pitchFamily="34" charset="-122"/>
                  <a:cs typeface="Arial" panose="020B0604020202020204" pitchFamily="34" charset="0"/>
                </a:rPr>
                <a:t>，</a:t>
              </a:r>
              <a:r>
                <a:rPr lang="en-US" altLang="zh-CN" sz="2000">
                  <a:solidFill>
                    <a:schemeClr val="tx1"/>
                  </a:solidFill>
                  <a:latin typeface="Arial" panose="020B0604020202020204" pitchFamily="34" charset="0"/>
                  <a:ea typeface="微软雅黑" panose="020B0503020204020204" pitchFamily="34" charset="-122"/>
                  <a:cs typeface="Arial" panose="020B0604020202020204" pitchFamily="34" charset="0"/>
                </a:rPr>
                <a:t>4)</a:t>
              </a:r>
              <a:r>
                <a:rPr lang="zh-CN" altLang="en-US" sz="2000">
                  <a:solidFill>
                    <a:schemeClr val="tx1"/>
                  </a:solidFill>
                  <a:latin typeface="Arial" panose="020B0604020202020204" pitchFamily="34" charset="0"/>
                  <a:ea typeface="微软雅黑" panose="020B0503020204020204" pitchFamily="34" charset="-122"/>
                  <a:cs typeface="Arial" panose="020B0604020202020204" pitchFamily="34" charset="0"/>
                </a:rPr>
                <a:t>码</a:t>
              </a:r>
            </a:p>
          </p:txBody>
        </p:sp>
        <p:sp>
          <p:nvSpPr>
            <p:cNvPr id="35" name="Rectangle 3">
              <a:extLst>
                <a:ext uri="{FF2B5EF4-FFF2-40B4-BE49-F238E27FC236}">
                  <a16:creationId xmlns:a16="http://schemas.microsoft.com/office/drawing/2014/main" id="{790694BE-1509-91AE-B825-398D6BD59E2C}"/>
                </a:ext>
              </a:extLst>
            </p:cNvPr>
            <p:cNvSpPr txBox="1">
              <a:spLocks noChangeArrowheads="1"/>
            </p:cNvSpPr>
            <p:nvPr/>
          </p:nvSpPr>
          <p:spPr bwMode="auto">
            <a:xfrm>
              <a:off x="6143651" y="857233"/>
              <a:ext cx="857273" cy="500067"/>
            </a:xfrm>
            <a:prstGeom prst="rect">
              <a:avLst/>
            </a:prstGeom>
            <a:noFill/>
            <a:ln w="9525">
              <a:noFill/>
              <a:miter lim="800000"/>
              <a:headEnd/>
              <a:tailEnd/>
            </a:ln>
          </p:spPr>
          <p:txBody>
            <a:bodyPr/>
            <a:lstStyle/>
            <a:p>
              <a:pPr marL="228600" indent="-228600" eaLnBrk="0" hangingPunct="0">
                <a:spcBef>
                  <a:spcPct val="20000"/>
                </a:spcBef>
                <a:buClr>
                  <a:schemeClr val="accent2"/>
                </a:buClr>
                <a:buSzPct val="55000"/>
                <a:buFont typeface="Wingdings" pitchFamily="2" charset="2"/>
                <a:buNone/>
                <a:defRPr/>
              </a:pPr>
              <a:r>
                <a:rPr kumimoji="0" lang="en-US" altLang="zh-CN" sz="2400" i="1" kern="0" dirty="0">
                  <a:solidFill>
                    <a:srgbClr val="FF0000"/>
                  </a:solidFill>
                  <a:latin typeface="Arial" pitchFamily="34" charset="0"/>
                  <a:ea typeface="+mn-ea"/>
                  <a:cs typeface="Arial" pitchFamily="34" charset="0"/>
                </a:rPr>
                <a:t>r </a:t>
              </a:r>
              <a:r>
                <a:rPr kumimoji="0" lang="en-US" altLang="zh-CN" sz="2000" b="0" kern="0" dirty="0">
                  <a:solidFill>
                    <a:srgbClr val="FF0000"/>
                  </a:solidFill>
                  <a:latin typeface="Arial" pitchFamily="34" charset="0"/>
                  <a:ea typeface="+mn-ea"/>
                  <a:cs typeface="Arial" pitchFamily="34" charset="0"/>
                </a:rPr>
                <a:t>= 3</a:t>
              </a:r>
            </a:p>
          </p:txBody>
        </p:sp>
      </p:grpSp>
      <p:sp>
        <p:nvSpPr>
          <p:cNvPr id="18" name="矩形 17">
            <a:extLst>
              <a:ext uri="{FF2B5EF4-FFF2-40B4-BE49-F238E27FC236}">
                <a16:creationId xmlns:a16="http://schemas.microsoft.com/office/drawing/2014/main" id="{F6A9B1B0-5E76-CD21-6E2F-F74AB9D53B67}"/>
              </a:ext>
            </a:extLst>
          </p:cNvPr>
          <p:cNvSpPr/>
          <p:nvPr/>
        </p:nvSpPr>
        <p:spPr>
          <a:xfrm>
            <a:off x="571500" y="5432425"/>
            <a:ext cx="8429625" cy="461963"/>
          </a:xfrm>
          <a:prstGeom prst="rect">
            <a:avLst/>
          </a:prstGeom>
        </p:spPr>
        <p:txBody>
          <a:bodyPr>
            <a:spAutoFit/>
          </a:bodyPr>
          <a:lstStyle/>
          <a:p>
            <a:pPr>
              <a:defRPr/>
            </a:pPr>
            <a:r>
              <a:rPr kumimoji="0" lang="en-US" altLang="zh-CN" sz="2000" b="0" dirty="0">
                <a:solidFill>
                  <a:srgbClr val="0066FF"/>
                </a:solidFill>
                <a:latin typeface="微软雅黑" pitchFamily="34" charset="-122"/>
                <a:ea typeface="微软雅黑" pitchFamily="34" charset="-122"/>
                <a:cs typeface="Arial" pitchFamily="34" charset="0"/>
                <a:sym typeface="Symbol" pitchFamily="18" charset="2"/>
              </a:rPr>
              <a:t> </a:t>
            </a:r>
            <a:r>
              <a:rPr kumimoji="0" lang="en-US" altLang="zh-CN" sz="2400" dirty="0">
                <a:solidFill>
                  <a:srgbClr val="0066FF"/>
                </a:solidFill>
                <a:latin typeface="微软雅黑" pitchFamily="34" charset="-122"/>
                <a:ea typeface="微软雅黑" pitchFamily="34" charset="-122"/>
                <a:cs typeface="Arial" pitchFamily="34" charset="0"/>
                <a:sym typeface="Symbol" pitchFamily="18" charset="2"/>
              </a:rPr>
              <a:t>②</a:t>
            </a:r>
            <a:r>
              <a:rPr kumimoji="0" lang="en-US" altLang="zh-CN" sz="2000" b="0" kern="0" dirty="0">
                <a:solidFill>
                  <a:srgbClr val="0066FF"/>
                </a:solidFill>
                <a:latin typeface="Arial" pitchFamily="34" charset="0"/>
                <a:ea typeface="微软雅黑" pitchFamily="34" charset="-122"/>
                <a:cs typeface="Arial" pitchFamily="34" charset="0"/>
              </a:rPr>
              <a:t>  </a:t>
            </a:r>
            <a:r>
              <a:rPr kumimoji="0" lang="en-US" altLang="zh-CN" sz="2400" i="1" kern="0" dirty="0">
                <a:solidFill>
                  <a:srgbClr val="000000"/>
                </a:solidFill>
                <a:latin typeface="Arial" pitchFamily="34" charset="0"/>
                <a:ea typeface="微软雅黑" pitchFamily="34" charset="-122"/>
                <a:cs typeface="Arial" pitchFamily="34" charset="0"/>
              </a:rPr>
              <a:t>H</a:t>
            </a:r>
            <a:r>
              <a:rPr kumimoji="0" lang="zh-CN" altLang="en-US" sz="2000" b="0" kern="0" dirty="0">
                <a:solidFill>
                  <a:srgbClr val="000000"/>
                </a:solidFill>
                <a:latin typeface="Arial" pitchFamily="34" charset="0"/>
                <a:ea typeface="微软雅黑" pitchFamily="34" charset="-122"/>
                <a:cs typeface="Arial" pitchFamily="34" charset="0"/>
              </a:rPr>
              <a:t>的各行应该是</a:t>
            </a:r>
            <a:r>
              <a:rPr kumimoji="0" lang="zh-CN" altLang="en-US" sz="2000" kern="0" dirty="0">
                <a:solidFill>
                  <a:srgbClr val="FF0000"/>
                </a:solidFill>
                <a:latin typeface="Arial" pitchFamily="34" charset="0"/>
                <a:ea typeface="微软雅黑" pitchFamily="34" charset="-122"/>
                <a:cs typeface="Arial" pitchFamily="34" charset="0"/>
              </a:rPr>
              <a:t>线性无关</a:t>
            </a:r>
            <a:r>
              <a:rPr kumimoji="0" lang="zh-CN" altLang="en-US" sz="2000" b="0" kern="0" dirty="0">
                <a:solidFill>
                  <a:srgbClr val="000000"/>
                </a:solidFill>
                <a:latin typeface="Arial" pitchFamily="34" charset="0"/>
                <a:ea typeface="微软雅黑" pitchFamily="34" charset="-122"/>
                <a:cs typeface="Arial" pitchFamily="34" charset="0"/>
              </a:rPr>
              <a:t>的，否则得不到</a:t>
            </a:r>
            <a:r>
              <a:rPr kumimoji="0" lang="en-US" altLang="zh-CN" sz="2400" i="1" kern="0" dirty="0">
                <a:solidFill>
                  <a:srgbClr val="FF0000"/>
                </a:solidFill>
                <a:latin typeface="Arial" pitchFamily="34" charset="0"/>
                <a:ea typeface="微软雅黑" pitchFamily="34" charset="-122"/>
                <a:cs typeface="Arial" pitchFamily="34" charset="0"/>
              </a:rPr>
              <a:t>r</a:t>
            </a:r>
            <a:r>
              <a:rPr kumimoji="0" lang="zh-CN" altLang="en-US" sz="2000" b="0" kern="0" dirty="0">
                <a:solidFill>
                  <a:srgbClr val="000000"/>
                </a:solidFill>
                <a:latin typeface="Arial" pitchFamily="34" charset="0"/>
                <a:ea typeface="微软雅黑" pitchFamily="34" charset="-122"/>
                <a:cs typeface="Arial" pitchFamily="34" charset="0"/>
              </a:rPr>
              <a:t>个线性无关的监督关系式。</a:t>
            </a:r>
            <a:endParaRPr lang="zh-CN" altLang="en-US" dirty="0"/>
          </a:p>
        </p:txBody>
      </p:sp>
      <p:sp>
        <p:nvSpPr>
          <p:cNvPr id="19" name="矩形 18">
            <a:extLst>
              <a:ext uri="{FF2B5EF4-FFF2-40B4-BE49-F238E27FC236}">
                <a16:creationId xmlns:a16="http://schemas.microsoft.com/office/drawing/2014/main" id="{DE50F1EC-1236-D07A-A6CB-4A544D3FC19E}"/>
              </a:ext>
            </a:extLst>
          </p:cNvPr>
          <p:cNvSpPr>
            <a:spLocks noChangeArrowheads="1"/>
          </p:cNvSpPr>
          <p:nvPr/>
        </p:nvSpPr>
        <p:spPr bwMode="auto">
          <a:xfrm>
            <a:off x="1071563" y="5878513"/>
            <a:ext cx="7643812"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lnSpc>
                <a:spcPct val="150000"/>
              </a:lnSpc>
              <a:spcBef>
                <a:spcPct val="20000"/>
              </a:spcBef>
              <a:buClr>
                <a:srgbClr val="00E4A8"/>
              </a:buClr>
              <a:buSzPct val="50000"/>
            </a:pPr>
            <a:r>
              <a:rPr kumimoji="0" lang="zh-CN" altLang="en-US" sz="2000" b="0">
                <a:solidFill>
                  <a:srgbClr val="000000"/>
                </a:solidFill>
                <a:latin typeface="Arial" panose="020B0604020202020204" pitchFamily="34" charset="0"/>
                <a:ea typeface="微软雅黑" panose="020B0503020204020204" pitchFamily="34" charset="-122"/>
                <a:cs typeface="Arial" panose="020B0604020202020204" pitchFamily="34" charset="0"/>
              </a:rPr>
              <a:t>若一矩阵能写成</a:t>
            </a:r>
            <a:r>
              <a:rPr kumimoji="0" lang="zh-CN" altLang="en-US" sz="2000">
                <a:solidFill>
                  <a:schemeClr val="tx1"/>
                </a:solidFill>
                <a:latin typeface="Arial" panose="020B0604020202020204" pitchFamily="34" charset="0"/>
                <a:ea typeface="微软雅黑" panose="020B0503020204020204" pitchFamily="34" charset="-122"/>
                <a:cs typeface="Arial" panose="020B0604020202020204" pitchFamily="34" charset="0"/>
              </a:rPr>
              <a:t>典型阵</a:t>
            </a:r>
            <a:r>
              <a:rPr kumimoji="0" lang="zh-CN" altLang="en-US" sz="2000" b="0">
                <a:solidFill>
                  <a:srgbClr val="000000"/>
                </a:solidFill>
                <a:latin typeface="Arial" panose="020B0604020202020204" pitchFamily="34" charset="0"/>
                <a:ea typeface="微软雅黑" panose="020B0503020204020204" pitchFamily="34" charset="-122"/>
                <a:cs typeface="Arial" panose="020B0604020202020204" pitchFamily="34" charset="0"/>
              </a:rPr>
              <a:t>形式</a:t>
            </a:r>
            <a:r>
              <a:rPr lang="en-US" altLang="zh-CN" sz="2000" b="0">
                <a:solidFill>
                  <a:schemeClr val="tx1"/>
                </a:solidFill>
                <a:latin typeface="Arial" panose="020B0604020202020204" pitchFamily="34" charset="0"/>
                <a:ea typeface="微软雅黑" panose="020B0503020204020204" pitchFamily="34" charset="-122"/>
                <a:cs typeface="Arial" panose="020B0604020202020204" pitchFamily="34" charset="0"/>
              </a:rPr>
              <a:t>[ </a:t>
            </a:r>
            <a:r>
              <a:rPr lang="en-US" altLang="zh-CN" sz="2000" i="1">
                <a:solidFill>
                  <a:schemeClr val="tx1"/>
                </a:solidFill>
                <a:latin typeface="Arial" panose="020B0604020202020204" pitchFamily="34" charset="0"/>
                <a:ea typeface="微软雅黑" panose="020B0503020204020204" pitchFamily="34" charset="-122"/>
                <a:cs typeface="Arial" panose="020B0604020202020204" pitchFamily="34" charset="0"/>
              </a:rPr>
              <a:t>P  I</a:t>
            </a:r>
            <a:r>
              <a:rPr lang="en-US" altLang="zh-CN" sz="2000" baseline="-25000">
                <a:solidFill>
                  <a:schemeClr val="tx1"/>
                </a:solidFill>
                <a:latin typeface="Arial" panose="020B0604020202020204" pitchFamily="34" charset="0"/>
                <a:ea typeface="微软雅黑" panose="020B0503020204020204" pitchFamily="34" charset="-122"/>
                <a:cs typeface="Arial" panose="020B0604020202020204" pitchFamily="34" charset="0"/>
              </a:rPr>
              <a:t>r </a:t>
            </a:r>
            <a:r>
              <a:rPr lang="en-US" altLang="zh-CN" sz="2000" b="0">
                <a:solidFill>
                  <a:schemeClr val="tx1"/>
                </a:solidFill>
                <a:latin typeface="Arial" panose="020B0604020202020204" pitchFamily="34" charset="0"/>
                <a:ea typeface="微软雅黑" panose="020B0503020204020204" pitchFamily="34" charset="-122"/>
                <a:cs typeface="Arial" panose="020B0604020202020204" pitchFamily="34" charset="0"/>
              </a:rPr>
              <a:t>]</a:t>
            </a:r>
            <a:r>
              <a:rPr lang="zh-CN" altLang="en-US" sz="2000" b="0">
                <a:solidFill>
                  <a:schemeClr val="tx1"/>
                </a:solidFill>
                <a:latin typeface="Arial" panose="020B0604020202020204" pitchFamily="34" charset="0"/>
                <a:ea typeface="微软雅黑" panose="020B0503020204020204" pitchFamily="34" charset="-122"/>
                <a:cs typeface="Arial" panose="020B0604020202020204" pitchFamily="34" charset="0"/>
              </a:rPr>
              <a:t>，</a:t>
            </a:r>
            <a:r>
              <a:rPr kumimoji="0" lang="zh-CN" altLang="en-US" sz="2000" b="0">
                <a:solidFill>
                  <a:srgbClr val="000000"/>
                </a:solidFill>
                <a:latin typeface="Arial" panose="020B0604020202020204" pitchFamily="34" charset="0"/>
                <a:ea typeface="微软雅黑" panose="020B0503020204020204" pitchFamily="34" charset="-122"/>
                <a:cs typeface="Arial" panose="020B0604020202020204" pitchFamily="34" charset="0"/>
              </a:rPr>
              <a:t>则其各行一定是线性无关的。</a:t>
            </a:r>
          </a:p>
        </p:txBody>
      </p:sp>
      <p:pic>
        <p:nvPicPr>
          <p:cNvPr id="20507" name="Picture 27">
            <a:extLst>
              <a:ext uri="{FF2B5EF4-FFF2-40B4-BE49-F238E27FC236}">
                <a16:creationId xmlns:a16="http://schemas.microsoft.com/office/drawing/2014/main" id="{648EA7F4-23A5-5361-2236-AF80A10EB46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00813" y="428625"/>
            <a:ext cx="2214562" cy="140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1000"/>
                                        <p:tgtEl>
                                          <p:spTgt spid="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up)">
                                      <p:cBhvr>
                                        <p:cTn id="12" dur="1000"/>
                                        <p:tgtEl>
                                          <p:spTgt spid="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6" presetClass="entr" presetSubtype="3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circle(out)">
                                      <p:cBhvr>
                                        <p:cTn id="17" dur="1000"/>
                                        <p:tgtEl>
                                          <p:spTgt spid="2"/>
                                        </p:tgtEl>
                                      </p:cBhvr>
                                    </p:animEffect>
                                  </p:childTnLst>
                                </p:cTn>
                              </p:par>
                            </p:childTnLst>
                          </p:cTn>
                        </p:par>
                        <p:par>
                          <p:cTn id="18" fill="hold" nodeType="afterGroup">
                            <p:stCondLst>
                              <p:cond delay="1000"/>
                            </p:stCondLst>
                            <p:childTnLst>
                              <p:par>
                                <p:cTn id="19" presetID="22" presetClass="entr" presetSubtype="1" fill="hold" nodeType="afterEffect">
                                  <p:stCondLst>
                                    <p:cond delay="0"/>
                                  </p:stCondLst>
                                  <p:childTnLst>
                                    <p:set>
                                      <p:cBhvr>
                                        <p:cTn id="20" dur="1" fill="hold">
                                          <p:stCondLst>
                                            <p:cond delay="0"/>
                                          </p:stCondLst>
                                        </p:cTn>
                                        <p:tgtEl>
                                          <p:spTgt spid="68613"/>
                                        </p:tgtEl>
                                        <p:attrNameLst>
                                          <p:attrName>style.visibility</p:attrName>
                                        </p:attrNameLst>
                                      </p:cBhvr>
                                      <p:to>
                                        <p:strVal val="visible"/>
                                      </p:to>
                                    </p:set>
                                    <p:animEffect transition="in" filter="wipe(up)">
                                      <p:cBhvr>
                                        <p:cTn id="21" dur="1000"/>
                                        <p:tgtEl>
                                          <p:spTgt spid="68613"/>
                                        </p:tgtEl>
                                      </p:cBhvr>
                                    </p:animEffect>
                                  </p:childTnLst>
                                </p:cTn>
                              </p:par>
                            </p:childTnLst>
                          </p:cTn>
                        </p:par>
                        <p:par>
                          <p:cTn id="22" fill="hold" nodeType="afterGroup">
                            <p:stCondLst>
                              <p:cond delay="2000"/>
                            </p:stCondLst>
                            <p:childTnLst>
                              <p:par>
                                <p:cTn id="23" presetID="22" presetClass="entr" presetSubtype="1" fill="hold" nodeType="afterEffect">
                                  <p:stCondLst>
                                    <p:cond delay="0"/>
                                  </p:stCondLst>
                                  <p:childTnLst>
                                    <p:set>
                                      <p:cBhvr>
                                        <p:cTn id="24" dur="1" fill="hold">
                                          <p:stCondLst>
                                            <p:cond delay="0"/>
                                          </p:stCondLst>
                                        </p:cTn>
                                        <p:tgtEl>
                                          <p:spTgt spid="68610"/>
                                        </p:tgtEl>
                                        <p:attrNameLst>
                                          <p:attrName>style.visibility</p:attrName>
                                        </p:attrNameLst>
                                      </p:cBhvr>
                                      <p:to>
                                        <p:strVal val="visible"/>
                                      </p:to>
                                    </p:set>
                                    <p:animEffect transition="in" filter="wipe(up)">
                                      <p:cBhvr>
                                        <p:cTn id="25" dur="1000"/>
                                        <p:tgtEl>
                                          <p:spTgt spid="6861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wipe(up)">
                                      <p:cBhvr>
                                        <p:cTn id="30" dur="1000"/>
                                        <p:tgtEl>
                                          <p:spTgt spid="2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4" fill="hold" nodeType="clickEffect">
                                  <p:stCondLst>
                                    <p:cond delay="0"/>
                                  </p:stCondLst>
                                  <p:childTnLst>
                                    <p:set>
                                      <p:cBhvr>
                                        <p:cTn id="34" dur="1" fill="hold">
                                          <p:stCondLst>
                                            <p:cond delay="0"/>
                                          </p:stCondLst>
                                        </p:cTn>
                                        <p:tgtEl>
                                          <p:spTgt spid="20506"/>
                                        </p:tgtEl>
                                        <p:attrNameLst>
                                          <p:attrName>style.visibility</p:attrName>
                                        </p:attrNameLst>
                                      </p:cBhvr>
                                      <p:to>
                                        <p:strVal val="visible"/>
                                      </p:to>
                                    </p:set>
                                    <p:animEffect transition="in" filter="wipe(down)">
                                      <p:cBhvr>
                                        <p:cTn id="35" dur="1000"/>
                                        <p:tgtEl>
                                          <p:spTgt spid="2050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6" presetClass="entr" presetSubtype="32" fill="hold" nodeType="clickEffect">
                                  <p:stCondLst>
                                    <p:cond delay="0"/>
                                  </p:stCondLst>
                                  <p:childTnLst>
                                    <p:set>
                                      <p:cBhvr>
                                        <p:cTn id="39" dur="1" fill="hold">
                                          <p:stCondLst>
                                            <p:cond delay="0"/>
                                          </p:stCondLst>
                                        </p:cTn>
                                        <p:tgtEl>
                                          <p:spTgt spid="20507"/>
                                        </p:tgtEl>
                                        <p:attrNameLst>
                                          <p:attrName>style.visibility</p:attrName>
                                        </p:attrNameLst>
                                      </p:cBhvr>
                                      <p:to>
                                        <p:strVal val="visible"/>
                                      </p:to>
                                    </p:set>
                                    <p:animEffect transition="in" filter="circle(out)">
                                      <p:cBhvr>
                                        <p:cTn id="40" dur="1000"/>
                                        <p:tgtEl>
                                          <p:spTgt spid="2050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wipe(left)">
                                      <p:cBhvr>
                                        <p:cTn id="45" dur="2000"/>
                                        <p:tgtEl>
                                          <p:spTgt spid="2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nodeType="clickEffect">
                                  <p:stCondLst>
                                    <p:cond delay="0"/>
                                  </p:stCondLst>
                                  <p:childTnLst>
                                    <p:set>
                                      <p:cBhvr>
                                        <p:cTn id="49" dur="1" fill="hold">
                                          <p:stCondLst>
                                            <p:cond delay="0"/>
                                          </p:stCondLst>
                                        </p:cTn>
                                        <p:tgtEl>
                                          <p:spTgt spid="68621"/>
                                        </p:tgtEl>
                                        <p:attrNameLst>
                                          <p:attrName>style.visibility</p:attrName>
                                        </p:attrNameLst>
                                      </p:cBhvr>
                                      <p:to>
                                        <p:strVal val="visible"/>
                                      </p:to>
                                    </p:set>
                                    <p:animEffect transition="in" filter="wipe(up)">
                                      <p:cBhvr>
                                        <p:cTn id="50" dur="1000"/>
                                        <p:tgtEl>
                                          <p:spTgt spid="68621"/>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1" fill="hold" nodeType="clickEffect">
                                  <p:stCondLst>
                                    <p:cond delay="0"/>
                                  </p:stCondLst>
                                  <p:childTnLst>
                                    <p:set>
                                      <p:cBhvr>
                                        <p:cTn id="54" dur="1" fill="hold">
                                          <p:stCondLst>
                                            <p:cond delay="0"/>
                                          </p:stCondLst>
                                        </p:cTn>
                                        <p:tgtEl>
                                          <p:spTgt spid="68622"/>
                                        </p:tgtEl>
                                        <p:attrNameLst>
                                          <p:attrName>style.visibility</p:attrName>
                                        </p:attrNameLst>
                                      </p:cBhvr>
                                      <p:to>
                                        <p:strVal val="visible"/>
                                      </p:to>
                                    </p:set>
                                    <p:animEffect transition="in" filter="wipe(up)">
                                      <p:cBhvr>
                                        <p:cTn id="55" dur="1000"/>
                                        <p:tgtEl>
                                          <p:spTgt spid="68622"/>
                                        </p:tgtEl>
                                      </p:cBhvr>
                                    </p:animEffect>
                                  </p:childTnLst>
                                </p:cTn>
                              </p:par>
                            </p:childTnLst>
                          </p:cTn>
                        </p:par>
                        <p:par>
                          <p:cTn id="56" fill="hold" nodeType="afterGroup">
                            <p:stCondLst>
                              <p:cond delay="1000"/>
                            </p:stCondLst>
                            <p:childTnLst>
                              <p:par>
                                <p:cTn id="57" presetID="22" presetClass="entr" presetSubtype="8" fill="hold" nodeType="after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wipe(left)">
                                      <p:cBhvr>
                                        <p:cTn id="59" dur="1000"/>
                                        <p:tgtEl>
                                          <p:spTgt spid="32"/>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1"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wipe(up)">
                                      <p:cBhvr>
                                        <p:cTn id="64" dur="1000"/>
                                        <p:tgtEl>
                                          <p:spTgt spid="18"/>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1" fill="hold" nodeType="click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wipe(up)">
                                      <p:cBhvr>
                                        <p:cTn id="69"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2" grpId="0"/>
      <p:bldP spid="21" grpId="0" animBg="1"/>
      <p:bldP spid="23" grpId="0"/>
      <p:bldP spid="24" grpId="0"/>
      <p:bldP spid="18" grpId="0"/>
      <p:bldP spid="19"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3474DF29-ACEF-EBE2-57E4-D8B375036C29}"/>
              </a:ext>
            </a:extLst>
          </p:cNvPr>
          <p:cNvSpPr/>
          <p:nvPr/>
        </p:nvSpPr>
        <p:spPr>
          <a:xfrm>
            <a:off x="876300" y="1357313"/>
            <a:ext cx="4481513" cy="400050"/>
          </a:xfrm>
          <a:prstGeom prst="rect">
            <a:avLst/>
          </a:prstGeom>
        </p:spPr>
        <p:txBody>
          <a:bodyPr>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将上面汉明码例子中的监督位公式</a:t>
            </a:r>
            <a:r>
              <a:rPr kumimoji="0" lang="zh-CN" altLang="en-US" sz="2000" b="0" kern="0" dirty="0">
                <a:solidFill>
                  <a:srgbClr val="000000"/>
                </a:solidFill>
                <a:latin typeface="+mn-ea"/>
                <a:ea typeface="+mn-ea"/>
                <a:cs typeface="Arial" pitchFamily="34" charset="0"/>
              </a:rPr>
              <a:t>：</a:t>
            </a:r>
            <a:endParaRPr lang="zh-CN" altLang="en-US" dirty="0">
              <a:latin typeface="+mn-ea"/>
              <a:ea typeface="+mn-ea"/>
            </a:endParaRPr>
          </a:p>
        </p:txBody>
      </p:sp>
      <p:sp>
        <p:nvSpPr>
          <p:cNvPr id="9" name="矩形 8">
            <a:extLst>
              <a:ext uri="{FF2B5EF4-FFF2-40B4-BE49-F238E27FC236}">
                <a16:creationId xmlns:a16="http://schemas.microsoft.com/office/drawing/2014/main" id="{AAB10CCA-EF7D-9424-0953-176624E7999B}"/>
              </a:ext>
            </a:extLst>
          </p:cNvPr>
          <p:cNvSpPr>
            <a:spLocks noChangeArrowheads="1"/>
          </p:cNvSpPr>
          <p:nvPr/>
        </p:nvSpPr>
        <p:spPr bwMode="auto">
          <a:xfrm>
            <a:off x="885825" y="3143250"/>
            <a:ext cx="3214688"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lnSpc>
                <a:spcPct val="150000"/>
              </a:lnSpc>
              <a:spcBef>
                <a:spcPct val="20000"/>
              </a:spcBef>
              <a:buClr>
                <a:srgbClr val="FFCF01"/>
              </a:buClr>
              <a:buSzPct val="55000"/>
            </a:pPr>
            <a:r>
              <a:rPr kumimoji="0" lang="zh-CN" altLang="en-US" sz="2000" b="0">
                <a:solidFill>
                  <a:srgbClr val="000000"/>
                </a:solidFill>
                <a:latin typeface="Arial" panose="020B0604020202020204" pitchFamily="34" charset="0"/>
                <a:ea typeface="微软雅黑" panose="020B0503020204020204" pitchFamily="34" charset="-122"/>
                <a:cs typeface="Arial" panose="020B0604020202020204" pitchFamily="34" charset="0"/>
              </a:rPr>
              <a:t>改写成矩阵形式</a:t>
            </a:r>
            <a:r>
              <a:rPr kumimoji="0" lang="zh-CN" altLang="en-US" sz="2000" b="0">
                <a:solidFill>
                  <a:srgbClr val="000000"/>
                </a:solidFill>
                <a:latin typeface="宋体" panose="02010600030101010101" pitchFamily="2" charset="-122"/>
                <a:ea typeface="微软雅黑" panose="020B0503020204020204" pitchFamily="34" charset="-122"/>
                <a:cs typeface="Arial" panose="020B0604020202020204" pitchFamily="34" charset="0"/>
              </a:rPr>
              <a:t>：</a:t>
            </a:r>
            <a:endParaRPr kumimoji="0" lang="zh-CN" altLang="en-US" sz="2000" b="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10" name="矩形 9">
            <a:extLst>
              <a:ext uri="{FF2B5EF4-FFF2-40B4-BE49-F238E27FC236}">
                <a16:creationId xmlns:a16="http://schemas.microsoft.com/office/drawing/2014/main" id="{154D8661-E7D1-95D8-1241-071A93006B89}"/>
              </a:ext>
            </a:extLst>
          </p:cNvPr>
          <p:cNvSpPr/>
          <p:nvPr/>
        </p:nvSpPr>
        <p:spPr>
          <a:xfrm>
            <a:off x="771525" y="476250"/>
            <a:ext cx="2428875" cy="523875"/>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a:buClr>
                <a:srgbClr val="0000CC"/>
              </a:buClr>
              <a:buSzPct val="65000"/>
              <a:buFont typeface="Wingdings" pitchFamily="2" charset="2"/>
              <a:buChar char="u"/>
              <a:defRPr/>
            </a:pPr>
            <a:r>
              <a:rPr kumimoji="0" lang="en-US" altLang="zh-CN" sz="2800" i="1" kern="0" dirty="0">
                <a:solidFill>
                  <a:srgbClr val="FF0000"/>
                </a:solidFill>
                <a:latin typeface="Arial" pitchFamily="34" charset="0"/>
                <a:ea typeface="微软雅黑" pitchFamily="34" charset="-122"/>
                <a:cs typeface="Arial" pitchFamily="34" charset="0"/>
              </a:rPr>
              <a:t> G</a:t>
            </a:r>
            <a:r>
              <a:rPr kumimoji="0" lang="en-US" altLang="zh-CN" sz="2400" i="1" kern="0" dirty="0">
                <a:solidFill>
                  <a:srgbClr val="FF0000"/>
                </a:solidFill>
                <a:latin typeface="Arial" pitchFamily="34" charset="0"/>
                <a:ea typeface="微软雅黑" pitchFamily="34" charset="-122"/>
                <a:cs typeface="Arial" pitchFamily="34" charset="0"/>
              </a:rPr>
              <a:t> </a:t>
            </a:r>
            <a:r>
              <a:rPr kumimoji="0" lang="en-US" altLang="zh-CN" sz="2400" b="0" i="1" kern="0" dirty="0">
                <a:solidFill>
                  <a:srgbClr val="003399"/>
                </a:solidFill>
                <a:latin typeface="Arial" pitchFamily="34" charset="0"/>
                <a:ea typeface="微软雅黑" pitchFamily="34" charset="-122"/>
                <a:cs typeface="Arial" pitchFamily="34" charset="0"/>
              </a:rPr>
              <a:t>---</a:t>
            </a:r>
            <a:r>
              <a:rPr kumimoji="0" lang="zh-CN" altLang="en-US" sz="2400" kern="0" dirty="0">
                <a:solidFill>
                  <a:srgbClr val="FF0000"/>
                </a:solidFill>
                <a:latin typeface="Arial" pitchFamily="34" charset="0"/>
                <a:ea typeface="微软雅黑" pitchFamily="34" charset="-122"/>
                <a:cs typeface="Arial" pitchFamily="34" charset="0"/>
              </a:rPr>
              <a:t>生成矩阵</a:t>
            </a:r>
            <a:r>
              <a:rPr kumimoji="0" lang="zh-CN" altLang="en-US" sz="2400" b="0" kern="0" dirty="0">
                <a:solidFill>
                  <a:srgbClr val="000000"/>
                </a:solidFill>
                <a:latin typeface="Arial" pitchFamily="34" charset="0"/>
                <a:ea typeface="微软雅黑" pitchFamily="34" charset="-122"/>
                <a:cs typeface="Arial" pitchFamily="34" charset="0"/>
              </a:rPr>
              <a:t> </a:t>
            </a:r>
            <a:endParaRPr lang="zh-CN" altLang="en-US" sz="2400" dirty="0"/>
          </a:p>
        </p:txBody>
      </p:sp>
      <p:graphicFrame>
        <p:nvGraphicFramePr>
          <p:cNvPr id="3" name="Object 3">
            <a:extLst>
              <a:ext uri="{FF2B5EF4-FFF2-40B4-BE49-F238E27FC236}">
                <a16:creationId xmlns:a16="http://schemas.microsoft.com/office/drawing/2014/main" id="{30257306-313F-D50B-6981-F5D1F551558A}"/>
              </a:ext>
            </a:extLst>
          </p:cNvPr>
          <p:cNvGraphicFramePr>
            <a:graphicFrameLocks noChangeAspect="1"/>
          </p:cNvGraphicFramePr>
          <p:nvPr/>
        </p:nvGraphicFramePr>
        <p:xfrm>
          <a:off x="3714750" y="1857375"/>
          <a:ext cx="2319338" cy="1428750"/>
        </p:xfrm>
        <a:graphic>
          <a:graphicData uri="http://schemas.openxmlformats.org/presentationml/2006/ole">
            <mc:AlternateContent xmlns:mc="http://schemas.openxmlformats.org/markup-compatibility/2006">
              <mc:Choice xmlns:v="urn:schemas-microsoft-com:vml" Requires="v">
                <p:oleObj name="Equation" r:id="rId3" imgW="1155600" imgH="711000" progId="Equation.DSMT4">
                  <p:embed/>
                </p:oleObj>
              </mc:Choice>
              <mc:Fallback>
                <p:oleObj name="Equation" r:id="rId3" imgW="1155600" imgH="7110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4750" y="1857375"/>
                        <a:ext cx="2319338" cy="142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sp>
        <p:nvSpPr>
          <p:cNvPr id="12" name="矩形 11">
            <a:extLst>
              <a:ext uri="{FF2B5EF4-FFF2-40B4-BE49-F238E27FC236}">
                <a16:creationId xmlns:a16="http://schemas.microsoft.com/office/drawing/2014/main" id="{2449D0D8-6881-5E80-F025-5B25501FE89E}"/>
              </a:ext>
            </a:extLst>
          </p:cNvPr>
          <p:cNvSpPr/>
          <p:nvPr/>
        </p:nvSpPr>
        <p:spPr>
          <a:xfrm>
            <a:off x="885825" y="5815013"/>
            <a:ext cx="1466850" cy="400050"/>
          </a:xfrm>
          <a:prstGeom prst="rect">
            <a:avLst/>
          </a:prstGeom>
        </p:spPr>
        <p:txBody>
          <a:bodyPr wrap="none">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或者写成：</a:t>
            </a:r>
            <a:endParaRPr lang="zh-CN" altLang="en-US" dirty="0"/>
          </a:p>
        </p:txBody>
      </p:sp>
      <p:graphicFrame>
        <p:nvGraphicFramePr>
          <p:cNvPr id="13" name="Object 5">
            <a:extLst>
              <a:ext uri="{FF2B5EF4-FFF2-40B4-BE49-F238E27FC236}">
                <a16:creationId xmlns:a16="http://schemas.microsoft.com/office/drawing/2014/main" id="{EA1411DC-105C-5150-376A-8FCB2A801C64}"/>
              </a:ext>
            </a:extLst>
          </p:cNvPr>
          <p:cNvGraphicFramePr>
            <a:graphicFrameLocks noChangeAspect="1"/>
          </p:cNvGraphicFramePr>
          <p:nvPr/>
        </p:nvGraphicFramePr>
        <p:xfrm>
          <a:off x="3668713" y="3643313"/>
          <a:ext cx="2446337" cy="1887537"/>
        </p:xfrm>
        <a:graphic>
          <a:graphicData uri="http://schemas.openxmlformats.org/presentationml/2006/ole">
            <mc:AlternateContent xmlns:mc="http://schemas.openxmlformats.org/markup-compatibility/2006">
              <mc:Choice xmlns:v="urn:schemas-microsoft-com:vml" Requires="v">
                <p:oleObj name="Equation" r:id="rId5" imgW="1218960" imgH="939600" progId="Equation.DSMT4">
                  <p:embed/>
                </p:oleObj>
              </mc:Choice>
              <mc:Fallback>
                <p:oleObj name="Equation" r:id="rId5" imgW="1218960" imgH="9396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68713" y="3643313"/>
                        <a:ext cx="2446337" cy="1887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sp>
        <p:nvSpPr>
          <p:cNvPr id="11" name="AutoShape 13">
            <a:extLst>
              <a:ext uri="{FF2B5EF4-FFF2-40B4-BE49-F238E27FC236}">
                <a16:creationId xmlns:a16="http://schemas.microsoft.com/office/drawing/2014/main" id="{578F206D-2B54-6CDE-D0B6-6629EDEB098E}"/>
              </a:ext>
            </a:extLst>
          </p:cNvPr>
          <p:cNvSpPr>
            <a:spLocks noChangeArrowheads="1"/>
          </p:cNvSpPr>
          <p:nvPr/>
        </p:nvSpPr>
        <p:spPr bwMode="auto">
          <a:xfrm>
            <a:off x="4572000" y="5572126"/>
            <a:ext cx="785818" cy="500090"/>
          </a:xfrm>
          <a:prstGeom prst="wedgeRoundRectCallout">
            <a:avLst>
              <a:gd name="adj1" fmla="val -15855"/>
              <a:gd name="adj2" fmla="val -105961"/>
              <a:gd name="adj3" fmla="val 16667"/>
            </a:avLst>
          </a:prstGeom>
          <a:solidFill>
            <a:schemeClr val="bg2">
              <a:lumMod val="10000"/>
              <a:lumOff val="90000"/>
            </a:schemeClr>
          </a:solidFill>
          <a:ln w="9525">
            <a:noFill/>
            <a:miter lim="800000"/>
            <a:headEnd/>
            <a:tailEnd/>
          </a:ln>
          <a:effectLst>
            <a:innerShdw blurRad="63500" dist="50800" dir="16200000">
              <a:prstClr val="black">
                <a:alpha val="50000"/>
              </a:prstClr>
            </a:innerShdw>
          </a:effectLst>
        </p:spPr>
        <p:txBody>
          <a:bodyPr/>
          <a:lstStyle/>
          <a:p>
            <a:pPr algn="just">
              <a:lnSpc>
                <a:spcPts val="2600"/>
              </a:lnSpc>
              <a:defRPr/>
            </a:pPr>
            <a:r>
              <a:rPr lang="en-US" altLang="zh-CN" sz="2400" i="1" dirty="0">
                <a:solidFill>
                  <a:srgbClr val="0000CC"/>
                </a:solidFill>
                <a:latin typeface="Arial" pitchFamily="34" charset="0"/>
                <a:ea typeface="黑体" pitchFamily="2" charset="-122"/>
                <a:cs typeface="Arial" pitchFamily="34" charset="0"/>
              </a:rPr>
              <a:t>P </a:t>
            </a:r>
            <a:r>
              <a:rPr lang="zh-CN" altLang="en-US" sz="2000" dirty="0">
                <a:solidFill>
                  <a:srgbClr val="0000CC"/>
                </a:solidFill>
                <a:latin typeface="+mn-ea"/>
                <a:ea typeface="+mn-ea"/>
                <a:cs typeface="Arial" pitchFamily="34" charset="0"/>
              </a:rPr>
              <a:t>阵</a:t>
            </a:r>
            <a:endParaRPr lang="zh-CN" sz="2000" dirty="0">
              <a:solidFill>
                <a:srgbClr val="0000CC"/>
              </a:solidFill>
              <a:latin typeface="+mn-ea"/>
              <a:ea typeface="+mn-ea"/>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10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par>
                          <p:cTn id="13" fill="hold" nodeType="afterGroup">
                            <p:stCondLst>
                              <p:cond delay="500"/>
                            </p:stCondLst>
                            <p:childTnLst>
                              <p:par>
                                <p:cTn id="14" presetID="22" presetClass="entr" presetSubtype="1"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up)">
                                      <p:cBhvr>
                                        <p:cTn id="16" dur="2000"/>
                                        <p:tgtEl>
                                          <p:spTgt spid="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4"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500"/>
                                        <p:tgtEl>
                                          <p:spTgt spid="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up)">
                                      <p:cBhvr>
                                        <p:cTn id="26" dur="2000"/>
                                        <p:tgtEl>
                                          <p:spTgt spid="1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up)">
                                      <p:cBhvr>
                                        <p:cTn id="31" dur="1000"/>
                                        <p:tgtEl>
                                          <p:spTgt spid="11"/>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4"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down)">
                                      <p:cBhvr>
                                        <p:cTn id="3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P spid="1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46" name="Picture 18">
            <a:extLst>
              <a:ext uri="{FF2B5EF4-FFF2-40B4-BE49-F238E27FC236}">
                <a16:creationId xmlns:a16="http://schemas.microsoft.com/office/drawing/2014/main" id="{CDE297A4-DEC4-E4BF-CD56-51EACC4731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0" y="4643438"/>
            <a:ext cx="7500938" cy="162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Object 3">
            <a:extLst>
              <a:ext uri="{FF2B5EF4-FFF2-40B4-BE49-F238E27FC236}">
                <a16:creationId xmlns:a16="http://schemas.microsoft.com/office/drawing/2014/main" id="{0AF81F4A-728A-FCC1-7543-EEBA0981E273}"/>
              </a:ext>
            </a:extLst>
          </p:cNvPr>
          <p:cNvGraphicFramePr>
            <a:graphicFrameLocks noChangeAspect="1"/>
          </p:cNvGraphicFramePr>
          <p:nvPr/>
        </p:nvGraphicFramePr>
        <p:xfrm>
          <a:off x="6421438" y="214313"/>
          <a:ext cx="2222500" cy="1714500"/>
        </p:xfrm>
        <a:graphic>
          <a:graphicData uri="http://schemas.openxmlformats.org/presentationml/2006/ole">
            <mc:AlternateContent xmlns:mc="http://schemas.openxmlformats.org/markup-compatibility/2006">
              <mc:Choice xmlns:v="urn:schemas-microsoft-com:vml" Requires="v">
                <p:oleObj name="Equation" r:id="rId3" imgW="1218960" imgH="939600" progId="Equation.DSMT4">
                  <p:embed/>
                </p:oleObj>
              </mc:Choice>
              <mc:Fallback>
                <p:oleObj name="Equation" r:id="rId3" imgW="1218960" imgH="9396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21438" y="214313"/>
                        <a:ext cx="2222500" cy="171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graphicFrame>
        <p:nvGraphicFramePr>
          <p:cNvPr id="7" name="Object 6">
            <a:extLst>
              <a:ext uri="{FF2B5EF4-FFF2-40B4-BE49-F238E27FC236}">
                <a16:creationId xmlns:a16="http://schemas.microsoft.com/office/drawing/2014/main" id="{203647E0-4C0B-61B1-5437-77BED58CCA3A}"/>
              </a:ext>
            </a:extLst>
          </p:cNvPr>
          <p:cNvGraphicFramePr>
            <a:graphicFrameLocks noChangeAspect="1"/>
          </p:cNvGraphicFramePr>
          <p:nvPr/>
        </p:nvGraphicFramePr>
        <p:xfrm>
          <a:off x="1143000" y="1571625"/>
          <a:ext cx="5214938" cy="1785938"/>
        </p:xfrm>
        <a:graphic>
          <a:graphicData uri="http://schemas.openxmlformats.org/presentationml/2006/ole">
            <mc:AlternateContent xmlns:mc="http://schemas.openxmlformats.org/markup-compatibility/2006">
              <mc:Choice xmlns:v="urn:schemas-microsoft-com:vml" Requires="v">
                <p:oleObj name="Equation" r:id="rId5" imgW="2539800" imgH="914400" progId="Equation.DSMT4">
                  <p:embed/>
                </p:oleObj>
              </mc:Choice>
              <mc:Fallback>
                <p:oleObj name="Equation" r:id="rId5" imgW="2539800" imgH="9144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1571625"/>
                        <a:ext cx="5214938" cy="178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sp>
        <p:nvSpPr>
          <p:cNvPr id="8" name="矩形 7">
            <a:extLst>
              <a:ext uri="{FF2B5EF4-FFF2-40B4-BE49-F238E27FC236}">
                <a16:creationId xmlns:a16="http://schemas.microsoft.com/office/drawing/2014/main" id="{D9AA2AEA-73E5-B920-091F-F020671B1EA2}"/>
              </a:ext>
            </a:extLst>
          </p:cNvPr>
          <p:cNvSpPr/>
          <p:nvPr/>
        </p:nvSpPr>
        <p:spPr>
          <a:xfrm>
            <a:off x="928688" y="3425825"/>
            <a:ext cx="7143750" cy="577850"/>
          </a:xfrm>
          <a:prstGeom prst="rect">
            <a:avLst/>
          </a:prstGeom>
        </p:spPr>
        <p:txBody>
          <a:bodyPr>
            <a:spAutoFit/>
          </a:bodyPr>
          <a:lstStyle/>
          <a:p>
            <a:pPr marL="228600" indent="-228600">
              <a:lnSpc>
                <a:spcPct val="150000"/>
              </a:lnSpc>
              <a:spcBef>
                <a:spcPct val="20000"/>
              </a:spcBef>
              <a:buClr>
                <a:srgbClr val="FFCF01"/>
              </a:buClr>
              <a:buSzPct val="55000"/>
              <a:defRPr/>
            </a:pPr>
            <a:r>
              <a:rPr kumimoji="0" lang="zh-CN" altLang="en-US" sz="2000" b="0" kern="0" dirty="0">
                <a:solidFill>
                  <a:srgbClr val="000000"/>
                </a:solidFill>
                <a:latin typeface="Arial" pitchFamily="34" charset="0"/>
                <a:ea typeface="微软雅黑" pitchFamily="34" charset="-122"/>
                <a:cs typeface="Arial" pitchFamily="34" charset="0"/>
              </a:rPr>
              <a:t>式中，</a:t>
            </a:r>
            <a:r>
              <a:rPr kumimoji="0" lang="en-US" altLang="zh-CN" sz="2400" i="1" kern="0" dirty="0">
                <a:solidFill>
                  <a:srgbClr val="0000CC"/>
                </a:solidFill>
                <a:latin typeface="Arial" pitchFamily="34" charset="0"/>
                <a:ea typeface="微软雅黑" pitchFamily="34" charset="-122"/>
                <a:cs typeface="Arial" pitchFamily="34" charset="0"/>
              </a:rPr>
              <a:t>Q </a:t>
            </a:r>
            <a:r>
              <a:rPr kumimoji="0" lang="zh-CN" altLang="en-US" sz="2000" b="0" kern="0" dirty="0">
                <a:solidFill>
                  <a:srgbClr val="000000"/>
                </a:solidFill>
                <a:latin typeface="Arial" pitchFamily="34" charset="0"/>
                <a:ea typeface="微软雅黑" pitchFamily="34" charset="-122"/>
                <a:cs typeface="Arial" pitchFamily="34" charset="0"/>
              </a:rPr>
              <a:t>为一个</a:t>
            </a:r>
            <a:r>
              <a:rPr kumimoji="0" lang="en-US" altLang="zh-CN" sz="2000" i="1" kern="0" dirty="0">
                <a:solidFill>
                  <a:srgbClr val="0000CC"/>
                </a:solidFill>
                <a:latin typeface="Arial" pitchFamily="34" charset="0"/>
                <a:ea typeface="微软雅黑" pitchFamily="34" charset="-122"/>
                <a:cs typeface="Arial" pitchFamily="34" charset="0"/>
              </a:rPr>
              <a:t>k </a:t>
            </a:r>
            <a:r>
              <a:rPr kumimoji="0" lang="en-US" altLang="zh-CN" sz="2000" kern="0" dirty="0">
                <a:solidFill>
                  <a:srgbClr val="0000CC"/>
                </a:solidFill>
                <a:latin typeface="Arial" pitchFamily="34" charset="0"/>
                <a:ea typeface="微软雅黑" pitchFamily="34" charset="-122"/>
                <a:cs typeface="Arial" pitchFamily="34" charset="0"/>
                <a:sym typeface="Symbol" pitchFamily="18" charset="2"/>
              </a:rPr>
              <a:t></a:t>
            </a:r>
            <a:r>
              <a:rPr kumimoji="0" lang="en-US" altLang="zh-CN" sz="2000" kern="0" dirty="0">
                <a:solidFill>
                  <a:srgbClr val="0000CC"/>
                </a:solidFill>
                <a:latin typeface="Arial" pitchFamily="34" charset="0"/>
                <a:ea typeface="微软雅黑" pitchFamily="34" charset="-122"/>
                <a:cs typeface="Arial" pitchFamily="34" charset="0"/>
              </a:rPr>
              <a:t> </a:t>
            </a:r>
            <a:r>
              <a:rPr kumimoji="0" lang="en-US" altLang="zh-CN" sz="2000" i="1" kern="0" dirty="0">
                <a:solidFill>
                  <a:srgbClr val="0000CC"/>
                </a:solidFill>
                <a:latin typeface="Arial" pitchFamily="34" charset="0"/>
                <a:ea typeface="微软雅黑" pitchFamily="34" charset="-122"/>
                <a:cs typeface="Arial" pitchFamily="34" charset="0"/>
              </a:rPr>
              <a:t>r </a:t>
            </a:r>
            <a:r>
              <a:rPr kumimoji="0" lang="zh-CN" altLang="en-US" sz="2000" b="0" kern="0" dirty="0">
                <a:solidFill>
                  <a:srgbClr val="000000"/>
                </a:solidFill>
                <a:latin typeface="Arial" pitchFamily="34" charset="0"/>
                <a:ea typeface="微软雅黑" pitchFamily="34" charset="-122"/>
                <a:cs typeface="Arial" pitchFamily="34" charset="0"/>
              </a:rPr>
              <a:t>阶矩阵，它为</a:t>
            </a:r>
            <a:r>
              <a:rPr kumimoji="0" lang="en-US" altLang="zh-CN" sz="2400" i="1" kern="0" dirty="0">
                <a:solidFill>
                  <a:srgbClr val="0000CC"/>
                </a:solidFill>
                <a:latin typeface="Arial" pitchFamily="34" charset="0"/>
                <a:ea typeface="微软雅黑" pitchFamily="34" charset="-122"/>
                <a:cs typeface="Arial" pitchFamily="34" charset="0"/>
              </a:rPr>
              <a:t>P </a:t>
            </a:r>
            <a:r>
              <a:rPr kumimoji="0" lang="zh-CN" altLang="en-US" sz="2000" b="0" kern="0" dirty="0">
                <a:solidFill>
                  <a:srgbClr val="000000"/>
                </a:solidFill>
                <a:latin typeface="Arial" pitchFamily="34" charset="0"/>
                <a:ea typeface="微软雅黑" pitchFamily="34" charset="-122"/>
                <a:cs typeface="Arial" pitchFamily="34" charset="0"/>
              </a:rPr>
              <a:t>的转置，即</a:t>
            </a:r>
            <a:r>
              <a:rPr kumimoji="0" lang="en-US" altLang="zh-CN" sz="2000" b="0" kern="0" dirty="0">
                <a:solidFill>
                  <a:srgbClr val="000000"/>
                </a:solidFill>
                <a:latin typeface="+mn-ea"/>
                <a:ea typeface="+mn-ea"/>
                <a:cs typeface="Arial" pitchFamily="34" charset="0"/>
              </a:rPr>
              <a:t>:</a:t>
            </a:r>
            <a:endParaRPr kumimoji="0" lang="en-US" altLang="zh-CN" sz="2400" b="0" kern="0" baseline="30000" dirty="0">
              <a:solidFill>
                <a:srgbClr val="FF0000"/>
              </a:solidFill>
              <a:latin typeface="+mn-ea"/>
              <a:ea typeface="+mn-ea"/>
              <a:cs typeface="Arial" pitchFamily="34" charset="0"/>
            </a:endParaRPr>
          </a:p>
        </p:txBody>
      </p:sp>
      <p:sp>
        <p:nvSpPr>
          <p:cNvPr id="9" name="矩形 8">
            <a:extLst>
              <a:ext uri="{FF2B5EF4-FFF2-40B4-BE49-F238E27FC236}">
                <a16:creationId xmlns:a16="http://schemas.microsoft.com/office/drawing/2014/main" id="{3B4F649C-142E-EC90-FA4D-71AD55C27C63}"/>
              </a:ext>
            </a:extLst>
          </p:cNvPr>
          <p:cNvSpPr/>
          <p:nvPr/>
        </p:nvSpPr>
        <p:spPr>
          <a:xfrm>
            <a:off x="4143372" y="4214818"/>
            <a:ext cx="1422184" cy="539571"/>
          </a:xfrm>
          <a:prstGeom prst="rect">
            <a:avLst/>
          </a:prstGeom>
          <a:ln w="38100" cmpd="dbl">
            <a:solidFill>
              <a:srgbClr val="990099"/>
            </a:solidFill>
          </a:ln>
          <a:effectLst>
            <a:innerShdw blurRad="114300">
              <a:prstClr val="black"/>
            </a:innerShdw>
          </a:effectLst>
        </p:spPr>
        <p:txBody>
          <a:bodyPr wrap="none">
            <a:spAutoFit/>
          </a:bodyPr>
          <a:lstStyle/>
          <a:p>
            <a:pPr marL="228600" indent="-228600">
              <a:lnSpc>
                <a:spcPts val="3800"/>
              </a:lnSpc>
              <a:spcBef>
                <a:spcPct val="20000"/>
              </a:spcBef>
              <a:buClr>
                <a:srgbClr val="FFCF01"/>
              </a:buClr>
              <a:buSzPct val="55000"/>
              <a:defRPr/>
            </a:pPr>
            <a:r>
              <a:rPr kumimoji="0" lang="en-US" altLang="zh-CN" sz="2800" i="1" kern="0" dirty="0">
                <a:solidFill>
                  <a:srgbClr val="FF0000"/>
                </a:solidFill>
                <a:latin typeface="Arial" pitchFamily="34" charset="0"/>
                <a:ea typeface="微软雅黑" pitchFamily="34" charset="-122"/>
                <a:cs typeface="Arial" pitchFamily="34" charset="0"/>
              </a:rPr>
              <a:t> </a:t>
            </a:r>
            <a:r>
              <a:rPr kumimoji="0" lang="en-US" altLang="zh-CN" sz="2800" i="1" kern="0" dirty="0">
                <a:solidFill>
                  <a:srgbClr val="0000CC"/>
                </a:solidFill>
                <a:latin typeface="Arial" pitchFamily="34" charset="0"/>
                <a:ea typeface="微软雅黑" pitchFamily="34" charset="-122"/>
                <a:cs typeface="Arial" pitchFamily="34" charset="0"/>
              </a:rPr>
              <a:t>Q</a:t>
            </a:r>
            <a:r>
              <a:rPr kumimoji="0" lang="en-US" altLang="zh-CN" sz="2800" b="0" kern="0" dirty="0">
                <a:solidFill>
                  <a:srgbClr val="0000CC"/>
                </a:solidFill>
                <a:latin typeface="Arial" pitchFamily="34" charset="0"/>
                <a:ea typeface="微软雅黑" pitchFamily="34" charset="-122"/>
                <a:cs typeface="Arial" pitchFamily="34" charset="0"/>
              </a:rPr>
              <a:t> =</a:t>
            </a:r>
            <a:r>
              <a:rPr kumimoji="0" lang="en-US" altLang="zh-CN" sz="2800" i="1" kern="0" dirty="0">
                <a:solidFill>
                  <a:srgbClr val="0000CC"/>
                </a:solidFill>
                <a:latin typeface="Arial" pitchFamily="34" charset="0"/>
                <a:ea typeface="微软雅黑" pitchFamily="34" charset="-122"/>
                <a:cs typeface="Arial" pitchFamily="34" charset="0"/>
              </a:rPr>
              <a:t> P</a:t>
            </a:r>
            <a:r>
              <a:rPr kumimoji="0" lang="en-US" altLang="zh-CN" sz="2800" b="0" kern="0" baseline="30000" dirty="0">
                <a:solidFill>
                  <a:srgbClr val="0000CC"/>
                </a:solidFill>
                <a:latin typeface="Arial" pitchFamily="34" charset="0"/>
                <a:ea typeface="微软雅黑" pitchFamily="34" charset="-122"/>
                <a:cs typeface="Arial" pitchFamily="34" charset="0"/>
              </a:rPr>
              <a:t>T </a:t>
            </a:r>
          </a:p>
        </p:txBody>
      </p:sp>
      <p:sp>
        <p:nvSpPr>
          <p:cNvPr id="13" name="AutoShape 13">
            <a:extLst>
              <a:ext uri="{FF2B5EF4-FFF2-40B4-BE49-F238E27FC236}">
                <a16:creationId xmlns:a16="http://schemas.microsoft.com/office/drawing/2014/main" id="{B4293B77-B9C8-98FD-E79F-2E2F3C3BBF0F}"/>
              </a:ext>
            </a:extLst>
          </p:cNvPr>
          <p:cNvSpPr>
            <a:spLocks noChangeArrowheads="1"/>
          </p:cNvSpPr>
          <p:nvPr/>
        </p:nvSpPr>
        <p:spPr bwMode="auto">
          <a:xfrm>
            <a:off x="7500958" y="2000240"/>
            <a:ext cx="785818" cy="500090"/>
          </a:xfrm>
          <a:prstGeom prst="wedgeRoundRectCallout">
            <a:avLst>
              <a:gd name="adj1" fmla="val -39866"/>
              <a:gd name="adj2" fmla="val -108863"/>
              <a:gd name="adj3" fmla="val 16667"/>
            </a:avLst>
          </a:prstGeom>
          <a:solidFill>
            <a:schemeClr val="bg2">
              <a:lumMod val="10000"/>
              <a:lumOff val="90000"/>
            </a:schemeClr>
          </a:solidFill>
          <a:ln w="9525">
            <a:noFill/>
            <a:miter lim="800000"/>
            <a:headEnd/>
            <a:tailEnd/>
          </a:ln>
          <a:effectLst>
            <a:innerShdw blurRad="63500" dist="50800" dir="16200000">
              <a:prstClr val="black">
                <a:alpha val="50000"/>
              </a:prstClr>
            </a:innerShdw>
          </a:effectLst>
        </p:spPr>
        <p:txBody>
          <a:bodyPr/>
          <a:lstStyle/>
          <a:p>
            <a:pPr algn="just">
              <a:lnSpc>
                <a:spcPts val="2600"/>
              </a:lnSpc>
              <a:defRPr/>
            </a:pPr>
            <a:r>
              <a:rPr lang="en-US" altLang="zh-CN" sz="2400" i="1" dirty="0">
                <a:solidFill>
                  <a:srgbClr val="0000CC"/>
                </a:solidFill>
                <a:latin typeface="Arial" pitchFamily="34" charset="0"/>
                <a:ea typeface="黑体" pitchFamily="2" charset="-122"/>
                <a:cs typeface="Arial" pitchFamily="34" charset="0"/>
              </a:rPr>
              <a:t>P </a:t>
            </a:r>
            <a:r>
              <a:rPr lang="zh-CN" altLang="en-US" sz="2000" dirty="0">
                <a:solidFill>
                  <a:srgbClr val="0000CC"/>
                </a:solidFill>
                <a:latin typeface="+mn-ea"/>
                <a:ea typeface="+mn-ea"/>
                <a:cs typeface="Arial" pitchFamily="34" charset="0"/>
              </a:rPr>
              <a:t>阵</a:t>
            </a:r>
            <a:endParaRPr lang="zh-CN" sz="2000" dirty="0">
              <a:solidFill>
                <a:srgbClr val="0000CC"/>
              </a:solidFill>
              <a:latin typeface="+mn-ea"/>
              <a:ea typeface="+mn-ea"/>
              <a:cs typeface="Arial" pitchFamily="34" charset="0"/>
            </a:endParaRPr>
          </a:p>
        </p:txBody>
      </p:sp>
      <p:sp>
        <p:nvSpPr>
          <p:cNvPr id="14" name="AutoShape 13">
            <a:extLst>
              <a:ext uri="{FF2B5EF4-FFF2-40B4-BE49-F238E27FC236}">
                <a16:creationId xmlns:a16="http://schemas.microsoft.com/office/drawing/2014/main" id="{8BB4FDB0-FE2C-7EC8-E403-964A697E4EFD}"/>
              </a:ext>
            </a:extLst>
          </p:cNvPr>
          <p:cNvSpPr>
            <a:spLocks noChangeArrowheads="1"/>
          </p:cNvSpPr>
          <p:nvPr/>
        </p:nvSpPr>
        <p:spPr bwMode="auto">
          <a:xfrm>
            <a:off x="4643438" y="1214422"/>
            <a:ext cx="857256" cy="500090"/>
          </a:xfrm>
          <a:prstGeom prst="wedgeRoundRectCallout">
            <a:avLst>
              <a:gd name="adj1" fmla="val -73729"/>
              <a:gd name="adj2" fmla="val 42058"/>
              <a:gd name="adj3" fmla="val 16667"/>
            </a:avLst>
          </a:prstGeom>
          <a:solidFill>
            <a:schemeClr val="bg2">
              <a:lumMod val="10000"/>
              <a:lumOff val="90000"/>
            </a:schemeClr>
          </a:solidFill>
          <a:ln w="9525">
            <a:noFill/>
            <a:miter lim="800000"/>
            <a:headEnd/>
            <a:tailEnd/>
          </a:ln>
          <a:effectLst>
            <a:innerShdw blurRad="63500" dist="50800" dir="8100000">
              <a:prstClr val="black">
                <a:alpha val="50000"/>
              </a:prstClr>
            </a:innerShdw>
          </a:effectLst>
        </p:spPr>
        <p:txBody>
          <a:bodyPr/>
          <a:lstStyle/>
          <a:p>
            <a:pPr algn="just">
              <a:lnSpc>
                <a:spcPts val="2600"/>
              </a:lnSpc>
              <a:defRPr/>
            </a:pPr>
            <a:r>
              <a:rPr lang="en-US" altLang="zh-CN" sz="2400" i="1" dirty="0">
                <a:solidFill>
                  <a:srgbClr val="0000CC"/>
                </a:solidFill>
                <a:latin typeface="Arial" pitchFamily="34" charset="0"/>
                <a:ea typeface="黑体" pitchFamily="2" charset="-122"/>
                <a:cs typeface="Arial" pitchFamily="34" charset="0"/>
              </a:rPr>
              <a:t>Q </a:t>
            </a:r>
            <a:r>
              <a:rPr lang="zh-CN" altLang="en-US" sz="2000" dirty="0">
                <a:solidFill>
                  <a:srgbClr val="0000CC"/>
                </a:solidFill>
                <a:latin typeface="+mn-ea"/>
                <a:ea typeface="+mn-ea"/>
                <a:cs typeface="Arial" pitchFamily="34" charset="0"/>
              </a:rPr>
              <a:t>阵</a:t>
            </a:r>
            <a:endParaRPr lang="zh-CN" sz="2000" dirty="0">
              <a:solidFill>
                <a:srgbClr val="0000CC"/>
              </a:solidFill>
              <a:latin typeface="+mn-ea"/>
              <a:ea typeface="+mn-ea"/>
              <a:cs typeface="Arial"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20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up)">
                                      <p:cBhvr>
                                        <p:cTn id="12" dur="1000"/>
                                        <p:tgtEl>
                                          <p:spTgt spid="14"/>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up)">
                                      <p:cBhvr>
                                        <p:cTn id="16" dur="1000"/>
                                        <p:tgtEl>
                                          <p:spTgt spid="8"/>
                                        </p:tgtEl>
                                      </p:cBhvr>
                                    </p:animEffect>
                                  </p:childTnLst>
                                </p:cTn>
                              </p:par>
                            </p:childTnLst>
                          </p:cTn>
                        </p:par>
                        <p:par>
                          <p:cTn id="17" fill="hold" nodeType="afterGroup">
                            <p:stCondLst>
                              <p:cond delay="2000"/>
                            </p:stCondLst>
                            <p:childTnLst>
                              <p:par>
                                <p:cTn id="18" presetID="22" presetClass="entr" presetSubtype="1" fill="hold"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up)">
                                      <p:cBhvr>
                                        <p:cTn id="20" dur="1000"/>
                                        <p:tgtEl>
                                          <p:spTgt spid="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22546"/>
                                        </p:tgtEl>
                                        <p:attrNameLst>
                                          <p:attrName>style.visibility</p:attrName>
                                        </p:attrNameLst>
                                      </p:cBhvr>
                                      <p:to>
                                        <p:strVal val="visible"/>
                                      </p:to>
                                    </p:set>
                                    <p:animEffect transition="in" filter="wipe(up)">
                                      <p:cBhvr>
                                        <p:cTn id="25" dur="1000"/>
                                        <p:tgtEl>
                                          <p:spTgt spid="225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686" name="Object 6">
            <a:extLst>
              <a:ext uri="{FF2B5EF4-FFF2-40B4-BE49-F238E27FC236}">
                <a16:creationId xmlns:a16="http://schemas.microsoft.com/office/drawing/2014/main" id="{4D9CA426-2884-9F88-B5D1-878775B676D8}"/>
              </a:ext>
            </a:extLst>
          </p:cNvPr>
          <p:cNvGraphicFramePr>
            <a:graphicFrameLocks noChangeAspect="1"/>
          </p:cNvGraphicFramePr>
          <p:nvPr/>
        </p:nvGraphicFramePr>
        <p:xfrm>
          <a:off x="2514600" y="3976688"/>
          <a:ext cx="3894138" cy="452437"/>
        </p:xfrm>
        <a:graphic>
          <a:graphicData uri="http://schemas.openxmlformats.org/presentationml/2006/ole">
            <mc:AlternateContent xmlns:mc="http://schemas.openxmlformats.org/markup-compatibility/2006">
              <mc:Choice xmlns:v="urn:schemas-microsoft-com:vml" Requires="v">
                <p:oleObj name="公式" r:id="rId2" imgW="1968480" imgH="228600" progId="Equation.3">
                  <p:embed/>
                </p:oleObj>
              </mc:Choice>
              <mc:Fallback>
                <p:oleObj name="公式" r:id="rId2" imgW="1968480" imgH="228600"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3976688"/>
                        <a:ext cx="3894138" cy="452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688" name="Object 8">
            <a:extLst>
              <a:ext uri="{FF2B5EF4-FFF2-40B4-BE49-F238E27FC236}">
                <a16:creationId xmlns:a16="http://schemas.microsoft.com/office/drawing/2014/main" id="{C483A05F-E44B-3FF4-7544-10885029D193}"/>
              </a:ext>
            </a:extLst>
          </p:cNvPr>
          <p:cNvGraphicFramePr>
            <a:graphicFrameLocks noChangeAspect="1"/>
          </p:cNvGraphicFramePr>
          <p:nvPr/>
        </p:nvGraphicFramePr>
        <p:xfrm>
          <a:off x="4157663" y="4714875"/>
          <a:ext cx="2270125" cy="468313"/>
        </p:xfrm>
        <a:graphic>
          <a:graphicData uri="http://schemas.openxmlformats.org/presentationml/2006/ole">
            <mc:AlternateContent xmlns:mc="http://schemas.openxmlformats.org/markup-compatibility/2006">
              <mc:Choice xmlns:v="urn:schemas-microsoft-com:vml" Requires="v">
                <p:oleObj name="公式" r:id="rId4" imgW="1104840" imgH="228600" progId="Equation.3">
                  <p:embed/>
                </p:oleObj>
              </mc:Choice>
              <mc:Fallback>
                <p:oleObj name="公式" r:id="rId4" imgW="1104840" imgH="22860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57663" y="4714875"/>
                        <a:ext cx="2270125" cy="468313"/>
                      </a:xfrm>
                      <a:prstGeom prst="rect">
                        <a:avLst/>
                      </a:prstGeom>
                      <a:noFill/>
                      <a:ln w="38100" cmpd="dbl">
                        <a:solidFill>
                          <a:srgbClr val="6666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矩形 5">
            <a:extLst>
              <a:ext uri="{FF2B5EF4-FFF2-40B4-BE49-F238E27FC236}">
                <a16:creationId xmlns:a16="http://schemas.microsoft.com/office/drawing/2014/main" id="{8E4A3C53-2D36-44FA-F2F5-B54A0C712FC0}"/>
              </a:ext>
            </a:extLst>
          </p:cNvPr>
          <p:cNvSpPr/>
          <p:nvPr/>
        </p:nvSpPr>
        <p:spPr>
          <a:xfrm>
            <a:off x="857250" y="1000125"/>
            <a:ext cx="6913563" cy="461963"/>
          </a:xfrm>
          <a:prstGeom prst="rect">
            <a:avLst/>
          </a:prstGeom>
        </p:spPr>
        <p:txBody>
          <a:bodyPr>
            <a:spAutoFit/>
          </a:bodyPr>
          <a:lstStyle/>
          <a:p>
            <a:pPr marL="228600" indent="-228600">
              <a:spcBef>
                <a:spcPct val="20000"/>
              </a:spcBef>
              <a:buClr>
                <a:srgbClr val="FFCF01"/>
              </a:buClr>
              <a:buSzPct val="55000"/>
              <a:defRPr/>
            </a:pPr>
            <a:r>
              <a:rPr kumimoji="0" lang="zh-CN" altLang="en-US" sz="2000" b="0" kern="0" dirty="0">
                <a:solidFill>
                  <a:srgbClr val="000000"/>
                </a:solidFill>
                <a:latin typeface="Arial" pitchFamily="34" charset="0"/>
                <a:ea typeface="微软雅黑" pitchFamily="34" charset="-122"/>
                <a:cs typeface="Arial" pitchFamily="34" charset="0"/>
              </a:rPr>
              <a:t>将</a:t>
            </a:r>
            <a:r>
              <a:rPr kumimoji="0" lang="en-US" altLang="zh-CN" sz="2400" i="1" kern="0" dirty="0">
                <a:solidFill>
                  <a:srgbClr val="0000CC"/>
                </a:solidFill>
                <a:latin typeface="Arial" pitchFamily="34" charset="0"/>
                <a:ea typeface="微软雅黑" pitchFamily="34" charset="-122"/>
                <a:cs typeface="Arial" pitchFamily="34" charset="0"/>
              </a:rPr>
              <a:t>Q</a:t>
            </a:r>
            <a:r>
              <a:rPr kumimoji="0" lang="zh-CN" altLang="en-US" sz="2000" b="0" kern="0" dirty="0">
                <a:solidFill>
                  <a:srgbClr val="000000"/>
                </a:solidFill>
                <a:latin typeface="Arial" pitchFamily="34" charset="0"/>
                <a:ea typeface="微软雅黑" pitchFamily="34" charset="-122"/>
                <a:cs typeface="Arial" pitchFamily="34" charset="0"/>
              </a:rPr>
              <a:t>的</a:t>
            </a:r>
            <a:r>
              <a:rPr kumimoji="0" lang="zh-CN" altLang="en-US" sz="2000" b="0" kern="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左边</a:t>
            </a:r>
            <a:r>
              <a:rPr kumimoji="0" lang="zh-CN" altLang="en-US" sz="2000" b="0" kern="0" dirty="0">
                <a:solidFill>
                  <a:srgbClr val="000000"/>
                </a:solidFill>
                <a:latin typeface="Arial" pitchFamily="34" charset="0"/>
                <a:ea typeface="微软雅黑" pitchFamily="34" charset="-122"/>
                <a:cs typeface="Arial" pitchFamily="34" charset="0"/>
              </a:rPr>
              <a:t>加上</a:t>
            </a:r>
            <a:r>
              <a:rPr kumimoji="0" lang="en-US" altLang="zh-CN" sz="2000" b="0" kern="0" dirty="0">
                <a:solidFill>
                  <a:srgbClr val="000000"/>
                </a:solidFill>
                <a:latin typeface="Arial" pitchFamily="34" charset="0"/>
                <a:ea typeface="微软雅黑" pitchFamily="34" charset="-122"/>
                <a:cs typeface="Arial" pitchFamily="34" charset="0"/>
              </a:rPr>
              <a:t>1</a:t>
            </a:r>
            <a:r>
              <a:rPr kumimoji="0" lang="zh-CN" altLang="en-US" sz="2000" b="0" kern="0" dirty="0">
                <a:solidFill>
                  <a:srgbClr val="000000"/>
                </a:solidFill>
                <a:latin typeface="Arial" pitchFamily="34" charset="0"/>
                <a:ea typeface="微软雅黑" pitchFamily="34" charset="-122"/>
                <a:cs typeface="Arial" pitchFamily="34" charset="0"/>
              </a:rPr>
              <a:t>个</a:t>
            </a:r>
            <a:r>
              <a:rPr kumimoji="0" lang="en-US" altLang="zh-CN" sz="2000" i="1" kern="0" dirty="0">
                <a:solidFill>
                  <a:srgbClr val="0000CC"/>
                </a:solidFill>
                <a:latin typeface="Arial" pitchFamily="34" charset="0"/>
                <a:ea typeface="微软雅黑" pitchFamily="34" charset="-122"/>
                <a:cs typeface="Arial" pitchFamily="34" charset="0"/>
              </a:rPr>
              <a:t>k </a:t>
            </a:r>
            <a:r>
              <a:rPr kumimoji="0" lang="en-US" altLang="zh-CN" sz="2000" i="1" kern="0" dirty="0">
                <a:solidFill>
                  <a:srgbClr val="0000CC"/>
                </a:solidFill>
                <a:latin typeface="Arial" pitchFamily="34" charset="0"/>
                <a:ea typeface="微软雅黑" pitchFamily="34" charset="-122"/>
                <a:cs typeface="Arial" pitchFamily="34" charset="0"/>
                <a:sym typeface="Symbol" pitchFamily="18" charset="2"/>
              </a:rPr>
              <a:t></a:t>
            </a:r>
            <a:r>
              <a:rPr kumimoji="0" lang="en-US" altLang="zh-CN" sz="2000" i="1" kern="0" dirty="0">
                <a:solidFill>
                  <a:srgbClr val="0000CC"/>
                </a:solidFill>
                <a:latin typeface="Arial" pitchFamily="34" charset="0"/>
                <a:ea typeface="微软雅黑" pitchFamily="34" charset="-122"/>
                <a:cs typeface="Arial" pitchFamily="34" charset="0"/>
              </a:rPr>
              <a:t> k </a:t>
            </a:r>
            <a:r>
              <a:rPr kumimoji="0" lang="zh-CN" altLang="en-US" sz="2000" b="0" kern="0" dirty="0">
                <a:solidFill>
                  <a:schemeClr val="tx1"/>
                </a:solidFill>
                <a:latin typeface="Arial" pitchFamily="34" charset="0"/>
                <a:ea typeface="微软雅黑" pitchFamily="34" charset="-122"/>
                <a:cs typeface="Arial" pitchFamily="34" charset="0"/>
              </a:rPr>
              <a:t>阶</a:t>
            </a:r>
            <a:r>
              <a:rPr kumimoji="0" lang="zh-CN" altLang="en-US" sz="2000" b="0" kern="0" dirty="0">
                <a:solidFill>
                  <a:srgbClr val="000000"/>
                </a:solidFill>
                <a:latin typeface="Arial" pitchFamily="34" charset="0"/>
                <a:ea typeface="微软雅黑" pitchFamily="34" charset="-122"/>
                <a:cs typeface="Arial" pitchFamily="34" charset="0"/>
              </a:rPr>
              <a:t>单位方阵，就构成矩阵</a:t>
            </a:r>
            <a:r>
              <a:rPr kumimoji="0" lang="en-US" altLang="zh-CN" sz="2000" b="0" kern="0" dirty="0">
                <a:solidFill>
                  <a:srgbClr val="000000"/>
                </a:solidFill>
                <a:latin typeface="Arial" pitchFamily="34" charset="0"/>
                <a:ea typeface="微软雅黑" pitchFamily="34" charset="-122"/>
                <a:cs typeface="Arial" pitchFamily="34" charset="0"/>
              </a:rPr>
              <a:t>: </a:t>
            </a:r>
          </a:p>
        </p:txBody>
      </p:sp>
      <p:sp>
        <p:nvSpPr>
          <p:cNvPr id="7" name="矩形 6">
            <a:extLst>
              <a:ext uri="{FF2B5EF4-FFF2-40B4-BE49-F238E27FC236}">
                <a16:creationId xmlns:a16="http://schemas.microsoft.com/office/drawing/2014/main" id="{D7F900BA-F735-04BD-8C49-04712112D06F}"/>
              </a:ext>
            </a:extLst>
          </p:cNvPr>
          <p:cNvSpPr/>
          <p:nvPr/>
        </p:nvSpPr>
        <p:spPr>
          <a:xfrm>
            <a:off x="857250" y="3457575"/>
            <a:ext cx="1500188" cy="400050"/>
          </a:xfrm>
          <a:prstGeom prst="rect">
            <a:avLst/>
          </a:prstGeom>
        </p:spPr>
        <p:txBody>
          <a:bodyPr>
            <a:spAutoFit/>
          </a:bodyPr>
          <a:lstStyle/>
          <a:p>
            <a:pPr>
              <a:defRPr/>
            </a:pPr>
            <a:r>
              <a:rPr kumimoji="0" lang="zh-CN" altLang="en-US" sz="2000" kern="0" dirty="0">
                <a:solidFill>
                  <a:srgbClr val="FF0000"/>
                </a:solidFill>
                <a:latin typeface="Arial" pitchFamily="34" charset="0"/>
                <a:ea typeface="微软雅黑" pitchFamily="34" charset="-122"/>
                <a:cs typeface="Arial" pitchFamily="34" charset="0"/>
              </a:rPr>
              <a:t>生成矩阵</a:t>
            </a:r>
            <a:r>
              <a:rPr kumimoji="0" lang="zh-CN" altLang="en-US" sz="2000" b="0" kern="0" dirty="0">
                <a:solidFill>
                  <a:srgbClr val="000000"/>
                </a:solidFill>
                <a:latin typeface="Arial" pitchFamily="34" charset="0"/>
                <a:ea typeface="微软雅黑" pitchFamily="34" charset="-122"/>
                <a:cs typeface="Arial" pitchFamily="34" charset="0"/>
              </a:rPr>
              <a:t>，</a:t>
            </a:r>
            <a:endParaRPr lang="zh-CN" altLang="en-US" dirty="0"/>
          </a:p>
        </p:txBody>
      </p:sp>
      <p:sp>
        <p:nvSpPr>
          <p:cNvPr id="8" name="矩形 7">
            <a:extLst>
              <a:ext uri="{FF2B5EF4-FFF2-40B4-BE49-F238E27FC236}">
                <a16:creationId xmlns:a16="http://schemas.microsoft.com/office/drawing/2014/main" id="{EE81A62E-8DFC-86A2-3211-8214A7326215}"/>
              </a:ext>
            </a:extLst>
          </p:cNvPr>
          <p:cNvSpPr/>
          <p:nvPr/>
        </p:nvSpPr>
        <p:spPr>
          <a:xfrm>
            <a:off x="869950" y="4572000"/>
            <a:ext cx="698500" cy="400050"/>
          </a:xfrm>
          <a:prstGeom prst="rect">
            <a:avLst/>
          </a:prstGeom>
        </p:spPr>
        <p:txBody>
          <a:bodyPr wrap="none">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或者</a:t>
            </a:r>
            <a:endParaRPr lang="zh-CN" altLang="en-US" dirty="0"/>
          </a:p>
        </p:txBody>
      </p:sp>
      <p:sp>
        <p:nvSpPr>
          <p:cNvPr id="9" name="矩形 8">
            <a:extLst>
              <a:ext uri="{FF2B5EF4-FFF2-40B4-BE49-F238E27FC236}">
                <a16:creationId xmlns:a16="http://schemas.microsoft.com/office/drawing/2014/main" id="{1D3A2FA9-5C7B-391F-12AF-5AE54863C52A}"/>
              </a:ext>
            </a:extLst>
          </p:cNvPr>
          <p:cNvSpPr/>
          <p:nvPr/>
        </p:nvSpPr>
        <p:spPr>
          <a:xfrm>
            <a:off x="857250" y="5386388"/>
            <a:ext cx="6746875" cy="400050"/>
          </a:xfrm>
          <a:prstGeom prst="rect">
            <a:avLst/>
          </a:prstGeom>
        </p:spPr>
        <p:txBody>
          <a:bodyPr>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因此，若找到了码的</a:t>
            </a:r>
            <a:r>
              <a:rPr kumimoji="0" lang="en-US" altLang="zh-CN" sz="2000" i="1" kern="0" dirty="0">
                <a:solidFill>
                  <a:srgbClr val="FF0000"/>
                </a:solidFill>
                <a:latin typeface="Arial" pitchFamily="34" charset="0"/>
                <a:ea typeface="微软雅黑" pitchFamily="34" charset="-122"/>
                <a:cs typeface="Arial" pitchFamily="34" charset="0"/>
              </a:rPr>
              <a:t>G</a:t>
            </a:r>
            <a:r>
              <a:rPr kumimoji="0" lang="zh-CN" altLang="en-US" sz="2000" b="0" kern="0" dirty="0">
                <a:solidFill>
                  <a:srgbClr val="000000"/>
                </a:solidFill>
                <a:latin typeface="Arial" pitchFamily="34" charset="0"/>
                <a:ea typeface="微软雅黑" pitchFamily="34" charset="-122"/>
                <a:cs typeface="Arial" pitchFamily="34" charset="0"/>
              </a:rPr>
              <a:t>，则编码的方法就完全确定了。</a:t>
            </a:r>
            <a:endParaRPr lang="zh-CN" altLang="en-US" dirty="0"/>
          </a:p>
        </p:txBody>
      </p:sp>
      <p:sp>
        <p:nvSpPr>
          <p:cNvPr id="10" name="矩形 9">
            <a:extLst>
              <a:ext uri="{FF2B5EF4-FFF2-40B4-BE49-F238E27FC236}">
                <a16:creationId xmlns:a16="http://schemas.microsoft.com/office/drawing/2014/main" id="{D293C181-739C-25C7-B054-AA22A7AADD4B}"/>
              </a:ext>
            </a:extLst>
          </p:cNvPr>
          <p:cNvSpPr/>
          <p:nvPr/>
        </p:nvSpPr>
        <p:spPr>
          <a:xfrm>
            <a:off x="857250" y="5888038"/>
            <a:ext cx="5429250" cy="400050"/>
          </a:xfrm>
          <a:prstGeom prst="rect">
            <a:avLst/>
          </a:prstGeom>
        </p:spPr>
        <p:txBody>
          <a:bodyPr>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具有</a:t>
            </a:r>
            <a:r>
              <a:rPr kumimoji="0" lang="en-US" altLang="zh-CN" sz="2000" b="0" kern="0" dirty="0">
                <a:solidFill>
                  <a:srgbClr val="FF0000"/>
                </a:solidFill>
                <a:latin typeface="Arial" pitchFamily="34" charset="0"/>
                <a:ea typeface="微软雅黑" pitchFamily="34" charset="-122"/>
                <a:cs typeface="Arial" pitchFamily="34" charset="0"/>
              </a:rPr>
              <a:t>[</a:t>
            </a:r>
            <a:r>
              <a:rPr kumimoji="0" lang="en-US" altLang="zh-CN" sz="2000" i="1" kern="0" dirty="0">
                <a:solidFill>
                  <a:srgbClr val="FF0000"/>
                </a:solidFill>
                <a:latin typeface="Arial" pitchFamily="34" charset="0"/>
                <a:ea typeface="微软雅黑" pitchFamily="34" charset="-122"/>
                <a:cs typeface="Arial" pitchFamily="34" charset="0"/>
              </a:rPr>
              <a:t>I</a:t>
            </a:r>
            <a:r>
              <a:rPr kumimoji="0" lang="en-US" altLang="zh-CN" sz="2000" b="0" i="1" kern="0" baseline="-25000" dirty="0">
                <a:solidFill>
                  <a:srgbClr val="FF0000"/>
                </a:solidFill>
                <a:latin typeface="Arial" pitchFamily="34" charset="0"/>
                <a:ea typeface="微软雅黑" pitchFamily="34" charset="-122"/>
                <a:cs typeface="Arial" pitchFamily="34" charset="0"/>
              </a:rPr>
              <a:t>k</a:t>
            </a:r>
            <a:r>
              <a:rPr kumimoji="0" lang="en-US" altLang="zh-CN" sz="2000" i="1" kern="0" dirty="0">
                <a:solidFill>
                  <a:srgbClr val="FF0000"/>
                </a:solidFill>
                <a:latin typeface="Arial" pitchFamily="34" charset="0"/>
                <a:ea typeface="微软雅黑" pitchFamily="34" charset="-122"/>
                <a:cs typeface="Arial" pitchFamily="34" charset="0"/>
              </a:rPr>
              <a:t>Q</a:t>
            </a:r>
            <a:r>
              <a:rPr kumimoji="0" lang="en-US" altLang="zh-CN" sz="2000" b="0" kern="0" dirty="0">
                <a:solidFill>
                  <a:srgbClr val="FF0000"/>
                </a:solidFill>
                <a:latin typeface="Arial" pitchFamily="34" charset="0"/>
                <a:ea typeface="微软雅黑" pitchFamily="34" charset="-122"/>
                <a:cs typeface="Arial" pitchFamily="34" charset="0"/>
              </a:rPr>
              <a:t>]</a:t>
            </a:r>
            <a:r>
              <a:rPr kumimoji="0" lang="zh-CN" altLang="en-US" sz="2000" b="0" kern="0" dirty="0">
                <a:solidFill>
                  <a:srgbClr val="000000"/>
                </a:solidFill>
                <a:latin typeface="Arial" pitchFamily="34" charset="0"/>
                <a:ea typeface="微软雅黑" pitchFamily="34" charset="-122"/>
                <a:cs typeface="Arial" pitchFamily="34" charset="0"/>
              </a:rPr>
              <a:t>形式的称为</a:t>
            </a:r>
            <a:r>
              <a:rPr kumimoji="0" lang="zh-CN" altLang="en-US" sz="2000" b="0" kern="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典型</a:t>
            </a: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生成矩阵</a:t>
            </a: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a:t>
            </a:r>
            <a:endParaRPr lang="zh-CN" altLang="en-US" dirty="0">
              <a:effectLst>
                <a:outerShdw blurRad="38100" dist="38100" dir="2700000" algn="tl">
                  <a:srgbClr val="000000">
                    <a:alpha val="43137"/>
                  </a:srgbClr>
                </a:outerShdw>
              </a:effectLst>
            </a:endParaRPr>
          </a:p>
        </p:txBody>
      </p:sp>
      <p:sp>
        <p:nvSpPr>
          <p:cNvPr id="11" name="Rectangle 3">
            <a:extLst>
              <a:ext uri="{FF2B5EF4-FFF2-40B4-BE49-F238E27FC236}">
                <a16:creationId xmlns:a16="http://schemas.microsoft.com/office/drawing/2014/main" id="{798D32F8-B329-1C4F-DD8E-C2885AEF12FD}"/>
              </a:ext>
            </a:extLst>
          </p:cNvPr>
          <p:cNvSpPr txBox="1">
            <a:spLocks noChangeArrowheads="1"/>
          </p:cNvSpPr>
          <p:nvPr/>
        </p:nvSpPr>
        <p:spPr bwMode="auto">
          <a:xfrm>
            <a:off x="5000625" y="5830888"/>
            <a:ext cx="3643313" cy="500062"/>
          </a:xfrm>
          <a:prstGeom prst="rect">
            <a:avLst/>
          </a:prstGeom>
          <a:noFill/>
          <a:ln w="9525">
            <a:noFill/>
            <a:miter lim="800000"/>
            <a:headEnd/>
            <a:tailEnd/>
          </a:ln>
        </p:spPr>
        <p:txBody>
          <a:bodyPr/>
          <a:lstStyle/>
          <a:p>
            <a:pPr marL="228600" indent="-228600">
              <a:lnSpc>
                <a:spcPts val="3200"/>
              </a:lnSpc>
              <a:spcBef>
                <a:spcPct val="20000"/>
              </a:spcBef>
              <a:buClr>
                <a:schemeClr val="accent2"/>
              </a:buClr>
              <a:buSzPct val="55000"/>
              <a:buFont typeface="Wingdings" pitchFamily="2" charset="2"/>
              <a:buNone/>
              <a:defRPr/>
            </a:pPr>
            <a:r>
              <a:rPr kumimoji="0" lang="zh-CN" altLang="en-US" sz="2000" b="0" kern="0" dirty="0">
                <a:solidFill>
                  <a:schemeClr val="tx1"/>
                </a:solidFill>
                <a:latin typeface="Arial" pitchFamily="34" charset="0"/>
                <a:ea typeface="微软雅黑" pitchFamily="34" charset="-122"/>
                <a:cs typeface="Arial" pitchFamily="34" charset="0"/>
              </a:rPr>
              <a:t>由</a:t>
            </a:r>
            <a:r>
              <a:rPr kumimoji="0" lang="zh-CN" altLang="en-US" sz="2000" b="0" kern="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典型</a:t>
            </a:r>
            <a:r>
              <a:rPr kumimoji="0" lang="en-US" altLang="zh-CN" sz="2000" b="0" kern="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G</a:t>
            </a:r>
            <a:r>
              <a:rPr kumimoji="0" lang="zh-CN" altLang="en-US" sz="2000" b="0" kern="0" dirty="0">
                <a:solidFill>
                  <a:schemeClr val="tx1"/>
                </a:solidFill>
                <a:latin typeface="Arial" pitchFamily="34" charset="0"/>
                <a:ea typeface="微软雅黑" pitchFamily="34" charset="-122"/>
                <a:cs typeface="Arial" pitchFamily="34" charset="0"/>
              </a:rPr>
              <a:t>得到的码称为</a:t>
            </a:r>
            <a:r>
              <a:rPr kumimoji="0" lang="zh-CN" altLang="en-US" sz="2000" kern="0" dirty="0">
                <a:solidFill>
                  <a:srgbClr val="FF0000"/>
                </a:solidFill>
                <a:latin typeface="Arial" pitchFamily="34" charset="0"/>
                <a:ea typeface="微软雅黑" pitchFamily="34" charset="-122"/>
                <a:cs typeface="Arial" pitchFamily="34" charset="0"/>
              </a:rPr>
              <a:t>系统码</a:t>
            </a:r>
            <a:r>
              <a:rPr kumimoji="0" lang="zh-CN" altLang="en-US" sz="2000" kern="0" dirty="0">
                <a:solidFill>
                  <a:schemeClr val="tx1"/>
                </a:solidFill>
                <a:latin typeface="Arial" pitchFamily="34" charset="0"/>
                <a:ea typeface="微软雅黑" pitchFamily="34" charset="-122"/>
                <a:cs typeface="Arial" pitchFamily="34" charset="0"/>
              </a:rPr>
              <a:t>。</a:t>
            </a:r>
            <a:endParaRPr kumimoji="0" lang="en-US" altLang="zh-CN" sz="2000" kern="0" dirty="0">
              <a:solidFill>
                <a:schemeClr val="tx1"/>
              </a:solidFill>
              <a:latin typeface="Arial" pitchFamily="34" charset="0"/>
              <a:ea typeface="微软雅黑" pitchFamily="34" charset="-122"/>
              <a:cs typeface="Arial" pitchFamily="34" charset="0"/>
            </a:endParaRPr>
          </a:p>
        </p:txBody>
      </p:sp>
      <p:graphicFrame>
        <p:nvGraphicFramePr>
          <p:cNvPr id="3" name="Object 3">
            <a:extLst>
              <a:ext uri="{FF2B5EF4-FFF2-40B4-BE49-F238E27FC236}">
                <a16:creationId xmlns:a16="http://schemas.microsoft.com/office/drawing/2014/main" id="{26BF535B-E92C-EED6-EC4C-EC3082F84724}"/>
              </a:ext>
            </a:extLst>
          </p:cNvPr>
          <p:cNvGraphicFramePr>
            <a:graphicFrameLocks noChangeAspect="1"/>
          </p:cNvGraphicFramePr>
          <p:nvPr/>
        </p:nvGraphicFramePr>
        <p:xfrm>
          <a:off x="2917825" y="1428750"/>
          <a:ext cx="3133725" cy="1838325"/>
        </p:xfrm>
        <a:graphic>
          <a:graphicData uri="http://schemas.openxmlformats.org/presentationml/2006/ole">
            <mc:AlternateContent xmlns:mc="http://schemas.openxmlformats.org/markup-compatibility/2006">
              <mc:Choice xmlns:v="urn:schemas-microsoft-com:vml" Requires="v">
                <p:oleObj name="Equation" r:id="rId6" imgW="1562040" imgH="914400" progId="Equation.DSMT4">
                  <p:embed/>
                </p:oleObj>
              </mc:Choice>
              <mc:Fallback>
                <p:oleObj name="Equation" r:id="rId6" imgW="1562040" imgH="914400"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7825" y="1428750"/>
                        <a:ext cx="3133725" cy="183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sp>
        <p:nvSpPr>
          <p:cNvPr id="14" name="矩形 13">
            <a:extLst>
              <a:ext uri="{FF2B5EF4-FFF2-40B4-BE49-F238E27FC236}">
                <a16:creationId xmlns:a16="http://schemas.microsoft.com/office/drawing/2014/main" id="{52A87DC5-B938-2CD1-3240-ED94CDD3F6DF}"/>
              </a:ext>
            </a:extLst>
          </p:cNvPr>
          <p:cNvSpPr/>
          <p:nvPr/>
        </p:nvSpPr>
        <p:spPr>
          <a:xfrm>
            <a:off x="1303338" y="2613025"/>
            <a:ext cx="696912" cy="400050"/>
          </a:xfrm>
          <a:prstGeom prst="rect">
            <a:avLst/>
          </a:prstGeom>
        </p:spPr>
        <p:txBody>
          <a:bodyPr wrap="none">
            <a:spAutoFit/>
          </a:bodyPr>
          <a:lstStyle/>
          <a:p>
            <a:pPr>
              <a:defRPr/>
            </a:pP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称为</a:t>
            </a:r>
            <a:endParaRPr lang="zh-CN" altLang="en-US" dirty="0">
              <a:effectLst>
                <a:outerShdw blurRad="38100" dist="38100" dir="2700000" algn="tl">
                  <a:srgbClr val="000000">
                    <a:alpha val="43137"/>
                  </a:srgbClr>
                </a:outerShdw>
              </a:effectLst>
            </a:endParaRPr>
          </a:p>
        </p:txBody>
      </p:sp>
      <p:sp>
        <p:nvSpPr>
          <p:cNvPr id="15" name="Freeform 10">
            <a:extLst>
              <a:ext uri="{FF2B5EF4-FFF2-40B4-BE49-F238E27FC236}">
                <a16:creationId xmlns:a16="http://schemas.microsoft.com/office/drawing/2014/main" id="{11460E95-05AE-5FE2-7A73-CB97C36C45A0}"/>
              </a:ext>
            </a:extLst>
          </p:cNvPr>
          <p:cNvSpPr>
            <a:spLocks/>
          </p:cNvSpPr>
          <p:nvPr/>
        </p:nvSpPr>
        <p:spPr bwMode="auto">
          <a:xfrm rot="11769167" flipH="1">
            <a:off x="1822450" y="2260600"/>
            <a:ext cx="1139825" cy="1306513"/>
          </a:xfrm>
          <a:custGeom>
            <a:avLst/>
            <a:gdLst>
              <a:gd name="T0" fmla="*/ 2147483647 w 1612"/>
              <a:gd name="T1" fmla="*/ 2147483647 h 1618"/>
              <a:gd name="T2" fmla="*/ 2147483647 w 1612"/>
              <a:gd name="T3" fmla="*/ 2147483647 h 1618"/>
              <a:gd name="T4" fmla="*/ 2147483647 w 1612"/>
              <a:gd name="T5" fmla="*/ 2147483647 h 1618"/>
              <a:gd name="T6" fmla="*/ 2147483647 w 1612"/>
              <a:gd name="T7" fmla="*/ 2147483647 h 1618"/>
              <a:gd name="T8" fmla="*/ 2147483647 w 1612"/>
              <a:gd name="T9" fmla="*/ 2147483647 h 1618"/>
              <a:gd name="T10" fmla="*/ 2147483647 w 1612"/>
              <a:gd name="T11" fmla="*/ 2147483647 h 1618"/>
              <a:gd name="T12" fmla="*/ 2147483647 w 1612"/>
              <a:gd name="T13" fmla="*/ 2147483647 h 1618"/>
              <a:gd name="T14" fmla="*/ 2147483647 w 1612"/>
              <a:gd name="T15" fmla="*/ 0 h 1618"/>
              <a:gd name="T16" fmla="*/ 2147483647 w 1612"/>
              <a:gd name="T17" fmla="*/ 2147483647 h 1618"/>
              <a:gd name="T18" fmla="*/ 2147483647 w 1612"/>
              <a:gd name="T19" fmla="*/ 2147483647 h 1618"/>
              <a:gd name="T20" fmla="*/ 2147483647 w 1612"/>
              <a:gd name="T21" fmla="*/ 2147483647 h 1618"/>
              <a:gd name="T22" fmla="*/ 2147483647 w 1612"/>
              <a:gd name="T23" fmla="*/ 2147483647 h 1618"/>
              <a:gd name="T24" fmla="*/ 2147483647 w 1612"/>
              <a:gd name="T25" fmla="*/ 2147483647 h 1618"/>
              <a:gd name="T26" fmla="*/ 2147483647 w 1612"/>
              <a:gd name="T27" fmla="*/ 2147483647 h 1618"/>
              <a:gd name="T28" fmla="*/ 2147483647 w 1612"/>
              <a:gd name="T29" fmla="*/ 2147483647 h 1618"/>
              <a:gd name="T30" fmla="*/ 2147483647 w 1612"/>
              <a:gd name="T31" fmla="*/ 2147483647 h 1618"/>
              <a:gd name="T32" fmla="*/ 2147483647 w 1612"/>
              <a:gd name="T33" fmla="*/ 2147483647 h 1618"/>
              <a:gd name="T34" fmla="*/ 2147483647 w 1612"/>
              <a:gd name="T35" fmla="*/ 2147483647 h 1618"/>
              <a:gd name="T36" fmla="*/ 2147483647 w 1612"/>
              <a:gd name="T37" fmla="*/ 2147483647 h 1618"/>
              <a:gd name="T38" fmla="*/ 2147483647 w 1612"/>
              <a:gd name="T39" fmla="*/ 2147483647 h 1618"/>
              <a:gd name="T40" fmla="*/ 2147483647 w 1612"/>
              <a:gd name="T41" fmla="*/ 2147483647 h 1618"/>
              <a:gd name="T42" fmla="*/ 2147483647 w 1612"/>
              <a:gd name="T43" fmla="*/ 2147483647 h 1618"/>
              <a:gd name="T44" fmla="*/ 2147483647 w 1612"/>
              <a:gd name="T45" fmla="*/ 2147483647 h 1618"/>
              <a:gd name="T46" fmla="*/ 2147483647 w 1612"/>
              <a:gd name="T47" fmla="*/ 2147483647 h 1618"/>
              <a:gd name="T48" fmla="*/ 2147483647 w 1612"/>
              <a:gd name="T49" fmla="*/ 2147483647 h 1618"/>
              <a:gd name="T50" fmla="*/ 2147483647 w 1612"/>
              <a:gd name="T51" fmla="*/ 2147483647 h 1618"/>
              <a:gd name="T52" fmla="*/ 2147483647 w 1612"/>
              <a:gd name="T53" fmla="*/ 2147483647 h 1618"/>
              <a:gd name="T54" fmla="*/ 2147483647 w 1612"/>
              <a:gd name="T55" fmla="*/ 2147483647 h 1618"/>
              <a:gd name="T56" fmla="*/ 2147483647 w 1612"/>
              <a:gd name="T57" fmla="*/ 2147483647 h 1618"/>
              <a:gd name="T58" fmla="*/ 2147483647 w 1612"/>
              <a:gd name="T59" fmla="*/ 2147483647 h 1618"/>
              <a:gd name="T60" fmla="*/ 2147483647 w 1612"/>
              <a:gd name="T61" fmla="*/ 2147483647 h 1618"/>
              <a:gd name="T62" fmla="*/ 2147483647 w 1612"/>
              <a:gd name="T63" fmla="*/ 2147483647 h 1618"/>
              <a:gd name="T64" fmla="*/ 2147483647 w 1612"/>
              <a:gd name="T65" fmla="*/ 2147483647 h 1618"/>
              <a:gd name="T66" fmla="*/ 2147483647 w 1612"/>
              <a:gd name="T67" fmla="*/ 2147483647 h 1618"/>
              <a:gd name="T68" fmla="*/ 2147483647 w 1612"/>
              <a:gd name="T69" fmla="*/ 2147483647 h 1618"/>
              <a:gd name="T70" fmla="*/ 2147483647 w 1612"/>
              <a:gd name="T71" fmla="*/ 2147483647 h 1618"/>
              <a:gd name="T72" fmla="*/ 2147483647 w 1612"/>
              <a:gd name="T73" fmla="*/ 2147483647 h 1618"/>
              <a:gd name="T74" fmla="*/ 2147483647 w 1612"/>
              <a:gd name="T75" fmla="*/ 2147483647 h 1618"/>
              <a:gd name="T76" fmla="*/ 2147483647 w 1612"/>
              <a:gd name="T77" fmla="*/ 2147483647 h 1618"/>
              <a:gd name="T78" fmla="*/ 2147483647 w 1612"/>
              <a:gd name="T79" fmla="*/ 2147483647 h 1618"/>
              <a:gd name="T80" fmla="*/ 2147483647 w 1612"/>
              <a:gd name="T81" fmla="*/ 2147483647 h 161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612"/>
              <a:gd name="T124" fmla="*/ 0 h 1618"/>
              <a:gd name="T125" fmla="*/ 1612 w 1612"/>
              <a:gd name="T126" fmla="*/ 1618 h 161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612" h="1618">
                <a:moveTo>
                  <a:pt x="464" y="966"/>
                </a:moveTo>
                <a:lnTo>
                  <a:pt x="464" y="966"/>
                </a:lnTo>
                <a:lnTo>
                  <a:pt x="418" y="892"/>
                </a:lnTo>
                <a:lnTo>
                  <a:pt x="378" y="822"/>
                </a:lnTo>
                <a:lnTo>
                  <a:pt x="342" y="754"/>
                </a:lnTo>
                <a:lnTo>
                  <a:pt x="310" y="690"/>
                </a:lnTo>
                <a:lnTo>
                  <a:pt x="280" y="630"/>
                </a:lnTo>
                <a:lnTo>
                  <a:pt x="256" y="572"/>
                </a:lnTo>
                <a:lnTo>
                  <a:pt x="234" y="520"/>
                </a:lnTo>
                <a:lnTo>
                  <a:pt x="214" y="472"/>
                </a:lnTo>
                <a:lnTo>
                  <a:pt x="184" y="390"/>
                </a:lnTo>
                <a:lnTo>
                  <a:pt x="166" y="328"/>
                </a:lnTo>
                <a:lnTo>
                  <a:pt x="156" y="290"/>
                </a:lnTo>
                <a:lnTo>
                  <a:pt x="152" y="276"/>
                </a:lnTo>
                <a:lnTo>
                  <a:pt x="244" y="300"/>
                </a:lnTo>
                <a:lnTo>
                  <a:pt x="34" y="0"/>
                </a:lnTo>
                <a:lnTo>
                  <a:pt x="0" y="396"/>
                </a:lnTo>
                <a:lnTo>
                  <a:pt x="82" y="294"/>
                </a:lnTo>
                <a:lnTo>
                  <a:pt x="86" y="308"/>
                </a:lnTo>
                <a:lnTo>
                  <a:pt x="98" y="350"/>
                </a:lnTo>
                <a:lnTo>
                  <a:pt x="120" y="414"/>
                </a:lnTo>
                <a:lnTo>
                  <a:pt x="152" y="500"/>
                </a:lnTo>
                <a:lnTo>
                  <a:pt x="174" y="550"/>
                </a:lnTo>
                <a:lnTo>
                  <a:pt x="200" y="604"/>
                </a:lnTo>
                <a:lnTo>
                  <a:pt x="228" y="662"/>
                </a:lnTo>
                <a:lnTo>
                  <a:pt x="260" y="722"/>
                </a:lnTo>
                <a:lnTo>
                  <a:pt x="296" y="788"/>
                </a:lnTo>
                <a:lnTo>
                  <a:pt x="336" y="856"/>
                </a:lnTo>
                <a:lnTo>
                  <a:pt x="382" y="926"/>
                </a:lnTo>
                <a:lnTo>
                  <a:pt x="430" y="998"/>
                </a:lnTo>
                <a:lnTo>
                  <a:pt x="472" y="1052"/>
                </a:lnTo>
                <a:lnTo>
                  <a:pt x="514" y="1104"/>
                </a:lnTo>
                <a:lnTo>
                  <a:pt x="558" y="1152"/>
                </a:lnTo>
                <a:lnTo>
                  <a:pt x="602" y="1196"/>
                </a:lnTo>
                <a:lnTo>
                  <a:pt x="650" y="1238"/>
                </a:lnTo>
                <a:lnTo>
                  <a:pt x="696" y="1278"/>
                </a:lnTo>
                <a:lnTo>
                  <a:pt x="744" y="1314"/>
                </a:lnTo>
                <a:lnTo>
                  <a:pt x="794" y="1348"/>
                </a:lnTo>
                <a:lnTo>
                  <a:pt x="842" y="1380"/>
                </a:lnTo>
                <a:lnTo>
                  <a:pt x="892" y="1408"/>
                </a:lnTo>
                <a:lnTo>
                  <a:pt x="942" y="1434"/>
                </a:lnTo>
                <a:lnTo>
                  <a:pt x="990" y="1458"/>
                </a:lnTo>
                <a:lnTo>
                  <a:pt x="1038" y="1480"/>
                </a:lnTo>
                <a:lnTo>
                  <a:pt x="1086" y="1500"/>
                </a:lnTo>
                <a:lnTo>
                  <a:pt x="1134" y="1518"/>
                </a:lnTo>
                <a:lnTo>
                  <a:pt x="1180" y="1534"/>
                </a:lnTo>
                <a:lnTo>
                  <a:pt x="1224" y="1548"/>
                </a:lnTo>
                <a:lnTo>
                  <a:pt x="1268" y="1560"/>
                </a:lnTo>
                <a:lnTo>
                  <a:pt x="1350" y="1580"/>
                </a:lnTo>
                <a:lnTo>
                  <a:pt x="1424" y="1596"/>
                </a:lnTo>
                <a:lnTo>
                  <a:pt x="1486" y="1606"/>
                </a:lnTo>
                <a:lnTo>
                  <a:pt x="1540" y="1612"/>
                </a:lnTo>
                <a:lnTo>
                  <a:pt x="1578" y="1616"/>
                </a:lnTo>
                <a:lnTo>
                  <a:pt x="1612" y="1618"/>
                </a:lnTo>
                <a:lnTo>
                  <a:pt x="1580" y="1616"/>
                </a:lnTo>
                <a:lnTo>
                  <a:pt x="1540" y="1612"/>
                </a:lnTo>
                <a:lnTo>
                  <a:pt x="1488" y="1606"/>
                </a:lnTo>
                <a:lnTo>
                  <a:pt x="1426" y="1594"/>
                </a:lnTo>
                <a:lnTo>
                  <a:pt x="1354" y="1578"/>
                </a:lnTo>
                <a:lnTo>
                  <a:pt x="1274" y="1558"/>
                </a:lnTo>
                <a:lnTo>
                  <a:pt x="1230" y="1544"/>
                </a:lnTo>
                <a:lnTo>
                  <a:pt x="1186" y="1530"/>
                </a:lnTo>
                <a:lnTo>
                  <a:pt x="1142" y="1512"/>
                </a:lnTo>
                <a:lnTo>
                  <a:pt x="1096" y="1494"/>
                </a:lnTo>
                <a:lnTo>
                  <a:pt x="1048" y="1474"/>
                </a:lnTo>
                <a:lnTo>
                  <a:pt x="1002" y="1450"/>
                </a:lnTo>
                <a:lnTo>
                  <a:pt x="954" y="1426"/>
                </a:lnTo>
                <a:lnTo>
                  <a:pt x="906" y="1398"/>
                </a:lnTo>
                <a:lnTo>
                  <a:pt x="858" y="1368"/>
                </a:lnTo>
                <a:lnTo>
                  <a:pt x="810" y="1336"/>
                </a:lnTo>
                <a:lnTo>
                  <a:pt x="764" y="1300"/>
                </a:lnTo>
                <a:lnTo>
                  <a:pt x="718" y="1262"/>
                </a:lnTo>
                <a:lnTo>
                  <a:pt x="672" y="1220"/>
                </a:lnTo>
                <a:lnTo>
                  <a:pt x="626" y="1176"/>
                </a:lnTo>
                <a:lnTo>
                  <a:pt x="584" y="1128"/>
                </a:lnTo>
                <a:lnTo>
                  <a:pt x="542" y="1078"/>
                </a:lnTo>
                <a:lnTo>
                  <a:pt x="502" y="1024"/>
                </a:lnTo>
                <a:lnTo>
                  <a:pt x="464" y="966"/>
                </a:lnTo>
                <a:close/>
              </a:path>
            </a:pathLst>
          </a:custGeom>
          <a:solidFill>
            <a:srgbClr val="6666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6" name="矩形 15">
            <a:extLst>
              <a:ext uri="{FF2B5EF4-FFF2-40B4-BE49-F238E27FC236}">
                <a16:creationId xmlns:a16="http://schemas.microsoft.com/office/drawing/2014/main" id="{6EDC2124-2262-8F8B-E630-8A45825B8317}"/>
              </a:ext>
            </a:extLst>
          </p:cNvPr>
          <p:cNvSpPr/>
          <p:nvPr/>
        </p:nvSpPr>
        <p:spPr>
          <a:xfrm>
            <a:off x="2714625" y="2643188"/>
            <a:ext cx="1724025" cy="400050"/>
          </a:xfrm>
          <a:prstGeom prst="rect">
            <a:avLst/>
          </a:prstGeom>
        </p:spPr>
        <p:txBody>
          <a:bodyPr wrap="none">
            <a:spAutoFit/>
          </a:bodyPr>
          <a:lstStyle/>
          <a:p>
            <a:pPr>
              <a:defRPr/>
            </a:pPr>
            <a:r>
              <a:rPr kumimoji="0" lang="zh-CN" altLang="en-US" sz="2000" b="0" kern="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典型生成矩阵</a:t>
            </a:r>
            <a:endParaRPr lang="zh-CN" altLang="en-US" b="0" dirty="0">
              <a:effectLst>
                <a:outerShdw blurRad="38100" dist="38100" dir="2700000" algn="tl">
                  <a:srgbClr val="000000">
                    <a:alpha val="43137"/>
                  </a:srgbClr>
                </a:outerShdw>
              </a:effectLst>
            </a:endParaRPr>
          </a:p>
        </p:txBody>
      </p:sp>
      <p:sp>
        <p:nvSpPr>
          <p:cNvPr id="17" name="矩形 16">
            <a:extLst>
              <a:ext uri="{FF2B5EF4-FFF2-40B4-BE49-F238E27FC236}">
                <a16:creationId xmlns:a16="http://schemas.microsoft.com/office/drawing/2014/main" id="{9220B25E-C49B-64C3-A0B8-ED3267612F01}"/>
              </a:ext>
            </a:extLst>
          </p:cNvPr>
          <p:cNvSpPr/>
          <p:nvPr/>
        </p:nvSpPr>
        <p:spPr>
          <a:xfrm>
            <a:off x="7429500" y="3687763"/>
            <a:ext cx="1214438" cy="1852612"/>
          </a:xfrm>
          <a:prstGeom prst="rect">
            <a:avLst/>
          </a:prstGeom>
          <a:solidFill>
            <a:schemeClr val="bg2">
              <a:lumMod val="10000"/>
              <a:lumOff val="90000"/>
            </a:schemeClr>
          </a:solidFill>
          <a:ln>
            <a:solidFill>
              <a:schemeClr val="bg1">
                <a:lumMod val="50000"/>
              </a:schemeClr>
            </a:solidFill>
          </a:ln>
          <a:effectLst>
            <a:outerShdw blurRad="63500" sx="102000" sy="102000" algn="ctr" rotWithShape="0">
              <a:prstClr val="black">
                <a:alpha val="40000"/>
              </a:prstClr>
            </a:outerShdw>
          </a:effectLst>
        </p:spPr>
        <p:txBody>
          <a:bodyPr>
            <a:spAutoFit/>
          </a:bodyPr>
          <a:lstStyle/>
          <a:p>
            <a:pPr marL="228600" indent="-228600">
              <a:lnSpc>
                <a:spcPts val="2400"/>
              </a:lnSpc>
              <a:spcBef>
                <a:spcPct val="20000"/>
              </a:spcBef>
              <a:buClr>
                <a:srgbClr val="FFCF01"/>
              </a:buClr>
              <a:buSzPct val="55000"/>
              <a:defRPr/>
            </a:pPr>
            <a:r>
              <a:rPr kumimoji="0" lang="zh-CN" altLang="en-US" sz="1800" kern="0" dirty="0">
                <a:solidFill>
                  <a:srgbClr val="000000"/>
                </a:solidFill>
                <a:latin typeface="Arial" pitchFamily="34" charset="0"/>
                <a:ea typeface="幼圆" pitchFamily="49" charset="-122"/>
                <a:cs typeface="Arial" pitchFamily="34" charset="0"/>
              </a:rPr>
              <a:t>码组</a:t>
            </a:r>
            <a:r>
              <a:rPr kumimoji="0" lang="en-US" altLang="zh-CN" sz="1800" i="1" kern="0" dirty="0">
                <a:solidFill>
                  <a:srgbClr val="000000"/>
                </a:solidFill>
                <a:latin typeface="Arial" pitchFamily="34" charset="0"/>
                <a:ea typeface="幼圆" pitchFamily="49" charset="-122"/>
                <a:cs typeface="Arial" pitchFamily="34" charset="0"/>
              </a:rPr>
              <a:t>A</a:t>
            </a:r>
            <a:r>
              <a:rPr kumimoji="0" lang="zh-CN" altLang="en-US" sz="1800" kern="0" dirty="0">
                <a:solidFill>
                  <a:srgbClr val="000000"/>
                </a:solidFill>
                <a:latin typeface="Arial" pitchFamily="34" charset="0"/>
                <a:ea typeface="幼圆" pitchFamily="49" charset="-122"/>
                <a:cs typeface="Arial" pitchFamily="34" charset="0"/>
              </a:rPr>
              <a:t>中，</a:t>
            </a:r>
            <a:endParaRPr kumimoji="0" lang="en-US" altLang="zh-CN" sz="1800" kern="0" dirty="0">
              <a:solidFill>
                <a:srgbClr val="000000"/>
              </a:solidFill>
              <a:latin typeface="Arial" pitchFamily="34" charset="0"/>
              <a:ea typeface="幼圆" pitchFamily="49" charset="-122"/>
              <a:cs typeface="Arial" pitchFamily="34" charset="0"/>
            </a:endParaRPr>
          </a:p>
          <a:p>
            <a:pPr marL="228600" indent="-228600">
              <a:lnSpc>
                <a:spcPts val="2400"/>
              </a:lnSpc>
              <a:spcBef>
                <a:spcPct val="20000"/>
              </a:spcBef>
              <a:buClr>
                <a:srgbClr val="FFCF01"/>
              </a:buClr>
              <a:buSzPct val="55000"/>
              <a:defRPr/>
            </a:pPr>
            <a:r>
              <a:rPr kumimoji="0" lang="zh-CN" altLang="en-US" sz="1800" kern="0" dirty="0">
                <a:solidFill>
                  <a:srgbClr val="000000"/>
                </a:solidFill>
                <a:latin typeface="Arial" pitchFamily="34" charset="0"/>
                <a:ea typeface="幼圆" pitchFamily="49" charset="-122"/>
                <a:cs typeface="Arial" pitchFamily="34" charset="0"/>
              </a:rPr>
              <a:t>信息位的</a:t>
            </a:r>
            <a:endParaRPr kumimoji="0" lang="en-US" altLang="zh-CN" sz="1800" kern="0" dirty="0">
              <a:solidFill>
                <a:srgbClr val="000000"/>
              </a:solidFill>
              <a:latin typeface="Arial" pitchFamily="34" charset="0"/>
              <a:ea typeface="幼圆" pitchFamily="49" charset="-122"/>
              <a:cs typeface="Arial" pitchFamily="34" charset="0"/>
            </a:endParaRPr>
          </a:p>
          <a:p>
            <a:pPr marL="228600" indent="-228600">
              <a:lnSpc>
                <a:spcPts val="2400"/>
              </a:lnSpc>
              <a:spcBef>
                <a:spcPct val="20000"/>
              </a:spcBef>
              <a:buClr>
                <a:srgbClr val="FFCF01"/>
              </a:buClr>
              <a:buSzPct val="55000"/>
              <a:defRPr/>
            </a:pPr>
            <a:r>
              <a:rPr kumimoji="0" lang="zh-CN" altLang="en-US" sz="1800" kern="0" dirty="0">
                <a:solidFill>
                  <a:srgbClr val="000000"/>
                </a:solidFill>
                <a:latin typeface="Arial" pitchFamily="34" charset="0"/>
                <a:ea typeface="幼圆" pitchFamily="49" charset="-122"/>
                <a:cs typeface="Arial" pitchFamily="34" charset="0"/>
              </a:rPr>
              <a:t>位置不变，</a:t>
            </a:r>
            <a:endParaRPr kumimoji="0" lang="en-US" altLang="zh-CN" sz="1800" kern="0" dirty="0">
              <a:solidFill>
                <a:srgbClr val="000000"/>
              </a:solidFill>
              <a:latin typeface="Arial" pitchFamily="34" charset="0"/>
              <a:ea typeface="幼圆" pitchFamily="49" charset="-122"/>
              <a:cs typeface="Arial" pitchFamily="34" charset="0"/>
            </a:endParaRPr>
          </a:p>
          <a:p>
            <a:pPr marL="228600" indent="-228600">
              <a:lnSpc>
                <a:spcPts val="2400"/>
              </a:lnSpc>
              <a:spcBef>
                <a:spcPct val="20000"/>
              </a:spcBef>
              <a:buClr>
                <a:srgbClr val="FFCF01"/>
              </a:buClr>
              <a:buSzPct val="55000"/>
              <a:defRPr/>
            </a:pPr>
            <a:r>
              <a:rPr kumimoji="0" lang="zh-CN" altLang="en-US" sz="1800" kern="0" dirty="0">
                <a:solidFill>
                  <a:srgbClr val="000000"/>
                </a:solidFill>
                <a:latin typeface="Arial" pitchFamily="34" charset="0"/>
                <a:ea typeface="幼圆" pitchFamily="49" charset="-122"/>
                <a:cs typeface="Arial" pitchFamily="34" charset="0"/>
              </a:rPr>
              <a:t>监督位</a:t>
            </a:r>
            <a:endParaRPr kumimoji="0" lang="en-US" altLang="zh-CN" sz="1800" kern="0" dirty="0">
              <a:solidFill>
                <a:srgbClr val="000000"/>
              </a:solidFill>
              <a:latin typeface="Arial" pitchFamily="34" charset="0"/>
              <a:ea typeface="幼圆" pitchFamily="49" charset="-122"/>
              <a:cs typeface="Arial" pitchFamily="34" charset="0"/>
            </a:endParaRPr>
          </a:p>
          <a:p>
            <a:pPr marL="228600" indent="-228600">
              <a:lnSpc>
                <a:spcPts val="2400"/>
              </a:lnSpc>
              <a:spcBef>
                <a:spcPct val="20000"/>
              </a:spcBef>
              <a:buClr>
                <a:srgbClr val="FFCF01"/>
              </a:buClr>
              <a:buSzPct val="55000"/>
              <a:defRPr/>
            </a:pPr>
            <a:r>
              <a:rPr kumimoji="0" lang="zh-CN" altLang="en-US" sz="1800" kern="0" dirty="0">
                <a:solidFill>
                  <a:srgbClr val="000000"/>
                </a:solidFill>
                <a:latin typeface="Arial" pitchFamily="34" charset="0"/>
                <a:ea typeface="幼圆" pitchFamily="49" charset="-122"/>
                <a:cs typeface="Arial" pitchFamily="34" charset="0"/>
              </a:rPr>
              <a:t>附在其后。 </a:t>
            </a:r>
          </a:p>
        </p:txBody>
      </p:sp>
      <p:cxnSp>
        <p:nvCxnSpPr>
          <p:cNvPr id="19" name="直接连接符 18">
            <a:extLst>
              <a:ext uri="{FF2B5EF4-FFF2-40B4-BE49-F238E27FC236}">
                <a16:creationId xmlns:a16="http://schemas.microsoft.com/office/drawing/2014/main" id="{71E5916E-5D67-151B-4B3F-36CBD12B37FD}"/>
              </a:ext>
            </a:extLst>
          </p:cNvPr>
          <p:cNvCxnSpPr>
            <a:cxnSpLocks noChangeShapeType="1"/>
          </p:cNvCxnSpPr>
          <p:nvPr/>
        </p:nvCxnSpPr>
        <p:spPr bwMode="auto">
          <a:xfrm rot="16200000" flipV="1">
            <a:off x="7822406" y="5723732"/>
            <a:ext cx="357187" cy="0"/>
          </a:xfrm>
          <a:prstGeom prst="line">
            <a:avLst/>
          </a:prstGeom>
          <a:noFill/>
          <a:ln w="9525" algn="ctr">
            <a:solidFill>
              <a:srgbClr val="FF0000"/>
            </a:solidFill>
            <a:miter lim="800000"/>
            <a:headEnd/>
            <a:tailEnd/>
          </a:ln>
          <a:extLst>
            <a:ext uri="{909E8E84-426E-40DD-AFC4-6F175D3DCCD1}">
              <a14:hiddenFill xmlns:a14="http://schemas.microsoft.com/office/drawing/2010/main">
                <a:noFill/>
              </a14:hiddenFill>
            </a:ext>
          </a:extLst>
        </p:spPr>
      </p:cxnSp>
      <p:sp>
        <p:nvSpPr>
          <p:cNvPr id="20" name="矩形 19">
            <a:extLst>
              <a:ext uri="{FF2B5EF4-FFF2-40B4-BE49-F238E27FC236}">
                <a16:creationId xmlns:a16="http://schemas.microsoft.com/office/drawing/2014/main" id="{69922AB7-598A-BAEA-C709-5F581FCEC237}"/>
              </a:ext>
            </a:extLst>
          </p:cNvPr>
          <p:cNvSpPr/>
          <p:nvPr/>
        </p:nvSpPr>
        <p:spPr>
          <a:xfrm>
            <a:off x="2214563" y="3413125"/>
            <a:ext cx="5072062" cy="461963"/>
          </a:xfrm>
          <a:prstGeom prst="rect">
            <a:avLst/>
          </a:prstGeom>
        </p:spPr>
        <p:txBody>
          <a:bodyPr>
            <a:spAutoFit/>
          </a:bodyPr>
          <a:lstStyle/>
          <a:p>
            <a:pPr>
              <a:defRPr/>
            </a:pPr>
            <a:r>
              <a:rPr lang="en-US" sz="2400" dirty="0">
                <a:solidFill>
                  <a:srgbClr val="0000CC"/>
                </a:solidFill>
              </a:rPr>
              <a:t>∵</a:t>
            </a:r>
            <a:r>
              <a:rPr kumimoji="0" lang="zh-CN" altLang="en-US" sz="2000" b="0" kern="0" dirty="0">
                <a:solidFill>
                  <a:srgbClr val="000000"/>
                </a:solidFill>
                <a:latin typeface="Arial" pitchFamily="34" charset="0"/>
                <a:ea typeface="微软雅黑" pitchFamily="34" charset="-122"/>
                <a:cs typeface="Arial" pitchFamily="34" charset="0"/>
              </a:rPr>
              <a:t>由它可以产生整个码组，即有</a:t>
            </a:r>
            <a:r>
              <a:rPr kumimoji="0" lang="en-US" altLang="zh-CN" sz="2000" b="0" kern="0" dirty="0">
                <a:solidFill>
                  <a:srgbClr val="000000"/>
                </a:solidFill>
                <a:latin typeface="Arial" pitchFamily="34" charset="0"/>
                <a:ea typeface="微软雅黑" pitchFamily="34" charset="-122"/>
                <a:cs typeface="Arial" pitchFamily="34" charset="0"/>
              </a:rPr>
              <a:t>:</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1000"/>
                                        <p:tgtEl>
                                          <p:spTgt spid="6"/>
                                        </p:tgtEl>
                                      </p:cBhvr>
                                    </p:animEffect>
                                  </p:childTnLst>
                                </p:cTn>
                              </p:par>
                            </p:childTnLst>
                          </p:cTn>
                        </p:par>
                        <p:par>
                          <p:cTn id="8" fill="hold" nodeType="afterGroup">
                            <p:stCondLst>
                              <p:cond delay="1000"/>
                            </p:stCondLst>
                            <p:childTnLst>
                              <p:par>
                                <p:cTn id="9" presetID="22" presetClass="entr" presetSubtype="2"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right)">
                                      <p:cBhvr>
                                        <p:cTn id="11" dur="2000"/>
                                        <p:tgtEl>
                                          <p:spTgt spid="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up)">
                                      <p:cBhvr>
                                        <p:cTn id="16" dur="1000"/>
                                        <p:tgtEl>
                                          <p:spTgt spid="15"/>
                                        </p:tgtEl>
                                      </p:cBhvr>
                                    </p:animEffect>
                                  </p:childTnLst>
                                </p:cTn>
                              </p:par>
                              <p:par>
                                <p:cTn id="17" presetID="22" presetClass="entr" presetSubtype="1"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up)">
                                      <p:cBhvr>
                                        <p:cTn id="19" dur="1000"/>
                                        <p:tgtEl>
                                          <p:spTgt spid="14"/>
                                        </p:tgtEl>
                                      </p:cBhvr>
                                    </p:animEffect>
                                  </p:childTnLst>
                                </p:cTn>
                              </p:par>
                            </p:childTnLst>
                          </p:cTn>
                        </p:par>
                        <p:par>
                          <p:cTn id="20" fill="hold" nodeType="afterGroup">
                            <p:stCondLst>
                              <p:cond delay="1000"/>
                            </p:stCondLst>
                            <p:childTnLst>
                              <p:par>
                                <p:cTn id="21" presetID="22" presetClass="entr" presetSubtype="1"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up)">
                                      <p:cBhvr>
                                        <p:cTn id="23" dur="1000"/>
                                        <p:tgtEl>
                                          <p:spTgt spid="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wipe(left)">
                                      <p:cBhvr>
                                        <p:cTn id="28" dur="2000"/>
                                        <p:tgtEl>
                                          <p:spTgt spid="20"/>
                                        </p:tgtEl>
                                      </p:cBhvr>
                                    </p:animEffect>
                                  </p:childTnLst>
                                </p:cTn>
                              </p:par>
                            </p:childTnLst>
                          </p:cTn>
                        </p:par>
                        <p:par>
                          <p:cTn id="29" fill="hold" nodeType="afterGroup">
                            <p:stCondLst>
                              <p:cond delay="2000"/>
                            </p:stCondLst>
                            <p:childTnLst>
                              <p:par>
                                <p:cTn id="30" presetID="22" presetClass="entr" presetSubtype="1" fill="hold" nodeType="afterEffect">
                                  <p:stCondLst>
                                    <p:cond delay="0"/>
                                  </p:stCondLst>
                                  <p:childTnLst>
                                    <p:set>
                                      <p:cBhvr>
                                        <p:cTn id="31" dur="1" fill="hold">
                                          <p:stCondLst>
                                            <p:cond delay="0"/>
                                          </p:stCondLst>
                                        </p:cTn>
                                        <p:tgtEl>
                                          <p:spTgt spid="71686"/>
                                        </p:tgtEl>
                                        <p:attrNameLst>
                                          <p:attrName>style.visibility</p:attrName>
                                        </p:attrNameLst>
                                      </p:cBhvr>
                                      <p:to>
                                        <p:strVal val="visible"/>
                                      </p:to>
                                    </p:set>
                                    <p:animEffect transition="in" filter="wipe(up)">
                                      <p:cBhvr>
                                        <p:cTn id="32" dur="1000"/>
                                        <p:tgtEl>
                                          <p:spTgt spid="7168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up)">
                                      <p:cBhvr>
                                        <p:cTn id="37" dur="1000"/>
                                        <p:tgtEl>
                                          <p:spTgt spid="8"/>
                                        </p:tgtEl>
                                      </p:cBhvr>
                                    </p:animEffect>
                                  </p:childTnLst>
                                </p:cTn>
                              </p:par>
                            </p:childTnLst>
                          </p:cTn>
                        </p:par>
                        <p:par>
                          <p:cTn id="38" fill="hold" nodeType="afterGroup">
                            <p:stCondLst>
                              <p:cond delay="1000"/>
                            </p:stCondLst>
                            <p:childTnLst>
                              <p:par>
                                <p:cTn id="39" presetID="22" presetClass="entr" presetSubtype="1" fill="hold" nodeType="afterEffect">
                                  <p:stCondLst>
                                    <p:cond delay="0"/>
                                  </p:stCondLst>
                                  <p:childTnLst>
                                    <p:set>
                                      <p:cBhvr>
                                        <p:cTn id="40" dur="1" fill="hold">
                                          <p:stCondLst>
                                            <p:cond delay="0"/>
                                          </p:stCondLst>
                                        </p:cTn>
                                        <p:tgtEl>
                                          <p:spTgt spid="71688"/>
                                        </p:tgtEl>
                                        <p:attrNameLst>
                                          <p:attrName>style.visibility</p:attrName>
                                        </p:attrNameLst>
                                      </p:cBhvr>
                                      <p:to>
                                        <p:strVal val="visible"/>
                                      </p:to>
                                    </p:set>
                                    <p:animEffect transition="in" filter="wipe(up)">
                                      <p:cBhvr>
                                        <p:cTn id="41" dur="1000"/>
                                        <p:tgtEl>
                                          <p:spTgt spid="7168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nodeType="click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wipe(up)">
                                      <p:cBhvr>
                                        <p:cTn id="46" dur="1000"/>
                                        <p:tgtEl>
                                          <p:spTgt spid="9"/>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wipe(up)">
                                      <p:cBhvr>
                                        <p:cTn id="51" dur="1000"/>
                                        <p:tgtEl>
                                          <p:spTgt spid="10"/>
                                        </p:tgtEl>
                                      </p:cBhvr>
                                    </p:animEffect>
                                  </p:childTnLst>
                                </p:cTn>
                              </p:par>
                              <p:par>
                                <p:cTn id="52" presetID="3" presetClass="entr" presetSubtype="5" fill="hold" nodeType="with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blinds(vertical)">
                                      <p:cBhvr>
                                        <p:cTn id="54" dur="1000"/>
                                        <p:tgtEl>
                                          <p:spTgt spid="16"/>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wipe(left)">
                                      <p:cBhvr>
                                        <p:cTn id="59" dur="2000"/>
                                        <p:tgtEl>
                                          <p:spTgt spid="11"/>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4" fill="hold" nodeType="click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wipe(down)">
                                      <p:cBhvr>
                                        <p:cTn id="64" dur="1000"/>
                                        <p:tgtEl>
                                          <p:spTgt spid="19"/>
                                        </p:tgtEl>
                                      </p:cBhvr>
                                    </p:animEffect>
                                  </p:childTnLst>
                                </p:cTn>
                              </p:par>
                            </p:childTnLst>
                          </p:cTn>
                        </p:par>
                        <p:par>
                          <p:cTn id="65" fill="hold" nodeType="afterGroup">
                            <p:stCondLst>
                              <p:cond delay="1000"/>
                            </p:stCondLst>
                            <p:childTnLst>
                              <p:par>
                                <p:cTn id="66" presetID="22" presetClass="entr" presetSubtype="4" fill="hold" nodeType="after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wipe(down)">
                                      <p:cBhvr>
                                        <p:cTn id="68"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4" grpId="0"/>
      <p:bldP spid="15" grpId="0" animBg="1"/>
      <p:bldP spid="16" grpId="0"/>
      <p:bldP spid="17" grpId="0" animBg="1"/>
      <p:bldP spid="20"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20A8C2B-71FE-5B61-632C-5A683DCA85C4}"/>
              </a:ext>
            </a:extLst>
          </p:cNvPr>
          <p:cNvSpPr/>
          <p:nvPr/>
        </p:nvSpPr>
        <p:spPr>
          <a:xfrm>
            <a:off x="642938" y="785813"/>
            <a:ext cx="2428875" cy="523875"/>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a:buClr>
                <a:srgbClr val="0000CC"/>
              </a:buClr>
              <a:buSzPct val="65000"/>
              <a:buFont typeface="Wingdings" pitchFamily="2" charset="2"/>
              <a:buChar char="u"/>
              <a:defRPr/>
            </a:pPr>
            <a:r>
              <a:rPr kumimoji="0" lang="en-US" altLang="zh-CN" sz="2800" i="1" kern="0" dirty="0">
                <a:solidFill>
                  <a:srgbClr val="FF0000"/>
                </a:solidFill>
                <a:latin typeface="Arial" pitchFamily="34" charset="0"/>
                <a:ea typeface="微软雅黑" pitchFamily="34" charset="-122"/>
                <a:cs typeface="Arial" pitchFamily="34" charset="0"/>
              </a:rPr>
              <a:t> G</a:t>
            </a:r>
            <a:r>
              <a:rPr kumimoji="0" lang="en-US" altLang="zh-CN" sz="2400" i="1" kern="0" dirty="0">
                <a:solidFill>
                  <a:srgbClr val="FF0000"/>
                </a:solidFill>
                <a:latin typeface="Arial" pitchFamily="34" charset="0"/>
                <a:ea typeface="微软雅黑" pitchFamily="34" charset="-122"/>
                <a:cs typeface="Arial" pitchFamily="34" charset="0"/>
              </a:rPr>
              <a:t> </a:t>
            </a:r>
            <a:r>
              <a:rPr kumimoji="0" lang="zh-CN" altLang="en-US" sz="2400" kern="0" dirty="0">
                <a:solidFill>
                  <a:srgbClr val="003399"/>
                </a:solidFill>
                <a:latin typeface="Arial" pitchFamily="34" charset="0"/>
                <a:ea typeface="微软雅黑" pitchFamily="34" charset="-122"/>
                <a:cs typeface="Arial" pitchFamily="34" charset="0"/>
              </a:rPr>
              <a:t>矩阵的</a:t>
            </a:r>
            <a:r>
              <a:rPr kumimoji="0" lang="zh-CN" altLang="en-US" sz="2400" kern="0" dirty="0">
                <a:solidFill>
                  <a:srgbClr val="FF0000"/>
                </a:solidFill>
                <a:latin typeface="Arial" pitchFamily="34" charset="0"/>
                <a:ea typeface="微软雅黑" pitchFamily="34" charset="-122"/>
                <a:cs typeface="Arial" pitchFamily="34" charset="0"/>
              </a:rPr>
              <a:t>性质</a:t>
            </a:r>
            <a:r>
              <a:rPr kumimoji="0" lang="zh-CN" altLang="en-US" sz="2400" b="0" kern="0" dirty="0">
                <a:solidFill>
                  <a:srgbClr val="003399"/>
                </a:solidFill>
                <a:latin typeface="Arial" pitchFamily="34" charset="0"/>
                <a:ea typeface="微软雅黑" pitchFamily="34" charset="-122"/>
                <a:cs typeface="Arial" pitchFamily="34" charset="0"/>
              </a:rPr>
              <a:t> </a:t>
            </a:r>
            <a:endParaRPr lang="zh-CN" altLang="en-US" sz="2400" dirty="0">
              <a:solidFill>
                <a:srgbClr val="003399"/>
              </a:solidFill>
            </a:endParaRPr>
          </a:p>
        </p:txBody>
      </p:sp>
      <p:sp>
        <p:nvSpPr>
          <p:cNvPr id="5" name="矩形 4">
            <a:extLst>
              <a:ext uri="{FF2B5EF4-FFF2-40B4-BE49-F238E27FC236}">
                <a16:creationId xmlns:a16="http://schemas.microsoft.com/office/drawing/2014/main" id="{A698544B-3499-A001-1075-9A3547AD6276}"/>
              </a:ext>
            </a:extLst>
          </p:cNvPr>
          <p:cNvSpPr/>
          <p:nvPr/>
        </p:nvSpPr>
        <p:spPr>
          <a:xfrm>
            <a:off x="671513" y="1685925"/>
            <a:ext cx="4429125" cy="461963"/>
          </a:xfrm>
          <a:prstGeom prst="rect">
            <a:avLst/>
          </a:prstGeom>
        </p:spPr>
        <p:txBody>
          <a:bodyPr>
            <a:spAutoFit/>
          </a:bodyPr>
          <a:lstStyle/>
          <a:p>
            <a:pPr>
              <a:defRPr/>
            </a:pPr>
            <a:r>
              <a:rPr kumimoji="0" lang="zh-CN" altLang="en-US" sz="2000" kern="0" dirty="0">
                <a:solidFill>
                  <a:srgbClr val="0000CC"/>
                </a:solidFill>
                <a:latin typeface="Arial" pitchFamily="34" charset="0"/>
                <a:ea typeface="微软雅黑" pitchFamily="34" charset="-122"/>
                <a:cs typeface="Arial" pitchFamily="34" charset="0"/>
              </a:rPr>
              <a:t> </a:t>
            </a:r>
            <a:r>
              <a:rPr kumimoji="0" lang="en-US" altLang="zh-CN" sz="2400" dirty="0">
                <a:solidFill>
                  <a:srgbClr val="0066FF"/>
                </a:solidFill>
                <a:latin typeface="微软雅黑" pitchFamily="34" charset="-122"/>
                <a:ea typeface="微软雅黑" pitchFamily="34" charset="-122"/>
                <a:cs typeface="Arial" pitchFamily="34" charset="0"/>
                <a:sym typeface="Symbol" pitchFamily="18" charset="2"/>
              </a:rPr>
              <a:t>①</a:t>
            </a:r>
            <a:r>
              <a:rPr kumimoji="0" lang="en-US" altLang="zh-CN" sz="2400" dirty="0">
                <a:solidFill>
                  <a:srgbClr val="0000CC"/>
                </a:solidFill>
                <a:latin typeface="微软雅黑" pitchFamily="34" charset="-122"/>
                <a:ea typeface="微软雅黑" pitchFamily="34" charset="-122"/>
                <a:cs typeface="Arial" pitchFamily="34" charset="0"/>
                <a:sym typeface="Symbol" pitchFamily="18" charset="2"/>
              </a:rPr>
              <a:t> </a:t>
            </a:r>
            <a:r>
              <a:rPr kumimoji="0" lang="en-US" altLang="zh-CN" sz="2400" i="1" kern="0" dirty="0">
                <a:solidFill>
                  <a:srgbClr val="000000"/>
                </a:solidFill>
                <a:latin typeface="Arial" pitchFamily="34" charset="0"/>
                <a:ea typeface="微软雅黑" pitchFamily="34" charset="-122"/>
                <a:cs typeface="Arial" pitchFamily="34" charset="0"/>
              </a:rPr>
              <a:t>G </a:t>
            </a:r>
            <a:r>
              <a:rPr kumimoji="0" lang="zh-CN" altLang="en-US" sz="2000" b="0" kern="0" dirty="0">
                <a:solidFill>
                  <a:schemeClr val="tx1"/>
                </a:solidFill>
                <a:latin typeface="Arial" pitchFamily="34" charset="0"/>
                <a:ea typeface="微软雅黑" pitchFamily="34" charset="-122"/>
                <a:cs typeface="Arial" pitchFamily="34" charset="0"/>
              </a:rPr>
              <a:t>矩阵</a:t>
            </a:r>
            <a:r>
              <a:rPr kumimoji="0" lang="zh-CN" altLang="en-US" sz="2000" b="0" kern="0" dirty="0">
                <a:solidFill>
                  <a:srgbClr val="000000"/>
                </a:solidFill>
                <a:latin typeface="Arial" pitchFamily="34" charset="0"/>
                <a:ea typeface="微软雅黑" pitchFamily="34" charset="-122"/>
                <a:cs typeface="Arial" pitchFamily="34" charset="0"/>
              </a:rPr>
              <a:t>的各行是</a:t>
            </a:r>
            <a:r>
              <a:rPr kumimoji="0" lang="zh-CN" altLang="en-US" sz="2000" kern="0" dirty="0">
                <a:solidFill>
                  <a:srgbClr val="FF0000"/>
                </a:solidFill>
                <a:latin typeface="Arial" pitchFamily="34" charset="0"/>
                <a:ea typeface="微软雅黑" pitchFamily="34" charset="-122"/>
                <a:cs typeface="Arial" pitchFamily="34" charset="0"/>
              </a:rPr>
              <a:t>线性无关</a:t>
            </a:r>
            <a:r>
              <a:rPr kumimoji="0" lang="zh-CN" altLang="en-US" sz="2000" b="0" kern="0" dirty="0">
                <a:solidFill>
                  <a:srgbClr val="000000"/>
                </a:solidFill>
                <a:latin typeface="Arial" pitchFamily="34" charset="0"/>
                <a:ea typeface="微软雅黑" pitchFamily="34" charset="-122"/>
                <a:cs typeface="Arial" pitchFamily="34" charset="0"/>
              </a:rPr>
              <a:t>的。</a:t>
            </a:r>
            <a:endParaRPr lang="zh-CN" altLang="en-US" dirty="0"/>
          </a:p>
        </p:txBody>
      </p:sp>
      <p:graphicFrame>
        <p:nvGraphicFramePr>
          <p:cNvPr id="71688" name="Object 8">
            <a:extLst>
              <a:ext uri="{FF2B5EF4-FFF2-40B4-BE49-F238E27FC236}">
                <a16:creationId xmlns:a16="http://schemas.microsoft.com/office/drawing/2014/main" id="{F19F303E-E534-8503-544C-8FCEC8EE294C}"/>
              </a:ext>
            </a:extLst>
          </p:cNvPr>
          <p:cNvGraphicFramePr>
            <a:graphicFrameLocks noChangeAspect="1"/>
          </p:cNvGraphicFramePr>
          <p:nvPr/>
        </p:nvGraphicFramePr>
        <p:xfrm>
          <a:off x="3714750" y="2357438"/>
          <a:ext cx="2270125" cy="468312"/>
        </p:xfrm>
        <a:graphic>
          <a:graphicData uri="http://schemas.openxmlformats.org/presentationml/2006/ole">
            <mc:AlternateContent xmlns:mc="http://schemas.openxmlformats.org/markup-compatibility/2006">
              <mc:Choice xmlns:v="urn:schemas-microsoft-com:vml" Requires="v">
                <p:oleObj name="公式" r:id="rId2" imgW="1104840" imgH="228600" progId="Equation.3">
                  <p:embed/>
                </p:oleObj>
              </mc:Choice>
              <mc:Fallback>
                <p:oleObj name="公式" r:id="rId2" imgW="1104840" imgH="228600" progId="Equation.3">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4750" y="2357438"/>
                        <a:ext cx="2270125" cy="468312"/>
                      </a:xfrm>
                      <a:prstGeom prst="rect">
                        <a:avLst/>
                      </a:prstGeom>
                      <a:noFill/>
                      <a:ln w="38100" cmpd="dbl">
                        <a:solidFill>
                          <a:srgbClr val="6666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矩形 6">
            <a:extLst>
              <a:ext uri="{FF2B5EF4-FFF2-40B4-BE49-F238E27FC236}">
                <a16:creationId xmlns:a16="http://schemas.microsoft.com/office/drawing/2014/main" id="{8BE22EAB-BBA6-1323-2040-7801E417C21F}"/>
              </a:ext>
            </a:extLst>
          </p:cNvPr>
          <p:cNvSpPr/>
          <p:nvPr/>
        </p:nvSpPr>
        <p:spPr>
          <a:xfrm>
            <a:off x="4643438" y="1689100"/>
            <a:ext cx="1285875" cy="461963"/>
          </a:xfrm>
          <a:prstGeom prst="rect">
            <a:avLst/>
          </a:prstGeom>
        </p:spPr>
        <p:txBody>
          <a:bodyPr>
            <a:spAutoFit/>
          </a:bodyPr>
          <a:lstStyle/>
          <a:p>
            <a:pPr>
              <a:defRPr/>
            </a:pPr>
            <a:r>
              <a:rPr lang="en-US" sz="2400" dirty="0">
                <a:solidFill>
                  <a:srgbClr val="0000CC"/>
                </a:solidFill>
              </a:rPr>
              <a:t>∵</a:t>
            </a:r>
            <a:r>
              <a:rPr kumimoji="0" lang="zh-CN" altLang="en-US" sz="2000" b="0" kern="0" dirty="0">
                <a:solidFill>
                  <a:srgbClr val="000000"/>
                </a:solidFill>
                <a:latin typeface="Arial" pitchFamily="34" charset="0"/>
                <a:ea typeface="微软雅黑" pitchFamily="34" charset="-122"/>
                <a:cs typeface="Arial" pitchFamily="34" charset="0"/>
              </a:rPr>
              <a:t>由式</a:t>
            </a:r>
            <a:endParaRPr lang="zh-CN" altLang="en-US" dirty="0"/>
          </a:p>
        </p:txBody>
      </p:sp>
      <p:sp>
        <p:nvSpPr>
          <p:cNvPr id="8" name="矩形 7">
            <a:extLst>
              <a:ext uri="{FF2B5EF4-FFF2-40B4-BE49-F238E27FC236}">
                <a16:creationId xmlns:a16="http://schemas.microsoft.com/office/drawing/2014/main" id="{2D66B35F-E1BE-FD34-FED5-E4469C8E8B65}"/>
              </a:ext>
            </a:extLst>
          </p:cNvPr>
          <p:cNvSpPr/>
          <p:nvPr/>
        </p:nvSpPr>
        <p:spPr>
          <a:xfrm>
            <a:off x="1143000" y="2957513"/>
            <a:ext cx="1281113" cy="400050"/>
          </a:xfrm>
          <a:prstGeom prst="rect">
            <a:avLst/>
          </a:prstGeom>
        </p:spPr>
        <p:txBody>
          <a:bodyPr wrap="none">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可以看出</a:t>
            </a:r>
            <a:r>
              <a:rPr kumimoji="0" lang="en-US" altLang="zh-CN" sz="2000" b="0" kern="0" dirty="0">
                <a:solidFill>
                  <a:srgbClr val="000000"/>
                </a:solidFill>
                <a:latin typeface="Arial" pitchFamily="34" charset="0"/>
                <a:ea typeface="微软雅黑" pitchFamily="34" charset="-122"/>
                <a:cs typeface="Arial" pitchFamily="34" charset="0"/>
              </a:rPr>
              <a:t>:</a:t>
            </a:r>
            <a:endParaRPr lang="zh-CN" altLang="en-US" dirty="0"/>
          </a:p>
        </p:txBody>
      </p:sp>
      <p:sp>
        <p:nvSpPr>
          <p:cNvPr id="9" name="矩形 8">
            <a:extLst>
              <a:ext uri="{FF2B5EF4-FFF2-40B4-BE49-F238E27FC236}">
                <a16:creationId xmlns:a16="http://schemas.microsoft.com/office/drawing/2014/main" id="{5171DDE1-5FEF-DDAA-28F3-A817FDF7B438}"/>
              </a:ext>
            </a:extLst>
          </p:cNvPr>
          <p:cNvSpPr/>
          <p:nvPr/>
        </p:nvSpPr>
        <p:spPr>
          <a:xfrm>
            <a:off x="2611438" y="2925763"/>
            <a:ext cx="5675312" cy="461962"/>
          </a:xfrm>
          <a:prstGeom prst="rect">
            <a:avLst/>
          </a:prstGeom>
        </p:spPr>
        <p:txBody>
          <a:bodyPr>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任一码组</a:t>
            </a:r>
            <a:r>
              <a:rPr kumimoji="0" lang="en-US" altLang="zh-CN" sz="2400" i="1" kern="0" dirty="0">
                <a:solidFill>
                  <a:srgbClr val="000000"/>
                </a:solidFill>
                <a:latin typeface="Arial" pitchFamily="34" charset="0"/>
                <a:ea typeface="微软雅黑" pitchFamily="34" charset="-122"/>
                <a:cs typeface="Arial" pitchFamily="34" charset="0"/>
              </a:rPr>
              <a:t>A</a:t>
            </a:r>
            <a:r>
              <a:rPr kumimoji="0" lang="zh-CN" altLang="en-US" sz="2000" b="0" kern="0" dirty="0">
                <a:solidFill>
                  <a:srgbClr val="000000"/>
                </a:solidFill>
                <a:latin typeface="Arial" pitchFamily="34" charset="0"/>
                <a:ea typeface="微软雅黑" pitchFamily="34" charset="-122"/>
                <a:cs typeface="Arial" pitchFamily="34" charset="0"/>
              </a:rPr>
              <a:t>都是</a:t>
            </a:r>
            <a:r>
              <a:rPr kumimoji="0" lang="en-US" altLang="zh-CN" sz="2400" i="1" kern="0" dirty="0">
                <a:solidFill>
                  <a:srgbClr val="000000"/>
                </a:solidFill>
                <a:latin typeface="Arial" pitchFamily="34" charset="0"/>
                <a:ea typeface="微软雅黑" pitchFamily="34" charset="-122"/>
                <a:cs typeface="Arial" pitchFamily="34" charset="0"/>
              </a:rPr>
              <a:t>G</a:t>
            </a:r>
            <a:r>
              <a:rPr kumimoji="0" lang="zh-CN" altLang="en-US" sz="2000" b="0" kern="0" dirty="0">
                <a:solidFill>
                  <a:srgbClr val="000000"/>
                </a:solidFill>
                <a:latin typeface="Arial" pitchFamily="34" charset="0"/>
                <a:ea typeface="微软雅黑" pitchFamily="34" charset="-122"/>
                <a:cs typeface="Arial" pitchFamily="34" charset="0"/>
              </a:rPr>
              <a:t>的各行的线性组合。</a:t>
            </a:r>
            <a:endParaRPr lang="zh-CN" altLang="en-US" dirty="0"/>
          </a:p>
        </p:txBody>
      </p:sp>
      <p:sp>
        <p:nvSpPr>
          <p:cNvPr id="10" name="矩形 9">
            <a:extLst>
              <a:ext uri="{FF2B5EF4-FFF2-40B4-BE49-F238E27FC236}">
                <a16:creationId xmlns:a16="http://schemas.microsoft.com/office/drawing/2014/main" id="{72B54362-2369-D419-0DC6-5FBDBAB948C2}"/>
              </a:ext>
            </a:extLst>
          </p:cNvPr>
          <p:cNvSpPr/>
          <p:nvPr/>
        </p:nvSpPr>
        <p:spPr>
          <a:xfrm>
            <a:off x="1116013" y="3567113"/>
            <a:ext cx="7500937" cy="461962"/>
          </a:xfrm>
          <a:prstGeom prst="rect">
            <a:avLst/>
          </a:prstGeom>
        </p:spPr>
        <p:txBody>
          <a:bodyPr>
            <a:spAutoFit/>
          </a:bodyPr>
          <a:lstStyle/>
          <a:p>
            <a:pPr>
              <a:defRPr/>
            </a:pPr>
            <a:r>
              <a:rPr kumimoji="0" lang="en-US" altLang="zh-CN" sz="2400" i="1" kern="0" dirty="0">
                <a:solidFill>
                  <a:srgbClr val="000000"/>
                </a:solidFill>
                <a:latin typeface="Arial" pitchFamily="34" charset="0"/>
                <a:ea typeface="微软雅黑" pitchFamily="34" charset="-122"/>
                <a:cs typeface="Arial" pitchFamily="34" charset="0"/>
              </a:rPr>
              <a:t>G</a:t>
            </a:r>
            <a:r>
              <a:rPr kumimoji="0" lang="zh-CN" altLang="en-US" sz="2000" b="0" kern="0" dirty="0">
                <a:solidFill>
                  <a:srgbClr val="000000"/>
                </a:solidFill>
                <a:latin typeface="Arial" pitchFamily="34" charset="0"/>
                <a:ea typeface="微软雅黑" pitchFamily="34" charset="-122"/>
                <a:cs typeface="Arial" pitchFamily="34" charset="0"/>
              </a:rPr>
              <a:t>共有</a:t>
            </a:r>
            <a:r>
              <a:rPr kumimoji="0" lang="en-US" altLang="zh-CN" sz="2400" i="1" kern="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k</a:t>
            </a:r>
            <a:r>
              <a:rPr kumimoji="0" lang="zh-CN" altLang="en-US" sz="2000" b="0" kern="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行</a:t>
            </a:r>
            <a:r>
              <a:rPr kumimoji="0" lang="zh-CN" altLang="en-US" sz="2000" b="0" kern="0" dirty="0">
                <a:solidFill>
                  <a:srgbClr val="000000"/>
                </a:solidFill>
                <a:latin typeface="Arial" pitchFamily="34" charset="0"/>
                <a:ea typeface="微软雅黑" pitchFamily="34" charset="-122"/>
                <a:cs typeface="Arial" pitchFamily="34" charset="0"/>
              </a:rPr>
              <a:t>，若它们线性无关，则可以组合出</a:t>
            </a:r>
            <a:r>
              <a:rPr kumimoji="0" lang="en-US" altLang="zh-CN" sz="2400" kern="0" dirty="0">
                <a:solidFill>
                  <a:srgbClr val="FF0000"/>
                </a:solidFill>
                <a:latin typeface="Arial" pitchFamily="34" charset="0"/>
                <a:ea typeface="微软雅黑" pitchFamily="34" charset="-122"/>
                <a:cs typeface="Arial" pitchFamily="34" charset="0"/>
              </a:rPr>
              <a:t>2</a:t>
            </a:r>
            <a:r>
              <a:rPr kumimoji="0" lang="en-US" altLang="zh-CN" sz="2400" i="1" kern="0" baseline="30000" dirty="0">
                <a:solidFill>
                  <a:srgbClr val="FF0000"/>
                </a:solidFill>
                <a:latin typeface="Arial" pitchFamily="34" charset="0"/>
                <a:ea typeface="微软雅黑" pitchFamily="34" charset="-122"/>
                <a:cs typeface="Arial" pitchFamily="34" charset="0"/>
              </a:rPr>
              <a:t>k </a:t>
            </a:r>
            <a:r>
              <a:rPr kumimoji="0" lang="zh-CN" altLang="en-US" sz="2000" b="0" kern="0" dirty="0">
                <a:solidFill>
                  <a:srgbClr val="000000"/>
                </a:solidFill>
                <a:latin typeface="Arial" pitchFamily="34" charset="0"/>
                <a:ea typeface="微软雅黑" pitchFamily="34" charset="-122"/>
                <a:cs typeface="Arial" pitchFamily="34" charset="0"/>
              </a:rPr>
              <a:t>种不同的码组</a:t>
            </a:r>
            <a:r>
              <a:rPr kumimoji="0" lang="en-US" altLang="zh-CN" sz="2000" i="1" kern="0" dirty="0">
                <a:solidFill>
                  <a:srgbClr val="000000"/>
                </a:solidFill>
                <a:latin typeface="Arial" pitchFamily="34" charset="0"/>
                <a:ea typeface="微软雅黑" pitchFamily="34" charset="-122"/>
                <a:cs typeface="Arial" pitchFamily="34" charset="0"/>
              </a:rPr>
              <a:t>A</a:t>
            </a:r>
            <a:r>
              <a:rPr kumimoji="0" lang="zh-CN" altLang="en-US" sz="2000" b="0" kern="0" dirty="0">
                <a:solidFill>
                  <a:srgbClr val="000000"/>
                </a:solidFill>
                <a:latin typeface="Arial" pitchFamily="34" charset="0"/>
                <a:ea typeface="微软雅黑" pitchFamily="34" charset="-122"/>
                <a:cs typeface="Arial" pitchFamily="34" charset="0"/>
              </a:rPr>
              <a:t>。</a:t>
            </a:r>
            <a:endParaRPr lang="zh-CN" altLang="en-US" b="0" dirty="0"/>
          </a:p>
        </p:txBody>
      </p:sp>
      <p:sp>
        <p:nvSpPr>
          <p:cNvPr id="11" name="矩形 10">
            <a:extLst>
              <a:ext uri="{FF2B5EF4-FFF2-40B4-BE49-F238E27FC236}">
                <a16:creationId xmlns:a16="http://schemas.microsoft.com/office/drawing/2014/main" id="{D3FCC3C8-C328-568D-CAD4-EC02B0745071}"/>
              </a:ext>
            </a:extLst>
          </p:cNvPr>
          <p:cNvSpPr/>
          <p:nvPr/>
        </p:nvSpPr>
        <p:spPr>
          <a:xfrm>
            <a:off x="5757863" y="4117975"/>
            <a:ext cx="2428875" cy="811213"/>
          </a:xfrm>
          <a:prstGeom prst="rect">
            <a:avLst/>
          </a:prstGeom>
          <a:solidFill>
            <a:schemeClr val="bg2">
              <a:lumMod val="10000"/>
              <a:lumOff val="90000"/>
            </a:schemeClr>
          </a:solidFill>
          <a:ln>
            <a:noFill/>
          </a:ln>
          <a:effectLst>
            <a:outerShdw blurRad="63500" sx="102000" sy="102000" algn="ctr" rotWithShape="0">
              <a:prstClr val="black">
                <a:alpha val="40000"/>
              </a:prstClr>
            </a:outerShdw>
          </a:effectLst>
        </p:spPr>
        <p:txBody>
          <a:bodyPr>
            <a:spAutoFit/>
          </a:bodyPr>
          <a:lstStyle/>
          <a:p>
            <a:pPr>
              <a:lnSpc>
                <a:spcPts val="2800"/>
              </a:lnSpc>
              <a:defRPr/>
            </a:pPr>
            <a:r>
              <a:rPr kumimoji="0" lang="zh-CN" altLang="en-US" sz="2000" kern="0" dirty="0">
                <a:solidFill>
                  <a:schemeClr val="tx1"/>
                </a:solidFill>
                <a:latin typeface="Arial" pitchFamily="34" charset="0"/>
                <a:ea typeface="幼圆" pitchFamily="49" charset="-122"/>
                <a:cs typeface="Arial" pitchFamily="34" charset="0"/>
              </a:rPr>
              <a:t>它恰是有</a:t>
            </a:r>
            <a:r>
              <a:rPr kumimoji="0" lang="en-US" altLang="zh-CN" sz="2000" i="1" kern="0" dirty="0">
                <a:solidFill>
                  <a:schemeClr val="tx1"/>
                </a:solidFill>
                <a:latin typeface="Arial" pitchFamily="34" charset="0"/>
                <a:ea typeface="幼圆" pitchFamily="49" charset="-122"/>
                <a:cs typeface="Arial" pitchFamily="34" charset="0"/>
              </a:rPr>
              <a:t>k</a:t>
            </a:r>
            <a:r>
              <a:rPr kumimoji="0" lang="zh-CN" altLang="en-US" sz="2000" kern="0" dirty="0">
                <a:solidFill>
                  <a:schemeClr val="tx1"/>
                </a:solidFill>
                <a:latin typeface="Arial" pitchFamily="34" charset="0"/>
                <a:ea typeface="幼圆" pitchFamily="49" charset="-122"/>
                <a:cs typeface="Arial" pitchFamily="34" charset="0"/>
              </a:rPr>
              <a:t>位信息位</a:t>
            </a:r>
            <a:endParaRPr kumimoji="0" lang="en-US" altLang="zh-CN" sz="2000" kern="0" dirty="0">
              <a:solidFill>
                <a:schemeClr val="tx1"/>
              </a:solidFill>
              <a:latin typeface="Arial" pitchFamily="34" charset="0"/>
              <a:ea typeface="幼圆" pitchFamily="49" charset="-122"/>
              <a:cs typeface="Arial" pitchFamily="34" charset="0"/>
            </a:endParaRPr>
          </a:p>
          <a:p>
            <a:pPr>
              <a:lnSpc>
                <a:spcPts val="2800"/>
              </a:lnSpc>
              <a:defRPr/>
            </a:pPr>
            <a:r>
              <a:rPr kumimoji="0" lang="zh-CN" altLang="en-US" sz="2000" kern="0" dirty="0">
                <a:solidFill>
                  <a:schemeClr val="tx1"/>
                </a:solidFill>
                <a:latin typeface="Arial" pitchFamily="34" charset="0"/>
                <a:ea typeface="幼圆" pitchFamily="49" charset="-122"/>
                <a:cs typeface="Arial" pitchFamily="34" charset="0"/>
              </a:rPr>
              <a:t>     的全部码组。</a:t>
            </a:r>
            <a:endParaRPr lang="zh-CN" altLang="en-US" sz="2000" dirty="0">
              <a:solidFill>
                <a:schemeClr val="tx1"/>
              </a:solidFill>
              <a:latin typeface="Arial" pitchFamily="34" charset="0"/>
              <a:ea typeface="幼圆" pitchFamily="49" charset="-122"/>
              <a:cs typeface="Arial" pitchFamily="34" charset="0"/>
            </a:endParaRPr>
          </a:p>
        </p:txBody>
      </p:sp>
      <p:pic>
        <p:nvPicPr>
          <p:cNvPr id="21515" name="Picture 11">
            <a:extLst>
              <a:ext uri="{FF2B5EF4-FFF2-40B4-BE49-F238E27FC236}">
                <a16:creationId xmlns:a16="http://schemas.microsoft.com/office/drawing/2014/main" id="{C21C33B4-1B61-F07D-0B67-D3D533320C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2938" y="5214938"/>
            <a:ext cx="8001000" cy="110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10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10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1000"/>
                                        <p:tgtEl>
                                          <p:spTgt spid="7"/>
                                        </p:tgtEl>
                                      </p:cBhvr>
                                    </p:animEffect>
                                  </p:childTnLst>
                                </p:cTn>
                              </p:par>
                            </p:childTnLst>
                          </p:cTn>
                        </p:par>
                        <p:par>
                          <p:cTn id="18" fill="hold" nodeType="afterGroup">
                            <p:stCondLst>
                              <p:cond delay="1000"/>
                            </p:stCondLst>
                            <p:childTnLst>
                              <p:par>
                                <p:cTn id="19" presetID="22" presetClass="entr" presetSubtype="1" fill="hold" nodeType="afterEffect">
                                  <p:stCondLst>
                                    <p:cond delay="0"/>
                                  </p:stCondLst>
                                  <p:childTnLst>
                                    <p:set>
                                      <p:cBhvr>
                                        <p:cTn id="20" dur="1" fill="hold">
                                          <p:stCondLst>
                                            <p:cond delay="0"/>
                                          </p:stCondLst>
                                        </p:cTn>
                                        <p:tgtEl>
                                          <p:spTgt spid="71688"/>
                                        </p:tgtEl>
                                        <p:attrNameLst>
                                          <p:attrName>style.visibility</p:attrName>
                                        </p:attrNameLst>
                                      </p:cBhvr>
                                      <p:to>
                                        <p:strVal val="visible"/>
                                      </p:to>
                                    </p:set>
                                    <p:animEffect transition="in" filter="wipe(up)">
                                      <p:cBhvr>
                                        <p:cTn id="21" dur="1000"/>
                                        <p:tgtEl>
                                          <p:spTgt spid="71688"/>
                                        </p:tgtEl>
                                      </p:cBhvr>
                                    </p:animEffect>
                                  </p:childTnLst>
                                </p:cTn>
                              </p:par>
                            </p:childTnLst>
                          </p:cTn>
                        </p:par>
                        <p:par>
                          <p:cTn id="22" fill="hold" nodeType="afterGroup">
                            <p:stCondLst>
                              <p:cond delay="2000"/>
                            </p:stCondLst>
                            <p:childTnLst>
                              <p:par>
                                <p:cTn id="23" presetID="22" presetClass="entr" presetSubtype="1"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up)">
                                      <p:cBhvr>
                                        <p:cTn id="25" dur="1000"/>
                                        <p:tgtEl>
                                          <p:spTgt spid="8"/>
                                        </p:tgtEl>
                                      </p:cBhvr>
                                    </p:animEffect>
                                  </p:childTnLst>
                                </p:cTn>
                              </p:par>
                            </p:childTnLst>
                          </p:cTn>
                        </p:par>
                        <p:par>
                          <p:cTn id="26" fill="hold" nodeType="afterGroup">
                            <p:stCondLst>
                              <p:cond delay="3000"/>
                            </p:stCondLst>
                            <p:childTnLst>
                              <p:par>
                                <p:cTn id="27" presetID="22" presetClass="entr" presetSubtype="1"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up)">
                                      <p:cBhvr>
                                        <p:cTn id="29" dur="1000"/>
                                        <p:tgtEl>
                                          <p:spTgt spid="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wipe(up)">
                                      <p:cBhvr>
                                        <p:cTn id="34" dur="1000"/>
                                        <p:tgtEl>
                                          <p:spTgt spid="1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up)">
                                      <p:cBhvr>
                                        <p:cTn id="39" dur="1000"/>
                                        <p:tgtEl>
                                          <p:spTgt spid="1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nodeType="clickEffect">
                                  <p:stCondLst>
                                    <p:cond delay="0"/>
                                  </p:stCondLst>
                                  <p:childTnLst>
                                    <p:set>
                                      <p:cBhvr>
                                        <p:cTn id="43" dur="1" fill="hold">
                                          <p:stCondLst>
                                            <p:cond delay="0"/>
                                          </p:stCondLst>
                                        </p:cTn>
                                        <p:tgtEl>
                                          <p:spTgt spid="21515"/>
                                        </p:tgtEl>
                                        <p:attrNameLst>
                                          <p:attrName>style.visibility</p:attrName>
                                        </p:attrNameLst>
                                      </p:cBhvr>
                                      <p:to>
                                        <p:strVal val="visible"/>
                                      </p:to>
                                    </p:set>
                                    <p:animEffect transition="in" filter="wipe(up)">
                                      <p:cBhvr>
                                        <p:cTn id="44" dur="1000"/>
                                        <p:tgtEl>
                                          <p:spTgt spid="215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7" grpId="0"/>
      <p:bldP spid="8" grpId="0"/>
      <p:bldP spid="9" grpId="0"/>
      <p:bldP spid="10" grpId="0"/>
      <p:bldP spid="11"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65284363-C838-B849-9151-D38AFBF65FF3}"/>
              </a:ext>
            </a:extLst>
          </p:cNvPr>
          <p:cNvSpPr/>
          <p:nvPr/>
        </p:nvSpPr>
        <p:spPr>
          <a:xfrm>
            <a:off x="642938" y="500063"/>
            <a:ext cx="2500312" cy="523875"/>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a:buClr>
                <a:srgbClr val="0000CC"/>
              </a:buClr>
              <a:buSzPct val="65000"/>
              <a:buFont typeface="Wingdings" pitchFamily="2" charset="2"/>
              <a:buChar char="u"/>
              <a:defRPr/>
            </a:pPr>
            <a:r>
              <a:rPr kumimoji="0" lang="en-US" altLang="zh-CN" sz="2800" i="1" kern="0" dirty="0">
                <a:solidFill>
                  <a:srgbClr val="FF0000"/>
                </a:solidFill>
                <a:latin typeface="Arial" pitchFamily="34" charset="0"/>
                <a:ea typeface="微软雅黑" pitchFamily="34" charset="-122"/>
                <a:cs typeface="Arial" pitchFamily="34" charset="0"/>
              </a:rPr>
              <a:t> G </a:t>
            </a:r>
            <a:r>
              <a:rPr kumimoji="0" lang="zh-CN" altLang="en-US" sz="2400" b="0" kern="0" dirty="0">
                <a:solidFill>
                  <a:schemeClr val="tx1"/>
                </a:solidFill>
                <a:latin typeface="Arial" pitchFamily="34" charset="0"/>
                <a:ea typeface="微软雅黑" pitchFamily="34" charset="-122"/>
                <a:cs typeface="Arial" pitchFamily="34" charset="0"/>
              </a:rPr>
              <a:t>和</a:t>
            </a:r>
            <a:r>
              <a:rPr kumimoji="0" lang="en-US" sz="2800" i="1" kern="0" dirty="0">
                <a:solidFill>
                  <a:srgbClr val="FF0000"/>
                </a:solidFill>
                <a:latin typeface="Arial" pitchFamily="34" charset="0"/>
                <a:ea typeface="微软雅黑" pitchFamily="34" charset="-122"/>
                <a:cs typeface="Arial" pitchFamily="34" charset="0"/>
              </a:rPr>
              <a:t>H</a:t>
            </a:r>
            <a:r>
              <a:rPr kumimoji="0" lang="en-US" sz="2400" i="1" kern="0" dirty="0">
                <a:solidFill>
                  <a:srgbClr val="990099"/>
                </a:solidFill>
                <a:latin typeface="Arial" pitchFamily="34" charset="0"/>
                <a:ea typeface="微软雅黑" pitchFamily="34" charset="-122"/>
                <a:cs typeface="Arial" pitchFamily="34" charset="0"/>
              </a:rPr>
              <a:t> </a:t>
            </a:r>
            <a:r>
              <a:rPr kumimoji="0" lang="zh-CN" altLang="en-US" sz="2400" b="0" kern="0" dirty="0">
                <a:solidFill>
                  <a:schemeClr val="tx1"/>
                </a:solidFill>
                <a:latin typeface="Arial" pitchFamily="34" charset="0"/>
                <a:ea typeface="微软雅黑" pitchFamily="34" charset="-122"/>
                <a:cs typeface="Arial" pitchFamily="34" charset="0"/>
              </a:rPr>
              <a:t>的</a:t>
            </a:r>
            <a:r>
              <a:rPr kumimoji="0" lang="zh-CN" altLang="en-US" sz="2400" kern="0" dirty="0">
                <a:solidFill>
                  <a:srgbClr val="FF0000"/>
                </a:solidFill>
                <a:latin typeface="Arial" pitchFamily="34" charset="0"/>
                <a:ea typeface="微软雅黑" pitchFamily="34" charset="-122"/>
                <a:cs typeface="Arial" pitchFamily="34" charset="0"/>
              </a:rPr>
              <a:t>关系</a:t>
            </a:r>
            <a:r>
              <a:rPr kumimoji="0" lang="zh-CN" altLang="en-US" sz="2400" b="0" kern="0" dirty="0">
                <a:solidFill>
                  <a:srgbClr val="003399"/>
                </a:solidFill>
                <a:latin typeface="Arial" pitchFamily="34" charset="0"/>
                <a:ea typeface="微软雅黑" pitchFamily="34" charset="-122"/>
                <a:cs typeface="Arial" pitchFamily="34" charset="0"/>
              </a:rPr>
              <a:t> </a:t>
            </a:r>
            <a:endParaRPr lang="zh-CN" altLang="en-US" sz="2400" dirty="0">
              <a:solidFill>
                <a:srgbClr val="003399"/>
              </a:solidFill>
            </a:endParaRPr>
          </a:p>
        </p:txBody>
      </p:sp>
      <p:pic>
        <p:nvPicPr>
          <p:cNvPr id="25622" name="Picture 22">
            <a:extLst>
              <a:ext uri="{FF2B5EF4-FFF2-40B4-BE49-F238E27FC236}">
                <a16:creationId xmlns:a16="http://schemas.microsoft.com/office/drawing/2014/main" id="{060DE3FB-05D1-52B3-012C-7E01427D5A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6775" y="4776788"/>
            <a:ext cx="7205663"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2">
            <a:extLst>
              <a:ext uri="{FF2B5EF4-FFF2-40B4-BE49-F238E27FC236}">
                <a16:creationId xmlns:a16="http://schemas.microsoft.com/office/drawing/2014/main" id="{B729C41D-93D9-2325-0823-197F81EEDB5D}"/>
              </a:ext>
            </a:extLst>
          </p:cNvPr>
          <p:cNvGrpSpPr>
            <a:grpSpLocks/>
          </p:cNvGrpSpPr>
          <p:nvPr/>
        </p:nvGrpSpPr>
        <p:grpSpPr bwMode="auto">
          <a:xfrm>
            <a:off x="1643063" y="1285875"/>
            <a:ext cx="6429375" cy="1522413"/>
            <a:chOff x="1643063" y="1285875"/>
            <a:chExt cx="6429375" cy="1522413"/>
          </a:xfrm>
        </p:grpSpPr>
        <p:pic>
          <p:nvPicPr>
            <p:cNvPr id="93193" name="Picture 20">
              <a:extLst>
                <a:ext uri="{FF2B5EF4-FFF2-40B4-BE49-F238E27FC236}">
                  <a16:creationId xmlns:a16="http://schemas.microsoft.com/office/drawing/2014/main" id="{0E161416-1958-8260-8865-ED20DFA418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3063" y="1285875"/>
              <a:ext cx="6429375" cy="152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3194" name="直接连接符 7">
              <a:extLst>
                <a:ext uri="{FF2B5EF4-FFF2-40B4-BE49-F238E27FC236}">
                  <a16:creationId xmlns:a16="http://schemas.microsoft.com/office/drawing/2014/main" id="{B27036E9-D6A7-02FF-F901-D9DB2D0331D7}"/>
                </a:ext>
              </a:extLst>
            </p:cNvPr>
            <p:cNvCxnSpPr>
              <a:cxnSpLocks noChangeShapeType="1"/>
            </p:cNvCxnSpPr>
            <p:nvPr/>
          </p:nvCxnSpPr>
          <p:spPr bwMode="auto">
            <a:xfrm rot="10800000" flipV="1">
              <a:off x="4071934" y="2071678"/>
              <a:ext cx="214314" cy="142876"/>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93195" name="直接连接符 10">
              <a:extLst>
                <a:ext uri="{FF2B5EF4-FFF2-40B4-BE49-F238E27FC236}">
                  <a16:creationId xmlns:a16="http://schemas.microsoft.com/office/drawing/2014/main" id="{8C75D6EC-E978-35BA-6F90-99A832B4CB25}"/>
                </a:ext>
              </a:extLst>
            </p:cNvPr>
            <p:cNvCxnSpPr>
              <a:cxnSpLocks noChangeShapeType="1"/>
            </p:cNvCxnSpPr>
            <p:nvPr/>
          </p:nvCxnSpPr>
          <p:spPr bwMode="auto">
            <a:xfrm rot="16200000" flipH="1">
              <a:off x="4857752" y="2071678"/>
              <a:ext cx="142876" cy="142876"/>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grpSp>
      <p:grpSp>
        <p:nvGrpSpPr>
          <p:cNvPr id="3" name="组合 13">
            <a:extLst>
              <a:ext uri="{FF2B5EF4-FFF2-40B4-BE49-F238E27FC236}">
                <a16:creationId xmlns:a16="http://schemas.microsoft.com/office/drawing/2014/main" id="{11EAD33F-283C-6DA8-F505-80B24AA54B2A}"/>
              </a:ext>
            </a:extLst>
          </p:cNvPr>
          <p:cNvGrpSpPr>
            <a:grpSpLocks/>
          </p:cNvGrpSpPr>
          <p:nvPr/>
        </p:nvGrpSpPr>
        <p:grpSpPr bwMode="auto">
          <a:xfrm>
            <a:off x="1643063" y="3044825"/>
            <a:ext cx="6505575" cy="1527175"/>
            <a:chOff x="1643063" y="3044825"/>
            <a:chExt cx="6505575" cy="1527175"/>
          </a:xfrm>
        </p:grpSpPr>
        <p:pic>
          <p:nvPicPr>
            <p:cNvPr id="93190" name="Picture 21">
              <a:extLst>
                <a:ext uri="{FF2B5EF4-FFF2-40B4-BE49-F238E27FC236}">
                  <a16:creationId xmlns:a16="http://schemas.microsoft.com/office/drawing/2014/main" id="{41C99ABE-037F-D06E-9098-33A59D59B4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3063" y="3044825"/>
              <a:ext cx="6505575" cy="152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3191" name="直接连接符 8">
              <a:extLst>
                <a:ext uri="{FF2B5EF4-FFF2-40B4-BE49-F238E27FC236}">
                  <a16:creationId xmlns:a16="http://schemas.microsoft.com/office/drawing/2014/main" id="{63A5A5D4-F0C4-6369-05FD-75C975D13635}"/>
                </a:ext>
              </a:extLst>
            </p:cNvPr>
            <p:cNvCxnSpPr>
              <a:cxnSpLocks noChangeShapeType="1"/>
            </p:cNvCxnSpPr>
            <p:nvPr/>
          </p:nvCxnSpPr>
          <p:spPr bwMode="auto">
            <a:xfrm rot="10800000" flipV="1">
              <a:off x="4071934" y="3786190"/>
              <a:ext cx="214314" cy="142876"/>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93192" name="直接连接符 11">
              <a:extLst>
                <a:ext uri="{FF2B5EF4-FFF2-40B4-BE49-F238E27FC236}">
                  <a16:creationId xmlns:a16="http://schemas.microsoft.com/office/drawing/2014/main" id="{F29597BD-783B-4489-11A1-66ED63EF593C}"/>
                </a:ext>
              </a:extLst>
            </p:cNvPr>
            <p:cNvCxnSpPr>
              <a:cxnSpLocks noChangeShapeType="1"/>
            </p:cNvCxnSpPr>
            <p:nvPr/>
          </p:nvCxnSpPr>
          <p:spPr bwMode="auto">
            <a:xfrm rot="16200000" flipH="1">
              <a:off x="4786314" y="3786190"/>
              <a:ext cx="142876" cy="142876"/>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10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10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10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25622"/>
                                        </p:tgtEl>
                                        <p:attrNameLst>
                                          <p:attrName>style.visibility</p:attrName>
                                        </p:attrNameLst>
                                      </p:cBhvr>
                                      <p:to>
                                        <p:strVal val="visible"/>
                                      </p:to>
                                    </p:set>
                                    <p:animEffect transition="in" filter="wipe(up)">
                                      <p:cBhvr>
                                        <p:cTn id="22" dur="2000"/>
                                        <p:tgtEl>
                                          <p:spTgt spid="256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3732" name="Object 4">
            <a:extLst>
              <a:ext uri="{FF2B5EF4-FFF2-40B4-BE49-F238E27FC236}">
                <a16:creationId xmlns:a16="http://schemas.microsoft.com/office/drawing/2014/main" id="{65E138FC-2348-88A4-E8A8-9909E7774F64}"/>
              </a:ext>
            </a:extLst>
          </p:cNvPr>
          <p:cNvGraphicFramePr>
            <a:graphicFrameLocks noChangeAspect="1"/>
          </p:cNvGraphicFramePr>
          <p:nvPr/>
        </p:nvGraphicFramePr>
        <p:xfrm>
          <a:off x="5200650" y="1928813"/>
          <a:ext cx="2682875" cy="420687"/>
        </p:xfrm>
        <a:graphic>
          <a:graphicData uri="http://schemas.openxmlformats.org/presentationml/2006/ole">
            <mc:AlternateContent xmlns:mc="http://schemas.openxmlformats.org/markup-compatibility/2006">
              <mc:Choice xmlns:v="urn:schemas-microsoft-com:vml" Requires="v">
                <p:oleObj name="公式" r:id="rId2" imgW="1231560" imgH="228600" progId="Equation.3">
                  <p:embed/>
                </p:oleObj>
              </mc:Choice>
              <mc:Fallback>
                <p:oleObj name="公式" r:id="rId2" imgW="1231560" imgH="2286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0650" y="1928813"/>
                        <a:ext cx="2682875" cy="420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3734" name="Object 6">
            <a:extLst>
              <a:ext uri="{FF2B5EF4-FFF2-40B4-BE49-F238E27FC236}">
                <a16:creationId xmlns:a16="http://schemas.microsoft.com/office/drawing/2014/main" id="{8D5B7388-97AC-A4FC-F954-B0888302B61E}"/>
              </a:ext>
            </a:extLst>
          </p:cNvPr>
          <p:cNvGraphicFramePr>
            <a:graphicFrameLocks noChangeAspect="1"/>
          </p:cNvGraphicFramePr>
          <p:nvPr/>
        </p:nvGraphicFramePr>
        <p:xfrm>
          <a:off x="2571750" y="3286125"/>
          <a:ext cx="3986213" cy="442913"/>
        </p:xfrm>
        <a:graphic>
          <a:graphicData uri="http://schemas.openxmlformats.org/presentationml/2006/ole">
            <mc:AlternateContent xmlns:mc="http://schemas.openxmlformats.org/markup-compatibility/2006">
              <mc:Choice xmlns:v="urn:schemas-microsoft-com:vml" Requires="v">
                <p:oleObj name="公式" r:id="rId4" imgW="1714320" imgH="228600" progId="Equation.3">
                  <p:embed/>
                </p:oleObj>
              </mc:Choice>
              <mc:Fallback>
                <p:oleObj name="公式" r:id="rId4" imgW="1714320" imgH="2286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71750" y="3286125"/>
                        <a:ext cx="3986213" cy="442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3736" name="Object 8">
            <a:extLst>
              <a:ext uri="{FF2B5EF4-FFF2-40B4-BE49-F238E27FC236}">
                <a16:creationId xmlns:a16="http://schemas.microsoft.com/office/drawing/2014/main" id="{35E55013-34AA-F3DA-A5DF-C2A51E1EE7AD}"/>
              </a:ext>
            </a:extLst>
          </p:cNvPr>
          <p:cNvGraphicFramePr>
            <a:graphicFrameLocks noChangeAspect="1"/>
          </p:cNvGraphicFramePr>
          <p:nvPr/>
        </p:nvGraphicFramePr>
        <p:xfrm>
          <a:off x="2000250" y="4214813"/>
          <a:ext cx="2138363" cy="908050"/>
        </p:xfrm>
        <a:graphic>
          <a:graphicData uri="http://schemas.openxmlformats.org/presentationml/2006/ole">
            <mc:AlternateContent xmlns:mc="http://schemas.openxmlformats.org/markup-compatibility/2006">
              <mc:Choice xmlns:v="urn:schemas-microsoft-com:vml" Requires="v">
                <p:oleObj name="公式" r:id="rId6" imgW="1143000" imgH="482400" progId="Equation.3">
                  <p:embed/>
                </p:oleObj>
              </mc:Choice>
              <mc:Fallback>
                <p:oleObj name="公式" r:id="rId6" imgW="1143000" imgH="48240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00250" y="4214813"/>
                        <a:ext cx="2138363" cy="908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矩形 5">
            <a:extLst>
              <a:ext uri="{FF2B5EF4-FFF2-40B4-BE49-F238E27FC236}">
                <a16:creationId xmlns:a16="http://schemas.microsoft.com/office/drawing/2014/main" id="{1D871266-F7C0-4EE6-4AA8-E5E8F108F0CC}"/>
              </a:ext>
            </a:extLst>
          </p:cNvPr>
          <p:cNvSpPr/>
          <p:nvPr/>
        </p:nvSpPr>
        <p:spPr>
          <a:xfrm>
            <a:off x="500063" y="428625"/>
            <a:ext cx="4014787" cy="523875"/>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a:buClr>
                <a:srgbClr val="0000CC"/>
              </a:buClr>
              <a:buSzPct val="65000"/>
              <a:buFont typeface="Wingdings" pitchFamily="2" charset="2"/>
              <a:buChar char="u"/>
              <a:defRPr/>
            </a:pPr>
            <a:r>
              <a:rPr kumimoji="0" lang="zh-CN" altLang="en-US" sz="2800" b="0" kern="0" dirty="0">
                <a:solidFill>
                  <a:srgbClr val="FF0000"/>
                </a:solidFill>
                <a:latin typeface="Arial" pitchFamily="34" charset="0"/>
                <a:ea typeface="微软雅黑" pitchFamily="34" charset="-122"/>
                <a:cs typeface="Arial" pitchFamily="34" charset="0"/>
              </a:rPr>
              <a:t> </a:t>
            </a:r>
            <a:r>
              <a:rPr kumimoji="0" lang="zh-CN" altLang="en-US" sz="2800" kern="0" dirty="0">
                <a:solidFill>
                  <a:srgbClr val="FF0000"/>
                </a:solidFill>
                <a:latin typeface="Arial" pitchFamily="34" charset="0"/>
                <a:ea typeface="微软雅黑" pitchFamily="34" charset="-122"/>
                <a:cs typeface="Arial" pitchFamily="34" charset="0"/>
              </a:rPr>
              <a:t>校正子</a:t>
            </a:r>
            <a:r>
              <a:rPr kumimoji="0" lang="zh-CN" altLang="en-US" sz="2800" b="0" kern="0" dirty="0">
                <a:solidFill>
                  <a:schemeClr val="tx1"/>
                </a:solidFill>
                <a:latin typeface="Arial" pitchFamily="34" charset="0"/>
                <a:ea typeface="微软雅黑" pitchFamily="34" charset="-122"/>
                <a:cs typeface="Arial" pitchFamily="34" charset="0"/>
              </a:rPr>
              <a:t>与</a:t>
            </a:r>
            <a:r>
              <a:rPr kumimoji="0" lang="zh-CN" altLang="en-US" sz="2800" kern="0" dirty="0">
                <a:solidFill>
                  <a:srgbClr val="FF0000"/>
                </a:solidFill>
                <a:latin typeface="Arial" pitchFamily="34" charset="0"/>
                <a:ea typeface="微软雅黑" pitchFamily="34" charset="-122"/>
                <a:cs typeface="Arial" pitchFamily="34" charset="0"/>
              </a:rPr>
              <a:t>错误图样 </a:t>
            </a:r>
          </a:p>
        </p:txBody>
      </p:sp>
      <p:sp>
        <p:nvSpPr>
          <p:cNvPr id="7" name="矩形 6">
            <a:extLst>
              <a:ext uri="{FF2B5EF4-FFF2-40B4-BE49-F238E27FC236}">
                <a16:creationId xmlns:a16="http://schemas.microsoft.com/office/drawing/2014/main" id="{44960FF0-684A-D8C7-B0EC-2BC6E2E3831D}"/>
              </a:ext>
            </a:extLst>
          </p:cNvPr>
          <p:cNvSpPr/>
          <p:nvPr/>
        </p:nvSpPr>
        <p:spPr>
          <a:xfrm>
            <a:off x="857250" y="1285875"/>
            <a:ext cx="4244975" cy="400050"/>
          </a:xfrm>
          <a:prstGeom prst="rect">
            <a:avLst/>
          </a:prstGeom>
        </p:spPr>
        <p:txBody>
          <a:bodyPr wrap="none">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设</a:t>
            </a:r>
            <a:r>
              <a:rPr kumimoji="0" lang="zh-CN" altLang="en-US" sz="2000" kern="0" dirty="0">
                <a:solidFill>
                  <a:srgbClr val="000000"/>
                </a:solidFill>
                <a:latin typeface="Arial" pitchFamily="34" charset="0"/>
                <a:ea typeface="微软雅黑" pitchFamily="34" charset="-122"/>
                <a:cs typeface="Arial" pitchFamily="34" charset="0"/>
              </a:rPr>
              <a:t>发送</a:t>
            </a:r>
            <a:r>
              <a:rPr kumimoji="0" lang="zh-CN" altLang="en-US" sz="2000" b="0" kern="0" dirty="0">
                <a:solidFill>
                  <a:srgbClr val="000000"/>
                </a:solidFill>
                <a:latin typeface="Arial" pitchFamily="34" charset="0"/>
                <a:ea typeface="微软雅黑" pitchFamily="34" charset="-122"/>
                <a:cs typeface="Arial" pitchFamily="34" charset="0"/>
              </a:rPr>
              <a:t>码组为一个</a:t>
            </a:r>
            <a:r>
              <a:rPr kumimoji="0" lang="en-US" altLang="zh-CN" sz="2000" b="0" i="1" kern="0" dirty="0">
                <a:solidFill>
                  <a:srgbClr val="000000"/>
                </a:solidFill>
                <a:latin typeface="Arial" pitchFamily="34" charset="0"/>
                <a:ea typeface="微软雅黑" pitchFamily="34" charset="-122"/>
                <a:cs typeface="Arial" pitchFamily="34" charset="0"/>
              </a:rPr>
              <a:t>n</a:t>
            </a:r>
            <a:r>
              <a:rPr kumimoji="0" lang="zh-CN" altLang="en-US" sz="2000" b="0" kern="0" dirty="0">
                <a:solidFill>
                  <a:srgbClr val="000000"/>
                </a:solidFill>
                <a:latin typeface="Arial" pitchFamily="34" charset="0"/>
                <a:ea typeface="微软雅黑" pitchFamily="34" charset="-122"/>
                <a:cs typeface="Arial" pitchFamily="34" charset="0"/>
              </a:rPr>
              <a:t>列的行矩阵 </a:t>
            </a:r>
            <a:r>
              <a:rPr kumimoji="0" lang="en-US" altLang="zh-CN" sz="2000" i="1" kern="0" dirty="0">
                <a:solidFill>
                  <a:srgbClr val="000000"/>
                </a:solidFill>
                <a:latin typeface="Arial" pitchFamily="34" charset="0"/>
                <a:ea typeface="微软雅黑" pitchFamily="34" charset="-122"/>
                <a:cs typeface="Arial" pitchFamily="34" charset="0"/>
              </a:rPr>
              <a:t>A</a:t>
            </a:r>
            <a:r>
              <a:rPr kumimoji="0" lang="zh-CN" altLang="en-US" sz="2000" i="1" kern="0" dirty="0">
                <a:solidFill>
                  <a:srgbClr val="000000"/>
                </a:solidFill>
                <a:latin typeface="Arial" pitchFamily="34" charset="0"/>
                <a:ea typeface="微软雅黑" pitchFamily="34" charset="-122"/>
                <a:cs typeface="Arial" pitchFamily="34" charset="0"/>
              </a:rPr>
              <a:t>，</a:t>
            </a:r>
            <a:endParaRPr lang="zh-CN" altLang="en-US" sz="2000" dirty="0"/>
          </a:p>
        </p:txBody>
      </p:sp>
      <p:sp>
        <p:nvSpPr>
          <p:cNvPr id="10" name="矩形 9">
            <a:extLst>
              <a:ext uri="{FF2B5EF4-FFF2-40B4-BE49-F238E27FC236}">
                <a16:creationId xmlns:a16="http://schemas.microsoft.com/office/drawing/2014/main" id="{BC0D723A-7BCB-DBC3-9A99-CD895ADF6D2F}"/>
              </a:ext>
            </a:extLst>
          </p:cNvPr>
          <p:cNvSpPr/>
          <p:nvPr/>
        </p:nvSpPr>
        <p:spPr>
          <a:xfrm>
            <a:off x="4714875" y="1285875"/>
            <a:ext cx="2846388" cy="400050"/>
          </a:xfrm>
          <a:prstGeom prst="rect">
            <a:avLst/>
          </a:prstGeom>
        </p:spPr>
        <p:txBody>
          <a:bodyPr wrap="none">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     </a:t>
            </a:r>
            <a:r>
              <a:rPr kumimoji="0" lang="zh-CN" altLang="en-US" sz="2000" kern="0" dirty="0">
                <a:solidFill>
                  <a:srgbClr val="000000"/>
                </a:solidFill>
                <a:latin typeface="Arial" pitchFamily="34" charset="0"/>
                <a:ea typeface="微软雅黑" pitchFamily="34" charset="-122"/>
                <a:cs typeface="Arial" pitchFamily="34" charset="0"/>
              </a:rPr>
              <a:t>接收</a:t>
            </a:r>
            <a:r>
              <a:rPr kumimoji="0" lang="zh-CN" altLang="en-US" sz="2000" b="0" kern="0" dirty="0">
                <a:solidFill>
                  <a:srgbClr val="000000"/>
                </a:solidFill>
                <a:latin typeface="Arial" pitchFamily="34" charset="0"/>
                <a:ea typeface="微软雅黑" pitchFamily="34" charset="-122"/>
                <a:cs typeface="Arial" pitchFamily="34" charset="0"/>
              </a:rPr>
              <a:t>码组的行矩阵 </a:t>
            </a:r>
            <a:r>
              <a:rPr kumimoji="0" lang="en-US" altLang="zh-CN" sz="2000" i="1" kern="0" dirty="0">
                <a:solidFill>
                  <a:schemeClr val="tx1"/>
                </a:solidFill>
                <a:latin typeface="Arial" pitchFamily="34" charset="0"/>
                <a:ea typeface="微软雅黑" pitchFamily="34" charset="-122"/>
                <a:cs typeface="Arial" pitchFamily="34" charset="0"/>
              </a:rPr>
              <a:t>B</a:t>
            </a:r>
            <a:endParaRPr lang="zh-CN" altLang="en-US" sz="2000" dirty="0"/>
          </a:p>
        </p:txBody>
      </p:sp>
      <p:sp>
        <p:nvSpPr>
          <p:cNvPr id="11" name="矩形 10">
            <a:extLst>
              <a:ext uri="{FF2B5EF4-FFF2-40B4-BE49-F238E27FC236}">
                <a16:creationId xmlns:a16="http://schemas.microsoft.com/office/drawing/2014/main" id="{F5F133FA-DCF4-801D-ECEE-9E84C9835A11}"/>
              </a:ext>
            </a:extLst>
          </p:cNvPr>
          <p:cNvSpPr/>
          <p:nvPr/>
        </p:nvSpPr>
        <p:spPr>
          <a:xfrm>
            <a:off x="885825" y="2643188"/>
            <a:ext cx="7472363" cy="461962"/>
          </a:xfrm>
          <a:prstGeom prst="rect">
            <a:avLst/>
          </a:prstGeom>
        </p:spPr>
        <p:txBody>
          <a:bodyPr>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则发送码组和接收码组之差就是</a:t>
            </a:r>
            <a:r>
              <a:rPr kumimoji="0" lang="zh-CN" altLang="en-US" sz="24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错码矩阵（</a:t>
            </a:r>
            <a:r>
              <a:rPr kumimoji="0" lang="zh-CN" altLang="en-US" sz="2400" b="0" kern="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错误图样</a:t>
            </a:r>
            <a:r>
              <a:rPr kumimoji="0" lang="zh-CN" altLang="en-US" sz="2400" b="0" kern="0" dirty="0">
                <a:solidFill>
                  <a:schemeClr val="tx1"/>
                </a:solidFill>
                <a:latin typeface="Arial" pitchFamily="34" charset="0"/>
                <a:ea typeface="微软雅黑" pitchFamily="34" charset="-122"/>
                <a:cs typeface="Arial" pitchFamily="34" charset="0"/>
              </a:rPr>
              <a:t>）</a:t>
            </a:r>
            <a:r>
              <a:rPr kumimoji="0" lang="zh-CN" altLang="en-US" sz="2000" b="0" kern="0" dirty="0">
                <a:solidFill>
                  <a:srgbClr val="000000"/>
                </a:solidFill>
                <a:latin typeface="+mn-ea"/>
                <a:ea typeface="+mn-ea"/>
                <a:cs typeface="Arial" pitchFamily="34" charset="0"/>
              </a:rPr>
              <a:t>：</a:t>
            </a:r>
            <a:endParaRPr lang="zh-CN" altLang="en-US" dirty="0">
              <a:latin typeface="+mn-ea"/>
              <a:ea typeface="+mn-ea"/>
            </a:endParaRPr>
          </a:p>
        </p:txBody>
      </p:sp>
      <p:graphicFrame>
        <p:nvGraphicFramePr>
          <p:cNvPr id="15" name="Object 13">
            <a:extLst>
              <a:ext uri="{FF2B5EF4-FFF2-40B4-BE49-F238E27FC236}">
                <a16:creationId xmlns:a16="http://schemas.microsoft.com/office/drawing/2014/main" id="{6E8968AB-213B-1514-0A21-067000B8A1F9}"/>
              </a:ext>
            </a:extLst>
          </p:cNvPr>
          <p:cNvGraphicFramePr>
            <a:graphicFrameLocks noChangeAspect="1"/>
          </p:cNvGraphicFramePr>
          <p:nvPr/>
        </p:nvGraphicFramePr>
        <p:xfrm>
          <a:off x="1922463" y="1885950"/>
          <a:ext cx="2792412" cy="420688"/>
        </p:xfrm>
        <a:graphic>
          <a:graphicData uri="http://schemas.openxmlformats.org/presentationml/2006/ole">
            <mc:AlternateContent xmlns:mc="http://schemas.openxmlformats.org/markup-compatibility/2006">
              <mc:Choice xmlns:v="urn:schemas-microsoft-com:vml" Requires="v">
                <p:oleObj name="公式" r:id="rId8" imgW="1282680" imgH="228600" progId="Equation.3">
                  <p:embed/>
                </p:oleObj>
              </mc:Choice>
              <mc:Fallback>
                <p:oleObj name="公式" r:id="rId8" imgW="1282680" imgH="228600" progId="Equation.3">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22463" y="1885950"/>
                        <a:ext cx="2792412" cy="420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矩形 16">
            <a:extLst>
              <a:ext uri="{FF2B5EF4-FFF2-40B4-BE49-F238E27FC236}">
                <a16:creationId xmlns:a16="http://schemas.microsoft.com/office/drawing/2014/main" id="{A7F683C7-3503-F4EB-8B1F-6D5421ED4D6F}"/>
              </a:ext>
            </a:extLst>
          </p:cNvPr>
          <p:cNvSpPr/>
          <p:nvPr/>
        </p:nvSpPr>
        <p:spPr>
          <a:xfrm>
            <a:off x="874713" y="4000500"/>
            <a:ext cx="696912" cy="400050"/>
          </a:xfrm>
          <a:prstGeom prst="rect">
            <a:avLst/>
          </a:prstGeom>
        </p:spPr>
        <p:txBody>
          <a:bodyPr wrap="none">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式中</a:t>
            </a:r>
            <a:endParaRPr lang="zh-CN" altLang="en-US" dirty="0"/>
          </a:p>
        </p:txBody>
      </p:sp>
      <p:sp>
        <p:nvSpPr>
          <p:cNvPr id="18" name="矩形 17">
            <a:extLst>
              <a:ext uri="{FF2B5EF4-FFF2-40B4-BE49-F238E27FC236}">
                <a16:creationId xmlns:a16="http://schemas.microsoft.com/office/drawing/2014/main" id="{228A4E4A-A1C5-B7F6-1C43-2331B081B672}"/>
              </a:ext>
            </a:extLst>
          </p:cNvPr>
          <p:cNvSpPr/>
          <p:nvPr/>
        </p:nvSpPr>
        <p:spPr>
          <a:xfrm>
            <a:off x="6715125" y="3241675"/>
            <a:ext cx="869950" cy="461963"/>
          </a:xfrm>
          <a:prstGeom prst="rect">
            <a:avLst/>
          </a:prstGeom>
        </p:spPr>
        <p:txBody>
          <a:bodyPr wrap="none">
            <a:spAutoFit/>
          </a:bodyPr>
          <a:lstStyle/>
          <a:p>
            <a:pPr>
              <a:defRPr/>
            </a:pPr>
            <a:r>
              <a:rPr kumimoji="0" lang="en-US" altLang="zh-CN" sz="2400" b="0" kern="0" dirty="0">
                <a:solidFill>
                  <a:srgbClr val="000000"/>
                </a:solidFill>
                <a:latin typeface="Arial" pitchFamily="34" charset="0"/>
                <a:ea typeface="微软雅黑" pitchFamily="34" charset="-122"/>
                <a:cs typeface="Arial" pitchFamily="34" charset="0"/>
              </a:rPr>
              <a:t>(</a:t>
            </a:r>
            <a:r>
              <a:rPr kumimoji="0" lang="zh-CN" altLang="en-US" sz="2400" b="0" kern="0" dirty="0">
                <a:solidFill>
                  <a:srgbClr val="000000"/>
                </a:solidFill>
                <a:latin typeface="Arial" pitchFamily="34" charset="0"/>
                <a:ea typeface="微软雅黑" pitchFamily="34" charset="-122"/>
                <a:cs typeface="Arial" pitchFamily="34" charset="0"/>
              </a:rPr>
              <a:t>模</a:t>
            </a:r>
            <a:r>
              <a:rPr kumimoji="0" lang="en-US" altLang="zh-CN" sz="2400" b="0" kern="0" dirty="0">
                <a:solidFill>
                  <a:srgbClr val="000000"/>
                </a:solidFill>
                <a:latin typeface="Arial" pitchFamily="34" charset="0"/>
                <a:ea typeface="微软雅黑" pitchFamily="34" charset="-122"/>
                <a:cs typeface="Arial" pitchFamily="34" charset="0"/>
              </a:rPr>
              <a:t>2)</a:t>
            </a:r>
            <a:endParaRPr lang="zh-CN" altLang="en-US" sz="2400" dirty="0"/>
          </a:p>
        </p:txBody>
      </p:sp>
      <p:pic>
        <p:nvPicPr>
          <p:cNvPr id="26642" name="Picture 18">
            <a:extLst>
              <a:ext uri="{FF2B5EF4-FFF2-40B4-BE49-F238E27FC236}">
                <a16:creationId xmlns:a16="http://schemas.microsoft.com/office/drawing/2014/main" id="{7772B343-4AE8-722E-1A2F-F5F4A10827F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00563" y="4071938"/>
            <a:ext cx="4071937"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43" name="Picture 19">
            <a:extLst>
              <a:ext uri="{FF2B5EF4-FFF2-40B4-BE49-F238E27FC236}">
                <a16:creationId xmlns:a16="http://schemas.microsoft.com/office/drawing/2014/main" id="{F73D0503-9DA2-18C6-B795-71791B07015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85813" y="5362575"/>
            <a:ext cx="7429500" cy="99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10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1000"/>
                                        <p:tgtEl>
                                          <p:spTgt spid="7"/>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up)">
                                      <p:cBhvr>
                                        <p:cTn id="16" dur="1000"/>
                                        <p:tgtEl>
                                          <p:spTgt spid="1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up)">
                                      <p:cBhvr>
                                        <p:cTn id="21" dur="1000"/>
                                        <p:tgtEl>
                                          <p:spTgt spid="10"/>
                                        </p:tgtEl>
                                      </p:cBhvr>
                                    </p:animEffect>
                                  </p:childTnLst>
                                </p:cTn>
                              </p:par>
                            </p:childTnLst>
                          </p:cTn>
                        </p:par>
                        <p:par>
                          <p:cTn id="22" fill="hold" nodeType="afterGroup">
                            <p:stCondLst>
                              <p:cond delay="1000"/>
                            </p:stCondLst>
                            <p:childTnLst>
                              <p:par>
                                <p:cTn id="23" presetID="22" presetClass="entr" presetSubtype="1" fill="hold" nodeType="afterEffect">
                                  <p:stCondLst>
                                    <p:cond delay="0"/>
                                  </p:stCondLst>
                                  <p:childTnLst>
                                    <p:set>
                                      <p:cBhvr>
                                        <p:cTn id="24" dur="1" fill="hold">
                                          <p:stCondLst>
                                            <p:cond delay="0"/>
                                          </p:stCondLst>
                                        </p:cTn>
                                        <p:tgtEl>
                                          <p:spTgt spid="73732"/>
                                        </p:tgtEl>
                                        <p:attrNameLst>
                                          <p:attrName>style.visibility</p:attrName>
                                        </p:attrNameLst>
                                      </p:cBhvr>
                                      <p:to>
                                        <p:strVal val="visible"/>
                                      </p:to>
                                    </p:set>
                                    <p:animEffect transition="in" filter="wipe(up)">
                                      <p:cBhvr>
                                        <p:cTn id="25" dur="1000"/>
                                        <p:tgtEl>
                                          <p:spTgt spid="7373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up)">
                                      <p:cBhvr>
                                        <p:cTn id="30" dur="1000"/>
                                        <p:tgtEl>
                                          <p:spTgt spid="11"/>
                                        </p:tgtEl>
                                      </p:cBhvr>
                                    </p:animEffect>
                                  </p:childTnLst>
                                </p:cTn>
                              </p:par>
                            </p:childTnLst>
                          </p:cTn>
                        </p:par>
                        <p:par>
                          <p:cTn id="31" fill="hold" nodeType="afterGroup">
                            <p:stCondLst>
                              <p:cond delay="1000"/>
                            </p:stCondLst>
                            <p:childTnLst>
                              <p:par>
                                <p:cTn id="32" presetID="22" presetClass="entr" presetSubtype="1" fill="hold" nodeType="afterEffect">
                                  <p:stCondLst>
                                    <p:cond delay="0"/>
                                  </p:stCondLst>
                                  <p:childTnLst>
                                    <p:set>
                                      <p:cBhvr>
                                        <p:cTn id="33" dur="1" fill="hold">
                                          <p:stCondLst>
                                            <p:cond delay="0"/>
                                          </p:stCondLst>
                                        </p:cTn>
                                        <p:tgtEl>
                                          <p:spTgt spid="73734"/>
                                        </p:tgtEl>
                                        <p:attrNameLst>
                                          <p:attrName>style.visibility</p:attrName>
                                        </p:attrNameLst>
                                      </p:cBhvr>
                                      <p:to>
                                        <p:strVal val="visible"/>
                                      </p:to>
                                    </p:set>
                                    <p:animEffect transition="in" filter="wipe(up)">
                                      <p:cBhvr>
                                        <p:cTn id="34" dur="1000"/>
                                        <p:tgtEl>
                                          <p:spTgt spid="73734"/>
                                        </p:tgtEl>
                                      </p:cBhvr>
                                    </p:animEffect>
                                  </p:childTnLst>
                                </p:cTn>
                              </p:par>
                            </p:childTnLst>
                          </p:cTn>
                        </p:par>
                        <p:par>
                          <p:cTn id="35" fill="hold" nodeType="afterGroup">
                            <p:stCondLst>
                              <p:cond delay="2000"/>
                            </p:stCondLst>
                            <p:childTnLst>
                              <p:par>
                                <p:cTn id="36" presetID="22" presetClass="entr" presetSubtype="8" fill="hold" nodeType="after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wipe(left)">
                                      <p:cBhvr>
                                        <p:cTn id="38" dur="1000"/>
                                        <p:tgtEl>
                                          <p:spTgt spid="18"/>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ipe(up)">
                                      <p:cBhvr>
                                        <p:cTn id="43" dur="1000"/>
                                        <p:tgtEl>
                                          <p:spTgt spid="17"/>
                                        </p:tgtEl>
                                      </p:cBhvr>
                                    </p:animEffect>
                                  </p:childTnLst>
                                </p:cTn>
                              </p:par>
                            </p:childTnLst>
                          </p:cTn>
                        </p:par>
                        <p:par>
                          <p:cTn id="44" fill="hold" nodeType="afterGroup">
                            <p:stCondLst>
                              <p:cond delay="1000"/>
                            </p:stCondLst>
                            <p:childTnLst>
                              <p:par>
                                <p:cTn id="45" presetID="22" presetClass="entr" presetSubtype="1" fill="hold" nodeType="afterEffect">
                                  <p:stCondLst>
                                    <p:cond delay="0"/>
                                  </p:stCondLst>
                                  <p:childTnLst>
                                    <p:set>
                                      <p:cBhvr>
                                        <p:cTn id="46" dur="1" fill="hold">
                                          <p:stCondLst>
                                            <p:cond delay="0"/>
                                          </p:stCondLst>
                                        </p:cTn>
                                        <p:tgtEl>
                                          <p:spTgt spid="73736"/>
                                        </p:tgtEl>
                                        <p:attrNameLst>
                                          <p:attrName>style.visibility</p:attrName>
                                        </p:attrNameLst>
                                      </p:cBhvr>
                                      <p:to>
                                        <p:strVal val="visible"/>
                                      </p:to>
                                    </p:set>
                                    <p:animEffect transition="in" filter="wipe(up)">
                                      <p:cBhvr>
                                        <p:cTn id="47" dur="1000"/>
                                        <p:tgtEl>
                                          <p:spTgt spid="7373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6642"/>
                                        </p:tgtEl>
                                        <p:attrNameLst>
                                          <p:attrName>style.visibility</p:attrName>
                                        </p:attrNameLst>
                                      </p:cBhvr>
                                      <p:to>
                                        <p:strVal val="visible"/>
                                      </p:to>
                                    </p:set>
                                    <p:animEffect transition="in" filter="wipe(left)">
                                      <p:cBhvr>
                                        <p:cTn id="52" dur="1000"/>
                                        <p:tgtEl>
                                          <p:spTgt spid="2664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nodeType="clickEffect">
                                  <p:stCondLst>
                                    <p:cond delay="0"/>
                                  </p:stCondLst>
                                  <p:childTnLst>
                                    <p:set>
                                      <p:cBhvr>
                                        <p:cTn id="56" dur="1" fill="hold">
                                          <p:stCondLst>
                                            <p:cond delay="0"/>
                                          </p:stCondLst>
                                        </p:cTn>
                                        <p:tgtEl>
                                          <p:spTgt spid="26643"/>
                                        </p:tgtEl>
                                        <p:attrNameLst>
                                          <p:attrName>style.visibility</p:attrName>
                                        </p:attrNameLst>
                                      </p:cBhvr>
                                      <p:to>
                                        <p:strVal val="visible"/>
                                      </p:to>
                                    </p:set>
                                    <p:animEffect transition="in" filter="wipe(up)">
                                      <p:cBhvr>
                                        <p:cTn id="57" dur="1000"/>
                                        <p:tgtEl>
                                          <p:spTgt spid="26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10" grpId="0"/>
      <p:bldP spid="11" grpId="0"/>
      <p:bldP spid="17" grpId="0"/>
      <p:bldP spid="1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66" name="Picture 18">
            <a:extLst>
              <a:ext uri="{FF2B5EF4-FFF2-40B4-BE49-F238E27FC236}">
                <a16:creationId xmlns:a16="http://schemas.microsoft.com/office/drawing/2014/main" id="{E3410773-5C69-6690-FC05-9E9CBC52EA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575" y="2352675"/>
            <a:ext cx="7500938"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a:extLst>
              <a:ext uri="{FF2B5EF4-FFF2-40B4-BE49-F238E27FC236}">
                <a16:creationId xmlns:a16="http://schemas.microsoft.com/office/drawing/2014/main" id="{E17F79B7-B203-85AD-02F3-66D55C44759C}"/>
              </a:ext>
            </a:extLst>
          </p:cNvPr>
          <p:cNvSpPr/>
          <p:nvPr/>
        </p:nvSpPr>
        <p:spPr>
          <a:xfrm>
            <a:off x="3500438" y="1571625"/>
            <a:ext cx="1928812" cy="461963"/>
          </a:xfrm>
          <a:prstGeom prst="rect">
            <a:avLst/>
          </a:prstGeom>
          <a:ln w="38100" cmpd="dbl">
            <a:solidFill>
              <a:srgbClr val="6666FF"/>
            </a:solidFill>
          </a:ln>
        </p:spPr>
        <p:txBody>
          <a:bodyPr>
            <a:spAutoFit/>
          </a:bodyPr>
          <a:lstStyle/>
          <a:p>
            <a:pPr>
              <a:defRPr/>
            </a:pPr>
            <a:r>
              <a:rPr kumimoji="0" lang="en-US" altLang="zh-CN" sz="2400" i="1" kern="0" dirty="0">
                <a:solidFill>
                  <a:srgbClr val="000000"/>
                </a:solidFill>
                <a:latin typeface="Arial" pitchFamily="34" charset="0"/>
                <a:ea typeface="微软雅黑" pitchFamily="34" charset="-122"/>
                <a:cs typeface="Arial" pitchFamily="34" charset="0"/>
              </a:rPr>
              <a:t>  A </a:t>
            </a:r>
            <a:r>
              <a:rPr kumimoji="0" lang="en-US" altLang="zh-CN" sz="2400" b="0" kern="0" dirty="0">
                <a:solidFill>
                  <a:srgbClr val="000000"/>
                </a:solidFill>
                <a:latin typeface="Arial" pitchFamily="34" charset="0"/>
                <a:ea typeface="微软雅黑" pitchFamily="34" charset="-122"/>
                <a:cs typeface="Arial" pitchFamily="34" charset="0"/>
              </a:rPr>
              <a:t>= </a:t>
            </a:r>
            <a:r>
              <a:rPr kumimoji="0" lang="en-US" altLang="zh-CN" sz="2400" i="1" kern="0" dirty="0">
                <a:solidFill>
                  <a:srgbClr val="000000"/>
                </a:solidFill>
                <a:latin typeface="Arial" pitchFamily="34" charset="0"/>
                <a:ea typeface="微软雅黑" pitchFamily="34" charset="-122"/>
                <a:cs typeface="Arial" pitchFamily="34" charset="0"/>
              </a:rPr>
              <a:t>B</a:t>
            </a:r>
            <a:r>
              <a:rPr kumimoji="0" lang="en-US" altLang="zh-CN" sz="2400" b="0" kern="0" dirty="0">
                <a:solidFill>
                  <a:srgbClr val="000000"/>
                </a:solidFill>
                <a:latin typeface="Arial" pitchFamily="34" charset="0"/>
                <a:ea typeface="微软雅黑" pitchFamily="34" charset="-122"/>
                <a:cs typeface="Arial" pitchFamily="34" charset="0"/>
              </a:rPr>
              <a:t> + </a:t>
            </a:r>
            <a:r>
              <a:rPr kumimoji="0" lang="en-US" altLang="zh-CN" sz="2400" i="1" kern="0" dirty="0">
                <a:solidFill>
                  <a:srgbClr val="000000"/>
                </a:solidFill>
                <a:latin typeface="Arial" pitchFamily="34" charset="0"/>
                <a:ea typeface="微软雅黑" pitchFamily="34" charset="-122"/>
                <a:cs typeface="Arial" pitchFamily="34" charset="0"/>
              </a:rPr>
              <a:t>E</a:t>
            </a:r>
            <a:endParaRPr lang="zh-CN" altLang="en-US" sz="2400" dirty="0"/>
          </a:p>
        </p:txBody>
      </p:sp>
      <p:grpSp>
        <p:nvGrpSpPr>
          <p:cNvPr id="2" name="组合 15">
            <a:extLst>
              <a:ext uri="{FF2B5EF4-FFF2-40B4-BE49-F238E27FC236}">
                <a16:creationId xmlns:a16="http://schemas.microsoft.com/office/drawing/2014/main" id="{6FE54830-9276-DD56-A1AD-B85E23B32E61}"/>
              </a:ext>
            </a:extLst>
          </p:cNvPr>
          <p:cNvGrpSpPr>
            <a:grpSpLocks/>
          </p:cNvGrpSpPr>
          <p:nvPr/>
        </p:nvGrpSpPr>
        <p:grpSpPr bwMode="auto">
          <a:xfrm>
            <a:off x="785813" y="2066925"/>
            <a:ext cx="714375" cy="571500"/>
            <a:chOff x="285721" y="3286124"/>
            <a:chExt cx="714380" cy="571504"/>
          </a:xfrm>
        </p:grpSpPr>
        <p:grpSp>
          <p:nvGrpSpPr>
            <p:cNvPr id="94219" name="Group 52">
              <a:extLst>
                <a:ext uri="{FF2B5EF4-FFF2-40B4-BE49-F238E27FC236}">
                  <a16:creationId xmlns:a16="http://schemas.microsoft.com/office/drawing/2014/main" id="{9B18ECE4-7E05-4FBD-E34E-80566BD6FC5D}"/>
                </a:ext>
              </a:extLst>
            </p:cNvPr>
            <p:cNvGrpSpPr>
              <a:grpSpLocks/>
            </p:cNvGrpSpPr>
            <p:nvPr/>
          </p:nvGrpSpPr>
          <p:grpSpPr bwMode="auto">
            <a:xfrm>
              <a:off x="285721" y="3286124"/>
              <a:ext cx="714380" cy="571504"/>
              <a:chOff x="1289" y="582"/>
              <a:chExt cx="668" cy="668"/>
            </a:xfrm>
          </p:grpSpPr>
          <p:sp>
            <p:nvSpPr>
              <p:cNvPr id="94221" name="Oval 53">
                <a:extLst>
                  <a:ext uri="{FF2B5EF4-FFF2-40B4-BE49-F238E27FC236}">
                    <a16:creationId xmlns:a16="http://schemas.microsoft.com/office/drawing/2014/main" id="{22852A2A-29E7-39A8-3255-1FFF6AB1C1EA}"/>
                  </a:ext>
                </a:extLst>
              </p:cNvPr>
              <p:cNvSpPr>
                <a:spLocks noChangeArrowheads="1"/>
              </p:cNvSpPr>
              <p:nvPr/>
            </p:nvSpPr>
            <p:spPr bwMode="gray">
              <a:xfrm>
                <a:off x="1289" y="582"/>
                <a:ext cx="668" cy="668"/>
              </a:xfrm>
              <a:prstGeom prst="ellipse">
                <a:avLst/>
              </a:prstGeom>
              <a:solidFill>
                <a:srgbClr val="333333"/>
              </a:soli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94222" name="Oval 54">
                <a:extLst>
                  <a:ext uri="{FF2B5EF4-FFF2-40B4-BE49-F238E27FC236}">
                    <a16:creationId xmlns:a16="http://schemas.microsoft.com/office/drawing/2014/main" id="{4CAD4263-9FAF-E707-35EF-049E9B0C4B49}"/>
                  </a:ext>
                </a:extLst>
              </p:cNvPr>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94223" name="Oval 55">
                <a:extLst>
                  <a:ext uri="{FF2B5EF4-FFF2-40B4-BE49-F238E27FC236}">
                    <a16:creationId xmlns:a16="http://schemas.microsoft.com/office/drawing/2014/main" id="{31018B1F-31E3-F28C-A6B5-BA5A4EB67388}"/>
                  </a:ext>
                </a:extLst>
              </p:cNvPr>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94224" name="Oval 56">
                <a:extLst>
                  <a:ext uri="{FF2B5EF4-FFF2-40B4-BE49-F238E27FC236}">
                    <a16:creationId xmlns:a16="http://schemas.microsoft.com/office/drawing/2014/main" id="{AEC428ED-77CC-B383-C17B-3BEB7241D311}"/>
                  </a:ext>
                </a:extLst>
              </p:cNvPr>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94225" name="Oval 57">
                <a:extLst>
                  <a:ext uri="{FF2B5EF4-FFF2-40B4-BE49-F238E27FC236}">
                    <a16:creationId xmlns:a16="http://schemas.microsoft.com/office/drawing/2014/main" id="{35014017-ABBD-B982-3224-BC4C6A5CEA1A}"/>
                  </a:ext>
                </a:extLst>
              </p:cNvPr>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pSp>
        <p:sp>
          <p:nvSpPr>
            <p:cNvPr id="94220" name="Text Box 29">
              <a:extLst>
                <a:ext uri="{FF2B5EF4-FFF2-40B4-BE49-F238E27FC236}">
                  <a16:creationId xmlns:a16="http://schemas.microsoft.com/office/drawing/2014/main" id="{FFC93E6F-D789-9D5C-BF8B-13B33C273B8C}"/>
                </a:ext>
              </a:extLst>
            </p:cNvPr>
            <p:cNvSpPr txBox="1">
              <a:spLocks noChangeArrowheads="1"/>
            </p:cNvSpPr>
            <p:nvPr/>
          </p:nvSpPr>
          <p:spPr bwMode="gray">
            <a:xfrm>
              <a:off x="357158" y="3286124"/>
              <a:ext cx="542027" cy="519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a:r>
                <a:rPr kumimoji="0" lang="zh-CN" altLang="en-US" sz="2800">
                  <a:solidFill>
                    <a:srgbClr val="0000CC"/>
                  </a:solidFill>
                  <a:latin typeface="Arial" panose="020B0604020202020204" pitchFamily="34" charset="0"/>
                  <a:ea typeface="宋体" panose="02010600030101010101" pitchFamily="2" charset="-122"/>
                </a:rPr>
                <a:t>例</a:t>
              </a:r>
            </a:p>
          </p:txBody>
        </p:sp>
      </p:grpSp>
      <p:sp>
        <p:nvSpPr>
          <p:cNvPr id="24" name="矩形 23">
            <a:extLst>
              <a:ext uri="{FF2B5EF4-FFF2-40B4-BE49-F238E27FC236}">
                <a16:creationId xmlns:a16="http://schemas.microsoft.com/office/drawing/2014/main" id="{6EBF73CA-4C47-9E24-C824-D29421ABB631}"/>
              </a:ext>
            </a:extLst>
          </p:cNvPr>
          <p:cNvSpPr/>
          <p:nvPr/>
        </p:nvSpPr>
        <p:spPr>
          <a:xfrm>
            <a:off x="871538" y="1014413"/>
            <a:ext cx="7143750" cy="461962"/>
          </a:xfrm>
          <a:prstGeom prst="rect">
            <a:avLst/>
          </a:prstGeom>
        </p:spPr>
        <p:txBody>
          <a:bodyPr>
            <a:spAutoFit/>
          </a:bodyPr>
          <a:lstStyle/>
          <a:p>
            <a:pPr>
              <a:defRPr/>
            </a:pP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在接收端，若能求出错误图样</a:t>
            </a:r>
            <a:r>
              <a:rPr kumimoji="0" lang="en-US" altLang="zh-CN" sz="2400" i="1" kern="0" dirty="0">
                <a:solidFill>
                  <a:srgbClr val="FF0000"/>
                </a:solidFill>
                <a:latin typeface="Arial" pitchFamily="34" charset="0"/>
                <a:ea typeface="微软雅黑" pitchFamily="34" charset="-122"/>
                <a:cs typeface="Arial" pitchFamily="34" charset="0"/>
              </a:rPr>
              <a:t>E </a:t>
            </a: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就能恢复出发送码组 </a:t>
            </a:r>
            <a:r>
              <a:rPr kumimoji="0" lang="en-US" altLang="zh-CN" sz="2400" i="1"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A</a:t>
            </a:r>
            <a:r>
              <a:rPr kumimoji="0" lang="zh-CN" altLang="en-US" sz="24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，即</a:t>
            </a:r>
            <a:endParaRPr lang="zh-CN" altLang="en-US" sz="2000" dirty="0"/>
          </a:p>
        </p:txBody>
      </p:sp>
      <p:sp>
        <p:nvSpPr>
          <p:cNvPr id="26" name="矩形 25">
            <a:extLst>
              <a:ext uri="{FF2B5EF4-FFF2-40B4-BE49-F238E27FC236}">
                <a16:creationId xmlns:a16="http://schemas.microsoft.com/office/drawing/2014/main" id="{E5C72D5A-DA9D-F9BA-A19B-FC0BAE63BF46}"/>
              </a:ext>
            </a:extLst>
          </p:cNvPr>
          <p:cNvSpPr>
            <a:spLocks noChangeArrowheads="1"/>
          </p:cNvSpPr>
          <p:nvPr/>
        </p:nvSpPr>
        <p:spPr bwMode="auto">
          <a:xfrm>
            <a:off x="857250" y="3643313"/>
            <a:ext cx="4572000" cy="461962"/>
          </a:xfrm>
          <a:prstGeom prst="rect">
            <a:avLst/>
          </a:prstGeom>
          <a:noFill/>
          <a:ln w="9525">
            <a:noFill/>
            <a:miter lim="800000"/>
            <a:headEnd/>
            <a:tailEnd/>
          </a:ln>
        </p:spPr>
        <p:txBody>
          <a:bodyPr>
            <a:spAutoFit/>
          </a:bodyPr>
          <a:lstStyle/>
          <a:p>
            <a:pPr>
              <a:defRPr/>
            </a:pPr>
            <a:r>
              <a:rPr lang="en-US" altLang="zh-CN" sz="2400" dirty="0">
                <a:solidFill>
                  <a:srgbClr val="0000CC"/>
                </a:solidFill>
                <a:latin typeface="Arial" charset="0"/>
                <a:ea typeface="微软雅黑" pitchFamily="34" charset="-122"/>
                <a:cs typeface="Arial" charset="0"/>
              </a:rPr>
              <a:t>∵</a:t>
            </a: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Arial" charset="0"/>
              </a:rPr>
              <a:t>任一</a:t>
            </a:r>
            <a:r>
              <a:rPr lang="zh-CN" altLang="en-US" sz="2000" dirty="0">
                <a:solidFill>
                  <a:schemeClr val="tx1"/>
                </a:solidFill>
                <a:latin typeface="微软雅黑" pitchFamily="34" charset="-122"/>
                <a:ea typeface="微软雅黑" pitchFamily="34" charset="-122"/>
                <a:cs typeface="Arial" charset="0"/>
              </a:rPr>
              <a:t>发送</a:t>
            </a: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Arial" charset="0"/>
              </a:rPr>
              <a:t>码组 </a:t>
            </a:r>
            <a:r>
              <a:rPr lang="en-US" altLang="zh-CN" sz="2400" i="1" dirty="0">
                <a:solidFill>
                  <a:srgbClr val="990099"/>
                </a:solidFill>
                <a:effectLst>
                  <a:outerShdw blurRad="38100" dist="38100" dir="2700000" algn="tl">
                    <a:srgbClr val="000000">
                      <a:alpha val="43137"/>
                    </a:srgbClr>
                  </a:outerShdw>
                </a:effectLst>
                <a:latin typeface="微软雅黑" pitchFamily="34" charset="-122"/>
                <a:ea typeface="微软雅黑" pitchFamily="34" charset="-122"/>
                <a:cs typeface="Arial" charset="0"/>
              </a:rPr>
              <a:t>A</a:t>
            </a:r>
            <a:r>
              <a:rPr lang="en-US" altLang="zh-CN" sz="2400" i="1" dirty="0">
                <a:solidFill>
                  <a:srgbClr val="9966FF"/>
                </a:solidFill>
                <a:effectLst>
                  <a:outerShdw blurRad="38100" dist="38100" dir="2700000" algn="tl">
                    <a:srgbClr val="000000">
                      <a:alpha val="43137"/>
                    </a:srgbClr>
                  </a:outerShdw>
                </a:effectLst>
                <a:latin typeface="微软雅黑" pitchFamily="34" charset="-122"/>
                <a:ea typeface="微软雅黑" pitchFamily="34" charset="-122"/>
                <a:cs typeface="Arial" charset="0"/>
              </a:rPr>
              <a:t> </a:t>
            </a: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Arial" charset="0"/>
              </a:rPr>
              <a:t>都应满足式：</a:t>
            </a:r>
          </a:p>
        </p:txBody>
      </p:sp>
      <p:sp>
        <p:nvSpPr>
          <p:cNvPr id="28" name="矩形 27">
            <a:extLst>
              <a:ext uri="{FF2B5EF4-FFF2-40B4-BE49-F238E27FC236}">
                <a16:creationId xmlns:a16="http://schemas.microsoft.com/office/drawing/2014/main" id="{C2C70A63-C9C5-3F67-294A-CA2EB43150F4}"/>
              </a:ext>
            </a:extLst>
          </p:cNvPr>
          <p:cNvSpPr>
            <a:spLocks noChangeArrowheads="1"/>
          </p:cNvSpPr>
          <p:nvPr/>
        </p:nvSpPr>
        <p:spPr bwMode="auto">
          <a:xfrm>
            <a:off x="857250" y="4829175"/>
            <a:ext cx="5429250" cy="461963"/>
          </a:xfrm>
          <a:prstGeom prst="rect">
            <a:avLst/>
          </a:prstGeom>
          <a:noFill/>
          <a:ln w="9525">
            <a:noFill/>
            <a:miter lim="800000"/>
            <a:headEnd/>
            <a:tailEnd/>
          </a:ln>
        </p:spPr>
        <p:txBody>
          <a:bodyPr>
            <a:spAutoFit/>
          </a:bodyPr>
          <a:lstStyle/>
          <a:p>
            <a:pPr>
              <a:defRPr/>
            </a:pPr>
            <a:r>
              <a:rPr lang="en-US" altLang="zh-CN" sz="2400" dirty="0">
                <a:solidFill>
                  <a:srgbClr val="0000CC"/>
                </a:solidFill>
                <a:latin typeface="Arial" charset="0"/>
                <a:ea typeface="微软雅黑" pitchFamily="34" charset="-122"/>
                <a:cs typeface="Arial" charset="0"/>
              </a:rPr>
              <a:t>∴</a:t>
            </a: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Arial" charset="0"/>
              </a:rPr>
              <a:t>对于</a:t>
            </a:r>
            <a:r>
              <a:rPr lang="zh-CN" altLang="en-US" sz="2000" dirty="0">
                <a:solidFill>
                  <a:schemeClr val="tx1"/>
                </a:solidFill>
                <a:latin typeface="微软雅黑" pitchFamily="34" charset="-122"/>
                <a:ea typeface="微软雅黑" pitchFamily="34" charset="-122"/>
                <a:cs typeface="Arial" charset="0"/>
              </a:rPr>
              <a:t>接收</a:t>
            </a: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Arial" charset="0"/>
              </a:rPr>
              <a:t>码组 </a:t>
            </a:r>
            <a:r>
              <a:rPr lang="en-US" altLang="zh-CN" sz="2400" i="1" dirty="0">
                <a:solidFill>
                  <a:srgbClr val="0000CC"/>
                </a:solidFill>
                <a:effectLst>
                  <a:outerShdw blurRad="38100" dist="38100" dir="2700000" algn="tl">
                    <a:srgbClr val="000000">
                      <a:alpha val="43137"/>
                    </a:srgbClr>
                  </a:outerShdw>
                </a:effectLst>
                <a:latin typeface="Arial" charset="0"/>
                <a:ea typeface="微软雅黑" pitchFamily="34" charset="-122"/>
                <a:cs typeface="Arial" charset="0"/>
              </a:rPr>
              <a:t>B</a:t>
            </a: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Arial" charset="0"/>
              </a:rPr>
              <a:t>，可通过计算</a:t>
            </a:r>
            <a:r>
              <a:rPr lang="en-US" altLang="zh-CN"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Arial" charset="0"/>
              </a:rPr>
              <a:t>:</a:t>
            </a:r>
            <a:endPar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Arial" charset="0"/>
            </a:endParaRPr>
          </a:p>
        </p:txBody>
      </p:sp>
      <p:sp>
        <p:nvSpPr>
          <p:cNvPr id="30" name="矩形 29">
            <a:extLst>
              <a:ext uri="{FF2B5EF4-FFF2-40B4-BE49-F238E27FC236}">
                <a16:creationId xmlns:a16="http://schemas.microsoft.com/office/drawing/2014/main" id="{EDA5398A-A0B9-9B93-6316-332AE499ED3B}"/>
              </a:ext>
            </a:extLst>
          </p:cNvPr>
          <p:cNvSpPr>
            <a:spLocks noChangeArrowheads="1"/>
          </p:cNvSpPr>
          <p:nvPr/>
        </p:nvSpPr>
        <p:spPr bwMode="auto">
          <a:xfrm>
            <a:off x="6643688" y="5743575"/>
            <a:ext cx="1571625" cy="400050"/>
          </a:xfrm>
          <a:prstGeom prst="rect">
            <a:avLst/>
          </a:prstGeom>
          <a:noFill/>
          <a:ln w="9525">
            <a:noFill/>
            <a:miter lim="800000"/>
            <a:headEnd/>
            <a:tailEnd/>
          </a:ln>
          <a:effectLst>
            <a:outerShdw blurRad="50800" dist="38100" dir="5400000" algn="t" rotWithShape="0">
              <a:prstClr val="black">
                <a:alpha val="40000"/>
              </a:prstClr>
            </a:outerShdw>
          </a:effectLst>
        </p:spPr>
        <p:txBody>
          <a:bodyPr>
            <a:spAutoFit/>
          </a:bodyPr>
          <a:lstStyle/>
          <a:p>
            <a:pPr>
              <a:defRPr/>
            </a:pPr>
            <a:r>
              <a:rPr lang="zh-CN" altLang="en-US" sz="2000" b="0" dirty="0">
                <a:solidFill>
                  <a:srgbClr val="000000"/>
                </a:solidFill>
                <a:latin typeface="微软雅黑" pitchFamily="34" charset="-122"/>
                <a:ea typeface="微软雅黑" pitchFamily="34" charset="-122"/>
                <a:cs typeface="Arial" charset="0"/>
              </a:rPr>
              <a:t>来进行检测。</a:t>
            </a:r>
            <a:endParaRPr lang="zh-CN" altLang="en-US" sz="2000" b="0" dirty="0">
              <a:latin typeface="微软雅黑" pitchFamily="34" charset="-122"/>
              <a:ea typeface="微软雅黑" pitchFamily="34" charset="-122"/>
              <a:cs typeface="Arial" charset="0"/>
            </a:endParaRPr>
          </a:p>
        </p:txBody>
      </p:sp>
      <p:pic>
        <p:nvPicPr>
          <p:cNvPr id="27667" name="Picture 19">
            <a:extLst>
              <a:ext uri="{FF2B5EF4-FFF2-40B4-BE49-F238E27FC236}">
                <a16:creationId xmlns:a16="http://schemas.microsoft.com/office/drawing/2014/main" id="{38AA2A70-CA99-B894-FCBE-5D8B06523E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72246"/>
          <a:stretch>
            <a:fillRect/>
          </a:stretch>
        </p:blipFill>
        <p:spPr bwMode="auto">
          <a:xfrm>
            <a:off x="2771775" y="4113213"/>
            <a:ext cx="3538538"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9">
            <a:extLst>
              <a:ext uri="{FF2B5EF4-FFF2-40B4-BE49-F238E27FC236}">
                <a16:creationId xmlns:a16="http://schemas.microsoft.com/office/drawing/2014/main" id="{82718B3D-27CD-7E56-AF76-6EA382A494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3974" r="-2962" b="-9941"/>
          <a:stretch>
            <a:fillRect/>
          </a:stretch>
        </p:blipFill>
        <p:spPr bwMode="auto">
          <a:xfrm>
            <a:off x="2786063" y="5214938"/>
            <a:ext cx="3643312" cy="150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up)">
                                      <p:cBhvr>
                                        <p:cTn id="7" dur="1000"/>
                                        <p:tgtEl>
                                          <p:spTgt spid="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10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1000"/>
                                        <p:tgtEl>
                                          <p:spTgt spid="2"/>
                                        </p:tgtEl>
                                      </p:cBhvr>
                                    </p:animEffect>
                                  </p:childTnLst>
                                </p:cTn>
                              </p:par>
                            </p:childTnLst>
                          </p:cTn>
                        </p:par>
                        <p:par>
                          <p:cTn id="18" fill="hold" nodeType="afterGroup">
                            <p:stCondLst>
                              <p:cond delay="1000"/>
                            </p:stCondLst>
                            <p:childTnLst>
                              <p:par>
                                <p:cTn id="19" presetID="22" presetClass="entr" presetSubtype="1" fill="hold" nodeType="afterEffect">
                                  <p:stCondLst>
                                    <p:cond delay="0"/>
                                  </p:stCondLst>
                                  <p:childTnLst>
                                    <p:set>
                                      <p:cBhvr>
                                        <p:cTn id="20" dur="1" fill="hold">
                                          <p:stCondLst>
                                            <p:cond delay="0"/>
                                          </p:stCondLst>
                                        </p:cTn>
                                        <p:tgtEl>
                                          <p:spTgt spid="27666"/>
                                        </p:tgtEl>
                                        <p:attrNameLst>
                                          <p:attrName>style.visibility</p:attrName>
                                        </p:attrNameLst>
                                      </p:cBhvr>
                                      <p:to>
                                        <p:strVal val="visible"/>
                                      </p:to>
                                    </p:set>
                                    <p:animEffect transition="in" filter="wipe(up)">
                                      <p:cBhvr>
                                        <p:cTn id="21" dur="1000"/>
                                        <p:tgtEl>
                                          <p:spTgt spid="2766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wipe(up)">
                                      <p:cBhvr>
                                        <p:cTn id="26" dur="1000"/>
                                        <p:tgtEl>
                                          <p:spTgt spid="26"/>
                                        </p:tgtEl>
                                      </p:cBhvr>
                                    </p:animEffect>
                                  </p:childTnLst>
                                </p:cTn>
                              </p:par>
                            </p:childTnLst>
                          </p:cTn>
                        </p:par>
                        <p:par>
                          <p:cTn id="27" fill="hold" nodeType="afterGroup">
                            <p:stCondLst>
                              <p:cond delay="1000"/>
                            </p:stCondLst>
                            <p:childTnLst>
                              <p:par>
                                <p:cTn id="28" presetID="22" presetClass="entr" presetSubtype="1" fill="hold" nodeType="afterEffect">
                                  <p:stCondLst>
                                    <p:cond delay="0"/>
                                  </p:stCondLst>
                                  <p:childTnLst>
                                    <p:set>
                                      <p:cBhvr>
                                        <p:cTn id="29" dur="1" fill="hold">
                                          <p:stCondLst>
                                            <p:cond delay="0"/>
                                          </p:stCondLst>
                                        </p:cTn>
                                        <p:tgtEl>
                                          <p:spTgt spid="27667"/>
                                        </p:tgtEl>
                                        <p:attrNameLst>
                                          <p:attrName>style.visibility</p:attrName>
                                        </p:attrNameLst>
                                      </p:cBhvr>
                                      <p:to>
                                        <p:strVal val="visible"/>
                                      </p:to>
                                    </p:set>
                                    <p:animEffect transition="in" filter="wipe(up)">
                                      <p:cBhvr>
                                        <p:cTn id="30" dur="1000"/>
                                        <p:tgtEl>
                                          <p:spTgt spid="2766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wipe(up)">
                                      <p:cBhvr>
                                        <p:cTn id="35" dur="1000"/>
                                        <p:tgtEl>
                                          <p:spTgt spid="28"/>
                                        </p:tgtEl>
                                      </p:cBhvr>
                                    </p:animEffect>
                                  </p:childTnLst>
                                </p:cTn>
                              </p:par>
                            </p:childTnLst>
                          </p:cTn>
                        </p:par>
                        <p:par>
                          <p:cTn id="36" fill="hold" nodeType="afterGroup">
                            <p:stCondLst>
                              <p:cond delay="1000"/>
                            </p:stCondLst>
                            <p:childTnLst>
                              <p:par>
                                <p:cTn id="37" presetID="22" presetClass="entr" presetSubtype="1" fill="hold" nodeType="after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wipe(up)">
                                      <p:cBhvr>
                                        <p:cTn id="39" dur="1000"/>
                                        <p:tgtEl>
                                          <p:spTgt spid="20"/>
                                        </p:tgtEl>
                                      </p:cBhvr>
                                    </p:animEffect>
                                  </p:childTnLst>
                                </p:cTn>
                              </p:par>
                            </p:childTnLst>
                          </p:cTn>
                        </p:par>
                        <p:par>
                          <p:cTn id="40" fill="hold" nodeType="afterGroup">
                            <p:stCondLst>
                              <p:cond delay="2000"/>
                            </p:stCondLst>
                            <p:childTnLst>
                              <p:par>
                                <p:cTn id="41" presetID="22" presetClass="entr" presetSubtype="8" fill="hold" nodeType="after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wipe(left)">
                                      <p:cBhvr>
                                        <p:cTn id="43" dur="2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4" grpId="0"/>
      <p:bldP spid="26" grpId="0"/>
      <p:bldP spid="28" grpId="0"/>
      <p:bldP spid="30"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87" name="Picture 15">
            <a:extLst>
              <a:ext uri="{FF2B5EF4-FFF2-40B4-BE49-F238E27FC236}">
                <a16:creationId xmlns:a16="http://schemas.microsoft.com/office/drawing/2014/main" id="{951B0960-3081-D716-FA5E-63D15E5D91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53632"/>
          <a:stretch>
            <a:fillRect/>
          </a:stretch>
        </p:blipFill>
        <p:spPr bwMode="auto">
          <a:xfrm>
            <a:off x="2401888" y="1874838"/>
            <a:ext cx="5157787"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898" name="Rectangle 2">
            <a:extLst>
              <a:ext uri="{FF2B5EF4-FFF2-40B4-BE49-F238E27FC236}">
                <a16:creationId xmlns:a16="http://schemas.microsoft.com/office/drawing/2014/main" id="{3CEC266B-BFC2-2679-4F51-D48C21295502}"/>
              </a:ext>
            </a:extLst>
          </p:cNvPr>
          <p:cNvSpPr>
            <a:spLocks noChangeArrowheads="1"/>
          </p:cNvSpPr>
          <p:nvPr/>
        </p:nvSpPr>
        <p:spPr bwMode="auto">
          <a:xfrm>
            <a:off x="0" y="0"/>
            <a:ext cx="9144000" cy="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13" name="矩形 12">
            <a:extLst>
              <a:ext uri="{FF2B5EF4-FFF2-40B4-BE49-F238E27FC236}">
                <a16:creationId xmlns:a16="http://schemas.microsoft.com/office/drawing/2014/main" id="{95DB05A9-A5B4-108D-9E65-CCC453BB4A0D}"/>
              </a:ext>
            </a:extLst>
          </p:cNvPr>
          <p:cNvSpPr/>
          <p:nvPr/>
        </p:nvSpPr>
        <p:spPr>
          <a:xfrm>
            <a:off x="900113" y="1068388"/>
            <a:ext cx="4286250" cy="646112"/>
          </a:xfrm>
          <a:prstGeom prst="rect">
            <a:avLst/>
          </a:prstGeom>
        </p:spPr>
        <p:txBody>
          <a:bodyPr>
            <a:spAutoFit/>
          </a:bodyPr>
          <a:lstStyle/>
          <a:p>
            <a:pPr marL="228600" indent="-228600">
              <a:lnSpc>
                <a:spcPct val="150000"/>
              </a:lnSpc>
              <a:spcBef>
                <a:spcPct val="20000"/>
              </a:spcBef>
              <a:buClr>
                <a:schemeClr val="accent2"/>
              </a:buClr>
              <a:buSzPct val="55000"/>
              <a:buFont typeface="Wingdings" pitchFamily="2" charset="2"/>
              <a:buNone/>
              <a:defRPr/>
            </a:pPr>
            <a:r>
              <a:rPr kumimoji="0" lang="zh-CN" altLang="en-US" sz="2000" b="0" kern="0" dirty="0">
                <a:solidFill>
                  <a:schemeClr val="tx1"/>
                </a:solidFill>
                <a:latin typeface="Arial" pitchFamily="34" charset="0"/>
                <a:ea typeface="微软雅黑" pitchFamily="34" charset="-122"/>
                <a:cs typeface="Arial" pitchFamily="34" charset="0"/>
              </a:rPr>
              <a:t>将 </a:t>
            </a:r>
            <a:r>
              <a:rPr kumimoji="0" lang="en-US" altLang="zh-CN" sz="2400" i="1" kern="0" dirty="0">
                <a:solidFill>
                  <a:srgbClr val="0000CC"/>
                </a:solidFill>
                <a:latin typeface="Arial" pitchFamily="34" charset="0"/>
                <a:ea typeface="微软雅黑" pitchFamily="34" charset="-122"/>
                <a:cs typeface="Arial" pitchFamily="34" charset="0"/>
              </a:rPr>
              <a:t>B</a:t>
            </a:r>
            <a:r>
              <a:rPr kumimoji="0" lang="en-US" altLang="zh-CN" sz="2400" b="0" kern="0" dirty="0">
                <a:solidFill>
                  <a:srgbClr val="0000CC"/>
                </a:solidFill>
                <a:latin typeface="Arial" pitchFamily="34" charset="0"/>
                <a:ea typeface="微软雅黑" pitchFamily="34" charset="-122"/>
                <a:cs typeface="Arial" pitchFamily="34" charset="0"/>
              </a:rPr>
              <a:t> = </a:t>
            </a:r>
            <a:r>
              <a:rPr kumimoji="0" lang="en-US" altLang="zh-CN" sz="2400" i="1" kern="0" dirty="0">
                <a:solidFill>
                  <a:srgbClr val="0000CC"/>
                </a:solidFill>
                <a:latin typeface="Arial" pitchFamily="34" charset="0"/>
                <a:ea typeface="微软雅黑" pitchFamily="34" charset="-122"/>
                <a:cs typeface="Arial" pitchFamily="34" charset="0"/>
              </a:rPr>
              <a:t>A</a:t>
            </a:r>
            <a:r>
              <a:rPr kumimoji="0" lang="en-US" altLang="zh-CN" sz="2400" b="0" kern="0" dirty="0">
                <a:solidFill>
                  <a:srgbClr val="0000CC"/>
                </a:solidFill>
                <a:latin typeface="Arial" pitchFamily="34" charset="0"/>
                <a:ea typeface="微软雅黑" pitchFamily="34" charset="-122"/>
                <a:cs typeface="Arial" pitchFamily="34" charset="0"/>
              </a:rPr>
              <a:t> + </a:t>
            </a:r>
            <a:r>
              <a:rPr kumimoji="0" lang="en-US" altLang="zh-CN" sz="2400" i="1" kern="0" dirty="0">
                <a:solidFill>
                  <a:srgbClr val="0000CC"/>
                </a:solidFill>
                <a:latin typeface="Arial" pitchFamily="34" charset="0"/>
                <a:ea typeface="微软雅黑" pitchFamily="34" charset="-122"/>
                <a:cs typeface="Arial" pitchFamily="34" charset="0"/>
              </a:rPr>
              <a:t>E </a:t>
            </a:r>
            <a:r>
              <a:rPr kumimoji="0" lang="zh-CN" altLang="en-US" sz="2000" b="0" kern="0" dirty="0">
                <a:solidFill>
                  <a:schemeClr val="tx1"/>
                </a:solidFill>
                <a:latin typeface="Arial" pitchFamily="34" charset="0"/>
                <a:ea typeface="微软雅黑" pitchFamily="34" charset="-122"/>
                <a:cs typeface="Arial" pitchFamily="34" charset="0"/>
              </a:rPr>
              <a:t>代入上式，可得	</a:t>
            </a:r>
            <a:endParaRPr kumimoji="0" lang="fr-FR" altLang="zh-CN" sz="2000" b="0" kern="0" baseline="30000" dirty="0">
              <a:solidFill>
                <a:schemeClr val="tx1"/>
              </a:solidFill>
              <a:latin typeface="Arial" pitchFamily="34" charset="0"/>
              <a:ea typeface="微软雅黑" pitchFamily="34" charset="-122"/>
              <a:cs typeface="Arial" pitchFamily="34" charset="0"/>
            </a:endParaRPr>
          </a:p>
        </p:txBody>
      </p:sp>
      <p:sp>
        <p:nvSpPr>
          <p:cNvPr id="17" name="矩形 16">
            <a:extLst>
              <a:ext uri="{FF2B5EF4-FFF2-40B4-BE49-F238E27FC236}">
                <a16:creationId xmlns:a16="http://schemas.microsoft.com/office/drawing/2014/main" id="{9AAAC4F6-0FA0-35B6-7483-F4290ADCD50D}"/>
              </a:ext>
            </a:extLst>
          </p:cNvPr>
          <p:cNvSpPr/>
          <p:nvPr/>
        </p:nvSpPr>
        <p:spPr>
          <a:xfrm>
            <a:off x="5619750" y="1243013"/>
            <a:ext cx="349250" cy="400050"/>
          </a:xfrm>
          <a:prstGeom prst="rect">
            <a:avLst/>
          </a:prstGeom>
        </p:spPr>
        <p:txBody>
          <a:bodyPr wrap="none">
            <a:spAutoFit/>
          </a:bodyPr>
          <a:lstStyle/>
          <a:p>
            <a:pPr>
              <a:defRPr/>
            </a:pPr>
            <a:r>
              <a:rPr kumimoji="0" lang="en-US" altLang="zh-CN" sz="2000" kern="0" dirty="0">
                <a:solidFill>
                  <a:srgbClr val="0000CC"/>
                </a:solidFill>
                <a:latin typeface="Tahoma"/>
                <a:ea typeface="宋体"/>
              </a:rPr>
              <a:t>0</a:t>
            </a:r>
            <a:endParaRPr lang="zh-CN" altLang="en-US" sz="2000" dirty="0">
              <a:solidFill>
                <a:srgbClr val="0000CC"/>
              </a:solidFill>
            </a:endParaRPr>
          </a:p>
        </p:txBody>
      </p:sp>
      <p:grpSp>
        <p:nvGrpSpPr>
          <p:cNvPr id="2" name="组合 12">
            <a:extLst>
              <a:ext uri="{FF2B5EF4-FFF2-40B4-BE49-F238E27FC236}">
                <a16:creationId xmlns:a16="http://schemas.microsoft.com/office/drawing/2014/main" id="{D5B0A16D-87D2-DDF1-3D7A-E88A775FC456}"/>
              </a:ext>
            </a:extLst>
          </p:cNvPr>
          <p:cNvGrpSpPr>
            <a:grpSpLocks/>
          </p:cNvGrpSpPr>
          <p:nvPr/>
        </p:nvGrpSpPr>
        <p:grpSpPr bwMode="auto">
          <a:xfrm>
            <a:off x="1185863" y="4457700"/>
            <a:ext cx="6172200" cy="476250"/>
            <a:chOff x="1686584" y="3085194"/>
            <a:chExt cx="6171564" cy="475566"/>
          </a:xfrm>
        </p:grpSpPr>
        <p:graphicFrame>
          <p:nvGraphicFramePr>
            <p:cNvPr id="73734" name="Object 6">
              <a:extLst>
                <a:ext uri="{FF2B5EF4-FFF2-40B4-BE49-F238E27FC236}">
                  <a16:creationId xmlns:a16="http://schemas.microsoft.com/office/drawing/2014/main" id="{65724002-D44D-2CD1-23C6-59667E895BD2}"/>
                </a:ext>
              </a:extLst>
            </p:cNvPr>
            <p:cNvGraphicFramePr>
              <a:graphicFrameLocks noChangeAspect="1"/>
            </p:cNvGraphicFramePr>
            <p:nvPr/>
          </p:nvGraphicFramePr>
          <p:xfrm>
            <a:off x="2071670" y="3143248"/>
            <a:ext cx="2155825" cy="417512"/>
          </p:xfrm>
          <a:graphic>
            <a:graphicData uri="http://schemas.openxmlformats.org/presentationml/2006/ole">
              <mc:AlternateContent xmlns:mc="http://schemas.openxmlformats.org/markup-compatibility/2006">
                <mc:Choice xmlns:v="urn:schemas-microsoft-com:vml" Requires="v">
                  <p:oleObj name="公式" r:id="rId3" imgW="927000" imgH="215640" progId="Equation.3">
                    <p:embed/>
                  </p:oleObj>
                </mc:Choice>
                <mc:Fallback>
                  <p:oleObj name="公式" r:id="rId3" imgW="927000" imgH="21564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1670" y="3143248"/>
                          <a:ext cx="2155825" cy="417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矩形 22">
              <a:extLst>
                <a:ext uri="{FF2B5EF4-FFF2-40B4-BE49-F238E27FC236}">
                  <a16:creationId xmlns:a16="http://schemas.microsoft.com/office/drawing/2014/main" id="{A6E3C6DF-C860-A945-E537-E9C8FA26B985}"/>
                </a:ext>
              </a:extLst>
            </p:cNvPr>
            <p:cNvSpPr/>
            <p:nvPr/>
          </p:nvSpPr>
          <p:spPr>
            <a:xfrm>
              <a:off x="1686584" y="3143848"/>
              <a:ext cx="441280" cy="399475"/>
            </a:xfrm>
            <a:prstGeom prst="rect">
              <a:avLst/>
            </a:prstGeom>
          </p:spPr>
          <p:txBody>
            <a:bodyPr>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若</a:t>
              </a:r>
              <a:endParaRPr lang="zh-CN" altLang="en-US" dirty="0"/>
            </a:p>
          </p:txBody>
        </p:sp>
        <p:sp>
          <p:nvSpPr>
            <p:cNvPr id="24" name="矩形 23">
              <a:extLst>
                <a:ext uri="{FF2B5EF4-FFF2-40B4-BE49-F238E27FC236}">
                  <a16:creationId xmlns:a16="http://schemas.microsoft.com/office/drawing/2014/main" id="{DAB3FBBE-D43E-28A5-A671-3E84906588C6}"/>
                </a:ext>
              </a:extLst>
            </p:cNvPr>
            <p:cNvSpPr/>
            <p:nvPr/>
          </p:nvSpPr>
          <p:spPr>
            <a:xfrm>
              <a:off x="4358071" y="3085194"/>
              <a:ext cx="3500077" cy="461300"/>
            </a:xfrm>
            <a:prstGeom prst="rect">
              <a:avLst/>
            </a:prstGeom>
          </p:spPr>
          <p:txBody>
            <a:bodyPr>
              <a:spAutoFit/>
            </a:bodyPr>
            <a:lstStyle/>
            <a:p>
              <a:pPr>
                <a:defRPr/>
              </a:pPr>
              <a:r>
                <a:rPr kumimoji="0" lang="en-US" altLang="zh-CN" sz="2000" b="0" kern="0" dirty="0">
                  <a:solidFill>
                    <a:srgbClr val="000000"/>
                  </a:solidFill>
                  <a:latin typeface="+mn-ea"/>
                  <a:ea typeface="+mn-ea"/>
                  <a:cs typeface="Arial" pitchFamily="34" charset="0"/>
                </a:rPr>
                <a:t>,</a:t>
              </a:r>
              <a:r>
                <a:rPr kumimoji="0" lang="en-US" altLang="zh-CN" sz="2000" b="0" kern="0" dirty="0">
                  <a:solidFill>
                    <a:srgbClr val="000000"/>
                  </a:solidFill>
                  <a:latin typeface="Arial" pitchFamily="34" charset="0"/>
                  <a:ea typeface="微软雅黑" pitchFamily="34" charset="-122"/>
                  <a:cs typeface="Arial" pitchFamily="34" charset="0"/>
                </a:rPr>
                <a:t> </a:t>
              </a:r>
              <a:r>
                <a:rPr kumimoji="0" lang="zh-CN" altLang="en-US" sz="2000" b="0" kern="0" dirty="0">
                  <a:solidFill>
                    <a:srgbClr val="000000"/>
                  </a:solidFill>
                  <a:latin typeface="Arial" pitchFamily="34" charset="0"/>
                  <a:ea typeface="微软雅黑" pitchFamily="34" charset="-122"/>
                  <a:cs typeface="Arial" pitchFamily="34" charset="0"/>
                </a:rPr>
                <a:t>则 </a:t>
              </a:r>
              <a:r>
                <a:rPr kumimoji="0" lang="en-US" altLang="zh-CN" sz="2400" kern="0" dirty="0">
                  <a:solidFill>
                    <a:schemeClr val="tx1"/>
                  </a:solidFill>
                  <a:latin typeface="Arial" pitchFamily="34" charset="0"/>
                  <a:ea typeface="微软雅黑" pitchFamily="34" charset="-122"/>
                  <a:cs typeface="Arial" pitchFamily="34" charset="0"/>
                </a:rPr>
                <a:t>S</a:t>
              </a:r>
              <a:r>
                <a:rPr kumimoji="0" lang="zh-CN" altLang="en-US" sz="2000" b="0" kern="0" dirty="0">
                  <a:solidFill>
                    <a:schemeClr val="tx1"/>
                  </a:solidFill>
                  <a:latin typeface="Arial" pitchFamily="34" charset="0"/>
                  <a:ea typeface="微软雅黑" pitchFamily="34" charset="-122"/>
                  <a:cs typeface="Arial" pitchFamily="34" charset="0"/>
                </a:rPr>
                <a:t>为</a:t>
              </a:r>
              <a:r>
                <a:rPr kumimoji="0" lang="en-US" altLang="zh-CN" sz="2400" kern="0" dirty="0">
                  <a:solidFill>
                    <a:schemeClr val="tx1"/>
                  </a:solidFill>
                  <a:latin typeface="Arial" pitchFamily="34" charset="0"/>
                  <a:ea typeface="微软雅黑" pitchFamily="34" charset="-122"/>
                  <a:cs typeface="Arial" pitchFamily="34" charset="0"/>
                </a:rPr>
                <a:t>0</a:t>
              </a:r>
              <a:r>
                <a:rPr kumimoji="0" lang="zh-CN" altLang="en-US" sz="2000" kern="0" dirty="0">
                  <a:solidFill>
                    <a:schemeClr val="tx1"/>
                  </a:solidFill>
                  <a:latin typeface="Arial" pitchFamily="34" charset="0"/>
                  <a:ea typeface="微软雅黑" pitchFamily="34" charset="-122"/>
                  <a:cs typeface="Arial" pitchFamily="34" charset="0"/>
                </a:rPr>
                <a:t>，</a:t>
              </a:r>
              <a:r>
                <a:rPr kumimoji="0" lang="zh-CN" altLang="en-US" sz="2000" b="0" kern="0" dirty="0">
                  <a:solidFill>
                    <a:schemeClr val="tx1"/>
                  </a:solidFill>
                  <a:latin typeface="Arial" pitchFamily="34" charset="0"/>
                  <a:ea typeface="微软雅黑" pitchFamily="34" charset="-122"/>
                  <a:cs typeface="Arial" pitchFamily="34" charset="0"/>
                </a:rPr>
                <a:t>否则 </a:t>
              </a:r>
              <a:r>
                <a:rPr kumimoji="0" lang="en-US" altLang="zh-CN" sz="2400" kern="0" dirty="0">
                  <a:solidFill>
                    <a:schemeClr val="tx1"/>
                  </a:solidFill>
                  <a:latin typeface="Arial" pitchFamily="34" charset="0"/>
                  <a:ea typeface="微软雅黑" pitchFamily="34" charset="-122"/>
                  <a:cs typeface="Arial" pitchFamily="34" charset="0"/>
                </a:rPr>
                <a:t>S </a:t>
              </a:r>
              <a:r>
                <a:rPr kumimoji="0" lang="zh-CN" altLang="en-US" sz="2000" b="0" kern="0" dirty="0">
                  <a:solidFill>
                    <a:schemeClr val="tx1"/>
                  </a:solidFill>
                  <a:latin typeface="Arial" pitchFamily="34" charset="0"/>
                  <a:ea typeface="微软雅黑" pitchFamily="34" charset="-122"/>
                  <a:cs typeface="Arial" pitchFamily="34" charset="0"/>
                </a:rPr>
                <a:t>不为 </a:t>
              </a:r>
              <a:r>
                <a:rPr kumimoji="0" lang="en-US" altLang="zh-CN" sz="2400" kern="0" dirty="0">
                  <a:solidFill>
                    <a:schemeClr val="tx1"/>
                  </a:solidFill>
                  <a:latin typeface="Arial" pitchFamily="34" charset="0"/>
                  <a:ea typeface="微软雅黑" pitchFamily="34" charset="-122"/>
                  <a:cs typeface="Arial" pitchFamily="34" charset="0"/>
                </a:rPr>
                <a:t>0</a:t>
              </a:r>
              <a:r>
                <a:rPr kumimoji="0" lang="zh-CN" altLang="en-US" sz="2000" kern="0" dirty="0">
                  <a:solidFill>
                    <a:schemeClr val="tx1"/>
                  </a:solidFill>
                  <a:latin typeface="Arial" pitchFamily="34" charset="0"/>
                  <a:ea typeface="微软雅黑" pitchFamily="34" charset="-122"/>
                  <a:cs typeface="Arial" pitchFamily="34" charset="0"/>
                </a:rPr>
                <a:t>。</a:t>
              </a:r>
              <a:endParaRPr lang="zh-CN" altLang="en-US" sz="2000" dirty="0">
                <a:solidFill>
                  <a:schemeClr val="tx1"/>
                </a:solidFill>
              </a:endParaRPr>
            </a:p>
          </p:txBody>
        </p:sp>
      </p:grpSp>
      <p:sp>
        <p:nvSpPr>
          <p:cNvPr id="25" name="矩形 24">
            <a:extLst>
              <a:ext uri="{FF2B5EF4-FFF2-40B4-BE49-F238E27FC236}">
                <a16:creationId xmlns:a16="http://schemas.microsoft.com/office/drawing/2014/main" id="{02461CE2-A464-3E61-9AD0-7E337D96BE6D}"/>
              </a:ext>
            </a:extLst>
          </p:cNvPr>
          <p:cNvSpPr/>
          <p:nvPr/>
        </p:nvSpPr>
        <p:spPr>
          <a:xfrm>
            <a:off x="1143000" y="5173663"/>
            <a:ext cx="6929438" cy="498475"/>
          </a:xfrm>
          <a:prstGeom prst="rect">
            <a:avLst/>
          </a:prstGeom>
        </p:spPr>
        <p:txBody>
          <a:bodyPr>
            <a:spAutoFit/>
          </a:bodyPr>
          <a:lstStyle/>
          <a:p>
            <a:pPr marL="228600" indent="-228600">
              <a:lnSpc>
                <a:spcPts val="3500"/>
              </a:lnSpc>
              <a:spcBef>
                <a:spcPct val="20000"/>
              </a:spcBef>
              <a:buClr>
                <a:srgbClr val="FFCF01"/>
              </a:buClr>
              <a:buSzPct val="55000"/>
              <a:defRPr/>
            </a:pP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因此，可根据</a:t>
            </a:r>
            <a:r>
              <a:rPr kumimoji="0" lang="en-US" altLang="zh-CN" sz="2400" b="0" i="1" kern="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S</a:t>
            </a:r>
            <a:r>
              <a:rPr kumimoji="0" lang="en-US" altLang="zh-CN" sz="2400" b="0" i="1"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是否为</a:t>
            </a:r>
            <a:r>
              <a:rPr kumimoji="0" lang="en-US" altLang="zh-CN" sz="24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0 </a:t>
            </a: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判断 接收码组 是否 出错 </a:t>
            </a:r>
            <a:r>
              <a:rPr kumimoji="0" lang="en-US" altLang="zh-CN"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a:t>
            </a:r>
          </a:p>
        </p:txBody>
      </p:sp>
      <p:sp>
        <p:nvSpPr>
          <p:cNvPr id="30" name="矩形 29">
            <a:extLst>
              <a:ext uri="{FF2B5EF4-FFF2-40B4-BE49-F238E27FC236}">
                <a16:creationId xmlns:a16="http://schemas.microsoft.com/office/drawing/2014/main" id="{8A81A86F-F71E-E0E2-FAA1-AA1386722ADD}"/>
              </a:ext>
            </a:extLst>
          </p:cNvPr>
          <p:cNvSpPr/>
          <p:nvPr/>
        </p:nvSpPr>
        <p:spPr>
          <a:xfrm>
            <a:off x="1143000" y="5857875"/>
            <a:ext cx="6929438" cy="541338"/>
          </a:xfrm>
          <a:prstGeom prst="rect">
            <a:avLst/>
          </a:prstGeom>
        </p:spPr>
        <p:txBody>
          <a:bodyPr>
            <a:spAutoFit/>
          </a:bodyPr>
          <a:lstStyle/>
          <a:p>
            <a:pPr marL="228600" indent="-228600">
              <a:lnSpc>
                <a:spcPts val="3500"/>
              </a:lnSpc>
              <a:spcBef>
                <a:spcPct val="20000"/>
              </a:spcBef>
              <a:buClr>
                <a:srgbClr val="FFCF01"/>
              </a:buClr>
              <a:buSzPct val="55000"/>
              <a:defRPr/>
            </a:pP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由以上分析可知，（</a:t>
            </a:r>
            <a:r>
              <a:rPr kumimoji="0" lang="en-US" altLang="zh-CN" sz="2000" b="0" kern="0" dirty="0" err="1">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n,k</a:t>
            </a:r>
            <a:r>
              <a:rPr kumimoji="0" lang="en-US" altLang="zh-CN"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线性分组码</a:t>
            </a:r>
            <a:r>
              <a:rPr kumimoji="0" lang="zh-CN" altLang="en-US" sz="2400" kern="0" dirty="0">
                <a:solidFill>
                  <a:srgbClr val="0000CC"/>
                </a:solidFill>
                <a:latin typeface="Arial" pitchFamily="34" charset="0"/>
                <a:ea typeface="微软雅黑" pitchFamily="34" charset="-122"/>
                <a:cs typeface="Arial" pitchFamily="34" charset="0"/>
              </a:rPr>
              <a:t>译码</a:t>
            </a: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的三个步骤：</a:t>
            </a:r>
            <a:endParaRPr kumimoji="0" lang="en-US" altLang="zh-CN"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p:txBody>
      </p:sp>
      <p:pic>
        <p:nvPicPr>
          <p:cNvPr id="20" name="Picture 15">
            <a:extLst>
              <a:ext uri="{FF2B5EF4-FFF2-40B4-BE49-F238E27FC236}">
                <a16:creationId xmlns:a16="http://schemas.microsoft.com/office/drawing/2014/main" id="{B62CC1E2-8C7A-C47D-9D20-5966DC2C3B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6368"/>
          <a:stretch>
            <a:fillRect/>
          </a:stretch>
        </p:blipFill>
        <p:spPr bwMode="auto">
          <a:xfrm>
            <a:off x="2432050" y="2603500"/>
            <a:ext cx="5157788"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椭圆形标注 15">
            <a:extLst>
              <a:ext uri="{FF2B5EF4-FFF2-40B4-BE49-F238E27FC236}">
                <a16:creationId xmlns:a16="http://schemas.microsoft.com/office/drawing/2014/main" id="{0E997129-C400-AEE0-6F80-3698697A2069}"/>
              </a:ext>
            </a:extLst>
          </p:cNvPr>
          <p:cNvSpPr/>
          <p:nvPr/>
        </p:nvSpPr>
        <p:spPr bwMode="auto">
          <a:xfrm>
            <a:off x="4900613" y="1846263"/>
            <a:ext cx="1014412" cy="714375"/>
          </a:xfrm>
          <a:prstGeom prst="wedgeEllipseCallout">
            <a:avLst>
              <a:gd name="adj1" fmla="val 30742"/>
              <a:gd name="adj2" fmla="val -77690"/>
            </a:avLst>
          </a:prstGeom>
          <a:noFill/>
          <a:ln w="9525" cap="flat" cmpd="sng" algn="ctr">
            <a:solidFill>
              <a:srgbClr val="0000CC"/>
            </a:solidFill>
            <a:prstDash val="dash"/>
            <a:miter lim="800000"/>
            <a:headEnd type="none" w="med" len="med"/>
            <a:tailEnd type="none" w="med" len="med"/>
          </a:ln>
          <a:effectLst>
            <a:outerShdw blurRad="50800" dist="38100" dir="2700000" algn="tl" rotWithShape="0">
              <a:prstClr val="black">
                <a:alpha val="40000"/>
              </a:prstClr>
            </a:outerShdw>
          </a:effectLst>
        </p:spPr>
        <p:txBody>
          <a:bodyPr wrap="none"/>
          <a:lstStyle/>
          <a:p>
            <a:pPr>
              <a:defRPr/>
            </a:pPr>
            <a:endParaRPr lang="zh-CN" altLang="en-US"/>
          </a:p>
        </p:txBody>
      </p:sp>
      <p:pic>
        <p:nvPicPr>
          <p:cNvPr id="28688" name="Picture 16">
            <a:extLst>
              <a:ext uri="{FF2B5EF4-FFF2-40B4-BE49-F238E27FC236}">
                <a16:creationId xmlns:a16="http://schemas.microsoft.com/office/drawing/2014/main" id="{06136DDE-8BAC-CA01-84D3-7CD06A8890E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650" y="3586163"/>
            <a:ext cx="7786688"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1000"/>
                                        <p:tgtEl>
                                          <p:spTgt spid="13"/>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28687"/>
                                        </p:tgtEl>
                                        <p:attrNameLst>
                                          <p:attrName>style.visibility</p:attrName>
                                        </p:attrNameLst>
                                      </p:cBhvr>
                                      <p:to>
                                        <p:strVal val="visible"/>
                                      </p:to>
                                    </p:set>
                                    <p:animEffect transition="in" filter="wipe(up)">
                                      <p:cBhvr>
                                        <p:cTn id="11" dur="2000"/>
                                        <p:tgtEl>
                                          <p:spTgt spid="2868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up)">
                                      <p:cBhvr>
                                        <p:cTn id="16" dur="1000"/>
                                        <p:tgtEl>
                                          <p:spTgt spid="16"/>
                                        </p:tgtEl>
                                      </p:cBhvr>
                                    </p:animEffect>
                                  </p:childTnLst>
                                </p:cTn>
                              </p:par>
                            </p:childTnLst>
                          </p:cTn>
                        </p:par>
                        <p:par>
                          <p:cTn id="17" fill="hold" nodeType="afterGroup">
                            <p:stCondLst>
                              <p:cond delay="1000"/>
                            </p:stCondLst>
                            <p:childTnLst>
                              <p:par>
                                <p:cTn id="18" presetID="22" presetClass="entr" presetSubtype="1" fill="hold"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up)">
                                      <p:cBhvr>
                                        <p:cTn id="20" dur="1000"/>
                                        <p:tgtEl>
                                          <p:spTgt spid="1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wipe(up)">
                                      <p:cBhvr>
                                        <p:cTn id="25" dur="1000"/>
                                        <p:tgtEl>
                                          <p:spTgt spid="2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28688"/>
                                        </p:tgtEl>
                                        <p:attrNameLst>
                                          <p:attrName>style.visibility</p:attrName>
                                        </p:attrNameLst>
                                      </p:cBhvr>
                                      <p:to>
                                        <p:strVal val="visible"/>
                                      </p:to>
                                    </p:set>
                                    <p:animEffect transition="in" filter="wipe(up)">
                                      <p:cBhvr>
                                        <p:cTn id="30" dur="1000"/>
                                        <p:tgtEl>
                                          <p:spTgt spid="2868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up)">
                                      <p:cBhvr>
                                        <p:cTn id="35" dur="1000"/>
                                        <p:tgtEl>
                                          <p:spTgt spid="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wipe(up)">
                                      <p:cBhvr>
                                        <p:cTn id="40" dur="1000"/>
                                        <p:tgtEl>
                                          <p:spTgt spid="2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1" fill="hold"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wipe(up)">
                                      <p:cBhvr>
                                        <p:cTn id="45" dur="1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7" grpId="0"/>
      <p:bldP spid="25" grpId="0"/>
      <p:bldP spid="30" grpId="0"/>
      <p:bldP spid="16"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FE86B899-8153-C122-8018-94694D9DCBC3}"/>
              </a:ext>
            </a:extLst>
          </p:cNvPr>
          <p:cNvSpPr/>
          <p:nvPr/>
        </p:nvSpPr>
        <p:spPr>
          <a:xfrm>
            <a:off x="1512888" y="2459038"/>
            <a:ext cx="6929437" cy="541337"/>
          </a:xfrm>
          <a:prstGeom prst="rect">
            <a:avLst/>
          </a:prstGeom>
        </p:spPr>
        <p:txBody>
          <a:bodyPr>
            <a:spAutoFit/>
          </a:bodyPr>
          <a:lstStyle/>
          <a:p>
            <a:pPr marL="228600" indent="-228600">
              <a:lnSpc>
                <a:spcPts val="3500"/>
              </a:lnSpc>
              <a:spcBef>
                <a:spcPct val="20000"/>
              </a:spcBef>
              <a:buClr>
                <a:srgbClr val="FFCF01"/>
              </a:buClr>
              <a:buSzPct val="55000"/>
              <a:defRPr/>
            </a:pPr>
            <a:r>
              <a:rPr kumimoji="0" lang="en-US" altLang="zh-CN" sz="2000" b="0" kern="0" dirty="0">
                <a:solidFill>
                  <a:srgbClr val="0000CC"/>
                </a:solidFill>
                <a:latin typeface="Arial" pitchFamily="34" charset="0"/>
                <a:ea typeface="微软雅黑" pitchFamily="34" charset="-122"/>
                <a:cs typeface="Arial" pitchFamily="34" charset="0"/>
              </a:rPr>
              <a:t>2)  </a:t>
            </a:r>
            <a:r>
              <a:rPr kumimoji="0" lang="zh-CN" altLang="en-US" sz="2000" b="0" kern="0" dirty="0">
                <a:solidFill>
                  <a:srgbClr val="000000"/>
                </a:solidFill>
                <a:latin typeface="Arial" pitchFamily="34" charset="0"/>
                <a:ea typeface="微软雅黑" pitchFamily="34" charset="-122"/>
                <a:cs typeface="Arial" pitchFamily="34" charset="0"/>
              </a:rPr>
              <a:t>由</a:t>
            </a:r>
            <a:r>
              <a:rPr kumimoji="0" lang="en-US" altLang="zh-CN" sz="2400" i="1" kern="0" dirty="0">
                <a:solidFill>
                  <a:schemeClr val="tx1"/>
                </a:solidFill>
                <a:latin typeface="Arial" pitchFamily="34" charset="0"/>
                <a:ea typeface="微软雅黑" pitchFamily="34" charset="-122"/>
                <a:cs typeface="Arial" pitchFamily="34" charset="0"/>
              </a:rPr>
              <a:t>S </a:t>
            </a:r>
            <a:r>
              <a:rPr kumimoji="0" lang="zh-CN" altLang="en-US" sz="2000" b="0" kern="0" dirty="0">
                <a:solidFill>
                  <a:srgbClr val="000000"/>
                </a:solidFill>
                <a:latin typeface="Arial" pitchFamily="34" charset="0"/>
                <a:ea typeface="微软雅黑" pitchFamily="34" charset="-122"/>
                <a:cs typeface="Arial" pitchFamily="34" charset="0"/>
              </a:rPr>
              <a:t>找到错误图样</a:t>
            </a:r>
            <a:r>
              <a:rPr kumimoji="0" lang="en-US" altLang="zh-CN" sz="2400" i="1" kern="0" dirty="0">
                <a:solidFill>
                  <a:schemeClr val="tx1"/>
                </a:solidFill>
                <a:latin typeface="Arial" pitchFamily="34" charset="0"/>
                <a:ea typeface="微软雅黑" pitchFamily="34" charset="-122"/>
                <a:cs typeface="Arial" pitchFamily="34" charset="0"/>
              </a:rPr>
              <a:t>E</a:t>
            </a:r>
            <a:r>
              <a:rPr kumimoji="0" lang="zh-CN" altLang="en-US" sz="2000" b="0" kern="0" dirty="0">
                <a:solidFill>
                  <a:srgbClr val="000000"/>
                </a:solidFill>
                <a:latin typeface="Arial" pitchFamily="34" charset="0"/>
                <a:ea typeface="微软雅黑" pitchFamily="34" charset="-122"/>
                <a:cs typeface="Arial" pitchFamily="34" charset="0"/>
              </a:rPr>
              <a:t>；</a:t>
            </a:r>
            <a:endParaRPr kumimoji="0" lang="en-US" altLang="zh-CN" sz="2000" b="0" kern="0" dirty="0">
              <a:solidFill>
                <a:srgbClr val="000000"/>
              </a:solidFill>
              <a:latin typeface="Arial" pitchFamily="34" charset="0"/>
              <a:ea typeface="微软雅黑" pitchFamily="34" charset="-122"/>
              <a:cs typeface="Arial" pitchFamily="34" charset="0"/>
            </a:endParaRPr>
          </a:p>
        </p:txBody>
      </p:sp>
      <p:sp>
        <p:nvSpPr>
          <p:cNvPr id="17" name="矩形 16">
            <a:extLst>
              <a:ext uri="{FF2B5EF4-FFF2-40B4-BE49-F238E27FC236}">
                <a16:creationId xmlns:a16="http://schemas.microsoft.com/office/drawing/2014/main" id="{A09D19D4-4078-A72F-9276-FBEEF9F3642D}"/>
              </a:ext>
            </a:extLst>
          </p:cNvPr>
          <p:cNvSpPr/>
          <p:nvPr/>
        </p:nvSpPr>
        <p:spPr>
          <a:xfrm>
            <a:off x="1500188" y="3030538"/>
            <a:ext cx="6929437" cy="541337"/>
          </a:xfrm>
          <a:prstGeom prst="rect">
            <a:avLst/>
          </a:prstGeom>
        </p:spPr>
        <p:txBody>
          <a:bodyPr>
            <a:spAutoFit/>
          </a:bodyPr>
          <a:lstStyle/>
          <a:p>
            <a:pPr marL="228600" indent="-228600">
              <a:lnSpc>
                <a:spcPts val="3500"/>
              </a:lnSpc>
              <a:spcBef>
                <a:spcPct val="20000"/>
              </a:spcBef>
              <a:buClr>
                <a:srgbClr val="FFCF01"/>
              </a:buClr>
              <a:buSzPct val="55000"/>
              <a:defRPr/>
            </a:pPr>
            <a:r>
              <a:rPr kumimoji="0" lang="en-US" altLang="zh-CN" sz="2000" b="0" kern="0" dirty="0">
                <a:solidFill>
                  <a:srgbClr val="0000CC"/>
                </a:solidFill>
                <a:latin typeface="Arial" pitchFamily="34" charset="0"/>
                <a:ea typeface="微软雅黑" pitchFamily="34" charset="-122"/>
                <a:cs typeface="Arial" pitchFamily="34" charset="0"/>
              </a:rPr>
              <a:t>3)  </a:t>
            </a:r>
            <a:r>
              <a:rPr kumimoji="0" lang="zh-CN" altLang="en-US" sz="2000" b="0" kern="0" dirty="0">
                <a:solidFill>
                  <a:srgbClr val="000000"/>
                </a:solidFill>
                <a:latin typeface="Arial" pitchFamily="34" charset="0"/>
                <a:ea typeface="微软雅黑" pitchFamily="34" charset="-122"/>
                <a:cs typeface="Arial" pitchFamily="34" charset="0"/>
              </a:rPr>
              <a:t>由公式 </a:t>
            </a:r>
            <a:r>
              <a:rPr kumimoji="0" lang="en-US" altLang="zh-CN" sz="2400" i="1" kern="0" dirty="0">
                <a:solidFill>
                  <a:schemeClr val="tx1"/>
                </a:solidFill>
                <a:latin typeface="Arial" pitchFamily="34" charset="0"/>
                <a:ea typeface="微软雅黑" pitchFamily="34" charset="-122"/>
                <a:cs typeface="Arial" pitchFamily="34" charset="0"/>
              </a:rPr>
              <a:t>A</a:t>
            </a:r>
            <a:r>
              <a:rPr kumimoji="0" lang="en-US" altLang="zh-CN" sz="2400" b="0" kern="0" dirty="0">
                <a:solidFill>
                  <a:schemeClr val="tx1"/>
                </a:solidFill>
                <a:latin typeface="Arial" pitchFamily="34" charset="0"/>
                <a:ea typeface="微软雅黑" pitchFamily="34" charset="-122"/>
                <a:cs typeface="Arial" pitchFamily="34" charset="0"/>
              </a:rPr>
              <a:t> =</a:t>
            </a:r>
            <a:r>
              <a:rPr kumimoji="0" lang="en-US" altLang="zh-CN" sz="2400" i="1" kern="0" dirty="0">
                <a:solidFill>
                  <a:srgbClr val="000000"/>
                </a:solidFill>
                <a:latin typeface="Arial" pitchFamily="34" charset="0"/>
                <a:ea typeface="微软雅黑" pitchFamily="34" charset="-122"/>
                <a:cs typeface="Arial" pitchFamily="34" charset="0"/>
              </a:rPr>
              <a:t> B</a:t>
            </a:r>
            <a:r>
              <a:rPr kumimoji="0" lang="en-US" altLang="zh-CN" sz="2400" b="0" kern="0" dirty="0">
                <a:solidFill>
                  <a:srgbClr val="000000"/>
                </a:solidFill>
                <a:latin typeface="Arial" pitchFamily="34" charset="0"/>
                <a:ea typeface="微软雅黑" pitchFamily="34" charset="-122"/>
                <a:cs typeface="Arial" pitchFamily="34" charset="0"/>
              </a:rPr>
              <a:t> + </a:t>
            </a:r>
            <a:r>
              <a:rPr kumimoji="0" lang="en-US" altLang="zh-CN" sz="2400" i="1" kern="0" dirty="0">
                <a:solidFill>
                  <a:srgbClr val="000000"/>
                </a:solidFill>
                <a:latin typeface="Arial" pitchFamily="34" charset="0"/>
                <a:ea typeface="微软雅黑" pitchFamily="34" charset="-122"/>
                <a:cs typeface="Arial" pitchFamily="34" charset="0"/>
              </a:rPr>
              <a:t>E </a:t>
            </a:r>
            <a:r>
              <a:rPr kumimoji="0" lang="en-US" altLang="zh-CN" sz="2400" i="1" kern="0" dirty="0">
                <a:solidFill>
                  <a:schemeClr val="tx1"/>
                </a:solidFill>
                <a:latin typeface="Arial" pitchFamily="34" charset="0"/>
                <a:ea typeface="微软雅黑" pitchFamily="34" charset="-122"/>
                <a:cs typeface="Arial" pitchFamily="34" charset="0"/>
              </a:rPr>
              <a:t> </a:t>
            </a:r>
            <a:r>
              <a:rPr kumimoji="0" lang="zh-CN" altLang="en-US" sz="2000" b="0" kern="0" dirty="0">
                <a:solidFill>
                  <a:srgbClr val="000000"/>
                </a:solidFill>
                <a:latin typeface="Arial" pitchFamily="34" charset="0"/>
                <a:ea typeface="微软雅黑" pitchFamily="34" charset="-122"/>
                <a:cs typeface="Arial" pitchFamily="34" charset="0"/>
              </a:rPr>
              <a:t>得到译码器译出的码组。</a:t>
            </a:r>
            <a:endParaRPr kumimoji="0" lang="en-US" altLang="zh-CN" sz="2000" b="0" kern="0" dirty="0">
              <a:solidFill>
                <a:srgbClr val="000000"/>
              </a:solidFill>
              <a:latin typeface="Arial" pitchFamily="34" charset="0"/>
              <a:ea typeface="微软雅黑" pitchFamily="34" charset="-122"/>
              <a:cs typeface="Arial" pitchFamily="34" charset="0"/>
            </a:endParaRPr>
          </a:p>
        </p:txBody>
      </p:sp>
      <p:sp>
        <p:nvSpPr>
          <p:cNvPr id="18" name="矩形 17">
            <a:extLst>
              <a:ext uri="{FF2B5EF4-FFF2-40B4-BE49-F238E27FC236}">
                <a16:creationId xmlns:a16="http://schemas.microsoft.com/office/drawing/2014/main" id="{9D676529-26B5-79B5-D211-26C5662D9495}"/>
              </a:ext>
            </a:extLst>
          </p:cNvPr>
          <p:cNvSpPr/>
          <p:nvPr/>
        </p:nvSpPr>
        <p:spPr>
          <a:xfrm>
            <a:off x="785813" y="1143000"/>
            <a:ext cx="6929437" cy="541338"/>
          </a:xfrm>
          <a:prstGeom prst="rect">
            <a:avLst/>
          </a:prstGeom>
        </p:spPr>
        <p:txBody>
          <a:bodyPr>
            <a:spAutoFit/>
          </a:bodyPr>
          <a:lstStyle/>
          <a:p>
            <a:pPr marL="228600" indent="-228600">
              <a:lnSpc>
                <a:spcPts val="3500"/>
              </a:lnSpc>
              <a:spcBef>
                <a:spcPct val="20000"/>
              </a:spcBef>
              <a:buClr>
                <a:srgbClr val="FFCF01"/>
              </a:buClr>
              <a:buSzPct val="55000"/>
              <a:defRPr/>
            </a:pP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a:t>
            </a:r>
            <a:r>
              <a:rPr kumimoji="0" lang="en-US" altLang="zh-CN" sz="2000" b="0" kern="0" dirty="0" err="1">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n,k</a:t>
            </a:r>
            <a:r>
              <a:rPr kumimoji="0" lang="en-US" altLang="zh-CN"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线性分组码</a:t>
            </a:r>
            <a:r>
              <a:rPr kumimoji="0" lang="zh-CN" altLang="en-US" sz="2400" kern="0" dirty="0">
                <a:solidFill>
                  <a:srgbClr val="0000CC"/>
                </a:solidFill>
                <a:latin typeface="Arial" pitchFamily="34" charset="0"/>
                <a:ea typeface="微软雅黑" pitchFamily="34" charset="-122"/>
                <a:cs typeface="Arial" pitchFamily="34" charset="0"/>
              </a:rPr>
              <a:t>译码</a:t>
            </a: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的三个步骤：</a:t>
            </a:r>
            <a:endParaRPr kumimoji="0" lang="en-US" altLang="zh-CN"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p:txBody>
      </p:sp>
      <p:pic>
        <p:nvPicPr>
          <p:cNvPr id="100359" name="Picture 7">
            <a:extLst>
              <a:ext uri="{FF2B5EF4-FFF2-40B4-BE49-F238E27FC236}">
                <a16:creationId xmlns:a16="http://schemas.microsoft.com/office/drawing/2014/main" id="{9BFDFB7A-2F6F-0C67-6C42-4519269E79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750" y="1928813"/>
            <a:ext cx="7000875"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60" name="Picture 8">
            <a:extLst>
              <a:ext uri="{FF2B5EF4-FFF2-40B4-BE49-F238E27FC236}">
                <a16:creationId xmlns:a16="http://schemas.microsoft.com/office/drawing/2014/main" id="{6ED11C11-7BA7-3728-AEE3-AA77670759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813" y="4572000"/>
            <a:ext cx="7500937" cy="157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圆角矩形 9">
            <a:extLst>
              <a:ext uri="{FF2B5EF4-FFF2-40B4-BE49-F238E27FC236}">
                <a16:creationId xmlns:a16="http://schemas.microsoft.com/office/drawing/2014/main" id="{C07B90A3-C464-1563-12B5-D88AB82D0552}"/>
              </a:ext>
            </a:extLst>
          </p:cNvPr>
          <p:cNvSpPr/>
          <p:nvPr/>
        </p:nvSpPr>
        <p:spPr bwMode="auto">
          <a:xfrm>
            <a:off x="1285875" y="1714500"/>
            <a:ext cx="5857875" cy="2214563"/>
          </a:xfrm>
          <a:prstGeom prst="roundRect">
            <a:avLst/>
          </a:prstGeom>
          <a:noFill/>
          <a:ln w="38100" cap="flat" cmpd="dbl" algn="ctr">
            <a:solidFill>
              <a:schemeClr val="bg1">
                <a:lumMod val="75000"/>
              </a:schemeClr>
            </a:solidFill>
            <a:prstDash val="solid"/>
            <a:miter lim="800000"/>
            <a:headEnd type="none" w="med" len="med"/>
            <a:tailEnd type="none" w="med" len="med"/>
          </a:ln>
          <a:effectLst>
            <a:outerShdw blurRad="50800" dist="38100" dir="2700000" algn="tl" rotWithShape="0">
              <a:prstClr val="black">
                <a:alpha val="40000"/>
              </a:prstClr>
            </a:outerShdw>
          </a:effectLst>
        </p:spPr>
        <p:txBody>
          <a:bodyPr wrap="none"/>
          <a:lstStyle/>
          <a:p>
            <a:pPr>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up)">
                                      <p:cBhvr>
                                        <p:cTn id="7" dur="1000"/>
                                        <p:tgtEl>
                                          <p:spTgt spid="18"/>
                                        </p:tgtEl>
                                      </p:cBhvr>
                                    </p:animEffect>
                                  </p:childTnLst>
                                </p:cTn>
                              </p:par>
                              <p:par>
                                <p:cTn id="8" presetID="22" presetClass="entr" presetSubtype="1"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up)">
                                      <p:cBhvr>
                                        <p:cTn id="10" dur="1000"/>
                                        <p:tgtEl>
                                          <p:spTgt spid="10"/>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1" fill="hold" nodeType="clickEffect">
                                  <p:stCondLst>
                                    <p:cond delay="0"/>
                                  </p:stCondLst>
                                  <p:childTnLst>
                                    <p:set>
                                      <p:cBhvr>
                                        <p:cTn id="14" dur="1" fill="hold">
                                          <p:stCondLst>
                                            <p:cond delay="0"/>
                                          </p:stCondLst>
                                        </p:cTn>
                                        <p:tgtEl>
                                          <p:spTgt spid="100359"/>
                                        </p:tgtEl>
                                        <p:attrNameLst>
                                          <p:attrName>style.visibility</p:attrName>
                                        </p:attrNameLst>
                                      </p:cBhvr>
                                      <p:to>
                                        <p:strVal val="visible"/>
                                      </p:to>
                                    </p:set>
                                    <p:animEffect transition="in" filter="wipe(up)">
                                      <p:cBhvr>
                                        <p:cTn id="15" dur="1000"/>
                                        <p:tgtEl>
                                          <p:spTgt spid="10035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up)">
                                      <p:cBhvr>
                                        <p:cTn id="20" dur="1000"/>
                                        <p:tgtEl>
                                          <p:spTgt spid="1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up)">
                                      <p:cBhvr>
                                        <p:cTn id="25" dur="1000"/>
                                        <p:tgtEl>
                                          <p:spTgt spid="1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100360"/>
                                        </p:tgtEl>
                                        <p:attrNameLst>
                                          <p:attrName>style.visibility</p:attrName>
                                        </p:attrNameLst>
                                      </p:cBhvr>
                                      <p:to>
                                        <p:strVal val="visible"/>
                                      </p:to>
                                    </p:set>
                                    <p:animEffect transition="in" filter="wipe(up)">
                                      <p:cBhvr>
                                        <p:cTn id="30" dur="1000"/>
                                        <p:tgtEl>
                                          <p:spTgt spid="1003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8" grpId="0"/>
      <p:bldP spid="10"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96" name="Picture 20">
            <a:extLst>
              <a:ext uri="{FF2B5EF4-FFF2-40B4-BE49-F238E27FC236}">
                <a16:creationId xmlns:a16="http://schemas.microsoft.com/office/drawing/2014/main" id="{92E23C9F-4F9D-3EB0-7564-E9C4F1B3F8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8688" y="4286250"/>
            <a:ext cx="7858125"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95" name="Picture 19">
            <a:extLst>
              <a:ext uri="{FF2B5EF4-FFF2-40B4-BE49-F238E27FC236}">
                <a16:creationId xmlns:a16="http://schemas.microsoft.com/office/drawing/2014/main" id="{0F5EFD64-A9F5-8792-FE67-E564AF59CD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4413" y="1597025"/>
            <a:ext cx="7772400"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D4ADAAD6-E9DA-802E-CC95-3980D831D3E4}"/>
              </a:ext>
            </a:extLst>
          </p:cNvPr>
          <p:cNvSpPr/>
          <p:nvPr/>
        </p:nvSpPr>
        <p:spPr>
          <a:xfrm>
            <a:off x="785786" y="1374804"/>
            <a:ext cx="1571636" cy="472694"/>
          </a:xfrm>
          <a:prstGeom prst="rect">
            <a:avLst/>
          </a:prstGeom>
          <a:solidFill>
            <a:schemeClr val="bg2">
              <a:lumMod val="10000"/>
              <a:lumOff val="90000"/>
            </a:schemeClr>
          </a:solidFill>
          <a:effectLst>
            <a:innerShdw blurRad="63500" dist="50800">
              <a:prstClr val="black">
                <a:alpha val="50000"/>
              </a:prstClr>
            </a:innerShdw>
          </a:effectLst>
        </p:spPr>
        <p:txBody>
          <a:bodyPr>
            <a:spAutoFit/>
          </a:bodyPr>
          <a:lstStyle/>
          <a:p>
            <a:pPr>
              <a:lnSpc>
                <a:spcPts val="3200"/>
              </a:lnSpc>
              <a:defRPr/>
            </a:pPr>
            <a:r>
              <a:rPr kumimoji="0" lang="en-US" altLang="zh-CN" sz="2000" b="0" dirty="0">
                <a:solidFill>
                  <a:srgbClr val="CC0099"/>
                </a:solidFill>
                <a:latin typeface="微软雅黑" pitchFamily="34" charset="-122"/>
                <a:ea typeface="微软雅黑" pitchFamily="34" charset="-122"/>
                <a:cs typeface="Arial" pitchFamily="34" charset="0"/>
                <a:sym typeface="Symbol" pitchFamily="18" charset="2"/>
              </a:rPr>
              <a:t> </a:t>
            </a:r>
            <a:r>
              <a:rPr kumimoji="0" lang="en-US" altLang="zh-CN" sz="2400" b="0" dirty="0">
                <a:solidFill>
                  <a:srgbClr val="0000CC"/>
                </a:solidFill>
                <a:latin typeface="微软雅黑" pitchFamily="34" charset="-122"/>
                <a:ea typeface="微软雅黑" pitchFamily="34" charset="-122"/>
                <a:cs typeface="Arial" pitchFamily="34" charset="0"/>
                <a:sym typeface="Symbol" pitchFamily="18" charset="2"/>
              </a:rPr>
              <a:t>① </a:t>
            </a:r>
            <a:r>
              <a:rPr kumimoji="0" lang="zh-CN" altLang="en-US" sz="2400" kern="0" dirty="0">
                <a:solidFill>
                  <a:srgbClr val="FF0000"/>
                </a:solidFill>
                <a:latin typeface="Arial" pitchFamily="34" charset="0"/>
                <a:ea typeface="微软雅黑" pitchFamily="34" charset="-122"/>
                <a:cs typeface="Arial" pitchFamily="34" charset="0"/>
              </a:rPr>
              <a:t>封闭性</a:t>
            </a:r>
            <a:endParaRPr kumimoji="0" lang="en-US" altLang="zh-CN" sz="2000" kern="0" dirty="0">
              <a:solidFill>
                <a:srgbClr val="FF0000"/>
              </a:solidFill>
              <a:latin typeface="Arial" pitchFamily="34" charset="0"/>
              <a:ea typeface="微软雅黑" pitchFamily="34" charset="-122"/>
              <a:cs typeface="Arial" pitchFamily="34" charset="0"/>
            </a:endParaRPr>
          </a:p>
        </p:txBody>
      </p:sp>
      <p:sp>
        <p:nvSpPr>
          <p:cNvPr id="9" name="矩形 8">
            <a:extLst>
              <a:ext uri="{FF2B5EF4-FFF2-40B4-BE49-F238E27FC236}">
                <a16:creationId xmlns:a16="http://schemas.microsoft.com/office/drawing/2014/main" id="{4148425C-1EDB-D5F4-66B4-D66D17F9258A}"/>
              </a:ext>
            </a:extLst>
          </p:cNvPr>
          <p:cNvSpPr/>
          <p:nvPr/>
        </p:nvSpPr>
        <p:spPr>
          <a:xfrm>
            <a:off x="4929188" y="1274763"/>
            <a:ext cx="1001712" cy="400050"/>
          </a:xfrm>
          <a:prstGeom prst="rect">
            <a:avLst/>
          </a:prstGeom>
        </p:spPr>
        <p:txBody>
          <a:bodyPr wrap="none">
            <a:spAutoFit/>
          </a:bodyPr>
          <a:lstStyle/>
          <a:p>
            <a:pPr>
              <a:defRPr/>
            </a:pPr>
            <a:r>
              <a:rPr kumimoji="0" lang="en-US" altLang="zh-CN" sz="2000" i="1" kern="0" dirty="0">
                <a:solidFill>
                  <a:srgbClr val="0000CC"/>
                </a:solidFill>
                <a:latin typeface="Arial" pitchFamily="34" charset="0"/>
                <a:ea typeface="微软雅黑" pitchFamily="34" charset="-122"/>
                <a:cs typeface="Arial" pitchFamily="34" charset="0"/>
              </a:rPr>
              <a:t>A</a:t>
            </a:r>
            <a:r>
              <a:rPr kumimoji="0" lang="en-US" altLang="zh-CN" sz="2000" b="0" kern="0" baseline="-25000" dirty="0">
                <a:solidFill>
                  <a:srgbClr val="0000CC"/>
                </a:solidFill>
                <a:latin typeface="Arial" pitchFamily="34" charset="0"/>
                <a:ea typeface="微软雅黑" pitchFamily="34" charset="-122"/>
                <a:cs typeface="Arial" pitchFamily="34" charset="0"/>
              </a:rPr>
              <a:t>1</a:t>
            </a:r>
            <a:r>
              <a:rPr kumimoji="0" lang="zh-CN" altLang="en-US" sz="1800" b="0" kern="0" dirty="0">
                <a:solidFill>
                  <a:srgbClr val="000000"/>
                </a:solidFill>
                <a:latin typeface="Arial" pitchFamily="34" charset="0"/>
                <a:ea typeface="微软雅黑" pitchFamily="34" charset="-122"/>
                <a:cs typeface="Arial" pitchFamily="34" charset="0"/>
              </a:rPr>
              <a:t>和</a:t>
            </a:r>
            <a:r>
              <a:rPr kumimoji="0" lang="en-US" altLang="zh-CN" sz="2000" i="1" kern="0" dirty="0">
                <a:solidFill>
                  <a:srgbClr val="0000CC"/>
                </a:solidFill>
                <a:latin typeface="Arial" pitchFamily="34" charset="0"/>
                <a:ea typeface="微软雅黑" pitchFamily="34" charset="-122"/>
                <a:cs typeface="Arial" pitchFamily="34" charset="0"/>
              </a:rPr>
              <a:t>A</a:t>
            </a:r>
            <a:r>
              <a:rPr kumimoji="0" lang="en-US" altLang="zh-CN" sz="2000" b="0" kern="0" baseline="-25000" dirty="0">
                <a:solidFill>
                  <a:srgbClr val="0000CC"/>
                </a:solidFill>
                <a:latin typeface="Arial" pitchFamily="34" charset="0"/>
                <a:ea typeface="微软雅黑" pitchFamily="34" charset="-122"/>
                <a:cs typeface="Arial" pitchFamily="34" charset="0"/>
              </a:rPr>
              <a:t>2</a:t>
            </a:r>
            <a:endParaRPr lang="zh-CN" altLang="en-US" sz="2000" dirty="0">
              <a:solidFill>
                <a:srgbClr val="0000CC"/>
              </a:solidFill>
            </a:endParaRPr>
          </a:p>
        </p:txBody>
      </p:sp>
      <p:sp>
        <p:nvSpPr>
          <p:cNvPr id="10" name="矩形 9">
            <a:extLst>
              <a:ext uri="{FF2B5EF4-FFF2-40B4-BE49-F238E27FC236}">
                <a16:creationId xmlns:a16="http://schemas.microsoft.com/office/drawing/2014/main" id="{E2B1A574-762F-977C-E289-0780B185EF52}"/>
              </a:ext>
            </a:extLst>
          </p:cNvPr>
          <p:cNvSpPr/>
          <p:nvPr/>
        </p:nvSpPr>
        <p:spPr>
          <a:xfrm>
            <a:off x="6564313" y="1260475"/>
            <a:ext cx="1065212" cy="400050"/>
          </a:xfrm>
          <a:prstGeom prst="rect">
            <a:avLst/>
          </a:prstGeom>
        </p:spPr>
        <p:txBody>
          <a:bodyPr wrap="none">
            <a:spAutoFit/>
          </a:bodyPr>
          <a:lstStyle/>
          <a:p>
            <a:pPr>
              <a:defRPr/>
            </a:pPr>
            <a:r>
              <a:rPr kumimoji="0" lang="en-US" altLang="zh-CN" sz="2000" b="0" kern="0" dirty="0">
                <a:solidFill>
                  <a:srgbClr val="0000CC"/>
                </a:solidFill>
                <a:latin typeface="Arial" pitchFamily="34" charset="0"/>
                <a:ea typeface="微软雅黑" pitchFamily="34" charset="-122"/>
                <a:cs typeface="Arial" pitchFamily="34" charset="0"/>
              </a:rPr>
              <a:t>(</a:t>
            </a:r>
            <a:r>
              <a:rPr kumimoji="0" lang="en-US" altLang="zh-CN" sz="2000" i="1" kern="0" dirty="0">
                <a:solidFill>
                  <a:srgbClr val="0000CC"/>
                </a:solidFill>
                <a:latin typeface="Arial" pitchFamily="34" charset="0"/>
                <a:ea typeface="微软雅黑" pitchFamily="34" charset="-122"/>
                <a:cs typeface="Arial" pitchFamily="34" charset="0"/>
              </a:rPr>
              <a:t>A</a:t>
            </a:r>
            <a:r>
              <a:rPr kumimoji="0" lang="en-US" altLang="zh-CN" sz="2000" b="0" kern="0" baseline="-25000" dirty="0">
                <a:solidFill>
                  <a:srgbClr val="0000CC"/>
                </a:solidFill>
                <a:latin typeface="Arial" pitchFamily="34" charset="0"/>
                <a:ea typeface="微软雅黑" pitchFamily="34" charset="-122"/>
                <a:cs typeface="Arial" pitchFamily="34" charset="0"/>
              </a:rPr>
              <a:t>1</a:t>
            </a:r>
            <a:r>
              <a:rPr kumimoji="0" lang="en-US" altLang="zh-CN" sz="2000" b="0" kern="0" dirty="0">
                <a:solidFill>
                  <a:srgbClr val="0000CC"/>
                </a:solidFill>
                <a:latin typeface="Arial" pitchFamily="34" charset="0"/>
                <a:ea typeface="微软雅黑" pitchFamily="34" charset="-122"/>
                <a:cs typeface="Arial" pitchFamily="34" charset="0"/>
              </a:rPr>
              <a:t>+</a:t>
            </a:r>
            <a:r>
              <a:rPr kumimoji="0" lang="en-US" altLang="zh-CN" sz="2000" i="1" kern="0" dirty="0">
                <a:solidFill>
                  <a:srgbClr val="0000CC"/>
                </a:solidFill>
                <a:latin typeface="Arial" pitchFamily="34" charset="0"/>
                <a:ea typeface="微软雅黑" pitchFamily="34" charset="-122"/>
                <a:cs typeface="Arial" pitchFamily="34" charset="0"/>
              </a:rPr>
              <a:t>A</a:t>
            </a:r>
            <a:r>
              <a:rPr kumimoji="0" lang="en-US" altLang="zh-CN" sz="2000" b="0" kern="0" baseline="-25000" dirty="0">
                <a:solidFill>
                  <a:srgbClr val="0000CC"/>
                </a:solidFill>
                <a:latin typeface="Arial" pitchFamily="34" charset="0"/>
                <a:ea typeface="微软雅黑" pitchFamily="34" charset="-122"/>
                <a:cs typeface="Arial" pitchFamily="34" charset="0"/>
              </a:rPr>
              <a:t>2</a:t>
            </a:r>
            <a:r>
              <a:rPr kumimoji="0" lang="en-US" altLang="zh-CN" sz="2000" b="0" kern="0" dirty="0">
                <a:solidFill>
                  <a:srgbClr val="0000CC"/>
                </a:solidFill>
                <a:latin typeface="Arial" pitchFamily="34" charset="0"/>
                <a:ea typeface="微软雅黑" pitchFamily="34" charset="-122"/>
                <a:cs typeface="Arial" pitchFamily="34" charset="0"/>
              </a:rPr>
              <a:t>)</a:t>
            </a:r>
            <a:endParaRPr lang="zh-CN" altLang="en-US" sz="2000" dirty="0">
              <a:solidFill>
                <a:srgbClr val="0000CC"/>
              </a:solidFill>
            </a:endParaRPr>
          </a:p>
        </p:txBody>
      </p:sp>
      <p:sp>
        <p:nvSpPr>
          <p:cNvPr id="11" name="矩形 10">
            <a:extLst>
              <a:ext uri="{FF2B5EF4-FFF2-40B4-BE49-F238E27FC236}">
                <a16:creationId xmlns:a16="http://schemas.microsoft.com/office/drawing/2014/main" id="{E07C8F28-5F59-4ECE-47EE-6DD49B9DB2D8}"/>
              </a:ext>
            </a:extLst>
          </p:cNvPr>
          <p:cNvSpPr/>
          <p:nvPr/>
        </p:nvSpPr>
        <p:spPr>
          <a:xfrm>
            <a:off x="1076325" y="2803525"/>
            <a:ext cx="4071938" cy="554038"/>
          </a:xfrm>
          <a:prstGeom prst="rect">
            <a:avLst/>
          </a:prstGeom>
        </p:spPr>
        <p:txBody>
          <a:bodyPr>
            <a:spAutoFit/>
          </a:bodyPr>
          <a:lstStyle/>
          <a:p>
            <a:pPr marL="228600" indent="-228600">
              <a:lnSpc>
                <a:spcPct val="150000"/>
              </a:lnSpc>
              <a:spcBef>
                <a:spcPct val="20000"/>
              </a:spcBef>
              <a:buClr>
                <a:srgbClr val="FFCF01"/>
              </a:buClr>
              <a:buSzPct val="55000"/>
              <a:defRPr/>
            </a:pPr>
            <a:r>
              <a:rPr kumimoji="0" lang="zh-CN" altLang="en-US" sz="2000" kern="0" dirty="0">
                <a:solidFill>
                  <a:srgbClr val="003399"/>
                </a:solidFill>
                <a:latin typeface="Arial" pitchFamily="34" charset="0"/>
                <a:ea typeface="微软雅黑" pitchFamily="34" charset="-122"/>
                <a:cs typeface="Arial" pitchFamily="34" charset="0"/>
              </a:rPr>
              <a:t>证明</a:t>
            </a:r>
            <a:r>
              <a:rPr kumimoji="0" lang="zh-CN" altLang="en-US" sz="2000" b="0" kern="0" dirty="0">
                <a:solidFill>
                  <a:srgbClr val="000000"/>
                </a:solidFill>
                <a:latin typeface="Arial" pitchFamily="34" charset="0"/>
                <a:ea typeface="微软雅黑" pitchFamily="34" charset="-122"/>
                <a:cs typeface="Arial" pitchFamily="34" charset="0"/>
              </a:rPr>
              <a:t>：若</a:t>
            </a:r>
            <a:r>
              <a:rPr kumimoji="0" lang="en-US" altLang="zh-CN" sz="2000" i="1" kern="0" dirty="0">
                <a:solidFill>
                  <a:srgbClr val="000000"/>
                </a:solidFill>
                <a:latin typeface="Arial" pitchFamily="34" charset="0"/>
                <a:ea typeface="微软雅黑" pitchFamily="34" charset="-122"/>
                <a:cs typeface="Arial" pitchFamily="34" charset="0"/>
              </a:rPr>
              <a:t>A</a:t>
            </a:r>
            <a:r>
              <a:rPr kumimoji="0" lang="en-US" altLang="zh-CN" sz="2000" b="0" kern="0" baseline="-25000" dirty="0">
                <a:solidFill>
                  <a:srgbClr val="000000"/>
                </a:solidFill>
                <a:latin typeface="Arial" pitchFamily="34" charset="0"/>
                <a:ea typeface="微软雅黑" pitchFamily="34" charset="-122"/>
                <a:cs typeface="Arial" pitchFamily="34" charset="0"/>
              </a:rPr>
              <a:t>1</a:t>
            </a:r>
            <a:r>
              <a:rPr kumimoji="0" lang="zh-CN" altLang="en-US" sz="2000" b="0" kern="0" dirty="0">
                <a:solidFill>
                  <a:srgbClr val="000000"/>
                </a:solidFill>
                <a:latin typeface="Arial" pitchFamily="34" charset="0"/>
                <a:ea typeface="微软雅黑" pitchFamily="34" charset="-122"/>
                <a:cs typeface="Arial" pitchFamily="34" charset="0"/>
              </a:rPr>
              <a:t>和</a:t>
            </a:r>
            <a:r>
              <a:rPr kumimoji="0" lang="en-US" altLang="zh-CN" sz="2000" i="1" kern="0" dirty="0">
                <a:solidFill>
                  <a:srgbClr val="000000"/>
                </a:solidFill>
                <a:latin typeface="Arial" pitchFamily="34" charset="0"/>
                <a:ea typeface="微软雅黑" pitchFamily="34" charset="-122"/>
                <a:cs typeface="Arial" pitchFamily="34" charset="0"/>
              </a:rPr>
              <a:t>A</a:t>
            </a:r>
            <a:r>
              <a:rPr kumimoji="0" lang="en-US" altLang="zh-CN" sz="2000" b="0" kern="0" baseline="-25000" dirty="0">
                <a:solidFill>
                  <a:srgbClr val="000000"/>
                </a:solidFill>
                <a:latin typeface="Arial" pitchFamily="34" charset="0"/>
                <a:ea typeface="微软雅黑" pitchFamily="34" charset="-122"/>
                <a:cs typeface="Arial" pitchFamily="34" charset="0"/>
              </a:rPr>
              <a:t>2</a:t>
            </a:r>
            <a:r>
              <a:rPr kumimoji="0" lang="zh-CN" altLang="en-US" sz="2000" b="0" kern="0" dirty="0">
                <a:solidFill>
                  <a:srgbClr val="000000"/>
                </a:solidFill>
                <a:latin typeface="Arial" pitchFamily="34" charset="0"/>
                <a:ea typeface="微软雅黑" pitchFamily="34" charset="-122"/>
                <a:cs typeface="Arial" pitchFamily="34" charset="0"/>
              </a:rPr>
              <a:t>是两个码组，则有</a:t>
            </a:r>
          </a:p>
        </p:txBody>
      </p:sp>
      <p:sp>
        <p:nvSpPr>
          <p:cNvPr id="12" name="矩形 11">
            <a:extLst>
              <a:ext uri="{FF2B5EF4-FFF2-40B4-BE49-F238E27FC236}">
                <a16:creationId xmlns:a16="http://schemas.microsoft.com/office/drawing/2014/main" id="{6D8061E4-1828-B092-AAFD-1BD9037AD682}"/>
              </a:ext>
            </a:extLst>
          </p:cNvPr>
          <p:cNvSpPr/>
          <p:nvPr/>
        </p:nvSpPr>
        <p:spPr>
          <a:xfrm>
            <a:off x="5148263" y="2917825"/>
            <a:ext cx="3281362" cy="400050"/>
          </a:xfrm>
          <a:prstGeom prst="rect">
            <a:avLst/>
          </a:prstGeom>
        </p:spPr>
        <p:txBody>
          <a:bodyPr>
            <a:spAutoFit/>
          </a:bodyPr>
          <a:lstStyle/>
          <a:p>
            <a:pPr>
              <a:defRPr/>
            </a:pPr>
            <a:r>
              <a:rPr kumimoji="0" lang="en-US" altLang="zh-CN" sz="2000" i="1" kern="0" dirty="0">
                <a:solidFill>
                  <a:srgbClr val="003399"/>
                </a:solidFill>
                <a:latin typeface="Arial" pitchFamily="34" charset="0"/>
                <a:ea typeface="微软雅黑" pitchFamily="34" charset="-122"/>
                <a:cs typeface="Arial" pitchFamily="34" charset="0"/>
              </a:rPr>
              <a:t>A</a:t>
            </a:r>
            <a:r>
              <a:rPr kumimoji="0" lang="en-US" altLang="zh-CN" sz="2000" b="0" kern="0" baseline="-25000" dirty="0">
                <a:solidFill>
                  <a:srgbClr val="003399"/>
                </a:solidFill>
                <a:latin typeface="Arial" pitchFamily="34" charset="0"/>
                <a:ea typeface="微软雅黑" pitchFamily="34" charset="-122"/>
                <a:cs typeface="Arial" pitchFamily="34" charset="0"/>
              </a:rPr>
              <a:t>1</a:t>
            </a:r>
            <a:r>
              <a:rPr kumimoji="0" lang="en-US" altLang="zh-CN" sz="2000" b="0" kern="0" dirty="0">
                <a:solidFill>
                  <a:srgbClr val="003399"/>
                </a:solidFill>
                <a:latin typeface="Arial" pitchFamily="34" charset="0"/>
                <a:ea typeface="微软雅黑" pitchFamily="34" charset="-122"/>
                <a:cs typeface="Arial" pitchFamily="34" charset="0"/>
              </a:rPr>
              <a:t> </a:t>
            </a:r>
            <a:r>
              <a:rPr kumimoji="0" lang="en-US" altLang="zh-CN" sz="2000" b="0" kern="0" dirty="0">
                <a:solidFill>
                  <a:srgbClr val="003399"/>
                </a:solidFill>
                <a:latin typeface="Arial" pitchFamily="34" charset="0"/>
                <a:ea typeface="微软雅黑" pitchFamily="34" charset="-122"/>
                <a:cs typeface="Arial" pitchFamily="34" charset="0"/>
                <a:sym typeface="Symbol" pitchFamily="18" charset="2"/>
              </a:rPr>
              <a:t></a:t>
            </a:r>
            <a:r>
              <a:rPr kumimoji="0" lang="en-US" altLang="zh-CN" sz="2000" b="0" kern="0" dirty="0">
                <a:solidFill>
                  <a:srgbClr val="003399"/>
                </a:solidFill>
                <a:latin typeface="Arial" pitchFamily="34" charset="0"/>
                <a:ea typeface="微软雅黑" pitchFamily="34" charset="-122"/>
                <a:cs typeface="Arial" pitchFamily="34" charset="0"/>
              </a:rPr>
              <a:t> </a:t>
            </a:r>
            <a:r>
              <a:rPr kumimoji="0" lang="en-US" altLang="zh-CN" sz="2000" i="1" kern="0" dirty="0">
                <a:solidFill>
                  <a:srgbClr val="003399"/>
                </a:solidFill>
                <a:latin typeface="Arial" pitchFamily="34" charset="0"/>
                <a:ea typeface="微软雅黑" pitchFamily="34" charset="-122"/>
                <a:cs typeface="Arial" pitchFamily="34" charset="0"/>
              </a:rPr>
              <a:t>H</a:t>
            </a:r>
            <a:r>
              <a:rPr kumimoji="0" lang="en-US" altLang="zh-CN" sz="2000" b="0" kern="0" baseline="30000" dirty="0">
                <a:solidFill>
                  <a:srgbClr val="003399"/>
                </a:solidFill>
                <a:latin typeface="Arial" pitchFamily="34" charset="0"/>
                <a:ea typeface="微软雅黑" pitchFamily="34" charset="-122"/>
                <a:cs typeface="Arial" pitchFamily="34" charset="0"/>
              </a:rPr>
              <a:t>T</a:t>
            </a:r>
            <a:r>
              <a:rPr kumimoji="0" lang="en-US" altLang="zh-CN" sz="2000" b="0" kern="0" dirty="0">
                <a:solidFill>
                  <a:srgbClr val="003399"/>
                </a:solidFill>
                <a:latin typeface="Arial" pitchFamily="34" charset="0"/>
                <a:ea typeface="微软雅黑" pitchFamily="34" charset="-122"/>
                <a:cs typeface="Arial" pitchFamily="34" charset="0"/>
              </a:rPr>
              <a:t> = 0  </a:t>
            </a:r>
            <a:r>
              <a:rPr kumimoji="0" lang="zh-CN" altLang="en-US" sz="2000" b="0" kern="0" dirty="0">
                <a:solidFill>
                  <a:srgbClr val="000000"/>
                </a:solidFill>
                <a:latin typeface="Arial" pitchFamily="34" charset="0"/>
                <a:ea typeface="微软雅黑" pitchFamily="34" charset="-122"/>
                <a:cs typeface="Arial" pitchFamily="34" charset="0"/>
              </a:rPr>
              <a:t>和 </a:t>
            </a:r>
            <a:r>
              <a:rPr kumimoji="0" lang="en-US" altLang="zh-CN" sz="2000" i="1" kern="0" dirty="0">
                <a:solidFill>
                  <a:srgbClr val="003399"/>
                </a:solidFill>
                <a:latin typeface="Arial" pitchFamily="34" charset="0"/>
                <a:ea typeface="微软雅黑" pitchFamily="34" charset="-122"/>
                <a:cs typeface="Arial" pitchFamily="34" charset="0"/>
              </a:rPr>
              <a:t>A</a:t>
            </a:r>
            <a:r>
              <a:rPr kumimoji="0" lang="en-US" altLang="zh-CN" sz="2000" b="0" kern="0" baseline="-25000" dirty="0">
                <a:solidFill>
                  <a:srgbClr val="003399"/>
                </a:solidFill>
                <a:latin typeface="Arial" pitchFamily="34" charset="0"/>
                <a:ea typeface="微软雅黑" pitchFamily="34" charset="-122"/>
                <a:cs typeface="Arial" pitchFamily="34" charset="0"/>
              </a:rPr>
              <a:t>2</a:t>
            </a:r>
            <a:r>
              <a:rPr kumimoji="0" lang="en-US" altLang="zh-CN" sz="2000" b="0" kern="0" dirty="0">
                <a:solidFill>
                  <a:srgbClr val="003399"/>
                </a:solidFill>
                <a:latin typeface="Arial" pitchFamily="34" charset="0"/>
                <a:ea typeface="微软雅黑" pitchFamily="34" charset="-122"/>
                <a:cs typeface="Arial" pitchFamily="34" charset="0"/>
              </a:rPr>
              <a:t> </a:t>
            </a:r>
            <a:r>
              <a:rPr kumimoji="0" lang="en-US" altLang="zh-CN" sz="2000" b="0" kern="0" dirty="0">
                <a:solidFill>
                  <a:srgbClr val="003399"/>
                </a:solidFill>
                <a:latin typeface="Arial" pitchFamily="34" charset="0"/>
                <a:ea typeface="微软雅黑" pitchFamily="34" charset="-122"/>
                <a:cs typeface="Arial" pitchFamily="34" charset="0"/>
                <a:sym typeface="Symbol" pitchFamily="18" charset="2"/>
              </a:rPr>
              <a:t></a:t>
            </a:r>
            <a:r>
              <a:rPr kumimoji="0" lang="en-US" altLang="zh-CN" sz="2000" b="0" kern="0" dirty="0">
                <a:solidFill>
                  <a:srgbClr val="003399"/>
                </a:solidFill>
                <a:latin typeface="Arial" pitchFamily="34" charset="0"/>
                <a:ea typeface="微软雅黑" pitchFamily="34" charset="-122"/>
                <a:cs typeface="Arial" pitchFamily="34" charset="0"/>
              </a:rPr>
              <a:t> </a:t>
            </a:r>
            <a:r>
              <a:rPr kumimoji="0" lang="en-US" altLang="zh-CN" sz="2000" i="1" kern="0" dirty="0">
                <a:solidFill>
                  <a:srgbClr val="003399"/>
                </a:solidFill>
                <a:latin typeface="Arial" pitchFamily="34" charset="0"/>
                <a:ea typeface="微软雅黑" pitchFamily="34" charset="-122"/>
                <a:cs typeface="Arial" pitchFamily="34" charset="0"/>
              </a:rPr>
              <a:t>H</a:t>
            </a:r>
            <a:r>
              <a:rPr kumimoji="0" lang="en-US" altLang="zh-CN" sz="2000" b="0" kern="0" baseline="30000" dirty="0">
                <a:solidFill>
                  <a:srgbClr val="003399"/>
                </a:solidFill>
                <a:latin typeface="Arial" pitchFamily="34" charset="0"/>
                <a:ea typeface="微软雅黑" pitchFamily="34" charset="-122"/>
                <a:cs typeface="Arial" pitchFamily="34" charset="0"/>
              </a:rPr>
              <a:t>T</a:t>
            </a:r>
            <a:r>
              <a:rPr kumimoji="0" lang="en-US" altLang="zh-CN" sz="2000" b="0" kern="0" dirty="0">
                <a:solidFill>
                  <a:srgbClr val="003399"/>
                </a:solidFill>
                <a:latin typeface="Arial" pitchFamily="34" charset="0"/>
                <a:ea typeface="微软雅黑" pitchFamily="34" charset="-122"/>
                <a:cs typeface="Arial" pitchFamily="34" charset="0"/>
              </a:rPr>
              <a:t> = 0</a:t>
            </a:r>
            <a:r>
              <a:rPr kumimoji="0" lang="zh-CN" altLang="en-US" sz="2000" b="0" kern="0" dirty="0">
                <a:solidFill>
                  <a:srgbClr val="000000"/>
                </a:solidFill>
                <a:latin typeface="Arial" pitchFamily="34" charset="0"/>
                <a:ea typeface="微软雅黑" pitchFamily="34" charset="-122"/>
                <a:cs typeface="Arial" pitchFamily="34" charset="0"/>
              </a:rPr>
              <a:t>，</a:t>
            </a:r>
            <a:endParaRPr lang="zh-CN" altLang="en-US" dirty="0"/>
          </a:p>
        </p:txBody>
      </p:sp>
      <p:sp>
        <p:nvSpPr>
          <p:cNvPr id="13" name="矩形 12">
            <a:extLst>
              <a:ext uri="{FF2B5EF4-FFF2-40B4-BE49-F238E27FC236}">
                <a16:creationId xmlns:a16="http://schemas.microsoft.com/office/drawing/2014/main" id="{F1DA88E2-CFCC-EAB0-889F-34EC00D3E0E6}"/>
              </a:ext>
            </a:extLst>
          </p:cNvPr>
          <p:cNvSpPr/>
          <p:nvPr/>
        </p:nvSpPr>
        <p:spPr>
          <a:xfrm>
            <a:off x="1857375" y="3232150"/>
            <a:ext cx="2357438" cy="554038"/>
          </a:xfrm>
          <a:prstGeom prst="rect">
            <a:avLst/>
          </a:prstGeom>
        </p:spPr>
        <p:txBody>
          <a:bodyPr>
            <a:spAutoFit/>
          </a:bodyPr>
          <a:lstStyle/>
          <a:p>
            <a:pPr marL="228600" indent="-228600">
              <a:lnSpc>
                <a:spcPct val="150000"/>
              </a:lnSpc>
              <a:spcBef>
                <a:spcPct val="20000"/>
              </a:spcBef>
              <a:buClr>
                <a:srgbClr val="FFCF01"/>
              </a:buClr>
              <a:buSzPct val="55000"/>
              <a:defRPr/>
            </a:pPr>
            <a:r>
              <a:rPr kumimoji="0" lang="zh-CN" altLang="en-US" sz="2000" b="0" kern="0" dirty="0">
                <a:solidFill>
                  <a:srgbClr val="000000"/>
                </a:solidFill>
                <a:latin typeface="Arial" pitchFamily="34" charset="0"/>
                <a:ea typeface="微软雅黑" pitchFamily="34" charset="-122"/>
                <a:cs typeface="Arial" pitchFamily="34" charset="0"/>
              </a:rPr>
              <a:t>将两式相加，有</a:t>
            </a:r>
          </a:p>
        </p:txBody>
      </p:sp>
      <p:sp>
        <p:nvSpPr>
          <p:cNvPr id="14" name="矩形 13">
            <a:extLst>
              <a:ext uri="{FF2B5EF4-FFF2-40B4-BE49-F238E27FC236}">
                <a16:creationId xmlns:a16="http://schemas.microsoft.com/office/drawing/2014/main" id="{C9039521-12BC-DBA5-E7CD-198E61BD743D}"/>
              </a:ext>
            </a:extLst>
          </p:cNvPr>
          <p:cNvSpPr/>
          <p:nvPr/>
        </p:nvSpPr>
        <p:spPr>
          <a:xfrm>
            <a:off x="3786188" y="3332163"/>
            <a:ext cx="4643437" cy="400050"/>
          </a:xfrm>
          <a:prstGeom prst="rect">
            <a:avLst/>
          </a:prstGeom>
        </p:spPr>
        <p:txBody>
          <a:bodyPr>
            <a:spAutoFit/>
          </a:bodyPr>
          <a:lstStyle/>
          <a:p>
            <a:pPr>
              <a:defRPr/>
            </a:pPr>
            <a:r>
              <a:rPr kumimoji="0" lang="en-US" altLang="zh-CN" sz="2000" i="1" kern="0" dirty="0">
                <a:solidFill>
                  <a:srgbClr val="000000"/>
                </a:solidFill>
                <a:latin typeface="Arial" pitchFamily="34" charset="0"/>
                <a:ea typeface="微软雅黑" pitchFamily="34" charset="-122"/>
                <a:cs typeface="Arial" pitchFamily="34" charset="0"/>
              </a:rPr>
              <a:t>A</a:t>
            </a:r>
            <a:r>
              <a:rPr kumimoji="0" lang="en-US" altLang="zh-CN" sz="2000" b="0" kern="0" baseline="-25000" dirty="0">
                <a:solidFill>
                  <a:srgbClr val="000000"/>
                </a:solidFill>
                <a:latin typeface="Arial" pitchFamily="34" charset="0"/>
                <a:ea typeface="微软雅黑" pitchFamily="34" charset="-122"/>
                <a:cs typeface="Arial" pitchFamily="34" charset="0"/>
              </a:rPr>
              <a:t>1</a:t>
            </a:r>
            <a:r>
              <a:rPr kumimoji="0" lang="en-US" altLang="zh-CN" sz="2000" b="0" kern="0" dirty="0">
                <a:solidFill>
                  <a:srgbClr val="000000"/>
                </a:solidFill>
                <a:latin typeface="Arial" pitchFamily="34" charset="0"/>
                <a:ea typeface="微软雅黑" pitchFamily="34" charset="-122"/>
                <a:cs typeface="Arial" pitchFamily="34" charset="0"/>
              </a:rPr>
              <a:t> </a:t>
            </a:r>
            <a:r>
              <a:rPr kumimoji="0" lang="en-US" altLang="zh-CN" sz="2000" b="0" kern="0" dirty="0">
                <a:solidFill>
                  <a:srgbClr val="000000"/>
                </a:solidFill>
                <a:latin typeface="Arial" pitchFamily="34" charset="0"/>
                <a:ea typeface="微软雅黑" pitchFamily="34" charset="-122"/>
                <a:cs typeface="Arial" pitchFamily="34" charset="0"/>
                <a:sym typeface="Symbol" pitchFamily="18" charset="2"/>
              </a:rPr>
              <a:t></a:t>
            </a:r>
            <a:r>
              <a:rPr kumimoji="0" lang="en-US" altLang="zh-CN" sz="2000" i="1" kern="0" dirty="0">
                <a:solidFill>
                  <a:srgbClr val="000000"/>
                </a:solidFill>
                <a:latin typeface="Arial" pitchFamily="34" charset="0"/>
                <a:ea typeface="微软雅黑" pitchFamily="34" charset="-122"/>
                <a:cs typeface="Arial" pitchFamily="34" charset="0"/>
              </a:rPr>
              <a:t>H</a:t>
            </a:r>
            <a:r>
              <a:rPr kumimoji="0" lang="en-US" altLang="zh-CN" sz="2000" b="0" kern="0" baseline="30000" dirty="0">
                <a:solidFill>
                  <a:srgbClr val="000000"/>
                </a:solidFill>
                <a:latin typeface="Arial" pitchFamily="34" charset="0"/>
                <a:ea typeface="微软雅黑" pitchFamily="34" charset="-122"/>
                <a:cs typeface="Arial" pitchFamily="34" charset="0"/>
              </a:rPr>
              <a:t>T</a:t>
            </a:r>
            <a:r>
              <a:rPr kumimoji="0" lang="en-US" altLang="zh-CN" sz="2000" b="0" kern="0" dirty="0">
                <a:solidFill>
                  <a:srgbClr val="000000"/>
                </a:solidFill>
                <a:latin typeface="Arial" pitchFamily="34" charset="0"/>
                <a:ea typeface="微软雅黑" pitchFamily="34" charset="-122"/>
                <a:cs typeface="Arial" pitchFamily="34" charset="0"/>
              </a:rPr>
              <a:t> + </a:t>
            </a:r>
            <a:r>
              <a:rPr kumimoji="0" lang="en-US" altLang="zh-CN" sz="2000" i="1" kern="0" dirty="0">
                <a:solidFill>
                  <a:srgbClr val="000000"/>
                </a:solidFill>
                <a:latin typeface="Arial" pitchFamily="34" charset="0"/>
                <a:ea typeface="微软雅黑" pitchFamily="34" charset="-122"/>
                <a:cs typeface="Arial" pitchFamily="34" charset="0"/>
              </a:rPr>
              <a:t>A</a:t>
            </a:r>
            <a:r>
              <a:rPr kumimoji="0" lang="en-US" altLang="zh-CN" sz="2000" b="0" kern="0" baseline="-25000" dirty="0">
                <a:solidFill>
                  <a:srgbClr val="000000"/>
                </a:solidFill>
                <a:latin typeface="Arial" pitchFamily="34" charset="0"/>
                <a:ea typeface="微软雅黑" pitchFamily="34" charset="-122"/>
                <a:cs typeface="Arial" pitchFamily="34" charset="0"/>
              </a:rPr>
              <a:t>2</a:t>
            </a:r>
            <a:r>
              <a:rPr kumimoji="0" lang="en-US" altLang="zh-CN" sz="2000" b="0" kern="0" dirty="0">
                <a:solidFill>
                  <a:srgbClr val="000000"/>
                </a:solidFill>
                <a:latin typeface="Arial" pitchFamily="34" charset="0"/>
                <a:ea typeface="微软雅黑" pitchFamily="34" charset="-122"/>
                <a:cs typeface="Arial" pitchFamily="34" charset="0"/>
              </a:rPr>
              <a:t> </a:t>
            </a:r>
            <a:r>
              <a:rPr kumimoji="0" lang="en-US" altLang="zh-CN" sz="2000" b="0" kern="0" dirty="0">
                <a:solidFill>
                  <a:srgbClr val="000000"/>
                </a:solidFill>
                <a:latin typeface="Arial" pitchFamily="34" charset="0"/>
                <a:ea typeface="微软雅黑" pitchFamily="34" charset="-122"/>
                <a:cs typeface="Arial" pitchFamily="34" charset="0"/>
                <a:sym typeface="Symbol" pitchFamily="18" charset="2"/>
              </a:rPr>
              <a:t></a:t>
            </a:r>
            <a:r>
              <a:rPr kumimoji="0" lang="en-US" altLang="zh-CN" sz="2000" i="1" kern="0" dirty="0">
                <a:solidFill>
                  <a:srgbClr val="000000"/>
                </a:solidFill>
                <a:latin typeface="Arial" pitchFamily="34" charset="0"/>
                <a:ea typeface="微软雅黑" pitchFamily="34" charset="-122"/>
                <a:cs typeface="Arial" pitchFamily="34" charset="0"/>
              </a:rPr>
              <a:t>H</a:t>
            </a:r>
            <a:r>
              <a:rPr kumimoji="0" lang="en-US" altLang="zh-CN" sz="2000" b="0" kern="0" baseline="30000" dirty="0">
                <a:solidFill>
                  <a:srgbClr val="000000"/>
                </a:solidFill>
                <a:latin typeface="Arial" pitchFamily="34" charset="0"/>
                <a:ea typeface="微软雅黑" pitchFamily="34" charset="-122"/>
                <a:cs typeface="Arial" pitchFamily="34" charset="0"/>
              </a:rPr>
              <a:t>T</a:t>
            </a:r>
            <a:r>
              <a:rPr kumimoji="0" lang="en-US" altLang="zh-CN" sz="2000" b="0" kern="0" dirty="0">
                <a:solidFill>
                  <a:srgbClr val="000000"/>
                </a:solidFill>
                <a:latin typeface="Arial" pitchFamily="34" charset="0"/>
                <a:ea typeface="微软雅黑" pitchFamily="34" charset="-122"/>
                <a:cs typeface="Arial" pitchFamily="34" charset="0"/>
              </a:rPr>
              <a:t> = </a:t>
            </a:r>
            <a:r>
              <a:rPr kumimoji="0" lang="en-US" altLang="zh-CN" sz="2000" b="0" kern="0" dirty="0">
                <a:solidFill>
                  <a:srgbClr val="003399"/>
                </a:solidFill>
                <a:latin typeface="Arial" pitchFamily="34" charset="0"/>
                <a:ea typeface="微软雅黑" pitchFamily="34" charset="-122"/>
                <a:cs typeface="Arial" pitchFamily="34" charset="0"/>
              </a:rPr>
              <a:t>(</a:t>
            </a:r>
            <a:r>
              <a:rPr kumimoji="0" lang="en-US" altLang="zh-CN" sz="2000" i="1" kern="0" dirty="0">
                <a:solidFill>
                  <a:srgbClr val="003399"/>
                </a:solidFill>
                <a:latin typeface="Arial" pitchFamily="34" charset="0"/>
                <a:ea typeface="微软雅黑" pitchFamily="34" charset="-122"/>
                <a:cs typeface="Arial" pitchFamily="34" charset="0"/>
              </a:rPr>
              <a:t>A</a:t>
            </a:r>
            <a:r>
              <a:rPr kumimoji="0" lang="en-US" altLang="zh-CN" sz="2000" b="0" kern="0" baseline="-25000" dirty="0">
                <a:solidFill>
                  <a:srgbClr val="003399"/>
                </a:solidFill>
                <a:latin typeface="Arial" pitchFamily="34" charset="0"/>
                <a:ea typeface="微软雅黑" pitchFamily="34" charset="-122"/>
                <a:cs typeface="Arial" pitchFamily="34" charset="0"/>
              </a:rPr>
              <a:t>1</a:t>
            </a:r>
            <a:r>
              <a:rPr kumimoji="0" lang="en-US" altLang="zh-CN" sz="2000" b="0" kern="0" dirty="0">
                <a:solidFill>
                  <a:srgbClr val="003399"/>
                </a:solidFill>
                <a:latin typeface="Arial" pitchFamily="34" charset="0"/>
                <a:ea typeface="微软雅黑" pitchFamily="34" charset="-122"/>
                <a:cs typeface="Arial" pitchFamily="34" charset="0"/>
              </a:rPr>
              <a:t> + </a:t>
            </a:r>
            <a:r>
              <a:rPr kumimoji="0" lang="en-US" altLang="zh-CN" sz="2000" i="1" kern="0" dirty="0">
                <a:solidFill>
                  <a:srgbClr val="003399"/>
                </a:solidFill>
                <a:latin typeface="Arial" pitchFamily="34" charset="0"/>
                <a:ea typeface="微软雅黑" pitchFamily="34" charset="-122"/>
                <a:cs typeface="Arial" pitchFamily="34" charset="0"/>
              </a:rPr>
              <a:t>A</a:t>
            </a:r>
            <a:r>
              <a:rPr kumimoji="0" lang="en-US" altLang="zh-CN" sz="2000" b="0" kern="0" baseline="-25000" dirty="0">
                <a:solidFill>
                  <a:srgbClr val="003399"/>
                </a:solidFill>
                <a:latin typeface="Arial" pitchFamily="34" charset="0"/>
                <a:ea typeface="微软雅黑" pitchFamily="34" charset="-122"/>
                <a:cs typeface="Arial" pitchFamily="34" charset="0"/>
              </a:rPr>
              <a:t>2</a:t>
            </a:r>
            <a:r>
              <a:rPr kumimoji="0" lang="en-US" altLang="zh-CN" sz="2000" b="0" kern="0" dirty="0">
                <a:solidFill>
                  <a:srgbClr val="003399"/>
                </a:solidFill>
                <a:latin typeface="Arial" pitchFamily="34" charset="0"/>
                <a:ea typeface="微软雅黑" pitchFamily="34" charset="-122"/>
                <a:cs typeface="Arial" pitchFamily="34" charset="0"/>
              </a:rPr>
              <a:t>) </a:t>
            </a:r>
            <a:r>
              <a:rPr kumimoji="0" lang="en-US" altLang="zh-CN" sz="2000" i="1" kern="0" dirty="0">
                <a:solidFill>
                  <a:srgbClr val="003399"/>
                </a:solidFill>
                <a:latin typeface="Arial" pitchFamily="34" charset="0"/>
                <a:ea typeface="微软雅黑" pitchFamily="34" charset="-122"/>
                <a:cs typeface="Arial" pitchFamily="34" charset="0"/>
              </a:rPr>
              <a:t>H</a:t>
            </a:r>
            <a:r>
              <a:rPr kumimoji="0" lang="en-US" altLang="zh-CN" sz="2000" b="0" kern="0" baseline="30000" dirty="0">
                <a:solidFill>
                  <a:srgbClr val="003399"/>
                </a:solidFill>
                <a:latin typeface="Arial" pitchFamily="34" charset="0"/>
                <a:ea typeface="微软雅黑" pitchFamily="34" charset="-122"/>
                <a:cs typeface="Arial" pitchFamily="34" charset="0"/>
              </a:rPr>
              <a:t>T</a:t>
            </a:r>
            <a:r>
              <a:rPr kumimoji="0" lang="en-US" altLang="zh-CN" sz="2000" b="0" kern="0" dirty="0">
                <a:solidFill>
                  <a:srgbClr val="003399"/>
                </a:solidFill>
                <a:latin typeface="Arial" pitchFamily="34" charset="0"/>
                <a:ea typeface="微软雅黑" pitchFamily="34" charset="-122"/>
                <a:cs typeface="Arial" pitchFamily="34" charset="0"/>
              </a:rPr>
              <a:t> = 0</a:t>
            </a:r>
            <a:endParaRPr lang="zh-CN" altLang="en-US" dirty="0">
              <a:solidFill>
                <a:srgbClr val="003399"/>
              </a:solidFill>
            </a:endParaRPr>
          </a:p>
        </p:txBody>
      </p:sp>
      <p:sp>
        <p:nvSpPr>
          <p:cNvPr id="16" name="矩形 15">
            <a:extLst>
              <a:ext uri="{FF2B5EF4-FFF2-40B4-BE49-F238E27FC236}">
                <a16:creationId xmlns:a16="http://schemas.microsoft.com/office/drawing/2014/main" id="{E6679910-F010-12D9-2C0F-B40F86B243FE}"/>
              </a:ext>
            </a:extLst>
          </p:cNvPr>
          <p:cNvSpPr/>
          <p:nvPr/>
        </p:nvSpPr>
        <p:spPr>
          <a:xfrm>
            <a:off x="845884" y="4214818"/>
            <a:ext cx="1797290" cy="461665"/>
          </a:xfrm>
          <a:prstGeom prst="rect">
            <a:avLst/>
          </a:prstGeom>
          <a:solidFill>
            <a:schemeClr val="bg2">
              <a:lumMod val="10000"/>
              <a:lumOff val="90000"/>
            </a:schemeClr>
          </a:solidFill>
          <a:effectLst>
            <a:innerShdw blurRad="63500" dist="50800">
              <a:prstClr val="black">
                <a:alpha val="50000"/>
              </a:prstClr>
            </a:innerShdw>
          </a:effectLst>
        </p:spPr>
        <p:txBody>
          <a:bodyPr>
            <a:spAutoFit/>
          </a:bodyPr>
          <a:lstStyle/>
          <a:p>
            <a:pPr>
              <a:defRPr/>
            </a:pPr>
            <a:r>
              <a:rPr kumimoji="0" lang="en-US" altLang="zh-CN" sz="2400" b="0" dirty="0">
                <a:solidFill>
                  <a:srgbClr val="0000CC"/>
                </a:solidFill>
                <a:latin typeface="微软雅黑" pitchFamily="34" charset="-122"/>
                <a:ea typeface="微软雅黑" pitchFamily="34" charset="-122"/>
                <a:cs typeface="Arial" pitchFamily="34" charset="0"/>
                <a:sym typeface="Symbol" pitchFamily="18" charset="2"/>
              </a:rPr>
              <a:t>②</a:t>
            </a:r>
            <a:r>
              <a:rPr kumimoji="0" lang="zh-CN" altLang="en-US" sz="2400" kern="0" dirty="0">
                <a:solidFill>
                  <a:srgbClr val="000000"/>
                </a:solidFill>
                <a:latin typeface="Arial" pitchFamily="34" charset="0"/>
                <a:ea typeface="微软雅黑" pitchFamily="34" charset="-122"/>
                <a:cs typeface="Arial" pitchFamily="34" charset="0"/>
                <a:sym typeface="Symbol" pitchFamily="18" charset="2"/>
              </a:rPr>
              <a:t> </a:t>
            </a:r>
            <a:r>
              <a:rPr kumimoji="0" lang="zh-CN" altLang="en-US" sz="2400" kern="0" dirty="0">
                <a:solidFill>
                  <a:srgbClr val="FF0000"/>
                </a:solidFill>
                <a:latin typeface="Arial" pitchFamily="34" charset="0"/>
                <a:ea typeface="微软雅黑" pitchFamily="34" charset="-122"/>
                <a:cs typeface="Arial" pitchFamily="34" charset="0"/>
              </a:rPr>
              <a:t>最小距离</a:t>
            </a:r>
            <a:endParaRPr lang="zh-CN" altLang="en-US" dirty="0">
              <a:solidFill>
                <a:srgbClr val="FF0000"/>
              </a:solidFill>
              <a:latin typeface="Arial" pitchFamily="34" charset="0"/>
              <a:ea typeface="微软雅黑" pitchFamily="34" charset="-122"/>
              <a:cs typeface="Arial" pitchFamily="34" charset="0"/>
            </a:endParaRPr>
          </a:p>
        </p:txBody>
      </p:sp>
      <p:sp>
        <p:nvSpPr>
          <p:cNvPr id="18" name="矩形 17">
            <a:extLst>
              <a:ext uri="{FF2B5EF4-FFF2-40B4-BE49-F238E27FC236}">
                <a16:creationId xmlns:a16="http://schemas.microsoft.com/office/drawing/2014/main" id="{B1A56190-461D-7F43-0B4F-7C963B163EEC}"/>
              </a:ext>
            </a:extLst>
          </p:cNvPr>
          <p:cNvSpPr/>
          <p:nvPr/>
        </p:nvSpPr>
        <p:spPr>
          <a:xfrm>
            <a:off x="7643813" y="3332163"/>
            <a:ext cx="1211262" cy="400050"/>
          </a:xfrm>
          <a:prstGeom prst="rect">
            <a:avLst/>
          </a:prstGeom>
          <a:effectLst>
            <a:outerShdw blurRad="50800" dist="38100" dir="2700000" algn="tl" rotWithShape="0">
              <a:prstClr val="black">
                <a:alpha val="40000"/>
              </a:prstClr>
            </a:outerShdw>
          </a:effectLst>
        </p:spPr>
        <p:txBody>
          <a:bodyPr wrap="none">
            <a:spAutoFit/>
          </a:bodyPr>
          <a:lstStyle/>
          <a:p>
            <a:pPr>
              <a:defRPr/>
            </a:pPr>
            <a:r>
              <a:rPr kumimoji="0" lang="zh-CN" altLang="en-US" sz="2000" b="0" kern="0" dirty="0">
                <a:solidFill>
                  <a:schemeClr val="tx1"/>
                </a:solidFill>
                <a:latin typeface="Arial" pitchFamily="34" charset="0"/>
                <a:ea typeface="微软雅黑" pitchFamily="34" charset="-122"/>
                <a:cs typeface="Arial" pitchFamily="34" charset="0"/>
              </a:rPr>
              <a:t>（证毕）</a:t>
            </a:r>
            <a:endParaRPr lang="zh-CN" altLang="en-US" b="0" dirty="0">
              <a:solidFill>
                <a:schemeClr val="tx1"/>
              </a:solidFill>
            </a:endParaRPr>
          </a:p>
        </p:txBody>
      </p:sp>
      <p:sp>
        <p:nvSpPr>
          <p:cNvPr id="15" name="矩形 14">
            <a:extLst>
              <a:ext uri="{FF2B5EF4-FFF2-40B4-BE49-F238E27FC236}">
                <a16:creationId xmlns:a16="http://schemas.microsoft.com/office/drawing/2014/main" id="{6EF90E01-3B35-A10A-A980-B209E4AA5B74}"/>
              </a:ext>
            </a:extLst>
          </p:cNvPr>
          <p:cNvSpPr/>
          <p:nvPr/>
        </p:nvSpPr>
        <p:spPr>
          <a:xfrm>
            <a:off x="519113" y="458788"/>
            <a:ext cx="4910137" cy="541337"/>
          </a:xfrm>
          <a:prstGeom prst="rect">
            <a:avLst/>
          </a:prstGeom>
        </p:spPr>
        <p:txBody>
          <a:bodyPr>
            <a:spAutoFit/>
          </a:bodyPr>
          <a:lstStyle/>
          <a:p>
            <a:pPr marL="285750" indent="-285750">
              <a:lnSpc>
                <a:spcPts val="3500"/>
              </a:lnSpc>
              <a:spcBef>
                <a:spcPct val="20000"/>
              </a:spcBef>
              <a:buClr>
                <a:srgbClr val="FF0000"/>
              </a:buClr>
              <a:buSzPct val="81000"/>
              <a:buFont typeface="Wingdings" pitchFamily="2" charset="2"/>
              <a:buChar char="n"/>
              <a:defRPr/>
            </a:pPr>
            <a:r>
              <a:rPr kumimoji="0" lang="zh-CN" altLang="en-US" sz="2800" kern="0" dirty="0">
                <a:solidFill>
                  <a:schemeClr val="tx1"/>
                </a:solidFill>
                <a:latin typeface="Arial" pitchFamily="34" charset="0"/>
                <a:ea typeface="微软雅黑" pitchFamily="34" charset="-122"/>
                <a:cs typeface="Arial" pitchFamily="34" charset="0"/>
              </a:rPr>
              <a:t>线性分组码</a:t>
            </a:r>
            <a:r>
              <a:rPr kumimoji="0" lang="zh-CN" altLang="en-US" sz="2800" b="0" kern="0" dirty="0">
                <a:solidFill>
                  <a:schemeClr val="tx1"/>
                </a:solidFill>
                <a:latin typeface="Arial" pitchFamily="34" charset="0"/>
                <a:ea typeface="微软雅黑" pitchFamily="34" charset="-122"/>
                <a:cs typeface="Arial" pitchFamily="34" charset="0"/>
              </a:rPr>
              <a:t>的</a:t>
            </a:r>
            <a:r>
              <a:rPr kumimoji="0" lang="zh-CN" altLang="en-US" sz="2800" kern="0" dirty="0">
                <a:solidFill>
                  <a:schemeClr val="tx1"/>
                </a:solidFill>
                <a:latin typeface="Arial" pitchFamily="34" charset="0"/>
                <a:ea typeface="微软雅黑" pitchFamily="34" charset="-122"/>
                <a:cs typeface="Arial" pitchFamily="34" charset="0"/>
              </a:rPr>
              <a:t>性质</a:t>
            </a:r>
            <a:endParaRPr kumimoji="0" lang="zh-CN" altLang="en-US" sz="2800" kern="0" dirty="0">
              <a:solidFill>
                <a:srgbClr val="000000"/>
              </a:solidFill>
              <a:latin typeface="微软雅黑" pitchFamily="34" charset="-122"/>
              <a:ea typeface="微软雅黑" pitchFamily="34" charset="-122"/>
            </a:endParaRPr>
          </a:p>
        </p:txBody>
      </p:sp>
      <p:pic>
        <p:nvPicPr>
          <p:cNvPr id="101397" name="Picture 21">
            <a:extLst>
              <a:ext uri="{FF2B5EF4-FFF2-40B4-BE49-F238E27FC236}">
                <a16:creationId xmlns:a16="http://schemas.microsoft.com/office/drawing/2014/main" id="{A85F50CC-01CF-9721-3BAD-BE7D0B56C2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8525" y="5214938"/>
            <a:ext cx="781685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1000"/>
                                        <p:tgtEl>
                                          <p:spTgt spid="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1000"/>
                                        <p:tgtEl>
                                          <p:spTgt spid="6"/>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101395"/>
                                        </p:tgtEl>
                                        <p:attrNameLst>
                                          <p:attrName>style.visibility</p:attrName>
                                        </p:attrNameLst>
                                      </p:cBhvr>
                                      <p:to>
                                        <p:strVal val="visible"/>
                                      </p:to>
                                    </p:set>
                                    <p:animEffect transition="in" filter="wipe(up)">
                                      <p:cBhvr>
                                        <p:cTn id="16" dur="1000"/>
                                        <p:tgtEl>
                                          <p:spTgt spid="101395"/>
                                        </p:tgtEl>
                                      </p:cBhvr>
                                    </p:animEffect>
                                  </p:childTnLst>
                                </p:cTn>
                              </p:par>
                            </p:childTnLst>
                          </p:cTn>
                        </p:par>
                        <p:par>
                          <p:cTn id="17" fill="hold" nodeType="afterGroup">
                            <p:stCondLst>
                              <p:cond delay="2000"/>
                            </p:stCondLst>
                            <p:childTnLst>
                              <p:par>
                                <p:cTn id="18" presetID="22" presetClass="entr" presetSubtype="4" fill="hold"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down)">
                                      <p:cBhvr>
                                        <p:cTn id="20" dur="1000"/>
                                        <p:tgtEl>
                                          <p:spTgt spid="9"/>
                                        </p:tgtEl>
                                      </p:cBhvr>
                                    </p:animEffect>
                                  </p:childTnLst>
                                </p:cTn>
                              </p:par>
                            </p:childTnLst>
                          </p:cTn>
                        </p:par>
                        <p:par>
                          <p:cTn id="21" fill="hold" nodeType="afterGroup">
                            <p:stCondLst>
                              <p:cond delay="3000"/>
                            </p:stCondLst>
                            <p:childTnLst>
                              <p:par>
                                <p:cTn id="22" presetID="22" presetClass="entr" presetSubtype="4"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down)">
                                      <p:cBhvr>
                                        <p:cTn id="24" dur="1000"/>
                                        <p:tgtEl>
                                          <p:spTgt spid="1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up)">
                                      <p:cBhvr>
                                        <p:cTn id="29" dur="1000"/>
                                        <p:tgtEl>
                                          <p:spTgt spid="11"/>
                                        </p:tgtEl>
                                      </p:cBhvr>
                                    </p:animEffect>
                                  </p:childTnLst>
                                </p:cTn>
                              </p:par>
                            </p:childTnLst>
                          </p:cTn>
                        </p:par>
                        <p:par>
                          <p:cTn id="30" fill="hold" nodeType="afterGroup">
                            <p:stCondLst>
                              <p:cond delay="1000"/>
                            </p:stCondLst>
                            <p:childTnLst>
                              <p:par>
                                <p:cTn id="31" presetID="22" presetClass="entr" presetSubtype="1" fill="hold"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up)">
                                      <p:cBhvr>
                                        <p:cTn id="33" dur="1000"/>
                                        <p:tgtEl>
                                          <p:spTgt spid="1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wipe(up)">
                                      <p:cBhvr>
                                        <p:cTn id="38" dur="1000"/>
                                        <p:tgtEl>
                                          <p:spTgt spid="13"/>
                                        </p:tgtEl>
                                      </p:cBhvr>
                                    </p:animEffect>
                                  </p:childTnLst>
                                </p:cTn>
                              </p:par>
                            </p:childTnLst>
                          </p:cTn>
                        </p:par>
                        <p:par>
                          <p:cTn id="39" fill="hold" nodeType="afterGroup">
                            <p:stCondLst>
                              <p:cond delay="1000"/>
                            </p:stCondLst>
                            <p:childTnLst>
                              <p:par>
                                <p:cTn id="40" presetID="22" presetClass="entr" presetSubtype="1" fill="hold" nodeType="after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up)">
                                      <p:cBhvr>
                                        <p:cTn id="42" dur="1000"/>
                                        <p:tgtEl>
                                          <p:spTgt spid="14"/>
                                        </p:tgtEl>
                                      </p:cBhvr>
                                    </p:animEffect>
                                  </p:childTnLst>
                                </p:cTn>
                              </p:par>
                            </p:childTnLst>
                          </p:cTn>
                        </p:par>
                        <p:par>
                          <p:cTn id="43" fill="hold" nodeType="afterGroup">
                            <p:stCondLst>
                              <p:cond delay="2000"/>
                            </p:stCondLst>
                            <p:childTnLst>
                              <p:par>
                                <p:cTn id="44" presetID="22" presetClass="entr" presetSubtype="1" fill="hold" nodeType="after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ipe(up)">
                                      <p:cBhvr>
                                        <p:cTn id="46" dur="1000"/>
                                        <p:tgtEl>
                                          <p:spTgt spid="18"/>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wipe(up)">
                                      <p:cBhvr>
                                        <p:cTn id="51" dur="1000"/>
                                        <p:tgtEl>
                                          <p:spTgt spid="16"/>
                                        </p:tgtEl>
                                      </p:cBhvr>
                                    </p:animEffect>
                                  </p:childTnLst>
                                </p:cTn>
                              </p:par>
                            </p:childTnLst>
                          </p:cTn>
                        </p:par>
                        <p:par>
                          <p:cTn id="52" fill="hold" nodeType="afterGroup">
                            <p:stCondLst>
                              <p:cond delay="1000"/>
                            </p:stCondLst>
                            <p:childTnLst>
                              <p:par>
                                <p:cTn id="53" presetID="22" presetClass="entr" presetSubtype="1" fill="hold" nodeType="afterEffect">
                                  <p:stCondLst>
                                    <p:cond delay="0"/>
                                  </p:stCondLst>
                                  <p:childTnLst>
                                    <p:set>
                                      <p:cBhvr>
                                        <p:cTn id="54" dur="1" fill="hold">
                                          <p:stCondLst>
                                            <p:cond delay="0"/>
                                          </p:stCondLst>
                                        </p:cTn>
                                        <p:tgtEl>
                                          <p:spTgt spid="101396"/>
                                        </p:tgtEl>
                                        <p:attrNameLst>
                                          <p:attrName>style.visibility</p:attrName>
                                        </p:attrNameLst>
                                      </p:cBhvr>
                                      <p:to>
                                        <p:strVal val="visible"/>
                                      </p:to>
                                    </p:set>
                                    <p:animEffect transition="in" filter="wipe(up)">
                                      <p:cBhvr>
                                        <p:cTn id="55" dur="1000"/>
                                        <p:tgtEl>
                                          <p:spTgt spid="101396"/>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1" fill="hold" nodeType="clickEffect">
                                  <p:stCondLst>
                                    <p:cond delay="0"/>
                                  </p:stCondLst>
                                  <p:childTnLst>
                                    <p:set>
                                      <p:cBhvr>
                                        <p:cTn id="59" dur="1" fill="hold">
                                          <p:stCondLst>
                                            <p:cond delay="0"/>
                                          </p:stCondLst>
                                        </p:cTn>
                                        <p:tgtEl>
                                          <p:spTgt spid="101397"/>
                                        </p:tgtEl>
                                        <p:attrNameLst>
                                          <p:attrName>style.visibility</p:attrName>
                                        </p:attrNameLst>
                                      </p:cBhvr>
                                      <p:to>
                                        <p:strVal val="visible"/>
                                      </p:to>
                                    </p:set>
                                    <p:animEffect transition="in" filter="wipe(up)">
                                      <p:cBhvr>
                                        <p:cTn id="60" dur="1000"/>
                                        <p:tgtEl>
                                          <p:spTgt spid="1013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P spid="14" grpId="0"/>
      <p:bldP spid="18" grpId="0"/>
      <p:bldP spid="1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F5F5BEF3-7B7D-0232-E239-8A983DB1CACA}"/>
              </a:ext>
            </a:extLst>
          </p:cNvPr>
          <p:cNvGraphicFramePr>
            <a:graphicFrameLocks noGrp="1"/>
          </p:cNvGraphicFramePr>
          <p:nvPr/>
        </p:nvGraphicFramePr>
        <p:xfrm>
          <a:off x="928688" y="2071688"/>
          <a:ext cx="4286250" cy="3870325"/>
        </p:xfrm>
        <a:graphic>
          <a:graphicData uri="http://schemas.openxmlformats.org/drawingml/2006/table">
            <a:tbl>
              <a:tblPr firstRow="1" bandRow="1">
                <a:tableStyleId>{ED083AE6-46FA-4A59-8FB0-9F97EB10719F}</a:tableStyleId>
              </a:tblPr>
              <a:tblGrid>
                <a:gridCol w="1162373">
                  <a:extLst>
                    <a:ext uri="{9D8B030D-6E8A-4147-A177-3AD203B41FA5}">
                      <a16:colId xmlns:a16="http://schemas.microsoft.com/office/drawing/2014/main" val="20000"/>
                    </a:ext>
                  </a:extLst>
                </a:gridCol>
                <a:gridCol w="1074961">
                  <a:extLst>
                    <a:ext uri="{9D8B030D-6E8A-4147-A177-3AD203B41FA5}">
                      <a16:colId xmlns:a16="http://schemas.microsoft.com/office/drawing/2014/main" val="20001"/>
                    </a:ext>
                  </a:extLst>
                </a:gridCol>
                <a:gridCol w="989132">
                  <a:extLst>
                    <a:ext uri="{9D8B030D-6E8A-4147-A177-3AD203B41FA5}">
                      <a16:colId xmlns:a16="http://schemas.microsoft.com/office/drawing/2014/main" val="20002"/>
                    </a:ext>
                  </a:extLst>
                </a:gridCol>
                <a:gridCol w="1059784">
                  <a:extLst>
                    <a:ext uri="{9D8B030D-6E8A-4147-A177-3AD203B41FA5}">
                      <a16:colId xmlns:a16="http://schemas.microsoft.com/office/drawing/2014/main" val="20003"/>
                    </a:ext>
                  </a:extLst>
                </a:gridCol>
              </a:tblGrid>
              <a:tr h="7009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dirty="0">
                          <a:ln>
                            <a:noFill/>
                          </a:ln>
                          <a:effectLst>
                            <a:outerShdw blurRad="38100" dist="38100" dir="2700000" algn="tl">
                              <a:srgbClr val="000000">
                                <a:alpha val="43137"/>
                              </a:srgbClr>
                            </a:outerShdw>
                          </a:effectLst>
                          <a:latin typeface="Arial" pitchFamily="34" charset="0"/>
                          <a:cs typeface="Arial" pitchFamily="34" charset="0"/>
                        </a:rPr>
                        <a:t>信息位</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u="none" strike="noStrike" cap="none" normalizeH="0" baseline="0" dirty="0">
                          <a:ln>
                            <a:noFill/>
                          </a:ln>
                          <a:effectLst/>
                          <a:latin typeface="Arial" pitchFamily="34" charset="0"/>
                          <a:cs typeface="Arial" pitchFamily="34" charset="0"/>
                        </a:rPr>
                        <a:t>a</a:t>
                      </a:r>
                      <a:r>
                        <a:rPr kumimoji="0" lang="en-US" altLang="zh-CN" sz="2000" u="none" strike="noStrike" cap="none" normalizeH="0" baseline="-30000" dirty="0">
                          <a:ln>
                            <a:noFill/>
                          </a:ln>
                          <a:effectLst/>
                          <a:latin typeface="Arial" pitchFamily="34" charset="0"/>
                          <a:cs typeface="Arial" pitchFamily="34" charset="0"/>
                        </a:rPr>
                        <a:t>6 </a:t>
                      </a:r>
                      <a:r>
                        <a:rPr kumimoji="0" lang="en-US" altLang="zh-CN" sz="2000" u="none" strike="noStrike" cap="none" normalizeH="0" baseline="0" dirty="0">
                          <a:ln>
                            <a:noFill/>
                          </a:ln>
                          <a:effectLst>
                            <a:outerShdw blurRad="38100" dist="38100" dir="2700000" algn="tl">
                              <a:srgbClr val="000000">
                                <a:alpha val="43137"/>
                              </a:srgbClr>
                            </a:outerShdw>
                          </a:effectLst>
                          <a:latin typeface="Arial" pitchFamily="34" charset="0"/>
                          <a:cs typeface="Arial" pitchFamily="34" charset="0"/>
                        </a:rPr>
                        <a:t>~</a:t>
                      </a:r>
                      <a:r>
                        <a:rPr kumimoji="0" lang="en-US" altLang="zh-CN" sz="2000" u="none" strike="noStrike" cap="none" normalizeH="0" baseline="-30000" dirty="0">
                          <a:ln>
                            <a:noFill/>
                          </a:ln>
                          <a:effectLst/>
                          <a:latin typeface="Arial" pitchFamily="34" charset="0"/>
                          <a:cs typeface="Arial" pitchFamily="34" charset="0"/>
                        </a:rPr>
                        <a:t> </a:t>
                      </a:r>
                      <a:r>
                        <a:rPr kumimoji="0" lang="en-US" altLang="zh-CN" sz="2000" u="none" strike="noStrike" cap="none" normalizeH="0" baseline="0" dirty="0">
                          <a:ln>
                            <a:noFill/>
                          </a:ln>
                          <a:effectLst/>
                          <a:latin typeface="Arial" pitchFamily="34" charset="0"/>
                          <a:cs typeface="Arial" pitchFamily="34" charset="0"/>
                        </a:rPr>
                        <a:t>a</a:t>
                      </a:r>
                      <a:r>
                        <a:rPr kumimoji="0" lang="en-US" altLang="zh-CN" sz="2000" u="none" strike="noStrike" cap="none" normalizeH="0" baseline="-30000" dirty="0">
                          <a:ln>
                            <a:noFill/>
                          </a:ln>
                          <a:effectLst/>
                          <a:latin typeface="Arial" pitchFamily="34" charset="0"/>
                          <a:cs typeface="Arial" pitchFamily="34" charset="0"/>
                        </a:rPr>
                        <a:t>3</a:t>
                      </a:r>
                      <a:endParaRPr kumimoji="0" lang="en-US" altLang="zh-CN" sz="2000" b="1" i="0" u="none" strike="noStrike" cap="none" normalizeH="0" baseline="0" dirty="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dirty="0">
                          <a:ln>
                            <a:noFill/>
                          </a:ln>
                          <a:solidFill>
                            <a:schemeClr val="tx1"/>
                          </a:solidFill>
                          <a:effectLst>
                            <a:outerShdw blurRad="38100" dist="38100" dir="2700000" algn="tl">
                              <a:srgbClr val="000000">
                                <a:alpha val="43137"/>
                              </a:srgbClr>
                            </a:outerShdw>
                          </a:effectLst>
                          <a:latin typeface="Arial" pitchFamily="34" charset="0"/>
                          <a:cs typeface="Arial" pitchFamily="34" charset="0"/>
                        </a:rPr>
                        <a:t>监督位</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u="none" strike="noStrike" cap="none" normalizeH="0" baseline="0" dirty="0">
                          <a:ln>
                            <a:noFill/>
                          </a:ln>
                          <a:solidFill>
                            <a:schemeClr val="tx1"/>
                          </a:solidFill>
                          <a:effectLst/>
                          <a:latin typeface="Arial" pitchFamily="34" charset="0"/>
                          <a:cs typeface="Arial" pitchFamily="34" charset="0"/>
                        </a:rPr>
                        <a:t>a</a:t>
                      </a:r>
                      <a:r>
                        <a:rPr kumimoji="0" lang="en-US" altLang="zh-CN" sz="2000" u="none" strike="noStrike" cap="none" normalizeH="0" baseline="-30000" dirty="0">
                          <a:ln>
                            <a:noFill/>
                          </a:ln>
                          <a:solidFill>
                            <a:schemeClr val="tx1"/>
                          </a:solidFill>
                          <a:effectLst/>
                          <a:latin typeface="Arial" pitchFamily="34" charset="0"/>
                          <a:cs typeface="Arial" pitchFamily="34" charset="0"/>
                        </a:rPr>
                        <a:t>2 </a:t>
                      </a:r>
                      <a:r>
                        <a:rPr kumimoji="0" lang="en-US" altLang="zh-CN" sz="2000" u="none" strike="noStrike" cap="none" normalizeH="0" baseline="0" dirty="0">
                          <a:ln>
                            <a:noFill/>
                          </a:ln>
                          <a:solidFill>
                            <a:schemeClr val="tx1"/>
                          </a:solidFill>
                          <a:effectLst/>
                          <a:latin typeface="Arial" pitchFamily="34" charset="0"/>
                          <a:cs typeface="Arial" pitchFamily="34" charset="0"/>
                        </a:rPr>
                        <a:t>a</a:t>
                      </a:r>
                      <a:r>
                        <a:rPr kumimoji="0" lang="en-US" altLang="zh-CN" sz="2000" u="none" strike="noStrike" cap="none" normalizeH="0" baseline="-30000" dirty="0">
                          <a:ln>
                            <a:noFill/>
                          </a:ln>
                          <a:solidFill>
                            <a:schemeClr val="tx1"/>
                          </a:solidFill>
                          <a:effectLst/>
                          <a:latin typeface="Arial" pitchFamily="34" charset="0"/>
                          <a:cs typeface="Arial" pitchFamily="34" charset="0"/>
                        </a:rPr>
                        <a:t>1 </a:t>
                      </a:r>
                      <a:r>
                        <a:rPr kumimoji="0" lang="en-US" altLang="zh-CN" sz="2000" u="none" strike="noStrike" cap="none" normalizeH="0" baseline="0" dirty="0">
                          <a:ln>
                            <a:noFill/>
                          </a:ln>
                          <a:solidFill>
                            <a:schemeClr val="tx1"/>
                          </a:solidFill>
                          <a:effectLst/>
                          <a:latin typeface="Arial" pitchFamily="34" charset="0"/>
                          <a:cs typeface="Arial" pitchFamily="34" charset="0"/>
                        </a:rPr>
                        <a:t>a</a:t>
                      </a:r>
                      <a:r>
                        <a:rPr kumimoji="0" lang="en-US" altLang="zh-CN" sz="2000" u="none" strike="noStrike" cap="none" normalizeH="0" baseline="-30000" dirty="0">
                          <a:ln>
                            <a:noFill/>
                          </a:ln>
                          <a:solidFill>
                            <a:schemeClr val="tx1"/>
                          </a:solidFill>
                          <a:effectLst/>
                          <a:latin typeface="Arial" pitchFamily="34" charset="0"/>
                          <a:cs typeface="Arial" pitchFamily="34" charset="0"/>
                        </a:rPr>
                        <a:t>0</a:t>
                      </a:r>
                      <a:endParaRPr kumimoji="0" lang="en-US" altLang="zh-CN" sz="2000" b="1" i="0" u="none" strike="noStrike" cap="none" normalizeH="0" baseline="0" dirty="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u="none" strike="noStrike" cap="none" normalizeH="0" baseline="0" dirty="0">
                          <a:ln>
                            <a:noFill/>
                          </a:ln>
                          <a:solidFill>
                            <a:schemeClr val="tx1"/>
                          </a:solidFill>
                          <a:effectLst>
                            <a:outerShdw blurRad="38100" dist="38100" dir="2700000" algn="tl">
                              <a:srgbClr val="000000">
                                <a:alpha val="43137"/>
                              </a:srgbClr>
                            </a:outerShdw>
                          </a:effectLst>
                          <a:latin typeface="Arial" pitchFamily="34" charset="0"/>
                          <a:cs typeface="Arial" pitchFamily="34" charset="0"/>
                        </a:rPr>
                        <a:t>信息位</a:t>
                      </a:r>
                      <a:endParaRPr kumimoji="0" lang="en-US" altLang="zh-CN" sz="2000" u="none" strike="noStrike" cap="none" normalizeH="0" baseline="0" dirty="0">
                        <a:ln>
                          <a:noFill/>
                        </a:ln>
                        <a:solidFill>
                          <a:schemeClr val="tx1"/>
                        </a:solidFill>
                        <a:effectLst>
                          <a:outerShdw blurRad="38100" dist="38100" dir="2700000" algn="tl">
                            <a:srgbClr val="000000">
                              <a:alpha val="43137"/>
                            </a:srgbClr>
                          </a:outerShdw>
                        </a:effectLst>
                        <a:latin typeface="Arial" pitchFamily="34" charset="0"/>
                        <a:cs typeface="Arial"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u="none" strike="noStrike" cap="none" normalizeH="0" baseline="0" dirty="0">
                          <a:ln>
                            <a:noFill/>
                          </a:ln>
                          <a:solidFill>
                            <a:schemeClr val="tx1"/>
                          </a:solidFill>
                          <a:effectLst/>
                          <a:latin typeface="Arial" pitchFamily="34" charset="0"/>
                          <a:cs typeface="Arial" pitchFamily="34" charset="0"/>
                        </a:rPr>
                        <a:t>a</a:t>
                      </a:r>
                      <a:r>
                        <a:rPr kumimoji="0" lang="en-US" altLang="zh-CN" sz="2000" u="none" strike="noStrike" cap="none" normalizeH="0" baseline="-30000" dirty="0">
                          <a:ln>
                            <a:noFill/>
                          </a:ln>
                          <a:solidFill>
                            <a:schemeClr val="tx1"/>
                          </a:solidFill>
                          <a:effectLst/>
                          <a:latin typeface="Arial" pitchFamily="34" charset="0"/>
                          <a:cs typeface="Arial" pitchFamily="34" charset="0"/>
                        </a:rPr>
                        <a:t>6 </a:t>
                      </a:r>
                      <a:r>
                        <a:rPr kumimoji="0" lang="en-US" altLang="zh-CN" sz="2000" u="none" strike="noStrike" cap="none" normalizeH="0" baseline="0" dirty="0">
                          <a:ln>
                            <a:noFill/>
                          </a:ln>
                          <a:solidFill>
                            <a:schemeClr val="tx1"/>
                          </a:solidFill>
                          <a:effectLst>
                            <a:outerShdw blurRad="38100" dist="38100" dir="2700000" algn="tl">
                              <a:srgbClr val="000000">
                                <a:alpha val="43137"/>
                              </a:srgbClr>
                            </a:outerShdw>
                          </a:effectLst>
                          <a:latin typeface="Arial" pitchFamily="34" charset="0"/>
                          <a:cs typeface="Arial" pitchFamily="34" charset="0"/>
                        </a:rPr>
                        <a:t>~</a:t>
                      </a:r>
                      <a:r>
                        <a:rPr kumimoji="0" lang="en-US" altLang="zh-CN" sz="2000" u="none" strike="noStrike" cap="none" normalizeH="0" baseline="-30000" dirty="0">
                          <a:ln>
                            <a:noFill/>
                          </a:ln>
                          <a:solidFill>
                            <a:schemeClr val="tx1"/>
                          </a:solidFill>
                          <a:effectLst/>
                          <a:latin typeface="Arial" pitchFamily="34" charset="0"/>
                          <a:cs typeface="Arial" pitchFamily="34" charset="0"/>
                        </a:rPr>
                        <a:t> </a:t>
                      </a:r>
                      <a:r>
                        <a:rPr kumimoji="0" lang="en-US" altLang="zh-CN" sz="2000" u="none" strike="noStrike" cap="none" normalizeH="0" baseline="0" dirty="0">
                          <a:ln>
                            <a:noFill/>
                          </a:ln>
                          <a:solidFill>
                            <a:schemeClr val="tx1"/>
                          </a:solidFill>
                          <a:effectLst/>
                          <a:latin typeface="Arial" pitchFamily="34" charset="0"/>
                          <a:cs typeface="Arial" pitchFamily="34" charset="0"/>
                        </a:rPr>
                        <a:t>a</a:t>
                      </a:r>
                      <a:r>
                        <a:rPr kumimoji="0" lang="en-US" altLang="zh-CN" sz="2000" u="none" strike="noStrike" cap="none" normalizeH="0" baseline="-30000" dirty="0">
                          <a:ln>
                            <a:noFill/>
                          </a:ln>
                          <a:solidFill>
                            <a:schemeClr val="tx1"/>
                          </a:solidFill>
                          <a:effectLst/>
                          <a:latin typeface="Arial" pitchFamily="34" charset="0"/>
                          <a:cs typeface="Arial" pitchFamily="34" charset="0"/>
                        </a:rPr>
                        <a:t>3</a:t>
                      </a:r>
                      <a:endParaRPr kumimoji="0" lang="en-US" altLang="zh-CN" sz="2000" u="none" strike="noStrike" cap="none" normalizeH="0" baseline="0" dirty="0">
                        <a:ln>
                          <a:noFill/>
                        </a:ln>
                        <a:solidFill>
                          <a:schemeClr val="tx1"/>
                        </a:solidFill>
                        <a:effectLst>
                          <a:outerShdw blurRad="38100" dist="38100" dir="2700000" algn="tl">
                            <a:srgbClr val="000000">
                              <a:alpha val="43137"/>
                            </a:srgbClr>
                          </a:outerShdw>
                        </a:effectLst>
                        <a:latin typeface="Arial" pitchFamily="34" charset="0"/>
                        <a:cs typeface="Arial" pitchFamily="34" charset="0"/>
                      </a:endParaRPr>
                    </a:p>
                  </a:txBody>
                  <a:tcPr marL="91439" marR="91439" marT="45713" marB="45713"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dirty="0">
                          <a:ln>
                            <a:noFill/>
                          </a:ln>
                          <a:solidFill>
                            <a:schemeClr val="tx1"/>
                          </a:solidFill>
                          <a:effectLst>
                            <a:outerShdw blurRad="38100" dist="38100" dir="2700000" algn="tl">
                              <a:srgbClr val="000000">
                                <a:alpha val="43137"/>
                              </a:srgbClr>
                            </a:outerShdw>
                          </a:effectLst>
                          <a:latin typeface="Arial" pitchFamily="34" charset="0"/>
                          <a:cs typeface="Arial" pitchFamily="34" charset="0"/>
                        </a:rPr>
                        <a:t>监督位</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u="none" strike="noStrike" cap="none" normalizeH="0" baseline="0" dirty="0">
                          <a:ln>
                            <a:noFill/>
                          </a:ln>
                          <a:solidFill>
                            <a:schemeClr val="tx1"/>
                          </a:solidFill>
                          <a:effectLst/>
                          <a:latin typeface="Arial" pitchFamily="34" charset="0"/>
                          <a:cs typeface="Arial" pitchFamily="34" charset="0"/>
                        </a:rPr>
                        <a:t>a</a:t>
                      </a:r>
                      <a:r>
                        <a:rPr kumimoji="0" lang="en-US" altLang="zh-CN" sz="2000" u="none" strike="noStrike" cap="none" normalizeH="0" baseline="-30000" dirty="0">
                          <a:ln>
                            <a:noFill/>
                          </a:ln>
                          <a:solidFill>
                            <a:schemeClr val="tx1"/>
                          </a:solidFill>
                          <a:effectLst/>
                          <a:latin typeface="Arial" pitchFamily="34" charset="0"/>
                          <a:cs typeface="Arial" pitchFamily="34" charset="0"/>
                        </a:rPr>
                        <a:t>2 </a:t>
                      </a:r>
                      <a:r>
                        <a:rPr kumimoji="0" lang="en-US" altLang="zh-CN" sz="2000" u="none" strike="noStrike" cap="none" normalizeH="0" baseline="0" dirty="0">
                          <a:ln>
                            <a:noFill/>
                          </a:ln>
                          <a:solidFill>
                            <a:schemeClr val="tx1"/>
                          </a:solidFill>
                          <a:effectLst/>
                          <a:latin typeface="Arial" pitchFamily="34" charset="0"/>
                          <a:cs typeface="Arial" pitchFamily="34" charset="0"/>
                        </a:rPr>
                        <a:t>a</a:t>
                      </a:r>
                      <a:r>
                        <a:rPr kumimoji="0" lang="en-US" altLang="zh-CN" sz="2000" u="none" strike="noStrike" cap="none" normalizeH="0" baseline="-30000" dirty="0">
                          <a:ln>
                            <a:noFill/>
                          </a:ln>
                          <a:solidFill>
                            <a:schemeClr val="tx1"/>
                          </a:solidFill>
                          <a:effectLst/>
                          <a:latin typeface="Arial" pitchFamily="34" charset="0"/>
                          <a:cs typeface="Arial" pitchFamily="34" charset="0"/>
                        </a:rPr>
                        <a:t>1 </a:t>
                      </a:r>
                      <a:r>
                        <a:rPr kumimoji="0" lang="en-US" altLang="zh-CN" sz="2000" u="none" strike="noStrike" cap="none" normalizeH="0" baseline="0" dirty="0">
                          <a:ln>
                            <a:noFill/>
                          </a:ln>
                          <a:solidFill>
                            <a:schemeClr val="tx1"/>
                          </a:solidFill>
                          <a:effectLst/>
                          <a:latin typeface="Arial" pitchFamily="34" charset="0"/>
                          <a:cs typeface="Arial" pitchFamily="34" charset="0"/>
                        </a:rPr>
                        <a:t>a</a:t>
                      </a:r>
                      <a:r>
                        <a:rPr kumimoji="0" lang="en-US" altLang="zh-CN" sz="2000" u="none" strike="noStrike" cap="none" normalizeH="0" baseline="-30000" dirty="0">
                          <a:ln>
                            <a:noFill/>
                          </a:ln>
                          <a:solidFill>
                            <a:schemeClr val="tx1"/>
                          </a:solidFill>
                          <a:effectLst/>
                          <a:latin typeface="Arial" pitchFamily="34" charset="0"/>
                          <a:cs typeface="Arial" pitchFamily="34" charset="0"/>
                        </a:rPr>
                        <a:t>0</a:t>
                      </a:r>
                      <a:endParaRPr kumimoji="0" lang="en-US" altLang="zh-CN" sz="2000" b="1" i="0" u="none" strike="noStrike" cap="none" normalizeH="0" baseline="0" dirty="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extLst>
                  <a:ext uri="{0D108BD9-81ED-4DB2-BD59-A6C34878D82A}">
                    <a16:rowId xmlns:a16="http://schemas.microsoft.com/office/drawing/2014/main" val="10000"/>
                  </a:ext>
                </a:extLst>
              </a:tr>
              <a:tr h="3961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a:ln>
                            <a:noFill/>
                          </a:ln>
                          <a:solidFill>
                            <a:srgbClr val="0000CC"/>
                          </a:solidFill>
                          <a:effectLst/>
                          <a:latin typeface="Arial" pitchFamily="34" charset="0"/>
                          <a:cs typeface="Arial" pitchFamily="34" charset="0"/>
                        </a:rPr>
                        <a:t>0000</a:t>
                      </a:r>
                      <a:endParaRPr kumimoji="0" lang="en-US" altLang="zh-CN" sz="2000" b="1" i="0" u="none" strike="noStrike" cap="none" normalizeH="0" baseline="0">
                        <a:ln>
                          <a:noFill/>
                        </a:ln>
                        <a:solidFill>
                          <a:srgbClr val="0000CC"/>
                        </a:solidFill>
                        <a:effectLst/>
                        <a:latin typeface="Arial" pitchFamily="34" charset="0"/>
                        <a:ea typeface="微软雅黑" pitchFamily="34" charset="-122"/>
                        <a:cs typeface="Arial" pitchFamily="34" charset="0"/>
                      </a:endParaRPr>
                    </a:p>
                  </a:txBody>
                  <a:tcPr marL="91439" marR="91439" marT="45713" marB="45713"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dirty="0">
                          <a:ln>
                            <a:noFill/>
                          </a:ln>
                          <a:solidFill>
                            <a:srgbClr val="0000CC"/>
                          </a:solidFill>
                          <a:effectLst/>
                          <a:latin typeface="Arial" pitchFamily="34" charset="0"/>
                          <a:cs typeface="Arial" pitchFamily="34" charset="0"/>
                        </a:rPr>
                        <a:t>000</a:t>
                      </a:r>
                      <a:endParaRPr kumimoji="0" lang="en-US" altLang="zh-CN" sz="2000" b="1" i="0" u="none" strike="noStrike" cap="none" normalizeH="0" baseline="0" dirty="0">
                        <a:ln>
                          <a:noFill/>
                        </a:ln>
                        <a:solidFill>
                          <a:srgbClr val="0000CC"/>
                        </a:solidFill>
                        <a:effectLst/>
                        <a:latin typeface="Arial" pitchFamily="34" charset="0"/>
                        <a:ea typeface="微软雅黑" pitchFamily="34" charset="-122"/>
                        <a:cs typeface="Arial" pitchFamily="34" charset="0"/>
                      </a:endParaRPr>
                    </a:p>
                  </a:txBody>
                  <a:tcPr marL="91439" marR="91439" marT="45713" marB="45713"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a:ln>
                            <a:noFill/>
                          </a:ln>
                          <a:effectLst/>
                          <a:latin typeface="Arial" pitchFamily="34" charset="0"/>
                          <a:cs typeface="Arial" pitchFamily="34" charset="0"/>
                        </a:rPr>
                        <a:t>1000</a:t>
                      </a:r>
                      <a:endParaRPr kumimoji="0" lang="en-US" altLang="zh-CN" sz="2000" b="1" i="0" u="none" strike="noStrike" cap="none" normalizeH="0" baseline="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a:ln>
                            <a:noFill/>
                          </a:ln>
                          <a:effectLst/>
                          <a:latin typeface="Arial" pitchFamily="34" charset="0"/>
                          <a:cs typeface="Arial" pitchFamily="34" charset="0"/>
                        </a:rPr>
                        <a:t>111</a:t>
                      </a:r>
                      <a:endParaRPr kumimoji="0" lang="en-US" altLang="zh-CN" sz="2000" b="1" i="0" u="none" strike="noStrike" cap="none" normalizeH="0" baseline="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extLst>
                  <a:ext uri="{0D108BD9-81ED-4DB2-BD59-A6C34878D82A}">
                    <a16:rowId xmlns:a16="http://schemas.microsoft.com/office/drawing/2014/main" val="10001"/>
                  </a:ext>
                </a:extLst>
              </a:tr>
              <a:tr h="3961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dirty="0">
                          <a:ln>
                            <a:noFill/>
                          </a:ln>
                          <a:effectLst/>
                          <a:latin typeface="Arial" pitchFamily="34" charset="0"/>
                          <a:cs typeface="Arial" pitchFamily="34" charset="0"/>
                        </a:rPr>
                        <a:t>0001</a:t>
                      </a:r>
                      <a:endParaRPr kumimoji="0" lang="en-US" altLang="zh-CN" sz="2000" b="1" i="0" u="none" strike="noStrike" cap="none" normalizeH="0" baseline="0" dirty="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dirty="0">
                          <a:ln>
                            <a:noFill/>
                          </a:ln>
                          <a:effectLst/>
                          <a:latin typeface="Arial" pitchFamily="34" charset="0"/>
                          <a:cs typeface="Arial" pitchFamily="34" charset="0"/>
                        </a:rPr>
                        <a:t>011</a:t>
                      </a:r>
                      <a:endParaRPr kumimoji="0" lang="en-US" altLang="zh-CN" sz="2000" b="1" i="0" u="none" strike="noStrike" cap="none" normalizeH="0" baseline="0" dirty="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dirty="0">
                          <a:ln>
                            <a:noFill/>
                          </a:ln>
                          <a:effectLst/>
                          <a:latin typeface="Arial" pitchFamily="34" charset="0"/>
                          <a:cs typeface="Arial" pitchFamily="34" charset="0"/>
                        </a:rPr>
                        <a:t>1001</a:t>
                      </a:r>
                      <a:endParaRPr kumimoji="0" lang="en-US" altLang="zh-CN" sz="2000" b="1" i="0" u="none" strike="noStrike" cap="none" normalizeH="0" baseline="0" dirty="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a:ln>
                            <a:noFill/>
                          </a:ln>
                          <a:effectLst/>
                          <a:latin typeface="Arial" pitchFamily="34" charset="0"/>
                          <a:cs typeface="Arial" pitchFamily="34" charset="0"/>
                        </a:rPr>
                        <a:t>100</a:t>
                      </a:r>
                      <a:endParaRPr kumimoji="0" lang="en-US" altLang="zh-CN" sz="2000" b="1" i="0" u="none" strike="noStrike" cap="none" normalizeH="0" baseline="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extLst>
                  <a:ext uri="{0D108BD9-81ED-4DB2-BD59-A6C34878D82A}">
                    <a16:rowId xmlns:a16="http://schemas.microsoft.com/office/drawing/2014/main" val="10002"/>
                  </a:ext>
                </a:extLst>
              </a:tr>
              <a:tr h="3961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dirty="0">
                          <a:ln>
                            <a:noFill/>
                          </a:ln>
                          <a:effectLst/>
                          <a:latin typeface="Arial" pitchFamily="34" charset="0"/>
                          <a:cs typeface="Arial" pitchFamily="34" charset="0"/>
                        </a:rPr>
                        <a:t>0010</a:t>
                      </a:r>
                      <a:endParaRPr kumimoji="0" lang="en-US" altLang="zh-CN" sz="2000" b="1" i="0" u="none" strike="noStrike" cap="none" normalizeH="0" baseline="0" dirty="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dirty="0">
                          <a:ln>
                            <a:noFill/>
                          </a:ln>
                          <a:effectLst/>
                          <a:latin typeface="Arial" pitchFamily="34" charset="0"/>
                          <a:cs typeface="Arial" pitchFamily="34" charset="0"/>
                        </a:rPr>
                        <a:t>101</a:t>
                      </a:r>
                      <a:endParaRPr kumimoji="0" lang="en-US" altLang="zh-CN" sz="2000" b="1" i="0" u="none" strike="noStrike" cap="none" normalizeH="0" baseline="0" dirty="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dirty="0">
                          <a:ln>
                            <a:noFill/>
                          </a:ln>
                          <a:effectLst/>
                          <a:latin typeface="Arial" pitchFamily="34" charset="0"/>
                          <a:cs typeface="Arial" pitchFamily="34" charset="0"/>
                        </a:rPr>
                        <a:t>1010</a:t>
                      </a:r>
                      <a:endParaRPr kumimoji="0" lang="en-US" altLang="zh-CN" sz="2000" b="1" i="0" u="none" strike="noStrike" cap="none" normalizeH="0" baseline="0" dirty="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a:ln>
                            <a:noFill/>
                          </a:ln>
                          <a:effectLst/>
                          <a:latin typeface="Arial" pitchFamily="34" charset="0"/>
                          <a:cs typeface="Arial" pitchFamily="34" charset="0"/>
                        </a:rPr>
                        <a:t>010</a:t>
                      </a:r>
                      <a:endParaRPr kumimoji="0" lang="en-US" altLang="zh-CN" sz="2000" b="1" i="0" u="none" strike="noStrike" cap="none" normalizeH="0" baseline="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extLst>
                  <a:ext uri="{0D108BD9-81ED-4DB2-BD59-A6C34878D82A}">
                    <a16:rowId xmlns:a16="http://schemas.microsoft.com/office/drawing/2014/main" val="10003"/>
                  </a:ext>
                </a:extLst>
              </a:tr>
              <a:tr h="3961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a:ln>
                            <a:noFill/>
                          </a:ln>
                          <a:effectLst/>
                          <a:latin typeface="Arial" pitchFamily="34" charset="0"/>
                          <a:cs typeface="Arial" pitchFamily="34" charset="0"/>
                        </a:rPr>
                        <a:t>0011</a:t>
                      </a:r>
                      <a:endParaRPr kumimoji="0" lang="en-US" altLang="zh-CN" sz="2000" b="1" i="0" u="none" strike="noStrike" cap="none" normalizeH="0" baseline="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dirty="0">
                          <a:ln>
                            <a:noFill/>
                          </a:ln>
                          <a:effectLst/>
                          <a:latin typeface="Arial" pitchFamily="34" charset="0"/>
                          <a:cs typeface="Arial" pitchFamily="34" charset="0"/>
                        </a:rPr>
                        <a:t>110</a:t>
                      </a:r>
                      <a:endParaRPr kumimoji="0" lang="en-US" altLang="zh-CN" sz="2000" b="1" i="0" u="none" strike="noStrike" cap="none" normalizeH="0" baseline="0" dirty="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dirty="0">
                          <a:ln>
                            <a:noFill/>
                          </a:ln>
                          <a:effectLst/>
                          <a:latin typeface="Arial" pitchFamily="34" charset="0"/>
                          <a:cs typeface="Arial" pitchFamily="34" charset="0"/>
                        </a:rPr>
                        <a:t>1011</a:t>
                      </a:r>
                      <a:endParaRPr kumimoji="0" lang="en-US" altLang="zh-CN" sz="2000" b="1" i="0" u="none" strike="noStrike" cap="none" normalizeH="0" baseline="0" dirty="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dirty="0">
                          <a:ln>
                            <a:noFill/>
                          </a:ln>
                          <a:effectLst/>
                          <a:latin typeface="Arial" pitchFamily="34" charset="0"/>
                          <a:cs typeface="Arial" pitchFamily="34" charset="0"/>
                        </a:rPr>
                        <a:t>001</a:t>
                      </a:r>
                      <a:endParaRPr kumimoji="0" lang="en-US" altLang="zh-CN" sz="2000" b="1" i="0" u="none" strike="noStrike" cap="none" normalizeH="0" baseline="0" dirty="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extLst>
                  <a:ext uri="{0D108BD9-81ED-4DB2-BD59-A6C34878D82A}">
                    <a16:rowId xmlns:a16="http://schemas.microsoft.com/office/drawing/2014/main" val="10004"/>
                  </a:ext>
                </a:extLst>
              </a:tr>
              <a:tr h="3961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a:ln>
                            <a:noFill/>
                          </a:ln>
                          <a:effectLst/>
                          <a:latin typeface="Arial" pitchFamily="34" charset="0"/>
                          <a:cs typeface="Arial" pitchFamily="34" charset="0"/>
                        </a:rPr>
                        <a:t>0100</a:t>
                      </a:r>
                      <a:endParaRPr kumimoji="0" lang="en-US" altLang="zh-CN" sz="2000" b="1" i="0" u="none" strike="noStrike" cap="none" normalizeH="0" baseline="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a:ln>
                            <a:noFill/>
                          </a:ln>
                          <a:effectLst/>
                          <a:latin typeface="Arial" pitchFamily="34" charset="0"/>
                          <a:cs typeface="Arial" pitchFamily="34" charset="0"/>
                        </a:rPr>
                        <a:t>110</a:t>
                      </a:r>
                      <a:endParaRPr kumimoji="0" lang="en-US" altLang="zh-CN" sz="2000" b="1" i="0" u="none" strike="noStrike" cap="none" normalizeH="0" baseline="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dirty="0">
                          <a:ln>
                            <a:noFill/>
                          </a:ln>
                          <a:effectLst/>
                          <a:latin typeface="Arial" pitchFamily="34" charset="0"/>
                          <a:cs typeface="Arial" pitchFamily="34" charset="0"/>
                        </a:rPr>
                        <a:t>1100</a:t>
                      </a:r>
                      <a:endParaRPr kumimoji="0" lang="en-US" altLang="zh-CN" sz="2000" b="1" i="0" u="none" strike="noStrike" cap="none" normalizeH="0" baseline="0" dirty="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dirty="0">
                          <a:ln>
                            <a:noFill/>
                          </a:ln>
                          <a:effectLst/>
                          <a:latin typeface="Arial" pitchFamily="34" charset="0"/>
                          <a:cs typeface="Arial" pitchFamily="34" charset="0"/>
                        </a:rPr>
                        <a:t>001</a:t>
                      </a:r>
                      <a:endParaRPr kumimoji="0" lang="en-US" altLang="zh-CN" sz="2000" b="1" i="0" u="none" strike="noStrike" cap="none" normalizeH="0" baseline="0" dirty="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extLst>
                  <a:ext uri="{0D108BD9-81ED-4DB2-BD59-A6C34878D82A}">
                    <a16:rowId xmlns:a16="http://schemas.microsoft.com/office/drawing/2014/main" val="10005"/>
                  </a:ext>
                </a:extLst>
              </a:tr>
              <a:tr h="3961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a:ln>
                            <a:noFill/>
                          </a:ln>
                          <a:effectLst/>
                          <a:latin typeface="Arial" pitchFamily="34" charset="0"/>
                          <a:cs typeface="Arial" pitchFamily="34" charset="0"/>
                        </a:rPr>
                        <a:t>0101</a:t>
                      </a:r>
                      <a:endParaRPr kumimoji="0" lang="en-US" altLang="zh-CN" sz="2000" b="1" i="0" u="none" strike="noStrike" cap="none" normalizeH="0" baseline="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a:ln>
                            <a:noFill/>
                          </a:ln>
                          <a:effectLst/>
                          <a:latin typeface="Arial" pitchFamily="34" charset="0"/>
                          <a:cs typeface="Arial" pitchFamily="34" charset="0"/>
                        </a:rPr>
                        <a:t>101</a:t>
                      </a:r>
                      <a:endParaRPr kumimoji="0" lang="en-US" altLang="zh-CN" sz="2000" b="1" i="0" u="none" strike="noStrike" cap="none" normalizeH="0" baseline="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a:ln>
                            <a:noFill/>
                          </a:ln>
                          <a:effectLst/>
                          <a:latin typeface="Arial" pitchFamily="34" charset="0"/>
                          <a:cs typeface="Arial" pitchFamily="34" charset="0"/>
                        </a:rPr>
                        <a:t>1101</a:t>
                      </a:r>
                      <a:endParaRPr kumimoji="0" lang="en-US" altLang="zh-CN" sz="2000" b="1" i="0" u="none" strike="noStrike" cap="none" normalizeH="0" baseline="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dirty="0">
                          <a:ln>
                            <a:noFill/>
                          </a:ln>
                          <a:effectLst/>
                          <a:latin typeface="Arial" pitchFamily="34" charset="0"/>
                          <a:cs typeface="Arial" pitchFamily="34" charset="0"/>
                        </a:rPr>
                        <a:t>010</a:t>
                      </a:r>
                      <a:endParaRPr kumimoji="0" lang="en-US" altLang="zh-CN" sz="2000" b="1" i="0" u="none" strike="noStrike" cap="none" normalizeH="0" baseline="0" dirty="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extLst>
                  <a:ext uri="{0D108BD9-81ED-4DB2-BD59-A6C34878D82A}">
                    <a16:rowId xmlns:a16="http://schemas.microsoft.com/office/drawing/2014/main" val="10006"/>
                  </a:ext>
                </a:extLst>
              </a:tr>
              <a:tr h="3961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a:ln>
                            <a:noFill/>
                          </a:ln>
                          <a:effectLst/>
                          <a:latin typeface="Arial" pitchFamily="34" charset="0"/>
                          <a:cs typeface="Arial" pitchFamily="34" charset="0"/>
                        </a:rPr>
                        <a:t>0110</a:t>
                      </a:r>
                      <a:endParaRPr kumimoji="0" lang="en-US" altLang="zh-CN" sz="2000" b="1" i="0" u="none" strike="noStrike" cap="none" normalizeH="0" baseline="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a:ln>
                            <a:noFill/>
                          </a:ln>
                          <a:effectLst/>
                          <a:latin typeface="Arial" pitchFamily="34" charset="0"/>
                          <a:cs typeface="Arial" pitchFamily="34" charset="0"/>
                        </a:rPr>
                        <a:t>011</a:t>
                      </a:r>
                      <a:endParaRPr kumimoji="0" lang="en-US" altLang="zh-CN" sz="2000" b="1" i="0" u="none" strike="noStrike" cap="none" normalizeH="0" baseline="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a:ln>
                            <a:noFill/>
                          </a:ln>
                          <a:effectLst/>
                          <a:latin typeface="Arial" pitchFamily="34" charset="0"/>
                          <a:cs typeface="Arial" pitchFamily="34" charset="0"/>
                        </a:rPr>
                        <a:t>1110</a:t>
                      </a:r>
                      <a:endParaRPr kumimoji="0" lang="en-US" altLang="zh-CN" sz="2000" b="1" i="0" u="none" strike="noStrike" cap="none" normalizeH="0" baseline="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dirty="0">
                          <a:ln>
                            <a:noFill/>
                          </a:ln>
                          <a:effectLst/>
                          <a:latin typeface="Arial" pitchFamily="34" charset="0"/>
                          <a:cs typeface="Arial" pitchFamily="34" charset="0"/>
                        </a:rPr>
                        <a:t>100</a:t>
                      </a:r>
                      <a:endParaRPr kumimoji="0" lang="en-US" altLang="zh-CN" sz="2000" b="1" i="0" u="none" strike="noStrike" cap="none" normalizeH="0" baseline="0" dirty="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extLst>
                  <a:ext uri="{0D108BD9-81ED-4DB2-BD59-A6C34878D82A}">
                    <a16:rowId xmlns:a16="http://schemas.microsoft.com/office/drawing/2014/main" val="10007"/>
                  </a:ext>
                </a:extLst>
              </a:tr>
              <a:tr h="3961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dirty="0">
                          <a:ln>
                            <a:noFill/>
                          </a:ln>
                          <a:effectLst/>
                          <a:latin typeface="Arial" pitchFamily="34" charset="0"/>
                          <a:cs typeface="Arial" pitchFamily="34" charset="0"/>
                        </a:rPr>
                        <a:t>0111</a:t>
                      </a:r>
                      <a:endParaRPr kumimoji="0" lang="en-US" altLang="zh-CN" sz="2000" b="1" i="0" u="none" strike="noStrike" cap="none" normalizeH="0" baseline="0" dirty="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dirty="0">
                          <a:ln>
                            <a:noFill/>
                          </a:ln>
                          <a:effectLst/>
                          <a:latin typeface="Arial" pitchFamily="34" charset="0"/>
                          <a:cs typeface="Arial" pitchFamily="34" charset="0"/>
                        </a:rPr>
                        <a:t>000</a:t>
                      </a:r>
                      <a:endParaRPr kumimoji="0" lang="en-US" altLang="zh-CN" sz="2000" b="1" i="0" u="none" strike="noStrike" cap="none" normalizeH="0" baseline="0" dirty="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dirty="0">
                          <a:ln>
                            <a:noFill/>
                          </a:ln>
                          <a:effectLst/>
                          <a:latin typeface="Arial" pitchFamily="34" charset="0"/>
                          <a:cs typeface="Arial" pitchFamily="34" charset="0"/>
                        </a:rPr>
                        <a:t>1111</a:t>
                      </a:r>
                      <a:endParaRPr kumimoji="0" lang="en-US" altLang="zh-CN" sz="2000" b="1" i="0" u="none" strike="noStrike" cap="none" normalizeH="0" baseline="0" dirty="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dirty="0">
                          <a:ln>
                            <a:noFill/>
                          </a:ln>
                          <a:effectLst/>
                          <a:latin typeface="Arial" pitchFamily="34" charset="0"/>
                          <a:cs typeface="Arial" pitchFamily="34" charset="0"/>
                        </a:rPr>
                        <a:t>111</a:t>
                      </a:r>
                      <a:endParaRPr kumimoji="0" lang="en-US" altLang="zh-CN" sz="2000" b="1" i="0" u="none" strike="noStrike" cap="none" normalizeH="0" baseline="0" dirty="0">
                        <a:ln>
                          <a:noFill/>
                        </a:ln>
                        <a:solidFill>
                          <a:schemeClr val="tx1"/>
                        </a:solidFill>
                        <a:effectLst/>
                        <a:latin typeface="Arial" pitchFamily="34" charset="0"/>
                        <a:ea typeface="微软雅黑" pitchFamily="34" charset="-122"/>
                        <a:cs typeface="Arial" pitchFamily="34" charset="0"/>
                      </a:endParaRPr>
                    </a:p>
                  </a:txBody>
                  <a:tcPr marL="91439" marR="91439" marT="45713" marB="45713" horzOverflow="overflow"/>
                </a:tc>
                <a:extLst>
                  <a:ext uri="{0D108BD9-81ED-4DB2-BD59-A6C34878D82A}">
                    <a16:rowId xmlns:a16="http://schemas.microsoft.com/office/drawing/2014/main" val="10008"/>
                  </a:ext>
                </a:extLst>
              </a:tr>
            </a:tbl>
          </a:graphicData>
        </a:graphic>
      </p:graphicFrame>
      <p:sp>
        <p:nvSpPr>
          <p:cNvPr id="5" name="矩形 4">
            <a:extLst>
              <a:ext uri="{FF2B5EF4-FFF2-40B4-BE49-F238E27FC236}">
                <a16:creationId xmlns:a16="http://schemas.microsoft.com/office/drawing/2014/main" id="{D0D08B77-AF60-3CD0-3543-8FB3DC2F6B31}"/>
              </a:ext>
            </a:extLst>
          </p:cNvPr>
          <p:cNvSpPr/>
          <p:nvPr/>
        </p:nvSpPr>
        <p:spPr>
          <a:xfrm>
            <a:off x="785813" y="1214438"/>
            <a:ext cx="5500687" cy="461962"/>
          </a:xfrm>
          <a:prstGeom prst="rect">
            <a:avLst/>
          </a:prstGeom>
        </p:spPr>
        <p:txBody>
          <a:bodyPr>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表中所列的</a:t>
            </a:r>
            <a:r>
              <a:rPr kumimoji="0" lang="en-US" altLang="zh-CN" sz="2000" b="0" kern="0" dirty="0">
                <a:solidFill>
                  <a:srgbClr val="000000"/>
                </a:solidFill>
                <a:latin typeface="Arial" pitchFamily="34" charset="0"/>
                <a:ea typeface="微软雅黑" pitchFamily="34" charset="-122"/>
                <a:cs typeface="Arial" pitchFamily="34" charset="0"/>
              </a:rPr>
              <a:t>(7, 4)</a:t>
            </a:r>
            <a:r>
              <a:rPr kumimoji="0" lang="zh-CN" altLang="en-US" sz="2000" b="0" kern="0" dirty="0">
                <a:solidFill>
                  <a:srgbClr val="000000"/>
                </a:solidFill>
                <a:latin typeface="Arial" pitchFamily="34" charset="0"/>
                <a:ea typeface="微软雅黑" pitchFamily="34" charset="-122"/>
                <a:cs typeface="Arial" pitchFamily="34" charset="0"/>
              </a:rPr>
              <a:t>汉明码的最小码距 </a:t>
            </a:r>
            <a:r>
              <a:rPr kumimoji="0" lang="en-US" altLang="zh-CN" sz="2400" b="0" i="1" kern="0" dirty="0">
                <a:solidFill>
                  <a:srgbClr val="FF0000"/>
                </a:solidFill>
                <a:latin typeface="Arial" pitchFamily="34" charset="0"/>
                <a:ea typeface="微软雅黑" pitchFamily="34" charset="-122"/>
                <a:cs typeface="Arial" pitchFamily="34" charset="0"/>
              </a:rPr>
              <a:t>d</a:t>
            </a:r>
            <a:r>
              <a:rPr kumimoji="0" lang="en-US" altLang="zh-CN" sz="2400" b="0" kern="0" baseline="-25000" dirty="0">
                <a:solidFill>
                  <a:srgbClr val="FF0000"/>
                </a:solidFill>
                <a:latin typeface="Arial" pitchFamily="34" charset="0"/>
                <a:ea typeface="微软雅黑" pitchFamily="34" charset="-122"/>
                <a:cs typeface="Arial" pitchFamily="34" charset="0"/>
              </a:rPr>
              <a:t>0</a:t>
            </a:r>
            <a:r>
              <a:rPr kumimoji="0" lang="en-US" altLang="zh-CN" sz="2400" b="0" kern="0" dirty="0">
                <a:solidFill>
                  <a:srgbClr val="FF0000"/>
                </a:solidFill>
                <a:latin typeface="Arial" pitchFamily="34" charset="0"/>
                <a:ea typeface="微软雅黑" pitchFamily="34" charset="-122"/>
                <a:cs typeface="Arial" pitchFamily="34" charset="0"/>
              </a:rPr>
              <a:t> = </a:t>
            </a:r>
            <a:r>
              <a:rPr kumimoji="0" lang="zh-CN" altLang="en-US" sz="2400" b="0" kern="0" dirty="0">
                <a:solidFill>
                  <a:srgbClr val="FF0000"/>
                </a:solidFill>
                <a:latin typeface="Arial" pitchFamily="34" charset="0"/>
                <a:ea typeface="微软雅黑" pitchFamily="34" charset="-122"/>
                <a:cs typeface="Arial" pitchFamily="34" charset="0"/>
              </a:rPr>
              <a:t>？</a:t>
            </a:r>
            <a:endParaRPr lang="zh-CN" altLang="en-US" sz="2400" dirty="0">
              <a:solidFill>
                <a:srgbClr val="FF0000"/>
              </a:solidFill>
            </a:endParaRPr>
          </a:p>
        </p:txBody>
      </p:sp>
      <p:sp>
        <p:nvSpPr>
          <p:cNvPr id="6" name="矩形 5">
            <a:extLst>
              <a:ext uri="{FF2B5EF4-FFF2-40B4-BE49-F238E27FC236}">
                <a16:creationId xmlns:a16="http://schemas.microsoft.com/office/drawing/2014/main" id="{0ED0DAC8-A0E3-B3BC-552B-85ED19FA0C8E}"/>
              </a:ext>
            </a:extLst>
          </p:cNvPr>
          <p:cNvSpPr/>
          <p:nvPr/>
        </p:nvSpPr>
        <p:spPr>
          <a:xfrm>
            <a:off x="6429375" y="2143125"/>
            <a:ext cx="990600" cy="461963"/>
          </a:xfrm>
          <a:prstGeom prst="rect">
            <a:avLst/>
          </a:prstGeom>
        </p:spPr>
        <p:txBody>
          <a:bodyPr wrap="none">
            <a:spAutoFit/>
          </a:bodyPr>
          <a:lstStyle/>
          <a:p>
            <a:pPr>
              <a:defRPr/>
            </a:pPr>
            <a:r>
              <a:rPr kumimoji="0" lang="en-US" altLang="zh-CN" sz="2400" b="0" i="1" kern="0" dirty="0">
                <a:solidFill>
                  <a:srgbClr val="FF0000"/>
                </a:solidFill>
                <a:latin typeface="Arial" pitchFamily="34" charset="0"/>
                <a:ea typeface="微软雅黑" pitchFamily="34" charset="-122"/>
                <a:cs typeface="Arial" pitchFamily="34" charset="0"/>
              </a:rPr>
              <a:t>d</a:t>
            </a:r>
            <a:r>
              <a:rPr kumimoji="0" lang="en-US" altLang="zh-CN" sz="2400" b="0" kern="0" baseline="-25000" dirty="0">
                <a:solidFill>
                  <a:srgbClr val="FF0000"/>
                </a:solidFill>
                <a:latin typeface="Arial" pitchFamily="34" charset="0"/>
                <a:ea typeface="微软雅黑" pitchFamily="34" charset="-122"/>
                <a:cs typeface="Arial" pitchFamily="34" charset="0"/>
              </a:rPr>
              <a:t>0</a:t>
            </a:r>
            <a:r>
              <a:rPr kumimoji="0" lang="en-US" altLang="zh-CN" sz="2400" b="0" kern="0" dirty="0">
                <a:solidFill>
                  <a:srgbClr val="FF0000"/>
                </a:solidFill>
                <a:latin typeface="Arial" pitchFamily="34" charset="0"/>
                <a:ea typeface="微软雅黑" pitchFamily="34" charset="-122"/>
                <a:cs typeface="Arial" pitchFamily="34" charset="0"/>
              </a:rPr>
              <a:t> =3 </a:t>
            </a:r>
            <a:endParaRPr lang="zh-CN" altLang="en-US" dirty="0"/>
          </a:p>
        </p:txBody>
      </p:sp>
      <p:sp>
        <p:nvSpPr>
          <p:cNvPr id="7" name="矩形 6">
            <a:extLst>
              <a:ext uri="{FF2B5EF4-FFF2-40B4-BE49-F238E27FC236}">
                <a16:creationId xmlns:a16="http://schemas.microsoft.com/office/drawing/2014/main" id="{08D739A5-FD78-16D3-A37F-706ED0DFBFE0}"/>
              </a:ext>
            </a:extLst>
          </p:cNvPr>
          <p:cNvSpPr/>
          <p:nvPr/>
        </p:nvSpPr>
        <p:spPr>
          <a:xfrm>
            <a:off x="6143625" y="2786063"/>
            <a:ext cx="1571625" cy="400050"/>
          </a:xfrm>
          <a:prstGeom prst="rect">
            <a:avLst/>
          </a:prstGeom>
        </p:spPr>
        <p:txBody>
          <a:bodyPr>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纠</a:t>
            </a:r>
            <a:r>
              <a:rPr kumimoji="0" lang="en-US" altLang="zh-CN" sz="2000" b="0" kern="0" dirty="0">
                <a:solidFill>
                  <a:srgbClr val="000000"/>
                </a:solidFill>
                <a:latin typeface="Arial" pitchFamily="34" charset="0"/>
                <a:ea typeface="微软雅黑" pitchFamily="34" charset="-122"/>
                <a:cs typeface="Arial" pitchFamily="34" charset="0"/>
              </a:rPr>
              <a:t>1  </a:t>
            </a:r>
            <a:r>
              <a:rPr kumimoji="0" lang="zh-CN" altLang="en-US" sz="2000" b="0" kern="0" dirty="0">
                <a:solidFill>
                  <a:srgbClr val="000000"/>
                </a:solidFill>
                <a:latin typeface="Arial" pitchFamily="34" charset="0"/>
                <a:ea typeface="微软雅黑" pitchFamily="34" charset="-122"/>
                <a:cs typeface="Arial" pitchFamily="34" charset="0"/>
              </a:rPr>
              <a:t>或检</a:t>
            </a:r>
            <a:r>
              <a:rPr kumimoji="0" lang="en-US" altLang="zh-CN" sz="2000" b="0" kern="0" dirty="0">
                <a:solidFill>
                  <a:srgbClr val="000000"/>
                </a:solidFill>
                <a:latin typeface="Arial" pitchFamily="34" charset="0"/>
                <a:ea typeface="微软雅黑" pitchFamily="34" charset="-122"/>
                <a:cs typeface="Arial" pitchFamily="34" charset="0"/>
              </a:rPr>
              <a:t>2</a:t>
            </a:r>
            <a:endParaRPr lang="zh-CN" altLang="en-US" dirty="0"/>
          </a:p>
        </p:txBody>
      </p:sp>
      <p:cxnSp>
        <p:nvCxnSpPr>
          <p:cNvPr id="97337" name="直接连接符 8">
            <a:extLst>
              <a:ext uri="{FF2B5EF4-FFF2-40B4-BE49-F238E27FC236}">
                <a16:creationId xmlns:a16="http://schemas.microsoft.com/office/drawing/2014/main" id="{B7E0014E-3C3B-90F8-18CA-2A0124D781B4}"/>
              </a:ext>
            </a:extLst>
          </p:cNvPr>
          <p:cNvCxnSpPr>
            <a:cxnSpLocks noChangeShapeType="1"/>
          </p:cNvCxnSpPr>
          <p:nvPr/>
        </p:nvCxnSpPr>
        <p:spPr bwMode="auto">
          <a:xfrm rot="5400000">
            <a:off x="1198563" y="4000500"/>
            <a:ext cx="3859212" cy="1588"/>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sp>
        <p:nvSpPr>
          <p:cNvPr id="8" name="矩形 7">
            <a:extLst>
              <a:ext uri="{FF2B5EF4-FFF2-40B4-BE49-F238E27FC236}">
                <a16:creationId xmlns:a16="http://schemas.microsoft.com/office/drawing/2014/main" id="{D0C5884E-0320-990D-3C05-B3823E2996AE}"/>
              </a:ext>
            </a:extLst>
          </p:cNvPr>
          <p:cNvSpPr/>
          <p:nvPr/>
        </p:nvSpPr>
        <p:spPr>
          <a:xfrm>
            <a:off x="5857875" y="4214813"/>
            <a:ext cx="2236788" cy="1438275"/>
          </a:xfrm>
          <a:prstGeom prst="rect">
            <a:avLst/>
          </a:prstGeom>
        </p:spPr>
        <p:txBody>
          <a:bodyPr wrap="none">
            <a:spAutoFit/>
          </a:bodyPr>
          <a:lstStyle/>
          <a:p>
            <a:pPr>
              <a:lnSpc>
                <a:spcPts val="3500"/>
              </a:lnSpc>
              <a:defRPr/>
            </a:pPr>
            <a:r>
              <a:rPr kumimoji="0" lang="zh-CN" altLang="en-US" sz="2000" b="0" kern="0" dirty="0">
                <a:solidFill>
                  <a:srgbClr val="000000"/>
                </a:solidFill>
                <a:latin typeface="Arial" pitchFamily="34" charset="0"/>
                <a:ea typeface="微软雅黑" pitchFamily="34" charset="-122"/>
                <a:cs typeface="Arial" pitchFamily="34" charset="0"/>
                <a:sym typeface="Symbol" pitchFamily="18" charset="2"/>
              </a:rPr>
              <a:t>根据性质 </a:t>
            </a:r>
            <a:r>
              <a:rPr kumimoji="0" lang="en-US" altLang="zh-CN" sz="2000" dirty="0">
                <a:solidFill>
                  <a:srgbClr val="0000CC"/>
                </a:solidFill>
                <a:latin typeface="微软雅黑" pitchFamily="34" charset="-122"/>
                <a:ea typeface="微软雅黑" pitchFamily="34" charset="-122"/>
                <a:cs typeface="Arial" pitchFamily="34" charset="0"/>
                <a:sym typeface="Symbol" pitchFamily="18" charset="2"/>
              </a:rPr>
              <a:t>②</a:t>
            </a:r>
          </a:p>
          <a:p>
            <a:pPr>
              <a:lnSpc>
                <a:spcPts val="3500"/>
              </a:lnSpc>
              <a:defRPr/>
            </a:pPr>
            <a:r>
              <a:rPr kumimoji="0" lang="zh-CN" altLang="en-US" sz="2000" kern="0" dirty="0">
                <a:solidFill>
                  <a:srgbClr val="0000CC"/>
                </a:solidFill>
                <a:latin typeface="微软雅黑" pitchFamily="34" charset="-122"/>
                <a:ea typeface="微软雅黑" pitchFamily="34" charset="-122"/>
                <a:cs typeface="Arial" pitchFamily="34" charset="0"/>
                <a:sym typeface="Symbol" pitchFamily="18" charset="2"/>
              </a:rPr>
              <a:t>只</a:t>
            </a:r>
            <a:r>
              <a:rPr kumimoji="0" lang="zh-CN" altLang="en-US" sz="2000" b="0" kern="0" dirty="0">
                <a:solidFill>
                  <a:srgbClr val="000000"/>
                </a:solidFill>
                <a:latin typeface="Arial" pitchFamily="34" charset="0"/>
                <a:ea typeface="微软雅黑" pitchFamily="34" charset="-122"/>
                <a:cs typeface="Arial" pitchFamily="34" charset="0"/>
              </a:rPr>
              <a:t>需找最小码重</a:t>
            </a:r>
            <a:endParaRPr kumimoji="0" lang="en-US" altLang="zh-CN" sz="2000" b="0" kern="0" dirty="0">
              <a:solidFill>
                <a:srgbClr val="000000"/>
              </a:solidFill>
              <a:latin typeface="Arial" pitchFamily="34" charset="0"/>
              <a:ea typeface="微软雅黑" pitchFamily="34" charset="-122"/>
              <a:cs typeface="Arial" pitchFamily="34" charset="0"/>
            </a:endParaRPr>
          </a:p>
          <a:p>
            <a:pPr>
              <a:lnSpc>
                <a:spcPts val="3500"/>
              </a:lnSpc>
              <a:defRPr/>
            </a:pPr>
            <a:r>
              <a:rPr kumimoji="0" lang="zh-CN" altLang="en-US" sz="2000" kern="0" dirty="0">
                <a:solidFill>
                  <a:srgbClr val="0000CC"/>
                </a:solidFill>
                <a:latin typeface="Arial" pitchFamily="34" charset="0"/>
                <a:ea typeface="微软雅黑" pitchFamily="34" charset="-122"/>
                <a:cs typeface="Arial" pitchFamily="34" charset="0"/>
              </a:rPr>
              <a:t>无</a:t>
            </a:r>
            <a:r>
              <a:rPr kumimoji="0" lang="zh-CN" altLang="en-US" sz="2000" b="0" kern="0" dirty="0">
                <a:solidFill>
                  <a:srgbClr val="000000"/>
                </a:solidFill>
                <a:latin typeface="Arial" pitchFamily="34" charset="0"/>
                <a:ea typeface="微软雅黑" pitchFamily="34" charset="-122"/>
                <a:cs typeface="Arial" pitchFamily="34" charset="0"/>
              </a:rPr>
              <a:t>需两两码组比较</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1000"/>
                                        <p:tgtEl>
                                          <p:spTgt spid="6"/>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6">
            <a:extLst>
              <a:ext uri="{FF2B5EF4-FFF2-40B4-BE49-F238E27FC236}">
                <a16:creationId xmlns:a16="http://schemas.microsoft.com/office/drawing/2014/main" id="{2BD84B6F-AFFE-FC37-ACB5-31473214F180}"/>
              </a:ext>
            </a:extLst>
          </p:cNvPr>
          <p:cNvSpPr txBox="1">
            <a:spLocks noChangeArrowheads="1"/>
          </p:cNvSpPr>
          <p:nvPr/>
        </p:nvSpPr>
        <p:spPr bwMode="gray">
          <a:xfrm>
            <a:off x="3714750" y="3000375"/>
            <a:ext cx="2357438" cy="769938"/>
          </a:xfrm>
          <a:prstGeom prst="rect">
            <a:avLst/>
          </a:prstGeom>
          <a:noFill/>
          <a:ln w="9525">
            <a:noFill/>
            <a:miter lim="800000"/>
            <a:headEnd/>
            <a:tailEnd/>
          </a:ln>
          <a:effectLst>
            <a:outerShdw blurRad="50800" dist="38100" dir="2700000" algn="tl" rotWithShape="0">
              <a:prstClr val="black">
                <a:alpha val="40000"/>
              </a:prstClr>
            </a:outerShdw>
          </a:effectLst>
        </p:spPr>
        <p:txBody>
          <a:bodyPr>
            <a:spAutoFit/>
          </a:bodyPr>
          <a:lstStyle/>
          <a:p>
            <a:pPr>
              <a:defRPr/>
            </a:pPr>
            <a:r>
              <a:rPr lang="zh-CN" altLang="en-US" sz="4400" dirty="0">
                <a:solidFill>
                  <a:srgbClr val="003399"/>
                </a:solidFill>
                <a:latin typeface="微软雅黑" pitchFamily="34" charset="-122"/>
                <a:ea typeface="微软雅黑" pitchFamily="34" charset="-122"/>
              </a:rPr>
              <a:t>循 环 码</a:t>
            </a:r>
          </a:p>
        </p:txBody>
      </p:sp>
      <p:sp>
        <p:nvSpPr>
          <p:cNvPr id="7" name="矩形 6">
            <a:extLst>
              <a:ext uri="{FF2B5EF4-FFF2-40B4-BE49-F238E27FC236}">
                <a16:creationId xmlns:a16="http://schemas.microsoft.com/office/drawing/2014/main" id="{BD432F8B-5AB0-872B-ADE0-30E089BF83F9}"/>
              </a:ext>
            </a:extLst>
          </p:cNvPr>
          <p:cNvSpPr>
            <a:spLocks noChangeArrowheads="1"/>
          </p:cNvSpPr>
          <p:nvPr/>
        </p:nvSpPr>
        <p:spPr bwMode="auto">
          <a:xfrm>
            <a:off x="-76200" y="6491288"/>
            <a:ext cx="3857625" cy="387350"/>
          </a:xfrm>
          <a:prstGeom prst="rect">
            <a:avLst/>
          </a:prstGeom>
          <a:noFill/>
          <a:ln w="9525">
            <a:noFill/>
            <a:miter lim="800000"/>
            <a:headEnd/>
            <a:tailEnd/>
          </a:ln>
        </p:spPr>
        <p:txBody>
          <a:bodyPr>
            <a:spAutoFit/>
          </a:bodyPr>
          <a:lstStyle/>
          <a:p>
            <a:pPr marL="342900" indent="-342900" eaLnBrk="0" hangingPunct="0">
              <a:lnSpc>
                <a:spcPct val="120000"/>
              </a:lnSpc>
              <a:spcBef>
                <a:spcPct val="20000"/>
              </a:spcBef>
              <a:buClr>
                <a:srgbClr val="3333CC"/>
              </a:buClr>
              <a:buSzPct val="55000"/>
              <a:tabLst>
                <a:tab pos="3595688" algn="l"/>
              </a:tabLst>
              <a:defRPr/>
            </a:pPr>
            <a:r>
              <a:rPr lang="zh-CN" altLang="en-US" sz="1600" dirty="0">
                <a:solidFill>
                  <a:schemeClr val="bg1"/>
                </a:solidFill>
                <a:effectLst>
                  <a:outerShdw blurRad="38100" dist="38100" dir="2700000" algn="tl">
                    <a:srgbClr val="000000">
                      <a:alpha val="43137"/>
                    </a:srgbClr>
                  </a:outerShdw>
                </a:effectLst>
                <a:latin typeface="黑体" pitchFamily="2" charset="-122"/>
                <a:ea typeface="黑体" pitchFamily="2" charset="-122"/>
                <a:cs typeface="Arial" charset="0"/>
              </a:rPr>
              <a:t> 西安电子科技大学  通信工程学院</a:t>
            </a:r>
            <a:r>
              <a:rPr lang="en-US" altLang="zh-CN" sz="1600" dirty="0">
                <a:solidFill>
                  <a:schemeClr val="bg1"/>
                </a:solidFill>
                <a:effectLst>
                  <a:outerShdw blurRad="38100" dist="38100" dir="2700000" algn="tl">
                    <a:srgbClr val="000000">
                      <a:alpha val="43137"/>
                    </a:srgbClr>
                  </a:outerShdw>
                </a:effectLst>
                <a:latin typeface="黑体" pitchFamily="2" charset="-122"/>
                <a:ea typeface="黑体" pitchFamily="2" charset="-122"/>
                <a:cs typeface="Arial" charset="0"/>
              </a:rPr>
              <a:t>                           </a:t>
            </a:r>
            <a:endParaRPr lang="en-US" altLang="zh-CN" sz="1600" dirty="0">
              <a:solidFill>
                <a:schemeClr val="bg1"/>
              </a:solidFill>
              <a:effectLst>
                <a:outerShdw blurRad="38100" dist="38100" dir="2700000" algn="tl">
                  <a:srgbClr val="000000">
                    <a:alpha val="43137"/>
                  </a:srgbClr>
                </a:outerShdw>
              </a:effectLst>
              <a:latin typeface="黑体" pitchFamily="2" charset="-122"/>
              <a:ea typeface="黑体" pitchFamily="2" charset="-122"/>
              <a:cs typeface="Arial" charset="0"/>
              <a:sym typeface="Wingdings" pitchFamily="2" charset="2"/>
            </a:endParaRPr>
          </a:p>
        </p:txBody>
      </p:sp>
      <p:sp>
        <p:nvSpPr>
          <p:cNvPr id="8" name="矩形 7">
            <a:extLst>
              <a:ext uri="{FF2B5EF4-FFF2-40B4-BE49-F238E27FC236}">
                <a16:creationId xmlns:a16="http://schemas.microsoft.com/office/drawing/2014/main" id="{B8BF8099-C9C1-3CED-1C2F-C90D659E5CD0}"/>
              </a:ext>
            </a:extLst>
          </p:cNvPr>
          <p:cNvSpPr/>
          <p:nvPr/>
        </p:nvSpPr>
        <p:spPr>
          <a:xfrm>
            <a:off x="6896100" y="6477000"/>
            <a:ext cx="2143125" cy="338138"/>
          </a:xfrm>
          <a:prstGeom prst="rect">
            <a:avLst/>
          </a:prstGeom>
        </p:spPr>
        <p:txBody>
          <a:bodyPr>
            <a:spAutoFit/>
          </a:bodyPr>
          <a:lstStyle/>
          <a:p>
            <a:pPr algn="r" eaLnBrk="0" hangingPunct="0">
              <a:defRPr/>
            </a:pPr>
            <a:r>
              <a:rPr lang="zh-CN" altLang="en-US" sz="1600" dirty="0">
                <a:solidFill>
                  <a:schemeClr val="bg1"/>
                </a:solidFill>
                <a:effectLst>
                  <a:outerShdw blurRad="38100" dist="38100" dir="2700000" algn="tl">
                    <a:srgbClr val="000000">
                      <a:alpha val="43137"/>
                    </a:srgbClr>
                  </a:outerShdw>
                </a:effectLst>
                <a:latin typeface="黑体" pitchFamily="2" charset="-122"/>
                <a:ea typeface="黑体" pitchFamily="2" charset="-122"/>
              </a:rPr>
              <a:t>  课件制作：曹丽娜 </a:t>
            </a:r>
            <a:endParaRPr lang="zh-CN" altLang="en-US" sz="1600" dirty="0">
              <a:solidFill>
                <a:schemeClr val="bg1"/>
              </a:solidFill>
              <a:effectLst>
                <a:outerShdw blurRad="38100" dist="38100" dir="2700000" algn="tl">
                  <a:srgbClr val="000000">
                    <a:alpha val="43137"/>
                  </a:srgbClr>
                </a:outerShdw>
              </a:effectLst>
              <a:latin typeface="Arial" charset="0"/>
            </a:endParaRPr>
          </a:p>
        </p:txBody>
      </p:sp>
      <p:sp>
        <p:nvSpPr>
          <p:cNvPr id="13" name="矩形 12">
            <a:extLst>
              <a:ext uri="{FF2B5EF4-FFF2-40B4-BE49-F238E27FC236}">
                <a16:creationId xmlns:a16="http://schemas.microsoft.com/office/drawing/2014/main" id="{BE17F27D-7FC4-19F2-E87A-6D5009695A56}"/>
              </a:ext>
            </a:extLst>
          </p:cNvPr>
          <p:cNvSpPr/>
          <p:nvPr/>
        </p:nvSpPr>
        <p:spPr>
          <a:xfrm>
            <a:off x="1714500" y="5510213"/>
            <a:ext cx="6858000" cy="490537"/>
          </a:xfrm>
          <a:prstGeom prst="rect">
            <a:avLst/>
          </a:prstGeom>
        </p:spPr>
        <p:txBody>
          <a:bodyPr>
            <a:spAutoFit/>
          </a:bodyPr>
          <a:lstStyle/>
          <a:p>
            <a:pPr>
              <a:lnSpc>
                <a:spcPts val="3500"/>
              </a:lnSpc>
              <a:defRPr/>
            </a:pPr>
            <a:r>
              <a:rPr lang="zh-CN" altLang="en-US" sz="2000" b="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它除了具有线性分组码的一般性质外，还具有循环性。</a:t>
            </a:r>
            <a:endParaRPr lang="zh-CN" altLang="en-US" sz="2000" b="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cs typeface="Arial" pitchFamily="34" charset="0"/>
            </a:endParaRPr>
          </a:p>
        </p:txBody>
      </p:sp>
      <p:sp>
        <p:nvSpPr>
          <p:cNvPr id="14" name="矩形 4">
            <a:extLst>
              <a:ext uri="{FF2B5EF4-FFF2-40B4-BE49-F238E27FC236}">
                <a16:creationId xmlns:a16="http://schemas.microsoft.com/office/drawing/2014/main" id="{02AF0EF2-CA1B-42FE-67F6-FD271A2CBF78}"/>
              </a:ext>
            </a:extLst>
          </p:cNvPr>
          <p:cNvSpPr>
            <a:spLocks noChangeArrowheads="1"/>
          </p:cNvSpPr>
          <p:nvPr/>
        </p:nvSpPr>
        <p:spPr bwMode="auto">
          <a:xfrm>
            <a:off x="642938" y="2214563"/>
            <a:ext cx="1927225" cy="708025"/>
          </a:xfrm>
          <a:prstGeom prst="rect">
            <a:avLst/>
          </a:prstGeom>
          <a:noFill/>
          <a:ln w="9525">
            <a:noFill/>
            <a:miter lim="800000"/>
            <a:headEnd/>
            <a:tailEnd/>
          </a:ln>
        </p:spPr>
        <p:txBody>
          <a:bodyPr wrap="none">
            <a:spAutoFit/>
          </a:bodyPr>
          <a:lstStyle/>
          <a:p>
            <a:pPr eaLnBrk="0" hangingPunct="0">
              <a:defRPr/>
            </a:pPr>
            <a:r>
              <a:rPr lang="en-US" altLang="en-US" sz="4000" u="sng" dirty="0">
                <a:solidFill>
                  <a:srgbClr val="990099"/>
                </a:solidFill>
                <a:effectLst>
                  <a:outerShdw blurRad="38100" dist="38100" dir="2700000" algn="tl">
                    <a:srgbClr val="000000">
                      <a:alpha val="43137"/>
                    </a:srgbClr>
                  </a:outerShdw>
                </a:effectLst>
                <a:latin typeface="+mn-ea"/>
                <a:ea typeface="+mn-ea"/>
              </a:rPr>
              <a:t>§</a:t>
            </a:r>
            <a:r>
              <a:rPr lang="en-US" altLang="en-US" sz="4000" u="sng" dirty="0">
                <a:solidFill>
                  <a:srgbClr val="990099"/>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11</a:t>
            </a:r>
            <a:r>
              <a:rPr lang="en-US" altLang="zh-CN" sz="4000" u="sng" dirty="0">
                <a:solidFill>
                  <a:srgbClr val="990099"/>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.6</a:t>
            </a:r>
            <a:r>
              <a:rPr lang="en-US" altLang="zh-CN" sz="4000" u="sng" dirty="0">
                <a:solidFill>
                  <a:srgbClr val="990099"/>
                </a:solidFill>
                <a:effectLst>
                  <a:outerShdw blurRad="38100" dist="38100" dir="2700000" algn="tl">
                    <a:srgbClr val="000000">
                      <a:alpha val="43137"/>
                    </a:srgbClr>
                  </a:outerShdw>
                </a:effectLst>
                <a:ea typeface="微软雅黑" pitchFamily="34" charset="-122"/>
                <a:cs typeface="Arial" charset="0"/>
              </a:rPr>
              <a:t> </a:t>
            </a:r>
            <a:endParaRPr lang="zh-CN" altLang="en-US" sz="4000" u="sng" dirty="0">
              <a:solidFill>
                <a:srgbClr val="990099"/>
              </a:solidFill>
              <a:effectLst>
                <a:outerShdw blurRad="38100" dist="38100" dir="2700000" algn="tl">
                  <a:srgbClr val="000000">
                    <a:alpha val="43137"/>
                  </a:srgbClr>
                </a:outerShdw>
              </a:effectLst>
            </a:endParaRPr>
          </a:p>
        </p:txBody>
      </p:sp>
      <p:pic>
        <p:nvPicPr>
          <p:cNvPr id="98311" name="Picture 8">
            <a:extLst>
              <a:ext uri="{FF2B5EF4-FFF2-40B4-BE49-F238E27FC236}">
                <a16:creationId xmlns:a16="http://schemas.microsoft.com/office/drawing/2014/main" id="{6814CAC4-659C-EB94-6081-F66E91AB2C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7863" y="3929063"/>
            <a:ext cx="6624637" cy="145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000"/>
                                        <p:tgtEl>
                                          <p:spTgt spid="4"/>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98311"/>
                                        </p:tgtEl>
                                        <p:attrNameLst>
                                          <p:attrName>style.visibility</p:attrName>
                                        </p:attrNameLst>
                                      </p:cBhvr>
                                      <p:to>
                                        <p:strVal val="visible"/>
                                      </p:to>
                                    </p:set>
                                    <p:animEffect transition="in" filter="wipe(up)">
                                      <p:cBhvr>
                                        <p:cTn id="11" dur="1000"/>
                                        <p:tgtEl>
                                          <p:spTgt spid="98311"/>
                                        </p:tgtEl>
                                      </p:cBhvr>
                                    </p:animEffect>
                                  </p:childTnLst>
                                </p:cTn>
                              </p:par>
                            </p:childTnLst>
                          </p:cTn>
                        </p:par>
                        <p:par>
                          <p:cTn id="12" fill="hold" nodeType="afterGroup">
                            <p:stCondLst>
                              <p:cond delay="2000"/>
                            </p:stCondLst>
                            <p:childTnLst>
                              <p:par>
                                <p:cTn id="13" presetID="22" presetClass="entr" presetSubtype="1"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up)">
                                      <p:cBhvr>
                                        <p:cTn id="15"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04506" name="Picture 58">
            <a:extLst>
              <a:ext uri="{FF2B5EF4-FFF2-40B4-BE49-F238E27FC236}">
                <a16:creationId xmlns:a16="http://schemas.microsoft.com/office/drawing/2014/main" id="{C0BA656D-4A3A-7C9C-0E06-7EDA996B98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4238" y="2700338"/>
            <a:ext cx="7488237" cy="285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1" name="Rectangle 4">
            <a:extLst>
              <a:ext uri="{FF2B5EF4-FFF2-40B4-BE49-F238E27FC236}">
                <a16:creationId xmlns:a16="http://schemas.microsoft.com/office/drawing/2014/main" id="{EEC04909-A079-9C79-1A86-642FEF1F86F2}"/>
              </a:ext>
            </a:extLst>
          </p:cNvPr>
          <p:cNvSpPr>
            <a:spLocks noChangeArrowheads="1"/>
          </p:cNvSpPr>
          <p:nvPr/>
        </p:nvSpPr>
        <p:spPr bwMode="auto">
          <a:xfrm>
            <a:off x="1938338" y="2606675"/>
            <a:ext cx="9017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5" name="矩形 4">
            <a:extLst>
              <a:ext uri="{FF2B5EF4-FFF2-40B4-BE49-F238E27FC236}">
                <a16:creationId xmlns:a16="http://schemas.microsoft.com/office/drawing/2014/main" id="{0D93AD0C-F627-DFF7-5E96-5BB21E4928A5}"/>
              </a:ext>
            </a:extLst>
          </p:cNvPr>
          <p:cNvSpPr/>
          <p:nvPr/>
        </p:nvSpPr>
        <p:spPr>
          <a:xfrm>
            <a:off x="2000250" y="5500688"/>
            <a:ext cx="6215063" cy="503237"/>
          </a:xfrm>
          <a:prstGeom prst="rect">
            <a:avLst/>
          </a:prstGeom>
        </p:spPr>
        <p:txBody>
          <a:bodyPr>
            <a:spAutoFit/>
          </a:bodyPr>
          <a:lstStyle/>
          <a:p>
            <a:pPr>
              <a:lnSpc>
                <a:spcPts val="3200"/>
              </a:lnSpc>
              <a:defRPr/>
            </a:pPr>
            <a:r>
              <a:rPr kumimoji="0" lang="zh-CN" altLang="en-US" sz="2000" b="0" kern="0" dirty="0">
                <a:solidFill>
                  <a:srgbClr val="000000"/>
                </a:solidFill>
                <a:latin typeface="微软雅黑" pitchFamily="34" charset="-122"/>
                <a:ea typeface="微软雅黑" pitchFamily="34" charset="-122"/>
              </a:rPr>
              <a:t>表中的</a:t>
            </a:r>
            <a:r>
              <a:rPr kumimoji="0" lang="zh-CN" altLang="en-US" sz="2000" b="0" kern="0" dirty="0">
                <a:solidFill>
                  <a:schemeClr val="tx1"/>
                </a:solidFill>
                <a:latin typeface="微软雅黑" pitchFamily="34" charset="-122"/>
                <a:ea typeface="微软雅黑" pitchFamily="34" charset="-122"/>
              </a:rPr>
              <a:t>第 </a:t>
            </a:r>
            <a:r>
              <a:rPr kumimoji="0" lang="en-US" altLang="zh-CN" sz="2000" kern="0" dirty="0">
                <a:solidFill>
                  <a:srgbClr val="003399"/>
                </a:solidFill>
                <a:latin typeface="微软雅黑" pitchFamily="34" charset="-122"/>
                <a:ea typeface="微软雅黑" pitchFamily="34" charset="-122"/>
              </a:rPr>
              <a:t>2</a:t>
            </a:r>
            <a:r>
              <a:rPr kumimoji="0" lang="en-US" altLang="zh-CN" sz="2000" kern="0" dirty="0">
                <a:solidFill>
                  <a:schemeClr val="tx1"/>
                </a:solidFill>
                <a:latin typeface="微软雅黑" pitchFamily="34" charset="-122"/>
                <a:ea typeface="微软雅黑" pitchFamily="34" charset="-122"/>
              </a:rPr>
              <a:t> </a:t>
            </a:r>
            <a:r>
              <a:rPr kumimoji="0" lang="zh-CN" altLang="en-US" sz="2000" b="0" kern="0" dirty="0">
                <a:solidFill>
                  <a:schemeClr val="tx1"/>
                </a:solidFill>
                <a:latin typeface="微软雅黑" pitchFamily="34" charset="-122"/>
                <a:ea typeface="微软雅黑" pitchFamily="34" charset="-122"/>
              </a:rPr>
              <a:t>码组</a:t>
            </a:r>
            <a:r>
              <a:rPr kumimoji="0" lang="zh-CN" altLang="en-US" sz="2000" b="0" kern="0" dirty="0">
                <a:solidFill>
                  <a:srgbClr val="000000"/>
                </a:solidFill>
                <a:latin typeface="微软雅黑" pitchFamily="34" charset="-122"/>
                <a:ea typeface="微软雅黑" pitchFamily="34" charset="-122"/>
              </a:rPr>
              <a:t>向 </a:t>
            </a:r>
            <a:r>
              <a:rPr kumimoji="0" lang="zh-CN" altLang="en-US" sz="2000" kern="0" dirty="0">
                <a:solidFill>
                  <a:schemeClr val="tx1"/>
                </a:solidFill>
                <a:latin typeface="微软雅黑" pitchFamily="34" charset="-122"/>
                <a:ea typeface="微软雅黑" pitchFamily="34" charset="-122"/>
              </a:rPr>
              <a:t>右</a:t>
            </a:r>
            <a:r>
              <a:rPr kumimoji="0" lang="zh-CN" altLang="en-US" sz="2000" kern="0" dirty="0">
                <a:solidFill>
                  <a:srgbClr val="000000"/>
                </a:solidFill>
                <a:latin typeface="微软雅黑" pitchFamily="34" charset="-122"/>
                <a:ea typeface="微软雅黑" pitchFamily="34" charset="-122"/>
              </a:rPr>
              <a:t>移</a:t>
            </a:r>
            <a:r>
              <a:rPr kumimoji="0" lang="zh-CN" altLang="en-US" sz="2000" b="0" kern="0" dirty="0">
                <a:solidFill>
                  <a:srgbClr val="000000"/>
                </a:solidFill>
                <a:latin typeface="微软雅黑" pitchFamily="34" charset="-122"/>
                <a:ea typeface="微软雅黑" pitchFamily="34" charset="-122"/>
              </a:rPr>
              <a:t>一位即得到第</a:t>
            </a:r>
            <a:r>
              <a:rPr kumimoji="0" lang="zh-CN" altLang="en-US" sz="2000" b="0" kern="0" dirty="0">
                <a:solidFill>
                  <a:srgbClr val="003399"/>
                </a:solidFill>
                <a:latin typeface="微软雅黑" pitchFamily="34" charset="-122"/>
                <a:ea typeface="微软雅黑" pitchFamily="34" charset="-122"/>
              </a:rPr>
              <a:t> </a:t>
            </a:r>
            <a:r>
              <a:rPr kumimoji="0" lang="en-US" altLang="zh-CN" sz="2000" kern="0" dirty="0">
                <a:solidFill>
                  <a:srgbClr val="003399"/>
                </a:solidFill>
                <a:latin typeface="微软雅黑" pitchFamily="34" charset="-122"/>
                <a:ea typeface="微软雅黑" pitchFamily="34" charset="-122"/>
              </a:rPr>
              <a:t>5 </a:t>
            </a:r>
            <a:r>
              <a:rPr kumimoji="0" lang="zh-CN" altLang="en-US" sz="2000" b="0" kern="0" dirty="0">
                <a:solidFill>
                  <a:srgbClr val="000000"/>
                </a:solidFill>
                <a:latin typeface="微软雅黑" pitchFamily="34" charset="-122"/>
                <a:ea typeface="微软雅黑" pitchFamily="34" charset="-122"/>
              </a:rPr>
              <a:t>码组</a:t>
            </a:r>
            <a:r>
              <a:rPr kumimoji="0" lang="zh-CN" altLang="en-US" sz="2000" b="0" kern="0" dirty="0">
                <a:solidFill>
                  <a:srgbClr val="000000"/>
                </a:solidFill>
                <a:latin typeface="+mn-ea"/>
                <a:ea typeface="+mn-ea"/>
              </a:rPr>
              <a:t>；</a:t>
            </a:r>
            <a:endParaRPr kumimoji="0" lang="en-US" altLang="zh-CN" sz="2000" b="0" kern="0" dirty="0">
              <a:solidFill>
                <a:srgbClr val="000000"/>
              </a:solidFill>
              <a:latin typeface="+mn-ea"/>
              <a:ea typeface="+mn-ea"/>
            </a:endParaRPr>
          </a:p>
        </p:txBody>
      </p:sp>
      <p:sp>
        <p:nvSpPr>
          <p:cNvPr id="8" name="矩形 7">
            <a:extLst>
              <a:ext uri="{FF2B5EF4-FFF2-40B4-BE49-F238E27FC236}">
                <a16:creationId xmlns:a16="http://schemas.microsoft.com/office/drawing/2014/main" id="{CAE142DE-8FE6-74C7-BD1D-AF6AB3952E7E}"/>
              </a:ext>
            </a:extLst>
          </p:cNvPr>
          <p:cNvSpPr/>
          <p:nvPr/>
        </p:nvSpPr>
        <p:spPr>
          <a:xfrm>
            <a:off x="6246813" y="2252663"/>
            <a:ext cx="1968500" cy="461962"/>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wrap="none">
            <a:spAutoFit/>
          </a:bodyPr>
          <a:lstStyle/>
          <a:p>
            <a:pPr>
              <a:defRPr/>
            </a:pPr>
            <a:r>
              <a:rPr kumimoji="0" lang="en-US" altLang="zh-CN" sz="2400" kern="0" dirty="0">
                <a:solidFill>
                  <a:srgbClr val="003399"/>
                </a:solidFill>
                <a:latin typeface="Tahoma"/>
                <a:ea typeface="宋体"/>
              </a:rPr>
              <a:t>(7, 3)</a:t>
            </a:r>
            <a:r>
              <a:rPr kumimoji="0" lang="zh-CN" altLang="en-US" sz="2400" kern="0" dirty="0">
                <a:solidFill>
                  <a:srgbClr val="003399"/>
                </a:solidFill>
                <a:latin typeface="Tahoma"/>
                <a:ea typeface="宋体"/>
              </a:rPr>
              <a:t>循环码</a:t>
            </a:r>
            <a:endParaRPr lang="zh-CN" altLang="en-US" sz="2400" dirty="0">
              <a:solidFill>
                <a:srgbClr val="003399"/>
              </a:solidFill>
            </a:endParaRPr>
          </a:p>
        </p:txBody>
      </p:sp>
      <p:sp>
        <p:nvSpPr>
          <p:cNvPr id="9" name="Rectangle 1">
            <a:extLst>
              <a:ext uri="{FF2B5EF4-FFF2-40B4-BE49-F238E27FC236}">
                <a16:creationId xmlns:a16="http://schemas.microsoft.com/office/drawing/2014/main" id="{95E9E0ED-409C-9CDE-D6F5-6B2056296FB8}"/>
              </a:ext>
            </a:extLst>
          </p:cNvPr>
          <p:cNvSpPr>
            <a:spLocks noChangeArrowheads="1"/>
          </p:cNvSpPr>
          <p:nvPr/>
        </p:nvSpPr>
        <p:spPr bwMode="auto">
          <a:xfrm>
            <a:off x="0" y="471488"/>
            <a:ext cx="4643438" cy="58420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anchor="ctr">
            <a:spAutoFit/>
          </a:bodyPr>
          <a:lstStyle/>
          <a:p>
            <a:pPr marL="0" lvl="1" indent="306388" eaLnBrk="0" hangingPunct="0">
              <a:defRPr/>
            </a:pPr>
            <a:r>
              <a:rPr lang="en-US" altLang="en-US" sz="3200" dirty="0">
                <a:solidFill>
                  <a:srgbClr val="990099"/>
                </a:solidFill>
                <a:latin typeface="Arial" pitchFamily="34" charset="0"/>
                <a:ea typeface="微软雅黑" pitchFamily="34" charset="-122"/>
                <a:cs typeface="Arial" pitchFamily="34" charset="0"/>
              </a:rPr>
              <a:t>11</a:t>
            </a:r>
            <a:r>
              <a:rPr lang="en-US" altLang="zh-CN" sz="3200" dirty="0">
                <a:solidFill>
                  <a:srgbClr val="990099"/>
                </a:solidFill>
                <a:latin typeface="Arial" pitchFamily="34" charset="0"/>
                <a:ea typeface="微软雅黑" pitchFamily="34" charset="-122"/>
                <a:cs typeface="Arial" pitchFamily="34" charset="0"/>
              </a:rPr>
              <a:t>.6.1</a:t>
            </a:r>
            <a:r>
              <a:rPr lang="en-US" altLang="zh-CN" sz="3200" dirty="0">
                <a:solidFill>
                  <a:srgbClr val="800080"/>
                </a:solidFill>
                <a:latin typeface="Arial" pitchFamily="34" charset="0"/>
                <a:ea typeface="微软雅黑" pitchFamily="34" charset="-122"/>
                <a:cs typeface="Arial" pitchFamily="34" charset="0"/>
              </a:rPr>
              <a:t>  </a:t>
            </a:r>
            <a:r>
              <a:rPr kumimoji="0" lang="zh-CN" altLang="en-US" sz="3200" kern="0" dirty="0">
                <a:solidFill>
                  <a:srgbClr val="003399"/>
                </a:solidFill>
                <a:latin typeface="微软雅黑" pitchFamily="34" charset="-122"/>
                <a:ea typeface="微软雅黑" pitchFamily="34" charset="-122"/>
              </a:rPr>
              <a:t>循环码原理</a:t>
            </a:r>
            <a:endParaRPr lang="zh-CN" altLang="en-US" sz="3200" i="1" dirty="0">
              <a:solidFill>
                <a:srgbClr val="990099"/>
              </a:solidFill>
              <a:latin typeface="微软雅黑" pitchFamily="34" charset="-122"/>
              <a:ea typeface="微软雅黑" pitchFamily="34" charset="-122"/>
            </a:endParaRPr>
          </a:p>
        </p:txBody>
      </p:sp>
      <p:sp>
        <p:nvSpPr>
          <p:cNvPr id="10" name="矩形 9">
            <a:extLst>
              <a:ext uri="{FF2B5EF4-FFF2-40B4-BE49-F238E27FC236}">
                <a16:creationId xmlns:a16="http://schemas.microsoft.com/office/drawing/2014/main" id="{8356CB6F-B222-C916-A502-291EF0F4849C}"/>
              </a:ext>
            </a:extLst>
          </p:cNvPr>
          <p:cNvSpPr/>
          <p:nvPr/>
        </p:nvSpPr>
        <p:spPr>
          <a:xfrm>
            <a:off x="2000250" y="6000750"/>
            <a:ext cx="5572125" cy="503238"/>
          </a:xfrm>
          <a:prstGeom prst="rect">
            <a:avLst/>
          </a:prstGeom>
        </p:spPr>
        <p:txBody>
          <a:bodyPr>
            <a:spAutoFit/>
          </a:bodyPr>
          <a:lstStyle/>
          <a:p>
            <a:pPr>
              <a:lnSpc>
                <a:spcPts val="3200"/>
              </a:lnSpc>
              <a:defRPr/>
            </a:pPr>
            <a:r>
              <a:rPr kumimoji="0" lang="zh-CN" altLang="en-US" sz="2000" b="0" kern="0" dirty="0">
                <a:solidFill>
                  <a:srgbClr val="000000"/>
                </a:solidFill>
                <a:latin typeface="微软雅黑" pitchFamily="34" charset="-122"/>
                <a:ea typeface="微软雅黑" pitchFamily="34" charset="-122"/>
              </a:rPr>
              <a:t>表中的第 </a:t>
            </a:r>
            <a:r>
              <a:rPr kumimoji="0" lang="en-US" altLang="zh-CN" sz="2000" kern="0" dirty="0">
                <a:solidFill>
                  <a:srgbClr val="990099"/>
                </a:solidFill>
                <a:latin typeface="微软雅黑" pitchFamily="34" charset="-122"/>
                <a:ea typeface="微软雅黑" pitchFamily="34" charset="-122"/>
              </a:rPr>
              <a:t>6</a:t>
            </a:r>
            <a:r>
              <a:rPr kumimoji="0" lang="en-US" altLang="zh-CN" sz="2000" kern="0" dirty="0">
                <a:solidFill>
                  <a:srgbClr val="000000"/>
                </a:solidFill>
                <a:latin typeface="微软雅黑" pitchFamily="34" charset="-122"/>
                <a:ea typeface="微软雅黑" pitchFamily="34" charset="-122"/>
              </a:rPr>
              <a:t> </a:t>
            </a:r>
            <a:r>
              <a:rPr kumimoji="0" lang="zh-CN" altLang="en-US" sz="2000" b="0" kern="0" dirty="0">
                <a:solidFill>
                  <a:srgbClr val="000000"/>
                </a:solidFill>
                <a:latin typeface="微软雅黑" pitchFamily="34" charset="-122"/>
                <a:ea typeface="微软雅黑" pitchFamily="34" charset="-122"/>
              </a:rPr>
              <a:t>码组向 </a:t>
            </a:r>
            <a:r>
              <a:rPr kumimoji="0" lang="zh-CN" altLang="en-US" sz="2000" kern="0" dirty="0">
                <a:solidFill>
                  <a:srgbClr val="000000"/>
                </a:solidFill>
                <a:latin typeface="微软雅黑" pitchFamily="34" charset="-122"/>
                <a:ea typeface="微软雅黑" pitchFamily="34" charset="-122"/>
              </a:rPr>
              <a:t>右移</a:t>
            </a:r>
            <a:r>
              <a:rPr kumimoji="0" lang="zh-CN" altLang="en-US" sz="2000" b="0" kern="0" dirty="0">
                <a:solidFill>
                  <a:srgbClr val="000000"/>
                </a:solidFill>
                <a:latin typeface="微软雅黑" pitchFamily="34" charset="-122"/>
                <a:ea typeface="微软雅黑" pitchFamily="34" charset="-122"/>
              </a:rPr>
              <a:t>一位即得到第 </a:t>
            </a:r>
            <a:r>
              <a:rPr kumimoji="0" lang="en-US" altLang="zh-CN" sz="2000" kern="0" dirty="0">
                <a:solidFill>
                  <a:srgbClr val="990099"/>
                </a:solidFill>
                <a:latin typeface="微软雅黑" pitchFamily="34" charset="-122"/>
                <a:ea typeface="微软雅黑" pitchFamily="34" charset="-122"/>
              </a:rPr>
              <a:t>3</a:t>
            </a:r>
            <a:r>
              <a:rPr kumimoji="0" lang="zh-CN" altLang="en-US" sz="2000" b="0" kern="0" dirty="0">
                <a:solidFill>
                  <a:srgbClr val="000000"/>
                </a:solidFill>
                <a:latin typeface="微软雅黑" pitchFamily="34" charset="-122"/>
                <a:ea typeface="微软雅黑" pitchFamily="34" charset="-122"/>
              </a:rPr>
              <a:t>码组 。 </a:t>
            </a:r>
            <a:endParaRPr lang="zh-CN" altLang="en-US" sz="2000" b="0" dirty="0">
              <a:solidFill>
                <a:srgbClr val="000000"/>
              </a:solidFill>
              <a:latin typeface="微软雅黑" pitchFamily="34" charset="-122"/>
              <a:ea typeface="微软雅黑" pitchFamily="34" charset="-122"/>
            </a:endParaRPr>
          </a:p>
        </p:txBody>
      </p:sp>
      <p:pic>
        <p:nvPicPr>
          <p:cNvPr id="99337" name="Picture 9">
            <a:extLst>
              <a:ext uri="{FF2B5EF4-FFF2-40B4-BE49-F238E27FC236}">
                <a16:creationId xmlns:a16="http://schemas.microsoft.com/office/drawing/2014/main" id="{ACE3F022-0694-C95E-1244-87D7063E76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2698"/>
          <a:stretch>
            <a:fillRect/>
          </a:stretch>
        </p:blipFill>
        <p:spPr bwMode="auto">
          <a:xfrm>
            <a:off x="500063" y="1143000"/>
            <a:ext cx="7929562"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99337"/>
                                        </p:tgtEl>
                                        <p:attrNameLst>
                                          <p:attrName>style.visibility</p:attrName>
                                        </p:attrNameLst>
                                      </p:cBhvr>
                                      <p:to>
                                        <p:strVal val="visible"/>
                                      </p:to>
                                    </p:set>
                                    <p:animEffect transition="in" filter="wipe(up)">
                                      <p:cBhvr>
                                        <p:cTn id="7" dur="1000"/>
                                        <p:tgtEl>
                                          <p:spTgt spid="993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1000"/>
                                        <p:tgtEl>
                                          <p:spTgt spid="8"/>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104506"/>
                                        </p:tgtEl>
                                        <p:attrNameLst>
                                          <p:attrName>style.visibility</p:attrName>
                                        </p:attrNameLst>
                                      </p:cBhvr>
                                      <p:to>
                                        <p:strVal val="visible"/>
                                      </p:to>
                                    </p:set>
                                    <p:animEffect transition="in" filter="wipe(up)">
                                      <p:cBhvr>
                                        <p:cTn id="16" dur="2000"/>
                                        <p:tgtEl>
                                          <p:spTgt spid="10450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up)">
                                      <p:cBhvr>
                                        <p:cTn id="21" dur="1000"/>
                                        <p:tgtEl>
                                          <p:spTgt spid="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4"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down)">
                                      <p:cBhvr>
                                        <p:cTn id="2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animBg="1"/>
      <p:bldP spid="10"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354" name="组合 13">
            <a:extLst>
              <a:ext uri="{FF2B5EF4-FFF2-40B4-BE49-F238E27FC236}">
                <a16:creationId xmlns:a16="http://schemas.microsoft.com/office/drawing/2014/main" id="{83B8D296-9AA5-17B4-EA58-BB9ACDECBCFF}"/>
              </a:ext>
            </a:extLst>
          </p:cNvPr>
          <p:cNvGrpSpPr>
            <a:grpSpLocks/>
          </p:cNvGrpSpPr>
          <p:nvPr/>
        </p:nvGrpSpPr>
        <p:grpSpPr bwMode="auto">
          <a:xfrm>
            <a:off x="998538" y="1285875"/>
            <a:ext cx="1182687" cy="714375"/>
            <a:chOff x="285720" y="5214950"/>
            <a:chExt cx="1183111" cy="714375"/>
          </a:xfrm>
        </p:grpSpPr>
        <p:sp>
          <p:nvSpPr>
            <p:cNvPr id="15" name="椭圆 14">
              <a:extLst>
                <a:ext uri="{FF2B5EF4-FFF2-40B4-BE49-F238E27FC236}">
                  <a16:creationId xmlns:a16="http://schemas.microsoft.com/office/drawing/2014/main" id="{D0BE91DC-B055-7CAF-18D3-1FB710038476}"/>
                </a:ext>
              </a:extLst>
            </p:cNvPr>
            <p:cNvSpPr/>
            <p:nvPr/>
          </p:nvSpPr>
          <p:spPr bwMode="auto">
            <a:xfrm>
              <a:off x="285720" y="5214950"/>
              <a:ext cx="1071946" cy="714375"/>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lstStyle/>
            <a:p>
              <a:pPr>
                <a:defRPr/>
              </a:pPr>
              <a:endParaRPr lang="zh-CN" altLang="en-US" dirty="0"/>
            </a:p>
          </p:txBody>
        </p:sp>
        <p:sp>
          <p:nvSpPr>
            <p:cNvPr id="16" name="矩形 15">
              <a:extLst>
                <a:ext uri="{FF2B5EF4-FFF2-40B4-BE49-F238E27FC236}">
                  <a16:creationId xmlns:a16="http://schemas.microsoft.com/office/drawing/2014/main" id="{2A6CDE6C-A2B1-F0C5-35E8-7E27775B6908}"/>
                </a:ext>
              </a:extLst>
            </p:cNvPr>
            <p:cNvSpPr/>
            <p:nvPr/>
          </p:nvSpPr>
          <p:spPr>
            <a:xfrm>
              <a:off x="355595" y="5300675"/>
              <a:ext cx="1113236" cy="461963"/>
            </a:xfrm>
            <a:prstGeom prst="rect">
              <a:avLst/>
            </a:prstGeom>
          </p:spPr>
          <p:txBody>
            <a:bodyPr wrap="none">
              <a:spAutoFit/>
            </a:bodyPr>
            <a:lstStyle/>
            <a:p>
              <a:pPr>
                <a:defRPr/>
              </a:pPr>
              <a:r>
                <a:rPr kumimoji="0" lang="zh-CN" altLang="en-US" sz="2400" kern="0" dirty="0">
                  <a:solidFill>
                    <a:srgbClr val="FF0000"/>
                  </a:solidFill>
                  <a:latin typeface="黑体" pitchFamily="2" charset="-122"/>
                  <a:ea typeface="黑体" pitchFamily="2" charset="-122"/>
                </a:rPr>
                <a:t>注意：</a:t>
              </a:r>
              <a:endParaRPr lang="zh-CN" altLang="en-US" sz="2400" dirty="0">
                <a:solidFill>
                  <a:srgbClr val="FF0000"/>
                </a:solidFill>
                <a:latin typeface="黑体" pitchFamily="2" charset="-122"/>
                <a:ea typeface="黑体" pitchFamily="2" charset="-122"/>
              </a:endParaRPr>
            </a:p>
          </p:txBody>
        </p:sp>
      </p:grpSp>
      <p:pic>
        <p:nvPicPr>
          <p:cNvPr id="100355" name="Picture 7">
            <a:extLst>
              <a:ext uri="{FF2B5EF4-FFF2-40B4-BE49-F238E27FC236}">
                <a16:creationId xmlns:a16="http://schemas.microsoft.com/office/drawing/2014/main" id="{2BA737C5-7858-41B5-D2E2-EF98E8C35A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5938" y="2071688"/>
            <a:ext cx="5772150" cy="12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56" name="Picture 8">
            <a:extLst>
              <a:ext uri="{FF2B5EF4-FFF2-40B4-BE49-F238E27FC236}">
                <a16:creationId xmlns:a16="http://schemas.microsoft.com/office/drawing/2014/main" id="{6260D7A0-9E1E-D636-1217-B3AB1A96B2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3123"/>
          <a:stretch>
            <a:fillRect/>
          </a:stretch>
        </p:blipFill>
        <p:spPr bwMode="auto">
          <a:xfrm>
            <a:off x="1857375" y="3927475"/>
            <a:ext cx="5786438"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21" name="Picture 21">
            <a:extLst>
              <a:ext uri="{FF2B5EF4-FFF2-40B4-BE49-F238E27FC236}">
                <a16:creationId xmlns:a16="http://schemas.microsoft.com/office/drawing/2014/main" id="{7672D44B-62CC-5B92-C57F-2BBDFE4A3E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1774825"/>
            <a:ext cx="764381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ACFB594D-E1C4-9A19-7B1F-DCF1F5D70A93}"/>
              </a:ext>
            </a:extLst>
          </p:cNvPr>
          <p:cNvSpPr txBox="1">
            <a:spLocks noChangeArrowheads="1"/>
          </p:cNvSpPr>
          <p:nvPr/>
        </p:nvSpPr>
        <p:spPr bwMode="auto">
          <a:xfrm>
            <a:off x="1428750" y="4686300"/>
            <a:ext cx="6929438" cy="1600200"/>
          </a:xfrm>
          <a:prstGeom prst="rect">
            <a:avLst/>
          </a:prstGeom>
          <a:solidFill>
            <a:schemeClr val="bg2">
              <a:lumMod val="10000"/>
              <a:lumOff val="90000"/>
            </a:schemeClr>
          </a:solidFill>
          <a:ln w="9525">
            <a:noFill/>
            <a:miter lim="800000"/>
            <a:headEnd/>
            <a:tailEnd/>
          </a:ln>
          <a:effectLst>
            <a:outerShdw blurRad="63500" sx="102000" sy="102000" algn="ctr" rotWithShape="0">
              <a:prstClr val="black">
                <a:alpha val="40000"/>
              </a:prstClr>
            </a:outerShdw>
          </a:effectLst>
        </p:spPr>
        <p:txBody>
          <a:bodyPr/>
          <a:lstStyle/>
          <a:p>
            <a:pPr>
              <a:lnSpc>
                <a:spcPct val="150000"/>
              </a:lnSpc>
              <a:defRPr/>
            </a:pPr>
            <a:r>
              <a:rPr lang="zh-CN" altLang="en-US" sz="2000" b="0" dirty="0">
                <a:solidFill>
                  <a:schemeClr val="tx1"/>
                </a:solidFill>
                <a:latin typeface="Arial" pitchFamily="34" charset="0"/>
                <a:ea typeface="微软雅黑" pitchFamily="34" charset="-122"/>
                <a:cs typeface="Arial" pitchFamily="34" charset="0"/>
              </a:rPr>
              <a:t>      码字（</a:t>
            </a:r>
            <a:r>
              <a:rPr lang="en-US" sz="2000" b="0" dirty="0">
                <a:solidFill>
                  <a:schemeClr val="tx1"/>
                </a:solidFill>
                <a:latin typeface="Arial" pitchFamily="34" charset="0"/>
                <a:ea typeface="微软雅黑" pitchFamily="34" charset="-122"/>
                <a:cs typeface="Arial" pitchFamily="34" charset="0"/>
              </a:rPr>
              <a:t>1100101</a:t>
            </a:r>
            <a:r>
              <a:rPr lang="zh-CN" altLang="en-US" sz="2000" b="0" dirty="0">
                <a:solidFill>
                  <a:schemeClr val="tx1"/>
                </a:solidFill>
                <a:latin typeface="Arial" pitchFamily="34" charset="0"/>
                <a:ea typeface="微软雅黑" pitchFamily="34" charset="-122"/>
                <a:cs typeface="Arial" pitchFamily="34" charset="0"/>
              </a:rPr>
              <a:t>）的多项式可表示为：</a:t>
            </a:r>
            <a:endParaRPr lang="en-US" altLang="zh-CN" sz="2000" b="0" dirty="0">
              <a:solidFill>
                <a:schemeClr val="tx1"/>
              </a:solidFill>
              <a:latin typeface="Arial" pitchFamily="34" charset="0"/>
              <a:ea typeface="微软雅黑" pitchFamily="34" charset="-122"/>
              <a:cs typeface="Arial" pitchFamily="34" charset="0"/>
            </a:endParaRPr>
          </a:p>
          <a:p>
            <a:pPr>
              <a:lnSpc>
                <a:spcPct val="150000"/>
              </a:lnSpc>
              <a:defRPr/>
            </a:pPr>
            <a:endParaRPr lang="zh-CN" altLang="en-US" sz="2000" b="0" dirty="0">
              <a:solidFill>
                <a:schemeClr val="tx1"/>
              </a:solidFill>
              <a:latin typeface="Arial" pitchFamily="34" charset="0"/>
              <a:ea typeface="微软雅黑" pitchFamily="34" charset="-122"/>
              <a:cs typeface="Arial" pitchFamily="34" charset="0"/>
            </a:endParaRPr>
          </a:p>
          <a:p>
            <a:pPr>
              <a:lnSpc>
                <a:spcPct val="150000"/>
              </a:lnSpc>
              <a:defRPr/>
            </a:pPr>
            <a:r>
              <a:rPr lang="en-US" sz="2000" b="0" dirty="0">
                <a:solidFill>
                  <a:schemeClr val="tx1"/>
                </a:solidFill>
                <a:latin typeface="Arial" pitchFamily="34" charset="0"/>
                <a:ea typeface="微软雅黑" pitchFamily="34" charset="-122"/>
                <a:cs typeface="Arial" pitchFamily="34" charset="0"/>
              </a:rPr>
              <a:t>			 </a:t>
            </a:r>
            <a:endParaRPr kumimoji="0" lang="zh-CN" altLang="en-US" sz="2000" b="0" kern="0" dirty="0">
              <a:solidFill>
                <a:schemeClr val="tx1"/>
              </a:solidFill>
              <a:latin typeface="Arial" pitchFamily="34" charset="0"/>
              <a:ea typeface="微软雅黑" pitchFamily="34" charset="-122"/>
              <a:cs typeface="Arial" pitchFamily="34" charset="0"/>
            </a:endParaRPr>
          </a:p>
          <a:p>
            <a:pPr marL="1143000" lvl="2" indent="-228600" eaLnBrk="0" hangingPunct="0">
              <a:lnSpc>
                <a:spcPct val="150000"/>
              </a:lnSpc>
              <a:spcBef>
                <a:spcPct val="20000"/>
              </a:spcBef>
              <a:buClr>
                <a:schemeClr val="folHlink"/>
              </a:buClr>
              <a:buSzPct val="50000"/>
              <a:buFont typeface="Wingdings" pitchFamily="2" charset="2"/>
              <a:buNone/>
              <a:defRPr/>
            </a:pPr>
            <a:r>
              <a:rPr kumimoji="0" lang="zh-CN" altLang="en-US" sz="2000" b="0" kern="0" dirty="0">
                <a:solidFill>
                  <a:schemeClr val="tx1"/>
                </a:solidFill>
                <a:latin typeface="Arial" pitchFamily="34" charset="0"/>
                <a:ea typeface="微软雅黑" pitchFamily="34" charset="-122"/>
                <a:cs typeface="Arial" pitchFamily="34" charset="0"/>
              </a:rPr>
              <a:t>	</a:t>
            </a:r>
          </a:p>
        </p:txBody>
      </p:sp>
      <p:sp>
        <p:nvSpPr>
          <p:cNvPr id="5" name="矩形 4">
            <a:extLst>
              <a:ext uri="{FF2B5EF4-FFF2-40B4-BE49-F238E27FC236}">
                <a16:creationId xmlns:a16="http://schemas.microsoft.com/office/drawing/2014/main" id="{4236575F-9F73-75D7-E133-03303AF9ABD0}"/>
              </a:ext>
            </a:extLst>
          </p:cNvPr>
          <p:cNvSpPr/>
          <p:nvPr/>
        </p:nvSpPr>
        <p:spPr>
          <a:xfrm>
            <a:off x="571500" y="1047750"/>
            <a:ext cx="3275013" cy="523875"/>
          </a:xfrm>
          <a:prstGeom prst="rect">
            <a:avLst/>
          </a:prstGeom>
        </p:spPr>
        <p:txBody>
          <a:bodyPr>
            <a:spAutoFit/>
          </a:bodyPr>
          <a:lstStyle/>
          <a:p>
            <a:pPr marL="285750" indent="-285750" eaLnBrk="0" hangingPunct="0">
              <a:spcBef>
                <a:spcPct val="20000"/>
              </a:spcBef>
              <a:buClr>
                <a:srgbClr val="FF0000"/>
              </a:buClr>
              <a:buSzPct val="82000"/>
              <a:buFont typeface="Wingdings" pitchFamily="2" charset="2"/>
              <a:buChar char="n"/>
              <a:defRPr/>
            </a:pPr>
            <a:r>
              <a:rPr lang="zh-CN" altLang="en-US" sz="2800" dirty="0">
                <a:solidFill>
                  <a:srgbClr val="000000"/>
                </a:solidFill>
                <a:latin typeface="微软雅黑" pitchFamily="34" charset="-122"/>
                <a:ea typeface="微软雅黑" pitchFamily="34" charset="-122"/>
              </a:rPr>
              <a:t>码多项式 </a:t>
            </a:r>
            <a:endParaRPr kumimoji="0" lang="zh-CN" altLang="en-US" sz="2200" b="0" kern="0" dirty="0">
              <a:solidFill>
                <a:srgbClr val="0000CC"/>
              </a:solidFill>
              <a:latin typeface="Tahoma"/>
              <a:ea typeface="宋体"/>
            </a:endParaRPr>
          </a:p>
        </p:txBody>
      </p:sp>
      <p:sp>
        <p:nvSpPr>
          <p:cNvPr id="73730" name="Rectangle 2">
            <a:extLst>
              <a:ext uri="{FF2B5EF4-FFF2-40B4-BE49-F238E27FC236}">
                <a16:creationId xmlns:a16="http://schemas.microsoft.com/office/drawing/2014/main" id="{8C831630-50D9-CDD6-62E7-4203A9FD9DA7}"/>
              </a:ext>
            </a:extLst>
          </p:cNvPr>
          <p:cNvSpPr>
            <a:spLocks noChangeArrowheads="1"/>
          </p:cNvSpPr>
          <p:nvPr/>
        </p:nvSpPr>
        <p:spPr bwMode="auto">
          <a:xfrm>
            <a:off x="0" y="0"/>
            <a:ext cx="9144000" cy="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16" name="矩形 15">
            <a:extLst>
              <a:ext uri="{FF2B5EF4-FFF2-40B4-BE49-F238E27FC236}">
                <a16:creationId xmlns:a16="http://schemas.microsoft.com/office/drawing/2014/main" id="{AF702369-DC0A-83E1-7C1E-A1AD7E432ADD}"/>
              </a:ext>
            </a:extLst>
          </p:cNvPr>
          <p:cNvSpPr>
            <a:spLocks noChangeArrowheads="1"/>
          </p:cNvSpPr>
          <p:nvPr/>
        </p:nvSpPr>
        <p:spPr bwMode="auto">
          <a:xfrm>
            <a:off x="871538" y="3086100"/>
            <a:ext cx="6858000" cy="400050"/>
          </a:xfrm>
          <a:prstGeom prst="rect">
            <a:avLst/>
          </a:prstGeom>
          <a:noFill/>
          <a:ln w="9525">
            <a:noFill/>
            <a:miter lim="800000"/>
            <a:headEnd/>
            <a:tailEnd/>
          </a:ln>
          <a:effectLst/>
        </p:spPr>
        <p:txBody>
          <a:bodyPr>
            <a:spAutoFit/>
          </a:bodyPr>
          <a:lstStyle/>
          <a:p>
            <a:pPr>
              <a:defRPr/>
            </a:pPr>
            <a:r>
              <a:rPr lang="zh-CN" altLang="en-US" sz="2000" b="0" dirty="0">
                <a:solidFill>
                  <a:schemeClr val="tx1"/>
                </a:solidFill>
                <a:latin typeface="微软雅黑" pitchFamily="34" charset="-122"/>
                <a:ea typeface="微软雅黑" pitchFamily="34" charset="-122"/>
              </a:rPr>
              <a:t>多项式的系数就是码组中的各码元</a:t>
            </a:r>
            <a:r>
              <a:rPr lang="zh-CN" altLang="en-US" sz="2000" b="0" dirty="0">
                <a:solidFill>
                  <a:schemeClr val="tx1"/>
                </a:solidFill>
                <a:latin typeface="+mn-ea"/>
                <a:ea typeface="+mn-ea"/>
              </a:rPr>
              <a:t>，</a:t>
            </a:r>
            <a:r>
              <a:rPr lang="en-US" altLang="zh-CN" sz="2000" i="1" dirty="0">
                <a:solidFill>
                  <a:srgbClr val="FF0000"/>
                </a:solidFill>
                <a:latin typeface="微软雅黑" pitchFamily="34" charset="-122"/>
                <a:ea typeface="微软雅黑" pitchFamily="34" charset="-122"/>
              </a:rPr>
              <a:t>x</a:t>
            </a:r>
            <a:r>
              <a:rPr lang="zh-CN" altLang="en-US" sz="2000" i="1" dirty="0">
                <a:solidFill>
                  <a:schemeClr val="tx1"/>
                </a:solidFill>
                <a:latin typeface="微软雅黑" pitchFamily="34" charset="-122"/>
                <a:ea typeface="微软雅黑" pitchFamily="34" charset="-122"/>
              </a:rPr>
              <a:t> </a:t>
            </a:r>
            <a:r>
              <a:rPr lang="zh-CN" altLang="en-US" sz="2000" b="0" dirty="0">
                <a:solidFill>
                  <a:schemeClr val="tx1"/>
                </a:solidFill>
                <a:latin typeface="微软雅黑" pitchFamily="34" charset="-122"/>
                <a:ea typeface="微软雅黑" pitchFamily="34" charset="-122"/>
              </a:rPr>
              <a:t>仅是码元位置标记 。</a:t>
            </a:r>
          </a:p>
        </p:txBody>
      </p:sp>
      <p:sp>
        <p:nvSpPr>
          <p:cNvPr id="22" name="矩形 21">
            <a:extLst>
              <a:ext uri="{FF2B5EF4-FFF2-40B4-BE49-F238E27FC236}">
                <a16:creationId xmlns:a16="http://schemas.microsoft.com/office/drawing/2014/main" id="{1BD96F40-463F-5D6C-B42F-27A223CFBD7E}"/>
              </a:ext>
            </a:extLst>
          </p:cNvPr>
          <p:cNvSpPr/>
          <p:nvPr/>
        </p:nvSpPr>
        <p:spPr>
          <a:xfrm>
            <a:off x="785813" y="3725863"/>
            <a:ext cx="1149350" cy="460375"/>
          </a:xfrm>
          <a:prstGeom prst="rect">
            <a:avLst/>
          </a:prstGeom>
        </p:spPr>
        <p:txBody>
          <a:bodyPr wrap="none">
            <a:spAutoFit/>
          </a:bodyPr>
          <a:lstStyle/>
          <a:p>
            <a:pPr>
              <a:defRPr/>
            </a:pPr>
            <a:r>
              <a:rPr kumimoji="0" lang="en-US" altLang="zh-CN" sz="2400" i="1" kern="0" dirty="0">
                <a:solidFill>
                  <a:srgbClr val="0000CC"/>
                </a:solidFill>
                <a:latin typeface="Arial" pitchFamily="34" charset="0"/>
                <a:ea typeface="微软雅黑" pitchFamily="34" charset="-122"/>
                <a:cs typeface="Arial" pitchFamily="34" charset="0"/>
              </a:rPr>
              <a:t>n</a:t>
            </a:r>
            <a:r>
              <a:rPr kumimoji="0" lang="en-US" altLang="zh-CN" sz="2400" kern="0" dirty="0">
                <a:solidFill>
                  <a:srgbClr val="0000CC"/>
                </a:solidFill>
                <a:latin typeface="Arial" pitchFamily="34" charset="0"/>
                <a:ea typeface="微软雅黑" pitchFamily="34" charset="-122"/>
                <a:cs typeface="Arial" pitchFamily="34" charset="0"/>
              </a:rPr>
              <a:t>=7 </a:t>
            </a: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时</a:t>
            </a:r>
            <a:r>
              <a:rPr kumimoji="0" lang="en-US" altLang="zh-CN" sz="2400" b="0" kern="0" dirty="0">
                <a:solidFill>
                  <a:srgbClr val="000000"/>
                </a:solidFill>
                <a:latin typeface="Arial" pitchFamily="34" charset="0"/>
                <a:ea typeface="微软雅黑" pitchFamily="34" charset="-122"/>
                <a:cs typeface="Arial" pitchFamily="34" charset="0"/>
              </a:rPr>
              <a:t> </a:t>
            </a:r>
            <a:endParaRPr lang="zh-CN" altLang="en-US" dirty="0"/>
          </a:p>
        </p:txBody>
      </p:sp>
      <p:grpSp>
        <p:nvGrpSpPr>
          <p:cNvPr id="2" name="组合 30">
            <a:extLst>
              <a:ext uri="{FF2B5EF4-FFF2-40B4-BE49-F238E27FC236}">
                <a16:creationId xmlns:a16="http://schemas.microsoft.com/office/drawing/2014/main" id="{B6AD6A66-D54A-5E7E-0D49-AAA4B3B063D4}"/>
              </a:ext>
            </a:extLst>
          </p:cNvPr>
          <p:cNvGrpSpPr>
            <a:grpSpLocks/>
          </p:cNvGrpSpPr>
          <p:nvPr/>
        </p:nvGrpSpPr>
        <p:grpSpPr bwMode="auto">
          <a:xfrm>
            <a:off x="1000125" y="4545013"/>
            <a:ext cx="714375" cy="571500"/>
            <a:chOff x="285721" y="3286124"/>
            <a:chExt cx="714380" cy="571504"/>
          </a:xfrm>
        </p:grpSpPr>
        <p:grpSp>
          <p:nvGrpSpPr>
            <p:cNvPr id="101389" name="Group 52">
              <a:extLst>
                <a:ext uri="{FF2B5EF4-FFF2-40B4-BE49-F238E27FC236}">
                  <a16:creationId xmlns:a16="http://schemas.microsoft.com/office/drawing/2014/main" id="{C85C7E4B-A669-A2BF-00B6-944AE67421C3}"/>
                </a:ext>
              </a:extLst>
            </p:cNvPr>
            <p:cNvGrpSpPr>
              <a:grpSpLocks/>
            </p:cNvGrpSpPr>
            <p:nvPr/>
          </p:nvGrpSpPr>
          <p:grpSpPr bwMode="auto">
            <a:xfrm>
              <a:off x="285721" y="3286124"/>
              <a:ext cx="714380" cy="571504"/>
              <a:chOff x="1289" y="582"/>
              <a:chExt cx="668" cy="668"/>
            </a:xfrm>
          </p:grpSpPr>
          <p:sp>
            <p:nvSpPr>
              <p:cNvPr id="101391" name="Oval 53">
                <a:extLst>
                  <a:ext uri="{FF2B5EF4-FFF2-40B4-BE49-F238E27FC236}">
                    <a16:creationId xmlns:a16="http://schemas.microsoft.com/office/drawing/2014/main" id="{227D419C-4D54-9962-45B3-521EA0E9DAEA}"/>
                  </a:ext>
                </a:extLst>
              </p:cNvPr>
              <p:cNvSpPr>
                <a:spLocks noChangeArrowheads="1"/>
              </p:cNvSpPr>
              <p:nvPr/>
            </p:nvSpPr>
            <p:spPr bwMode="gray">
              <a:xfrm>
                <a:off x="1289" y="582"/>
                <a:ext cx="668" cy="668"/>
              </a:xfrm>
              <a:prstGeom prst="ellipse">
                <a:avLst/>
              </a:prstGeom>
              <a:solidFill>
                <a:srgbClr val="333333"/>
              </a:soli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01392" name="Oval 54">
                <a:extLst>
                  <a:ext uri="{FF2B5EF4-FFF2-40B4-BE49-F238E27FC236}">
                    <a16:creationId xmlns:a16="http://schemas.microsoft.com/office/drawing/2014/main" id="{A68FF479-DE15-B390-E1A0-45B5CDA4126B}"/>
                  </a:ext>
                </a:extLst>
              </p:cNvPr>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01393" name="Oval 55">
                <a:extLst>
                  <a:ext uri="{FF2B5EF4-FFF2-40B4-BE49-F238E27FC236}">
                    <a16:creationId xmlns:a16="http://schemas.microsoft.com/office/drawing/2014/main" id="{6F95EA78-8A39-4A2A-B5B1-55F82A125175}"/>
                  </a:ext>
                </a:extLst>
              </p:cNvPr>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01394" name="Oval 56">
                <a:extLst>
                  <a:ext uri="{FF2B5EF4-FFF2-40B4-BE49-F238E27FC236}">
                    <a16:creationId xmlns:a16="http://schemas.microsoft.com/office/drawing/2014/main" id="{D7444789-058A-A863-54DA-80516BB46E06}"/>
                  </a:ext>
                </a:extLst>
              </p:cNvPr>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01395" name="Oval 57">
                <a:extLst>
                  <a:ext uri="{FF2B5EF4-FFF2-40B4-BE49-F238E27FC236}">
                    <a16:creationId xmlns:a16="http://schemas.microsoft.com/office/drawing/2014/main" id="{DE65E1EF-57E9-DE33-5AB8-F4B224933676}"/>
                  </a:ext>
                </a:extLst>
              </p:cNvPr>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pSp>
        <p:sp>
          <p:nvSpPr>
            <p:cNvPr id="101390" name="Text Box 29">
              <a:extLst>
                <a:ext uri="{FF2B5EF4-FFF2-40B4-BE49-F238E27FC236}">
                  <a16:creationId xmlns:a16="http://schemas.microsoft.com/office/drawing/2014/main" id="{369B820A-AE27-B4D6-7F5C-64B1F08607C8}"/>
                </a:ext>
              </a:extLst>
            </p:cNvPr>
            <p:cNvSpPr txBox="1">
              <a:spLocks noChangeArrowheads="1"/>
            </p:cNvSpPr>
            <p:nvPr/>
          </p:nvSpPr>
          <p:spPr bwMode="gray">
            <a:xfrm>
              <a:off x="357158" y="3286124"/>
              <a:ext cx="542027" cy="519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a:r>
                <a:rPr kumimoji="0" lang="zh-CN" altLang="en-US" sz="2800">
                  <a:solidFill>
                    <a:srgbClr val="0000CC"/>
                  </a:solidFill>
                  <a:latin typeface="Arial" panose="020B0604020202020204" pitchFamily="34" charset="0"/>
                  <a:ea typeface="宋体" panose="02010600030101010101" pitchFamily="2" charset="-122"/>
                </a:rPr>
                <a:t>例</a:t>
              </a:r>
            </a:p>
          </p:txBody>
        </p:sp>
      </p:grpSp>
      <p:sp>
        <p:nvSpPr>
          <p:cNvPr id="19" name="矩形 18">
            <a:extLst>
              <a:ext uri="{FF2B5EF4-FFF2-40B4-BE49-F238E27FC236}">
                <a16:creationId xmlns:a16="http://schemas.microsoft.com/office/drawing/2014/main" id="{D2FE2E94-FFCF-53CA-40E9-3661ED96F2C6}"/>
              </a:ext>
            </a:extLst>
          </p:cNvPr>
          <p:cNvSpPr/>
          <p:nvPr/>
        </p:nvSpPr>
        <p:spPr>
          <a:xfrm>
            <a:off x="2500313" y="1130300"/>
            <a:ext cx="4572000" cy="400050"/>
          </a:xfrm>
          <a:prstGeom prst="rect">
            <a:avLst/>
          </a:prstGeom>
        </p:spPr>
        <p:txBody>
          <a:bodyPr>
            <a:spAutoFit/>
          </a:bodyPr>
          <a:lstStyle/>
          <a:p>
            <a:pPr>
              <a:defRPr/>
            </a:pPr>
            <a:r>
              <a:rPr lang="en-US" altLang="zh-CN"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a:t>
            </a: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码字（码组）的多项式表示</a:t>
            </a:r>
          </a:p>
        </p:txBody>
      </p:sp>
      <p:pic>
        <p:nvPicPr>
          <p:cNvPr id="25620" name="Picture 20">
            <a:extLst>
              <a:ext uri="{FF2B5EF4-FFF2-40B4-BE49-F238E27FC236}">
                <a16:creationId xmlns:a16="http://schemas.microsoft.com/office/drawing/2014/main" id="{E90B6374-340D-C6E5-D7AD-DC070CB90A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64095"/>
          <a:stretch>
            <a:fillRect/>
          </a:stretch>
        </p:blipFill>
        <p:spPr bwMode="auto">
          <a:xfrm>
            <a:off x="2071688" y="2428875"/>
            <a:ext cx="641985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20">
            <a:extLst>
              <a:ext uri="{FF2B5EF4-FFF2-40B4-BE49-F238E27FC236}">
                <a16:creationId xmlns:a16="http://schemas.microsoft.com/office/drawing/2014/main" id="{F49DCAD4-C837-3007-7F8E-84D9E57454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3831" b="-3726"/>
          <a:stretch>
            <a:fillRect/>
          </a:stretch>
        </p:blipFill>
        <p:spPr bwMode="auto">
          <a:xfrm>
            <a:off x="1857375" y="3616325"/>
            <a:ext cx="641985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22" name="Picture 22">
            <a:extLst>
              <a:ext uri="{FF2B5EF4-FFF2-40B4-BE49-F238E27FC236}">
                <a16:creationId xmlns:a16="http://schemas.microsoft.com/office/drawing/2014/main" id="{5BA629A3-CFB5-CA8A-2AC3-6DB16931CE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63074"/>
          <a:stretch>
            <a:fillRect/>
          </a:stretch>
        </p:blipFill>
        <p:spPr bwMode="auto">
          <a:xfrm>
            <a:off x="1785938" y="5283200"/>
            <a:ext cx="6429375" cy="95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1000"/>
                                        <p:tgtEl>
                                          <p:spTgt spid="5"/>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1000"/>
                                        <p:tgtEl>
                                          <p:spTgt spid="1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25621"/>
                                        </p:tgtEl>
                                        <p:attrNameLst>
                                          <p:attrName>style.visibility</p:attrName>
                                        </p:attrNameLst>
                                      </p:cBhvr>
                                      <p:to>
                                        <p:strVal val="visible"/>
                                      </p:to>
                                    </p:set>
                                    <p:animEffect transition="in" filter="wipe(up)">
                                      <p:cBhvr>
                                        <p:cTn id="16" dur="1000"/>
                                        <p:tgtEl>
                                          <p:spTgt spid="25621"/>
                                        </p:tgtEl>
                                      </p:cBhvr>
                                    </p:animEffect>
                                  </p:childTnLst>
                                </p:cTn>
                              </p:par>
                            </p:childTnLst>
                          </p:cTn>
                        </p:par>
                        <p:par>
                          <p:cTn id="17" fill="hold" nodeType="afterGroup">
                            <p:stCondLst>
                              <p:cond delay="1000"/>
                            </p:stCondLst>
                            <p:childTnLst>
                              <p:par>
                                <p:cTn id="18" presetID="22" presetClass="entr" presetSubtype="1" fill="hold" nodeType="afterEffect">
                                  <p:stCondLst>
                                    <p:cond delay="0"/>
                                  </p:stCondLst>
                                  <p:childTnLst>
                                    <p:set>
                                      <p:cBhvr>
                                        <p:cTn id="19" dur="1" fill="hold">
                                          <p:stCondLst>
                                            <p:cond delay="0"/>
                                          </p:stCondLst>
                                        </p:cTn>
                                        <p:tgtEl>
                                          <p:spTgt spid="25620"/>
                                        </p:tgtEl>
                                        <p:attrNameLst>
                                          <p:attrName>style.visibility</p:attrName>
                                        </p:attrNameLst>
                                      </p:cBhvr>
                                      <p:to>
                                        <p:strVal val="visible"/>
                                      </p:to>
                                    </p:set>
                                    <p:animEffect transition="in" filter="wipe(up)">
                                      <p:cBhvr>
                                        <p:cTn id="20" dur="1000"/>
                                        <p:tgtEl>
                                          <p:spTgt spid="2562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up)">
                                      <p:cBhvr>
                                        <p:cTn id="25" dur="1000"/>
                                        <p:tgtEl>
                                          <p:spTgt spid="1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wipe(up)">
                                      <p:cBhvr>
                                        <p:cTn id="30" dur="1000"/>
                                        <p:tgtEl>
                                          <p:spTgt spid="22"/>
                                        </p:tgtEl>
                                      </p:cBhvr>
                                    </p:animEffect>
                                  </p:childTnLst>
                                </p:cTn>
                              </p:par>
                            </p:childTnLst>
                          </p:cTn>
                        </p:par>
                        <p:par>
                          <p:cTn id="31" fill="hold" nodeType="afterGroup">
                            <p:stCondLst>
                              <p:cond delay="1000"/>
                            </p:stCondLst>
                            <p:childTnLst>
                              <p:par>
                                <p:cTn id="32" presetID="22" presetClass="entr" presetSubtype="1" fill="hold" nodeType="after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up)">
                                      <p:cBhvr>
                                        <p:cTn id="34" dur="1000"/>
                                        <p:tgtEl>
                                          <p:spTgt spid="2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wipe(left)">
                                      <p:cBhvr>
                                        <p:cTn id="39" dur="1000"/>
                                        <p:tgtEl>
                                          <p:spTgt spid="2"/>
                                        </p:tgtEl>
                                      </p:cBhvr>
                                    </p:animEffect>
                                  </p:childTnLst>
                                </p:cTn>
                              </p:par>
                            </p:childTnLst>
                          </p:cTn>
                        </p:par>
                        <p:par>
                          <p:cTn id="40" fill="hold" nodeType="afterGroup">
                            <p:stCondLst>
                              <p:cond delay="1000"/>
                            </p:stCondLst>
                            <p:childTnLst>
                              <p:par>
                                <p:cTn id="41" presetID="22" presetClass="entr" presetSubtype="1" fill="hold" nodeType="after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wipe(up)">
                                      <p:cBhvr>
                                        <p:cTn id="43" dur="1000"/>
                                        <p:tgtEl>
                                          <p:spTgt spid="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1" fill="hold" nodeType="clickEffect">
                                  <p:stCondLst>
                                    <p:cond delay="0"/>
                                  </p:stCondLst>
                                  <p:childTnLst>
                                    <p:set>
                                      <p:cBhvr>
                                        <p:cTn id="47" dur="1" fill="hold">
                                          <p:stCondLst>
                                            <p:cond delay="0"/>
                                          </p:stCondLst>
                                        </p:cTn>
                                        <p:tgtEl>
                                          <p:spTgt spid="25622"/>
                                        </p:tgtEl>
                                        <p:attrNameLst>
                                          <p:attrName>style.visibility</p:attrName>
                                        </p:attrNameLst>
                                      </p:cBhvr>
                                      <p:to>
                                        <p:strVal val="visible"/>
                                      </p:to>
                                    </p:set>
                                    <p:animEffect transition="in" filter="wipe(up)">
                                      <p:cBhvr>
                                        <p:cTn id="48" dur="1000"/>
                                        <p:tgtEl>
                                          <p:spTgt spid="256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16" grpId="0"/>
      <p:bldP spid="22" grpId="0"/>
      <p:bldP spid="19"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786FC1ED-64C8-ADAD-FCCE-C797A0F9D190}"/>
              </a:ext>
            </a:extLst>
          </p:cNvPr>
          <p:cNvSpPr/>
          <p:nvPr/>
        </p:nvSpPr>
        <p:spPr>
          <a:xfrm>
            <a:off x="214313" y="500063"/>
            <a:ext cx="4500562" cy="523875"/>
          </a:xfrm>
          <a:prstGeom prst="rect">
            <a:avLst/>
          </a:prstGeom>
        </p:spPr>
        <p:txBody>
          <a:bodyPr>
            <a:spAutoFit/>
          </a:bodyPr>
          <a:lstStyle/>
          <a:p>
            <a:pPr marL="285750" indent="-285750" eaLnBrk="0" hangingPunct="0">
              <a:spcBef>
                <a:spcPct val="20000"/>
              </a:spcBef>
              <a:buClr>
                <a:srgbClr val="FF0000"/>
              </a:buClr>
              <a:buSzPct val="82000"/>
              <a:defRPr/>
            </a:pPr>
            <a:r>
              <a:rPr lang="en-US" altLang="zh-CN" sz="2800" dirty="0">
                <a:solidFill>
                  <a:srgbClr val="990099"/>
                </a:solidFill>
                <a:latin typeface="微软雅黑" pitchFamily="34" charset="-122"/>
                <a:ea typeface="微软雅黑" pitchFamily="34" charset="-122"/>
              </a:rPr>
              <a:t>1. </a:t>
            </a:r>
            <a:r>
              <a:rPr lang="zh-CN" altLang="en-US" sz="2800" dirty="0">
                <a:solidFill>
                  <a:srgbClr val="003399"/>
                </a:solidFill>
                <a:latin typeface="微软雅黑" pitchFamily="34" charset="-122"/>
                <a:ea typeface="微软雅黑" pitchFamily="34" charset="-122"/>
              </a:rPr>
              <a:t>码多项式的按模运算 </a:t>
            </a:r>
            <a:endParaRPr kumimoji="0" lang="zh-CN" altLang="en-US" sz="2800" b="0" kern="0" dirty="0">
              <a:solidFill>
                <a:srgbClr val="003399"/>
              </a:solidFill>
              <a:latin typeface="Tahoma"/>
              <a:ea typeface="宋体"/>
            </a:endParaRPr>
          </a:p>
        </p:txBody>
      </p:sp>
      <p:sp>
        <p:nvSpPr>
          <p:cNvPr id="6" name="Rectangle 3">
            <a:extLst>
              <a:ext uri="{FF2B5EF4-FFF2-40B4-BE49-F238E27FC236}">
                <a16:creationId xmlns:a16="http://schemas.microsoft.com/office/drawing/2014/main" id="{BEA91948-19D7-9437-EB28-01C1E302AAF3}"/>
              </a:ext>
            </a:extLst>
          </p:cNvPr>
          <p:cNvSpPr txBox="1">
            <a:spLocks noChangeArrowheads="1"/>
          </p:cNvSpPr>
          <p:nvPr/>
        </p:nvSpPr>
        <p:spPr bwMode="auto">
          <a:xfrm>
            <a:off x="942975" y="3271838"/>
            <a:ext cx="7929563" cy="571500"/>
          </a:xfrm>
          <a:prstGeom prst="rect">
            <a:avLst/>
          </a:prstGeom>
          <a:noFill/>
          <a:ln w="9525">
            <a:noFill/>
            <a:miter lim="800000"/>
            <a:headEnd/>
            <a:tailEnd/>
          </a:ln>
        </p:spPr>
        <p:txBody>
          <a:bodyPr/>
          <a:lstStyle/>
          <a:p>
            <a:pPr marL="228600" indent="-228600">
              <a:lnSpc>
                <a:spcPct val="150000"/>
              </a:lnSpc>
              <a:spcBef>
                <a:spcPct val="20000"/>
              </a:spcBef>
              <a:buClr>
                <a:schemeClr val="accent2"/>
              </a:buClr>
              <a:buSzPct val="55000"/>
              <a:defRPr/>
            </a:pPr>
            <a:r>
              <a:rPr kumimoji="0" lang="zh-CN" altLang="en-US" sz="2000" b="0" kern="0" dirty="0">
                <a:solidFill>
                  <a:schemeClr val="tx1"/>
                </a:solidFill>
                <a:latin typeface="Arial" pitchFamily="34" charset="0"/>
                <a:ea typeface="微软雅黑" pitchFamily="34" charset="-122"/>
                <a:cs typeface="Arial" pitchFamily="34" charset="0"/>
              </a:rPr>
              <a:t>一般说来，</a:t>
            </a: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若</a:t>
            </a:r>
            <a:r>
              <a:rPr kumimoji="0" lang="zh-CN" altLang="en-US" sz="2000" b="0" kern="0" dirty="0">
                <a:solidFill>
                  <a:schemeClr val="tx1"/>
                </a:solidFill>
                <a:latin typeface="Arial" pitchFamily="34" charset="0"/>
                <a:ea typeface="微软雅黑" pitchFamily="34" charset="-122"/>
                <a:cs typeface="Arial" pitchFamily="34" charset="0"/>
              </a:rPr>
              <a:t>一个整数</a:t>
            </a:r>
            <a:r>
              <a:rPr kumimoji="0" lang="en-US" altLang="zh-CN" sz="2400" i="1" kern="0" dirty="0">
                <a:solidFill>
                  <a:srgbClr val="990099"/>
                </a:solidFill>
                <a:latin typeface="Arial" pitchFamily="34" charset="0"/>
                <a:ea typeface="微软雅黑" pitchFamily="34" charset="-122"/>
                <a:cs typeface="Arial" pitchFamily="34" charset="0"/>
              </a:rPr>
              <a:t>m </a:t>
            </a:r>
            <a:r>
              <a:rPr kumimoji="0" lang="zh-CN" altLang="en-US" sz="2000" b="0" kern="0" dirty="0">
                <a:solidFill>
                  <a:schemeClr val="tx1"/>
                </a:solidFill>
                <a:latin typeface="Arial" pitchFamily="34" charset="0"/>
                <a:ea typeface="微软雅黑" pitchFamily="34" charset="-122"/>
                <a:cs typeface="Arial" pitchFamily="34" charset="0"/>
              </a:rPr>
              <a:t>可以表示为</a:t>
            </a:r>
          </a:p>
          <a:p>
            <a:pPr marL="228600" indent="-228600">
              <a:lnSpc>
                <a:spcPct val="150000"/>
              </a:lnSpc>
              <a:spcBef>
                <a:spcPct val="20000"/>
              </a:spcBef>
              <a:buClr>
                <a:schemeClr val="accent2"/>
              </a:buClr>
              <a:buSzPct val="55000"/>
              <a:defRPr/>
            </a:pPr>
            <a:r>
              <a:rPr kumimoji="0" lang="zh-CN" altLang="en-US" sz="2000" b="0" kern="0" dirty="0">
                <a:solidFill>
                  <a:schemeClr val="tx1"/>
                </a:solidFill>
                <a:latin typeface="Arial" pitchFamily="34" charset="0"/>
                <a:ea typeface="微软雅黑" pitchFamily="34" charset="-122"/>
                <a:cs typeface="Arial" pitchFamily="34" charset="0"/>
              </a:rPr>
              <a:t>		</a:t>
            </a:r>
            <a:endParaRPr kumimoji="0" lang="en-US" altLang="zh-CN" sz="2000" b="0" kern="0" dirty="0">
              <a:solidFill>
                <a:schemeClr val="tx1"/>
              </a:solidFill>
              <a:latin typeface="Arial" pitchFamily="34" charset="0"/>
              <a:ea typeface="微软雅黑" pitchFamily="34" charset="-122"/>
              <a:cs typeface="Arial" pitchFamily="34" charset="0"/>
            </a:endParaRPr>
          </a:p>
        </p:txBody>
      </p:sp>
      <p:graphicFrame>
        <p:nvGraphicFramePr>
          <p:cNvPr id="80900" name="Object 4">
            <a:extLst>
              <a:ext uri="{FF2B5EF4-FFF2-40B4-BE49-F238E27FC236}">
                <a16:creationId xmlns:a16="http://schemas.microsoft.com/office/drawing/2014/main" id="{FE291F1A-3507-70EC-F81F-DD6843C07932}"/>
              </a:ext>
            </a:extLst>
          </p:cNvPr>
          <p:cNvGraphicFramePr>
            <a:graphicFrameLocks noChangeAspect="1"/>
          </p:cNvGraphicFramePr>
          <p:nvPr/>
        </p:nvGraphicFramePr>
        <p:xfrm>
          <a:off x="3516313" y="3986213"/>
          <a:ext cx="3070225" cy="808037"/>
        </p:xfrm>
        <a:graphic>
          <a:graphicData uri="http://schemas.openxmlformats.org/presentationml/2006/ole">
            <mc:AlternateContent xmlns:mc="http://schemas.openxmlformats.org/markup-compatibility/2006">
              <mc:Choice xmlns:v="urn:schemas-microsoft-com:vml" Requires="v">
                <p:oleObj name="公式" r:id="rId2" imgW="1485720" imgH="393480" progId="Equation.3">
                  <p:embed/>
                </p:oleObj>
              </mc:Choice>
              <mc:Fallback>
                <p:oleObj name="公式" r:id="rId2" imgW="1485720" imgH="39348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6313" y="3986213"/>
                        <a:ext cx="3070225" cy="808037"/>
                      </a:xfrm>
                      <a:prstGeom prst="rect">
                        <a:avLst/>
                      </a:prstGeom>
                      <a:noFill/>
                      <a:ln w="38100" cmpd="dbl">
                        <a:solidFill>
                          <a:srgbClr val="9999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矩形 6">
            <a:extLst>
              <a:ext uri="{FF2B5EF4-FFF2-40B4-BE49-F238E27FC236}">
                <a16:creationId xmlns:a16="http://schemas.microsoft.com/office/drawing/2014/main" id="{2D8C0DE6-896B-A4F1-D6C4-B0EF89DE6E81}"/>
              </a:ext>
            </a:extLst>
          </p:cNvPr>
          <p:cNvSpPr/>
          <p:nvPr/>
        </p:nvSpPr>
        <p:spPr>
          <a:xfrm>
            <a:off x="6729413" y="4200525"/>
            <a:ext cx="1736725" cy="400050"/>
          </a:xfrm>
          <a:prstGeom prst="rect">
            <a:avLst/>
          </a:prstGeom>
        </p:spPr>
        <p:txBody>
          <a:bodyPr wrap="none">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a:t>
            </a:r>
            <a:r>
              <a:rPr kumimoji="0" lang="en-US" altLang="zh-CN" sz="2000" b="0" i="1" kern="0" dirty="0">
                <a:solidFill>
                  <a:srgbClr val="000000"/>
                </a:solidFill>
                <a:latin typeface="Arial" pitchFamily="34" charset="0"/>
                <a:ea typeface="微软雅黑" pitchFamily="34" charset="-122"/>
                <a:cs typeface="Arial" pitchFamily="34" charset="0"/>
              </a:rPr>
              <a:t>Q</a:t>
            </a:r>
            <a:r>
              <a:rPr kumimoji="0" lang="en-US" altLang="zh-CN" sz="2000" b="0" kern="0" dirty="0">
                <a:solidFill>
                  <a:srgbClr val="000000"/>
                </a:solidFill>
                <a:latin typeface="Arial" pitchFamily="34" charset="0"/>
                <a:ea typeface="微软雅黑" pitchFamily="34" charset="-122"/>
                <a:cs typeface="Arial" pitchFamily="34" charset="0"/>
              </a:rPr>
              <a:t> </a:t>
            </a:r>
            <a:r>
              <a:rPr kumimoji="0" lang="zh-CN" altLang="en-US" sz="2000" b="0" kern="0" dirty="0">
                <a:solidFill>
                  <a:srgbClr val="000000"/>
                </a:solidFill>
                <a:latin typeface="Arial" pitchFamily="34" charset="0"/>
                <a:ea typeface="微软雅黑" pitchFamily="34" charset="-122"/>
                <a:cs typeface="Arial" pitchFamily="34" charset="0"/>
              </a:rPr>
              <a:t>为整数）</a:t>
            </a:r>
            <a:endParaRPr lang="zh-CN" altLang="en-US" dirty="0"/>
          </a:p>
        </p:txBody>
      </p:sp>
      <p:sp>
        <p:nvSpPr>
          <p:cNvPr id="8" name="矩形 7">
            <a:extLst>
              <a:ext uri="{FF2B5EF4-FFF2-40B4-BE49-F238E27FC236}">
                <a16:creationId xmlns:a16="http://schemas.microsoft.com/office/drawing/2014/main" id="{6234B75C-5BFD-9C90-1A9B-4D23E999BF1A}"/>
              </a:ext>
            </a:extLst>
          </p:cNvPr>
          <p:cNvSpPr/>
          <p:nvPr/>
        </p:nvSpPr>
        <p:spPr>
          <a:xfrm>
            <a:off x="4000500" y="5197475"/>
            <a:ext cx="2000250" cy="503238"/>
          </a:xfrm>
          <a:prstGeom prst="rect">
            <a:avLst/>
          </a:prstGeom>
          <a:ln w="38100" cmpd="dbl">
            <a:solidFill>
              <a:srgbClr val="6666FF"/>
            </a:solidFill>
          </a:ln>
        </p:spPr>
        <p:txBody>
          <a:bodyPr>
            <a:spAutoFit/>
          </a:bodyPr>
          <a:lstStyle/>
          <a:p>
            <a:pPr>
              <a:lnSpc>
                <a:spcPts val="3200"/>
              </a:lnSpc>
              <a:defRPr/>
            </a:pPr>
            <a:r>
              <a:rPr kumimoji="0" lang="en-US" altLang="zh-CN" sz="2400" b="0" i="1" kern="0" dirty="0">
                <a:solidFill>
                  <a:srgbClr val="000000"/>
                </a:solidFill>
                <a:latin typeface="Arial" pitchFamily="34" charset="0"/>
                <a:ea typeface="微软雅黑" pitchFamily="34" charset="-122"/>
                <a:cs typeface="Arial" pitchFamily="34" charset="0"/>
              </a:rPr>
              <a:t> </a:t>
            </a:r>
            <a:r>
              <a:rPr kumimoji="0" lang="en-US" altLang="zh-CN" sz="2400" i="1" kern="0" dirty="0">
                <a:solidFill>
                  <a:srgbClr val="990099"/>
                </a:solidFill>
                <a:latin typeface="Arial" pitchFamily="34" charset="0"/>
                <a:ea typeface="微软雅黑" pitchFamily="34" charset="-122"/>
                <a:cs typeface="Arial" pitchFamily="34" charset="0"/>
              </a:rPr>
              <a:t>m</a:t>
            </a:r>
            <a:r>
              <a:rPr kumimoji="0" lang="en-US" altLang="zh-CN" sz="2400" kern="0" dirty="0">
                <a:solidFill>
                  <a:srgbClr val="990099"/>
                </a:solidFill>
                <a:latin typeface="Arial" pitchFamily="34" charset="0"/>
                <a:ea typeface="微软雅黑" pitchFamily="34" charset="-122"/>
                <a:cs typeface="Arial" pitchFamily="34" charset="0"/>
              </a:rPr>
              <a:t> </a:t>
            </a:r>
            <a:r>
              <a:rPr kumimoji="0" lang="en-US" altLang="zh-CN" sz="2400" kern="0" dirty="0">
                <a:solidFill>
                  <a:srgbClr val="990099"/>
                </a:solidFill>
                <a:latin typeface="Arial" pitchFamily="34" charset="0"/>
                <a:ea typeface="微软雅黑" pitchFamily="34" charset="-122"/>
                <a:cs typeface="Arial" pitchFamily="34" charset="0"/>
                <a:sym typeface="Symbol" pitchFamily="18" charset="2"/>
              </a:rPr>
              <a:t></a:t>
            </a:r>
            <a:r>
              <a:rPr kumimoji="0" lang="en-US" altLang="zh-CN" sz="2400" kern="0" dirty="0">
                <a:solidFill>
                  <a:srgbClr val="990099"/>
                </a:solidFill>
                <a:latin typeface="Arial" pitchFamily="34" charset="0"/>
                <a:ea typeface="微软雅黑" pitchFamily="34" charset="-122"/>
                <a:cs typeface="Arial" pitchFamily="34" charset="0"/>
              </a:rPr>
              <a:t> </a:t>
            </a:r>
            <a:r>
              <a:rPr kumimoji="0" lang="en-US" altLang="zh-CN" sz="2400" i="1" kern="0" dirty="0">
                <a:solidFill>
                  <a:srgbClr val="990099"/>
                </a:solidFill>
                <a:latin typeface="Arial" pitchFamily="34" charset="0"/>
                <a:ea typeface="微软雅黑" pitchFamily="34" charset="-122"/>
                <a:cs typeface="Arial" pitchFamily="34" charset="0"/>
              </a:rPr>
              <a:t>p</a:t>
            </a:r>
            <a:r>
              <a:rPr kumimoji="0" lang="en-US" altLang="zh-CN" sz="2400" kern="0" dirty="0">
                <a:solidFill>
                  <a:srgbClr val="990099"/>
                </a:solidFill>
                <a:latin typeface="Arial" pitchFamily="34" charset="0"/>
                <a:ea typeface="微软雅黑" pitchFamily="34" charset="-122"/>
                <a:cs typeface="Arial" pitchFamily="34" charset="0"/>
              </a:rPr>
              <a:t>   </a:t>
            </a:r>
            <a:r>
              <a:rPr kumimoji="0" lang="en-US" altLang="zh-CN" sz="2400" b="0" kern="0" dirty="0">
                <a:solidFill>
                  <a:srgbClr val="000000"/>
                </a:solidFill>
                <a:latin typeface="Arial" pitchFamily="34" charset="0"/>
                <a:ea typeface="微软雅黑" pitchFamily="34" charset="-122"/>
                <a:cs typeface="Arial" pitchFamily="34" charset="0"/>
              </a:rPr>
              <a:t>(</a:t>
            </a:r>
            <a:r>
              <a:rPr kumimoji="0" lang="zh-CN" altLang="en-US" sz="2400" b="0" kern="0" dirty="0">
                <a:solidFill>
                  <a:srgbClr val="0000CC"/>
                </a:solidFill>
                <a:latin typeface="Arial" pitchFamily="34" charset="0"/>
                <a:ea typeface="微软雅黑" pitchFamily="34" charset="-122"/>
                <a:cs typeface="Arial" pitchFamily="34" charset="0"/>
              </a:rPr>
              <a:t>模</a:t>
            </a:r>
            <a:r>
              <a:rPr kumimoji="0" lang="en-US" altLang="zh-CN" sz="2400" i="1" kern="0" dirty="0">
                <a:solidFill>
                  <a:srgbClr val="0000CC"/>
                </a:solidFill>
                <a:latin typeface="Arial" pitchFamily="34" charset="0"/>
                <a:ea typeface="微软雅黑" pitchFamily="34" charset="-122"/>
                <a:cs typeface="Arial" pitchFamily="34" charset="0"/>
              </a:rPr>
              <a:t>n</a:t>
            </a:r>
            <a:r>
              <a:rPr kumimoji="0" lang="en-US" altLang="zh-CN" sz="2400" b="0" kern="0" dirty="0">
                <a:solidFill>
                  <a:srgbClr val="000000"/>
                </a:solidFill>
                <a:latin typeface="Arial" pitchFamily="34" charset="0"/>
                <a:ea typeface="微软雅黑" pitchFamily="34" charset="-122"/>
                <a:cs typeface="Arial" pitchFamily="34" charset="0"/>
              </a:rPr>
              <a:t>)</a:t>
            </a:r>
            <a:endParaRPr lang="zh-CN" altLang="en-US" sz="2400" dirty="0"/>
          </a:p>
        </p:txBody>
      </p:sp>
      <p:sp>
        <p:nvSpPr>
          <p:cNvPr id="11" name="矩形 10">
            <a:extLst>
              <a:ext uri="{FF2B5EF4-FFF2-40B4-BE49-F238E27FC236}">
                <a16:creationId xmlns:a16="http://schemas.microsoft.com/office/drawing/2014/main" id="{7EA5AA57-4ED6-DBEB-6ADC-74B7E3E6F885}"/>
              </a:ext>
            </a:extLst>
          </p:cNvPr>
          <p:cNvSpPr/>
          <p:nvPr/>
        </p:nvSpPr>
        <p:spPr>
          <a:xfrm>
            <a:off x="928688" y="4700588"/>
            <a:ext cx="3429000" cy="646112"/>
          </a:xfrm>
          <a:prstGeom prst="rect">
            <a:avLst/>
          </a:prstGeom>
        </p:spPr>
        <p:txBody>
          <a:bodyPr>
            <a:spAutoFit/>
          </a:bodyPr>
          <a:lstStyle/>
          <a:p>
            <a:pPr marL="228600" indent="-228600">
              <a:lnSpc>
                <a:spcPct val="150000"/>
              </a:lnSpc>
              <a:spcBef>
                <a:spcPct val="20000"/>
              </a:spcBef>
              <a:buClr>
                <a:srgbClr val="FFCF01"/>
              </a:buClr>
              <a:buSzPct val="55000"/>
              <a:defRPr/>
            </a:pP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则</a:t>
            </a:r>
            <a:r>
              <a:rPr kumimoji="0" lang="zh-CN" altLang="en-US" sz="2000" b="0" kern="0" dirty="0">
                <a:solidFill>
                  <a:srgbClr val="000000"/>
                </a:solidFill>
                <a:latin typeface="Arial" pitchFamily="34" charset="0"/>
                <a:ea typeface="微软雅黑" pitchFamily="34" charset="-122"/>
                <a:cs typeface="Arial" pitchFamily="34" charset="0"/>
              </a:rPr>
              <a:t>在</a:t>
            </a:r>
            <a:r>
              <a:rPr kumimoji="0" lang="zh-CN" altLang="en-US" sz="2400" b="0" kern="0" dirty="0">
                <a:solidFill>
                  <a:srgbClr val="0000CC"/>
                </a:solidFill>
                <a:latin typeface="Arial" pitchFamily="34" charset="0"/>
                <a:ea typeface="微软雅黑" pitchFamily="34" charset="-122"/>
                <a:cs typeface="Arial" pitchFamily="34" charset="0"/>
              </a:rPr>
              <a:t>模</a:t>
            </a:r>
            <a:r>
              <a:rPr kumimoji="0" lang="en-US" altLang="zh-CN" sz="2400" i="1" kern="0" dirty="0">
                <a:solidFill>
                  <a:srgbClr val="0000CC"/>
                </a:solidFill>
                <a:latin typeface="Arial" pitchFamily="34" charset="0"/>
                <a:ea typeface="微软雅黑" pitchFamily="34" charset="-122"/>
                <a:cs typeface="Arial" pitchFamily="34" charset="0"/>
              </a:rPr>
              <a:t>n</a:t>
            </a:r>
            <a:r>
              <a:rPr kumimoji="0" lang="en-US" altLang="zh-CN" sz="2000" i="1" kern="0" dirty="0">
                <a:solidFill>
                  <a:srgbClr val="0000CC"/>
                </a:solidFill>
                <a:latin typeface="Arial" pitchFamily="34" charset="0"/>
                <a:ea typeface="微软雅黑" pitchFamily="34" charset="-122"/>
                <a:cs typeface="Arial" pitchFamily="34" charset="0"/>
              </a:rPr>
              <a:t> </a:t>
            </a:r>
            <a:r>
              <a:rPr kumimoji="0" lang="zh-CN" altLang="en-US" sz="2000" b="0" kern="0" dirty="0">
                <a:solidFill>
                  <a:srgbClr val="000000"/>
                </a:solidFill>
                <a:latin typeface="Arial" pitchFamily="34" charset="0"/>
                <a:ea typeface="微软雅黑" pitchFamily="34" charset="-122"/>
                <a:cs typeface="Arial" pitchFamily="34" charset="0"/>
              </a:rPr>
              <a:t>运算下，有</a:t>
            </a:r>
          </a:p>
        </p:txBody>
      </p:sp>
      <p:pic>
        <p:nvPicPr>
          <p:cNvPr id="24586" name="Picture 10">
            <a:extLst>
              <a:ext uri="{FF2B5EF4-FFF2-40B4-BE49-F238E27FC236}">
                <a16:creationId xmlns:a16="http://schemas.microsoft.com/office/drawing/2014/main" id="{7BA80A3C-E3DB-5EBB-D639-63FB6F9DE4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950" y="1071563"/>
            <a:ext cx="7913688" cy="221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7" name="Picture 11">
            <a:extLst>
              <a:ext uri="{FF2B5EF4-FFF2-40B4-BE49-F238E27FC236}">
                <a16:creationId xmlns:a16="http://schemas.microsoft.com/office/drawing/2014/main" id="{7CE4B8D9-AD4E-A011-6D2E-0EC91EBD36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5813" y="5786438"/>
            <a:ext cx="7429500" cy="658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10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4586"/>
                                        </p:tgtEl>
                                        <p:attrNameLst>
                                          <p:attrName>style.visibility</p:attrName>
                                        </p:attrNameLst>
                                      </p:cBhvr>
                                      <p:to>
                                        <p:strVal val="visible"/>
                                      </p:to>
                                    </p:set>
                                    <p:animEffect transition="in" filter="wipe(up)">
                                      <p:cBhvr>
                                        <p:cTn id="12" dur="2000"/>
                                        <p:tgtEl>
                                          <p:spTgt spid="2458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1000"/>
                                        <p:tgtEl>
                                          <p:spTgt spid="6"/>
                                        </p:tgtEl>
                                      </p:cBhvr>
                                    </p:animEffect>
                                  </p:childTnLst>
                                </p:cTn>
                              </p:par>
                            </p:childTnLst>
                          </p:cTn>
                        </p:par>
                        <p:par>
                          <p:cTn id="18" fill="hold" nodeType="afterGroup">
                            <p:stCondLst>
                              <p:cond delay="1000"/>
                            </p:stCondLst>
                            <p:childTnLst>
                              <p:par>
                                <p:cTn id="19" presetID="22" presetClass="entr" presetSubtype="1" fill="hold" nodeType="afterEffect">
                                  <p:stCondLst>
                                    <p:cond delay="0"/>
                                  </p:stCondLst>
                                  <p:childTnLst>
                                    <p:set>
                                      <p:cBhvr>
                                        <p:cTn id="20" dur="1" fill="hold">
                                          <p:stCondLst>
                                            <p:cond delay="0"/>
                                          </p:stCondLst>
                                        </p:cTn>
                                        <p:tgtEl>
                                          <p:spTgt spid="80900"/>
                                        </p:tgtEl>
                                        <p:attrNameLst>
                                          <p:attrName>style.visibility</p:attrName>
                                        </p:attrNameLst>
                                      </p:cBhvr>
                                      <p:to>
                                        <p:strVal val="visible"/>
                                      </p:to>
                                    </p:set>
                                    <p:animEffect transition="in" filter="wipe(up)">
                                      <p:cBhvr>
                                        <p:cTn id="21" dur="1000"/>
                                        <p:tgtEl>
                                          <p:spTgt spid="80900"/>
                                        </p:tgtEl>
                                      </p:cBhvr>
                                    </p:animEffect>
                                  </p:childTnLst>
                                </p:cTn>
                              </p:par>
                            </p:childTnLst>
                          </p:cTn>
                        </p:par>
                        <p:par>
                          <p:cTn id="22" fill="hold" nodeType="afterGroup">
                            <p:stCondLst>
                              <p:cond delay="2000"/>
                            </p:stCondLst>
                            <p:childTnLst>
                              <p:par>
                                <p:cTn id="23" presetID="22" presetClass="entr" presetSubtype="1" fill="hold"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up)">
                                      <p:cBhvr>
                                        <p:cTn id="25" dur="1000"/>
                                        <p:tgtEl>
                                          <p:spTgt spid="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up)">
                                      <p:cBhvr>
                                        <p:cTn id="30" dur="1000"/>
                                        <p:tgtEl>
                                          <p:spTgt spid="11"/>
                                        </p:tgtEl>
                                      </p:cBhvr>
                                    </p:animEffect>
                                  </p:childTnLst>
                                </p:cTn>
                              </p:par>
                            </p:childTnLst>
                          </p:cTn>
                        </p:par>
                        <p:par>
                          <p:cTn id="31" fill="hold" nodeType="afterGroup">
                            <p:stCondLst>
                              <p:cond delay="1000"/>
                            </p:stCondLst>
                            <p:childTnLst>
                              <p:par>
                                <p:cTn id="32" presetID="22" presetClass="entr" presetSubtype="1" fill="hold" nodeType="after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up)">
                                      <p:cBhvr>
                                        <p:cTn id="34" dur="1000"/>
                                        <p:tgtEl>
                                          <p:spTgt spid="8"/>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24587"/>
                                        </p:tgtEl>
                                        <p:attrNameLst>
                                          <p:attrName>style.visibility</p:attrName>
                                        </p:attrNameLst>
                                      </p:cBhvr>
                                      <p:to>
                                        <p:strVal val="visible"/>
                                      </p:to>
                                    </p:set>
                                    <p:animEffect transition="in" filter="wipe(up)">
                                      <p:cBhvr>
                                        <p:cTn id="39" dur="1000"/>
                                        <p:tgtEl>
                                          <p:spTgt spid="245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animBg="1"/>
      <p:bldP spid="11"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0">
            <a:extLst>
              <a:ext uri="{FF2B5EF4-FFF2-40B4-BE49-F238E27FC236}">
                <a16:creationId xmlns:a16="http://schemas.microsoft.com/office/drawing/2014/main" id="{644681E0-5F7B-CD8D-D6CC-E597A5EAD238}"/>
              </a:ext>
            </a:extLst>
          </p:cNvPr>
          <p:cNvGrpSpPr>
            <a:grpSpLocks/>
          </p:cNvGrpSpPr>
          <p:nvPr/>
        </p:nvGrpSpPr>
        <p:grpSpPr bwMode="auto">
          <a:xfrm>
            <a:off x="1428750" y="5570538"/>
            <a:ext cx="6929438" cy="573087"/>
            <a:chOff x="1428750" y="5570538"/>
            <a:chExt cx="6929438" cy="573087"/>
          </a:xfrm>
        </p:grpSpPr>
        <p:sp>
          <p:nvSpPr>
            <p:cNvPr id="13" name="Rectangle 3">
              <a:extLst>
                <a:ext uri="{FF2B5EF4-FFF2-40B4-BE49-F238E27FC236}">
                  <a16:creationId xmlns:a16="http://schemas.microsoft.com/office/drawing/2014/main" id="{1AA48621-3B50-0ACF-C9A8-9FD07753C49D}"/>
                </a:ext>
              </a:extLst>
            </p:cNvPr>
            <p:cNvSpPr txBox="1">
              <a:spLocks noChangeArrowheads="1"/>
            </p:cNvSpPr>
            <p:nvPr/>
          </p:nvSpPr>
          <p:spPr bwMode="auto">
            <a:xfrm>
              <a:off x="1428750" y="5570538"/>
              <a:ext cx="6929438" cy="573087"/>
            </a:xfrm>
            <a:prstGeom prst="rect">
              <a:avLst/>
            </a:prstGeom>
            <a:solidFill>
              <a:schemeClr val="bg2">
                <a:lumMod val="10000"/>
                <a:lumOff val="90000"/>
              </a:schemeClr>
            </a:solidFill>
            <a:ln w="9525">
              <a:noFill/>
              <a:miter lim="800000"/>
              <a:headEnd/>
              <a:tailEnd/>
            </a:ln>
            <a:effectLst>
              <a:outerShdw blurRad="63500" sx="102000" sy="102000" algn="ctr" rotWithShape="0">
                <a:prstClr val="black">
                  <a:alpha val="40000"/>
                </a:prstClr>
              </a:outerShdw>
            </a:effectLst>
          </p:spPr>
          <p:txBody>
            <a:bodyPr/>
            <a:lstStyle/>
            <a:p>
              <a:pPr>
                <a:lnSpc>
                  <a:spcPct val="150000"/>
                </a:lnSpc>
                <a:defRPr/>
              </a:pPr>
              <a:r>
                <a:rPr lang="zh-CN" altLang="en-US" sz="2000" b="0" dirty="0">
                  <a:solidFill>
                    <a:schemeClr val="tx1"/>
                  </a:solidFill>
                  <a:latin typeface="Arial" pitchFamily="34" charset="0"/>
                  <a:ea typeface="微软雅黑" pitchFamily="34" charset="-122"/>
                  <a:cs typeface="Arial" pitchFamily="34" charset="0"/>
                </a:rPr>
                <a:t>            </a:t>
              </a:r>
              <a:endParaRPr lang="en-US" altLang="zh-CN" sz="2000" b="0" dirty="0">
                <a:solidFill>
                  <a:schemeClr val="tx1"/>
                </a:solidFill>
                <a:latin typeface="Arial" pitchFamily="34" charset="0"/>
                <a:ea typeface="微软雅黑" pitchFamily="34" charset="-122"/>
                <a:cs typeface="Arial" pitchFamily="34" charset="0"/>
              </a:endParaRPr>
            </a:p>
            <a:p>
              <a:pPr>
                <a:lnSpc>
                  <a:spcPct val="150000"/>
                </a:lnSpc>
                <a:defRPr/>
              </a:pPr>
              <a:endParaRPr lang="zh-CN" altLang="en-US" sz="2000" b="0" dirty="0">
                <a:solidFill>
                  <a:schemeClr val="tx1"/>
                </a:solidFill>
                <a:latin typeface="Arial" pitchFamily="34" charset="0"/>
                <a:ea typeface="微软雅黑" pitchFamily="34" charset="-122"/>
                <a:cs typeface="Arial" pitchFamily="34" charset="0"/>
              </a:endParaRPr>
            </a:p>
            <a:p>
              <a:pPr>
                <a:lnSpc>
                  <a:spcPct val="150000"/>
                </a:lnSpc>
                <a:defRPr/>
              </a:pPr>
              <a:r>
                <a:rPr lang="en-US" sz="2000" b="0" dirty="0">
                  <a:solidFill>
                    <a:schemeClr val="tx1"/>
                  </a:solidFill>
                  <a:latin typeface="Arial" pitchFamily="34" charset="0"/>
                  <a:ea typeface="微软雅黑" pitchFamily="34" charset="-122"/>
                  <a:cs typeface="Arial" pitchFamily="34" charset="0"/>
                </a:rPr>
                <a:t>			 </a:t>
              </a:r>
              <a:endParaRPr kumimoji="0" lang="zh-CN" altLang="en-US" sz="2000" b="0" kern="0" dirty="0">
                <a:solidFill>
                  <a:schemeClr val="tx1"/>
                </a:solidFill>
                <a:latin typeface="Arial" pitchFamily="34" charset="0"/>
                <a:ea typeface="微软雅黑" pitchFamily="34" charset="-122"/>
                <a:cs typeface="Arial" pitchFamily="34" charset="0"/>
              </a:endParaRPr>
            </a:p>
            <a:p>
              <a:pPr marL="1143000" lvl="2" indent="-228600" eaLnBrk="0" hangingPunct="0">
                <a:lnSpc>
                  <a:spcPct val="150000"/>
                </a:lnSpc>
                <a:spcBef>
                  <a:spcPct val="20000"/>
                </a:spcBef>
                <a:buClr>
                  <a:schemeClr val="folHlink"/>
                </a:buClr>
                <a:buSzPct val="50000"/>
                <a:buFont typeface="Wingdings" pitchFamily="2" charset="2"/>
                <a:buNone/>
                <a:defRPr/>
              </a:pPr>
              <a:r>
                <a:rPr kumimoji="0" lang="zh-CN" altLang="en-US" sz="2000" b="0" kern="0" dirty="0">
                  <a:solidFill>
                    <a:schemeClr val="tx1"/>
                  </a:solidFill>
                  <a:latin typeface="Arial" pitchFamily="34" charset="0"/>
                  <a:ea typeface="微软雅黑" pitchFamily="34" charset="-122"/>
                  <a:cs typeface="Arial" pitchFamily="34" charset="0"/>
                </a:rPr>
                <a:t>	</a:t>
              </a:r>
            </a:p>
          </p:txBody>
        </p:sp>
        <p:pic>
          <p:nvPicPr>
            <p:cNvPr id="25620" name="Picture 20">
              <a:extLst>
                <a:ext uri="{FF2B5EF4-FFF2-40B4-BE49-F238E27FC236}">
                  <a16:creationId xmlns:a16="http://schemas.microsoft.com/office/drawing/2014/main" id="{4961344B-AA77-096C-BF4D-4BB52B254C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9072" y="5599436"/>
              <a:ext cx="6347532" cy="517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 name="Rectangle 3">
            <a:extLst>
              <a:ext uri="{FF2B5EF4-FFF2-40B4-BE49-F238E27FC236}">
                <a16:creationId xmlns:a16="http://schemas.microsoft.com/office/drawing/2014/main" id="{A5F70DBF-CD89-3EF7-59C6-1FE9B12AA134}"/>
              </a:ext>
            </a:extLst>
          </p:cNvPr>
          <p:cNvSpPr txBox="1">
            <a:spLocks noChangeArrowheads="1"/>
          </p:cNvSpPr>
          <p:nvPr/>
        </p:nvSpPr>
        <p:spPr bwMode="auto">
          <a:xfrm>
            <a:off x="642938" y="1000125"/>
            <a:ext cx="3357562" cy="571500"/>
          </a:xfrm>
          <a:prstGeom prst="rect">
            <a:avLst/>
          </a:prstGeom>
          <a:noFill/>
          <a:ln w="9525">
            <a:noFill/>
            <a:miter lim="800000"/>
            <a:headEnd/>
            <a:tailEnd/>
          </a:ln>
        </p:spPr>
        <p:txBody>
          <a:bodyPr/>
          <a:lstStyle/>
          <a:p>
            <a:pPr marL="228600" indent="-228600">
              <a:lnSpc>
                <a:spcPct val="150000"/>
              </a:lnSpc>
              <a:spcBef>
                <a:spcPct val="20000"/>
              </a:spcBef>
              <a:buClr>
                <a:srgbClr val="0000CC"/>
              </a:buClr>
              <a:buSzPct val="70000"/>
              <a:buFont typeface="Wingdings" pitchFamily="2" charset="2"/>
              <a:buChar char="u"/>
              <a:defRPr/>
            </a:pPr>
            <a:r>
              <a:rPr kumimoji="0" lang="zh-CN" altLang="en-US" sz="2400" kern="0" dirty="0">
                <a:solidFill>
                  <a:schemeClr val="tx1"/>
                </a:solidFill>
                <a:latin typeface="微软雅黑" pitchFamily="34" charset="-122"/>
                <a:ea typeface="微软雅黑" pitchFamily="34" charset="-122"/>
              </a:rPr>
              <a:t> 码多项式</a:t>
            </a:r>
            <a:r>
              <a:rPr kumimoji="0" lang="zh-CN" altLang="en-US" sz="2000" b="0" kern="0" dirty="0">
                <a:solidFill>
                  <a:schemeClr val="tx1"/>
                </a:solidFill>
                <a:latin typeface="微软雅黑" pitchFamily="34" charset="-122"/>
                <a:ea typeface="微软雅黑" pitchFamily="34" charset="-122"/>
              </a:rPr>
              <a:t>的</a:t>
            </a:r>
            <a:r>
              <a:rPr kumimoji="0" lang="zh-CN" altLang="en-US" sz="2400" kern="0" dirty="0">
                <a:solidFill>
                  <a:schemeClr val="tx1"/>
                </a:solidFill>
                <a:latin typeface="微软雅黑" pitchFamily="34" charset="-122"/>
                <a:ea typeface="微软雅黑" pitchFamily="34" charset="-122"/>
              </a:rPr>
              <a:t>按模运算</a:t>
            </a:r>
            <a:r>
              <a:rPr kumimoji="0" lang="zh-CN" altLang="en-US" sz="2000" b="0" kern="0" dirty="0">
                <a:solidFill>
                  <a:schemeClr val="tx1"/>
                </a:solidFill>
                <a:latin typeface="微软雅黑" pitchFamily="34" charset="-122"/>
                <a:ea typeface="微软雅黑" pitchFamily="34" charset="-122"/>
              </a:rPr>
              <a:t>：</a:t>
            </a:r>
            <a:r>
              <a:rPr kumimoji="0" lang="zh-CN" altLang="en-US" sz="2000" b="0" kern="0" dirty="0">
                <a:solidFill>
                  <a:schemeClr val="tx1"/>
                </a:solidFill>
                <a:latin typeface="Arial" pitchFamily="34" charset="0"/>
                <a:ea typeface="微软雅黑" pitchFamily="34" charset="-122"/>
                <a:cs typeface="Arial" pitchFamily="34" charset="0"/>
              </a:rPr>
              <a:t>	</a:t>
            </a:r>
            <a:endParaRPr kumimoji="0" lang="en-US" altLang="zh-CN" sz="2000" b="0" kern="0" dirty="0">
              <a:solidFill>
                <a:schemeClr val="tx1"/>
              </a:solidFill>
              <a:latin typeface="Arial" pitchFamily="34" charset="0"/>
              <a:ea typeface="微软雅黑" pitchFamily="34" charset="-122"/>
              <a:cs typeface="Arial" pitchFamily="34" charset="0"/>
            </a:endParaRPr>
          </a:p>
        </p:txBody>
      </p:sp>
      <p:graphicFrame>
        <p:nvGraphicFramePr>
          <p:cNvPr id="7" name="Object 3">
            <a:extLst>
              <a:ext uri="{FF2B5EF4-FFF2-40B4-BE49-F238E27FC236}">
                <a16:creationId xmlns:a16="http://schemas.microsoft.com/office/drawing/2014/main" id="{A304F887-541B-5BFB-27A4-30E9874CBE8C}"/>
              </a:ext>
            </a:extLst>
          </p:cNvPr>
          <p:cNvGraphicFramePr>
            <a:graphicFrameLocks noChangeAspect="1"/>
          </p:cNvGraphicFramePr>
          <p:nvPr/>
        </p:nvGraphicFramePr>
        <p:xfrm>
          <a:off x="1571625" y="2786063"/>
          <a:ext cx="2662238" cy="855662"/>
        </p:xfrm>
        <a:graphic>
          <a:graphicData uri="http://schemas.openxmlformats.org/presentationml/2006/ole">
            <mc:AlternateContent xmlns:mc="http://schemas.openxmlformats.org/markup-compatibility/2006">
              <mc:Choice xmlns:v="urn:schemas-microsoft-com:vml" Requires="v">
                <p:oleObj name="Equation" r:id="rId3" imgW="1307880" imgH="419040" progId="Equation.DSMT4">
                  <p:embed/>
                </p:oleObj>
              </mc:Choice>
              <mc:Fallback>
                <p:oleObj name="Equation" r:id="rId3" imgW="1307880" imgH="41904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1625" y="2786063"/>
                        <a:ext cx="2662238" cy="855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graphicFrame>
        <p:nvGraphicFramePr>
          <p:cNvPr id="8" name="Object 3">
            <a:extLst>
              <a:ext uri="{FF2B5EF4-FFF2-40B4-BE49-F238E27FC236}">
                <a16:creationId xmlns:a16="http://schemas.microsoft.com/office/drawing/2014/main" id="{81C8D53D-BEF7-54DF-BC45-73A4BD948995}"/>
              </a:ext>
            </a:extLst>
          </p:cNvPr>
          <p:cNvGraphicFramePr>
            <a:graphicFrameLocks noChangeAspect="1"/>
          </p:cNvGraphicFramePr>
          <p:nvPr/>
        </p:nvGraphicFramePr>
        <p:xfrm>
          <a:off x="5072063" y="3014663"/>
          <a:ext cx="3128962" cy="414337"/>
        </p:xfrm>
        <a:graphic>
          <a:graphicData uri="http://schemas.openxmlformats.org/presentationml/2006/ole">
            <mc:AlternateContent xmlns:mc="http://schemas.openxmlformats.org/markup-compatibility/2006">
              <mc:Choice xmlns:v="urn:schemas-microsoft-com:vml" Requires="v">
                <p:oleObj name="Equation" r:id="rId5" imgW="1536480" imgH="203040" progId="Equation.DSMT4">
                  <p:embed/>
                </p:oleObj>
              </mc:Choice>
              <mc:Fallback>
                <p:oleObj name="Equation" r:id="rId5" imgW="1536480" imgH="20304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72063" y="3014663"/>
                        <a:ext cx="3128962"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sp>
        <p:nvSpPr>
          <p:cNvPr id="9" name="矩形 8">
            <a:extLst>
              <a:ext uri="{FF2B5EF4-FFF2-40B4-BE49-F238E27FC236}">
                <a16:creationId xmlns:a16="http://schemas.microsoft.com/office/drawing/2014/main" id="{D00B9947-0789-17E1-A77F-6778408802B1}"/>
              </a:ext>
            </a:extLst>
          </p:cNvPr>
          <p:cNvSpPr/>
          <p:nvPr/>
        </p:nvSpPr>
        <p:spPr>
          <a:xfrm>
            <a:off x="4643438" y="3014663"/>
            <a:ext cx="441325" cy="400050"/>
          </a:xfrm>
          <a:prstGeom prst="rect">
            <a:avLst/>
          </a:prstGeom>
        </p:spPr>
        <p:txBody>
          <a:bodyPr wrap="none">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或</a:t>
            </a:r>
            <a:endParaRPr lang="zh-CN" altLang="en-US" dirty="0"/>
          </a:p>
        </p:txBody>
      </p:sp>
      <p:sp>
        <p:nvSpPr>
          <p:cNvPr id="10" name="矩形 9">
            <a:extLst>
              <a:ext uri="{FF2B5EF4-FFF2-40B4-BE49-F238E27FC236}">
                <a16:creationId xmlns:a16="http://schemas.microsoft.com/office/drawing/2014/main" id="{64D8CD80-25AA-FBFD-9D6A-C420B329A7B2}"/>
              </a:ext>
            </a:extLst>
          </p:cNvPr>
          <p:cNvSpPr/>
          <p:nvPr/>
        </p:nvSpPr>
        <p:spPr>
          <a:xfrm>
            <a:off x="885825" y="3786188"/>
            <a:ext cx="441325" cy="400050"/>
          </a:xfrm>
          <a:prstGeom prst="rect">
            <a:avLst/>
          </a:prstGeom>
        </p:spPr>
        <p:txBody>
          <a:bodyPr wrap="none">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则</a:t>
            </a:r>
            <a:endParaRPr lang="zh-CN" altLang="en-US" dirty="0"/>
          </a:p>
        </p:txBody>
      </p:sp>
      <p:graphicFrame>
        <p:nvGraphicFramePr>
          <p:cNvPr id="11" name="Object 4">
            <a:extLst>
              <a:ext uri="{FF2B5EF4-FFF2-40B4-BE49-F238E27FC236}">
                <a16:creationId xmlns:a16="http://schemas.microsoft.com/office/drawing/2014/main" id="{A203ABAD-6C4E-AB26-CCD0-E7EBE66C54D0}"/>
              </a:ext>
            </a:extLst>
          </p:cNvPr>
          <p:cNvGraphicFramePr>
            <a:graphicFrameLocks noChangeAspect="1"/>
          </p:cNvGraphicFramePr>
          <p:nvPr/>
        </p:nvGraphicFramePr>
        <p:xfrm>
          <a:off x="2847975" y="3917950"/>
          <a:ext cx="3438525" cy="439738"/>
        </p:xfrm>
        <a:graphic>
          <a:graphicData uri="http://schemas.openxmlformats.org/presentationml/2006/ole">
            <mc:AlternateContent xmlns:mc="http://schemas.openxmlformats.org/markup-compatibility/2006">
              <mc:Choice xmlns:v="urn:schemas-microsoft-com:vml" Requires="v">
                <p:oleObj name="Equation" r:id="rId7" imgW="1688760" imgH="215640" progId="Equation.DSMT4">
                  <p:embed/>
                </p:oleObj>
              </mc:Choice>
              <mc:Fallback>
                <p:oleObj name="Equation" r:id="rId7" imgW="1688760" imgH="21564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47975" y="3917950"/>
                        <a:ext cx="3438525" cy="439738"/>
                      </a:xfrm>
                      <a:prstGeom prst="rect">
                        <a:avLst/>
                      </a:prstGeom>
                      <a:noFill/>
                      <a:ln w="38100" cmpd="dbl">
                        <a:solidFill>
                          <a:srgbClr val="66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rgbClr val="6666FF">
                                  <a:gamma/>
                                  <a:shade val="60000"/>
                                  <a:invGamma/>
                                </a:srgbClr>
                              </a:outerShdw>
                            </a:effectLst>
                          </a14:hiddenEffects>
                        </a:ext>
                      </a:extLst>
                    </p:spPr>
                  </p:pic>
                </p:oleObj>
              </mc:Fallback>
            </mc:AlternateContent>
          </a:graphicData>
        </a:graphic>
      </p:graphicFrame>
      <p:sp>
        <p:nvSpPr>
          <p:cNvPr id="35849" name="矩形 11">
            <a:extLst>
              <a:ext uri="{FF2B5EF4-FFF2-40B4-BE49-F238E27FC236}">
                <a16:creationId xmlns:a16="http://schemas.microsoft.com/office/drawing/2014/main" id="{12C8A259-6755-BFBE-8EEE-4633103F098A}"/>
              </a:ext>
            </a:extLst>
          </p:cNvPr>
          <p:cNvSpPr>
            <a:spLocks noChangeArrowheads="1"/>
          </p:cNvSpPr>
          <p:nvPr/>
        </p:nvSpPr>
        <p:spPr bwMode="auto">
          <a:xfrm>
            <a:off x="885825" y="4743450"/>
            <a:ext cx="7786688" cy="400050"/>
          </a:xfrm>
          <a:prstGeom prst="rect">
            <a:avLst/>
          </a:prstGeom>
          <a:noFill/>
          <a:ln w="9525">
            <a:noFill/>
            <a:miter lim="800000"/>
            <a:headEnd/>
            <a:tailEnd/>
          </a:ln>
        </p:spPr>
        <p:txBody>
          <a:bodyPr>
            <a:spAutoFit/>
          </a:bodyPr>
          <a:lstStyle/>
          <a:p>
            <a:pPr>
              <a:defRPr/>
            </a:pPr>
            <a:r>
              <a:rPr kumimoji="0"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Arial" charset="0"/>
              </a:rPr>
              <a:t>式中，码多项式系数</a:t>
            </a:r>
            <a:r>
              <a:rPr lang="zh-CN" altLang="en-US" sz="2000" b="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之间的加法和乘法</a:t>
            </a:r>
            <a:r>
              <a:rPr kumimoji="0"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Arial" charset="0"/>
              </a:rPr>
              <a:t>仍按模</a:t>
            </a:r>
            <a:r>
              <a:rPr kumimoji="0" lang="en-US" altLang="zh-CN"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Arial" charset="0"/>
              </a:rPr>
              <a:t>2 </a:t>
            </a:r>
            <a:r>
              <a:rPr kumimoji="0"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Arial" charset="0"/>
              </a:rPr>
              <a:t>运算。</a:t>
            </a:r>
            <a:endPar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Arial" charset="0"/>
            </a:endParaRPr>
          </a:p>
        </p:txBody>
      </p:sp>
      <p:grpSp>
        <p:nvGrpSpPr>
          <p:cNvPr id="3" name="组合 30">
            <a:extLst>
              <a:ext uri="{FF2B5EF4-FFF2-40B4-BE49-F238E27FC236}">
                <a16:creationId xmlns:a16="http://schemas.microsoft.com/office/drawing/2014/main" id="{87E4EDEB-BF8C-9335-C205-232E72A6494D}"/>
              </a:ext>
            </a:extLst>
          </p:cNvPr>
          <p:cNvGrpSpPr>
            <a:grpSpLocks/>
          </p:cNvGrpSpPr>
          <p:nvPr/>
        </p:nvGrpSpPr>
        <p:grpSpPr bwMode="auto">
          <a:xfrm>
            <a:off x="1000125" y="5429250"/>
            <a:ext cx="714375" cy="571500"/>
            <a:chOff x="285721" y="3286124"/>
            <a:chExt cx="714380" cy="571504"/>
          </a:xfrm>
        </p:grpSpPr>
        <p:grpSp>
          <p:nvGrpSpPr>
            <p:cNvPr id="25612" name="Group 52">
              <a:extLst>
                <a:ext uri="{FF2B5EF4-FFF2-40B4-BE49-F238E27FC236}">
                  <a16:creationId xmlns:a16="http://schemas.microsoft.com/office/drawing/2014/main" id="{612DB1B4-7508-067F-E827-29C02B3D0BE9}"/>
                </a:ext>
              </a:extLst>
            </p:cNvPr>
            <p:cNvGrpSpPr>
              <a:grpSpLocks/>
            </p:cNvGrpSpPr>
            <p:nvPr/>
          </p:nvGrpSpPr>
          <p:grpSpPr bwMode="auto">
            <a:xfrm>
              <a:off x="285721" y="3286124"/>
              <a:ext cx="714380" cy="571504"/>
              <a:chOff x="1289" y="582"/>
              <a:chExt cx="668" cy="668"/>
            </a:xfrm>
          </p:grpSpPr>
          <p:sp>
            <p:nvSpPr>
              <p:cNvPr id="25614" name="Oval 53">
                <a:extLst>
                  <a:ext uri="{FF2B5EF4-FFF2-40B4-BE49-F238E27FC236}">
                    <a16:creationId xmlns:a16="http://schemas.microsoft.com/office/drawing/2014/main" id="{F9127DBD-079A-B2D3-429D-BC0DED8092EE}"/>
                  </a:ext>
                </a:extLst>
              </p:cNvPr>
              <p:cNvSpPr>
                <a:spLocks noChangeArrowheads="1"/>
              </p:cNvSpPr>
              <p:nvPr/>
            </p:nvSpPr>
            <p:spPr bwMode="gray">
              <a:xfrm>
                <a:off x="1289" y="582"/>
                <a:ext cx="668" cy="668"/>
              </a:xfrm>
              <a:prstGeom prst="ellipse">
                <a:avLst/>
              </a:prstGeom>
              <a:solidFill>
                <a:srgbClr val="333333"/>
              </a:soli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25615" name="Oval 54">
                <a:extLst>
                  <a:ext uri="{FF2B5EF4-FFF2-40B4-BE49-F238E27FC236}">
                    <a16:creationId xmlns:a16="http://schemas.microsoft.com/office/drawing/2014/main" id="{26057E78-76AA-93F6-A1D2-5E1AF1D69900}"/>
                  </a:ext>
                </a:extLst>
              </p:cNvPr>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25616" name="Oval 55">
                <a:extLst>
                  <a:ext uri="{FF2B5EF4-FFF2-40B4-BE49-F238E27FC236}">
                    <a16:creationId xmlns:a16="http://schemas.microsoft.com/office/drawing/2014/main" id="{4C27A71F-6ADD-B5F9-6189-8C541BF0F392}"/>
                  </a:ext>
                </a:extLst>
              </p:cNvPr>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25617" name="Oval 56">
                <a:extLst>
                  <a:ext uri="{FF2B5EF4-FFF2-40B4-BE49-F238E27FC236}">
                    <a16:creationId xmlns:a16="http://schemas.microsoft.com/office/drawing/2014/main" id="{226AC3E6-1DDD-9A96-5741-CC8B034A4419}"/>
                  </a:ext>
                </a:extLst>
              </p:cNvPr>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25618" name="Oval 57">
                <a:extLst>
                  <a:ext uri="{FF2B5EF4-FFF2-40B4-BE49-F238E27FC236}">
                    <a16:creationId xmlns:a16="http://schemas.microsoft.com/office/drawing/2014/main" id="{BAC1FE04-7DD9-7868-6059-CFEBE8109931}"/>
                  </a:ext>
                </a:extLst>
              </p:cNvPr>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pSp>
        <p:sp>
          <p:nvSpPr>
            <p:cNvPr id="25613" name="Text Box 29">
              <a:extLst>
                <a:ext uri="{FF2B5EF4-FFF2-40B4-BE49-F238E27FC236}">
                  <a16:creationId xmlns:a16="http://schemas.microsoft.com/office/drawing/2014/main" id="{30A82535-1A0B-1DFD-0F49-52AAC11385CD}"/>
                </a:ext>
              </a:extLst>
            </p:cNvPr>
            <p:cNvSpPr txBox="1">
              <a:spLocks noChangeArrowheads="1"/>
            </p:cNvSpPr>
            <p:nvPr/>
          </p:nvSpPr>
          <p:spPr bwMode="gray">
            <a:xfrm>
              <a:off x="357158" y="3286124"/>
              <a:ext cx="542027" cy="519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a:r>
                <a:rPr kumimoji="0" lang="zh-CN" altLang="en-US" sz="2800">
                  <a:solidFill>
                    <a:srgbClr val="0000CC"/>
                  </a:solidFill>
                  <a:latin typeface="Arial" panose="020B0604020202020204" pitchFamily="34" charset="0"/>
                  <a:ea typeface="宋体" panose="02010600030101010101" pitchFamily="2" charset="-122"/>
                </a:rPr>
                <a:t>例</a:t>
              </a:r>
            </a:p>
          </p:txBody>
        </p:sp>
      </p:grpSp>
      <p:pic>
        <p:nvPicPr>
          <p:cNvPr id="25621" name="Picture 21">
            <a:extLst>
              <a:ext uri="{FF2B5EF4-FFF2-40B4-BE49-F238E27FC236}">
                <a16:creationId xmlns:a16="http://schemas.microsoft.com/office/drawing/2014/main" id="{BF7DF6FC-13D1-75A3-329D-C30848DF87F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57250" y="1643063"/>
            <a:ext cx="7929563"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5621"/>
                                        </p:tgtEl>
                                        <p:attrNameLst>
                                          <p:attrName>style.visibility</p:attrName>
                                        </p:attrNameLst>
                                      </p:cBhvr>
                                      <p:to>
                                        <p:strVal val="visible"/>
                                      </p:to>
                                    </p:set>
                                    <p:animEffect transition="in" filter="wipe(up)">
                                      <p:cBhvr>
                                        <p:cTn id="12" dur="1000"/>
                                        <p:tgtEl>
                                          <p:spTgt spid="25621"/>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2000"/>
                                        <p:tgtEl>
                                          <p:spTgt spid="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left)">
                                      <p:cBhvr>
                                        <p:cTn id="21" dur="1000"/>
                                        <p:tgtEl>
                                          <p:spTgt spid="9"/>
                                        </p:tgtEl>
                                      </p:cBhvr>
                                    </p:animEffect>
                                  </p:childTnLst>
                                </p:cTn>
                              </p:par>
                            </p:childTnLst>
                          </p:cTn>
                        </p:par>
                        <p:par>
                          <p:cTn id="22" fill="hold" nodeType="afterGroup">
                            <p:stCondLst>
                              <p:cond delay="1000"/>
                            </p:stCondLst>
                            <p:childTnLst>
                              <p:par>
                                <p:cTn id="23" presetID="22" presetClass="entr" presetSubtype="1"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up)">
                                      <p:cBhvr>
                                        <p:cTn id="25" dur="1000"/>
                                        <p:tgtEl>
                                          <p:spTgt spid="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1000"/>
                                        <p:tgtEl>
                                          <p:spTgt spid="10"/>
                                        </p:tgtEl>
                                      </p:cBhvr>
                                    </p:animEffect>
                                  </p:childTnLst>
                                </p:cTn>
                              </p:par>
                            </p:childTnLst>
                          </p:cTn>
                        </p:par>
                        <p:par>
                          <p:cTn id="31" fill="hold" nodeType="afterGroup">
                            <p:stCondLst>
                              <p:cond delay="1000"/>
                            </p:stCondLst>
                            <p:childTnLst>
                              <p:par>
                                <p:cTn id="32" presetID="22" presetClass="entr" presetSubtype="1" fill="hold"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up)">
                                      <p:cBhvr>
                                        <p:cTn id="34" dur="1000"/>
                                        <p:tgtEl>
                                          <p:spTgt spid="1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35849"/>
                                        </p:tgtEl>
                                        <p:attrNameLst>
                                          <p:attrName>style.visibility</p:attrName>
                                        </p:attrNameLst>
                                      </p:cBhvr>
                                      <p:to>
                                        <p:strVal val="visible"/>
                                      </p:to>
                                    </p:set>
                                    <p:animEffect transition="in" filter="wipe(up)">
                                      <p:cBhvr>
                                        <p:cTn id="39" dur="1000"/>
                                        <p:tgtEl>
                                          <p:spTgt spid="35849"/>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wipe(left)">
                                      <p:cBhvr>
                                        <p:cTn id="44" dur="1000"/>
                                        <p:tgtEl>
                                          <p:spTgt spid="3"/>
                                        </p:tgtEl>
                                      </p:cBhvr>
                                    </p:animEffect>
                                  </p:childTnLst>
                                </p:cTn>
                              </p:par>
                            </p:childTnLst>
                          </p:cTn>
                        </p:par>
                        <p:par>
                          <p:cTn id="45" fill="hold" nodeType="afterGroup">
                            <p:stCondLst>
                              <p:cond delay="1000"/>
                            </p:stCondLst>
                            <p:childTnLst>
                              <p:par>
                                <p:cTn id="46" presetID="22" presetClass="entr" presetSubtype="1" fill="hold" nodeType="after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wipe(up)">
                                      <p:cBhvr>
                                        <p:cTn id="48"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35849"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8">
            <a:extLst>
              <a:ext uri="{FF2B5EF4-FFF2-40B4-BE49-F238E27FC236}">
                <a16:creationId xmlns:a16="http://schemas.microsoft.com/office/drawing/2014/main" id="{3CF566FD-16D6-4EEF-A236-D7BFBC276E1D}"/>
              </a:ext>
            </a:extLst>
          </p:cNvPr>
          <p:cNvGrpSpPr>
            <a:grpSpLocks/>
          </p:cNvGrpSpPr>
          <p:nvPr/>
        </p:nvGrpSpPr>
        <p:grpSpPr bwMode="auto">
          <a:xfrm>
            <a:off x="1285875" y="1601788"/>
            <a:ext cx="7656513" cy="3113087"/>
            <a:chOff x="788984" y="1316354"/>
            <a:chExt cx="7657140" cy="3112778"/>
          </a:xfrm>
        </p:grpSpPr>
        <p:pic>
          <p:nvPicPr>
            <p:cNvPr id="102410" name="Picture 15">
              <a:extLst>
                <a:ext uri="{FF2B5EF4-FFF2-40B4-BE49-F238E27FC236}">
                  <a16:creationId xmlns:a16="http://schemas.microsoft.com/office/drawing/2014/main" id="{1D607CC5-B9D7-FA10-AC85-B746346BD2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8984" y="1316354"/>
              <a:ext cx="7657140" cy="3112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2411" name="直接连接符 4">
              <a:extLst>
                <a:ext uri="{FF2B5EF4-FFF2-40B4-BE49-F238E27FC236}">
                  <a16:creationId xmlns:a16="http://schemas.microsoft.com/office/drawing/2014/main" id="{7C1960BD-5C5F-5F4E-ED1A-B29A7B94C6FA}"/>
                </a:ext>
              </a:extLst>
            </p:cNvPr>
            <p:cNvCxnSpPr>
              <a:cxnSpLocks noChangeShapeType="1"/>
            </p:cNvCxnSpPr>
            <p:nvPr/>
          </p:nvCxnSpPr>
          <p:spPr bwMode="auto">
            <a:xfrm rot="5400000" flipH="1" flipV="1">
              <a:off x="2757488" y="2043113"/>
              <a:ext cx="785812" cy="500062"/>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02412" name="直接连接符 6">
              <a:extLst>
                <a:ext uri="{FF2B5EF4-FFF2-40B4-BE49-F238E27FC236}">
                  <a16:creationId xmlns:a16="http://schemas.microsoft.com/office/drawing/2014/main" id="{6363B480-4323-AF76-CDB3-0F7856A7F5E0}"/>
                </a:ext>
              </a:extLst>
            </p:cNvPr>
            <p:cNvCxnSpPr>
              <a:cxnSpLocks noChangeShapeType="1"/>
            </p:cNvCxnSpPr>
            <p:nvPr/>
          </p:nvCxnSpPr>
          <p:spPr bwMode="auto">
            <a:xfrm flipV="1">
              <a:off x="3429000" y="1870075"/>
              <a:ext cx="1785938" cy="0"/>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02413" name="直接连接符 8">
              <a:extLst>
                <a:ext uri="{FF2B5EF4-FFF2-40B4-BE49-F238E27FC236}">
                  <a16:creationId xmlns:a16="http://schemas.microsoft.com/office/drawing/2014/main" id="{273D77C5-5159-90C3-1F26-2E134FE4F714}"/>
                </a:ext>
              </a:extLst>
            </p:cNvPr>
            <p:cNvCxnSpPr>
              <a:cxnSpLocks noChangeShapeType="1"/>
            </p:cNvCxnSpPr>
            <p:nvPr/>
          </p:nvCxnSpPr>
          <p:spPr bwMode="auto">
            <a:xfrm>
              <a:off x="3214688" y="2857500"/>
              <a:ext cx="3071812" cy="1588"/>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grpSp>
      <p:sp>
        <p:nvSpPr>
          <p:cNvPr id="10" name="矩形 9">
            <a:extLst>
              <a:ext uri="{FF2B5EF4-FFF2-40B4-BE49-F238E27FC236}">
                <a16:creationId xmlns:a16="http://schemas.microsoft.com/office/drawing/2014/main" id="{98CB7709-BC36-3309-D04C-6B83015A1A52}"/>
              </a:ext>
            </a:extLst>
          </p:cNvPr>
          <p:cNvSpPr/>
          <p:nvPr/>
        </p:nvSpPr>
        <p:spPr>
          <a:xfrm>
            <a:off x="785813" y="1071563"/>
            <a:ext cx="2025650" cy="400050"/>
          </a:xfrm>
          <a:prstGeom prst="rect">
            <a:avLst/>
          </a:prstGeom>
        </p:spPr>
        <p:txBody>
          <a:bodyPr wrap="none">
            <a:spAutoFit/>
          </a:bodyPr>
          <a:lstStyle/>
          <a:p>
            <a:pPr>
              <a:defRPr/>
            </a:pP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解 </a:t>
            </a:r>
            <a:r>
              <a:rPr kumimoji="0" lang="zh-CN" altLang="en-US" sz="2000" b="0" kern="0" dirty="0">
                <a:solidFill>
                  <a:srgbClr val="000000"/>
                </a:solidFill>
                <a:latin typeface="微软雅黑" pitchFamily="34" charset="-122"/>
                <a:ea typeface="微软雅黑" pitchFamily="34" charset="-122"/>
              </a:rPr>
              <a:t>   运算过程：</a:t>
            </a:r>
            <a:endParaRPr lang="zh-CN" altLang="en-US" dirty="0"/>
          </a:p>
        </p:txBody>
      </p:sp>
      <p:sp>
        <p:nvSpPr>
          <p:cNvPr id="28681" name="矩形 13">
            <a:extLst>
              <a:ext uri="{FF2B5EF4-FFF2-40B4-BE49-F238E27FC236}">
                <a16:creationId xmlns:a16="http://schemas.microsoft.com/office/drawing/2014/main" id="{DE7FC70D-A18F-7282-40D9-455F1D600F0A}"/>
              </a:ext>
            </a:extLst>
          </p:cNvPr>
          <p:cNvSpPr>
            <a:spLocks noChangeArrowheads="1"/>
          </p:cNvSpPr>
          <p:nvPr/>
        </p:nvSpPr>
        <p:spPr bwMode="auto">
          <a:xfrm>
            <a:off x="874713" y="4243388"/>
            <a:ext cx="7683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kumimoji="0" lang="zh-CN" altLang="en-US" sz="2000" b="0">
                <a:solidFill>
                  <a:srgbClr val="000000"/>
                </a:solidFill>
                <a:latin typeface="Arial" panose="020B0604020202020204" pitchFamily="34" charset="0"/>
                <a:ea typeface="微软雅黑" panose="020B0503020204020204" pitchFamily="34" charset="-122"/>
                <a:cs typeface="Arial" panose="020B0604020202020204" pitchFamily="34" charset="0"/>
              </a:rPr>
              <a:t>即有 </a:t>
            </a:r>
            <a:endParaRPr lang="zh-CN" altLang="en-US" sz="2000">
              <a:ea typeface="微软雅黑" panose="020B0503020204020204" pitchFamily="34" charset="-122"/>
              <a:cs typeface="Arial" panose="020B0604020202020204" pitchFamily="34" charset="0"/>
            </a:endParaRPr>
          </a:p>
        </p:txBody>
      </p:sp>
      <p:sp>
        <p:nvSpPr>
          <p:cNvPr id="28682" name="矩形 14">
            <a:extLst>
              <a:ext uri="{FF2B5EF4-FFF2-40B4-BE49-F238E27FC236}">
                <a16:creationId xmlns:a16="http://schemas.microsoft.com/office/drawing/2014/main" id="{B28E374A-79CC-9A81-0422-7DD50D1F2B32}"/>
              </a:ext>
            </a:extLst>
          </p:cNvPr>
          <p:cNvSpPr>
            <a:spLocks noChangeArrowheads="1"/>
          </p:cNvSpPr>
          <p:nvPr/>
        </p:nvSpPr>
        <p:spPr bwMode="auto">
          <a:xfrm>
            <a:off x="874713" y="5386388"/>
            <a:ext cx="696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kumimoji="0" lang="zh-CN" altLang="en-US" sz="2000" b="0">
                <a:solidFill>
                  <a:srgbClr val="000000"/>
                </a:solidFill>
                <a:latin typeface="Arial" panose="020B0604020202020204" pitchFamily="34" charset="0"/>
                <a:ea typeface="微软雅黑" panose="020B0503020204020204" pitchFamily="34" charset="-122"/>
                <a:cs typeface="Arial" panose="020B0604020202020204" pitchFamily="34" charset="0"/>
              </a:rPr>
              <a:t>则有</a:t>
            </a:r>
            <a:endParaRPr lang="zh-CN" altLang="en-US">
              <a:ea typeface="微软雅黑" panose="020B0503020204020204" pitchFamily="34" charset="-122"/>
              <a:cs typeface="Arial" panose="020B0604020202020204" pitchFamily="34" charset="0"/>
            </a:endParaRPr>
          </a:p>
        </p:txBody>
      </p:sp>
      <p:sp>
        <p:nvSpPr>
          <p:cNvPr id="17" name="椭圆 16">
            <a:extLst>
              <a:ext uri="{FF2B5EF4-FFF2-40B4-BE49-F238E27FC236}">
                <a16:creationId xmlns:a16="http://schemas.microsoft.com/office/drawing/2014/main" id="{0B53EA0E-D6D0-0AEB-3636-B9EA03A5CDA4}"/>
              </a:ext>
            </a:extLst>
          </p:cNvPr>
          <p:cNvSpPr/>
          <p:nvPr/>
        </p:nvSpPr>
        <p:spPr bwMode="auto">
          <a:xfrm>
            <a:off x="2568575" y="1285875"/>
            <a:ext cx="4500563" cy="2786063"/>
          </a:xfrm>
          <a:prstGeom prst="ellipse">
            <a:avLst/>
          </a:prstGeom>
          <a:noFill/>
          <a:ln w="38100" cap="flat" cmpd="dbl" algn="ctr">
            <a:solidFill>
              <a:schemeClr val="bg1">
                <a:lumMod val="50000"/>
              </a:schemeClr>
            </a:solidFill>
            <a:prstDash val="solid"/>
            <a:miter lim="800000"/>
            <a:headEnd type="none" w="med" len="med"/>
            <a:tailEnd type="none" w="med" len="med"/>
          </a:ln>
          <a:effectLst>
            <a:outerShdw blurRad="50800" dist="38100" dir="2700000" algn="tl" rotWithShape="0">
              <a:prstClr val="black">
                <a:alpha val="40000"/>
              </a:prstClr>
            </a:outerShdw>
          </a:effectLst>
        </p:spPr>
        <p:txBody>
          <a:bodyPr wrap="none"/>
          <a:lstStyle/>
          <a:p>
            <a:pPr>
              <a:defRPr/>
            </a:pPr>
            <a:endParaRPr lang="zh-CN" altLang="en-US"/>
          </a:p>
        </p:txBody>
      </p:sp>
      <p:pic>
        <p:nvPicPr>
          <p:cNvPr id="28688" name="Picture 16">
            <a:extLst>
              <a:ext uri="{FF2B5EF4-FFF2-40B4-BE49-F238E27FC236}">
                <a16:creationId xmlns:a16="http://schemas.microsoft.com/office/drawing/2014/main" id="{A183E1F8-878D-1656-B9DB-8229ABB10A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7475" y="1012825"/>
            <a:ext cx="231933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90" name="Picture 18">
            <a:extLst>
              <a:ext uri="{FF2B5EF4-FFF2-40B4-BE49-F238E27FC236}">
                <a16:creationId xmlns:a16="http://schemas.microsoft.com/office/drawing/2014/main" id="{5848D539-C164-9176-FA5B-443094EC34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70297"/>
          <a:stretch>
            <a:fillRect/>
          </a:stretch>
        </p:blipFill>
        <p:spPr bwMode="auto">
          <a:xfrm>
            <a:off x="1714500" y="5643563"/>
            <a:ext cx="52101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8">
            <a:extLst>
              <a:ext uri="{FF2B5EF4-FFF2-40B4-BE49-F238E27FC236}">
                <a16:creationId xmlns:a16="http://schemas.microsoft.com/office/drawing/2014/main" id="{09857A61-C6EB-10FE-7B7F-F579514012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247" b="44554"/>
          <a:stretch>
            <a:fillRect/>
          </a:stretch>
        </p:blipFill>
        <p:spPr bwMode="auto">
          <a:xfrm>
            <a:off x="1928813" y="4286250"/>
            <a:ext cx="5210175"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10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2000"/>
                                        <p:tgtEl>
                                          <p:spTgt spid="2"/>
                                        </p:tgtEl>
                                      </p:cBhvr>
                                    </p:animEffect>
                                  </p:childTnLst>
                                </p:cTn>
                              </p:par>
                              <p:par>
                                <p:cTn id="13" presetID="22" presetClass="entr" presetSubtype="4"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down)">
                                      <p:cBhvr>
                                        <p:cTn id="15" dur="500"/>
                                        <p:tgtEl>
                                          <p:spTgt spid="1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nodeType="clickEffect">
                                  <p:stCondLst>
                                    <p:cond delay="0"/>
                                  </p:stCondLst>
                                  <p:childTnLst>
                                    <p:set>
                                      <p:cBhvr>
                                        <p:cTn id="19" dur="1" fill="hold">
                                          <p:stCondLst>
                                            <p:cond delay="0"/>
                                          </p:stCondLst>
                                        </p:cTn>
                                        <p:tgtEl>
                                          <p:spTgt spid="28688"/>
                                        </p:tgtEl>
                                        <p:attrNameLst>
                                          <p:attrName>style.visibility</p:attrName>
                                        </p:attrNameLst>
                                      </p:cBhvr>
                                      <p:to>
                                        <p:strVal val="visible"/>
                                      </p:to>
                                    </p:set>
                                    <p:animEffect transition="in" filter="wipe(up)">
                                      <p:cBhvr>
                                        <p:cTn id="20" dur="1000"/>
                                        <p:tgtEl>
                                          <p:spTgt spid="2868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28681"/>
                                        </p:tgtEl>
                                        <p:attrNameLst>
                                          <p:attrName>style.visibility</p:attrName>
                                        </p:attrNameLst>
                                      </p:cBhvr>
                                      <p:to>
                                        <p:strVal val="visible"/>
                                      </p:to>
                                    </p:set>
                                    <p:animEffect transition="in" filter="wipe(up)">
                                      <p:cBhvr>
                                        <p:cTn id="25" dur="1000"/>
                                        <p:tgtEl>
                                          <p:spTgt spid="28681"/>
                                        </p:tgtEl>
                                      </p:cBhvr>
                                    </p:animEffect>
                                  </p:childTnLst>
                                </p:cTn>
                              </p:par>
                            </p:childTnLst>
                          </p:cTn>
                        </p:par>
                        <p:par>
                          <p:cTn id="26" fill="hold" nodeType="afterGroup">
                            <p:stCondLst>
                              <p:cond delay="1000"/>
                            </p:stCondLst>
                            <p:childTnLst>
                              <p:par>
                                <p:cTn id="27" presetID="22" presetClass="entr" presetSubtype="1" fill="hold" nodeType="after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wipe(up)">
                                      <p:cBhvr>
                                        <p:cTn id="29" dur="1000"/>
                                        <p:tgtEl>
                                          <p:spTgt spid="1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28682"/>
                                        </p:tgtEl>
                                        <p:attrNameLst>
                                          <p:attrName>style.visibility</p:attrName>
                                        </p:attrNameLst>
                                      </p:cBhvr>
                                      <p:to>
                                        <p:strVal val="visible"/>
                                      </p:to>
                                    </p:set>
                                    <p:animEffect transition="in" filter="wipe(up)">
                                      <p:cBhvr>
                                        <p:cTn id="34" dur="1000"/>
                                        <p:tgtEl>
                                          <p:spTgt spid="28682"/>
                                        </p:tgtEl>
                                      </p:cBhvr>
                                    </p:animEffect>
                                  </p:childTnLst>
                                </p:cTn>
                              </p:par>
                            </p:childTnLst>
                          </p:cTn>
                        </p:par>
                        <p:par>
                          <p:cTn id="35" fill="hold" nodeType="afterGroup">
                            <p:stCondLst>
                              <p:cond delay="1000"/>
                            </p:stCondLst>
                            <p:childTnLst>
                              <p:par>
                                <p:cTn id="36" presetID="22" presetClass="entr" presetSubtype="1" fill="hold" nodeType="afterEffect">
                                  <p:stCondLst>
                                    <p:cond delay="0"/>
                                  </p:stCondLst>
                                  <p:childTnLst>
                                    <p:set>
                                      <p:cBhvr>
                                        <p:cTn id="37" dur="1" fill="hold">
                                          <p:stCondLst>
                                            <p:cond delay="0"/>
                                          </p:stCondLst>
                                        </p:cTn>
                                        <p:tgtEl>
                                          <p:spTgt spid="28690"/>
                                        </p:tgtEl>
                                        <p:attrNameLst>
                                          <p:attrName>style.visibility</p:attrName>
                                        </p:attrNameLst>
                                      </p:cBhvr>
                                      <p:to>
                                        <p:strVal val="visible"/>
                                      </p:to>
                                    </p:set>
                                    <p:animEffect transition="in" filter="wipe(up)">
                                      <p:cBhvr>
                                        <p:cTn id="38" dur="1000"/>
                                        <p:tgtEl>
                                          <p:spTgt spid="286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8681" grpId="0"/>
      <p:bldP spid="28682" grpId="0"/>
      <p:bldP spid="17"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2948" name="Object 4">
            <a:extLst>
              <a:ext uri="{FF2B5EF4-FFF2-40B4-BE49-F238E27FC236}">
                <a16:creationId xmlns:a16="http://schemas.microsoft.com/office/drawing/2014/main" id="{3D071DE1-B275-FE2B-9248-E51D2DCD4DAA}"/>
              </a:ext>
            </a:extLst>
          </p:cNvPr>
          <p:cNvGraphicFramePr>
            <a:graphicFrameLocks noChangeAspect="1"/>
          </p:cNvGraphicFramePr>
          <p:nvPr/>
        </p:nvGraphicFramePr>
        <p:xfrm>
          <a:off x="2741613" y="2598738"/>
          <a:ext cx="4521200" cy="500062"/>
        </p:xfrm>
        <a:graphic>
          <a:graphicData uri="http://schemas.openxmlformats.org/presentationml/2006/ole">
            <mc:AlternateContent xmlns:mc="http://schemas.openxmlformats.org/markup-compatibility/2006">
              <mc:Choice xmlns:v="urn:schemas-microsoft-com:vml" Requires="v">
                <p:oleObj name="公式" r:id="rId2" imgW="2070000" imgH="228600" progId="Equation.3">
                  <p:embed/>
                </p:oleObj>
              </mc:Choice>
              <mc:Fallback>
                <p:oleObj name="公式" r:id="rId2" imgW="2070000" imgH="2286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1613" y="2598738"/>
                        <a:ext cx="4521200" cy="500062"/>
                      </a:xfrm>
                      <a:prstGeom prst="rect">
                        <a:avLst/>
                      </a:prstGeom>
                      <a:noFill/>
                      <a:ln w="38100" cmpd="dbl">
                        <a:solidFill>
                          <a:srgbClr val="6666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矩形 6">
            <a:extLst>
              <a:ext uri="{FF2B5EF4-FFF2-40B4-BE49-F238E27FC236}">
                <a16:creationId xmlns:a16="http://schemas.microsoft.com/office/drawing/2014/main" id="{BD1B36D2-D8D3-F84E-CAD0-FB451ABC2CF6}"/>
              </a:ext>
            </a:extLst>
          </p:cNvPr>
          <p:cNvSpPr/>
          <p:nvPr/>
        </p:nvSpPr>
        <p:spPr>
          <a:xfrm>
            <a:off x="857250" y="3714750"/>
            <a:ext cx="8143875" cy="461963"/>
          </a:xfrm>
          <a:prstGeom prst="rect">
            <a:avLst/>
          </a:prstGeom>
        </p:spPr>
        <p:txBody>
          <a:bodyPr>
            <a:spAutoFit/>
          </a:bodyPr>
          <a:lstStyle/>
          <a:p>
            <a:pPr>
              <a:defRPr/>
            </a:pPr>
            <a:r>
              <a:rPr lang="zh-CN" altLang="en-US" sz="2000" b="0" kern="0" dirty="0">
                <a:solidFill>
                  <a:srgbClr val="000000"/>
                </a:solidFill>
                <a:latin typeface="Times New Roman" pitchFamily="18" charset="0"/>
                <a:ea typeface="微软雅黑" pitchFamily="34" charset="-122"/>
                <a:cs typeface="Times New Roman" pitchFamily="18" charset="0"/>
              </a:rPr>
              <a:t>这是因为，</a:t>
            </a:r>
            <a:r>
              <a:rPr kumimoji="0" lang="en-US" altLang="zh-CN" sz="2400" i="1" kern="0" dirty="0">
                <a:solidFill>
                  <a:srgbClr val="FF0000"/>
                </a:solidFill>
                <a:latin typeface="Times New Roman" pitchFamily="18" charset="0"/>
                <a:ea typeface="微软雅黑" pitchFamily="34" charset="-122"/>
                <a:cs typeface="Times New Roman" pitchFamily="18" charset="0"/>
              </a:rPr>
              <a:t>A</a:t>
            </a:r>
            <a:r>
              <a:rPr kumimoji="0" lang="en-US" altLang="zh-CN" sz="2400" kern="0" dirty="0">
                <a:solidFill>
                  <a:srgbClr val="FF0000"/>
                </a:solidFill>
                <a:latin typeface="Times New Roman" pitchFamily="18" charset="0"/>
                <a:ea typeface="微软雅黑" pitchFamily="34" charset="-122"/>
                <a:cs typeface="Times New Roman" pitchFamily="18" charset="0"/>
                <a:sym typeface="Symbol" pitchFamily="18" charset="2"/>
              </a:rPr>
              <a:t></a:t>
            </a:r>
            <a:r>
              <a:rPr kumimoji="0" lang="en-US" altLang="zh-CN" sz="2400" kern="0" dirty="0">
                <a:solidFill>
                  <a:srgbClr val="FF0000"/>
                </a:solidFill>
                <a:latin typeface="Times New Roman" pitchFamily="18" charset="0"/>
                <a:ea typeface="微软雅黑" pitchFamily="34" charset="-122"/>
                <a:cs typeface="Times New Roman" pitchFamily="18" charset="0"/>
              </a:rPr>
              <a:t>(</a:t>
            </a:r>
            <a:r>
              <a:rPr kumimoji="0" lang="en-US" altLang="zh-CN" sz="2400" i="1" kern="0" dirty="0">
                <a:solidFill>
                  <a:srgbClr val="FF0000"/>
                </a:solidFill>
                <a:latin typeface="Times New Roman" pitchFamily="18" charset="0"/>
                <a:ea typeface="微软雅黑" pitchFamily="34" charset="-122"/>
                <a:cs typeface="Times New Roman" pitchFamily="18" charset="0"/>
              </a:rPr>
              <a:t>x</a:t>
            </a:r>
            <a:r>
              <a:rPr kumimoji="0" lang="en-US" altLang="zh-CN" sz="2400" kern="0" dirty="0">
                <a:solidFill>
                  <a:srgbClr val="FF0000"/>
                </a:solidFill>
                <a:latin typeface="Times New Roman" pitchFamily="18" charset="0"/>
                <a:ea typeface="微软雅黑" pitchFamily="34" charset="-122"/>
                <a:cs typeface="Times New Roman" pitchFamily="18" charset="0"/>
              </a:rPr>
              <a:t>)</a:t>
            </a:r>
            <a:r>
              <a:rPr lang="zh-CN" altLang="en-US" sz="2000" b="0" kern="0" dirty="0">
                <a:solidFill>
                  <a:srgbClr val="000000"/>
                </a:solidFill>
                <a:latin typeface="Times New Roman" pitchFamily="18" charset="0"/>
                <a:ea typeface="微软雅黑" pitchFamily="34" charset="-122"/>
                <a:cs typeface="Times New Roman" pitchFamily="18" charset="0"/>
              </a:rPr>
              <a:t>正是 </a:t>
            </a:r>
            <a:r>
              <a:rPr lang="en-US" altLang="zh-CN" sz="2400" b="0" i="1" kern="0" dirty="0">
                <a:solidFill>
                  <a:srgbClr val="0000CC"/>
                </a:solidFill>
                <a:latin typeface="Times New Roman" pitchFamily="18" charset="0"/>
                <a:ea typeface="微软雅黑" pitchFamily="34" charset="-122"/>
                <a:cs typeface="Times New Roman" pitchFamily="18" charset="0"/>
              </a:rPr>
              <a:t>A</a:t>
            </a:r>
            <a:r>
              <a:rPr lang="en-US" altLang="zh-CN" sz="2400" kern="0" dirty="0">
                <a:solidFill>
                  <a:srgbClr val="0000CC"/>
                </a:solidFill>
                <a:latin typeface="Times New Roman" pitchFamily="18" charset="0"/>
                <a:ea typeface="微软雅黑" pitchFamily="34" charset="-122"/>
                <a:cs typeface="Times New Roman" pitchFamily="18" charset="0"/>
              </a:rPr>
              <a:t>(</a:t>
            </a:r>
            <a:r>
              <a:rPr lang="en-US" altLang="zh-CN" sz="2400" i="1" kern="0" dirty="0">
                <a:solidFill>
                  <a:srgbClr val="0000CC"/>
                </a:solidFill>
                <a:latin typeface="Times New Roman" pitchFamily="18" charset="0"/>
                <a:ea typeface="微软雅黑" pitchFamily="34" charset="-122"/>
                <a:cs typeface="Times New Roman" pitchFamily="18" charset="0"/>
              </a:rPr>
              <a:t>x</a:t>
            </a:r>
            <a:r>
              <a:rPr lang="en-US" altLang="zh-CN" sz="2400" kern="0" dirty="0">
                <a:solidFill>
                  <a:srgbClr val="0000CC"/>
                </a:solidFill>
                <a:latin typeface="Times New Roman" pitchFamily="18" charset="0"/>
                <a:ea typeface="微软雅黑" pitchFamily="34" charset="-122"/>
                <a:cs typeface="Times New Roman" pitchFamily="18" charset="0"/>
              </a:rPr>
              <a:t>) </a:t>
            </a:r>
            <a:r>
              <a:rPr lang="zh-CN" altLang="en-US" sz="2000" b="0" kern="0" dirty="0">
                <a:solidFill>
                  <a:srgbClr val="000000"/>
                </a:solidFill>
                <a:latin typeface="Times New Roman" pitchFamily="18" charset="0"/>
                <a:ea typeface="微软雅黑" pitchFamily="34" charset="-122"/>
                <a:cs typeface="Times New Roman" pitchFamily="18" charset="0"/>
              </a:rPr>
              <a:t>代表的码组向</a:t>
            </a:r>
            <a:r>
              <a:rPr lang="zh-CN" altLang="en-US" sz="2000" b="0" kern="0" dirty="0">
                <a:solidFill>
                  <a:srgbClr val="FF0000"/>
                </a:solidFill>
                <a:latin typeface="Times New Roman" pitchFamily="18" charset="0"/>
                <a:ea typeface="微软雅黑" pitchFamily="34" charset="-122"/>
                <a:cs typeface="Times New Roman" pitchFamily="18" charset="0"/>
              </a:rPr>
              <a:t>左</a:t>
            </a:r>
            <a:r>
              <a:rPr lang="zh-CN" altLang="en-US" sz="2000" b="0" kern="0" dirty="0">
                <a:solidFill>
                  <a:srgbClr val="000000"/>
                </a:solidFill>
                <a:latin typeface="Times New Roman" pitchFamily="18" charset="0"/>
                <a:ea typeface="微软雅黑" pitchFamily="34" charset="-122"/>
                <a:cs typeface="Times New Roman" pitchFamily="18" charset="0"/>
              </a:rPr>
              <a:t>循环移位  </a:t>
            </a:r>
            <a:r>
              <a:rPr lang="en-US" altLang="zh-CN" sz="2400" i="1" kern="0" dirty="0" err="1">
                <a:solidFill>
                  <a:srgbClr val="FF0000"/>
                </a:solidFill>
                <a:latin typeface="Times New Roman" pitchFamily="18" charset="0"/>
                <a:ea typeface="微软雅黑" pitchFamily="34" charset="-122"/>
                <a:cs typeface="Times New Roman" pitchFamily="18" charset="0"/>
              </a:rPr>
              <a:t>i</a:t>
            </a:r>
            <a:r>
              <a:rPr lang="en-US" altLang="zh-CN" sz="2400" i="1" kern="0" dirty="0">
                <a:solidFill>
                  <a:srgbClr val="FF0000"/>
                </a:solidFill>
                <a:latin typeface="Times New Roman" pitchFamily="18" charset="0"/>
                <a:ea typeface="微软雅黑" pitchFamily="34" charset="-122"/>
                <a:cs typeface="Times New Roman" pitchFamily="18" charset="0"/>
              </a:rPr>
              <a:t> </a:t>
            </a:r>
            <a:r>
              <a:rPr lang="zh-CN" altLang="en-US" sz="2000" b="0" kern="0" dirty="0">
                <a:solidFill>
                  <a:srgbClr val="FF0000"/>
                </a:solidFill>
                <a:latin typeface="Times New Roman" pitchFamily="18" charset="0"/>
                <a:ea typeface="微软雅黑" pitchFamily="34" charset="-122"/>
                <a:cs typeface="Times New Roman" pitchFamily="18" charset="0"/>
              </a:rPr>
              <a:t>次</a:t>
            </a:r>
            <a:r>
              <a:rPr lang="zh-CN" altLang="en-US" sz="2000" b="0" kern="0" dirty="0">
                <a:solidFill>
                  <a:srgbClr val="000000"/>
                </a:solidFill>
                <a:latin typeface="Times New Roman" pitchFamily="18" charset="0"/>
                <a:ea typeface="微软雅黑" pitchFamily="34" charset="-122"/>
                <a:cs typeface="Times New Roman" pitchFamily="18" charset="0"/>
              </a:rPr>
              <a:t>的结果。</a:t>
            </a:r>
            <a:endParaRPr lang="zh-CN" altLang="en-US" sz="2000" b="0" dirty="0">
              <a:latin typeface="Times New Roman" pitchFamily="18" charset="0"/>
              <a:ea typeface="微软雅黑" pitchFamily="34" charset="-122"/>
              <a:cs typeface="Times New Roman" pitchFamily="18" charset="0"/>
            </a:endParaRPr>
          </a:p>
        </p:txBody>
      </p:sp>
      <p:sp>
        <p:nvSpPr>
          <p:cNvPr id="8" name="Rectangle 3">
            <a:extLst>
              <a:ext uri="{FF2B5EF4-FFF2-40B4-BE49-F238E27FC236}">
                <a16:creationId xmlns:a16="http://schemas.microsoft.com/office/drawing/2014/main" id="{27E1277B-7E19-3EA1-F175-A25EA4E3891A}"/>
              </a:ext>
            </a:extLst>
          </p:cNvPr>
          <p:cNvSpPr txBox="1">
            <a:spLocks noChangeArrowheads="1"/>
          </p:cNvSpPr>
          <p:nvPr/>
        </p:nvSpPr>
        <p:spPr bwMode="auto">
          <a:xfrm>
            <a:off x="642938" y="914400"/>
            <a:ext cx="3357562" cy="571500"/>
          </a:xfrm>
          <a:prstGeom prst="rect">
            <a:avLst/>
          </a:prstGeom>
          <a:noFill/>
          <a:ln w="9525">
            <a:noFill/>
            <a:miter lim="800000"/>
            <a:headEnd/>
            <a:tailEnd/>
          </a:ln>
        </p:spPr>
        <p:txBody>
          <a:bodyPr/>
          <a:lstStyle/>
          <a:p>
            <a:pPr marL="228600" indent="-228600">
              <a:lnSpc>
                <a:spcPct val="150000"/>
              </a:lnSpc>
              <a:spcBef>
                <a:spcPct val="20000"/>
              </a:spcBef>
              <a:buClr>
                <a:srgbClr val="0000CC"/>
              </a:buClr>
              <a:buSzPct val="70000"/>
              <a:buFont typeface="Wingdings" pitchFamily="2" charset="2"/>
              <a:buChar char="u"/>
              <a:defRPr/>
            </a:pPr>
            <a:r>
              <a:rPr kumimoji="0" lang="zh-CN" altLang="en-US" sz="2400" kern="0" dirty="0">
                <a:solidFill>
                  <a:srgbClr val="000000"/>
                </a:solidFill>
                <a:latin typeface="Times New Roman" pitchFamily="18" charset="0"/>
                <a:ea typeface="微软雅黑" pitchFamily="34" charset="-122"/>
                <a:cs typeface="Times New Roman" pitchFamily="18" charset="0"/>
              </a:rPr>
              <a:t>循环码的</a:t>
            </a:r>
            <a:r>
              <a:rPr kumimoji="0" lang="zh-CN" altLang="en-US" sz="2400" kern="0" dirty="0">
                <a:solidFill>
                  <a:schemeClr val="tx1"/>
                </a:solidFill>
                <a:latin typeface="微软雅黑" pitchFamily="34" charset="-122"/>
                <a:ea typeface="微软雅黑" pitchFamily="34" charset="-122"/>
              </a:rPr>
              <a:t>码多项式</a:t>
            </a:r>
            <a:r>
              <a:rPr kumimoji="0" lang="zh-CN" altLang="en-US" sz="2000" b="0" kern="0" dirty="0">
                <a:solidFill>
                  <a:schemeClr val="tx1"/>
                </a:solidFill>
                <a:latin typeface="Arial" pitchFamily="34" charset="0"/>
                <a:ea typeface="微软雅黑" pitchFamily="34" charset="-122"/>
                <a:cs typeface="Arial" pitchFamily="34" charset="0"/>
              </a:rPr>
              <a:t>	</a:t>
            </a:r>
            <a:endParaRPr kumimoji="0" lang="en-US" altLang="zh-CN" sz="2000" b="0" kern="0" dirty="0">
              <a:solidFill>
                <a:schemeClr val="tx1"/>
              </a:solidFill>
              <a:latin typeface="Arial" pitchFamily="34" charset="0"/>
              <a:ea typeface="微软雅黑" pitchFamily="34" charset="-122"/>
              <a:cs typeface="Arial" pitchFamily="34" charset="0"/>
            </a:endParaRPr>
          </a:p>
        </p:txBody>
      </p:sp>
      <p:sp>
        <p:nvSpPr>
          <p:cNvPr id="9" name="矩形 8">
            <a:extLst>
              <a:ext uri="{FF2B5EF4-FFF2-40B4-BE49-F238E27FC236}">
                <a16:creationId xmlns:a16="http://schemas.microsoft.com/office/drawing/2014/main" id="{DAB0B690-DC46-1BB9-31DD-717E67090C45}"/>
              </a:ext>
            </a:extLst>
          </p:cNvPr>
          <p:cNvSpPr/>
          <p:nvPr/>
        </p:nvSpPr>
        <p:spPr>
          <a:xfrm>
            <a:off x="857250" y="3286125"/>
            <a:ext cx="4643438" cy="461963"/>
          </a:xfrm>
          <a:prstGeom prst="rect">
            <a:avLst/>
          </a:prstGeom>
        </p:spPr>
        <p:txBody>
          <a:bodyPr>
            <a:spAutoFit/>
          </a:bodyPr>
          <a:lstStyle/>
          <a:p>
            <a:pPr>
              <a:defRPr/>
            </a:pPr>
            <a:r>
              <a:rPr kumimoji="0" lang="zh-CN" altLang="en-US" sz="2000" b="0" kern="0" dirty="0">
                <a:solidFill>
                  <a:srgbClr val="000000"/>
                </a:solidFill>
                <a:latin typeface="Times New Roman" pitchFamily="18" charset="0"/>
                <a:ea typeface="微软雅黑" pitchFamily="34" charset="-122"/>
                <a:cs typeface="Times New Roman" pitchFamily="18" charset="0"/>
              </a:rPr>
              <a:t>则 </a:t>
            </a:r>
            <a:r>
              <a:rPr kumimoji="0" lang="en-US" altLang="zh-CN" sz="2400" i="1" kern="0" dirty="0">
                <a:solidFill>
                  <a:srgbClr val="FF0000"/>
                </a:solidFill>
                <a:latin typeface="Times New Roman" pitchFamily="18" charset="0"/>
                <a:ea typeface="微软雅黑" pitchFamily="34" charset="-122"/>
                <a:cs typeface="Times New Roman" pitchFamily="18" charset="0"/>
              </a:rPr>
              <a:t>A</a:t>
            </a:r>
            <a:r>
              <a:rPr kumimoji="0" lang="en-US" altLang="zh-CN" sz="2400" kern="0" dirty="0">
                <a:solidFill>
                  <a:srgbClr val="FF0000"/>
                </a:solidFill>
                <a:latin typeface="Times New Roman" pitchFamily="18" charset="0"/>
                <a:ea typeface="微软雅黑" pitchFamily="34" charset="-122"/>
                <a:cs typeface="Times New Roman" pitchFamily="18" charset="0"/>
                <a:sym typeface="Symbol" pitchFamily="18" charset="2"/>
              </a:rPr>
              <a:t></a:t>
            </a:r>
            <a:r>
              <a:rPr kumimoji="0" lang="en-US" altLang="zh-CN" sz="2400" kern="0" dirty="0">
                <a:solidFill>
                  <a:srgbClr val="FF0000"/>
                </a:solidFill>
                <a:latin typeface="Times New Roman" pitchFamily="18" charset="0"/>
                <a:ea typeface="微软雅黑" pitchFamily="34" charset="-122"/>
                <a:cs typeface="Times New Roman" pitchFamily="18" charset="0"/>
              </a:rPr>
              <a:t>(</a:t>
            </a:r>
            <a:r>
              <a:rPr kumimoji="0" lang="en-US" altLang="zh-CN" sz="2400" i="1" kern="0" dirty="0">
                <a:solidFill>
                  <a:srgbClr val="FF0000"/>
                </a:solidFill>
                <a:latin typeface="Times New Roman" pitchFamily="18" charset="0"/>
                <a:ea typeface="微软雅黑" pitchFamily="34" charset="-122"/>
                <a:cs typeface="Times New Roman" pitchFamily="18" charset="0"/>
              </a:rPr>
              <a:t>x</a:t>
            </a:r>
            <a:r>
              <a:rPr kumimoji="0" lang="en-US" altLang="zh-CN" sz="2400" kern="0" dirty="0">
                <a:solidFill>
                  <a:srgbClr val="FF0000"/>
                </a:solidFill>
                <a:latin typeface="Times New Roman" pitchFamily="18" charset="0"/>
                <a:ea typeface="微软雅黑" pitchFamily="34" charset="-122"/>
                <a:cs typeface="Times New Roman" pitchFamily="18" charset="0"/>
              </a:rPr>
              <a:t>) </a:t>
            </a:r>
            <a:r>
              <a:rPr kumimoji="0" lang="zh-CN" altLang="en-US" sz="2000" b="0" kern="0" dirty="0">
                <a:solidFill>
                  <a:srgbClr val="000000"/>
                </a:solidFill>
                <a:latin typeface="Times New Roman" pitchFamily="18" charset="0"/>
                <a:ea typeface="微软雅黑" pitchFamily="34" charset="-122"/>
                <a:cs typeface="Times New Roman" pitchFamily="18" charset="0"/>
              </a:rPr>
              <a:t>也是该编码中的一个许用码组。</a:t>
            </a:r>
            <a:endParaRPr lang="zh-CN" altLang="en-US" dirty="0"/>
          </a:p>
        </p:txBody>
      </p:sp>
      <p:sp>
        <p:nvSpPr>
          <p:cNvPr id="12" name="Rectangle 3">
            <a:extLst>
              <a:ext uri="{FF2B5EF4-FFF2-40B4-BE49-F238E27FC236}">
                <a16:creationId xmlns:a16="http://schemas.microsoft.com/office/drawing/2014/main" id="{877E7C18-8320-D876-7BE6-49F45E83807B}"/>
              </a:ext>
            </a:extLst>
          </p:cNvPr>
          <p:cNvSpPr txBox="1">
            <a:spLocks noChangeArrowheads="1"/>
          </p:cNvSpPr>
          <p:nvPr/>
        </p:nvSpPr>
        <p:spPr bwMode="auto">
          <a:xfrm>
            <a:off x="1428750" y="4427538"/>
            <a:ext cx="6929438" cy="2001837"/>
          </a:xfrm>
          <a:prstGeom prst="rect">
            <a:avLst/>
          </a:prstGeom>
          <a:solidFill>
            <a:schemeClr val="bg2">
              <a:lumMod val="10000"/>
              <a:lumOff val="90000"/>
            </a:schemeClr>
          </a:solidFill>
          <a:ln w="9525">
            <a:noFill/>
            <a:miter lim="800000"/>
            <a:headEnd/>
            <a:tailEnd/>
          </a:ln>
          <a:effectLst>
            <a:outerShdw blurRad="63500" sx="102000" sy="102000" algn="ctr" rotWithShape="0">
              <a:prstClr val="black">
                <a:alpha val="40000"/>
              </a:prstClr>
            </a:outerShdw>
          </a:effectLst>
        </p:spPr>
        <p:txBody>
          <a:bodyPr/>
          <a:lstStyle/>
          <a:p>
            <a:pPr>
              <a:lnSpc>
                <a:spcPct val="150000"/>
              </a:lnSpc>
              <a:defRPr/>
            </a:pPr>
            <a:r>
              <a:rPr lang="zh-CN" altLang="en-US" sz="2000" b="0" dirty="0">
                <a:solidFill>
                  <a:schemeClr val="tx1"/>
                </a:solidFill>
                <a:latin typeface="Arial" pitchFamily="34" charset="0"/>
                <a:ea typeface="微软雅黑" pitchFamily="34" charset="-122"/>
                <a:cs typeface="Arial" pitchFamily="34" charset="0"/>
              </a:rPr>
              <a:t>            </a:t>
            </a:r>
            <a:endParaRPr lang="en-US" altLang="zh-CN" sz="2000" b="0" dirty="0">
              <a:solidFill>
                <a:schemeClr val="tx1"/>
              </a:solidFill>
              <a:latin typeface="Arial" pitchFamily="34" charset="0"/>
              <a:ea typeface="微软雅黑" pitchFamily="34" charset="-122"/>
              <a:cs typeface="Arial" pitchFamily="34" charset="0"/>
            </a:endParaRPr>
          </a:p>
          <a:p>
            <a:pPr>
              <a:lnSpc>
                <a:spcPct val="150000"/>
              </a:lnSpc>
              <a:defRPr/>
            </a:pPr>
            <a:endParaRPr lang="zh-CN" altLang="en-US" sz="2000" b="0" dirty="0">
              <a:solidFill>
                <a:schemeClr val="tx1"/>
              </a:solidFill>
              <a:latin typeface="Arial" pitchFamily="34" charset="0"/>
              <a:ea typeface="微软雅黑" pitchFamily="34" charset="-122"/>
              <a:cs typeface="Arial" pitchFamily="34" charset="0"/>
            </a:endParaRPr>
          </a:p>
          <a:p>
            <a:pPr>
              <a:lnSpc>
                <a:spcPct val="150000"/>
              </a:lnSpc>
              <a:defRPr/>
            </a:pPr>
            <a:r>
              <a:rPr lang="en-US" sz="2000" b="0" dirty="0">
                <a:solidFill>
                  <a:schemeClr val="tx1"/>
                </a:solidFill>
                <a:latin typeface="Arial" pitchFamily="34" charset="0"/>
                <a:ea typeface="微软雅黑" pitchFamily="34" charset="-122"/>
                <a:cs typeface="Arial" pitchFamily="34" charset="0"/>
              </a:rPr>
              <a:t>			 </a:t>
            </a:r>
            <a:endParaRPr kumimoji="0" lang="zh-CN" altLang="en-US" sz="2000" b="0" kern="0" dirty="0">
              <a:solidFill>
                <a:schemeClr val="tx1"/>
              </a:solidFill>
              <a:latin typeface="Arial" pitchFamily="34" charset="0"/>
              <a:ea typeface="微软雅黑" pitchFamily="34" charset="-122"/>
              <a:cs typeface="Arial" pitchFamily="34" charset="0"/>
            </a:endParaRPr>
          </a:p>
          <a:p>
            <a:pPr marL="1143000" lvl="2" indent="-228600" eaLnBrk="0" hangingPunct="0">
              <a:lnSpc>
                <a:spcPct val="150000"/>
              </a:lnSpc>
              <a:spcBef>
                <a:spcPct val="20000"/>
              </a:spcBef>
              <a:buClr>
                <a:schemeClr val="folHlink"/>
              </a:buClr>
              <a:buSzPct val="50000"/>
              <a:buFont typeface="Wingdings" pitchFamily="2" charset="2"/>
              <a:buNone/>
              <a:defRPr/>
            </a:pPr>
            <a:r>
              <a:rPr kumimoji="0" lang="zh-CN" altLang="en-US" sz="2000" b="0" kern="0" dirty="0">
                <a:solidFill>
                  <a:schemeClr val="tx1"/>
                </a:solidFill>
                <a:latin typeface="Arial" pitchFamily="34" charset="0"/>
                <a:ea typeface="微软雅黑" pitchFamily="34" charset="-122"/>
                <a:cs typeface="Arial" pitchFamily="34" charset="0"/>
              </a:rPr>
              <a:t>	</a:t>
            </a:r>
          </a:p>
        </p:txBody>
      </p:sp>
      <p:grpSp>
        <p:nvGrpSpPr>
          <p:cNvPr id="2" name="组合 30">
            <a:extLst>
              <a:ext uri="{FF2B5EF4-FFF2-40B4-BE49-F238E27FC236}">
                <a16:creationId xmlns:a16="http://schemas.microsoft.com/office/drawing/2014/main" id="{AD287BD3-E2E7-3E91-5089-AA1DE0E92F92}"/>
              </a:ext>
            </a:extLst>
          </p:cNvPr>
          <p:cNvGrpSpPr>
            <a:grpSpLocks/>
          </p:cNvGrpSpPr>
          <p:nvPr/>
        </p:nvGrpSpPr>
        <p:grpSpPr bwMode="auto">
          <a:xfrm>
            <a:off x="1000125" y="4286250"/>
            <a:ext cx="714375" cy="571500"/>
            <a:chOff x="285721" y="3286124"/>
            <a:chExt cx="714380" cy="571504"/>
          </a:xfrm>
        </p:grpSpPr>
        <p:grpSp>
          <p:nvGrpSpPr>
            <p:cNvPr id="26638" name="Group 52">
              <a:extLst>
                <a:ext uri="{FF2B5EF4-FFF2-40B4-BE49-F238E27FC236}">
                  <a16:creationId xmlns:a16="http://schemas.microsoft.com/office/drawing/2014/main" id="{5F85CB15-7431-4756-6E7D-03DFA61139CC}"/>
                </a:ext>
              </a:extLst>
            </p:cNvPr>
            <p:cNvGrpSpPr>
              <a:grpSpLocks/>
            </p:cNvGrpSpPr>
            <p:nvPr/>
          </p:nvGrpSpPr>
          <p:grpSpPr bwMode="auto">
            <a:xfrm>
              <a:off x="285721" y="3286124"/>
              <a:ext cx="714380" cy="571504"/>
              <a:chOff x="1289" y="582"/>
              <a:chExt cx="668" cy="668"/>
            </a:xfrm>
          </p:grpSpPr>
          <p:sp>
            <p:nvSpPr>
              <p:cNvPr id="26640" name="Oval 53">
                <a:extLst>
                  <a:ext uri="{FF2B5EF4-FFF2-40B4-BE49-F238E27FC236}">
                    <a16:creationId xmlns:a16="http://schemas.microsoft.com/office/drawing/2014/main" id="{9A7BDD99-FC39-AF04-F05D-385A290C4A38}"/>
                  </a:ext>
                </a:extLst>
              </p:cNvPr>
              <p:cNvSpPr>
                <a:spLocks noChangeArrowheads="1"/>
              </p:cNvSpPr>
              <p:nvPr/>
            </p:nvSpPr>
            <p:spPr bwMode="gray">
              <a:xfrm>
                <a:off x="1289" y="582"/>
                <a:ext cx="668" cy="668"/>
              </a:xfrm>
              <a:prstGeom prst="ellipse">
                <a:avLst/>
              </a:prstGeom>
              <a:solidFill>
                <a:srgbClr val="333333"/>
              </a:soli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26641" name="Oval 54">
                <a:extLst>
                  <a:ext uri="{FF2B5EF4-FFF2-40B4-BE49-F238E27FC236}">
                    <a16:creationId xmlns:a16="http://schemas.microsoft.com/office/drawing/2014/main" id="{5D14A3EA-6AA5-E4B0-3A7B-653B6BA062E3}"/>
                  </a:ext>
                </a:extLst>
              </p:cNvPr>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26642" name="Oval 55">
                <a:extLst>
                  <a:ext uri="{FF2B5EF4-FFF2-40B4-BE49-F238E27FC236}">
                    <a16:creationId xmlns:a16="http://schemas.microsoft.com/office/drawing/2014/main" id="{325B1634-6650-6FD1-4A97-65CDCFB633D5}"/>
                  </a:ext>
                </a:extLst>
              </p:cNvPr>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26643" name="Oval 56">
                <a:extLst>
                  <a:ext uri="{FF2B5EF4-FFF2-40B4-BE49-F238E27FC236}">
                    <a16:creationId xmlns:a16="http://schemas.microsoft.com/office/drawing/2014/main" id="{8331161C-A250-DD60-3DED-460A634295EF}"/>
                  </a:ext>
                </a:extLst>
              </p:cNvPr>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26644" name="Oval 57">
                <a:extLst>
                  <a:ext uri="{FF2B5EF4-FFF2-40B4-BE49-F238E27FC236}">
                    <a16:creationId xmlns:a16="http://schemas.microsoft.com/office/drawing/2014/main" id="{55578463-ED64-4958-E223-4957745AA9A4}"/>
                  </a:ext>
                </a:extLst>
              </p:cNvPr>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pSp>
        <p:sp>
          <p:nvSpPr>
            <p:cNvPr id="26639" name="Text Box 29">
              <a:extLst>
                <a:ext uri="{FF2B5EF4-FFF2-40B4-BE49-F238E27FC236}">
                  <a16:creationId xmlns:a16="http://schemas.microsoft.com/office/drawing/2014/main" id="{CA951A0A-B7A1-060C-6CCB-6115E87228BB}"/>
                </a:ext>
              </a:extLst>
            </p:cNvPr>
            <p:cNvSpPr txBox="1">
              <a:spLocks noChangeArrowheads="1"/>
            </p:cNvSpPr>
            <p:nvPr/>
          </p:nvSpPr>
          <p:spPr bwMode="gray">
            <a:xfrm>
              <a:off x="357158" y="3286124"/>
              <a:ext cx="542027" cy="519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a:r>
                <a:rPr kumimoji="0" lang="zh-CN" altLang="en-US" sz="2800">
                  <a:solidFill>
                    <a:srgbClr val="0000CC"/>
                  </a:solidFill>
                  <a:latin typeface="Arial" panose="020B0604020202020204" pitchFamily="34" charset="0"/>
                  <a:ea typeface="宋体" panose="02010600030101010101" pitchFamily="2" charset="-122"/>
                </a:rPr>
                <a:t>例</a:t>
              </a:r>
            </a:p>
          </p:txBody>
        </p:sp>
      </p:grpSp>
      <p:graphicFrame>
        <p:nvGraphicFramePr>
          <p:cNvPr id="83973" name="Object 5">
            <a:extLst>
              <a:ext uri="{FF2B5EF4-FFF2-40B4-BE49-F238E27FC236}">
                <a16:creationId xmlns:a16="http://schemas.microsoft.com/office/drawing/2014/main" id="{E4E69BA4-4003-2FD5-4EFD-AB4615AC14AD}"/>
              </a:ext>
            </a:extLst>
          </p:cNvPr>
          <p:cNvGraphicFramePr>
            <a:graphicFrameLocks noChangeAspect="1"/>
          </p:cNvGraphicFramePr>
          <p:nvPr/>
        </p:nvGraphicFramePr>
        <p:xfrm>
          <a:off x="3125788" y="4471988"/>
          <a:ext cx="2806700" cy="460375"/>
        </p:xfrm>
        <a:graphic>
          <a:graphicData uri="http://schemas.openxmlformats.org/presentationml/2006/ole">
            <mc:AlternateContent xmlns:mc="http://schemas.openxmlformats.org/markup-compatibility/2006">
              <mc:Choice xmlns:v="urn:schemas-microsoft-com:vml" Requires="v">
                <p:oleObj name="公式" r:id="rId4" imgW="1396800" imgH="228600" progId="Equation.3">
                  <p:embed/>
                </p:oleObj>
              </mc:Choice>
              <mc:Fallback>
                <p:oleObj name="公式" r:id="rId4" imgW="1396800" imgH="2286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5788" y="4471988"/>
                        <a:ext cx="2806700"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矩形 21">
            <a:extLst>
              <a:ext uri="{FF2B5EF4-FFF2-40B4-BE49-F238E27FC236}">
                <a16:creationId xmlns:a16="http://schemas.microsoft.com/office/drawing/2014/main" id="{EB1EB427-D088-6F25-E158-6FF4C61A7F4E}"/>
              </a:ext>
            </a:extLst>
          </p:cNvPr>
          <p:cNvSpPr/>
          <p:nvPr/>
        </p:nvSpPr>
        <p:spPr>
          <a:xfrm>
            <a:off x="1831975" y="4500563"/>
            <a:ext cx="1211263" cy="400050"/>
          </a:xfrm>
          <a:prstGeom prst="rect">
            <a:avLst/>
          </a:prstGeom>
        </p:spPr>
        <p:txBody>
          <a:bodyPr wrap="none">
            <a:spAutoFit/>
          </a:bodyPr>
          <a:lstStyle/>
          <a:p>
            <a:pPr>
              <a:defRPr/>
            </a:pPr>
            <a:r>
              <a:rPr kumimoji="0" lang="zh-CN" altLang="en-US" sz="2000" b="0" kern="0" dirty="0">
                <a:solidFill>
                  <a:srgbClr val="000000"/>
                </a:solidFill>
                <a:latin typeface="Times New Roman" pitchFamily="18" charset="0"/>
                <a:ea typeface="微软雅黑" pitchFamily="34" charset="-122"/>
                <a:cs typeface="Times New Roman" pitchFamily="18" charset="0"/>
              </a:rPr>
              <a:t>循环码组</a:t>
            </a:r>
            <a:endParaRPr lang="zh-CN" altLang="en-US" dirty="0"/>
          </a:p>
        </p:txBody>
      </p:sp>
      <p:sp>
        <p:nvSpPr>
          <p:cNvPr id="29708" name="矩形 22">
            <a:extLst>
              <a:ext uri="{FF2B5EF4-FFF2-40B4-BE49-F238E27FC236}">
                <a16:creationId xmlns:a16="http://schemas.microsoft.com/office/drawing/2014/main" id="{42DE9E39-FB8D-E0B1-DA06-5B24DE14333C}"/>
              </a:ext>
            </a:extLst>
          </p:cNvPr>
          <p:cNvSpPr>
            <a:spLocks noChangeArrowheads="1"/>
          </p:cNvSpPr>
          <p:nvPr/>
        </p:nvSpPr>
        <p:spPr bwMode="auto">
          <a:xfrm>
            <a:off x="6000750" y="4500563"/>
            <a:ext cx="2286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zh-CN" altLang="en-US" sz="2000" b="0">
                <a:solidFill>
                  <a:schemeClr val="tx1"/>
                </a:solidFill>
                <a:latin typeface="Arial" panose="020B0604020202020204" pitchFamily="34" charset="0"/>
                <a:ea typeface="微软雅黑" panose="020B0503020204020204" pitchFamily="34" charset="-122"/>
                <a:cs typeface="Arial" panose="020B0604020202020204" pitchFamily="34" charset="0"/>
              </a:rPr>
              <a:t>，其码长</a:t>
            </a:r>
            <a:r>
              <a:rPr lang="en-US" altLang="zh-CN" sz="2000" b="0" i="1">
                <a:solidFill>
                  <a:schemeClr val="tx1"/>
                </a:solidFill>
                <a:latin typeface="Arial" panose="020B0604020202020204" pitchFamily="34" charset="0"/>
                <a:ea typeface="微软雅黑" panose="020B0503020204020204" pitchFamily="34" charset="-122"/>
                <a:cs typeface="Arial" panose="020B0604020202020204" pitchFamily="34" charset="0"/>
              </a:rPr>
              <a:t>n</a:t>
            </a:r>
            <a:r>
              <a:rPr lang="en-US" altLang="zh-CN" sz="2000" b="0">
                <a:solidFill>
                  <a:schemeClr val="tx1"/>
                </a:solidFill>
                <a:latin typeface="Arial" panose="020B0604020202020204" pitchFamily="34" charset="0"/>
                <a:ea typeface="微软雅黑" panose="020B0503020204020204" pitchFamily="34" charset="-122"/>
                <a:cs typeface="Arial" panose="020B0604020202020204" pitchFamily="34" charset="0"/>
              </a:rPr>
              <a:t> = 7</a:t>
            </a:r>
            <a:r>
              <a:rPr lang="zh-CN" altLang="en-US" sz="2000" b="0">
                <a:solidFill>
                  <a:schemeClr val="tx1"/>
                </a:solidFill>
                <a:latin typeface="Arial" panose="020B0604020202020204" pitchFamily="34" charset="0"/>
                <a:ea typeface="微软雅黑" panose="020B0503020204020204" pitchFamily="34" charset="-122"/>
                <a:cs typeface="Arial" panose="020B0604020202020204" pitchFamily="34" charset="0"/>
              </a:rPr>
              <a:t>。</a:t>
            </a:r>
          </a:p>
        </p:txBody>
      </p:sp>
      <p:sp>
        <p:nvSpPr>
          <p:cNvPr id="29709" name="矩形 23">
            <a:extLst>
              <a:ext uri="{FF2B5EF4-FFF2-40B4-BE49-F238E27FC236}">
                <a16:creationId xmlns:a16="http://schemas.microsoft.com/office/drawing/2014/main" id="{1B75C0CE-AD76-72BE-D3FD-110D948C534F}"/>
              </a:ext>
            </a:extLst>
          </p:cNvPr>
          <p:cNvSpPr>
            <a:spLocks noChangeArrowheads="1"/>
          </p:cNvSpPr>
          <p:nvPr/>
        </p:nvSpPr>
        <p:spPr bwMode="auto">
          <a:xfrm>
            <a:off x="1428750" y="4929188"/>
            <a:ext cx="2098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zh-CN" altLang="en-US" sz="2000" b="0">
                <a:solidFill>
                  <a:srgbClr val="000000"/>
                </a:solidFill>
                <a:latin typeface="Arial" panose="020B0604020202020204" pitchFamily="34" charset="0"/>
                <a:ea typeface="微软雅黑" panose="020B0503020204020204" pitchFamily="34" charset="-122"/>
                <a:cs typeface="Arial" panose="020B0604020202020204" pitchFamily="34" charset="0"/>
              </a:rPr>
              <a:t>现给定  </a:t>
            </a:r>
            <a:r>
              <a:rPr lang="en-US" altLang="zh-CN" sz="2000" b="0" i="1">
                <a:solidFill>
                  <a:srgbClr val="000000"/>
                </a:solidFill>
                <a:latin typeface="Arial" panose="020B0604020202020204" pitchFamily="34" charset="0"/>
                <a:ea typeface="微软雅黑" panose="020B0503020204020204" pitchFamily="34" charset="-122"/>
                <a:cs typeface="Arial" panose="020B0604020202020204" pitchFamily="34" charset="0"/>
              </a:rPr>
              <a:t>i</a:t>
            </a:r>
            <a:r>
              <a:rPr lang="en-US" altLang="zh-CN" sz="2000" b="0">
                <a:solidFill>
                  <a:srgbClr val="000000"/>
                </a:solidFill>
                <a:latin typeface="Arial" panose="020B0604020202020204" pitchFamily="34" charset="0"/>
                <a:ea typeface="微软雅黑" panose="020B0503020204020204" pitchFamily="34" charset="-122"/>
                <a:cs typeface="Arial" panose="020B0604020202020204" pitchFamily="34" charset="0"/>
              </a:rPr>
              <a:t> = 3</a:t>
            </a:r>
            <a:r>
              <a:rPr lang="zh-CN" altLang="en-US" sz="2000" b="0">
                <a:solidFill>
                  <a:srgbClr val="000000"/>
                </a:solidFill>
                <a:latin typeface="Arial" panose="020B0604020202020204" pitchFamily="34" charset="0"/>
                <a:ea typeface="微软雅黑" panose="020B0503020204020204" pitchFamily="34" charset="-122"/>
                <a:cs typeface="Arial" panose="020B0604020202020204" pitchFamily="34" charset="0"/>
              </a:rPr>
              <a:t>，则</a:t>
            </a:r>
          </a:p>
        </p:txBody>
      </p:sp>
      <p:graphicFrame>
        <p:nvGraphicFramePr>
          <p:cNvPr id="6" name="Object 7">
            <a:extLst>
              <a:ext uri="{FF2B5EF4-FFF2-40B4-BE49-F238E27FC236}">
                <a16:creationId xmlns:a16="http://schemas.microsoft.com/office/drawing/2014/main" id="{5752B5DB-6F1E-30FA-1622-F692B521EFE4}"/>
              </a:ext>
            </a:extLst>
          </p:cNvPr>
          <p:cNvGraphicFramePr>
            <a:graphicFrameLocks noChangeAspect="1"/>
          </p:cNvGraphicFramePr>
          <p:nvPr/>
        </p:nvGraphicFramePr>
        <p:xfrm>
          <a:off x="2428875" y="5429250"/>
          <a:ext cx="5770563" cy="928688"/>
        </p:xfrm>
        <a:graphic>
          <a:graphicData uri="http://schemas.openxmlformats.org/presentationml/2006/ole">
            <mc:AlternateContent xmlns:mc="http://schemas.openxmlformats.org/markup-compatibility/2006">
              <mc:Choice xmlns:v="urn:schemas-microsoft-com:vml" Requires="v">
                <p:oleObj name="公式" r:id="rId6" imgW="2984400" imgH="482400" progId="Equation.3">
                  <p:embed/>
                </p:oleObj>
              </mc:Choice>
              <mc:Fallback>
                <p:oleObj name="公式" r:id="rId6" imgW="2984400" imgH="4824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28875" y="5429250"/>
                        <a:ext cx="5770563" cy="928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6645" name="Picture 21">
            <a:extLst>
              <a:ext uri="{FF2B5EF4-FFF2-40B4-BE49-F238E27FC236}">
                <a16:creationId xmlns:a16="http://schemas.microsoft.com/office/drawing/2014/main" id="{DA230F27-BC2D-1E5D-F9AE-61B861B8482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8488" y="1455738"/>
            <a:ext cx="7929562"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10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6645"/>
                                        </p:tgtEl>
                                        <p:attrNameLst>
                                          <p:attrName>style.visibility</p:attrName>
                                        </p:attrNameLst>
                                      </p:cBhvr>
                                      <p:to>
                                        <p:strVal val="visible"/>
                                      </p:to>
                                    </p:set>
                                    <p:animEffect transition="in" filter="wipe(up)">
                                      <p:cBhvr>
                                        <p:cTn id="12" dur="1000"/>
                                        <p:tgtEl>
                                          <p:spTgt spid="266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82948"/>
                                        </p:tgtEl>
                                        <p:attrNameLst>
                                          <p:attrName>style.visibility</p:attrName>
                                        </p:attrNameLst>
                                      </p:cBhvr>
                                      <p:to>
                                        <p:strVal val="visible"/>
                                      </p:to>
                                    </p:set>
                                    <p:animEffect transition="in" filter="wipe(up)">
                                      <p:cBhvr>
                                        <p:cTn id="17" dur="1000"/>
                                        <p:tgtEl>
                                          <p:spTgt spid="8294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up)">
                                      <p:cBhvr>
                                        <p:cTn id="22" dur="10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up)">
                                      <p:cBhvr>
                                        <p:cTn id="27" dur="1000"/>
                                        <p:tgtEl>
                                          <p:spTgt spid="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up)">
                                      <p:cBhvr>
                                        <p:cTn id="32" dur="1000"/>
                                        <p:tgtEl>
                                          <p:spTgt spid="2"/>
                                        </p:tgtEl>
                                      </p:cBhvr>
                                    </p:animEffect>
                                  </p:childTnLst>
                                </p:cTn>
                              </p:par>
                            </p:childTnLst>
                          </p:cTn>
                        </p:par>
                        <p:par>
                          <p:cTn id="33" fill="hold" nodeType="afterGroup">
                            <p:stCondLst>
                              <p:cond delay="1000"/>
                            </p:stCondLst>
                            <p:childTnLst>
                              <p:par>
                                <p:cTn id="34" presetID="22" presetClass="entr" presetSubtype="1" fill="hold"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up)">
                                      <p:cBhvr>
                                        <p:cTn id="36" dur="1000"/>
                                        <p:tgtEl>
                                          <p:spTgt spid="1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wipe(up)">
                                      <p:cBhvr>
                                        <p:cTn id="41" dur="1000"/>
                                        <p:tgtEl>
                                          <p:spTgt spid="22"/>
                                        </p:tgtEl>
                                      </p:cBhvr>
                                    </p:animEffect>
                                  </p:childTnLst>
                                </p:cTn>
                              </p:par>
                            </p:childTnLst>
                          </p:cTn>
                        </p:par>
                        <p:par>
                          <p:cTn id="42" fill="hold" nodeType="afterGroup">
                            <p:stCondLst>
                              <p:cond delay="1000"/>
                            </p:stCondLst>
                            <p:childTnLst>
                              <p:par>
                                <p:cTn id="43" presetID="22" presetClass="entr" presetSubtype="8" fill="hold" nodeType="afterEffect">
                                  <p:stCondLst>
                                    <p:cond delay="0"/>
                                  </p:stCondLst>
                                  <p:childTnLst>
                                    <p:set>
                                      <p:cBhvr>
                                        <p:cTn id="44" dur="1" fill="hold">
                                          <p:stCondLst>
                                            <p:cond delay="0"/>
                                          </p:stCondLst>
                                        </p:cTn>
                                        <p:tgtEl>
                                          <p:spTgt spid="83973"/>
                                        </p:tgtEl>
                                        <p:attrNameLst>
                                          <p:attrName>style.visibility</p:attrName>
                                        </p:attrNameLst>
                                      </p:cBhvr>
                                      <p:to>
                                        <p:strVal val="visible"/>
                                      </p:to>
                                    </p:set>
                                    <p:animEffect transition="in" filter="wipe(left)">
                                      <p:cBhvr>
                                        <p:cTn id="45" dur="1000"/>
                                        <p:tgtEl>
                                          <p:spTgt spid="83973"/>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29708"/>
                                        </p:tgtEl>
                                        <p:attrNameLst>
                                          <p:attrName>style.visibility</p:attrName>
                                        </p:attrNameLst>
                                      </p:cBhvr>
                                      <p:to>
                                        <p:strVal val="visible"/>
                                      </p:to>
                                    </p:set>
                                    <p:animEffect transition="in" filter="wipe(left)">
                                      <p:cBhvr>
                                        <p:cTn id="50" dur="1000"/>
                                        <p:tgtEl>
                                          <p:spTgt spid="2970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1" fill="hold" nodeType="clickEffect">
                                  <p:stCondLst>
                                    <p:cond delay="0"/>
                                  </p:stCondLst>
                                  <p:childTnLst>
                                    <p:set>
                                      <p:cBhvr>
                                        <p:cTn id="54" dur="1" fill="hold">
                                          <p:stCondLst>
                                            <p:cond delay="0"/>
                                          </p:stCondLst>
                                        </p:cTn>
                                        <p:tgtEl>
                                          <p:spTgt spid="29709"/>
                                        </p:tgtEl>
                                        <p:attrNameLst>
                                          <p:attrName>style.visibility</p:attrName>
                                        </p:attrNameLst>
                                      </p:cBhvr>
                                      <p:to>
                                        <p:strVal val="visible"/>
                                      </p:to>
                                    </p:set>
                                    <p:animEffect transition="in" filter="wipe(up)">
                                      <p:cBhvr>
                                        <p:cTn id="55" dur="1000"/>
                                        <p:tgtEl>
                                          <p:spTgt spid="29709"/>
                                        </p:tgtEl>
                                      </p:cBhvr>
                                    </p:animEffect>
                                  </p:childTnLst>
                                </p:cTn>
                              </p:par>
                            </p:childTnLst>
                          </p:cTn>
                        </p:par>
                        <p:par>
                          <p:cTn id="56" fill="hold" nodeType="afterGroup">
                            <p:stCondLst>
                              <p:cond delay="1000"/>
                            </p:stCondLst>
                            <p:childTnLst>
                              <p:par>
                                <p:cTn id="57" presetID="22" presetClass="entr" presetSubtype="1" fill="hold" nodeType="afterEffect">
                                  <p:stCondLst>
                                    <p:cond delay="0"/>
                                  </p:stCondLst>
                                  <p:childTnLst>
                                    <p:set>
                                      <p:cBhvr>
                                        <p:cTn id="58" dur="1" fill="hold">
                                          <p:stCondLst>
                                            <p:cond delay="0"/>
                                          </p:stCondLst>
                                        </p:cTn>
                                        <p:tgtEl>
                                          <p:spTgt spid="6"/>
                                        </p:tgtEl>
                                        <p:attrNameLst>
                                          <p:attrName>style.visibility</p:attrName>
                                        </p:attrNameLst>
                                      </p:cBhvr>
                                      <p:to>
                                        <p:strVal val="visible"/>
                                      </p:to>
                                    </p:set>
                                    <p:animEffect transition="in" filter="wipe(up)">
                                      <p:cBhvr>
                                        <p:cTn id="5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2" grpId="0" animBg="1"/>
      <p:bldP spid="22" grpId="0"/>
      <p:bldP spid="29708" grpId="0"/>
      <p:bldP spid="29709"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3">
            <a:extLst>
              <a:ext uri="{FF2B5EF4-FFF2-40B4-BE49-F238E27FC236}">
                <a16:creationId xmlns:a16="http://schemas.microsoft.com/office/drawing/2014/main" id="{65FB70EE-C4D8-B659-4C19-6A786EEB5125}"/>
              </a:ext>
            </a:extLst>
          </p:cNvPr>
          <p:cNvGraphicFramePr>
            <a:graphicFrameLocks noChangeAspect="1"/>
          </p:cNvGraphicFramePr>
          <p:nvPr/>
        </p:nvGraphicFramePr>
        <p:xfrm>
          <a:off x="1200150" y="1357313"/>
          <a:ext cx="3273425" cy="547687"/>
        </p:xfrm>
        <a:graphic>
          <a:graphicData uri="http://schemas.openxmlformats.org/presentationml/2006/ole">
            <mc:AlternateContent xmlns:mc="http://schemas.openxmlformats.org/markup-compatibility/2006">
              <mc:Choice xmlns:v="urn:schemas-microsoft-com:vml" Requires="v">
                <p:oleObj name="Equation" r:id="rId2" imgW="1371600" imgH="228600" progId="Equation.DSMT4">
                  <p:embed/>
                </p:oleObj>
              </mc:Choice>
              <mc:Fallback>
                <p:oleObj name="Equation" r:id="rId2" imgW="1371600" imgH="22860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150" y="1357313"/>
                        <a:ext cx="3273425" cy="547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graphicFrame>
        <p:nvGraphicFramePr>
          <p:cNvPr id="8" name="Object 5">
            <a:extLst>
              <a:ext uri="{FF2B5EF4-FFF2-40B4-BE49-F238E27FC236}">
                <a16:creationId xmlns:a16="http://schemas.microsoft.com/office/drawing/2014/main" id="{F8ECD413-933F-D34A-15DC-D42B7375AD34}"/>
              </a:ext>
            </a:extLst>
          </p:cNvPr>
          <p:cNvGraphicFramePr>
            <a:graphicFrameLocks noChangeAspect="1"/>
          </p:cNvGraphicFramePr>
          <p:nvPr/>
        </p:nvGraphicFramePr>
        <p:xfrm>
          <a:off x="5106988" y="1357313"/>
          <a:ext cx="3394075" cy="547687"/>
        </p:xfrm>
        <a:graphic>
          <a:graphicData uri="http://schemas.openxmlformats.org/presentationml/2006/ole">
            <mc:AlternateContent xmlns:mc="http://schemas.openxmlformats.org/markup-compatibility/2006">
              <mc:Choice xmlns:v="urn:schemas-microsoft-com:vml" Requires="v">
                <p:oleObj name="Equation" r:id="rId4" imgW="1422360" imgH="228600" progId="Equation.DSMT4">
                  <p:embed/>
                </p:oleObj>
              </mc:Choice>
              <mc:Fallback>
                <p:oleObj name="Equation" r:id="rId4" imgW="1422360" imgH="2286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6988" y="1357313"/>
                        <a:ext cx="3394075" cy="547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sp>
        <p:nvSpPr>
          <p:cNvPr id="30724" name="矩形 8">
            <a:extLst>
              <a:ext uri="{FF2B5EF4-FFF2-40B4-BE49-F238E27FC236}">
                <a16:creationId xmlns:a16="http://schemas.microsoft.com/office/drawing/2014/main" id="{B7A30ED0-27A9-E0E5-DF06-4CA45CA9DC58}"/>
              </a:ext>
            </a:extLst>
          </p:cNvPr>
          <p:cNvSpPr>
            <a:spLocks noChangeArrowheads="1"/>
          </p:cNvSpPr>
          <p:nvPr/>
        </p:nvSpPr>
        <p:spPr bwMode="auto">
          <a:xfrm>
            <a:off x="5435600" y="2752725"/>
            <a:ext cx="13509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en-US" altLang="zh-CN" sz="2400">
                <a:solidFill>
                  <a:schemeClr val="tx1"/>
                </a:solidFill>
                <a:latin typeface="Arial" panose="020B0604020202020204" pitchFamily="34" charset="0"/>
                <a:cs typeface="Arial" panose="020B0604020202020204" pitchFamily="34" charset="0"/>
              </a:rPr>
              <a:t>0101110</a:t>
            </a:r>
            <a:endParaRPr lang="zh-CN" altLang="en-US" sz="2400">
              <a:solidFill>
                <a:schemeClr val="tx1"/>
              </a:solidFill>
              <a:latin typeface="Arial" panose="020B0604020202020204" pitchFamily="34" charset="0"/>
              <a:cs typeface="Arial" panose="020B0604020202020204" pitchFamily="34" charset="0"/>
            </a:endParaRPr>
          </a:p>
        </p:txBody>
      </p:sp>
      <p:sp>
        <p:nvSpPr>
          <p:cNvPr id="30725" name="矩形 9">
            <a:extLst>
              <a:ext uri="{FF2B5EF4-FFF2-40B4-BE49-F238E27FC236}">
                <a16:creationId xmlns:a16="http://schemas.microsoft.com/office/drawing/2014/main" id="{8F478D83-05C6-BAAC-C099-C46168E7F49E}"/>
              </a:ext>
            </a:extLst>
          </p:cNvPr>
          <p:cNvSpPr>
            <a:spLocks noChangeArrowheads="1"/>
          </p:cNvSpPr>
          <p:nvPr/>
        </p:nvSpPr>
        <p:spPr bwMode="auto">
          <a:xfrm>
            <a:off x="2703513" y="2752725"/>
            <a:ext cx="1368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en-US" altLang="zh-CN" sz="2400">
                <a:solidFill>
                  <a:schemeClr val="tx1"/>
                </a:solidFill>
                <a:latin typeface="Arial" panose="020B0604020202020204" pitchFamily="34" charset="0"/>
                <a:cs typeface="Arial" panose="020B0604020202020204" pitchFamily="34" charset="0"/>
              </a:rPr>
              <a:t>1100101</a:t>
            </a:r>
            <a:endParaRPr lang="zh-CN" altLang="en-US" sz="2400">
              <a:solidFill>
                <a:schemeClr val="tx1"/>
              </a:solidFill>
              <a:latin typeface="Arial" panose="020B0604020202020204" pitchFamily="34" charset="0"/>
              <a:cs typeface="Arial" panose="020B0604020202020204" pitchFamily="34" charset="0"/>
            </a:endParaRPr>
          </a:p>
        </p:txBody>
      </p:sp>
      <p:sp>
        <p:nvSpPr>
          <p:cNvPr id="12" name="矩形 11">
            <a:extLst>
              <a:ext uri="{FF2B5EF4-FFF2-40B4-BE49-F238E27FC236}">
                <a16:creationId xmlns:a16="http://schemas.microsoft.com/office/drawing/2014/main" id="{AC020930-7838-41BD-E299-86CE96D8BED1}"/>
              </a:ext>
            </a:extLst>
          </p:cNvPr>
          <p:cNvSpPr/>
          <p:nvPr/>
        </p:nvSpPr>
        <p:spPr>
          <a:xfrm>
            <a:off x="4071938" y="3719513"/>
            <a:ext cx="1257300" cy="461962"/>
          </a:xfrm>
          <a:prstGeom prst="rect">
            <a:avLst/>
          </a:prstGeom>
        </p:spPr>
        <p:txBody>
          <a:bodyPr wrap="none">
            <a:spAutoFit/>
          </a:bodyPr>
          <a:lstStyle/>
          <a:p>
            <a:pPr>
              <a:defRPr/>
            </a:pPr>
            <a:r>
              <a:rPr lang="zh-CN" altLang="en-US" sz="2000" dirty="0">
                <a:solidFill>
                  <a:srgbClr val="000000"/>
                </a:solidFill>
                <a:latin typeface="Times New Roman" pitchFamily="18" charset="0"/>
                <a:ea typeface="微软雅黑" pitchFamily="34" charset="-122"/>
                <a:cs typeface="Times New Roman" pitchFamily="18" charset="0"/>
              </a:rPr>
              <a:t>左移 </a:t>
            </a:r>
            <a:r>
              <a:rPr lang="en-US" altLang="zh-CN" sz="2400" i="1" kern="0" dirty="0" err="1">
                <a:solidFill>
                  <a:srgbClr val="FF0000"/>
                </a:solidFill>
                <a:latin typeface="Times New Roman" pitchFamily="18" charset="0"/>
                <a:ea typeface="微软雅黑" pitchFamily="34" charset="-122"/>
                <a:cs typeface="Times New Roman" pitchFamily="18" charset="0"/>
              </a:rPr>
              <a:t>i</a:t>
            </a:r>
            <a:r>
              <a:rPr lang="en-US" altLang="zh-CN" sz="2400" i="1" kern="0" dirty="0">
                <a:solidFill>
                  <a:srgbClr val="FF0000"/>
                </a:solidFill>
                <a:latin typeface="Times New Roman" pitchFamily="18" charset="0"/>
                <a:ea typeface="微软雅黑" pitchFamily="34" charset="-122"/>
                <a:cs typeface="Times New Roman" pitchFamily="18" charset="0"/>
              </a:rPr>
              <a:t>  </a:t>
            </a:r>
            <a:r>
              <a:rPr lang="zh-CN" altLang="en-US" sz="2000" dirty="0">
                <a:solidFill>
                  <a:srgbClr val="000000"/>
                </a:solidFill>
                <a:latin typeface="Times New Roman" pitchFamily="18" charset="0"/>
                <a:ea typeface="微软雅黑" pitchFamily="34" charset="-122"/>
                <a:cs typeface="Times New Roman" pitchFamily="18" charset="0"/>
              </a:rPr>
              <a:t>位</a:t>
            </a:r>
            <a:endParaRPr lang="zh-CN" altLang="en-US" sz="2000" dirty="0">
              <a:latin typeface="Times New Roman" pitchFamily="18" charset="0"/>
              <a:ea typeface="微软雅黑" pitchFamily="34" charset="-122"/>
              <a:cs typeface="Times New Roman" pitchFamily="18" charset="0"/>
            </a:endParaRPr>
          </a:p>
        </p:txBody>
      </p:sp>
      <p:sp>
        <p:nvSpPr>
          <p:cNvPr id="30727" name="矩形 15">
            <a:extLst>
              <a:ext uri="{FF2B5EF4-FFF2-40B4-BE49-F238E27FC236}">
                <a16:creationId xmlns:a16="http://schemas.microsoft.com/office/drawing/2014/main" id="{25E035CF-44AD-8D09-F7B4-D4CEB86EA6D6}"/>
              </a:ext>
            </a:extLst>
          </p:cNvPr>
          <p:cNvSpPr>
            <a:spLocks noChangeArrowheads="1"/>
          </p:cNvSpPr>
          <p:nvPr/>
        </p:nvSpPr>
        <p:spPr bwMode="auto">
          <a:xfrm>
            <a:off x="4630738" y="3400425"/>
            <a:ext cx="354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en-US" altLang="zh-CN" sz="2400" b="0">
                <a:solidFill>
                  <a:srgbClr val="FF0000"/>
                </a:solidFill>
                <a:latin typeface="Arial" panose="020B0604020202020204" pitchFamily="34" charset="0"/>
                <a:ea typeface="华文中宋" panose="02010600040101010101" pitchFamily="2" charset="-122"/>
                <a:cs typeface="Arial" panose="020B0604020202020204" pitchFamily="34" charset="0"/>
                <a:sym typeface="Bookshelf Symbol 7" panose="05010101010101010101" pitchFamily="2" charset="2"/>
              </a:rPr>
              <a:t>3</a:t>
            </a:r>
            <a:endParaRPr lang="zh-CN" altLang="en-US" sz="2400" b="0">
              <a:solidFill>
                <a:srgbClr val="FF0000"/>
              </a:solidFill>
              <a:latin typeface="Arial" panose="020B0604020202020204" pitchFamily="34" charset="0"/>
              <a:ea typeface="华文中宋" panose="02010600040101010101" pitchFamily="2" charset="-122"/>
              <a:cs typeface="Arial" panose="020B0604020202020204" pitchFamily="34" charset="0"/>
            </a:endParaRPr>
          </a:p>
        </p:txBody>
      </p:sp>
      <p:sp>
        <p:nvSpPr>
          <p:cNvPr id="18" name="Freeform 12">
            <a:extLst>
              <a:ext uri="{FF2B5EF4-FFF2-40B4-BE49-F238E27FC236}">
                <a16:creationId xmlns:a16="http://schemas.microsoft.com/office/drawing/2014/main" id="{00855BE0-A354-36C4-B97A-0399DB6AFCD8}"/>
              </a:ext>
            </a:extLst>
          </p:cNvPr>
          <p:cNvSpPr>
            <a:spLocks noEditPoints="1"/>
          </p:cNvSpPr>
          <p:nvPr/>
        </p:nvSpPr>
        <p:spPr bwMode="auto">
          <a:xfrm rot="10490284" flipH="1" flipV="1">
            <a:off x="5024438" y="3368675"/>
            <a:ext cx="990600" cy="565150"/>
          </a:xfrm>
          <a:custGeom>
            <a:avLst/>
            <a:gdLst>
              <a:gd name="T0" fmla="*/ 0 w 728"/>
              <a:gd name="T1" fmla="*/ 590 h 604"/>
              <a:gd name="T2" fmla="*/ 12 w 728"/>
              <a:gd name="T3" fmla="*/ 574 h 604"/>
              <a:gd name="T4" fmla="*/ 0 w 728"/>
              <a:gd name="T5" fmla="*/ 590 h 604"/>
              <a:gd name="T6" fmla="*/ 718 w 728"/>
              <a:gd name="T7" fmla="*/ 0 h 604"/>
              <a:gd name="T8" fmla="*/ 656 w 728"/>
              <a:gd name="T9" fmla="*/ 216 h 604"/>
              <a:gd name="T10" fmla="*/ 642 w 728"/>
              <a:gd name="T11" fmla="*/ 272 h 604"/>
              <a:gd name="T12" fmla="*/ 608 w 728"/>
              <a:gd name="T13" fmla="*/ 374 h 604"/>
              <a:gd name="T14" fmla="*/ 566 w 728"/>
              <a:gd name="T15" fmla="*/ 460 h 604"/>
              <a:gd name="T16" fmla="*/ 518 w 728"/>
              <a:gd name="T17" fmla="*/ 524 h 604"/>
              <a:gd name="T18" fmla="*/ 492 w 728"/>
              <a:gd name="T19" fmla="*/ 548 h 604"/>
              <a:gd name="T20" fmla="*/ 470 w 728"/>
              <a:gd name="T21" fmla="*/ 562 h 604"/>
              <a:gd name="T22" fmla="*/ 420 w 728"/>
              <a:gd name="T23" fmla="*/ 586 h 604"/>
              <a:gd name="T24" fmla="*/ 364 w 728"/>
              <a:gd name="T25" fmla="*/ 598 h 604"/>
              <a:gd name="T26" fmla="*/ 306 w 728"/>
              <a:gd name="T27" fmla="*/ 592 h 604"/>
              <a:gd name="T28" fmla="*/ 278 w 728"/>
              <a:gd name="T29" fmla="*/ 582 h 604"/>
              <a:gd name="T30" fmla="*/ 238 w 728"/>
              <a:gd name="T31" fmla="*/ 566 h 604"/>
              <a:gd name="T32" fmla="*/ 160 w 728"/>
              <a:gd name="T33" fmla="*/ 544 h 604"/>
              <a:gd name="T34" fmla="*/ 108 w 728"/>
              <a:gd name="T35" fmla="*/ 540 h 604"/>
              <a:gd name="T36" fmla="*/ 76 w 728"/>
              <a:gd name="T37" fmla="*/ 542 h 604"/>
              <a:gd name="T38" fmla="*/ 48 w 728"/>
              <a:gd name="T39" fmla="*/ 550 h 604"/>
              <a:gd name="T40" fmla="*/ 24 w 728"/>
              <a:gd name="T41" fmla="*/ 564 h 604"/>
              <a:gd name="T42" fmla="*/ 12 w 728"/>
              <a:gd name="T43" fmla="*/ 574 h 604"/>
              <a:gd name="T44" fmla="*/ 46 w 728"/>
              <a:gd name="T45" fmla="*/ 552 h 604"/>
              <a:gd name="T46" fmla="*/ 70 w 728"/>
              <a:gd name="T47" fmla="*/ 544 h 604"/>
              <a:gd name="T48" fmla="*/ 100 w 728"/>
              <a:gd name="T49" fmla="*/ 542 h 604"/>
              <a:gd name="T50" fmla="*/ 134 w 728"/>
              <a:gd name="T51" fmla="*/ 544 h 604"/>
              <a:gd name="T52" fmla="*/ 174 w 728"/>
              <a:gd name="T53" fmla="*/ 550 h 604"/>
              <a:gd name="T54" fmla="*/ 222 w 728"/>
              <a:gd name="T55" fmla="*/ 564 h 604"/>
              <a:gd name="T56" fmla="*/ 276 w 728"/>
              <a:gd name="T57" fmla="*/ 586 h 604"/>
              <a:gd name="T58" fmla="*/ 298 w 728"/>
              <a:gd name="T59" fmla="*/ 594 h 604"/>
              <a:gd name="T60" fmla="*/ 348 w 728"/>
              <a:gd name="T61" fmla="*/ 604 h 604"/>
              <a:gd name="T62" fmla="*/ 404 w 728"/>
              <a:gd name="T63" fmla="*/ 600 h 604"/>
              <a:gd name="T64" fmla="*/ 466 w 728"/>
              <a:gd name="T65" fmla="*/ 578 h 604"/>
              <a:gd name="T66" fmla="*/ 498 w 728"/>
              <a:gd name="T67" fmla="*/ 560 h 604"/>
              <a:gd name="T68" fmla="*/ 526 w 728"/>
              <a:gd name="T69" fmla="*/ 538 h 604"/>
              <a:gd name="T70" fmla="*/ 554 w 728"/>
              <a:gd name="T71" fmla="*/ 508 h 604"/>
              <a:gd name="T72" fmla="*/ 606 w 728"/>
              <a:gd name="T73" fmla="*/ 430 h 604"/>
              <a:gd name="T74" fmla="*/ 650 w 728"/>
              <a:gd name="T75" fmla="*/ 332 h 604"/>
              <a:gd name="T76" fmla="*/ 684 w 728"/>
              <a:gd name="T77" fmla="*/ 220 h 604"/>
              <a:gd name="T78" fmla="*/ 718 w 728"/>
              <a:gd name="T79" fmla="*/ 0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28" h="604">
                <a:moveTo>
                  <a:pt x="0" y="590"/>
                </a:moveTo>
                <a:lnTo>
                  <a:pt x="0" y="590"/>
                </a:lnTo>
                <a:lnTo>
                  <a:pt x="12" y="574"/>
                </a:lnTo>
                <a:lnTo>
                  <a:pt x="12" y="574"/>
                </a:lnTo>
                <a:lnTo>
                  <a:pt x="6" y="582"/>
                </a:lnTo>
                <a:lnTo>
                  <a:pt x="0" y="590"/>
                </a:lnTo>
                <a:lnTo>
                  <a:pt x="0" y="590"/>
                </a:lnTo>
                <a:close/>
                <a:moveTo>
                  <a:pt x="718" y="0"/>
                </a:moveTo>
                <a:lnTo>
                  <a:pt x="606" y="240"/>
                </a:lnTo>
                <a:lnTo>
                  <a:pt x="656" y="216"/>
                </a:lnTo>
                <a:lnTo>
                  <a:pt x="656" y="216"/>
                </a:lnTo>
                <a:lnTo>
                  <a:pt x="642" y="272"/>
                </a:lnTo>
                <a:lnTo>
                  <a:pt x="626" y="324"/>
                </a:lnTo>
                <a:lnTo>
                  <a:pt x="608" y="374"/>
                </a:lnTo>
                <a:lnTo>
                  <a:pt x="588" y="418"/>
                </a:lnTo>
                <a:lnTo>
                  <a:pt x="566" y="460"/>
                </a:lnTo>
                <a:lnTo>
                  <a:pt x="542" y="494"/>
                </a:lnTo>
                <a:lnTo>
                  <a:pt x="518" y="524"/>
                </a:lnTo>
                <a:lnTo>
                  <a:pt x="504" y="536"/>
                </a:lnTo>
                <a:lnTo>
                  <a:pt x="492" y="548"/>
                </a:lnTo>
                <a:lnTo>
                  <a:pt x="492" y="548"/>
                </a:lnTo>
                <a:lnTo>
                  <a:pt x="470" y="562"/>
                </a:lnTo>
                <a:lnTo>
                  <a:pt x="446" y="576"/>
                </a:lnTo>
                <a:lnTo>
                  <a:pt x="420" y="586"/>
                </a:lnTo>
                <a:lnTo>
                  <a:pt x="392" y="594"/>
                </a:lnTo>
                <a:lnTo>
                  <a:pt x="364" y="598"/>
                </a:lnTo>
                <a:lnTo>
                  <a:pt x="336" y="598"/>
                </a:lnTo>
                <a:lnTo>
                  <a:pt x="306" y="592"/>
                </a:lnTo>
                <a:lnTo>
                  <a:pt x="292" y="588"/>
                </a:lnTo>
                <a:lnTo>
                  <a:pt x="278" y="582"/>
                </a:lnTo>
                <a:lnTo>
                  <a:pt x="278" y="582"/>
                </a:lnTo>
                <a:lnTo>
                  <a:pt x="238" y="566"/>
                </a:lnTo>
                <a:lnTo>
                  <a:pt x="198" y="554"/>
                </a:lnTo>
                <a:lnTo>
                  <a:pt x="160" y="544"/>
                </a:lnTo>
                <a:lnTo>
                  <a:pt x="124" y="540"/>
                </a:lnTo>
                <a:lnTo>
                  <a:pt x="108" y="540"/>
                </a:lnTo>
                <a:lnTo>
                  <a:pt x="92" y="540"/>
                </a:lnTo>
                <a:lnTo>
                  <a:pt x="76" y="542"/>
                </a:lnTo>
                <a:lnTo>
                  <a:pt x="62" y="546"/>
                </a:lnTo>
                <a:lnTo>
                  <a:pt x="48" y="550"/>
                </a:lnTo>
                <a:lnTo>
                  <a:pt x="36" y="556"/>
                </a:lnTo>
                <a:lnTo>
                  <a:pt x="24" y="564"/>
                </a:lnTo>
                <a:lnTo>
                  <a:pt x="12" y="574"/>
                </a:lnTo>
                <a:lnTo>
                  <a:pt x="12" y="574"/>
                </a:lnTo>
                <a:lnTo>
                  <a:pt x="28" y="562"/>
                </a:lnTo>
                <a:lnTo>
                  <a:pt x="46" y="552"/>
                </a:lnTo>
                <a:lnTo>
                  <a:pt x="58" y="548"/>
                </a:lnTo>
                <a:lnTo>
                  <a:pt x="70" y="544"/>
                </a:lnTo>
                <a:lnTo>
                  <a:pt x="84" y="542"/>
                </a:lnTo>
                <a:lnTo>
                  <a:pt x="100" y="542"/>
                </a:lnTo>
                <a:lnTo>
                  <a:pt x="116" y="542"/>
                </a:lnTo>
                <a:lnTo>
                  <a:pt x="134" y="544"/>
                </a:lnTo>
                <a:lnTo>
                  <a:pt x="154" y="546"/>
                </a:lnTo>
                <a:lnTo>
                  <a:pt x="174" y="550"/>
                </a:lnTo>
                <a:lnTo>
                  <a:pt x="198" y="556"/>
                </a:lnTo>
                <a:lnTo>
                  <a:pt x="222" y="564"/>
                </a:lnTo>
                <a:lnTo>
                  <a:pt x="248" y="574"/>
                </a:lnTo>
                <a:lnTo>
                  <a:pt x="276" y="586"/>
                </a:lnTo>
                <a:lnTo>
                  <a:pt x="276" y="586"/>
                </a:lnTo>
                <a:lnTo>
                  <a:pt x="298" y="594"/>
                </a:lnTo>
                <a:lnTo>
                  <a:pt x="322" y="600"/>
                </a:lnTo>
                <a:lnTo>
                  <a:pt x="348" y="604"/>
                </a:lnTo>
                <a:lnTo>
                  <a:pt x="376" y="604"/>
                </a:lnTo>
                <a:lnTo>
                  <a:pt x="404" y="600"/>
                </a:lnTo>
                <a:lnTo>
                  <a:pt x="434" y="592"/>
                </a:lnTo>
                <a:lnTo>
                  <a:pt x="466" y="578"/>
                </a:lnTo>
                <a:lnTo>
                  <a:pt x="498" y="560"/>
                </a:lnTo>
                <a:lnTo>
                  <a:pt x="498" y="560"/>
                </a:lnTo>
                <a:lnTo>
                  <a:pt x="512" y="550"/>
                </a:lnTo>
                <a:lnTo>
                  <a:pt x="526" y="538"/>
                </a:lnTo>
                <a:lnTo>
                  <a:pt x="540" y="524"/>
                </a:lnTo>
                <a:lnTo>
                  <a:pt x="554" y="508"/>
                </a:lnTo>
                <a:lnTo>
                  <a:pt x="580" y="472"/>
                </a:lnTo>
                <a:lnTo>
                  <a:pt x="606" y="430"/>
                </a:lnTo>
                <a:lnTo>
                  <a:pt x="630" y="384"/>
                </a:lnTo>
                <a:lnTo>
                  <a:pt x="650" y="332"/>
                </a:lnTo>
                <a:lnTo>
                  <a:pt x="668" y="278"/>
                </a:lnTo>
                <a:lnTo>
                  <a:pt x="684" y="220"/>
                </a:lnTo>
                <a:lnTo>
                  <a:pt x="728" y="326"/>
                </a:lnTo>
                <a:lnTo>
                  <a:pt x="718" y="0"/>
                </a:lnTo>
                <a:close/>
              </a:path>
            </a:pathLst>
          </a:custGeom>
          <a:solidFill>
            <a:schemeClr val="bg1">
              <a:lumMod val="50000"/>
            </a:schemeClr>
          </a:solidFill>
          <a:ln>
            <a:noFill/>
          </a:ln>
        </p:spPr>
        <p:txBody>
          <a:bodyPr/>
          <a:lstStyle/>
          <a:p>
            <a:pPr>
              <a:defRPr/>
            </a:pPr>
            <a:endParaRPr lang="zh-CN" altLang="en-US"/>
          </a:p>
        </p:txBody>
      </p:sp>
      <p:sp>
        <p:nvSpPr>
          <p:cNvPr id="19" name="Freeform 12">
            <a:extLst>
              <a:ext uri="{FF2B5EF4-FFF2-40B4-BE49-F238E27FC236}">
                <a16:creationId xmlns:a16="http://schemas.microsoft.com/office/drawing/2014/main" id="{2981ACC3-A67A-969A-714B-7D1EA34690CF}"/>
              </a:ext>
            </a:extLst>
          </p:cNvPr>
          <p:cNvSpPr>
            <a:spLocks noEditPoints="1"/>
          </p:cNvSpPr>
          <p:nvPr/>
        </p:nvSpPr>
        <p:spPr bwMode="auto">
          <a:xfrm rot="16200000" flipH="1" flipV="1">
            <a:off x="3127375" y="3155950"/>
            <a:ext cx="990600" cy="565150"/>
          </a:xfrm>
          <a:custGeom>
            <a:avLst/>
            <a:gdLst>
              <a:gd name="T0" fmla="*/ 0 w 728"/>
              <a:gd name="T1" fmla="*/ 590 h 604"/>
              <a:gd name="T2" fmla="*/ 12 w 728"/>
              <a:gd name="T3" fmla="*/ 574 h 604"/>
              <a:gd name="T4" fmla="*/ 0 w 728"/>
              <a:gd name="T5" fmla="*/ 590 h 604"/>
              <a:gd name="T6" fmla="*/ 718 w 728"/>
              <a:gd name="T7" fmla="*/ 0 h 604"/>
              <a:gd name="T8" fmla="*/ 656 w 728"/>
              <a:gd name="T9" fmla="*/ 216 h 604"/>
              <a:gd name="T10" fmla="*/ 642 w 728"/>
              <a:gd name="T11" fmla="*/ 272 h 604"/>
              <a:gd name="T12" fmla="*/ 608 w 728"/>
              <a:gd name="T13" fmla="*/ 374 h 604"/>
              <a:gd name="T14" fmla="*/ 566 w 728"/>
              <a:gd name="T15" fmla="*/ 460 h 604"/>
              <a:gd name="T16" fmla="*/ 518 w 728"/>
              <a:gd name="T17" fmla="*/ 524 h 604"/>
              <a:gd name="T18" fmla="*/ 492 w 728"/>
              <a:gd name="T19" fmla="*/ 548 h 604"/>
              <a:gd name="T20" fmla="*/ 470 w 728"/>
              <a:gd name="T21" fmla="*/ 562 h 604"/>
              <a:gd name="T22" fmla="*/ 420 w 728"/>
              <a:gd name="T23" fmla="*/ 586 h 604"/>
              <a:gd name="T24" fmla="*/ 364 w 728"/>
              <a:gd name="T25" fmla="*/ 598 h 604"/>
              <a:gd name="T26" fmla="*/ 306 w 728"/>
              <a:gd name="T27" fmla="*/ 592 h 604"/>
              <a:gd name="T28" fmla="*/ 278 w 728"/>
              <a:gd name="T29" fmla="*/ 582 h 604"/>
              <a:gd name="T30" fmla="*/ 238 w 728"/>
              <a:gd name="T31" fmla="*/ 566 h 604"/>
              <a:gd name="T32" fmla="*/ 160 w 728"/>
              <a:gd name="T33" fmla="*/ 544 h 604"/>
              <a:gd name="T34" fmla="*/ 108 w 728"/>
              <a:gd name="T35" fmla="*/ 540 h 604"/>
              <a:gd name="T36" fmla="*/ 76 w 728"/>
              <a:gd name="T37" fmla="*/ 542 h 604"/>
              <a:gd name="T38" fmla="*/ 48 w 728"/>
              <a:gd name="T39" fmla="*/ 550 h 604"/>
              <a:gd name="T40" fmla="*/ 24 w 728"/>
              <a:gd name="T41" fmla="*/ 564 h 604"/>
              <a:gd name="T42" fmla="*/ 12 w 728"/>
              <a:gd name="T43" fmla="*/ 574 h 604"/>
              <a:gd name="T44" fmla="*/ 46 w 728"/>
              <a:gd name="T45" fmla="*/ 552 h 604"/>
              <a:gd name="T46" fmla="*/ 70 w 728"/>
              <a:gd name="T47" fmla="*/ 544 h 604"/>
              <a:gd name="T48" fmla="*/ 100 w 728"/>
              <a:gd name="T49" fmla="*/ 542 h 604"/>
              <a:gd name="T50" fmla="*/ 134 w 728"/>
              <a:gd name="T51" fmla="*/ 544 h 604"/>
              <a:gd name="T52" fmla="*/ 174 w 728"/>
              <a:gd name="T53" fmla="*/ 550 h 604"/>
              <a:gd name="T54" fmla="*/ 222 w 728"/>
              <a:gd name="T55" fmla="*/ 564 h 604"/>
              <a:gd name="T56" fmla="*/ 276 w 728"/>
              <a:gd name="T57" fmla="*/ 586 h 604"/>
              <a:gd name="T58" fmla="*/ 298 w 728"/>
              <a:gd name="T59" fmla="*/ 594 h 604"/>
              <a:gd name="T60" fmla="*/ 348 w 728"/>
              <a:gd name="T61" fmla="*/ 604 h 604"/>
              <a:gd name="T62" fmla="*/ 404 w 728"/>
              <a:gd name="T63" fmla="*/ 600 h 604"/>
              <a:gd name="T64" fmla="*/ 466 w 728"/>
              <a:gd name="T65" fmla="*/ 578 h 604"/>
              <a:gd name="T66" fmla="*/ 498 w 728"/>
              <a:gd name="T67" fmla="*/ 560 h 604"/>
              <a:gd name="T68" fmla="*/ 526 w 728"/>
              <a:gd name="T69" fmla="*/ 538 h 604"/>
              <a:gd name="T70" fmla="*/ 554 w 728"/>
              <a:gd name="T71" fmla="*/ 508 h 604"/>
              <a:gd name="T72" fmla="*/ 606 w 728"/>
              <a:gd name="T73" fmla="*/ 430 h 604"/>
              <a:gd name="T74" fmla="*/ 650 w 728"/>
              <a:gd name="T75" fmla="*/ 332 h 604"/>
              <a:gd name="T76" fmla="*/ 684 w 728"/>
              <a:gd name="T77" fmla="*/ 220 h 604"/>
              <a:gd name="T78" fmla="*/ 718 w 728"/>
              <a:gd name="T79" fmla="*/ 0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28" h="604">
                <a:moveTo>
                  <a:pt x="0" y="590"/>
                </a:moveTo>
                <a:lnTo>
                  <a:pt x="0" y="590"/>
                </a:lnTo>
                <a:lnTo>
                  <a:pt x="12" y="574"/>
                </a:lnTo>
                <a:lnTo>
                  <a:pt x="12" y="574"/>
                </a:lnTo>
                <a:lnTo>
                  <a:pt x="6" y="582"/>
                </a:lnTo>
                <a:lnTo>
                  <a:pt x="0" y="590"/>
                </a:lnTo>
                <a:lnTo>
                  <a:pt x="0" y="590"/>
                </a:lnTo>
                <a:close/>
                <a:moveTo>
                  <a:pt x="718" y="0"/>
                </a:moveTo>
                <a:lnTo>
                  <a:pt x="606" y="240"/>
                </a:lnTo>
                <a:lnTo>
                  <a:pt x="656" y="216"/>
                </a:lnTo>
                <a:lnTo>
                  <a:pt x="656" y="216"/>
                </a:lnTo>
                <a:lnTo>
                  <a:pt x="642" y="272"/>
                </a:lnTo>
                <a:lnTo>
                  <a:pt x="626" y="324"/>
                </a:lnTo>
                <a:lnTo>
                  <a:pt x="608" y="374"/>
                </a:lnTo>
                <a:lnTo>
                  <a:pt x="588" y="418"/>
                </a:lnTo>
                <a:lnTo>
                  <a:pt x="566" y="460"/>
                </a:lnTo>
                <a:lnTo>
                  <a:pt x="542" y="494"/>
                </a:lnTo>
                <a:lnTo>
                  <a:pt x="518" y="524"/>
                </a:lnTo>
                <a:lnTo>
                  <a:pt x="504" y="536"/>
                </a:lnTo>
                <a:lnTo>
                  <a:pt x="492" y="548"/>
                </a:lnTo>
                <a:lnTo>
                  <a:pt x="492" y="548"/>
                </a:lnTo>
                <a:lnTo>
                  <a:pt x="470" y="562"/>
                </a:lnTo>
                <a:lnTo>
                  <a:pt x="446" y="576"/>
                </a:lnTo>
                <a:lnTo>
                  <a:pt x="420" y="586"/>
                </a:lnTo>
                <a:lnTo>
                  <a:pt x="392" y="594"/>
                </a:lnTo>
                <a:lnTo>
                  <a:pt x="364" y="598"/>
                </a:lnTo>
                <a:lnTo>
                  <a:pt x="336" y="598"/>
                </a:lnTo>
                <a:lnTo>
                  <a:pt x="306" y="592"/>
                </a:lnTo>
                <a:lnTo>
                  <a:pt x="292" y="588"/>
                </a:lnTo>
                <a:lnTo>
                  <a:pt x="278" y="582"/>
                </a:lnTo>
                <a:lnTo>
                  <a:pt x="278" y="582"/>
                </a:lnTo>
                <a:lnTo>
                  <a:pt x="238" y="566"/>
                </a:lnTo>
                <a:lnTo>
                  <a:pt x="198" y="554"/>
                </a:lnTo>
                <a:lnTo>
                  <a:pt x="160" y="544"/>
                </a:lnTo>
                <a:lnTo>
                  <a:pt x="124" y="540"/>
                </a:lnTo>
                <a:lnTo>
                  <a:pt x="108" y="540"/>
                </a:lnTo>
                <a:lnTo>
                  <a:pt x="92" y="540"/>
                </a:lnTo>
                <a:lnTo>
                  <a:pt x="76" y="542"/>
                </a:lnTo>
                <a:lnTo>
                  <a:pt x="62" y="546"/>
                </a:lnTo>
                <a:lnTo>
                  <a:pt x="48" y="550"/>
                </a:lnTo>
                <a:lnTo>
                  <a:pt x="36" y="556"/>
                </a:lnTo>
                <a:lnTo>
                  <a:pt x="24" y="564"/>
                </a:lnTo>
                <a:lnTo>
                  <a:pt x="12" y="574"/>
                </a:lnTo>
                <a:lnTo>
                  <a:pt x="12" y="574"/>
                </a:lnTo>
                <a:lnTo>
                  <a:pt x="28" y="562"/>
                </a:lnTo>
                <a:lnTo>
                  <a:pt x="46" y="552"/>
                </a:lnTo>
                <a:lnTo>
                  <a:pt x="58" y="548"/>
                </a:lnTo>
                <a:lnTo>
                  <a:pt x="70" y="544"/>
                </a:lnTo>
                <a:lnTo>
                  <a:pt x="84" y="542"/>
                </a:lnTo>
                <a:lnTo>
                  <a:pt x="100" y="542"/>
                </a:lnTo>
                <a:lnTo>
                  <a:pt x="116" y="542"/>
                </a:lnTo>
                <a:lnTo>
                  <a:pt x="134" y="544"/>
                </a:lnTo>
                <a:lnTo>
                  <a:pt x="154" y="546"/>
                </a:lnTo>
                <a:lnTo>
                  <a:pt x="174" y="550"/>
                </a:lnTo>
                <a:lnTo>
                  <a:pt x="198" y="556"/>
                </a:lnTo>
                <a:lnTo>
                  <a:pt x="222" y="564"/>
                </a:lnTo>
                <a:lnTo>
                  <a:pt x="248" y="574"/>
                </a:lnTo>
                <a:lnTo>
                  <a:pt x="276" y="586"/>
                </a:lnTo>
                <a:lnTo>
                  <a:pt x="276" y="586"/>
                </a:lnTo>
                <a:lnTo>
                  <a:pt x="298" y="594"/>
                </a:lnTo>
                <a:lnTo>
                  <a:pt x="322" y="600"/>
                </a:lnTo>
                <a:lnTo>
                  <a:pt x="348" y="604"/>
                </a:lnTo>
                <a:lnTo>
                  <a:pt x="376" y="604"/>
                </a:lnTo>
                <a:lnTo>
                  <a:pt x="404" y="600"/>
                </a:lnTo>
                <a:lnTo>
                  <a:pt x="434" y="592"/>
                </a:lnTo>
                <a:lnTo>
                  <a:pt x="466" y="578"/>
                </a:lnTo>
                <a:lnTo>
                  <a:pt x="498" y="560"/>
                </a:lnTo>
                <a:lnTo>
                  <a:pt x="498" y="560"/>
                </a:lnTo>
                <a:lnTo>
                  <a:pt x="512" y="550"/>
                </a:lnTo>
                <a:lnTo>
                  <a:pt x="526" y="538"/>
                </a:lnTo>
                <a:lnTo>
                  <a:pt x="540" y="524"/>
                </a:lnTo>
                <a:lnTo>
                  <a:pt x="554" y="508"/>
                </a:lnTo>
                <a:lnTo>
                  <a:pt x="580" y="472"/>
                </a:lnTo>
                <a:lnTo>
                  <a:pt x="606" y="430"/>
                </a:lnTo>
                <a:lnTo>
                  <a:pt x="630" y="384"/>
                </a:lnTo>
                <a:lnTo>
                  <a:pt x="650" y="332"/>
                </a:lnTo>
                <a:lnTo>
                  <a:pt x="668" y="278"/>
                </a:lnTo>
                <a:lnTo>
                  <a:pt x="684" y="220"/>
                </a:lnTo>
                <a:lnTo>
                  <a:pt x="728" y="326"/>
                </a:lnTo>
                <a:lnTo>
                  <a:pt x="718" y="0"/>
                </a:lnTo>
                <a:close/>
              </a:path>
            </a:pathLst>
          </a:custGeom>
          <a:solidFill>
            <a:schemeClr val="bg1">
              <a:lumMod val="50000"/>
            </a:schemeClr>
          </a:solidFill>
          <a:ln>
            <a:noFill/>
          </a:ln>
        </p:spPr>
        <p:txBody>
          <a:bodyPr/>
          <a:lstStyle/>
          <a:p>
            <a:pPr>
              <a:defRPr/>
            </a:pPr>
            <a:endParaRPr lang="zh-CN" altLang="en-US"/>
          </a:p>
        </p:txBody>
      </p:sp>
      <p:sp>
        <p:nvSpPr>
          <p:cNvPr id="21" name="矩形 20">
            <a:extLst>
              <a:ext uri="{FF2B5EF4-FFF2-40B4-BE49-F238E27FC236}">
                <a16:creationId xmlns:a16="http://schemas.microsoft.com/office/drawing/2014/main" id="{801FED13-375C-9BCD-540A-D6E472101327}"/>
              </a:ext>
            </a:extLst>
          </p:cNvPr>
          <p:cNvSpPr/>
          <p:nvPr/>
        </p:nvSpPr>
        <p:spPr>
          <a:xfrm>
            <a:off x="3071813" y="2119313"/>
            <a:ext cx="434975" cy="523875"/>
          </a:xfrm>
          <a:prstGeom prst="rect">
            <a:avLst/>
          </a:prstGeom>
        </p:spPr>
        <p:txBody>
          <a:bodyPr>
            <a:spAutoFit/>
          </a:bodyPr>
          <a:lstStyle/>
          <a:p>
            <a:pPr>
              <a:defRPr/>
            </a:pPr>
            <a:r>
              <a:rPr kumimoji="0" lang="en-US" altLang="zh-CN" sz="2800" b="0" dirty="0">
                <a:solidFill>
                  <a:schemeClr val="bg1">
                    <a:lumMod val="50000"/>
                  </a:schemeClr>
                </a:solidFill>
                <a:latin typeface="Times New Roman" pitchFamily="18" charset="0"/>
                <a:ea typeface="宋体" pitchFamily="2" charset="-122"/>
                <a:cs typeface="Times New Roman" pitchFamily="18" charset="0"/>
                <a:sym typeface="Wingdings" pitchFamily="2" charset="2"/>
              </a:rPr>
              <a:t></a:t>
            </a:r>
            <a:endParaRPr lang="zh-CN" altLang="en-US" sz="2800" dirty="0">
              <a:solidFill>
                <a:schemeClr val="bg1">
                  <a:lumMod val="50000"/>
                </a:schemeClr>
              </a:solidFill>
            </a:endParaRPr>
          </a:p>
        </p:txBody>
      </p:sp>
      <p:sp>
        <p:nvSpPr>
          <p:cNvPr id="22" name="矩形 21">
            <a:extLst>
              <a:ext uri="{FF2B5EF4-FFF2-40B4-BE49-F238E27FC236}">
                <a16:creationId xmlns:a16="http://schemas.microsoft.com/office/drawing/2014/main" id="{5F45CF84-4D19-8554-DA32-A4A1F1A82D28}"/>
              </a:ext>
            </a:extLst>
          </p:cNvPr>
          <p:cNvSpPr/>
          <p:nvPr/>
        </p:nvSpPr>
        <p:spPr>
          <a:xfrm>
            <a:off x="5922963" y="2119313"/>
            <a:ext cx="434975" cy="523875"/>
          </a:xfrm>
          <a:prstGeom prst="rect">
            <a:avLst/>
          </a:prstGeom>
        </p:spPr>
        <p:txBody>
          <a:bodyPr>
            <a:spAutoFit/>
          </a:bodyPr>
          <a:lstStyle/>
          <a:p>
            <a:pPr>
              <a:defRPr/>
            </a:pPr>
            <a:r>
              <a:rPr kumimoji="0" lang="en-US" altLang="zh-CN" sz="2800" b="0" dirty="0">
                <a:solidFill>
                  <a:schemeClr val="bg1">
                    <a:lumMod val="50000"/>
                  </a:schemeClr>
                </a:solidFill>
                <a:latin typeface="Times New Roman" pitchFamily="18" charset="0"/>
                <a:ea typeface="宋体" pitchFamily="2" charset="-122"/>
                <a:cs typeface="Times New Roman" pitchFamily="18" charset="0"/>
                <a:sym typeface="Wingdings" pitchFamily="2" charset="2"/>
              </a:rPr>
              <a:t></a:t>
            </a:r>
            <a:endParaRPr lang="zh-CN" altLang="en-US" sz="2800" dirty="0">
              <a:solidFill>
                <a:schemeClr val="bg1">
                  <a:lumMod val="50000"/>
                </a:schemeClr>
              </a:solidFill>
            </a:endParaRPr>
          </a:p>
        </p:txBody>
      </p:sp>
      <p:sp>
        <p:nvSpPr>
          <p:cNvPr id="23" name="矩形 22">
            <a:extLst>
              <a:ext uri="{FF2B5EF4-FFF2-40B4-BE49-F238E27FC236}">
                <a16:creationId xmlns:a16="http://schemas.microsoft.com/office/drawing/2014/main" id="{9267FD9D-AEB4-DA53-2242-19AABEDC9676}"/>
              </a:ext>
            </a:extLst>
          </p:cNvPr>
          <p:cNvSpPr/>
          <p:nvPr/>
        </p:nvSpPr>
        <p:spPr>
          <a:xfrm>
            <a:off x="874713" y="4714875"/>
            <a:ext cx="2054225" cy="400050"/>
          </a:xfrm>
          <a:prstGeom prst="rect">
            <a:avLst/>
          </a:prstGeom>
        </p:spPr>
        <p:txBody>
          <a:bodyPr wrap="none">
            <a:spAutoFit/>
          </a:bodyPr>
          <a:lstStyle/>
          <a:p>
            <a:pPr>
              <a:defRPr/>
            </a:pPr>
            <a:r>
              <a:rPr lang="zh-CN" altLang="en-US" sz="2000" b="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由上述分析可见</a:t>
            </a:r>
            <a:r>
              <a:rPr lang="en-US" altLang="zh-CN" sz="2000" b="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a:t>
            </a:r>
            <a:endParaRPr lang="zh-CN" altLang="en-US" b="0" dirty="0">
              <a:effectLst>
                <a:outerShdw blurRad="38100" dist="38100" dir="2700000" algn="tl">
                  <a:srgbClr val="000000">
                    <a:alpha val="43137"/>
                  </a:srgbClr>
                </a:outerShdw>
              </a:effectLst>
            </a:endParaRPr>
          </a:p>
        </p:txBody>
      </p:sp>
      <p:pic>
        <p:nvPicPr>
          <p:cNvPr id="30734" name="Picture 14">
            <a:extLst>
              <a:ext uri="{FF2B5EF4-FFF2-40B4-BE49-F238E27FC236}">
                <a16:creationId xmlns:a16="http://schemas.microsoft.com/office/drawing/2014/main" id="{38A3FA99-9265-7A7C-B4AB-858E4935EA0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9788" y="5143500"/>
            <a:ext cx="7786687"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2000"/>
                                        <p:tgtEl>
                                          <p:spTgt spid="7"/>
                                        </p:tgtEl>
                                      </p:cBhvr>
                                    </p:animEffect>
                                  </p:childTnLst>
                                </p:cTn>
                              </p:par>
                            </p:childTnLst>
                          </p:cTn>
                        </p:par>
                        <p:par>
                          <p:cTn id="8" fill="hold" nodeType="afterGroup">
                            <p:stCondLst>
                              <p:cond delay="20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2000"/>
                                        <p:tgtEl>
                                          <p:spTgt spid="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wipe(up)">
                                      <p:cBhvr>
                                        <p:cTn id="16" dur="1000"/>
                                        <p:tgtEl>
                                          <p:spTgt spid="21"/>
                                        </p:tgtEl>
                                      </p:cBhvr>
                                    </p:animEffect>
                                  </p:childTnLst>
                                </p:cTn>
                              </p:par>
                              <p:par>
                                <p:cTn id="17" presetID="22" presetClass="entr" presetSubtype="1"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wipe(up)">
                                      <p:cBhvr>
                                        <p:cTn id="19" dur="1000"/>
                                        <p:tgtEl>
                                          <p:spTgt spid="22"/>
                                        </p:tgtEl>
                                      </p:cBhvr>
                                    </p:animEffect>
                                  </p:childTnLst>
                                </p:cTn>
                              </p:par>
                            </p:childTnLst>
                          </p:cTn>
                        </p:par>
                        <p:par>
                          <p:cTn id="20" fill="hold" nodeType="afterGroup">
                            <p:stCondLst>
                              <p:cond delay="1000"/>
                            </p:stCondLst>
                            <p:childTnLst>
                              <p:par>
                                <p:cTn id="21" presetID="22" presetClass="entr" presetSubtype="1" fill="hold" nodeType="afterEffect">
                                  <p:stCondLst>
                                    <p:cond delay="0"/>
                                  </p:stCondLst>
                                  <p:childTnLst>
                                    <p:set>
                                      <p:cBhvr>
                                        <p:cTn id="22" dur="1" fill="hold">
                                          <p:stCondLst>
                                            <p:cond delay="0"/>
                                          </p:stCondLst>
                                        </p:cTn>
                                        <p:tgtEl>
                                          <p:spTgt spid="30725"/>
                                        </p:tgtEl>
                                        <p:attrNameLst>
                                          <p:attrName>style.visibility</p:attrName>
                                        </p:attrNameLst>
                                      </p:cBhvr>
                                      <p:to>
                                        <p:strVal val="visible"/>
                                      </p:to>
                                    </p:set>
                                    <p:animEffect transition="in" filter="wipe(up)">
                                      <p:cBhvr>
                                        <p:cTn id="23" dur="1000"/>
                                        <p:tgtEl>
                                          <p:spTgt spid="30725"/>
                                        </p:tgtEl>
                                      </p:cBhvr>
                                    </p:animEffect>
                                  </p:childTnLst>
                                </p:cTn>
                              </p:par>
                              <p:par>
                                <p:cTn id="24" presetID="22" presetClass="entr" presetSubtype="1" fill="hold" nodeType="withEffect">
                                  <p:stCondLst>
                                    <p:cond delay="0"/>
                                  </p:stCondLst>
                                  <p:childTnLst>
                                    <p:set>
                                      <p:cBhvr>
                                        <p:cTn id="25" dur="1" fill="hold">
                                          <p:stCondLst>
                                            <p:cond delay="0"/>
                                          </p:stCondLst>
                                        </p:cTn>
                                        <p:tgtEl>
                                          <p:spTgt spid="30724"/>
                                        </p:tgtEl>
                                        <p:attrNameLst>
                                          <p:attrName>style.visibility</p:attrName>
                                        </p:attrNameLst>
                                      </p:cBhvr>
                                      <p:to>
                                        <p:strVal val="visible"/>
                                      </p:to>
                                    </p:set>
                                    <p:animEffect transition="in" filter="wipe(up)">
                                      <p:cBhvr>
                                        <p:cTn id="26" dur="1000"/>
                                        <p:tgtEl>
                                          <p:spTgt spid="3072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wipe(up)">
                                      <p:cBhvr>
                                        <p:cTn id="31" dur="1000"/>
                                        <p:tgtEl>
                                          <p:spTgt spid="19"/>
                                        </p:tgtEl>
                                      </p:cBhvr>
                                    </p:animEffect>
                                  </p:childTnLst>
                                </p:cTn>
                              </p:par>
                            </p:childTnLst>
                          </p:cTn>
                        </p:par>
                        <p:par>
                          <p:cTn id="32" fill="hold" nodeType="afterGroup">
                            <p:stCondLst>
                              <p:cond delay="1000"/>
                            </p:stCondLst>
                            <p:childTnLst>
                              <p:par>
                                <p:cTn id="33" presetID="22" presetClass="entr" presetSubtype="1" fill="hold"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up)">
                                      <p:cBhvr>
                                        <p:cTn id="35" dur="1000"/>
                                        <p:tgtEl>
                                          <p:spTgt spid="12"/>
                                        </p:tgtEl>
                                      </p:cBhvr>
                                    </p:animEffect>
                                  </p:childTnLst>
                                </p:cTn>
                              </p:par>
                              <p:par>
                                <p:cTn id="36" presetID="22" presetClass="entr" presetSubtype="1" fill="hold" nodeType="withEffect">
                                  <p:stCondLst>
                                    <p:cond delay="0"/>
                                  </p:stCondLst>
                                  <p:childTnLst>
                                    <p:set>
                                      <p:cBhvr>
                                        <p:cTn id="37" dur="1" fill="hold">
                                          <p:stCondLst>
                                            <p:cond delay="0"/>
                                          </p:stCondLst>
                                        </p:cTn>
                                        <p:tgtEl>
                                          <p:spTgt spid="30727"/>
                                        </p:tgtEl>
                                        <p:attrNameLst>
                                          <p:attrName>style.visibility</p:attrName>
                                        </p:attrNameLst>
                                      </p:cBhvr>
                                      <p:to>
                                        <p:strVal val="visible"/>
                                      </p:to>
                                    </p:set>
                                    <p:animEffect transition="in" filter="wipe(up)">
                                      <p:cBhvr>
                                        <p:cTn id="38" dur="1000"/>
                                        <p:tgtEl>
                                          <p:spTgt spid="30727"/>
                                        </p:tgtEl>
                                      </p:cBhvr>
                                    </p:animEffect>
                                  </p:childTnLst>
                                </p:cTn>
                              </p:par>
                            </p:childTnLst>
                          </p:cTn>
                        </p:par>
                        <p:par>
                          <p:cTn id="39" fill="hold" nodeType="afterGroup">
                            <p:stCondLst>
                              <p:cond delay="2000"/>
                            </p:stCondLst>
                            <p:childTnLst>
                              <p:par>
                                <p:cTn id="40" presetID="22" presetClass="entr" presetSubtype="8" fill="hold" nodeType="after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left)">
                                      <p:cBhvr>
                                        <p:cTn id="42" dur="1000"/>
                                        <p:tgtEl>
                                          <p:spTgt spid="18"/>
                                        </p:tgtEl>
                                      </p:cBhvr>
                                    </p:animEffect>
                                  </p:childTnLst>
                                </p:cTn>
                              </p:par>
                            </p:childTnLst>
                          </p:cTn>
                        </p:par>
                        <p:par>
                          <p:cTn id="43" fill="hold" nodeType="afterGroup">
                            <p:stCondLst>
                              <p:cond delay="3000"/>
                            </p:stCondLst>
                            <p:childTnLst>
                              <p:par>
                                <p:cTn id="44" presetID="22" presetClass="entr" presetSubtype="1" fill="hold" nodeType="after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wipe(up)">
                                      <p:cBhvr>
                                        <p:cTn id="46" dur="1000"/>
                                        <p:tgtEl>
                                          <p:spTgt spid="23"/>
                                        </p:tgtEl>
                                      </p:cBhvr>
                                    </p:animEffect>
                                  </p:childTnLst>
                                </p:cTn>
                              </p:par>
                            </p:childTnLst>
                          </p:cTn>
                        </p:par>
                        <p:par>
                          <p:cTn id="47" fill="hold" nodeType="afterGroup">
                            <p:stCondLst>
                              <p:cond delay="4000"/>
                            </p:stCondLst>
                            <p:childTnLst>
                              <p:par>
                                <p:cTn id="48" presetID="22" presetClass="entr" presetSubtype="1" fill="hold" nodeType="afterEffect">
                                  <p:stCondLst>
                                    <p:cond delay="0"/>
                                  </p:stCondLst>
                                  <p:childTnLst>
                                    <p:set>
                                      <p:cBhvr>
                                        <p:cTn id="49" dur="1" fill="hold">
                                          <p:stCondLst>
                                            <p:cond delay="0"/>
                                          </p:stCondLst>
                                        </p:cTn>
                                        <p:tgtEl>
                                          <p:spTgt spid="30734"/>
                                        </p:tgtEl>
                                        <p:attrNameLst>
                                          <p:attrName>style.visibility</p:attrName>
                                        </p:attrNameLst>
                                      </p:cBhvr>
                                      <p:to>
                                        <p:strVal val="visible"/>
                                      </p:to>
                                    </p:set>
                                    <p:animEffect transition="in" filter="wipe(up)">
                                      <p:cBhvr>
                                        <p:cTn id="50" dur="1000"/>
                                        <p:tgtEl>
                                          <p:spTgt spid="307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p:bldP spid="30725" grpId="0"/>
      <p:bldP spid="12" grpId="0"/>
      <p:bldP spid="30727" grpId="0"/>
      <p:bldP spid="18" grpId="0" animBg="1"/>
      <p:bldP spid="19" grpId="0" animBg="1"/>
      <p:bldP spid="21" grpId="0"/>
      <p:bldP spid="22" grpId="0"/>
      <p:bldP spid="23"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4">
            <a:extLst>
              <a:ext uri="{FF2B5EF4-FFF2-40B4-BE49-F238E27FC236}">
                <a16:creationId xmlns:a16="http://schemas.microsoft.com/office/drawing/2014/main" id="{B571AA8F-7C70-9F32-E449-087EBD7797C9}"/>
              </a:ext>
            </a:extLst>
          </p:cNvPr>
          <p:cNvSpPr>
            <a:spLocks noChangeArrowheads="1"/>
          </p:cNvSpPr>
          <p:nvPr/>
        </p:nvSpPr>
        <p:spPr bwMode="auto">
          <a:xfrm>
            <a:off x="0" y="0"/>
            <a:ext cx="9144000" cy="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79878" name="Rectangle 6">
            <a:extLst>
              <a:ext uri="{FF2B5EF4-FFF2-40B4-BE49-F238E27FC236}">
                <a16:creationId xmlns:a16="http://schemas.microsoft.com/office/drawing/2014/main" id="{8F15BE18-4BDD-309A-E35A-46439266B63F}"/>
              </a:ext>
            </a:extLst>
          </p:cNvPr>
          <p:cNvSpPr>
            <a:spLocks noChangeArrowheads="1"/>
          </p:cNvSpPr>
          <p:nvPr/>
        </p:nvSpPr>
        <p:spPr bwMode="auto">
          <a:xfrm>
            <a:off x="0" y="0"/>
            <a:ext cx="9144000" cy="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7" name="矩形 6">
            <a:extLst>
              <a:ext uri="{FF2B5EF4-FFF2-40B4-BE49-F238E27FC236}">
                <a16:creationId xmlns:a16="http://schemas.microsoft.com/office/drawing/2014/main" id="{C14384D3-29DF-19BF-4B78-EBEDFBEA1DA0}"/>
              </a:ext>
            </a:extLst>
          </p:cNvPr>
          <p:cNvSpPr/>
          <p:nvPr/>
        </p:nvSpPr>
        <p:spPr>
          <a:xfrm>
            <a:off x="214313" y="476250"/>
            <a:ext cx="4500562" cy="523875"/>
          </a:xfrm>
          <a:prstGeom prst="rect">
            <a:avLst/>
          </a:prstGeom>
        </p:spPr>
        <p:txBody>
          <a:bodyPr>
            <a:spAutoFit/>
          </a:bodyPr>
          <a:lstStyle/>
          <a:p>
            <a:pPr marL="285750" indent="-285750" eaLnBrk="0" hangingPunct="0">
              <a:spcBef>
                <a:spcPct val="20000"/>
              </a:spcBef>
              <a:buClr>
                <a:srgbClr val="FF0000"/>
              </a:buClr>
              <a:buSzPct val="82000"/>
              <a:defRPr/>
            </a:pPr>
            <a:r>
              <a:rPr lang="en-US" altLang="zh-CN" sz="2800" dirty="0">
                <a:solidFill>
                  <a:srgbClr val="990099"/>
                </a:solidFill>
                <a:latin typeface="微软雅黑" pitchFamily="34" charset="-122"/>
                <a:ea typeface="微软雅黑" pitchFamily="34" charset="-122"/>
              </a:rPr>
              <a:t>2.</a:t>
            </a:r>
            <a:r>
              <a:rPr lang="en-US" altLang="zh-CN" sz="2800" dirty="0">
                <a:solidFill>
                  <a:srgbClr val="000000"/>
                </a:solidFill>
                <a:latin typeface="微软雅黑" pitchFamily="34" charset="-122"/>
                <a:ea typeface="微软雅黑" pitchFamily="34" charset="-122"/>
              </a:rPr>
              <a:t> </a:t>
            </a:r>
            <a:r>
              <a:rPr lang="zh-CN" altLang="en-US" sz="2800" dirty="0">
                <a:solidFill>
                  <a:srgbClr val="003399"/>
                </a:solidFill>
                <a:latin typeface="微软雅黑" pitchFamily="34" charset="-122"/>
                <a:ea typeface="微软雅黑" pitchFamily="34" charset="-122"/>
              </a:rPr>
              <a:t>循环码的生成矩阵</a:t>
            </a:r>
            <a:r>
              <a:rPr lang="en-US" altLang="zh-CN" sz="2800" dirty="0">
                <a:solidFill>
                  <a:srgbClr val="0000CC"/>
                </a:solidFill>
                <a:latin typeface="微软雅黑" pitchFamily="34" charset="-122"/>
                <a:ea typeface="微软雅黑" pitchFamily="34" charset="-122"/>
              </a:rPr>
              <a:t>G</a:t>
            </a:r>
            <a:r>
              <a:rPr lang="zh-CN" altLang="en-US" sz="2800" dirty="0">
                <a:solidFill>
                  <a:srgbClr val="003399"/>
                </a:solidFill>
                <a:latin typeface="微软雅黑" pitchFamily="34" charset="-122"/>
                <a:ea typeface="微软雅黑" pitchFamily="34" charset="-122"/>
              </a:rPr>
              <a:t> </a:t>
            </a:r>
            <a:endParaRPr kumimoji="0" lang="zh-CN" altLang="en-US" sz="2800" kern="0" dirty="0">
              <a:solidFill>
                <a:srgbClr val="003399"/>
              </a:solidFill>
              <a:latin typeface="Tahoma"/>
              <a:ea typeface="宋体"/>
            </a:endParaRPr>
          </a:p>
        </p:txBody>
      </p:sp>
      <p:sp>
        <p:nvSpPr>
          <p:cNvPr id="9" name="矩形 8">
            <a:extLst>
              <a:ext uri="{FF2B5EF4-FFF2-40B4-BE49-F238E27FC236}">
                <a16:creationId xmlns:a16="http://schemas.microsoft.com/office/drawing/2014/main" id="{297280F4-1799-2782-C847-739E323B72CE}"/>
              </a:ext>
            </a:extLst>
          </p:cNvPr>
          <p:cNvSpPr/>
          <p:nvPr/>
        </p:nvSpPr>
        <p:spPr>
          <a:xfrm>
            <a:off x="1643063" y="1323975"/>
            <a:ext cx="5214937" cy="461963"/>
          </a:xfrm>
          <a:prstGeom prst="rect">
            <a:avLst/>
          </a:prstGeom>
        </p:spPr>
        <p:txBody>
          <a:bodyPr>
            <a:spAutoFit/>
          </a:bodyPr>
          <a:lstStyle/>
          <a:p>
            <a:pPr>
              <a:defRPr/>
            </a:pPr>
            <a:r>
              <a:rPr lang="zh-CN" altLang="en-US" sz="2000" b="0" kern="0" dirty="0">
                <a:solidFill>
                  <a:srgbClr val="080808"/>
                </a:solidFill>
                <a:latin typeface="微软雅黑" pitchFamily="34" charset="-122"/>
                <a:ea typeface="微软雅黑" pitchFamily="34" charset="-122"/>
              </a:rPr>
              <a:t>生成矩阵 </a:t>
            </a:r>
            <a:r>
              <a:rPr lang="en-US" altLang="zh-CN" sz="2400" kern="0" dirty="0">
                <a:solidFill>
                  <a:srgbClr val="0000CC"/>
                </a:solidFill>
                <a:latin typeface="Arial" pitchFamily="34" charset="0"/>
                <a:ea typeface="微软雅黑" pitchFamily="34" charset="-122"/>
                <a:cs typeface="Arial" pitchFamily="34" charset="0"/>
              </a:rPr>
              <a:t>G</a:t>
            </a:r>
            <a:r>
              <a:rPr lang="zh-CN" altLang="en-US" sz="2000" b="0" kern="0" dirty="0">
                <a:solidFill>
                  <a:srgbClr val="080808"/>
                </a:solidFill>
                <a:latin typeface="微软雅黑" pitchFamily="34" charset="-122"/>
                <a:ea typeface="微软雅黑" pitchFamily="34" charset="-122"/>
              </a:rPr>
              <a:t>可由</a:t>
            </a:r>
            <a:r>
              <a:rPr kumimoji="0" lang="en-US" altLang="zh-CN" sz="2000" b="0" i="1" kern="0" dirty="0">
                <a:solidFill>
                  <a:schemeClr val="tx1"/>
                </a:solidFill>
                <a:latin typeface="微软雅黑" pitchFamily="34" charset="-122"/>
                <a:ea typeface="微软雅黑" pitchFamily="34" charset="-122"/>
              </a:rPr>
              <a:t>k</a:t>
            </a:r>
            <a:r>
              <a:rPr kumimoji="0" lang="zh-CN" altLang="en-US" sz="2400" b="0" i="1" kern="0" dirty="0">
                <a:solidFill>
                  <a:schemeClr val="tx1"/>
                </a:solidFill>
                <a:latin typeface="微软雅黑" pitchFamily="34" charset="-122"/>
                <a:ea typeface="微软雅黑" pitchFamily="34" charset="-122"/>
              </a:rPr>
              <a:t> </a:t>
            </a:r>
            <a:r>
              <a:rPr kumimoji="0" lang="zh-CN" altLang="en-US" sz="2000" b="0" kern="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个线性无关的码组构成。</a:t>
            </a:r>
            <a:endParaRPr lang="zh-CN" altLang="en-US" sz="2000" dirty="0">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14" name="矩形 13">
            <a:extLst>
              <a:ext uri="{FF2B5EF4-FFF2-40B4-BE49-F238E27FC236}">
                <a16:creationId xmlns:a16="http://schemas.microsoft.com/office/drawing/2014/main" id="{96CF8EBC-AD5B-59DD-E2A1-CE2EF79DF866}"/>
              </a:ext>
            </a:extLst>
          </p:cNvPr>
          <p:cNvSpPr/>
          <p:nvPr/>
        </p:nvSpPr>
        <p:spPr>
          <a:xfrm>
            <a:off x="642938" y="1314450"/>
            <a:ext cx="1108075" cy="461963"/>
          </a:xfrm>
          <a:prstGeom prst="rect">
            <a:avLst/>
          </a:prstGeom>
        </p:spPr>
        <p:txBody>
          <a:bodyPr wrap="none">
            <a:spAutoFit/>
          </a:bodyPr>
          <a:lstStyle/>
          <a:p>
            <a:pPr>
              <a:defRPr/>
            </a:pPr>
            <a:r>
              <a:rPr kumimoji="0" lang="zh-CN" altLang="en-US" sz="2400" kern="0" dirty="0">
                <a:solidFill>
                  <a:srgbClr val="990099"/>
                </a:solidFill>
                <a:latin typeface="微软雅黑" pitchFamily="34" charset="-122"/>
                <a:ea typeface="微软雅黑" pitchFamily="34" charset="-122"/>
              </a:rPr>
              <a:t>引思</a:t>
            </a:r>
            <a:r>
              <a:rPr kumimoji="0" lang="zh-CN" altLang="en-US" sz="2400" kern="0" dirty="0">
                <a:solidFill>
                  <a:srgbClr val="0000CC"/>
                </a:solidFill>
                <a:latin typeface="微软雅黑" pitchFamily="34" charset="-122"/>
                <a:ea typeface="微软雅黑" pitchFamily="34" charset="-122"/>
              </a:rPr>
              <a:t>：</a:t>
            </a:r>
            <a:endParaRPr lang="zh-CN" altLang="en-US" sz="2400" dirty="0">
              <a:solidFill>
                <a:srgbClr val="0000CC"/>
              </a:solidFill>
            </a:endParaRPr>
          </a:p>
        </p:txBody>
      </p:sp>
      <p:sp>
        <p:nvSpPr>
          <p:cNvPr id="15" name="矩形 14">
            <a:extLst>
              <a:ext uri="{FF2B5EF4-FFF2-40B4-BE49-F238E27FC236}">
                <a16:creationId xmlns:a16="http://schemas.microsoft.com/office/drawing/2014/main" id="{F25EC26A-962E-6188-A932-6366C3A50506}"/>
              </a:ext>
            </a:extLst>
          </p:cNvPr>
          <p:cNvSpPr/>
          <p:nvPr/>
        </p:nvSpPr>
        <p:spPr>
          <a:xfrm>
            <a:off x="1643063" y="1957388"/>
            <a:ext cx="5214937" cy="400050"/>
          </a:xfrm>
          <a:prstGeom prst="rect">
            <a:avLst/>
          </a:prstGeom>
        </p:spPr>
        <p:txBody>
          <a:bodyPr>
            <a:spAutoFit/>
          </a:bodyPr>
          <a:lstStyle/>
          <a:p>
            <a:pPr>
              <a:defRPr/>
            </a:pPr>
            <a:r>
              <a:rPr lang="zh-CN" altLang="en-US" sz="2000" b="0" kern="0" dirty="0">
                <a:solidFill>
                  <a:srgbClr val="080808"/>
                </a:solidFill>
                <a:latin typeface="微软雅黑" pitchFamily="34" charset="-122"/>
                <a:ea typeface="微软雅黑" pitchFamily="34" charset="-122"/>
              </a:rPr>
              <a:t>那么，如何寻找这 </a:t>
            </a:r>
            <a:r>
              <a:rPr lang="en-US" altLang="zh-CN" sz="2000" b="0" i="1" kern="0" dirty="0">
                <a:solidFill>
                  <a:srgbClr val="080808"/>
                </a:solidFill>
                <a:effectLst>
                  <a:outerShdw blurRad="38100" dist="38100" dir="2700000" algn="tl">
                    <a:srgbClr val="000000">
                      <a:alpha val="43137"/>
                    </a:srgbClr>
                  </a:outerShdw>
                </a:effectLst>
                <a:latin typeface="微软雅黑" pitchFamily="34" charset="-122"/>
                <a:ea typeface="微软雅黑" pitchFamily="34" charset="-122"/>
              </a:rPr>
              <a:t>k </a:t>
            </a:r>
            <a:r>
              <a:rPr lang="zh-CN" altLang="en-US" sz="2000" b="0" kern="0" dirty="0">
                <a:solidFill>
                  <a:srgbClr val="080808"/>
                </a:solidFill>
                <a:latin typeface="微软雅黑" pitchFamily="34" charset="-122"/>
                <a:ea typeface="微软雅黑" pitchFamily="34" charset="-122"/>
              </a:rPr>
              <a:t>个线性无关的码组呢？</a:t>
            </a:r>
            <a:endParaRPr lang="zh-CN" altLang="en-US" dirty="0"/>
          </a:p>
        </p:txBody>
      </p:sp>
      <p:sp>
        <p:nvSpPr>
          <p:cNvPr id="16" name="矩形 15">
            <a:extLst>
              <a:ext uri="{FF2B5EF4-FFF2-40B4-BE49-F238E27FC236}">
                <a16:creationId xmlns:a16="http://schemas.microsoft.com/office/drawing/2014/main" id="{DA673C5E-5F75-D247-8765-B0A3E352DE0E}"/>
              </a:ext>
            </a:extLst>
          </p:cNvPr>
          <p:cNvSpPr/>
          <p:nvPr/>
        </p:nvSpPr>
        <p:spPr>
          <a:xfrm>
            <a:off x="714375" y="5514975"/>
            <a:ext cx="7643813" cy="541338"/>
          </a:xfrm>
          <a:prstGeom prst="rect">
            <a:avLst/>
          </a:prstGeom>
        </p:spPr>
        <p:txBody>
          <a:bodyPr>
            <a:spAutoFit/>
          </a:bodyPr>
          <a:lstStyle/>
          <a:p>
            <a:pPr>
              <a:lnSpc>
                <a:spcPts val="3500"/>
              </a:lnSpc>
              <a:defRPr/>
            </a:pPr>
            <a:r>
              <a:rPr lang="zh-CN" altLang="en-US" sz="2000" b="0" kern="0" dirty="0">
                <a:solidFill>
                  <a:srgbClr val="080808"/>
                </a:solidFill>
                <a:latin typeface="Arial" pitchFamily="34" charset="0"/>
                <a:ea typeface="微软雅黑" pitchFamily="34" charset="-122"/>
                <a:cs typeface="Arial" pitchFamily="34" charset="0"/>
              </a:rPr>
              <a:t>因此，用这</a:t>
            </a:r>
            <a:r>
              <a:rPr lang="zh-CN" altLang="en-US" sz="2000" b="0" i="1" kern="0" dirty="0">
                <a:solidFill>
                  <a:srgbClr val="080808"/>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ｋ</a:t>
            </a:r>
            <a:r>
              <a:rPr lang="zh-CN" altLang="en-US" sz="2000" b="0" kern="0" dirty="0">
                <a:solidFill>
                  <a:srgbClr val="080808"/>
                </a:solidFill>
                <a:latin typeface="Arial" pitchFamily="34" charset="0"/>
                <a:ea typeface="微软雅黑" pitchFamily="34" charset="-122"/>
                <a:cs typeface="Arial" pitchFamily="34" charset="0"/>
              </a:rPr>
              <a:t>个线性无关的码组可构成该循环码的</a:t>
            </a:r>
            <a:r>
              <a:rPr lang="zh-CN" altLang="en-US" sz="2000" kern="0" dirty="0">
                <a:solidFill>
                  <a:srgbClr val="0000CC"/>
                </a:solidFill>
                <a:latin typeface="Arial" pitchFamily="34" charset="0"/>
                <a:ea typeface="微软雅黑" pitchFamily="34" charset="-122"/>
                <a:cs typeface="Arial" pitchFamily="34" charset="0"/>
              </a:rPr>
              <a:t>生成矩阵</a:t>
            </a:r>
            <a:r>
              <a:rPr lang="en-US" altLang="zh-CN" sz="2400" kern="0" dirty="0">
                <a:solidFill>
                  <a:srgbClr val="0000CC"/>
                </a:solidFill>
                <a:latin typeface="Arial" pitchFamily="34" charset="0"/>
                <a:ea typeface="微软雅黑" pitchFamily="34" charset="-122"/>
                <a:cs typeface="Arial" pitchFamily="34" charset="0"/>
              </a:rPr>
              <a:t>G</a:t>
            </a:r>
            <a:r>
              <a:rPr lang="en-US" altLang="zh-CN" sz="2000" kern="0" dirty="0">
                <a:solidFill>
                  <a:srgbClr val="0000CC"/>
                </a:solidFill>
                <a:latin typeface="Arial" pitchFamily="34" charset="0"/>
                <a:ea typeface="微软雅黑" pitchFamily="34" charset="-122"/>
                <a:cs typeface="Arial" pitchFamily="34" charset="0"/>
              </a:rPr>
              <a:t> </a:t>
            </a:r>
            <a:r>
              <a:rPr lang="zh-CN" altLang="en-US" sz="2000" b="0" kern="0" dirty="0">
                <a:solidFill>
                  <a:srgbClr val="080808"/>
                </a:solidFill>
                <a:latin typeface="Arial" pitchFamily="34" charset="0"/>
                <a:ea typeface="微软雅黑" pitchFamily="34" charset="-122"/>
                <a:cs typeface="Arial" pitchFamily="34" charset="0"/>
              </a:rPr>
              <a:t>，即</a:t>
            </a:r>
            <a:endParaRPr lang="zh-CN" altLang="en-US" dirty="0"/>
          </a:p>
        </p:txBody>
      </p:sp>
      <p:pic>
        <p:nvPicPr>
          <p:cNvPr id="103433" name="Picture 11">
            <a:extLst>
              <a:ext uri="{FF2B5EF4-FFF2-40B4-BE49-F238E27FC236}">
                <a16:creationId xmlns:a16="http://schemas.microsoft.com/office/drawing/2014/main" id="{54CD94CA-DB78-DEED-FADE-4CB1D0A648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38" y="2779713"/>
            <a:ext cx="838200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34" name="Picture 14">
            <a:extLst>
              <a:ext uri="{FF2B5EF4-FFF2-40B4-BE49-F238E27FC236}">
                <a16:creationId xmlns:a16="http://schemas.microsoft.com/office/drawing/2014/main" id="{19CE154B-8651-28F1-BA17-942DA1D7F0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063" y="4143375"/>
            <a:ext cx="8016875" cy="104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up)">
                                      <p:cBhvr>
                                        <p:cTn id="12" dur="1000"/>
                                        <p:tgtEl>
                                          <p:spTgt spid="14"/>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1000"/>
                                        <p:tgtEl>
                                          <p:spTgt spid="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up)">
                                      <p:cBhvr>
                                        <p:cTn id="21" dur="1000"/>
                                        <p:tgtEl>
                                          <p:spTgt spid="1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103433"/>
                                        </p:tgtEl>
                                        <p:attrNameLst>
                                          <p:attrName>style.visibility</p:attrName>
                                        </p:attrNameLst>
                                      </p:cBhvr>
                                      <p:to>
                                        <p:strVal val="visible"/>
                                      </p:to>
                                    </p:set>
                                    <p:animEffect transition="in" filter="wipe(up)">
                                      <p:cBhvr>
                                        <p:cTn id="26" dur="1000"/>
                                        <p:tgtEl>
                                          <p:spTgt spid="10343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103434"/>
                                        </p:tgtEl>
                                        <p:attrNameLst>
                                          <p:attrName>style.visibility</p:attrName>
                                        </p:attrNameLst>
                                      </p:cBhvr>
                                      <p:to>
                                        <p:strVal val="visible"/>
                                      </p:to>
                                    </p:set>
                                    <p:animEffect transition="in" filter="wipe(up)">
                                      <p:cBhvr>
                                        <p:cTn id="31" dur="1000"/>
                                        <p:tgtEl>
                                          <p:spTgt spid="10343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up)">
                                      <p:cBhvr>
                                        <p:cTn id="36"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4" grpId="0"/>
      <p:bldP spid="15" grpId="0"/>
      <p:bldP spid="16"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877" name="Object 5">
            <a:extLst>
              <a:ext uri="{FF2B5EF4-FFF2-40B4-BE49-F238E27FC236}">
                <a16:creationId xmlns:a16="http://schemas.microsoft.com/office/drawing/2014/main" id="{265E848F-4307-9071-379B-26B847678FAF}"/>
              </a:ext>
            </a:extLst>
          </p:cNvPr>
          <p:cNvGraphicFramePr>
            <a:graphicFrameLocks noChangeAspect="1"/>
          </p:cNvGraphicFramePr>
          <p:nvPr/>
        </p:nvGraphicFramePr>
        <p:xfrm>
          <a:off x="2357438" y="1285875"/>
          <a:ext cx="2286000" cy="2474913"/>
        </p:xfrm>
        <a:graphic>
          <a:graphicData uri="http://schemas.openxmlformats.org/presentationml/2006/ole">
            <mc:AlternateContent xmlns:mc="http://schemas.openxmlformats.org/markup-compatibility/2006">
              <mc:Choice xmlns:v="urn:schemas-microsoft-com:vml" Requires="v">
                <p:oleObj name="公式" r:id="rId2" imgW="1155600" imgH="1244520" progId="Equation.3">
                  <p:embed/>
                </p:oleObj>
              </mc:Choice>
              <mc:Fallback>
                <p:oleObj name="公式" r:id="rId2" imgW="1155600" imgH="124452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7438" y="1285875"/>
                        <a:ext cx="2286000" cy="2474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1752" name="Picture 8">
            <a:extLst>
              <a:ext uri="{FF2B5EF4-FFF2-40B4-BE49-F238E27FC236}">
                <a16:creationId xmlns:a16="http://schemas.microsoft.com/office/drawing/2014/main" id="{80DD2D1A-B3A2-7BC1-E15C-2486FC32CA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0625" y="2257425"/>
            <a:ext cx="3571875" cy="210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3" name="Picture 9">
            <a:extLst>
              <a:ext uri="{FF2B5EF4-FFF2-40B4-BE49-F238E27FC236}">
                <a16:creationId xmlns:a16="http://schemas.microsoft.com/office/drawing/2014/main" id="{645BCD98-B209-0830-E738-CE7F7272F8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b="54234"/>
          <a:stretch>
            <a:fillRect/>
          </a:stretch>
        </p:blipFill>
        <p:spPr bwMode="auto">
          <a:xfrm>
            <a:off x="857250" y="5072063"/>
            <a:ext cx="815340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9">
            <a:extLst>
              <a:ext uri="{FF2B5EF4-FFF2-40B4-BE49-F238E27FC236}">
                <a16:creationId xmlns:a16="http://schemas.microsoft.com/office/drawing/2014/main" id="{AAF2B233-2108-E478-3F76-5472393563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8842" b="-4607"/>
          <a:stretch>
            <a:fillRect/>
          </a:stretch>
        </p:blipFill>
        <p:spPr bwMode="auto">
          <a:xfrm>
            <a:off x="820738" y="5643563"/>
            <a:ext cx="815340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4" name="Picture 10">
            <a:extLst>
              <a:ext uri="{FF2B5EF4-FFF2-40B4-BE49-F238E27FC236}">
                <a16:creationId xmlns:a16="http://schemas.microsoft.com/office/drawing/2014/main" id="{CDAD9932-74CC-60C2-F17A-B854879056F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0263" y="4543425"/>
            <a:ext cx="4027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9877"/>
                                        </p:tgtEl>
                                        <p:attrNameLst>
                                          <p:attrName>style.visibility</p:attrName>
                                        </p:attrNameLst>
                                      </p:cBhvr>
                                      <p:to>
                                        <p:strVal val="visible"/>
                                      </p:to>
                                    </p:set>
                                    <p:animEffect transition="in" filter="wipe(left)">
                                      <p:cBhvr>
                                        <p:cTn id="7" dur="2000"/>
                                        <p:tgtEl>
                                          <p:spTgt spid="798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1752"/>
                                        </p:tgtEl>
                                        <p:attrNameLst>
                                          <p:attrName>style.visibility</p:attrName>
                                        </p:attrNameLst>
                                      </p:cBhvr>
                                      <p:to>
                                        <p:strVal val="visible"/>
                                      </p:to>
                                    </p:set>
                                    <p:animEffect transition="in" filter="wipe(left)">
                                      <p:cBhvr>
                                        <p:cTn id="12" dur="1000"/>
                                        <p:tgtEl>
                                          <p:spTgt spid="3175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31754"/>
                                        </p:tgtEl>
                                        <p:attrNameLst>
                                          <p:attrName>style.visibility</p:attrName>
                                        </p:attrNameLst>
                                      </p:cBhvr>
                                      <p:to>
                                        <p:strVal val="visible"/>
                                      </p:to>
                                    </p:set>
                                    <p:animEffect transition="in" filter="wipe(up)">
                                      <p:cBhvr>
                                        <p:cTn id="17" dur="1000"/>
                                        <p:tgtEl>
                                          <p:spTgt spid="3175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31753"/>
                                        </p:tgtEl>
                                        <p:attrNameLst>
                                          <p:attrName>style.visibility</p:attrName>
                                        </p:attrNameLst>
                                      </p:cBhvr>
                                      <p:to>
                                        <p:strVal val="visible"/>
                                      </p:to>
                                    </p:set>
                                    <p:animEffect transition="in" filter="wipe(up)">
                                      <p:cBhvr>
                                        <p:cTn id="22" dur="1000"/>
                                        <p:tgtEl>
                                          <p:spTgt spid="3175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up)">
                                      <p:cBhvr>
                                        <p:cTn id="2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89" name="Picture 21">
            <a:extLst>
              <a:ext uri="{FF2B5EF4-FFF2-40B4-BE49-F238E27FC236}">
                <a16:creationId xmlns:a16="http://schemas.microsoft.com/office/drawing/2014/main" id="{50FDF632-BAF3-E83E-D7E2-1DB48433AB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813" y="628650"/>
            <a:ext cx="7643812" cy="238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3">
            <a:extLst>
              <a:ext uri="{FF2B5EF4-FFF2-40B4-BE49-F238E27FC236}">
                <a16:creationId xmlns:a16="http://schemas.microsoft.com/office/drawing/2014/main" id="{9867D56B-84F1-6216-6A02-E8E103E796C2}"/>
              </a:ext>
            </a:extLst>
          </p:cNvPr>
          <p:cNvSpPr txBox="1">
            <a:spLocks noChangeArrowheads="1"/>
          </p:cNvSpPr>
          <p:nvPr/>
        </p:nvSpPr>
        <p:spPr bwMode="auto">
          <a:xfrm>
            <a:off x="1285875" y="3211513"/>
            <a:ext cx="2751138" cy="500062"/>
          </a:xfrm>
          <a:prstGeom prst="rect">
            <a:avLst/>
          </a:prstGeom>
          <a:noFill/>
          <a:ln w="9525">
            <a:noFill/>
            <a:miter lim="800000"/>
            <a:headEnd/>
            <a:tailEnd/>
          </a:ln>
        </p:spPr>
        <p:txBody>
          <a:bodyPr/>
          <a:lstStyle/>
          <a:p>
            <a:pPr marL="228600" indent="-228600" eaLnBrk="0" hangingPunct="0">
              <a:spcBef>
                <a:spcPct val="20000"/>
              </a:spcBef>
              <a:buClr>
                <a:schemeClr val="accent2"/>
              </a:buClr>
              <a:buSzPct val="55000"/>
              <a:buFont typeface="Wingdings" pitchFamily="2" charset="2"/>
              <a:buNone/>
              <a:defRPr/>
            </a:pPr>
            <a:r>
              <a:rPr kumimoji="0" lang="en-US" altLang="zh-CN" sz="2400" i="1" kern="0" dirty="0">
                <a:solidFill>
                  <a:schemeClr val="tx1"/>
                </a:solidFill>
                <a:latin typeface="Arial" pitchFamily="34" charset="0"/>
                <a:ea typeface="+mn-ea"/>
                <a:cs typeface="Arial" pitchFamily="34" charset="0"/>
              </a:rPr>
              <a:t>r </a:t>
            </a:r>
            <a:r>
              <a:rPr kumimoji="0" lang="en-US" altLang="zh-CN" sz="2400" kern="0" dirty="0">
                <a:solidFill>
                  <a:schemeClr val="tx1"/>
                </a:solidFill>
                <a:latin typeface="Arial" pitchFamily="34" charset="0"/>
                <a:ea typeface="+mn-ea"/>
                <a:cs typeface="Arial" pitchFamily="34" charset="0"/>
              </a:rPr>
              <a:t>= </a:t>
            </a:r>
            <a:r>
              <a:rPr lang="en-US" altLang="zh-CN" sz="2400" i="1" dirty="0">
                <a:solidFill>
                  <a:schemeClr val="tx1"/>
                </a:solidFill>
                <a:latin typeface="Arial" charset="0"/>
                <a:ea typeface="微软雅黑" pitchFamily="34" charset="-122"/>
                <a:cs typeface="Arial" charset="0"/>
              </a:rPr>
              <a:t>n</a:t>
            </a:r>
            <a:r>
              <a:rPr lang="en-US" altLang="zh-CN" sz="2400" dirty="0">
                <a:solidFill>
                  <a:schemeClr val="tx1"/>
                </a:solidFill>
                <a:latin typeface="Arial" charset="0"/>
                <a:ea typeface="微软雅黑" pitchFamily="34" charset="-122"/>
                <a:cs typeface="Arial" charset="0"/>
              </a:rPr>
              <a:t>-</a:t>
            </a:r>
            <a:r>
              <a:rPr lang="en-US" altLang="zh-CN" sz="2400" i="1" dirty="0">
                <a:solidFill>
                  <a:schemeClr val="tx1"/>
                </a:solidFill>
                <a:latin typeface="Arial" charset="0"/>
                <a:ea typeface="微软雅黑" pitchFamily="34" charset="-122"/>
                <a:cs typeface="Arial" charset="0"/>
              </a:rPr>
              <a:t>k</a:t>
            </a:r>
            <a:r>
              <a:rPr kumimoji="0" lang="en-US" altLang="zh-CN" sz="2400" kern="0" dirty="0">
                <a:solidFill>
                  <a:schemeClr val="tx1"/>
                </a:solidFill>
                <a:latin typeface="Arial" pitchFamily="34" charset="0"/>
                <a:ea typeface="+mn-ea"/>
                <a:cs typeface="Arial" pitchFamily="34" charset="0"/>
              </a:rPr>
              <a:t> = 7-3 =4</a:t>
            </a:r>
            <a:r>
              <a:rPr kumimoji="0" lang="zh-CN" altLang="en-US" sz="2400" kern="0" dirty="0">
                <a:solidFill>
                  <a:schemeClr val="tx1"/>
                </a:solidFill>
                <a:latin typeface="Arial" pitchFamily="34" charset="0"/>
                <a:ea typeface="+mn-ea"/>
                <a:cs typeface="Arial" pitchFamily="34" charset="0"/>
              </a:rPr>
              <a:t>，</a:t>
            </a:r>
            <a:endParaRPr kumimoji="0" lang="en-US" altLang="zh-CN" sz="2400" kern="0" dirty="0">
              <a:solidFill>
                <a:schemeClr val="tx1"/>
              </a:solidFill>
              <a:latin typeface="Arial" pitchFamily="34" charset="0"/>
              <a:ea typeface="+mn-ea"/>
              <a:cs typeface="Arial" pitchFamily="34" charset="0"/>
            </a:endParaRPr>
          </a:p>
        </p:txBody>
      </p:sp>
      <p:graphicFrame>
        <p:nvGraphicFramePr>
          <p:cNvPr id="15" name="Object 4">
            <a:extLst>
              <a:ext uri="{FF2B5EF4-FFF2-40B4-BE49-F238E27FC236}">
                <a16:creationId xmlns:a16="http://schemas.microsoft.com/office/drawing/2014/main" id="{D68FF0EE-DA5D-BE0C-EECE-1CA10CD54734}"/>
              </a:ext>
            </a:extLst>
          </p:cNvPr>
          <p:cNvGraphicFramePr>
            <a:graphicFrameLocks noChangeAspect="1"/>
          </p:cNvGraphicFramePr>
          <p:nvPr/>
        </p:nvGraphicFramePr>
        <p:xfrm>
          <a:off x="6102350" y="4591050"/>
          <a:ext cx="1827213" cy="1338263"/>
        </p:xfrm>
        <a:graphic>
          <a:graphicData uri="http://schemas.openxmlformats.org/presentationml/2006/ole">
            <mc:AlternateContent xmlns:mc="http://schemas.openxmlformats.org/markup-compatibility/2006">
              <mc:Choice xmlns:v="urn:schemas-microsoft-com:vml" Requires="v">
                <p:oleObj name="公式" r:id="rId3" imgW="977760" imgH="711000" progId="Equation.3">
                  <p:embed/>
                </p:oleObj>
              </mc:Choice>
              <mc:Fallback>
                <p:oleObj name="公式" r:id="rId3" imgW="977760" imgH="7110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02350" y="4591050"/>
                        <a:ext cx="1827213" cy="1338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矩形 17">
            <a:extLst>
              <a:ext uri="{FF2B5EF4-FFF2-40B4-BE49-F238E27FC236}">
                <a16:creationId xmlns:a16="http://schemas.microsoft.com/office/drawing/2014/main" id="{A59EE47A-2E94-3744-5D62-1E95C6319E35}"/>
              </a:ext>
            </a:extLst>
          </p:cNvPr>
          <p:cNvSpPr>
            <a:spLocks noChangeArrowheads="1"/>
          </p:cNvSpPr>
          <p:nvPr/>
        </p:nvSpPr>
        <p:spPr bwMode="auto">
          <a:xfrm>
            <a:off x="428625" y="3171825"/>
            <a:ext cx="6429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zh-CN" altLang="en-US" sz="2000">
                <a:solidFill>
                  <a:srgbClr val="003399"/>
                </a:solidFill>
                <a:latin typeface="微软雅黑" panose="020B0503020204020204" pitchFamily="34" charset="-122"/>
                <a:ea typeface="微软雅黑" panose="020B0503020204020204" pitchFamily="34" charset="-122"/>
              </a:rPr>
              <a:t>解</a:t>
            </a:r>
            <a:endParaRPr lang="zh-CN" altLang="en-US">
              <a:solidFill>
                <a:srgbClr val="003399"/>
              </a:solidFill>
            </a:endParaRPr>
          </a:p>
        </p:txBody>
      </p:sp>
      <p:cxnSp>
        <p:nvCxnSpPr>
          <p:cNvPr id="21" name="直接连接符 20">
            <a:extLst>
              <a:ext uri="{FF2B5EF4-FFF2-40B4-BE49-F238E27FC236}">
                <a16:creationId xmlns:a16="http://schemas.microsoft.com/office/drawing/2014/main" id="{F4B4052A-8942-4B9D-D9D1-12AA983BF9C9}"/>
              </a:ext>
            </a:extLst>
          </p:cNvPr>
          <p:cNvCxnSpPr>
            <a:cxnSpLocks noChangeShapeType="1"/>
          </p:cNvCxnSpPr>
          <p:nvPr/>
        </p:nvCxnSpPr>
        <p:spPr bwMode="auto">
          <a:xfrm>
            <a:off x="2041525" y="1970088"/>
            <a:ext cx="1000125" cy="1587"/>
          </a:xfrm>
          <a:prstGeom prst="line">
            <a:avLst/>
          </a:prstGeom>
          <a:noFill/>
          <a:ln w="28575" algn="ctr">
            <a:solidFill>
              <a:srgbClr val="FF0000"/>
            </a:solidFill>
            <a:miter lim="800000"/>
            <a:headEnd/>
            <a:tailEnd/>
          </a:ln>
          <a:extLst>
            <a:ext uri="{909E8E84-426E-40DD-AFC4-6F175D3DCCD1}">
              <a14:hiddenFill xmlns:a14="http://schemas.microsoft.com/office/drawing/2010/main">
                <a:noFill/>
              </a14:hiddenFill>
            </a:ext>
          </a:extLst>
        </p:spPr>
      </p:cxnSp>
      <p:sp>
        <p:nvSpPr>
          <p:cNvPr id="81924" name="Rectangle 4">
            <a:extLst>
              <a:ext uri="{FF2B5EF4-FFF2-40B4-BE49-F238E27FC236}">
                <a16:creationId xmlns:a16="http://schemas.microsoft.com/office/drawing/2014/main" id="{3246646A-554A-0722-FC70-D2CCE2EE6F24}"/>
              </a:ext>
            </a:extLst>
          </p:cNvPr>
          <p:cNvSpPr>
            <a:spLocks noChangeArrowheads="1"/>
          </p:cNvSpPr>
          <p:nvPr/>
        </p:nvSpPr>
        <p:spPr bwMode="auto">
          <a:xfrm>
            <a:off x="0" y="0"/>
            <a:ext cx="9144000" cy="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aphicFrame>
        <p:nvGraphicFramePr>
          <p:cNvPr id="81923" name="Object 3">
            <a:extLst>
              <a:ext uri="{FF2B5EF4-FFF2-40B4-BE49-F238E27FC236}">
                <a16:creationId xmlns:a16="http://schemas.microsoft.com/office/drawing/2014/main" id="{E5D955A3-BA6C-4D39-30F9-A0098BA7BFD7}"/>
              </a:ext>
            </a:extLst>
          </p:cNvPr>
          <p:cNvGraphicFramePr>
            <a:graphicFrameLocks noChangeAspect="1"/>
          </p:cNvGraphicFramePr>
          <p:nvPr/>
        </p:nvGraphicFramePr>
        <p:xfrm>
          <a:off x="1285875" y="4500563"/>
          <a:ext cx="4143375" cy="1312862"/>
        </p:xfrm>
        <a:graphic>
          <a:graphicData uri="http://schemas.openxmlformats.org/presentationml/2006/ole">
            <mc:AlternateContent xmlns:mc="http://schemas.openxmlformats.org/markup-compatibility/2006">
              <mc:Choice xmlns:v="urn:schemas-microsoft-com:vml" Requires="v">
                <p:oleObj name="Equation" r:id="rId5" imgW="2311400" imgH="736600" progId="Equation.DSMT4">
                  <p:embed/>
                </p:oleObj>
              </mc:Choice>
              <mc:Fallback>
                <p:oleObj name="Equation" r:id="rId5" imgW="2311400" imgH="7366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85875" y="4500563"/>
                        <a:ext cx="4143375" cy="1312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组合 30">
            <a:extLst>
              <a:ext uri="{FF2B5EF4-FFF2-40B4-BE49-F238E27FC236}">
                <a16:creationId xmlns:a16="http://schemas.microsoft.com/office/drawing/2014/main" id="{002F2E45-6467-1406-BFAF-4F13812425BB}"/>
              </a:ext>
            </a:extLst>
          </p:cNvPr>
          <p:cNvGrpSpPr>
            <a:grpSpLocks/>
          </p:cNvGrpSpPr>
          <p:nvPr/>
        </p:nvGrpSpPr>
        <p:grpSpPr bwMode="auto">
          <a:xfrm>
            <a:off x="285750" y="500063"/>
            <a:ext cx="714375" cy="571500"/>
            <a:chOff x="285721" y="3286124"/>
            <a:chExt cx="714380" cy="571504"/>
          </a:xfrm>
        </p:grpSpPr>
        <p:grpSp>
          <p:nvGrpSpPr>
            <p:cNvPr id="29710" name="Group 52">
              <a:extLst>
                <a:ext uri="{FF2B5EF4-FFF2-40B4-BE49-F238E27FC236}">
                  <a16:creationId xmlns:a16="http://schemas.microsoft.com/office/drawing/2014/main" id="{885268C7-BE59-75C9-DE4B-8E99C5AEE9C5}"/>
                </a:ext>
              </a:extLst>
            </p:cNvPr>
            <p:cNvGrpSpPr>
              <a:grpSpLocks/>
            </p:cNvGrpSpPr>
            <p:nvPr/>
          </p:nvGrpSpPr>
          <p:grpSpPr bwMode="auto">
            <a:xfrm>
              <a:off x="285721" y="3286124"/>
              <a:ext cx="714380" cy="571504"/>
              <a:chOff x="1289" y="582"/>
              <a:chExt cx="668" cy="668"/>
            </a:xfrm>
          </p:grpSpPr>
          <p:sp>
            <p:nvSpPr>
              <p:cNvPr id="29712" name="Oval 53">
                <a:extLst>
                  <a:ext uri="{FF2B5EF4-FFF2-40B4-BE49-F238E27FC236}">
                    <a16:creationId xmlns:a16="http://schemas.microsoft.com/office/drawing/2014/main" id="{419C7FEF-46F1-B05F-DCE0-52F546640B2E}"/>
                  </a:ext>
                </a:extLst>
              </p:cNvPr>
              <p:cNvSpPr>
                <a:spLocks noChangeArrowheads="1"/>
              </p:cNvSpPr>
              <p:nvPr/>
            </p:nvSpPr>
            <p:spPr bwMode="gray">
              <a:xfrm>
                <a:off x="1289" y="582"/>
                <a:ext cx="668" cy="668"/>
              </a:xfrm>
              <a:prstGeom prst="ellipse">
                <a:avLst/>
              </a:prstGeom>
              <a:solidFill>
                <a:srgbClr val="333333"/>
              </a:soli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29713" name="Oval 54">
                <a:extLst>
                  <a:ext uri="{FF2B5EF4-FFF2-40B4-BE49-F238E27FC236}">
                    <a16:creationId xmlns:a16="http://schemas.microsoft.com/office/drawing/2014/main" id="{86087241-2021-B8BC-6B98-4EFB819C6DD1}"/>
                  </a:ext>
                </a:extLst>
              </p:cNvPr>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29714" name="Oval 55">
                <a:extLst>
                  <a:ext uri="{FF2B5EF4-FFF2-40B4-BE49-F238E27FC236}">
                    <a16:creationId xmlns:a16="http://schemas.microsoft.com/office/drawing/2014/main" id="{BEED3816-F6C8-C391-50AA-B6EEF4E7CA6A}"/>
                  </a:ext>
                </a:extLst>
              </p:cNvPr>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29715" name="Oval 56">
                <a:extLst>
                  <a:ext uri="{FF2B5EF4-FFF2-40B4-BE49-F238E27FC236}">
                    <a16:creationId xmlns:a16="http://schemas.microsoft.com/office/drawing/2014/main" id="{865D9A4D-95EC-50F0-8E5B-1284FF888654}"/>
                  </a:ext>
                </a:extLst>
              </p:cNvPr>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29716" name="Oval 57">
                <a:extLst>
                  <a:ext uri="{FF2B5EF4-FFF2-40B4-BE49-F238E27FC236}">
                    <a16:creationId xmlns:a16="http://schemas.microsoft.com/office/drawing/2014/main" id="{B4E466B4-2D64-906C-3F4D-F628DFD4F0C1}"/>
                  </a:ext>
                </a:extLst>
              </p:cNvPr>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pSp>
        <p:sp>
          <p:nvSpPr>
            <p:cNvPr id="29711" name="Text Box 29">
              <a:extLst>
                <a:ext uri="{FF2B5EF4-FFF2-40B4-BE49-F238E27FC236}">
                  <a16:creationId xmlns:a16="http://schemas.microsoft.com/office/drawing/2014/main" id="{400EF3C5-E15A-966F-BDC1-6EB3686938BA}"/>
                </a:ext>
              </a:extLst>
            </p:cNvPr>
            <p:cNvSpPr txBox="1">
              <a:spLocks noChangeArrowheads="1"/>
            </p:cNvSpPr>
            <p:nvPr/>
          </p:nvSpPr>
          <p:spPr bwMode="gray">
            <a:xfrm>
              <a:off x="357158" y="3286124"/>
              <a:ext cx="542027" cy="519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a:r>
                <a:rPr kumimoji="0" lang="zh-CN" altLang="en-US" sz="2800">
                  <a:solidFill>
                    <a:srgbClr val="0000CC"/>
                  </a:solidFill>
                  <a:latin typeface="Arial" panose="020B0604020202020204" pitchFamily="34" charset="0"/>
                  <a:ea typeface="宋体" panose="02010600030101010101" pitchFamily="2" charset="-122"/>
                </a:rPr>
                <a:t>例</a:t>
              </a:r>
            </a:p>
          </p:txBody>
        </p:sp>
      </p:grpSp>
      <p:sp>
        <p:nvSpPr>
          <p:cNvPr id="32779" name="矩形 27">
            <a:extLst>
              <a:ext uri="{FF2B5EF4-FFF2-40B4-BE49-F238E27FC236}">
                <a16:creationId xmlns:a16="http://schemas.microsoft.com/office/drawing/2014/main" id="{DB4AA0A6-DA53-9937-3F91-7ACF0801339B}"/>
              </a:ext>
            </a:extLst>
          </p:cNvPr>
          <p:cNvSpPr>
            <a:spLocks noChangeArrowheads="1"/>
          </p:cNvSpPr>
          <p:nvPr/>
        </p:nvSpPr>
        <p:spPr bwMode="auto">
          <a:xfrm>
            <a:off x="3857625" y="3243263"/>
            <a:ext cx="45005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zh-CN" altLang="en-US" sz="2000">
                <a:solidFill>
                  <a:schemeClr val="tx1"/>
                </a:solidFill>
                <a:latin typeface="Arial" panose="020B0604020202020204" pitchFamily="34" charset="0"/>
                <a:ea typeface="微软雅黑" panose="020B0503020204020204" pitchFamily="34" charset="-122"/>
                <a:cs typeface="Arial" panose="020B0604020202020204" pitchFamily="34" charset="0"/>
              </a:rPr>
              <a:t>码组中唯一一个</a:t>
            </a:r>
            <a:r>
              <a:rPr lang="en-US" altLang="zh-CN" sz="2000">
                <a:solidFill>
                  <a:schemeClr val="tx1"/>
                </a:solidFill>
                <a:latin typeface="Arial" panose="020B0604020202020204" pitchFamily="34" charset="0"/>
                <a:ea typeface="微软雅黑" panose="020B0503020204020204" pitchFamily="34" charset="-122"/>
                <a:cs typeface="Arial" panose="020B0604020202020204" pitchFamily="34" charset="0"/>
              </a:rPr>
              <a:t>4</a:t>
            </a:r>
            <a:r>
              <a:rPr lang="zh-CN" altLang="en-US" sz="2000">
                <a:solidFill>
                  <a:schemeClr val="tx1"/>
                </a:solidFill>
                <a:latin typeface="Arial" panose="020B0604020202020204" pitchFamily="34" charset="0"/>
                <a:ea typeface="微软雅黑" panose="020B0503020204020204" pitchFamily="34" charset="-122"/>
                <a:cs typeface="Arial" panose="020B0604020202020204" pitchFamily="34" charset="0"/>
              </a:rPr>
              <a:t>次码多项式代表的</a:t>
            </a:r>
            <a:endParaRPr lang="zh-CN" altLang="en-US" sz="2000">
              <a:ea typeface="微软雅黑" panose="020B0503020204020204" pitchFamily="34" charset="-122"/>
              <a:cs typeface="Arial" panose="020B0604020202020204" pitchFamily="34" charset="0"/>
            </a:endParaRPr>
          </a:p>
        </p:txBody>
      </p:sp>
      <p:sp>
        <p:nvSpPr>
          <p:cNvPr id="32780" name="矩形 28">
            <a:extLst>
              <a:ext uri="{FF2B5EF4-FFF2-40B4-BE49-F238E27FC236}">
                <a16:creationId xmlns:a16="http://schemas.microsoft.com/office/drawing/2014/main" id="{B65713BC-A593-E3DC-D54C-EC68D72C733A}"/>
              </a:ext>
            </a:extLst>
          </p:cNvPr>
          <p:cNvSpPr>
            <a:spLocks noChangeArrowheads="1"/>
          </p:cNvSpPr>
          <p:nvPr/>
        </p:nvSpPr>
        <p:spPr bwMode="auto">
          <a:xfrm>
            <a:off x="5572125" y="5000625"/>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zh-CN" altLang="en-US" sz="2000">
                <a:solidFill>
                  <a:srgbClr val="000000"/>
                </a:solidFill>
                <a:latin typeface="Arial" panose="020B0604020202020204" pitchFamily="34" charset="0"/>
                <a:ea typeface="微软雅黑" panose="020B0503020204020204" pitchFamily="34" charset="-122"/>
                <a:cs typeface="Arial" panose="020B0604020202020204" pitchFamily="34" charset="0"/>
              </a:rPr>
              <a:t>或</a:t>
            </a:r>
            <a:endParaRPr lang="zh-CN" altLang="en-US">
              <a:ea typeface="微软雅黑" panose="020B0503020204020204" pitchFamily="34" charset="-122"/>
              <a:cs typeface="Arial" panose="020B0604020202020204" pitchFamily="34" charset="0"/>
            </a:endParaRPr>
          </a:p>
        </p:txBody>
      </p:sp>
      <p:sp>
        <p:nvSpPr>
          <p:cNvPr id="30732" name="矩形 29">
            <a:extLst>
              <a:ext uri="{FF2B5EF4-FFF2-40B4-BE49-F238E27FC236}">
                <a16:creationId xmlns:a16="http://schemas.microsoft.com/office/drawing/2014/main" id="{E93D7829-E619-D912-1CA2-C89FFC9B8D7A}"/>
              </a:ext>
            </a:extLst>
          </p:cNvPr>
          <p:cNvSpPr>
            <a:spLocks noChangeArrowheads="1"/>
          </p:cNvSpPr>
          <p:nvPr/>
        </p:nvSpPr>
        <p:spPr bwMode="auto">
          <a:xfrm>
            <a:off x="1214438" y="6059488"/>
            <a:ext cx="457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zh-CN" altLang="en-US" sz="2000">
                <a:solidFill>
                  <a:schemeClr val="tx1"/>
                </a:solidFill>
                <a:latin typeface="微软雅黑" panose="020B0503020204020204" pitchFamily="34" charset="-122"/>
                <a:ea typeface="微软雅黑" panose="020B0503020204020204" pitchFamily="34" charset="-122"/>
              </a:rPr>
              <a:t>据此，可以写出此循环码多项式</a:t>
            </a:r>
            <a:r>
              <a:rPr lang="en-US" altLang="zh-CN" sz="2000">
                <a:solidFill>
                  <a:schemeClr val="tx1"/>
                </a:solidFill>
                <a:latin typeface="微软雅黑" panose="020B0503020204020204" pitchFamily="34" charset="-122"/>
                <a:ea typeface="微软雅黑" panose="020B0503020204020204" pitchFamily="34" charset="-122"/>
              </a:rPr>
              <a:t>A(x):</a:t>
            </a:r>
            <a:endParaRPr lang="zh-CN" altLang="en-US" sz="2000">
              <a:solidFill>
                <a:schemeClr val="tx1"/>
              </a:solidFill>
              <a:latin typeface="微软雅黑" panose="020B0503020204020204" pitchFamily="34" charset="-122"/>
              <a:ea typeface="微软雅黑" panose="020B0503020204020204" pitchFamily="34" charset="-122"/>
            </a:endParaRPr>
          </a:p>
        </p:txBody>
      </p:sp>
      <p:pic>
        <p:nvPicPr>
          <p:cNvPr id="32790" name="Picture 22">
            <a:extLst>
              <a:ext uri="{FF2B5EF4-FFF2-40B4-BE49-F238E27FC236}">
                <a16:creationId xmlns:a16="http://schemas.microsoft.com/office/drawing/2014/main" id="{775904A1-5585-E93A-155E-0C47088EE22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14438" y="3786188"/>
            <a:ext cx="62865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32789"/>
                                        </p:tgtEl>
                                        <p:attrNameLst>
                                          <p:attrName>style.visibility</p:attrName>
                                        </p:attrNameLst>
                                      </p:cBhvr>
                                      <p:to>
                                        <p:strVal val="visible"/>
                                      </p:to>
                                    </p:set>
                                    <p:animEffect transition="in" filter="wipe(up)">
                                      <p:cBhvr>
                                        <p:cTn id="11" dur="2000"/>
                                        <p:tgtEl>
                                          <p:spTgt spid="3278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left)">
                                      <p:cBhvr>
                                        <p:cTn id="16" dur="2000"/>
                                        <p:tgtEl>
                                          <p:spTgt spid="1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left)">
                                      <p:cBhvr>
                                        <p:cTn id="21" dur="2000"/>
                                        <p:tgtEl>
                                          <p:spTgt spid="1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32779"/>
                                        </p:tgtEl>
                                        <p:attrNameLst>
                                          <p:attrName>style.visibility</p:attrName>
                                        </p:attrNameLst>
                                      </p:cBhvr>
                                      <p:to>
                                        <p:strVal val="visible"/>
                                      </p:to>
                                    </p:set>
                                    <p:animEffect transition="in" filter="wipe(up)">
                                      <p:cBhvr>
                                        <p:cTn id="26" dur="1000"/>
                                        <p:tgtEl>
                                          <p:spTgt spid="32779"/>
                                        </p:tgtEl>
                                      </p:cBhvr>
                                    </p:animEffect>
                                  </p:childTnLst>
                                </p:cTn>
                              </p:par>
                            </p:childTnLst>
                          </p:cTn>
                        </p:par>
                        <p:par>
                          <p:cTn id="27" fill="hold" nodeType="afterGroup">
                            <p:stCondLst>
                              <p:cond delay="1000"/>
                            </p:stCondLst>
                            <p:childTnLst>
                              <p:par>
                                <p:cTn id="28" presetID="22" presetClass="entr" presetSubtype="8" fill="hold" nodeType="after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left)">
                                      <p:cBhvr>
                                        <p:cTn id="30" dur="2000"/>
                                        <p:tgtEl>
                                          <p:spTgt spid="21"/>
                                        </p:tgtEl>
                                      </p:cBhvr>
                                    </p:animEffect>
                                  </p:childTnLst>
                                </p:cTn>
                              </p:par>
                            </p:childTnLst>
                          </p:cTn>
                        </p:par>
                        <p:par>
                          <p:cTn id="31" fill="hold" nodeType="afterGroup">
                            <p:stCondLst>
                              <p:cond delay="3000"/>
                            </p:stCondLst>
                            <p:childTnLst>
                              <p:par>
                                <p:cTn id="32" presetID="22" presetClass="entr" presetSubtype="1" fill="hold" nodeType="afterEffect">
                                  <p:stCondLst>
                                    <p:cond delay="0"/>
                                  </p:stCondLst>
                                  <p:childTnLst>
                                    <p:set>
                                      <p:cBhvr>
                                        <p:cTn id="33" dur="1" fill="hold">
                                          <p:stCondLst>
                                            <p:cond delay="0"/>
                                          </p:stCondLst>
                                        </p:cTn>
                                        <p:tgtEl>
                                          <p:spTgt spid="32790"/>
                                        </p:tgtEl>
                                        <p:attrNameLst>
                                          <p:attrName>style.visibility</p:attrName>
                                        </p:attrNameLst>
                                      </p:cBhvr>
                                      <p:to>
                                        <p:strVal val="visible"/>
                                      </p:to>
                                    </p:set>
                                    <p:animEffect transition="in" filter="wipe(up)">
                                      <p:cBhvr>
                                        <p:cTn id="34" dur="1000"/>
                                        <p:tgtEl>
                                          <p:spTgt spid="3279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81923"/>
                                        </p:tgtEl>
                                        <p:attrNameLst>
                                          <p:attrName>style.visibility</p:attrName>
                                        </p:attrNameLst>
                                      </p:cBhvr>
                                      <p:to>
                                        <p:strVal val="visible"/>
                                      </p:to>
                                    </p:set>
                                    <p:animEffect transition="in" filter="wipe(left)">
                                      <p:cBhvr>
                                        <p:cTn id="39" dur="2000"/>
                                        <p:tgtEl>
                                          <p:spTgt spid="81923"/>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32780"/>
                                        </p:tgtEl>
                                        <p:attrNameLst>
                                          <p:attrName>style.visibility</p:attrName>
                                        </p:attrNameLst>
                                      </p:cBhvr>
                                      <p:to>
                                        <p:strVal val="visible"/>
                                      </p:to>
                                    </p:set>
                                    <p:animEffect transition="in" filter="wipe(left)">
                                      <p:cBhvr>
                                        <p:cTn id="44" dur="1000"/>
                                        <p:tgtEl>
                                          <p:spTgt spid="32780"/>
                                        </p:tgtEl>
                                      </p:cBhvr>
                                    </p:animEffect>
                                  </p:childTnLst>
                                </p:cTn>
                              </p:par>
                            </p:childTnLst>
                          </p:cTn>
                        </p:par>
                        <p:par>
                          <p:cTn id="45" fill="hold" nodeType="afterGroup">
                            <p:stCondLst>
                              <p:cond delay="1000"/>
                            </p:stCondLst>
                            <p:childTnLst>
                              <p:par>
                                <p:cTn id="46" presetID="22" presetClass="entr" presetSubtype="8" fill="hold" nodeType="after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wipe(left)">
                                      <p:cBhvr>
                                        <p:cTn id="48" dur="2000"/>
                                        <p:tgtEl>
                                          <p:spTgt spid="1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1" fill="hold" nodeType="clickEffect">
                                  <p:stCondLst>
                                    <p:cond delay="0"/>
                                  </p:stCondLst>
                                  <p:childTnLst>
                                    <p:set>
                                      <p:cBhvr>
                                        <p:cTn id="52" dur="1" fill="hold">
                                          <p:stCondLst>
                                            <p:cond delay="0"/>
                                          </p:stCondLst>
                                        </p:cTn>
                                        <p:tgtEl>
                                          <p:spTgt spid="30732"/>
                                        </p:tgtEl>
                                        <p:attrNameLst>
                                          <p:attrName>style.visibility</p:attrName>
                                        </p:attrNameLst>
                                      </p:cBhvr>
                                      <p:to>
                                        <p:strVal val="visible"/>
                                      </p:to>
                                    </p:set>
                                    <p:animEffect transition="in" filter="wipe(up)">
                                      <p:cBhvr>
                                        <p:cTn id="53" dur="1000"/>
                                        <p:tgtEl>
                                          <p:spTgt spid="30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P spid="32779" grpId="0"/>
      <p:bldP spid="32780" grpId="0"/>
      <p:bldP spid="30732"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8068" name="Object 4">
            <a:extLst>
              <a:ext uri="{FF2B5EF4-FFF2-40B4-BE49-F238E27FC236}">
                <a16:creationId xmlns:a16="http://schemas.microsoft.com/office/drawing/2014/main" id="{6F2E64AC-E788-9A85-03D3-E27D97FAA52D}"/>
              </a:ext>
            </a:extLst>
          </p:cNvPr>
          <p:cNvGraphicFramePr>
            <a:graphicFrameLocks noChangeAspect="1"/>
          </p:cNvGraphicFramePr>
          <p:nvPr/>
        </p:nvGraphicFramePr>
        <p:xfrm>
          <a:off x="1938338" y="1165225"/>
          <a:ext cx="4919662" cy="2478088"/>
        </p:xfrm>
        <a:graphic>
          <a:graphicData uri="http://schemas.openxmlformats.org/presentationml/2006/ole">
            <mc:AlternateContent xmlns:mc="http://schemas.openxmlformats.org/markup-compatibility/2006">
              <mc:Choice xmlns:v="urn:schemas-microsoft-com:vml" Requires="v">
                <p:oleObj name="公式" r:id="rId2" imgW="2501640" imgH="1244520" progId="Equation.3">
                  <p:embed/>
                </p:oleObj>
              </mc:Choice>
              <mc:Fallback>
                <p:oleObj name="公式" r:id="rId2" imgW="2501640" imgH="124452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8338" y="1165225"/>
                        <a:ext cx="4919662" cy="2478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3800" name="Picture 8">
            <a:extLst>
              <a:ext uri="{FF2B5EF4-FFF2-40B4-BE49-F238E27FC236}">
                <a16:creationId xmlns:a16="http://schemas.microsoft.com/office/drawing/2014/main" id="{B9A9BDED-3D14-4791-EFE8-1DEE7AA840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34502"/>
          <a:stretch>
            <a:fillRect/>
          </a:stretch>
        </p:blipFill>
        <p:spPr bwMode="auto">
          <a:xfrm>
            <a:off x="615950" y="3786188"/>
            <a:ext cx="8027988" cy="149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8">
            <a:extLst>
              <a:ext uri="{FF2B5EF4-FFF2-40B4-BE49-F238E27FC236}">
                <a16:creationId xmlns:a16="http://schemas.microsoft.com/office/drawing/2014/main" id="{8A7B2FA3-F143-2D3A-D0AD-2A69A61102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72137" b="5910"/>
          <a:stretch>
            <a:fillRect/>
          </a:stretch>
        </p:blipFill>
        <p:spPr bwMode="auto">
          <a:xfrm>
            <a:off x="615950" y="5500688"/>
            <a:ext cx="8027988"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88068"/>
                                        </p:tgtEl>
                                        <p:attrNameLst>
                                          <p:attrName>style.visibility</p:attrName>
                                        </p:attrNameLst>
                                      </p:cBhvr>
                                      <p:to>
                                        <p:strVal val="visible"/>
                                      </p:to>
                                    </p:set>
                                    <p:animEffect transition="in" filter="wipe(up)">
                                      <p:cBhvr>
                                        <p:cTn id="7" dur="2000"/>
                                        <p:tgtEl>
                                          <p:spTgt spid="880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3800"/>
                                        </p:tgtEl>
                                        <p:attrNameLst>
                                          <p:attrName>style.visibility</p:attrName>
                                        </p:attrNameLst>
                                      </p:cBhvr>
                                      <p:to>
                                        <p:strVal val="visible"/>
                                      </p:to>
                                    </p:set>
                                    <p:animEffect transition="in" filter="wipe(up)">
                                      <p:cBhvr>
                                        <p:cTn id="12" dur="1000"/>
                                        <p:tgtEl>
                                          <p:spTgt spid="3380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C8A82C2-25B7-26F1-C1FD-C5B1EB05A5D0}"/>
              </a:ext>
            </a:extLst>
          </p:cNvPr>
          <p:cNvSpPr txBox="1">
            <a:spLocks noChangeArrowheads="1"/>
          </p:cNvSpPr>
          <p:nvPr/>
        </p:nvSpPr>
        <p:spPr bwMode="auto">
          <a:xfrm>
            <a:off x="857250" y="1214438"/>
            <a:ext cx="7643813" cy="490537"/>
          </a:xfrm>
          <a:prstGeom prst="rect">
            <a:avLst/>
          </a:prstGeom>
          <a:noFill/>
          <a:ln w="9525">
            <a:noFill/>
            <a:miter lim="800000"/>
            <a:headEnd/>
            <a:tailEnd/>
          </a:ln>
        </p:spPr>
        <p:txBody>
          <a:bodyPr/>
          <a:lstStyle/>
          <a:p>
            <a:pPr marL="228600" indent="-228600">
              <a:lnSpc>
                <a:spcPct val="120000"/>
              </a:lnSpc>
              <a:spcBef>
                <a:spcPct val="20000"/>
              </a:spcBef>
              <a:buClr>
                <a:schemeClr val="accent2"/>
              </a:buClr>
              <a:buSzPct val="55000"/>
              <a:defRPr/>
            </a:pPr>
            <a:r>
              <a:rPr lang="en-US" sz="240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a:t>
            </a: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任一循环码多项式 </a:t>
            </a:r>
            <a:r>
              <a:rPr lang="en-US" altLang="zh-CN" sz="2400" i="1" dirty="0">
                <a:solidFill>
                  <a:schemeClr val="tx1"/>
                </a:solidFill>
                <a:latin typeface="Arial" pitchFamily="34" charset="0"/>
                <a:ea typeface="微软雅黑" pitchFamily="34" charset="-122"/>
                <a:cs typeface="Arial" pitchFamily="34" charset="0"/>
              </a:rPr>
              <a:t>A</a:t>
            </a:r>
            <a:r>
              <a:rPr lang="en-US" altLang="zh-CN" sz="2400" dirty="0">
                <a:solidFill>
                  <a:schemeClr val="tx1"/>
                </a:solidFill>
                <a:latin typeface="Arial" pitchFamily="34" charset="0"/>
                <a:ea typeface="微软雅黑" pitchFamily="34" charset="-122"/>
                <a:cs typeface="Arial" pitchFamily="34" charset="0"/>
              </a:rPr>
              <a:t>(</a:t>
            </a:r>
            <a:r>
              <a:rPr lang="en-US" altLang="zh-CN" sz="2400" i="1" dirty="0">
                <a:solidFill>
                  <a:schemeClr val="tx1"/>
                </a:solidFill>
                <a:latin typeface="Arial" pitchFamily="34" charset="0"/>
                <a:ea typeface="微软雅黑" pitchFamily="34" charset="-122"/>
                <a:cs typeface="Arial" pitchFamily="34" charset="0"/>
              </a:rPr>
              <a:t>x</a:t>
            </a:r>
            <a:r>
              <a:rPr lang="en-US" altLang="zh-CN" sz="2400" dirty="0">
                <a:solidFill>
                  <a:schemeClr val="tx1"/>
                </a:solidFill>
                <a:latin typeface="Arial" pitchFamily="34" charset="0"/>
                <a:ea typeface="微软雅黑" pitchFamily="34" charset="-122"/>
                <a:cs typeface="Arial" pitchFamily="34" charset="0"/>
              </a:rPr>
              <a:t>)</a:t>
            </a:r>
            <a:r>
              <a:rPr lang="zh-CN" altLang="en-US" sz="2400" dirty="0">
                <a:solidFill>
                  <a:schemeClr val="tx1"/>
                </a:solidFill>
                <a:latin typeface="Arial" pitchFamily="34" charset="0"/>
                <a:ea typeface="微软雅黑" pitchFamily="34" charset="-122"/>
                <a:cs typeface="Arial" pitchFamily="34" charset="0"/>
              </a:rPr>
              <a:t> </a:t>
            </a: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都是 </a:t>
            </a:r>
            <a:r>
              <a:rPr lang="en-US" altLang="zh-CN" sz="2400" i="1" dirty="0">
                <a:solidFill>
                  <a:schemeClr val="tx1"/>
                </a:solidFill>
                <a:latin typeface="Arial" pitchFamily="34" charset="0"/>
                <a:ea typeface="微软雅黑" pitchFamily="34" charset="-122"/>
                <a:cs typeface="Arial" pitchFamily="34" charset="0"/>
              </a:rPr>
              <a:t>g</a:t>
            </a:r>
            <a:r>
              <a:rPr lang="en-US" altLang="zh-CN" sz="2400" dirty="0">
                <a:solidFill>
                  <a:schemeClr val="tx1"/>
                </a:solidFill>
                <a:latin typeface="Arial" pitchFamily="34" charset="0"/>
                <a:ea typeface="微软雅黑" pitchFamily="34" charset="-122"/>
                <a:cs typeface="Arial" pitchFamily="34" charset="0"/>
              </a:rPr>
              <a:t>(</a:t>
            </a:r>
            <a:r>
              <a:rPr lang="en-US" altLang="zh-CN" sz="2400" i="1" dirty="0">
                <a:solidFill>
                  <a:schemeClr val="tx1"/>
                </a:solidFill>
                <a:latin typeface="Arial" pitchFamily="34" charset="0"/>
                <a:ea typeface="微软雅黑" pitchFamily="34" charset="-122"/>
                <a:cs typeface="Arial" pitchFamily="34" charset="0"/>
              </a:rPr>
              <a:t>x</a:t>
            </a:r>
            <a:r>
              <a:rPr lang="en-US" altLang="zh-CN" sz="2400" dirty="0">
                <a:solidFill>
                  <a:schemeClr val="tx1"/>
                </a:solidFill>
                <a:latin typeface="Arial" pitchFamily="34" charset="0"/>
                <a:ea typeface="微软雅黑" pitchFamily="34" charset="-122"/>
                <a:cs typeface="Arial" pitchFamily="34" charset="0"/>
              </a:rPr>
              <a:t>) </a:t>
            </a: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的倍式，</a:t>
            </a:r>
            <a:r>
              <a:rPr lang="en-US" sz="240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a:t>
            </a: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可以写成</a:t>
            </a:r>
            <a:r>
              <a:rPr kumimoji="0" lang="zh-CN" altLang="en-US" sz="2000" b="0" i="1"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r>
              <a:rPr kumimoji="0" lang="en-US" altLang="zh-CN"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p>
          <a:p>
            <a:pPr marL="228600" indent="-228600">
              <a:lnSpc>
                <a:spcPct val="120000"/>
              </a:lnSpc>
              <a:spcBef>
                <a:spcPct val="20000"/>
              </a:spcBef>
              <a:buClr>
                <a:schemeClr val="accent2"/>
              </a:buClr>
              <a:buSzPct val="55000"/>
              <a:defRPr/>
            </a:pPr>
            <a:r>
              <a:rPr kumimoji="0" lang="en-US" altLang="zh-CN"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endPar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a:p>
            <a:pPr marL="685800" lvl="1" indent="-228600">
              <a:lnSpc>
                <a:spcPct val="120000"/>
              </a:lnSpc>
              <a:spcBef>
                <a:spcPct val="20000"/>
              </a:spcBef>
              <a:buClr>
                <a:schemeClr val="accent2"/>
              </a:buClr>
              <a:buSzPct val="55000"/>
              <a:defRPr/>
            </a:pPr>
            <a:endPar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a:p>
            <a:pPr marL="228600" indent="-228600">
              <a:lnSpc>
                <a:spcPct val="120000"/>
              </a:lnSpc>
              <a:spcBef>
                <a:spcPct val="20000"/>
              </a:spcBef>
              <a:buClr>
                <a:schemeClr val="accent2"/>
              </a:buClr>
              <a:buSzPct val="55000"/>
              <a:defRPr/>
            </a:pP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p>
        </p:txBody>
      </p:sp>
      <p:graphicFrame>
        <p:nvGraphicFramePr>
          <p:cNvPr id="89092" name="Object 4">
            <a:extLst>
              <a:ext uri="{FF2B5EF4-FFF2-40B4-BE49-F238E27FC236}">
                <a16:creationId xmlns:a16="http://schemas.microsoft.com/office/drawing/2014/main" id="{7F551840-DF83-0C65-0EAE-BD6A4AE5022E}"/>
              </a:ext>
            </a:extLst>
          </p:cNvPr>
          <p:cNvGraphicFramePr>
            <a:graphicFrameLocks noChangeAspect="1"/>
          </p:cNvGraphicFramePr>
          <p:nvPr/>
        </p:nvGraphicFramePr>
        <p:xfrm>
          <a:off x="2643188" y="4214813"/>
          <a:ext cx="4130675" cy="500062"/>
        </p:xfrm>
        <a:graphic>
          <a:graphicData uri="http://schemas.openxmlformats.org/presentationml/2006/ole">
            <mc:AlternateContent xmlns:mc="http://schemas.openxmlformats.org/markup-compatibility/2006">
              <mc:Choice xmlns:v="urn:schemas-microsoft-com:vml" Requires="v">
                <p:oleObj name="公式" r:id="rId2" imgW="1892160" imgH="228600" progId="Equation.3">
                  <p:embed/>
                </p:oleObj>
              </mc:Choice>
              <mc:Fallback>
                <p:oleObj name="公式" r:id="rId2" imgW="1892160" imgH="2286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3188" y="4214813"/>
                        <a:ext cx="4130675" cy="500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9094" name="Object 6">
            <a:extLst>
              <a:ext uri="{FF2B5EF4-FFF2-40B4-BE49-F238E27FC236}">
                <a16:creationId xmlns:a16="http://schemas.microsoft.com/office/drawing/2014/main" id="{776051F2-268C-314D-BF65-268A9920BF84}"/>
              </a:ext>
            </a:extLst>
          </p:cNvPr>
          <p:cNvGraphicFramePr>
            <a:graphicFrameLocks noChangeAspect="1"/>
          </p:cNvGraphicFramePr>
          <p:nvPr/>
        </p:nvGraphicFramePr>
        <p:xfrm>
          <a:off x="2917825" y="5500688"/>
          <a:ext cx="3046413" cy="857250"/>
        </p:xfrm>
        <a:graphic>
          <a:graphicData uri="http://schemas.openxmlformats.org/presentationml/2006/ole">
            <mc:AlternateContent xmlns:mc="http://schemas.openxmlformats.org/markup-compatibility/2006">
              <mc:Choice xmlns:v="urn:schemas-microsoft-com:vml" Requires="v">
                <p:oleObj name="公式" r:id="rId4" imgW="1485720" imgH="419040" progId="Equation.3">
                  <p:embed/>
                </p:oleObj>
              </mc:Choice>
              <mc:Fallback>
                <p:oleObj name="公式" r:id="rId4" imgW="1485720" imgH="41904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7825" y="5500688"/>
                        <a:ext cx="3046413" cy="857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矩形 10">
            <a:extLst>
              <a:ext uri="{FF2B5EF4-FFF2-40B4-BE49-F238E27FC236}">
                <a16:creationId xmlns:a16="http://schemas.microsoft.com/office/drawing/2014/main" id="{BC878822-1E02-3999-F5EA-C1AA1909295C}"/>
              </a:ext>
            </a:extLst>
          </p:cNvPr>
          <p:cNvSpPr/>
          <p:nvPr/>
        </p:nvSpPr>
        <p:spPr>
          <a:xfrm>
            <a:off x="882650" y="2373313"/>
            <a:ext cx="5903913" cy="461962"/>
          </a:xfrm>
          <a:prstGeom prst="rect">
            <a:avLst/>
          </a:prstGeom>
        </p:spPr>
        <p:txBody>
          <a:bodyPr>
            <a:spAutoFit/>
          </a:bodyPr>
          <a:lstStyle/>
          <a:p>
            <a:pPr>
              <a:defRPr/>
            </a:pP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而生成多项式 </a:t>
            </a:r>
            <a:r>
              <a:rPr kumimoji="0" lang="en-US" altLang="zh-CN" sz="2400" kern="0" dirty="0">
                <a:solidFill>
                  <a:srgbClr val="000000"/>
                </a:solidFill>
                <a:latin typeface="Arial" pitchFamily="34" charset="0"/>
                <a:ea typeface="微软雅黑" pitchFamily="34" charset="-122"/>
                <a:cs typeface="Arial" pitchFamily="34" charset="0"/>
              </a:rPr>
              <a:t>g(x) </a:t>
            </a: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本身也是一个码组，即有</a:t>
            </a:r>
            <a:endParaRPr lang="zh-CN" altLang="en-US" b="0" dirty="0">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p:txBody>
      </p:sp>
      <p:sp>
        <p:nvSpPr>
          <p:cNvPr id="34823" name="矩形 11">
            <a:extLst>
              <a:ext uri="{FF2B5EF4-FFF2-40B4-BE49-F238E27FC236}">
                <a16:creationId xmlns:a16="http://schemas.microsoft.com/office/drawing/2014/main" id="{4800CB29-E503-F00D-5067-2062E7E10F97}"/>
              </a:ext>
            </a:extLst>
          </p:cNvPr>
          <p:cNvSpPr>
            <a:spLocks noChangeArrowheads="1"/>
          </p:cNvSpPr>
          <p:nvPr/>
        </p:nvSpPr>
        <p:spPr bwMode="auto">
          <a:xfrm>
            <a:off x="3500438" y="2928938"/>
            <a:ext cx="15779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kumimoji="0" lang="en-US" altLang="zh-CN" sz="2000" i="1">
                <a:solidFill>
                  <a:srgbClr val="000000"/>
                </a:solidFill>
                <a:latin typeface="Arial" panose="020B0604020202020204" pitchFamily="34" charset="0"/>
                <a:ea typeface="宋体" panose="02010600030101010101" pitchFamily="2" charset="-122"/>
                <a:cs typeface="Arial" panose="020B0604020202020204" pitchFamily="34" charset="0"/>
              </a:rPr>
              <a:t>A</a:t>
            </a:r>
            <a:r>
              <a:rPr kumimoji="0"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 </a:t>
            </a:r>
            <a:r>
              <a:rPr kumimoji="0"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sym typeface="Symbol" panose="05050102010706020507" pitchFamily="18" charset="2"/>
              </a:rPr>
              <a:t></a:t>
            </a:r>
            <a:r>
              <a:rPr kumimoji="0"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a:t>
            </a:r>
            <a:r>
              <a:rPr kumimoji="0" lang="en-US" altLang="zh-CN" sz="2000" i="1">
                <a:solidFill>
                  <a:srgbClr val="000000"/>
                </a:solidFill>
                <a:latin typeface="Arial" panose="020B0604020202020204" pitchFamily="34" charset="0"/>
                <a:ea typeface="宋体" panose="02010600030101010101" pitchFamily="2" charset="-122"/>
                <a:cs typeface="Arial" panose="020B0604020202020204" pitchFamily="34" charset="0"/>
              </a:rPr>
              <a:t>x</a:t>
            </a:r>
            <a:r>
              <a:rPr kumimoji="0"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 = </a:t>
            </a:r>
            <a:r>
              <a:rPr kumimoji="0" lang="en-US" altLang="zh-CN" sz="2000" i="1">
                <a:solidFill>
                  <a:srgbClr val="000000"/>
                </a:solidFill>
                <a:latin typeface="Arial" panose="020B0604020202020204" pitchFamily="34" charset="0"/>
                <a:ea typeface="宋体" panose="02010600030101010101" pitchFamily="2" charset="-122"/>
                <a:cs typeface="Arial" panose="020B0604020202020204" pitchFamily="34" charset="0"/>
              </a:rPr>
              <a:t>g</a:t>
            </a:r>
            <a:r>
              <a:rPr kumimoji="0"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a:t>
            </a:r>
            <a:r>
              <a:rPr kumimoji="0" lang="en-US" altLang="zh-CN" sz="2000" i="1">
                <a:solidFill>
                  <a:srgbClr val="000000"/>
                </a:solidFill>
                <a:latin typeface="Arial" panose="020B0604020202020204" pitchFamily="34" charset="0"/>
                <a:ea typeface="宋体" panose="02010600030101010101" pitchFamily="2" charset="-122"/>
                <a:cs typeface="Arial" panose="020B0604020202020204" pitchFamily="34" charset="0"/>
              </a:rPr>
              <a:t>x</a:t>
            </a:r>
            <a:r>
              <a:rPr kumimoji="0"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a:t>
            </a:r>
            <a:endParaRPr lang="zh-CN" altLang="en-US">
              <a:latin typeface="Arial" panose="020B0604020202020204" pitchFamily="34" charset="0"/>
              <a:ea typeface="宋体" panose="02010600030101010101" pitchFamily="2" charset="-122"/>
              <a:cs typeface="Arial" panose="020B0604020202020204" pitchFamily="34" charset="0"/>
            </a:endParaRPr>
          </a:p>
        </p:txBody>
      </p:sp>
      <p:sp>
        <p:nvSpPr>
          <p:cNvPr id="13" name="矩形 12">
            <a:extLst>
              <a:ext uri="{FF2B5EF4-FFF2-40B4-BE49-F238E27FC236}">
                <a16:creationId xmlns:a16="http://schemas.microsoft.com/office/drawing/2014/main" id="{9DC40E36-5E3B-D087-96B8-232161D08FCB}"/>
              </a:ext>
            </a:extLst>
          </p:cNvPr>
          <p:cNvSpPr/>
          <p:nvPr/>
        </p:nvSpPr>
        <p:spPr>
          <a:xfrm>
            <a:off x="3214688" y="1857375"/>
            <a:ext cx="2443162" cy="400050"/>
          </a:xfrm>
          <a:prstGeom prst="rect">
            <a:avLst/>
          </a:prstGeom>
        </p:spPr>
        <p:txBody>
          <a:bodyPr>
            <a:spAutoFit/>
          </a:bodyPr>
          <a:lstStyle/>
          <a:p>
            <a:pPr>
              <a:defRPr/>
            </a:pPr>
            <a:r>
              <a:rPr lang="en-US" altLang="zh-CN" sz="2000" i="1" dirty="0">
                <a:solidFill>
                  <a:srgbClr val="000000"/>
                </a:solidFill>
                <a:latin typeface="Arial" pitchFamily="34" charset="0"/>
                <a:ea typeface="微软雅黑" pitchFamily="34" charset="-122"/>
                <a:cs typeface="Arial" pitchFamily="34" charset="0"/>
              </a:rPr>
              <a:t>A</a:t>
            </a:r>
            <a:r>
              <a:rPr lang="en-US" altLang="zh-CN" sz="2000" dirty="0">
                <a:solidFill>
                  <a:srgbClr val="000000"/>
                </a:solidFill>
                <a:latin typeface="Arial" pitchFamily="34" charset="0"/>
                <a:ea typeface="微软雅黑" pitchFamily="34" charset="-122"/>
                <a:cs typeface="Arial" pitchFamily="34" charset="0"/>
              </a:rPr>
              <a:t>(</a:t>
            </a:r>
            <a:r>
              <a:rPr lang="en-US" altLang="zh-CN" sz="2000" i="1" dirty="0">
                <a:solidFill>
                  <a:srgbClr val="000000"/>
                </a:solidFill>
                <a:latin typeface="Arial" pitchFamily="34" charset="0"/>
                <a:ea typeface="微软雅黑" pitchFamily="34" charset="-122"/>
                <a:cs typeface="Arial" pitchFamily="34" charset="0"/>
              </a:rPr>
              <a:t>x</a:t>
            </a:r>
            <a:r>
              <a:rPr lang="en-US" altLang="zh-CN" sz="2000" dirty="0">
                <a:solidFill>
                  <a:srgbClr val="000000"/>
                </a:solidFill>
                <a:latin typeface="Arial" pitchFamily="34" charset="0"/>
                <a:ea typeface="微软雅黑" pitchFamily="34" charset="-122"/>
                <a:cs typeface="Arial" pitchFamily="34" charset="0"/>
              </a:rPr>
              <a:t>)</a:t>
            </a:r>
            <a:r>
              <a:rPr lang="zh-CN" altLang="en-US" sz="2000" dirty="0">
                <a:solidFill>
                  <a:srgbClr val="000000"/>
                </a:solidFill>
                <a:latin typeface="Arial" pitchFamily="34" charset="0"/>
                <a:ea typeface="微软雅黑" pitchFamily="34" charset="-122"/>
                <a:cs typeface="Arial" pitchFamily="34" charset="0"/>
              </a:rPr>
              <a:t> </a:t>
            </a:r>
            <a:r>
              <a:rPr kumimoji="0" lang="en-US" altLang="zh-CN" sz="2000" kern="0" dirty="0">
                <a:solidFill>
                  <a:srgbClr val="000000"/>
                </a:solidFill>
                <a:latin typeface="Arial" pitchFamily="34" charset="0"/>
                <a:ea typeface="宋体"/>
                <a:cs typeface="Arial" pitchFamily="34" charset="0"/>
              </a:rPr>
              <a:t>= </a:t>
            </a:r>
            <a:r>
              <a:rPr kumimoji="0" lang="en-US" altLang="zh-CN" sz="2000" i="1" kern="0" dirty="0">
                <a:solidFill>
                  <a:srgbClr val="000000"/>
                </a:solidFill>
                <a:latin typeface="Arial" pitchFamily="34" charset="0"/>
                <a:ea typeface="宋体"/>
                <a:cs typeface="Arial" pitchFamily="34" charset="0"/>
              </a:rPr>
              <a:t>h</a:t>
            </a:r>
            <a:r>
              <a:rPr kumimoji="0" lang="en-US" altLang="zh-CN" sz="2000" kern="0" dirty="0">
                <a:solidFill>
                  <a:srgbClr val="000000"/>
                </a:solidFill>
                <a:latin typeface="Arial" pitchFamily="34" charset="0"/>
                <a:ea typeface="宋体"/>
                <a:cs typeface="Arial" pitchFamily="34" charset="0"/>
              </a:rPr>
              <a:t>(</a:t>
            </a:r>
            <a:r>
              <a:rPr kumimoji="0" lang="en-US" altLang="zh-CN" sz="2000" i="1" kern="0" dirty="0">
                <a:solidFill>
                  <a:srgbClr val="000000"/>
                </a:solidFill>
                <a:latin typeface="Arial" pitchFamily="34" charset="0"/>
                <a:ea typeface="宋体"/>
                <a:cs typeface="Arial" pitchFamily="34" charset="0"/>
              </a:rPr>
              <a:t>x</a:t>
            </a:r>
            <a:r>
              <a:rPr kumimoji="0" lang="en-US" altLang="zh-CN" sz="2000" kern="0" dirty="0">
                <a:solidFill>
                  <a:srgbClr val="000000"/>
                </a:solidFill>
                <a:latin typeface="Arial" pitchFamily="34" charset="0"/>
                <a:ea typeface="宋体"/>
                <a:cs typeface="Arial" pitchFamily="34" charset="0"/>
              </a:rPr>
              <a:t>)</a:t>
            </a:r>
            <a:r>
              <a:rPr kumimoji="0" lang="en-US" altLang="zh-CN" sz="2000" kern="0" dirty="0">
                <a:solidFill>
                  <a:srgbClr val="000000"/>
                </a:solidFill>
                <a:latin typeface="Arial" pitchFamily="34" charset="0"/>
                <a:ea typeface="宋体"/>
                <a:cs typeface="Arial" pitchFamily="34" charset="0"/>
                <a:sym typeface="Symbol" pitchFamily="18" charset="2"/>
              </a:rPr>
              <a:t></a:t>
            </a:r>
            <a:r>
              <a:rPr kumimoji="0" lang="en-US" altLang="zh-CN" sz="2000" i="1" kern="0" dirty="0">
                <a:solidFill>
                  <a:srgbClr val="000000"/>
                </a:solidFill>
                <a:latin typeface="Arial" pitchFamily="34" charset="0"/>
                <a:ea typeface="宋体"/>
                <a:cs typeface="Arial" pitchFamily="34" charset="0"/>
              </a:rPr>
              <a:t>g</a:t>
            </a:r>
            <a:r>
              <a:rPr kumimoji="0" lang="en-US" altLang="zh-CN" sz="2000" kern="0" dirty="0">
                <a:solidFill>
                  <a:srgbClr val="000000"/>
                </a:solidFill>
                <a:latin typeface="Arial" pitchFamily="34" charset="0"/>
                <a:ea typeface="宋体"/>
                <a:cs typeface="Arial" pitchFamily="34" charset="0"/>
              </a:rPr>
              <a:t>(</a:t>
            </a:r>
            <a:r>
              <a:rPr kumimoji="0" lang="en-US" altLang="zh-CN" sz="2000" i="1" kern="0" dirty="0">
                <a:solidFill>
                  <a:srgbClr val="000000"/>
                </a:solidFill>
                <a:latin typeface="Arial" pitchFamily="34" charset="0"/>
                <a:ea typeface="宋体"/>
                <a:cs typeface="Arial" pitchFamily="34" charset="0"/>
              </a:rPr>
              <a:t>x</a:t>
            </a:r>
            <a:r>
              <a:rPr kumimoji="0" lang="en-US" altLang="zh-CN" sz="2000" kern="0" dirty="0">
                <a:solidFill>
                  <a:srgbClr val="000000"/>
                </a:solidFill>
                <a:latin typeface="Arial" pitchFamily="34" charset="0"/>
                <a:ea typeface="宋体"/>
                <a:cs typeface="Arial" pitchFamily="34" charset="0"/>
              </a:rPr>
              <a:t>)</a:t>
            </a:r>
            <a:endParaRPr lang="zh-CN" altLang="en-US" dirty="0">
              <a:latin typeface="Arial" pitchFamily="34" charset="0"/>
              <a:cs typeface="Arial" pitchFamily="34" charset="0"/>
            </a:endParaRPr>
          </a:p>
        </p:txBody>
      </p:sp>
      <p:sp>
        <p:nvSpPr>
          <p:cNvPr id="14" name="矩形 13">
            <a:extLst>
              <a:ext uri="{FF2B5EF4-FFF2-40B4-BE49-F238E27FC236}">
                <a16:creationId xmlns:a16="http://schemas.microsoft.com/office/drawing/2014/main" id="{668BCE2F-E81E-1D20-4A1D-B75AA275D6F7}"/>
              </a:ext>
            </a:extLst>
          </p:cNvPr>
          <p:cNvSpPr/>
          <p:nvPr/>
        </p:nvSpPr>
        <p:spPr>
          <a:xfrm>
            <a:off x="901700" y="3357563"/>
            <a:ext cx="8027988" cy="461962"/>
          </a:xfrm>
          <a:prstGeom prst="rect">
            <a:avLst/>
          </a:prstGeom>
        </p:spPr>
        <p:txBody>
          <a:bodyPr>
            <a:spAutoFit/>
          </a:bodyPr>
          <a:lstStyle/>
          <a:p>
            <a:pPr>
              <a:defRPr/>
            </a:pPr>
            <a:r>
              <a:rPr lang="en-US" sz="240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a:t>
            </a: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码组 </a:t>
            </a:r>
            <a:r>
              <a:rPr kumimoji="0" lang="en-US" altLang="zh-CN" sz="2400" i="1" kern="0" dirty="0">
                <a:solidFill>
                  <a:srgbClr val="000000"/>
                </a:solidFill>
                <a:latin typeface="Arial" pitchFamily="34" charset="0"/>
                <a:ea typeface="微软雅黑" pitchFamily="34" charset="-122"/>
                <a:cs typeface="Arial" pitchFamily="34" charset="0"/>
              </a:rPr>
              <a:t>A</a:t>
            </a:r>
            <a:r>
              <a:rPr kumimoji="0" lang="en-US" altLang="zh-CN" sz="2400" kern="0" dirty="0">
                <a:solidFill>
                  <a:srgbClr val="000000"/>
                </a:solidFill>
                <a:latin typeface="Arial" pitchFamily="34" charset="0"/>
                <a:ea typeface="微软雅黑" pitchFamily="34" charset="-122"/>
                <a:cs typeface="Arial" pitchFamily="34" charset="0"/>
                <a:sym typeface="Symbol" pitchFamily="18" charset="2"/>
              </a:rPr>
              <a:t></a:t>
            </a:r>
            <a:r>
              <a:rPr kumimoji="0" lang="en-US" altLang="zh-CN" sz="2400" kern="0" dirty="0">
                <a:solidFill>
                  <a:srgbClr val="000000"/>
                </a:solidFill>
                <a:latin typeface="Arial" pitchFamily="34" charset="0"/>
                <a:ea typeface="微软雅黑" pitchFamily="34" charset="-122"/>
                <a:cs typeface="Arial" pitchFamily="34" charset="0"/>
              </a:rPr>
              <a:t>(</a:t>
            </a:r>
            <a:r>
              <a:rPr kumimoji="0" lang="en-US" altLang="zh-CN" sz="2400" i="1" kern="0" dirty="0">
                <a:solidFill>
                  <a:srgbClr val="000000"/>
                </a:solidFill>
                <a:latin typeface="Arial" pitchFamily="34" charset="0"/>
                <a:ea typeface="微软雅黑" pitchFamily="34" charset="-122"/>
                <a:cs typeface="Arial" pitchFamily="34" charset="0"/>
              </a:rPr>
              <a:t>x</a:t>
            </a:r>
            <a:r>
              <a:rPr kumimoji="0" lang="en-US" altLang="zh-CN" sz="2400" kern="0" dirty="0">
                <a:solidFill>
                  <a:srgbClr val="000000"/>
                </a:solidFill>
                <a:latin typeface="Arial" pitchFamily="34" charset="0"/>
                <a:ea typeface="微软雅黑" pitchFamily="34" charset="-122"/>
                <a:cs typeface="Arial" pitchFamily="34" charset="0"/>
              </a:rPr>
              <a:t>)</a:t>
            </a: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是一个 </a:t>
            </a:r>
            <a:r>
              <a:rPr kumimoji="0" lang="en-US" altLang="zh-CN" sz="200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a:t>
            </a:r>
            <a:r>
              <a:rPr kumimoji="0" lang="en-US" altLang="zh-CN" sz="2000" i="1"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n</a:t>
            </a:r>
            <a:r>
              <a:rPr kumimoji="0" lang="en-US" altLang="zh-CN" sz="200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 </a:t>
            </a:r>
            <a:r>
              <a:rPr kumimoji="0" lang="en-US" altLang="zh-CN" sz="2000" i="1"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k</a:t>
            </a:r>
            <a:r>
              <a:rPr kumimoji="0" lang="en-US" altLang="zh-CN" sz="200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a:t>
            </a: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次多项式，故 </a:t>
            </a:r>
            <a:r>
              <a:rPr kumimoji="0" lang="en-US" altLang="zh-CN" sz="2400" i="1" kern="0" dirty="0" err="1">
                <a:solidFill>
                  <a:srgbClr val="000000"/>
                </a:solidFill>
                <a:latin typeface="Arial" pitchFamily="34" charset="0"/>
                <a:ea typeface="微软雅黑" pitchFamily="34" charset="-122"/>
                <a:cs typeface="Arial" pitchFamily="34" charset="0"/>
              </a:rPr>
              <a:t>x</a:t>
            </a:r>
            <a:r>
              <a:rPr kumimoji="0" lang="en-US" altLang="zh-CN" sz="2400" kern="0" baseline="30000" dirty="0" err="1">
                <a:solidFill>
                  <a:srgbClr val="000000"/>
                </a:solidFill>
                <a:latin typeface="Arial" pitchFamily="34" charset="0"/>
                <a:ea typeface="微软雅黑" pitchFamily="34" charset="-122"/>
                <a:cs typeface="Arial" pitchFamily="34" charset="0"/>
              </a:rPr>
              <a:t>k</a:t>
            </a:r>
            <a:r>
              <a:rPr kumimoji="0" lang="en-US" altLang="zh-CN" sz="2400" i="1" kern="0" dirty="0" err="1">
                <a:solidFill>
                  <a:srgbClr val="000000"/>
                </a:solidFill>
                <a:latin typeface="Arial" pitchFamily="34" charset="0"/>
                <a:ea typeface="微软雅黑" pitchFamily="34" charset="-122"/>
                <a:cs typeface="Arial" pitchFamily="34" charset="0"/>
              </a:rPr>
              <a:t>A</a:t>
            </a:r>
            <a:r>
              <a:rPr kumimoji="0" lang="en-US" altLang="zh-CN" sz="2400" kern="0" dirty="0">
                <a:solidFill>
                  <a:srgbClr val="000000"/>
                </a:solidFill>
                <a:latin typeface="Arial" pitchFamily="34" charset="0"/>
                <a:ea typeface="微软雅黑" pitchFamily="34" charset="-122"/>
                <a:cs typeface="Arial" pitchFamily="34" charset="0"/>
                <a:sym typeface="Symbol" pitchFamily="18" charset="2"/>
              </a:rPr>
              <a:t></a:t>
            </a:r>
            <a:r>
              <a:rPr kumimoji="0" lang="en-US" altLang="zh-CN" sz="2400" kern="0" dirty="0">
                <a:solidFill>
                  <a:srgbClr val="000000"/>
                </a:solidFill>
                <a:latin typeface="Arial" pitchFamily="34" charset="0"/>
                <a:ea typeface="微软雅黑" pitchFamily="34" charset="-122"/>
                <a:cs typeface="Arial" pitchFamily="34" charset="0"/>
              </a:rPr>
              <a:t>(</a:t>
            </a:r>
            <a:r>
              <a:rPr kumimoji="0" lang="en-US" altLang="zh-CN" sz="2400" i="1" kern="0" dirty="0">
                <a:solidFill>
                  <a:srgbClr val="000000"/>
                </a:solidFill>
                <a:latin typeface="Arial" pitchFamily="34" charset="0"/>
                <a:ea typeface="微软雅黑" pitchFamily="34" charset="-122"/>
                <a:cs typeface="Arial" pitchFamily="34" charset="0"/>
              </a:rPr>
              <a:t>x</a:t>
            </a:r>
            <a:r>
              <a:rPr kumimoji="0" lang="en-US" altLang="zh-CN" sz="24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是一个</a:t>
            </a:r>
            <a:r>
              <a:rPr kumimoji="0" lang="en-US" altLang="zh-CN" sz="2400" i="1" kern="0" dirty="0">
                <a:solidFill>
                  <a:srgbClr val="000000"/>
                </a:solidFill>
                <a:latin typeface="Arial" pitchFamily="34" charset="0"/>
                <a:ea typeface="微软雅黑" pitchFamily="34" charset="-122"/>
                <a:cs typeface="Arial" pitchFamily="34" charset="0"/>
              </a:rPr>
              <a:t>n</a:t>
            </a: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次多项式。</a:t>
            </a:r>
            <a:endParaRPr kumimoji="0" lang="en-US" altLang="zh-CN"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p:txBody>
      </p:sp>
      <p:sp>
        <p:nvSpPr>
          <p:cNvPr id="15" name="矩形 14">
            <a:extLst>
              <a:ext uri="{FF2B5EF4-FFF2-40B4-BE49-F238E27FC236}">
                <a16:creationId xmlns:a16="http://schemas.microsoft.com/office/drawing/2014/main" id="{81AD18EE-0051-FC43-DFA7-C6867260BBD9}"/>
              </a:ext>
            </a:extLst>
          </p:cNvPr>
          <p:cNvSpPr/>
          <p:nvPr/>
        </p:nvSpPr>
        <p:spPr>
          <a:xfrm>
            <a:off x="898525" y="4864100"/>
            <a:ext cx="8316913" cy="493713"/>
          </a:xfrm>
          <a:prstGeom prst="rect">
            <a:avLst/>
          </a:prstGeom>
        </p:spPr>
        <p:txBody>
          <a:bodyPr>
            <a:spAutoFit/>
          </a:bodyPr>
          <a:lstStyle/>
          <a:p>
            <a:pPr marL="228600" indent="-228600">
              <a:lnSpc>
                <a:spcPct val="120000"/>
              </a:lnSpc>
              <a:spcBef>
                <a:spcPct val="20000"/>
              </a:spcBef>
              <a:buClr>
                <a:srgbClr val="FFCF01"/>
              </a:buClr>
              <a:buSzPct val="55000"/>
              <a:defRPr/>
            </a:pP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可知，</a:t>
            </a:r>
            <a:r>
              <a:rPr kumimoji="0" lang="en-US" altLang="zh-CN" sz="2000" i="1" kern="0" dirty="0">
                <a:solidFill>
                  <a:srgbClr val="000000"/>
                </a:solidFill>
                <a:latin typeface="Arial" pitchFamily="34" charset="0"/>
                <a:ea typeface="微软雅黑" pitchFamily="34" charset="-122"/>
                <a:cs typeface="Arial" pitchFamily="34" charset="0"/>
              </a:rPr>
              <a:t> </a:t>
            </a:r>
            <a:r>
              <a:rPr kumimoji="0" lang="en-US" altLang="zh-CN" sz="2400" i="1" kern="0" dirty="0" err="1">
                <a:solidFill>
                  <a:srgbClr val="000000"/>
                </a:solidFill>
                <a:latin typeface="Arial" pitchFamily="34" charset="0"/>
                <a:ea typeface="微软雅黑" pitchFamily="34" charset="-122"/>
                <a:cs typeface="Arial" pitchFamily="34" charset="0"/>
              </a:rPr>
              <a:t>x</a:t>
            </a:r>
            <a:r>
              <a:rPr kumimoji="0" lang="en-US" altLang="zh-CN" sz="2400" kern="0" baseline="30000" dirty="0" err="1">
                <a:solidFill>
                  <a:srgbClr val="000000"/>
                </a:solidFill>
                <a:latin typeface="Arial" pitchFamily="34" charset="0"/>
                <a:ea typeface="微软雅黑" pitchFamily="34" charset="-122"/>
                <a:cs typeface="Arial" pitchFamily="34" charset="0"/>
              </a:rPr>
              <a:t>k</a:t>
            </a:r>
            <a:r>
              <a:rPr kumimoji="0" lang="en-US" altLang="zh-CN" sz="2400" i="1" kern="0" dirty="0">
                <a:solidFill>
                  <a:srgbClr val="000000"/>
                </a:solidFill>
                <a:latin typeface="Arial" pitchFamily="34" charset="0"/>
                <a:ea typeface="微软雅黑" pitchFamily="34" charset="-122"/>
                <a:cs typeface="Arial" pitchFamily="34" charset="0"/>
              </a:rPr>
              <a:t> A</a:t>
            </a:r>
            <a:r>
              <a:rPr kumimoji="0" lang="en-US" altLang="zh-CN" sz="2400" kern="0" dirty="0">
                <a:solidFill>
                  <a:srgbClr val="000000"/>
                </a:solidFill>
                <a:latin typeface="Arial" pitchFamily="34" charset="0"/>
                <a:ea typeface="微软雅黑" pitchFamily="34" charset="-122"/>
                <a:cs typeface="Arial" pitchFamily="34" charset="0"/>
                <a:sym typeface="Symbol" pitchFamily="18" charset="2"/>
              </a:rPr>
              <a:t></a:t>
            </a:r>
            <a:r>
              <a:rPr kumimoji="0" lang="en-US" altLang="zh-CN" sz="2400" kern="0" dirty="0">
                <a:solidFill>
                  <a:srgbClr val="000000"/>
                </a:solidFill>
                <a:latin typeface="Arial" pitchFamily="34" charset="0"/>
                <a:ea typeface="微软雅黑" pitchFamily="34" charset="-122"/>
                <a:cs typeface="Arial" pitchFamily="34" charset="0"/>
              </a:rPr>
              <a:t>(</a:t>
            </a:r>
            <a:r>
              <a:rPr kumimoji="0" lang="en-US" altLang="zh-CN" sz="2400" i="1" kern="0" dirty="0">
                <a:solidFill>
                  <a:srgbClr val="000000"/>
                </a:solidFill>
                <a:latin typeface="Arial" pitchFamily="34" charset="0"/>
                <a:ea typeface="微软雅黑" pitchFamily="34" charset="-122"/>
                <a:cs typeface="Arial" pitchFamily="34" charset="0"/>
              </a:rPr>
              <a:t>x</a:t>
            </a:r>
            <a:r>
              <a:rPr kumimoji="0" lang="en-US" altLang="zh-CN" sz="24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a:t>
            </a: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在模 </a:t>
            </a:r>
            <a:r>
              <a:rPr kumimoji="0" lang="en-US" altLang="zh-CN" sz="24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a:t>
            </a:r>
            <a:r>
              <a:rPr kumimoji="0" lang="en-US" altLang="zh-CN" sz="2400" b="0" i="1" kern="0" dirty="0" err="1">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x</a:t>
            </a:r>
            <a:r>
              <a:rPr kumimoji="0" lang="en-US" altLang="zh-CN" sz="2400" b="0" i="1" kern="0" baseline="30000" dirty="0" err="1">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n</a:t>
            </a:r>
            <a:r>
              <a:rPr kumimoji="0" lang="en-US" altLang="zh-CN" sz="24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+ 1) </a:t>
            </a: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运算下也是一个码组，故可写成</a:t>
            </a:r>
          </a:p>
        </p:txBody>
      </p:sp>
      <p:sp>
        <p:nvSpPr>
          <p:cNvPr id="16" name="矩形 15">
            <a:extLst>
              <a:ext uri="{FF2B5EF4-FFF2-40B4-BE49-F238E27FC236}">
                <a16:creationId xmlns:a16="http://schemas.microsoft.com/office/drawing/2014/main" id="{EB62CA17-6522-838E-8943-7BBDA767DF6C}"/>
              </a:ext>
            </a:extLst>
          </p:cNvPr>
          <p:cNvSpPr/>
          <p:nvPr/>
        </p:nvSpPr>
        <p:spPr>
          <a:xfrm>
            <a:off x="928688" y="4029075"/>
            <a:ext cx="696912" cy="400050"/>
          </a:xfrm>
          <a:prstGeom prst="rect">
            <a:avLst/>
          </a:prstGeom>
        </p:spPr>
        <p:txBody>
          <a:bodyPr wrap="none">
            <a:spAutoFit/>
          </a:bodyPr>
          <a:lstStyle/>
          <a:p>
            <a:pPr>
              <a:defRPr/>
            </a:pP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由式</a:t>
            </a:r>
            <a:endParaRPr lang="zh-CN" altLang="en-US" b="0" dirty="0">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p:txBody>
      </p:sp>
      <p:pic>
        <p:nvPicPr>
          <p:cNvPr id="34828" name="Picture 12">
            <a:extLst>
              <a:ext uri="{FF2B5EF4-FFF2-40B4-BE49-F238E27FC236}">
                <a16:creationId xmlns:a16="http://schemas.microsoft.com/office/drawing/2014/main" id="{2506B25F-197A-1FA2-046C-BE5F32D56B3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4313" y="384175"/>
            <a:ext cx="8715375"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34828"/>
                                        </p:tgtEl>
                                        <p:attrNameLst>
                                          <p:attrName>style.visibility</p:attrName>
                                        </p:attrNameLst>
                                      </p:cBhvr>
                                      <p:to>
                                        <p:strVal val="visible"/>
                                      </p:to>
                                    </p:set>
                                    <p:animEffect transition="in" filter="wipe(up)">
                                      <p:cBhvr>
                                        <p:cTn id="7" dur="1000"/>
                                        <p:tgtEl>
                                          <p:spTgt spid="348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1000"/>
                                        <p:tgtEl>
                                          <p:spTgt spid="8"/>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up)">
                                      <p:cBhvr>
                                        <p:cTn id="16" dur="1000"/>
                                        <p:tgtEl>
                                          <p:spTgt spid="1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up)">
                                      <p:cBhvr>
                                        <p:cTn id="21" dur="1000"/>
                                        <p:tgtEl>
                                          <p:spTgt spid="11"/>
                                        </p:tgtEl>
                                      </p:cBhvr>
                                    </p:animEffect>
                                  </p:childTnLst>
                                </p:cTn>
                              </p:par>
                            </p:childTnLst>
                          </p:cTn>
                        </p:par>
                        <p:par>
                          <p:cTn id="22" fill="hold" nodeType="afterGroup">
                            <p:stCondLst>
                              <p:cond delay="1000"/>
                            </p:stCondLst>
                            <p:childTnLst>
                              <p:par>
                                <p:cTn id="23" presetID="22" presetClass="entr" presetSubtype="1" fill="hold" nodeType="afterEffect">
                                  <p:stCondLst>
                                    <p:cond delay="0"/>
                                  </p:stCondLst>
                                  <p:childTnLst>
                                    <p:set>
                                      <p:cBhvr>
                                        <p:cTn id="24" dur="1" fill="hold">
                                          <p:stCondLst>
                                            <p:cond delay="0"/>
                                          </p:stCondLst>
                                        </p:cTn>
                                        <p:tgtEl>
                                          <p:spTgt spid="34823"/>
                                        </p:tgtEl>
                                        <p:attrNameLst>
                                          <p:attrName>style.visibility</p:attrName>
                                        </p:attrNameLst>
                                      </p:cBhvr>
                                      <p:to>
                                        <p:strVal val="visible"/>
                                      </p:to>
                                    </p:set>
                                    <p:animEffect transition="in" filter="wipe(up)">
                                      <p:cBhvr>
                                        <p:cTn id="25" dur="1000"/>
                                        <p:tgtEl>
                                          <p:spTgt spid="3482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up)">
                                      <p:cBhvr>
                                        <p:cTn id="30" dur="1000"/>
                                        <p:tgtEl>
                                          <p:spTgt spid="1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wipe(up)">
                                      <p:cBhvr>
                                        <p:cTn id="35" dur="1000"/>
                                        <p:tgtEl>
                                          <p:spTgt spid="16"/>
                                        </p:tgtEl>
                                      </p:cBhvr>
                                    </p:animEffect>
                                  </p:childTnLst>
                                </p:cTn>
                              </p:par>
                            </p:childTnLst>
                          </p:cTn>
                        </p:par>
                        <p:par>
                          <p:cTn id="36" fill="hold" nodeType="afterGroup">
                            <p:stCondLst>
                              <p:cond delay="1000"/>
                            </p:stCondLst>
                            <p:childTnLst>
                              <p:par>
                                <p:cTn id="37" presetID="22" presetClass="entr" presetSubtype="1" fill="hold" nodeType="afterEffect">
                                  <p:stCondLst>
                                    <p:cond delay="0"/>
                                  </p:stCondLst>
                                  <p:childTnLst>
                                    <p:set>
                                      <p:cBhvr>
                                        <p:cTn id="38" dur="1" fill="hold">
                                          <p:stCondLst>
                                            <p:cond delay="0"/>
                                          </p:stCondLst>
                                        </p:cTn>
                                        <p:tgtEl>
                                          <p:spTgt spid="89092"/>
                                        </p:tgtEl>
                                        <p:attrNameLst>
                                          <p:attrName>style.visibility</p:attrName>
                                        </p:attrNameLst>
                                      </p:cBhvr>
                                      <p:to>
                                        <p:strVal val="visible"/>
                                      </p:to>
                                    </p:set>
                                    <p:animEffect transition="in" filter="wipe(up)">
                                      <p:cBhvr>
                                        <p:cTn id="39" dur="1000"/>
                                        <p:tgtEl>
                                          <p:spTgt spid="89092"/>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up)">
                                      <p:cBhvr>
                                        <p:cTn id="44" dur="1000"/>
                                        <p:tgtEl>
                                          <p:spTgt spid="15"/>
                                        </p:tgtEl>
                                      </p:cBhvr>
                                    </p:animEffect>
                                  </p:childTnLst>
                                </p:cTn>
                              </p:par>
                            </p:childTnLst>
                          </p:cTn>
                        </p:par>
                        <p:par>
                          <p:cTn id="45" fill="hold" nodeType="afterGroup">
                            <p:stCondLst>
                              <p:cond delay="1000"/>
                            </p:stCondLst>
                            <p:childTnLst>
                              <p:par>
                                <p:cTn id="46" presetID="22" presetClass="entr" presetSubtype="1" fill="hold" nodeType="afterEffect">
                                  <p:stCondLst>
                                    <p:cond delay="0"/>
                                  </p:stCondLst>
                                  <p:childTnLst>
                                    <p:set>
                                      <p:cBhvr>
                                        <p:cTn id="47" dur="1" fill="hold">
                                          <p:stCondLst>
                                            <p:cond delay="0"/>
                                          </p:stCondLst>
                                        </p:cTn>
                                        <p:tgtEl>
                                          <p:spTgt spid="89094"/>
                                        </p:tgtEl>
                                        <p:attrNameLst>
                                          <p:attrName>style.visibility</p:attrName>
                                        </p:attrNameLst>
                                      </p:cBhvr>
                                      <p:to>
                                        <p:strVal val="visible"/>
                                      </p:to>
                                    </p:set>
                                    <p:animEffect transition="in" filter="wipe(up)">
                                      <p:cBhvr>
                                        <p:cTn id="48" dur="1000"/>
                                        <p:tgtEl>
                                          <p:spTgt spid="890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34823" grpId="0"/>
      <p:bldP spid="13" grpId="0"/>
      <p:bldP spid="14" grpId="0"/>
      <p:bldP spid="15" grpId="0"/>
      <p:bldP spid="16"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a:extLst>
              <a:ext uri="{FF2B5EF4-FFF2-40B4-BE49-F238E27FC236}">
                <a16:creationId xmlns:a16="http://schemas.microsoft.com/office/drawing/2014/main" id="{85863D5C-93C2-FBF3-EBFD-6D9BCDBF5C7E}"/>
              </a:ext>
            </a:extLst>
          </p:cNvPr>
          <p:cNvGraphicFramePr>
            <a:graphicFrameLocks noChangeAspect="1"/>
          </p:cNvGraphicFramePr>
          <p:nvPr/>
        </p:nvGraphicFramePr>
        <p:xfrm>
          <a:off x="2963863" y="2857500"/>
          <a:ext cx="3365500" cy="500063"/>
        </p:xfrm>
        <a:graphic>
          <a:graphicData uri="http://schemas.openxmlformats.org/presentationml/2006/ole">
            <mc:AlternateContent xmlns:mc="http://schemas.openxmlformats.org/markup-compatibility/2006">
              <mc:Choice xmlns:v="urn:schemas-microsoft-com:vml" Requires="v">
                <p:oleObj name="公式" r:id="rId2" imgW="1536480" imgH="228600" progId="Equation.3">
                  <p:embed/>
                </p:oleObj>
              </mc:Choice>
              <mc:Fallback>
                <p:oleObj name="公式" r:id="rId2" imgW="1536480" imgH="2286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3863" y="2857500"/>
                        <a:ext cx="3365500" cy="500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7">
            <a:extLst>
              <a:ext uri="{FF2B5EF4-FFF2-40B4-BE49-F238E27FC236}">
                <a16:creationId xmlns:a16="http://schemas.microsoft.com/office/drawing/2014/main" id="{841FE943-775C-463D-3302-F73073A3F89A}"/>
              </a:ext>
            </a:extLst>
          </p:cNvPr>
          <p:cNvGraphicFramePr>
            <a:graphicFrameLocks noChangeAspect="1"/>
          </p:cNvGraphicFramePr>
          <p:nvPr/>
        </p:nvGraphicFramePr>
        <p:xfrm>
          <a:off x="2928938" y="4392613"/>
          <a:ext cx="3429000" cy="536575"/>
        </p:xfrm>
        <a:graphic>
          <a:graphicData uri="http://schemas.openxmlformats.org/presentationml/2006/ole">
            <mc:AlternateContent xmlns:mc="http://schemas.openxmlformats.org/markup-compatibility/2006">
              <mc:Choice xmlns:v="urn:schemas-microsoft-com:vml" Requires="v">
                <p:oleObj name="公式" r:id="rId4" imgW="1460500" imgH="228600" progId="Equation.3">
                  <p:embed/>
                </p:oleObj>
              </mc:Choice>
              <mc:Fallback>
                <p:oleObj name="公式" r:id="rId4" imgW="1460500" imgH="2286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8938" y="4392613"/>
                        <a:ext cx="3429000" cy="53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矩形 8">
            <a:extLst>
              <a:ext uri="{FF2B5EF4-FFF2-40B4-BE49-F238E27FC236}">
                <a16:creationId xmlns:a16="http://schemas.microsoft.com/office/drawing/2014/main" id="{C621EC01-C9F9-F09C-B453-C63979E6002F}"/>
              </a:ext>
            </a:extLst>
          </p:cNvPr>
          <p:cNvSpPr/>
          <p:nvPr/>
        </p:nvSpPr>
        <p:spPr>
          <a:xfrm>
            <a:off x="642938" y="2211388"/>
            <a:ext cx="7715250" cy="503237"/>
          </a:xfrm>
          <a:prstGeom prst="rect">
            <a:avLst/>
          </a:prstGeom>
        </p:spPr>
        <p:txBody>
          <a:bodyPr>
            <a:spAutoFit/>
          </a:bodyPr>
          <a:lstStyle/>
          <a:p>
            <a:pPr>
              <a:lnSpc>
                <a:spcPts val="3200"/>
              </a:lnSpc>
              <a:defRPr/>
            </a:pPr>
            <a:r>
              <a:rPr kumimoji="0" lang="zh-CN" altLang="en-US" sz="2000" b="0" kern="0" dirty="0">
                <a:solidFill>
                  <a:srgbClr val="000000"/>
                </a:solidFill>
                <a:latin typeface="Arial" pitchFamily="34" charset="0"/>
                <a:ea typeface="微软雅黑" pitchFamily="34" charset="-122"/>
                <a:cs typeface="Arial" pitchFamily="34" charset="0"/>
              </a:rPr>
              <a:t>上式左端分子和分母都是</a:t>
            </a:r>
            <a:r>
              <a:rPr kumimoji="0" lang="en-US" altLang="zh-CN" sz="2400" i="1" kern="0" dirty="0">
                <a:solidFill>
                  <a:srgbClr val="000000"/>
                </a:solidFill>
                <a:latin typeface="Arial" pitchFamily="34" charset="0"/>
                <a:ea typeface="微软雅黑" pitchFamily="34" charset="-122"/>
                <a:cs typeface="Arial" pitchFamily="34" charset="0"/>
              </a:rPr>
              <a:t>n</a:t>
            </a:r>
            <a:r>
              <a:rPr kumimoji="0" lang="zh-CN" altLang="en-US" sz="2000" b="0" kern="0" dirty="0">
                <a:solidFill>
                  <a:srgbClr val="000000"/>
                </a:solidFill>
                <a:latin typeface="Arial" pitchFamily="34" charset="0"/>
                <a:ea typeface="微软雅黑" pitchFamily="34" charset="-122"/>
                <a:cs typeface="Arial" pitchFamily="34" charset="0"/>
              </a:rPr>
              <a:t>次多项式，故商式</a:t>
            </a:r>
            <a:r>
              <a:rPr kumimoji="0" lang="en-US" altLang="zh-CN" sz="2000" b="0" i="1" kern="0" dirty="0">
                <a:solidFill>
                  <a:srgbClr val="000000"/>
                </a:solidFill>
                <a:latin typeface="Arial" pitchFamily="34" charset="0"/>
                <a:ea typeface="微软雅黑" pitchFamily="34" charset="-122"/>
                <a:cs typeface="Arial" pitchFamily="34" charset="0"/>
              </a:rPr>
              <a:t>Q</a:t>
            </a:r>
            <a:r>
              <a:rPr kumimoji="0" lang="en-US" altLang="zh-CN" sz="2000" b="0" kern="0" dirty="0">
                <a:solidFill>
                  <a:srgbClr val="000000"/>
                </a:solidFill>
                <a:latin typeface="Arial" pitchFamily="34" charset="0"/>
                <a:ea typeface="微软雅黑" pitchFamily="34" charset="-122"/>
                <a:cs typeface="Arial" pitchFamily="34" charset="0"/>
              </a:rPr>
              <a:t>(</a:t>
            </a:r>
            <a:r>
              <a:rPr kumimoji="0" lang="en-US" altLang="zh-CN" sz="2000" b="0" i="1" kern="0" dirty="0">
                <a:solidFill>
                  <a:srgbClr val="000000"/>
                </a:solidFill>
                <a:latin typeface="Arial" pitchFamily="34" charset="0"/>
                <a:ea typeface="微软雅黑" pitchFamily="34" charset="-122"/>
                <a:cs typeface="Arial" pitchFamily="34" charset="0"/>
              </a:rPr>
              <a:t>x</a:t>
            </a:r>
            <a:r>
              <a:rPr kumimoji="0" lang="en-US" altLang="zh-CN" sz="2000" b="0" kern="0" dirty="0">
                <a:solidFill>
                  <a:srgbClr val="000000"/>
                </a:solidFill>
                <a:latin typeface="Arial" pitchFamily="34" charset="0"/>
                <a:ea typeface="微软雅黑" pitchFamily="34" charset="-122"/>
                <a:cs typeface="Arial" pitchFamily="34" charset="0"/>
              </a:rPr>
              <a:t>) = 1</a:t>
            </a:r>
            <a:r>
              <a:rPr kumimoji="0" lang="zh-CN" altLang="en-US" sz="2000" b="0" kern="0" dirty="0">
                <a:solidFill>
                  <a:srgbClr val="000000"/>
                </a:solidFill>
                <a:latin typeface="Arial" pitchFamily="34" charset="0"/>
                <a:ea typeface="微软雅黑" pitchFamily="34" charset="-122"/>
                <a:cs typeface="Arial" pitchFamily="34" charset="0"/>
              </a:rPr>
              <a:t>。上式可化成</a:t>
            </a:r>
            <a:endParaRPr lang="zh-CN" altLang="en-US" dirty="0">
              <a:latin typeface="Arial" pitchFamily="34" charset="0"/>
              <a:ea typeface="微软雅黑" pitchFamily="34" charset="-122"/>
              <a:cs typeface="Arial" pitchFamily="34" charset="0"/>
            </a:endParaRPr>
          </a:p>
        </p:txBody>
      </p:sp>
      <p:sp>
        <p:nvSpPr>
          <p:cNvPr id="10" name="矩形 9">
            <a:extLst>
              <a:ext uri="{FF2B5EF4-FFF2-40B4-BE49-F238E27FC236}">
                <a16:creationId xmlns:a16="http://schemas.microsoft.com/office/drawing/2014/main" id="{4E43917B-959A-2CEA-0682-71446B044F56}"/>
              </a:ext>
            </a:extLst>
          </p:cNvPr>
          <p:cNvSpPr/>
          <p:nvPr/>
        </p:nvSpPr>
        <p:spPr>
          <a:xfrm>
            <a:off x="642938" y="3743325"/>
            <a:ext cx="6929437" cy="400050"/>
          </a:xfrm>
          <a:prstGeom prst="rect">
            <a:avLst/>
          </a:prstGeom>
        </p:spPr>
        <p:txBody>
          <a:bodyPr>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将                     和                            代入上式，化简后得到</a:t>
            </a:r>
            <a:endParaRPr lang="zh-CN" altLang="en-US" dirty="0">
              <a:latin typeface="Arial" pitchFamily="34" charset="0"/>
              <a:ea typeface="微软雅黑" pitchFamily="34" charset="-122"/>
              <a:cs typeface="Arial" pitchFamily="34" charset="0"/>
            </a:endParaRPr>
          </a:p>
        </p:txBody>
      </p:sp>
      <p:graphicFrame>
        <p:nvGraphicFramePr>
          <p:cNvPr id="89094" name="Object 6">
            <a:extLst>
              <a:ext uri="{FF2B5EF4-FFF2-40B4-BE49-F238E27FC236}">
                <a16:creationId xmlns:a16="http://schemas.microsoft.com/office/drawing/2014/main" id="{CA6EA762-7EF9-7D21-F636-83F8F0D9FD1A}"/>
              </a:ext>
            </a:extLst>
          </p:cNvPr>
          <p:cNvGraphicFramePr>
            <a:graphicFrameLocks noChangeAspect="1"/>
          </p:cNvGraphicFramePr>
          <p:nvPr/>
        </p:nvGraphicFramePr>
        <p:xfrm>
          <a:off x="3000375" y="1068388"/>
          <a:ext cx="3201988" cy="901700"/>
        </p:xfrm>
        <a:graphic>
          <a:graphicData uri="http://schemas.openxmlformats.org/presentationml/2006/ole">
            <mc:AlternateContent xmlns:mc="http://schemas.openxmlformats.org/markup-compatibility/2006">
              <mc:Choice xmlns:v="urn:schemas-microsoft-com:vml" Requires="v">
                <p:oleObj name="公式" r:id="rId6" imgW="1485720" imgH="419040" progId="Equation.3">
                  <p:embed/>
                </p:oleObj>
              </mc:Choice>
              <mc:Fallback>
                <p:oleObj name="公式" r:id="rId6" imgW="1485720" imgH="41904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00375" y="1068388"/>
                        <a:ext cx="3201988" cy="901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矩形 14">
            <a:extLst>
              <a:ext uri="{FF2B5EF4-FFF2-40B4-BE49-F238E27FC236}">
                <a16:creationId xmlns:a16="http://schemas.microsoft.com/office/drawing/2014/main" id="{86F7733E-5013-D073-0275-48468752FF4C}"/>
              </a:ext>
            </a:extLst>
          </p:cNvPr>
          <p:cNvSpPr>
            <a:spLocks noChangeArrowheads="1"/>
          </p:cNvSpPr>
          <p:nvPr/>
        </p:nvSpPr>
        <p:spPr bwMode="auto">
          <a:xfrm>
            <a:off x="971550" y="3700463"/>
            <a:ext cx="15081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kumimoji="0" lang="en-US" altLang="zh-CN" sz="2000" i="1">
                <a:solidFill>
                  <a:srgbClr val="000000"/>
                </a:solidFill>
                <a:latin typeface="Arial" panose="020B0604020202020204" pitchFamily="34" charset="0"/>
                <a:ea typeface="宋体" panose="02010600030101010101" pitchFamily="2" charset="-122"/>
                <a:cs typeface="Arial" panose="020B0604020202020204" pitchFamily="34" charset="0"/>
              </a:rPr>
              <a:t>A</a:t>
            </a:r>
            <a:r>
              <a:rPr kumimoji="0" lang="en-US" altLang="zh-CN" sz="2000">
                <a:solidFill>
                  <a:srgbClr val="FF0000"/>
                </a:solidFill>
                <a:latin typeface="Arial" panose="020B0604020202020204" pitchFamily="34" charset="0"/>
                <a:ea typeface="宋体" panose="02010600030101010101" pitchFamily="2" charset="-122"/>
                <a:cs typeface="Arial" panose="020B0604020202020204" pitchFamily="34" charset="0"/>
                <a:sym typeface="Symbol" panose="05050102010706020507" pitchFamily="18" charset="2"/>
              </a:rPr>
              <a:t></a:t>
            </a:r>
            <a:r>
              <a:rPr kumimoji="0"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a:t>
            </a:r>
            <a:r>
              <a:rPr kumimoji="0" lang="en-US" altLang="zh-CN" sz="2000" i="1">
                <a:solidFill>
                  <a:srgbClr val="000000"/>
                </a:solidFill>
                <a:latin typeface="Arial" panose="020B0604020202020204" pitchFamily="34" charset="0"/>
                <a:ea typeface="宋体" panose="02010600030101010101" pitchFamily="2" charset="-122"/>
                <a:cs typeface="Arial" panose="020B0604020202020204" pitchFamily="34" charset="0"/>
              </a:rPr>
              <a:t>x</a:t>
            </a:r>
            <a:r>
              <a:rPr kumimoji="0"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 = </a:t>
            </a:r>
            <a:r>
              <a:rPr kumimoji="0" lang="en-US" altLang="zh-CN" sz="2000" i="1">
                <a:solidFill>
                  <a:srgbClr val="000000"/>
                </a:solidFill>
                <a:latin typeface="Arial" panose="020B0604020202020204" pitchFamily="34" charset="0"/>
                <a:ea typeface="宋体" panose="02010600030101010101" pitchFamily="2" charset="-122"/>
                <a:cs typeface="Arial" panose="020B0604020202020204" pitchFamily="34" charset="0"/>
              </a:rPr>
              <a:t>g</a:t>
            </a:r>
            <a:r>
              <a:rPr kumimoji="0"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a:t>
            </a:r>
            <a:r>
              <a:rPr kumimoji="0" lang="en-US" altLang="zh-CN" sz="2000" i="1">
                <a:solidFill>
                  <a:srgbClr val="000000"/>
                </a:solidFill>
                <a:latin typeface="Arial" panose="020B0604020202020204" pitchFamily="34" charset="0"/>
                <a:ea typeface="宋体" panose="02010600030101010101" pitchFamily="2" charset="-122"/>
                <a:cs typeface="Arial" panose="020B0604020202020204" pitchFamily="34" charset="0"/>
              </a:rPr>
              <a:t>x</a:t>
            </a:r>
            <a:r>
              <a:rPr kumimoji="0"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a:t>
            </a:r>
            <a:endParaRPr lang="zh-CN" altLang="en-US">
              <a:latin typeface="Arial" panose="020B0604020202020204" pitchFamily="34" charset="0"/>
              <a:ea typeface="宋体" panose="02010600030101010101" pitchFamily="2" charset="-122"/>
              <a:cs typeface="Arial" panose="020B0604020202020204" pitchFamily="34" charset="0"/>
            </a:endParaRPr>
          </a:p>
        </p:txBody>
      </p:sp>
      <p:sp>
        <p:nvSpPr>
          <p:cNvPr id="16" name="矩形 15">
            <a:extLst>
              <a:ext uri="{FF2B5EF4-FFF2-40B4-BE49-F238E27FC236}">
                <a16:creationId xmlns:a16="http://schemas.microsoft.com/office/drawing/2014/main" id="{BF965D66-1487-F364-5669-B4DCB5537DD2}"/>
              </a:ext>
            </a:extLst>
          </p:cNvPr>
          <p:cNvSpPr/>
          <p:nvPr/>
        </p:nvSpPr>
        <p:spPr>
          <a:xfrm>
            <a:off x="2686050" y="3714750"/>
            <a:ext cx="2000250" cy="400050"/>
          </a:xfrm>
          <a:prstGeom prst="rect">
            <a:avLst/>
          </a:prstGeom>
        </p:spPr>
        <p:txBody>
          <a:bodyPr>
            <a:spAutoFit/>
          </a:bodyPr>
          <a:lstStyle/>
          <a:p>
            <a:pPr>
              <a:defRPr/>
            </a:pPr>
            <a:r>
              <a:rPr lang="en-US" altLang="zh-CN" sz="2000" i="1" dirty="0">
                <a:solidFill>
                  <a:srgbClr val="000000"/>
                </a:solidFill>
                <a:latin typeface="Arial" pitchFamily="34" charset="0"/>
                <a:ea typeface="微软雅黑" pitchFamily="34" charset="-122"/>
                <a:cs typeface="Arial" pitchFamily="34" charset="0"/>
              </a:rPr>
              <a:t>A</a:t>
            </a:r>
            <a:r>
              <a:rPr lang="en-US" altLang="zh-CN" sz="2000" dirty="0">
                <a:solidFill>
                  <a:srgbClr val="000000"/>
                </a:solidFill>
                <a:latin typeface="Arial" pitchFamily="34" charset="0"/>
                <a:ea typeface="微软雅黑" pitchFamily="34" charset="-122"/>
                <a:cs typeface="Arial" pitchFamily="34" charset="0"/>
              </a:rPr>
              <a:t>(</a:t>
            </a:r>
            <a:r>
              <a:rPr lang="en-US" altLang="zh-CN" sz="2000" i="1" dirty="0">
                <a:solidFill>
                  <a:srgbClr val="000000"/>
                </a:solidFill>
                <a:latin typeface="Arial" pitchFamily="34" charset="0"/>
                <a:ea typeface="微软雅黑" pitchFamily="34" charset="-122"/>
                <a:cs typeface="Arial" pitchFamily="34" charset="0"/>
              </a:rPr>
              <a:t>x</a:t>
            </a:r>
            <a:r>
              <a:rPr lang="en-US" altLang="zh-CN" sz="2000" dirty="0">
                <a:solidFill>
                  <a:srgbClr val="000000"/>
                </a:solidFill>
                <a:latin typeface="Arial" pitchFamily="34" charset="0"/>
                <a:ea typeface="微软雅黑" pitchFamily="34" charset="-122"/>
                <a:cs typeface="Arial" pitchFamily="34" charset="0"/>
              </a:rPr>
              <a:t>)</a:t>
            </a:r>
            <a:r>
              <a:rPr lang="zh-CN" altLang="en-US" sz="2000" dirty="0">
                <a:solidFill>
                  <a:srgbClr val="000000"/>
                </a:solidFill>
                <a:latin typeface="Arial" pitchFamily="34" charset="0"/>
                <a:ea typeface="微软雅黑" pitchFamily="34" charset="-122"/>
                <a:cs typeface="Arial" pitchFamily="34" charset="0"/>
              </a:rPr>
              <a:t> </a:t>
            </a:r>
            <a:r>
              <a:rPr kumimoji="0" lang="en-US" altLang="zh-CN" sz="2000" kern="0" dirty="0">
                <a:solidFill>
                  <a:srgbClr val="000000"/>
                </a:solidFill>
                <a:latin typeface="Arial" pitchFamily="34" charset="0"/>
                <a:ea typeface="宋体"/>
                <a:cs typeface="Arial" pitchFamily="34" charset="0"/>
              </a:rPr>
              <a:t>= </a:t>
            </a:r>
            <a:r>
              <a:rPr kumimoji="0" lang="en-US" altLang="zh-CN" sz="2000" i="1" kern="0" dirty="0">
                <a:solidFill>
                  <a:srgbClr val="000000"/>
                </a:solidFill>
                <a:latin typeface="Arial" pitchFamily="34" charset="0"/>
                <a:ea typeface="宋体"/>
                <a:cs typeface="Arial" pitchFamily="34" charset="0"/>
              </a:rPr>
              <a:t>h</a:t>
            </a:r>
            <a:r>
              <a:rPr kumimoji="0" lang="en-US" altLang="zh-CN" sz="2000" kern="0" dirty="0">
                <a:solidFill>
                  <a:srgbClr val="000000"/>
                </a:solidFill>
                <a:latin typeface="Arial" pitchFamily="34" charset="0"/>
                <a:ea typeface="宋体"/>
                <a:cs typeface="Arial" pitchFamily="34" charset="0"/>
              </a:rPr>
              <a:t>(</a:t>
            </a:r>
            <a:r>
              <a:rPr kumimoji="0" lang="en-US" altLang="zh-CN" sz="2000" i="1" kern="0" dirty="0">
                <a:solidFill>
                  <a:srgbClr val="000000"/>
                </a:solidFill>
                <a:latin typeface="Arial" pitchFamily="34" charset="0"/>
                <a:ea typeface="宋体"/>
                <a:cs typeface="Arial" pitchFamily="34" charset="0"/>
              </a:rPr>
              <a:t>x</a:t>
            </a:r>
            <a:r>
              <a:rPr kumimoji="0" lang="en-US" altLang="zh-CN" sz="2000" kern="0" dirty="0">
                <a:solidFill>
                  <a:srgbClr val="000000"/>
                </a:solidFill>
                <a:latin typeface="Arial" pitchFamily="34" charset="0"/>
                <a:ea typeface="宋体"/>
                <a:cs typeface="Arial" pitchFamily="34" charset="0"/>
              </a:rPr>
              <a:t>)</a:t>
            </a:r>
            <a:r>
              <a:rPr kumimoji="0" lang="en-US" altLang="zh-CN" sz="2000" kern="0" dirty="0">
                <a:solidFill>
                  <a:srgbClr val="000000"/>
                </a:solidFill>
                <a:latin typeface="Arial" pitchFamily="34" charset="0"/>
                <a:ea typeface="宋体"/>
                <a:cs typeface="Arial" pitchFamily="34" charset="0"/>
                <a:sym typeface="Symbol" pitchFamily="18" charset="2"/>
              </a:rPr>
              <a:t></a:t>
            </a:r>
            <a:r>
              <a:rPr kumimoji="0" lang="en-US" altLang="zh-CN" sz="2000" i="1" kern="0" dirty="0">
                <a:solidFill>
                  <a:srgbClr val="000000"/>
                </a:solidFill>
                <a:latin typeface="Arial" pitchFamily="34" charset="0"/>
                <a:ea typeface="宋体"/>
                <a:cs typeface="Arial" pitchFamily="34" charset="0"/>
              </a:rPr>
              <a:t>g</a:t>
            </a:r>
            <a:r>
              <a:rPr kumimoji="0" lang="en-US" altLang="zh-CN" sz="2000" kern="0" dirty="0">
                <a:solidFill>
                  <a:srgbClr val="000000"/>
                </a:solidFill>
                <a:latin typeface="Arial" pitchFamily="34" charset="0"/>
                <a:ea typeface="宋体"/>
                <a:cs typeface="Arial" pitchFamily="34" charset="0"/>
              </a:rPr>
              <a:t>(</a:t>
            </a:r>
            <a:r>
              <a:rPr kumimoji="0" lang="en-US" altLang="zh-CN" sz="2000" i="1" kern="0" dirty="0">
                <a:solidFill>
                  <a:srgbClr val="000000"/>
                </a:solidFill>
                <a:latin typeface="Arial" pitchFamily="34" charset="0"/>
                <a:ea typeface="宋体"/>
                <a:cs typeface="Arial" pitchFamily="34" charset="0"/>
              </a:rPr>
              <a:t>x</a:t>
            </a:r>
            <a:r>
              <a:rPr kumimoji="0" lang="en-US" altLang="zh-CN" sz="2000" kern="0" dirty="0">
                <a:solidFill>
                  <a:srgbClr val="000000"/>
                </a:solidFill>
                <a:latin typeface="Arial" pitchFamily="34" charset="0"/>
                <a:ea typeface="宋体"/>
                <a:cs typeface="Arial" pitchFamily="34" charset="0"/>
              </a:rPr>
              <a:t>)</a:t>
            </a:r>
            <a:endParaRPr lang="zh-CN" altLang="en-US" dirty="0">
              <a:latin typeface="Arial" pitchFamily="34" charset="0"/>
              <a:cs typeface="Arial" pitchFamily="34" charset="0"/>
            </a:endParaRPr>
          </a:p>
        </p:txBody>
      </p:sp>
      <p:pic>
        <p:nvPicPr>
          <p:cNvPr id="35854" name="Picture 14">
            <a:extLst>
              <a:ext uri="{FF2B5EF4-FFF2-40B4-BE49-F238E27FC236}">
                <a16:creationId xmlns:a16="http://schemas.microsoft.com/office/drawing/2014/main" id="{7B89C090-4152-3732-614D-6EC6F1A28C1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b="42050"/>
          <a:stretch>
            <a:fillRect/>
          </a:stretch>
        </p:blipFill>
        <p:spPr bwMode="auto">
          <a:xfrm>
            <a:off x="500063" y="5000625"/>
            <a:ext cx="8286750"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4">
            <a:extLst>
              <a:ext uri="{FF2B5EF4-FFF2-40B4-BE49-F238E27FC236}">
                <a16:creationId xmlns:a16="http://schemas.microsoft.com/office/drawing/2014/main" id="{EE3171F5-6DAD-EE15-6342-3BBE834AEFF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t="63219" b="-10632"/>
          <a:stretch>
            <a:fillRect/>
          </a:stretch>
        </p:blipFill>
        <p:spPr bwMode="auto">
          <a:xfrm>
            <a:off x="500063" y="5786438"/>
            <a:ext cx="828675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89094"/>
                                        </p:tgtEl>
                                        <p:attrNameLst>
                                          <p:attrName>style.visibility</p:attrName>
                                        </p:attrNameLst>
                                      </p:cBhvr>
                                      <p:to>
                                        <p:strVal val="visible"/>
                                      </p:to>
                                    </p:set>
                                    <p:animEffect transition="in" filter="wipe(up)">
                                      <p:cBhvr>
                                        <p:cTn id="7" dur="1000"/>
                                        <p:tgtEl>
                                          <p:spTgt spid="890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1000"/>
                                        <p:tgtEl>
                                          <p:spTgt spid="9"/>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1000"/>
                                        <p:tgtEl>
                                          <p:spTgt spid="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4"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down)">
                                      <p:cBhvr>
                                        <p:cTn id="21" dur="500"/>
                                        <p:tgtEl>
                                          <p:spTgt spid="10"/>
                                        </p:tgtEl>
                                      </p:cBhvr>
                                    </p:animEffect>
                                  </p:childTnLst>
                                </p:cTn>
                              </p:par>
                              <p:par>
                                <p:cTn id="22" presetID="22" presetClass="entr" presetSubtype="8"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left)">
                                      <p:cBhvr>
                                        <p:cTn id="24" dur="1000"/>
                                        <p:tgtEl>
                                          <p:spTgt spid="15"/>
                                        </p:tgtEl>
                                      </p:cBhvr>
                                    </p:animEffect>
                                  </p:childTnLst>
                                </p:cTn>
                              </p:par>
                            </p:childTnLst>
                          </p:cTn>
                        </p:par>
                        <p:par>
                          <p:cTn id="25" fill="hold" nodeType="afterGroup">
                            <p:stCondLst>
                              <p:cond delay="1000"/>
                            </p:stCondLst>
                            <p:childTnLst>
                              <p:par>
                                <p:cTn id="26" presetID="22" presetClass="entr" presetSubtype="1" fill="hold" nodeType="after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up)">
                                      <p:cBhvr>
                                        <p:cTn id="28" dur="1000"/>
                                        <p:tgtEl>
                                          <p:spTgt spid="16"/>
                                        </p:tgtEl>
                                      </p:cBhvr>
                                    </p:animEffect>
                                  </p:childTnLst>
                                </p:cTn>
                              </p:par>
                            </p:childTnLst>
                          </p:cTn>
                        </p:par>
                        <p:par>
                          <p:cTn id="29" fill="hold" nodeType="afterGroup">
                            <p:stCondLst>
                              <p:cond delay="2000"/>
                            </p:stCondLst>
                            <p:childTnLst>
                              <p:par>
                                <p:cTn id="30" presetID="22" presetClass="entr" presetSubtype="1" fill="hold" nodeType="after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up)">
                                      <p:cBhvr>
                                        <p:cTn id="32" dur="1000"/>
                                        <p:tgtEl>
                                          <p:spTgt spid="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35854"/>
                                        </p:tgtEl>
                                        <p:attrNameLst>
                                          <p:attrName>style.visibility</p:attrName>
                                        </p:attrNameLst>
                                      </p:cBhvr>
                                      <p:to>
                                        <p:strVal val="visible"/>
                                      </p:to>
                                    </p:set>
                                    <p:animEffect transition="in" filter="wipe(up)">
                                      <p:cBhvr>
                                        <p:cTn id="37" dur="1000"/>
                                        <p:tgtEl>
                                          <p:spTgt spid="3585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up)">
                                      <p:cBhvr>
                                        <p:cTn id="42"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5" grpId="0"/>
      <p:bldP spid="16"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85" name="Picture 21">
            <a:extLst>
              <a:ext uri="{FF2B5EF4-FFF2-40B4-BE49-F238E27FC236}">
                <a16:creationId xmlns:a16="http://schemas.microsoft.com/office/drawing/2014/main" id="{3E4BDFB3-E3A1-C3B0-69E9-CE05D7284B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857375"/>
            <a:ext cx="7572375"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122D9DCD-9C13-492D-9D1D-E38C89151468}"/>
              </a:ext>
            </a:extLst>
          </p:cNvPr>
          <p:cNvSpPr/>
          <p:nvPr/>
        </p:nvSpPr>
        <p:spPr>
          <a:xfrm>
            <a:off x="1057275" y="928688"/>
            <a:ext cx="7158038" cy="541337"/>
          </a:xfrm>
          <a:prstGeom prst="rect">
            <a:avLst/>
          </a:prstGeom>
          <a:solidFill>
            <a:schemeClr val="bg2">
              <a:lumMod val="10000"/>
              <a:lumOff val="90000"/>
            </a:schemeClr>
          </a:solidFill>
          <a:effectLst>
            <a:outerShdw blurRad="63500" sx="102000" sy="102000" algn="ctr" rotWithShape="0">
              <a:prstClr val="black">
                <a:alpha val="40000"/>
              </a:prstClr>
            </a:outerShdw>
          </a:effectLst>
        </p:spPr>
        <p:txBody>
          <a:bodyPr>
            <a:spAutoFit/>
          </a:bodyPr>
          <a:lstStyle/>
          <a:p>
            <a:pPr>
              <a:lnSpc>
                <a:spcPts val="3500"/>
              </a:lnSpc>
              <a:defRPr/>
            </a:pPr>
            <a:r>
              <a:rPr kumimoji="0" lang="zh-CN" altLang="en-US" sz="2000" b="0" kern="0" dirty="0">
                <a:solidFill>
                  <a:srgbClr val="000000"/>
                </a:solidFill>
                <a:latin typeface="Arial" pitchFamily="34" charset="0"/>
                <a:ea typeface="微软雅黑" pitchFamily="34" charset="-122"/>
                <a:cs typeface="Arial" pitchFamily="34" charset="0"/>
              </a:rPr>
              <a:t>       求</a:t>
            </a:r>
            <a:r>
              <a:rPr kumimoji="0" lang="en-US" altLang="zh-CN" sz="2400" b="0" kern="0" dirty="0">
                <a:solidFill>
                  <a:srgbClr val="000000"/>
                </a:solidFill>
                <a:latin typeface="Arial" pitchFamily="34" charset="0"/>
                <a:ea typeface="微软雅黑" pitchFamily="34" charset="-122"/>
                <a:cs typeface="Arial" pitchFamily="34" charset="0"/>
              </a:rPr>
              <a:t>(7, 3)</a:t>
            </a:r>
            <a:r>
              <a:rPr kumimoji="0" lang="zh-CN" altLang="en-US" sz="2000" b="0" kern="0" dirty="0">
                <a:solidFill>
                  <a:srgbClr val="000000"/>
                </a:solidFill>
                <a:latin typeface="Arial" pitchFamily="34" charset="0"/>
                <a:ea typeface="微软雅黑" pitchFamily="34" charset="-122"/>
                <a:cs typeface="Arial" pitchFamily="34" charset="0"/>
              </a:rPr>
              <a:t>循环码的生成多项式 </a:t>
            </a:r>
            <a:r>
              <a:rPr kumimoji="0" lang="en-US" altLang="zh-CN" sz="2400" b="0" i="1" kern="0" dirty="0">
                <a:solidFill>
                  <a:srgbClr val="000000"/>
                </a:solidFill>
                <a:latin typeface="Arial" pitchFamily="34" charset="0"/>
                <a:ea typeface="微软雅黑" pitchFamily="34" charset="-122"/>
                <a:cs typeface="Arial" pitchFamily="34" charset="0"/>
              </a:rPr>
              <a:t>g</a:t>
            </a:r>
            <a:r>
              <a:rPr kumimoji="0" lang="en-US" altLang="zh-CN" sz="2400" b="0" kern="0" dirty="0">
                <a:solidFill>
                  <a:srgbClr val="000000"/>
                </a:solidFill>
                <a:latin typeface="Arial" pitchFamily="34" charset="0"/>
                <a:ea typeface="微软雅黑" pitchFamily="34" charset="-122"/>
                <a:cs typeface="Arial" pitchFamily="34" charset="0"/>
              </a:rPr>
              <a:t>(</a:t>
            </a:r>
            <a:r>
              <a:rPr kumimoji="0" lang="en-US" altLang="zh-CN" sz="2400" b="0" i="1" kern="0" dirty="0">
                <a:solidFill>
                  <a:srgbClr val="000000"/>
                </a:solidFill>
                <a:latin typeface="Arial" pitchFamily="34" charset="0"/>
                <a:ea typeface="微软雅黑" pitchFamily="34" charset="-122"/>
                <a:cs typeface="Arial" pitchFamily="34" charset="0"/>
              </a:rPr>
              <a:t>x</a:t>
            </a:r>
            <a:r>
              <a:rPr kumimoji="0" lang="en-US" altLang="zh-CN" sz="2400" b="0" kern="0" dirty="0">
                <a:solidFill>
                  <a:srgbClr val="000000"/>
                </a:solidFill>
                <a:latin typeface="Arial" pitchFamily="34" charset="0"/>
                <a:ea typeface="微软雅黑" pitchFamily="34" charset="-122"/>
                <a:cs typeface="Arial" pitchFamily="34" charset="0"/>
              </a:rPr>
              <a:t>) </a:t>
            </a:r>
            <a:r>
              <a:rPr kumimoji="0" lang="zh-CN" altLang="en-US" sz="2400" b="0" kern="0" dirty="0">
                <a:solidFill>
                  <a:srgbClr val="000000"/>
                </a:solidFill>
                <a:latin typeface="Arial" pitchFamily="34" charset="0"/>
                <a:ea typeface="微软雅黑" pitchFamily="34" charset="-122"/>
                <a:cs typeface="Arial" pitchFamily="34" charset="0"/>
              </a:rPr>
              <a:t>。</a:t>
            </a:r>
            <a:endParaRPr lang="zh-CN" altLang="en-US" dirty="0">
              <a:latin typeface="Arial" pitchFamily="34" charset="0"/>
              <a:ea typeface="微软雅黑" pitchFamily="34" charset="-122"/>
              <a:cs typeface="Arial" pitchFamily="34" charset="0"/>
            </a:endParaRPr>
          </a:p>
        </p:txBody>
      </p:sp>
      <p:grpSp>
        <p:nvGrpSpPr>
          <p:cNvPr id="2" name="组合 30">
            <a:extLst>
              <a:ext uri="{FF2B5EF4-FFF2-40B4-BE49-F238E27FC236}">
                <a16:creationId xmlns:a16="http://schemas.microsoft.com/office/drawing/2014/main" id="{E8B58B68-EB80-C417-7C3C-D9D324280293}"/>
              </a:ext>
            </a:extLst>
          </p:cNvPr>
          <p:cNvGrpSpPr>
            <a:grpSpLocks/>
          </p:cNvGrpSpPr>
          <p:nvPr/>
        </p:nvGrpSpPr>
        <p:grpSpPr bwMode="auto">
          <a:xfrm>
            <a:off x="642938" y="714375"/>
            <a:ext cx="714375" cy="571500"/>
            <a:chOff x="285721" y="3286124"/>
            <a:chExt cx="714380" cy="571504"/>
          </a:xfrm>
        </p:grpSpPr>
        <p:grpSp>
          <p:nvGrpSpPr>
            <p:cNvPr id="33806" name="Group 52">
              <a:extLst>
                <a:ext uri="{FF2B5EF4-FFF2-40B4-BE49-F238E27FC236}">
                  <a16:creationId xmlns:a16="http://schemas.microsoft.com/office/drawing/2014/main" id="{77EBEA95-DF4B-46D5-C6B6-06BD72BACF69}"/>
                </a:ext>
              </a:extLst>
            </p:cNvPr>
            <p:cNvGrpSpPr>
              <a:grpSpLocks/>
            </p:cNvGrpSpPr>
            <p:nvPr/>
          </p:nvGrpSpPr>
          <p:grpSpPr bwMode="auto">
            <a:xfrm>
              <a:off x="285721" y="3286124"/>
              <a:ext cx="714380" cy="571504"/>
              <a:chOff x="1289" y="582"/>
              <a:chExt cx="668" cy="668"/>
            </a:xfrm>
          </p:grpSpPr>
          <p:sp>
            <p:nvSpPr>
              <p:cNvPr id="33808" name="Oval 53">
                <a:extLst>
                  <a:ext uri="{FF2B5EF4-FFF2-40B4-BE49-F238E27FC236}">
                    <a16:creationId xmlns:a16="http://schemas.microsoft.com/office/drawing/2014/main" id="{06D01EFD-8C4B-E505-207D-3C0238A7EE4E}"/>
                  </a:ext>
                </a:extLst>
              </p:cNvPr>
              <p:cNvSpPr>
                <a:spLocks noChangeArrowheads="1"/>
              </p:cNvSpPr>
              <p:nvPr/>
            </p:nvSpPr>
            <p:spPr bwMode="gray">
              <a:xfrm>
                <a:off x="1289" y="582"/>
                <a:ext cx="668" cy="668"/>
              </a:xfrm>
              <a:prstGeom prst="ellipse">
                <a:avLst/>
              </a:prstGeom>
              <a:solidFill>
                <a:srgbClr val="333333"/>
              </a:soli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33809" name="Oval 54">
                <a:extLst>
                  <a:ext uri="{FF2B5EF4-FFF2-40B4-BE49-F238E27FC236}">
                    <a16:creationId xmlns:a16="http://schemas.microsoft.com/office/drawing/2014/main" id="{1FCDFB85-29A6-DE96-92C8-03BD7742E79D}"/>
                  </a:ext>
                </a:extLst>
              </p:cNvPr>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33810" name="Oval 55">
                <a:extLst>
                  <a:ext uri="{FF2B5EF4-FFF2-40B4-BE49-F238E27FC236}">
                    <a16:creationId xmlns:a16="http://schemas.microsoft.com/office/drawing/2014/main" id="{D9BCC357-D11E-C968-7C7B-6836249A2B83}"/>
                  </a:ext>
                </a:extLst>
              </p:cNvPr>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33811" name="Oval 56">
                <a:extLst>
                  <a:ext uri="{FF2B5EF4-FFF2-40B4-BE49-F238E27FC236}">
                    <a16:creationId xmlns:a16="http://schemas.microsoft.com/office/drawing/2014/main" id="{C8DDC1D2-15C2-BEE0-312C-CA116758F175}"/>
                  </a:ext>
                </a:extLst>
              </p:cNvPr>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33812" name="Oval 57">
                <a:extLst>
                  <a:ext uri="{FF2B5EF4-FFF2-40B4-BE49-F238E27FC236}">
                    <a16:creationId xmlns:a16="http://schemas.microsoft.com/office/drawing/2014/main" id="{21C0C13D-FB8D-E9B3-9E44-272A2858ECCA}"/>
                  </a:ext>
                </a:extLst>
              </p:cNvPr>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pSp>
        <p:sp>
          <p:nvSpPr>
            <p:cNvPr id="33807" name="Text Box 29">
              <a:extLst>
                <a:ext uri="{FF2B5EF4-FFF2-40B4-BE49-F238E27FC236}">
                  <a16:creationId xmlns:a16="http://schemas.microsoft.com/office/drawing/2014/main" id="{AEE5C2A8-411B-B443-7B23-2403D8D44354}"/>
                </a:ext>
              </a:extLst>
            </p:cNvPr>
            <p:cNvSpPr txBox="1">
              <a:spLocks noChangeArrowheads="1"/>
            </p:cNvSpPr>
            <p:nvPr/>
          </p:nvSpPr>
          <p:spPr bwMode="gray">
            <a:xfrm>
              <a:off x="357158" y="3286124"/>
              <a:ext cx="542027" cy="519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a:r>
                <a:rPr kumimoji="0" lang="zh-CN" altLang="en-US" sz="2800">
                  <a:solidFill>
                    <a:srgbClr val="0000CC"/>
                  </a:solidFill>
                  <a:latin typeface="Arial" panose="020B0604020202020204" pitchFamily="34" charset="0"/>
                  <a:ea typeface="宋体" panose="02010600030101010101" pitchFamily="2" charset="-122"/>
                </a:rPr>
                <a:t>例</a:t>
              </a:r>
            </a:p>
          </p:txBody>
        </p:sp>
      </p:grpSp>
      <p:sp>
        <p:nvSpPr>
          <p:cNvPr id="16" name="矩形 15">
            <a:extLst>
              <a:ext uri="{FF2B5EF4-FFF2-40B4-BE49-F238E27FC236}">
                <a16:creationId xmlns:a16="http://schemas.microsoft.com/office/drawing/2014/main" id="{169CF50E-04EC-DFB4-03B5-F66256C7957C}"/>
              </a:ext>
            </a:extLst>
          </p:cNvPr>
          <p:cNvSpPr/>
          <p:nvPr/>
        </p:nvSpPr>
        <p:spPr>
          <a:xfrm>
            <a:off x="1285875" y="2571750"/>
            <a:ext cx="4357688" cy="461963"/>
          </a:xfrm>
          <a:prstGeom prst="rect">
            <a:avLst/>
          </a:prstGeom>
        </p:spPr>
        <p:txBody>
          <a:bodyPr>
            <a:spAutoFit/>
          </a:bodyPr>
          <a:lstStyle/>
          <a:p>
            <a:pPr>
              <a:defRPr/>
            </a:pPr>
            <a:r>
              <a:rPr kumimoji="0" lang="zh-CN" altLang="en-US" sz="2000" b="0" kern="0" dirty="0">
                <a:solidFill>
                  <a:schemeClr val="tx1"/>
                </a:solidFill>
                <a:latin typeface="Arial" pitchFamily="34" charset="0"/>
                <a:ea typeface="微软雅黑" pitchFamily="34" charset="-122"/>
                <a:cs typeface="Arial" pitchFamily="34" charset="0"/>
              </a:rPr>
              <a:t>将 </a:t>
            </a:r>
            <a:r>
              <a:rPr kumimoji="0" lang="en-US" altLang="zh-CN" sz="2400" kern="0" dirty="0">
                <a:solidFill>
                  <a:srgbClr val="0000CC"/>
                </a:solidFill>
                <a:latin typeface="Arial" pitchFamily="34" charset="0"/>
                <a:ea typeface="微软雅黑" pitchFamily="34" charset="-122"/>
                <a:cs typeface="Arial" pitchFamily="34" charset="0"/>
              </a:rPr>
              <a:t>(</a:t>
            </a:r>
            <a:r>
              <a:rPr kumimoji="0" lang="en-US" altLang="zh-CN" sz="2400" i="1" kern="0" dirty="0">
                <a:solidFill>
                  <a:srgbClr val="0000CC"/>
                </a:solidFill>
                <a:latin typeface="Arial" pitchFamily="34" charset="0"/>
                <a:ea typeface="微软雅黑" pitchFamily="34" charset="-122"/>
                <a:cs typeface="Arial" pitchFamily="34" charset="0"/>
              </a:rPr>
              <a:t>x</a:t>
            </a:r>
            <a:r>
              <a:rPr kumimoji="0" lang="en-US" altLang="zh-CN" sz="2400" kern="0" baseline="30000" dirty="0">
                <a:solidFill>
                  <a:srgbClr val="0000CC"/>
                </a:solidFill>
                <a:latin typeface="Arial" pitchFamily="34" charset="0"/>
                <a:ea typeface="微软雅黑" pitchFamily="34" charset="-122"/>
                <a:cs typeface="Arial" pitchFamily="34" charset="0"/>
              </a:rPr>
              <a:t>7</a:t>
            </a:r>
            <a:r>
              <a:rPr kumimoji="0" lang="en-US" altLang="zh-CN" sz="2400" kern="0" dirty="0">
                <a:solidFill>
                  <a:srgbClr val="0000CC"/>
                </a:solidFill>
                <a:latin typeface="Arial" pitchFamily="34" charset="0"/>
                <a:ea typeface="微软雅黑" pitchFamily="34" charset="-122"/>
                <a:cs typeface="Arial" pitchFamily="34" charset="0"/>
              </a:rPr>
              <a:t>+1) </a:t>
            </a:r>
            <a:r>
              <a:rPr kumimoji="0" lang="zh-CN" altLang="en-US" sz="2000" b="0" kern="0" dirty="0">
                <a:solidFill>
                  <a:srgbClr val="000000"/>
                </a:solidFill>
                <a:latin typeface="Arial" pitchFamily="34" charset="0"/>
                <a:ea typeface="微软雅黑" pitchFamily="34" charset="-122"/>
                <a:cs typeface="Arial" pitchFamily="34" charset="0"/>
              </a:rPr>
              <a:t>进行因式分解：</a:t>
            </a:r>
            <a:endParaRPr lang="zh-CN" altLang="en-US" dirty="0"/>
          </a:p>
        </p:txBody>
      </p:sp>
      <p:sp>
        <p:nvSpPr>
          <p:cNvPr id="17" name="Oval 12">
            <a:extLst>
              <a:ext uri="{FF2B5EF4-FFF2-40B4-BE49-F238E27FC236}">
                <a16:creationId xmlns:a16="http://schemas.microsoft.com/office/drawing/2014/main" id="{0BD2539F-0F4E-B9AB-8571-D065480F3BBD}"/>
              </a:ext>
            </a:extLst>
          </p:cNvPr>
          <p:cNvSpPr>
            <a:spLocks noChangeArrowheads="1"/>
          </p:cNvSpPr>
          <p:nvPr/>
        </p:nvSpPr>
        <p:spPr bwMode="auto">
          <a:xfrm>
            <a:off x="728663" y="1857375"/>
            <a:ext cx="842962" cy="496888"/>
          </a:xfrm>
          <a:prstGeom prst="ellipse">
            <a:avLst/>
          </a:prstGeom>
          <a:noFill/>
          <a:ln w="9525">
            <a:noFill/>
            <a:round/>
            <a:headEnd/>
            <a:tailEnd/>
          </a:ln>
          <a:effectLst>
            <a:outerShdw blurRad="50800" dist="38100" dir="2700000" algn="tl" rotWithShape="0">
              <a:prstClr val="black">
                <a:alpha val="40000"/>
              </a:prstClr>
            </a:outerShdw>
          </a:effectLst>
        </p:spPr>
        <p:txBody>
          <a:bodyPr wrap="none" anchor="ctr"/>
          <a:lstStyle/>
          <a:p>
            <a:pPr algn="ctr">
              <a:defRPr/>
            </a:pPr>
            <a:r>
              <a:rPr lang="zh-CN" altLang="en-US" sz="2400" dirty="0">
                <a:solidFill>
                  <a:schemeClr val="tx1"/>
                </a:solidFill>
                <a:latin typeface="黑体" pitchFamily="2" charset="-122"/>
                <a:ea typeface="黑体" pitchFamily="2" charset="-122"/>
              </a:rPr>
              <a:t>解：</a:t>
            </a:r>
          </a:p>
        </p:txBody>
      </p:sp>
      <p:sp>
        <p:nvSpPr>
          <p:cNvPr id="21" name="矩形 20">
            <a:extLst>
              <a:ext uri="{FF2B5EF4-FFF2-40B4-BE49-F238E27FC236}">
                <a16:creationId xmlns:a16="http://schemas.microsoft.com/office/drawing/2014/main" id="{AB2032FC-8A71-5192-2FE0-C2704A258103}"/>
              </a:ext>
            </a:extLst>
          </p:cNvPr>
          <p:cNvSpPr/>
          <p:nvPr/>
        </p:nvSpPr>
        <p:spPr>
          <a:xfrm>
            <a:off x="6373813" y="1628775"/>
            <a:ext cx="768350" cy="400050"/>
          </a:xfrm>
          <a:prstGeom prst="rect">
            <a:avLst/>
          </a:prstGeom>
        </p:spPr>
        <p:txBody>
          <a:bodyPr wrap="none">
            <a:spAutoFit/>
          </a:bodyPr>
          <a:lstStyle/>
          <a:p>
            <a:pPr>
              <a:defRPr/>
            </a:pPr>
            <a:r>
              <a:rPr kumimoji="0" lang="en-US" altLang="zh-CN" sz="2000" i="1" kern="0" dirty="0">
                <a:solidFill>
                  <a:srgbClr val="990099"/>
                </a:solidFill>
                <a:latin typeface="Arial" pitchFamily="34" charset="0"/>
                <a:ea typeface="微软雅黑" pitchFamily="34" charset="-122"/>
                <a:cs typeface="Arial" pitchFamily="34" charset="0"/>
              </a:rPr>
              <a:t>n – k</a:t>
            </a:r>
            <a:endParaRPr lang="zh-CN" altLang="en-US" dirty="0">
              <a:solidFill>
                <a:srgbClr val="990099"/>
              </a:solidFill>
            </a:endParaRPr>
          </a:p>
        </p:txBody>
      </p:sp>
      <p:graphicFrame>
        <p:nvGraphicFramePr>
          <p:cNvPr id="24" name="Object 6">
            <a:extLst>
              <a:ext uri="{FF2B5EF4-FFF2-40B4-BE49-F238E27FC236}">
                <a16:creationId xmlns:a16="http://schemas.microsoft.com/office/drawing/2014/main" id="{D2A94CF3-3071-3CA9-C3FA-D09A43E07C44}"/>
              </a:ext>
            </a:extLst>
          </p:cNvPr>
          <p:cNvGraphicFramePr>
            <a:graphicFrameLocks noChangeAspect="1"/>
          </p:cNvGraphicFramePr>
          <p:nvPr/>
        </p:nvGraphicFramePr>
        <p:xfrm>
          <a:off x="2636838" y="3138488"/>
          <a:ext cx="5078412" cy="504825"/>
        </p:xfrm>
        <a:graphic>
          <a:graphicData uri="http://schemas.openxmlformats.org/presentationml/2006/ole">
            <mc:AlternateContent xmlns:mc="http://schemas.openxmlformats.org/markup-compatibility/2006">
              <mc:Choice xmlns:v="urn:schemas-microsoft-com:vml" Requires="v">
                <p:oleObj name="公式" r:id="rId3" imgW="2311200" imgH="228600" progId="Equation.3">
                  <p:embed/>
                </p:oleObj>
              </mc:Choice>
              <mc:Fallback>
                <p:oleObj name="公式" r:id="rId3" imgW="2311200" imgH="2286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6838" y="3138488"/>
                        <a:ext cx="5078412"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矩形 24">
            <a:extLst>
              <a:ext uri="{FF2B5EF4-FFF2-40B4-BE49-F238E27FC236}">
                <a16:creationId xmlns:a16="http://schemas.microsoft.com/office/drawing/2014/main" id="{9A9CD2DA-CEEF-C293-18F1-2C49465D6395}"/>
              </a:ext>
            </a:extLst>
          </p:cNvPr>
          <p:cNvSpPr/>
          <p:nvPr/>
        </p:nvSpPr>
        <p:spPr>
          <a:xfrm>
            <a:off x="1231900" y="3714750"/>
            <a:ext cx="696913" cy="400050"/>
          </a:xfrm>
          <a:prstGeom prst="rect">
            <a:avLst/>
          </a:prstGeom>
        </p:spPr>
        <p:txBody>
          <a:bodyPr wrap="none">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即有</a:t>
            </a:r>
            <a:endParaRPr lang="zh-CN" altLang="en-US" dirty="0"/>
          </a:p>
        </p:txBody>
      </p:sp>
      <p:sp>
        <p:nvSpPr>
          <p:cNvPr id="26" name="矩形 25">
            <a:extLst>
              <a:ext uri="{FF2B5EF4-FFF2-40B4-BE49-F238E27FC236}">
                <a16:creationId xmlns:a16="http://schemas.microsoft.com/office/drawing/2014/main" id="{72AD962B-36CF-34DB-EFFE-C426BBB82F6D}"/>
              </a:ext>
            </a:extLst>
          </p:cNvPr>
          <p:cNvSpPr/>
          <p:nvPr/>
        </p:nvSpPr>
        <p:spPr>
          <a:xfrm>
            <a:off x="1201738" y="4500563"/>
            <a:ext cx="441325" cy="400050"/>
          </a:xfrm>
          <a:prstGeom prst="rect">
            <a:avLst/>
          </a:prstGeom>
        </p:spPr>
        <p:txBody>
          <a:bodyPr wrap="none">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或</a:t>
            </a:r>
            <a:endParaRPr lang="zh-CN" altLang="en-US" dirty="0"/>
          </a:p>
        </p:txBody>
      </p:sp>
      <p:graphicFrame>
        <p:nvGraphicFramePr>
          <p:cNvPr id="23" name="Object 3">
            <a:extLst>
              <a:ext uri="{FF2B5EF4-FFF2-40B4-BE49-F238E27FC236}">
                <a16:creationId xmlns:a16="http://schemas.microsoft.com/office/drawing/2014/main" id="{A2B8DF66-4B47-1EF8-47ED-7607F5AD92C6}"/>
              </a:ext>
            </a:extLst>
          </p:cNvPr>
          <p:cNvGraphicFramePr>
            <a:graphicFrameLocks noChangeAspect="1"/>
          </p:cNvGraphicFramePr>
          <p:nvPr/>
        </p:nvGraphicFramePr>
        <p:xfrm>
          <a:off x="2598738" y="3829050"/>
          <a:ext cx="5273675" cy="547688"/>
        </p:xfrm>
        <a:graphic>
          <a:graphicData uri="http://schemas.openxmlformats.org/presentationml/2006/ole">
            <mc:AlternateContent xmlns:mc="http://schemas.openxmlformats.org/markup-compatibility/2006">
              <mc:Choice xmlns:v="urn:schemas-microsoft-com:vml" Requires="v">
                <p:oleObj name="Equation" r:id="rId5" imgW="2209680" imgH="228600" progId="Equation.DSMT4">
                  <p:embed/>
                </p:oleObj>
              </mc:Choice>
              <mc:Fallback>
                <p:oleObj name="Equation" r:id="rId5" imgW="2209680" imgH="2286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8738" y="3829050"/>
                        <a:ext cx="5273675" cy="5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graphicFrame>
        <p:nvGraphicFramePr>
          <p:cNvPr id="28" name="Object 8">
            <a:extLst>
              <a:ext uri="{FF2B5EF4-FFF2-40B4-BE49-F238E27FC236}">
                <a16:creationId xmlns:a16="http://schemas.microsoft.com/office/drawing/2014/main" id="{EC74E33C-D78B-DCD3-3B3D-E3BCBDC20B23}"/>
              </a:ext>
            </a:extLst>
          </p:cNvPr>
          <p:cNvGraphicFramePr>
            <a:graphicFrameLocks noChangeAspect="1"/>
          </p:cNvGraphicFramePr>
          <p:nvPr/>
        </p:nvGraphicFramePr>
        <p:xfrm>
          <a:off x="2614613" y="4500563"/>
          <a:ext cx="5000625" cy="547687"/>
        </p:xfrm>
        <a:graphic>
          <a:graphicData uri="http://schemas.openxmlformats.org/presentationml/2006/ole">
            <mc:AlternateContent xmlns:mc="http://schemas.openxmlformats.org/markup-compatibility/2006">
              <mc:Choice xmlns:v="urn:schemas-microsoft-com:vml" Requires="v">
                <p:oleObj name="Equation" r:id="rId7" imgW="2095200" imgH="228600" progId="Equation.DSMT4">
                  <p:embed/>
                </p:oleObj>
              </mc:Choice>
              <mc:Fallback>
                <p:oleObj name="Equation" r:id="rId7" imgW="2095200" imgH="228600"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14613" y="4500563"/>
                        <a:ext cx="5000625" cy="547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pic>
        <p:nvPicPr>
          <p:cNvPr id="36886" name="Picture 22">
            <a:extLst>
              <a:ext uri="{FF2B5EF4-FFF2-40B4-BE49-F238E27FC236}">
                <a16:creationId xmlns:a16="http://schemas.microsoft.com/office/drawing/2014/main" id="{7BF830AA-75CD-2E24-E38D-66FEC4305AF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8825" y="5286375"/>
            <a:ext cx="7742238"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1000"/>
                                        <p:tgtEl>
                                          <p:spTgt spid="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left)">
                                      <p:cBhvr>
                                        <p:cTn id="16" dur="1000"/>
                                        <p:tgtEl>
                                          <p:spTgt spid="17"/>
                                        </p:tgtEl>
                                      </p:cBhvr>
                                    </p:animEffect>
                                  </p:childTnLst>
                                </p:cTn>
                              </p:par>
                            </p:childTnLst>
                          </p:cTn>
                        </p:par>
                        <p:par>
                          <p:cTn id="17" fill="hold" nodeType="afterGroup">
                            <p:stCondLst>
                              <p:cond delay="1000"/>
                            </p:stCondLst>
                            <p:childTnLst>
                              <p:par>
                                <p:cTn id="18" presetID="22" presetClass="entr" presetSubtype="1" fill="hold" nodeType="afterEffect">
                                  <p:stCondLst>
                                    <p:cond delay="0"/>
                                  </p:stCondLst>
                                  <p:childTnLst>
                                    <p:set>
                                      <p:cBhvr>
                                        <p:cTn id="19" dur="1" fill="hold">
                                          <p:stCondLst>
                                            <p:cond delay="0"/>
                                          </p:stCondLst>
                                        </p:cTn>
                                        <p:tgtEl>
                                          <p:spTgt spid="36885"/>
                                        </p:tgtEl>
                                        <p:attrNameLst>
                                          <p:attrName>style.visibility</p:attrName>
                                        </p:attrNameLst>
                                      </p:cBhvr>
                                      <p:to>
                                        <p:strVal val="visible"/>
                                      </p:to>
                                    </p:set>
                                    <p:animEffect transition="in" filter="wipe(up)">
                                      <p:cBhvr>
                                        <p:cTn id="20" dur="1000"/>
                                        <p:tgtEl>
                                          <p:spTgt spid="36885"/>
                                        </p:tgtEl>
                                      </p:cBhvr>
                                    </p:animEffect>
                                  </p:childTnLst>
                                </p:cTn>
                              </p:par>
                            </p:childTnLst>
                          </p:cTn>
                        </p:par>
                        <p:par>
                          <p:cTn id="21" fill="hold" nodeType="afterGroup">
                            <p:stCondLst>
                              <p:cond delay="2000"/>
                            </p:stCondLst>
                            <p:childTnLst>
                              <p:par>
                                <p:cTn id="22" presetID="22" presetClass="entr" presetSubtype="4"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wipe(down)">
                                      <p:cBhvr>
                                        <p:cTn id="24" dur="1000"/>
                                        <p:tgtEl>
                                          <p:spTgt spid="2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up)">
                                      <p:cBhvr>
                                        <p:cTn id="29" dur="1000"/>
                                        <p:tgtEl>
                                          <p:spTgt spid="16"/>
                                        </p:tgtEl>
                                      </p:cBhvr>
                                    </p:animEffect>
                                  </p:childTnLst>
                                </p:cTn>
                              </p:par>
                            </p:childTnLst>
                          </p:cTn>
                        </p:par>
                        <p:par>
                          <p:cTn id="30" fill="hold" nodeType="afterGroup">
                            <p:stCondLst>
                              <p:cond delay="1000"/>
                            </p:stCondLst>
                            <p:childTnLst>
                              <p:par>
                                <p:cTn id="31" presetID="22" presetClass="entr" presetSubtype="8" fill="hold" nodeType="after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wipe(left)">
                                      <p:cBhvr>
                                        <p:cTn id="33" dur="2000"/>
                                        <p:tgtEl>
                                          <p:spTgt spid="2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nodeType="click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wipe(up)">
                                      <p:cBhvr>
                                        <p:cTn id="38" dur="1000"/>
                                        <p:tgtEl>
                                          <p:spTgt spid="25"/>
                                        </p:tgtEl>
                                      </p:cBhvr>
                                    </p:animEffect>
                                  </p:childTnLst>
                                </p:cTn>
                              </p:par>
                            </p:childTnLst>
                          </p:cTn>
                        </p:par>
                        <p:par>
                          <p:cTn id="39" fill="hold" nodeType="afterGroup">
                            <p:stCondLst>
                              <p:cond delay="1000"/>
                            </p:stCondLst>
                            <p:childTnLst>
                              <p:par>
                                <p:cTn id="40" presetID="22" presetClass="entr" presetSubtype="1" fill="hold" nodeType="after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wipe(up)">
                                      <p:cBhvr>
                                        <p:cTn id="42" dur="1000"/>
                                        <p:tgtEl>
                                          <p:spTgt spid="2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nodeType="click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wipe(up)">
                                      <p:cBhvr>
                                        <p:cTn id="47" dur="1000"/>
                                        <p:tgtEl>
                                          <p:spTgt spid="26"/>
                                        </p:tgtEl>
                                      </p:cBhvr>
                                    </p:animEffect>
                                  </p:childTnLst>
                                </p:cTn>
                              </p:par>
                            </p:childTnLst>
                          </p:cTn>
                        </p:par>
                        <p:par>
                          <p:cTn id="48" fill="hold" nodeType="afterGroup">
                            <p:stCondLst>
                              <p:cond delay="1000"/>
                            </p:stCondLst>
                            <p:childTnLst>
                              <p:par>
                                <p:cTn id="49" presetID="22" presetClass="entr" presetSubtype="1" fill="hold" nodeType="after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wipe(up)">
                                      <p:cBhvr>
                                        <p:cTn id="51" dur="1000"/>
                                        <p:tgtEl>
                                          <p:spTgt spid="28"/>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1" fill="hold" nodeType="clickEffect">
                                  <p:stCondLst>
                                    <p:cond delay="0"/>
                                  </p:stCondLst>
                                  <p:childTnLst>
                                    <p:set>
                                      <p:cBhvr>
                                        <p:cTn id="55" dur="1" fill="hold">
                                          <p:stCondLst>
                                            <p:cond delay="0"/>
                                          </p:stCondLst>
                                        </p:cTn>
                                        <p:tgtEl>
                                          <p:spTgt spid="36886"/>
                                        </p:tgtEl>
                                        <p:attrNameLst>
                                          <p:attrName>style.visibility</p:attrName>
                                        </p:attrNameLst>
                                      </p:cBhvr>
                                      <p:to>
                                        <p:strVal val="visible"/>
                                      </p:to>
                                    </p:set>
                                    <p:animEffect transition="in" filter="wipe(up)">
                                      <p:cBhvr>
                                        <p:cTn id="56" dur="1000"/>
                                        <p:tgtEl>
                                          <p:spTgt spid="368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6" grpId="0"/>
      <p:bldP spid="17" grpId="0"/>
      <p:bldP spid="21" grpId="0"/>
      <p:bldP spid="25" grpId="0"/>
      <p:bldP spid="26"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7427057-FF62-E89D-9271-DA6D10EAB1D1}"/>
              </a:ext>
            </a:extLst>
          </p:cNvPr>
          <p:cNvSpPr>
            <a:spLocks noChangeArrowheads="1"/>
          </p:cNvSpPr>
          <p:nvPr/>
        </p:nvSpPr>
        <p:spPr bwMode="auto">
          <a:xfrm>
            <a:off x="0" y="471488"/>
            <a:ext cx="6286500" cy="58420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anchor="ctr">
            <a:spAutoFit/>
          </a:bodyPr>
          <a:lstStyle/>
          <a:p>
            <a:pPr marL="0" lvl="1" indent="306388" eaLnBrk="0" hangingPunct="0">
              <a:defRPr/>
            </a:pPr>
            <a:r>
              <a:rPr lang="en-US" altLang="en-US" sz="3200" dirty="0">
                <a:solidFill>
                  <a:srgbClr val="800080"/>
                </a:solidFill>
                <a:latin typeface="Arial" pitchFamily="34" charset="0"/>
                <a:ea typeface="微软雅黑" pitchFamily="34" charset="-122"/>
                <a:cs typeface="Arial" pitchFamily="34" charset="0"/>
              </a:rPr>
              <a:t>11</a:t>
            </a:r>
            <a:r>
              <a:rPr lang="en-US" altLang="zh-CN" sz="3200" dirty="0">
                <a:solidFill>
                  <a:srgbClr val="800080"/>
                </a:solidFill>
                <a:latin typeface="Arial" pitchFamily="34" charset="0"/>
                <a:ea typeface="微软雅黑" pitchFamily="34" charset="-122"/>
                <a:cs typeface="Arial" pitchFamily="34" charset="0"/>
              </a:rPr>
              <a:t>.6.2  </a:t>
            </a:r>
            <a:r>
              <a:rPr kumimoji="0" lang="zh-CN" altLang="en-US" sz="3200" kern="0" dirty="0">
                <a:solidFill>
                  <a:srgbClr val="003399"/>
                </a:solidFill>
                <a:latin typeface="微软雅黑" pitchFamily="34" charset="-122"/>
                <a:ea typeface="微软雅黑" pitchFamily="34" charset="-122"/>
              </a:rPr>
              <a:t>循环码的编解码方法</a:t>
            </a:r>
            <a:endParaRPr lang="zh-CN" altLang="en-US" sz="3200" i="1" dirty="0">
              <a:solidFill>
                <a:srgbClr val="990099"/>
              </a:solidFill>
              <a:latin typeface="微软雅黑" pitchFamily="34" charset="-122"/>
              <a:ea typeface="微软雅黑" pitchFamily="34" charset="-122"/>
            </a:endParaRPr>
          </a:p>
        </p:txBody>
      </p:sp>
      <p:sp>
        <p:nvSpPr>
          <p:cNvPr id="8" name="矩形 7">
            <a:extLst>
              <a:ext uri="{FF2B5EF4-FFF2-40B4-BE49-F238E27FC236}">
                <a16:creationId xmlns:a16="http://schemas.microsoft.com/office/drawing/2014/main" id="{79AAB11B-2A27-6402-A2B8-5D2DF8D1FBF7}"/>
              </a:ext>
            </a:extLst>
          </p:cNvPr>
          <p:cNvSpPr/>
          <p:nvPr/>
        </p:nvSpPr>
        <p:spPr>
          <a:xfrm>
            <a:off x="857250" y="1143000"/>
            <a:ext cx="3000375" cy="523875"/>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marL="228600" indent="-228600">
              <a:spcBef>
                <a:spcPct val="20000"/>
              </a:spcBef>
              <a:buClr>
                <a:srgbClr val="3333CC"/>
              </a:buClr>
              <a:buSzPct val="50000"/>
              <a:defRPr/>
            </a:pPr>
            <a:r>
              <a:rPr lang="en-US" altLang="zh-CN" sz="2800" dirty="0">
                <a:solidFill>
                  <a:srgbClr val="990099"/>
                </a:solidFill>
                <a:latin typeface="黑体" pitchFamily="2" charset="-122"/>
                <a:ea typeface="黑体" pitchFamily="2" charset="-122"/>
              </a:rPr>
              <a:t>1. </a:t>
            </a:r>
            <a:r>
              <a:rPr kumimoji="0" lang="zh-CN" altLang="en-US" sz="2800" kern="0" dirty="0">
                <a:solidFill>
                  <a:srgbClr val="990099"/>
                </a:solidFill>
                <a:latin typeface="黑体" pitchFamily="2" charset="-122"/>
                <a:ea typeface="黑体" pitchFamily="2" charset="-122"/>
              </a:rPr>
              <a:t>循环码的编码</a:t>
            </a:r>
          </a:p>
        </p:txBody>
      </p:sp>
      <p:sp>
        <p:nvSpPr>
          <p:cNvPr id="29" name="矩形 28">
            <a:extLst>
              <a:ext uri="{FF2B5EF4-FFF2-40B4-BE49-F238E27FC236}">
                <a16:creationId xmlns:a16="http://schemas.microsoft.com/office/drawing/2014/main" id="{6F908646-93CC-16FD-2456-D990DA51DD0D}"/>
              </a:ext>
            </a:extLst>
          </p:cNvPr>
          <p:cNvSpPr/>
          <p:nvPr/>
        </p:nvSpPr>
        <p:spPr>
          <a:xfrm>
            <a:off x="857250" y="2571750"/>
            <a:ext cx="5857875" cy="461963"/>
          </a:xfrm>
          <a:prstGeom prst="rect">
            <a:avLst/>
          </a:prstGeom>
        </p:spPr>
        <p:txBody>
          <a:bodyPr>
            <a:spAutoFit/>
          </a:bodyPr>
          <a:lstStyle/>
          <a:p>
            <a:pPr>
              <a:defRPr/>
            </a:pP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设</a:t>
            </a:r>
            <a:r>
              <a:rPr kumimoji="0" lang="zh-CN" altLang="en-US" sz="2000" kern="0" dirty="0">
                <a:solidFill>
                  <a:schemeClr val="tx1"/>
                </a:solidFill>
                <a:latin typeface="Arial" pitchFamily="34" charset="0"/>
                <a:ea typeface="微软雅黑" pitchFamily="34" charset="-122"/>
                <a:cs typeface="Arial" pitchFamily="34" charset="0"/>
              </a:rPr>
              <a:t> </a:t>
            </a:r>
            <a:r>
              <a:rPr lang="zh-CN" altLang="en-US" sz="2000" dirty="0">
                <a:solidFill>
                  <a:schemeClr val="tx1"/>
                </a:solidFill>
                <a:latin typeface="Arial" pitchFamily="34" charset="0"/>
                <a:ea typeface="微软雅黑" pitchFamily="34" charset="-122"/>
                <a:cs typeface="Arial" pitchFamily="34" charset="0"/>
              </a:rPr>
              <a:t>信息码 </a:t>
            </a:r>
            <a:r>
              <a:rPr lang="en-US" altLang="zh-CN" sz="2400" dirty="0">
                <a:solidFill>
                  <a:schemeClr val="tx1"/>
                </a:solidFill>
                <a:latin typeface="Arial" pitchFamily="34" charset="0"/>
                <a:ea typeface="微软雅黑" pitchFamily="34" charset="-122"/>
                <a:cs typeface="Arial" pitchFamily="34" charset="0"/>
              </a:rPr>
              <a:t>(</a:t>
            </a:r>
            <a:r>
              <a:rPr lang="en-US" altLang="zh-CN" sz="2400" i="1" dirty="0">
                <a:solidFill>
                  <a:schemeClr val="tx1"/>
                </a:solidFill>
                <a:latin typeface="Arial" pitchFamily="34" charset="0"/>
                <a:ea typeface="微软雅黑" pitchFamily="34" charset="-122"/>
                <a:cs typeface="Arial" pitchFamily="34" charset="0"/>
              </a:rPr>
              <a:t>a</a:t>
            </a:r>
            <a:r>
              <a:rPr lang="en-US" altLang="zh-CN" sz="2400" i="1" baseline="-25000" dirty="0">
                <a:solidFill>
                  <a:schemeClr val="tx1"/>
                </a:solidFill>
                <a:latin typeface="Arial" pitchFamily="34" charset="0"/>
                <a:ea typeface="微软雅黑" pitchFamily="34" charset="-122"/>
                <a:cs typeface="Arial" pitchFamily="34" charset="0"/>
              </a:rPr>
              <a:t>n</a:t>
            </a:r>
            <a:r>
              <a:rPr lang="en-US" altLang="zh-CN" sz="2400" baseline="-25000" dirty="0">
                <a:solidFill>
                  <a:schemeClr val="tx1"/>
                </a:solidFill>
                <a:latin typeface="Arial" pitchFamily="34" charset="0"/>
                <a:ea typeface="微软雅黑" pitchFamily="34" charset="-122"/>
                <a:cs typeface="Arial" pitchFamily="34" charset="0"/>
              </a:rPr>
              <a:t>-1</a:t>
            </a:r>
            <a:r>
              <a:rPr lang="en-US" altLang="zh-CN" sz="2400" dirty="0">
                <a:solidFill>
                  <a:schemeClr val="tx1"/>
                </a:solidFill>
                <a:latin typeface="Arial" pitchFamily="34" charset="0"/>
                <a:ea typeface="微软雅黑" pitchFamily="34" charset="-122"/>
                <a:cs typeface="Arial" pitchFamily="34" charset="0"/>
              </a:rPr>
              <a:t> </a:t>
            </a:r>
            <a:r>
              <a:rPr lang="en-US" altLang="zh-CN" sz="2400" i="1" dirty="0">
                <a:solidFill>
                  <a:schemeClr val="tx1"/>
                </a:solidFill>
                <a:latin typeface="Arial" pitchFamily="34" charset="0"/>
                <a:ea typeface="微软雅黑" pitchFamily="34" charset="-122"/>
                <a:cs typeface="Arial" pitchFamily="34" charset="0"/>
              </a:rPr>
              <a:t>a</a:t>
            </a:r>
            <a:r>
              <a:rPr lang="en-US" altLang="zh-CN" sz="2400" i="1" baseline="-25000" dirty="0">
                <a:solidFill>
                  <a:schemeClr val="tx1"/>
                </a:solidFill>
                <a:latin typeface="Arial" pitchFamily="34" charset="0"/>
                <a:ea typeface="微软雅黑" pitchFamily="34" charset="-122"/>
                <a:cs typeface="Arial" pitchFamily="34" charset="0"/>
              </a:rPr>
              <a:t>n</a:t>
            </a:r>
            <a:r>
              <a:rPr lang="en-US" altLang="zh-CN" sz="2400" baseline="-25000" dirty="0">
                <a:solidFill>
                  <a:schemeClr val="tx1"/>
                </a:solidFill>
                <a:latin typeface="Arial" pitchFamily="34" charset="0"/>
                <a:ea typeface="微软雅黑" pitchFamily="34" charset="-122"/>
                <a:cs typeface="Arial" pitchFamily="34" charset="0"/>
              </a:rPr>
              <a:t>-2</a:t>
            </a:r>
            <a:r>
              <a:rPr lang="en-US" altLang="zh-CN" sz="2400" dirty="0">
                <a:solidFill>
                  <a:schemeClr val="tx1"/>
                </a:solidFill>
                <a:latin typeface="Arial" pitchFamily="34" charset="0"/>
                <a:ea typeface="微软雅黑" pitchFamily="34" charset="-122"/>
                <a:cs typeface="Arial" pitchFamily="34" charset="0"/>
              </a:rPr>
              <a:t> …</a:t>
            </a:r>
            <a:r>
              <a:rPr lang="en-US" altLang="zh-CN" sz="2400" i="1" dirty="0">
                <a:solidFill>
                  <a:schemeClr val="tx1"/>
                </a:solidFill>
                <a:latin typeface="Arial" pitchFamily="34" charset="0"/>
                <a:ea typeface="微软雅黑" pitchFamily="34" charset="-122"/>
                <a:cs typeface="Arial" pitchFamily="34" charset="0"/>
              </a:rPr>
              <a:t>a</a:t>
            </a:r>
            <a:r>
              <a:rPr lang="en-US" altLang="zh-CN" sz="2400" baseline="-25000" dirty="0">
                <a:solidFill>
                  <a:schemeClr val="tx1"/>
                </a:solidFill>
                <a:latin typeface="Arial" pitchFamily="34" charset="0"/>
                <a:ea typeface="微软雅黑" pitchFamily="34" charset="-122"/>
                <a:cs typeface="Arial" pitchFamily="34" charset="0"/>
              </a:rPr>
              <a:t>n-k</a:t>
            </a:r>
            <a:r>
              <a:rPr lang="en-US" altLang="zh-CN" sz="2400" dirty="0">
                <a:solidFill>
                  <a:schemeClr val="tx1"/>
                </a:solidFill>
                <a:latin typeface="Arial" pitchFamily="34" charset="0"/>
                <a:ea typeface="微软雅黑" pitchFamily="34" charset="-122"/>
                <a:cs typeface="Arial" pitchFamily="34" charset="0"/>
              </a:rPr>
              <a:t>) </a:t>
            </a:r>
            <a:r>
              <a:rPr lang="zh-CN" altLang="en-US" sz="2000" b="0" dirty="0">
                <a:solidFill>
                  <a:schemeClr val="tx1"/>
                </a:solidFill>
                <a:latin typeface="Arial" pitchFamily="34" charset="0"/>
                <a:ea typeface="微软雅黑" pitchFamily="34" charset="-122"/>
                <a:cs typeface="Arial" pitchFamily="34" charset="0"/>
              </a:rPr>
              <a:t>的</a:t>
            </a:r>
            <a:r>
              <a:rPr lang="zh-CN" altLang="en-US" sz="2000" b="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多项式为：</a:t>
            </a:r>
            <a:r>
              <a:rPr lang="en-US" altLang="zh-CN" sz="2000" b="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endParaRPr lang="zh-CN" altLang="en-US" sz="2400" dirty="0">
              <a:solidFill>
                <a:schemeClr val="tx1"/>
              </a:solidFill>
              <a:latin typeface="Arial" pitchFamily="34" charset="0"/>
              <a:ea typeface="微软雅黑" pitchFamily="34" charset="-122"/>
              <a:cs typeface="Arial" pitchFamily="34" charset="0"/>
            </a:endParaRPr>
          </a:p>
        </p:txBody>
      </p:sp>
      <p:sp>
        <p:nvSpPr>
          <p:cNvPr id="30" name="矩形 29">
            <a:extLst>
              <a:ext uri="{FF2B5EF4-FFF2-40B4-BE49-F238E27FC236}">
                <a16:creationId xmlns:a16="http://schemas.microsoft.com/office/drawing/2014/main" id="{06215FDA-F2DE-94FA-E0A3-4E80107D9405}"/>
              </a:ext>
            </a:extLst>
          </p:cNvPr>
          <p:cNvSpPr/>
          <p:nvPr/>
        </p:nvSpPr>
        <p:spPr>
          <a:xfrm>
            <a:off x="1214438" y="3286125"/>
            <a:ext cx="4929187" cy="461963"/>
          </a:xfrm>
          <a:prstGeom prst="rect">
            <a:avLst/>
          </a:prstGeom>
          <a:ln w="38100" cmpd="dbl">
            <a:solidFill>
              <a:schemeClr val="bg2">
                <a:lumMod val="50000"/>
                <a:lumOff val="50000"/>
              </a:schemeClr>
            </a:solidFill>
          </a:ln>
        </p:spPr>
        <p:txBody>
          <a:bodyPr>
            <a:spAutoFit/>
          </a:bodyPr>
          <a:lstStyle/>
          <a:p>
            <a:pPr>
              <a:defRPr/>
            </a:pPr>
            <a:r>
              <a:rPr lang="en-US" altLang="zh-CN" sz="2000" b="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r>
              <a:rPr lang="en-US" altLang="zh-CN" sz="2400" i="1" dirty="0">
                <a:solidFill>
                  <a:srgbClr val="0000CC"/>
                </a:solidFill>
                <a:latin typeface="Arial" pitchFamily="34" charset="0"/>
                <a:ea typeface="微软雅黑" pitchFamily="34" charset="-122"/>
                <a:cs typeface="Arial" pitchFamily="34" charset="0"/>
              </a:rPr>
              <a:t>m</a:t>
            </a:r>
            <a:r>
              <a:rPr lang="en-US" altLang="zh-CN" sz="2400" dirty="0">
                <a:solidFill>
                  <a:srgbClr val="0000CC"/>
                </a:solidFill>
                <a:latin typeface="Arial" pitchFamily="34" charset="0"/>
                <a:ea typeface="微软雅黑" pitchFamily="34" charset="-122"/>
                <a:cs typeface="Arial" pitchFamily="34" charset="0"/>
              </a:rPr>
              <a:t>(x)</a:t>
            </a:r>
            <a:r>
              <a:rPr lang="en-US" altLang="zh-CN" sz="2400" dirty="0">
                <a:solidFill>
                  <a:srgbClr val="000000"/>
                </a:solidFill>
                <a:latin typeface="Arial" pitchFamily="34" charset="0"/>
                <a:ea typeface="微软雅黑" pitchFamily="34" charset="-122"/>
                <a:cs typeface="Arial" pitchFamily="34" charset="0"/>
              </a:rPr>
              <a:t>=</a:t>
            </a:r>
            <a:r>
              <a:rPr lang="en-US" altLang="zh-CN" sz="2400" i="1" dirty="0">
                <a:solidFill>
                  <a:srgbClr val="000000"/>
                </a:solidFill>
                <a:latin typeface="Arial" pitchFamily="34" charset="0"/>
                <a:ea typeface="微软雅黑" pitchFamily="34" charset="-122"/>
                <a:cs typeface="Arial" pitchFamily="34" charset="0"/>
              </a:rPr>
              <a:t> a</a:t>
            </a:r>
            <a:r>
              <a:rPr lang="en-US" altLang="zh-CN" sz="2400" i="1" baseline="-25000" dirty="0">
                <a:solidFill>
                  <a:srgbClr val="000000"/>
                </a:solidFill>
                <a:latin typeface="Arial" pitchFamily="34" charset="0"/>
                <a:ea typeface="微软雅黑" pitchFamily="34" charset="-122"/>
                <a:cs typeface="Arial" pitchFamily="34" charset="0"/>
              </a:rPr>
              <a:t>n</a:t>
            </a:r>
            <a:r>
              <a:rPr lang="en-US" altLang="zh-CN" sz="2400" baseline="-25000" dirty="0">
                <a:solidFill>
                  <a:srgbClr val="000000"/>
                </a:solidFill>
                <a:latin typeface="Arial" pitchFamily="34" charset="0"/>
                <a:ea typeface="微软雅黑" pitchFamily="34" charset="-122"/>
                <a:cs typeface="Arial" pitchFamily="34" charset="0"/>
              </a:rPr>
              <a:t>-1</a:t>
            </a:r>
            <a:r>
              <a:rPr lang="en-US" altLang="zh-CN" sz="2400" i="1" dirty="0">
                <a:solidFill>
                  <a:srgbClr val="000000"/>
                </a:solidFill>
                <a:latin typeface="Arial" pitchFamily="34" charset="0"/>
                <a:ea typeface="微软雅黑" pitchFamily="34" charset="-122"/>
                <a:cs typeface="Arial" pitchFamily="34" charset="0"/>
              </a:rPr>
              <a:t>x</a:t>
            </a:r>
            <a:r>
              <a:rPr lang="en-US" altLang="zh-CN" sz="2400" i="1" baseline="30000" dirty="0">
                <a:solidFill>
                  <a:srgbClr val="000000"/>
                </a:solidFill>
                <a:latin typeface="Arial" pitchFamily="34" charset="0"/>
                <a:ea typeface="微软雅黑" pitchFamily="34" charset="-122"/>
                <a:cs typeface="Arial" pitchFamily="34" charset="0"/>
              </a:rPr>
              <a:t>k</a:t>
            </a:r>
            <a:r>
              <a:rPr lang="en-US" altLang="zh-CN" sz="2400" baseline="30000" dirty="0">
                <a:solidFill>
                  <a:srgbClr val="000000"/>
                </a:solidFill>
                <a:latin typeface="Arial" pitchFamily="34" charset="0"/>
                <a:ea typeface="微软雅黑" pitchFamily="34" charset="-122"/>
                <a:cs typeface="Arial" pitchFamily="34" charset="0"/>
              </a:rPr>
              <a:t>-1</a:t>
            </a:r>
            <a:r>
              <a:rPr kumimoji="0" lang="en-US" altLang="zh-CN" sz="2400" kern="0" dirty="0">
                <a:solidFill>
                  <a:srgbClr val="000000"/>
                </a:solidFill>
                <a:latin typeface="Arial" pitchFamily="34" charset="0"/>
                <a:ea typeface="微软雅黑" pitchFamily="34" charset="-122"/>
                <a:cs typeface="Arial" pitchFamily="34" charset="0"/>
              </a:rPr>
              <a:t>+</a:t>
            </a:r>
            <a:r>
              <a:rPr lang="en-US" altLang="zh-CN" sz="2400" i="1" dirty="0">
                <a:solidFill>
                  <a:srgbClr val="000000"/>
                </a:solidFill>
                <a:latin typeface="Arial" pitchFamily="34" charset="0"/>
                <a:ea typeface="微软雅黑" pitchFamily="34" charset="-122"/>
                <a:cs typeface="Arial" pitchFamily="34" charset="0"/>
              </a:rPr>
              <a:t>a</a:t>
            </a:r>
            <a:r>
              <a:rPr lang="en-US" altLang="zh-CN" sz="2400" i="1" baseline="-25000" dirty="0">
                <a:solidFill>
                  <a:srgbClr val="000000"/>
                </a:solidFill>
                <a:latin typeface="Arial" pitchFamily="34" charset="0"/>
                <a:ea typeface="微软雅黑" pitchFamily="34" charset="-122"/>
                <a:cs typeface="Arial" pitchFamily="34" charset="0"/>
              </a:rPr>
              <a:t>n</a:t>
            </a:r>
            <a:r>
              <a:rPr lang="en-US" altLang="zh-CN" sz="2400" baseline="-25000" dirty="0">
                <a:solidFill>
                  <a:srgbClr val="000000"/>
                </a:solidFill>
                <a:latin typeface="Arial" pitchFamily="34" charset="0"/>
                <a:ea typeface="微软雅黑" pitchFamily="34" charset="-122"/>
                <a:cs typeface="Arial" pitchFamily="34" charset="0"/>
              </a:rPr>
              <a:t>-2</a:t>
            </a:r>
            <a:r>
              <a:rPr lang="en-US" altLang="zh-CN" sz="2400" dirty="0">
                <a:solidFill>
                  <a:srgbClr val="000000"/>
                </a:solidFill>
                <a:latin typeface="Arial" pitchFamily="34" charset="0"/>
                <a:ea typeface="微软雅黑" pitchFamily="34" charset="-122"/>
                <a:cs typeface="Arial" pitchFamily="34" charset="0"/>
              </a:rPr>
              <a:t> </a:t>
            </a:r>
            <a:r>
              <a:rPr lang="en-US" altLang="zh-CN" sz="2400" i="1" dirty="0">
                <a:solidFill>
                  <a:srgbClr val="000000"/>
                </a:solidFill>
                <a:latin typeface="Arial" pitchFamily="34" charset="0"/>
                <a:ea typeface="微软雅黑" pitchFamily="34" charset="-122"/>
                <a:cs typeface="Arial" pitchFamily="34" charset="0"/>
              </a:rPr>
              <a:t>x</a:t>
            </a:r>
            <a:r>
              <a:rPr lang="en-US" altLang="zh-CN" sz="2400" i="1" baseline="30000" dirty="0">
                <a:solidFill>
                  <a:srgbClr val="000000"/>
                </a:solidFill>
                <a:latin typeface="Arial" pitchFamily="34" charset="0"/>
                <a:ea typeface="微软雅黑" pitchFamily="34" charset="-122"/>
                <a:cs typeface="Arial" pitchFamily="34" charset="0"/>
              </a:rPr>
              <a:t>k</a:t>
            </a:r>
            <a:r>
              <a:rPr lang="en-US" altLang="zh-CN" sz="2400" baseline="30000" dirty="0">
                <a:solidFill>
                  <a:srgbClr val="000000"/>
                </a:solidFill>
                <a:latin typeface="Arial" pitchFamily="34" charset="0"/>
                <a:ea typeface="微软雅黑" pitchFamily="34" charset="-122"/>
                <a:cs typeface="Arial" pitchFamily="34" charset="0"/>
              </a:rPr>
              <a:t>-2</a:t>
            </a:r>
            <a:r>
              <a:rPr lang="en-US" altLang="zh-CN" sz="2400" dirty="0">
                <a:solidFill>
                  <a:srgbClr val="000000"/>
                </a:solidFill>
                <a:latin typeface="Arial" pitchFamily="34" charset="0"/>
                <a:ea typeface="微软雅黑" pitchFamily="34" charset="-122"/>
                <a:cs typeface="Arial" pitchFamily="34" charset="0"/>
              </a:rPr>
              <a:t>+ </a:t>
            </a:r>
            <a:r>
              <a:rPr kumimoji="0" lang="en-US" altLang="zh-CN" sz="2400" b="0" dirty="0">
                <a:solidFill>
                  <a:srgbClr val="000000"/>
                </a:solidFill>
                <a:latin typeface="Arial" pitchFamily="34" charset="0"/>
                <a:ea typeface="微软雅黑" pitchFamily="34" charset="-122"/>
                <a:cs typeface="Arial" pitchFamily="34" charset="0"/>
                <a:sym typeface="Symbol" pitchFamily="18" charset="2"/>
              </a:rPr>
              <a:t>⋯</a:t>
            </a:r>
            <a:r>
              <a:rPr lang="en-US" altLang="zh-CN" sz="2400" dirty="0">
                <a:solidFill>
                  <a:srgbClr val="000000"/>
                </a:solidFill>
                <a:latin typeface="Arial" pitchFamily="34" charset="0"/>
                <a:ea typeface="微软雅黑" pitchFamily="34" charset="-122"/>
                <a:cs typeface="Arial" pitchFamily="34" charset="0"/>
              </a:rPr>
              <a:t>  +</a:t>
            </a:r>
            <a:r>
              <a:rPr lang="en-US" altLang="zh-CN" sz="2400" i="1" dirty="0">
                <a:solidFill>
                  <a:srgbClr val="000000"/>
                </a:solidFill>
                <a:latin typeface="Arial" pitchFamily="34" charset="0"/>
                <a:ea typeface="微软雅黑" pitchFamily="34" charset="-122"/>
                <a:cs typeface="Arial" pitchFamily="34" charset="0"/>
              </a:rPr>
              <a:t> a</a:t>
            </a:r>
            <a:r>
              <a:rPr lang="en-US" altLang="zh-CN" sz="2400" i="1" baseline="-25000" dirty="0">
                <a:solidFill>
                  <a:srgbClr val="000000"/>
                </a:solidFill>
                <a:latin typeface="Arial" pitchFamily="34" charset="0"/>
                <a:ea typeface="微软雅黑" pitchFamily="34" charset="-122"/>
                <a:cs typeface="Arial" pitchFamily="34" charset="0"/>
              </a:rPr>
              <a:t>n</a:t>
            </a:r>
            <a:r>
              <a:rPr lang="en-US" altLang="zh-CN" sz="2400" baseline="-25000" dirty="0">
                <a:solidFill>
                  <a:srgbClr val="000000"/>
                </a:solidFill>
                <a:latin typeface="Arial" pitchFamily="34" charset="0"/>
                <a:ea typeface="微软雅黑" pitchFamily="34" charset="-122"/>
                <a:cs typeface="Arial" pitchFamily="34" charset="0"/>
              </a:rPr>
              <a:t>-k</a:t>
            </a:r>
            <a:endParaRPr lang="zh-CN" altLang="en-US" dirty="0"/>
          </a:p>
        </p:txBody>
      </p:sp>
      <p:sp>
        <p:nvSpPr>
          <p:cNvPr id="37897" name="矩形 30">
            <a:extLst>
              <a:ext uri="{FF2B5EF4-FFF2-40B4-BE49-F238E27FC236}">
                <a16:creationId xmlns:a16="http://schemas.microsoft.com/office/drawing/2014/main" id="{037242AB-D38E-C3B6-7FBA-3EBC3B0DEDAC}"/>
              </a:ext>
            </a:extLst>
          </p:cNvPr>
          <p:cNvSpPr>
            <a:spLocks noChangeArrowheads="1"/>
          </p:cNvSpPr>
          <p:nvPr/>
        </p:nvSpPr>
        <p:spPr bwMode="auto">
          <a:xfrm>
            <a:off x="6143625" y="3286125"/>
            <a:ext cx="2682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en-US" altLang="zh-CN" sz="2000" b="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zh-CN" altLang="en-US" sz="2000" b="0">
                <a:solidFill>
                  <a:srgbClr val="000000"/>
                </a:solidFill>
                <a:latin typeface="Arial" panose="020B0604020202020204" pitchFamily="34" charset="0"/>
                <a:ea typeface="微软雅黑" panose="020B0503020204020204" pitchFamily="34" charset="-122"/>
                <a:cs typeface="Arial" panose="020B0604020202020204" pitchFamily="34" charset="0"/>
              </a:rPr>
              <a:t>其最高次数为</a:t>
            </a:r>
            <a:r>
              <a:rPr lang="en-US" altLang="zh-CN" sz="2400" i="1">
                <a:solidFill>
                  <a:srgbClr val="000000"/>
                </a:solidFill>
                <a:latin typeface="Arial" panose="020B0604020202020204" pitchFamily="34" charset="0"/>
                <a:ea typeface="微软雅黑" panose="020B0503020204020204" pitchFamily="34" charset="-122"/>
                <a:cs typeface="Arial" panose="020B0604020202020204" pitchFamily="34" charset="0"/>
              </a:rPr>
              <a:t>k</a:t>
            </a:r>
            <a:r>
              <a:rPr lang="en-US" altLang="zh-CN" sz="2400">
                <a:solidFill>
                  <a:srgbClr val="000000"/>
                </a:solidFill>
                <a:latin typeface="Arial" panose="020B0604020202020204" pitchFamily="34" charset="0"/>
                <a:ea typeface="微软雅黑" panose="020B0503020204020204" pitchFamily="34" charset="-122"/>
                <a:cs typeface="Arial" panose="020B0604020202020204" pitchFamily="34" charset="0"/>
              </a:rPr>
              <a:t>-1</a:t>
            </a:r>
            <a:endParaRPr lang="zh-CN" altLang="en-US" b="0">
              <a:latin typeface="Arial" panose="020B0604020202020204" pitchFamily="34" charset="0"/>
              <a:ea typeface="微软雅黑" panose="020B0503020204020204" pitchFamily="34" charset="-122"/>
              <a:cs typeface="Arial" panose="020B0604020202020204" pitchFamily="34" charset="0"/>
            </a:endParaRPr>
          </a:p>
        </p:txBody>
      </p:sp>
      <p:sp>
        <p:nvSpPr>
          <p:cNvPr id="32" name="Rectangle 10">
            <a:extLst>
              <a:ext uri="{FF2B5EF4-FFF2-40B4-BE49-F238E27FC236}">
                <a16:creationId xmlns:a16="http://schemas.microsoft.com/office/drawing/2014/main" id="{FEB53478-B964-70DE-8B0A-63CD2BBA2957}"/>
              </a:ext>
            </a:extLst>
          </p:cNvPr>
          <p:cNvSpPr>
            <a:spLocks noChangeArrowheads="1"/>
          </p:cNvSpPr>
          <p:nvPr/>
        </p:nvSpPr>
        <p:spPr bwMode="auto">
          <a:xfrm>
            <a:off x="928688" y="4229100"/>
            <a:ext cx="2825750" cy="40005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wrap="none" anchor="ctr">
            <a:spAutoFit/>
          </a:bodyPr>
          <a:lstStyle/>
          <a:p>
            <a:pPr eaLnBrk="0" hangingPunct="0">
              <a:defRPr/>
            </a:pP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rPr>
              <a:t>则</a:t>
            </a:r>
            <a:r>
              <a:rPr lang="zh-CN" altLang="en-US" sz="2000" dirty="0">
                <a:solidFill>
                  <a:schemeClr val="tx1"/>
                </a:solidFill>
                <a:latin typeface="微软雅黑" pitchFamily="34" charset="-122"/>
                <a:ea typeface="微软雅黑" pitchFamily="34" charset="-122"/>
                <a:cs typeface="Times New Roman" pitchFamily="18" charset="0"/>
              </a:rPr>
              <a:t> 循环码</a:t>
            </a:r>
            <a:r>
              <a:rPr lang="zh-CN" altLang="en-US" sz="2000" b="0" dirty="0">
                <a:solidFill>
                  <a:schemeClr val="tx1"/>
                </a:solidFill>
                <a:latin typeface="微软雅黑" pitchFamily="34" charset="-122"/>
                <a:ea typeface="微软雅黑" pitchFamily="34" charset="-122"/>
                <a:cs typeface="Times New Roman" pitchFamily="18" charset="0"/>
              </a:rPr>
              <a:t>的</a:t>
            </a:r>
            <a:r>
              <a:rPr lang="zh-CN" altLang="en-US" sz="2000" dirty="0">
                <a:solidFill>
                  <a:schemeClr val="tx1"/>
                </a:solidFill>
                <a:latin typeface="微软雅黑" pitchFamily="34" charset="-122"/>
                <a:ea typeface="微软雅黑" pitchFamily="34" charset="-122"/>
                <a:cs typeface="Times New Roman" pitchFamily="18" charset="0"/>
              </a:rPr>
              <a:t>多项式</a:t>
            </a:r>
            <a:r>
              <a:rPr lang="zh-CN" altLang="en-US" sz="2000" b="0" dirty="0">
                <a:solidFill>
                  <a:schemeClr val="tx1"/>
                </a:solidFill>
                <a:latin typeface="微软雅黑" pitchFamily="34" charset="-122"/>
                <a:ea typeface="微软雅黑" pitchFamily="34" charset="-122"/>
                <a:cs typeface="Times New Roman" pitchFamily="18" charset="0"/>
              </a:rPr>
              <a:t>为：</a:t>
            </a:r>
            <a:endParaRPr lang="zh-CN" altLang="en-US" sz="2000" b="0" dirty="0">
              <a:solidFill>
                <a:schemeClr val="tx1"/>
              </a:solidFill>
              <a:latin typeface="微软雅黑" pitchFamily="34" charset="-122"/>
              <a:ea typeface="微软雅黑" pitchFamily="34" charset="-122"/>
            </a:endParaRPr>
          </a:p>
        </p:txBody>
      </p:sp>
      <p:graphicFrame>
        <p:nvGraphicFramePr>
          <p:cNvPr id="37890" name="Object 12">
            <a:extLst>
              <a:ext uri="{FF2B5EF4-FFF2-40B4-BE49-F238E27FC236}">
                <a16:creationId xmlns:a16="http://schemas.microsoft.com/office/drawing/2014/main" id="{C6271418-7115-F815-D1A0-3A01D0BF6448}"/>
              </a:ext>
            </a:extLst>
          </p:cNvPr>
          <p:cNvGraphicFramePr>
            <a:graphicFrameLocks noChangeAspect="1"/>
          </p:cNvGraphicFramePr>
          <p:nvPr/>
        </p:nvGraphicFramePr>
        <p:xfrm>
          <a:off x="2068513" y="4000500"/>
          <a:ext cx="6789737" cy="2357438"/>
        </p:xfrm>
        <a:graphic>
          <a:graphicData uri="http://schemas.openxmlformats.org/presentationml/2006/ole">
            <mc:AlternateContent xmlns:mc="http://schemas.openxmlformats.org/markup-compatibility/2006">
              <mc:Choice xmlns:v="urn:schemas-microsoft-com:vml" Requires="v">
                <p:oleObj name="Equation" r:id="rId2" imgW="3098520" imgH="1244520" progId="Equation.DSMT4">
                  <p:embed/>
                </p:oleObj>
              </mc:Choice>
              <mc:Fallback>
                <p:oleObj name="Equation" r:id="rId2" imgW="3098520" imgH="1244520" progId="Equation.DSMT4">
                  <p:embed/>
                  <p:pic>
                    <p:nvPicPr>
                      <p:cNvPr id="0"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8513" y="4000500"/>
                        <a:ext cx="6789737" cy="2357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sp>
        <p:nvSpPr>
          <p:cNvPr id="37899" name="矩形 33">
            <a:extLst>
              <a:ext uri="{FF2B5EF4-FFF2-40B4-BE49-F238E27FC236}">
                <a16:creationId xmlns:a16="http://schemas.microsoft.com/office/drawing/2014/main" id="{06F0341D-F379-354B-44DD-0B1145C100CB}"/>
              </a:ext>
            </a:extLst>
          </p:cNvPr>
          <p:cNvSpPr>
            <a:spLocks noChangeArrowheads="1"/>
          </p:cNvSpPr>
          <p:nvPr/>
        </p:nvSpPr>
        <p:spPr bwMode="auto">
          <a:xfrm>
            <a:off x="1165225" y="4914900"/>
            <a:ext cx="10493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en-US" altLang="zh-CN" sz="2400" i="1">
                <a:solidFill>
                  <a:srgbClr val="0000CC"/>
                </a:solidFill>
                <a:latin typeface="Arial" panose="020B0604020202020204" pitchFamily="34" charset="0"/>
                <a:ea typeface="微软雅黑" panose="020B0503020204020204" pitchFamily="34" charset="-122"/>
                <a:cs typeface="Arial" panose="020B0604020202020204" pitchFamily="34" charset="0"/>
              </a:rPr>
              <a:t>A</a:t>
            </a:r>
            <a:r>
              <a:rPr lang="en-US" altLang="zh-CN" sz="2400">
                <a:solidFill>
                  <a:srgbClr val="0000CC"/>
                </a:solidFill>
                <a:latin typeface="Arial" panose="020B0604020202020204" pitchFamily="34" charset="0"/>
                <a:ea typeface="微软雅黑" panose="020B0503020204020204" pitchFamily="34" charset="-122"/>
                <a:cs typeface="Arial" panose="020B0604020202020204" pitchFamily="34" charset="0"/>
              </a:rPr>
              <a:t>(x)</a:t>
            </a:r>
            <a:r>
              <a:rPr lang="en-US" altLang="zh-CN" sz="240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2400" i="1">
                <a:solidFill>
                  <a:srgbClr val="000000"/>
                </a:solidFill>
                <a:latin typeface="Arial" panose="020B0604020202020204" pitchFamily="34" charset="0"/>
                <a:ea typeface="微软雅黑" panose="020B0503020204020204" pitchFamily="34" charset="-122"/>
                <a:cs typeface="Arial" panose="020B0604020202020204" pitchFamily="34" charset="0"/>
              </a:rPr>
              <a:t> </a:t>
            </a:r>
            <a:endParaRPr lang="zh-CN" altLang="en-US">
              <a:ea typeface="微软雅黑" panose="020B0503020204020204" pitchFamily="34" charset="-122"/>
              <a:cs typeface="Arial" panose="020B0604020202020204" pitchFamily="34" charset="0"/>
            </a:endParaRPr>
          </a:p>
        </p:txBody>
      </p:sp>
      <p:graphicFrame>
        <p:nvGraphicFramePr>
          <p:cNvPr id="37891" name="Object 15">
            <a:extLst>
              <a:ext uri="{FF2B5EF4-FFF2-40B4-BE49-F238E27FC236}">
                <a16:creationId xmlns:a16="http://schemas.microsoft.com/office/drawing/2014/main" id="{545F0025-B8F1-9C8A-6E31-222431851EA8}"/>
              </a:ext>
            </a:extLst>
          </p:cNvPr>
          <p:cNvGraphicFramePr>
            <a:graphicFrameLocks noChangeAspect="1"/>
          </p:cNvGraphicFramePr>
          <p:nvPr/>
        </p:nvGraphicFramePr>
        <p:xfrm>
          <a:off x="1814513" y="5786438"/>
          <a:ext cx="4686300" cy="500062"/>
        </p:xfrm>
        <a:graphic>
          <a:graphicData uri="http://schemas.openxmlformats.org/presentationml/2006/ole">
            <mc:AlternateContent xmlns:mc="http://schemas.openxmlformats.org/markup-compatibility/2006">
              <mc:Choice xmlns:v="urn:schemas-microsoft-com:vml" Requires="v">
                <p:oleObj name="Equation" r:id="rId4" imgW="2260440" imgH="241200" progId="Equation.DSMT4">
                  <p:embed/>
                </p:oleObj>
              </mc:Choice>
              <mc:Fallback>
                <p:oleObj name="Equation" r:id="rId4" imgW="2260440" imgH="241200" progId="Equation.DSMT4">
                  <p:embed/>
                  <p:pic>
                    <p:nvPicPr>
                      <p:cNvPr id="0"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14513" y="5786438"/>
                        <a:ext cx="4686300" cy="50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pic>
        <p:nvPicPr>
          <p:cNvPr id="37900" name="Picture 12">
            <a:extLst>
              <a:ext uri="{FF2B5EF4-FFF2-40B4-BE49-F238E27FC236}">
                <a16:creationId xmlns:a16="http://schemas.microsoft.com/office/drawing/2014/main" id="{318E42A0-5AC4-DC2C-99AA-04EAF416AD2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5813" y="1857375"/>
            <a:ext cx="6357937"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37900"/>
                                        </p:tgtEl>
                                        <p:attrNameLst>
                                          <p:attrName>style.visibility</p:attrName>
                                        </p:attrNameLst>
                                      </p:cBhvr>
                                      <p:to>
                                        <p:strVal val="visible"/>
                                      </p:to>
                                    </p:set>
                                    <p:animEffect transition="in" filter="wipe(up)">
                                      <p:cBhvr>
                                        <p:cTn id="17" dur="1000"/>
                                        <p:tgtEl>
                                          <p:spTgt spid="379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up)">
                                      <p:cBhvr>
                                        <p:cTn id="22" dur="1000"/>
                                        <p:tgtEl>
                                          <p:spTgt spid="2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ipe(up)">
                                      <p:cBhvr>
                                        <p:cTn id="27" dur="1000"/>
                                        <p:tgtEl>
                                          <p:spTgt spid="30"/>
                                        </p:tgtEl>
                                      </p:cBhvr>
                                    </p:animEffect>
                                  </p:childTnLst>
                                </p:cTn>
                              </p:par>
                            </p:childTnLst>
                          </p:cTn>
                        </p:par>
                        <p:par>
                          <p:cTn id="28" fill="hold" nodeType="afterGroup">
                            <p:stCondLst>
                              <p:cond delay="1000"/>
                            </p:stCondLst>
                            <p:childTnLst>
                              <p:par>
                                <p:cTn id="29" presetID="22" presetClass="entr" presetSubtype="8" fill="hold" nodeType="afterEffect">
                                  <p:stCondLst>
                                    <p:cond delay="0"/>
                                  </p:stCondLst>
                                  <p:childTnLst>
                                    <p:set>
                                      <p:cBhvr>
                                        <p:cTn id="30" dur="1" fill="hold">
                                          <p:stCondLst>
                                            <p:cond delay="0"/>
                                          </p:stCondLst>
                                        </p:cTn>
                                        <p:tgtEl>
                                          <p:spTgt spid="37897"/>
                                        </p:tgtEl>
                                        <p:attrNameLst>
                                          <p:attrName>style.visibility</p:attrName>
                                        </p:attrNameLst>
                                      </p:cBhvr>
                                      <p:to>
                                        <p:strVal val="visible"/>
                                      </p:to>
                                    </p:set>
                                    <p:animEffect transition="in" filter="wipe(left)">
                                      <p:cBhvr>
                                        <p:cTn id="31" dur="1000"/>
                                        <p:tgtEl>
                                          <p:spTgt spid="3789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wipe(up)">
                                      <p:cBhvr>
                                        <p:cTn id="36" dur="1000"/>
                                        <p:tgtEl>
                                          <p:spTgt spid="32"/>
                                        </p:tgtEl>
                                      </p:cBhvr>
                                    </p:animEffect>
                                  </p:childTnLst>
                                </p:cTn>
                              </p:par>
                            </p:childTnLst>
                          </p:cTn>
                        </p:par>
                        <p:par>
                          <p:cTn id="37" fill="hold" nodeType="afterGroup">
                            <p:stCondLst>
                              <p:cond delay="1000"/>
                            </p:stCondLst>
                            <p:childTnLst>
                              <p:par>
                                <p:cTn id="38" presetID="22" presetClass="entr" presetSubtype="8" fill="hold" nodeType="afterEffect">
                                  <p:stCondLst>
                                    <p:cond delay="0"/>
                                  </p:stCondLst>
                                  <p:childTnLst>
                                    <p:set>
                                      <p:cBhvr>
                                        <p:cTn id="39" dur="1" fill="hold">
                                          <p:stCondLst>
                                            <p:cond delay="0"/>
                                          </p:stCondLst>
                                        </p:cTn>
                                        <p:tgtEl>
                                          <p:spTgt spid="37899"/>
                                        </p:tgtEl>
                                        <p:attrNameLst>
                                          <p:attrName>style.visibility</p:attrName>
                                        </p:attrNameLst>
                                      </p:cBhvr>
                                      <p:to>
                                        <p:strVal val="visible"/>
                                      </p:to>
                                    </p:set>
                                    <p:animEffect transition="in" filter="wipe(left)">
                                      <p:cBhvr>
                                        <p:cTn id="40" dur="1000"/>
                                        <p:tgtEl>
                                          <p:spTgt spid="37899"/>
                                        </p:tgtEl>
                                      </p:cBhvr>
                                    </p:animEffect>
                                  </p:childTnLst>
                                </p:cTn>
                              </p:par>
                            </p:childTnLst>
                          </p:cTn>
                        </p:par>
                        <p:par>
                          <p:cTn id="41" fill="hold" nodeType="afterGroup">
                            <p:stCondLst>
                              <p:cond delay="2000"/>
                            </p:stCondLst>
                            <p:childTnLst>
                              <p:par>
                                <p:cTn id="42" presetID="22" presetClass="entr" presetSubtype="8" fill="hold" nodeType="afterEffect">
                                  <p:stCondLst>
                                    <p:cond delay="0"/>
                                  </p:stCondLst>
                                  <p:childTnLst>
                                    <p:set>
                                      <p:cBhvr>
                                        <p:cTn id="43" dur="1" fill="hold">
                                          <p:stCondLst>
                                            <p:cond delay="0"/>
                                          </p:stCondLst>
                                        </p:cTn>
                                        <p:tgtEl>
                                          <p:spTgt spid="37890"/>
                                        </p:tgtEl>
                                        <p:attrNameLst>
                                          <p:attrName>style.visibility</p:attrName>
                                        </p:attrNameLst>
                                      </p:cBhvr>
                                      <p:to>
                                        <p:strVal val="visible"/>
                                      </p:to>
                                    </p:set>
                                    <p:animEffect transition="in" filter="wipe(left)">
                                      <p:cBhvr>
                                        <p:cTn id="44" dur="2000"/>
                                        <p:tgtEl>
                                          <p:spTgt spid="37890"/>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1" fill="hold" nodeType="clickEffect">
                                  <p:stCondLst>
                                    <p:cond delay="0"/>
                                  </p:stCondLst>
                                  <p:childTnLst>
                                    <p:set>
                                      <p:cBhvr>
                                        <p:cTn id="48" dur="1" fill="hold">
                                          <p:stCondLst>
                                            <p:cond delay="0"/>
                                          </p:stCondLst>
                                        </p:cTn>
                                        <p:tgtEl>
                                          <p:spTgt spid="37891"/>
                                        </p:tgtEl>
                                        <p:attrNameLst>
                                          <p:attrName>style.visibility</p:attrName>
                                        </p:attrNameLst>
                                      </p:cBhvr>
                                      <p:to>
                                        <p:strVal val="visible"/>
                                      </p:to>
                                    </p:set>
                                    <p:animEffect transition="in" filter="wipe(up)">
                                      <p:cBhvr>
                                        <p:cTn id="49" dur="1000"/>
                                        <p:tgtEl>
                                          <p:spTgt spid="378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animBg="1" autoUpdateAnimBg="0"/>
      <p:bldP spid="29" grpId="0"/>
      <p:bldP spid="30" grpId="0" animBg="1"/>
      <p:bldP spid="37897" grpId="0"/>
      <p:bldP spid="32" grpId="0"/>
      <p:bldP spid="37899"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矩形 45">
            <a:extLst>
              <a:ext uri="{FF2B5EF4-FFF2-40B4-BE49-F238E27FC236}">
                <a16:creationId xmlns:a16="http://schemas.microsoft.com/office/drawing/2014/main" id="{3C921DE2-6219-81E8-5320-D28BDF6CBEC1}"/>
              </a:ext>
            </a:extLst>
          </p:cNvPr>
          <p:cNvSpPr/>
          <p:nvPr/>
        </p:nvSpPr>
        <p:spPr bwMode="auto">
          <a:xfrm>
            <a:off x="857224" y="3357562"/>
            <a:ext cx="7572428" cy="3071834"/>
          </a:xfrm>
          <a:prstGeom prst="rect">
            <a:avLst/>
          </a:prstGeom>
          <a:solidFill>
            <a:schemeClr val="bg2">
              <a:lumMod val="10000"/>
              <a:lumOff val="90000"/>
            </a:schemeClr>
          </a:solidFill>
          <a:ln w="9525" cap="flat" cmpd="sng" algn="ctr">
            <a:solidFill>
              <a:schemeClr val="accent2">
                <a:lumMod val="20000"/>
                <a:lumOff val="80000"/>
              </a:schemeClr>
            </a:solidFill>
            <a:prstDash val="solid"/>
            <a:miter lim="800000"/>
            <a:headEnd type="none" w="med" len="med"/>
            <a:tailEnd type="none" w="med" len="med"/>
          </a:ln>
          <a:effectLst>
            <a:innerShdw blurRad="114300">
              <a:prstClr val="black"/>
            </a:innerShdw>
          </a:effectLst>
        </p:spPr>
        <p:txBody>
          <a:bodyPr wrap="none"/>
          <a:lstStyle/>
          <a:p>
            <a:pPr>
              <a:defRPr/>
            </a:pPr>
            <a:endParaRPr lang="zh-CN" altLang="en-US"/>
          </a:p>
        </p:txBody>
      </p:sp>
      <p:sp>
        <p:nvSpPr>
          <p:cNvPr id="27" name="矩形 26">
            <a:extLst>
              <a:ext uri="{FF2B5EF4-FFF2-40B4-BE49-F238E27FC236}">
                <a16:creationId xmlns:a16="http://schemas.microsoft.com/office/drawing/2014/main" id="{FF91B04F-136B-0416-0BE8-E938559B2583}"/>
              </a:ext>
            </a:extLst>
          </p:cNvPr>
          <p:cNvSpPr/>
          <p:nvPr/>
        </p:nvSpPr>
        <p:spPr>
          <a:xfrm>
            <a:off x="2928938" y="1323975"/>
            <a:ext cx="2357437" cy="461963"/>
          </a:xfrm>
          <a:prstGeom prst="rect">
            <a:avLst/>
          </a:prstGeom>
          <a:ln w="38100" cmpd="dbl">
            <a:solidFill>
              <a:schemeClr val="bg2">
                <a:lumMod val="50000"/>
                <a:lumOff val="50000"/>
              </a:schemeClr>
            </a:solidFill>
          </a:ln>
        </p:spPr>
        <p:txBody>
          <a:bodyPr>
            <a:spAutoFit/>
          </a:bodyPr>
          <a:lstStyle/>
          <a:p>
            <a:pPr>
              <a:defRPr/>
            </a:pPr>
            <a:r>
              <a:rPr lang="en-US" altLang="zh-CN" sz="2400" i="1" dirty="0">
                <a:solidFill>
                  <a:srgbClr val="0000CC"/>
                </a:solidFill>
                <a:latin typeface="Arial" pitchFamily="34" charset="0"/>
                <a:ea typeface="微软雅黑" pitchFamily="34" charset="-122"/>
                <a:cs typeface="Arial" pitchFamily="34" charset="0"/>
              </a:rPr>
              <a:t> A</a:t>
            </a:r>
            <a:r>
              <a:rPr lang="en-US" altLang="zh-CN" sz="2400" dirty="0">
                <a:solidFill>
                  <a:srgbClr val="0000CC"/>
                </a:solidFill>
                <a:latin typeface="Arial" pitchFamily="34" charset="0"/>
                <a:ea typeface="微软雅黑" pitchFamily="34" charset="-122"/>
                <a:cs typeface="Arial" pitchFamily="34" charset="0"/>
              </a:rPr>
              <a:t>(x)</a:t>
            </a:r>
            <a:r>
              <a:rPr lang="en-US" altLang="zh-CN" sz="2400" dirty="0">
                <a:solidFill>
                  <a:srgbClr val="000000"/>
                </a:solidFill>
                <a:latin typeface="Arial" pitchFamily="34" charset="0"/>
                <a:ea typeface="微软雅黑" pitchFamily="34" charset="-122"/>
                <a:cs typeface="Arial" pitchFamily="34" charset="0"/>
              </a:rPr>
              <a:t>=</a:t>
            </a:r>
            <a:r>
              <a:rPr lang="en-US" altLang="zh-CN" sz="2400" i="1" dirty="0">
                <a:solidFill>
                  <a:srgbClr val="0000CC"/>
                </a:solidFill>
                <a:latin typeface="Arial" pitchFamily="34" charset="0"/>
                <a:ea typeface="微软雅黑" pitchFamily="34" charset="-122"/>
                <a:cs typeface="Arial" pitchFamily="34" charset="0"/>
              </a:rPr>
              <a:t> m</a:t>
            </a:r>
            <a:r>
              <a:rPr lang="en-US" altLang="zh-CN" sz="2400" dirty="0">
                <a:solidFill>
                  <a:srgbClr val="0000CC"/>
                </a:solidFill>
                <a:latin typeface="Arial" pitchFamily="34" charset="0"/>
                <a:ea typeface="微软雅黑" pitchFamily="34" charset="-122"/>
                <a:cs typeface="Arial" pitchFamily="34" charset="0"/>
              </a:rPr>
              <a:t>(x)</a:t>
            </a:r>
            <a:r>
              <a:rPr lang="en-US" altLang="zh-CN" sz="2400" i="1" dirty="0">
                <a:solidFill>
                  <a:srgbClr val="0000CC"/>
                </a:solidFill>
                <a:latin typeface="Arial" pitchFamily="34" charset="0"/>
                <a:ea typeface="微软雅黑" pitchFamily="34" charset="-122"/>
                <a:cs typeface="Arial" pitchFamily="34" charset="0"/>
              </a:rPr>
              <a:t>g</a:t>
            </a:r>
            <a:r>
              <a:rPr lang="en-US" altLang="zh-CN" sz="2400" dirty="0">
                <a:solidFill>
                  <a:srgbClr val="0000CC"/>
                </a:solidFill>
                <a:latin typeface="Arial" pitchFamily="34" charset="0"/>
                <a:ea typeface="微软雅黑" pitchFamily="34" charset="-122"/>
                <a:cs typeface="Arial" pitchFamily="34" charset="0"/>
              </a:rPr>
              <a:t>(x)</a:t>
            </a:r>
            <a:endParaRPr lang="zh-CN" altLang="en-US" sz="2400" dirty="0"/>
          </a:p>
        </p:txBody>
      </p:sp>
      <p:sp>
        <p:nvSpPr>
          <p:cNvPr id="28" name="矩形 27">
            <a:extLst>
              <a:ext uri="{FF2B5EF4-FFF2-40B4-BE49-F238E27FC236}">
                <a16:creationId xmlns:a16="http://schemas.microsoft.com/office/drawing/2014/main" id="{B3554CFF-1443-631A-18EB-9EE0E32C814E}"/>
              </a:ext>
            </a:extLst>
          </p:cNvPr>
          <p:cNvSpPr/>
          <p:nvPr/>
        </p:nvSpPr>
        <p:spPr>
          <a:xfrm>
            <a:off x="1130300" y="1143000"/>
            <a:ext cx="441325" cy="400050"/>
          </a:xfrm>
          <a:prstGeom prst="rect">
            <a:avLst/>
          </a:prstGeom>
        </p:spPr>
        <p:txBody>
          <a:bodyPr wrap="none">
            <a:spAutoFit/>
          </a:bodyPr>
          <a:lstStyle/>
          <a:p>
            <a:pPr>
              <a:defRPr/>
            </a:pPr>
            <a:r>
              <a:rPr lang="zh-CN" altLang="en-US" sz="2000" b="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rPr>
              <a:t>即</a:t>
            </a:r>
            <a:endParaRPr lang="zh-CN" altLang="en-US" dirty="0"/>
          </a:p>
        </p:txBody>
      </p:sp>
      <p:sp>
        <p:nvSpPr>
          <p:cNvPr id="36" name="矩形 35">
            <a:extLst>
              <a:ext uri="{FF2B5EF4-FFF2-40B4-BE49-F238E27FC236}">
                <a16:creationId xmlns:a16="http://schemas.microsoft.com/office/drawing/2014/main" id="{8F991333-874E-33EC-4C59-1181BBD65A0C}"/>
              </a:ext>
            </a:extLst>
          </p:cNvPr>
          <p:cNvSpPr/>
          <p:nvPr/>
        </p:nvSpPr>
        <p:spPr>
          <a:xfrm>
            <a:off x="785813" y="3429000"/>
            <a:ext cx="5929312" cy="461963"/>
          </a:xfrm>
          <a:prstGeom prst="rect">
            <a:avLst/>
          </a:prstGeom>
        </p:spPr>
        <p:txBody>
          <a:bodyPr>
            <a:spAutoFit/>
          </a:bodyPr>
          <a:lstStyle/>
          <a:p>
            <a:pPr>
              <a:buFont typeface="Wingdings" pitchFamily="2" charset="2"/>
              <a:buNone/>
              <a:defRPr/>
            </a:pPr>
            <a:r>
              <a:rPr lang="zh-CN" altLang="en-US" sz="2000" dirty="0">
                <a:solidFill>
                  <a:srgbClr val="0000CC"/>
                </a:solidFill>
                <a:latin typeface="Arial" pitchFamily="34" charset="0"/>
                <a:ea typeface="微软雅黑" pitchFamily="34" charset="-122"/>
                <a:cs typeface="Arial" pitchFamily="34" charset="0"/>
              </a:rPr>
              <a:t>（</a:t>
            </a:r>
            <a:r>
              <a:rPr lang="en-US" altLang="zh-CN" sz="2000" dirty="0">
                <a:solidFill>
                  <a:srgbClr val="0000CC"/>
                </a:solidFill>
                <a:latin typeface="Arial" pitchFamily="34" charset="0"/>
                <a:ea typeface="微软雅黑" pitchFamily="34" charset="-122"/>
                <a:cs typeface="Arial" pitchFamily="34" charset="0"/>
              </a:rPr>
              <a:t>1</a:t>
            </a:r>
            <a:r>
              <a:rPr lang="zh-CN" altLang="en-US" sz="2000" dirty="0">
                <a:solidFill>
                  <a:srgbClr val="0000CC"/>
                </a:solidFill>
                <a:latin typeface="Arial" pitchFamily="34" charset="0"/>
                <a:ea typeface="微软雅黑" pitchFamily="34" charset="-122"/>
                <a:cs typeface="Arial" pitchFamily="34" charset="0"/>
              </a:rPr>
              <a:t>）用 </a:t>
            </a:r>
            <a:r>
              <a:rPr lang="en-US" altLang="zh-CN" sz="2400" i="1" dirty="0" err="1">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x</a:t>
            </a:r>
            <a:r>
              <a:rPr lang="en-US" altLang="zh-CN" sz="2400" i="1" baseline="30000" dirty="0" err="1">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n</a:t>
            </a:r>
            <a:r>
              <a:rPr lang="en-US" altLang="zh-CN" sz="2400" baseline="3000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-k</a:t>
            </a:r>
            <a:r>
              <a:rPr lang="zh-CN" altLang="en-US" sz="2000" dirty="0">
                <a:solidFill>
                  <a:srgbClr val="0000CC"/>
                </a:solidFill>
                <a:latin typeface="Arial" pitchFamily="34" charset="0"/>
                <a:ea typeface="微软雅黑" pitchFamily="34" charset="-122"/>
                <a:cs typeface="Arial" pitchFamily="34" charset="0"/>
              </a:rPr>
              <a:t>  乘 </a:t>
            </a:r>
            <a:r>
              <a:rPr lang="en-US" altLang="zh-CN" sz="2400" b="0" i="1" dirty="0">
                <a:solidFill>
                  <a:srgbClr val="0000CC"/>
                </a:solidFill>
                <a:effectLst>
                  <a:outerShdw blurRad="38100" dist="38100" dir="2700000" algn="tl">
                    <a:srgbClr val="000000">
                      <a:alpha val="43137"/>
                    </a:srgbClr>
                  </a:outerShdw>
                </a:effectLst>
                <a:latin typeface="Arial" charset="0"/>
                <a:ea typeface="微软雅黑" pitchFamily="34" charset="-122"/>
                <a:cs typeface="Arial" charset="0"/>
              </a:rPr>
              <a:t>m</a:t>
            </a:r>
            <a:r>
              <a:rPr lang="en-US" altLang="zh-CN" sz="2400" b="0" dirty="0">
                <a:solidFill>
                  <a:srgbClr val="0000CC"/>
                </a:solidFill>
                <a:effectLst>
                  <a:outerShdw blurRad="38100" dist="38100" dir="2700000" algn="tl">
                    <a:srgbClr val="000000">
                      <a:alpha val="43137"/>
                    </a:srgbClr>
                  </a:outerShdw>
                </a:effectLst>
                <a:latin typeface="Arial" charset="0"/>
                <a:ea typeface="微软雅黑" pitchFamily="34" charset="-122"/>
                <a:cs typeface="Arial" charset="0"/>
              </a:rPr>
              <a:t>(x)</a:t>
            </a:r>
            <a:r>
              <a:rPr lang="zh-CN" altLang="en-US" sz="2400" b="0" dirty="0">
                <a:solidFill>
                  <a:srgbClr val="0000CC"/>
                </a:solidFill>
                <a:effectLst>
                  <a:outerShdw blurRad="38100" dist="38100" dir="2700000" algn="tl">
                    <a:srgbClr val="000000">
                      <a:alpha val="43137"/>
                    </a:srgbClr>
                  </a:outerShdw>
                </a:effectLst>
                <a:latin typeface="Arial" charset="0"/>
                <a:ea typeface="微软雅黑" pitchFamily="34" charset="-122"/>
                <a:cs typeface="Arial" charset="0"/>
              </a:rPr>
              <a:t>，</a:t>
            </a:r>
            <a:r>
              <a:rPr lang="zh-CN" altLang="en-US" sz="2000" b="0" dirty="0">
                <a:solidFill>
                  <a:srgbClr val="0000CC"/>
                </a:solidFill>
                <a:effectLst>
                  <a:outerShdw blurRad="38100" dist="38100" dir="2700000" algn="tl">
                    <a:srgbClr val="000000">
                      <a:alpha val="43137"/>
                    </a:srgbClr>
                  </a:outerShdw>
                </a:effectLst>
                <a:latin typeface="Arial" charset="0"/>
                <a:ea typeface="微软雅黑" pitchFamily="34" charset="-122"/>
                <a:cs typeface="Arial" charset="0"/>
              </a:rPr>
              <a:t>得到</a:t>
            </a:r>
            <a:r>
              <a:rPr lang="zh-CN" altLang="en-US" sz="2400" b="0" dirty="0">
                <a:solidFill>
                  <a:srgbClr val="0000CC"/>
                </a:solidFill>
                <a:effectLst>
                  <a:outerShdw blurRad="38100" dist="38100" dir="2700000" algn="tl">
                    <a:srgbClr val="000000">
                      <a:alpha val="43137"/>
                    </a:srgbClr>
                  </a:outerShdw>
                </a:effectLst>
                <a:latin typeface="Arial" charset="0"/>
                <a:ea typeface="微软雅黑" pitchFamily="34" charset="-122"/>
                <a:cs typeface="Arial" charset="0"/>
              </a:rPr>
              <a:t>  </a:t>
            </a:r>
            <a:r>
              <a:rPr lang="en-US" altLang="zh-CN" sz="2400" i="1" dirty="0" err="1">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x</a:t>
            </a:r>
            <a:r>
              <a:rPr lang="en-US" altLang="zh-CN" sz="2400" i="1" baseline="30000" dirty="0" err="1">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n</a:t>
            </a:r>
            <a:r>
              <a:rPr lang="en-US" altLang="zh-CN" sz="2400" baseline="3000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-k</a:t>
            </a:r>
            <a:r>
              <a:rPr lang="zh-CN" altLang="en-US" sz="240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r>
              <a:rPr lang="en-US" altLang="zh-CN" sz="2400" b="0" i="1" dirty="0">
                <a:solidFill>
                  <a:srgbClr val="0000CC"/>
                </a:solidFill>
                <a:effectLst>
                  <a:outerShdw blurRad="38100" dist="38100" dir="2700000" algn="tl">
                    <a:srgbClr val="000000">
                      <a:alpha val="43137"/>
                    </a:srgbClr>
                  </a:outerShdw>
                </a:effectLst>
                <a:latin typeface="Arial" charset="0"/>
                <a:ea typeface="微软雅黑" pitchFamily="34" charset="-122"/>
                <a:cs typeface="Arial" charset="0"/>
              </a:rPr>
              <a:t>m</a:t>
            </a:r>
            <a:r>
              <a:rPr lang="en-US" altLang="zh-CN" sz="2400" b="0" dirty="0">
                <a:solidFill>
                  <a:srgbClr val="0000CC"/>
                </a:solidFill>
                <a:effectLst>
                  <a:outerShdw blurRad="38100" dist="38100" dir="2700000" algn="tl">
                    <a:srgbClr val="000000">
                      <a:alpha val="43137"/>
                    </a:srgbClr>
                  </a:outerShdw>
                </a:effectLst>
                <a:latin typeface="Arial" charset="0"/>
                <a:ea typeface="微软雅黑" pitchFamily="34" charset="-122"/>
                <a:cs typeface="Arial" charset="0"/>
              </a:rPr>
              <a:t>(x)</a:t>
            </a:r>
            <a:r>
              <a:rPr lang="zh-CN" altLang="en-US" sz="240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endParaRPr lang="en-US" altLang="zh-CN" sz="240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p:txBody>
      </p:sp>
      <p:sp>
        <p:nvSpPr>
          <p:cNvPr id="37" name="矩形 36">
            <a:extLst>
              <a:ext uri="{FF2B5EF4-FFF2-40B4-BE49-F238E27FC236}">
                <a16:creationId xmlns:a16="http://schemas.microsoft.com/office/drawing/2014/main" id="{A577DE0C-4E04-0E4D-7A4D-6AC1E3B333C2}"/>
              </a:ext>
            </a:extLst>
          </p:cNvPr>
          <p:cNvSpPr/>
          <p:nvPr/>
        </p:nvSpPr>
        <p:spPr>
          <a:xfrm>
            <a:off x="785813" y="4391025"/>
            <a:ext cx="5472112" cy="461963"/>
          </a:xfrm>
          <a:prstGeom prst="rect">
            <a:avLst/>
          </a:prstGeom>
        </p:spPr>
        <p:txBody>
          <a:bodyPr>
            <a:spAutoFit/>
          </a:bodyPr>
          <a:lstStyle/>
          <a:p>
            <a:pPr>
              <a:defRPr/>
            </a:pPr>
            <a:r>
              <a:rPr lang="zh-CN" altLang="en-US" sz="2000" dirty="0">
                <a:solidFill>
                  <a:srgbClr val="0000CC"/>
                </a:solidFill>
                <a:latin typeface="Arial" pitchFamily="34" charset="0"/>
                <a:ea typeface="微软雅黑" pitchFamily="34" charset="-122"/>
                <a:cs typeface="Arial" pitchFamily="34" charset="0"/>
              </a:rPr>
              <a:t>（</a:t>
            </a:r>
            <a:r>
              <a:rPr lang="en-US" altLang="zh-CN" sz="2000" dirty="0">
                <a:solidFill>
                  <a:srgbClr val="0000CC"/>
                </a:solidFill>
                <a:latin typeface="Arial" pitchFamily="34" charset="0"/>
                <a:ea typeface="微软雅黑" pitchFamily="34" charset="-122"/>
                <a:cs typeface="Arial" pitchFamily="34" charset="0"/>
              </a:rPr>
              <a:t>2</a:t>
            </a:r>
            <a:r>
              <a:rPr lang="zh-CN" altLang="en-US" sz="2000" dirty="0">
                <a:solidFill>
                  <a:srgbClr val="0000CC"/>
                </a:solidFill>
                <a:latin typeface="Arial" pitchFamily="34" charset="0"/>
                <a:ea typeface="微软雅黑" pitchFamily="34" charset="-122"/>
                <a:cs typeface="Arial" pitchFamily="34" charset="0"/>
              </a:rPr>
              <a:t>）作</a:t>
            </a:r>
            <a:r>
              <a:rPr lang="en-US" altLang="zh-CN" sz="2400" b="0" i="1" dirty="0">
                <a:solidFill>
                  <a:srgbClr val="0000CC"/>
                </a:solidFill>
                <a:effectLst>
                  <a:outerShdw blurRad="38100" dist="38100" dir="2700000" algn="tl">
                    <a:srgbClr val="000000">
                      <a:alpha val="43137"/>
                    </a:srgbClr>
                  </a:outerShdw>
                </a:effectLst>
                <a:latin typeface="Arial" charset="0"/>
                <a:ea typeface="微软雅黑" pitchFamily="34" charset="-122"/>
                <a:cs typeface="Arial" charset="0"/>
              </a:rPr>
              <a:t>g</a:t>
            </a:r>
            <a:r>
              <a:rPr lang="en-US" altLang="zh-CN" sz="2400" b="0" dirty="0">
                <a:solidFill>
                  <a:srgbClr val="0000CC"/>
                </a:solidFill>
                <a:effectLst>
                  <a:outerShdw blurRad="38100" dist="38100" dir="2700000" algn="tl">
                    <a:srgbClr val="000000">
                      <a:alpha val="43137"/>
                    </a:srgbClr>
                  </a:outerShdw>
                </a:effectLst>
                <a:latin typeface="Arial" charset="0"/>
                <a:ea typeface="微软雅黑" pitchFamily="34" charset="-122"/>
                <a:cs typeface="Arial" charset="0"/>
              </a:rPr>
              <a:t>(x) </a:t>
            </a:r>
            <a:r>
              <a:rPr lang="zh-CN" altLang="en-US" sz="2000" dirty="0">
                <a:solidFill>
                  <a:srgbClr val="0000CC"/>
                </a:solidFill>
                <a:latin typeface="Arial" pitchFamily="34" charset="0"/>
                <a:ea typeface="微软雅黑" pitchFamily="34" charset="-122"/>
                <a:cs typeface="Arial" pitchFamily="34" charset="0"/>
              </a:rPr>
              <a:t>除  </a:t>
            </a:r>
            <a:r>
              <a:rPr lang="en-US" altLang="zh-CN" sz="2400" i="1" dirty="0" err="1">
                <a:solidFill>
                  <a:srgbClr val="0000CC"/>
                </a:solidFill>
                <a:latin typeface="Arial" pitchFamily="34" charset="0"/>
                <a:ea typeface="微软雅黑" pitchFamily="34" charset="-122"/>
                <a:cs typeface="Arial" pitchFamily="34" charset="0"/>
              </a:rPr>
              <a:t>x</a:t>
            </a:r>
            <a:r>
              <a:rPr lang="en-US" altLang="zh-CN" sz="2400" i="1" baseline="30000" dirty="0" err="1">
                <a:solidFill>
                  <a:srgbClr val="0000CC"/>
                </a:solidFill>
                <a:latin typeface="Arial" pitchFamily="34" charset="0"/>
                <a:ea typeface="微软雅黑" pitchFamily="34" charset="-122"/>
                <a:cs typeface="Arial" pitchFamily="34" charset="0"/>
              </a:rPr>
              <a:t>n</a:t>
            </a:r>
            <a:r>
              <a:rPr lang="en-US" altLang="zh-CN" sz="2400" baseline="30000" dirty="0">
                <a:solidFill>
                  <a:srgbClr val="0000CC"/>
                </a:solidFill>
                <a:latin typeface="Arial" pitchFamily="34" charset="0"/>
                <a:ea typeface="微软雅黑" pitchFamily="34" charset="-122"/>
                <a:cs typeface="Arial" pitchFamily="34" charset="0"/>
              </a:rPr>
              <a:t>-k</a:t>
            </a:r>
            <a:r>
              <a:rPr lang="zh-CN" altLang="en-US" sz="2400" dirty="0">
                <a:solidFill>
                  <a:srgbClr val="0000CC"/>
                </a:solidFill>
                <a:latin typeface="Arial" pitchFamily="34" charset="0"/>
                <a:ea typeface="微软雅黑" pitchFamily="34" charset="-122"/>
                <a:cs typeface="Arial" pitchFamily="34" charset="0"/>
              </a:rPr>
              <a:t> </a:t>
            </a:r>
            <a:r>
              <a:rPr lang="en-US" altLang="zh-CN" sz="2400" b="0" i="1" dirty="0">
                <a:solidFill>
                  <a:srgbClr val="0000CC"/>
                </a:solidFill>
                <a:effectLst>
                  <a:outerShdw blurRad="38100" dist="38100" dir="2700000" algn="tl">
                    <a:srgbClr val="000000">
                      <a:alpha val="43137"/>
                    </a:srgbClr>
                  </a:outerShdw>
                </a:effectLst>
                <a:latin typeface="Arial" charset="0"/>
                <a:ea typeface="微软雅黑" pitchFamily="34" charset="-122"/>
                <a:cs typeface="Arial" charset="0"/>
              </a:rPr>
              <a:t>m</a:t>
            </a:r>
            <a:r>
              <a:rPr lang="en-US" altLang="zh-CN" sz="2400" b="0" dirty="0">
                <a:solidFill>
                  <a:srgbClr val="0000CC"/>
                </a:solidFill>
                <a:effectLst>
                  <a:outerShdw blurRad="38100" dist="38100" dir="2700000" algn="tl">
                    <a:srgbClr val="000000">
                      <a:alpha val="43137"/>
                    </a:srgbClr>
                  </a:outerShdw>
                </a:effectLst>
                <a:latin typeface="Arial" charset="0"/>
                <a:ea typeface="微软雅黑" pitchFamily="34" charset="-122"/>
                <a:cs typeface="Arial" charset="0"/>
              </a:rPr>
              <a:t>(x)</a:t>
            </a:r>
            <a:r>
              <a:rPr lang="zh-CN" altLang="en-US" sz="2400" b="0" dirty="0">
                <a:solidFill>
                  <a:srgbClr val="0000CC"/>
                </a:solidFill>
                <a:effectLst>
                  <a:outerShdw blurRad="38100" dist="38100" dir="2700000" algn="tl">
                    <a:srgbClr val="000000">
                      <a:alpha val="43137"/>
                    </a:srgbClr>
                  </a:outerShdw>
                </a:effectLst>
                <a:latin typeface="Arial" charset="0"/>
                <a:ea typeface="微软雅黑" pitchFamily="34" charset="-122"/>
                <a:cs typeface="Arial" charset="0"/>
              </a:rPr>
              <a:t>，</a:t>
            </a:r>
            <a:r>
              <a:rPr lang="zh-CN" altLang="en-US" sz="2000" b="0"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rPr>
              <a:t>即</a:t>
            </a:r>
            <a:r>
              <a:rPr lang="zh-CN" altLang="en-US" sz="2000" dirty="0">
                <a:solidFill>
                  <a:srgbClr val="0000CC"/>
                </a:solidFill>
                <a:latin typeface="Arial" pitchFamily="34" charset="0"/>
                <a:ea typeface="微软雅黑" pitchFamily="34" charset="-122"/>
                <a:cs typeface="Arial" pitchFamily="34" charset="0"/>
              </a:rPr>
              <a:t>	</a:t>
            </a:r>
          </a:p>
        </p:txBody>
      </p:sp>
      <p:sp>
        <p:nvSpPr>
          <p:cNvPr id="38" name="矩形 37">
            <a:extLst>
              <a:ext uri="{FF2B5EF4-FFF2-40B4-BE49-F238E27FC236}">
                <a16:creationId xmlns:a16="http://schemas.microsoft.com/office/drawing/2014/main" id="{7BD78652-A6B6-0B96-6FEF-6ECE05DF8001}"/>
              </a:ext>
            </a:extLst>
          </p:cNvPr>
          <p:cNvSpPr>
            <a:spLocks noChangeArrowheads="1"/>
          </p:cNvSpPr>
          <p:nvPr/>
        </p:nvSpPr>
        <p:spPr bwMode="auto">
          <a:xfrm>
            <a:off x="1474788" y="3949700"/>
            <a:ext cx="66690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en-US" altLang="zh-CN" sz="180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zh-CN" altLang="en-US" sz="1800">
                <a:solidFill>
                  <a:srgbClr val="000000"/>
                </a:solidFill>
                <a:latin typeface="Arial" panose="020B0604020202020204" pitchFamily="34" charset="0"/>
                <a:ea typeface="微软雅黑" panose="020B0503020204020204" pitchFamily="34" charset="-122"/>
                <a:cs typeface="Arial" panose="020B0604020202020204" pitchFamily="34" charset="0"/>
              </a:rPr>
              <a:t>将信元左移（</a:t>
            </a:r>
            <a:r>
              <a:rPr lang="en-US" altLang="zh-CN" sz="1800" i="1">
                <a:solidFill>
                  <a:srgbClr val="000000"/>
                </a:solidFill>
                <a:latin typeface="Arial" panose="020B0604020202020204" pitchFamily="34" charset="0"/>
                <a:ea typeface="微软雅黑" panose="020B0503020204020204" pitchFamily="34" charset="-122"/>
                <a:cs typeface="Arial" panose="020B0604020202020204" pitchFamily="34" charset="0"/>
              </a:rPr>
              <a:t>n</a:t>
            </a:r>
            <a:r>
              <a:rPr lang="en-US" altLang="zh-CN" sz="1800">
                <a:solidFill>
                  <a:srgbClr val="000000"/>
                </a:solidFill>
                <a:latin typeface="Arial" panose="020B0604020202020204" pitchFamily="34" charset="0"/>
                <a:ea typeface="微软雅黑" panose="020B0503020204020204" pitchFamily="34" charset="-122"/>
                <a:cs typeface="Arial" panose="020B0604020202020204" pitchFamily="34" charset="0"/>
              </a:rPr>
              <a:t> – </a:t>
            </a:r>
            <a:r>
              <a:rPr lang="en-US" altLang="zh-CN" sz="1800" i="1">
                <a:solidFill>
                  <a:srgbClr val="000000"/>
                </a:solidFill>
                <a:latin typeface="Arial" panose="020B0604020202020204" pitchFamily="34" charset="0"/>
                <a:ea typeface="微软雅黑" panose="020B0503020204020204" pitchFamily="34" charset="-122"/>
                <a:cs typeface="Arial" panose="020B0604020202020204" pitchFamily="34" charset="0"/>
              </a:rPr>
              <a:t>k</a:t>
            </a:r>
            <a:r>
              <a:rPr lang="zh-CN" altLang="en-US" sz="1800">
                <a:solidFill>
                  <a:srgbClr val="000000"/>
                </a:solidFill>
                <a:latin typeface="Arial" panose="020B0604020202020204" pitchFamily="34" charset="0"/>
                <a:ea typeface="微软雅黑" panose="020B0503020204020204" pitchFamily="34" charset="-122"/>
                <a:cs typeface="Arial" panose="020B0604020202020204" pitchFamily="34" charset="0"/>
              </a:rPr>
              <a:t>）位，附上（</a:t>
            </a:r>
            <a:r>
              <a:rPr lang="en-US" altLang="zh-CN" sz="1800" i="1">
                <a:solidFill>
                  <a:srgbClr val="000000"/>
                </a:solidFill>
                <a:latin typeface="Arial" panose="020B0604020202020204" pitchFamily="34" charset="0"/>
                <a:ea typeface="微软雅黑" panose="020B0503020204020204" pitchFamily="34" charset="-122"/>
                <a:cs typeface="Arial" panose="020B0604020202020204" pitchFamily="34" charset="0"/>
              </a:rPr>
              <a:t>n</a:t>
            </a:r>
            <a:r>
              <a:rPr lang="en-US" altLang="zh-CN" sz="1800">
                <a:solidFill>
                  <a:srgbClr val="000000"/>
                </a:solidFill>
                <a:latin typeface="Arial" panose="020B0604020202020204" pitchFamily="34" charset="0"/>
                <a:ea typeface="微软雅黑" panose="020B0503020204020204" pitchFamily="34" charset="-122"/>
                <a:cs typeface="Arial" panose="020B0604020202020204" pitchFamily="34" charset="0"/>
              </a:rPr>
              <a:t> – </a:t>
            </a:r>
            <a:r>
              <a:rPr lang="en-US" altLang="zh-CN" sz="1800" i="1">
                <a:solidFill>
                  <a:srgbClr val="000000"/>
                </a:solidFill>
                <a:latin typeface="Arial" panose="020B0604020202020204" pitchFamily="34" charset="0"/>
                <a:ea typeface="微软雅黑" panose="020B0503020204020204" pitchFamily="34" charset="-122"/>
                <a:cs typeface="Arial" panose="020B0604020202020204" pitchFamily="34" charset="0"/>
              </a:rPr>
              <a:t>k</a:t>
            </a:r>
            <a:r>
              <a:rPr lang="zh-CN" altLang="en-US" sz="1800">
                <a:solidFill>
                  <a:srgbClr val="000000"/>
                </a:solidFill>
                <a:latin typeface="Arial" panose="020B0604020202020204" pitchFamily="34" charset="0"/>
                <a:ea typeface="微软雅黑" panose="020B0503020204020204" pitchFamily="34" charset="-122"/>
                <a:cs typeface="Arial" panose="020B0604020202020204" pitchFamily="34" charset="0"/>
              </a:rPr>
              <a:t>）个</a:t>
            </a:r>
            <a:r>
              <a:rPr lang="en-US" altLang="zh-CN" sz="1800">
                <a:solidFill>
                  <a:srgbClr val="000000"/>
                </a:solidFill>
                <a:latin typeface="Arial" panose="020B0604020202020204" pitchFamily="34" charset="0"/>
                <a:ea typeface="微软雅黑" panose="020B0503020204020204" pitchFamily="34" charset="-122"/>
                <a:cs typeface="Arial" panose="020B0604020202020204" pitchFamily="34" charset="0"/>
              </a:rPr>
              <a:t>0</a:t>
            </a:r>
            <a:r>
              <a:rPr lang="zh-CN" altLang="en-US" sz="1800">
                <a:solidFill>
                  <a:srgbClr val="000000"/>
                </a:solidFill>
                <a:latin typeface="Arial" panose="020B0604020202020204" pitchFamily="34" charset="0"/>
                <a:ea typeface="微软雅黑" panose="020B0503020204020204" pitchFamily="34" charset="-122"/>
                <a:cs typeface="Arial" panose="020B0604020202020204" pitchFamily="34" charset="0"/>
              </a:rPr>
              <a:t>，预留给督元。</a:t>
            </a:r>
          </a:p>
        </p:txBody>
      </p:sp>
      <p:graphicFrame>
        <p:nvGraphicFramePr>
          <p:cNvPr id="39" name="Object 19">
            <a:extLst>
              <a:ext uri="{FF2B5EF4-FFF2-40B4-BE49-F238E27FC236}">
                <a16:creationId xmlns:a16="http://schemas.microsoft.com/office/drawing/2014/main" id="{79A10A29-8340-9881-27AB-CAD307544E63}"/>
              </a:ext>
            </a:extLst>
          </p:cNvPr>
          <p:cNvGraphicFramePr>
            <a:graphicFrameLocks noChangeAspect="1"/>
          </p:cNvGraphicFramePr>
          <p:nvPr/>
        </p:nvGraphicFramePr>
        <p:xfrm>
          <a:off x="1643063" y="4929188"/>
          <a:ext cx="2903537" cy="857250"/>
        </p:xfrm>
        <a:graphic>
          <a:graphicData uri="http://schemas.openxmlformats.org/presentationml/2006/ole">
            <mc:AlternateContent xmlns:mc="http://schemas.openxmlformats.org/markup-compatibility/2006">
              <mc:Choice xmlns:v="urn:schemas-microsoft-com:vml" Requires="v">
                <p:oleObj name="Equation" r:id="rId3" imgW="1320480" imgH="393480" progId="Equation.DSMT4">
                  <p:embed/>
                </p:oleObj>
              </mc:Choice>
              <mc:Fallback>
                <p:oleObj name="Equation" r:id="rId3" imgW="1320480" imgH="393480" progId="Equation.DSMT4">
                  <p:embed/>
                  <p:pic>
                    <p:nvPicPr>
                      <p:cNvPr id="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3063" y="4929188"/>
                        <a:ext cx="2903537" cy="857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 name="矩形 39">
            <a:extLst>
              <a:ext uri="{FF2B5EF4-FFF2-40B4-BE49-F238E27FC236}">
                <a16:creationId xmlns:a16="http://schemas.microsoft.com/office/drawing/2014/main" id="{79271AC0-CD2F-FA59-0DB5-C9995D7A6844}"/>
              </a:ext>
            </a:extLst>
          </p:cNvPr>
          <p:cNvSpPr/>
          <p:nvPr/>
        </p:nvSpPr>
        <p:spPr>
          <a:xfrm>
            <a:off x="4643438" y="5072063"/>
            <a:ext cx="3786187" cy="461962"/>
          </a:xfrm>
          <a:prstGeom prst="rect">
            <a:avLst/>
          </a:prstGeom>
        </p:spPr>
        <p:txBody>
          <a:bodyPr>
            <a:spAutoFit/>
          </a:bodyPr>
          <a:lstStyle/>
          <a:p>
            <a:pPr>
              <a:defRPr/>
            </a:pPr>
            <a:r>
              <a:rPr kumimoji="0" lang="en-US" altLang="zh-CN" sz="1800" kern="0" dirty="0">
                <a:solidFill>
                  <a:schemeClr val="tx1"/>
                </a:solidFill>
                <a:latin typeface="Arial" pitchFamily="34" charset="0"/>
                <a:ea typeface="微软雅黑" pitchFamily="34" charset="-122"/>
                <a:cs typeface="Arial" pitchFamily="34" charset="0"/>
              </a:rPr>
              <a:t>——</a:t>
            </a:r>
            <a:r>
              <a:rPr lang="zh-CN" altLang="en-US" sz="1800" dirty="0">
                <a:solidFill>
                  <a:schemeClr val="tx1"/>
                </a:solidFill>
                <a:latin typeface="Arial" pitchFamily="34" charset="0"/>
                <a:ea typeface="微软雅黑" pitchFamily="34" charset="-122"/>
                <a:cs typeface="Arial" pitchFamily="34" charset="0"/>
              </a:rPr>
              <a:t>得到余式</a:t>
            </a:r>
            <a:r>
              <a:rPr lang="en-US" altLang="zh-CN" sz="1800" i="1" dirty="0">
                <a:solidFill>
                  <a:schemeClr val="tx1"/>
                </a:solidFill>
                <a:latin typeface="Arial" pitchFamily="34" charset="0"/>
                <a:ea typeface="微软雅黑" pitchFamily="34" charset="-122"/>
                <a:cs typeface="Arial" pitchFamily="34" charset="0"/>
              </a:rPr>
              <a:t> </a:t>
            </a:r>
            <a:r>
              <a:rPr lang="en-US" altLang="zh-CN" sz="2400" b="0" i="1"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r</a:t>
            </a:r>
            <a:r>
              <a:rPr lang="en-US" altLang="zh-CN" sz="2400" b="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(x)</a:t>
            </a:r>
            <a:r>
              <a:rPr lang="zh-CN" altLang="en-US" sz="1800" dirty="0">
                <a:solidFill>
                  <a:schemeClr val="tx1"/>
                </a:solidFill>
                <a:latin typeface="Arial" pitchFamily="34" charset="0"/>
                <a:ea typeface="微软雅黑" pitchFamily="34" charset="-122"/>
                <a:cs typeface="Arial" pitchFamily="34" charset="0"/>
              </a:rPr>
              <a:t>，</a:t>
            </a:r>
            <a:r>
              <a:rPr kumimoji="0" lang="zh-CN" altLang="en-US" sz="1800" kern="0" dirty="0">
                <a:solidFill>
                  <a:schemeClr val="tx1"/>
                </a:solidFill>
                <a:latin typeface="Arial" pitchFamily="34" charset="0"/>
                <a:ea typeface="微软雅黑" pitchFamily="34" charset="-122"/>
                <a:cs typeface="Arial" pitchFamily="34" charset="0"/>
              </a:rPr>
              <a:t>作为监督码元</a:t>
            </a:r>
            <a:endParaRPr lang="zh-CN" altLang="en-US" sz="1800" dirty="0">
              <a:latin typeface="Arial" pitchFamily="34" charset="0"/>
              <a:ea typeface="微软雅黑" pitchFamily="34" charset="-122"/>
              <a:cs typeface="Arial" pitchFamily="34" charset="0"/>
            </a:endParaRPr>
          </a:p>
        </p:txBody>
      </p:sp>
      <p:sp>
        <p:nvSpPr>
          <p:cNvPr id="35852" name="矩形 40">
            <a:extLst>
              <a:ext uri="{FF2B5EF4-FFF2-40B4-BE49-F238E27FC236}">
                <a16:creationId xmlns:a16="http://schemas.microsoft.com/office/drawing/2014/main" id="{45C879E1-C706-629C-5125-462BDB124861}"/>
              </a:ext>
            </a:extLst>
          </p:cNvPr>
          <p:cNvSpPr>
            <a:spLocks noChangeArrowheads="1"/>
          </p:cNvSpPr>
          <p:nvPr/>
        </p:nvSpPr>
        <p:spPr bwMode="auto">
          <a:xfrm>
            <a:off x="1571625" y="5848350"/>
            <a:ext cx="1108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zh-CN" altLang="en-US" sz="2000">
                <a:solidFill>
                  <a:srgbClr val="000000"/>
                </a:solidFill>
                <a:latin typeface="Arial" panose="020B0604020202020204" pitchFamily="34" charset="0"/>
                <a:ea typeface="微软雅黑" panose="020B0503020204020204" pitchFamily="34" charset="-122"/>
                <a:cs typeface="Arial" panose="020B0604020202020204" pitchFamily="34" charset="0"/>
              </a:rPr>
              <a:t>	</a:t>
            </a:r>
            <a:endParaRPr lang="zh-CN" altLang="en-US">
              <a:ea typeface="微软雅黑" panose="020B0503020204020204" pitchFamily="34" charset="-122"/>
              <a:cs typeface="Arial" panose="020B0604020202020204" pitchFamily="34" charset="0"/>
            </a:endParaRPr>
          </a:p>
        </p:txBody>
      </p:sp>
      <p:sp>
        <p:nvSpPr>
          <p:cNvPr id="42" name="矩形 41">
            <a:extLst>
              <a:ext uri="{FF2B5EF4-FFF2-40B4-BE49-F238E27FC236}">
                <a16:creationId xmlns:a16="http://schemas.microsoft.com/office/drawing/2014/main" id="{D90B6594-FB5F-E2FC-9485-AE4641F86AC0}"/>
              </a:ext>
            </a:extLst>
          </p:cNvPr>
          <p:cNvSpPr>
            <a:spLocks noChangeArrowheads="1"/>
          </p:cNvSpPr>
          <p:nvPr/>
        </p:nvSpPr>
        <p:spPr bwMode="auto">
          <a:xfrm>
            <a:off x="4686300" y="5929313"/>
            <a:ext cx="35004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en-US" altLang="zh-CN" sz="180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zh-CN" altLang="en-US" sz="1800">
                <a:solidFill>
                  <a:srgbClr val="000000"/>
                </a:solidFill>
                <a:latin typeface="Arial" panose="020B0604020202020204" pitchFamily="34" charset="0"/>
                <a:ea typeface="微软雅黑" panose="020B0503020204020204" pitchFamily="34" charset="-122"/>
                <a:cs typeface="Arial" panose="020B0604020202020204" pitchFamily="34" charset="0"/>
              </a:rPr>
              <a:t>即得循环码的码多项式。</a:t>
            </a:r>
            <a:endParaRPr lang="zh-CN" altLang="en-US" sz="1800">
              <a:ea typeface="微软雅黑" panose="020B0503020204020204" pitchFamily="34" charset="-122"/>
              <a:cs typeface="Arial" panose="020B0604020202020204" pitchFamily="34" charset="0"/>
            </a:endParaRPr>
          </a:p>
        </p:txBody>
      </p:sp>
      <p:sp>
        <p:nvSpPr>
          <p:cNvPr id="43" name="矩形 42">
            <a:extLst>
              <a:ext uri="{FF2B5EF4-FFF2-40B4-BE49-F238E27FC236}">
                <a16:creationId xmlns:a16="http://schemas.microsoft.com/office/drawing/2014/main" id="{73C2D34F-34EC-EDD2-B57E-15F84A3831E7}"/>
              </a:ext>
            </a:extLst>
          </p:cNvPr>
          <p:cNvSpPr/>
          <p:nvPr/>
        </p:nvSpPr>
        <p:spPr>
          <a:xfrm>
            <a:off x="2643188" y="2895600"/>
            <a:ext cx="3500437" cy="461963"/>
          </a:xfrm>
          <a:prstGeom prst="rect">
            <a:avLst/>
          </a:prstGeom>
          <a:solidFill>
            <a:schemeClr val="accent2">
              <a:lumMod val="20000"/>
              <a:lumOff val="80000"/>
            </a:schemeClr>
          </a:solidFill>
        </p:spPr>
        <p:txBody>
          <a:bodyPr>
            <a:spAutoFit/>
          </a:bodyPr>
          <a:lstStyle/>
          <a:p>
            <a:pPr>
              <a:buClr>
                <a:srgbClr val="CC3399"/>
              </a:buClr>
              <a:defRPr/>
            </a:pPr>
            <a:r>
              <a:rPr lang="zh-CN" altLang="en-US" sz="2400" b="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系统</a:t>
            </a:r>
            <a:r>
              <a:rPr lang="zh-CN" altLang="en-US" sz="2400" dirty="0">
                <a:solidFill>
                  <a:schemeClr val="tx1"/>
                </a:solidFill>
                <a:latin typeface="微软雅黑" pitchFamily="34" charset="-122"/>
                <a:ea typeface="微软雅黑" pitchFamily="34" charset="-122"/>
              </a:rPr>
              <a:t>循环码的编码步骤：</a:t>
            </a:r>
          </a:p>
        </p:txBody>
      </p:sp>
      <p:sp>
        <p:nvSpPr>
          <p:cNvPr id="44" name="矩形 43">
            <a:extLst>
              <a:ext uri="{FF2B5EF4-FFF2-40B4-BE49-F238E27FC236}">
                <a16:creationId xmlns:a16="http://schemas.microsoft.com/office/drawing/2014/main" id="{EFBCA548-7D95-BC44-3820-E79781ABE06D}"/>
              </a:ext>
            </a:extLst>
          </p:cNvPr>
          <p:cNvSpPr/>
          <p:nvPr/>
        </p:nvSpPr>
        <p:spPr>
          <a:xfrm>
            <a:off x="785813" y="5857875"/>
            <a:ext cx="4000500" cy="461963"/>
          </a:xfrm>
          <a:prstGeom prst="rect">
            <a:avLst/>
          </a:prstGeom>
        </p:spPr>
        <p:txBody>
          <a:bodyPr>
            <a:spAutoFit/>
          </a:bodyPr>
          <a:lstStyle/>
          <a:p>
            <a:pPr>
              <a:defRPr/>
            </a:pPr>
            <a:r>
              <a:rPr lang="zh-CN" altLang="en-US" sz="2000" dirty="0">
                <a:solidFill>
                  <a:srgbClr val="0000CC"/>
                </a:solidFill>
                <a:latin typeface="Arial" pitchFamily="34" charset="0"/>
                <a:ea typeface="微软雅黑" pitchFamily="34" charset="-122"/>
                <a:cs typeface="Arial" pitchFamily="34" charset="0"/>
              </a:rPr>
              <a:t>（</a:t>
            </a:r>
            <a:r>
              <a:rPr lang="en-US" altLang="zh-CN" sz="2000" dirty="0">
                <a:solidFill>
                  <a:srgbClr val="0000CC"/>
                </a:solidFill>
                <a:latin typeface="Arial" pitchFamily="34" charset="0"/>
                <a:ea typeface="微软雅黑" pitchFamily="34" charset="-122"/>
                <a:cs typeface="Arial" pitchFamily="34" charset="0"/>
              </a:rPr>
              <a:t>3</a:t>
            </a:r>
            <a:r>
              <a:rPr lang="zh-CN" altLang="en-US" sz="2000" dirty="0">
                <a:solidFill>
                  <a:srgbClr val="0000CC"/>
                </a:solidFill>
                <a:latin typeface="Arial" pitchFamily="34" charset="0"/>
                <a:ea typeface="微软雅黑" pitchFamily="34" charset="-122"/>
                <a:cs typeface="Arial" pitchFamily="34" charset="0"/>
              </a:rPr>
              <a:t>）作 </a:t>
            </a:r>
            <a:r>
              <a:rPr lang="en-US" altLang="zh-CN" sz="2400" i="1" dirty="0">
                <a:solidFill>
                  <a:srgbClr val="0000CC"/>
                </a:solidFill>
                <a:latin typeface="Arial" pitchFamily="34" charset="0"/>
                <a:ea typeface="微软雅黑" pitchFamily="34" charset="-122"/>
                <a:cs typeface="Arial" pitchFamily="34" charset="0"/>
              </a:rPr>
              <a:t>A</a:t>
            </a:r>
            <a:r>
              <a:rPr lang="en-US" altLang="zh-CN" sz="2400" b="0" dirty="0">
                <a:solidFill>
                  <a:srgbClr val="0000CC"/>
                </a:solidFill>
                <a:effectLst>
                  <a:outerShdw blurRad="38100" dist="38100" dir="2700000" algn="tl">
                    <a:srgbClr val="000000">
                      <a:alpha val="43137"/>
                    </a:srgbClr>
                  </a:outerShdw>
                </a:effectLst>
                <a:latin typeface="Arial" charset="0"/>
                <a:ea typeface="微软雅黑" pitchFamily="34" charset="-122"/>
                <a:cs typeface="Arial" charset="0"/>
              </a:rPr>
              <a:t>(x)</a:t>
            </a:r>
            <a:r>
              <a:rPr lang="zh-CN" altLang="en-US" sz="2400" dirty="0">
                <a:solidFill>
                  <a:srgbClr val="0000CC"/>
                </a:solidFill>
                <a:latin typeface="Arial" pitchFamily="34" charset="0"/>
                <a:ea typeface="微软雅黑" pitchFamily="34" charset="-122"/>
                <a:cs typeface="Arial" pitchFamily="34" charset="0"/>
              </a:rPr>
              <a:t> </a:t>
            </a:r>
            <a:r>
              <a:rPr lang="en-US" altLang="zh-CN" sz="2400" dirty="0">
                <a:solidFill>
                  <a:srgbClr val="0000CC"/>
                </a:solidFill>
                <a:latin typeface="Arial" pitchFamily="34" charset="0"/>
                <a:ea typeface="微软雅黑" pitchFamily="34" charset="-122"/>
                <a:cs typeface="Arial" pitchFamily="34" charset="0"/>
              </a:rPr>
              <a:t>=</a:t>
            </a:r>
            <a:r>
              <a:rPr lang="zh-CN" altLang="en-US" sz="2400" dirty="0">
                <a:solidFill>
                  <a:srgbClr val="0000CC"/>
                </a:solidFill>
                <a:latin typeface="Arial" pitchFamily="34" charset="0"/>
                <a:ea typeface="微软雅黑" pitchFamily="34" charset="-122"/>
                <a:cs typeface="Arial" pitchFamily="34" charset="0"/>
              </a:rPr>
              <a:t> </a:t>
            </a:r>
            <a:r>
              <a:rPr lang="en-US" altLang="zh-CN" sz="2400" i="1" dirty="0" err="1">
                <a:solidFill>
                  <a:srgbClr val="0000CC"/>
                </a:solidFill>
                <a:latin typeface="Arial" pitchFamily="34" charset="0"/>
                <a:ea typeface="微软雅黑" pitchFamily="34" charset="-122"/>
                <a:cs typeface="Arial" pitchFamily="34" charset="0"/>
              </a:rPr>
              <a:t>x</a:t>
            </a:r>
            <a:r>
              <a:rPr lang="en-US" altLang="zh-CN" sz="2400" i="1" baseline="30000" dirty="0" err="1">
                <a:solidFill>
                  <a:srgbClr val="0000CC"/>
                </a:solidFill>
                <a:latin typeface="Arial" pitchFamily="34" charset="0"/>
                <a:ea typeface="微软雅黑" pitchFamily="34" charset="-122"/>
                <a:cs typeface="Arial" pitchFamily="34" charset="0"/>
              </a:rPr>
              <a:t>n</a:t>
            </a:r>
            <a:r>
              <a:rPr lang="en-US" altLang="zh-CN" sz="2400" baseline="30000" dirty="0">
                <a:solidFill>
                  <a:srgbClr val="0000CC"/>
                </a:solidFill>
                <a:latin typeface="Arial" pitchFamily="34" charset="0"/>
                <a:ea typeface="微软雅黑" pitchFamily="34" charset="-122"/>
                <a:cs typeface="Arial" pitchFamily="34" charset="0"/>
              </a:rPr>
              <a:t>-k</a:t>
            </a:r>
            <a:r>
              <a:rPr lang="zh-CN" altLang="en-US" sz="2400" dirty="0">
                <a:solidFill>
                  <a:srgbClr val="0000CC"/>
                </a:solidFill>
                <a:latin typeface="Arial" pitchFamily="34" charset="0"/>
                <a:ea typeface="微软雅黑" pitchFamily="34" charset="-122"/>
                <a:cs typeface="Arial" pitchFamily="34" charset="0"/>
              </a:rPr>
              <a:t> </a:t>
            </a:r>
            <a:r>
              <a:rPr lang="en-US" altLang="zh-CN" sz="2400" b="0" i="1" dirty="0">
                <a:solidFill>
                  <a:srgbClr val="0000CC"/>
                </a:solidFill>
                <a:effectLst>
                  <a:outerShdw blurRad="38100" dist="38100" dir="2700000" algn="tl">
                    <a:srgbClr val="000000">
                      <a:alpha val="43137"/>
                    </a:srgbClr>
                  </a:outerShdw>
                </a:effectLst>
                <a:latin typeface="Arial" charset="0"/>
                <a:ea typeface="微软雅黑" pitchFamily="34" charset="-122"/>
                <a:cs typeface="Arial" charset="0"/>
              </a:rPr>
              <a:t>m</a:t>
            </a:r>
            <a:r>
              <a:rPr lang="en-US" altLang="zh-CN" sz="2400" b="0" dirty="0">
                <a:solidFill>
                  <a:srgbClr val="0000CC"/>
                </a:solidFill>
                <a:effectLst>
                  <a:outerShdw blurRad="38100" dist="38100" dir="2700000" algn="tl">
                    <a:srgbClr val="000000">
                      <a:alpha val="43137"/>
                    </a:srgbClr>
                  </a:outerShdw>
                </a:effectLst>
                <a:latin typeface="Arial" charset="0"/>
                <a:ea typeface="微软雅黑" pitchFamily="34" charset="-122"/>
                <a:cs typeface="Arial" charset="0"/>
              </a:rPr>
              <a:t>(x)+</a:t>
            </a:r>
            <a:r>
              <a:rPr lang="en-US" altLang="zh-CN" sz="2400" b="0" i="1" dirty="0">
                <a:solidFill>
                  <a:srgbClr val="FF0000"/>
                </a:solidFill>
                <a:effectLst>
                  <a:outerShdw blurRad="38100" dist="38100" dir="2700000" algn="tl">
                    <a:srgbClr val="000000">
                      <a:alpha val="43137"/>
                    </a:srgbClr>
                  </a:outerShdw>
                </a:effectLst>
                <a:latin typeface="Arial" charset="0"/>
                <a:ea typeface="微软雅黑" pitchFamily="34" charset="-122"/>
                <a:cs typeface="Arial" charset="0"/>
              </a:rPr>
              <a:t>r</a:t>
            </a:r>
            <a:r>
              <a:rPr lang="en-US" altLang="zh-CN" sz="2400" b="0" dirty="0">
                <a:solidFill>
                  <a:srgbClr val="FF0000"/>
                </a:solidFill>
                <a:effectLst>
                  <a:outerShdw blurRad="38100" dist="38100" dir="2700000" algn="tl">
                    <a:srgbClr val="000000">
                      <a:alpha val="43137"/>
                    </a:srgbClr>
                  </a:outerShdw>
                </a:effectLst>
                <a:latin typeface="Arial" charset="0"/>
                <a:ea typeface="微软雅黑" pitchFamily="34" charset="-122"/>
                <a:cs typeface="Arial" charset="0"/>
              </a:rPr>
              <a:t>(x)</a:t>
            </a:r>
            <a:endParaRPr lang="zh-CN" altLang="en-US" dirty="0">
              <a:solidFill>
                <a:srgbClr val="FF0000"/>
              </a:solidFill>
            </a:endParaRPr>
          </a:p>
        </p:txBody>
      </p:sp>
      <p:sp>
        <p:nvSpPr>
          <p:cNvPr id="45" name="矩形 44">
            <a:extLst>
              <a:ext uri="{FF2B5EF4-FFF2-40B4-BE49-F238E27FC236}">
                <a16:creationId xmlns:a16="http://schemas.microsoft.com/office/drawing/2014/main" id="{E0C134A9-7717-AE43-DBDB-5531F1B9F468}"/>
              </a:ext>
            </a:extLst>
          </p:cNvPr>
          <p:cNvSpPr/>
          <p:nvPr/>
        </p:nvSpPr>
        <p:spPr>
          <a:xfrm>
            <a:off x="5357813" y="1385888"/>
            <a:ext cx="2633662" cy="400050"/>
          </a:xfrm>
          <a:prstGeom prst="rect">
            <a:avLst/>
          </a:prstGeom>
        </p:spPr>
        <p:txBody>
          <a:bodyPr wrap="none">
            <a:spAutoFit/>
          </a:bodyPr>
          <a:lstStyle/>
          <a:p>
            <a:pPr>
              <a:defRPr/>
            </a:pPr>
            <a:r>
              <a:rPr lang="en-US" altLang="zh-CN" sz="2000" b="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a:t>
            </a:r>
            <a:r>
              <a:rPr lang="zh-CN" altLang="en-US" sz="2000" b="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通常是 </a:t>
            </a:r>
            <a:r>
              <a:rPr lang="zh-CN" altLang="en-US" sz="2000" b="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非</a:t>
            </a:r>
            <a:r>
              <a:rPr lang="zh-CN" altLang="en-US" sz="2000" b="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系统码 </a:t>
            </a:r>
            <a:endParaRPr lang="zh-CN" altLang="en-US" dirty="0"/>
          </a:p>
        </p:txBody>
      </p:sp>
      <p:pic>
        <p:nvPicPr>
          <p:cNvPr id="38933" name="Picture 21">
            <a:extLst>
              <a:ext uri="{FF2B5EF4-FFF2-40B4-BE49-F238E27FC236}">
                <a16:creationId xmlns:a16="http://schemas.microsoft.com/office/drawing/2014/main" id="{EE2E792D-8496-3066-50B9-8E88FBE691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500" y="1843088"/>
            <a:ext cx="7858125" cy="94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up)">
                                      <p:cBhvr>
                                        <p:cTn id="7" dur="1000"/>
                                        <p:tgtEl>
                                          <p:spTgt spid="28"/>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wipe(left)">
                                      <p:cBhvr>
                                        <p:cTn id="11" dur="1000"/>
                                        <p:tgtEl>
                                          <p:spTgt spid="2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wipe(left)">
                                      <p:cBhvr>
                                        <p:cTn id="16" dur="2000"/>
                                        <p:tgtEl>
                                          <p:spTgt spid="4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38933"/>
                                        </p:tgtEl>
                                        <p:attrNameLst>
                                          <p:attrName>style.visibility</p:attrName>
                                        </p:attrNameLst>
                                      </p:cBhvr>
                                      <p:to>
                                        <p:strVal val="visible"/>
                                      </p:to>
                                    </p:set>
                                    <p:animEffect transition="in" filter="wipe(up)">
                                      <p:cBhvr>
                                        <p:cTn id="21" dur="1000"/>
                                        <p:tgtEl>
                                          <p:spTgt spid="3893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43"/>
                                        </p:tgtEl>
                                        <p:attrNameLst>
                                          <p:attrName>style.visibility</p:attrName>
                                        </p:attrNameLst>
                                      </p:cBhvr>
                                      <p:to>
                                        <p:strVal val="visible"/>
                                      </p:to>
                                    </p:set>
                                    <p:animEffect transition="in" filter="wipe(up)">
                                      <p:cBhvr>
                                        <p:cTn id="26" dur="1000"/>
                                        <p:tgtEl>
                                          <p:spTgt spid="43"/>
                                        </p:tgtEl>
                                      </p:cBhvr>
                                    </p:animEffect>
                                  </p:childTnLst>
                                </p:cTn>
                              </p:par>
                            </p:childTnLst>
                          </p:cTn>
                        </p:par>
                        <p:par>
                          <p:cTn id="27" fill="hold" nodeType="afterGroup">
                            <p:stCondLst>
                              <p:cond delay="1000"/>
                            </p:stCondLst>
                            <p:childTnLst>
                              <p:par>
                                <p:cTn id="28" presetID="22" presetClass="entr" presetSubtype="1" fill="hold" nodeType="afterEffect">
                                  <p:stCondLst>
                                    <p:cond delay="0"/>
                                  </p:stCondLst>
                                  <p:childTnLst>
                                    <p:set>
                                      <p:cBhvr>
                                        <p:cTn id="29" dur="1" fill="hold">
                                          <p:stCondLst>
                                            <p:cond delay="0"/>
                                          </p:stCondLst>
                                        </p:cTn>
                                        <p:tgtEl>
                                          <p:spTgt spid="46"/>
                                        </p:tgtEl>
                                        <p:attrNameLst>
                                          <p:attrName>style.visibility</p:attrName>
                                        </p:attrNameLst>
                                      </p:cBhvr>
                                      <p:to>
                                        <p:strVal val="visible"/>
                                      </p:to>
                                    </p:set>
                                    <p:animEffect transition="in" filter="wipe(up)">
                                      <p:cBhvr>
                                        <p:cTn id="30" dur="1000"/>
                                        <p:tgtEl>
                                          <p:spTgt spid="4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wipe(up)">
                                      <p:cBhvr>
                                        <p:cTn id="35" dur="1000"/>
                                        <p:tgtEl>
                                          <p:spTgt spid="3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4" fill="hold" nodeType="click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wipe(down)">
                                      <p:cBhvr>
                                        <p:cTn id="40" dur="1000"/>
                                        <p:tgtEl>
                                          <p:spTgt spid="3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1" fill="hold" nodeType="clickEffect">
                                  <p:stCondLst>
                                    <p:cond delay="0"/>
                                  </p:stCondLst>
                                  <p:childTnLst>
                                    <p:set>
                                      <p:cBhvr>
                                        <p:cTn id="44" dur="1" fill="hold">
                                          <p:stCondLst>
                                            <p:cond delay="0"/>
                                          </p:stCondLst>
                                        </p:cTn>
                                        <p:tgtEl>
                                          <p:spTgt spid="37"/>
                                        </p:tgtEl>
                                        <p:attrNameLst>
                                          <p:attrName>style.visibility</p:attrName>
                                        </p:attrNameLst>
                                      </p:cBhvr>
                                      <p:to>
                                        <p:strVal val="visible"/>
                                      </p:to>
                                    </p:set>
                                    <p:animEffect transition="in" filter="wipe(up)">
                                      <p:cBhvr>
                                        <p:cTn id="45" dur="1000"/>
                                        <p:tgtEl>
                                          <p:spTgt spid="37"/>
                                        </p:tgtEl>
                                      </p:cBhvr>
                                    </p:animEffect>
                                  </p:childTnLst>
                                </p:cTn>
                              </p:par>
                            </p:childTnLst>
                          </p:cTn>
                        </p:par>
                        <p:par>
                          <p:cTn id="46" fill="hold" nodeType="afterGroup">
                            <p:stCondLst>
                              <p:cond delay="1000"/>
                            </p:stCondLst>
                            <p:childTnLst>
                              <p:par>
                                <p:cTn id="47" presetID="22" presetClass="entr" presetSubtype="1" fill="hold" nodeType="after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wipe(up)">
                                      <p:cBhvr>
                                        <p:cTn id="49" dur="2000"/>
                                        <p:tgtEl>
                                          <p:spTgt spid="39"/>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4" fill="hold" nodeType="clickEffect">
                                  <p:stCondLst>
                                    <p:cond delay="0"/>
                                  </p:stCondLst>
                                  <p:childTnLst>
                                    <p:set>
                                      <p:cBhvr>
                                        <p:cTn id="53" dur="1" fill="hold">
                                          <p:stCondLst>
                                            <p:cond delay="0"/>
                                          </p:stCondLst>
                                        </p:cTn>
                                        <p:tgtEl>
                                          <p:spTgt spid="40"/>
                                        </p:tgtEl>
                                        <p:attrNameLst>
                                          <p:attrName>style.visibility</p:attrName>
                                        </p:attrNameLst>
                                      </p:cBhvr>
                                      <p:to>
                                        <p:strVal val="visible"/>
                                      </p:to>
                                    </p:set>
                                    <p:animEffect transition="in" filter="wipe(down)">
                                      <p:cBhvr>
                                        <p:cTn id="54" dur="1000"/>
                                        <p:tgtEl>
                                          <p:spTgt spid="40"/>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1" fill="hold" nodeType="clickEffect">
                                  <p:stCondLst>
                                    <p:cond delay="0"/>
                                  </p:stCondLst>
                                  <p:childTnLst>
                                    <p:set>
                                      <p:cBhvr>
                                        <p:cTn id="58" dur="1" fill="hold">
                                          <p:stCondLst>
                                            <p:cond delay="0"/>
                                          </p:stCondLst>
                                        </p:cTn>
                                        <p:tgtEl>
                                          <p:spTgt spid="44"/>
                                        </p:tgtEl>
                                        <p:attrNameLst>
                                          <p:attrName>style.visibility</p:attrName>
                                        </p:attrNameLst>
                                      </p:cBhvr>
                                      <p:to>
                                        <p:strVal val="visible"/>
                                      </p:to>
                                    </p:set>
                                    <p:animEffect transition="in" filter="wipe(up)">
                                      <p:cBhvr>
                                        <p:cTn id="59" dur="1000"/>
                                        <p:tgtEl>
                                          <p:spTgt spid="44"/>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4" fill="hold" nodeType="clickEffect">
                                  <p:stCondLst>
                                    <p:cond delay="0"/>
                                  </p:stCondLst>
                                  <p:childTnLst>
                                    <p:set>
                                      <p:cBhvr>
                                        <p:cTn id="63" dur="1" fill="hold">
                                          <p:stCondLst>
                                            <p:cond delay="0"/>
                                          </p:stCondLst>
                                        </p:cTn>
                                        <p:tgtEl>
                                          <p:spTgt spid="42"/>
                                        </p:tgtEl>
                                        <p:attrNameLst>
                                          <p:attrName>style.visibility</p:attrName>
                                        </p:attrNameLst>
                                      </p:cBhvr>
                                      <p:to>
                                        <p:strVal val="visible"/>
                                      </p:to>
                                    </p:set>
                                    <p:animEffect transition="in" filter="wipe(down)">
                                      <p:cBhvr>
                                        <p:cTn id="64" dur="10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p:bldP spid="36" grpId="0"/>
      <p:bldP spid="37" grpId="0"/>
      <p:bldP spid="38" grpId="0"/>
      <p:bldP spid="40" grpId="0"/>
      <p:bldP spid="42" grpId="0"/>
      <p:bldP spid="43" grpId="0" animBg="1"/>
      <p:bldP spid="44" grpId="0"/>
      <p:bldP spid="45"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64" name="Picture 28">
            <a:extLst>
              <a:ext uri="{FF2B5EF4-FFF2-40B4-BE49-F238E27FC236}">
                <a16:creationId xmlns:a16="http://schemas.microsoft.com/office/drawing/2014/main" id="{DC8C8DAF-DC8C-6BBB-40A1-9F8B2CE8AB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575" y="5700713"/>
            <a:ext cx="7358063"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57" name="Picture 21">
            <a:extLst>
              <a:ext uri="{FF2B5EF4-FFF2-40B4-BE49-F238E27FC236}">
                <a16:creationId xmlns:a16="http://schemas.microsoft.com/office/drawing/2014/main" id="{B812729E-DBC5-36F6-238B-CB19C98D2A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250" y="928688"/>
            <a:ext cx="74295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30">
            <a:extLst>
              <a:ext uri="{FF2B5EF4-FFF2-40B4-BE49-F238E27FC236}">
                <a16:creationId xmlns:a16="http://schemas.microsoft.com/office/drawing/2014/main" id="{270BC5D7-C6E8-8767-2A7F-A1E463765E6C}"/>
              </a:ext>
            </a:extLst>
          </p:cNvPr>
          <p:cNvGrpSpPr>
            <a:grpSpLocks/>
          </p:cNvGrpSpPr>
          <p:nvPr/>
        </p:nvGrpSpPr>
        <p:grpSpPr bwMode="auto">
          <a:xfrm>
            <a:off x="642938" y="714375"/>
            <a:ext cx="714375" cy="571500"/>
            <a:chOff x="285721" y="3286124"/>
            <a:chExt cx="714380" cy="571504"/>
          </a:xfrm>
        </p:grpSpPr>
        <p:grpSp>
          <p:nvGrpSpPr>
            <p:cNvPr id="104461" name="Group 52">
              <a:extLst>
                <a:ext uri="{FF2B5EF4-FFF2-40B4-BE49-F238E27FC236}">
                  <a16:creationId xmlns:a16="http://schemas.microsoft.com/office/drawing/2014/main" id="{4F56FB47-9D25-A05A-3E95-515A7A512C9A}"/>
                </a:ext>
              </a:extLst>
            </p:cNvPr>
            <p:cNvGrpSpPr>
              <a:grpSpLocks/>
            </p:cNvGrpSpPr>
            <p:nvPr/>
          </p:nvGrpSpPr>
          <p:grpSpPr bwMode="auto">
            <a:xfrm>
              <a:off x="285721" y="3286124"/>
              <a:ext cx="714380" cy="571504"/>
              <a:chOff x="1289" y="582"/>
              <a:chExt cx="668" cy="668"/>
            </a:xfrm>
          </p:grpSpPr>
          <p:sp>
            <p:nvSpPr>
              <p:cNvPr id="104463" name="Oval 53">
                <a:extLst>
                  <a:ext uri="{FF2B5EF4-FFF2-40B4-BE49-F238E27FC236}">
                    <a16:creationId xmlns:a16="http://schemas.microsoft.com/office/drawing/2014/main" id="{6F8F621D-9763-2B45-6A0E-F6F641E5CD8E}"/>
                  </a:ext>
                </a:extLst>
              </p:cNvPr>
              <p:cNvSpPr>
                <a:spLocks noChangeArrowheads="1"/>
              </p:cNvSpPr>
              <p:nvPr/>
            </p:nvSpPr>
            <p:spPr bwMode="gray">
              <a:xfrm>
                <a:off x="1289" y="582"/>
                <a:ext cx="668" cy="668"/>
              </a:xfrm>
              <a:prstGeom prst="ellipse">
                <a:avLst/>
              </a:prstGeom>
              <a:solidFill>
                <a:srgbClr val="333333"/>
              </a:soli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04464" name="Oval 54">
                <a:extLst>
                  <a:ext uri="{FF2B5EF4-FFF2-40B4-BE49-F238E27FC236}">
                    <a16:creationId xmlns:a16="http://schemas.microsoft.com/office/drawing/2014/main" id="{48BC2977-7F24-B906-23E8-CD27796D6A0F}"/>
                  </a:ext>
                </a:extLst>
              </p:cNvPr>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04465" name="Oval 55">
                <a:extLst>
                  <a:ext uri="{FF2B5EF4-FFF2-40B4-BE49-F238E27FC236}">
                    <a16:creationId xmlns:a16="http://schemas.microsoft.com/office/drawing/2014/main" id="{98F7A76D-AE70-7561-6D6C-DB498AA1DC46}"/>
                  </a:ext>
                </a:extLst>
              </p:cNvPr>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04466" name="Oval 56">
                <a:extLst>
                  <a:ext uri="{FF2B5EF4-FFF2-40B4-BE49-F238E27FC236}">
                    <a16:creationId xmlns:a16="http://schemas.microsoft.com/office/drawing/2014/main" id="{2ED19FA4-3F3F-7339-F9FA-2E0D3DC72D84}"/>
                  </a:ext>
                </a:extLst>
              </p:cNvPr>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04467" name="Oval 57">
                <a:extLst>
                  <a:ext uri="{FF2B5EF4-FFF2-40B4-BE49-F238E27FC236}">
                    <a16:creationId xmlns:a16="http://schemas.microsoft.com/office/drawing/2014/main" id="{A7BC37A5-8511-C159-51CF-ABEA1CE0B7AC}"/>
                  </a:ext>
                </a:extLst>
              </p:cNvPr>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pSp>
        <p:sp>
          <p:nvSpPr>
            <p:cNvPr id="104462" name="Text Box 29">
              <a:extLst>
                <a:ext uri="{FF2B5EF4-FFF2-40B4-BE49-F238E27FC236}">
                  <a16:creationId xmlns:a16="http://schemas.microsoft.com/office/drawing/2014/main" id="{EBFB90C9-C73C-59B1-BF17-0FD377C51085}"/>
                </a:ext>
              </a:extLst>
            </p:cNvPr>
            <p:cNvSpPr txBox="1">
              <a:spLocks noChangeArrowheads="1"/>
            </p:cNvSpPr>
            <p:nvPr/>
          </p:nvSpPr>
          <p:spPr bwMode="gray">
            <a:xfrm>
              <a:off x="357158" y="3286124"/>
              <a:ext cx="542027" cy="519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a:r>
                <a:rPr kumimoji="0" lang="zh-CN" altLang="en-US" sz="2800">
                  <a:solidFill>
                    <a:srgbClr val="0000CC"/>
                  </a:solidFill>
                  <a:latin typeface="Arial" panose="020B0604020202020204" pitchFamily="34" charset="0"/>
                  <a:ea typeface="宋体" panose="02010600030101010101" pitchFamily="2" charset="-122"/>
                </a:rPr>
                <a:t>例</a:t>
              </a:r>
            </a:p>
          </p:txBody>
        </p:sp>
      </p:grpSp>
      <p:grpSp>
        <p:nvGrpSpPr>
          <p:cNvPr id="4" name="组合 57">
            <a:extLst>
              <a:ext uri="{FF2B5EF4-FFF2-40B4-BE49-F238E27FC236}">
                <a16:creationId xmlns:a16="http://schemas.microsoft.com/office/drawing/2014/main" id="{EB7AAF86-46E7-20E7-4F0B-4396EFEC4BDD}"/>
              </a:ext>
            </a:extLst>
          </p:cNvPr>
          <p:cNvGrpSpPr>
            <a:grpSpLocks/>
          </p:cNvGrpSpPr>
          <p:nvPr/>
        </p:nvGrpSpPr>
        <p:grpSpPr bwMode="auto">
          <a:xfrm>
            <a:off x="785813" y="5715000"/>
            <a:ext cx="984250" cy="642938"/>
            <a:chOff x="2500299" y="3271837"/>
            <a:chExt cx="928700" cy="514351"/>
          </a:xfrm>
        </p:grpSpPr>
        <p:sp>
          <p:nvSpPr>
            <p:cNvPr id="29" name="椭圆 28">
              <a:extLst>
                <a:ext uri="{FF2B5EF4-FFF2-40B4-BE49-F238E27FC236}">
                  <a16:creationId xmlns:a16="http://schemas.microsoft.com/office/drawing/2014/main" id="{5B27E91D-0415-F760-05BF-9EB1A640D6DE}"/>
                </a:ext>
              </a:extLst>
            </p:cNvPr>
            <p:cNvSpPr/>
            <p:nvPr/>
          </p:nvSpPr>
          <p:spPr bwMode="auto">
            <a:xfrm>
              <a:off x="2500299" y="3271837"/>
              <a:ext cx="928700" cy="514351"/>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lstStyle/>
            <a:p>
              <a:pPr>
                <a:defRPr/>
              </a:pPr>
              <a:endParaRPr lang="zh-CN" altLang="en-US" dirty="0"/>
            </a:p>
          </p:txBody>
        </p:sp>
        <p:sp>
          <p:nvSpPr>
            <p:cNvPr id="30" name="矩形 29">
              <a:extLst>
                <a:ext uri="{FF2B5EF4-FFF2-40B4-BE49-F238E27FC236}">
                  <a16:creationId xmlns:a16="http://schemas.microsoft.com/office/drawing/2014/main" id="{2914447D-94BC-77E9-C478-2B88EC8BE81F}"/>
                </a:ext>
              </a:extLst>
            </p:cNvPr>
            <p:cNvSpPr/>
            <p:nvPr/>
          </p:nvSpPr>
          <p:spPr>
            <a:xfrm>
              <a:off x="2539244" y="3320097"/>
              <a:ext cx="855302" cy="419100"/>
            </a:xfrm>
            <a:prstGeom prst="rect">
              <a:avLst/>
            </a:prstGeom>
          </p:spPr>
          <p:txBody>
            <a:bodyPr wrap="none">
              <a:spAutoFit/>
            </a:bodyPr>
            <a:lstStyle/>
            <a:p>
              <a:pPr>
                <a:defRPr/>
              </a:pPr>
              <a:r>
                <a:rPr kumimoji="0" lang="zh-CN" altLang="en-US" sz="2800" b="0" kern="0" dirty="0">
                  <a:solidFill>
                    <a:srgbClr val="FF0000"/>
                  </a:solidFill>
                  <a:effectLst>
                    <a:outerShdw blurRad="38100" dist="38100" dir="2700000" algn="tl">
                      <a:srgbClr val="000000">
                        <a:alpha val="43137"/>
                      </a:srgbClr>
                    </a:outerShdw>
                  </a:effectLst>
                  <a:latin typeface="黑体" pitchFamily="2" charset="-122"/>
                  <a:ea typeface="黑体" pitchFamily="2" charset="-122"/>
                  <a:cs typeface="Arial" pitchFamily="34" charset="0"/>
                </a:rPr>
                <a:t>可见</a:t>
              </a:r>
              <a:endParaRPr lang="zh-CN" altLang="en-US" sz="2800" b="0" dirty="0">
                <a:solidFill>
                  <a:srgbClr val="FF0000"/>
                </a:solidFill>
                <a:effectLst>
                  <a:outerShdw blurRad="38100" dist="38100" dir="2700000" algn="tl">
                    <a:srgbClr val="000000">
                      <a:alpha val="43137"/>
                    </a:srgbClr>
                  </a:outerShdw>
                </a:effectLst>
                <a:latin typeface="黑体" pitchFamily="2" charset="-122"/>
                <a:ea typeface="黑体" pitchFamily="2" charset="-122"/>
              </a:endParaRPr>
            </a:p>
          </p:txBody>
        </p:sp>
      </p:grpSp>
      <p:pic>
        <p:nvPicPr>
          <p:cNvPr id="39958" name="Picture 22">
            <a:extLst>
              <a:ext uri="{FF2B5EF4-FFF2-40B4-BE49-F238E27FC236}">
                <a16:creationId xmlns:a16="http://schemas.microsoft.com/office/drawing/2014/main" id="{F8FED752-A5E4-D98C-9996-CB59FDDE4A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7225" y="2214563"/>
            <a:ext cx="7858125"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59" name="Picture 23">
            <a:extLst>
              <a:ext uri="{FF2B5EF4-FFF2-40B4-BE49-F238E27FC236}">
                <a16:creationId xmlns:a16="http://schemas.microsoft.com/office/drawing/2014/main" id="{5E6D2BB4-32E9-F976-E0CC-54AB4342D4D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3100" y="2890838"/>
            <a:ext cx="7196138"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60" name="Picture 24">
            <a:extLst>
              <a:ext uri="{FF2B5EF4-FFF2-40B4-BE49-F238E27FC236}">
                <a16:creationId xmlns:a16="http://schemas.microsoft.com/office/drawing/2014/main" id="{25460556-CE5B-7E3D-AC66-3A02EE2367F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5538" y="4398963"/>
            <a:ext cx="6929437"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62" name="Picture 26">
            <a:extLst>
              <a:ext uri="{FF2B5EF4-FFF2-40B4-BE49-F238E27FC236}">
                <a16:creationId xmlns:a16="http://schemas.microsoft.com/office/drawing/2014/main" id="{CF447AEC-AFBD-B050-AD7C-E02A4C3AAFE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43438" y="4983163"/>
            <a:ext cx="3729037"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63" name="Picture 27">
            <a:extLst>
              <a:ext uri="{FF2B5EF4-FFF2-40B4-BE49-F238E27FC236}">
                <a16:creationId xmlns:a16="http://schemas.microsoft.com/office/drawing/2014/main" id="{A5EAEF39-14C6-C7AA-E03C-CD6CFF5176C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9925" y="4986338"/>
            <a:ext cx="41259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39957"/>
                                        </p:tgtEl>
                                        <p:attrNameLst>
                                          <p:attrName>style.visibility</p:attrName>
                                        </p:attrNameLst>
                                      </p:cBhvr>
                                      <p:to>
                                        <p:strVal val="visible"/>
                                      </p:to>
                                    </p:set>
                                    <p:animEffect transition="in" filter="wipe(up)">
                                      <p:cBhvr>
                                        <p:cTn id="11" dur="1000"/>
                                        <p:tgtEl>
                                          <p:spTgt spid="3995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39958"/>
                                        </p:tgtEl>
                                        <p:attrNameLst>
                                          <p:attrName>style.visibility</p:attrName>
                                        </p:attrNameLst>
                                      </p:cBhvr>
                                      <p:to>
                                        <p:strVal val="visible"/>
                                      </p:to>
                                    </p:set>
                                    <p:animEffect transition="in" filter="wipe(up)">
                                      <p:cBhvr>
                                        <p:cTn id="16" dur="1000"/>
                                        <p:tgtEl>
                                          <p:spTgt spid="3995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39959"/>
                                        </p:tgtEl>
                                        <p:attrNameLst>
                                          <p:attrName>style.visibility</p:attrName>
                                        </p:attrNameLst>
                                      </p:cBhvr>
                                      <p:to>
                                        <p:strVal val="visible"/>
                                      </p:to>
                                    </p:set>
                                    <p:animEffect transition="in" filter="wipe(up)">
                                      <p:cBhvr>
                                        <p:cTn id="21" dur="1000"/>
                                        <p:tgtEl>
                                          <p:spTgt spid="3995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39960"/>
                                        </p:tgtEl>
                                        <p:attrNameLst>
                                          <p:attrName>style.visibility</p:attrName>
                                        </p:attrNameLst>
                                      </p:cBhvr>
                                      <p:to>
                                        <p:strVal val="visible"/>
                                      </p:to>
                                    </p:set>
                                    <p:animEffect transition="in" filter="wipe(up)">
                                      <p:cBhvr>
                                        <p:cTn id="26" dur="1000"/>
                                        <p:tgtEl>
                                          <p:spTgt spid="3996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39963"/>
                                        </p:tgtEl>
                                        <p:attrNameLst>
                                          <p:attrName>style.visibility</p:attrName>
                                        </p:attrNameLst>
                                      </p:cBhvr>
                                      <p:to>
                                        <p:strVal val="visible"/>
                                      </p:to>
                                    </p:set>
                                    <p:animEffect transition="in" filter="wipe(up)">
                                      <p:cBhvr>
                                        <p:cTn id="31" dur="1000"/>
                                        <p:tgtEl>
                                          <p:spTgt spid="3996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39962"/>
                                        </p:tgtEl>
                                        <p:attrNameLst>
                                          <p:attrName>style.visibility</p:attrName>
                                        </p:attrNameLst>
                                      </p:cBhvr>
                                      <p:to>
                                        <p:strVal val="visible"/>
                                      </p:to>
                                    </p:set>
                                    <p:animEffect transition="in" filter="wipe(up)">
                                      <p:cBhvr>
                                        <p:cTn id="36" dur="1000"/>
                                        <p:tgtEl>
                                          <p:spTgt spid="3996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wipe(left)">
                                      <p:cBhvr>
                                        <p:cTn id="41" dur="1000"/>
                                        <p:tgtEl>
                                          <p:spTgt spid="4"/>
                                        </p:tgtEl>
                                      </p:cBhvr>
                                    </p:animEffect>
                                  </p:childTnLst>
                                </p:cTn>
                              </p:par>
                            </p:childTnLst>
                          </p:cTn>
                        </p:par>
                        <p:par>
                          <p:cTn id="42" fill="hold" nodeType="afterGroup">
                            <p:stCondLst>
                              <p:cond delay="1000"/>
                            </p:stCondLst>
                            <p:childTnLst>
                              <p:par>
                                <p:cTn id="43" presetID="22" presetClass="entr" presetSubtype="1" fill="hold" nodeType="afterEffect">
                                  <p:stCondLst>
                                    <p:cond delay="0"/>
                                  </p:stCondLst>
                                  <p:childTnLst>
                                    <p:set>
                                      <p:cBhvr>
                                        <p:cTn id="44" dur="1" fill="hold">
                                          <p:stCondLst>
                                            <p:cond delay="0"/>
                                          </p:stCondLst>
                                        </p:cTn>
                                        <p:tgtEl>
                                          <p:spTgt spid="39964"/>
                                        </p:tgtEl>
                                        <p:attrNameLst>
                                          <p:attrName>style.visibility</p:attrName>
                                        </p:attrNameLst>
                                      </p:cBhvr>
                                      <p:to>
                                        <p:strVal val="visible"/>
                                      </p:to>
                                    </p:set>
                                    <p:animEffect transition="in" filter="wipe(up)">
                                      <p:cBhvr>
                                        <p:cTn id="45" dur="1000"/>
                                        <p:tgtEl>
                                          <p:spTgt spid="399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0D58EA6-EDA1-304C-A50A-BD0BF051A1D5}"/>
              </a:ext>
            </a:extLst>
          </p:cNvPr>
          <p:cNvSpPr>
            <a:spLocks noGrp="1"/>
          </p:cNvSpPr>
          <p:nvPr>
            <p:ph idx="1"/>
          </p:nvPr>
        </p:nvSpPr>
        <p:spPr>
          <a:xfrm>
            <a:off x="557213" y="714375"/>
            <a:ext cx="7658100" cy="517525"/>
          </a:xfrm>
          <a:solidFill>
            <a:schemeClr val="bg2">
              <a:lumMod val="10000"/>
              <a:lumOff val="90000"/>
            </a:schemeClr>
          </a:solidFill>
        </p:spPr>
        <p:txBody>
          <a:bodyPr/>
          <a:lstStyle/>
          <a:p>
            <a:pPr>
              <a:lnSpc>
                <a:spcPts val="3300"/>
              </a:lnSpc>
              <a:buSzPct val="70000"/>
              <a:defRPr/>
            </a:pPr>
            <a:r>
              <a:rPr lang="zh-CN" sz="2400" b="1" dirty="0">
                <a:solidFill>
                  <a:srgbClr val="990099"/>
                </a:solidFill>
                <a:latin typeface="Arial" charset="0"/>
                <a:ea typeface="微软雅黑" pitchFamily="34" charset="-122"/>
                <a:cs typeface="Arial" charset="0"/>
              </a:rPr>
              <a:t>编码电路</a:t>
            </a:r>
            <a:r>
              <a:rPr lang="zh-CN" altLang="en-US" sz="2400" b="1" dirty="0">
                <a:solidFill>
                  <a:srgbClr val="990099"/>
                </a:solidFill>
                <a:latin typeface="宋体" pitchFamily="2" charset="-122"/>
                <a:ea typeface="微软雅黑" pitchFamily="34" charset="-122"/>
                <a:cs typeface="Arial" charset="0"/>
              </a:rPr>
              <a:t>：</a:t>
            </a:r>
            <a:r>
              <a:rPr lang="zh-CN" sz="2000" dirty="0">
                <a:latin typeface="Arial" charset="0"/>
                <a:ea typeface="微软雅黑" pitchFamily="34" charset="-122"/>
                <a:cs typeface="Arial" charset="0"/>
              </a:rPr>
              <a:t>可采用</a:t>
            </a:r>
            <a:r>
              <a:rPr lang="en-US" altLang="zh-CN" sz="2000" b="1" dirty="0">
                <a:solidFill>
                  <a:srgbClr val="0000CC"/>
                </a:solidFill>
                <a:latin typeface="Arial" charset="0"/>
                <a:ea typeface="微软雅黑" pitchFamily="34" charset="-122"/>
                <a:cs typeface="Arial" charset="0"/>
              </a:rPr>
              <a:t>(</a:t>
            </a:r>
            <a:r>
              <a:rPr lang="en-US" altLang="zh-CN" sz="2000" b="1" i="1" dirty="0">
                <a:solidFill>
                  <a:srgbClr val="0000CC"/>
                </a:solidFill>
                <a:latin typeface="Arial" charset="0"/>
                <a:ea typeface="微软雅黑" pitchFamily="34" charset="-122"/>
                <a:cs typeface="Arial" charset="0"/>
              </a:rPr>
              <a:t>n</a:t>
            </a:r>
            <a:r>
              <a:rPr lang="en-US" altLang="zh-CN" sz="2000" b="1" dirty="0">
                <a:solidFill>
                  <a:srgbClr val="0000CC"/>
                </a:solidFill>
                <a:latin typeface="Arial" charset="0"/>
                <a:ea typeface="微软雅黑" pitchFamily="34" charset="-122"/>
                <a:cs typeface="Arial" charset="0"/>
              </a:rPr>
              <a:t> – </a:t>
            </a:r>
            <a:r>
              <a:rPr lang="en-US" altLang="zh-CN" sz="2000" b="1" i="1" dirty="0">
                <a:solidFill>
                  <a:srgbClr val="0000CC"/>
                </a:solidFill>
                <a:latin typeface="Arial" charset="0"/>
                <a:ea typeface="微软雅黑" pitchFamily="34" charset="-122"/>
                <a:cs typeface="Arial" charset="0"/>
              </a:rPr>
              <a:t>k</a:t>
            </a:r>
            <a:r>
              <a:rPr lang="en-US" altLang="zh-CN" sz="2000" b="1" dirty="0">
                <a:solidFill>
                  <a:srgbClr val="0000CC"/>
                </a:solidFill>
                <a:latin typeface="Arial" charset="0"/>
                <a:ea typeface="微软雅黑" pitchFamily="34" charset="-122"/>
                <a:cs typeface="Arial" charset="0"/>
              </a:rPr>
              <a:t>)</a:t>
            </a:r>
            <a:r>
              <a:rPr lang="zh-CN" sz="2000" dirty="0">
                <a:latin typeface="Arial" charset="0"/>
                <a:ea typeface="微软雅黑" pitchFamily="34" charset="-122"/>
                <a:cs typeface="Arial" charset="0"/>
              </a:rPr>
              <a:t>级移位寄存器组成的</a:t>
            </a:r>
            <a:r>
              <a:rPr lang="zh-CN" sz="2000" b="1" dirty="0">
                <a:solidFill>
                  <a:srgbClr val="0000CC"/>
                </a:solidFill>
                <a:latin typeface="Arial" charset="0"/>
                <a:ea typeface="微软雅黑" pitchFamily="34" charset="-122"/>
                <a:cs typeface="Arial" charset="0"/>
              </a:rPr>
              <a:t>除法电路</a:t>
            </a:r>
            <a:r>
              <a:rPr lang="zh-CN" sz="2000" dirty="0">
                <a:latin typeface="Arial" charset="0"/>
                <a:ea typeface="微软雅黑" pitchFamily="34" charset="-122"/>
                <a:cs typeface="Arial" charset="0"/>
              </a:rPr>
              <a:t>实现。</a:t>
            </a:r>
            <a:endParaRPr lang="zh-CN" altLang="en-US" sz="2000" dirty="0">
              <a:latin typeface="Arial" charset="0"/>
              <a:ea typeface="微软雅黑" pitchFamily="34" charset="-122"/>
              <a:cs typeface="Arial" charset="0"/>
            </a:endParaRPr>
          </a:p>
        </p:txBody>
      </p:sp>
      <p:graphicFrame>
        <p:nvGraphicFramePr>
          <p:cNvPr id="157698" name="Object 2">
            <a:extLst>
              <a:ext uri="{FF2B5EF4-FFF2-40B4-BE49-F238E27FC236}">
                <a16:creationId xmlns:a16="http://schemas.microsoft.com/office/drawing/2014/main" id="{B742ACC0-A1F3-D08E-38D3-8E639FB6117D}"/>
              </a:ext>
            </a:extLst>
          </p:cNvPr>
          <p:cNvGraphicFramePr>
            <a:graphicFrameLocks noChangeAspect="1"/>
          </p:cNvGraphicFramePr>
          <p:nvPr/>
        </p:nvGraphicFramePr>
        <p:xfrm>
          <a:off x="2000250" y="1492250"/>
          <a:ext cx="5735638" cy="508000"/>
        </p:xfrm>
        <a:graphic>
          <a:graphicData uri="http://schemas.openxmlformats.org/presentationml/2006/ole">
            <mc:AlternateContent xmlns:mc="http://schemas.openxmlformats.org/markup-compatibility/2006">
              <mc:Choice xmlns:v="urn:schemas-microsoft-com:vml" Requires="v">
                <p:oleObj name="Equation" r:id="rId2" imgW="2908300" imgH="254000" progId="Equation.DSMT4">
                  <p:embed/>
                </p:oleObj>
              </mc:Choice>
              <mc:Fallback>
                <p:oleObj name="Equation" r:id="rId2" imgW="2908300" imgH="2540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250" y="1492250"/>
                        <a:ext cx="5735638" cy="508000"/>
                      </a:xfrm>
                      <a:prstGeom prst="rect">
                        <a:avLst/>
                      </a:prstGeom>
                      <a:noFill/>
                      <a:ln w="38100" cmpd="dbl">
                        <a:solidFill>
                          <a:srgbClr val="6666FF"/>
                        </a:solidFill>
                        <a:miter lim="800000"/>
                        <a:headEnd/>
                        <a:tailEnd/>
                      </a:ln>
                      <a:extLst>
                        <a:ext uri="{909E8E84-426E-40DD-AFC4-6F175D3DCCD1}">
                          <a14:hiddenFill xmlns:a14="http://schemas.microsoft.com/office/drawing/2010/main">
                            <a:solidFill>
                              <a:srgbClr val="FFFFCC"/>
                            </a:solidFill>
                          </a14:hiddenFill>
                        </a:ext>
                      </a:extLst>
                    </p:spPr>
                  </p:pic>
                </p:oleObj>
              </mc:Fallback>
            </mc:AlternateContent>
          </a:graphicData>
        </a:graphic>
      </p:graphicFrame>
      <p:sp>
        <p:nvSpPr>
          <p:cNvPr id="157701" name="Rectangle 5">
            <a:extLst>
              <a:ext uri="{FF2B5EF4-FFF2-40B4-BE49-F238E27FC236}">
                <a16:creationId xmlns:a16="http://schemas.microsoft.com/office/drawing/2014/main" id="{34AD2C19-4409-570B-94AB-67AEBEB1D865}"/>
              </a:ext>
            </a:extLst>
          </p:cNvPr>
          <p:cNvSpPr>
            <a:spLocks noChangeArrowheads="1"/>
          </p:cNvSpPr>
          <p:nvPr/>
        </p:nvSpPr>
        <p:spPr bwMode="auto">
          <a:xfrm>
            <a:off x="0" y="0"/>
            <a:ext cx="9144000" cy="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157703" name="Rectangle 7">
            <a:extLst>
              <a:ext uri="{FF2B5EF4-FFF2-40B4-BE49-F238E27FC236}">
                <a16:creationId xmlns:a16="http://schemas.microsoft.com/office/drawing/2014/main" id="{235E0979-DF3A-3A84-9680-3FC068D9D8EA}"/>
              </a:ext>
            </a:extLst>
          </p:cNvPr>
          <p:cNvSpPr>
            <a:spLocks noChangeArrowheads="1"/>
          </p:cNvSpPr>
          <p:nvPr/>
        </p:nvSpPr>
        <p:spPr bwMode="auto">
          <a:xfrm>
            <a:off x="0" y="0"/>
            <a:ext cx="9144000" cy="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13" name="矩形 12">
            <a:extLst>
              <a:ext uri="{FF2B5EF4-FFF2-40B4-BE49-F238E27FC236}">
                <a16:creationId xmlns:a16="http://schemas.microsoft.com/office/drawing/2014/main" id="{B8613011-5BD6-A0D8-2729-E65EA40818BD}"/>
              </a:ext>
            </a:extLst>
          </p:cNvPr>
          <p:cNvSpPr/>
          <p:nvPr/>
        </p:nvSpPr>
        <p:spPr>
          <a:xfrm>
            <a:off x="914400" y="1385888"/>
            <a:ext cx="441325" cy="400050"/>
          </a:xfrm>
          <a:prstGeom prst="rect">
            <a:avLst/>
          </a:prstGeom>
        </p:spPr>
        <p:txBody>
          <a:bodyPr wrap="none">
            <a:spAutoFit/>
          </a:bodyPr>
          <a:lstStyle/>
          <a:p>
            <a:pPr>
              <a:defRPr/>
            </a:pP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设</a:t>
            </a:r>
            <a:endParaRPr lang="zh-CN" altLang="en-US" b="0" dirty="0">
              <a:effectLst>
                <a:outerShdw blurRad="38100" dist="38100" dir="2700000" algn="tl">
                  <a:srgbClr val="000000">
                    <a:alpha val="43137"/>
                  </a:srgbClr>
                </a:outerShdw>
              </a:effectLst>
            </a:endParaRPr>
          </a:p>
        </p:txBody>
      </p:sp>
      <p:sp>
        <p:nvSpPr>
          <p:cNvPr id="157705" name="Rectangle 9">
            <a:extLst>
              <a:ext uri="{FF2B5EF4-FFF2-40B4-BE49-F238E27FC236}">
                <a16:creationId xmlns:a16="http://schemas.microsoft.com/office/drawing/2014/main" id="{450C2BD9-4D07-4A79-FCAB-E88760F179E4}"/>
              </a:ext>
            </a:extLst>
          </p:cNvPr>
          <p:cNvSpPr>
            <a:spLocks noChangeArrowheads="1"/>
          </p:cNvSpPr>
          <p:nvPr/>
        </p:nvSpPr>
        <p:spPr bwMode="auto">
          <a:xfrm>
            <a:off x="0" y="0"/>
            <a:ext cx="9144000" cy="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157707" name="Rectangle 11">
            <a:extLst>
              <a:ext uri="{FF2B5EF4-FFF2-40B4-BE49-F238E27FC236}">
                <a16:creationId xmlns:a16="http://schemas.microsoft.com/office/drawing/2014/main" id="{3DB25924-A489-C8D9-3F9C-E647D9EE061B}"/>
              </a:ext>
            </a:extLst>
          </p:cNvPr>
          <p:cNvSpPr>
            <a:spLocks noChangeArrowheads="1"/>
          </p:cNvSpPr>
          <p:nvPr/>
        </p:nvSpPr>
        <p:spPr bwMode="auto">
          <a:xfrm>
            <a:off x="0" y="0"/>
            <a:ext cx="9144000" cy="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pSp>
        <p:nvGrpSpPr>
          <p:cNvPr id="2" name="组合 43">
            <a:extLst>
              <a:ext uri="{FF2B5EF4-FFF2-40B4-BE49-F238E27FC236}">
                <a16:creationId xmlns:a16="http://schemas.microsoft.com/office/drawing/2014/main" id="{2A577B8F-8126-EEB5-6E5A-F5E4094EA811}"/>
              </a:ext>
            </a:extLst>
          </p:cNvPr>
          <p:cNvGrpSpPr>
            <a:grpSpLocks/>
          </p:cNvGrpSpPr>
          <p:nvPr/>
        </p:nvGrpSpPr>
        <p:grpSpPr bwMode="auto">
          <a:xfrm>
            <a:off x="873125" y="4200525"/>
            <a:ext cx="7699375" cy="2143125"/>
            <a:chOff x="928662" y="4286256"/>
            <a:chExt cx="7699683" cy="2143140"/>
          </a:xfrm>
        </p:grpSpPr>
        <p:grpSp>
          <p:nvGrpSpPr>
            <p:cNvPr id="36876" name="组合 40">
              <a:extLst>
                <a:ext uri="{FF2B5EF4-FFF2-40B4-BE49-F238E27FC236}">
                  <a16:creationId xmlns:a16="http://schemas.microsoft.com/office/drawing/2014/main" id="{978712CC-37CF-EC8D-C205-063854D6AC60}"/>
                </a:ext>
              </a:extLst>
            </p:cNvPr>
            <p:cNvGrpSpPr>
              <a:grpSpLocks/>
            </p:cNvGrpSpPr>
            <p:nvPr/>
          </p:nvGrpSpPr>
          <p:grpSpPr bwMode="auto">
            <a:xfrm>
              <a:off x="928662" y="4286256"/>
              <a:ext cx="7500990" cy="2143140"/>
              <a:chOff x="928662" y="4286256"/>
              <a:chExt cx="7500990" cy="2143140"/>
            </a:xfrm>
          </p:grpSpPr>
          <p:grpSp>
            <p:nvGrpSpPr>
              <p:cNvPr id="36879" name="组合 37">
                <a:extLst>
                  <a:ext uri="{FF2B5EF4-FFF2-40B4-BE49-F238E27FC236}">
                    <a16:creationId xmlns:a16="http://schemas.microsoft.com/office/drawing/2014/main" id="{F4F39C14-01AD-E2AB-D803-F3E3E5931AC9}"/>
                  </a:ext>
                </a:extLst>
              </p:cNvPr>
              <p:cNvGrpSpPr>
                <a:grpSpLocks/>
              </p:cNvGrpSpPr>
              <p:nvPr/>
            </p:nvGrpSpPr>
            <p:grpSpPr bwMode="auto">
              <a:xfrm>
                <a:off x="928662" y="4286256"/>
                <a:ext cx="7500990" cy="2143140"/>
                <a:chOff x="928662" y="4286256"/>
                <a:chExt cx="7500990" cy="2143140"/>
              </a:xfrm>
            </p:grpSpPr>
            <p:pic>
              <p:nvPicPr>
                <p:cNvPr id="36882" name="Picture 2" descr="12">
                  <a:extLst>
                    <a:ext uri="{FF2B5EF4-FFF2-40B4-BE49-F238E27FC236}">
                      <a16:creationId xmlns:a16="http://schemas.microsoft.com/office/drawing/2014/main" id="{370616AC-322A-2412-4EEA-DF08A186BF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4672" t="5841" r="3738" b="9113"/>
                <a:stretch>
                  <a:fillRect/>
                </a:stretch>
              </p:blipFill>
              <p:spPr bwMode="auto">
                <a:xfrm>
                  <a:off x="928662" y="4286256"/>
                  <a:ext cx="7500990" cy="2143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矩形 33">
                  <a:extLst>
                    <a:ext uri="{FF2B5EF4-FFF2-40B4-BE49-F238E27FC236}">
                      <a16:creationId xmlns:a16="http://schemas.microsoft.com/office/drawing/2014/main" id="{207B3D5D-FFE5-0786-6C88-4402B01E629A}"/>
                    </a:ext>
                  </a:extLst>
                </p:cNvPr>
                <p:cNvSpPr/>
                <p:nvPr/>
              </p:nvSpPr>
              <p:spPr>
                <a:xfrm>
                  <a:off x="1028679" y="4900623"/>
                  <a:ext cx="327038" cy="400053"/>
                </a:xfrm>
                <a:prstGeom prst="rect">
                  <a:avLst/>
                </a:prstGeom>
              </p:spPr>
              <p:txBody>
                <a:bodyPr wrap="none">
                  <a:spAutoFit/>
                </a:bodyPr>
                <a:lstStyle/>
                <a:p>
                  <a:pPr>
                    <a:defRPr/>
                  </a:pPr>
                  <a:r>
                    <a:rPr kumimoji="0" lang="en-US" altLang="zh-CN" sz="2000" kern="0" dirty="0">
                      <a:solidFill>
                        <a:srgbClr val="0000CC"/>
                      </a:solidFill>
                      <a:latin typeface="Arial" pitchFamily="34" charset="0"/>
                      <a:cs typeface="Arial" pitchFamily="34" charset="0"/>
                    </a:rPr>
                    <a:t>1</a:t>
                  </a:r>
                  <a:endParaRPr lang="zh-CN" altLang="en-US" dirty="0">
                    <a:solidFill>
                      <a:srgbClr val="0000CC"/>
                    </a:solidFill>
                  </a:endParaRPr>
                </a:p>
              </p:txBody>
            </p:sp>
            <p:sp>
              <p:nvSpPr>
                <p:cNvPr id="35" name="矩形 34">
                  <a:extLst>
                    <a:ext uri="{FF2B5EF4-FFF2-40B4-BE49-F238E27FC236}">
                      <a16:creationId xmlns:a16="http://schemas.microsoft.com/office/drawing/2014/main" id="{4E9E3836-507C-3999-E23E-C3E8B7DE985C}"/>
                    </a:ext>
                  </a:extLst>
                </p:cNvPr>
                <p:cNvSpPr/>
                <p:nvPr/>
              </p:nvSpPr>
              <p:spPr>
                <a:xfrm>
                  <a:off x="2428910" y="4857760"/>
                  <a:ext cx="327038" cy="400053"/>
                </a:xfrm>
                <a:prstGeom prst="rect">
                  <a:avLst/>
                </a:prstGeom>
              </p:spPr>
              <p:txBody>
                <a:bodyPr wrap="none">
                  <a:spAutoFit/>
                </a:bodyPr>
                <a:lstStyle/>
                <a:p>
                  <a:pPr>
                    <a:defRPr/>
                  </a:pPr>
                  <a:r>
                    <a:rPr kumimoji="0" lang="en-US" altLang="zh-CN" sz="2000" i="1" kern="0" dirty="0">
                      <a:solidFill>
                        <a:srgbClr val="0000CC"/>
                      </a:solidFill>
                      <a:latin typeface="Arial" pitchFamily="34" charset="0"/>
                      <a:cs typeface="Arial" pitchFamily="34" charset="0"/>
                    </a:rPr>
                    <a:t>x</a:t>
                  </a:r>
                  <a:endParaRPr lang="zh-CN" altLang="en-US" dirty="0">
                    <a:solidFill>
                      <a:srgbClr val="0000CC"/>
                    </a:solidFill>
                  </a:endParaRPr>
                </a:p>
              </p:txBody>
            </p:sp>
            <p:sp>
              <p:nvSpPr>
                <p:cNvPr id="36" name="矩形 35">
                  <a:extLst>
                    <a:ext uri="{FF2B5EF4-FFF2-40B4-BE49-F238E27FC236}">
                      <a16:creationId xmlns:a16="http://schemas.microsoft.com/office/drawing/2014/main" id="{D32483F8-857C-73E8-D5B5-B2873D021AA6}"/>
                    </a:ext>
                  </a:extLst>
                </p:cNvPr>
                <p:cNvSpPr/>
                <p:nvPr/>
              </p:nvSpPr>
              <p:spPr>
                <a:xfrm>
                  <a:off x="3957733" y="4886335"/>
                  <a:ext cx="420705" cy="400053"/>
                </a:xfrm>
                <a:prstGeom prst="rect">
                  <a:avLst/>
                </a:prstGeom>
              </p:spPr>
              <p:txBody>
                <a:bodyPr wrap="none">
                  <a:spAutoFit/>
                </a:bodyPr>
                <a:lstStyle/>
                <a:p>
                  <a:pPr>
                    <a:defRPr/>
                  </a:pPr>
                  <a:r>
                    <a:rPr kumimoji="0" lang="en-US" altLang="zh-CN" sz="2000" i="1" kern="0" dirty="0">
                      <a:solidFill>
                        <a:srgbClr val="0000CC"/>
                      </a:solidFill>
                      <a:latin typeface="Arial" pitchFamily="34" charset="0"/>
                      <a:cs typeface="Arial" pitchFamily="34" charset="0"/>
                    </a:rPr>
                    <a:t>x</a:t>
                  </a:r>
                  <a:r>
                    <a:rPr kumimoji="0" lang="en-US" altLang="zh-CN" sz="2000" kern="0" baseline="30000" dirty="0">
                      <a:solidFill>
                        <a:srgbClr val="0000CC"/>
                      </a:solidFill>
                      <a:latin typeface="Arial" pitchFamily="34" charset="0"/>
                      <a:cs typeface="Arial" pitchFamily="34" charset="0"/>
                    </a:rPr>
                    <a:t>2</a:t>
                  </a:r>
                  <a:endParaRPr lang="zh-CN" altLang="en-US" dirty="0">
                    <a:solidFill>
                      <a:srgbClr val="0000CC"/>
                    </a:solidFill>
                  </a:endParaRPr>
                </a:p>
              </p:txBody>
            </p:sp>
            <p:sp>
              <p:nvSpPr>
                <p:cNvPr id="37" name="矩形 36">
                  <a:extLst>
                    <a:ext uri="{FF2B5EF4-FFF2-40B4-BE49-F238E27FC236}">
                      <a16:creationId xmlns:a16="http://schemas.microsoft.com/office/drawing/2014/main" id="{C29384DA-6EAB-3D41-8A4B-09805A898559}"/>
                    </a:ext>
                  </a:extLst>
                </p:cNvPr>
                <p:cNvSpPr/>
                <p:nvPr/>
              </p:nvSpPr>
              <p:spPr>
                <a:xfrm>
                  <a:off x="6829636" y="4914910"/>
                  <a:ext cx="422292" cy="400053"/>
                </a:xfrm>
                <a:prstGeom prst="rect">
                  <a:avLst/>
                </a:prstGeom>
              </p:spPr>
              <p:txBody>
                <a:bodyPr wrap="none">
                  <a:spAutoFit/>
                </a:bodyPr>
                <a:lstStyle/>
                <a:p>
                  <a:pPr>
                    <a:defRPr/>
                  </a:pPr>
                  <a:r>
                    <a:rPr kumimoji="0" lang="en-US" altLang="zh-CN" sz="2000" i="1" kern="0" dirty="0">
                      <a:solidFill>
                        <a:srgbClr val="0000CC"/>
                      </a:solidFill>
                      <a:latin typeface="Arial" pitchFamily="34" charset="0"/>
                      <a:cs typeface="Arial" pitchFamily="34" charset="0"/>
                    </a:rPr>
                    <a:t>x</a:t>
                  </a:r>
                  <a:r>
                    <a:rPr kumimoji="0" lang="en-US" altLang="zh-CN" sz="2000" kern="0" baseline="30000" dirty="0">
                      <a:solidFill>
                        <a:srgbClr val="0000CC"/>
                      </a:solidFill>
                      <a:latin typeface="Arial" pitchFamily="34" charset="0"/>
                      <a:cs typeface="Arial" pitchFamily="34" charset="0"/>
                    </a:rPr>
                    <a:t>4</a:t>
                  </a:r>
                  <a:endParaRPr lang="zh-CN" altLang="en-US" dirty="0">
                    <a:solidFill>
                      <a:srgbClr val="0000CC"/>
                    </a:solidFill>
                  </a:endParaRPr>
                </a:p>
              </p:txBody>
            </p:sp>
          </p:grpSp>
          <p:sp>
            <p:nvSpPr>
              <p:cNvPr id="39" name="矩形 38">
                <a:extLst>
                  <a:ext uri="{FF2B5EF4-FFF2-40B4-BE49-F238E27FC236}">
                    <a16:creationId xmlns:a16="http://schemas.microsoft.com/office/drawing/2014/main" id="{1520D209-EA82-A1AB-48B0-EECC970A60A5}"/>
                  </a:ext>
                </a:extLst>
              </p:cNvPr>
              <p:cNvSpPr/>
              <p:nvPr/>
            </p:nvSpPr>
            <p:spPr bwMode="auto">
              <a:xfrm>
                <a:off x="6929652" y="4814898"/>
                <a:ext cx="214322" cy="142876"/>
              </a:xfrm>
              <a:prstGeom prst="rect">
                <a:avLst/>
              </a:prstGeom>
              <a:solidFill>
                <a:schemeClr val="bg2">
                  <a:lumMod val="10000"/>
                  <a:lumOff val="90000"/>
                </a:schemeClr>
              </a:solidFill>
              <a:ln w="9525" cap="flat" cmpd="sng" algn="ctr">
                <a:noFill/>
                <a:prstDash val="solid"/>
                <a:miter lim="800000"/>
                <a:headEnd type="none" w="med" len="med"/>
                <a:tailEnd type="none" w="med" len="med"/>
              </a:ln>
              <a:effectLst/>
            </p:spPr>
            <p:txBody>
              <a:bodyPr wrap="none"/>
              <a:lstStyle/>
              <a:p>
                <a:pPr>
                  <a:defRPr/>
                </a:pPr>
                <a:endParaRPr lang="zh-CN" altLang="en-US"/>
              </a:p>
            </p:txBody>
          </p:sp>
          <p:sp>
            <p:nvSpPr>
              <p:cNvPr id="40" name="矩形 39">
                <a:extLst>
                  <a:ext uri="{FF2B5EF4-FFF2-40B4-BE49-F238E27FC236}">
                    <a16:creationId xmlns:a16="http://schemas.microsoft.com/office/drawing/2014/main" id="{A6197B22-8811-63F3-FB10-A5CC943EBD25}"/>
                  </a:ext>
                </a:extLst>
              </p:cNvPr>
              <p:cNvSpPr/>
              <p:nvPr/>
            </p:nvSpPr>
            <p:spPr bwMode="auto">
              <a:xfrm>
                <a:off x="7786936" y="5072075"/>
                <a:ext cx="142881" cy="285752"/>
              </a:xfrm>
              <a:prstGeom prst="rect">
                <a:avLst/>
              </a:prstGeom>
              <a:solidFill>
                <a:schemeClr val="bg2">
                  <a:lumMod val="10000"/>
                  <a:lumOff val="90000"/>
                </a:schemeClr>
              </a:solidFill>
              <a:ln w="9525" cap="flat" cmpd="sng" algn="ctr">
                <a:noFill/>
                <a:prstDash val="solid"/>
                <a:miter lim="800000"/>
                <a:headEnd type="none" w="med" len="med"/>
                <a:tailEnd type="none" w="med" len="med"/>
              </a:ln>
              <a:effectLst/>
            </p:spPr>
            <p:txBody>
              <a:bodyPr wrap="none"/>
              <a:lstStyle/>
              <a:p>
                <a:pPr>
                  <a:defRPr/>
                </a:pPr>
                <a:endParaRPr lang="zh-CN" altLang="en-US"/>
              </a:p>
            </p:txBody>
          </p:sp>
        </p:grpSp>
        <p:sp>
          <p:nvSpPr>
            <p:cNvPr id="42" name="矩形 41">
              <a:extLst>
                <a:ext uri="{FF2B5EF4-FFF2-40B4-BE49-F238E27FC236}">
                  <a16:creationId xmlns:a16="http://schemas.microsoft.com/office/drawing/2014/main" id="{38093E71-6D7E-A47A-E6F0-889B7E8F225C}"/>
                </a:ext>
              </a:extLst>
            </p:cNvPr>
            <p:cNvSpPr/>
            <p:nvPr/>
          </p:nvSpPr>
          <p:spPr>
            <a:xfrm>
              <a:off x="7931405" y="5643579"/>
              <a:ext cx="696940" cy="369890"/>
            </a:xfrm>
            <a:prstGeom prst="rect">
              <a:avLst/>
            </a:prstGeom>
          </p:spPr>
          <p:txBody>
            <a:bodyPr wrap="none">
              <a:spAutoFit/>
            </a:bodyPr>
            <a:lstStyle/>
            <a:p>
              <a:pPr>
                <a:defRPr/>
              </a:pPr>
              <a:r>
                <a:rPr kumimoji="0" lang="en-US" altLang="zh-CN" sz="1800" i="1" kern="0" dirty="0">
                  <a:solidFill>
                    <a:srgbClr val="0000CC"/>
                  </a:solidFill>
                  <a:latin typeface="Arial" pitchFamily="34" charset="0"/>
                  <a:ea typeface="微软雅黑" pitchFamily="34" charset="-122"/>
                  <a:cs typeface="Arial" pitchFamily="34" charset="0"/>
                </a:rPr>
                <a:t>A</a:t>
              </a:r>
              <a:r>
                <a:rPr kumimoji="0" lang="en-US" altLang="zh-CN" sz="1800" kern="0" dirty="0">
                  <a:solidFill>
                    <a:srgbClr val="0000CC"/>
                  </a:solidFill>
                  <a:latin typeface="Arial" pitchFamily="34" charset="0"/>
                  <a:ea typeface="微软雅黑" pitchFamily="34" charset="-122"/>
                  <a:cs typeface="Arial" pitchFamily="34" charset="0"/>
                </a:rPr>
                <a:t>(</a:t>
              </a:r>
              <a:r>
                <a:rPr kumimoji="0" lang="en-US" altLang="zh-CN" sz="1800" i="1" kern="0" dirty="0">
                  <a:solidFill>
                    <a:srgbClr val="0000CC"/>
                  </a:solidFill>
                  <a:latin typeface="Arial" pitchFamily="34" charset="0"/>
                  <a:ea typeface="微软雅黑" pitchFamily="34" charset="-122"/>
                  <a:cs typeface="Arial" pitchFamily="34" charset="0"/>
                </a:rPr>
                <a:t>x</a:t>
              </a:r>
              <a:r>
                <a:rPr kumimoji="0" lang="en-US" altLang="zh-CN" sz="1800" kern="0" dirty="0">
                  <a:solidFill>
                    <a:srgbClr val="0000CC"/>
                  </a:solidFill>
                  <a:latin typeface="Arial" pitchFamily="34" charset="0"/>
                  <a:ea typeface="微软雅黑" pitchFamily="34" charset="-122"/>
                  <a:cs typeface="Arial" pitchFamily="34" charset="0"/>
                </a:rPr>
                <a:t>) </a:t>
              </a:r>
              <a:endParaRPr lang="zh-CN" altLang="en-US" sz="1800" dirty="0">
                <a:solidFill>
                  <a:srgbClr val="0000CC"/>
                </a:solidFill>
              </a:endParaRPr>
            </a:p>
          </p:txBody>
        </p:sp>
        <p:sp>
          <p:nvSpPr>
            <p:cNvPr id="43" name="矩形 42">
              <a:extLst>
                <a:ext uri="{FF2B5EF4-FFF2-40B4-BE49-F238E27FC236}">
                  <a16:creationId xmlns:a16="http://schemas.microsoft.com/office/drawing/2014/main" id="{95AEB297-730B-01DC-3A12-E05293FEBAA6}"/>
                </a:ext>
              </a:extLst>
            </p:cNvPr>
            <p:cNvSpPr/>
            <p:nvPr/>
          </p:nvSpPr>
          <p:spPr>
            <a:xfrm>
              <a:off x="4856294" y="5900755"/>
              <a:ext cx="615975" cy="400053"/>
            </a:xfrm>
            <a:prstGeom prst="rect">
              <a:avLst/>
            </a:prstGeom>
            <a:solidFill>
              <a:schemeClr val="bg2">
                <a:lumMod val="10000"/>
                <a:lumOff val="90000"/>
              </a:schemeClr>
            </a:solidFill>
          </p:spPr>
          <p:txBody>
            <a:bodyPr>
              <a:spAutoFit/>
            </a:bodyPr>
            <a:lstStyle/>
            <a:p>
              <a:pPr>
                <a:defRPr/>
              </a:pPr>
              <a:r>
                <a:rPr kumimoji="0" lang="en-US" altLang="zh-CN" sz="1800" i="1" kern="0" dirty="0">
                  <a:solidFill>
                    <a:srgbClr val="0000CC"/>
                  </a:solidFill>
                  <a:latin typeface="Arial" pitchFamily="34" charset="0"/>
                  <a:ea typeface="微软雅黑" pitchFamily="34" charset="-122"/>
                  <a:cs typeface="Arial" pitchFamily="34" charset="0"/>
                </a:rPr>
                <a:t>m</a:t>
              </a:r>
              <a:r>
                <a:rPr kumimoji="0" lang="en-US" altLang="zh-CN" sz="1800" kern="0" dirty="0">
                  <a:solidFill>
                    <a:srgbClr val="0000CC"/>
                  </a:solidFill>
                  <a:latin typeface="Arial" pitchFamily="34" charset="0"/>
                  <a:ea typeface="微软雅黑" pitchFamily="34" charset="-122"/>
                  <a:cs typeface="Arial" pitchFamily="34" charset="0"/>
                </a:rPr>
                <a:t>(</a:t>
              </a:r>
              <a:r>
                <a:rPr kumimoji="0" lang="en-US" altLang="zh-CN" sz="1800" i="1" kern="0" dirty="0">
                  <a:solidFill>
                    <a:srgbClr val="0000CC"/>
                  </a:solidFill>
                  <a:latin typeface="Arial" pitchFamily="34" charset="0"/>
                  <a:ea typeface="微软雅黑" pitchFamily="34" charset="-122"/>
                  <a:cs typeface="Arial" pitchFamily="34" charset="0"/>
                </a:rPr>
                <a:t>x</a:t>
              </a:r>
              <a:r>
                <a:rPr kumimoji="0" lang="en-US" altLang="zh-CN" sz="2000" kern="0" dirty="0">
                  <a:solidFill>
                    <a:srgbClr val="0000CC"/>
                  </a:solidFill>
                  <a:latin typeface="Arial" pitchFamily="34" charset="0"/>
                  <a:ea typeface="微软雅黑" pitchFamily="34" charset="-122"/>
                  <a:cs typeface="Arial" pitchFamily="34" charset="0"/>
                </a:rPr>
                <a:t>) </a:t>
              </a:r>
              <a:endParaRPr lang="zh-CN" altLang="en-US" dirty="0">
                <a:solidFill>
                  <a:srgbClr val="0000CC"/>
                </a:solidFill>
              </a:endParaRPr>
            </a:p>
          </p:txBody>
        </p:sp>
      </p:grpSp>
      <p:sp>
        <p:nvSpPr>
          <p:cNvPr id="23" name="矩形 22">
            <a:extLst>
              <a:ext uri="{FF2B5EF4-FFF2-40B4-BE49-F238E27FC236}">
                <a16:creationId xmlns:a16="http://schemas.microsoft.com/office/drawing/2014/main" id="{F75F79F7-EF76-5D73-6D45-8420437D4939}"/>
              </a:ext>
            </a:extLst>
          </p:cNvPr>
          <p:cNvSpPr>
            <a:spLocks noChangeArrowheads="1"/>
          </p:cNvSpPr>
          <p:nvPr/>
        </p:nvSpPr>
        <p:spPr bwMode="auto">
          <a:xfrm>
            <a:off x="900113" y="3629025"/>
            <a:ext cx="75723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lnSpc>
                <a:spcPts val="3500"/>
              </a:lnSpc>
            </a:pPr>
            <a:r>
              <a:rPr kumimoji="0" lang="zh-CN" altLang="en-US" sz="2000">
                <a:solidFill>
                  <a:srgbClr val="0000CC"/>
                </a:solidFill>
                <a:latin typeface="Arial" panose="020B0604020202020204" pitchFamily="34" charset="0"/>
                <a:ea typeface="微软雅黑" panose="020B0503020204020204" pitchFamily="34" charset="-122"/>
                <a:cs typeface="Arial" panose="020B0604020202020204" pitchFamily="34" charset="0"/>
              </a:rPr>
              <a:t>例如</a:t>
            </a:r>
            <a:r>
              <a:rPr kumimoji="0" lang="zh-CN" altLang="en-US" sz="2000" b="0">
                <a:solidFill>
                  <a:srgbClr val="000000"/>
                </a:solidFill>
                <a:latin typeface="Arial" panose="020B0604020202020204" pitchFamily="34" charset="0"/>
                <a:ea typeface="微软雅黑" panose="020B0503020204020204" pitchFamily="34" charset="-122"/>
                <a:cs typeface="Arial" panose="020B0604020202020204" pitchFamily="34" charset="0"/>
              </a:rPr>
              <a:t>，上例 </a:t>
            </a:r>
            <a:r>
              <a:rPr kumimoji="0" lang="en-US"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(7, 3) </a:t>
            </a:r>
            <a:r>
              <a:rPr kumimoji="0" lang="zh-CN" altLang="en-US" sz="2000" b="0">
                <a:solidFill>
                  <a:srgbClr val="000000"/>
                </a:solidFill>
                <a:latin typeface="Arial" panose="020B0604020202020204" pitchFamily="34" charset="0"/>
                <a:ea typeface="微软雅黑" panose="020B0503020204020204" pitchFamily="34" charset="-122"/>
                <a:cs typeface="Arial" panose="020B0604020202020204" pitchFamily="34" charset="0"/>
              </a:rPr>
              <a:t>循环码的生成多项式  </a:t>
            </a:r>
            <a:r>
              <a:rPr kumimoji="0" lang="en-US" altLang="zh-CN" sz="2000" i="1">
                <a:solidFill>
                  <a:srgbClr val="000000"/>
                </a:solidFill>
                <a:latin typeface="Arial" panose="020B0604020202020204" pitchFamily="34" charset="0"/>
                <a:ea typeface="微软雅黑" panose="020B0503020204020204" pitchFamily="34" charset="-122"/>
                <a:cs typeface="Arial" panose="020B0604020202020204" pitchFamily="34" charset="0"/>
              </a:rPr>
              <a:t>g</a:t>
            </a:r>
            <a:r>
              <a:rPr kumimoji="0" lang="en-US"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kumimoji="0" lang="en-US" altLang="zh-CN" sz="2000" i="1">
                <a:solidFill>
                  <a:srgbClr val="000000"/>
                </a:solidFill>
                <a:latin typeface="Arial" panose="020B0604020202020204" pitchFamily="34" charset="0"/>
                <a:ea typeface="微软雅黑" panose="020B0503020204020204" pitchFamily="34" charset="-122"/>
                <a:cs typeface="Arial" panose="020B0604020202020204" pitchFamily="34" charset="0"/>
              </a:rPr>
              <a:t>x</a:t>
            </a:r>
            <a:r>
              <a:rPr kumimoji="0" lang="en-US"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kumimoji="0" lang="en-US" altLang="zh-CN" sz="2000">
                <a:solidFill>
                  <a:schemeClr val="tx1"/>
                </a:solidFill>
                <a:latin typeface="Arial" panose="020B0604020202020204" pitchFamily="34" charset="0"/>
                <a:ea typeface="微软雅黑" panose="020B0503020204020204" pitchFamily="34" charset="-122"/>
                <a:cs typeface="Arial" panose="020B0604020202020204" pitchFamily="34" charset="0"/>
              </a:rPr>
              <a:t>= </a:t>
            </a:r>
            <a:r>
              <a:rPr kumimoji="0" lang="en-US" altLang="zh-CN" sz="2000" i="1">
                <a:solidFill>
                  <a:schemeClr val="tx1"/>
                </a:solidFill>
                <a:latin typeface="Arial" panose="020B0604020202020204" pitchFamily="34" charset="0"/>
                <a:ea typeface="微软雅黑" panose="020B0503020204020204" pitchFamily="34" charset="-122"/>
                <a:cs typeface="Arial" panose="020B0604020202020204" pitchFamily="34" charset="0"/>
              </a:rPr>
              <a:t>x</a:t>
            </a:r>
            <a:r>
              <a:rPr kumimoji="0" lang="en-US" altLang="zh-CN" sz="20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4</a:t>
            </a:r>
            <a:r>
              <a:rPr kumimoji="0" lang="en-US" altLang="zh-CN" sz="2000">
                <a:solidFill>
                  <a:schemeClr val="tx1"/>
                </a:solidFill>
                <a:latin typeface="Arial" panose="020B0604020202020204" pitchFamily="34" charset="0"/>
                <a:ea typeface="微软雅黑" panose="020B0503020204020204" pitchFamily="34" charset="-122"/>
                <a:cs typeface="Arial" panose="020B0604020202020204" pitchFamily="34" charset="0"/>
              </a:rPr>
              <a:t> + </a:t>
            </a:r>
            <a:r>
              <a:rPr kumimoji="0" lang="en-US" altLang="zh-CN" sz="2000" i="1">
                <a:solidFill>
                  <a:schemeClr val="tx1"/>
                </a:solidFill>
                <a:latin typeface="Arial" panose="020B0604020202020204" pitchFamily="34" charset="0"/>
                <a:ea typeface="微软雅黑" panose="020B0503020204020204" pitchFamily="34" charset="-122"/>
                <a:cs typeface="Arial" panose="020B0604020202020204" pitchFamily="34" charset="0"/>
              </a:rPr>
              <a:t>x</a:t>
            </a:r>
            <a:r>
              <a:rPr kumimoji="0" lang="en-US" altLang="zh-CN" sz="20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2</a:t>
            </a:r>
            <a:r>
              <a:rPr kumimoji="0" lang="en-US" altLang="zh-CN" sz="2000">
                <a:solidFill>
                  <a:schemeClr val="tx1"/>
                </a:solidFill>
                <a:latin typeface="Arial" panose="020B0604020202020204" pitchFamily="34" charset="0"/>
                <a:ea typeface="微软雅黑" panose="020B0503020204020204" pitchFamily="34" charset="-122"/>
                <a:cs typeface="Arial" panose="020B0604020202020204" pitchFamily="34" charset="0"/>
              </a:rPr>
              <a:t> + </a:t>
            </a:r>
            <a:r>
              <a:rPr kumimoji="0" lang="en-US" altLang="zh-CN" sz="2000" i="1">
                <a:solidFill>
                  <a:schemeClr val="tx1"/>
                </a:solidFill>
                <a:latin typeface="Arial" panose="020B0604020202020204" pitchFamily="34" charset="0"/>
                <a:ea typeface="微软雅黑" panose="020B0503020204020204" pitchFamily="34" charset="-122"/>
                <a:cs typeface="Arial" panose="020B0604020202020204" pitchFamily="34" charset="0"/>
              </a:rPr>
              <a:t>x</a:t>
            </a:r>
            <a:r>
              <a:rPr kumimoji="0" lang="en-US" altLang="zh-CN" sz="2000">
                <a:solidFill>
                  <a:schemeClr val="tx1"/>
                </a:solidFill>
                <a:latin typeface="Arial" panose="020B0604020202020204" pitchFamily="34" charset="0"/>
                <a:ea typeface="微软雅黑" panose="020B0503020204020204" pitchFamily="34" charset="-122"/>
                <a:cs typeface="Arial" panose="020B0604020202020204" pitchFamily="34" charset="0"/>
              </a:rPr>
              <a:t> + 1</a:t>
            </a:r>
            <a:r>
              <a:rPr kumimoji="0" lang="zh-CN" altLang="en-US" sz="2000">
                <a:solidFill>
                  <a:schemeClr val="tx1"/>
                </a:solidFill>
                <a:latin typeface="Arial" panose="020B0604020202020204" pitchFamily="34" charset="0"/>
                <a:ea typeface="微软雅黑" panose="020B0503020204020204" pitchFamily="34" charset="-122"/>
                <a:cs typeface="Arial" panose="020B0604020202020204" pitchFamily="34" charset="0"/>
              </a:rPr>
              <a:t>，</a:t>
            </a:r>
            <a:r>
              <a:rPr kumimoji="0" lang="en-US" altLang="zh-CN" sz="2000">
                <a:solidFill>
                  <a:schemeClr val="tx1"/>
                </a:solidFill>
                <a:latin typeface="Arial" panose="020B0604020202020204" pitchFamily="34" charset="0"/>
                <a:ea typeface="微软雅黑" panose="020B0503020204020204" pitchFamily="34" charset="-122"/>
                <a:cs typeface="Arial" panose="020B0604020202020204" pitchFamily="34" charset="0"/>
              </a:rPr>
              <a:t> </a:t>
            </a:r>
          </a:p>
          <a:p>
            <a:pPr eaLnBrk="1" hangingPunct="1">
              <a:lnSpc>
                <a:spcPts val="3500"/>
              </a:lnSpc>
            </a:pPr>
            <a:r>
              <a:rPr lang="zh-CN" altLang="en-US" sz="2000" b="0">
                <a:solidFill>
                  <a:schemeClr val="tx1"/>
                </a:solidFill>
                <a:latin typeface="微软雅黑" panose="020B0503020204020204" pitchFamily="34" charset="-122"/>
                <a:ea typeface="微软雅黑" panose="020B0503020204020204" pitchFamily="34" charset="-122"/>
                <a:cs typeface="Arial" panose="020B0604020202020204" pitchFamily="34" charset="0"/>
              </a:rPr>
              <a:t>其编码电路：</a:t>
            </a:r>
            <a:endParaRPr lang="zh-CN" altLang="en-US" sz="2000" b="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pic>
        <p:nvPicPr>
          <p:cNvPr id="40991" name="Picture 31">
            <a:extLst>
              <a:ext uri="{FF2B5EF4-FFF2-40B4-BE49-F238E27FC236}">
                <a16:creationId xmlns:a16="http://schemas.microsoft.com/office/drawing/2014/main" id="{9170AEC5-39E1-BD8B-98FD-6A92C3A15D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5813" y="2143125"/>
            <a:ext cx="8215312" cy="146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up)">
                                      <p:cBhvr>
                                        <p:cTn id="7" dur="1000"/>
                                        <p:tgtEl>
                                          <p:spTgt spid="3">
                                            <p:bg/>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up)">
                                      <p:cBhvr>
                                        <p:cTn id="10" dur="1000"/>
                                        <p:tgtEl>
                                          <p:spTgt spid="3">
                                            <p:txEl>
                                              <p:pRg st="0" end="0"/>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1"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up)">
                                      <p:cBhvr>
                                        <p:cTn id="15" dur="1000"/>
                                        <p:tgtEl>
                                          <p:spTgt spid="13"/>
                                        </p:tgtEl>
                                      </p:cBhvr>
                                    </p:animEffect>
                                  </p:childTnLst>
                                </p:cTn>
                              </p:par>
                            </p:childTnLst>
                          </p:cTn>
                        </p:par>
                        <p:par>
                          <p:cTn id="16" fill="hold" nodeType="afterGroup">
                            <p:stCondLst>
                              <p:cond delay="1000"/>
                            </p:stCondLst>
                            <p:childTnLst>
                              <p:par>
                                <p:cTn id="17" presetID="22" presetClass="entr" presetSubtype="1" fill="hold" nodeType="afterEffect">
                                  <p:stCondLst>
                                    <p:cond delay="0"/>
                                  </p:stCondLst>
                                  <p:childTnLst>
                                    <p:set>
                                      <p:cBhvr>
                                        <p:cTn id="18" dur="1" fill="hold">
                                          <p:stCondLst>
                                            <p:cond delay="0"/>
                                          </p:stCondLst>
                                        </p:cTn>
                                        <p:tgtEl>
                                          <p:spTgt spid="157698"/>
                                        </p:tgtEl>
                                        <p:attrNameLst>
                                          <p:attrName>style.visibility</p:attrName>
                                        </p:attrNameLst>
                                      </p:cBhvr>
                                      <p:to>
                                        <p:strVal val="visible"/>
                                      </p:to>
                                    </p:set>
                                    <p:animEffect transition="in" filter="wipe(up)">
                                      <p:cBhvr>
                                        <p:cTn id="19" dur="1000"/>
                                        <p:tgtEl>
                                          <p:spTgt spid="157698"/>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nodeType="clickEffect">
                                  <p:stCondLst>
                                    <p:cond delay="0"/>
                                  </p:stCondLst>
                                  <p:childTnLst>
                                    <p:set>
                                      <p:cBhvr>
                                        <p:cTn id="23" dur="1" fill="hold">
                                          <p:stCondLst>
                                            <p:cond delay="0"/>
                                          </p:stCondLst>
                                        </p:cTn>
                                        <p:tgtEl>
                                          <p:spTgt spid="40991"/>
                                        </p:tgtEl>
                                        <p:attrNameLst>
                                          <p:attrName>style.visibility</p:attrName>
                                        </p:attrNameLst>
                                      </p:cBhvr>
                                      <p:to>
                                        <p:strVal val="visible"/>
                                      </p:to>
                                    </p:set>
                                    <p:animEffect transition="in" filter="wipe(up)">
                                      <p:cBhvr>
                                        <p:cTn id="24" dur="1000"/>
                                        <p:tgtEl>
                                          <p:spTgt spid="4099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wipe(up)">
                                      <p:cBhvr>
                                        <p:cTn id="29" dur="1000"/>
                                        <p:tgtEl>
                                          <p:spTgt spid="2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wipe(up)">
                                      <p:cBhvr>
                                        <p:cTn id="34"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13" grpId="0"/>
      <p:bldP spid="23"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32" name="Picture 12">
            <a:extLst>
              <a:ext uri="{FF2B5EF4-FFF2-40B4-BE49-F238E27FC236}">
                <a16:creationId xmlns:a16="http://schemas.microsoft.com/office/drawing/2014/main" id="{7F773A06-92EA-FFF6-1FDA-276489DABA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7350" y="2401888"/>
            <a:ext cx="5486400" cy="116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5A464EE9-649A-D571-43C1-ECBC820D0530}"/>
              </a:ext>
            </a:extLst>
          </p:cNvPr>
          <p:cNvSpPr/>
          <p:nvPr/>
        </p:nvSpPr>
        <p:spPr>
          <a:xfrm>
            <a:off x="857250" y="785813"/>
            <a:ext cx="3000375" cy="523875"/>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marL="228600" indent="-228600">
              <a:spcBef>
                <a:spcPct val="20000"/>
              </a:spcBef>
              <a:buClr>
                <a:srgbClr val="3333CC"/>
              </a:buClr>
              <a:buSzPct val="50000"/>
              <a:defRPr/>
            </a:pPr>
            <a:r>
              <a:rPr lang="en-US" altLang="zh-CN" sz="2800" dirty="0">
                <a:solidFill>
                  <a:srgbClr val="990099"/>
                </a:solidFill>
                <a:latin typeface="黑体" pitchFamily="2" charset="-122"/>
                <a:ea typeface="黑体" pitchFamily="2" charset="-122"/>
              </a:rPr>
              <a:t>2. </a:t>
            </a:r>
            <a:r>
              <a:rPr kumimoji="0" lang="zh-CN" altLang="en-US" sz="2800" kern="0" dirty="0">
                <a:solidFill>
                  <a:srgbClr val="990099"/>
                </a:solidFill>
                <a:latin typeface="黑体" pitchFamily="2" charset="-122"/>
                <a:ea typeface="黑体" pitchFamily="2" charset="-122"/>
              </a:rPr>
              <a:t>循环码的解码</a:t>
            </a:r>
          </a:p>
        </p:txBody>
      </p:sp>
      <p:sp>
        <p:nvSpPr>
          <p:cNvPr id="5" name="矩形 4">
            <a:extLst>
              <a:ext uri="{FF2B5EF4-FFF2-40B4-BE49-F238E27FC236}">
                <a16:creationId xmlns:a16="http://schemas.microsoft.com/office/drawing/2014/main" id="{E51EC139-2347-0012-660C-F6ADF88D7F16}"/>
              </a:ext>
            </a:extLst>
          </p:cNvPr>
          <p:cNvSpPr/>
          <p:nvPr/>
        </p:nvSpPr>
        <p:spPr>
          <a:xfrm>
            <a:off x="857250" y="1571625"/>
            <a:ext cx="4037013" cy="461963"/>
          </a:xfrm>
          <a:prstGeom prst="rect">
            <a:avLst/>
          </a:prstGeom>
        </p:spPr>
        <p:txBody>
          <a:bodyPr>
            <a:spAutoFit/>
          </a:bodyPr>
          <a:lstStyle/>
          <a:p>
            <a:pPr marL="228600" indent="-228600">
              <a:spcBef>
                <a:spcPct val="20000"/>
              </a:spcBef>
              <a:buClr>
                <a:srgbClr val="FFCF01"/>
              </a:buClr>
              <a:buSzPct val="55000"/>
              <a:defRPr/>
            </a:pPr>
            <a:r>
              <a:rPr kumimoji="0" lang="zh-CN" altLang="en-US" sz="2400" kern="0" dirty="0">
                <a:solidFill>
                  <a:srgbClr val="000000"/>
                </a:solidFill>
                <a:latin typeface="黑体" pitchFamily="2" charset="-122"/>
                <a:ea typeface="黑体" pitchFamily="2" charset="-122"/>
              </a:rPr>
              <a:t>目的</a:t>
            </a:r>
            <a:r>
              <a:rPr kumimoji="0" lang="zh-CN" altLang="en-US" sz="2000" b="0" kern="0" dirty="0">
                <a:solidFill>
                  <a:srgbClr val="000000"/>
                </a:solidFill>
                <a:latin typeface="微软雅黑" pitchFamily="34" charset="-122"/>
                <a:ea typeface="微软雅黑" pitchFamily="34" charset="-122"/>
              </a:rPr>
              <a:t>：</a:t>
            </a: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检错 和 纠错。</a:t>
            </a:r>
          </a:p>
        </p:txBody>
      </p:sp>
      <p:sp>
        <p:nvSpPr>
          <p:cNvPr id="9" name="矩形 8">
            <a:extLst>
              <a:ext uri="{FF2B5EF4-FFF2-40B4-BE49-F238E27FC236}">
                <a16:creationId xmlns:a16="http://schemas.microsoft.com/office/drawing/2014/main" id="{476DA51A-5E1E-62B6-163D-70A6C0923018}"/>
              </a:ext>
            </a:extLst>
          </p:cNvPr>
          <p:cNvSpPr>
            <a:spLocks noChangeArrowheads="1"/>
          </p:cNvSpPr>
          <p:nvPr/>
        </p:nvSpPr>
        <p:spPr bwMode="auto">
          <a:xfrm>
            <a:off x="928688" y="3671888"/>
            <a:ext cx="76438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zh-CN" altLang="en-US" sz="2000" b="0">
                <a:solidFill>
                  <a:schemeClr val="tx1"/>
                </a:solidFill>
                <a:latin typeface="微软雅黑" panose="020B0503020204020204" pitchFamily="34" charset="-122"/>
                <a:ea typeface="微软雅黑" panose="020B0503020204020204" pitchFamily="34" charset="-122"/>
              </a:rPr>
              <a:t>若能除尽，则无错；若除不尽而有余项，则表示在传输中发生错误。</a:t>
            </a:r>
            <a:endParaRPr lang="zh-CN" altLang="en-US" b="0">
              <a:solidFill>
                <a:schemeClr val="tx1"/>
              </a:solidFill>
              <a:latin typeface="微软雅黑" panose="020B0503020204020204" pitchFamily="34" charset="-122"/>
              <a:ea typeface="微软雅黑" panose="020B0503020204020204" pitchFamily="34" charset="-122"/>
            </a:endParaRPr>
          </a:p>
        </p:txBody>
      </p:sp>
      <p:grpSp>
        <p:nvGrpSpPr>
          <p:cNvPr id="2" name="组合 57">
            <a:extLst>
              <a:ext uri="{FF2B5EF4-FFF2-40B4-BE49-F238E27FC236}">
                <a16:creationId xmlns:a16="http://schemas.microsoft.com/office/drawing/2014/main" id="{B0484B2A-61DC-8994-353A-48ED1381158C}"/>
              </a:ext>
            </a:extLst>
          </p:cNvPr>
          <p:cNvGrpSpPr>
            <a:grpSpLocks/>
          </p:cNvGrpSpPr>
          <p:nvPr/>
        </p:nvGrpSpPr>
        <p:grpSpPr bwMode="auto">
          <a:xfrm>
            <a:off x="771525" y="2214563"/>
            <a:ext cx="1042988" cy="571500"/>
            <a:chOff x="2500299" y="3214687"/>
            <a:chExt cx="1042516" cy="571508"/>
          </a:xfrm>
        </p:grpSpPr>
        <p:sp>
          <p:nvSpPr>
            <p:cNvPr id="14" name="椭圆 13">
              <a:extLst>
                <a:ext uri="{FF2B5EF4-FFF2-40B4-BE49-F238E27FC236}">
                  <a16:creationId xmlns:a16="http://schemas.microsoft.com/office/drawing/2014/main" id="{A9CE24E2-C5AF-DBC7-68E7-8693A1319062}"/>
                </a:ext>
              </a:extLst>
            </p:cNvPr>
            <p:cNvSpPr/>
            <p:nvPr/>
          </p:nvSpPr>
          <p:spPr bwMode="auto">
            <a:xfrm>
              <a:off x="2500299" y="3214687"/>
              <a:ext cx="999672" cy="571508"/>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lstStyle/>
            <a:p>
              <a:pPr>
                <a:defRPr/>
              </a:pPr>
              <a:endParaRPr lang="zh-CN" altLang="en-US" dirty="0"/>
            </a:p>
          </p:txBody>
        </p:sp>
        <p:sp>
          <p:nvSpPr>
            <p:cNvPr id="15" name="矩形 14">
              <a:extLst>
                <a:ext uri="{FF2B5EF4-FFF2-40B4-BE49-F238E27FC236}">
                  <a16:creationId xmlns:a16="http://schemas.microsoft.com/office/drawing/2014/main" id="{1A237C95-A893-9851-797E-17B0989E1F41}"/>
                </a:ext>
              </a:extLst>
            </p:cNvPr>
            <p:cNvSpPr/>
            <p:nvPr/>
          </p:nvSpPr>
          <p:spPr>
            <a:xfrm>
              <a:off x="2597093" y="3286125"/>
              <a:ext cx="945722" cy="461969"/>
            </a:xfrm>
            <a:prstGeom prst="rect">
              <a:avLst/>
            </a:prstGeom>
          </p:spPr>
          <p:txBody>
            <a:bodyPr>
              <a:spAutoFit/>
            </a:bodyPr>
            <a:lstStyle/>
            <a:p>
              <a:pPr>
                <a:defRPr/>
              </a:pPr>
              <a:r>
                <a:rPr kumimoji="0" lang="zh-CN" altLang="en-US" sz="2400" kern="0" dirty="0">
                  <a:solidFill>
                    <a:srgbClr val="990099"/>
                  </a:solidFill>
                  <a:latin typeface="黑体" pitchFamily="2" charset="-122"/>
                  <a:ea typeface="黑体" pitchFamily="2" charset="-122"/>
                  <a:cs typeface="Arial" pitchFamily="34" charset="0"/>
                </a:rPr>
                <a:t>检错</a:t>
              </a:r>
              <a:r>
                <a:rPr kumimoji="0" lang="zh-CN" altLang="en-US" sz="2000" b="0" kern="0" dirty="0">
                  <a:solidFill>
                    <a:srgbClr val="990099"/>
                  </a:solidFill>
                  <a:latin typeface="+mn-ea"/>
                  <a:ea typeface="+mn-ea"/>
                  <a:cs typeface="Arial" pitchFamily="34" charset="0"/>
                </a:rPr>
                <a:t>：</a:t>
              </a:r>
              <a:endParaRPr lang="zh-CN" altLang="en-US" sz="2400" dirty="0">
                <a:solidFill>
                  <a:srgbClr val="990099"/>
                </a:solidFill>
                <a:latin typeface="+mn-ea"/>
                <a:ea typeface="+mn-ea"/>
                <a:cs typeface="Arial" pitchFamily="34" charset="0"/>
              </a:endParaRPr>
            </a:p>
          </p:txBody>
        </p:sp>
      </p:grpSp>
      <p:pic>
        <p:nvPicPr>
          <p:cNvPr id="107533" name="Picture 13">
            <a:extLst>
              <a:ext uri="{FF2B5EF4-FFF2-40B4-BE49-F238E27FC236}">
                <a16:creationId xmlns:a16="http://schemas.microsoft.com/office/drawing/2014/main" id="{D485EAA4-6AFE-4A0D-0FF1-E077790531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813" y="4143375"/>
            <a:ext cx="81438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483" name="Picture 11">
            <a:extLst>
              <a:ext uri="{FF2B5EF4-FFF2-40B4-BE49-F238E27FC236}">
                <a16:creationId xmlns:a16="http://schemas.microsoft.com/office/drawing/2014/main" id="{3186CB51-EE79-67E1-2B5C-2B83A125D3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4075" y="5357813"/>
            <a:ext cx="7673975" cy="90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10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10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2000"/>
                                        <p:tgtEl>
                                          <p:spTgt spid="2"/>
                                        </p:tgtEl>
                                      </p:cBhvr>
                                    </p:animEffect>
                                  </p:childTnLst>
                                </p:cTn>
                              </p:par>
                            </p:childTnLst>
                          </p:cTn>
                        </p:par>
                        <p:par>
                          <p:cTn id="18" fill="hold" nodeType="afterGroup">
                            <p:stCondLst>
                              <p:cond delay="2000"/>
                            </p:stCondLst>
                            <p:childTnLst>
                              <p:par>
                                <p:cTn id="19" presetID="22" presetClass="entr" presetSubtype="8" fill="hold" nodeType="afterEffect">
                                  <p:stCondLst>
                                    <p:cond delay="0"/>
                                  </p:stCondLst>
                                  <p:childTnLst>
                                    <p:set>
                                      <p:cBhvr>
                                        <p:cTn id="20" dur="1" fill="hold">
                                          <p:stCondLst>
                                            <p:cond delay="0"/>
                                          </p:stCondLst>
                                        </p:cTn>
                                        <p:tgtEl>
                                          <p:spTgt spid="107533"/>
                                        </p:tgtEl>
                                        <p:attrNameLst>
                                          <p:attrName>style.visibility</p:attrName>
                                        </p:attrNameLst>
                                      </p:cBhvr>
                                      <p:to>
                                        <p:strVal val="visible"/>
                                      </p:to>
                                    </p:set>
                                    <p:animEffect transition="in" filter="wipe(left)">
                                      <p:cBhvr>
                                        <p:cTn id="21" dur="2000"/>
                                        <p:tgtEl>
                                          <p:spTgt spid="10753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107532"/>
                                        </p:tgtEl>
                                        <p:attrNameLst>
                                          <p:attrName>style.visibility</p:attrName>
                                        </p:attrNameLst>
                                      </p:cBhvr>
                                      <p:to>
                                        <p:strVal val="visible"/>
                                      </p:to>
                                    </p:set>
                                    <p:animEffect transition="in" filter="wipe(up)">
                                      <p:cBhvr>
                                        <p:cTn id="26" dur="1000"/>
                                        <p:tgtEl>
                                          <p:spTgt spid="10753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up)">
                                      <p:cBhvr>
                                        <p:cTn id="31" dur="1000"/>
                                        <p:tgtEl>
                                          <p:spTgt spid="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105483"/>
                                        </p:tgtEl>
                                        <p:attrNameLst>
                                          <p:attrName>style.visibility</p:attrName>
                                        </p:attrNameLst>
                                      </p:cBhvr>
                                      <p:to>
                                        <p:strVal val="visible"/>
                                      </p:to>
                                    </p:set>
                                    <p:animEffect transition="in" filter="wipe(up)">
                                      <p:cBhvr>
                                        <p:cTn id="36" dur="1000"/>
                                        <p:tgtEl>
                                          <p:spTgt spid="1054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autoUpdateAnimBg="0"/>
      <p:bldP spid="5" grpId="0"/>
      <p:bldP spid="9"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57">
            <a:extLst>
              <a:ext uri="{FF2B5EF4-FFF2-40B4-BE49-F238E27FC236}">
                <a16:creationId xmlns:a16="http://schemas.microsoft.com/office/drawing/2014/main" id="{FE34B7A2-938C-E2C4-1F5B-84787D55710A}"/>
              </a:ext>
            </a:extLst>
          </p:cNvPr>
          <p:cNvGrpSpPr>
            <a:grpSpLocks/>
          </p:cNvGrpSpPr>
          <p:nvPr/>
        </p:nvGrpSpPr>
        <p:grpSpPr bwMode="auto">
          <a:xfrm>
            <a:off x="757238" y="1143000"/>
            <a:ext cx="1042987" cy="571500"/>
            <a:chOff x="2500299" y="3214687"/>
            <a:chExt cx="1042516" cy="571508"/>
          </a:xfrm>
        </p:grpSpPr>
        <p:sp>
          <p:nvSpPr>
            <p:cNvPr id="17" name="椭圆 16">
              <a:extLst>
                <a:ext uri="{FF2B5EF4-FFF2-40B4-BE49-F238E27FC236}">
                  <a16:creationId xmlns:a16="http://schemas.microsoft.com/office/drawing/2014/main" id="{27ABFA3C-AF79-238D-E5FE-5C65A022DDAD}"/>
                </a:ext>
              </a:extLst>
            </p:cNvPr>
            <p:cNvSpPr/>
            <p:nvPr/>
          </p:nvSpPr>
          <p:spPr bwMode="auto">
            <a:xfrm>
              <a:off x="2500299" y="3214687"/>
              <a:ext cx="999673" cy="571508"/>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lstStyle/>
            <a:p>
              <a:pPr>
                <a:defRPr/>
              </a:pPr>
              <a:endParaRPr lang="zh-CN" altLang="en-US" dirty="0"/>
            </a:p>
          </p:txBody>
        </p:sp>
        <p:sp>
          <p:nvSpPr>
            <p:cNvPr id="18" name="矩形 17">
              <a:extLst>
                <a:ext uri="{FF2B5EF4-FFF2-40B4-BE49-F238E27FC236}">
                  <a16:creationId xmlns:a16="http://schemas.microsoft.com/office/drawing/2014/main" id="{BE3B82D4-C0B2-7C1C-84CA-2EF498A29158}"/>
                </a:ext>
              </a:extLst>
            </p:cNvPr>
            <p:cNvSpPr/>
            <p:nvPr/>
          </p:nvSpPr>
          <p:spPr>
            <a:xfrm>
              <a:off x="2597092" y="3286126"/>
              <a:ext cx="945723" cy="461968"/>
            </a:xfrm>
            <a:prstGeom prst="rect">
              <a:avLst/>
            </a:prstGeom>
          </p:spPr>
          <p:txBody>
            <a:bodyPr>
              <a:spAutoFit/>
            </a:bodyPr>
            <a:lstStyle/>
            <a:p>
              <a:pPr>
                <a:defRPr/>
              </a:pPr>
              <a:r>
                <a:rPr kumimoji="0" lang="zh-CN" altLang="en-US" sz="2400" kern="0" dirty="0">
                  <a:solidFill>
                    <a:srgbClr val="990099"/>
                  </a:solidFill>
                  <a:latin typeface="黑体" pitchFamily="2" charset="-122"/>
                  <a:ea typeface="黑体" pitchFamily="2" charset="-122"/>
                  <a:cs typeface="Arial" pitchFamily="34" charset="0"/>
                </a:rPr>
                <a:t>纠错</a:t>
              </a:r>
              <a:r>
                <a:rPr kumimoji="0" lang="zh-CN" altLang="en-US" sz="2000" b="0" kern="0" dirty="0">
                  <a:solidFill>
                    <a:srgbClr val="990099"/>
                  </a:solidFill>
                  <a:latin typeface="+mn-ea"/>
                  <a:ea typeface="+mn-ea"/>
                  <a:cs typeface="Arial" pitchFamily="34" charset="0"/>
                </a:rPr>
                <a:t>：</a:t>
              </a:r>
              <a:endParaRPr lang="zh-CN" altLang="en-US" sz="2400" dirty="0">
                <a:solidFill>
                  <a:srgbClr val="990099"/>
                </a:solidFill>
                <a:latin typeface="+mn-ea"/>
                <a:ea typeface="+mn-ea"/>
                <a:cs typeface="Arial" pitchFamily="34" charset="0"/>
              </a:endParaRPr>
            </a:p>
          </p:txBody>
        </p:sp>
      </p:grpSp>
      <p:pic>
        <p:nvPicPr>
          <p:cNvPr id="108553" name="Picture 9">
            <a:extLst>
              <a:ext uri="{FF2B5EF4-FFF2-40B4-BE49-F238E27FC236}">
                <a16:creationId xmlns:a16="http://schemas.microsoft.com/office/drawing/2014/main" id="{C35D3020-E3CF-B255-A1EA-BCED7B6B37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73788"/>
          <a:stretch>
            <a:fillRect/>
          </a:stretch>
        </p:blipFill>
        <p:spPr bwMode="auto">
          <a:xfrm>
            <a:off x="1339850" y="2857500"/>
            <a:ext cx="7373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a:extLst>
              <a:ext uri="{FF2B5EF4-FFF2-40B4-BE49-F238E27FC236}">
                <a16:creationId xmlns:a16="http://schemas.microsoft.com/office/drawing/2014/main" id="{CDF9D101-D91C-4CA0-AEF0-E46BFBD012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6894" b="34410"/>
          <a:stretch>
            <a:fillRect/>
          </a:stretch>
        </p:blipFill>
        <p:spPr bwMode="auto">
          <a:xfrm>
            <a:off x="1341438" y="3500438"/>
            <a:ext cx="7373937"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9">
            <a:extLst>
              <a:ext uri="{FF2B5EF4-FFF2-40B4-BE49-F238E27FC236}">
                <a16:creationId xmlns:a16="http://schemas.microsoft.com/office/drawing/2014/main" id="{B6DEBA5B-8044-EA36-CFF1-3F02391EF1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77888" b="-2486"/>
          <a:stretch>
            <a:fillRect/>
          </a:stretch>
        </p:blipFill>
        <p:spPr bwMode="auto">
          <a:xfrm>
            <a:off x="1341438" y="4214813"/>
            <a:ext cx="73739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554" name="Picture 10">
            <a:extLst>
              <a:ext uri="{FF2B5EF4-FFF2-40B4-BE49-F238E27FC236}">
                <a16:creationId xmlns:a16="http://schemas.microsoft.com/office/drawing/2014/main" id="{F2F1FE61-53DB-6A61-EC92-C1F812A99F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813" y="1785938"/>
            <a:ext cx="7929562"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08554"/>
                                        </p:tgtEl>
                                        <p:attrNameLst>
                                          <p:attrName>style.visibility</p:attrName>
                                        </p:attrNameLst>
                                      </p:cBhvr>
                                      <p:to>
                                        <p:strVal val="visible"/>
                                      </p:to>
                                    </p:set>
                                    <p:animEffect transition="in" filter="wipe(up)">
                                      <p:cBhvr>
                                        <p:cTn id="12" dur="1000"/>
                                        <p:tgtEl>
                                          <p:spTgt spid="1085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08553"/>
                                        </p:tgtEl>
                                        <p:attrNameLst>
                                          <p:attrName>style.visibility</p:attrName>
                                        </p:attrNameLst>
                                      </p:cBhvr>
                                      <p:to>
                                        <p:strVal val="visible"/>
                                      </p:to>
                                    </p:set>
                                    <p:animEffect transition="in" filter="wipe(up)">
                                      <p:cBhvr>
                                        <p:cTn id="17" dur="1000"/>
                                        <p:tgtEl>
                                          <p:spTgt spid="10855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up)">
                                      <p:cBhvr>
                                        <p:cTn id="22" dur="1000"/>
                                        <p:tgtEl>
                                          <p:spTgt spid="1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up)">
                                      <p:cBhvr>
                                        <p:cTn id="2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40FFE071-C99C-B17F-BF68-3331EFAC4B50}"/>
              </a:ext>
            </a:extLst>
          </p:cNvPr>
          <p:cNvSpPr>
            <a:spLocks noChangeArrowheads="1"/>
          </p:cNvSpPr>
          <p:nvPr/>
        </p:nvSpPr>
        <p:spPr bwMode="auto">
          <a:xfrm>
            <a:off x="0" y="471488"/>
            <a:ext cx="6286500" cy="58420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anchor="ctr">
            <a:spAutoFit/>
          </a:bodyPr>
          <a:lstStyle/>
          <a:p>
            <a:pPr marL="0" lvl="1" indent="306388" eaLnBrk="0" hangingPunct="0">
              <a:defRPr/>
            </a:pPr>
            <a:r>
              <a:rPr lang="en-US" altLang="en-US" sz="3200" dirty="0">
                <a:solidFill>
                  <a:srgbClr val="800080"/>
                </a:solidFill>
                <a:latin typeface="Arial" pitchFamily="34" charset="0"/>
                <a:ea typeface="微软雅黑" pitchFamily="34" charset="-122"/>
                <a:cs typeface="Arial" pitchFamily="34" charset="0"/>
              </a:rPr>
              <a:t>11</a:t>
            </a:r>
            <a:r>
              <a:rPr lang="en-US" altLang="zh-CN" sz="3200" dirty="0">
                <a:solidFill>
                  <a:srgbClr val="800080"/>
                </a:solidFill>
                <a:latin typeface="Arial" pitchFamily="34" charset="0"/>
                <a:ea typeface="微软雅黑" pitchFamily="34" charset="-122"/>
                <a:cs typeface="Arial" pitchFamily="34" charset="0"/>
              </a:rPr>
              <a:t>.6.3  </a:t>
            </a:r>
            <a:r>
              <a:rPr kumimoji="0" lang="zh-CN" altLang="en-US" sz="3200" kern="0" dirty="0">
                <a:solidFill>
                  <a:srgbClr val="003399"/>
                </a:solidFill>
                <a:latin typeface="微软雅黑" pitchFamily="34" charset="-122"/>
                <a:ea typeface="微软雅黑" pitchFamily="34" charset="-122"/>
              </a:rPr>
              <a:t>截短循环码</a:t>
            </a:r>
            <a:endParaRPr lang="zh-CN" altLang="en-US" sz="3200" i="1" dirty="0">
              <a:solidFill>
                <a:srgbClr val="990099"/>
              </a:solidFill>
              <a:latin typeface="微软雅黑" pitchFamily="34" charset="-122"/>
              <a:ea typeface="微软雅黑" pitchFamily="34" charset="-122"/>
            </a:endParaRPr>
          </a:p>
        </p:txBody>
      </p:sp>
      <p:sp>
        <p:nvSpPr>
          <p:cNvPr id="5" name="Rectangle 3">
            <a:extLst>
              <a:ext uri="{FF2B5EF4-FFF2-40B4-BE49-F238E27FC236}">
                <a16:creationId xmlns:a16="http://schemas.microsoft.com/office/drawing/2014/main" id="{89A91551-2B8B-207C-E10B-D990343A18B9}"/>
              </a:ext>
            </a:extLst>
          </p:cNvPr>
          <p:cNvSpPr txBox="1">
            <a:spLocks noChangeArrowheads="1"/>
          </p:cNvSpPr>
          <p:nvPr/>
        </p:nvSpPr>
        <p:spPr bwMode="auto">
          <a:xfrm>
            <a:off x="714375" y="4929188"/>
            <a:ext cx="7986713" cy="1490662"/>
          </a:xfrm>
          <a:prstGeom prst="rect">
            <a:avLst/>
          </a:prstGeom>
          <a:solidFill>
            <a:schemeClr val="bg2">
              <a:lumMod val="10000"/>
              <a:lumOff val="90000"/>
            </a:schemeClr>
          </a:solidFill>
          <a:ln w="9525">
            <a:noFill/>
            <a:miter lim="800000"/>
            <a:headEnd/>
            <a:tailEnd/>
          </a:ln>
          <a:effectLst>
            <a:outerShdw blurRad="50800" dist="38100" dir="2700000" algn="tl" rotWithShape="0">
              <a:prstClr val="black">
                <a:alpha val="40000"/>
              </a:prstClr>
            </a:outerShdw>
          </a:effectLst>
        </p:spPr>
        <p:txBody>
          <a:bodyPr/>
          <a:lstStyle/>
          <a:p>
            <a:pPr marL="228600" indent="-228600">
              <a:lnSpc>
                <a:spcPts val="3200"/>
              </a:lnSpc>
              <a:spcBef>
                <a:spcPct val="20000"/>
              </a:spcBef>
              <a:buClr>
                <a:srgbClr val="FF0000"/>
              </a:buClr>
              <a:buSzPct val="70000"/>
              <a:buFont typeface="Wingdings" pitchFamily="2" charset="2"/>
              <a:buChar char="n"/>
              <a:defRPr/>
            </a:pPr>
            <a:r>
              <a:rPr kumimoji="0" lang="zh-CN" altLang="en-US" sz="2400" kern="0" dirty="0">
                <a:solidFill>
                  <a:srgbClr val="0000CC"/>
                </a:solidFill>
                <a:latin typeface="黑体" pitchFamily="2" charset="-122"/>
                <a:ea typeface="黑体" pitchFamily="2" charset="-122"/>
                <a:cs typeface="Arial" pitchFamily="34" charset="0"/>
              </a:rPr>
              <a:t>例</a:t>
            </a:r>
            <a:r>
              <a:rPr kumimoji="0" lang="zh-CN" altLang="en-US" sz="2000" b="0" kern="0" dirty="0">
                <a:solidFill>
                  <a:schemeClr val="tx1"/>
                </a:solidFill>
                <a:latin typeface="Arial" pitchFamily="34" charset="0"/>
                <a:ea typeface="微软雅黑" pitchFamily="34" charset="-122"/>
                <a:cs typeface="Arial" pitchFamily="34" charset="0"/>
              </a:rPr>
              <a:t>：构造一个能够纠正</a:t>
            </a:r>
            <a:r>
              <a:rPr kumimoji="0" lang="en-US" altLang="zh-CN" sz="2000" b="0" kern="0" dirty="0">
                <a:solidFill>
                  <a:schemeClr val="tx1"/>
                </a:solidFill>
                <a:latin typeface="Arial" pitchFamily="34" charset="0"/>
                <a:ea typeface="微软雅黑" pitchFamily="34" charset="-122"/>
                <a:cs typeface="Arial" pitchFamily="34" charset="0"/>
              </a:rPr>
              <a:t>1</a:t>
            </a:r>
            <a:r>
              <a:rPr kumimoji="0" lang="zh-CN" altLang="en-US" sz="2000" b="0" kern="0" dirty="0">
                <a:solidFill>
                  <a:schemeClr val="tx1"/>
                </a:solidFill>
                <a:latin typeface="Arial" pitchFamily="34" charset="0"/>
                <a:ea typeface="微软雅黑" pitchFamily="34" charset="-122"/>
                <a:cs typeface="Arial" pitchFamily="34" charset="0"/>
              </a:rPr>
              <a:t>位错码的</a:t>
            </a:r>
            <a:r>
              <a:rPr kumimoji="0" lang="en-US" altLang="zh-CN" sz="2000" b="0" kern="0" dirty="0">
                <a:solidFill>
                  <a:srgbClr val="FF0000"/>
                </a:solidFill>
                <a:latin typeface="Arial" pitchFamily="34" charset="0"/>
                <a:ea typeface="微软雅黑" pitchFamily="34" charset="-122"/>
                <a:cs typeface="Arial" pitchFamily="34" charset="0"/>
              </a:rPr>
              <a:t>(13, 9)</a:t>
            </a:r>
            <a:r>
              <a:rPr kumimoji="0" lang="zh-CN" altLang="en-US" sz="2000" b="0" kern="0" dirty="0">
                <a:solidFill>
                  <a:schemeClr val="tx1"/>
                </a:solidFill>
                <a:latin typeface="Arial" pitchFamily="34" charset="0"/>
                <a:ea typeface="微软雅黑" pitchFamily="34" charset="-122"/>
                <a:cs typeface="Arial" pitchFamily="34" charset="0"/>
              </a:rPr>
              <a:t>码。可由</a:t>
            </a:r>
            <a:r>
              <a:rPr kumimoji="0" lang="en-US" altLang="zh-CN" sz="2000" kern="0" dirty="0">
                <a:solidFill>
                  <a:srgbClr val="0000CC"/>
                </a:solidFill>
                <a:latin typeface="Arial" pitchFamily="34" charset="0"/>
                <a:ea typeface="微软雅黑" pitchFamily="34" charset="-122"/>
                <a:cs typeface="Arial" pitchFamily="34" charset="0"/>
              </a:rPr>
              <a:t>(15, 11)</a:t>
            </a:r>
            <a:r>
              <a:rPr kumimoji="0" lang="zh-CN" altLang="en-US" sz="2000" b="0" kern="0" dirty="0">
                <a:solidFill>
                  <a:schemeClr val="tx1"/>
                </a:solidFill>
                <a:latin typeface="Arial" pitchFamily="34" charset="0"/>
                <a:ea typeface="微软雅黑" pitchFamily="34" charset="-122"/>
                <a:cs typeface="Arial" pitchFamily="34" charset="0"/>
              </a:rPr>
              <a:t>循环码的码组中选出前两信息位均为“</a:t>
            </a:r>
            <a:r>
              <a:rPr kumimoji="0" lang="en-US" altLang="zh-CN" sz="2000" b="0" kern="0" dirty="0">
                <a:solidFill>
                  <a:schemeClr val="tx1"/>
                </a:solidFill>
                <a:latin typeface="Arial" pitchFamily="34" charset="0"/>
                <a:ea typeface="微软雅黑" pitchFamily="34" charset="-122"/>
                <a:cs typeface="Arial" pitchFamily="34" charset="0"/>
              </a:rPr>
              <a:t>0”</a:t>
            </a:r>
            <a:r>
              <a:rPr kumimoji="0" lang="zh-CN" altLang="en-US" sz="2000" b="0" kern="0" dirty="0">
                <a:solidFill>
                  <a:schemeClr val="tx1"/>
                </a:solidFill>
                <a:latin typeface="Arial" pitchFamily="34" charset="0"/>
                <a:ea typeface="微软雅黑" pitchFamily="34" charset="-122"/>
                <a:cs typeface="Arial" pitchFamily="34" charset="0"/>
              </a:rPr>
              <a:t>的码组，构成一个新的码组集合。在发送时不发送这两位“</a:t>
            </a:r>
            <a:r>
              <a:rPr kumimoji="0" lang="en-US" altLang="zh-CN" sz="2000" b="0" kern="0" dirty="0">
                <a:solidFill>
                  <a:schemeClr val="tx1"/>
                </a:solidFill>
                <a:latin typeface="Arial" pitchFamily="34" charset="0"/>
                <a:ea typeface="微软雅黑" pitchFamily="34" charset="-122"/>
                <a:cs typeface="Arial" pitchFamily="34" charset="0"/>
              </a:rPr>
              <a:t>0”</a:t>
            </a:r>
            <a:r>
              <a:rPr kumimoji="0" lang="zh-CN" altLang="en-US" sz="2000" b="0" kern="0" dirty="0">
                <a:solidFill>
                  <a:schemeClr val="tx1"/>
                </a:solidFill>
                <a:latin typeface="Arial" pitchFamily="34" charset="0"/>
                <a:ea typeface="微软雅黑" pitchFamily="34" charset="-122"/>
                <a:cs typeface="Arial" pitchFamily="34" charset="0"/>
              </a:rPr>
              <a:t>。于是发送码组成为</a:t>
            </a:r>
            <a:r>
              <a:rPr kumimoji="0" lang="en-US" altLang="zh-CN" sz="2000" b="0" kern="0" dirty="0">
                <a:solidFill>
                  <a:srgbClr val="FF0000"/>
                </a:solidFill>
                <a:latin typeface="Arial" pitchFamily="34" charset="0"/>
                <a:ea typeface="微软雅黑" pitchFamily="34" charset="-122"/>
                <a:cs typeface="Arial" pitchFamily="34" charset="0"/>
              </a:rPr>
              <a:t>(13, 9</a:t>
            </a:r>
            <a:r>
              <a:rPr kumimoji="0" lang="en-US" altLang="zh-CN" sz="2000" b="0" kern="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a:t>
            </a:r>
            <a:r>
              <a:rPr kumimoji="0" lang="zh-CN" altLang="en-US" sz="2000" b="0" kern="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截短循环码</a:t>
            </a:r>
            <a:r>
              <a:rPr kumimoji="0" lang="zh-CN" altLang="en-US" sz="2000" b="0" kern="0" dirty="0">
                <a:solidFill>
                  <a:schemeClr val="tx1"/>
                </a:solidFill>
                <a:latin typeface="Arial" pitchFamily="34" charset="0"/>
                <a:ea typeface="微软雅黑" pitchFamily="34" charset="-122"/>
                <a:cs typeface="Arial" pitchFamily="34" charset="0"/>
              </a:rPr>
              <a:t>。 </a:t>
            </a:r>
          </a:p>
        </p:txBody>
      </p:sp>
      <p:sp>
        <p:nvSpPr>
          <p:cNvPr id="6" name="矩形 5">
            <a:extLst>
              <a:ext uri="{FF2B5EF4-FFF2-40B4-BE49-F238E27FC236}">
                <a16:creationId xmlns:a16="http://schemas.microsoft.com/office/drawing/2014/main" id="{264A092C-D81E-5DFE-48B4-A8905A1CEC84}"/>
              </a:ext>
            </a:extLst>
          </p:cNvPr>
          <p:cNvSpPr/>
          <p:nvPr/>
        </p:nvSpPr>
        <p:spPr>
          <a:xfrm>
            <a:off x="714375" y="1071563"/>
            <a:ext cx="8001000" cy="912812"/>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marL="228600" indent="-228600">
              <a:lnSpc>
                <a:spcPts val="3200"/>
              </a:lnSpc>
              <a:spcBef>
                <a:spcPct val="20000"/>
              </a:spcBef>
              <a:buClr>
                <a:srgbClr val="FF0000"/>
              </a:buClr>
              <a:buSzPct val="70000"/>
              <a:buFont typeface="Wingdings" pitchFamily="2" charset="2"/>
              <a:buChar char="n"/>
              <a:defRPr/>
            </a:pPr>
            <a:r>
              <a:rPr kumimoji="0" lang="zh-CN" altLang="en-US" sz="2400" kern="0" dirty="0">
                <a:solidFill>
                  <a:schemeClr val="tx1"/>
                </a:solidFill>
                <a:latin typeface="黑体" pitchFamily="2" charset="-122"/>
                <a:ea typeface="黑体" pitchFamily="2" charset="-122"/>
                <a:cs typeface="Arial" pitchFamily="34" charset="0"/>
              </a:rPr>
              <a:t>截短目的：</a:t>
            </a:r>
            <a:r>
              <a:rPr kumimoji="0" lang="zh-CN" altLang="en-US" sz="2000" b="0" kern="0" dirty="0">
                <a:solidFill>
                  <a:srgbClr val="000000"/>
                </a:solidFill>
                <a:latin typeface="Arial" pitchFamily="34" charset="0"/>
                <a:ea typeface="微软雅黑" pitchFamily="34" charset="-122"/>
                <a:cs typeface="Arial" pitchFamily="34" charset="0"/>
              </a:rPr>
              <a:t>在设计纠错编码方案时，若找不到合适的码长</a:t>
            </a:r>
            <a:r>
              <a:rPr kumimoji="0" lang="en-US" altLang="zh-CN" sz="2000" i="1" kern="0" dirty="0">
                <a:solidFill>
                  <a:srgbClr val="000000"/>
                </a:solidFill>
                <a:latin typeface="Arial" pitchFamily="34" charset="0"/>
                <a:ea typeface="微软雅黑" pitchFamily="34" charset="-122"/>
                <a:cs typeface="Arial" pitchFamily="34" charset="0"/>
              </a:rPr>
              <a:t>n</a:t>
            </a:r>
            <a:r>
              <a:rPr kumimoji="0" lang="zh-CN" altLang="en-US" sz="2000" b="0" kern="0" dirty="0">
                <a:solidFill>
                  <a:srgbClr val="000000"/>
                </a:solidFill>
                <a:latin typeface="Arial" pitchFamily="34" charset="0"/>
                <a:ea typeface="微软雅黑" pitchFamily="34" charset="-122"/>
                <a:cs typeface="Arial" pitchFamily="34" charset="0"/>
              </a:rPr>
              <a:t>及信息位</a:t>
            </a:r>
            <a:r>
              <a:rPr kumimoji="0" lang="en-US" altLang="zh-CN" sz="2000" i="1" kern="0" dirty="0">
                <a:solidFill>
                  <a:srgbClr val="000000"/>
                </a:solidFill>
                <a:latin typeface="Arial" pitchFamily="34" charset="0"/>
                <a:ea typeface="微软雅黑" pitchFamily="34" charset="-122"/>
                <a:cs typeface="Arial" pitchFamily="34" charset="0"/>
              </a:rPr>
              <a:t>k</a:t>
            </a:r>
            <a:r>
              <a:rPr kumimoji="0" lang="en-US" altLang="zh-CN" sz="2000" b="0" i="1" kern="0" dirty="0">
                <a:solidFill>
                  <a:srgbClr val="000000"/>
                </a:solidFill>
                <a:latin typeface="Arial" pitchFamily="34" charset="0"/>
                <a:ea typeface="微软雅黑" pitchFamily="34" charset="-122"/>
                <a:cs typeface="Arial" pitchFamily="34" charset="0"/>
              </a:rPr>
              <a:t> </a:t>
            </a:r>
            <a:r>
              <a:rPr kumimoji="0" lang="zh-CN" altLang="en-US" sz="2000" b="0" kern="0" dirty="0">
                <a:solidFill>
                  <a:srgbClr val="000000"/>
                </a:solidFill>
                <a:latin typeface="Arial" pitchFamily="34" charset="0"/>
                <a:ea typeface="微软雅黑" pitchFamily="34" charset="-122"/>
                <a:cs typeface="Arial" pitchFamily="34" charset="0"/>
              </a:rPr>
              <a:t>时，</a:t>
            </a: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可以</a:t>
            </a:r>
            <a:r>
              <a:rPr kumimoji="0" lang="zh-CN" altLang="en-US" sz="2000" b="0" kern="0" dirty="0">
                <a:solidFill>
                  <a:srgbClr val="000000"/>
                </a:solidFill>
                <a:latin typeface="Arial" pitchFamily="34" charset="0"/>
                <a:ea typeface="微软雅黑" pitchFamily="34" charset="-122"/>
                <a:cs typeface="Arial" pitchFamily="34" charset="0"/>
              </a:rPr>
              <a:t>把循环码的码长截短以得到符合要求的编码。</a:t>
            </a:r>
          </a:p>
        </p:txBody>
      </p:sp>
      <p:sp>
        <p:nvSpPr>
          <p:cNvPr id="7" name="矩形 6">
            <a:extLst>
              <a:ext uri="{FF2B5EF4-FFF2-40B4-BE49-F238E27FC236}">
                <a16:creationId xmlns:a16="http://schemas.microsoft.com/office/drawing/2014/main" id="{7C9109CF-432C-5A20-E019-55CAAACFAEB4}"/>
              </a:ext>
            </a:extLst>
          </p:cNvPr>
          <p:cNvSpPr/>
          <p:nvPr/>
        </p:nvSpPr>
        <p:spPr>
          <a:xfrm>
            <a:off x="714375" y="2071688"/>
            <a:ext cx="8001000" cy="1733550"/>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marL="228600" indent="-228600">
              <a:lnSpc>
                <a:spcPts val="3200"/>
              </a:lnSpc>
              <a:spcBef>
                <a:spcPct val="20000"/>
              </a:spcBef>
              <a:buClr>
                <a:srgbClr val="FF0000"/>
              </a:buClr>
              <a:buSzPct val="70000"/>
              <a:buFont typeface="Wingdings" pitchFamily="2" charset="2"/>
              <a:buChar char="n"/>
              <a:defRPr/>
            </a:pPr>
            <a:r>
              <a:rPr kumimoji="0" lang="zh-CN" altLang="en-US" sz="2400" kern="0" dirty="0">
                <a:solidFill>
                  <a:srgbClr val="000000"/>
                </a:solidFill>
                <a:latin typeface="黑体" pitchFamily="2" charset="-122"/>
                <a:ea typeface="黑体" pitchFamily="2" charset="-122"/>
                <a:cs typeface="Arial" pitchFamily="34" charset="0"/>
              </a:rPr>
              <a:t>截短方法：</a:t>
            </a:r>
            <a:r>
              <a:rPr kumimoji="0" lang="zh-CN" altLang="en-US" sz="2000" b="0" kern="0" dirty="0">
                <a:solidFill>
                  <a:srgbClr val="000000"/>
                </a:solidFill>
                <a:latin typeface="Arial" pitchFamily="34" charset="0"/>
                <a:ea typeface="微软雅黑" pitchFamily="34" charset="-122"/>
                <a:cs typeface="Arial" pitchFamily="34" charset="0"/>
              </a:rPr>
              <a:t>设给定一个</a:t>
            </a:r>
            <a:r>
              <a:rPr kumimoji="0" lang="en-US" altLang="zh-CN" sz="2000" kern="0" dirty="0">
                <a:solidFill>
                  <a:srgbClr val="0000CC"/>
                </a:solidFill>
                <a:latin typeface="Arial" pitchFamily="34" charset="0"/>
                <a:ea typeface="微软雅黑" pitchFamily="34" charset="-122"/>
                <a:cs typeface="Arial" pitchFamily="34" charset="0"/>
              </a:rPr>
              <a:t>(</a:t>
            </a:r>
            <a:r>
              <a:rPr kumimoji="0" lang="en-US" altLang="zh-CN" sz="2000" i="1" kern="0" dirty="0">
                <a:solidFill>
                  <a:srgbClr val="0000CC"/>
                </a:solidFill>
                <a:latin typeface="Arial" pitchFamily="34" charset="0"/>
                <a:ea typeface="微软雅黑" pitchFamily="34" charset="-122"/>
                <a:cs typeface="Arial" pitchFamily="34" charset="0"/>
              </a:rPr>
              <a:t>n</a:t>
            </a:r>
            <a:r>
              <a:rPr kumimoji="0" lang="en-US" altLang="zh-CN" sz="2000" kern="0" dirty="0">
                <a:solidFill>
                  <a:srgbClr val="0000CC"/>
                </a:solidFill>
                <a:latin typeface="Arial" pitchFamily="34" charset="0"/>
                <a:ea typeface="微软雅黑" pitchFamily="34" charset="-122"/>
                <a:cs typeface="Arial" pitchFamily="34" charset="0"/>
              </a:rPr>
              <a:t>, </a:t>
            </a:r>
            <a:r>
              <a:rPr kumimoji="0" lang="en-US" altLang="zh-CN" sz="2000" i="1" kern="0" dirty="0">
                <a:solidFill>
                  <a:srgbClr val="0000CC"/>
                </a:solidFill>
                <a:latin typeface="Arial" pitchFamily="34" charset="0"/>
                <a:ea typeface="微软雅黑" pitchFamily="34" charset="-122"/>
                <a:cs typeface="Arial" pitchFamily="34" charset="0"/>
              </a:rPr>
              <a:t>k</a:t>
            </a:r>
            <a:r>
              <a:rPr kumimoji="0" lang="en-US" altLang="zh-CN" sz="2000" kern="0" dirty="0">
                <a:solidFill>
                  <a:srgbClr val="0000CC"/>
                </a:solidFill>
                <a:latin typeface="Arial" pitchFamily="34" charset="0"/>
                <a:ea typeface="微软雅黑" pitchFamily="34" charset="-122"/>
                <a:cs typeface="Arial" pitchFamily="34" charset="0"/>
              </a:rPr>
              <a:t>)</a:t>
            </a:r>
            <a:r>
              <a:rPr kumimoji="0" lang="zh-CN" altLang="en-US" sz="2000" b="0" kern="0" dirty="0">
                <a:solidFill>
                  <a:srgbClr val="000000"/>
                </a:solidFill>
                <a:latin typeface="Arial" pitchFamily="34" charset="0"/>
                <a:ea typeface="微软雅黑" pitchFamily="34" charset="-122"/>
                <a:cs typeface="Arial" pitchFamily="34" charset="0"/>
              </a:rPr>
              <a:t>循环码，它共有 </a:t>
            </a:r>
            <a:r>
              <a:rPr kumimoji="0" lang="en-US" altLang="zh-CN" sz="2400" kern="0" dirty="0">
                <a:solidFill>
                  <a:srgbClr val="0000CC"/>
                </a:solidFill>
                <a:latin typeface="Arial" pitchFamily="34" charset="0"/>
                <a:ea typeface="微软雅黑" pitchFamily="34" charset="-122"/>
                <a:cs typeface="Arial" pitchFamily="34" charset="0"/>
              </a:rPr>
              <a:t>2</a:t>
            </a:r>
            <a:r>
              <a:rPr kumimoji="0" lang="en-US" altLang="zh-CN" sz="2400" i="1" kern="0" baseline="30000" dirty="0">
                <a:solidFill>
                  <a:srgbClr val="0000CC"/>
                </a:solidFill>
                <a:latin typeface="Arial" pitchFamily="34" charset="0"/>
                <a:ea typeface="微软雅黑" pitchFamily="34" charset="-122"/>
                <a:cs typeface="Arial" pitchFamily="34" charset="0"/>
              </a:rPr>
              <a:t>k </a:t>
            </a:r>
            <a:r>
              <a:rPr kumimoji="0" lang="zh-CN" altLang="en-US" sz="2000" b="0" kern="0" dirty="0">
                <a:solidFill>
                  <a:srgbClr val="000000"/>
                </a:solidFill>
                <a:latin typeface="Arial" pitchFamily="34" charset="0"/>
                <a:ea typeface="微软雅黑" pitchFamily="34" charset="-122"/>
                <a:cs typeface="Arial" pitchFamily="34" charset="0"/>
              </a:rPr>
              <a:t>种码组，现使其</a:t>
            </a:r>
            <a:r>
              <a:rPr kumimoji="0" lang="zh-CN" altLang="en-US" sz="2000" b="0" kern="0" dirty="0">
                <a:solidFill>
                  <a:srgbClr val="FF0000"/>
                </a:solidFill>
                <a:latin typeface="Arial" pitchFamily="34" charset="0"/>
                <a:ea typeface="微软雅黑" pitchFamily="34" charset="-122"/>
                <a:cs typeface="Arial" pitchFamily="34" charset="0"/>
              </a:rPr>
              <a:t>前 </a:t>
            </a:r>
            <a:r>
              <a:rPr kumimoji="0" lang="en-US" altLang="zh-CN" sz="2400" i="1" kern="0" dirty="0" err="1">
                <a:solidFill>
                  <a:srgbClr val="FF0000"/>
                </a:solidFill>
                <a:latin typeface="Times New Roman" pitchFamily="18" charset="0"/>
                <a:ea typeface="微软雅黑" pitchFamily="34" charset="-122"/>
                <a:cs typeface="Times New Roman" pitchFamily="18" charset="0"/>
              </a:rPr>
              <a:t>i</a:t>
            </a:r>
            <a:r>
              <a:rPr kumimoji="0" lang="en-US" altLang="zh-CN" sz="2000" i="1" kern="0" dirty="0">
                <a:solidFill>
                  <a:srgbClr val="FF0000"/>
                </a:solidFill>
                <a:latin typeface="Times New Roman" pitchFamily="18" charset="0"/>
                <a:ea typeface="微软雅黑" pitchFamily="34" charset="-122"/>
                <a:cs typeface="Times New Roman" pitchFamily="18" charset="0"/>
              </a:rPr>
              <a:t> </a:t>
            </a:r>
            <a:r>
              <a:rPr kumimoji="0" lang="en-US" altLang="zh-CN" sz="2000" b="0" kern="0" dirty="0">
                <a:solidFill>
                  <a:srgbClr val="000000"/>
                </a:solidFill>
                <a:latin typeface="Arial" pitchFamily="34" charset="0"/>
                <a:ea typeface="微软雅黑" pitchFamily="34" charset="-122"/>
                <a:cs typeface="Arial" pitchFamily="34" charset="0"/>
              </a:rPr>
              <a:t>(</a:t>
            </a:r>
            <a:r>
              <a:rPr kumimoji="0" lang="en-US" altLang="zh-CN" sz="2000" kern="0" dirty="0">
                <a:solidFill>
                  <a:srgbClr val="0000CC"/>
                </a:solidFill>
                <a:latin typeface="Arial" pitchFamily="34" charset="0"/>
                <a:ea typeface="微软雅黑" pitchFamily="34" charset="-122"/>
                <a:cs typeface="Arial" pitchFamily="34" charset="0"/>
              </a:rPr>
              <a:t>0 &lt; </a:t>
            </a:r>
            <a:r>
              <a:rPr kumimoji="0" lang="en-US" altLang="zh-CN" sz="2000" i="1" kern="0" dirty="0" err="1">
                <a:solidFill>
                  <a:srgbClr val="0000CC"/>
                </a:solidFill>
                <a:latin typeface="Arial" pitchFamily="34" charset="0"/>
                <a:ea typeface="微软雅黑" pitchFamily="34" charset="-122"/>
                <a:cs typeface="Arial" pitchFamily="34" charset="0"/>
              </a:rPr>
              <a:t>i</a:t>
            </a:r>
            <a:r>
              <a:rPr kumimoji="0" lang="en-US" altLang="zh-CN" sz="2000" kern="0" dirty="0">
                <a:solidFill>
                  <a:srgbClr val="0000CC"/>
                </a:solidFill>
                <a:latin typeface="Arial" pitchFamily="34" charset="0"/>
                <a:ea typeface="微软雅黑" pitchFamily="34" charset="-122"/>
                <a:cs typeface="Arial" pitchFamily="34" charset="0"/>
              </a:rPr>
              <a:t> &lt; </a:t>
            </a:r>
            <a:r>
              <a:rPr kumimoji="0" lang="en-US" altLang="zh-CN" sz="2000" i="1" kern="0" dirty="0">
                <a:solidFill>
                  <a:srgbClr val="0000CC"/>
                </a:solidFill>
                <a:latin typeface="Arial" pitchFamily="34" charset="0"/>
                <a:ea typeface="微软雅黑" pitchFamily="34" charset="-122"/>
                <a:cs typeface="Arial" pitchFamily="34" charset="0"/>
              </a:rPr>
              <a:t>k</a:t>
            </a:r>
            <a:r>
              <a:rPr kumimoji="0" lang="en-US" altLang="zh-CN" sz="2000" b="0" kern="0" dirty="0">
                <a:solidFill>
                  <a:srgbClr val="000000"/>
                </a:solidFill>
                <a:latin typeface="Arial" pitchFamily="34" charset="0"/>
                <a:ea typeface="微软雅黑" pitchFamily="34" charset="-122"/>
                <a:cs typeface="Arial" pitchFamily="34" charset="0"/>
              </a:rPr>
              <a:t>)</a:t>
            </a:r>
            <a:r>
              <a:rPr kumimoji="0" lang="zh-CN" altLang="en-US" sz="2000" b="0" kern="0" dirty="0">
                <a:solidFill>
                  <a:srgbClr val="FF0000"/>
                </a:solidFill>
                <a:latin typeface="Arial" pitchFamily="34" charset="0"/>
                <a:ea typeface="微软雅黑" pitchFamily="34" charset="-122"/>
                <a:cs typeface="Arial" pitchFamily="34" charset="0"/>
              </a:rPr>
              <a:t>个</a:t>
            </a:r>
            <a:r>
              <a:rPr kumimoji="0" lang="zh-CN" altLang="en-US" sz="2000" b="0" kern="0" dirty="0">
                <a:solidFill>
                  <a:srgbClr val="000000"/>
                </a:solidFill>
                <a:latin typeface="Arial" pitchFamily="34" charset="0"/>
                <a:ea typeface="微软雅黑" pitchFamily="34" charset="-122"/>
                <a:cs typeface="Arial" pitchFamily="34" charset="0"/>
              </a:rPr>
              <a:t>信息位全为“</a:t>
            </a:r>
            <a:r>
              <a:rPr kumimoji="0" lang="en-US" altLang="zh-CN" sz="2000" b="0" kern="0" dirty="0">
                <a:solidFill>
                  <a:srgbClr val="000000"/>
                </a:solidFill>
                <a:latin typeface="Arial" pitchFamily="34" charset="0"/>
                <a:ea typeface="微软雅黑" pitchFamily="34" charset="-122"/>
                <a:cs typeface="Arial" pitchFamily="34" charset="0"/>
              </a:rPr>
              <a:t>0”</a:t>
            </a:r>
            <a:r>
              <a:rPr kumimoji="0" lang="zh-CN" altLang="en-US" sz="2000" b="0" kern="0" dirty="0">
                <a:solidFill>
                  <a:srgbClr val="000000"/>
                </a:solidFill>
                <a:latin typeface="Arial" pitchFamily="34" charset="0"/>
                <a:ea typeface="微软雅黑" pitchFamily="34" charset="-122"/>
                <a:cs typeface="Arial" pitchFamily="34" charset="0"/>
              </a:rPr>
              <a:t>，于是它变成仅有 </a:t>
            </a:r>
            <a:r>
              <a:rPr kumimoji="0" lang="en-US" altLang="zh-CN" sz="2400" kern="0" dirty="0">
                <a:solidFill>
                  <a:srgbClr val="FF0000"/>
                </a:solidFill>
                <a:latin typeface="Arial" pitchFamily="34" charset="0"/>
                <a:ea typeface="微软雅黑" pitchFamily="34" charset="-122"/>
                <a:cs typeface="Arial" pitchFamily="34" charset="0"/>
              </a:rPr>
              <a:t>2</a:t>
            </a:r>
            <a:r>
              <a:rPr kumimoji="0" lang="en-US" altLang="zh-CN" sz="2400" i="1" kern="0" baseline="30000" dirty="0">
                <a:solidFill>
                  <a:srgbClr val="FF0000"/>
                </a:solidFill>
                <a:latin typeface="Arial" pitchFamily="34" charset="0"/>
                <a:ea typeface="微软雅黑" pitchFamily="34" charset="-122"/>
                <a:cs typeface="Arial" pitchFamily="34" charset="0"/>
              </a:rPr>
              <a:t>k</a:t>
            </a:r>
            <a:r>
              <a:rPr kumimoji="0" lang="en-US" altLang="zh-CN" sz="2400" kern="0" baseline="30000" dirty="0">
                <a:solidFill>
                  <a:srgbClr val="FF0000"/>
                </a:solidFill>
                <a:latin typeface="Arial" pitchFamily="34" charset="0"/>
                <a:ea typeface="微软雅黑" pitchFamily="34" charset="-122"/>
                <a:cs typeface="Arial" pitchFamily="34" charset="0"/>
              </a:rPr>
              <a:t>-</a:t>
            </a:r>
            <a:r>
              <a:rPr kumimoji="0" lang="en-US" altLang="zh-CN" sz="2400" i="1" kern="0" dirty="0">
                <a:solidFill>
                  <a:srgbClr val="FF0000"/>
                </a:solidFill>
                <a:latin typeface="Times New Roman" pitchFamily="18" charset="0"/>
                <a:ea typeface="微软雅黑" pitchFamily="34" charset="-122"/>
                <a:cs typeface="Times New Roman" pitchFamily="18" charset="0"/>
              </a:rPr>
              <a:t> </a:t>
            </a:r>
            <a:r>
              <a:rPr kumimoji="0" lang="en-US" altLang="zh-CN" sz="2400" i="1" kern="0" baseline="30000" dirty="0" err="1">
                <a:solidFill>
                  <a:srgbClr val="FF0000"/>
                </a:solidFill>
                <a:latin typeface="Times New Roman" pitchFamily="18" charset="0"/>
                <a:ea typeface="微软雅黑" pitchFamily="34" charset="-122"/>
                <a:cs typeface="Times New Roman" pitchFamily="18" charset="0"/>
              </a:rPr>
              <a:t>i</a:t>
            </a:r>
            <a:r>
              <a:rPr kumimoji="0" lang="en-US" altLang="zh-CN" sz="2400" i="1" kern="0" dirty="0">
                <a:solidFill>
                  <a:srgbClr val="FF0000"/>
                </a:solidFill>
                <a:latin typeface="Times New Roman" pitchFamily="18" charset="0"/>
                <a:ea typeface="微软雅黑" pitchFamily="34" charset="-122"/>
                <a:cs typeface="Times New Roman" pitchFamily="18" charset="0"/>
              </a:rPr>
              <a:t> </a:t>
            </a:r>
            <a:r>
              <a:rPr kumimoji="0" lang="en-US" altLang="zh-CN" sz="2400" kern="0" baseline="30000" dirty="0">
                <a:solidFill>
                  <a:srgbClr val="FF0000"/>
                </a:solidFill>
                <a:latin typeface="Arial" pitchFamily="34" charset="0"/>
                <a:ea typeface="微软雅黑" pitchFamily="34" charset="-122"/>
                <a:cs typeface="Arial" pitchFamily="34" charset="0"/>
              </a:rPr>
              <a:t> </a:t>
            </a:r>
            <a:r>
              <a:rPr kumimoji="0" lang="zh-CN" altLang="en-US" sz="2000" b="0" kern="0" dirty="0">
                <a:solidFill>
                  <a:srgbClr val="000000"/>
                </a:solidFill>
                <a:latin typeface="Arial" pitchFamily="34" charset="0"/>
                <a:ea typeface="微软雅黑" pitchFamily="34" charset="-122"/>
                <a:cs typeface="Arial" pitchFamily="34" charset="0"/>
              </a:rPr>
              <a:t>种码组。然后从中删去这 </a:t>
            </a:r>
            <a:r>
              <a:rPr kumimoji="0" lang="en-US" altLang="zh-CN" sz="2400" i="1" kern="0" dirty="0" err="1">
                <a:solidFill>
                  <a:srgbClr val="FF0000"/>
                </a:solidFill>
                <a:latin typeface="Times New Roman" pitchFamily="18" charset="0"/>
                <a:ea typeface="微软雅黑" pitchFamily="34" charset="-122"/>
                <a:cs typeface="Times New Roman" pitchFamily="18" charset="0"/>
              </a:rPr>
              <a:t>i</a:t>
            </a:r>
            <a:r>
              <a:rPr kumimoji="0" lang="en-US" altLang="zh-CN" sz="2400" i="1" kern="0" dirty="0">
                <a:solidFill>
                  <a:srgbClr val="FF0000"/>
                </a:solidFill>
                <a:latin typeface="Times New Roman" pitchFamily="18" charset="0"/>
                <a:ea typeface="微软雅黑" pitchFamily="34" charset="-122"/>
                <a:cs typeface="Times New Roman" pitchFamily="18" charset="0"/>
              </a:rPr>
              <a:t> </a:t>
            </a:r>
            <a:r>
              <a:rPr kumimoji="0" lang="zh-CN" altLang="en-US" sz="2000" b="0" kern="0" dirty="0">
                <a:solidFill>
                  <a:srgbClr val="000000"/>
                </a:solidFill>
                <a:latin typeface="Arial" pitchFamily="34" charset="0"/>
                <a:ea typeface="微软雅黑" pitchFamily="34" charset="-122"/>
                <a:cs typeface="Arial" pitchFamily="34" charset="0"/>
              </a:rPr>
              <a:t>位全“</a:t>
            </a:r>
            <a:r>
              <a:rPr kumimoji="0" lang="en-US" altLang="zh-CN" sz="2000" b="0" kern="0" dirty="0">
                <a:solidFill>
                  <a:srgbClr val="000000"/>
                </a:solidFill>
                <a:latin typeface="Arial" pitchFamily="34" charset="0"/>
                <a:ea typeface="微软雅黑" pitchFamily="34" charset="-122"/>
                <a:cs typeface="Arial" pitchFamily="34" charset="0"/>
              </a:rPr>
              <a:t>0”</a:t>
            </a:r>
            <a:r>
              <a:rPr kumimoji="0" lang="zh-CN" altLang="en-US" sz="2000" b="0" kern="0" dirty="0">
                <a:solidFill>
                  <a:srgbClr val="000000"/>
                </a:solidFill>
                <a:latin typeface="Arial" pitchFamily="34" charset="0"/>
                <a:ea typeface="微软雅黑" pitchFamily="34" charset="-122"/>
                <a:cs typeface="Arial" pitchFamily="34" charset="0"/>
              </a:rPr>
              <a:t>的信息位，最终得到一个</a:t>
            </a:r>
            <a:r>
              <a:rPr kumimoji="0" lang="en-US" altLang="zh-CN" sz="2400" kern="0" dirty="0">
                <a:solidFill>
                  <a:srgbClr val="0000CC"/>
                </a:solidFill>
                <a:latin typeface="Arial" pitchFamily="34" charset="0"/>
                <a:ea typeface="微软雅黑" pitchFamily="34" charset="-122"/>
                <a:cs typeface="Arial" pitchFamily="34" charset="0"/>
              </a:rPr>
              <a:t>(</a:t>
            </a:r>
            <a:r>
              <a:rPr kumimoji="0" lang="en-US" altLang="zh-CN" sz="2400" i="1" kern="0" dirty="0">
                <a:solidFill>
                  <a:srgbClr val="0000CC"/>
                </a:solidFill>
                <a:latin typeface="Arial" pitchFamily="34" charset="0"/>
                <a:ea typeface="微软雅黑" pitchFamily="34" charset="-122"/>
                <a:cs typeface="Arial" pitchFamily="34" charset="0"/>
              </a:rPr>
              <a:t>n</a:t>
            </a:r>
            <a:r>
              <a:rPr kumimoji="0" lang="en-US" altLang="zh-CN" sz="2400" kern="0" dirty="0">
                <a:solidFill>
                  <a:srgbClr val="0000CC"/>
                </a:solidFill>
                <a:latin typeface="Arial" pitchFamily="34" charset="0"/>
                <a:ea typeface="微软雅黑" pitchFamily="34" charset="-122"/>
                <a:cs typeface="Arial" pitchFamily="34" charset="0"/>
              </a:rPr>
              <a:t> </a:t>
            </a:r>
            <a:r>
              <a:rPr kumimoji="0" lang="en-US" altLang="zh-CN" sz="2400" kern="0" dirty="0">
                <a:solidFill>
                  <a:srgbClr val="FF0000"/>
                </a:solidFill>
                <a:latin typeface="Arial" pitchFamily="34" charset="0"/>
                <a:ea typeface="微软雅黑" pitchFamily="34" charset="-122"/>
                <a:cs typeface="Arial" pitchFamily="34" charset="0"/>
              </a:rPr>
              <a:t>–</a:t>
            </a:r>
            <a:r>
              <a:rPr kumimoji="0" lang="en-US" altLang="zh-CN" sz="2400" i="1" kern="0" dirty="0" err="1">
                <a:solidFill>
                  <a:srgbClr val="FF0000"/>
                </a:solidFill>
                <a:latin typeface="Times New Roman" pitchFamily="18" charset="0"/>
                <a:ea typeface="微软雅黑" pitchFamily="34" charset="-122"/>
                <a:cs typeface="Times New Roman" pitchFamily="18" charset="0"/>
              </a:rPr>
              <a:t>i</a:t>
            </a:r>
            <a:r>
              <a:rPr kumimoji="0" lang="en-US" altLang="zh-CN" sz="2400" i="1" kern="0" dirty="0">
                <a:solidFill>
                  <a:srgbClr val="FF0000"/>
                </a:solidFill>
                <a:latin typeface="Times New Roman" pitchFamily="18" charset="0"/>
                <a:ea typeface="微软雅黑" pitchFamily="34" charset="-122"/>
                <a:cs typeface="Times New Roman" pitchFamily="18" charset="0"/>
              </a:rPr>
              <a:t> </a:t>
            </a:r>
            <a:r>
              <a:rPr kumimoji="0" lang="en-US" altLang="zh-CN" sz="2400" kern="0" dirty="0">
                <a:solidFill>
                  <a:srgbClr val="FF0000"/>
                </a:solidFill>
                <a:latin typeface="Arial" pitchFamily="34" charset="0"/>
                <a:ea typeface="微软雅黑" pitchFamily="34" charset="-122"/>
                <a:cs typeface="Arial" pitchFamily="34" charset="0"/>
              </a:rPr>
              <a:t> </a:t>
            </a:r>
            <a:r>
              <a:rPr kumimoji="0" lang="en-US" altLang="zh-CN" sz="2400" kern="0" dirty="0">
                <a:solidFill>
                  <a:srgbClr val="0000CC"/>
                </a:solidFill>
                <a:latin typeface="Arial" pitchFamily="34" charset="0"/>
                <a:ea typeface="微软雅黑" pitchFamily="34" charset="-122"/>
                <a:cs typeface="Arial" pitchFamily="34" charset="0"/>
              </a:rPr>
              <a:t>, </a:t>
            </a:r>
            <a:r>
              <a:rPr kumimoji="0" lang="en-US" altLang="zh-CN" sz="2400" i="1" kern="0" dirty="0">
                <a:solidFill>
                  <a:srgbClr val="0000CC"/>
                </a:solidFill>
                <a:latin typeface="Arial" pitchFamily="34" charset="0"/>
                <a:ea typeface="微软雅黑" pitchFamily="34" charset="-122"/>
                <a:cs typeface="Arial" pitchFamily="34" charset="0"/>
              </a:rPr>
              <a:t>k</a:t>
            </a:r>
            <a:r>
              <a:rPr kumimoji="0" lang="en-US" altLang="zh-CN" sz="2400" kern="0" dirty="0">
                <a:solidFill>
                  <a:srgbClr val="0000CC"/>
                </a:solidFill>
                <a:latin typeface="Arial" pitchFamily="34" charset="0"/>
                <a:ea typeface="微软雅黑" pitchFamily="34" charset="-122"/>
                <a:cs typeface="Arial" pitchFamily="34" charset="0"/>
              </a:rPr>
              <a:t> </a:t>
            </a:r>
            <a:r>
              <a:rPr kumimoji="0" lang="en-US" altLang="zh-CN" sz="2400" kern="0" dirty="0">
                <a:solidFill>
                  <a:srgbClr val="FF0000"/>
                </a:solidFill>
                <a:latin typeface="Arial" pitchFamily="34" charset="0"/>
                <a:ea typeface="微软雅黑" pitchFamily="34" charset="-122"/>
                <a:cs typeface="Arial" pitchFamily="34" charset="0"/>
              </a:rPr>
              <a:t>–</a:t>
            </a:r>
            <a:r>
              <a:rPr kumimoji="0" lang="en-US" altLang="zh-CN" sz="2400" i="1" kern="0" dirty="0" err="1">
                <a:solidFill>
                  <a:srgbClr val="FF0000"/>
                </a:solidFill>
                <a:latin typeface="Times New Roman" pitchFamily="18" charset="0"/>
                <a:ea typeface="微软雅黑" pitchFamily="34" charset="-122"/>
                <a:cs typeface="Times New Roman" pitchFamily="18" charset="0"/>
              </a:rPr>
              <a:t>i</a:t>
            </a:r>
            <a:r>
              <a:rPr kumimoji="0" lang="en-US" altLang="zh-CN" sz="2400" i="1" kern="0" dirty="0">
                <a:solidFill>
                  <a:srgbClr val="FF0000"/>
                </a:solidFill>
                <a:latin typeface="Times New Roman" pitchFamily="18" charset="0"/>
                <a:ea typeface="微软雅黑" pitchFamily="34" charset="-122"/>
                <a:cs typeface="Times New Roman" pitchFamily="18" charset="0"/>
              </a:rPr>
              <a:t> </a:t>
            </a:r>
            <a:r>
              <a:rPr kumimoji="0" lang="en-US" altLang="zh-CN" sz="2400" kern="0" dirty="0">
                <a:solidFill>
                  <a:srgbClr val="0000CC"/>
                </a:solidFill>
                <a:latin typeface="Arial" pitchFamily="34" charset="0"/>
                <a:ea typeface="微软雅黑" pitchFamily="34" charset="-122"/>
                <a:cs typeface="Arial" pitchFamily="34" charset="0"/>
              </a:rPr>
              <a:t>)</a:t>
            </a:r>
            <a:r>
              <a:rPr kumimoji="0" lang="zh-CN" altLang="en-US" sz="2000" b="0" kern="0" dirty="0">
                <a:solidFill>
                  <a:srgbClr val="000000"/>
                </a:solidFill>
                <a:latin typeface="Arial" pitchFamily="34" charset="0"/>
                <a:ea typeface="微软雅黑" pitchFamily="34" charset="-122"/>
                <a:cs typeface="Arial" pitchFamily="34" charset="0"/>
              </a:rPr>
              <a:t>的线性码</a:t>
            </a:r>
            <a:r>
              <a:rPr kumimoji="0" lang="en-US" altLang="zh-CN" sz="2000" b="0" kern="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a:t>
            </a:r>
            <a:r>
              <a:rPr kumimoji="0" lang="zh-CN" altLang="en-US" sz="2000" b="0" kern="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截短循环码</a:t>
            </a:r>
            <a:r>
              <a:rPr kumimoji="0" lang="zh-CN" altLang="en-US" sz="2000" b="0" kern="0" dirty="0">
                <a:solidFill>
                  <a:srgbClr val="000000"/>
                </a:solidFill>
                <a:latin typeface="Arial" pitchFamily="34" charset="0"/>
                <a:ea typeface="微软雅黑" pitchFamily="34" charset="-122"/>
                <a:cs typeface="Arial" pitchFamily="34" charset="0"/>
              </a:rPr>
              <a:t>。 </a:t>
            </a:r>
          </a:p>
        </p:txBody>
      </p:sp>
      <p:sp>
        <p:nvSpPr>
          <p:cNvPr id="8" name="矩形 7">
            <a:extLst>
              <a:ext uri="{FF2B5EF4-FFF2-40B4-BE49-F238E27FC236}">
                <a16:creationId xmlns:a16="http://schemas.microsoft.com/office/drawing/2014/main" id="{7B67B001-7578-8358-DB47-1D30B3941F90}"/>
              </a:ext>
            </a:extLst>
          </p:cNvPr>
          <p:cNvSpPr/>
          <p:nvPr/>
        </p:nvSpPr>
        <p:spPr>
          <a:xfrm>
            <a:off x="700088" y="3916363"/>
            <a:ext cx="8001000" cy="912812"/>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marL="228600" indent="-228600">
              <a:lnSpc>
                <a:spcPts val="3200"/>
              </a:lnSpc>
              <a:spcBef>
                <a:spcPct val="20000"/>
              </a:spcBef>
              <a:buClr>
                <a:srgbClr val="FF0000"/>
              </a:buClr>
              <a:buSzPct val="70000"/>
              <a:buFont typeface="Wingdings" pitchFamily="2" charset="2"/>
              <a:buChar char="n"/>
              <a:defRPr/>
            </a:pPr>
            <a:r>
              <a:rPr kumimoji="0" lang="zh-CN" altLang="en-US" sz="2400" kern="0" dirty="0">
                <a:solidFill>
                  <a:srgbClr val="000000"/>
                </a:solidFill>
                <a:latin typeface="黑体" pitchFamily="2" charset="-122"/>
                <a:ea typeface="黑体" pitchFamily="2" charset="-122"/>
                <a:cs typeface="Arial" pitchFamily="34" charset="0"/>
              </a:rPr>
              <a:t>截短循环码性能：</a:t>
            </a:r>
            <a:r>
              <a:rPr kumimoji="0" lang="zh-CN" altLang="en-US" sz="2000" b="0" kern="0" dirty="0">
                <a:solidFill>
                  <a:srgbClr val="000000"/>
                </a:solidFill>
                <a:latin typeface="Arial" pitchFamily="34" charset="0"/>
                <a:ea typeface="微软雅黑" pitchFamily="34" charset="-122"/>
                <a:cs typeface="Arial" pitchFamily="34" charset="0"/>
              </a:rPr>
              <a:t>循环码截短前后至少具有</a:t>
            </a:r>
            <a:r>
              <a:rPr kumimoji="0" lang="zh-CN" altLang="en-US" sz="2000" b="0" kern="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相同</a:t>
            </a:r>
            <a:r>
              <a:rPr kumimoji="0" lang="zh-CN" altLang="en-US" sz="2000" b="0" kern="0" dirty="0">
                <a:solidFill>
                  <a:srgbClr val="000000"/>
                </a:solidFill>
                <a:latin typeface="Arial" pitchFamily="34" charset="0"/>
                <a:ea typeface="微软雅黑" pitchFamily="34" charset="-122"/>
                <a:cs typeface="Arial" pitchFamily="34" charset="0"/>
              </a:rPr>
              <a:t>的纠错能力，并且编解码方法仍和截短前的方法一样。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10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10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up)">
                                      <p:cBhvr>
                                        <p:cTn id="22" dur="1000"/>
                                        <p:tgtEl>
                                          <p:spTgt spid="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277C594D-839E-A2E6-6BA8-66AE5D985FD4}"/>
              </a:ext>
            </a:extLst>
          </p:cNvPr>
          <p:cNvSpPr>
            <a:spLocks noChangeArrowheads="1"/>
          </p:cNvSpPr>
          <p:nvPr/>
        </p:nvSpPr>
        <p:spPr bwMode="auto">
          <a:xfrm>
            <a:off x="0" y="471488"/>
            <a:ext cx="6286500" cy="58420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anchor="ctr">
            <a:spAutoFit/>
          </a:bodyPr>
          <a:lstStyle/>
          <a:p>
            <a:pPr marL="0" lvl="1" indent="306388" eaLnBrk="0" hangingPunct="0">
              <a:defRPr/>
            </a:pPr>
            <a:r>
              <a:rPr lang="en-US" altLang="en-US" sz="3200" dirty="0">
                <a:solidFill>
                  <a:srgbClr val="800080"/>
                </a:solidFill>
                <a:latin typeface="Arial" pitchFamily="34" charset="0"/>
                <a:ea typeface="微软雅黑" pitchFamily="34" charset="-122"/>
                <a:cs typeface="Arial" pitchFamily="34" charset="0"/>
              </a:rPr>
              <a:t>11</a:t>
            </a:r>
            <a:r>
              <a:rPr lang="en-US" altLang="zh-CN" sz="3200" dirty="0">
                <a:solidFill>
                  <a:srgbClr val="800080"/>
                </a:solidFill>
                <a:latin typeface="Arial" pitchFamily="34" charset="0"/>
                <a:ea typeface="微软雅黑" pitchFamily="34" charset="-122"/>
                <a:cs typeface="Arial" pitchFamily="34" charset="0"/>
              </a:rPr>
              <a:t>.6.4  </a:t>
            </a:r>
            <a:r>
              <a:rPr kumimoji="0" lang="en-US" altLang="zh-CN" sz="3200" kern="0" dirty="0">
                <a:solidFill>
                  <a:srgbClr val="003399"/>
                </a:solidFill>
                <a:latin typeface="微软雅黑" pitchFamily="34" charset="-122"/>
                <a:ea typeface="微软雅黑" pitchFamily="34" charset="-122"/>
              </a:rPr>
              <a:t>BCH</a:t>
            </a:r>
            <a:r>
              <a:rPr kumimoji="0" lang="zh-CN" altLang="en-US" sz="3200" kern="0" dirty="0">
                <a:solidFill>
                  <a:srgbClr val="003399"/>
                </a:solidFill>
                <a:latin typeface="微软雅黑" pitchFamily="34" charset="-122"/>
                <a:ea typeface="微软雅黑" pitchFamily="34" charset="-122"/>
              </a:rPr>
              <a:t>码</a:t>
            </a:r>
            <a:endParaRPr lang="zh-CN" altLang="en-US" sz="3200" i="1" dirty="0">
              <a:solidFill>
                <a:srgbClr val="990099"/>
              </a:solidFill>
              <a:latin typeface="微软雅黑" pitchFamily="34" charset="-122"/>
              <a:ea typeface="微软雅黑" pitchFamily="34" charset="-122"/>
            </a:endParaRPr>
          </a:p>
        </p:txBody>
      </p:sp>
      <p:sp>
        <p:nvSpPr>
          <p:cNvPr id="7" name="矩形 6">
            <a:extLst>
              <a:ext uri="{FF2B5EF4-FFF2-40B4-BE49-F238E27FC236}">
                <a16:creationId xmlns:a16="http://schemas.microsoft.com/office/drawing/2014/main" id="{F129F027-D805-9A7F-2382-89F9970E8C52}"/>
              </a:ext>
            </a:extLst>
          </p:cNvPr>
          <p:cNvSpPr/>
          <p:nvPr/>
        </p:nvSpPr>
        <p:spPr>
          <a:xfrm>
            <a:off x="971550" y="3392488"/>
            <a:ext cx="7600950" cy="1322387"/>
          </a:xfrm>
          <a:prstGeom prst="rect">
            <a:avLst/>
          </a:prstGeom>
          <a:solidFill>
            <a:schemeClr val="bg2">
              <a:lumMod val="10000"/>
              <a:lumOff val="90000"/>
            </a:schemeClr>
          </a:solidFill>
          <a:effectLst>
            <a:outerShdw blurRad="50800" dist="38100" dir="18900000" algn="bl" rotWithShape="0">
              <a:prstClr val="black">
                <a:alpha val="40000"/>
              </a:prstClr>
            </a:outerShdw>
          </a:effectLst>
        </p:spPr>
        <p:txBody>
          <a:bodyPr>
            <a:spAutoFit/>
          </a:bodyPr>
          <a:lstStyle/>
          <a:p>
            <a:pPr>
              <a:lnSpc>
                <a:spcPts val="3200"/>
              </a:lnSpc>
              <a:defRPr/>
            </a:pPr>
            <a:r>
              <a:rPr kumimoji="0" lang="en-US" altLang="zh-CN" sz="2000" b="0" kern="0" dirty="0">
                <a:solidFill>
                  <a:srgbClr val="000000"/>
                </a:solidFill>
                <a:latin typeface="Arial" pitchFamily="34" charset="0"/>
                <a:ea typeface="微软雅黑" pitchFamily="34" charset="-122"/>
                <a:cs typeface="Arial" pitchFamily="34" charset="0"/>
              </a:rPr>
              <a:t>——</a:t>
            </a:r>
            <a:r>
              <a:rPr kumimoji="0" lang="zh-CN" altLang="en-US" sz="2000" b="0" kern="0" dirty="0">
                <a:solidFill>
                  <a:srgbClr val="000000"/>
                </a:solidFill>
                <a:latin typeface="Arial" pitchFamily="34" charset="0"/>
                <a:ea typeface="微软雅黑" pitchFamily="34" charset="-122"/>
                <a:cs typeface="Arial" pitchFamily="34" charset="0"/>
              </a:rPr>
              <a:t>解决了生成多项式与纠错能力的关系问题，可以在给定纠错能力要求的条件下寻找到码的生成多项式。</a:t>
            </a:r>
            <a:endParaRPr kumimoji="0" lang="en-US" altLang="zh-CN" sz="2000" b="0" kern="0" dirty="0">
              <a:solidFill>
                <a:srgbClr val="000000"/>
              </a:solidFill>
              <a:latin typeface="Arial" pitchFamily="34" charset="0"/>
              <a:ea typeface="微软雅黑" pitchFamily="34" charset="-122"/>
              <a:cs typeface="Arial" pitchFamily="34" charset="0"/>
            </a:endParaRPr>
          </a:p>
          <a:p>
            <a:pPr>
              <a:lnSpc>
                <a:spcPts val="3200"/>
              </a:lnSpc>
              <a:defRPr/>
            </a:pPr>
            <a:r>
              <a:rPr kumimoji="0" lang="en-US" altLang="zh-CN" sz="2000" b="0" kern="0" dirty="0">
                <a:solidFill>
                  <a:srgbClr val="000000"/>
                </a:solidFill>
                <a:latin typeface="Arial" pitchFamily="34" charset="0"/>
                <a:ea typeface="微软雅黑" pitchFamily="34" charset="-122"/>
                <a:cs typeface="Arial" pitchFamily="34" charset="0"/>
              </a:rPr>
              <a:t>——</a:t>
            </a:r>
            <a:r>
              <a:rPr kumimoji="0" lang="zh-CN" altLang="en-US" sz="2000" b="0" kern="0" dirty="0">
                <a:solidFill>
                  <a:srgbClr val="000000"/>
                </a:solidFill>
                <a:latin typeface="Arial" pitchFamily="34" charset="0"/>
                <a:ea typeface="微软雅黑" pitchFamily="34" charset="-122"/>
                <a:cs typeface="Arial" pitchFamily="34" charset="0"/>
              </a:rPr>
              <a:t>有了生成多项式，编码的基本问题就随之解决了。</a:t>
            </a:r>
            <a:endParaRPr lang="zh-CN" altLang="en-US" dirty="0"/>
          </a:p>
        </p:txBody>
      </p:sp>
      <p:sp>
        <p:nvSpPr>
          <p:cNvPr id="9" name="矩形 8">
            <a:extLst>
              <a:ext uri="{FF2B5EF4-FFF2-40B4-BE49-F238E27FC236}">
                <a16:creationId xmlns:a16="http://schemas.microsoft.com/office/drawing/2014/main" id="{4E6BBD33-5FCC-0ECD-3030-19B9FEEAD5F3}"/>
              </a:ext>
            </a:extLst>
          </p:cNvPr>
          <p:cNvSpPr/>
          <p:nvPr/>
        </p:nvSpPr>
        <p:spPr>
          <a:xfrm>
            <a:off x="700088" y="2932113"/>
            <a:ext cx="2792412" cy="469900"/>
          </a:xfrm>
          <a:prstGeom prst="rect">
            <a:avLst/>
          </a:prstGeom>
        </p:spPr>
        <p:txBody>
          <a:bodyPr wrap="none">
            <a:spAutoFit/>
          </a:bodyPr>
          <a:lstStyle/>
          <a:p>
            <a:pPr>
              <a:lnSpc>
                <a:spcPts val="3200"/>
              </a:lnSpc>
              <a:buClr>
                <a:srgbClr val="FF0000"/>
              </a:buClr>
              <a:buSzPct val="70000"/>
              <a:buFont typeface="Wingdings" pitchFamily="2" charset="2"/>
              <a:buChar char="n"/>
              <a:defRPr/>
            </a:pPr>
            <a:r>
              <a:rPr kumimoji="0" lang="en-US" altLang="zh-CN" sz="2400" kern="0" dirty="0">
                <a:solidFill>
                  <a:srgbClr val="000000"/>
                </a:solidFill>
                <a:latin typeface="Arial" pitchFamily="34" charset="0"/>
                <a:ea typeface="微软雅黑" pitchFamily="34" charset="-122"/>
                <a:cs typeface="Arial" pitchFamily="34" charset="0"/>
              </a:rPr>
              <a:t> BCH</a:t>
            </a:r>
            <a:r>
              <a:rPr kumimoji="0" lang="zh-CN" altLang="en-US" sz="2400" kern="0" dirty="0">
                <a:solidFill>
                  <a:srgbClr val="000000"/>
                </a:solidFill>
                <a:latin typeface="Arial" pitchFamily="34" charset="0"/>
                <a:ea typeface="微软雅黑" pitchFamily="34" charset="-122"/>
                <a:cs typeface="Arial" pitchFamily="34" charset="0"/>
              </a:rPr>
              <a:t>码的</a:t>
            </a:r>
            <a:r>
              <a:rPr kumimoji="0" lang="zh-CN" altLang="en-US" sz="2400" kern="0" dirty="0">
                <a:solidFill>
                  <a:schemeClr val="tx1"/>
                </a:solidFill>
                <a:latin typeface="Arial" pitchFamily="34" charset="0"/>
                <a:ea typeface="微软雅黑" pitchFamily="34" charset="-122"/>
                <a:cs typeface="Arial" pitchFamily="34" charset="0"/>
              </a:rPr>
              <a:t>重要性</a:t>
            </a:r>
            <a:r>
              <a:rPr kumimoji="0" lang="en-US" altLang="zh-CN" sz="2400" kern="0" dirty="0">
                <a:solidFill>
                  <a:schemeClr val="tx1"/>
                </a:solidFill>
                <a:latin typeface="+mn-ea"/>
                <a:ea typeface="+mn-ea"/>
                <a:cs typeface="Arial" pitchFamily="34" charset="0"/>
              </a:rPr>
              <a:t>:</a:t>
            </a:r>
          </a:p>
        </p:txBody>
      </p:sp>
      <p:sp>
        <p:nvSpPr>
          <p:cNvPr id="10" name="矩形 9">
            <a:extLst>
              <a:ext uri="{FF2B5EF4-FFF2-40B4-BE49-F238E27FC236}">
                <a16:creationId xmlns:a16="http://schemas.microsoft.com/office/drawing/2014/main" id="{94C5F497-8EB0-5CBB-4BD5-B642E0F8B0E9}"/>
              </a:ext>
            </a:extLst>
          </p:cNvPr>
          <p:cNvSpPr/>
          <p:nvPr/>
        </p:nvSpPr>
        <p:spPr>
          <a:xfrm>
            <a:off x="701675" y="1211263"/>
            <a:ext cx="2328863" cy="503237"/>
          </a:xfrm>
          <a:prstGeom prst="rect">
            <a:avLst/>
          </a:prstGeom>
        </p:spPr>
        <p:txBody>
          <a:bodyPr wrap="none">
            <a:spAutoFit/>
          </a:bodyPr>
          <a:lstStyle/>
          <a:p>
            <a:pPr>
              <a:lnSpc>
                <a:spcPts val="3200"/>
              </a:lnSpc>
              <a:buClr>
                <a:srgbClr val="FF0000"/>
              </a:buClr>
              <a:buSzPct val="70000"/>
              <a:buFont typeface="Wingdings" pitchFamily="2" charset="2"/>
              <a:buChar char="n"/>
              <a:defRPr/>
            </a:pPr>
            <a:r>
              <a:rPr kumimoji="0" lang="zh-CN" altLang="en-US" sz="2400" kern="0" dirty="0">
                <a:solidFill>
                  <a:srgbClr val="000000"/>
                </a:solidFill>
                <a:latin typeface="Arial" pitchFamily="34" charset="0"/>
                <a:ea typeface="微软雅黑" pitchFamily="34" charset="-122"/>
                <a:cs typeface="Arial" pitchFamily="34" charset="0"/>
              </a:rPr>
              <a:t> 何谓</a:t>
            </a:r>
            <a:r>
              <a:rPr kumimoji="0" lang="en-US" altLang="zh-CN" sz="2400" kern="0" dirty="0">
                <a:solidFill>
                  <a:srgbClr val="000000"/>
                </a:solidFill>
                <a:latin typeface="Arial" pitchFamily="34" charset="0"/>
                <a:ea typeface="微软雅黑" pitchFamily="34" charset="-122"/>
                <a:cs typeface="Arial" pitchFamily="34" charset="0"/>
              </a:rPr>
              <a:t>BCH</a:t>
            </a:r>
            <a:r>
              <a:rPr kumimoji="0" lang="zh-CN" altLang="en-US" sz="2400" kern="0" dirty="0">
                <a:solidFill>
                  <a:srgbClr val="000000"/>
                </a:solidFill>
                <a:latin typeface="Arial" pitchFamily="34" charset="0"/>
                <a:ea typeface="微软雅黑" pitchFamily="34" charset="-122"/>
                <a:cs typeface="Arial" pitchFamily="34" charset="0"/>
              </a:rPr>
              <a:t>码？</a:t>
            </a:r>
            <a:endParaRPr kumimoji="0" lang="en-US" altLang="zh-CN" sz="2400" kern="0" dirty="0">
              <a:solidFill>
                <a:srgbClr val="FF0000"/>
              </a:solidFill>
              <a:latin typeface="Arial" pitchFamily="34" charset="0"/>
              <a:ea typeface="微软雅黑" pitchFamily="34" charset="-122"/>
              <a:cs typeface="Arial" pitchFamily="34" charset="0"/>
            </a:endParaRPr>
          </a:p>
        </p:txBody>
      </p:sp>
      <p:sp>
        <p:nvSpPr>
          <p:cNvPr id="11" name="矩形 10">
            <a:extLst>
              <a:ext uri="{FF2B5EF4-FFF2-40B4-BE49-F238E27FC236}">
                <a16:creationId xmlns:a16="http://schemas.microsoft.com/office/drawing/2014/main" id="{F9A8DE86-DBA3-56DD-32FC-D88D44430B12}"/>
              </a:ext>
            </a:extLst>
          </p:cNvPr>
          <p:cNvSpPr/>
          <p:nvPr/>
        </p:nvSpPr>
        <p:spPr>
          <a:xfrm>
            <a:off x="714375" y="4914900"/>
            <a:ext cx="2638425" cy="503238"/>
          </a:xfrm>
          <a:prstGeom prst="rect">
            <a:avLst/>
          </a:prstGeom>
        </p:spPr>
        <p:txBody>
          <a:bodyPr wrap="none">
            <a:spAutoFit/>
          </a:bodyPr>
          <a:lstStyle/>
          <a:p>
            <a:pPr>
              <a:lnSpc>
                <a:spcPts val="3200"/>
              </a:lnSpc>
              <a:buClr>
                <a:srgbClr val="FF0000"/>
              </a:buClr>
              <a:buSzPct val="70000"/>
              <a:buFont typeface="Wingdings" pitchFamily="2" charset="2"/>
              <a:buChar char="n"/>
              <a:defRPr/>
            </a:pPr>
            <a:r>
              <a:rPr kumimoji="0" lang="en-US" altLang="zh-CN" sz="2400" kern="0" dirty="0">
                <a:solidFill>
                  <a:srgbClr val="000000"/>
                </a:solidFill>
                <a:latin typeface="Arial" pitchFamily="34" charset="0"/>
                <a:ea typeface="微软雅黑" pitchFamily="34" charset="-122"/>
                <a:cs typeface="Arial" pitchFamily="34" charset="0"/>
              </a:rPr>
              <a:t> BCH</a:t>
            </a:r>
            <a:r>
              <a:rPr kumimoji="0" lang="zh-CN" altLang="en-US" sz="2400" kern="0" dirty="0">
                <a:solidFill>
                  <a:srgbClr val="000000"/>
                </a:solidFill>
                <a:latin typeface="Arial" pitchFamily="34" charset="0"/>
                <a:ea typeface="微软雅黑" pitchFamily="34" charset="-122"/>
                <a:cs typeface="Arial" pitchFamily="34" charset="0"/>
              </a:rPr>
              <a:t>码</a:t>
            </a:r>
            <a:r>
              <a:rPr kumimoji="0" lang="zh-CN" altLang="en-US" sz="2400" kern="0" dirty="0">
                <a:solidFill>
                  <a:schemeClr val="tx1"/>
                </a:solidFill>
                <a:latin typeface="Arial" pitchFamily="34" charset="0"/>
                <a:ea typeface="微软雅黑" pitchFamily="34" charset="-122"/>
                <a:cs typeface="Arial" pitchFamily="34" charset="0"/>
              </a:rPr>
              <a:t>的分类</a:t>
            </a:r>
            <a:r>
              <a:rPr kumimoji="0" lang="zh-CN" altLang="en-US" sz="2400" kern="0" dirty="0">
                <a:solidFill>
                  <a:schemeClr val="tx1"/>
                </a:solidFill>
                <a:latin typeface="+mn-ea"/>
                <a:ea typeface="+mn-ea"/>
                <a:cs typeface="Arial" pitchFamily="34" charset="0"/>
              </a:rPr>
              <a:t>：</a:t>
            </a:r>
            <a:endParaRPr kumimoji="0" lang="en-US" altLang="zh-CN" sz="2400" kern="0" dirty="0">
              <a:solidFill>
                <a:schemeClr val="tx1"/>
              </a:solidFill>
              <a:latin typeface="+mn-ea"/>
              <a:ea typeface="+mn-ea"/>
              <a:cs typeface="Arial" pitchFamily="34" charset="0"/>
            </a:endParaRPr>
          </a:p>
        </p:txBody>
      </p:sp>
      <p:pic>
        <p:nvPicPr>
          <p:cNvPr id="110601" name="Picture 9">
            <a:extLst>
              <a:ext uri="{FF2B5EF4-FFF2-40B4-BE49-F238E27FC236}">
                <a16:creationId xmlns:a16="http://schemas.microsoft.com/office/drawing/2014/main" id="{427167BA-13C7-D5C0-96CF-648C2D7421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1538" y="1628775"/>
            <a:ext cx="7786687"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602" name="Picture 10">
            <a:extLst>
              <a:ext uri="{FF2B5EF4-FFF2-40B4-BE49-F238E27FC236}">
                <a16:creationId xmlns:a16="http://schemas.microsoft.com/office/drawing/2014/main" id="{E500E71B-1C2E-90AF-11FC-C1259C6809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3925" y="5292725"/>
            <a:ext cx="7720013" cy="106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up)">
                                      <p:cBhvr>
                                        <p:cTn id="12" dur="10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10601"/>
                                        </p:tgtEl>
                                        <p:attrNameLst>
                                          <p:attrName>style.visibility</p:attrName>
                                        </p:attrNameLst>
                                      </p:cBhvr>
                                      <p:to>
                                        <p:strVal val="visible"/>
                                      </p:to>
                                    </p:set>
                                    <p:animEffect transition="in" filter="wipe(up)">
                                      <p:cBhvr>
                                        <p:cTn id="17" dur="1000"/>
                                        <p:tgtEl>
                                          <p:spTgt spid="11060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up)">
                                      <p:cBhvr>
                                        <p:cTn id="22" dur="10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up)">
                                      <p:cBhvr>
                                        <p:cTn id="27" dur="1000"/>
                                        <p:tgtEl>
                                          <p:spTgt spid="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up)">
                                      <p:cBhvr>
                                        <p:cTn id="32" dur="1000"/>
                                        <p:tgtEl>
                                          <p:spTgt spid="1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110602"/>
                                        </p:tgtEl>
                                        <p:attrNameLst>
                                          <p:attrName>style.visibility</p:attrName>
                                        </p:attrNameLst>
                                      </p:cBhvr>
                                      <p:to>
                                        <p:strVal val="visible"/>
                                      </p:to>
                                    </p:set>
                                    <p:animEffect transition="in" filter="wipe(up)">
                                      <p:cBhvr>
                                        <p:cTn id="37" dur="1000"/>
                                        <p:tgtEl>
                                          <p:spTgt spid="1106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P spid="9" grpId="0"/>
      <p:bldP spid="10" grpId="0"/>
      <p:bldP spid="11"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D64C8DB-A1F4-9BF2-5966-AA9FD953BEEA}"/>
              </a:ext>
            </a:extLst>
          </p:cNvPr>
          <p:cNvSpPr txBox="1">
            <a:spLocks noChangeArrowheads="1"/>
          </p:cNvSpPr>
          <p:nvPr/>
        </p:nvSpPr>
        <p:spPr bwMode="auto">
          <a:xfrm>
            <a:off x="971550" y="5500688"/>
            <a:ext cx="7600950" cy="785812"/>
          </a:xfrm>
          <a:prstGeom prst="rect">
            <a:avLst/>
          </a:prstGeom>
          <a:solidFill>
            <a:schemeClr val="bg2">
              <a:lumMod val="10000"/>
              <a:lumOff val="90000"/>
            </a:schemeClr>
          </a:solidFill>
          <a:ln w="9525">
            <a:noFill/>
            <a:miter lim="800000"/>
            <a:headEnd/>
            <a:tailEnd/>
          </a:ln>
          <a:effectLst>
            <a:outerShdw blurRad="50800" dist="38100" dir="18900000" algn="bl" rotWithShape="0">
              <a:prstClr val="black">
                <a:alpha val="40000"/>
              </a:prstClr>
            </a:outerShdw>
          </a:effectLst>
        </p:spPr>
        <p:txBody>
          <a:bodyPr/>
          <a:lstStyle/>
          <a:p>
            <a:pPr marL="228600" indent="-228600">
              <a:lnSpc>
                <a:spcPct val="120000"/>
              </a:lnSpc>
              <a:spcBef>
                <a:spcPct val="20000"/>
              </a:spcBef>
              <a:buClr>
                <a:srgbClr val="0000CC"/>
              </a:buClr>
              <a:buSzPct val="65000"/>
              <a:buFont typeface="Wingdings" pitchFamily="2" charset="2"/>
              <a:buChar char="u"/>
              <a:defRPr/>
            </a:pPr>
            <a:r>
              <a:rPr kumimoji="0" lang="zh-CN" altLang="en-US" sz="2000" b="0" kern="0" dirty="0">
                <a:solidFill>
                  <a:schemeClr val="tx1"/>
                </a:solidFill>
                <a:latin typeface="Arial" pitchFamily="34" charset="0"/>
                <a:ea typeface="微软雅黑" pitchFamily="34" charset="-122"/>
                <a:cs typeface="Arial" pitchFamily="34" charset="0"/>
              </a:rPr>
              <a:t>汉明码是能够纠正单个随机错误的码。可以证明，具有循环性质的汉明码就是能纠正单个随机错误的本原</a:t>
            </a:r>
            <a:r>
              <a:rPr kumimoji="0" lang="en-US" altLang="zh-CN" sz="2000" b="0" kern="0" dirty="0">
                <a:solidFill>
                  <a:schemeClr val="tx1"/>
                </a:solidFill>
                <a:latin typeface="Arial" pitchFamily="34" charset="0"/>
                <a:ea typeface="微软雅黑" pitchFamily="34" charset="-122"/>
                <a:cs typeface="Arial" pitchFamily="34" charset="0"/>
              </a:rPr>
              <a:t>BCH</a:t>
            </a:r>
            <a:r>
              <a:rPr kumimoji="0" lang="zh-CN" altLang="en-US" sz="2000" b="0" kern="0" dirty="0">
                <a:solidFill>
                  <a:schemeClr val="tx1"/>
                </a:solidFill>
                <a:latin typeface="Arial" pitchFamily="34" charset="0"/>
                <a:ea typeface="微软雅黑" pitchFamily="34" charset="-122"/>
                <a:cs typeface="Arial" pitchFamily="34" charset="0"/>
              </a:rPr>
              <a:t>码。</a:t>
            </a:r>
          </a:p>
        </p:txBody>
      </p:sp>
      <p:sp>
        <p:nvSpPr>
          <p:cNvPr id="5" name="矩形 4">
            <a:extLst>
              <a:ext uri="{FF2B5EF4-FFF2-40B4-BE49-F238E27FC236}">
                <a16:creationId xmlns:a16="http://schemas.microsoft.com/office/drawing/2014/main" id="{2869ABB4-BD75-5491-78E0-0ECD28CF8D8D}"/>
              </a:ext>
            </a:extLst>
          </p:cNvPr>
          <p:cNvSpPr/>
          <p:nvPr/>
        </p:nvSpPr>
        <p:spPr>
          <a:xfrm>
            <a:off x="714375" y="2405063"/>
            <a:ext cx="2638425" cy="503237"/>
          </a:xfrm>
          <a:prstGeom prst="rect">
            <a:avLst/>
          </a:prstGeom>
        </p:spPr>
        <p:txBody>
          <a:bodyPr wrap="none">
            <a:spAutoFit/>
          </a:bodyPr>
          <a:lstStyle/>
          <a:p>
            <a:pPr>
              <a:lnSpc>
                <a:spcPts val="3200"/>
              </a:lnSpc>
              <a:buClr>
                <a:srgbClr val="FF0000"/>
              </a:buClr>
              <a:buSzPct val="70000"/>
              <a:buFont typeface="Wingdings" pitchFamily="2" charset="2"/>
              <a:buChar char="n"/>
              <a:defRPr/>
            </a:pPr>
            <a:r>
              <a:rPr kumimoji="0" lang="en-US" altLang="zh-CN" sz="2400" kern="0" dirty="0">
                <a:solidFill>
                  <a:srgbClr val="000000"/>
                </a:solidFill>
                <a:latin typeface="Arial" pitchFamily="34" charset="0"/>
                <a:ea typeface="微软雅黑" pitchFamily="34" charset="-122"/>
                <a:cs typeface="Arial" pitchFamily="34" charset="0"/>
              </a:rPr>
              <a:t> BCH</a:t>
            </a:r>
            <a:r>
              <a:rPr kumimoji="0" lang="zh-CN" altLang="en-US" sz="2400" kern="0" dirty="0">
                <a:solidFill>
                  <a:srgbClr val="000000"/>
                </a:solidFill>
                <a:latin typeface="Arial" pitchFamily="34" charset="0"/>
                <a:ea typeface="微软雅黑" pitchFamily="34" charset="-122"/>
                <a:cs typeface="Arial" pitchFamily="34" charset="0"/>
              </a:rPr>
              <a:t>码</a:t>
            </a:r>
            <a:r>
              <a:rPr kumimoji="0" lang="zh-CN" altLang="en-US" sz="2400" kern="0" dirty="0">
                <a:solidFill>
                  <a:schemeClr val="tx1"/>
                </a:solidFill>
                <a:latin typeface="Arial" pitchFamily="34" charset="0"/>
                <a:ea typeface="微软雅黑" pitchFamily="34" charset="-122"/>
                <a:cs typeface="Arial" pitchFamily="34" charset="0"/>
              </a:rPr>
              <a:t>的性能</a:t>
            </a:r>
            <a:r>
              <a:rPr kumimoji="0" lang="zh-CN" altLang="en-US" sz="2400" kern="0" dirty="0">
                <a:solidFill>
                  <a:schemeClr val="tx1"/>
                </a:solidFill>
                <a:latin typeface="+mn-ea"/>
                <a:ea typeface="+mn-ea"/>
                <a:cs typeface="Arial" pitchFamily="34" charset="0"/>
              </a:rPr>
              <a:t>：</a:t>
            </a:r>
            <a:endParaRPr kumimoji="0" lang="en-US" altLang="zh-CN" sz="2400" kern="0" dirty="0">
              <a:solidFill>
                <a:schemeClr val="tx1"/>
              </a:solidFill>
              <a:latin typeface="+mn-ea"/>
              <a:ea typeface="+mn-ea"/>
              <a:cs typeface="Arial" pitchFamily="34" charset="0"/>
            </a:endParaRPr>
          </a:p>
        </p:txBody>
      </p:sp>
      <p:sp>
        <p:nvSpPr>
          <p:cNvPr id="7" name="矩形 6">
            <a:extLst>
              <a:ext uri="{FF2B5EF4-FFF2-40B4-BE49-F238E27FC236}">
                <a16:creationId xmlns:a16="http://schemas.microsoft.com/office/drawing/2014/main" id="{6642711E-662A-634A-1452-FF76C3DD5374}"/>
              </a:ext>
            </a:extLst>
          </p:cNvPr>
          <p:cNvSpPr/>
          <p:nvPr/>
        </p:nvSpPr>
        <p:spPr>
          <a:xfrm>
            <a:off x="960438" y="2979738"/>
            <a:ext cx="7612062" cy="2235200"/>
          </a:xfrm>
          <a:prstGeom prst="rect">
            <a:avLst/>
          </a:prstGeom>
          <a:solidFill>
            <a:schemeClr val="bg2">
              <a:lumMod val="10000"/>
              <a:lumOff val="90000"/>
            </a:schemeClr>
          </a:solidFill>
          <a:effectLst>
            <a:outerShdw blurRad="50800" dist="38100" dir="18900000" algn="bl" rotWithShape="0">
              <a:prstClr val="black">
                <a:alpha val="40000"/>
              </a:prstClr>
            </a:outerShdw>
          </a:effectLst>
        </p:spPr>
        <p:txBody>
          <a:bodyPr>
            <a:spAutoFit/>
          </a:bodyPr>
          <a:lstStyle/>
          <a:p>
            <a:pPr marL="228600" indent="-228600">
              <a:spcBef>
                <a:spcPct val="20000"/>
              </a:spcBef>
              <a:buClr>
                <a:srgbClr val="0000CC"/>
              </a:buClr>
              <a:buSzPct val="65000"/>
              <a:buFont typeface="Wingdings" pitchFamily="2" charset="2"/>
              <a:buChar char="u"/>
              <a:defRPr/>
            </a:pPr>
            <a:r>
              <a:rPr kumimoji="0" lang="zh-CN" altLang="en-US" sz="2000" b="0" kern="0" dirty="0">
                <a:solidFill>
                  <a:schemeClr val="tx1"/>
                </a:solidFill>
                <a:latin typeface="Arial" pitchFamily="34" charset="0"/>
                <a:ea typeface="微软雅黑" pitchFamily="34" charset="-122"/>
                <a:cs typeface="Arial" pitchFamily="34" charset="0"/>
              </a:rPr>
              <a:t> 码长</a:t>
            </a:r>
            <a:r>
              <a:rPr kumimoji="0" lang="en-US" altLang="zh-CN" sz="2400" i="1" kern="0" dirty="0">
                <a:solidFill>
                  <a:srgbClr val="0000CC"/>
                </a:solidFill>
                <a:latin typeface="Arial" pitchFamily="34" charset="0"/>
                <a:ea typeface="微软雅黑" pitchFamily="34" charset="-122"/>
                <a:cs typeface="Arial" pitchFamily="34" charset="0"/>
              </a:rPr>
              <a:t>n</a:t>
            </a:r>
            <a:r>
              <a:rPr kumimoji="0" lang="en-US" altLang="zh-CN" sz="2000" i="1" kern="0" dirty="0">
                <a:solidFill>
                  <a:schemeClr val="tx1"/>
                </a:solidFill>
                <a:latin typeface="Arial" pitchFamily="34" charset="0"/>
                <a:ea typeface="微软雅黑" pitchFamily="34" charset="-122"/>
                <a:cs typeface="Arial" pitchFamily="34" charset="0"/>
              </a:rPr>
              <a:t> </a:t>
            </a:r>
            <a:r>
              <a:rPr kumimoji="0" lang="zh-CN" altLang="en-US" sz="2000" b="0" kern="0" dirty="0">
                <a:solidFill>
                  <a:schemeClr val="tx1"/>
                </a:solidFill>
                <a:latin typeface="Arial" pitchFamily="34" charset="0"/>
                <a:ea typeface="微软雅黑" pitchFamily="34" charset="-122"/>
                <a:cs typeface="Arial" pitchFamily="34" charset="0"/>
              </a:rPr>
              <a:t>与监督位、纠错个数 </a:t>
            </a:r>
            <a:r>
              <a:rPr kumimoji="0" lang="en-US" altLang="zh-CN" sz="2400" i="1" kern="0" dirty="0">
                <a:solidFill>
                  <a:srgbClr val="0000CC"/>
                </a:solidFill>
                <a:latin typeface="Arial" pitchFamily="34" charset="0"/>
                <a:ea typeface="微软雅黑" pitchFamily="34" charset="-122"/>
                <a:cs typeface="Arial" pitchFamily="34" charset="0"/>
              </a:rPr>
              <a:t>t </a:t>
            </a:r>
            <a:r>
              <a:rPr kumimoji="0" lang="zh-CN" altLang="en-US" sz="2000" b="0" kern="0" dirty="0">
                <a:solidFill>
                  <a:schemeClr val="tx1"/>
                </a:solidFill>
                <a:latin typeface="Arial" pitchFamily="34" charset="0"/>
                <a:ea typeface="微软雅黑" pitchFamily="34" charset="-122"/>
                <a:cs typeface="Arial" pitchFamily="34" charset="0"/>
              </a:rPr>
              <a:t>之间的关系：</a:t>
            </a:r>
          </a:p>
          <a:p>
            <a:pPr marL="228600" indent="-228600">
              <a:lnSpc>
                <a:spcPct val="120000"/>
              </a:lnSpc>
              <a:spcBef>
                <a:spcPct val="20000"/>
              </a:spcBef>
              <a:buClr>
                <a:srgbClr val="0000CC"/>
              </a:buClr>
              <a:buSzPct val="65000"/>
              <a:defRPr/>
            </a:pPr>
            <a:r>
              <a:rPr kumimoji="0" lang="zh-CN" altLang="en-US" sz="2000" b="0" kern="0" dirty="0">
                <a:solidFill>
                  <a:schemeClr val="tx1"/>
                </a:solidFill>
                <a:latin typeface="Arial" pitchFamily="34" charset="0"/>
                <a:ea typeface="微软雅黑" pitchFamily="34" charset="-122"/>
                <a:cs typeface="Arial" pitchFamily="34" charset="0"/>
              </a:rPr>
              <a:t>   </a:t>
            </a:r>
            <a:r>
              <a:rPr kumimoji="0" lang="en-US" altLang="zh-CN" sz="2000" b="0" kern="0" dirty="0">
                <a:solidFill>
                  <a:schemeClr val="tx1"/>
                </a:solidFill>
                <a:latin typeface="Arial" pitchFamily="34" charset="0"/>
                <a:ea typeface="微软雅黑" pitchFamily="34" charset="-122"/>
                <a:cs typeface="Arial" pitchFamily="34" charset="0"/>
              </a:rPr>
              <a:t> </a:t>
            </a:r>
            <a:r>
              <a:rPr kumimoji="0" lang="zh-CN" altLang="en-US" sz="2000" b="0" kern="0" dirty="0">
                <a:solidFill>
                  <a:schemeClr val="tx1"/>
                </a:solidFill>
                <a:latin typeface="Arial" pitchFamily="34" charset="0"/>
                <a:ea typeface="微软雅黑" pitchFamily="34" charset="-122"/>
                <a:cs typeface="Arial" pitchFamily="34" charset="0"/>
              </a:rPr>
              <a:t> 对于正整数</a:t>
            </a:r>
            <a:r>
              <a:rPr kumimoji="0" lang="en-US" altLang="zh-CN" sz="2000" i="1" kern="0" dirty="0">
                <a:solidFill>
                  <a:srgbClr val="0000CC"/>
                </a:solidFill>
                <a:latin typeface="Arial" pitchFamily="34" charset="0"/>
                <a:ea typeface="微软雅黑" pitchFamily="34" charset="-122"/>
                <a:cs typeface="Arial" pitchFamily="34" charset="0"/>
              </a:rPr>
              <a:t>m </a:t>
            </a:r>
            <a:r>
              <a:rPr kumimoji="0" lang="en-US" altLang="zh-CN" sz="2000" kern="0" dirty="0">
                <a:solidFill>
                  <a:schemeClr val="tx1"/>
                </a:solidFill>
                <a:latin typeface="Arial" pitchFamily="34" charset="0"/>
                <a:ea typeface="微软雅黑" pitchFamily="34" charset="-122"/>
                <a:cs typeface="Arial" pitchFamily="34" charset="0"/>
              </a:rPr>
              <a:t>(</a:t>
            </a:r>
            <a:r>
              <a:rPr kumimoji="0" lang="en-US" altLang="zh-CN" sz="2000" i="1" kern="0" dirty="0">
                <a:solidFill>
                  <a:schemeClr val="tx1"/>
                </a:solidFill>
                <a:latin typeface="Arial" pitchFamily="34" charset="0"/>
                <a:ea typeface="微软雅黑" pitchFamily="34" charset="-122"/>
                <a:cs typeface="Arial" pitchFamily="34" charset="0"/>
              </a:rPr>
              <a:t>m</a:t>
            </a:r>
            <a:r>
              <a:rPr kumimoji="0" lang="en-US" altLang="zh-CN" sz="2000" kern="0" dirty="0">
                <a:solidFill>
                  <a:schemeClr val="tx1"/>
                </a:solidFill>
                <a:latin typeface="Arial" pitchFamily="34" charset="0"/>
                <a:ea typeface="微软雅黑" pitchFamily="34" charset="-122"/>
                <a:cs typeface="Arial" pitchFamily="34" charset="0"/>
              </a:rPr>
              <a:t> </a:t>
            </a:r>
            <a:r>
              <a:rPr kumimoji="0" lang="en-US" altLang="zh-CN" sz="2000" kern="0" dirty="0">
                <a:solidFill>
                  <a:schemeClr val="tx1"/>
                </a:solidFill>
                <a:latin typeface="Arial" pitchFamily="34" charset="0"/>
                <a:ea typeface="微软雅黑" pitchFamily="34" charset="-122"/>
                <a:cs typeface="Arial" pitchFamily="34" charset="0"/>
                <a:sym typeface="Symbol" pitchFamily="18" charset="2"/>
              </a:rPr>
              <a:t></a:t>
            </a:r>
            <a:r>
              <a:rPr kumimoji="0" lang="en-US" altLang="zh-CN" sz="2000" kern="0" dirty="0">
                <a:solidFill>
                  <a:schemeClr val="tx1"/>
                </a:solidFill>
                <a:latin typeface="Arial" pitchFamily="34" charset="0"/>
                <a:ea typeface="微软雅黑" pitchFamily="34" charset="-122"/>
                <a:cs typeface="Arial" pitchFamily="34" charset="0"/>
              </a:rPr>
              <a:t> 3)</a:t>
            </a:r>
            <a:r>
              <a:rPr kumimoji="0" lang="zh-CN" altLang="en-US" sz="2000" b="0" kern="0" dirty="0">
                <a:solidFill>
                  <a:schemeClr val="tx1"/>
                </a:solidFill>
                <a:latin typeface="Arial" pitchFamily="34" charset="0"/>
                <a:ea typeface="微软雅黑" pitchFamily="34" charset="-122"/>
                <a:cs typeface="Arial" pitchFamily="34" charset="0"/>
              </a:rPr>
              <a:t>和正整数</a:t>
            </a:r>
            <a:r>
              <a:rPr kumimoji="0" lang="en-US" altLang="zh-CN" sz="2400" i="1" kern="0" dirty="0">
                <a:solidFill>
                  <a:srgbClr val="0000CC"/>
                </a:solidFill>
                <a:latin typeface="Arial" pitchFamily="34" charset="0"/>
                <a:ea typeface="微软雅黑" pitchFamily="34" charset="-122"/>
                <a:cs typeface="Arial" pitchFamily="34" charset="0"/>
              </a:rPr>
              <a:t>t</a:t>
            </a:r>
            <a:r>
              <a:rPr kumimoji="0" lang="en-US" altLang="zh-CN" sz="2400" kern="0" dirty="0">
                <a:solidFill>
                  <a:srgbClr val="0000CC"/>
                </a:solidFill>
                <a:latin typeface="Arial" pitchFamily="34" charset="0"/>
                <a:ea typeface="微软雅黑" pitchFamily="34" charset="-122"/>
                <a:cs typeface="Arial" pitchFamily="34" charset="0"/>
              </a:rPr>
              <a:t> </a:t>
            </a:r>
            <a:r>
              <a:rPr kumimoji="0" lang="en-US" altLang="zh-CN" sz="2000" kern="0" dirty="0">
                <a:solidFill>
                  <a:schemeClr val="tx1"/>
                </a:solidFill>
                <a:latin typeface="Arial" pitchFamily="34" charset="0"/>
                <a:ea typeface="微软雅黑" pitchFamily="34" charset="-122"/>
                <a:cs typeface="Arial" pitchFamily="34" charset="0"/>
              </a:rPr>
              <a:t>&lt; </a:t>
            </a:r>
            <a:r>
              <a:rPr kumimoji="0" lang="en-US" altLang="zh-CN" sz="2000" i="1" kern="0" dirty="0">
                <a:solidFill>
                  <a:schemeClr val="tx1"/>
                </a:solidFill>
                <a:latin typeface="Arial" pitchFamily="34" charset="0"/>
                <a:ea typeface="微软雅黑" pitchFamily="34" charset="-122"/>
                <a:cs typeface="Arial" pitchFamily="34" charset="0"/>
              </a:rPr>
              <a:t>m</a:t>
            </a:r>
            <a:r>
              <a:rPr kumimoji="0" lang="en-US" altLang="zh-CN" sz="2000" kern="0" dirty="0">
                <a:solidFill>
                  <a:schemeClr val="tx1"/>
                </a:solidFill>
                <a:latin typeface="Arial" pitchFamily="34" charset="0"/>
                <a:ea typeface="微软雅黑" pitchFamily="34" charset="-122"/>
                <a:cs typeface="Arial" pitchFamily="34" charset="0"/>
              </a:rPr>
              <a:t> / 2</a:t>
            </a:r>
            <a:r>
              <a:rPr kumimoji="0" lang="zh-CN" altLang="en-US" sz="2000" b="0" kern="0" dirty="0">
                <a:solidFill>
                  <a:schemeClr val="tx1"/>
                </a:solidFill>
                <a:latin typeface="Arial" pitchFamily="34" charset="0"/>
                <a:ea typeface="微软雅黑" pitchFamily="34" charset="-122"/>
                <a:cs typeface="Arial" pitchFamily="34" charset="0"/>
              </a:rPr>
              <a:t>，必定存在一个码长为</a:t>
            </a:r>
            <a:endParaRPr kumimoji="0" lang="en-US" altLang="zh-CN" sz="2000" b="0" kern="0" dirty="0">
              <a:solidFill>
                <a:schemeClr val="tx1"/>
              </a:solidFill>
              <a:latin typeface="Arial" pitchFamily="34" charset="0"/>
              <a:ea typeface="微软雅黑" pitchFamily="34" charset="-122"/>
              <a:cs typeface="Arial" pitchFamily="34" charset="0"/>
            </a:endParaRPr>
          </a:p>
          <a:p>
            <a:pPr marL="228600" indent="-228600">
              <a:lnSpc>
                <a:spcPct val="120000"/>
              </a:lnSpc>
              <a:spcBef>
                <a:spcPct val="20000"/>
              </a:spcBef>
              <a:buClr>
                <a:srgbClr val="0000CC"/>
              </a:buClr>
              <a:buSzPct val="65000"/>
              <a:defRPr/>
            </a:pPr>
            <a:r>
              <a:rPr kumimoji="0" lang="en-US" altLang="zh-CN" sz="2000" b="0" i="1" kern="0" dirty="0">
                <a:solidFill>
                  <a:schemeClr val="tx1"/>
                </a:solidFill>
                <a:latin typeface="Arial" pitchFamily="34" charset="0"/>
                <a:ea typeface="微软雅黑" pitchFamily="34" charset="-122"/>
                <a:cs typeface="Arial" pitchFamily="34" charset="0"/>
              </a:rPr>
              <a:t>     </a:t>
            </a:r>
            <a:r>
              <a:rPr kumimoji="0" lang="en-US" altLang="zh-CN" sz="2000" i="1" kern="0" dirty="0">
                <a:solidFill>
                  <a:schemeClr val="tx1"/>
                </a:solidFill>
                <a:latin typeface="Arial" pitchFamily="34" charset="0"/>
                <a:ea typeface="微软雅黑" pitchFamily="34" charset="-122"/>
                <a:cs typeface="Arial" pitchFamily="34" charset="0"/>
              </a:rPr>
              <a:t>n</a:t>
            </a:r>
            <a:r>
              <a:rPr kumimoji="0" lang="en-US" altLang="zh-CN" sz="2000" kern="0" dirty="0">
                <a:solidFill>
                  <a:schemeClr val="tx1"/>
                </a:solidFill>
                <a:latin typeface="Arial" pitchFamily="34" charset="0"/>
                <a:ea typeface="微软雅黑" pitchFamily="34" charset="-122"/>
                <a:cs typeface="Arial" pitchFamily="34" charset="0"/>
              </a:rPr>
              <a:t> = 2</a:t>
            </a:r>
            <a:r>
              <a:rPr kumimoji="0" lang="en-US" altLang="zh-CN" sz="2000" i="1" kern="0" baseline="30000" dirty="0">
                <a:solidFill>
                  <a:schemeClr val="tx1"/>
                </a:solidFill>
                <a:latin typeface="Arial" pitchFamily="34" charset="0"/>
                <a:ea typeface="微软雅黑" pitchFamily="34" charset="-122"/>
                <a:cs typeface="Arial" pitchFamily="34" charset="0"/>
              </a:rPr>
              <a:t>m</a:t>
            </a:r>
            <a:r>
              <a:rPr kumimoji="0" lang="en-US" altLang="zh-CN" sz="2000" kern="0" dirty="0">
                <a:solidFill>
                  <a:schemeClr val="tx1"/>
                </a:solidFill>
                <a:latin typeface="Arial" pitchFamily="34" charset="0"/>
                <a:ea typeface="微软雅黑" pitchFamily="34" charset="-122"/>
                <a:cs typeface="Arial" pitchFamily="34" charset="0"/>
              </a:rPr>
              <a:t> – 1</a:t>
            </a:r>
            <a:r>
              <a:rPr kumimoji="0" lang="zh-CN" altLang="en-US" sz="2000" b="0" kern="0" dirty="0">
                <a:solidFill>
                  <a:schemeClr val="tx1"/>
                </a:solidFill>
                <a:latin typeface="Arial" pitchFamily="34" charset="0"/>
                <a:ea typeface="微软雅黑" pitchFamily="34" charset="-122"/>
                <a:cs typeface="Arial" pitchFamily="34" charset="0"/>
              </a:rPr>
              <a:t>，监督位为</a:t>
            </a:r>
            <a:r>
              <a:rPr kumimoji="0" lang="en-US" altLang="zh-CN" sz="2000" i="1" kern="0" dirty="0">
                <a:solidFill>
                  <a:schemeClr val="tx1"/>
                </a:solidFill>
                <a:latin typeface="Arial" pitchFamily="34" charset="0"/>
                <a:ea typeface="微软雅黑" pitchFamily="34" charset="-122"/>
                <a:cs typeface="Arial" pitchFamily="34" charset="0"/>
              </a:rPr>
              <a:t>n</a:t>
            </a:r>
            <a:r>
              <a:rPr kumimoji="0" lang="en-US" altLang="zh-CN" sz="2000" kern="0" dirty="0">
                <a:solidFill>
                  <a:schemeClr val="tx1"/>
                </a:solidFill>
                <a:latin typeface="Arial" pitchFamily="34" charset="0"/>
                <a:ea typeface="微软雅黑" pitchFamily="34" charset="-122"/>
                <a:cs typeface="Arial" pitchFamily="34" charset="0"/>
              </a:rPr>
              <a:t> – </a:t>
            </a:r>
            <a:r>
              <a:rPr kumimoji="0" lang="en-US" altLang="zh-CN" sz="2000" i="1" kern="0" dirty="0">
                <a:solidFill>
                  <a:schemeClr val="tx1"/>
                </a:solidFill>
                <a:latin typeface="Arial" pitchFamily="34" charset="0"/>
                <a:ea typeface="微软雅黑" pitchFamily="34" charset="-122"/>
                <a:cs typeface="Arial" pitchFamily="34" charset="0"/>
              </a:rPr>
              <a:t>k</a:t>
            </a:r>
            <a:r>
              <a:rPr kumimoji="0" lang="en-US" altLang="zh-CN" sz="2000" kern="0" dirty="0">
                <a:solidFill>
                  <a:schemeClr val="tx1"/>
                </a:solidFill>
                <a:latin typeface="Arial" pitchFamily="34" charset="0"/>
                <a:ea typeface="微软雅黑" pitchFamily="34" charset="-122"/>
                <a:cs typeface="Arial" pitchFamily="34" charset="0"/>
              </a:rPr>
              <a:t> </a:t>
            </a:r>
            <a:r>
              <a:rPr kumimoji="0" lang="en-US" altLang="zh-CN" sz="2000" kern="0" dirty="0">
                <a:solidFill>
                  <a:schemeClr val="tx1"/>
                </a:solidFill>
                <a:latin typeface="Arial" pitchFamily="34" charset="0"/>
                <a:ea typeface="微软雅黑" pitchFamily="34" charset="-122"/>
                <a:cs typeface="Arial" pitchFamily="34" charset="0"/>
                <a:sym typeface="Symbol" pitchFamily="18" charset="2"/>
              </a:rPr>
              <a:t></a:t>
            </a:r>
            <a:r>
              <a:rPr kumimoji="0" lang="en-US" altLang="zh-CN" sz="2000" kern="0" dirty="0">
                <a:solidFill>
                  <a:schemeClr val="tx1"/>
                </a:solidFill>
                <a:latin typeface="Arial" pitchFamily="34" charset="0"/>
                <a:ea typeface="微软雅黑" pitchFamily="34" charset="-122"/>
                <a:cs typeface="Arial" pitchFamily="34" charset="0"/>
              </a:rPr>
              <a:t> </a:t>
            </a:r>
            <a:r>
              <a:rPr kumimoji="0" lang="en-US" altLang="zh-CN" sz="2000" i="1" kern="0" dirty="0" err="1">
                <a:solidFill>
                  <a:schemeClr val="tx1"/>
                </a:solidFill>
                <a:latin typeface="Arial" pitchFamily="34" charset="0"/>
                <a:ea typeface="微软雅黑" pitchFamily="34" charset="-122"/>
                <a:cs typeface="Arial" pitchFamily="34" charset="0"/>
              </a:rPr>
              <a:t>mt</a:t>
            </a:r>
            <a:r>
              <a:rPr kumimoji="0" lang="zh-CN" altLang="en-US" sz="2000" b="0" kern="0" dirty="0">
                <a:solidFill>
                  <a:schemeClr val="tx1"/>
                </a:solidFill>
                <a:latin typeface="Arial" pitchFamily="34" charset="0"/>
                <a:ea typeface="微软雅黑" pitchFamily="34" charset="-122"/>
                <a:cs typeface="Arial" pitchFamily="34" charset="0"/>
              </a:rPr>
              <a:t>，能纠正所有不多于</a:t>
            </a:r>
            <a:r>
              <a:rPr kumimoji="0" lang="en-US" altLang="zh-CN" sz="2400" i="1" kern="0" dirty="0">
                <a:solidFill>
                  <a:srgbClr val="0000CC"/>
                </a:solidFill>
                <a:latin typeface="Arial" pitchFamily="34" charset="0"/>
                <a:ea typeface="微软雅黑" pitchFamily="34" charset="-122"/>
                <a:cs typeface="Arial" pitchFamily="34" charset="0"/>
              </a:rPr>
              <a:t>t</a:t>
            </a:r>
            <a:r>
              <a:rPr kumimoji="0" lang="zh-CN" altLang="en-US" sz="2000" b="0" kern="0" dirty="0">
                <a:solidFill>
                  <a:schemeClr val="tx1"/>
                </a:solidFill>
                <a:latin typeface="Arial" pitchFamily="34" charset="0"/>
                <a:ea typeface="微软雅黑" pitchFamily="34" charset="-122"/>
                <a:cs typeface="Arial" pitchFamily="34" charset="0"/>
              </a:rPr>
              <a:t>个随机错误的</a:t>
            </a:r>
            <a:r>
              <a:rPr kumimoji="0" lang="en-US" altLang="zh-CN" sz="2000" b="0" kern="0" dirty="0">
                <a:solidFill>
                  <a:schemeClr val="tx1"/>
                </a:solidFill>
                <a:latin typeface="Arial" pitchFamily="34" charset="0"/>
                <a:ea typeface="微软雅黑" pitchFamily="34" charset="-122"/>
                <a:cs typeface="Arial" pitchFamily="34" charset="0"/>
              </a:rPr>
              <a:t>BCH</a:t>
            </a:r>
            <a:r>
              <a:rPr kumimoji="0" lang="zh-CN" altLang="en-US" sz="2000" b="0" kern="0" dirty="0">
                <a:solidFill>
                  <a:schemeClr val="tx1"/>
                </a:solidFill>
                <a:latin typeface="Arial" pitchFamily="34" charset="0"/>
                <a:ea typeface="微软雅黑" pitchFamily="34" charset="-122"/>
                <a:cs typeface="Arial" pitchFamily="34" charset="0"/>
              </a:rPr>
              <a:t>码。若码长</a:t>
            </a:r>
            <a:r>
              <a:rPr kumimoji="0" lang="en-US" altLang="zh-CN" sz="2000" i="1" kern="0" dirty="0">
                <a:solidFill>
                  <a:schemeClr val="tx1"/>
                </a:solidFill>
                <a:latin typeface="Arial" pitchFamily="34" charset="0"/>
                <a:ea typeface="微软雅黑" pitchFamily="34" charset="-122"/>
                <a:cs typeface="Arial" pitchFamily="34" charset="0"/>
              </a:rPr>
              <a:t>n</a:t>
            </a:r>
            <a:r>
              <a:rPr kumimoji="0" lang="en-US" altLang="zh-CN" sz="2000" kern="0" dirty="0">
                <a:solidFill>
                  <a:schemeClr val="tx1"/>
                </a:solidFill>
                <a:latin typeface="Arial" pitchFamily="34" charset="0"/>
                <a:ea typeface="微软雅黑" pitchFamily="34" charset="-122"/>
                <a:cs typeface="Arial" pitchFamily="34" charset="0"/>
              </a:rPr>
              <a:t> = (2</a:t>
            </a:r>
            <a:r>
              <a:rPr kumimoji="0" lang="en-US" altLang="zh-CN" sz="2000" i="1" kern="0" baseline="30000" dirty="0">
                <a:solidFill>
                  <a:schemeClr val="tx1"/>
                </a:solidFill>
                <a:latin typeface="Arial" pitchFamily="34" charset="0"/>
                <a:ea typeface="微软雅黑" pitchFamily="34" charset="-122"/>
                <a:cs typeface="Arial" pitchFamily="34" charset="0"/>
              </a:rPr>
              <a:t>m</a:t>
            </a:r>
            <a:r>
              <a:rPr kumimoji="0" lang="en-US" altLang="zh-CN" sz="2000" kern="0" dirty="0">
                <a:solidFill>
                  <a:schemeClr val="tx1"/>
                </a:solidFill>
                <a:latin typeface="Arial" pitchFamily="34" charset="0"/>
                <a:ea typeface="微软雅黑" pitchFamily="34" charset="-122"/>
                <a:cs typeface="Arial" pitchFamily="34" charset="0"/>
              </a:rPr>
              <a:t> - 1) / </a:t>
            </a:r>
            <a:r>
              <a:rPr kumimoji="0" lang="en-US" altLang="zh-CN" sz="2000" i="1" kern="0" dirty="0" err="1">
                <a:solidFill>
                  <a:schemeClr val="tx1"/>
                </a:solidFill>
                <a:latin typeface="Arial" pitchFamily="34" charset="0"/>
                <a:ea typeface="微软雅黑" pitchFamily="34" charset="-122"/>
                <a:cs typeface="Arial" pitchFamily="34" charset="0"/>
              </a:rPr>
              <a:t>i</a:t>
            </a:r>
            <a:r>
              <a:rPr kumimoji="0" lang="zh-CN" altLang="en-US" sz="2000" b="0" kern="0" dirty="0">
                <a:solidFill>
                  <a:schemeClr val="tx1"/>
                </a:solidFill>
                <a:latin typeface="Arial" pitchFamily="34" charset="0"/>
                <a:ea typeface="微软雅黑" pitchFamily="34" charset="-122"/>
                <a:cs typeface="Arial" pitchFamily="34" charset="0"/>
              </a:rPr>
              <a:t>（</a:t>
            </a:r>
            <a:r>
              <a:rPr kumimoji="0" lang="en-US" altLang="zh-CN" sz="2000" b="0" i="1" kern="0" dirty="0" err="1">
                <a:solidFill>
                  <a:schemeClr val="tx1"/>
                </a:solidFill>
                <a:latin typeface="Arial" pitchFamily="34" charset="0"/>
                <a:ea typeface="微软雅黑" pitchFamily="34" charset="-122"/>
                <a:cs typeface="Arial" pitchFamily="34" charset="0"/>
              </a:rPr>
              <a:t>i</a:t>
            </a:r>
            <a:r>
              <a:rPr kumimoji="0" lang="en-US" altLang="zh-CN" sz="2000" b="0" kern="0" dirty="0">
                <a:solidFill>
                  <a:schemeClr val="tx1"/>
                </a:solidFill>
                <a:latin typeface="Arial" pitchFamily="34" charset="0"/>
                <a:ea typeface="微软雅黑" pitchFamily="34" charset="-122"/>
                <a:cs typeface="Arial" pitchFamily="34" charset="0"/>
              </a:rPr>
              <a:t> &gt; 1</a:t>
            </a:r>
            <a:r>
              <a:rPr kumimoji="0" lang="zh-CN" altLang="en-US" sz="2000" b="0" kern="0" dirty="0">
                <a:solidFill>
                  <a:schemeClr val="tx1"/>
                </a:solidFill>
                <a:latin typeface="Arial" pitchFamily="34" charset="0"/>
                <a:ea typeface="微软雅黑" pitchFamily="34" charset="-122"/>
                <a:cs typeface="Arial" pitchFamily="34" charset="0"/>
              </a:rPr>
              <a:t>，且除得尽</a:t>
            </a:r>
            <a:r>
              <a:rPr kumimoji="0" lang="en-US" altLang="zh-CN" sz="2000" b="0" kern="0" dirty="0">
                <a:solidFill>
                  <a:schemeClr val="tx1"/>
                </a:solidFill>
                <a:latin typeface="Arial" pitchFamily="34" charset="0"/>
                <a:ea typeface="微软雅黑" pitchFamily="34" charset="-122"/>
                <a:cs typeface="Arial" pitchFamily="34" charset="0"/>
              </a:rPr>
              <a:t>(2</a:t>
            </a:r>
            <a:r>
              <a:rPr kumimoji="0" lang="en-US" altLang="zh-CN" sz="2000" b="0" i="1" kern="0" baseline="30000" dirty="0">
                <a:solidFill>
                  <a:schemeClr val="tx1"/>
                </a:solidFill>
                <a:latin typeface="Arial" pitchFamily="34" charset="0"/>
                <a:ea typeface="微软雅黑" pitchFamily="34" charset="-122"/>
                <a:cs typeface="Arial" pitchFamily="34" charset="0"/>
              </a:rPr>
              <a:t>m</a:t>
            </a:r>
            <a:r>
              <a:rPr kumimoji="0" lang="en-US" altLang="zh-CN" sz="2000" b="0" kern="0" dirty="0">
                <a:solidFill>
                  <a:schemeClr val="tx1"/>
                </a:solidFill>
                <a:latin typeface="Arial" pitchFamily="34" charset="0"/>
                <a:ea typeface="微软雅黑" pitchFamily="34" charset="-122"/>
                <a:cs typeface="Arial" pitchFamily="34" charset="0"/>
              </a:rPr>
              <a:t> -1)</a:t>
            </a:r>
            <a:r>
              <a:rPr kumimoji="0" lang="zh-CN" altLang="en-US" sz="2000" b="0" kern="0" dirty="0">
                <a:solidFill>
                  <a:schemeClr val="tx1"/>
                </a:solidFill>
                <a:latin typeface="Arial" pitchFamily="34" charset="0"/>
                <a:ea typeface="微软雅黑" pitchFamily="34" charset="-122"/>
                <a:cs typeface="Arial" pitchFamily="34" charset="0"/>
              </a:rPr>
              <a:t>），则为非本原</a:t>
            </a:r>
            <a:r>
              <a:rPr kumimoji="0" lang="en-US" altLang="zh-CN" sz="2000" b="0" kern="0" dirty="0">
                <a:solidFill>
                  <a:schemeClr val="tx1"/>
                </a:solidFill>
                <a:latin typeface="Arial" pitchFamily="34" charset="0"/>
                <a:ea typeface="微软雅黑" pitchFamily="34" charset="-122"/>
                <a:cs typeface="Arial" pitchFamily="34" charset="0"/>
              </a:rPr>
              <a:t>BCH</a:t>
            </a:r>
            <a:r>
              <a:rPr kumimoji="0" lang="zh-CN" altLang="en-US" sz="2000" b="0" kern="0" dirty="0">
                <a:solidFill>
                  <a:schemeClr val="tx1"/>
                </a:solidFill>
                <a:latin typeface="Arial" pitchFamily="34" charset="0"/>
                <a:ea typeface="微软雅黑" pitchFamily="34" charset="-122"/>
                <a:cs typeface="Arial" pitchFamily="34" charset="0"/>
              </a:rPr>
              <a:t>码。</a:t>
            </a:r>
          </a:p>
        </p:txBody>
      </p:sp>
      <p:pic>
        <p:nvPicPr>
          <p:cNvPr id="111622" name="Picture 6">
            <a:extLst>
              <a:ext uri="{FF2B5EF4-FFF2-40B4-BE49-F238E27FC236}">
                <a16:creationId xmlns:a16="http://schemas.microsoft.com/office/drawing/2014/main" id="{27C937CC-5D28-ECAF-F48F-C7514A2B33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8688" y="1036638"/>
            <a:ext cx="7715250"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11622"/>
                                        </p:tgtEl>
                                        <p:attrNameLst>
                                          <p:attrName>style.visibility</p:attrName>
                                        </p:attrNameLst>
                                      </p:cBhvr>
                                      <p:to>
                                        <p:strVal val="visible"/>
                                      </p:to>
                                    </p:set>
                                    <p:animEffect transition="in" filter="wipe(up)">
                                      <p:cBhvr>
                                        <p:cTn id="7" dur="1000"/>
                                        <p:tgtEl>
                                          <p:spTgt spid="1116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10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10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4">
                                            <p:bg/>
                                          </p:spTgt>
                                        </p:tgtEl>
                                        <p:attrNameLst>
                                          <p:attrName>style.visibility</p:attrName>
                                        </p:attrNameLst>
                                      </p:cBhvr>
                                      <p:to>
                                        <p:strVal val="visible"/>
                                      </p:to>
                                    </p:set>
                                    <p:animEffect transition="in" filter="wipe(up)">
                                      <p:cBhvr>
                                        <p:cTn id="22" dur="1000"/>
                                        <p:tgtEl>
                                          <p:spTgt spid="4">
                                            <p:bg/>
                                          </p:spTgt>
                                        </p:tgtEl>
                                      </p:cBhvr>
                                    </p:animEffect>
                                  </p:childTnLst>
                                </p:cTn>
                              </p:par>
                              <p:par>
                                <p:cTn id="23" presetID="22" presetClass="entr" presetSubtype="1" fill="hold" nodeType="with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animEffect transition="in" filter="wipe(up)">
                                      <p:cBhvr>
                                        <p:cTn id="25" dur="1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5" grpId="0"/>
      <p:bldP spid="7"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1F65E142-275B-22F7-4486-677FF24D54D9}"/>
              </a:ext>
            </a:extLst>
          </p:cNvPr>
          <p:cNvSpPr/>
          <p:nvPr/>
        </p:nvSpPr>
        <p:spPr>
          <a:xfrm>
            <a:off x="714375" y="2925763"/>
            <a:ext cx="2638425" cy="503237"/>
          </a:xfrm>
          <a:prstGeom prst="rect">
            <a:avLst/>
          </a:prstGeom>
        </p:spPr>
        <p:txBody>
          <a:bodyPr wrap="none">
            <a:spAutoFit/>
          </a:bodyPr>
          <a:lstStyle/>
          <a:p>
            <a:pPr>
              <a:lnSpc>
                <a:spcPts val="3200"/>
              </a:lnSpc>
              <a:buClr>
                <a:srgbClr val="FF0000"/>
              </a:buClr>
              <a:buSzPct val="70000"/>
              <a:buFont typeface="Wingdings" pitchFamily="2" charset="2"/>
              <a:buChar char="n"/>
              <a:defRPr/>
            </a:pPr>
            <a:r>
              <a:rPr kumimoji="0" lang="en-US" altLang="zh-CN" sz="2400" kern="0" dirty="0">
                <a:solidFill>
                  <a:srgbClr val="000000"/>
                </a:solidFill>
                <a:latin typeface="Arial" pitchFamily="34" charset="0"/>
                <a:ea typeface="微软雅黑" pitchFamily="34" charset="-122"/>
                <a:cs typeface="Arial" pitchFamily="34" charset="0"/>
              </a:rPr>
              <a:t> BCH</a:t>
            </a:r>
            <a:r>
              <a:rPr kumimoji="0" lang="zh-CN" altLang="en-US" sz="2400" kern="0" dirty="0">
                <a:solidFill>
                  <a:srgbClr val="000000"/>
                </a:solidFill>
                <a:latin typeface="Arial" pitchFamily="34" charset="0"/>
                <a:ea typeface="微软雅黑" pitchFamily="34" charset="-122"/>
                <a:cs typeface="Arial" pitchFamily="34" charset="0"/>
              </a:rPr>
              <a:t>码</a:t>
            </a:r>
            <a:r>
              <a:rPr kumimoji="0" lang="zh-CN" altLang="en-US" sz="2400" kern="0" dirty="0">
                <a:solidFill>
                  <a:schemeClr val="tx1"/>
                </a:solidFill>
                <a:latin typeface="Arial" pitchFamily="34" charset="0"/>
                <a:ea typeface="微软雅黑" pitchFamily="34" charset="-122"/>
                <a:cs typeface="Arial" pitchFamily="34" charset="0"/>
              </a:rPr>
              <a:t>的设计</a:t>
            </a:r>
            <a:r>
              <a:rPr kumimoji="0" lang="zh-CN" altLang="en-US" sz="2400" kern="0" dirty="0">
                <a:solidFill>
                  <a:schemeClr val="tx1"/>
                </a:solidFill>
                <a:latin typeface="+mn-ea"/>
                <a:ea typeface="+mn-ea"/>
                <a:cs typeface="Arial" pitchFamily="34" charset="0"/>
              </a:rPr>
              <a:t>：</a:t>
            </a:r>
            <a:endParaRPr kumimoji="0" lang="en-US" altLang="zh-CN" sz="2400" kern="0" dirty="0">
              <a:solidFill>
                <a:schemeClr val="tx1"/>
              </a:solidFill>
              <a:latin typeface="+mn-ea"/>
              <a:ea typeface="+mn-ea"/>
              <a:cs typeface="Arial" pitchFamily="34" charset="0"/>
            </a:endParaRPr>
          </a:p>
        </p:txBody>
      </p:sp>
      <p:sp>
        <p:nvSpPr>
          <p:cNvPr id="7" name="Rectangle 3">
            <a:extLst>
              <a:ext uri="{FF2B5EF4-FFF2-40B4-BE49-F238E27FC236}">
                <a16:creationId xmlns:a16="http://schemas.microsoft.com/office/drawing/2014/main" id="{46F1B21C-F1FC-75C0-9727-BA1A39F02B1C}"/>
              </a:ext>
            </a:extLst>
          </p:cNvPr>
          <p:cNvSpPr txBox="1">
            <a:spLocks noChangeArrowheads="1"/>
          </p:cNvSpPr>
          <p:nvPr/>
        </p:nvSpPr>
        <p:spPr bwMode="auto">
          <a:xfrm>
            <a:off x="1000125" y="3429000"/>
            <a:ext cx="7600950" cy="1214438"/>
          </a:xfrm>
          <a:prstGeom prst="rect">
            <a:avLst/>
          </a:prstGeom>
          <a:solidFill>
            <a:schemeClr val="bg2">
              <a:lumMod val="10000"/>
              <a:lumOff val="90000"/>
            </a:schemeClr>
          </a:solidFill>
          <a:ln w="9525">
            <a:noFill/>
            <a:miter lim="800000"/>
            <a:headEnd/>
            <a:tailEnd/>
          </a:ln>
          <a:effectLst>
            <a:outerShdw blurRad="50800" dist="38100" dir="18900000" algn="bl" rotWithShape="0">
              <a:prstClr val="black">
                <a:alpha val="40000"/>
              </a:prstClr>
            </a:outerShdw>
          </a:effectLst>
        </p:spPr>
        <p:txBody>
          <a:bodyPr/>
          <a:lstStyle/>
          <a:p>
            <a:pPr marL="228600" indent="-228600">
              <a:lnSpc>
                <a:spcPts val="3600"/>
              </a:lnSpc>
              <a:spcBef>
                <a:spcPct val="20000"/>
              </a:spcBef>
              <a:buClr>
                <a:srgbClr val="0000CC"/>
              </a:buClr>
              <a:buSzPct val="65000"/>
              <a:buFont typeface="Wingdings" pitchFamily="2" charset="2"/>
              <a:buChar char="u"/>
              <a:defRPr/>
            </a:pPr>
            <a:r>
              <a:rPr kumimoji="0" lang="zh-CN" altLang="en-US" sz="2000" b="0" kern="0" dirty="0">
                <a:solidFill>
                  <a:schemeClr val="tx1"/>
                </a:solidFill>
                <a:latin typeface="Arial" pitchFamily="34" charset="0"/>
                <a:ea typeface="微软雅黑" pitchFamily="34" charset="-122"/>
                <a:cs typeface="Arial" pitchFamily="34" charset="0"/>
              </a:rPr>
              <a:t>在工程设计中，一般不需要用计算方法去寻找生成多项式</a:t>
            </a:r>
            <a:r>
              <a:rPr kumimoji="0" lang="en-US" altLang="zh-CN" sz="2000" b="0" i="1" kern="0" dirty="0">
                <a:solidFill>
                  <a:schemeClr val="tx1"/>
                </a:solidFill>
                <a:latin typeface="Arial" pitchFamily="34" charset="0"/>
                <a:ea typeface="微软雅黑" pitchFamily="34" charset="-122"/>
                <a:cs typeface="Arial" pitchFamily="34" charset="0"/>
              </a:rPr>
              <a:t>g</a:t>
            </a:r>
            <a:r>
              <a:rPr kumimoji="0" lang="en-US" altLang="zh-CN" sz="2000" b="0" kern="0" dirty="0">
                <a:solidFill>
                  <a:schemeClr val="tx1"/>
                </a:solidFill>
                <a:latin typeface="Arial" pitchFamily="34" charset="0"/>
                <a:ea typeface="微软雅黑" pitchFamily="34" charset="-122"/>
                <a:cs typeface="Arial" pitchFamily="34" charset="0"/>
              </a:rPr>
              <a:t>(</a:t>
            </a:r>
            <a:r>
              <a:rPr kumimoji="0" lang="en-US" altLang="zh-CN" sz="2000" b="0" i="1" kern="0" dirty="0">
                <a:solidFill>
                  <a:schemeClr val="tx1"/>
                </a:solidFill>
                <a:latin typeface="Arial" pitchFamily="34" charset="0"/>
                <a:ea typeface="微软雅黑" pitchFamily="34" charset="-122"/>
                <a:cs typeface="Arial" pitchFamily="34" charset="0"/>
              </a:rPr>
              <a:t>x</a:t>
            </a:r>
            <a:r>
              <a:rPr kumimoji="0" lang="en-US" altLang="zh-CN" sz="2000" b="0" kern="0" dirty="0">
                <a:solidFill>
                  <a:schemeClr val="tx1"/>
                </a:solidFill>
                <a:latin typeface="Arial" pitchFamily="34" charset="0"/>
                <a:ea typeface="微软雅黑" pitchFamily="34" charset="-122"/>
                <a:cs typeface="Arial" pitchFamily="34" charset="0"/>
              </a:rPr>
              <a:t>)</a:t>
            </a:r>
            <a:r>
              <a:rPr kumimoji="0" lang="zh-CN" altLang="en-US" sz="2000" b="0" kern="0" dirty="0">
                <a:solidFill>
                  <a:schemeClr val="tx1"/>
                </a:solidFill>
                <a:latin typeface="Arial" pitchFamily="34" charset="0"/>
                <a:ea typeface="微软雅黑" pitchFamily="34" charset="-122"/>
                <a:cs typeface="Arial" pitchFamily="34" charset="0"/>
              </a:rPr>
              <a:t>。因为前人早已将寻找到的</a:t>
            </a:r>
            <a:r>
              <a:rPr kumimoji="0" lang="en-US" altLang="zh-CN" sz="2000" b="0" i="1" kern="0" dirty="0">
                <a:solidFill>
                  <a:schemeClr val="tx1"/>
                </a:solidFill>
                <a:latin typeface="Arial" pitchFamily="34" charset="0"/>
                <a:ea typeface="微软雅黑" pitchFamily="34" charset="-122"/>
                <a:cs typeface="Arial" pitchFamily="34" charset="0"/>
              </a:rPr>
              <a:t>g</a:t>
            </a:r>
            <a:r>
              <a:rPr kumimoji="0" lang="en-US" altLang="zh-CN" sz="2000" b="0" kern="0" dirty="0">
                <a:solidFill>
                  <a:schemeClr val="tx1"/>
                </a:solidFill>
                <a:latin typeface="Arial" pitchFamily="34" charset="0"/>
                <a:ea typeface="微软雅黑" pitchFamily="34" charset="-122"/>
                <a:cs typeface="Arial" pitchFamily="34" charset="0"/>
              </a:rPr>
              <a:t>(</a:t>
            </a:r>
            <a:r>
              <a:rPr kumimoji="0" lang="en-US" altLang="zh-CN" sz="2000" b="0" i="1" kern="0" dirty="0">
                <a:solidFill>
                  <a:schemeClr val="tx1"/>
                </a:solidFill>
                <a:latin typeface="Arial" pitchFamily="34" charset="0"/>
                <a:ea typeface="微软雅黑" pitchFamily="34" charset="-122"/>
                <a:cs typeface="Arial" pitchFamily="34" charset="0"/>
              </a:rPr>
              <a:t>x</a:t>
            </a:r>
            <a:r>
              <a:rPr kumimoji="0" lang="en-US" altLang="zh-CN" sz="2000" b="0" kern="0" dirty="0">
                <a:solidFill>
                  <a:schemeClr val="tx1"/>
                </a:solidFill>
                <a:latin typeface="Arial" pitchFamily="34" charset="0"/>
                <a:ea typeface="微软雅黑" pitchFamily="34" charset="-122"/>
                <a:cs typeface="Arial" pitchFamily="34" charset="0"/>
              </a:rPr>
              <a:t>)</a:t>
            </a:r>
            <a:r>
              <a:rPr kumimoji="0" lang="zh-CN" altLang="en-US" sz="2000" b="0" kern="0" dirty="0">
                <a:solidFill>
                  <a:schemeClr val="tx1"/>
                </a:solidFill>
                <a:latin typeface="Arial" pitchFamily="34" charset="0"/>
                <a:ea typeface="微软雅黑" pitchFamily="34" charset="-122"/>
                <a:cs typeface="Arial" pitchFamily="34" charset="0"/>
              </a:rPr>
              <a:t>列成表，故可以用查表法找到所需的生成多项式。</a:t>
            </a:r>
          </a:p>
          <a:p>
            <a:pPr marL="228600" indent="-228600">
              <a:lnSpc>
                <a:spcPts val="3600"/>
              </a:lnSpc>
              <a:spcBef>
                <a:spcPct val="20000"/>
              </a:spcBef>
              <a:buClr>
                <a:srgbClr val="0000CC"/>
              </a:buClr>
              <a:buSzPct val="65000"/>
              <a:buFont typeface="Wingdings" pitchFamily="2" charset="2"/>
              <a:buChar char="u"/>
              <a:defRPr/>
            </a:pPr>
            <a:endParaRPr kumimoji="0" lang="zh-CN" altLang="en-US" sz="2000" b="0" kern="0" dirty="0">
              <a:solidFill>
                <a:schemeClr val="tx1"/>
              </a:solidFill>
              <a:latin typeface="Arial" pitchFamily="34" charset="0"/>
              <a:ea typeface="微软雅黑" pitchFamily="34" charset="-122"/>
              <a:cs typeface="Arial" pitchFamily="34" charset="0"/>
            </a:endParaRPr>
          </a:p>
        </p:txBody>
      </p:sp>
      <p:sp>
        <p:nvSpPr>
          <p:cNvPr id="8" name="Rectangle 3">
            <a:extLst>
              <a:ext uri="{FF2B5EF4-FFF2-40B4-BE49-F238E27FC236}">
                <a16:creationId xmlns:a16="http://schemas.microsoft.com/office/drawing/2014/main" id="{40D5209D-C4B6-B393-9BC1-922584576A78}"/>
              </a:ext>
            </a:extLst>
          </p:cNvPr>
          <p:cNvSpPr txBox="1">
            <a:spLocks noChangeArrowheads="1"/>
          </p:cNvSpPr>
          <p:nvPr/>
        </p:nvSpPr>
        <p:spPr bwMode="auto">
          <a:xfrm>
            <a:off x="1000125" y="5143500"/>
            <a:ext cx="7600950" cy="857250"/>
          </a:xfrm>
          <a:prstGeom prst="rect">
            <a:avLst/>
          </a:prstGeom>
          <a:solidFill>
            <a:schemeClr val="bg2">
              <a:lumMod val="10000"/>
              <a:lumOff val="90000"/>
            </a:schemeClr>
          </a:solidFill>
          <a:ln w="9525">
            <a:noFill/>
            <a:miter lim="800000"/>
            <a:headEnd/>
            <a:tailEnd/>
          </a:ln>
          <a:effectLst>
            <a:outerShdw blurRad="50800" dist="38100" dir="18900000" algn="bl" rotWithShape="0">
              <a:prstClr val="black">
                <a:alpha val="40000"/>
              </a:prstClr>
            </a:outerShdw>
          </a:effectLst>
        </p:spPr>
        <p:txBody>
          <a:bodyPr/>
          <a:lstStyle/>
          <a:p>
            <a:pPr marL="228600" indent="-228600">
              <a:lnSpc>
                <a:spcPct val="120000"/>
              </a:lnSpc>
              <a:spcBef>
                <a:spcPct val="20000"/>
              </a:spcBef>
              <a:buClr>
                <a:srgbClr val="0000CC"/>
              </a:buClr>
              <a:buSzPct val="65000"/>
              <a:buFont typeface="Wingdings" pitchFamily="2" charset="2"/>
              <a:buChar char="u"/>
              <a:defRPr/>
            </a:pPr>
            <a:r>
              <a:rPr kumimoji="0" lang="zh-CN" altLang="en-US" sz="2000" b="0" kern="0" dirty="0">
                <a:solidFill>
                  <a:schemeClr val="tx1"/>
                </a:solidFill>
                <a:latin typeface="Arial" pitchFamily="34" charset="0"/>
                <a:ea typeface="微软雅黑" pitchFamily="34" charset="-122"/>
                <a:cs typeface="Arial" pitchFamily="34" charset="0"/>
              </a:rPr>
              <a:t>教材</a:t>
            </a:r>
            <a:r>
              <a:rPr kumimoji="0" lang="en-US" altLang="zh-CN" sz="2000" b="0" kern="0" dirty="0">
                <a:solidFill>
                  <a:schemeClr val="tx1"/>
                </a:solidFill>
                <a:latin typeface="Arial" pitchFamily="34" charset="0"/>
                <a:ea typeface="微软雅黑" pitchFamily="34" charset="-122"/>
                <a:cs typeface="Arial" pitchFamily="34" charset="0"/>
              </a:rPr>
              <a:t>353</a:t>
            </a:r>
            <a:r>
              <a:rPr kumimoji="0" lang="zh-CN" altLang="en-US" sz="2000" b="0" kern="0" dirty="0">
                <a:solidFill>
                  <a:schemeClr val="tx1"/>
                </a:solidFill>
                <a:latin typeface="Arial" pitchFamily="34" charset="0"/>
                <a:ea typeface="微软雅黑" pitchFamily="34" charset="-122"/>
                <a:cs typeface="Arial" pitchFamily="34" charset="0"/>
              </a:rPr>
              <a:t>页的表</a:t>
            </a:r>
            <a:r>
              <a:rPr kumimoji="0" lang="en-US" altLang="zh-CN" sz="2000" b="0" kern="0" dirty="0">
                <a:solidFill>
                  <a:schemeClr val="tx1"/>
                </a:solidFill>
                <a:latin typeface="Arial" pitchFamily="34" charset="0"/>
                <a:ea typeface="微软雅黑" pitchFamily="34" charset="-122"/>
                <a:cs typeface="Arial" pitchFamily="34" charset="0"/>
              </a:rPr>
              <a:t>11-7 </a:t>
            </a:r>
            <a:r>
              <a:rPr kumimoji="0" lang="zh-CN" altLang="en-US" sz="2000" b="0" kern="0" dirty="0">
                <a:solidFill>
                  <a:schemeClr val="tx1"/>
                </a:solidFill>
                <a:latin typeface="Arial" pitchFamily="34" charset="0"/>
                <a:ea typeface="微软雅黑" pitchFamily="34" charset="-122"/>
                <a:cs typeface="Arial" pitchFamily="34" charset="0"/>
              </a:rPr>
              <a:t>给出了码长</a:t>
            </a:r>
            <a:r>
              <a:rPr kumimoji="0" lang="en-US" altLang="zh-CN" sz="2000" i="1" kern="0" dirty="0">
                <a:solidFill>
                  <a:schemeClr val="tx1"/>
                </a:solidFill>
                <a:latin typeface="Arial" pitchFamily="34" charset="0"/>
                <a:ea typeface="微软雅黑" pitchFamily="34" charset="-122"/>
                <a:cs typeface="Arial" pitchFamily="34" charset="0"/>
              </a:rPr>
              <a:t>n </a:t>
            </a:r>
            <a:r>
              <a:rPr kumimoji="0" lang="en-US" altLang="zh-CN" sz="2000" kern="0" dirty="0">
                <a:solidFill>
                  <a:schemeClr val="tx1"/>
                </a:solidFill>
                <a:latin typeface="Arial" pitchFamily="34" charset="0"/>
                <a:ea typeface="微软雅黑" pitchFamily="34" charset="-122"/>
                <a:cs typeface="Arial" pitchFamily="34" charset="0"/>
                <a:sym typeface="Symbol" pitchFamily="18" charset="2"/>
              </a:rPr>
              <a:t></a:t>
            </a:r>
            <a:r>
              <a:rPr kumimoji="0" lang="en-US" altLang="zh-CN" sz="2000" kern="0" dirty="0">
                <a:solidFill>
                  <a:schemeClr val="tx1"/>
                </a:solidFill>
                <a:latin typeface="Arial" pitchFamily="34" charset="0"/>
                <a:ea typeface="微软雅黑" pitchFamily="34" charset="-122"/>
                <a:cs typeface="Arial" pitchFamily="34" charset="0"/>
              </a:rPr>
              <a:t> 127</a:t>
            </a:r>
            <a:r>
              <a:rPr kumimoji="0" lang="zh-CN" altLang="en-US" sz="2000" b="0" kern="0" dirty="0">
                <a:solidFill>
                  <a:schemeClr val="tx1"/>
                </a:solidFill>
                <a:latin typeface="Arial" pitchFamily="34" charset="0"/>
                <a:ea typeface="微软雅黑" pitchFamily="34" charset="-122"/>
                <a:cs typeface="Arial" pitchFamily="34" charset="0"/>
              </a:rPr>
              <a:t>的二进制本原</a:t>
            </a:r>
            <a:r>
              <a:rPr kumimoji="0" lang="en-US" altLang="zh-CN" sz="2000" b="0" kern="0" dirty="0">
                <a:solidFill>
                  <a:schemeClr val="tx1"/>
                </a:solidFill>
                <a:latin typeface="Arial" pitchFamily="34" charset="0"/>
                <a:ea typeface="微软雅黑" pitchFamily="34" charset="-122"/>
                <a:cs typeface="Arial" pitchFamily="34" charset="0"/>
              </a:rPr>
              <a:t>BCH</a:t>
            </a:r>
            <a:r>
              <a:rPr kumimoji="0" lang="zh-CN" altLang="en-US" sz="2000" b="0" kern="0" dirty="0">
                <a:solidFill>
                  <a:schemeClr val="tx1"/>
                </a:solidFill>
                <a:latin typeface="Arial" pitchFamily="34" charset="0"/>
                <a:ea typeface="微软雅黑" pitchFamily="34" charset="-122"/>
                <a:cs typeface="Arial" pitchFamily="34" charset="0"/>
              </a:rPr>
              <a:t>码生成多项式。</a:t>
            </a:r>
          </a:p>
          <a:p>
            <a:pPr marL="228600" indent="-228600">
              <a:lnSpc>
                <a:spcPct val="120000"/>
              </a:lnSpc>
              <a:spcBef>
                <a:spcPct val="20000"/>
              </a:spcBef>
              <a:buClr>
                <a:srgbClr val="0000CC"/>
              </a:buClr>
              <a:buSzPct val="65000"/>
              <a:buFont typeface="Wingdings" pitchFamily="2" charset="2"/>
              <a:buChar char="u"/>
              <a:defRPr/>
            </a:pPr>
            <a:endParaRPr kumimoji="0" lang="zh-CN" altLang="en-US" sz="2000" b="0" kern="0" dirty="0">
              <a:solidFill>
                <a:schemeClr val="tx1"/>
              </a:solidFill>
              <a:latin typeface="Arial" pitchFamily="34" charset="0"/>
              <a:ea typeface="微软雅黑" pitchFamily="34" charset="-122"/>
              <a:cs typeface="Arial" pitchFamily="34" charset="0"/>
            </a:endParaRPr>
          </a:p>
          <a:p>
            <a:pPr marL="228600" indent="-228600">
              <a:lnSpc>
                <a:spcPct val="120000"/>
              </a:lnSpc>
              <a:spcBef>
                <a:spcPct val="20000"/>
              </a:spcBef>
              <a:buClr>
                <a:srgbClr val="0000CC"/>
              </a:buClr>
              <a:buSzPct val="65000"/>
              <a:buFont typeface="Wingdings" pitchFamily="2" charset="2"/>
              <a:buChar char="u"/>
              <a:defRPr/>
            </a:pPr>
            <a:endParaRPr kumimoji="0" lang="zh-CN" altLang="en-US" sz="2000" b="0" kern="0" dirty="0">
              <a:solidFill>
                <a:schemeClr val="tx1"/>
              </a:solidFill>
              <a:latin typeface="Arial" pitchFamily="34" charset="0"/>
              <a:ea typeface="微软雅黑" pitchFamily="34" charset="-122"/>
              <a:cs typeface="Arial" pitchFamily="34" charset="0"/>
            </a:endParaRPr>
          </a:p>
        </p:txBody>
      </p:sp>
      <p:pic>
        <p:nvPicPr>
          <p:cNvPr id="112647" name="Picture 7">
            <a:extLst>
              <a:ext uri="{FF2B5EF4-FFF2-40B4-BE49-F238E27FC236}">
                <a16:creationId xmlns:a16="http://schemas.microsoft.com/office/drawing/2014/main" id="{4035B3AE-5616-1F28-9846-685FA4C73D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31438"/>
          <a:stretch>
            <a:fillRect/>
          </a:stretch>
        </p:blipFill>
        <p:spPr bwMode="auto">
          <a:xfrm>
            <a:off x="928688" y="1017588"/>
            <a:ext cx="7786687" cy="164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12647"/>
                                        </p:tgtEl>
                                        <p:attrNameLst>
                                          <p:attrName>style.visibility</p:attrName>
                                        </p:attrNameLst>
                                      </p:cBhvr>
                                      <p:to>
                                        <p:strVal val="visible"/>
                                      </p:to>
                                    </p:set>
                                    <p:animEffect transition="in" filter="wipe(up)">
                                      <p:cBhvr>
                                        <p:cTn id="7" dur="1000"/>
                                        <p:tgtEl>
                                          <p:spTgt spid="1126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10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10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up)">
                                      <p:cBhvr>
                                        <p:cTn id="22"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8" name="Picture 2">
            <a:extLst>
              <a:ext uri="{FF2B5EF4-FFF2-40B4-BE49-F238E27FC236}">
                <a16:creationId xmlns:a16="http://schemas.microsoft.com/office/drawing/2014/main" id="{75696A18-88E8-83CC-33EB-4373CA9B74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513" y="1714500"/>
            <a:ext cx="7956550" cy="47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19" name="Picture 4">
            <a:extLst>
              <a:ext uri="{FF2B5EF4-FFF2-40B4-BE49-F238E27FC236}">
                <a16:creationId xmlns:a16="http://schemas.microsoft.com/office/drawing/2014/main" id="{61524AB3-BC56-2935-7029-1FCDD144B5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313" y="1123950"/>
            <a:ext cx="8858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2" name="Picture 2">
            <a:extLst>
              <a:ext uri="{FF2B5EF4-FFF2-40B4-BE49-F238E27FC236}">
                <a16:creationId xmlns:a16="http://schemas.microsoft.com/office/drawing/2014/main" id="{C7DDC907-1777-912C-2EC7-BDD69F25D2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313" y="500063"/>
            <a:ext cx="8631237" cy="592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9">
            <a:extLst>
              <a:ext uri="{FF2B5EF4-FFF2-40B4-BE49-F238E27FC236}">
                <a16:creationId xmlns:a16="http://schemas.microsoft.com/office/drawing/2014/main" id="{C1FF5472-A7F8-9DD0-ECA4-02BD1FE2B7DF}"/>
              </a:ext>
            </a:extLst>
          </p:cNvPr>
          <p:cNvSpPr>
            <a:spLocks noChangeArrowheads="1"/>
          </p:cNvSpPr>
          <p:nvPr/>
        </p:nvSpPr>
        <p:spPr bwMode="auto">
          <a:xfrm>
            <a:off x="1866900" y="2698750"/>
            <a:ext cx="64135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aphicFrame>
        <p:nvGraphicFramePr>
          <p:cNvPr id="102507" name="Group 107">
            <a:extLst>
              <a:ext uri="{FF2B5EF4-FFF2-40B4-BE49-F238E27FC236}">
                <a16:creationId xmlns:a16="http://schemas.microsoft.com/office/drawing/2014/main" id="{2255C54B-6895-A204-EB6C-2D6DCF569353}"/>
              </a:ext>
            </a:extLst>
          </p:cNvPr>
          <p:cNvGraphicFramePr>
            <a:graphicFrameLocks noGrp="1"/>
          </p:cNvGraphicFramePr>
          <p:nvPr/>
        </p:nvGraphicFramePr>
        <p:xfrm>
          <a:off x="642938" y="2873375"/>
          <a:ext cx="7643812" cy="2011363"/>
        </p:xfrm>
        <a:graphic>
          <a:graphicData uri="http://schemas.openxmlformats.org/drawingml/2006/table">
            <a:tbl>
              <a:tblPr/>
              <a:tblGrid>
                <a:gridCol w="785532">
                  <a:extLst>
                    <a:ext uri="{9D8B030D-6E8A-4147-A177-3AD203B41FA5}">
                      <a16:colId xmlns:a16="http://schemas.microsoft.com/office/drawing/2014/main" val="20000"/>
                    </a:ext>
                  </a:extLst>
                </a:gridCol>
                <a:gridCol w="685828">
                  <a:extLst>
                    <a:ext uri="{9D8B030D-6E8A-4147-A177-3AD203B41FA5}">
                      <a16:colId xmlns:a16="http://schemas.microsoft.com/office/drawing/2014/main" val="20001"/>
                    </a:ext>
                  </a:extLst>
                </a:gridCol>
                <a:gridCol w="810524">
                  <a:extLst>
                    <a:ext uri="{9D8B030D-6E8A-4147-A177-3AD203B41FA5}">
                      <a16:colId xmlns:a16="http://schemas.microsoft.com/office/drawing/2014/main" val="20002"/>
                    </a:ext>
                  </a:extLst>
                </a:gridCol>
                <a:gridCol w="1173753">
                  <a:extLst>
                    <a:ext uri="{9D8B030D-6E8A-4147-A177-3AD203B41FA5}">
                      <a16:colId xmlns:a16="http://schemas.microsoft.com/office/drawing/2014/main" val="20003"/>
                    </a:ext>
                  </a:extLst>
                </a:gridCol>
                <a:gridCol w="829353">
                  <a:extLst>
                    <a:ext uri="{9D8B030D-6E8A-4147-A177-3AD203B41FA5}">
                      <a16:colId xmlns:a16="http://schemas.microsoft.com/office/drawing/2014/main" val="20004"/>
                    </a:ext>
                  </a:extLst>
                </a:gridCol>
                <a:gridCol w="829353">
                  <a:extLst>
                    <a:ext uri="{9D8B030D-6E8A-4147-A177-3AD203B41FA5}">
                      <a16:colId xmlns:a16="http://schemas.microsoft.com/office/drawing/2014/main" val="20005"/>
                    </a:ext>
                  </a:extLst>
                </a:gridCol>
                <a:gridCol w="829353">
                  <a:extLst>
                    <a:ext uri="{9D8B030D-6E8A-4147-A177-3AD203B41FA5}">
                      <a16:colId xmlns:a16="http://schemas.microsoft.com/office/drawing/2014/main" val="20006"/>
                    </a:ext>
                  </a:extLst>
                </a:gridCol>
                <a:gridCol w="1700116">
                  <a:extLst>
                    <a:ext uri="{9D8B030D-6E8A-4147-A177-3AD203B41FA5}">
                      <a16:colId xmlns:a16="http://schemas.microsoft.com/office/drawing/2014/main" val="20007"/>
                    </a:ext>
                  </a:extLst>
                </a:gridCol>
              </a:tblGrid>
              <a:tr h="39617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n</a:t>
                      </a:r>
                      <a:endParaRPr kumimoji="0" lang="en-US" altLang="zh-CN" sz="3200" b="0"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L="91439" marR="91439"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chemeClr val="tx1"/>
                          </a:solidFill>
                          <a:effectLst/>
                          <a:latin typeface="Times New Roman" pitchFamily="18" charset="0"/>
                          <a:ea typeface="宋体" pitchFamily="2" charset="-122"/>
                          <a:cs typeface="Times New Roman" pitchFamily="18" charset="0"/>
                        </a:rPr>
                        <a:t>k</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39" marR="91439"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chemeClr val="tx1"/>
                          </a:solidFill>
                          <a:effectLst/>
                          <a:latin typeface="Times New Roman" pitchFamily="18" charset="0"/>
                          <a:ea typeface="宋体" pitchFamily="2" charset="-122"/>
                          <a:cs typeface="Times New Roman" pitchFamily="18" charset="0"/>
                        </a:rPr>
                        <a:t>t</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39" marR="91439"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chemeClr val="tx1"/>
                          </a:solidFill>
                          <a:effectLst/>
                          <a:latin typeface="Times New Roman" pitchFamily="18" charset="0"/>
                          <a:ea typeface="宋体" pitchFamily="2" charset="-122"/>
                          <a:cs typeface="Times New Roman" pitchFamily="18" charset="0"/>
                        </a:rPr>
                        <a:t>g</a:t>
                      </a: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1" u="none" strike="noStrike" cap="none" normalizeH="0" baseline="0">
                          <a:ln>
                            <a:noFill/>
                          </a:ln>
                          <a:solidFill>
                            <a:schemeClr val="tx1"/>
                          </a:solidFill>
                          <a:effectLst/>
                          <a:latin typeface="Times New Roman" pitchFamily="18" charset="0"/>
                          <a:ea typeface="宋体" pitchFamily="2" charset="-122"/>
                          <a:cs typeface="Times New Roman" pitchFamily="18" charset="0"/>
                        </a:rPr>
                        <a:t>x</a:t>
                      </a: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39" marR="91439"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chemeClr val="tx1"/>
                          </a:solidFill>
                          <a:effectLst/>
                          <a:latin typeface="Times New Roman" pitchFamily="18" charset="0"/>
                          <a:ea typeface="宋体" pitchFamily="2" charset="-122"/>
                          <a:cs typeface="Times New Roman" pitchFamily="18" charset="0"/>
                        </a:rPr>
                        <a:t>n</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39" marR="91439"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chemeClr val="tx1"/>
                          </a:solidFill>
                          <a:effectLst/>
                          <a:latin typeface="Times New Roman" pitchFamily="18" charset="0"/>
                          <a:ea typeface="宋体" pitchFamily="2" charset="-122"/>
                          <a:cs typeface="Times New Roman" pitchFamily="18" charset="0"/>
                        </a:rPr>
                        <a:t>k</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39" marR="91439"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chemeClr val="tx1"/>
                          </a:solidFill>
                          <a:effectLst/>
                          <a:latin typeface="Times New Roman" pitchFamily="18" charset="0"/>
                          <a:ea typeface="宋体" pitchFamily="2" charset="-122"/>
                          <a:cs typeface="Times New Roman" pitchFamily="18" charset="0"/>
                        </a:rPr>
                        <a:t>t</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39" marR="91439"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chemeClr val="tx1"/>
                          </a:solidFill>
                          <a:effectLst/>
                          <a:latin typeface="Times New Roman" pitchFamily="18" charset="0"/>
                          <a:ea typeface="宋体" pitchFamily="2" charset="-122"/>
                          <a:cs typeface="Times New Roman" pitchFamily="18" charset="0"/>
                        </a:rPr>
                        <a:t>g</a:t>
                      </a: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2000" b="0" i="1" u="none" strike="noStrike" cap="none" normalizeH="0" baseline="0">
                          <a:ln>
                            <a:noFill/>
                          </a:ln>
                          <a:solidFill>
                            <a:schemeClr val="tx1"/>
                          </a:solidFill>
                          <a:effectLst/>
                          <a:latin typeface="Times New Roman" pitchFamily="18" charset="0"/>
                          <a:ea typeface="宋体" pitchFamily="2" charset="-122"/>
                          <a:cs typeface="Times New Roman" pitchFamily="18" charset="0"/>
                        </a:rPr>
                        <a:t>x</a:t>
                      </a: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39" marR="91439"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161518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17</a:t>
                      </a:r>
                      <a:endPar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21</a:t>
                      </a:r>
                      <a:endPar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23</a:t>
                      </a:r>
                      <a:endParaRPr kumimoji="0" lang="en-US" altLang="zh-CN" sz="18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33</a:t>
                      </a:r>
                      <a:endPar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41</a:t>
                      </a:r>
                      <a:endParaRPr kumimoji="0" lang="en-US" altLang="zh-CN" sz="3200" b="0"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L="91439" marR="91439"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9</a:t>
                      </a:r>
                      <a:endPar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12</a:t>
                      </a:r>
                      <a:endPar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12</a:t>
                      </a:r>
                      <a:endParaRPr kumimoji="0" lang="en-US" altLang="zh-CN" sz="18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22</a:t>
                      </a:r>
                      <a:endPar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21</a:t>
                      </a:r>
                      <a:endParaRPr kumimoji="0" lang="en-US" altLang="zh-CN" sz="3200" b="0"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L="91439" marR="91439"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a:t>
                      </a:r>
                      <a:endPar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a:t>
                      </a:r>
                      <a:endPar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3</a:t>
                      </a:r>
                      <a:endParaRPr kumimoji="0" lang="en-US" altLang="zh-CN" sz="18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a:t>
                      </a:r>
                      <a:endPar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4</a:t>
                      </a:r>
                      <a:endParaRPr kumimoji="0" lang="en-US" altLang="zh-CN" sz="3200" b="0"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L="91439" marR="91439"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727</a:t>
                      </a:r>
                      <a:endPar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1663</a:t>
                      </a:r>
                      <a:endPar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5343</a:t>
                      </a:r>
                      <a:endParaRPr kumimoji="0" lang="en-US" altLang="zh-CN" sz="18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5145</a:t>
                      </a:r>
                      <a:endPar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6647133</a:t>
                      </a:r>
                      <a:endParaRPr kumimoji="0" lang="en-US" altLang="zh-CN" sz="3200" b="0"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L="91439" marR="91439"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47</a:t>
                      </a:r>
                      <a:endPar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65</a:t>
                      </a:r>
                      <a:endPar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65</a:t>
                      </a:r>
                      <a:endPar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73</a:t>
                      </a:r>
                      <a:endParaRPr kumimoji="0" lang="en-US" altLang="zh-CN" sz="3200" b="0"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L="91439" marR="91439"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24</a:t>
                      </a:r>
                      <a:endPar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53</a:t>
                      </a:r>
                      <a:endPar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40</a:t>
                      </a:r>
                      <a:endPar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46</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39" marR="91439"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a:t>
                      </a:r>
                      <a:endPar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endPar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0" lang="en-US" altLang="zh-CN" sz="3200" b="0"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39" marR="91439"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43073357</a:t>
                      </a:r>
                      <a:endPar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10761</a:t>
                      </a:r>
                      <a:endPar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354300067</a:t>
                      </a:r>
                      <a:endPar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1717773537</a:t>
                      </a:r>
                      <a:endParaRPr kumimoji="0" lang="en-US" altLang="zh-CN" sz="3200" b="0"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L="91439" marR="91439"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bl>
          </a:graphicData>
        </a:graphic>
      </p:graphicFrame>
      <p:sp>
        <p:nvSpPr>
          <p:cNvPr id="11" name="矩形 10">
            <a:extLst>
              <a:ext uri="{FF2B5EF4-FFF2-40B4-BE49-F238E27FC236}">
                <a16:creationId xmlns:a16="http://schemas.microsoft.com/office/drawing/2014/main" id="{05BB2501-81EB-478B-E658-0A0360D6ED3E}"/>
              </a:ext>
            </a:extLst>
          </p:cNvPr>
          <p:cNvSpPr/>
          <p:nvPr/>
        </p:nvSpPr>
        <p:spPr>
          <a:xfrm>
            <a:off x="571500" y="5000625"/>
            <a:ext cx="7858125" cy="1323975"/>
          </a:xfrm>
          <a:prstGeom prst="rect">
            <a:avLst/>
          </a:prstGeom>
        </p:spPr>
        <p:txBody>
          <a:bodyPr>
            <a:spAutoFit/>
          </a:bodyPr>
          <a:lstStyle/>
          <a:p>
            <a:pPr>
              <a:lnSpc>
                <a:spcPts val="3200"/>
              </a:lnSpc>
              <a:defRPr/>
            </a:pPr>
            <a:r>
              <a:rPr kumimoji="0" lang="zh-CN" altLang="en-US" sz="2000" b="0" kern="0" dirty="0">
                <a:solidFill>
                  <a:srgbClr val="000000"/>
                </a:solidFill>
                <a:latin typeface="Arial" pitchFamily="34" charset="0"/>
                <a:ea typeface="微软雅黑" pitchFamily="34" charset="-122"/>
                <a:cs typeface="Arial" pitchFamily="34" charset="0"/>
              </a:rPr>
              <a:t>在上表中的</a:t>
            </a:r>
            <a:r>
              <a:rPr kumimoji="0" lang="en-US" altLang="zh-CN" sz="2000" b="0" kern="0" dirty="0">
                <a:solidFill>
                  <a:srgbClr val="000000"/>
                </a:solidFill>
                <a:latin typeface="Arial" pitchFamily="34" charset="0"/>
                <a:ea typeface="微软雅黑" pitchFamily="34" charset="-122"/>
                <a:cs typeface="Arial" pitchFamily="34" charset="0"/>
              </a:rPr>
              <a:t>(</a:t>
            </a:r>
            <a:r>
              <a:rPr kumimoji="0" lang="en-US" altLang="zh-CN" sz="2000" b="0" kern="0" dirty="0">
                <a:solidFill>
                  <a:srgbClr val="FF0000"/>
                </a:solidFill>
                <a:latin typeface="Arial" pitchFamily="34" charset="0"/>
                <a:ea typeface="微软雅黑" pitchFamily="34" charset="-122"/>
                <a:cs typeface="Arial" pitchFamily="34" charset="0"/>
              </a:rPr>
              <a:t>23, 12)</a:t>
            </a:r>
            <a:r>
              <a:rPr kumimoji="0" lang="zh-CN" altLang="en-US" sz="2000" b="0" kern="0" dirty="0">
                <a:solidFill>
                  <a:srgbClr val="000000"/>
                </a:solidFill>
                <a:latin typeface="Arial" pitchFamily="34" charset="0"/>
                <a:ea typeface="微软雅黑" pitchFamily="34" charset="-122"/>
                <a:cs typeface="Arial" pitchFamily="34" charset="0"/>
              </a:rPr>
              <a:t>码称为</a:t>
            </a:r>
            <a:r>
              <a:rPr kumimoji="0" lang="zh-CN" altLang="en-US" sz="2000" kern="0" dirty="0">
                <a:solidFill>
                  <a:srgbClr val="FF0000"/>
                </a:solidFill>
                <a:latin typeface="Arial" pitchFamily="34" charset="0"/>
                <a:ea typeface="微软雅黑" pitchFamily="34" charset="-122"/>
                <a:cs typeface="Arial" pitchFamily="34" charset="0"/>
              </a:rPr>
              <a:t>戈莱</a:t>
            </a:r>
            <a:r>
              <a:rPr kumimoji="0" lang="en-US" altLang="zh-CN" sz="2000" kern="0" dirty="0">
                <a:solidFill>
                  <a:srgbClr val="000000"/>
                </a:solidFill>
                <a:latin typeface="Arial" pitchFamily="34" charset="0"/>
                <a:ea typeface="微软雅黑" pitchFamily="34" charset="-122"/>
                <a:cs typeface="Arial" pitchFamily="34" charset="0"/>
              </a:rPr>
              <a:t>(</a:t>
            </a:r>
            <a:r>
              <a:rPr kumimoji="0" lang="en-US" altLang="zh-CN" sz="2000" b="0" kern="0" dirty="0" err="1">
                <a:solidFill>
                  <a:srgbClr val="000000"/>
                </a:solidFill>
                <a:latin typeface="Arial" pitchFamily="34" charset="0"/>
                <a:ea typeface="微软雅黑" pitchFamily="34" charset="-122"/>
                <a:cs typeface="Arial" pitchFamily="34" charset="0"/>
              </a:rPr>
              <a:t>Golay</a:t>
            </a:r>
            <a:r>
              <a:rPr kumimoji="0" lang="en-US" altLang="zh-CN" sz="2000" b="0" kern="0" dirty="0">
                <a:solidFill>
                  <a:srgbClr val="000000"/>
                </a:solidFill>
                <a:latin typeface="Arial" pitchFamily="34" charset="0"/>
                <a:ea typeface="微软雅黑" pitchFamily="34" charset="-122"/>
                <a:cs typeface="Arial" pitchFamily="34" charset="0"/>
              </a:rPr>
              <a:t>)</a:t>
            </a:r>
            <a:r>
              <a:rPr kumimoji="0" lang="zh-CN" altLang="en-US" sz="2000" kern="0" dirty="0">
                <a:solidFill>
                  <a:srgbClr val="FF0000"/>
                </a:solidFill>
                <a:latin typeface="Arial" pitchFamily="34" charset="0"/>
                <a:ea typeface="微软雅黑" pitchFamily="34" charset="-122"/>
                <a:cs typeface="Arial" pitchFamily="34" charset="0"/>
              </a:rPr>
              <a:t>码</a:t>
            </a:r>
            <a:r>
              <a:rPr kumimoji="0" lang="zh-CN" altLang="en-US" sz="2000" b="0" kern="0" dirty="0">
                <a:solidFill>
                  <a:srgbClr val="000000"/>
                </a:solidFill>
                <a:latin typeface="Arial" pitchFamily="34" charset="0"/>
                <a:ea typeface="微软雅黑" pitchFamily="34" charset="-122"/>
                <a:cs typeface="Arial" pitchFamily="34" charset="0"/>
              </a:rPr>
              <a:t>。其最小码距为</a:t>
            </a:r>
            <a:r>
              <a:rPr kumimoji="0" lang="en-US" altLang="zh-CN" sz="2000" b="0" kern="0" dirty="0">
                <a:solidFill>
                  <a:srgbClr val="000000"/>
                </a:solidFill>
                <a:latin typeface="Arial" pitchFamily="34" charset="0"/>
                <a:ea typeface="微软雅黑" pitchFamily="34" charset="-122"/>
                <a:cs typeface="Arial" pitchFamily="34" charset="0"/>
              </a:rPr>
              <a:t>7</a:t>
            </a:r>
            <a:r>
              <a:rPr kumimoji="0" lang="zh-CN" altLang="en-US" sz="2000" b="0" kern="0" dirty="0">
                <a:solidFill>
                  <a:srgbClr val="000000"/>
                </a:solidFill>
                <a:latin typeface="Arial" pitchFamily="34" charset="0"/>
                <a:ea typeface="微软雅黑" pitchFamily="34" charset="-122"/>
                <a:cs typeface="Arial" pitchFamily="34" charset="0"/>
              </a:rPr>
              <a:t>，能纠</a:t>
            </a:r>
            <a:r>
              <a:rPr kumimoji="0" lang="en-US" altLang="zh-CN" sz="2000" b="0" kern="0" dirty="0">
                <a:solidFill>
                  <a:srgbClr val="000000"/>
                </a:solidFill>
                <a:latin typeface="Arial" pitchFamily="34" charset="0"/>
                <a:ea typeface="微软雅黑" pitchFamily="34" charset="-122"/>
                <a:cs typeface="Arial" pitchFamily="34" charset="0"/>
              </a:rPr>
              <a:t>3</a:t>
            </a:r>
            <a:r>
              <a:rPr kumimoji="0" lang="zh-CN" altLang="en-US" sz="2000" b="0" kern="0" dirty="0">
                <a:solidFill>
                  <a:srgbClr val="000000"/>
                </a:solidFill>
                <a:latin typeface="Arial" pitchFamily="34" charset="0"/>
                <a:ea typeface="微软雅黑" pitchFamily="34" charset="-122"/>
                <a:cs typeface="Arial" pitchFamily="34" charset="0"/>
              </a:rPr>
              <a:t>个随机错码；其生成多项式系数  </a:t>
            </a:r>
            <a:r>
              <a:rPr lang="en-US" altLang="zh-CN" sz="2000" dirty="0">
                <a:solidFill>
                  <a:schemeClr val="tx1"/>
                </a:solidFill>
                <a:latin typeface="Arial" pitchFamily="34" charset="0"/>
                <a:ea typeface="微软雅黑" pitchFamily="34" charset="-122"/>
                <a:cs typeface="Arial" pitchFamily="34" charset="0"/>
              </a:rPr>
              <a:t>(5343)</a:t>
            </a:r>
            <a:r>
              <a:rPr lang="en-US" altLang="zh-CN" sz="2000" baseline="-25000" dirty="0">
                <a:solidFill>
                  <a:schemeClr val="tx1"/>
                </a:solidFill>
                <a:latin typeface="Arial" pitchFamily="34" charset="0"/>
                <a:ea typeface="微软雅黑" pitchFamily="34" charset="-122"/>
                <a:cs typeface="Arial" pitchFamily="34" charset="0"/>
              </a:rPr>
              <a:t>8</a:t>
            </a:r>
            <a:r>
              <a:rPr lang="en-US" altLang="zh-CN" sz="2000" dirty="0">
                <a:solidFill>
                  <a:schemeClr val="tx1"/>
                </a:solidFill>
                <a:latin typeface="Arial" pitchFamily="34" charset="0"/>
                <a:ea typeface="微软雅黑" pitchFamily="34" charset="-122"/>
                <a:cs typeface="Arial" pitchFamily="34" charset="0"/>
              </a:rPr>
              <a:t> = (101 011 100 011)</a:t>
            </a:r>
            <a:r>
              <a:rPr lang="en-US" altLang="zh-CN" sz="2000" baseline="-25000" dirty="0">
                <a:solidFill>
                  <a:schemeClr val="tx1"/>
                </a:solidFill>
                <a:latin typeface="Arial" pitchFamily="34" charset="0"/>
                <a:ea typeface="微软雅黑" pitchFamily="34" charset="-122"/>
                <a:cs typeface="Arial" pitchFamily="34" charset="0"/>
              </a:rPr>
              <a:t>2</a:t>
            </a:r>
            <a:r>
              <a:rPr lang="zh-CN" altLang="en-US" sz="2000" baseline="-25000" dirty="0">
                <a:solidFill>
                  <a:schemeClr val="tx1"/>
                </a:solidFill>
                <a:latin typeface="Arial" pitchFamily="34" charset="0"/>
                <a:ea typeface="微软雅黑" pitchFamily="34" charset="-122"/>
                <a:cs typeface="Arial" pitchFamily="34" charset="0"/>
              </a:rPr>
              <a:t>，</a:t>
            </a:r>
            <a:r>
              <a:rPr kumimoji="0" lang="zh-CN" altLang="en-US" sz="2000" b="0" kern="0" dirty="0">
                <a:solidFill>
                  <a:srgbClr val="000000"/>
                </a:solidFill>
                <a:latin typeface="Arial" pitchFamily="34" charset="0"/>
                <a:ea typeface="微软雅黑" pitchFamily="34" charset="-122"/>
                <a:cs typeface="Arial" pitchFamily="34" charset="0"/>
              </a:rPr>
              <a:t>对应</a:t>
            </a:r>
            <a:endParaRPr kumimoji="0" lang="en-US" altLang="zh-CN" sz="2000" b="0" kern="0" dirty="0">
              <a:solidFill>
                <a:srgbClr val="000000"/>
              </a:solidFill>
              <a:latin typeface="Arial" pitchFamily="34" charset="0"/>
              <a:ea typeface="微软雅黑" pitchFamily="34" charset="-122"/>
              <a:cs typeface="Arial" pitchFamily="34" charset="0"/>
            </a:endParaRPr>
          </a:p>
          <a:p>
            <a:pPr>
              <a:lnSpc>
                <a:spcPts val="3200"/>
              </a:lnSpc>
              <a:defRPr/>
            </a:pPr>
            <a:r>
              <a:rPr lang="en-US" altLang="zh-CN" sz="2000" i="1" dirty="0">
                <a:solidFill>
                  <a:schemeClr val="tx1"/>
                </a:solidFill>
                <a:latin typeface="Arial" pitchFamily="34" charset="0"/>
                <a:ea typeface="微软雅黑" pitchFamily="34" charset="-122"/>
                <a:cs typeface="Arial" pitchFamily="34" charset="0"/>
              </a:rPr>
              <a:t>g</a:t>
            </a:r>
            <a:r>
              <a:rPr lang="en-US" altLang="zh-CN" sz="2000" dirty="0">
                <a:solidFill>
                  <a:schemeClr val="tx1"/>
                </a:solidFill>
                <a:latin typeface="Arial" pitchFamily="34" charset="0"/>
                <a:ea typeface="微软雅黑" pitchFamily="34" charset="-122"/>
                <a:cs typeface="Arial" pitchFamily="34" charset="0"/>
              </a:rPr>
              <a:t>(</a:t>
            </a:r>
            <a:r>
              <a:rPr lang="en-US" altLang="zh-CN" sz="2000" i="1" dirty="0">
                <a:solidFill>
                  <a:schemeClr val="tx1"/>
                </a:solidFill>
                <a:latin typeface="Arial" pitchFamily="34" charset="0"/>
                <a:ea typeface="微软雅黑" pitchFamily="34" charset="-122"/>
                <a:cs typeface="Arial" pitchFamily="34" charset="0"/>
              </a:rPr>
              <a:t>x</a:t>
            </a:r>
            <a:r>
              <a:rPr lang="en-US" altLang="zh-CN" sz="2000" dirty="0">
                <a:solidFill>
                  <a:schemeClr val="tx1"/>
                </a:solidFill>
                <a:latin typeface="Arial" pitchFamily="34" charset="0"/>
                <a:ea typeface="微软雅黑" pitchFamily="34" charset="-122"/>
                <a:cs typeface="Arial" pitchFamily="34" charset="0"/>
              </a:rPr>
              <a:t>) = </a:t>
            </a:r>
            <a:r>
              <a:rPr lang="en-US" altLang="zh-CN" sz="2000" i="1" dirty="0">
                <a:solidFill>
                  <a:schemeClr val="tx1"/>
                </a:solidFill>
                <a:latin typeface="Arial" pitchFamily="34" charset="0"/>
                <a:ea typeface="微软雅黑" pitchFamily="34" charset="-122"/>
                <a:cs typeface="Arial" pitchFamily="34" charset="0"/>
              </a:rPr>
              <a:t>x</a:t>
            </a:r>
            <a:r>
              <a:rPr lang="en-US" altLang="zh-CN" sz="2000" baseline="30000" dirty="0">
                <a:solidFill>
                  <a:schemeClr val="tx1"/>
                </a:solidFill>
                <a:latin typeface="Arial" pitchFamily="34" charset="0"/>
                <a:ea typeface="微软雅黑" pitchFamily="34" charset="-122"/>
                <a:cs typeface="Arial" pitchFamily="34" charset="0"/>
              </a:rPr>
              <a:t>11</a:t>
            </a:r>
            <a:r>
              <a:rPr lang="en-US" altLang="zh-CN" sz="2000" dirty="0">
                <a:solidFill>
                  <a:schemeClr val="tx1"/>
                </a:solidFill>
                <a:latin typeface="Arial" pitchFamily="34" charset="0"/>
                <a:ea typeface="微软雅黑" pitchFamily="34" charset="-122"/>
                <a:cs typeface="Arial" pitchFamily="34" charset="0"/>
              </a:rPr>
              <a:t> +</a:t>
            </a:r>
            <a:r>
              <a:rPr lang="en-US" altLang="zh-CN" sz="2000" i="1" dirty="0">
                <a:solidFill>
                  <a:schemeClr val="tx1"/>
                </a:solidFill>
                <a:latin typeface="Arial" pitchFamily="34" charset="0"/>
                <a:ea typeface="微软雅黑" pitchFamily="34" charset="-122"/>
                <a:cs typeface="Arial" pitchFamily="34" charset="0"/>
              </a:rPr>
              <a:t> x</a:t>
            </a:r>
            <a:r>
              <a:rPr lang="en-US" altLang="zh-CN" sz="2000" baseline="30000" dirty="0">
                <a:solidFill>
                  <a:schemeClr val="tx1"/>
                </a:solidFill>
                <a:latin typeface="Arial" pitchFamily="34" charset="0"/>
                <a:ea typeface="微软雅黑" pitchFamily="34" charset="-122"/>
                <a:cs typeface="Arial" pitchFamily="34" charset="0"/>
              </a:rPr>
              <a:t>9</a:t>
            </a:r>
            <a:r>
              <a:rPr lang="en-US" altLang="zh-CN" sz="2000" dirty="0">
                <a:solidFill>
                  <a:schemeClr val="tx1"/>
                </a:solidFill>
                <a:latin typeface="Arial" pitchFamily="34" charset="0"/>
                <a:ea typeface="微软雅黑" pitchFamily="34" charset="-122"/>
                <a:cs typeface="Arial" pitchFamily="34" charset="0"/>
              </a:rPr>
              <a:t> +</a:t>
            </a:r>
            <a:r>
              <a:rPr lang="en-US" altLang="zh-CN" sz="2000" i="1" dirty="0">
                <a:solidFill>
                  <a:schemeClr val="tx1"/>
                </a:solidFill>
                <a:latin typeface="Arial" pitchFamily="34" charset="0"/>
                <a:ea typeface="微软雅黑" pitchFamily="34" charset="-122"/>
                <a:cs typeface="Arial" pitchFamily="34" charset="0"/>
              </a:rPr>
              <a:t> x</a:t>
            </a:r>
            <a:r>
              <a:rPr lang="en-US" altLang="zh-CN" sz="2000" i="1" baseline="30000" dirty="0">
                <a:solidFill>
                  <a:schemeClr val="tx1"/>
                </a:solidFill>
                <a:latin typeface="Arial" pitchFamily="34" charset="0"/>
                <a:ea typeface="微软雅黑" pitchFamily="34" charset="-122"/>
                <a:cs typeface="Arial" pitchFamily="34" charset="0"/>
              </a:rPr>
              <a:t>7</a:t>
            </a:r>
            <a:r>
              <a:rPr lang="en-US" altLang="zh-CN" sz="2000" dirty="0">
                <a:solidFill>
                  <a:schemeClr val="tx1"/>
                </a:solidFill>
                <a:latin typeface="Arial" pitchFamily="34" charset="0"/>
                <a:ea typeface="微软雅黑" pitchFamily="34" charset="-122"/>
                <a:cs typeface="Arial" pitchFamily="34" charset="0"/>
              </a:rPr>
              <a:t> +</a:t>
            </a:r>
            <a:r>
              <a:rPr lang="en-US" altLang="zh-CN" sz="2000" i="1" dirty="0">
                <a:solidFill>
                  <a:schemeClr val="tx1"/>
                </a:solidFill>
                <a:latin typeface="Arial" pitchFamily="34" charset="0"/>
                <a:ea typeface="微软雅黑" pitchFamily="34" charset="-122"/>
                <a:cs typeface="Arial" pitchFamily="34" charset="0"/>
              </a:rPr>
              <a:t> x</a:t>
            </a:r>
            <a:r>
              <a:rPr lang="en-US" altLang="zh-CN" sz="2000" i="1" baseline="30000" dirty="0">
                <a:solidFill>
                  <a:schemeClr val="tx1"/>
                </a:solidFill>
                <a:latin typeface="Arial" pitchFamily="34" charset="0"/>
                <a:ea typeface="微软雅黑" pitchFamily="34" charset="-122"/>
                <a:cs typeface="Arial" pitchFamily="34" charset="0"/>
              </a:rPr>
              <a:t>6</a:t>
            </a:r>
            <a:r>
              <a:rPr lang="en-US" altLang="zh-CN" sz="2000" dirty="0">
                <a:solidFill>
                  <a:schemeClr val="tx1"/>
                </a:solidFill>
                <a:latin typeface="Arial" pitchFamily="34" charset="0"/>
                <a:ea typeface="微软雅黑" pitchFamily="34" charset="-122"/>
                <a:cs typeface="Arial" pitchFamily="34" charset="0"/>
              </a:rPr>
              <a:t> +</a:t>
            </a:r>
            <a:r>
              <a:rPr lang="en-US" altLang="zh-CN" sz="2000" i="1" dirty="0">
                <a:solidFill>
                  <a:schemeClr val="tx1"/>
                </a:solidFill>
                <a:latin typeface="Arial" pitchFamily="34" charset="0"/>
                <a:ea typeface="微软雅黑" pitchFamily="34" charset="-122"/>
                <a:cs typeface="Arial" pitchFamily="34" charset="0"/>
              </a:rPr>
              <a:t> x</a:t>
            </a:r>
            <a:r>
              <a:rPr lang="en-US" altLang="zh-CN" sz="2000" i="1" baseline="30000" dirty="0">
                <a:solidFill>
                  <a:schemeClr val="tx1"/>
                </a:solidFill>
                <a:latin typeface="Arial" pitchFamily="34" charset="0"/>
                <a:ea typeface="微软雅黑" pitchFamily="34" charset="-122"/>
                <a:cs typeface="Arial" pitchFamily="34" charset="0"/>
              </a:rPr>
              <a:t>5</a:t>
            </a:r>
            <a:r>
              <a:rPr lang="en-US" altLang="zh-CN" sz="2000" dirty="0">
                <a:solidFill>
                  <a:schemeClr val="tx1"/>
                </a:solidFill>
                <a:latin typeface="Arial" pitchFamily="34" charset="0"/>
                <a:ea typeface="微软雅黑" pitchFamily="34" charset="-122"/>
                <a:cs typeface="Arial" pitchFamily="34" charset="0"/>
              </a:rPr>
              <a:t> + </a:t>
            </a:r>
            <a:r>
              <a:rPr lang="en-US" altLang="zh-CN" sz="2000" i="1" dirty="0">
                <a:solidFill>
                  <a:schemeClr val="tx1"/>
                </a:solidFill>
                <a:latin typeface="Arial" pitchFamily="34" charset="0"/>
                <a:ea typeface="微软雅黑" pitchFamily="34" charset="-122"/>
                <a:cs typeface="Arial" pitchFamily="34" charset="0"/>
              </a:rPr>
              <a:t>x</a:t>
            </a:r>
            <a:r>
              <a:rPr lang="en-US" altLang="zh-CN" sz="2000" dirty="0">
                <a:solidFill>
                  <a:schemeClr val="tx1"/>
                </a:solidFill>
                <a:latin typeface="Arial" pitchFamily="34" charset="0"/>
                <a:ea typeface="微软雅黑" pitchFamily="34" charset="-122"/>
                <a:cs typeface="Arial" pitchFamily="34" charset="0"/>
              </a:rPr>
              <a:t> + 1</a:t>
            </a:r>
            <a:r>
              <a:rPr lang="zh-CN" altLang="en-US" sz="2000" b="0" dirty="0">
                <a:solidFill>
                  <a:schemeClr val="tx1"/>
                </a:solidFill>
                <a:latin typeface="Arial" pitchFamily="34" charset="0"/>
                <a:ea typeface="微软雅黑" pitchFamily="34" charset="-122"/>
                <a:cs typeface="Arial" pitchFamily="34" charset="0"/>
              </a:rPr>
              <a:t>，</a:t>
            </a:r>
            <a:r>
              <a:rPr kumimoji="0" lang="zh-CN" altLang="en-US" sz="2000" b="0" kern="0" dirty="0">
                <a:solidFill>
                  <a:srgbClr val="000000"/>
                </a:solidFill>
                <a:latin typeface="Arial" pitchFamily="34" charset="0"/>
                <a:ea typeface="微软雅黑" pitchFamily="34" charset="-122"/>
                <a:cs typeface="Arial" pitchFamily="34" charset="0"/>
              </a:rPr>
              <a:t>且解码容易，实际应用较多。</a:t>
            </a:r>
            <a:endParaRPr lang="zh-CN" altLang="en-US" dirty="0"/>
          </a:p>
        </p:txBody>
      </p:sp>
      <p:pic>
        <p:nvPicPr>
          <p:cNvPr id="115748" name="Picture 36">
            <a:extLst>
              <a:ext uri="{FF2B5EF4-FFF2-40B4-BE49-F238E27FC236}">
                <a16:creationId xmlns:a16="http://schemas.microsoft.com/office/drawing/2014/main" id="{A6F61D24-9E20-5F48-1F10-9AAACC6F44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5933"/>
          <a:stretch>
            <a:fillRect/>
          </a:stretch>
        </p:blipFill>
        <p:spPr bwMode="auto">
          <a:xfrm>
            <a:off x="714375" y="1071563"/>
            <a:ext cx="7929563" cy="101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49" name="Picture 37">
            <a:extLst>
              <a:ext uri="{FF2B5EF4-FFF2-40B4-BE49-F238E27FC236}">
                <a16:creationId xmlns:a16="http://schemas.microsoft.com/office/drawing/2014/main" id="{07EDE085-02E5-65F9-EE49-BEFA766E09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25" y="2271713"/>
            <a:ext cx="7929563"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15748"/>
                                        </p:tgtEl>
                                        <p:attrNameLst>
                                          <p:attrName>style.visibility</p:attrName>
                                        </p:attrNameLst>
                                      </p:cBhvr>
                                      <p:to>
                                        <p:strVal val="visible"/>
                                      </p:to>
                                    </p:set>
                                    <p:animEffect transition="in" filter="wipe(up)">
                                      <p:cBhvr>
                                        <p:cTn id="7" dur="1000"/>
                                        <p:tgtEl>
                                          <p:spTgt spid="1157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15749"/>
                                        </p:tgtEl>
                                        <p:attrNameLst>
                                          <p:attrName>style.visibility</p:attrName>
                                        </p:attrNameLst>
                                      </p:cBhvr>
                                      <p:to>
                                        <p:strVal val="visible"/>
                                      </p:to>
                                    </p:set>
                                    <p:animEffect transition="in" filter="wipe(up)">
                                      <p:cBhvr>
                                        <p:cTn id="12" dur="1000"/>
                                        <p:tgtEl>
                                          <p:spTgt spid="11574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02507"/>
                                        </p:tgtEl>
                                        <p:attrNameLst>
                                          <p:attrName>style.visibility</p:attrName>
                                        </p:attrNameLst>
                                      </p:cBhvr>
                                      <p:to>
                                        <p:strVal val="visible"/>
                                      </p:to>
                                    </p:set>
                                    <p:animEffect transition="in" filter="wipe(up)">
                                      <p:cBhvr>
                                        <p:cTn id="17" dur="1000"/>
                                        <p:tgtEl>
                                          <p:spTgt spid="10250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up)">
                                      <p:cBhvr>
                                        <p:cTn id="22"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Rectangle 3">
            <a:extLst>
              <a:ext uri="{FF2B5EF4-FFF2-40B4-BE49-F238E27FC236}">
                <a16:creationId xmlns:a16="http://schemas.microsoft.com/office/drawing/2014/main" id="{99A12167-B46D-6821-B8B3-498331745AD6}"/>
              </a:ext>
            </a:extLst>
          </p:cNvPr>
          <p:cNvSpPr>
            <a:spLocks noGrp="1" noChangeArrowheads="1"/>
          </p:cNvSpPr>
          <p:nvPr>
            <p:ph type="body" idx="1"/>
          </p:nvPr>
        </p:nvSpPr>
        <p:spPr>
          <a:xfrm>
            <a:off x="928688" y="1643063"/>
            <a:ext cx="7572375" cy="3929062"/>
          </a:xfrm>
          <a:solidFill>
            <a:schemeClr val="bg2">
              <a:lumMod val="10000"/>
              <a:lumOff val="90000"/>
            </a:schemeClr>
          </a:solidFill>
        </p:spPr>
        <p:txBody>
          <a:bodyPr/>
          <a:lstStyle/>
          <a:p>
            <a:pPr eaLnBrk="1" hangingPunct="1">
              <a:lnSpc>
                <a:spcPts val="3200"/>
              </a:lnSpc>
              <a:buFont typeface="Wingdings" panose="05000000000000000000" pitchFamily="2" charset="2"/>
              <a:buNone/>
              <a:defRPr/>
            </a:pPr>
            <a:r>
              <a:rPr lang="en-US" altLang="zh-CN" sz="2000" dirty="0">
                <a:latin typeface="Arial" pitchFamily="34" charset="0"/>
                <a:ea typeface="微软雅黑" pitchFamily="34" charset="-122"/>
                <a:cs typeface="Arial" pitchFamily="34" charset="0"/>
              </a:rPr>
              <a:t>BCH</a:t>
            </a:r>
            <a:r>
              <a:rPr lang="zh-CN" altLang="en-US" sz="2000" dirty="0">
                <a:latin typeface="Arial" pitchFamily="34" charset="0"/>
                <a:ea typeface="微软雅黑" pitchFamily="34" charset="-122"/>
                <a:cs typeface="Arial" pitchFamily="34" charset="0"/>
              </a:rPr>
              <a:t>码的长度都为奇数。在应用中，为了得到偶数长度的码，并</a:t>
            </a:r>
            <a:endParaRPr lang="en-US" altLang="zh-CN" sz="2000" dirty="0">
              <a:latin typeface="Arial" pitchFamily="34" charset="0"/>
              <a:ea typeface="微软雅黑" pitchFamily="34" charset="-122"/>
              <a:cs typeface="Arial" pitchFamily="34" charset="0"/>
            </a:endParaRPr>
          </a:p>
          <a:p>
            <a:pPr eaLnBrk="1" hangingPunct="1">
              <a:lnSpc>
                <a:spcPts val="3200"/>
              </a:lnSpc>
              <a:buFont typeface="Wingdings" panose="05000000000000000000" pitchFamily="2" charset="2"/>
              <a:buNone/>
              <a:defRPr/>
            </a:pPr>
            <a:r>
              <a:rPr lang="zh-CN" altLang="en-US" sz="2000" dirty="0">
                <a:latin typeface="Arial" pitchFamily="34" charset="0"/>
                <a:ea typeface="微软雅黑" pitchFamily="34" charset="-122"/>
                <a:cs typeface="Arial" pitchFamily="34" charset="0"/>
              </a:rPr>
              <a:t>增大检错能力，可以在</a:t>
            </a:r>
            <a:r>
              <a:rPr lang="en-US" altLang="zh-CN" sz="2000" dirty="0">
                <a:latin typeface="Arial" pitchFamily="34" charset="0"/>
                <a:ea typeface="微软雅黑" pitchFamily="34" charset="-122"/>
                <a:cs typeface="Arial" pitchFamily="34" charset="0"/>
              </a:rPr>
              <a:t>BCH</a:t>
            </a:r>
            <a:r>
              <a:rPr lang="zh-CN" altLang="en-US" sz="2000" dirty="0">
                <a:latin typeface="Arial" pitchFamily="34" charset="0"/>
                <a:ea typeface="微软雅黑" pitchFamily="34" charset="-122"/>
                <a:cs typeface="Arial" pitchFamily="34" charset="0"/>
              </a:rPr>
              <a:t>码生成多项式中乘上一个因式</a:t>
            </a:r>
            <a:r>
              <a:rPr lang="en-US" altLang="zh-CN" sz="2000" dirty="0">
                <a:latin typeface="Arial" pitchFamily="34" charset="0"/>
                <a:ea typeface="微软雅黑" pitchFamily="34" charset="-122"/>
                <a:cs typeface="Arial" pitchFamily="34" charset="0"/>
              </a:rPr>
              <a:t>(</a:t>
            </a:r>
            <a:r>
              <a:rPr lang="en-US" altLang="zh-CN" sz="2000" i="1" dirty="0">
                <a:latin typeface="Arial" pitchFamily="34" charset="0"/>
                <a:ea typeface="微软雅黑" pitchFamily="34" charset="-122"/>
                <a:cs typeface="Arial" pitchFamily="34" charset="0"/>
              </a:rPr>
              <a:t>x </a:t>
            </a:r>
            <a:r>
              <a:rPr lang="en-US" altLang="zh-CN" sz="2000" dirty="0">
                <a:latin typeface="Arial" pitchFamily="34" charset="0"/>
                <a:ea typeface="微软雅黑" pitchFamily="34" charset="-122"/>
                <a:cs typeface="Arial" pitchFamily="34" charset="0"/>
              </a:rPr>
              <a:t>+ 1)</a:t>
            </a:r>
            <a:r>
              <a:rPr lang="zh-CN" altLang="en-US" sz="2000" dirty="0">
                <a:latin typeface="Arial" pitchFamily="34" charset="0"/>
                <a:ea typeface="微软雅黑" pitchFamily="34" charset="-122"/>
                <a:cs typeface="Arial" pitchFamily="34" charset="0"/>
              </a:rPr>
              <a:t>，</a:t>
            </a:r>
            <a:endParaRPr lang="en-US" altLang="zh-CN" sz="2000" dirty="0">
              <a:latin typeface="Arial" pitchFamily="34" charset="0"/>
              <a:ea typeface="微软雅黑" pitchFamily="34" charset="-122"/>
              <a:cs typeface="Arial" pitchFamily="34" charset="0"/>
            </a:endParaRPr>
          </a:p>
          <a:p>
            <a:pPr eaLnBrk="1" hangingPunct="1">
              <a:lnSpc>
                <a:spcPts val="3200"/>
              </a:lnSpc>
              <a:buFont typeface="Wingdings" panose="05000000000000000000" pitchFamily="2" charset="2"/>
              <a:buNone/>
              <a:defRPr/>
            </a:pPr>
            <a:r>
              <a:rPr lang="zh-CN" altLang="en-US" sz="2000" dirty="0">
                <a:latin typeface="Arial" pitchFamily="34" charset="0"/>
                <a:ea typeface="微软雅黑" pitchFamily="34" charset="-122"/>
                <a:cs typeface="Arial" pitchFamily="34" charset="0"/>
              </a:rPr>
              <a:t>从而得到扩展</a:t>
            </a:r>
            <a:r>
              <a:rPr lang="en-US" altLang="zh-CN" sz="2000" dirty="0">
                <a:latin typeface="Arial" pitchFamily="34" charset="0"/>
                <a:ea typeface="微软雅黑" pitchFamily="34" charset="-122"/>
                <a:cs typeface="Arial" pitchFamily="34" charset="0"/>
              </a:rPr>
              <a:t>BCH</a:t>
            </a:r>
            <a:r>
              <a:rPr lang="zh-CN" altLang="en-US" sz="2000" dirty="0">
                <a:latin typeface="Arial" pitchFamily="34" charset="0"/>
                <a:ea typeface="微软雅黑" pitchFamily="34" charset="-122"/>
                <a:cs typeface="Arial" pitchFamily="34" charset="0"/>
              </a:rPr>
              <a:t>码</a:t>
            </a:r>
            <a:r>
              <a:rPr lang="en-US" altLang="zh-CN" sz="2000" b="1" dirty="0">
                <a:solidFill>
                  <a:srgbClr val="0000CC"/>
                </a:solidFill>
                <a:latin typeface="Arial" pitchFamily="34" charset="0"/>
                <a:ea typeface="微软雅黑" pitchFamily="34" charset="-122"/>
                <a:cs typeface="Arial" pitchFamily="34" charset="0"/>
              </a:rPr>
              <a:t>(</a:t>
            </a:r>
            <a:r>
              <a:rPr lang="en-US" altLang="zh-CN" sz="2000" b="1" i="1" dirty="0">
                <a:solidFill>
                  <a:srgbClr val="0000CC"/>
                </a:solidFill>
                <a:latin typeface="Arial" pitchFamily="34" charset="0"/>
                <a:ea typeface="微软雅黑" pitchFamily="34" charset="-122"/>
                <a:cs typeface="Arial" pitchFamily="34" charset="0"/>
              </a:rPr>
              <a:t>n</a:t>
            </a:r>
            <a:r>
              <a:rPr lang="en-US" altLang="zh-CN" sz="2000" b="1" dirty="0">
                <a:solidFill>
                  <a:srgbClr val="0000CC"/>
                </a:solidFill>
                <a:latin typeface="Arial" pitchFamily="34" charset="0"/>
                <a:ea typeface="微软雅黑" pitchFamily="34" charset="-122"/>
                <a:cs typeface="Arial" pitchFamily="34" charset="0"/>
              </a:rPr>
              <a:t> + 1, </a:t>
            </a:r>
            <a:r>
              <a:rPr lang="en-US" altLang="zh-CN" sz="2000" b="1" i="1" dirty="0">
                <a:solidFill>
                  <a:srgbClr val="0000CC"/>
                </a:solidFill>
                <a:latin typeface="Arial" pitchFamily="34" charset="0"/>
                <a:ea typeface="微软雅黑" pitchFamily="34" charset="-122"/>
                <a:cs typeface="Arial" pitchFamily="34" charset="0"/>
              </a:rPr>
              <a:t>k</a:t>
            </a:r>
            <a:r>
              <a:rPr lang="en-US" altLang="zh-CN" sz="2000" b="1" dirty="0">
                <a:solidFill>
                  <a:srgbClr val="0000CC"/>
                </a:solidFill>
                <a:latin typeface="Arial" pitchFamily="34" charset="0"/>
                <a:ea typeface="微软雅黑" pitchFamily="34" charset="-122"/>
                <a:cs typeface="Arial" pitchFamily="34" charset="0"/>
              </a:rPr>
              <a:t>)</a:t>
            </a:r>
            <a:r>
              <a:rPr lang="zh-CN" altLang="en-US" sz="2000" dirty="0">
                <a:solidFill>
                  <a:srgbClr val="0000CC"/>
                </a:solidFill>
                <a:latin typeface="Arial" pitchFamily="34" charset="0"/>
                <a:ea typeface="微软雅黑" pitchFamily="34" charset="-122"/>
                <a:cs typeface="Arial" pitchFamily="34" charset="0"/>
              </a:rPr>
              <a:t>。</a:t>
            </a:r>
            <a:r>
              <a:rPr lang="zh-CN" altLang="en-US" sz="2000" dirty="0">
                <a:latin typeface="Arial" pitchFamily="34" charset="0"/>
                <a:ea typeface="微软雅黑" pitchFamily="34" charset="-122"/>
                <a:cs typeface="Arial" pitchFamily="34" charset="0"/>
              </a:rPr>
              <a:t>扩展</a:t>
            </a:r>
            <a:r>
              <a:rPr lang="en-US" altLang="zh-CN" sz="2000" dirty="0">
                <a:latin typeface="Arial" pitchFamily="34" charset="0"/>
                <a:ea typeface="微软雅黑" pitchFamily="34" charset="-122"/>
                <a:cs typeface="Arial" pitchFamily="34" charset="0"/>
              </a:rPr>
              <a:t>BCH</a:t>
            </a:r>
            <a:r>
              <a:rPr lang="zh-CN" altLang="en-US" sz="2000" dirty="0">
                <a:latin typeface="Arial" pitchFamily="34" charset="0"/>
                <a:ea typeface="微软雅黑" pitchFamily="34" charset="-122"/>
                <a:cs typeface="Arial" pitchFamily="34" charset="0"/>
              </a:rPr>
              <a:t>码相当于在原</a:t>
            </a:r>
            <a:r>
              <a:rPr lang="en-US" altLang="zh-CN" sz="2000" dirty="0">
                <a:latin typeface="Arial" pitchFamily="34" charset="0"/>
                <a:ea typeface="微软雅黑" pitchFamily="34" charset="-122"/>
                <a:cs typeface="Arial" pitchFamily="34" charset="0"/>
              </a:rPr>
              <a:t>BCH</a:t>
            </a:r>
            <a:r>
              <a:rPr lang="zh-CN" altLang="en-US" sz="2000" dirty="0">
                <a:latin typeface="Arial" pitchFamily="34" charset="0"/>
                <a:ea typeface="微软雅黑" pitchFamily="34" charset="-122"/>
                <a:cs typeface="Arial" pitchFamily="34" charset="0"/>
              </a:rPr>
              <a:t>码上</a:t>
            </a:r>
            <a:endParaRPr lang="en-US" altLang="zh-CN" sz="2000" dirty="0">
              <a:latin typeface="Arial" pitchFamily="34" charset="0"/>
              <a:ea typeface="微软雅黑" pitchFamily="34" charset="-122"/>
              <a:cs typeface="Arial" pitchFamily="34" charset="0"/>
            </a:endParaRPr>
          </a:p>
          <a:p>
            <a:pPr eaLnBrk="1" hangingPunct="1">
              <a:lnSpc>
                <a:spcPts val="3200"/>
              </a:lnSpc>
              <a:buFont typeface="Wingdings" panose="05000000000000000000" pitchFamily="2" charset="2"/>
              <a:buNone/>
              <a:defRPr/>
            </a:pPr>
            <a:r>
              <a:rPr lang="zh-CN" altLang="en-US" sz="2000" dirty="0">
                <a:solidFill>
                  <a:srgbClr val="0000CC"/>
                </a:solidFill>
                <a:latin typeface="Arial" pitchFamily="34" charset="0"/>
                <a:ea typeface="微软雅黑" pitchFamily="34" charset="-122"/>
                <a:cs typeface="Arial" pitchFamily="34" charset="0"/>
              </a:rPr>
              <a:t>增加了一个校验位</a:t>
            </a:r>
            <a:r>
              <a:rPr lang="zh-CN" altLang="en-US" sz="2000" dirty="0">
                <a:latin typeface="Arial" pitchFamily="34" charset="0"/>
                <a:ea typeface="微软雅黑" pitchFamily="34" charset="-122"/>
                <a:cs typeface="Arial" pitchFamily="34" charset="0"/>
              </a:rPr>
              <a:t>，因此码距比原</a:t>
            </a:r>
            <a:r>
              <a:rPr lang="en-US" altLang="zh-CN" sz="2000" dirty="0">
                <a:latin typeface="Arial" pitchFamily="34" charset="0"/>
                <a:ea typeface="微软雅黑" pitchFamily="34" charset="-122"/>
                <a:cs typeface="Arial" pitchFamily="34" charset="0"/>
              </a:rPr>
              <a:t>BCH</a:t>
            </a:r>
            <a:r>
              <a:rPr lang="zh-CN" altLang="en-US" sz="2000" dirty="0">
                <a:latin typeface="Arial" pitchFamily="34" charset="0"/>
                <a:ea typeface="微软雅黑" pitchFamily="34" charset="-122"/>
                <a:cs typeface="Arial" pitchFamily="34" charset="0"/>
              </a:rPr>
              <a:t>码增加</a:t>
            </a:r>
            <a:r>
              <a:rPr lang="en-US" altLang="zh-CN" sz="2000" dirty="0">
                <a:latin typeface="Arial" pitchFamily="34" charset="0"/>
                <a:ea typeface="微软雅黑" pitchFamily="34" charset="-122"/>
                <a:cs typeface="Arial" pitchFamily="34" charset="0"/>
              </a:rPr>
              <a:t>1</a:t>
            </a:r>
            <a:r>
              <a:rPr lang="zh-CN" altLang="en-US" sz="2000" dirty="0">
                <a:latin typeface="Arial" pitchFamily="34" charset="0"/>
                <a:ea typeface="微软雅黑" pitchFamily="34" charset="-122"/>
                <a:cs typeface="Arial" pitchFamily="34" charset="0"/>
              </a:rPr>
              <a:t>。扩展</a:t>
            </a:r>
            <a:r>
              <a:rPr lang="en-US" altLang="zh-CN" sz="2000" dirty="0">
                <a:latin typeface="Arial" pitchFamily="34" charset="0"/>
                <a:ea typeface="微软雅黑" pitchFamily="34" charset="-122"/>
                <a:cs typeface="Arial" pitchFamily="34" charset="0"/>
              </a:rPr>
              <a:t>BCH</a:t>
            </a:r>
            <a:r>
              <a:rPr lang="zh-CN" altLang="en-US" sz="2000" dirty="0">
                <a:latin typeface="Arial" pitchFamily="34" charset="0"/>
                <a:ea typeface="微软雅黑" pitchFamily="34" charset="-122"/>
                <a:cs typeface="Arial" pitchFamily="34" charset="0"/>
              </a:rPr>
              <a:t>码已经</a:t>
            </a:r>
            <a:endParaRPr lang="en-US" altLang="zh-CN" sz="2000" dirty="0">
              <a:latin typeface="Arial" pitchFamily="34" charset="0"/>
              <a:ea typeface="微软雅黑" pitchFamily="34" charset="-122"/>
              <a:cs typeface="Arial" pitchFamily="34" charset="0"/>
            </a:endParaRPr>
          </a:p>
          <a:p>
            <a:pPr eaLnBrk="1" hangingPunct="1">
              <a:lnSpc>
                <a:spcPts val="3200"/>
              </a:lnSpc>
              <a:buFont typeface="Wingdings" panose="05000000000000000000" pitchFamily="2" charset="2"/>
              <a:buNone/>
              <a:defRPr/>
            </a:pPr>
            <a:r>
              <a:rPr lang="zh-CN" altLang="en-US" sz="2000" dirty="0">
                <a:latin typeface="Arial" pitchFamily="34" charset="0"/>
                <a:ea typeface="微软雅黑" pitchFamily="34" charset="-122"/>
                <a:cs typeface="Arial" pitchFamily="34" charset="0"/>
              </a:rPr>
              <a:t>不再具有循环性。例如，广泛实用的</a:t>
            </a:r>
            <a:r>
              <a:rPr lang="zh-CN" altLang="en-US" sz="2000" dirty="0">
                <a:solidFill>
                  <a:srgbClr val="0000CC"/>
                </a:solidFill>
                <a:latin typeface="Arial" pitchFamily="34" charset="0"/>
                <a:ea typeface="微软雅黑" pitchFamily="34" charset="-122"/>
                <a:cs typeface="Arial" pitchFamily="34" charset="0"/>
              </a:rPr>
              <a:t>扩展戈莱码</a:t>
            </a:r>
            <a:r>
              <a:rPr lang="en-US" altLang="zh-CN" sz="2000" dirty="0">
                <a:solidFill>
                  <a:srgbClr val="0000CC"/>
                </a:solidFill>
                <a:latin typeface="Arial" pitchFamily="34" charset="0"/>
                <a:ea typeface="微软雅黑" pitchFamily="34" charset="-122"/>
                <a:cs typeface="Arial" pitchFamily="34" charset="0"/>
              </a:rPr>
              <a:t>(24, 12)</a:t>
            </a:r>
            <a:r>
              <a:rPr lang="zh-CN" altLang="en-US" sz="2000" dirty="0">
                <a:latin typeface="Arial" pitchFamily="34" charset="0"/>
                <a:ea typeface="微软雅黑" pitchFamily="34" charset="-122"/>
                <a:cs typeface="Arial" pitchFamily="34" charset="0"/>
              </a:rPr>
              <a:t>，其最小</a:t>
            </a:r>
            <a:endParaRPr lang="en-US" altLang="zh-CN" sz="2000" dirty="0">
              <a:latin typeface="Arial" pitchFamily="34" charset="0"/>
              <a:ea typeface="微软雅黑" pitchFamily="34" charset="-122"/>
              <a:cs typeface="Arial" pitchFamily="34" charset="0"/>
            </a:endParaRPr>
          </a:p>
          <a:p>
            <a:pPr eaLnBrk="1" hangingPunct="1">
              <a:lnSpc>
                <a:spcPts val="3200"/>
              </a:lnSpc>
              <a:buFont typeface="Wingdings" panose="05000000000000000000" pitchFamily="2" charset="2"/>
              <a:buNone/>
              <a:defRPr/>
            </a:pPr>
            <a:r>
              <a:rPr lang="zh-CN" altLang="en-US" sz="2000" dirty="0">
                <a:solidFill>
                  <a:srgbClr val="0000CC"/>
                </a:solidFill>
                <a:latin typeface="Arial" pitchFamily="34" charset="0"/>
                <a:ea typeface="微软雅黑" pitchFamily="34" charset="-122"/>
                <a:cs typeface="Arial" pitchFamily="34" charset="0"/>
              </a:rPr>
              <a:t>码距为</a:t>
            </a:r>
            <a:r>
              <a:rPr lang="en-US" altLang="zh-CN" sz="2000" dirty="0">
                <a:solidFill>
                  <a:srgbClr val="0000CC"/>
                </a:solidFill>
                <a:latin typeface="Arial" pitchFamily="34" charset="0"/>
                <a:ea typeface="微软雅黑" pitchFamily="34" charset="-122"/>
                <a:cs typeface="Arial" pitchFamily="34" charset="0"/>
              </a:rPr>
              <a:t>8</a:t>
            </a:r>
            <a:r>
              <a:rPr lang="zh-CN" altLang="en-US" sz="2000" dirty="0">
                <a:latin typeface="Arial" pitchFamily="34" charset="0"/>
                <a:ea typeface="微软雅黑" pitchFamily="34" charset="-122"/>
                <a:cs typeface="Arial" pitchFamily="34" charset="0"/>
              </a:rPr>
              <a:t>，码率为</a:t>
            </a:r>
            <a:r>
              <a:rPr lang="en-US" altLang="zh-CN" sz="2000" dirty="0">
                <a:latin typeface="Arial" pitchFamily="34" charset="0"/>
                <a:ea typeface="微软雅黑" pitchFamily="34" charset="-122"/>
                <a:cs typeface="Arial" pitchFamily="34" charset="0"/>
              </a:rPr>
              <a:t>1/2</a:t>
            </a:r>
            <a:r>
              <a:rPr lang="zh-CN" altLang="en-US" sz="2000" dirty="0">
                <a:latin typeface="Arial" pitchFamily="34" charset="0"/>
                <a:ea typeface="微软雅黑" pitchFamily="34" charset="-122"/>
                <a:cs typeface="Arial" pitchFamily="34" charset="0"/>
              </a:rPr>
              <a:t>，能够</a:t>
            </a:r>
            <a:r>
              <a:rPr lang="zh-CN" altLang="en-US" sz="2000" dirty="0">
                <a:solidFill>
                  <a:srgbClr val="0000CC"/>
                </a:solidFill>
                <a:latin typeface="Arial" pitchFamily="34" charset="0"/>
                <a:ea typeface="微软雅黑" pitchFamily="34" charset="-122"/>
                <a:cs typeface="Arial" pitchFamily="34" charset="0"/>
              </a:rPr>
              <a:t>纠</a:t>
            </a:r>
            <a:r>
              <a:rPr lang="en-US" altLang="zh-CN" sz="2000" dirty="0">
                <a:solidFill>
                  <a:srgbClr val="0000CC"/>
                </a:solidFill>
                <a:latin typeface="Arial" pitchFamily="34" charset="0"/>
                <a:ea typeface="微软雅黑" pitchFamily="34" charset="-122"/>
                <a:cs typeface="Arial" pitchFamily="34" charset="0"/>
              </a:rPr>
              <a:t>3</a:t>
            </a:r>
            <a:r>
              <a:rPr lang="zh-CN" altLang="en-US" sz="2000" dirty="0">
                <a:latin typeface="Arial" pitchFamily="34" charset="0"/>
                <a:ea typeface="微软雅黑" pitchFamily="34" charset="-122"/>
                <a:cs typeface="Arial" pitchFamily="34" charset="0"/>
              </a:rPr>
              <a:t>个错码和</a:t>
            </a:r>
            <a:r>
              <a:rPr lang="zh-CN" altLang="en-US" sz="2000" dirty="0">
                <a:solidFill>
                  <a:srgbClr val="0000CC"/>
                </a:solidFill>
                <a:latin typeface="Arial" pitchFamily="34" charset="0"/>
                <a:ea typeface="微软雅黑" pitchFamily="34" charset="-122"/>
                <a:cs typeface="Arial" pitchFamily="34" charset="0"/>
              </a:rPr>
              <a:t>检</a:t>
            </a:r>
            <a:r>
              <a:rPr lang="en-US" altLang="zh-CN" sz="2000" dirty="0">
                <a:solidFill>
                  <a:srgbClr val="0000CC"/>
                </a:solidFill>
                <a:latin typeface="Arial" pitchFamily="34" charset="0"/>
                <a:ea typeface="微软雅黑" pitchFamily="34" charset="-122"/>
                <a:cs typeface="Arial" pitchFamily="34" charset="0"/>
              </a:rPr>
              <a:t>4</a:t>
            </a:r>
            <a:r>
              <a:rPr lang="zh-CN" altLang="en-US" sz="2000" dirty="0">
                <a:latin typeface="Arial" pitchFamily="34" charset="0"/>
                <a:ea typeface="微软雅黑" pitchFamily="34" charset="-122"/>
                <a:cs typeface="Arial" pitchFamily="34" charset="0"/>
              </a:rPr>
              <a:t>个错码。它比汉明</a:t>
            </a:r>
            <a:endParaRPr lang="en-US" altLang="zh-CN" sz="2000" dirty="0">
              <a:latin typeface="Arial" pitchFamily="34" charset="0"/>
              <a:ea typeface="微软雅黑" pitchFamily="34" charset="-122"/>
              <a:cs typeface="Arial" pitchFamily="34" charset="0"/>
            </a:endParaRPr>
          </a:p>
          <a:p>
            <a:pPr eaLnBrk="1" hangingPunct="1">
              <a:lnSpc>
                <a:spcPts val="3200"/>
              </a:lnSpc>
              <a:buFont typeface="Wingdings" panose="05000000000000000000" pitchFamily="2" charset="2"/>
              <a:buNone/>
              <a:defRPr/>
            </a:pPr>
            <a:r>
              <a:rPr lang="zh-CN" altLang="en-US" sz="2000" dirty="0">
                <a:latin typeface="Arial" pitchFamily="34" charset="0"/>
                <a:ea typeface="微软雅黑" pitchFamily="34" charset="-122"/>
                <a:cs typeface="Arial" pitchFamily="34" charset="0"/>
              </a:rPr>
              <a:t>码的纠错能力强很多，付出的代价是解码更复杂，码率也比汉明码</a:t>
            </a:r>
            <a:endParaRPr lang="en-US" altLang="zh-CN" sz="2000" dirty="0">
              <a:latin typeface="Arial" pitchFamily="34" charset="0"/>
              <a:ea typeface="微软雅黑" pitchFamily="34" charset="-122"/>
              <a:cs typeface="Arial" pitchFamily="34" charset="0"/>
            </a:endParaRPr>
          </a:p>
          <a:p>
            <a:pPr eaLnBrk="1" hangingPunct="1">
              <a:lnSpc>
                <a:spcPts val="3200"/>
              </a:lnSpc>
              <a:buFont typeface="Wingdings" panose="05000000000000000000" pitchFamily="2" charset="2"/>
              <a:buNone/>
              <a:defRPr/>
            </a:pPr>
            <a:r>
              <a:rPr lang="zh-CN" altLang="en-US" sz="2000" dirty="0">
                <a:latin typeface="Arial" pitchFamily="34" charset="0"/>
                <a:ea typeface="微软雅黑" pitchFamily="34" charset="-122"/>
                <a:cs typeface="Arial" pitchFamily="34" charset="0"/>
              </a:rPr>
              <a:t>低。此外，它不再是循环码了。</a:t>
            </a:r>
          </a:p>
        </p:txBody>
      </p:sp>
      <p:sp>
        <p:nvSpPr>
          <p:cNvPr id="7" name="矩形 6">
            <a:extLst>
              <a:ext uri="{FF2B5EF4-FFF2-40B4-BE49-F238E27FC236}">
                <a16:creationId xmlns:a16="http://schemas.microsoft.com/office/drawing/2014/main" id="{5B5D530A-D6C2-491F-7B5B-D058E2EF528A}"/>
              </a:ext>
            </a:extLst>
          </p:cNvPr>
          <p:cNvSpPr/>
          <p:nvPr/>
        </p:nvSpPr>
        <p:spPr>
          <a:xfrm>
            <a:off x="714375" y="1071563"/>
            <a:ext cx="2330450" cy="503237"/>
          </a:xfrm>
          <a:prstGeom prst="rect">
            <a:avLst/>
          </a:prstGeom>
        </p:spPr>
        <p:txBody>
          <a:bodyPr wrap="none">
            <a:spAutoFit/>
          </a:bodyPr>
          <a:lstStyle/>
          <a:p>
            <a:pPr>
              <a:lnSpc>
                <a:spcPts val="3200"/>
              </a:lnSpc>
              <a:buClr>
                <a:srgbClr val="FF0000"/>
              </a:buClr>
              <a:buSzPct val="70000"/>
              <a:buFont typeface="Wingdings" pitchFamily="2" charset="2"/>
              <a:buChar char="n"/>
              <a:defRPr/>
            </a:pPr>
            <a:r>
              <a:rPr lang="zh-CN" altLang="en-US" sz="2400" dirty="0">
                <a:solidFill>
                  <a:schemeClr val="tx1"/>
                </a:solidFill>
                <a:latin typeface="Arial" pitchFamily="34" charset="0"/>
                <a:ea typeface="微软雅黑" pitchFamily="34" charset="-122"/>
                <a:cs typeface="Arial" pitchFamily="34" charset="0"/>
              </a:rPr>
              <a:t> 扩展</a:t>
            </a:r>
            <a:r>
              <a:rPr lang="en-US" altLang="zh-CN" sz="2400" dirty="0">
                <a:solidFill>
                  <a:schemeClr val="tx1"/>
                </a:solidFill>
                <a:latin typeface="Arial" pitchFamily="34" charset="0"/>
                <a:ea typeface="微软雅黑" pitchFamily="34" charset="-122"/>
                <a:cs typeface="Arial" pitchFamily="34" charset="0"/>
              </a:rPr>
              <a:t>BCH</a:t>
            </a:r>
            <a:r>
              <a:rPr lang="zh-CN" altLang="en-US" sz="2400" dirty="0">
                <a:solidFill>
                  <a:schemeClr val="tx1"/>
                </a:solidFill>
                <a:latin typeface="Arial" pitchFamily="34" charset="0"/>
                <a:ea typeface="微软雅黑" pitchFamily="34" charset="-122"/>
                <a:cs typeface="Arial" pitchFamily="34" charset="0"/>
              </a:rPr>
              <a:t>码</a:t>
            </a:r>
            <a:r>
              <a:rPr kumimoji="0" lang="zh-CN" altLang="en-US" sz="2400" kern="0" dirty="0">
                <a:solidFill>
                  <a:schemeClr val="tx1"/>
                </a:solidFill>
                <a:latin typeface="+mn-ea"/>
                <a:ea typeface="+mn-ea"/>
                <a:cs typeface="Arial" pitchFamily="34" charset="0"/>
              </a:rPr>
              <a:t>：</a:t>
            </a:r>
            <a:endParaRPr kumimoji="0" lang="en-US" altLang="zh-CN" sz="2400" i="1" kern="0" dirty="0">
              <a:solidFill>
                <a:schemeClr val="tx1"/>
              </a:solidFill>
              <a:latin typeface="+mn-ea"/>
              <a:ea typeface="+mn-ea"/>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03427">
                                            <p:txEl>
                                              <p:pRg st="0" end="0"/>
                                            </p:txEl>
                                          </p:spTgt>
                                        </p:tgtEl>
                                        <p:attrNameLst>
                                          <p:attrName>style.visibility</p:attrName>
                                        </p:attrNameLst>
                                      </p:cBhvr>
                                      <p:to>
                                        <p:strVal val="visible"/>
                                      </p:to>
                                    </p:set>
                                    <p:animEffect transition="in" filter="wipe(up)">
                                      <p:cBhvr>
                                        <p:cTn id="7" dur="1000"/>
                                        <p:tgtEl>
                                          <p:spTgt spid="1034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03427">
                                            <p:txEl>
                                              <p:pRg st="1" end="1"/>
                                            </p:txEl>
                                          </p:spTgt>
                                        </p:tgtEl>
                                        <p:attrNameLst>
                                          <p:attrName>style.visibility</p:attrName>
                                        </p:attrNameLst>
                                      </p:cBhvr>
                                      <p:to>
                                        <p:strVal val="visible"/>
                                      </p:to>
                                    </p:set>
                                    <p:animEffect transition="in" filter="wipe(up)">
                                      <p:cBhvr>
                                        <p:cTn id="12" dur="1000"/>
                                        <p:tgtEl>
                                          <p:spTgt spid="1034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03427">
                                            <p:txEl>
                                              <p:pRg st="2" end="2"/>
                                            </p:txEl>
                                          </p:spTgt>
                                        </p:tgtEl>
                                        <p:attrNameLst>
                                          <p:attrName>style.visibility</p:attrName>
                                        </p:attrNameLst>
                                      </p:cBhvr>
                                      <p:to>
                                        <p:strVal val="visible"/>
                                      </p:to>
                                    </p:set>
                                    <p:animEffect transition="in" filter="wipe(up)">
                                      <p:cBhvr>
                                        <p:cTn id="17" dur="1000"/>
                                        <p:tgtEl>
                                          <p:spTgt spid="1034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03427">
                                            <p:txEl>
                                              <p:pRg st="3" end="3"/>
                                            </p:txEl>
                                          </p:spTgt>
                                        </p:tgtEl>
                                        <p:attrNameLst>
                                          <p:attrName>style.visibility</p:attrName>
                                        </p:attrNameLst>
                                      </p:cBhvr>
                                      <p:to>
                                        <p:strVal val="visible"/>
                                      </p:to>
                                    </p:set>
                                    <p:animEffect transition="in" filter="wipe(up)">
                                      <p:cBhvr>
                                        <p:cTn id="22" dur="1000"/>
                                        <p:tgtEl>
                                          <p:spTgt spid="10342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103427">
                                            <p:txEl>
                                              <p:pRg st="4" end="4"/>
                                            </p:txEl>
                                          </p:spTgt>
                                        </p:tgtEl>
                                        <p:attrNameLst>
                                          <p:attrName>style.visibility</p:attrName>
                                        </p:attrNameLst>
                                      </p:cBhvr>
                                      <p:to>
                                        <p:strVal val="visible"/>
                                      </p:to>
                                    </p:set>
                                    <p:animEffect transition="in" filter="wipe(up)">
                                      <p:cBhvr>
                                        <p:cTn id="27" dur="1000"/>
                                        <p:tgtEl>
                                          <p:spTgt spid="10342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103427">
                                            <p:txEl>
                                              <p:pRg st="5" end="5"/>
                                            </p:txEl>
                                          </p:spTgt>
                                        </p:tgtEl>
                                        <p:attrNameLst>
                                          <p:attrName>style.visibility</p:attrName>
                                        </p:attrNameLst>
                                      </p:cBhvr>
                                      <p:to>
                                        <p:strVal val="visible"/>
                                      </p:to>
                                    </p:set>
                                    <p:animEffect transition="in" filter="wipe(up)">
                                      <p:cBhvr>
                                        <p:cTn id="32" dur="1000"/>
                                        <p:tgtEl>
                                          <p:spTgt spid="10342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103427">
                                            <p:txEl>
                                              <p:pRg st="6" end="6"/>
                                            </p:txEl>
                                          </p:spTgt>
                                        </p:tgtEl>
                                        <p:attrNameLst>
                                          <p:attrName>style.visibility</p:attrName>
                                        </p:attrNameLst>
                                      </p:cBhvr>
                                      <p:to>
                                        <p:strVal val="visible"/>
                                      </p:to>
                                    </p:set>
                                    <p:animEffect transition="in" filter="wipe(up)">
                                      <p:cBhvr>
                                        <p:cTn id="37" dur="1000"/>
                                        <p:tgtEl>
                                          <p:spTgt spid="103427">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103427">
                                            <p:txEl>
                                              <p:pRg st="7" end="7"/>
                                            </p:txEl>
                                          </p:spTgt>
                                        </p:tgtEl>
                                        <p:attrNameLst>
                                          <p:attrName>style.visibility</p:attrName>
                                        </p:attrNameLst>
                                      </p:cBhvr>
                                      <p:to>
                                        <p:strVal val="visible"/>
                                      </p:to>
                                    </p:set>
                                    <p:animEffect transition="in" filter="wipe(up)">
                                      <p:cBhvr>
                                        <p:cTn id="42" dur="1000"/>
                                        <p:tgtEl>
                                          <p:spTgt spid="10342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451B10B-887D-A1A0-2E81-3DD8C9A1CF70}"/>
              </a:ext>
            </a:extLst>
          </p:cNvPr>
          <p:cNvSpPr>
            <a:spLocks noChangeArrowheads="1"/>
          </p:cNvSpPr>
          <p:nvPr/>
        </p:nvSpPr>
        <p:spPr bwMode="auto">
          <a:xfrm>
            <a:off x="0" y="471488"/>
            <a:ext cx="3286125" cy="58420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anchor="ctr">
            <a:spAutoFit/>
          </a:bodyPr>
          <a:lstStyle/>
          <a:p>
            <a:pPr marL="0" lvl="1" indent="306388" eaLnBrk="0" hangingPunct="0">
              <a:defRPr/>
            </a:pPr>
            <a:r>
              <a:rPr lang="en-US" altLang="en-US" sz="3200" dirty="0">
                <a:solidFill>
                  <a:srgbClr val="800080"/>
                </a:solidFill>
                <a:latin typeface="Arial" pitchFamily="34" charset="0"/>
                <a:ea typeface="微软雅黑" pitchFamily="34" charset="-122"/>
                <a:cs typeface="Arial" pitchFamily="34" charset="0"/>
              </a:rPr>
              <a:t>11</a:t>
            </a:r>
            <a:r>
              <a:rPr lang="en-US" altLang="zh-CN" sz="3200" dirty="0">
                <a:solidFill>
                  <a:srgbClr val="800080"/>
                </a:solidFill>
                <a:latin typeface="Arial" pitchFamily="34" charset="0"/>
                <a:ea typeface="微软雅黑" pitchFamily="34" charset="-122"/>
                <a:cs typeface="Arial" pitchFamily="34" charset="0"/>
              </a:rPr>
              <a:t>.6.5  </a:t>
            </a:r>
            <a:r>
              <a:rPr kumimoji="0" lang="en-US" altLang="zh-CN" sz="3200" kern="0" dirty="0">
                <a:solidFill>
                  <a:srgbClr val="003399"/>
                </a:solidFill>
                <a:latin typeface="微软雅黑" pitchFamily="34" charset="-122"/>
                <a:ea typeface="微软雅黑" pitchFamily="34" charset="-122"/>
              </a:rPr>
              <a:t>RS</a:t>
            </a:r>
            <a:r>
              <a:rPr kumimoji="0" lang="zh-CN" altLang="en-US" sz="3200" kern="0" dirty="0">
                <a:solidFill>
                  <a:srgbClr val="003399"/>
                </a:solidFill>
                <a:latin typeface="微软雅黑" pitchFamily="34" charset="-122"/>
                <a:ea typeface="微软雅黑" pitchFamily="34" charset="-122"/>
              </a:rPr>
              <a:t>码</a:t>
            </a:r>
            <a:endParaRPr lang="zh-CN" altLang="en-US" sz="3200" i="1" dirty="0">
              <a:solidFill>
                <a:srgbClr val="990099"/>
              </a:solidFill>
              <a:latin typeface="微软雅黑" pitchFamily="34" charset="-122"/>
              <a:ea typeface="微软雅黑" pitchFamily="34" charset="-122"/>
            </a:endParaRPr>
          </a:p>
        </p:txBody>
      </p:sp>
      <p:sp>
        <p:nvSpPr>
          <p:cNvPr id="7" name="Rectangle 3">
            <a:extLst>
              <a:ext uri="{FF2B5EF4-FFF2-40B4-BE49-F238E27FC236}">
                <a16:creationId xmlns:a16="http://schemas.microsoft.com/office/drawing/2014/main" id="{041E1541-973F-DD93-0F33-4F139A3EFD4A}"/>
              </a:ext>
            </a:extLst>
          </p:cNvPr>
          <p:cNvSpPr txBox="1">
            <a:spLocks noChangeArrowheads="1"/>
          </p:cNvSpPr>
          <p:nvPr/>
        </p:nvSpPr>
        <p:spPr bwMode="auto">
          <a:xfrm>
            <a:off x="966788" y="1071563"/>
            <a:ext cx="7562850" cy="1000125"/>
          </a:xfrm>
          <a:prstGeom prst="rect">
            <a:avLst/>
          </a:prstGeom>
          <a:solidFill>
            <a:schemeClr val="bg2">
              <a:lumMod val="10000"/>
              <a:lumOff val="90000"/>
            </a:schemeClr>
          </a:solidFill>
          <a:ln w="9525">
            <a:noFill/>
            <a:miter lim="800000"/>
            <a:headEnd/>
            <a:tailEnd/>
          </a:ln>
          <a:effectLst>
            <a:outerShdw blurRad="50800" dist="38100" algn="l" rotWithShape="0">
              <a:prstClr val="black">
                <a:alpha val="40000"/>
              </a:prstClr>
            </a:outerShdw>
          </a:effectLst>
        </p:spPr>
        <p:txBody>
          <a:bodyPr/>
          <a:lstStyle/>
          <a:p>
            <a:pPr marL="228600" indent="-228600">
              <a:lnSpc>
                <a:spcPts val="3200"/>
              </a:lnSpc>
              <a:spcBef>
                <a:spcPct val="20000"/>
              </a:spcBef>
              <a:buClr>
                <a:srgbClr val="FF0000"/>
              </a:buClr>
              <a:buSzPct val="70000"/>
              <a:defRPr/>
            </a:pPr>
            <a:r>
              <a:rPr kumimoji="0" lang="en-US" altLang="zh-CN" sz="2000" b="0" kern="0" dirty="0">
                <a:solidFill>
                  <a:schemeClr val="tx1"/>
                </a:solidFill>
                <a:latin typeface="Arial" pitchFamily="34" charset="0"/>
                <a:ea typeface="微软雅黑" pitchFamily="34" charset="-122"/>
                <a:cs typeface="Arial" pitchFamily="34" charset="0"/>
              </a:rPr>
              <a:t>—— </a:t>
            </a:r>
            <a:r>
              <a:rPr kumimoji="0" lang="zh-CN" altLang="en-US" sz="2000" b="0" kern="0" dirty="0">
                <a:solidFill>
                  <a:srgbClr val="000000"/>
                </a:solidFill>
                <a:latin typeface="Arial" pitchFamily="34" charset="0"/>
                <a:ea typeface="微软雅黑" pitchFamily="34" charset="-122"/>
                <a:cs typeface="Arial" pitchFamily="34" charset="0"/>
              </a:rPr>
              <a:t>它是一类具有很强纠错能力的</a:t>
            </a:r>
            <a:r>
              <a:rPr kumimoji="0" lang="zh-CN" altLang="en-US" sz="2000" b="0" kern="0" dirty="0">
                <a:solidFill>
                  <a:srgbClr val="FF0000"/>
                </a:solidFill>
                <a:latin typeface="Arial" pitchFamily="34" charset="0"/>
                <a:ea typeface="微软雅黑" pitchFamily="34" charset="-122"/>
                <a:cs typeface="Arial" pitchFamily="34" charset="0"/>
              </a:rPr>
              <a:t>多进制</a:t>
            </a:r>
            <a:r>
              <a:rPr kumimoji="0" lang="en-US" altLang="zh-CN" sz="2000" kern="0" dirty="0">
                <a:solidFill>
                  <a:srgbClr val="0000CC"/>
                </a:solidFill>
                <a:latin typeface="Arial" pitchFamily="34" charset="0"/>
                <a:ea typeface="微软雅黑" pitchFamily="34" charset="-122"/>
                <a:cs typeface="Arial" pitchFamily="34" charset="0"/>
              </a:rPr>
              <a:t>BCH</a:t>
            </a:r>
            <a:r>
              <a:rPr kumimoji="0" lang="zh-CN" altLang="en-US" sz="2000" kern="0" dirty="0">
                <a:solidFill>
                  <a:srgbClr val="0000CC"/>
                </a:solidFill>
                <a:latin typeface="Arial" pitchFamily="34" charset="0"/>
                <a:ea typeface="微软雅黑" pitchFamily="34" charset="-122"/>
                <a:cs typeface="Arial" pitchFamily="34" charset="0"/>
              </a:rPr>
              <a:t>码</a:t>
            </a:r>
            <a:r>
              <a:rPr kumimoji="0" lang="zh-CN" altLang="en-US" sz="2000" b="0" kern="0" dirty="0">
                <a:solidFill>
                  <a:srgbClr val="000000"/>
                </a:solidFill>
                <a:latin typeface="Arial" pitchFamily="34" charset="0"/>
                <a:ea typeface="微软雅黑" pitchFamily="34" charset="-122"/>
                <a:cs typeface="Arial" pitchFamily="34" charset="0"/>
              </a:rPr>
              <a:t>。</a:t>
            </a:r>
            <a:endParaRPr kumimoji="0" lang="en-US" altLang="zh-CN" sz="2000" b="0" kern="0" dirty="0">
              <a:solidFill>
                <a:schemeClr val="tx1"/>
              </a:solidFill>
              <a:latin typeface="Arial" pitchFamily="34" charset="0"/>
              <a:ea typeface="微软雅黑" pitchFamily="34" charset="-122"/>
              <a:cs typeface="Arial" pitchFamily="34" charset="0"/>
            </a:endParaRPr>
          </a:p>
          <a:p>
            <a:pPr marL="228600" indent="-228600">
              <a:lnSpc>
                <a:spcPts val="3200"/>
              </a:lnSpc>
              <a:spcBef>
                <a:spcPct val="20000"/>
              </a:spcBef>
              <a:buClr>
                <a:srgbClr val="FF0000"/>
              </a:buClr>
              <a:buSzPct val="70000"/>
              <a:defRPr/>
            </a:pPr>
            <a:r>
              <a:rPr kumimoji="0" lang="en-US" altLang="zh-CN" sz="2000" b="0" kern="0" dirty="0">
                <a:solidFill>
                  <a:schemeClr val="tx1"/>
                </a:solidFill>
                <a:latin typeface="Arial" pitchFamily="34" charset="0"/>
                <a:ea typeface="微软雅黑" pitchFamily="34" charset="-122"/>
                <a:cs typeface="Arial" pitchFamily="34" charset="0"/>
              </a:rPr>
              <a:t>—— </a:t>
            </a:r>
            <a:r>
              <a:rPr kumimoji="0" lang="zh-CN" altLang="en-US" sz="2000" b="0" kern="0" dirty="0">
                <a:solidFill>
                  <a:schemeClr val="tx1"/>
                </a:solidFill>
                <a:latin typeface="Arial" pitchFamily="34" charset="0"/>
                <a:ea typeface="微软雅黑" pitchFamily="34" charset="-122"/>
                <a:cs typeface="Arial" pitchFamily="34" charset="0"/>
              </a:rPr>
              <a:t>由里德和索洛蒙</a:t>
            </a:r>
            <a:r>
              <a:rPr kumimoji="0" lang="en-US" altLang="zh-CN" sz="2000" b="0" kern="0" dirty="0">
                <a:solidFill>
                  <a:schemeClr val="tx1"/>
                </a:solidFill>
                <a:latin typeface="Arial" pitchFamily="34" charset="0"/>
                <a:ea typeface="微软雅黑" pitchFamily="34" charset="-122"/>
                <a:cs typeface="Arial" pitchFamily="34" charset="0"/>
              </a:rPr>
              <a:t>(</a:t>
            </a:r>
            <a:r>
              <a:rPr kumimoji="0" lang="en-US" altLang="zh-CN" sz="2000" kern="0" dirty="0">
                <a:solidFill>
                  <a:srgbClr val="0000CC"/>
                </a:solidFill>
                <a:latin typeface="Arial" pitchFamily="34" charset="0"/>
                <a:ea typeface="微软雅黑" pitchFamily="34" charset="-122"/>
                <a:cs typeface="Arial" pitchFamily="34" charset="0"/>
              </a:rPr>
              <a:t>R</a:t>
            </a:r>
            <a:r>
              <a:rPr kumimoji="0" lang="en-US" altLang="zh-CN" sz="2000" b="0" kern="0" dirty="0">
                <a:solidFill>
                  <a:schemeClr val="tx1"/>
                </a:solidFill>
                <a:latin typeface="Arial" pitchFamily="34" charset="0"/>
                <a:ea typeface="微软雅黑" pitchFamily="34" charset="-122"/>
                <a:cs typeface="Arial" pitchFamily="34" charset="0"/>
              </a:rPr>
              <a:t>eed– </a:t>
            </a:r>
            <a:r>
              <a:rPr kumimoji="0" lang="en-US" altLang="zh-CN" sz="2000" kern="0" dirty="0">
                <a:solidFill>
                  <a:srgbClr val="0000CC"/>
                </a:solidFill>
                <a:latin typeface="Arial" pitchFamily="34" charset="0"/>
                <a:ea typeface="微软雅黑" pitchFamily="34" charset="-122"/>
                <a:cs typeface="Arial" pitchFamily="34" charset="0"/>
              </a:rPr>
              <a:t>S</a:t>
            </a:r>
            <a:r>
              <a:rPr kumimoji="0" lang="en-US" altLang="zh-CN" sz="2000" b="0" kern="0" dirty="0">
                <a:solidFill>
                  <a:schemeClr val="tx1"/>
                </a:solidFill>
                <a:latin typeface="Arial" pitchFamily="34" charset="0"/>
                <a:ea typeface="微软雅黑" pitchFamily="34" charset="-122"/>
                <a:cs typeface="Arial" pitchFamily="34" charset="0"/>
              </a:rPr>
              <a:t>olomon)</a:t>
            </a:r>
            <a:r>
              <a:rPr kumimoji="0" lang="zh-CN" altLang="en-US" sz="2000" b="0" kern="0" dirty="0">
                <a:solidFill>
                  <a:schemeClr val="tx1"/>
                </a:solidFill>
                <a:latin typeface="Arial" pitchFamily="34" charset="0"/>
                <a:ea typeface="微软雅黑" pitchFamily="34" charset="-122"/>
                <a:cs typeface="Arial" pitchFamily="34" charset="0"/>
              </a:rPr>
              <a:t>提出。</a:t>
            </a:r>
          </a:p>
        </p:txBody>
      </p:sp>
      <p:sp>
        <p:nvSpPr>
          <p:cNvPr id="9" name="矩形 8">
            <a:extLst>
              <a:ext uri="{FF2B5EF4-FFF2-40B4-BE49-F238E27FC236}">
                <a16:creationId xmlns:a16="http://schemas.microsoft.com/office/drawing/2014/main" id="{805DE992-5B90-8C2B-C3A5-3C662D60AE3A}"/>
              </a:ext>
            </a:extLst>
          </p:cNvPr>
          <p:cNvSpPr/>
          <p:nvPr/>
        </p:nvSpPr>
        <p:spPr>
          <a:xfrm>
            <a:off x="3021013" y="4033838"/>
            <a:ext cx="2928937" cy="461962"/>
          </a:xfrm>
          <a:prstGeom prst="rect">
            <a:avLst/>
          </a:prstGeom>
        </p:spPr>
        <p:txBody>
          <a:bodyPr>
            <a:spAutoFit/>
          </a:bodyPr>
          <a:lstStyle/>
          <a:p>
            <a:pPr>
              <a:defRPr/>
            </a:pPr>
            <a:r>
              <a:rPr kumimoji="0" lang="en-US" altLang="zh-CN" sz="2400" i="1" kern="0" dirty="0">
                <a:solidFill>
                  <a:srgbClr val="000000"/>
                </a:solidFill>
                <a:latin typeface="Arial" pitchFamily="34" charset="0"/>
                <a:ea typeface="微软雅黑" pitchFamily="34" charset="-122"/>
                <a:cs typeface="Arial" pitchFamily="34" charset="0"/>
              </a:rPr>
              <a:t> </a:t>
            </a:r>
            <a:endParaRPr lang="zh-CN" altLang="en-US" sz="2400" dirty="0"/>
          </a:p>
        </p:txBody>
      </p:sp>
      <p:sp>
        <p:nvSpPr>
          <p:cNvPr id="11" name="矩形 10">
            <a:extLst>
              <a:ext uri="{FF2B5EF4-FFF2-40B4-BE49-F238E27FC236}">
                <a16:creationId xmlns:a16="http://schemas.microsoft.com/office/drawing/2014/main" id="{355A3D8C-6FCF-A061-AD4B-BA1C325E80EE}"/>
              </a:ext>
            </a:extLst>
          </p:cNvPr>
          <p:cNvSpPr/>
          <p:nvPr/>
        </p:nvSpPr>
        <p:spPr>
          <a:xfrm>
            <a:off x="957263" y="3419475"/>
            <a:ext cx="7586662" cy="461963"/>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marL="228600" indent="-228600">
              <a:spcBef>
                <a:spcPct val="20000"/>
              </a:spcBef>
              <a:buClr>
                <a:srgbClr val="3333CC"/>
              </a:buClr>
              <a:buSzPct val="50000"/>
              <a:defRPr/>
            </a:pPr>
            <a:r>
              <a:rPr kumimoji="0" lang="zh-CN" altLang="en-US" sz="2200" b="0" kern="0" dirty="0">
                <a:solidFill>
                  <a:srgbClr val="000000"/>
                </a:solidFill>
                <a:latin typeface="Arial" pitchFamily="34" charset="0"/>
                <a:ea typeface="微软雅黑" pitchFamily="34" charset="-122"/>
                <a:cs typeface="Arial" pitchFamily="34" charset="0"/>
              </a:rPr>
              <a:t>        一个能够</a:t>
            </a:r>
            <a:r>
              <a:rPr kumimoji="0" lang="zh-CN" altLang="en-US" sz="2200" b="0" kern="0" dirty="0">
                <a:solidFill>
                  <a:srgbClr val="FF0000"/>
                </a:solidFill>
                <a:latin typeface="Arial" pitchFamily="34" charset="0"/>
                <a:ea typeface="微软雅黑" pitchFamily="34" charset="-122"/>
                <a:cs typeface="Arial" pitchFamily="34" charset="0"/>
              </a:rPr>
              <a:t>纠</a:t>
            </a:r>
            <a:r>
              <a:rPr kumimoji="0" lang="en-US" altLang="zh-CN" sz="2400" i="1" kern="0" dirty="0">
                <a:solidFill>
                  <a:srgbClr val="FF0000"/>
                </a:solidFill>
                <a:latin typeface="Arial" pitchFamily="34" charset="0"/>
                <a:ea typeface="微软雅黑" pitchFamily="34" charset="-122"/>
                <a:cs typeface="Arial" pitchFamily="34" charset="0"/>
              </a:rPr>
              <a:t>t</a:t>
            </a:r>
            <a:r>
              <a:rPr kumimoji="0" lang="zh-CN" altLang="en-US" sz="2200" b="0" kern="0" dirty="0">
                <a:solidFill>
                  <a:srgbClr val="000000"/>
                </a:solidFill>
                <a:latin typeface="Arial" pitchFamily="34" charset="0"/>
                <a:ea typeface="微软雅黑" pitchFamily="34" charset="-122"/>
                <a:cs typeface="Arial" pitchFamily="34" charset="0"/>
              </a:rPr>
              <a:t>个错误符号的</a:t>
            </a:r>
            <a:r>
              <a:rPr kumimoji="0" lang="en-US" altLang="zh-CN" sz="2400" i="1" kern="0" dirty="0">
                <a:solidFill>
                  <a:srgbClr val="FF0000"/>
                </a:solidFill>
                <a:latin typeface="Arial" pitchFamily="34" charset="0"/>
                <a:ea typeface="微软雅黑" pitchFamily="34" charset="-122"/>
                <a:cs typeface="Arial" pitchFamily="34" charset="0"/>
              </a:rPr>
              <a:t>m</a:t>
            </a:r>
            <a:r>
              <a:rPr kumimoji="0" lang="zh-CN" altLang="en-US" sz="2200" b="0" kern="0" dirty="0">
                <a:solidFill>
                  <a:srgbClr val="FF0000"/>
                </a:solidFill>
                <a:latin typeface="Arial" pitchFamily="34" charset="0"/>
                <a:ea typeface="微软雅黑" pitchFamily="34" charset="-122"/>
                <a:cs typeface="Arial" pitchFamily="34" charset="0"/>
              </a:rPr>
              <a:t>进制</a:t>
            </a:r>
            <a:r>
              <a:rPr kumimoji="0" lang="zh-CN" altLang="en-US" sz="2200" b="0" kern="0" dirty="0">
                <a:solidFill>
                  <a:srgbClr val="000000"/>
                </a:solidFill>
                <a:latin typeface="Arial" pitchFamily="34" charset="0"/>
                <a:ea typeface="微软雅黑" pitchFamily="34" charset="-122"/>
                <a:cs typeface="Arial" pitchFamily="34" charset="0"/>
              </a:rPr>
              <a:t>的</a:t>
            </a:r>
            <a:r>
              <a:rPr kumimoji="0" lang="en-US" altLang="zh-CN" sz="2200" kern="0" dirty="0">
                <a:solidFill>
                  <a:srgbClr val="000000"/>
                </a:solidFill>
                <a:latin typeface="Arial" pitchFamily="34" charset="0"/>
                <a:ea typeface="微软雅黑" pitchFamily="34" charset="-122"/>
                <a:cs typeface="Arial" pitchFamily="34" charset="0"/>
              </a:rPr>
              <a:t>RS</a:t>
            </a:r>
            <a:r>
              <a:rPr kumimoji="0" lang="zh-CN" altLang="en-US" sz="2200" kern="0" dirty="0">
                <a:solidFill>
                  <a:srgbClr val="000000"/>
                </a:solidFill>
                <a:latin typeface="Arial" pitchFamily="34" charset="0"/>
                <a:ea typeface="微软雅黑" pitchFamily="34" charset="-122"/>
                <a:cs typeface="Arial" pitchFamily="34" charset="0"/>
              </a:rPr>
              <a:t>码</a:t>
            </a:r>
            <a:r>
              <a:rPr kumimoji="0" lang="zh-CN" altLang="en-US" sz="2200" b="0" kern="0" dirty="0">
                <a:solidFill>
                  <a:srgbClr val="000000"/>
                </a:solidFill>
                <a:latin typeface="Arial" pitchFamily="34" charset="0"/>
                <a:ea typeface="微软雅黑" pitchFamily="34" charset="-122"/>
                <a:cs typeface="Arial" pitchFamily="34" charset="0"/>
              </a:rPr>
              <a:t>有如下参数：</a:t>
            </a:r>
          </a:p>
        </p:txBody>
      </p:sp>
      <p:sp>
        <p:nvSpPr>
          <p:cNvPr id="13" name="矩形 12">
            <a:extLst>
              <a:ext uri="{FF2B5EF4-FFF2-40B4-BE49-F238E27FC236}">
                <a16:creationId xmlns:a16="http://schemas.microsoft.com/office/drawing/2014/main" id="{B61B8CF7-2C49-86E6-2C21-41B2CC9EC27B}"/>
              </a:ext>
            </a:extLst>
          </p:cNvPr>
          <p:cNvSpPr/>
          <p:nvPr/>
        </p:nvSpPr>
        <p:spPr>
          <a:xfrm>
            <a:off x="1508125" y="5895975"/>
            <a:ext cx="7181850" cy="400050"/>
          </a:xfrm>
          <a:prstGeom prst="rect">
            <a:avLst/>
          </a:prstGeom>
        </p:spPr>
        <p:txBody>
          <a:bodyPr>
            <a:spAutoFit/>
          </a:bodyPr>
          <a:lstStyle/>
          <a:p>
            <a:pPr marL="228600" indent="-228600">
              <a:spcBef>
                <a:spcPct val="20000"/>
              </a:spcBef>
              <a:buClr>
                <a:srgbClr val="3333CC"/>
              </a:buClr>
              <a:buSzPct val="50000"/>
              <a:defRPr/>
            </a:pPr>
            <a:r>
              <a:rPr kumimoji="0" lang="zh-CN" altLang="en-US" sz="2000" b="0" dirty="0">
                <a:solidFill>
                  <a:srgbClr val="000000"/>
                </a:solidFill>
                <a:effectLst>
                  <a:outerShdw blurRad="38100" dist="38100" dir="2700000" algn="tl">
                    <a:srgbClr val="C0C0C0"/>
                  </a:outerShdw>
                </a:effectLst>
                <a:latin typeface="Arial" charset="0"/>
                <a:ea typeface="微软雅黑" pitchFamily="34" charset="-122"/>
                <a:cs typeface="Arial" charset="0"/>
              </a:rPr>
              <a:t>最小码距</a:t>
            </a:r>
            <a:r>
              <a:rPr kumimoji="0" lang="zh-CN" altLang="en-US" sz="2000" b="0" dirty="0">
                <a:solidFill>
                  <a:srgbClr val="000000"/>
                </a:solidFill>
                <a:effectLst>
                  <a:outerShdw blurRad="38100" dist="38100" dir="2700000" algn="tl">
                    <a:srgbClr val="C0C0C0"/>
                  </a:outerShdw>
                </a:effectLst>
                <a:latin typeface="宋体" pitchFamily="2" charset="-122"/>
                <a:ea typeface="微软雅黑" pitchFamily="34" charset="-122"/>
                <a:cs typeface="Arial" charset="0"/>
              </a:rPr>
              <a:t>： </a:t>
            </a:r>
            <a:r>
              <a:rPr kumimoji="0" lang="en-US" altLang="zh-CN" sz="2000" i="1" dirty="0">
                <a:solidFill>
                  <a:srgbClr val="000000"/>
                </a:solidFill>
                <a:latin typeface="Arial" charset="0"/>
                <a:ea typeface="微软雅黑" pitchFamily="34" charset="-122"/>
                <a:cs typeface="Arial" charset="0"/>
              </a:rPr>
              <a:t>d</a:t>
            </a:r>
            <a:r>
              <a:rPr kumimoji="0" lang="en-US" altLang="zh-CN" sz="2000" baseline="-25000" dirty="0">
                <a:solidFill>
                  <a:srgbClr val="000000"/>
                </a:solidFill>
                <a:latin typeface="Arial" charset="0"/>
                <a:ea typeface="微软雅黑" pitchFamily="34" charset="-122"/>
                <a:cs typeface="Arial" charset="0"/>
              </a:rPr>
              <a:t>0 </a:t>
            </a:r>
            <a:r>
              <a:rPr kumimoji="0" lang="en-US" altLang="zh-CN" sz="2000" dirty="0">
                <a:solidFill>
                  <a:srgbClr val="000000"/>
                </a:solidFill>
                <a:latin typeface="Arial" charset="0"/>
                <a:ea typeface="微软雅黑" pitchFamily="34" charset="-122"/>
                <a:cs typeface="Arial" charset="0"/>
              </a:rPr>
              <a:t>= 2</a:t>
            </a:r>
            <a:r>
              <a:rPr kumimoji="0" lang="en-US" altLang="zh-CN" sz="2000" i="1" dirty="0">
                <a:solidFill>
                  <a:srgbClr val="000000"/>
                </a:solidFill>
                <a:latin typeface="Arial" charset="0"/>
                <a:ea typeface="微软雅黑" pitchFamily="34" charset="-122"/>
                <a:cs typeface="Arial" charset="0"/>
              </a:rPr>
              <a:t>t</a:t>
            </a:r>
            <a:r>
              <a:rPr kumimoji="0" lang="en-US" altLang="zh-CN" sz="2000" dirty="0">
                <a:solidFill>
                  <a:srgbClr val="000000"/>
                </a:solidFill>
                <a:latin typeface="Arial" charset="0"/>
                <a:ea typeface="微软雅黑" pitchFamily="34" charset="-122"/>
                <a:cs typeface="Arial" charset="0"/>
              </a:rPr>
              <a:t> + 1</a:t>
            </a:r>
            <a:r>
              <a:rPr kumimoji="0" lang="zh-CN" altLang="en-US" sz="2000" b="0" dirty="0">
                <a:solidFill>
                  <a:srgbClr val="000000"/>
                </a:solidFill>
                <a:latin typeface="Arial" charset="0"/>
                <a:ea typeface="微软雅黑" pitchFamily="34" charset="-122"/>
                <a:cs typeface="Arial" charset="0"/>
              </a:rPr>
              <a:t>个  符号，          或 </a:t>
            </a:r>
            <a:r>
              <a:rPr kumimoji="0" lang="en-US" altLang="zh-CN" sz="2000" i="1" dirty="0">
                <a:solidFill>
                  <a:srgbClr val="000000"/>
                </a:solidFill>
                <a:latin typeface="Arial" charset="0"/>
                <a:ea typeface="微软雅黑" pitchFamily="34" charset="-122"/>
                <a:cs typeface="Arial" charset="0"/>
              </a:rPr>
              <a:t>q</a:t>
            </a:r>
            <a:r>
              <a:rPr kumimoji="0" lang="zh-CN" altLang="en-US" sz="2000" dirty="0">
                <a:solidFill>
                  <a:srgbClr val="000000"/>
                </a:solidFill>
                <a:latin typeface="Arial" charset="0"/>
                <a:ea typeface="微软雅黑" pitchFamily="34" charset="-122"/>
                <a:cs typeface="Arial" charset="0"/>
              </a:rPr>
              <a:t>（</a:t>
            </a:r>
            <a:r>
              <a:rPr kumimoji="0" lang="en-US" altLang="zh-CN" sz="2000" dirty="0">
                <a:solidFill>
                  <a:srgbClr val="000000"/>
                </a:solidFill>
                <a:latin typeface="Arial" charset="0"/>
                <a:ea typeface="微软雅黑" pitchFamily="34" charset="-122"/>
                <a:cs typeface="Arial" charset="0"/>
              </a:rPr>
              <a:t> 2</a:t>
            </a:r>
            <a:r>
              <a:rPr kumimoji="0" lang="en-US" altLang="zh-CN" sz="2000" i="1" dirty="0">
                <a:solidFill>
                  <a:srgbClr val="000000"/>
                </a:solidFill>
                <a:latin typeface="Arial" charset="0"/>
                <a:ea typeface="微软雅黑" pitchFamily="34" charset="-122"/>
                <a:cs typeface="Arial" charset="0"/>
              </a:rPr>
              <a:t>t</a:t>
            </a:r>
            <a:r>
              <a:rPr kumimoji="0" lang="en-US" altLang="zh-CN" sz="2000" dirty="0">
                <a:solidFill>
                  <a:srgbClr val="000000"/>
                </a:solidFill>
                <a:latin typeface="Arial" charset="0"/>
                <a:ea typeface="微软雅黑" pitchFamily="34" charset="-122"/>
                <a:cs typeface="Arial" charset="0"/>
              </a:rPr>
              <a:t> + 1</a:t>
            </a:r>
            <a:r>
              <a:rPr kumimoji="0" lang="zh-CN" altLang="en-US" sz="2000" dirty="0">
                <a:solidFill>
                  <a:srgbClr val="000000"/>
                </a:solidFill>
                <a:latin typeface="Arial" charset="0"/>
                <a:ea typeface="微软雅黑" pitchFamily="34" charset="-122"/>
                <a:cs typeface="Arial" charset="0"/>
              </a:rPr>
              <a:t>）</a:t>
            </a:r>
            <a:r>
              <a:rPr kumimoji="0" lang="zh-CN" altLang="en-US" sz="2000" b="0" dirty="0">
                <a:solidFill>
                  <a:srgbClr val="000000"/>
                </a:solidFill>
                <a:latin typeface="Arial" charset="0"/>
                <a:ea typeface="微软雅黑" pitchFamily="34" charset="-122"/>
                <a:cs typeface="Arial" charset="0"/>
              </a:rPr>
              <a:t>比特</a:t>
            </a:r>
          </a:p>
        </p:txBody>
      </p:sp>
      <p:sp>
        <p:nvSpPr>
          <p:cNvPr id="14" name="矩形 13">
            <a:extLst>
              <a:ext uri="{FF2B5EF4-FFF2-40B4-BE49-F238E27FC236}">
                <a16:creationId xmlns:a16="http://schemas.microsoft.com/office/drawing/2014/main" id="{BBD3E1C5-0284-77F6-D030-E3FA9A42009C}"/>
              </a:ext>
            </a:extLst>
          </p:cNvPr>
          <p:cNvSpPr/>
          <p:nvPr/>
        </p:nvSpPr>
        <p:spPr>
          <a:xfrm>
            <a:off x="1504950" y="4081463"/>
            <a:ext cx="5541963" cy="400050"/>
          </a:xfrm>
          <a:prstGeom prst="rect">
            <a:avLst/>
          </a:prstGeom>
        </p:spPr>
        <p:txBody>
          <a:bodyPr>
            <a:spAutoFit/>
          </a:bodyPr>
          <a:lstStyle/>
          <a:p>
            <a:pPr>
              <a:defRPr/>
            </a:pP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码组长度</a:t>
            </a:r>
            <a:r>
              <a:rPr kumimoji="0" lang="zh-CN" altLang="en-US" sz="2000" b="0" kern="0" dirty="0">
                <a:solidFill>
                  <a:srgbClr val="000000"/>
                </a:solidFill>
                <a:effectLst>
                  <a:outerShdw blurRad="38100" dist="38100" dir="2700000" algn="tl">
                    <a:srgbClr val="000000">
                      <a:alpha val="43137"/>
                    </a:srgbClr>
                  </a:outerShdw>
                </a:effectLst>
                <a:latin typeface="+mn-ea"/>
                <a:ea typeface="+mn-ea"/>
                <a:cs typeface="Arial" pitchFamily="34" charset="0"/>
              </a:rPr>
              <a:t>： </a:t>
            </a:r>
            <a:r>
              <a:rPr kumimoji="0" lang="en-US" altLang="zh-CN" sz="2000" i="1" kern="0" dirty="0">
                <a:solidFill>
                  <a:srgbClr val="000000"/>
                </a:solidFill>
                <a:latin typeface="Arial" pitchFamily="34" charset="0"/>
                <a:ea typeface="微软雅黑" pitchFamily="34" charset="-122"/>
                <a:cs typeface="Arial" pitchFamily="34" charset="0"/>
              </a:rPr>
              <a:t>n</a:t>
            </a:r>
            <a:r>
              <a:rPr kumimoji="0" lang="en-US" altLang="zh-CN" sz="2000" kern="0" dirty="0">
                <a:solidFill>
                  <a:srgbClr val="000000"/>
                </a:solidFill>
                <a:latin typeface="Arial" pitchFamily="34" charset="0"/>
                <a:ea typeface="微软雅黑" pitchFamily="34" charset="-122"/>
                <a:cs typeface="Arial" pitchFamily="34" charset="0"/>
              </a:rPr>
              <a:t> = </a:t>
            </a:r>
            <a:r>
              <a:rPr kumimoji="0" lang="en-US" altLang="zh-CN" sz="2000" i="1" kern="0" dirty="0">
                <a:solidFill>
                  <a:srgbClr val="000000"/>
                </a:solidFill>
                <a:latin typeface="Arial" pitchFamily="34" charset="0"/>
                <a:ea typeface="微软雅黑" pitchFamily="34" charset="-122"/>
                <a:cs typeface="Arial" pitchFamily="34" charset="0"/>
              </a:rPr>
              <a:t>m</a:t>
            </a:r>
            <a:r>
              <a:rPr kumimoji="0" lang="en-US" altLang="zh-CN" sz="2000" kern="0" dirty="0">
                <a:solidFill>
                  <a:srgbClr val="000000"/>
                </a:solidFill>
                <a:latin typeface="Arial" pitchFamily="34" charset="0"/>
                <a:ea typeface="微软雅黑" pitchFamily="34" charset="-122"/>
                <a:cs typeface="Arial" pitchFamily="34" charset="0"/>
              </a:rPr>
              <a:t> – 1 = 2</a:t>
            </a:r>
            <a:r>
              <a:rPr kumimoji="0" lang="en-US" altLang="zh-CN" sz="2000" i="1" kern="0" baseline="30000" dirty="0">
                <a:solidFill>
                  <a:srgbClr val="000000"/>
                </a:solidFill>
                <a:latin typeface="Arial" pitchFamily="34" charset="0"/>
                <a:ea typeface="微软雅黑" pitchFamily="34" charset="-122"/>
                <a:cs typeface="Arial" pitchFamily="34" charset="0"/>
              </a:rPr>
              <a:t>q</a:t>
            </a:r>
            <a:r>
              <a:rPr kumimoji="0" lang="en-US" altLang="zh-CN" sz="2000" kern="0" dirty="0">
                <a:solidFill>
                  <a:srgbClr val="000000"/>
                </a:solidFill>
                <a:latin typeface="Arial" pitchFamily="34" charset="0"/>
                <a:ea typeface="微软雅黑" pitchFamily="34" charset="-122"/>
                <a:cs typeface="Arial" pitchFamily="34" charset="0"/>
              </a:rPr>
              <a:t> – 1</a:t>
            </a:r>
            <a:r>
              <a:rPr kumimoji="0" lang="zh-CN" altLang="en-US" sz="2000" b="0" dirty="0">
                <a:solidFill>
                  <a:srgbClr val="000000"/>
                </a:solidFill>
                <a:latin typeface="Arial" charset="0"/>
                <a:ea typeface="微软雅黑" pitchFamily="34" charset="-122"/>
                <a:cs typeface="Arial" charset="0"/>
              </a:rPr>
              <a:t>个符号，</a:t>
            </a:r>
            <a:endParaRPr lang="zh-CN" altLang="en-US" sz="2000" b="0" dirty="0">
              <a:effectLst>
                <a:outerShdw blurRad="38100" dist="38100" dir="2700000" algn="tl">
                  <a:srgbClr val="000000">
                    <a:alpha val="43137"/>
                  </a:srgbClr>
                </a:outerShdw>
              </a:effectLst>
              <a:latin typeface="+mn-ea"/>
              <a:ea typeface="+mn-ea"/>
            </a:endParaRPr>
          </a:p>
        </p:txBody>
      </p:sp>
      <p:sp>
        <p:nvSpPr>
          <p:cNvPr id="15" name="矩形 14">
            <a:extLst>
              <a:ext uri="{FF2B5EF4-FFF2-40B4-BE49-F238E27FC236}">
                <a16:creationId xmlns:a16="http://schemas.microsoft.com/office/drawing/2014/main" id="{5B8799EF-ACA1-7105-9012-7E32EBF4FBFE}"/>
              </a:ext>
            </a:extLst>
          </p:cNvPr>
          <p:cNvSpPr/>
          <p:nvPr/>
        </p:nvSpPr>
        <p:spPr>
          <a:xfrm>
            <a:off x="1503363" y="5267325"/>
            <a:ext cx="6926262" cy="461963"/>
          </a:xfrm>
          <a:prstGeom prst="rect">
            <a:avLst/>
          </a:prstGeom>
        </p:spPr>
        <p:txBody>
          <a:bodyPr>
            <a:spAutoFit/>
          </a:bodyPr>
          <a:lstStyle/>
          <a:p>
            <a:pPr marL="0" lvl="1">
              <a:defRPr/>
            </a:pPr>
            <a:r>
              <a:rPr kumimoji="0" lang="zh-CN" altLang="en-US" sz="2000" b="0" dirty="0">
                <a:solidFill>
                  <a:srgbClr val="000000"/>
                </a:solidFill>
                <a:effectLst>
                  <a:outerShdw blurRad="38100" dist="38100" dir="2700000" algn="tl">
                    <a:srgbClr val="C0C0C0"/>
                  </a:outerShdw>
                </a:effectLst>
                <a:latin typeface="Arial" charset="0"/>
                <a:ea typeface="微软雅黑" pitchFamily="34" charset="-122"/>
                <a:cs typeface="Arial" charset="0"/>
              </a:rPr>
              <a:t>督元长度：</a:t>
            </a:r>
            <a:r>
              <a:rPr kumimoji="0" lang="zh-CN" altLang="en-US" sz="2000" b="0" dirty="0">
                <a:solidFill>
                  <a:srgbClr val="000000"/>
                </a:solidFill>
                <a:effectLst>
                  <a:outerShdw blurRad="38100" dist="38100" dir="2700000" algn="tl">
                    <a:srgbClr val="C0C0C0"/>
                  </a:outerShdw>
                </a:effectLst>
                <a:latin typeface="Arial" charset="0"/>
                <a:ea typeface="宋体" pitchFamily="2" charset="-122"/>
                <a:cs typeface="Arial" charset="0"/>
              </a:rPr>
              <a:t>  </a:t>
            </a:r>
            <a:r>
              <a:rPr kumimoji="0" lang="en-US" altLang="zh-CN" sz="2400" i="1" dirty="0">
                <a:solidFill>
                  <a:srgbClr val="000000"/>
                </a:solidFill>
                <a:latin typeface="Arial" charset="0"/>
                <a:ea typeface="微软雅黑" pitchFamily="34" charset="-122"/>
                <a:cs typeface="Arial" charset="0"/>
              </a:rPr>
              <a:t>r</a:t>
            </a:r>
            <a:r>
              <a:rPr kumimoji="0" lang="en-US" altLang="zh-CN" sz="2000" dirty="0">
                <a:solidFill>
                  <a:srgbClr val="000000"/>
                </a:solidFill>
                <a:latin typeface="Arial" charset="0"/>
                <a:ea typeface="微软雅黑" pitchFamily="34" charset="-122"/>
                <a:cs typeface="Arial" charset="0"/>
              </a:rPr>
              <a:t> = </a:t>
            </a:r>
            <a:r>
              <a:rPr kumimoji="0" lang="en-US" altLang="zh-CN" sz="2000" i="1" dirty="0">
                <a:solidFill>
                  <a:srgbClr val="000000"/>
                </a:solidFill>
                <a:latin typeface="Arial" charset="0"/>
                <a:ea typeface="微软雅黑" pitchFamily="34" charset="-122"/>
                <a:cs typeface="Arial" charset="0"/>
              </a:rPr>
              <a:t>n-k </a:t>
            </a:r>
            <a:r>
              <a:rPr kumimoji="0" lang="en-US" altLang="zh-CN" sz="2000" dirty="0">
                <a:solidFill>
                  <a:srgbClr val="000000"/>
                </a:solidFill>
                <a:latin typeface="Arial" charset="0"/>
                <a:ea typeface="微软雅黑" pitchFamily="34" charset="-122"/>
                <a:cs typeface="Arial" charset="0"/>
              </a:rPr>
              <a:t>= 2</a:t>
            </a:r>
            <a:r>
              <a:rPr kumimoji="0" lang="en-US" altLang="zh-CN" sz="2000" i="1" dirty="0">
                <a:solidFill>
                  <a:srgbClr val="000000"/>
                </a:solidFill>
                <a:latin typeface="Arial" charset="0"/>
                <a:ea typeface="微软雅黑" pitchFamily="34" charset="-122"/>
                <a:cs typeface="Arial" charset="0"/>
              </a:rPr>
              <a:t>t</a:t>
            </a:r>
            <a:r>
              <a:rPr kumimoji="0" lang="zh-CN" altLang="en-US" sz="2000" i="1" dirty="0">
                <a:solidFill>
                  <a:srgbClr val="000000"/>
                </a:solidFill>
                <a:latin typeface="Arial" charset="0"/>
                <a:ea typeface="微软雅黑" pitchFamily="34" charset="-122"/>
                <a:cs typeface="Arial" charset="0"/>
              </a:rPr>
              <a:t> </a:t>
            </a:r>
            <a:r>
              <a:rPr kumimoji="0" lang="zh-CN" altLang="en-US" sz="2000" b="0" dirty="0">
                <a:solidFill>
                  <a:srgbClr val="000000"/>
                </a:solidFill>
                <a:latin typeface="Arial" charset="0"/>
                <a:ea typeface="微软雅黑" pitchFamily="34" charset="-122"/>
                <a:cs typeface="Arial" charset="0"/>
              </a:rPr>
              <a:t>个符号，          或</a:t>
            </a:r>
            <a:r>
              <a:rPr kumimoji="0" lang="en-US" altLang="zh-CN" sz="2400" dirty="0">
                <a:solidFill>
                  <a:srgbClr val="000000"/>
                </a:solidFill>
                <a:latin typeface="Arial" charset="0"/>
                <a:ea typeface="微软雅黑" pitchFamily="34" charset="-122"/>
                <a:cs typeface="Arial" charset="0"/>
              </a:rPr>
              <a:t> </a:t>
            </a:r>
            <a:r>
              <a:rPr kumimoji="0" lang="en-US" altLang="zh-CN" sz="2400" dirty="0">
                <a:solidFill>
                  <a:schemeClr val="tx1"/>
                </a:solidFill>
                <a:latin typeface="Arial" charset="0"/>
                <a:ea typeface="微软雅黑" pitchFamily="34" charset="-122"/>
                <a:cs typeface="Arial" charset="0"/>
              </a:rPr>
              <a:t>2</a:t>
            </a:r>
            <a:r>
              <a:rPr kumimoji="0" lang="en-US" altLang="zh-CN" sz="2400" i="1" dirty="0">
                <a:solidFill>
                  <a:schemeClr val="tx1"/>
                </a:solidFill>
                <a:latin typeface="Arial" charset="0"/>
                <a:ea typeface="微软雅黑" pitchFamily="34" charset="-122"/>
                <a:cs typeface="Arial" charset="0"/>
              </a:rPr>
              <a:t>tq</a:t>
            </a:r>
            <a:r>
              <a:rPr kumimoji="0" lang="zh-CN" altLang="en-US" sz="2400" i="1" dirty="0">
                <a:solidFill>
                  <a:schemeClr val="tx1"/>
                </a:solidFill>
                <a:latin typeface="Arial" charset="0"/>
                <a:ea typeface="微软雅黑" pitchFamily="34" charset="-122"/>
                <a:cs typeface="Arial" charset="0"/>
              </a:rPr>
              <a:t>  </a:t>
            </a:r>
            <a:r>
              <a:rPr kumimoji="0" lang="zh-CN" altLang="en-US" sz="2000" b="0" dirty="0">
                <a:solidFill>
                  <a:srgbClr val="000000"/>
                </a:solidFill>
                <a:latin typeface="Arial" charset="0"/>
                <a:ea typeface="微软雅黑" pitchFamily="34" charset="-122"/>
                <a:cs typeface="Arial" charset="0"/>
              </a:rPr>
              <a:t>比特</a:t>
            </a:r>
            <a:endParaRPr lang="zh-CN" altLang="en-US" sz="2000" b="0" dirty="0">
              <a:effectLst>
                <a:outerShdw blurRad="38100" dist="38100" dir="2700000" algn="tl">
                  <a:srgbClr val="C0C0C0"/>
                </a:outerShdw>
              </a:effectLst>
              <a:latin typeface="Arial" charset="0"/>
              <a:ea typeface="宋体" pitchFamily="2" charset="-122"/>
              <a:cs typeface="Arial" charset="0"/>
            </a:endParaRPr>
          </a:p>
        </p:txBody>
      </p:sp>
      <p:sp>
        <p:nvSpPr>
          <p:cNvPr id="16" name="矩形 15">
            <a:extLst>
              <a:ext uri="{FF2B5EF4-FFF2-40B4-BE49-F238E27FC236}">
                <a16:creationId xmlns:a16="http://schemas.microsoft.com/office/drawing/2014/main" id="{76BDD147-ED45-67E6-791B-1DD7EBF61ECA}"/>
              </a:ext>
            </a:extLst>
          </p:cNvPr>
          <p:cNvSpPr/>
          <p:nvPr/>
        </p:nvSpPr>
        <p:spPr>
          <a:xfrm>
            <a:off x="1489075" y="4668838"/>
            <a:ext cx="7072313" cy="400050"/>
          </a:xfrm>
          <a:prstGeom prst="rect">
            <a:avLst/>
          </a:prstGeom>
        </p:spPr>
        <p:txBody>
          <a:bodyPr>
            <a:spAutoFit/>
          </a:bodyPr>
          <a:lstStyle/>
          <a:p>
            <a:pPr>
              <a:defRPr/>
            </a:pPr>
            <a:r>
              <a:rPr kumimoji="0" lang="zh-CN" altLang="en-US" sz="2000" b="0" dirty="0">
                <a:solidFill>
                  <a:srgbClr val="000000"/>
                </a:solidFill>
                <a:effectLst>
                  <a:outerShdw blurRad="38100" dist="38100" dir="2700000" algn="tl">
                    <a:srgbClr val="C0C0C0"/>
                  </a:outerShdw>
                </a:effectLst>
                <a:latin typeface="Arial" charset="0"/>
                <a:ea typeface="微软雅黑" pitchFamily="34" charset="-122"/>
                <a:cs typeface="Arial" charset="0"/>
              </a:rPr>
              <a:t>信元长度</a:t>
            </a:r>
            <a:r>
              <a:rPr kumimoji="0" lang="zh-CN" altLang="en-US" sz="2000" b="0" dirty="0">
                <a:solidFill>
                  <a:srgbClr val="000000"/>
                </a:solidFill>
                <a:effectLst>
                  <a:outerShdw blurRad="38100" dist="38100" dir="2700000" algn="tl">
                    <a:srgbClr val="C0C0C0"/>
                  </a:outerShdw>
                </a:effectLst>
                <a:latin typeface="宋体" pitchFamily="2" charset="-122"/>
                <a:ea typeface="微软雅黑" pitchFamily="34" charset="-122"/>
                <a:cs typeface="Arial" charset="0"/>
              </a:rPr>
              <a:t>：</a:t>
            </a:r>
            <a:r>
              <a:rPr kumimoji="0" lang="zh-CN" altLang="en-US" sz="2000" b="0" dirty="0">
                <a:solidFill>
                  <a:srgbClr val="000000"/>
                </a:solidFill>
                <a:effectLst>
                  <a:outerShdw blurRad="38100" dist="38100" dir="2700000" algn="tl">
                    <a:srgbClr val="C0C0C0"/>
                  </a:outerShdw>
                </a:effectLst>
                <a:latin typeface="宋体" pitchFamily="2" charset="-122"/>
                <a:ea typeface="宋体" pitchFamily="2" charset="-122"/>
                <a:cs typeface="Arial" charset="0"/>
              </a:rPr>
              <a:t> </a:t>
            </a:r>
            <a:r>
              <a:rPr kumimoji="0" lang="en-US" altLang="zh-CN" sz="2000" i="1" dirty="0">
                <a:solidFill>
                  <a:srgbClr val="000000"/>
                </a:solidFill>
                <a:latin typeface="Arial" charset="0"/>
                <a:ea typeface="微软雅黑" pitchFamily="34" charset="-122"/>
                <a:cs typeface="Arial" charset="0"/>
              </a:rPr>
              <a:t>k</a:t>
            </a:r>
            <a:r>
              <a:rPr kumimoji="0" lang="en-US" altLang="zh-CN" sz="2000" dirty="0">
                <a:solidFill>
                  <a:srgbClr val="000000"/>
                </a:solidFill>
                <a:latin typeface="Arial" charset="0"/>
                <a:ea typeface="微软雅黑" pitchFamily="34" charset="-122"/>
                <a:cs typeface="Arial" charset="0"/>
              </a:rPr>
              <a:t> </a:t>
            </a:r>
            <a:r>
              <a:rPr kumimoji="0" lang="zh-CN" altLang="en-US" sz="2000" b="0" dirty="0">
                <a:solidFill>
                  <a:srgbClr val="000000"/>
                </a:solidFill>
                <a:latin typeface="Arial" charset="0"/>
                <a:ea typeface="微软雅黑" pitchFamily="34" charset="-122"/>
                <a:cs typeface="Arial" charset="0"/>
              </a:rPr>
              <a:t>个符号，                           或 </a:t>
            </a:r>
            <a:r>
              <a:rPr kumimoji="0" lang="en-US" altLang="zh-CN" sz="2000" i="1" dirty="0">
                <a:solidFill>
                  <a:srgbClr val="000000"/>
                </a:solidFill>
                <a:latin typeface="Arial" charset="0"/>
                <a:ea typeface="微软雅黑" pitchFamily="34" charset="-122"/>
                <a:cs typeface="Arial" charset="0"/>
              </a:rPr>
              <a:t>k q</a:t>
            </a:r>
            <a:r>
              <a:rPr kumimoji="0" lang="zh-CN" altLang="en-US" sz="2000" b="0" dirty="0">
                <a:solidFill>
                  <a:srgbClr val="000000"/>
                </a:solidFill>
                <a:latin typeface="Arial" charset="0"/>
                <a:ea typeface="微软雅黑" pitchFamily="34" charset="-122"/>
                <a:cs typeface="Arial" charset="0"/>
              </a:rPr>
              <a:t>个比特</a:t>
            </a:r>
            <a:endParaRPr lang="zh-CN" altLang="en-US" sz="2000" b="0" dirty="0">
              <a:effectLst>
                <a:outerShdw blurRad="38100" dist="38100" dir="2700000" algn="tl">
                  <a:srgbClr val="C0C0C0"/>
                </a:outerShdw>
              </a:effectLst>
              <a:latin typeface="宋体" pitchFamily="2" charset="-122"/>
              <a:ea typeface="宋体" pitchFamily="2" charset="-122"/>
            </a:endParaRPr>
          </a:p>
        </p:txBody>
      </p:sp>
      <p:sp>
        <p:nvSpPr>
          <p:cNvPr id="19" name="椭圆 18">
            <a:extLst>
              <a:ext uri="{FF2B5EF4-FFF2-40B4-BE49-F238E27FC236}">
                <a16:creationId xmlns:a16="http://schemas.microsoft.com/office/drawing/2014/main" id="{7EACC577-4F5C-264E-5F52-697403628D93}"/>
              </a:ext>
            </a:extLst>
          </p:cNvPr>
          <p:cNvSpPr/>
          <p:nvPr/>
        </p:nvSpPr>
        <p:spPr bwMode="auto">
          <a:xfrm>
            <a:off x="501650" y="3224213"/>
            <a:ext cx="1000125" cy="642937"/>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lstStyle/>
          <a:p>
            <a:pPr>
              <a:defRPr/>
            </a:pPr>
            <a:endParaRPr lang="zh-CN" altLang="en-US" dirty="0"/>
          </a:p>
        </p:txBody>
      </p:sp>
      <p:sp>
        <p:nvSpPr>
          <p:cNvPr id="18" name="矩形 17">
            <a:extLst>
              <a:ext uri="{FF2B5EF4-FFF2-40B4-BE49-F238E27FC236}">
                <a16:creationId xmlns:a16="http://schemas.microsoft.com/office/drawing/2014/main" id="{9C4406F6-93EA-C790-5431-C6664AA74D34}"/>
              </a:ext>
            </a:extLst>
          </p:cNvPr>
          <p:cNvSpPr/>
          <p:nvPr/>
        </p:nvSpPr>
        <p:spPr>
          <a:xfrm>
            <a:off x="585788" y="3295650"/>
            <a:ext cx="803275" cy="461963"/>
          </a:xfrm>
          <a:prstGeom prst="rect">
            <a:avLst/>
          </a:prstGeom>
        </p:spPr>
        <p:txBody>
          <a:bodyPr wrap="none">
            <a:spAutoFit/>
          </a:bodyPr>
          <a:lstStyle/>
          <a:p>
            <a:pPr>
              <a:defRPr/>
            </a:pPr>
            <a:r>
              <a:rPr kumimoji="0" lang="zh-CN" altLang="en-US" sz="2400" kern="0" dirty="0">
                <a:solidFill>
                  <a:srgbClr val="990099"/>
                </a:solidFill>
                <a:latin typeface="黑体" pitchFamily="2" charset="-122"/>
                <a:ea typeface="黑体" pitchFamily="2" charset="-122"/>
                <a:cs typeface="Arial" pitchFamily="34" charset="0"/>
              </a:rPr>
              <a:t>参数</a:t>
            </a:r>
            <a:endParaRPr lang="zh-CN" altLang="en-US" sz="2400" dirty="0">
              <a:solidFill>
                <a:srgbClr val="990099"/>
              </a:solidFill>
              <a:latin typeface="黑体" pitchFamily="2" charset="-122"/>
              <a:ea typeface="黑体" pitchFamily="2" charset="-122"/>
            </a:endParaRPr>
          </a:p>
        </p:txBody>
      </p:sp>
      <p:sp>
        <p:nvSpPr>
          <p:cNvPr id="27" name="矩形 26">
            <a:extLst>
              <a:ext uri="{FF2B5EF4-FFF2-40B4-BE49-F238E27FC236}">
                <a16:creationId xmlns:a16="http://schemas.microsoft.com/office/drawing/2014/main" id="{8CF4E8BA-E36B-EB31-441D-36FD5BAC5AFD}"/>
              </a:ext>
            </a:extLst>
          </p:cNvPr>
          <p:cNvSpPr/>
          <p:nvPr/>
        </p:nvSpPr>
        <p:spPr>
          <a:xfrm>
            <a:off x="6046788" y="4067175"/>
            <a:ext cx="2428875" cy="400050"/>
          </a:xfrm>
          <a:prstGeom prst="rect">
            <a:avLst/>
          </a:prstGeom>
        </p:spPr>
        <p:txBody>
          <a:bodyPr>
            <a:spAutoFit/>
          </a:bodyPr>
          <a:lstStyle/>
          <a:p>
            <a:pPr>
              <a:defRPr/>
            </a:pPr>
            <a:r>
              <a:rPr kumimoji="0" lang="zh-CN" altLang="en-US" sz="2000" b="0" dirty="0">
                <a:solidFill>
                  <a:srgbClr val="000000"/>
                </a:solidFill>
                <a:latin typeface="Arial" charset="0"/>
                <a:ea typeface="微软雅黑" pitchFamily="34" charset="-122"/>
                <a:cs typeface="Arial" charset="0"/>
              </a:rPr>
              <a:t>或 </a:t>
            </a:r>
            <a:r>
              <a:rPr kumimoji="0" lang="en-US" altLang="zh-CN" sz="2000" i="1" dirty="0">
                <a:solidFill>
                  <a:srgbClr val="000000"/>
                </a:solidFill>
                <a:latin typeface="Arial" charset="0"/>
                <a:ea typeface="微软雅黑" pitchFamily="34" charset="-122"/>
                <a:cs typeface="Arial" charset="0"/>
              </a:rPr>
              <a:t>q</a:t>
            </a:r>
            <a:r>
              <a:rPr kumimoji="0" lang="en-US" altLang="zh-CN" sz="2000" kern="0" dirty="0">
                <a:solidFill>
                  <a:srgbClr val="000000"/>
                </a:solidFill>
                <a:latin typeface="Arial" pitchFamily="34" charset="0"/>
                <a:ea typeface="微软雅黑" pitchFamily="34" charset="-122"/>
                <a:cs typeface="Arial" pitchFamily="34" charset="0"/>
              </a:rPr>
              <a:t>(2</a:t>
            </a:r>
            <a:r>
              <a:rPr kumimoji="0" lang="en-US" altLang="zh-CN" sz="2000" i="1" kern="0" baseline="30000" dirty="0">
                <a:solidFill>
                  <a:srgbClr val="000000"/>
                </a:solidFill>
                <a:latin typeface="Arial" pitchFamily="34" charset="0"/>
                <a:ea typeface="微软雅黑" pitchFamily="34" charset="-122"/>
                <a:cs typeface="Arial" pitchFamily="34" charset="0"/>
              </a:rPr>
              <a:t>q</a:t>
            </a:r>
            <a:r>
              <a:rPr kumimoji="0" lang="en-US" altLang="zh-CN" sz="2000" kern="0" dirty="0">
                <a:solidFill>
                  <a:srgbClr val="000000"/>
                </a:solidFill>
                <a:latin typeface="Arial" pitchFamily="34" charset="0"/>
                <a:ea typeface="微软雅黑" pitchFamily="34" charset="-122"/>
                <a:cs typeface="Arial" pitchFamily="34" charset="0"/>
              </a:rPr>
              <a:t> – 1)</a:t>
            </a:r>
            <a:r>
              <a:rPr kumimoji="0" lang="zh-CN" altLang="en-US" sz="2000" b="0" dirty="0">
                <a:solidFill>
                  <a:srgbClr val="000000"/>
                </a:solidFill>
                <a:latin typeface="Arial" charset="0"/>
                <a:ea typeface="微软雅黑" pitchFamily="34" charset="-122"/>
                <a:cs typeface="Arial" charset="0"/>
              </a:rPr>
              <a:t>个比特</a:t>
            </a:r>
            <a:endParaRPr lang="zh-CN" altLang="en-US" sz="2000" dirty="0"/>
          </a:p>
        </p:txBody>
      </p:sp>
      <p:pic>
        <p:nvPicPr>
          <p:cNvPr id="117775" name="Picture 15">
            <a:extLst>
              <a:ext uri="{FF2B5EF4-FFF2-40B4-BE49-F238E27FC236}">
                <a16:creationId xmlns:a16="http://schemas.microsoft.com/office/drawing/2014/main" id="{77D29A69-F0CF-0134-5BE2-7203C77AFE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0" y="2044700"/>
            <a:ext cx="7786688" cy="1147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10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17775"/>
                                        </p:tgtEl>
                                        <p:attrNameLst>
                                          <p:attrName>style.visibility</p:attrName>
                                        </p:attrNameLst>
                                      </p:cBhvr>
                                      <p:to>
                                        <p:strVal val="visible"/>
                                      </p:to>
                                    </p:set>
                                    <p:animEffect transition="in" filter="wipe(up)">
                                      <p:cBhvr>
                                        <p:cTn id="17" dur="1000"/>
                                        <p:tgtEl>
                                          <p:spTgt spid="11777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1000"/>
                                        <p:tgtEl>
                                          <p:spTgt spid="18"/>
                                        </p:tgtEl>
                                      </p:cBhvr>
                                    </p:animEffect>
                                  </p:childTnLst>
                                </p:cTn>
                              </p:par>
                              <p:par>
                                <p:cTn id="23" presetID="22" presetClass="entr" presetSubtype="8"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ipe(left)">
                                      <p:cBhvr>
                                        <p:cTn id="25" dur="1000"/>
                                        <p:tgtEl>
                                          <p:spTgt spid="19"/>
                                        </p:tgtEl>
                                      </p:cBhvr>
                                    </p:animEffect>
                                  </p:childTnLst>
                                </p:cTn>
                              </p:par>
                            </p:childTnLst>
                          </p:cTn>
                        </p:par>
                        <p:par>
                          <p:cTn id="26" fill="hold" nodeType="afterGroup">
                            <p:stCondLst>
                              <p:cond delay="1000"/>
                            </p:stCondLst>
                            <p:childTnLst>
                              <p:par>
                                <p:cTn id="27" presetID="22" presetClass="entr" presetSubtype="1"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up)">
                                      <p:cBhvr>
                                        <p:cTn id="29" dur="1000"/>
                                        <p:tgtEl>
                                          <p:spTgt spid="1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ipe(up)">
                                      <p:cBhvr>
                                        <p:cTn id="34" dur="1000"/>
                                        <p:tgtEl>
                                          <p:spTgt spid="14"/>
                                        </p:tgtEl>
                                      </p:cBhvr>
                                    </p:animEffect>
                                  </p:childTnLst>
                                </p:cTn>
                              </p:par>
                            </p:childTnLst>
                          </p:cTn>
                        </p:par>
                        <p:par>
                          <p:cTn id="35" fill="hold" nodeType="afterGroup">
                            <p:stCondLst>
                              <p:cond delay="1000"/>
                            </p:stCondLst>
                            <p:childTnLst>
                              <p:par>
                                <p:cTn id="36" presetID="22" presetClass="entr" presetSubtype="1" fill="hold" nodeType="after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wipe(up)">
                                      <p:cBhvr>
                                        <p:cTn id="38" dur="1000"/>
                                        <p:tgtEl>
                                          <p:spTgt spid="2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wipe(up)">
                                      <p:cBhvr>
                                        <p:cTn id="43" dur="1000"/>
                                        <p:tgtEl>
                                          <p:spTgt spid="1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1" fill="hold" nodeType="click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wipe(up)">
                                      <p:cBhvr>
                                        <p:cTn id="48" dur="1000"/>
                                        <p:tgtEl>
                                          <p:spTgt spid="1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1" fill="hold" nodeType="click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wipe(up)">
                                      <p:cBhvr>
                                        <p:cTn id="53"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P spid="11" grpId="0" animBg="1"/>
      <p:bldP spid="13" grpId="0"/>
      <p:bldP spid="14" grpId="0"/>
      <p:bldP spid="15" grpId="0"/>
      <p:bldP spid="16" grpId="0"/>
      <p:bldP spid="19" grpId="0" animBg="1"/>
      <p:bldP spid="18" grpId="0"/>
      <p:bldP spid="27"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5823B163-793A-2702-BE9F-0D22ADB4259F}"/>
              </a:ext>
            </a:extLst>
          </p:cNvPr>
          <p:cNvSpPr/>
          <p:nvPr/>
        </p:nvSpPr>
        <p:spPr>
          <a:xfrm>
            <a:off x="1027113" y="4121150"/>
            <a:ext cx="7402512" cy="1879600"/>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marL="228600" indent="-228600">
              <a:lnSpc>
                <a:spcPts val="3100"/>
              </a:lnSpc>
              <a:spcBef>
                <a:spcPct val="20000"/>
              </a:spcBef>
              <a:buClr>
                <a:srgbClr val="3333CC"/>
              </a:buClr>
              <a:buSzPct val="50000"/>
              <a:defRPr/>
            </a:pPr>
            <a:r>
              <a:rPr lang="en-US" sz="2000" dirty="0">
                <a:solidFill>
                  <a:srgbClr val="0000CC"/>
                </a:solidFill>
              </a:rPr>
              <a:t>    </a:t>
            </a:r>
            <a:r>
              <a:rPr lang="en-US" sz="200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a:t>
            </a:r>
            <a:r>
              <a:rPr kumimoji="0" lang="en-US" altLang="zh-CN"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RS</a:t>
            </a: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码</a:t>
            </a:r>
            <a:r>
              <a:rPr kumimoji="0" lang="zh-CN" altLang="en-US" sz="2000" b="0" kern="0" dirty="0">
                <a:solidFill>
                  <a:schemeClr val="tx1"/>
                </a:solidFill>
                <a:latin typeface="Arial" pitchFamily="34" charset="0"/>
                <a:ea typeface="微软雅黑" pitchFamily="34" charset="-122"/>
                <a:cs typeface="Arial" pitchFamily="34" charset="0"/>
              </a:rPr>
              <a:t>能够纠正</a:t>
            </a:r>
            <a:r>
              <a:rPr kumimoji="0" lang="en-US" altLang="zh-CN" sz="2400" i="1" kern="0" dirty="0">
                <a:solidFill>
                  <a:schemeClr val="tx1"/>
                </a:solidFill>
                <a:latin typeface="Arial" pitchFamily="34" charset="0"/>
                <a:ea typeface="微软雅黑" pitchFamily="34" charset="-122"/>
                <a:cs typeface="Arial" pitchFamily="34" charset="0"/>
              </a:rPr>
              <a:t>t</a:t>
            </a:r>
            <a:r>
              <a:rPr kumimoji="0" lang="zh-CN" altLang="en-US" sz="2000" b="0" kern="0" dirty="0">
                <a:solidFill>
                  <a:schemeClr val="tx1"/>
                </a:solidFill>
                <a:latin typeface="Arial" pitchFamily="34" charset="0"/>
                <a:ea typeface="微软雅黑" pitchFamily="34" charset="-122"/>
                <a:cs typeface="Arial" pitchFamily="34" charset="0"/>
              </a:rPr>
              <a:t>个</a:t>
            </a:r>
            <a:r>
              <a:rPr kumimoji="0" lang="en-US" altLang="zh-CN" sz="2400" i="1" kern="0" dirty="0">
                <a:solidFill>
                  <a:schemeClr val="tx1"/>
                </a:solidFill>
                <a:latin typeface="Arial" pitchFamily="34" charset="0"/>
                <a:ea typeface="微软雅黑" pitchFamily="34" charset="-122"/>
                <a:cs typeface="Arial" pitchFamily="34" charset="0"/>
              </a:rPr>
              <a:t>m</a:t>
            </a:r>
            <a:r>
              <a:rPr kumimoji="0" lang="zh-CN" altLang="en-US" sz="2000" b="0" kern="0" dirty="0">
                <a:solidFill>
                  <a:schemeClr val="tx1"/>
                </a:solidFill>
                <a:latin typeface="Arial" pitchFamily="34" charset="0"/>
                <a:ea typeface="微软雅黑" pitchFamily="34" charset="-122"/>
                <a:cs typeface="Arial" pitchFamily="34" charset="0"/>
              </a:rPr>
              <a:t>进制错码，即能纠正码组中</a:t>
            </a:r>
            <a:r>
              <a:rPr kumimoji="0" lang="en-US" altLang="zh-CN" sz="2400" i="1" kern="0" dirty="0">
                <a:solidFill>
                  <a:schemeClr val="tx1"/>
                </a:solidFill>
                <a:latin typeface="Arial" pitchFamily="34" charset="0"/>
                <a:ea typeface="微软雅黑" pitchFamily="34" charset="-122"/>
                <a:cs typeface="Arial" pitchFamily="34" charset="0"/>
              </a:rPr>
              <a:t>t</a:t>
            </a:r>
            <a:r>
              <a:rPr kumimoji="0" lang="zh-CN" altLang="en-US" sz="2000" b="0" kern="0" dirty="0">
                <a:solidFill>
                  <a:schemeClr val="tx1"/>
                </a:solidFill>
                <a:latin typeface="Arial" pitchFamily="34" charset="0"/>
                <a:ea typeface="微软雅黑" pitchFamily="34" charset="-122"/>
                <a:cs typeface="Arial" pitchFamily="34" charset="0"/>
              </a:rPr>
              <a:t>个不超过</a:t>
            </a:r>
            <a:endParaRPr kumimoji="0" lang="en-US" altLang="zh-CN" sz="2000" b="0" kern="0" dirty="0">
              <a:solidFill>
                <a:schemeClr val="tx1"/>
              </a:solidFill>
              <a:latin typeface="Arial" pitchFamily="34" charset="0"/>
              <a:ea typeface="微软雅黑" pitchFamily="34" charset="-122"/>
              <a:cs typeface="Arial" pitchFamily="34" charset="0"/>
            </a:endParaRPr>
          </a:p>
          <a:p>
            <a:pPr marL="228600" indent="-228600">
              <a:lnSpc>
                <a:spcPts val="3100"/>
              </a:lnSpc>
              <a:spcBef>
                <a:spcPct val="20000"/>
              </a:spcBef>
              <a:buClr>
                <a:srgbClr val="3333CC"/>
              </a:buClr>
              <a:buSzPct val="50000"/>
              <a:defRPr/>
            </a:pPr>
            <a:r>
              <a:rPr kumimoji="0" lang="en-US" altLang="zh-CN" sz="2400" i="1" kern="0" dirty="0">
                <a:solidFill>
                  <a:schemeClr val="tx1"/>
                </a:solidFill>
                <a:latin typeface="Arial" pitchFamily="34" charset="0"/>
                <a:ea typeface="微软雅黑" pitchFamily="34" charset="-122"/>
                <a:cs typeface="Arial" pitchFamily="34" charset="0"/>
              </a:rPr>
              <a:t>q</a:t>
            </a:r>
            <a:r>
              <a:rPr kumimoji="0" lang="zh-CN" altLang="en-US" sz="2000" b="0" kern="0" dirty="0">
                <a:solidFill>
                  <a:schemeClr val="tx1"/>
                </a:solidFill>
                <a:latin typeface="Arial" pitchFamily="34" charset="0"/>
                <a:ea typeface="微软雅黑" pitchFamily="34" charset="-122"/>
                <a:cs typeface="Arial" pitchFamily="34" charset="0"/>
              </a:rPr>
              <a:t>位连续的</a:t>
            </a: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二进制 </a:t>
            </a:r>
            <a:r>
              <a:rPr kumimoji="0" lang="zh-CN" altLang="en-US" sz="2000" b="0" kern="0" dirty="0">
                <a:solidFill>
                  <a:schemeClr val="tx1"/>
                </a:solidFill>
                <a:latin typeface="Arial" pitchFamily="34" charset="0"/>
                <a:ea typeface="微软雅黑" pitchFamily="34" charset="-122"/>
                <a:cs typeface="Arial" pitchFamily="34" charset="0"/>
              </a:rPr>
              <a:t>错码，</a:t>
            </a:r>
            <a:r>
              <a:rPr lang="en-US" sz="200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a:t>
            </a:r>
            <a:r>
              <a:rPr kumimoji="0" lang="en-US" altLang="zh-CN"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RS</a:t>
            </a: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码</a:t>
            </a:r>
            <a:r>
              <a:rPr kumimoji="0" lang="zh-CN" altLang="en-US" sz="2000" b="0" kern="0" dirty="0">
                <a:solidFill>
                  <a:schemeClr val="tx1"/>
                </a:solidFill>
                <a:latin typeface="Arial" pitchFamily="34" charset="0"/>
                <a:ea typeface="微软雅黑" pitchFamily="34" charset="-122"/>
                <a:cs typeface="Arial" pitchFamily="34" charset="0"/>
              </a:rPr>
              <a:t>特别适用于存在</a:t>
            </a:r>
            <a:r>
              <a:rPr kumimoji="0" lang="zh-CN" altLang="en-US" sz="2000" b="0" kern="0" dirty="0">
                <a:solidFill>
                  <a:srgbClr val="990099"/>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突发错误</a:t>
            </a:r>
            <a:r>
              <a:rPr kumimoji="0" lang="zh-CN" altLang="en-US" sz="2000" b="0" kern="0" dirty="0">
                <a:solidFill>
                  <a:schemeClr val="tx1"/>
                </a:solidFill>
                <a:latin typeface="Arial" pitchFamily="34" charset="0"/>
                <a:ea typeface="微软雅黑" pitchFamily="34" charset="-122"/>
                <a:cs typeface="Arial" pitchFamily="34" charset="0"/>
              </a:rPr>
              <a:t>的信道，</a:t>
            </a:r>
            <a:endParaRPr kumimoji="0" lang="en-US" altLang="zh-CN" sz="2000" b="0" kern="0" dirty="0">
              <a:solidFill>
                <a:schemeClr val="tx1"/>
              </a:solidFill>
              <a:latin typeface="Arial" pitchFamily="34" charset="0"/>
              <a:ea typeface="微软雅黑" pitchFamily="34" charset="-122"/>
              <a:cs typeface="Arial" pitchFamily="34" charset="0"/>
            </a:endParaRPr>
          </a:p>
          <a:p>
            <a:pPr marL="228600" indent="-228600">
              <a:lnSpc>
                <a:spcPts val="3100"/>
              </a:lnSpc>
              <a:spcBef>
                <a:spcPct val="20000"/>
              </a:spcBef>
              <a:buClr>
                <a:srgbClr val="3333CC"/>
              </a:buClr>
              <a:buSzPct val="50000"/>
              <a:defRPr/>
            </a:pPr>
            <a:r>
              <a:rPr kumimoji="0" lang="zh-CN" altLang="en-US" sz="2000" b="0" kern="0" dirty="0">
                <a:solidFill>
                  <a:schemeClr val="tx1"/>
                </a:solidFill>
                <a:latin typeface="Arial" pitchFamily="34" charset="0"/>
                <a:ea typeface="微软雅黑" pitchFamily="34" charset="-122"/>
                <a:cs typeface="Arial" pitchFamily="34" charset="0"/>
              </a:rPr>
              <a:t>例如，移动通信网等</a:t>
            </a:r>
            <a:r>
              <a:rPr kumimoji="0" lang="zh-CN" altLang="en-US" sz="2000" b="0" kern="0" dirty="0">
                <a:solidFill>
                  <a:srgbClr val="990099"/>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衰落信道</a:t>
            </a:r>
            <a:r>
              <a:rPr kumimoji="0" lang="zh-CN" altLang="en-US" sz="2000" b="0" kern="0" dirty="0">
                <a:solidFill>
                  <a:srgbClr val="990099"/>
                </a:solidFill>
                <a:latin typeface="Arial" pitchFamily="34" charset="0"/>
                <a:ea typeface="微软雅黑" pitchFamily="34" charset="-122"/>
                <a:cs typeface="Arial" pitchFamily="34" charset="0"/>
              </a:rPr>
              <a:t>中</a:t>
            </a:r>
            <a:r>
              <a:rPr kumimoji="0" lang="zh-CN" altLang="en-US" sz="2000" b="0" kern="0" dirty="0">
                <a:solidFill>
                  <a:schemeClr val="tx1"/>
                </a:solidFill>
                <a:latin typeface="Arial" pitchFamily="34" charset="0"/>
                <a:ea typeface="微软雅黑" pitchFamily="34" charset="-122"/>
                <a:cs typeface="Arial" pitchFamily="34" charset="0"/>
              </a:rPr>
              <a:t>。此外，</a:t>
            </a:r>
            <a:r>
              <a:rPr lang="en-US" sz="200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a:t>
            </a:r>
            <a:r>
              <a:rPr kumimoji="0" lang="zh-CN" altLang="en-US" sz="2000" b="0" kern="0" dirty="0">
                <a:solidFill>
                  <a:schemeClr val="tx1"/>
                </a:solidFill>
                <a:latin typeface="Arial" pitchFamily="34" charset="0"/>
                <a:ea typeface="微软雅黑" pitchFamily="34" charset="-122"/>
                <a:cs typeface="Arial" pitchFamily="34" charset="0"/>
              </a:rPr>
              <a:t>它是多进制纠错编码，</a:t>
            </a:r>
            <a:endParaRPr kumimoji="0" lang="en-US" altLang="zh-CN" sz="2000" b="0" kern="0" dirty="0">
              <a:solidFill>
                <a:schemeClr val="tx1"/>
              </a:solidFill>
              <a:latin typeface="Arial" pitchFamily="34" charset="0"/>
              <a:ea typeface="微软雅黑" pitchFamily="34" charset="-122"/>
              <a:cs typeface="Arial" pitchFamily="34" charset="0"/>
            </a:endParaRPr>
          </a:p>
          <a:p>
            <a:pPr marL="228600" indent="-228600">
              <a:lnSpc>
                <a:spcPts val="3100"/>
              </a:lnSpc>
              <a:spcBef>
                <a:spcPct val="20000"/>
              </a:spcBef>
              <a:buClr>
                <a:srgbClr val="3333CC"/>
              </a:buClr>
              <a:buSzPct val="50000"/>
              <a:defRPr/>
            </a:pPr>
            <a:r>
              <a:rPr lang="en-US" sz="200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a:t>
            </a:r>
            <a:r>
              <a:rPr kumimoji="0" lang="zh-CN" altLang="en-US" sz="2000" b="0" kern="0" dirty="0">
                <a:solidFill>
                  <a:schemeClr val="tx1"/>
                </a:solidFill>
                <a:latin typeface="Arial" pitchFamily="34" charset="0"/>
                <a:ea typeface="微软雅黑" pitchFamily="34" charset="-122"/>
                <a:cs typeface="Arial" pitchFamily="34" charset="0"/>
              </a:rPr>
              <a:t>特别适合用于</a:t>
            </a:r>
            <a:r>
              <a:rPr kumimoji="0" lang="zh-CN" altLang="en-US" sz="2000" b="0" kern="0" dirty="0">
                <a:solidFill>
                  <a:srgbClr val="990099"/>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多进制调制 </a:t>
            </a:r>
            <a:r>
              <a:rPr kumimoji="0" lang="zh-CN" altLang="en-US" sz="2000" b="0" kern="0" dirty="0">
                <a:solidFill>
                  <a:srgbClr val="990099"/>
                </a:solidFill>
                <a:latin typeface="Arial" pitchFamily="34" charset="0"/>
                <a:ea typeface="微软雅黑" pitchFamily="34" charset="-122"/>
                <a:cs typeface="Arial" pitchFamily="34" charset="0"/>
              </a:rPr>
              <a:t>的场合</a:t>
            </a:r>
            <a:r>
              <a:rPr kumimoji="0" lang="zh-CN" altLang="en-US" sz="2000" b="0" kern="0" dirty="0">
                <a:solidFill>
                  <a:schemeClr val="tx1"/>
                </a:solidFill>
                <a:latin typeface="Arial" pitchFamily="34" charset="0"/>
                <a:ea typeface="微软雅黑" pitchFamily="34" charset="-122"/>
                <a:cs typeface="Arial" pitchFamily="34" charset="0"/>
              </a:rPr>
              <a:t>。</a:t>
            </a:r>
            <a:endParaRPr kumimoji="0" lang="zh-CN" altLang="en-US" sz="2000" b="0" kern="0" dirty="0">
              <a:solidFill>
                <a:srgbClr val="000000"/>
              </a:solidFill>
              <a:latin typeface="Arial" pitchFamily="34" charset="0"/>
              <a:ea typeface="微软雅黑" pitchFamily="34" charset="-122"/>
              <a:cs typeface="Arial" pitchFamily="34" charset="0"/>
            </a:endParaRPr>
          </a:p>
        </p:txBody>
      </p:sp>
      <p:sp>
        <p:nvSpPr>
          <p:cNvPr id="4" name="Rectangle 3">
            <a:extLst>
              <a:ext uri="{FF2B5EF4-FFF2-40B4-BE49-F238E27FC236}">
                <a16:creationId xmlns:a16="http://schemas.microsoft.com/office/drawing/2014/main" id="{29BF7D11-1167-0299-4DAC-C077244BE23C}"/>
              </a:ext>
            </a:extLst>
          </p:cNvPr>
          <p:cNvSpPr txBox="1">
            <a:spLocks noChangeArrowheads="1"/>
          </p:cNvSpPr>
          <p:nvPr/>
        </p:nvSpPr>
        <p:spPr bwMode="auto">
          <a:xfrm>
            <a:off x="885825" y="5429250"/>
            <a:ext cx="8258175" cy="2347913"/>
          </a:xfrm>
          <a:prstGeom prst="rect">
            <a:avLst/>
          </a:prstGeom>
          <a:noFill/>
          <a:ln w="9525">
            <a:noFill/>
            <a:miter lim="800000"/>
            <a:headEnd/>
            <a:tailEnd/>
          </a:ln>
        </p:spPr>
        <p:txBody>
          <a:bodyPr/>
          <a:lstStyle/>
          <a:p>
            <a:pPr marL="228600" indent="-228600">
              <a:lnSpc>
                <a:spcPct val="120000"/>
              </a:lnSpc>
              <a:spcBef>
                <a:spcPct val="20000"/>
              </a:spcBef>
              <a:buClr>
                <a:schemeClr val="folHlink"/>
              </a:buClr>
              <a:buSzPct val="50000"/>
              <a:defRPr/>
            </a:pPr>
            <a:endParaRPr kumimoji="0" lang="zh-CN" altLang="en-US" sz="2000" b="0" kern="0" dirty="0">
              <a:solidFill>
                <a:schemeClr val="tx1"/>
              </a:solidFill>
              <a:latin typeface="Arial" pitchFamily="34" charset="0"/>
              <a:ea typeface="微软雅黑" pitchFamily="34" charset="-122"/>
              <a:cs typeface="Arial" pitchFamily="34" charset="0"/>
            </a:endParaRPr>
          </a:p>
        </p:txBody>
      </p:sp>
      <p:sp>
        <p:nvSpPr>
          <p:cNvPr id="6" name="矩形 5">
            <a:extLst>
              <a:ext uri="{FF2B5EF4-FFF2-40B4-BE49-F238E27FC236}">
                <a16:creationId xmlns:a16="http://schemas.microsoft.com/office/drawing/2014/main" id="{7062045A-CCC3-1490-CA82-2EEFE6F7905A}"/>
              </a:ext>
            </a:extLst>
          </p:cNvPr>
          <p:cNvSpPr/>
          <p:nvPr/>
        </p:nvSpPr>
        <p:spPr>
          <a:xfrm>
            <a:off x="1000125" y="1071563"/>
            <a:ext cx="2843213" cy="430212"/>
          </a:xfrm>
          <a:prstGeom prst="rect">
            <a:avLst/>
          </a:prstGeom>
        </p:spPr>
        <p:txBody>
          <a:bodyPr>
            <a:spAutoFit/>
          </a:bodyPr>
          <a:lstStyle/>
          <a:p>
            <a:pPr marL="0" lvl="1">
              <a:defRPr/>
            </a:pPr>
            <a:r>
              <a:rPr kumimoji="0" lang="en-US" altLang="zh-CN" sz="2200" kern="0" dirty="0">
                <a:solidFill>
                  <a:schemeClr val="tx1"/>
                </a:solidFill>
                <a:latin typeface="Arial" pitchFamily="34" charset="0"/>
                <a:ea typeface="微软雅黑" pitchFamily="34" charset="-122"/>
                <a:cs typeface="Arial" pitchFamily="34" charset="0"/>
              </a:rPr>
              <a:t>RS</a:t>
            </a:r>
            <a:r>
              <a:rPr kumimoji="0" lang="zh-CN" altLang="en-US" sz="2200" kern="0" dirty="0">
                <a:solidFill>
                  <a:schemeClr val="tx1"/>
                </a:solidFill>
                <a:latin typeface="Arial" pitchFamily="34" charset="0"/>
                <a:ea typeface="微软雅黑" pitchFamily="34" charset="-122"/>
                <a:cs typeface="Arial" pitchFamily="34" charset="0"/>
              </a:rPr>
              <a:t>码的生成多项式：</a:t>
            </a:r>
            <a:endParaRPr lang="zh-CN" altLang="en-US" sz="2000" dirty="0"/>
          </a:p>
        </p:txBody>
      </p:sp>
      <p:sp>
        <p:nvSpPr>
          <p:cNvPr id="7" name="矩形 6">
            <a:extLst>
              <a:ext uri="{FF2B5EF4-FFF2-40B4-BE49-F238E27FC236}">
                <a16:creationId xmlns:a16="http://schemas.microsoft.com/office/drawing/2014/main" id="{7DB76990-30FE-370D-4723-F35FADD71372}"/>
              </a:ext>
            </a:extLst>
          </p:cNvPr>
          <p:cNvSpPr/>
          <p:nvPr/>
        </p:nvSpPr>
        <p:spPr>
          <a:xfrm>
            <a:off x="2928938" y="1928813"/>
            <a:ext cx="4214812" cy="541337"/>
          </a:xfrm>
          <a:prstGeom prst="rect">
            <a:avLst/>
          </a:prstGeom>
          <a:ln w="38100" cmpd="dbl">
            <a:solidFill>
              <a:srgbClr val="6666FF"/>
            </a:solidFill>
          </a:ln>
        </p:spPr>
        <p:txBody>
          <a:bodyPr>
            <a:spAutoFit/>
          </a:bodyPr>
          <a:lstStyle/>
          <a:p>
            <a:pPr>
              <a:lnSpc>
                <a:spcPts val="3500"/>
              </a:lnSpc>
              <a:defRPr/>
            </a:pPr>
            <a:r>
              <a:rPr kumimoji="0" lang="en-US" altLang="zh-CN" sz="2200" b="0" i="1" kern="0" dirty="0">
                <a:solidFill>
                  <a:srgbClr val="000000"/>
                </a:solidFill>
                <a:latin typeface="Arial" pitchFamily="34" charset="0"/>
                <a:ea typeface="微软雅黑" pitchFamily="34" charset="-122"/>
                <a:cs typeface="Arial" pitchFamily="34" charset="0"/>
              </a:rPr>
              <a:t> g</a:t>
            </a:r>
            <a:r>
              <a:rPr kumimoji="0" lang="en-US" altLang="zh-CN" sz="2200" b="0" kern="0" dirty="0">
                <a:solidFill>
                  <a:srgbClr val="000000"/>
                </a:solidFill>
                <a:latin typeface="Arial" pitchFamily="34" charset="0"/>
                <a:ea typeface="微软雅黑" pitchFamily="34" charset="-122"/>
                <a:cs typeface="Arial" pitchFamily="34" charset="0"/>
              </a:rPr>
              <a:t>(</a:t>
            </a:r>
            <a:r>
              <a:rPr kumimoji="0" lang="en-US" altLang="zh-CN" sz="2200" b="0" i="1" kern="0" dirty="0">
                <a:solidFill>
                  <a:srgbClr val="000000"/>
                </a:solidFill>
                <a:latin typeface="Arial" pitchFamily="34" charset="0"/>
                <a:ea typeface="微软雅黑" pitchFamily="34" charset="-122"/>
                <a:cs typeface="Arial" pitchFamily="34" charset="0"/>
              </a:rPr>
              <a:t>x</a:t>
            </a:r>
            <a:r>
              <a:rPr kumimoji="0" lang="en-US" altLang="zh-CN" sz="2200" b="0" kern="0" dirty="0">
                <a:solidFill>
                  <a:srgbClr val="000000"/>
                </a:solidFill>
                <a:latin typeface="Arial" pitchFamily="34" charset="0"/>
                <a:ea typeface="微软雅黑" pitchFamily="34" charset="-122"/>
                <a:cs typeface="Arial" pitchFamily="34" charset="0"/>
              </a:rPr>
              <a:t>) = (</a:t>
            </a:r>
            <a:r>
              <a:rPr kumimoji="0" lang="en-US" altLang="zh-CN" sz="2200" b="0" i="1" kern="0" dirty="0">
                <a:solidFill>
                  <a:srgbClr val="000000"/>
                </a:solidFill>
                <a:latin typeface="Arial" pitchFamily="34" charset="0"/>
                <a:ea typeface="微软雅黑" pitchFamily="34" charset="-122"/>
                <a:cs typeface="Arial" pitchFamily="34" charset="0"/>
              </a:rPr>
              <a:t>x</a:t>
            </a:r>
            <a:r>
              <a:rPr kumimoji="0" lang="en-US" altLang="zh-CN" sz="2200" b="0" kern="0" dirty="0">
                <a:solidFill>
                  <a:srgbClr val="000000"/>
                </a:solidFill>
                <a:latin typeface="Arial" pitchFamily="34" charset="0"/>
                <a:ea typeface="微软雅黑" pitchFamily="34" charset="-122"/>
                <a:cs typeface="Arial" pitchFamily="34" charset="0"/>
              </a:rPr>
              <a:t> + </a:t>
            </a:r>
            <a:r>
              <a:rPr kumimoji="0" lang="en-US" altLang="zh-CN" sz="2200" b="0" i="1" kern="0" dirty="0">
                <a:solidFill>
                  <a:srgbClr val="000000"/>
                </a:solidFill>
                <a:latin typeface="Arial" pitchFamily="34" charset="0"/>
                <a:ea typeface="微软雅黑" pitchFamily="34" charset="-122"/>
                <a:cs typeface="Arial" pitchFamily="34" charset="0"/>
                <a:sym typeface="Symbol" pitchFamily="18" charset="2"/>
              </a:rPr>
              <a:t></a:t>
            </a:r>
            <a:r>
              <a:rPr kumimoji="0" lang="en-US" altLang="zh-CN" sz="2200" b="0" kern="0" dirty="0">
                <a:solidFill>
                  <a:srgbClr val="000000"/>
                </a:solidFill>
                <a:latin typeface="Arial" pitchFamily="34" charset="0"/>
                <a:ea typeface="微软雅黑" pitchFamily="34" charset="-122"/>
                <a:cs typeface="Arial" pitchFamily="34" charset="0"/>
              </a:rPr>
              <a:t>)(</a:t>
            </a:r>
            <a:r>
              <a:rPr kumimoji="0" lang="en-US" altLang="zh-CN" sz="2200" b="0" i="1" kern="0" dirty="0">
                <a:solidFill>
                  <a:srgbClr val="000000"/>
                </a:solidFill>
                <a:latin typeface="Arial" pitchFamily="34" charset="0"/>
                <a:ea typeface="微软雅黑" pitchFamily="34" charset="-122"/>
                <a:cs typeface="Arial" pitchFamily="34" charset="0"/>
              </a:rPr>
              <a:t>x</a:t>
            </a:r>
            <a:r>
              <a:rPr kumimoji="0" lang="en-US" altLang="zh-CN" sz="2200" b="0" kern="0" dirty="0">
                <a:solidFill>
                  <a:srgbClr val="000000"/>
                </a:solidFill>
                <a:latin typeface="Arial" pitchFamily="34" charset="0"/>
                <a:ea typeface="微软雅黑" pitchFamily="34" charset="-122"/>
                <a:cs typeface="Arial" pitchFamily="34" charset="0"/>
              </a:rPr>
              <a:t> +</a:t>
            </a:r>
            <a:r>
              <a:rPr kumimoji="0" lang="en-US" altLang="zh-CN" sz="2200" b="0" i="1" kern="0" dirty="0">
                <a:solidFill>
                  <a:srgbClr val="000000"/>
                </a:solidFill>
                <a:latin typeface="Arial" pitchFamily="34" charset="0"/>
                <a:ea typeface="微软雅黑" pitchFamily="34" charset="-122"/>
                <a:cs typeface="Arial" pitchFamily="34" charset="0"/>
                <a:sym typeface="Symbol" pitchFamily="18" charset="2"/>
              </a:rPr>
              <a:t></a:t>
            </a:r>
            <a:r>
              <a:rPr kumimoji="0" lang="en-US" altLang="zh-CN" sz="2200" b="0" kern="0" baseline="30000" dirty="0">
                <a:solidFill>
                  <a:srgbClr val="000000"/>
                </a:solidFill>
                <a:latin typeface="Arial" pitchFamily="34" charset="0"/>
                <a:ea typeface="微软雅黑" pitchFamily="34" charset="-122"/>
                <a:cs typeface="Arial" pitchFamily="34" charset="0"/>
              </a:rPr>
              <a:t>2</a:t>
            </a:r>
            <a:r>
              <a:rPr kumimoji="0" lang="en-US" altLang="zh-CN" sz="2200" b="0" kern="0" dirty="0">
                <a:solidFill>
                  <a:srgbClr val="000000"/>
                </a:solidFill>
                <a:latin typeface="Arial" pitchFamily="34" charset="0"/>
                <a:ea typeface="微软雅黑" pitchFamily="34" charset="-122"/>
                <a:cs typeface="Arial" pitchFamily="34" charset="0"/>
              </a:rPr>
              <a:t>) … (</a:t>
            </a:r>
            <a:r>
              <a:rPr kumimoji="0" lang="en-US" altLang="zh-CN" sz="2200" b="0" i="1" kern="0" dirty="0">
                <a:solidFill>
                  <a:srgbClr val="000000"/>
                </a:solidFill>
                <a:latin typeface="Arial" pitchFamily="34" charset="0"/>
                <a:ea typeface="微软雅黑" pitchFamily="34" charset="-122"/>
                <a:cs typeface="Arial" pitchFamily="34" charset="0"/>
              </a:rPr>
              <a:t>x</a:t>
            </a:r>
            <a:r>
              <a:rPr kumimoji="0" lang="en-US" altLang="zh-CN" sz="2200" b="0" kern="0" dirty="0">
                <a:solidFill>
                  <a:srgbClr val="000000"/>
                </a:solidFill>
                <a:latin typeface="Arial" pitchFamily="34" charset="0"/>
                <a:ea typeface="微软雅黑" pitchFamily="34" charset="-122"/>
                <a:cs typeface="Arial" pitchFamily="34" charset="0"/>
              </a:rPr>
              <a:t> +</a:t>
            </a:r>
            <a:r>
              <a:rPr kumimoji="0" lang="en-US" altLang="zh-CN" sz="2200" b="0" i="1" kern="0" dirty="0">
                <a:solidFill>
                  <a:srgbClr val="000000"/>
                </a:solidFill>
                <a:latin typeface="Arial" pitchFamily="34" charset="0"/>
                <a:ea typeface="微软雅黑" pitchFamily="34" charset="-122"/>
                <a:cs typeface="Arial" pitchFamily="34" charset="0"/>
                <a:sym typeface="Symbol" pitchFamily="18" charset="2"/>
              </a:rPr>
              <a:t></a:t>
            </a:r>
            <a:r>
              <a:rPr kumimoji="0" lang="en-US" altLang="zh-CN" sz="2200" b="0" kern="0" baseline="30000" dirty="0">
                <a:solidFill>
                  <a:srgbClr val="000000"/>
                </a:solidFill>
                <a:latin typeface="Arial" pitchFamily="34" charset="0"/>
                <a:ea typeface="微软雅黑" pitchFamily="34" charset="-122"/>
                <a:cs typeface="Arial" pitchFamily="34" charset="0"/>
              </a:rPr>
              <a:t>2</a:t>
            </a:r>
            <a:r>
              <a:rPr kumimoji="0" lang="en-US" altLang="zh-CN" sz="2200" b="0" i="1" kern="0" baseline="30000" dirty="0">
                <a:solidFill>
                  <a:srgbClr val="000000"/>
                </a:solidFill>
                <a:latin typeface="Arial" pitchFamily="34" charset="0"/>
                <a:ea typeface="微软雅黑" pitchFamily="34" charset="-122"/>
                <a:cs typeface="Arial" pitchFamily="34" charset="0"/>
              </a:rPr>
              <a:t>t</a:t>
            </a:r>
            <a:r>
              <a:rPr kumimoji="0" lang="en-US" altLang="zh-CN" sz="2200" b="0" kern="0" dirty="0">
                <a:solidFill>
                  <a:srgbClr val="000000"/>
                </a:solidFill>
                <a:latin typeface="Arial" pitchFamily="34" charset="0"/>
                <a:ea typeface="微软雅黑" pitchFamily="34" charset="-122"/>
                <a:cs typeface="Arial" pitchFamily="34" charset="0"/>
              </a:rPr>
              <a:t>)</a:t>
            </a:r>
            <a:endParaRPr lang="zh-CN" altLang="en-US" dirty="0"/>
          </a:p>
        </p:txBody>
      </p:sp>
      <p:sp>
        <p:nvSpPr>
          <p:cNvPr id="8" name="矩形 7">
            <a:extLst>
              <a:ext uri="{FF2B5EF4-FFF2-40B4-BE49-F238E27FC236}">
                <a16:creationId xmlns:a16="http://schemas.microsoft.com/office/drawing/2014/main" id="{ED10112F-6041-83A7-8540-BBC04779B330}"/>
              </a:ext>
            </a:extLst>
          </p:cNvPr>
          <p:cNvSpPr/>
          <p:nvPr/>
        </p:nvSpPr>
        <p:spPr>
          <a:xfrm>
            <a:off x="928688" y="2786063"/>
            <a:ext cx="5857875" cy="461962"/>
          </a:xfrm>
          <a:prstGeom prst="rect">
            <a:avLst/>
          </a:prstGeom>
        </p:spPr>
        <p:txBody>
          <a:bodyPr>
            <a:spAutoFit/>
          </a:bodyPr>
          <a:lstStyle/>
          <a:p>
            <a:pPr marL="0" lvl="1">
              <a:defRPr/>
            </a:pPr>
            <a:r>
              <a:rPr kumimoji="0" lang="zh-CN" altLang="en-US" sz="2000" b="0" kern="0" dirty="0">
                <a:solidFill>
                  <a:schemeClr val="tx1"/>
                </a:solidFill>
                <a:latin typeface="Arial" pitchFamily="34" charset="0"/>
                <a:ea typeface="微软雅黑" pitchFamily="34" charset="-122"/>
                <a:cs typeface="Arial" pitchFamily="34" charset="0"/>
              </a:rPr>
              <a:t>式中，</a:t>
            </a:r>
            <a:r>
              <a:rPr kumimoji="0" lang="zh-CN" altLang="en-US" sz="2400" i="1" kern="0" dirty="0">
                <a:solidFill>
                  <a:schemeClr val="tx1"/>
                </a:solidFill>
                <a:latin typeface="Arial" pitchFamily="34" charset="0"/>
                <a:ea typeface="微软雅黑" pitchFamily="34" charset="-122"/>
                <a:cs typeface="Arial" pitchFamily="34" charset="0"/>
                <a:sym typeface="Symbol" pitchFamily="18" charset="2"/>
              </a:rPr>
              <a:t></a:t>
            </a:r>
            <a:r>
              <a:rPr kumimoji="0" lang="zh-CN" altLang="en-US" sz="2000" b="0" i="1" kern="0" dirty="0">
                <a:solidFill>
                  <a:schemeClr val="tx1"/>
                </a:solidFill>
                <a:latin typeface="Arial" pitchFamily="34" charset="0"/>
                <a:ea typeface="微软雅黑" pitchFamily="34" charset="-122"/>
                <a:cs typeface="Arial" pitchFamily="34" charset="0"/>
              </a:rPr>
              <a:t>  </a:t>
            </a:r>
            <a:r>
              <a:rPr kumimoji="0" lang="zh-CN" altLang="en-US" sz="2000" b="0" kern="0" dirty="0">
                <a:solidFill>
                  <a:schemeClr val="tx1"/>
                </a:solidFill>
                <a:latin typeface="Arial" pitchFamily="34" charset="0"/>
                <a:ea typeface="微软雅黑" pitchFamily="34" charset="-122"/>
                <a:cs typeface="Arial" pitchFamily="34" charset="0"/>
              </a:rPr>
              <a:t>是伽罗华域</a:t>
            </a:r>
            <a:r>
              <a:rPr kumimoji="0" lang="en-US" altLang="zh-CN" sz="2000" b="0" kern="0" dirty="0">
                <a:solidFill>
                  <a:schemeClr val="tx1"/>
                </a:solidFill>
                <a:latin typeface="Arial" pitchFamily="34" charset="0"/>
                <a:ea typeface="微软雅黑" pitchFamily="34" charset="-122"/>
                <a:cs typeface="Arial" pitchFamily="34" charset="0"/>
              </a:rPr>
              <a:t>GF(</a:t>
            </a:r>
            <a:r>
              <a:rPr lang="en-US" sz="2000" dirty="0">
                <a:solidFill>
                  <a:schemeClr val="tx1"/>
                </a:solidFill>
                <a:latin typeface="Arial" pitchFamily="34" charset="0"/>
                <a:cs typeface="Arial" pitchFamily="34" charset="0"/>
              </a:rPr>
              <a:t>2</a:t>
            </a:r>
            <a:r>
              <a:rPr lang="en-US" sz="2000" i="1" baseline="30000" dirty="0">
                <a:solidFill>
                  <a:schemeClr val="tx1"/>
                </a:solidFill>
                <a:latin typeface="Arial" pitchFamily="34" charset="0"/>
                <a:cs typeface="Arial" pitchFamily="34" charset="0"/>
              </a:rPr>
              <a:t>q</a:t>
            </a:r>
            <a:r>
              <a:rPr lang="en-US" sz="2000" baseline="30000" dirty="0"/>
              <a:t> </a:t>
            </a:r>
            <a:r>
              <a:rPr kumimoji="0" lang="en-US" altLang="zh-CN" sz="2000" b="0" kern="0" dirty="0">
                <a:solidFill>
                  <a:schemeClr val="tx1"/>
                </a:solidFill>
                <a:latin typeface="Arial" pitchFamily="34" charset="0"/>
                <a:ea typeface="微软雅黑" pitchFamily="34" charset="-122"/>
                <a:cs typeface="Arial" pitchFamily="34" charset="0"/>
              </a:rPr>
              <a:t>)</a:t>
            </a:r>
            <a:r>
              <a:rPr kumimoji="0" lang="zh-CN" altLang="en-US" sz="2000" b="0" kern="0" dirty="0">
                <a:solidFill>
                  <a:schemeClr val="tx1"/>
                </a:solidFill>
                <a:latin typeface="Arial" pitchFamily="34" charset="0"/>
                <a:ea typeface="微软雅黑" pitchFamily="34" charset="-122"/>
                <a:cs typeface="Arial" pitchFamily="34" charset="0"/>
              </a:rPr>
              <a:t>中的本原元素。</a:t>
            </a:r>
            <a:endParaRPr lang="zh-CN" altLang="en-US" sz="2000" dirty="0"/>
          </a:p>
        </p:txBody>
      </p:sp>
      <p:grpSp>
        <p:nvGrpSpPr>
          <p:cNvPr id="2" name="组合 11">
            <a:extLst>
              <a:ext uri="{FF2B5EF4-FFF2-40B4-BE49-F238E27FC236}">
                <a16:creationId xmlns:a16="http://schemas.microsoft.com/office/drawing/2014/main" id="{A12FD1F9-C95A-81B9-F4C1-B97EB9287A8A}"/>
              </a:ext>
            </a:extLst>
          </p:cNvPr>
          <p:cNvGrpSpPr>
            <a:grpSpLocks/>
          </p:cNvGrpSpPr>
          <p:nvPr/>
        </p:nvGrpSpPr>
        <p:grpSpPr bwMode="auto">
          <a:xfrm>
            <a:off x="571500" y="3786188"/>
            <a:ext cx="976313" cy="642937"/>
            <a:chOff x="571500" y="3786188"/>
            <a:chExt cx="976313" cy="642937"/>
          </a:xfrm>
        </p:grpSpPr>
        <p:sp>
          <p:nvSpPr>
            <p:cNvPr id="9" name="椭圆 8">
              <a:extLst>
                <a:ext uri="{FF2B5EF4-FFF2-40B4-BE49-F238E27FC236}">
                  <a16:creationId xmlns:a16="http://schemas.microsoft.com/office/drawing/2014/main" id="{83652458-E319-B1CD-7E1F-D4E088CD3DD0}"/>
                </a:ext>
              </a:extLst>
            </p:cNvPr>
            <p:cNvSpPr/>
            <p:nvPr/>
          </p:nvSpPr>
          <p:spPr bwMode="auto">
            <a:xfrm>
              <a:off x="571500" y="3786188"/>
              <a:ext cx="976313" cy="642937"/>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lstStyle/>
            <a:p>
              <a:pPr>
                <a:defRPr/>
              </a:pPr>
              <a:endParaRPr lang="zh-CN" altLang="en-US" dirty="0"/>
            </a:p>
          </p:txBody>
        </p:sp>
        <p:sp>
          <p:nvSpPr>
            <p:cNvPr id="10" name="矩形 9">
              <a:extLst>
                <a:ext uri="{FF2B5EF4-FFF2-40B4-BE49-F238E27FC236}">
                  <a16:creationId xmlns:a16="http://schemas.microsoft.com/office/drawing/2014/main" id="{17197254-3FB5-2860-5060-80F7D0B56512}"/>
                </a:ext>
              </a:extLst>
            </p:cNvPr>
            <p:cNvSpPr/>
            <p:nvPr/>
          </p:nvSpPr>
          <p:spPr>
            <a:xfrm>
              <a:off x="655638" y="3857625"/>
              <a:ext cx="844550" cy="461963"/>
            </a:xfrm>
            <a:prstGeom prst="rect">
              <a:avLst/>
            </a:prstGeom>
          </p:spPr>
          <p:txBody>
            <a:bodyPr>
              <a:spAutoFit/>
            </a:bodyPr>
            <a:lstStyle/>
            <a:p>
              <a:pPr>
                <a:defRPr/>
              </a:pPr>
              <a:r>
                <a:rPr kumimoji="0" lang="zh-CN" altLang="en-US" sz="2400" kern="0" dirty="0">
                  <a:solidFill>
                    <a:srgbClr val="990099"/>
                  </a:solidFill>
                  <a:latin typeface="黑体" pitchFamily="2" charset="-122"/>
                  <a:ea typeface="黑体" pitchFamily="2" charset="-122"/>
                  <a:cs typeface="Arial" pitchFamily="34" charset="0"/>
                </a:rPr>
                <a:t>应用</a:t>
              </a:r>
              <a:endParaRPr lang="zh-CN" altLang="en-US" sz="2400" dirty="0">
                <a:solidFill>
                  <a:srgbClr val="990099"/>
                </a:solidFill>
                <a:latin typeface="黑体" pitchFamily="2" charset="-122"/>
                <a:ea typeface="黑体"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1000"/>
                                        <p:tgtEl>
                                          <p:spTgt spid="6"/>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1000"/>
                                        <p:tgtEl>
                                          <p:spTgt spid="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up)">
                                      <p:cBhvr>
                                        <p:cTn id="16" dur="1000"/>
                                        <p:tgtEl>
                                          <p:spTgt spid="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cTn>
                              </p:par>
                            </p:childTnLst>
                          </p:cTn>
                        </p:par>
                        <p:par>
                          <p:cTn id="22" fill="hold" nodeType="afterGroup">
                            <p:stCondLst>
                              <p:cond delay="500"/>
                            </p:stCondLst>
                            <p:childTnLst>
                              <p:par>
                                <p:cTn id="23" presetID="22" presetClass="entr" presetSubtype="1" fill="hold"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up)">
                                      <p:cBhvr>
                                        <p:cTn id="25"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6" grpId="0"/>
      <p:bldP spid="7" grpId="0" animBg="1"/>
      <p:bldP spid="8"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6">
            <a:extLst>
              <a:ext uri="{FF2B5EF4-FFF2-40B4-BE49-F238E27FC236}">
                <a16:creationId xmlns:a16="http://schemas.microsoft.com/office/drawing/2014/main" id="{E8495E17-E9BD-0949-B6C5-D004C03601AB}"/>
              </a:ext>
            </a:extLst>
          </p:cNvPr>
          <p:cNvSpPr txBox="1">
            <a:spLocks noChangeArrowheads="1"/>
          </p:cNvSpPr>
          <p:nvPr/>
        </p:nvSpPr>
        <p:spPr bwMode="gray">
          <a:xfrm>
            <a:off x="3286125" y="3363913"/>
            <a:ext cx="2357438" cy="769937"/>
          </a:xfrm>
          <a:prstGeom prst="rect">
            <a:avLst/>
          </a:prstGeom>
          <a:noFill/>
          <a:ln w="9525">
            <a:noFill/>
            <a:miter lim="800000"/>
            <a:headEnd/>
            <a:tailEnd/>
          </a:ln>
          <a:effectLst>
            <a:outerShdw blurRad="50800" dist="38100" dir="2700000" algn="tl" rotWithShape="0">
              <a:prstClr val="black">
                <a:alpha val="40000"/>
              </a:prstClr>
            </a:outerShdw>
          </a:effectLst>
        </p:spPr>
        <p:txBody>
          <a:bodyPr>
            <a:spAutoFit/>
          </a:bodyPr>
          <a:lstStyle/>
          <a:p>
            <a:pPr>
              <a:defRPr/>
            </a:pPr>
            <a:r>
              <a:rPr lang="zh-CN" altLang="en-US" sz="4400" dirty="0">
                <a:solidFill>
                  <a:srgbClr val="003399"/>
                </a:solidFill>
                <a:latin typeface="微软雅黑" pitchFamily="34" charset="-122"/>
                <a:ea typeface="微软雅黑" pitchFamily="34" charset="-122"/>
              </a:rPr>
              <a:t>卷 积 码</a:t>
            </a:r>
          </a:p>
        </p:txBody>
      </p:sp>
      <p:sp>
        <p:nvSpPr>
          <p:cNvPr id="12" name="矩形 11">
            <a:extLst>
              <a:ext uri="{FF2B5EF4-FFF2-40B4-BE49-F238E27FC236}">
                <a16:creationId xmlns:a16="http://schemas.microsoft.com/office/drawing/2014/main" id="{930F6847-99B6-D25B-69B2-3D6A5609D25E}"/>
              </a:ext>
            </a:extLst>
          </p:cNvPr>
          <p:cNvSpPr/>
          <p:nvPr/>
        </p:nvSpPr>
        <p:spPr>
          <a:xfrm>
            <a:off x="3214688" y="4143375"/>
            <a:ext cx="3857625" cy="541338"/>
          </a:xfrm>
          <a:prstGeom prst="rect">
            <a:avLst/>
          </a:prstGeom>
        </p:spPr>
        <p:txBody>
          <a:bodyPr>
            <a:spAutoFit/>
          </a:bodyPr>
          <a:lstStyle/>
          <a:p>
            <a:pPr>
              <a:lnSpc>
                <a:spcPts val="3500"/>
              </a:lnSpc>
              <a:defRPr/>
            </a:pPr>
            <a:r>
              <a:rPr lang="en-US" altLang="zh-CN" sz="2000" b="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a:t>
            </a:r>
            <a:r>
              <a:rPr lang="zh-CN" altLang="en-US" sz="2000" b="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一种</a:t>
            </a:r>
            <a:r>
              <a:rPr lang="zh-CN" altLang="en-US" sz="2400" b="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非</a:t>
            </a:r>
            <a:r>
              <a:rPr lang="zh-CN" altLang="en-US" sz="2000" b="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分组码</a:t>
            </a:r>
            <a:endParaRPr lang="en-US" altLang="zh-CN" sz="2000" b="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p:txBody>
      </p:sp>
      <p:sp>
        <p:nvSpPr>
          <p:cNvPr id="14" name="矩形 4">
            <a:extLst>
              <a:ext uri="{FF2B5EF4-FFF2-40B4-BE49-F238E27FC236}">
                <a16:creationId xmlns:a16="http://schemas.microsoft.com/office/drawing/2014/main" id="{C2FD6229-8AAC-4833-936C-33389AC558C8}"/>
              </a:ext>
            </a:extLst>
          </p:cNvPr>
          <p:cNvSpPr>
            <a:spLocks noChangeArrowheads="1"/>
          </p:cNvSpPr>
          <p:nvPr/>
        </p:nvSpPr>
        <p:spPr bwMode="auto">
          <a:xfrm>
            <a:off x="642938" y="2214563"/>
            <a:ext cx="1927225" cy="708025"/>
          </a:xfrm>
          <a:prstGeom prst="rect">
            <a:avLst/>
          </a:prstGeom>
          <a:noFill/>
          <a:ln w="9525">
            <a:noFill/>
            <a:miter lim="800000"/>
            <a:headEnd/>
            <a:tailEnd/>
          </a:ln>
        </p:spPr>
        <p:txBody>
          <a:bodyPr wrap="none">
            <a:spAutoFit/>
          </a:bodyPr>
          <a:lstStyle/>
          <a:p>
            <a:pPr eaLnBrk="0" hangingPunct="0">
              <a:defRPr/>
            </a:pPr>
            <a:r>
              <a:rPr lang="en-US" altLang="en-US" sz="4000" u="sng" dirty="0">
                <a:solidFill>
                  <a:srgbClr val="990099"/>
                </a:solidFill>
                <a:effectLst>
                  <a:outerShdw blurRad="38100" dist="38100" dir="2700000" algn="tl">
                    <a:srgbClr val="000000">
                      <a:alpha val="43137"/>
                    </a:srgbClr>
                  </a:outerShdw>
                </a:effectLst>
                <a:latin typeface="+mn-ea"/>
                <a:ea typeface="+mn-ea"/>
              </a:rPr>
              <a:t>§</a:t>
            </a:r>
            <a:r>
              <a:rPr lang="en-US" altLang="en-US" sz="4000" u="sng" dirty="0">
                <a:solidFill>
                  <a:srgbClr val="990099"/>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11</a:t>
            </a:r>
            <a:r>
              <a:rPr lang="en-US" altLang="zh-CN" sz="4000" u="sng" dirty="0">
                <a:solidFill>
                  <a:srgbClr val="990099"/>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.7</a:t>
            </a:r>
            <a:r>
              <a:rPr lang="en-US" altLang="zh-CN" sz="4000" u="sng" dirty="0">
                <a:solidFill>
                  <a:srgbClr val="990099"/>
                </a:solidFill>
                <a:effectLst>
                  <a:outerShdw blurRad="38100" dist="38100" dir="2700000" algn="tl">
                    <a:srgbClr val="000000">
                      <a:alpha val="43137"/>
                    </a:srgbClr>
                  </a:outerShdw>
                </a:effectLst>
                <a:ea typeface="微软雅黑" pitchFamily="34" charset="-122"/>
                <a:cs typeface="Arial" charset="0"/>
              </a:rPr>
              <a:t> </a:t>
            </a:r>
            <a:endParaRPr lang="zh-CN" altLang="en-US" sz="4000" u="sng" dirty="0">
              <a:solidFill>
                <a:srgbClr val="990099"/>
              </a:solidFill>
              <a:effectLst>
                <a:outerShdw blurRad="38100" dist="38100" dir="2700000" algn="tl">
                  <a:srgbClr val="000000">
                    <a:alpha val="43137"/>
                  </a:srgbClr>
                </a:outerShdw>
              </a:effectLst>
            </a:endParaRPr>
          </a:p>
        </p:txBody>
      </p:sp>
      <p:pic>
        <p:nvPicPr>
          <p:cNvPr id="119815" name="Picture 7">
            <a:extLst>
              <a:ext uri="{FF2B5EF4-FFF2-40B4-BE49-F238E27FC236}">
                <a16:creationId xmlns:a16="http://schemas.microsoft.com/office/drawing/2014/main" id="{25950DD3-9CA9-ABA1-03FE-FB6EF835BE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58000"/>
          <a:stretch>
            <a:fillRect/>
          </a:stretch>
        </p:blipFill>
        <p:spPr bwMode="auto">
          <a:xfrm>
            <a:off x="1500188" y="4857750"/>
            <a:ext cx="71437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087A071C-A569-4F15-239B-2655A7532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9001" b="-5000"/>
          <a:stretch>
            <a:fillRect/>
          </a:stretch>
        </p:blipFill>
        <p:spPr bwMode="auto">
          <a:xfrm>
            <a:off x="1500188" y="5357813"/>
            <a:ext cx="7143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up)">
                                      <p:cBhvr>
                                        <p:cTn id="11" dur="500"/>
                                        <p:tgtEl>
                                          <p:spTgt spid="1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119815"/>
                                        </p:tgtEl>
                                        <p:attrNameLst>
                                          <p:attrName>style.visibility</p:attrName>
                                        </p:attrNameLst>
                                      </p:cBhvr>
                                      <p:to>
                                        <p:strVal val="visible"/>
                                      </p:to>
                                    </p:set>
                                    <p:animEffect transition="in" filter="wipe(up)">
                                      <p:cBhvr>
                                        <p:cTn id="16" dur="1000"/>
                                        <p:tgtEl>
                                          <p:spTgt spid="11981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up)">
                                      <p:cBhvr>
                                        <p:cTn id="21"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12" grpId="0"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850" name="Picture 18">
            <a:extLst>
              <a:ext uri="{FF2B5EF4-FFF2-40B4-BE49-F238E27FC236}">
                <a16:creationId xmlns:a16="http://schemas.microsoft.com/office/drawing/2014/main" id="{ACEBE09F-0C6F-A0A7-5C40-6352FE895A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0" y="2643188"/>
            <a:ext cx="7572375" cy="94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37DB144E-5330-5A31-3837-74C55DD80D54}"/>
              </a:ext>
            </a:extLst>
          </p:cNvPr>
          <p:cNvSpPr/>
          <p:nvPr/>
        </p:nvSpPr>
        <p:spPr>
          <a:xfrm>
            <a:off x="474663" y="500063"/>
            <a:ext cx="3240087" cy="523875"/>
          </a:xfrm>
          <a:prstGeom prst="rect">
            <a:avLst/>
          </a:prstGeom>
        </p:spPr>
        <p:txBody>
          <a:bodyPr>
            <a:spAutoFit/>
          </a:bodyPr>
          <a:lstStyle/>
          <a:p>
            <a:pPr marL="285750" indent="-285750">
              <a:spcBef>
                <a:spcPct val="20000"/>
              </a:spcBef>
              <a:buClr>
                <a:srgbClr val="FF0000"/>
              </a:buClr>
              <a:buSzPct val="75000"/>
              <a:buFont typeface="Wingdings" pitchFamily="2" charset="2"/>
              <a:buChar char="n"/>
              <a:defRPr/>
            </a:pPr>
            <a:r>
              <a:rPr kumimoji="0" lang="zh-CN" altLang="en-US" sz="2800" kern="0" dirty="0">
                <a:solidFill>
                  <a:srgbClr val="FF0000"/>
                </a:solidFill>
                <a:latin typeface="Arial" pitchFamily="34" charset="0"/>
                <a:ea typeface="微软雅黑" pitchFamily="34" charset="-122"/>
                <a:cs typeface="Arial" pitchFamily="34" charset="0"/>
              </a:rPr>
              <a:t>非</a:t>
            </a:r>
            <a:r>
              <a:rPr kumimoji="0" lang="zh-CN" altLang="en-US" sz="2800" kern="0" dirty="0">
                <a:solidFill>
                  <a:srgbClr val="000000"/>
                </a:solidFill>
                <a:latin typeface="Arial" pitchFamily="34" charset="0"/>
                <a:ea typeface="微软雅黑" pitchFamily="34" charset="-122"/>
                <a:cs typeface="Arial" pitchFamily="34" charset="0"/>
              </a:rPr>
              <a:t>分组码概念：</a:t>
            </a:r>
          </a:p>
        </p:txBody>
      </p:sp>
      <p:sp>
        <p:nvSpPr>
          <p:cNvPr id="7" name="矩形 6">
            <a:extLst>
              <a:ext uri="{FF2B5EF4-FFF2-40B4-BE49-F238E27FC236}">
                <a16:creationId xmlns:a16="http://schemas.microsoft.com/office/drawing/2014/main" id="{06340531-8B45-078E-21F0-08883EE612B4}"/>
              </a:ext>
            </a:extLst>
          </p:cNvPr>
          <p:cNvSpPr>
            <a:spLocks noChangeArrowheads="1"/>
          </p:cNvSpPr>
          <p:nvPr/>
        </p:nvSpPr>
        <p:spPr bwMode="auto">
          <a:xfrm>
            <a:off x="606425" y="1214438"/>
            <a:ext cx="1536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buClr>
                <a:srgbClr val="0000CC"/>
              </a:buClr>
              <a:buSzPct val="65000"/>
              <a:buFont typeface="Wingdings" panose="05000000000000000000" pitchFamily="2" charset="2"/>
              <a:buChar char="u"/>
            </a:pPr>
            <a:r>
              <a:rPr lang="zh-CN" altLang="en-US" sz="2400">
                <a:solidFill>
                  <a:schemeClr val="tx1"/>
                </a:solidFill>
                <a:latin typeface="Arial" panose="020B0604020202020204" pitchFamily="34" charset="0"/>
                <a:ea typeface="微软雅黑" panose="020B0503020204020204" pitchFamily="34" charset="-122"/>
                <a:cs typeface="Arial" panose="020B0604020202020204" pitchFamily="34" charset="0"/>
              </a:rPr>
              <a:t> 分组码</a:t>
            </a:r>
            <a:r>
              <a:rPr lang="en-US" altLang="zh-CN" sz="2400">
                <a:solidFill>
                  <a:schemeClr val="tx1"/>
                </a:solidFill>
                <a:latin typeface="Arial" panose="020B0604020202020204" pitchFamily="34" charset="0"/>
                <a:ea typeface="微软雅黑" panose="020B0503020204020204" pitchFamily="34" charset="-122"/>
                <a:cs typeface="Arial" panose="020B0604020202020204" pitchFamily="34" charset="0"/>
              </a:rPr>
              <a:t>:</a:t>
            </a:r>
            <a:endParaRPr lang="zh-CN" altLang="en-US" sz="24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9" name="矩形 8">
            <a:extLst>
              <a:ext uri="{FF2B5EF4-FFF2-40B4-BE49-F238E27FC236}">
                <a16:creationId xmlns:a16="http://schemas.microsoft.com/office/drawing/2014/main" id="{69745615-7A6B-370F-04AC-5D5392056175}"/>
              </a:ext>
            </a:extLst>
          </p:cNvPr>
          <p:cNvSpPr>
            <a:spLocks noChangeArrowheads="1"/>
          </p:cNvSpPr>
          <p:nvPr/>
        </p:nvSpPr>
        <p:spPr bwMode="auto">
          <a:xfrm>
            <a:off x="928688" y="1681163"/>
            <a:ext cx="7358062" cy="400050"/>
          </a:xfrm>
          <a:prstGeom prst="rect">
            <a:avLst/>
          </a:prstGeom>
          <a:noFill/>
          <a:ln w="9525">
            <a:noFill/>
            <a:miter lim="800000"/>
            <a:headEnd/>
            <a:tailEnd/>
          </a:ln>
        </p:spPr>
        <p:txBody>
          <a:bodyPr>
            <a:spAutoFit/>
          </a:bodyPr>
          <a:lstStyle/>
          <a:p>
            <a:pPr>
              <a:defRPr/>
            </a:pPr>
            <a:r>
              <a:rPr lang="en-US" altLang="zh-CN" sz="2000" b="0" dirty="0">
                <a:solidFill>
                  <a:schemeClr val="tx1"/>
                </a:solidFill>
                <a:latin typeface="微软雅黑" pitchFamily="34" charset="-122"/>
                <a:ea typeface="微软雅黑" pitchFamily="34" charset="-122"/>
                <a:cs typeface="Arial" charset="0"/>
              </a:rPr>
              <a:t>—— </a:t>
            </a:r>
            <a:r>
              <a:rPr lang="zh-CN" altLang="en-US" sz="2000" b="0" dirty="0">
                <a:solidFill>
                  <a:schemeClr val="tx1"/>
                </a:solidFill>
                <a:latin typeface="微软雅黑" pitchFamily="34" charset="-122"/>
                <a:ea typeface="微软雅黑" pitchFamily="34" charset="-122"/>
                <a:cs typeface="Arial" charset="0"/>
              </a:rPr>
              <a:t>每个码组中的</a:t>
            </a: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Arial" charset="0"/>
              </a:rPr>
              <a:t>督元</a:t>
            </a:r>
            <a:r>
              <a:rPr lang="zh-CN" altLang="en-US" sz="2000" b="0" dirty="0">
                <a:solidFill>
                  <a:schemeClr val="tx1"/>
                </a:solidFill>
                <a:latin typeface="微软雅黑" pitchFamily="34" charset="-122"/>
                <a:ea typeface="微软雅黑" pitchFamily="34" charset="-122"/>
                <a:cs typeface="Arial" charset="0"/>
              </a:rPr>
              <a:t>仅与</a:t>
            </a:r>
            <a:r>
              <a:rPr lang="zh-CN" altLang="en-US" sz="2000" dirty="0">
                <a:solidFill>
                  <a:schemeClr val="tx1"/>
                </a:solidFill>
                <a:latin typeface="微软雅黑" pitchFamily="34" charset="-122"/>
                <a:ea typeface="微软雅黑" pitchFamily="34" charset="-122"/>
                <a:cs typeface="Arial" charset="0"/>
              </a:rPr>
              <a:t>本码组</a:t>
            </a:r>
            <a:r>
              <a:rPr lang="zh-CN" altLang="en-US" sz="2000" b="0" dirty="0">
                <a:solidFill>
                  <a:schemeClr val="tx1"/>
                </a:solidFill>
                <a:latin typeface="微软雅黑" pitchFamily="34" charset="-122"/>
                <a:ea typeface="微软雅黑" pitchFamily="34" charset="-122"/>
                <a:cs typeface="Arial" charset="0"/>
              </a:rPr>
              <a:t>中的</a:t>
            </a:r>
            <a:r>
              <a:rPr lang="en-US" altLang="zh-CN" sz="2000" i="1" dirty="0">
                <a:solidFill>
                  <a:schemeClr val="tx1"/>
                </a:solidFill>
                <a:latin typeface="微软雅黑" pitchFamily="34" charset="-122"/>
                <a:ea typeface="微软雅黑" pitchFamily="34" charset="-122"/>
                <a:cs typeface="Arial" charset="0"/>
              </a:rPr>
              <a:t>k</a:t>
            </a:r>
            <a:r>
              <a:rPr lang="zh-CN" altLang="en-US" sz="2000" b="0" dirty="0">
                <a:solidFill>
                  <a:schemeClr val="tx1"/>
                </a:solidFill>
                <a:latin typeface="微软雅黑" pitchFamily="34" charset="-122"/>
                <a:ea typeface="微软雅黑" pitchFamily="34" charset="-122"/>
                <a:cs typeface="Arial" charset="0"/>
              </a:rPr>
              <a:t>个</a:t>
            </a: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Arial" charset="0"/>
              </a:rPr>
              <a:t>信元</a:t>
            </a:r>
            <a:r>
              <a:rPr lang="zh-CN" altLang="en-US" sz="2000" b="0" dirty="0">
                <a:solidFill>
                  <a:schemeClr val="tx1"/>
                </a:solidFill>
                <a:latin typeface="微软雅黑" pitchFamily="34" charset="-122"/>
                <a:ea typeface="微软雅黑" pitchFamily="34" charset="-122"/>
                <a:cs typeface="Arial" charset="0"/>
              </a:rPr>
              <a:t>有约束关系。</a:t>
            </a:r>
          </a:p>
        </p:txBody>
      </p:sp>
      <p:sp>
        <p:nvSpPr>
          <p:cNvPr id="11" name="矩形 10">
            <a:extLst>
              <a:ext uri="{FF2B5EF4-FFF2-40B4-BE49-F238E27FC236}">
                <a16:creationId xmlns:a16="http://schemas.microsoft.com/office/drawing/2014/main" id="{96BDC8F7-D3BF-7BC5-C80F-09726EC9049E}"/>
              </a:ext>
            </a:extLst>
          </p:cNvPr>
          <p:cNvSpPr>
            <a:spLocks noChangeArrowheads="1"/>
          </p:cNvSpPr>
          <p:nvPr/>
        </p:nvSpPr>
        <p:spPr bwMode="auto">
          <a:xfrm>
            <a:off x="622300" y="2214563"/>
            <a:ext cx="1800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buClr>
                <a:srgbClr val="0000CC"/>
              </a:buClr>
              <a:buSzPct val="65000"/>
              <a:buFont typeface="Wingdings" panose="05000000000000000000" pitchFamily="2" charset="2"/>
              <a:buChar char="u"/>
            </a:pPr>
            <a:r>
              <a:rPr lang="zh-CN" altLang="en-US" sz="2400">
                <a:solidFill>
                  <a:schemeClr val="tx1"/>
                </a:solidFill>
                <a:latin typeface="Arial" panose="020B0604020202020204" pitchFamily="34" charset="0"/>
                <a:ea typeface="微软雅黑" panose="020B0503020204020204" pitchFamily="34" charset="-122"/>
                <a:cs typeface="Arial" panose="020B0604020202020204" pitchFamily="34" charset="0"/>
              </a:rPr>
              <a:t> </a:t>
            </a:r>
            <a:r>
              <a:rPr lang="zh-CN" altLang="en-US" sz="2400">
                <a:solidFill>
                  <a:srgbClr val="FF0000"/>
                </a:solidFill>
                <a:latin typeface="Arial" panose="020B0604020202020204" pitchFamily="34" charset="0"/>
                <a:ea typeface="微软雅黑" panose="020B0503020204020204" pitchFamily="34" charset="-122"/>
                <a:cs typeface="Arial" panose="020B0604020202020204" pitchFamily="34" charset="0"/>
              </a:rPr>
              <a:t>非</a:t>
            </a:r>
            <a:r>
              <a:rPr lang="zh-CN" altLang="en-US" sz="2400">
                <a:solidFill>
                  <a:schemeClr val="tx1"/>
                </a:solidFill>
                <a:latin typeface="Arial" panose="020B0604020202020204" pitchFamily="34" charset="0"/>
                <a:ea typeface="微软雅黑" panose="020B0503020204020204" pitchFamily="34" charset="-122"/>
                <a:cs typeface="Arial" panose="020B0604020202020204" pitchFamily="34" charset="0"/>
              </a:rPr>
              <a:t>分组码</a:t>
            </a:r>
            <a:r>
              <a:rPr lang="en-US" altLang="zh-CN" sz="2400">
                <a:solidFill>
                  <a:schemeClr val="tx1"/>
                </a:solidFill>
                <a:latin typeface="Arial" panose="020B0604020202020204" pitchFamily="34" charset="0"/>
                <a:ea typeface="微软雅黑" panose="020B0503020204020204" pitchFamily="34" charset="-122"/>
                <a:cs typeface="Arial" panose="020B0604020202020204" pitchFamily="34" charset="0"/>
              </a:rPr>
              <a:t>:</a:t>
            </a:r>
            <a:endParaRPr lang="zh-CN" altLang="en-US" sz="24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4" name="矩形 13">
            <a:extLst>
              <a:ext uri="{FF2B5EF4-FFF2-40B4-BE49-F238E27FC236}">
                <a16:creationId xmlns:a16="http://schemas.microsoft.com/office/drawing/2014/main" id="{2F741A81-FFA2-394E-22D8-80D691195B3D}"/>
              </a:ext>
            </a:extLst>
          </p:cNvPr>
          <p:cNvSpPr/>
          <p:nvPr/>
        </p:nvSpPr>
        <p:spPr>
          <a:xfrm>
            <a:off x="3571875" y="3143250"/>
            <a:ext cx="5000625" cy="400050"/>
          </a:xfrm>
          <a:prstGeom prst="rect">
            <a:avLst/>
          </a:prstGeom>
        </p:spPr>
        <p:txBody>
          <a:bodyPr>
            <a:spAutoFit/>
          </a:bodyPr>
          <a:lstStyle/>
          <a:p>
            <a:pPr>
              <a:defRPr/>
            </a:pPr>
            <a:r>
              <a:rPr lang="zh-CN" altLang="en-US" sz="2000" b="0" dirty="0">
                <a:solidFill>
                  <a:schemeClr val="tx1"/>
                </a:solidFill>
                <a:latin typeface="Arial" pitchFamily="34" charset="0"/>
                <a:ea typeface="微软雅黑" pitchFamily="34" charset="-122"/>
                <a:cs typeface="Arial" pitchFamily="34" charset="0"/>
              </a:rPr>
              <a:t>即一个码组中的</a:t>
            </a:r>
            <a:r>
              <a:rPr lang="zh-CN" altLang="en-US" sz="2000" b="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督元 </a:t>
            </a:r>
            <a:r>
              <a:rPr lang="zh-CN" altLang="en-US" sz="2000" b="0" dirty="0">
                <a:solidFill>
                  <a:schemeClr val="tx1"/>
                </a:solidFill>
                <a:latin typeface="Arial" pitchFamily="34" charset="0"/>
                <a:ea typeface="微软雅黑" pitchFamily="34" charset="-122"/>
                <a:cs typeface="Arial" pitchFamily="34" charset="0"/>
              </a:rPr>
              <a:t>监督着</a:t>
            </a:r>
            <a:r>
              <a:rPr lang="en-US" altLang="zh-CN" sz="2000" i="1" dirty="0">
                <a:solidFill>
                  <a:srgbClr val="FF0000"/>
                </a:solidFill>
                <a:latin typeface="Arial" pitchFamily="34" charset="0"/>
                <a:ea typeface="微软雅黑" pitchFamily="34" charset="-122"/>
                <a:cs typeface="Arial" pitchFamily="34" charset="0"/>
              </a:rPr>
              <a:t>N</a:t>
            </a:r>
            <a:r>
              <a:rPr lang="zh-CN" altLang="en-US" sz="2000" b="0" dirty="0">
                <a:solidFill>
                  <a:schemeClr val="tx1"/>
                </a:solidFill>
                <a:latin typeface="Arial" pitchFamily="34" charset="0"/>
                <a:ea typeface="微软雅黑" pitchFamily="34" charset="-122"/>
                <a:cs typeface="Arial" pitchFamily="34" charset="0"/>
              </a:rPr>
              <a:t>个信息段。</a:t>
            </a:r>
            <a:endParaRPr lang="zh-CN" altLang="en-US" sz="2000" b="0" dirty="0">
              <a:solidFill>
                <a:schemeClr val="tx1"/>
              </a:solidFill>
            </a:endParaRPr>
          </a:p>
        </p:txBody>
      </p:sp>
      <p:sp>
        <p:nvSpPr>
          <p:cNvPr id="16" name="矩形 15">
            <a:extLst>
              <a:ext uri="{FF2B5EF4-FFF2-40B4-BE49-F238E27FC236}">
                <a16:creationId xmlns:a16="http://schemas.microsoft.com/office/drawing/2014/main" id="{C9B77C27-7B44-BADE-E5DE-AFDF79B7FA0F}"/>
              </a:ext>
            </a:extLst>
          </p:cNvPr>
          <p:cNvSpPr>
            <a:spLocks noChangeArrowheads="1"/>
          </p:cNvSpPr>
          <p:nvPr/>
        </p:nvSpPr>
        <p:spPr bwMode="auto">
          <a:xfrm>
            <a:off x="628650" y="3752850"/>
            <a:ext cx="3797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buClr>
                <a:srgbClr val="0000CC"/>
              </a:buClr>
              <a:buSzPct val="65000"/>
              <a:buFont typeface="Wingdings" panose="05000000000000000000" pitchFamily="2" charset="2"/>
              <a:buChar char="u"/>
            </a:pPr>
            <a:r>
              <a:rPr lang="zh-CN" altLang="en-US" sz="2400">
                <a:solidFill>
                  <a:schemeClr val="tx1"/>
                </a:solidFill>
                <a:latin typeface="Arial" panose="020B0604020202020204" pitchFamily="34" charset="0"/>
                <a:ea typeface="微软雅黑" panose="020B0503020204020204" pitchFamily="34" charset="-122"/>
                <a:cs typeface="Arial" panose="020B0604020202020204" pitchFamily="34" charset="0"/>
              </a:rPr>
              <a:t> 卷积码</a:t>
            </a:r>
            <a:r>
              <a:rPr lang="zh-CN" altLang="en-US" sz="2400" b="0">
                <a:solidFill>
                  <a:schemeClr val="tx1"/>
                </a:solidFill>
                <a:latin typeface="Arial" panose="020B0604020202020204" pitchFamily="34" charset="0"/>
                <a:ea typeface="微软雅黑" panose="020B0503020204020204" pitchFamily="34" charset="-122"/>
                <a:cs typeface="Arial" panose="020B0604020202020204" pitchFamily="34" charset="0"/>
              </a:rPr>
              <a:t>的</a:t>
            </a:r>
            <a:r>
              <a:rPr lang="zh-CN" altLang="en-US" sz="2400">
                <a:solidFill>
                  <a:schemeClr val="tx1"/>
                </a:solidFill>
                <a:latin typeface="Arial" panose="020B0604020202020204" pitchFamily="34" charset="0"/>
                <a:ea typeface="微软雅黑" panose="020B0503020204020204" pitchFamily="34" charset="-122"/>
                <a:cs typeface="Arial" panose="020B0604020202020204" pitchFamily="34" charset="0"/>
              </a:rPr>
              <a:t>符号</a:t>
            </a:r>
            <a:r>
              <a:rPr lang="en-US" altLang="zh-CN" sz="2400">
                <a:solidFill>
                  <a:schemeClr val="tx1"/>
                </a:solidFill>
                <a:latin typeface="Arial" panose="020B0604020202020204" pitchFamily="34" charset="0"/>
                <a:ea typeface="微软雅黑" panose="020B0503020204020204" pitchFamily="34" charset="-122"/>
                <a:cs typeface="Arial" panose="020B0604020202020204" pitchFamily="34" charset="0"/>
              </a:rPr>
              <a:t>: </a:t>
            </a:r>
            <a:r>
              <a:rPr lang="zh-CN" altLang="en-US" sz="2400" b="0">
                <a:solidFill>
                  <a:schemeClr val="tx1"/>
                </a:solidFill>
                <a:latin typeface="Arial" panose="020B0604020202020204" pitchFamily="34" charset="0"/>
                <a:ea typeface="微软雅黑" panose="020B0503020204020204" pitchFamily="34" charset="-122"/>
                <a:cs typeface="Arial" panose="020B0604020202020204" pitchFamily="34" charset="0"/>
              </a:rPr>
              <a:t> </a:t>
            </a:r>
            <a:r>
              <a:rPr lang="en-US" altLang="zh-CN" sz="2400" b="0">
                <a:solidFill>
                  <a:srgbClr val="0000CC"/>
                </a:solidFill>
                <a:latin typeface="Arial" panose="020B0604020202020204" pitchFamily="34" charset="0"/>
                <a:ea typeface="微软雅黑" panose="020B0503020204020204" pitchFamily="34" charset="-122"/>
                <a:cs typeface="Arial" panose="020B0604020202020204" pitchFamily="34" charset="0"/>
              </a:rPr>
              <a:t>(</a:t>
            </a:r>
            <a:r>
              <a:rPr lang="en-US" altLang="zh-CN" sz="2400" i="1">
                <a:solidFill>
                  <a:srgbClr val="0000CC"/>
                </a:solidFill>
                <a:latin typeface="Arial" panose="020B0604020202020204" pitchFamily="34" charset="0"/>
                <a:ea typeface="微软雅黑" panose="020B0503020204020204" pitchFamily="34" charset="-122"/>
                <a:cs typeface="Arial" panose="020B0604020202020204" pitchFamily="34" charset="0"/>
              </a:rPr>
              <a:t>n</a:t>
            </a:r>
            <a:r>
              <a:rPr lang="en-US" altLang="zh-CN" sz="2400">
                <a:solidFill>
                  <a:srgbClr val="0000CC"/>
                </a:solidFill>
                <a:latin typeface="Arial" panose="020B0604020202020204" pitchFamily="34" charset="0"/>
                <a:ea typeface="微软雅黑" panose="020B0503020204020204" pitchFamily="34" charset="-122"/>
                <a:cs typeface="Arial" panose="020B0604020202020204" pitchFamily="34" charset="0"/>
              </a:rPr>
              <a:t>, </a:t>
            </a:r>
            <a:r>
              <a:rPr lang="en-US" altLang="zh-CN" sz="2400" i="1">
                <a:solidFill>
                  <a:srgbClr val="0000CC"/>
                </a:solidFill>
                <a:latin typeface="Arial" panose="020B0604020202020204" pitchFamily="34" charset="0"/>
                <a:ea typeface="微软雅黑" panose="020B0503020204020204" pitchFamily="34" charset="-122"/>
                <a:cs typeface="Arial" panose="020B0604020202020204" pitchFamily="34" charset="0"/>
              </a:rPr>
              <a:t>k</a:t>
            </a:r>
            <a:r>
              <a:rPr lang="en-US" altLang="zh-CN" sz="2400">
                <a:solidFill>
                  <a:srgbClr val="0000CC"/>
                </a:solidFill>
                <a:latin typeface="Arial" panose="020B0604020202020204" pitchFamily="34" charset="0"/>
                <a:ea typeface="微软雅黑" panose="020B0503020204020204" pitchFamily="34" charset="-122"/>
                <a:cs typeface="Arial" panose="020B0604020202020204" pitchFamily="34" charset="0"/>
              </a:rPr>
              <a:t>, </a:t>
            </a:r>
            <a:r>
              <a:rPr lang="en-US" altLang="zh-CN" sz="2400" i="1">
                <a:solidFill>
                  <a:srgbClr val="FF0000"/>
                </a:solidFill>
                <a:latin typeface="Arial" panose="020B0604020202020204" pitchFamily="34" charset="0"/>
                <a:ea typeface="微软雅黑" panose="020B0503020204020204" pitchFamily="34" charset="-122"/>
                <a:cs typeface="Arial" panose="020B0604020202020204" pitchFamily="34" charset="0"/>
              </a:rPr>
              <a:t>N</a:t>
            </a:r>
            <a:r>
              <a:rPr lang="zh-CN" altLang="en-US" sz="2400" i="1">
                <a:solidFill>
                  <a:srgbClr val="0000CC"/>
                </a:solidFill>
                <a:latin typeface="Arial" panose="020B0604020202020204" pitchFamily="34" charset="0"/>
                <a:ea typeface="微软雅黑" panose="020B0503020204020204" pitchFamily="34" charset="-122"/>
                <a:cs typeface="Arial" panose="020B0604020202020204" pitchFamily="34" charset="0"/>
              </a:rPr>
              <a:t> </a:t>
            </a:r>
            <a:r>
              <a:rPr lang="en-US" altLang="zh-CN" sz="2400" b="0">
                <a:solidFill>
                  <a:srgbClr val="0000CC"/>
                </a:solidFill>
                <a:latin typeface="Arial" panose="020B0604020202020204" pitchFamily="34" charset="0"/>
                <a:ea typeface="微软雅黑" panose="020B0503020204020204" pitchFamily="34" charset="-122"/>
                <a:cs typeface="Arial" panose="020B0604020202020204" pitchFamily="34" charset="0"/>
              </a:rPr>
              <a:t>)</a:t>
            </a:r>
            <a:endParaRPr lang="zh-CN" altLang="en-US" sz="2400" b="0">
              <a:solidFill>
                <a:srgbClr val="0000CC"/>
              </a:solidFill>
              <a:latin typeface="Arial" panose="020B0604020202020204" pitchFamily="34" charset="0"/>
              <a:ea typeface="微软雅黑" panose="020B0503020204020204" pitchFamily="34" charset="-122"/>
              <a:cs typeface="Arial" panose="020B0604020202020204" pitchFamily="34" charset="0"/>
            </a:endParaRPr>
          </a:p>
        </p:txBody>
      </p:sp>
      <p:sp>
        <p:nvSpPr>
          <p:cNvPr id="17" name="矩形 16">
            <a:extLst>
              <a:ext uri="{FF2B5EF4-FFF2-40B4-BE49-F238E27FC236}">
                <a16:creationId xmlns:a16="http://schemas.microsoft.com/office/drawing/2014/main" id="{709AF1ED-960D-CD13-BB3C-57EDB51255E3}"/>
              </a:ext>
            </a:extLst>
          </p:cNvPr>
          <p:cNvSpPr/>
          <p:nvPr/>
        </p:nvSpPr>
        <p:spPr>
          <a:xfrm>
            <a:off x="1500188" y="4286250"/>
            <a:ext cx="6948487" cy="400050"/>
          </a:xfrm>
          <a:prstGeom prst="rect">
            <a:avLst/>
          </a:prstGeom>
        </p:spPr>
        <p:txBody>
          <a:bodyPr wrap="none">
            <a:spAutoFit/>
          </a:bodyPr>
          <a:lstStyle/>
          <a:p>
            <a:pPr>
              <a:defRPr/>
            </a:pPr>
            <a:r>
              <a:rPr lang="en-US" altLang="zh-CN" sz="2000" b="0" i="1"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N</a:t>
            </a:r>
            <a:r>
              <a:rPr lang="zh-CN" altLang="en-US" sz="2000" b="0" i="1"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r>
              <a:rPr lang="en-US" altLang="zh-CN" sz="2000" b="0" dirty="0">
                <a:solidFill>
                  <a:schemeClr val="tx1"/>
                </a:solidFill>
                <a:latin typeface="Arial" pitchFamily="34" charset="0"/>
                <a:ea typeface="微软雅黑" pitchFamily="34" charset="-122"/>
                <a:cs typeface="Arial" pitchFamily="34" charset="0"/>
              </a:rPr>
              <a:t>-</a:t>
            </a:r>
            <a:r>
              <a:rPr lang="en-US" altLang="zh-CN" sz="2000" b="0" i="1" dirty="0">
                <a:solidFill>
                  <a:schemeClr val="tx1"/>
                </a:solidFill>
                <a:latin typeface="Arial" pitchFamily="34" charset="0"/>
                <a:ea typeface="微软雅黑" pitchFamily="34" charset="-122"/>
                <a:cs typeface="Arial" pitchFamily="34" charset="0"/>
              </a:rPr>
              <a:t>--</a:t>
            </a:r>
            <a:r>
              <a:rPr lang="zh-CN" altLang="en-US" sz="2000" b="0" i="1" dirty="0">
                <a:solidFill>
                  <a:schemeClr val="tx1"/>
                </a:solidFill>
                <a:latin typeface="Arial" pitchFamily="34" charset="0"/>
                <a:ea typeface="微软雅黑" pitchFamily="34" charset="-122"/>
                <a:cs typeface="Arial" pitchFamily="34" charset="0"/>
              </a:rPr>
              <a:t> </a:t>
            </a:r>
            <a:r>
              <a:rPr lang="zh-CN" altLang="en-US" sz="2000" b="0" dirty="0">
                <a:solidFill>
                  <a:schemeClr val="tx1"/>
                </a:solidFill>
                <a:latin typeface="Arial" pitchFamily="34" charset="0"/>
                <a:ea typeface="微软雅黑" pitchFamily="34" charset="-122"/>
                <a:cs typeface="Arial" pitchFamily="34" charset="0"/>
              </a:rPr>
              <a:t>编码</a:t>
            </a:r>
            <a:r>
              <a:rPr lang="zh-CN" altLang="en-US" sz="2000" b="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约束度</a:t>
            </a:r>
            <a:r>
              <a:rPr lang="zh-CN" altLang="en-US" sz="2000" b="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表示编码过程中互相约束的码</a:t>
            </a:r>
            <a:r>
              <a:rPr lang="zh-CN" altLang="en-US" sz="2000" b="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段</a:t>
            </a:r>
            <a:r>
              <a:rPr lang="zh-CN" altLang="en-US" sz="2000" b="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个数</a:t>
            </a:r>
            <a:r>
              <a:rPr lang="zh-CN" altLang="en-US" sz="2000" b="0" dirty="0">
                <a:solidFill>
                  <a:schemeClr val="tx1"/>
                </a:solidFill>
                <a:effectLst>
                  <a:outerShdw blurRad="38100" dist="38100" dir="2700000" algn="tl">
                    <a:srgbClr val="000000">
                      <a:alpha val="43137"/>
                    </a:srgbClr>
                  </a:outerShdw>
                </a:effectLst>
                <a:latin typeface="+mn-ea"/>
                <a:ea typeface="+mn-ea"/>
                <a:cs typeface="Arial" pitchFamily="34" charset="0"/>
              </a:rPr>
              <a:t>；</a:t>
            </a:r>
            <a:endParaRPr lang="zh-CN" altLang="en-US" b="0" dirty="0">
              <a:solidFill>
                <a:schemeClr val="tx1"/>
              </a:solidFill>
              <a:effectLst>
                <a:outerShdw blurRad="38100" dist="38100" dir="2700000" algn="tl">
                  <a:srgbClr val="000000">
                    <a:alpha val="43137"/>
                  </a:srgbClr>
                </a:outerShdw>
              </a:effectLst>
              <a:latin typeface="+mn-ea"/>
              <a:ea typeface="+mn-ea"/>
            </a:endParaRPr>
          </a:p>
        </p:txBody>
      </p:sp>
      <p:sp>
        <p:nvSpPr>
          <p:cNvPr id="126989" name="矩形 17">
            <a:extLst>
              <a:ext uri="{FF2B5EF4-FFF2-40B4-BE49-F238E27FC236}">
                <a16:creationId xmlns:a16="http://schemas.microsoft.com/office/drawing/2014/main" id="{93C294B5-6292-DBED-4954-AD760F1F5E5E}"/>
              </a:ext>
            </a:extLst>
          </p:cNvPr>
          <p:cNvSpPr>
            <a:spLocks noChangeArrowheads="1"/>
          </p:cNvSpPr>
          <p:nvPr/>
        </p:nvSpPr>
        <p:spPr bwMode="auto">
          <a:xfrm>
            <a:off x="1344613" y="4745038"/>
            <a:ext cx="7215187" cy="400050"/>
          </a:xfrm>
          <a:prstGeom prst="rect">
            <a:avLst/>
          </a:prstGeom>
          <a:noFill/>
          <a:ln w="9525">
            <a:noFill/>
            <a:miter lim="800000"/>
            <a:headEnd/>
            <a:tailEnd/>
          </a:ln>
        </p:spPr>
        <p:txBody>
          <a:bodyPr>
            <a:spAutoFit/>
          </a:bodyPr>
          <a:lstStyle/>
          <a:p>
            <a:pPr>
              <a:defRPr/>
            </a:pPr>
            <a:r>
              <a:rPr lang="en-US" altLang="zh-CN" sz="2000" i="1" dirty="0" err="1">
                <a:solidFill>
                  <a:srgbClr val="FF0000"/>
                </a:solidFill>
                <a:latin typeface="Arial" charset="0"/>
                <a:ea typeface="微软雅黑" pitchFamily="34" charset="-122"/>
                <a:cs typeface="Arial" charset="0"/>
              </a:rPr>
              <a:t>nN</a:t>
            </a:r>
            <a:r>
              <a:rPr lang="zh-CN" altLang="en-US" sz="2000" i="1" dirty="0">
                <a:solidFill>
                  <a:srgbClr val="FF0000"/>
                </a:solidFill>
                <a:latin typeface="Arial" charset="0"/>
                <a:ea typeface="微软雅黑" pitchFamily="34" charset="-122"/>
                <a:cs typeface="Arial" charset="0"/>
              </a:rPr>
              <a:t> </a:t>
            </a:r>
            <a:r>
              <a:rPr lang="en-US" altLang="zh-CN" sz="2000" i="1" dirty="0">
                <a:solidFill>
                  <a:schemeClr val="tx1"/>
                </a:solidFill>
                <a:latin typeface="Arial" charset="0"/>
                <a:ea typeface="微软雅黑" pitchFamily="34" charset="-122"/>
                <a:cs typeface="Arial" charset="0"/>
              </a:rPr>
              <a:t>-</a:t>
            </a:r>
            <a:r>
              <a:rPr lang="en-US" altLang="zh-CN" sz="2000" b="0" i="1" dirty="0">
                <a:solidFill>
                  <a:schemeClr val="tx1"/>
                </a:solidFill>
                <a:latin typeface="Arial" charset="0"/>
                <a:ea typeface="微软雅黑" pitchFamily="34" charset="-122"/>
                <a:cs typeface="Arial" charset="0"/>
              </a:rPr>
              <a:t>--</a:t>
            </a:r>
            <a:r>
              <a:rPr lang="zh-CN" altLang="en-US" sz="2000" b="0" i="1" dirty="0">
                <a:solidFill>
                  <a:schemeClr val="tx1"/>
                </a:solidFill>
                <a:latin typeface="Arial" charset="0"/>
                <a:ea typeface="微软雅黑" pitchFamily="34" charset="-122"/>
                <a:cs typeface="Arial" charset="0"/>
              </a:rPr>
              <a:t> </a:t>
            </a:r>
            <a:r>
              <a:rPr lang="zh-CN" altLang="en-US" sz="2000" b="0" dirty="0">
                <a:solidFill>
                  <a:schemeClr val="tx1"/>
                </a:solidFill>
                <a:latin typeface="Arial" charset="0"/>
                <a:ea typeface="微软雅黑" pitchFamily="34" charset="-122"/>
                <a:cs typeface="Arial" charset="0"/>
              </a:rPr>
              <a:t>编码</a:t>
            </a:r>
            <a:r>
              <a:rPr lang="zh-CN" altLang="en-US" sz="2000" b="0" dirty="0">
                <a:solidFill>
                  <a:srgbClr val="FF0000"/>
                </a:solidFill>
                <a:effectLst>
                  <a:outerShdw blurRad="38100" dist="38100" dir="2700000" algn="tl">
                    <a:srgbClr val="C0C0C0"/>
                  </a:outerShdw>
                </a:effectLst>
                <a:latin typeface="Arial" charset="0"/>
                <a:ea typeface="微软雅黑" pitchFamily="34" charset="-122"/>
                <a:cs typeface="Arial" charset="0"/>
              </a:rPr>
              <a:t>约束长度</a:t>
            </a:r>
            <a:r>
              <a:rPr lang="zh-CN" altLang="en-US" sz="2000" b="0" dirty="0">
                <a:solidFill>
                  <a:schemeClr val="tx1"/>
                </a:solidFill>
                <a:latin typeface="Arial" charset="0"/>
                <a:ea typeface="微软雅黑" pitchFamily="34" charset="-122"/>
                <a:cs typeface="Arial" charset="0"/>
              </a:rPr>
              <a:t>，</a:t>
            </a:r>
            <a:r>
              <a:rPr lang="zh-CN" altLang="en-US" sz="2000" b="0" dirty="0">
                <a:solidFill>
                  <a:schemeClr val="tx1"/>
                </a:solidFill>
                <a:effectLst>
                  <a:outerShdw blurRad="38100" dist="38100" dir="2700000" algn="tl">
                    <a:srgbClr val="C0C0C0"/>
                  </a:outerShdw>
                </a:effectLst>
                <a:latin typeface="Arial" charset="0"/>
                <a:ea typeface="微软雅黑" pitchFamily="34" charset="-122"/>
                <a:cs typeface="Arial" charset="0"/>
              </a:rPr>
              <a:t>表示编码过程中互相约束的码</a:t>
            </a:r>
            <a:r>
              <a:rPr lang="zh-CN" altLang="en-US" sz="2000" b="0" dirty="0">
                <a:solidFill>
                  <a:srgbClr val="FF0000"/>
                </a:solidFill>
                <a:effectLst>
                  <a:outerShdw blurRad="38100" dist="38100" dir="2700000" algn="tl">
                    <a:srgbClr val="C0C0C0"/>
                  </a:outerShdw>
                </a:effectLst>
                <a:latin typeface="Arial" charset="0"/>
                <a:ea typeface="微软雅黑" pitchFamily="34" charset="-122"/>
                <a:cs typeface="Arial" charset="0"/>
              </a:rPr>
              <a:t>元</a:t>
            </a:r>
            <a:r>
              <a:rPr lang="zh-CN" altLang="en-US" sz="2000" b="0" dirty="0">
                <a:solidFill>
                  <a:schemeClr val="tx1"/>
                </a:solidFill>
                <a:effectLst>
                  <a:outerShdw blurRad="38100" dist="38100" dir="2700000" algn="tl">
                    <a:srgbClr val="C0C0C0"/>
                  </a:outerShdw>
                </a:effectLst>
                <a:latin typeface="Arial" charset="0"/>
                <a:ea typeface="微软雅黑" pitchFamily="34" charset="-122"/>
                <a:cs typeface="Arial" charset="0"/>
              </a:rPr>
              <a:t>个数</a:t>
            </a:r>
            <a:r>
              <a:rPr lang="zh-CN" altLang="en-US" sz="2000" b="0" dirty="0">
                <a:solidFill>
                  <a:schemeClr val="tx1"/>
                </a:solidFill>
                <a:latin typeface="Arial" charset="0"/>
                <a:ea typeface="微软雅黑" pitchFamily="34" charset="-122"/>
                <a:cs typeface="Arial" charset="0"/>
              </a:rPr>
              <a:t>。</a:t>
            </a:r>
            <a:endParaRPr lang="zh-CN" altLang="en-US" b="0" dirty="0">
              <a:solidFill>
                <a:schemeClr val="tx1"/>
              </a:solidFill>
              <a:ea typeface="微软雅黑" pitchFamily="34" charset="-122"/>
              <a:cs typeface="Arial" charset="0"/>
            </a:endParaRPr>
          </a:p>
        </p:txBody>
      </p:sp>
      <p:sp>
        <p:nvSpPr>
          <p:cNvPr id="20" name="矩形 19">
            <a:extLst>
              <a:ext uri="{FF2B5EF4-FFF2-40B4-BE49-F238E27FC236}">
                <a16:creationId xmlns:a16="http://schemas.microsoft.com/office/drawing/2014/main" id="{397DB43E-380D-B953-5CBE-532ECC53F485}"/>
              </a:ext>
            </a:extLst>
          </p:cNvPr>
          <p:cNvSpPr>
            <a:spLocks noChangeArrowheads="1"/>
          </p:cNvSpPr>
          <p:nvPr/>
        </p:nvSpPr>
        <p:spPr bwMode="auto">
          <a:xfrm>
            <a:off x="630238" y="5857875"/>
            <a:ext cx="3829050" cy="461963"/>
          </a:xfrm>
          <a:prstGeom prst="rect">
            <a:avLst/>
          </a:prstGeom>
          <a:noFill/>
          <a:ln w="9525">
            <a:noFill/>
            <a:miter lim="800000"/>
            <a:headEnd/>
            <a:tailEnd/>
          </a:ln>
        </p:spPr>
        <p:txBody>
          <a:bodyPr wrap="none">
            <a:spAutoFit/>
          </a:bodyPr>
          <a:lstStyle/>
          <a:p>
            <a:pPr>
              <a:buClr>
                <a:srgbClr val="0000CC"/>
              </a:buClr>
              <a:buSzPct val="65000"/>
              <a:buFont typeface="Wingdings" pitchFamily="2" charset="2"/>
              <a:buChar char="u"/>
              <a:defRPr/>
            </a:pPr>
            <a:r>
              <a:rPr lang="zh-CN" altLang="en-US" sz="2400" dirty="0">
                <a:solidFill>
                  <a:schemeClr val="tx1"/>
                </a:solidFill>
                <a:latin typeface="Arial" charset="0"/>
                <a:ea typeface="微软雅黑" pitchFamily="34" charset="-122"/>
                <a:cs typeface="Arial" charset="0"/>
              </a:rPr>
              <a:t> </a:t>
            </a:r>
            <a:r>
              <a:rPr lang="zh-CN" altLang="en-US" sz="2400" dirty="0">
                <a:solidFill>
                  <a:schemeClr val="tx1"/>
                </a:solidFill>
                <a:latin typeface="Arial" pitchFamily="34" charset="0"/>
                <a:ea typeface="微软雅黑" pitchFamily="34" charset="-122"/>
                <a:cs typeface="Arial" pitchFamily="34" charset="0"/>
              </a:rPr>
              <a:t>卷积码</a:t>
            </a:r>
            <a:r>
              <a:rPr lang="zh-CN" altLang="en-US" sz="2400" b="0" dirty="0">
                <a:solidFill>
                  <a:schemeClr val="tx1"/>
                </a:solidFill>
                <a:latin typeface="Arial" pitchFamily="34" charset="0"/>
                <a:ea typeface="微软雅黑" pitchFamily="34" charset="-122"/>
                <a:cs typeface="Arial" pitchFamily="34" charset="0"/>
              </a:rPr>
              <a:t>的</a:t>
            </a:r>
            <a:r>
              <a:rPr lang="zh-CN" altLang="en-US" sz="2400" dirty="0">
                <a:solidFill>
                  <a:schemeClr val="tx1"/>
                </a:solidFill>
                <a:latin typeface="Arial" pitchFamily="34" charset="0"/>
                <a:ea typeface="微软雅黑" pitchFamily="34" charset="-122"/>
                <a:cs typeface="Arial" pitchFamily="34" charset="0"/>
              </a:rPr>
              <a:t>码率</a:t>
            </a:r>
            <a:r>
              <a:rPr lang="en-US" altLang="zh-CN" sz="2400" dirty="0">
                <a:solidFill>
                  <a:schemeClr val="tx1"/>
                </a:solidFill>
                <a:latin typeface="Arial" charset="0"/>
                <a:ea typeface="微软雅黑" pitchFamily="34" charset="-122"/>
                <a:cs typeface="Arial" charset="0"/>
              </a:rPr>
              <a:t>: </a:t>
            </a:r>
            <a:r>
              <a:rPr lang="zh-CN" altLang="en-US" sz="2000" b="0" dirty="0">
                <a:solidFill>
                  <a:schemeClr val="bg1">
                    <a:lumMod val="75000"/>
                  </a:schemeClr>
                </a:solidFill>
                <a:latin typeface="Arial" pitchFamily="34" charset="0"/>
                <a:ea typeface="微软雅黑" pitchFamily="34" charset="-122"/>
                <a:cs typeface="Arial" pitchFamily="34" charset="0"/>
              </a:rPr>
              <a:t>  </a:t>
            </a:r>
            <a:r>
              <a:rPr lang="en-US" altLang="zh-CN" sz="2400" i="1" dirty="0">
                <a:solidFill>
                  <a:srgbClr val="0000CC"/>
                </a:solidFill>
                <a:latin typeface="Arial" pitchFamily="34" charset="0"/>
                <a:ea typeface="微软雅黑" pitchFamily="34" charset="-122"/>
                <a:cs typeface="Arial" pitchFamily="34" charset="0"/>
              </a:rPr>
              <a:t>R </a:t>
            </a:r>
            <a:r>
              <a:rPr lang="en-US" altLang="zh-CN" sz="2400" dirty="0">
                <a:solidFill>
                  <a:srgbClr val="0000CC"/>
                </a:solidFill>
                <a:latin typeface="Arial" pitchFamily="34" charset="0"/>
                <a:ea typeface="微软雅黑" pitchFamily="34" charset="-122"/>
                <a:cs typeface="Arial" pitchFamily="34" charset="0"/>
              </a:rPr>
              <a:t>=</a:t>
            </a:r>
            <a:r>
              <a:rPr lang="en-US" altLang="zh-CN" sz="2400" i="1" dirty="0">
                <a:solidFill>
                  <a:srgbClr val="0000CC"/>
                </a:solidFill>
                <a:latin typeface="Arial" pitchFamily="34" charset="0"/>
                <a:ea typeface="微软雅黑" pitchFamily="34" charset="-122"/>
                <a:cs typeface="Arial" pitchFamily="34" charset="0"/>
              </a:rPr>
              <a:t>k </a:t>
            </a:r>
            <a:r>
              <a:rPr lang="en-US" altLang="zh-CN" sz="2400" dirty="0">
                <a:solidFill>
                  <a:srgbClr val="0000CC"/>
                </a:solidFill>
                <a:latin typeface="Arial" pitchFamily="34" charset="0"/>
                <a:ea typeface="微软雅黑" pitchFamily="34" charset="-122"/>
                <a:cs typeface="Arial" pitchFamily="34" charset="0"/>
              </a:rPr>
              <a:t>/ </a:t>
            </a:r>
            <a:r>
              <a:rPr lang="en-US" altLang="zh-CN" sz="2400" i="1" dirty="0">
                <a:solidFill>
                  <a:srgbClr val="0000CC"/>
                </a:solidFill>
                <a:latin typeface="Arial" pitchFamily="34" charset="0"/>
                <a:ea typeface="微软雅黑" pitchFamily="34" charset="-122"/>
                <a:cs typeface="Arial" pitchFamily="34" charset="0"/>
              </a:rPr>
              <a:t>n</a:t>
            </a:r>
            <a:endParaRPr lang="zh-CN" altLang="en-US" sz="2400" dirty="0">
              <a:solidFill>
                <a:srgbClr val="0000CC"/>
              </a:solidFill>
              <a:latin typeface="Arial" charset="0"/>
              <a:ea typeface="微软雅黑" pitchFamily="34" charset="-122"/>
              <a:cs typeface="Arial" charset="0"/>
            </a:endParaRPr>
          </a:p>
        </p:txBody>
      </p:sp>
      <p:sp>
        <p:nvSpPr>
          <p:cNvPr id="126991" name="矩形 18">
            <a:extLst>
              <a:ext uri="{FF2B5EF4-FFF2-40B4-BE49-F238E27FC236}">
                <a16:creationId xmlns:a16="http://schemas.microsoft.com/office/drawing/2014/main" id="{E4F9BADE-9FC0-9360-26BE-E75A5C673353}"/>
              </a:ext>
            </a:extLst>
          </p:cNvPr>
          <p:cNvSpPr>
            <a:spLocks noChangeArrowheads="1"/>
          </p:cNvSpPr>
          <p:nvPr/>
        </p:nvSpPr>
        <p:spPr bwMode="auto">
          <a:xfrm>
            <a:off x="6572264" y="5330530"/>
            <a:ext cx="1481496" cy="823302"/>
          </a:xfrm>
          <a:prstGeom prst="rect">
            <a:avLst/>
          </a:prstGeom>
          <a:solidFill>
            <a:schemeClr val="bg2">
              <a:lumMod val="10000"/>
              <a:lumOff val="90000"/>
            </a:schemeClr>
          </a:solidFill>
          <a:ln w="9525">
            <a:noFill/>
            <a:miter lim="800000"/>
            <a:headEnd/>
            <a:tailEnd/>
          </a:ln>
          <a:effectLst>
            <a:innerShdw blurRad="114300">
              <a:prstClr val="black"/>
            </a:innerShdw>
          </a:effectLst>
        </p:spPr>
        <p:txBody>
          <a:bodyPr wrap="none">
            <a:spAutoFit/>
          </a:bodyPr>
          <a:lstStyle/>
          <a:p>
            <a:pPr>
              <a:lnSpc>
                <a:spcPts val="3000"/>
              </a:lnSpc>
              <a:defRPr/>
            </a:pPr>
            <a:r>
              <a:rPr lang="en-US" altLang="zh-CN" sz="2400" b="0" dirty="0">
                <a:solidFill>
                  <a:srgbClr val="0000CC"/>
                </a:solidFill>
                <a:latin typeface="Arial" charset="0"/>
                <a:ea typeface="微软雅黑" pitchFamily="34" charset="-122"/>
                <a:cs typeface="Arial" charset="0"/>
              </a:rPr>
              <a:t>(</a:t>
            </a:r>
            <a:r>
              <a:rPr lang="en-US" altLang="zh-CN" sz="2400" i="1" dirty="0">
                <a:solidFill>
                  <a:srgbClr val="0000CC"/>
                </a:solidFill>
                <a:latin typeface="Arial" charset="0"/>
                <a:ea typeface="微软雅黑" pitchFamily="34" charset="-122"/>
                <a:cs typeface="Arial" charset="0"/>
              </a:rPr>
              <a:t>n</a:t>
            </a:r>
            <a:r>
              <a:rPr lang="en-US" altLang="zh-CN" sz="2400" dirty="0">
                <a:solidFill>
                  <a:srgbClr val="0000CC"/>
                </a:solidFill>
                <a:latin typeface="Arial" charset="0"/>
                <a:ea typeface="微软雅黑" pitchFamily="34" charset="-122"/>
                <a:cs typeface="Arial" charset="0"/>
              </a:rPr>
              <a:t>, </a:t>
            </a:r>
            <a:r>
              <a:rPr lang="en-US" altLang="zh-CN" sz="2400" dirty="0">
                <a:solidFill>
                  <a:srgbClr val="FF0000"/>
                </a:solidFill>
                <a:latin typeface="Arial" charset="0"/>
                <a:ea typeface="微软雅黑" pitchFamily="34" charset="-122"/>
                <a:cs typeface="Arial" charset="0"/>
              </a:rPr>
              <a:t>1</a:t>
            </a:r>
            <a:r>
              <a:rPr lang="en-US" altLang="zh-CN" sz="2400" dirty="0">
                <a:solidFill>
                  <a:srgbClr val="0000CC"/>
                </a:solidFill>
                <a:latin typeface="Arial" charset="0"/>
                <a:ea typeface="微软雅黑" pitchFamily="34" charset="-122"/>
                <a:cs typeface="Arial" charset="0"/>
              </a:rPr>
              <a:t>, </a:t>
            </a:r>
            <a:r>
              <a:rPr lang="en-US" altLang="zh-CN" sz="2400" i="1" dirty="0">
                <a:solidFill>
                  <a:srgbClr val="0000CC"/>
                </a:solidFill>
                <a:latin typeface="Arial" charset="0"/>
                <a:ea typeface="微软雅黑" pitchFamily="34" charset="-122"/>
                <a:cs typeface="Arial" charset="0"/>
              </a:rPr>
              <a:t>N</a:t>
            </a:r>
            <a:r>
              <a:rPr lang="zh-CN" altLang="en-US" sz="2400" i="1" dirty="0">
                <a:solidFill>
                  <a:srgbClr val="0000CC"/>
                </a:solidFill>
                <a:latin typeface="Arial" charset="0"/>
                <a:ea typeface="微软雅黑" pitchFamily="34" charset="-122"/>
                <a:cs typeface="Arial" charset="0"/>
              </a:rPr>
              <a:t> </a:t>
            </a:r>
            <a:r>
              <a:rPr lang="en-US" altLang="zh-CN" sz="2400" b="0" dirty="0">
                <a:solidFill>
                  <a:srgbClr val="0000CC"/>
                </a:solidFill>
                <a:latin typeface="Arial" charset="0"/>
                <a:ea typeface="微软雅黑" pitchFamily="34" charset="-122"/>
                <a:cs typeface="Arial" charset="0"/>
              </a:rPr>
              <a:t>)</a:t>
            </a:r>
            <a:r>
              <a:rPr lang="zh-CN" altLang="en-US" sz="2400" b="0" dirty="0">
                <a:solidFill>
                  <a:schemeClr val="tx1"/>
                </a:solidFill>
                <a:latin typeface="Arial" charset="0"/>
                <a:ea typeface="微软雅黑" pitchFamily="34" charset="-122"/>
                <a:cs typeface="Arial" charset="0"/>
              </a:rPr>
              <a:t> </a:t>
            </a:r>
            <a:endParaRPr lang="en-US" altLang="zh-CN" sz="2400" b="0" dirty="0">
              <a:solidFill>
                <a:schemeClr val="tx1"/>
              </a:solidFill>
              <a:latin typeface="Arial" charset="0"/>
              <a:ea typeface="微软雅黑" pitchFamily="34" charset="-122"/>
              <a:cs typeface="Arial" charset="0"/>
            </a:endParaRPr>
          </a:p>
          <a:p>
            <a:pPr>
              <a:lnSpc>
                <a:spcPts val="3000"/>
              </a:lnSpc>
              <a:defRPr/>
            </a:pPr>
            <a:r>
              <a:rPr lang="zh-CN" altLang="en-US" sz="2000" b="0" dirty="0">
                <a:solidFill>
                  <a:schemeClr val="tx1"/>
                </a:solidFill>
                <a:latin typeface="Arial" charset="0"/>
                <a:ea typeface="微软雅黑" pitchFamily="34" charset="-122"/>
                <a:cs typeface="Arial" charset="0"/>
              </a:rPr>
              <a:t> 简单</a:t>
            </a:r>
            <a:r>
              <a:rPr lang="en-US" altLang="zh-CN" sz="2000" b="0" dirty="0">
                <a:solidFill>
                  <a:schemeClr val="tx1"/>
                </a:solidFill>
                <a:latin typeface="Arial" charset="0"/>
                <a:ea typeface="微软雅黑" pitchFamily="34" charset="-122"/>
                <a:cs typeface="Arial" charset="0"/>
              </a:rPr>
              <a:t>,</a:t>
            </a:r>
            <a:r>
              <a:rPr lang="zh-CN" altLang="en-US" sz="2000" b="0" dirty="0">
                <a:solidFill>
                  <a:schemeClr val="tx1"/>
                </a:solidFill>
                <a:latin typeface="Arial" charset="0"/>
                <a:ea typeface="微软雅黑" pitchFamily="34" charset="-122"/>
                <a:cs typeface="Arial" charset="0"/>
              </a:rPr>
              <a:t> 常用</a:t>
            </a:r>
            <a:endParaRPr lang="zh-CN" altLang="en-US" sz="2000" dirty="0">
              <a:solidFill>
                <a:schemeClr val="tx1"/>
              </a:solidFill>
              <a:ea typeface="微软雅黑" pitchFamily="34" charset="-122"/>
              <a:cs typeface="Arial" charset="0"/>
            </a:endParaRPr>
          </a:p>
        </p:txBody>
      </p:sp>
      <p:sp>
        <p:nvSpPr>
          <p:cNvPr id="120849" name="矩形 20">
            <a:extLst>
              <a:ext uri="{FF2B5EF4-FFF2-40B4-BE49-F238E27FC236}">
                <a16:creationId xmlns:a16="http://schemas.microsoft.com/office/drawing/2014/main" id="{6D4E4FC1-9927-D442-D934-B81027184265}"/>
              </a:ext>
            </a:extLst>
          </p:cNvPr>
          <p:cNvSpPr>
            <a:spLocks noChangeArrowheads="1"/>
          </p:cNvSpPr>
          <p:nvPr/>
        </p:nvSpPr>
        <p:spPr bwMode="auto">
          <a:xfrm>
            <a:off x="1471613" y="5245100"/>
            <a:ext cx="4857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en-US" altLang="zh-CN" sz="2000" i="1">
                <a:solidFill>
                  <a:srgbClr val="FF0000"/>
                </a:solidFill>
                <a:latin typeface="Arial" panose="020B0604020202020204" pitchFamily="34" charset="0"/>
                <a:ea typeface="微软雅黑" panose="020B0503020204020204" pitchFamily="34" charset="-122"/>
                <a:cs typeface="Arial" panose="020B0604020202020204" pitchFamily="34" charset="0"/>
              </a:rPr>
              <a:t>N</a:t>
            </a:r>
            <a:r>
              <a:rPr lang="zh-CN" altLang="en-US" sz="2000" i="1">
                <a:solidFill>
                  <a:srgbClr val="FF0000"/>
                </a:solidFill>
                <a:latin typeface="Arial" panose="020B0604020202020204" pitchFamily="34" charset="0"/>
                <a:ea typeface="微软雅黑" panose="020B0503020204020204" pitchFamily="34" charset="-122"/>
                <a:cs typeface="Arial" panose="020B0604020202020204" pitchFamily="34" charset="0"/>
              </a:rPr>
              <a:t> </a:t>
            </a:r>
            <a:r>
              <a:rPr lang="zh-CN" altLang="en-US" sz="2000" b="0">
                <a:solidFill>
                  <a:schemeClr val="tx1"/>
                </a:solidFill>
                <a:latin typeface="Arial" panose="020B0604020202020204" pitchFamily="34" charset="0"/>
                <a:ea typeface="微软雅黑" panose="020B0503020204020204" pitchFamily="34" charset="-122"/>
                <a:cs typeface="Arial" panose="020B0604020202020204" pitchFamily="34" charset="0"/>
              </a:rPr>
              <a:t>或</a:t>
            </a:r>
            <a:r>
              <a:rPr lang="en-US" altLang="zh-CN" sz="2000" i="1">
                <a:solidFill>
                  <a:srgbClr val="FF0000"/>
                </a:solidFill>
                <a:latin typeface="Arial" panose="020B0604020202020204" pitchFamily="34" charset="0"/>
                <a:ea typeface="微软雅黑" panose="020B0503020204020204" pitchFamily="34" charset="-122"/>
                <a:cs typeface="Arial" panose="020B0604020202020204" pitchFamily="34" charset="0"/>
              </a:rPr>
              <a:t>nN </a:t>
            </a:r>
            <a:r>
              <a:rPr lang="zh-CN" altLang="en-US" sz="2000" b="0">
                <a:solidFill>
                  <a:schemeClr val="tx1"/>
                </a:solidFill>
                <a:latin typeface="Arial" panose="020B0604020202020204" pitchFamily="34" charset="0"/>
                <a:ea typeface="微软雅黑" panose="020B0503020204020204" pitchFamily="34" charset="-122"/>
                <a:cs typeface="Arial" panose="020B0604020202020204" pitchFamily="34" charset="0"/>
              </a:rPr>
              <a:t>也反映了卷积码编码器的复杂度。</a:t>
            </a:r>
            <a:r>
              <a:rPr lang="en-US" altLang="zh-CN" sz="2000" b="0">
                <a:solidFill>
                  <a:srgbClr val="FF0000"/>
                </a:solidFill>
                <a:latin typeface="Arial" panose="020B0604020202020204" pitchFamily="34" charset="0"/>
                <a:ea typeface="微软雅黑" panose="020B0503020204020204" pitchFamily="34" charset="-122"/>
                <a:cs typeface="Arial" panose="020B0604020202020204" pitchFamily="34" charset="0"/>
              </a:rPr>
              <a:t> </a:t>
            </a:r>
            <a:endParaRPr lang="zh-CN" altLang="en-US" sz="2000" b="0">
              <a:solidFill>
                <a:schemeClr val="tx1"/>
              </a:solidFill>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10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10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up)">
                                      <p:cBhvr>
                                        <p:cTn id="17" dur="1000"/>
                                        <p:tgtEl>
                                          <p:spTgt spid="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up)">
                                      <p:cBhvr>
                                        <p:cTn id="22" dur="1000"/>
                                        <p:tgtEl>
                                          <p:spTgt spid="11"/>
                                        </p:tgtEl>
                                      </p:cBhvr>
                                    </p:animEffect>
                                  </p:childTnLst>
                                </p:cTn>
                              </p:par>
                            </p:childTnLst>
                          </p:cTn>
                        </p:par>
                        <p:par>
                          <p:cTn id="23" fill="hold" nodeType="afterGroup">
                            <p:stCondLst>
                              <p:cond delay="1000"/>
                            </p:stCondLst>
                            <p:childTnLst>
                              <p:par>
                                <p:cTn id="24" presetID="22" presetClass="entr" presetSubtype="1" fill="hold" nodeType="afterEffect">
                                  <p:stCondLst>
                                    <p:cond delay="0"/>
                                  </p:stCondLst>
                                  <p:childTnLst>
                                    <p:set>
                                      <p:cBhvr>
                                        <p:cTn id="25" dur="1" fill="hold">
                                          <p:stCondLst>
                                            <p:cond delay="0"/>
                                          </p:stCondLst>
                                        </p:cTn>
                                        <p:tgtEl>
                                          <p:spTgt spid="120850"/>
                                        </p:tgtEl>
                                        <p:attrNameLst>
                                          <p:attrName>style.visibility</p:attrName>
                                        </p:attrNameLst>
                                      </p:cBhvr>
                                      <p:to>
                                        <p:strVal val="visible"/>
                                      </p:to>
                                    </p:set>
                                    <p:animEffect transition="in" filter="wipe(up)">
                                      <p:cBhvr>
                                        <p:cTn id="26" dur="1000"/>
                                        <p:tgtEl>
                                          <p:spTgt spid="120850"/>
                                        </p:tgtEl>
                                      </p:cBhvr>
                                    </p:animEffect>
                                  </p:childTnLst>
                                </p:cTn>
                              </p:par>
                            </p:childTnLst>
                          </p:cTn>
                        </p:par>
                        <p:par>
                          <p:cTn id="27" fill="hold" nodeType="afterGroup">
                            <p:stCondLst>
                              <p:cond delay="2000"/>
                            </p:stCondLst>
                            <p:childTnLst>
                              <p:par>
                                <p:cTn id="28" presetID="22" presetClass="entr" presetSubtype="8" fill="hold" nodeType="after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left)">
                                      <p:cBhvr>
                                        <p:cTn id="30" dur="1000"/>
                                        <p:tgtEl>
                                          <p:spTgt spid="1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wipe(up)">
                                      <p:cBhvr>
                                        <p:cTn id="35" dur="1000"/>
                                        <p:tgtEl>
                                          <p:spTgt spid="1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up)">
                                      <p:cBhvr>
                                        <p:cTn id="40" dur="1000"/>
                                        <p:tgtEl>
                                          <p:spTgt spid="1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1" fill="hold" nodeType="clickEffect">
                                  <p:stCondLst>
                                    <p:cond delay="0"/>
                                  </p:stCondLst>
                                  <p:childTnLst>
                                    <p:set>
                                      <p:cBhvr>
                                        <p:cTn id="44" dur="1" fill="hold">
                                          <p:stCondLst>
                                            <p:cond delay="0"/>
                                          </p:stCondLst>
                                        </p:cTn>
                                        <p:tgtEl>
                                          <p:spTgt spid="126989"/>
                                        </p:tgtEl>
                                        <p:attrNameLst>
                                          <p:attrName>style.visibility</p:attrName>
                                        </p:attrNameLst>
                                      </p:cBhvr>
                                      <p:to>
                                        <p:strVal val="visible"/>
                                      </p:to>
                                    </p:set>
                                    <p:animEffect transition="in" filter="wipe(up)">
                                      <p:cBhvr>
                                        <p:cTn id="45" dur="1000"/>
                                        <p:tgtEl>
                                          <p:spTgt spid="12698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nodeType="clickEffect">
                                  <p:stCondLst>
                                    <p:cond delay="0"/>
                                  </p:stCondLst>
                                  <p:childTnLst>
                                    <p:set>
                                      <p:cBhvr>
                                        <p:cTn id="49" dur="1" fill="hold">
                                          <p:stCondLst>
                                            <p:cond delay="0"/>
                                          </p:stCondLst>
                                        </p:cTn>
                                        <p:tgtEl>
                                          <p:spTgt spid="120849"/>
                                        </p:tgtEl>
                                        <p:attrNameLst>
                                          <p:attrName>style.visibility</p:attrName>
                                        </p:attrNameLst>
                                      </p:cBhvr>
                                      <p:to>
                                        <p:strVal val="visible"/>
                                      </p:to>
                                    </p:set>
                                    <p:animEffect transition="in" filter="wipe(up)">
                                      <p:cBhvr>
                                        <p:cTn id="50" dur="1000"/>
                                        <p:tgtEl>
                                          <p:spTgt spid="120849"/>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1" fill="hold" nodeType="clickEffect">
                                  <p:stCondLst>
                                    <p:cond delay="0"/>
                                  </p:stCondLst>
                                  <p:childTnLst>
                                    <p:set>
                                      <p:cBhvr>
                                        <p:cTn id="54" dur="1" fill="hold">
                                          <p:stCondLst>
                                            <p:cond delay="0"/>
                                          </p:stCondLst>
                                        </p:cTn>
                                        <p:tgtEl>
                                          <p:spTgt spid="126991"/>
                                        </p:tgtEl>
                                        <p:attrNameLst>
                                          <p:attrName>style.visibility</p:attrName>
                                        </p:attrNameLst>
                                      </p:cBhvr>
                                      <p:to>
                                        <p:strVal val="visible"/>
                                      </p:to>
                                    </p:set>
                                    <p:animEffect transition="in" filter="wipe(up)">
                                      <p:cBhvr>
                                        <p:cTn id="55" dur="1000"/>
                                        <p:tgtEl>
                                          <p:spTgt spid="12699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1" fill="hold" nodeType="click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wipe(up)">
                                      <p:cBhvr>
                                        <p:cTn id="60"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1" grpId="0"/>
      <p:bldP spid="14" grpId="0"/>
      <p:bldP spid="16" grpId="0"/>
      <p:bldP spid="17" grpId="0"/>
      <p:bldP spid="126989" grpId="0"/>
      <p:bldP spid="20" grpId="0"/>
      <p:bldP spid="120849"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4E19495-68C1-A7A3-9202-863E8A6F8290}"/>
              </a:ext>
            </a:extLst>
          </p:cNvPr>
          <p:cNvSpPr>
            <a:spLocks noChangeArrowheads="1"/>
          </p:cNvSpPr>
          <p:nvPr/>
        </p:nvSpPr>
        <p:spPr bwMode="auto">
          <a:xfrm>
            <a:off x="0" y="428625"/>
            <a:ext cx="6286500" cy="585788"/>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anchor="ctr">
            <a:spAutoFit/>
          </a:bodyPr>
          <a:lstStyle/>
          <a:p>
            <a:pPr marL="0" lvl="1" indent="306388" eaLnBrk="0" hangingPunct="0">
              <a:defRPr/>
            </a:pPr>
            <a:r>
              <a:rPr lang="en-US" altLang="en-US" sz="3200" dirty="0">
                <a:solidFill>
                  <a:srgbClr val="800080"/>
                </a:solidFill>
                <a:latin typeface="Arial" pitchFamily="34" charset="0"/>
                <a:ea typeface="微软雅黑" pitchFamily="34" charset="-122"/>
                <a:cs typeface="Arial" pitchFamily="34" charset="0"/>
              </a:rPr>
              <a:t>11</a:t>
            </a:r>
            <a:r>
              <a:rPr lang="en-US" altLang="zh-CN" sz="3200" dirty="0">
                <a:solidFill>
                  <a:srgbClr val="800080"/>
                </a:solidFill>
                <a:latin typeface="Arial" pitchFamily="34" charset="0"/>
                <a:ea typeface="微软雅黑" pitchFamily="34" charset="-122"/>
                <a:cs typeface="Arial" pitchFamily="34" charset="0"/>
              </a:rPr>
              <a:t>.7.1  </a:t>
            </a:r>
            <a:r>
              <a:rPr kumimoji="0" lang="zh-CN" altLang="en-US" sz="3200" kern="0" dirty="0">
                <a:solidFill>
                  <a:srgbClr val="003399"/>
                </a:solidFill>
                <a:latin typeface="微软雅黑" pitchFamily="34" charset="-122"/>
                <a:ea typeface="微软雅黑" pitchFamily="34" charset="-122"/>
              </a:rPr>
              <a:t>卷积码的基本原理</a:t>
            </a:r>
            <a:endParaRPr lang="zh-CN" altLang="en-US" sz="3200" i="1" dirty="0">
              <a:solidFill>
                <a:srgbClr val="990099"/>
              </a:solidFill>
              <a:latin typeface="微软雅黑" pitchFamily="34" charset="-122"/>
              <a:ea typeface="微软雅黑" pitchFamily="34" charset="-122"/>
            </a:endParaRPr>
          </a:p>
        </p:txBody>
      </p:sp>
      <p:sp>
        <p:nvSpPr>
          <p:cNvPr id="109" name="矩形 108">
            <a:extLst>
              <a:ext uri="{FF2B5EF4-FFF2-40B4-BE49-F238E27FC236}">
                <a16:creationId xmlns:a16="http://schemas.microsoft.com/office/drawing/2014/main" id="{DA883F79-23C9-CDEE-DE5E-0ADC2F8B6732}"/>
              </a:ext>
            </a:extLst>
          </p:cNvPr>
          <p:cNvSpPr/>
          <p:nvPr/>
        </p:nvSpPr>
        <p:spPr>
          <a:xfrm>
            <a:off x="642938" y="1214438"/>
            <a:ext cx="3000375" cy="461962"/>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marL="285750" lvl="2" indent="-285750">
              <a:spcBef>
                <a:spcPct val="20000"/>
              </a:spcBef>
              <a:buClr>
                <a:srgbClr val="FF0000"/>
              </a:buClr>
              <a:buSzPct val="75000"/>
              <a:buFont typeface="Wingdings" pitchFamily="2" charset="2"/>
              <a:buChar char="n"/>
              <a:defRPr/>
            </a:pPr>
            <a:r>
              <a:rPr kumimoji="0" lang="zh-CN" altLang="en-US" sz="2400" kern="0" dirty="0">
                <a:solidFill>
                  <a:srgbClr val="000000"/>
                </a:solidFill>
                <a:latin typeface="微软雅黑" pitchFamily="34" charset="-122"/>
                <a:ea typeface="微软雅黑" pitchFamily="34" charset="-122"/>
              </a:rPr>
              <a:t>编码器原理方框图</a:t>
            </a:r>
            <a:endParaRPr kumimoji="0" lang="zh-CN" altLang="en-US" sz="2400" kern="0" dirty="0">
              <a:solidFill>
                <a:srgbClr val="000000"/>
              </a:solidFill>
              <a:latin typeface="Arial" pitchFamily="34" charset="0"/>
              <a:ea typeface="微软雅黑" pitchFamily="34" charset="-122"/>
              <a:cs typeface="Arial" pitchFamily="34" charset="0"/>
            </a:endParaRPr>
          </a:p>
        </p:txBody>
      </p:sp>
      <p:pic>
        <p:nvPicPr>
          <p:cNvPr id="128005" name="Picture 5">
            <a:extLst>
              <a:ext uri="{FF2B5EF4-FFF2-40B4-BE49-F238E27FC236}">
                <a16:creationId xmlns:a16="http://schemas.microsoft.com/office/drawing/2014/main" id="{9093E420-FEFF-6058-B37D-CBFE171A8007}"/>
              </a:ext>
            </a:extLst>
          </p:cNvPr>
          <p:cNvPicPr>
            <a:picLocks noChangeAspect="1" noChangeArrowheads="1"/>
          </p:cNvPicPr>
          <p:nvPr/>
        </p:nvPicPr>
        <p:blipFill>
          <a:blip r:embed="rId3"/>
          <a:srcRect/>
          <a:stretch>
            <a:fillRect/>
          </a:stretch>
        </p:blipFill>
        <p:spPr bwMode="auto">
          <a:xfrm>
            <a:off x="1214438" y="2008188"/>
            <a:ext cx="7000875" cy="4332287"/>
          </a:xfrm>
          <a:prstGeom prst="rect">
            <a:avLst/>
          </a:prstGeom>
          <a:noFill/>
          <a:ln w="9525" cap="flat" cmpd="sng">
            <a:noFill/>
            <a:prstDash val="solid"/>
            <a:miter lim="800000"/>
            <a:headEnd type="none" w="med" len="med"/>
            <a:tailEnd type="none" w="med" len="med"/>
          </a:ln>
          <a:effectLst>
            <a:outerShdw blurRad="63500" sx="102000" sy="102000" algn="ctr" rotWithShape="0">
              <a:prstClr val="black">
                <a:alpha val="40000"/>
              </a:prstClr>
            </a:outerShdw>
          </a:effectLst>
        </p:spPr>
      </p:pic>
      <p:sp>
        <p:nvSpPr>
          <p:cNvPr id="8" name="矩形 14">
            <a:extLst>
              <a:ext uri="{FF2B5EF4-FFF2-40B4-BE49-F238E27FC236}">
                <a16:creationId xmlns:a16="http://schemas.microsoft.com/office/drawing/2014/main" id="{A0DF302C-3717-7654-A425-FFE9FC564BEA}"/>
              </a:ext>
            </a:extLst>
          </p:cNvPr>
          <p:cNvSpPr>
            <a:spLocks noChangeArrowheads="1"/>
          </p:cNvSpPr>
          <p:nvPr/>
        </p:nvSpPr>
        <p:spPr bwMode="auto">
          <a:xfrm>
            <a:off x="3786188" y="1643063"/>
            <a:ext cx="3286125" cy="400050"/>
          </a:xfrm>
          <a:prstGeom prst="rect">
            <a:avLst/>
          </a:prstGeom>
          <a:solidFill>
            <a:schemeClr val="bg2">
              <a:lumMod val="10000"/>
              <a:lumOff val="90000"/>
            </a:schemeClr>
          </a:solidFill>
          <a:ln w="9525">
            <a:noFill/>
            <a:miter lim="800000"/>
            <a:headEnd/>
            <a:tailEnd/>
          </a:ln>
        </p:spPr>
        <p:txBody>
          <a:bodyPr>
            <a:spAutoFit/>
          </a:bodyPr>
          <a:lstStyle/>
          <a:p>
            <a:pPr>
              <a:defRPr/>
            </a:pPr>
            <a:r>
              <a:rPr lang="zh-CN" altLang="en-US" sz="2000" b="0"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rPr>
              <a:t>存储</a:t>
            </a:r>
            <a:r>
              <a:rPr lang="zh-CN" altLang="en-US" sz="2000" b="0" dirty="0">
                <a:solidFill>
                  <a:srgbClr val="FF0000"/>
                </a:solidFill>
                <a:effectLst>
                  <a:outerShdw blurRad="38100" dist="38100" dir="2700000" algn="tl">
                    <a:srgbClr val="000000">
                      <a:alpha val="43137"/>
                    </a:srgbClr>
                  </a:outerShdw>
                </a:effectLst>
                <a:latin typeface="Arial" charset="0"/>
                <a:ea typeface="微软雅黑" pitchFamily="34" charset="-122"/>
                <a:cs typeface="Arial" charset="0"/>
              </a:rPr>
              <a:t>以前</a:t>
            </a:r>
            <a:r>
              <a:rPr lang="zh-CN" altLang="en-US" sz="2000" b="0"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rPr>
              <a:t>的</a:t>
            </a:r>
            <a:r>
              <a:rPr lang="en-US" altLang="zh-CN" sz="2000" i="1" dirty="0">
                <a:solidFill>
                  <a:srgbClr val="FF0000"/>
                </a:solidFill>
                <a:latin typeface="Arial" charset="0"/>
                <a:ea typeface="微软雅黑" pitchFamily="34" charset="-122"/>
                <a:cs typeface="Arial" charset="0"/>
              </a:rPr>
              <a:t>k</a:t>
            </a:r>
            <a:r>
              <a:rPr lang="en-US" altLang="zh-CN" sz="2000" dirty="0">
                <a:solidFill>
                  <a:srgbClr val="FF0000"/>
                </a:solidFill>
                <a:latin typeface="Arial" charset="0"/>
                <a:ea typeface="微软雅黑" pitchFamily="34" charset="-122"/>
                <a:cs typeface="Arial" charset="0"/>
              </a:rPr>
              <a:t>(</a:t>
            </a:r>
            <a:r>
              <a:rPr lang="en-US" altLang="zh-CN" sz="2000" i="1" dirty="0">
                <a:solidFill>
                  <a:srgbClr val="FF0000"/>
                </a:solidFill>
                <a:latin typeface="Arial" charset="0"/>
                <a:ea typeface="微软雅黑" pitchFamily="34" charset="-122"/>
                <a:cs typeface="Arial" charset="0"/>
              </a:rPr>
              <a:t>N-</a:t>
            </a:r>
            <a:r>
              <a:rPr lang="en-US" altLang="zh-CN" sz="2000" dirty="0">
                <a:solidFill>
                  <a:srgbClr val="FF0000"/>
                </a:solidFill>
                <a:latin typeface="Arial" charset="0"/>
                <a:ea typeface="微软雅黑" pitchFamily="34" charset="-122"/>
                <a:cs typeface="Arial" charset="0"/>
              </a:rPr>
              <a:t>1)</a:t>
            </a:r>
            <a:r>
              <a:rPr lang="zh-CN" altLang="en-US" sz="2000" b="0" dirty="0">
                <a:solidFill>
                  <a:srgbClr val="FF0000"/>
                </a:solidFill>
                <a:effectLst>
                  <a:outerShdw blurRad="38100" dist="38100" dir="2700000" algn="tl">
                    <a:srgbClr val="000000">
                      <a:alpha val="43137"/>
                    </a:srgbClr>
                  </a:outerShdw>
                </a:effectLst>
                <a:latin typeface="Arial" charset="0"/>
                <a:ea typeface="微软雅黑" pitchFamily="34" charset="-122"/>
                <a:cs typeface="Arial" charset="0"/>
              </a:rPr>
              <a:t>个</a:t>
            </a:r>
            <a:r>
              <a:rPr lang="zh-CN" altLang="en-US" sz="2000" b="0"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rPr>
              <a:t>信息码</a:t>
            </a:r>
            <a:endParaRPr lang="zh-CN" altLang="en-US" sz="2000" b="0" dirty="0">
              <a:solidFill>
                <a:schemeClr val="tx1"/>
              </a:solidFill>
              <a:effectLst>
                <a:outerShdw blurRad="38100" dist="38100" dir="2700000" algn="tl">
                  <a:srgbClr val="000000">
                    <a:alpha val="43137"/>
                  </a:srgbClr>
                </a:outerShdw>
              </a:effectLst>
              <a:ea typeface="微软雅黑" pitchFamily="34" charset="-122"/>
              <a:cs typeface="Arial" charset="0"/>
            </a:endParaRPr>
          </a:p>
        </p:txBody>
      </p:sp>
      <p:sp>
        <p:nvSpPr>
          <p:cNvPr id="9" name="矩形 14">
            <a:extLst>
              <a:ext uri="{FF2B5EF4-FFF2-40B4-BE49-F238E27FC236}">
                <a16:creationId xmlns:a16="http://schemas.microsoft.com/office/drawing/2014/main" id="{7C103BDB-3860-4D93-FEE4-C3670D290997}"/>
              </a:ext>
            </a:extLst>
          </p:cNvPr>
          <p:cNvSpPr>
            <a:spLocks noChangeArrowheads="1"/>
          </p:cNvSpPr>
          <p:nvPr/>
        </p:nvSpPr>
        <p:spPr bwMode="auto">
          <a:xfrm>
            <a:off x="2557463" y="1785938"/>
            <a:ext cx="657225" cy="646112"/>
          </a:xfrm>
          <a:prstGeom prst="rect">
            <a:avLst/>
          </a:prstGeom>
          <a:solidFill>
            <a:schemeClr val="bg2">
              <a:lumMod val="10000"/>
              <a:lumOff val="90000"/>
            </a:schemeClr>
          </a:solidFill>
          <a:ln w="9525">
            <a:noFill/>
            <a:miter lim="800000"/>
            <a:headEnd/>
            <a:tailEnd/>
          </a:ln>
        </p:spPr>
        <p:txBody>
          <a:bodyPr>
            <a:spAutoFit/>
          </a:bodyPr>
          <a:lstStyle/>
          <a:p>
            <a:pPr>
              <a:defRPr/>
            </a:pPr>
            <a:r>
              <a:rPr lang="zh-CN" altLang="en-US" sz="1800" b="0" dirty="0">
                <a:solidFill>
                  <a:srgbClr val="FF0000"/>
                </a:solidFill>
                <a:effectLst>
                  <a:outerShdw blurRad="38100" dist="38100" dir="2700000" algn="tl">
                    <a:srgbClr val="000000">
                      <a:alpha val="43137"/>
                    </a:srgbClr>
                  </a:outerShdw>
                </a:effectLst>
                <a:latin typeface="Arial" charset="0"/>
                <a:ea typeface="微软雅黑" pitchFamily="34" charset="-122"/>
                <a:cs typeface="Arial" charset="0"/>
              </a:rPr>
              <a:t>当前</a:t>
            </a:r>
            <a:endParaRPr lang="en-US" altLang="zh-CN" sz="1800" b="0" dirty="0">
              <a:solidFill>
                <a:srgbClr val="FF0000"/>
              </a:solidFill>
              <a:effectLst>
                <a:outerShdw blurRad="38100" dist="38100" dir="2700000" algn="tl">
                  <a:srgbClr val="000000">
                    <a:alpha val="43137"/>
                  </a:srgbClr>
                </a:outerShdw>
              </a:effectLst>
              <a:latin typeface="Arial" charset="0"/>
              <a:ea typeface="微软雅黑" pitchFamily="34" charset="-122"/>
              <a:cs typeface="Arial" charset="0"/>
            </a:endParaRPr>
          </a:p>
          <a:p>
            <a:pPr>
              <a:defRPr/>
            </a:pPr>
            <a:r>
              <a:rPr lang="zh-CN" altLang="en-US" sz="1800" b="0" i="1"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r>
              <a:rPr lang="en-US" altLang="zh-CN" sz="1800" b="0" i="1"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K</a:t>
            </a:r>
            <a:r>
              <a:rPr lang="zh-CN" altLang="en-US" sz="1800" b="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个</a:t>
            </a:r>
          </a:p>
        </p:txBody>
      </p:sp>
      <p:sp>
        <p:nvSpPr>
          <p:cNvPr id="11" name="矩形 14">
            <a:extLst>
              <a:ext uri="{FF2B5EF4-FFF2-40B4-BE49-F238E27FC236}">
                <a16:creationId xmlns:a16="http://schemas.microsoft.com/office/drawing/2014/main" id="{651CCC8D-0BF8-A450-4C07-7E6720FBB074}"/>
              </a:ext>
            </a:extLst>
          </p:cNvPr>
          <p:cNvSpPr>
            <a:spLocks noChangeArrowheads="1"/>
          </p:cNvSpPr>
          <p:nvPr/>
        </p:nvSpPr>
        <p:spPr bwMode="auto">
          <a:xfrm>
            <a:off x="0" y="4857750"/>
            <a:ext cx="3286125" cy="400050"/>
          </a:xfrm>
          <a:prstGeom prst="rect">
            <a:avLst/>
          </a:prstGeom>
          <a:noFill/>
          <a:ln w="9525">
            <a:noFill/>
            <a:miter lim="800000"/>
            <a:headEnd/>
            <a:tailEnd/>
          </a:ln>
        </p:spPr>
        <p:txBody>
          <a:bodyPr>
            <a:spAutoFit/>
          </a:bodyPr>
          <a:lstStyle/>
          <a:p>
            <a:pPr>
              <a:defRPr/>
            </a:pPr>
            <a:r>
              <a:rPr lang="zh-CN" altLang="en-US" sz="2000" b="0" dirty="0">
                <a:solidFill>
                  <a:schemeClr val="tx1"/>
                </a:solidFill>
                <a:latin typeface="Arial" charset="0"/>
                <a:ea typeface="微软雅黑" pitchFamily="34" charset="-122"/>
                <a:cs typeface="Arial" charset="0"/>
              </a:rPr>
              <a:t>共有</a:t>
            </a:r>
            <a:r>
              <a:rPr lang="en-US" altLang="zh-CN" sz="2000" i="1" dirty="0">
                <a:solidFill>
                  <a:srgbClr val="0000CC"/>
                </a:solidFill>
                <a:latin typeface="Arial" charset="0"/>
                <a:ea typeface="微软雅黑" pitchFamily="34" charset="-122"/>
                <a:cs typeface="Arial" charset="0"/>
              </a:rPr>
              <a:t>N</a:t>
            </a:r>
            <a:r>
              <a:rPr lang="zh-CN" altLang="en-US" sz="2000" b="0" i="1" dirty="0">
                <a:solidFill>
                  <a:srgbClr val="0000CC"/>
                </a:solidFill>
                <a:effectLst>
                  <a:outerShdw blurRad="38100" dist="38100" dir="2700000" algn="tl">
                    <a:srgbClr val="000000">
                      <a:alpha val="43137"/>
                    </a:srgbClr>
                  </a:outerShdw>
                </a:effectLst>
                <a:latin typeface="Arial" charset="0"/>
                <a:ea typeface="微软雅黑" pitchFamily="34" charset="-122"/>
                <a:cs typeface="Arial" charset="0"/>
              </a:rPr>
              <a:t> </a:t>
            </a:r>
            <a:r>
              <a:rPr lang="zh-CN" altLang="en-US" sz="2000" b="0" dirty="0">
                <a:solidFill>
                  <a:srgbClr val="0000CC"/>
                </a:solidFill>
                <a:effectLst>
                  <a:outerShdw blurRad="38100" dist="38100" dir="2700000" algn="tl">
                    <a:srgbClr val="000000">
                      <a:alpha val="43137"/>
                    </a:srgbClr>
                  </a:outerShdw>
                </a:effectLst>
                <a:latin typeface="Arial" charset="0"/>
                <a:ea typeface="微软雅黑" pitchFamily="34" charset="-122"/>
                <a:cs typeface="Arial" charset="0"/>
              </a:rPr>
              <a:t>段</a:t>
            </a:r>
            <a:r>
              <a:rPr lang="zh-CN" altLang="en-US" sz="2000" b="0" dirty="0">
                <a:solidFill>
                  <a:schemeClr val="tx1"/>
                </a:solidFill>
                <a:latin typeface="Arial" charset="0"/>
                <a:ea typeface="微软雅黑" pitchFamily="34" charset="-122"/>
                <a:cs typeface="Arial" charset="0"/>
              </a:rPr>
              <a:t>移存器，每段</a:t>
            </a:r>
            <a:r>
              <a:rPr lang="en-US" altLang="zh-CN" sz="2000" i="1" dirty="0">
                <a:solidFill>
                  <a:srgbClr val="0000CC"/>
                </a:solidFill>
                <a:latin typeface="Arial" charset="0"/>
                <a:ea typeface="微软雅黑" pitchFamily="34" charset="-122"/>
                <a:cs typeface="Arial" charset="0"/>
              </a:rPr>
              <a:t>k</a:t>
            </a:r>
            <a:r>
              <a:rPr lang="zh-CN" altLang="en-US" sz="2000" i="1" dirty="0">
                <a:solidFill>
                  <a:srgbClr val="0000CC"/>
                </a:solidFill>
                <a:latin typeface="Arial" charset="0"/>
                <a:ea typeface="微软雅黑" pitchFamily="34" charset="-122"/>
                <a:cs typeface="Arial" charset="0"/>
              </a:rPr>
              <a:t> </a:t>
            </a:r>
            <a:r>
              <a:rPr lang="zh-CN" altLang="en-US" sz="2000" b="0" dirty="0">
                <a:solidFill>
                  <a:srgbClr val="0000CC"/>
                </a:solidFill>
                <a:effectLst>
                  <a:outerShdw blurRad="38100" dist="38100" dir="2700000" algn="tl">
                    <a:srgbClr val="000000">
                      <a:alpha val="43137"/>
                    </a:srgbClr>
                  </a:outerShdw>
                </a:effectLst>
                <a:latin typeface="Arial" charset="0"/>
                <a:ea typeface="微软雅黑" pitchFamily="34" charset="-122"/>
                <a:cs typeface="Arial" charset="0"/>
              </a:rPr>
              <a:t>级</a:t>
            </a:r>
            <a:r>
              <a:rPr lang="en-US" altLang="zh-CN" sz="2000" dirty="0">
                <a:solidFill>
                  <a:schemeClr val="tx1"/>
                </a:solidFill>
                <a:latin typeface="Arial" charset="0"/>
                <a:ea typeface="微软雅黑" pitchFamily="34" charset="-122"/>
                <a:cs typeface="Arial" charset="0"/>
              </a:rPr>
              <a:t> </a:t>
            </a:r>
            <a:endParaRPr lang="zh-CN" altLang="en-US" sz="2000" b="0" dirty="0">
              <a:solidFill>
                <a:schemeClr val="tx1"/>
              </a:solidFill>
              <a:ea typeface="微软雅黑" pitchFamily="34" charset="-122"/>
              <a:cs typeface="Arial"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09"/>
                                        </p:tgtEl>
                                        <p:attrNameLst>
                                          <p:attrName>style.visibility</p:attrName>
                                        </p:attrNameLst>
                                      </p:cBhvr>
                                      <p:to>
                                        <p:strVal val="visible"/>
                                      </p:to>
                                    </p:set>
                                    <p:animEffect transition="in" filter="wipe(up)">
                                      <p:cBhvr>
                                        <p:cTn id="12" dur="1000"/>
                                        <p:tgtEl>
                                          <p:spTgt spid="109"/>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128005"/>
                                        </p:tgtEl>
                                        <p:attrNameLst>
                                          <p:attrName>style.visibility</p:attrName>
                                        </p:attrNameLst>
                                      </p:cBhvr>
                                      <p:to>
                                        <p:strVal val="visible"/>
                                      </p:to>
                                    </p:set>
                                    <p:animEffect transition="in" filter="wipe(up)">
                                      <p:cBhvr>
                                        <p:cTn id="16" dur="2000"/>
                                        <p:tgtEl>
                                          <p:spTgt spid="12800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up)">
                                      <p:cBhvr>
                                        <p:cTn id="21" dur="1000"/>
                                        <p:tgtEl>
                                          <p:spTgt spid="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up)">
                                      <p:cBhvr>
                                        <p:cTn id="26" dur="1000"/>
                                        <p:tgtEl>
                                          <p:spTgt spid="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up)">
                                      <p:cBhvr>
                                        <p:cTn id="31"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9" grpId="0" animBg="1"/>
      <p:bldP spid="8" grpId="0" animBg="1"/>
      <p:bldP spid="9" grpId="0" animBg="1"/>
      <p:bldP spid="11"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961" name="Picture 73">
            <a:extLst>
              <a:ext uri="{FF2B5EF4-FFF2-40B4-BE49-F238E27FC236}">
                <a16:creationId xmlns:a16="http://schemas.microsoft.com/office/drawing/2014/main" id="{7F99C03F-523C-AA58-D638-B31360FC14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6976"/>
          <a:stretch>
            <a:fillRect/>
          </a:stretch>
        </p:blipFill>
        <p:spPr bwMode="auto">
          <a:xfrm>
            <a:off x="2616200" y="1365250"/>
            <a:ext cx="5813425" cy="284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2" name="Rectangle 61">
            <a:extLst>
              <a:ext uri="{FF2B5EF4-FFF2-40B4-BE49-F238E27FC236}">
                <a16:creationId xmlns:a16="http://schemas.microsoft.com/office/drawing/2014/main" id="{A8C40147-9A06-1E48-A8DD-A2D158227930}"/>
              </a:ext>
            </a:extLst>
          </p:cNvPr>
          <p:cNvSpPr>
            <a:spLocks noChangeArrowheads="1"/>
          </p:cNvSpPr>
          <p:nvPr/>
        </p:nvSpPr>
        <p:spPr bwMode="auto">
          <a:xfrm>
            <a:off x="0" y="3086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aphicFrame>
        <p:nvGraphicFramePr>
          <p:cNvPr id="108604" name="Object 60">
            <a:extLst>
              <a:ext uri="{FF2B5EF4-FFF2-40B4-BE49-F238E27FC236}">
                <a16:creationId xmlns:a16="http://schemas.microsoft.com/office/drawing/2014/main" id="{62386F0B-FFF4-B24D-77DA-325D5046CC3D}"/>
              </a:ext>
            </a:extLst>
          </p:cNvPr>
          <p:cNvGraphicFramePr>
            <a:graphicFrameLocks noChangeAspect="1"/>
          </p:cNvGraphicFramePr>
          <p:nvPr/>
        </p:nvGraphicFramePr>
        <p:xfrm>
          <a:off x="3944938" y="4857750"/>
          <a:ext cx="2555875" cy="1500188"/>
        </p:xfrm>
        <a:graphic>
          <a:graphicData uri="http://schemas.openxmlformats.org/presentationml/2006/ole">
            <mc:AlternateContent xmlns:mc="http://schemas.openxmlformats.org/markup-compatibility/2006">
              <mc:Choice xmlns:v="urn:schemas-microsoft-com:vml" Requires="v">
                <p:oleObj name="公式" r:id="rId3" imgW="1168200" imgH="685800" progId="Equation.3">
                  <p:embed/>
                </p:oleObj>
              </mc:Choice>
              <mc:Fallback>
                <p:oleObj name="公式" r:id="rId3" imgW="1168200" imgH="685800" progId="Equation.3">
                  <p:embed/>
                  <p:pic>
                    <p:nvPicPr>
                      <p:cNvPr id="0" name="Object 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4938" y="4857750"/>
                        <a:ext cx="2555875" cy="1500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 name="矩形 60">
            <a:extLst>
              <a:ext uri="{FF2B5EF4-FFF2-40B4-BE49-F238E27FC236}">
                <a16:creationId xmlns:a16="http://schemas.microsoft.com/office/drawing/2014/main" id="{1DDE1BC0-0F52-30E1-833F-4A010E52FB80}"/>
              </a:ext>
            </a:extLst>
          </p:cNvPr>
          <p:cNvSpPr/>
          <p:nvPr/>
        </p:nvSpPr>
        <p:spPr>
          <a:xfrm>
            <a:off x="1000125" y="684213"/>
            <a:ext cx="7286625" cy="461962"/>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a:defRPr/>
            </a:pPr>
            <a:r>
              <a:rPr kumimoji="0" lang="zh-CN" altLang="en-US" sz="2400" b="0" kern="0" dirty="0">
                <a:solidFill>
                  <a:srgbClr val="000000"/>
                </a:solidFill>
                <a:latin typeface="Arial" pitchFamily="34" charset="0"/>
                <a:ea typeface="微软雅黑" pitchFamily="34" charset="-122"/>
                <a:cs typeface="Arial" pitchFamily="34" charset="0"/>
              </a:rPr>
              <a:t>    如图所示的</a:t>
            </a:r>
            <a:r>
              <a:rPr kumimoji="0" lang="en-US" altLang="zh-CN" sz="2400" kern="0" dirty="0">
                <a:solidFill>
                  <a:srgbClr val="000000"/>
                </a:solidFill>
                <a:latin typeface="Arial" pitchFamily="34" charset="0"/>
                <a:ea typeface="微软雅黑" pitchFamily="34" charset="-122"/>
                <a:cs typeface="Arial" pitchFamily="34" charset="0"/>
              </a:rPr>
              <a:t>(</a:t>
            </a:r>
            <a:r>
              <a:rPr kumimoji="0" lang="en-US" altLang="zh-CN" sz="2400" i="1" kern="0" dirty="0">
                <a:solidFill>
                  <a:srgbClr val="000000"/>
                </a:solidFill>
                <a:latin typeface="Arial" pitchFamily="34" charset="0"/>
                <a:ea typeface="微软雅黑" pitchFamily="34" charset="-122"/>
                <a:cs typeface="Arial" pitchFamily="34" charset="0"/>
              </a:rPr>
              <a:t>n</a:t>
            </a:r>
            <a:r>
              <a:rPr kumimoji="0" lang="en-US" altLang="zh-CN" sz="2400" kern="0" dirty="0">
                <a:solidFill>
                  <a:srgbClr val="000000"/>
                </a:solidFill>
                <a:latin typeface="Arial" pitchFamily="34" charset="0"/>
                <a:ea typeface="微软雅黑" pitchFamily="34" charset="-122"/>
                <a:cs typeface="Arial" pitchFamily="34" charset="0"/>
              </a:rPr>
              <a:t>, </a:t>
            </a:r>
            <a:r>
              <a:rPr kumimoji="0" lang="en-US" altLang="zh-CN" sz="2400" i="1" kern="0" dirty="0">
                <a:solidFill>
                  <a:srgbClr val="000000"/>
                </a:solidFill>
                <a:latin typeface="Arial" pitchFamily="34" charset="0"/>
                <a:ea typeface="微软雅黑" pitchFamily="34" charset="-122"/>
                <a:cs typeface="Arial" pitchFamily="34" charset="0"/>
              </a:rPr>
              <a:t>k</a:t>
            </a:r>
            <a:r>
              <a:rPr kumimoji="0" lang="en-US" altLang="zh-CN" sz="2400" kern="0" dirty="0">
                <a:solidFill>
                  <a:srgbClr val="000000"/>
                </a:solidFill>
                <a:latin typeface="Arial" pitchFamily="34" charset="0"/>
                <a:ea typeface="微软雅黑" pitchFamily="34" charset="-122"/>
                <a:cs typeface="Arial" pitchFamily="34" charset="0"/>
              </a:rPr>
              <a:t>, </a:t>
            </a:r>
            <a:r>
              <a:rPr kumimoji="0" lang="en-US" altLang="zh-CN" sz="2400" i="1" kern="0" dirty="0">
                <a:solidFill>
                  <a:srgbClr val="000000"/>
                </a:solidFill>
                <a:latin typeface="Arial" pitchFamily="34" charset="0"/>
                <a:ea typeface="微软雅黑" pitchFamily="34" charset="-122"/>
                <a:cs typeface="Arial" pitchFamily="34" charset="0"/>
              </a:rPr>
              <a:t>N</a:t>
            </a:r>
            <a:r>
              <a:rPr kumimoji="0" lang="en-US" altLang="zh-CN" sz="2400" kern="0" dirty="0">
                <a:solidFill>
                  <a:srgbClr val="000000"/>
                </a:solidFill>
                <a:latin typeface="Arial" pitchFamily="34" charset="0"/>
                <a:ea typeface="微软雅黑" pitchFamily="34" charset="-122"/>
                <a:cs typeface="Arial" pitchFamily="34" charset="0"/>
              </a:rPr>
              <a:t>) =</a:t>
            </a:r>
            <a:r>
              <a:rPr kumimoji="0" lang="en-US" altLang="zh-CN" sz="2400" b="0" kern="0" dirty="0">
                <a:solidFill>
                  <a:srgbClr val="000000"/>
                </a:solidFill>
                <a:latin typeface="Arial" pitchFamily="34" charset="0"/>
                <a:ea typeface="微软雅黑" pitchFamily="34" charset="-122"/>
                <a:cs typeface="Arial" pitchFamily="34" charset="0"/>
              </a:rPr>
              <a:t> </a:t>
            </a:r>
            <a:r>
              <a:rPr kumimoji="0" lang="en-US" altLang="zh-CN" sz="2400" kern="0" dirty="0">
                <a:solidFill>
                  <a:srgbClr val="000000"/>
                </a:solidFill>
                <a:latin typeface="Arial" pitchFamily="34" charset="0"/>
                <a:ea typeface="微软雅黑" pitchFamily="34" charset="-122"/>
                <a:cs typeface="Arial" pitchFamily="34" charset="0"/>
              </a:rPr>
              <a:t>(3, 1, 3)</a:t>
            </a:r>
            <a:r>
              <a:rPr kumimoji="0" lang="zh-CN" altLang="en-US" sz="2400" b="0" kern="0" dirty="0">
                <a:solidFill>
                  <a:srgbClr val="000000"/>
                </a:solidFill>
                <a:latin typeface="Arial" pitchFamily="34" charset="0"/>
                <a:ea typeface="微软雅黑" pitchFamily="34" charset="-122"/>
                <a:cs typeface="Arial" pitchFamily="34" charset="0"/>
              </a:rPr>
              <a:t>卷积码编码器。</a:t>
            </a:r>
            <a:endParaRPr lang="zh-CN" altLang="en-US" sz="2400" dirty="0">
              <a:latin typeface="Arial" pitchFamily="34" charset="0"/>
              <a:ea typeface="微软雅黑" pitchFamily="34" charset="-122"/>
              <a:cs typeface="Arial" pitchFamily="34" charset="0"/>
            </a:endParaRPr>
          </a:p>
        </p:txBody>
      </p:sp>
      <p:grpSp>
        <p:nvGrpSpPr>
          <p:cNvPr id="2" name="组合 77">
            <a:extLst>
              <a:ext uri="{FF2B5EF4-FFF2-40B4-BE49-F238E27FC236}">
                <a16:creationId xmlns:a16="http://schemas.microsoft.com/office/drawing/2014/main" id="{B310EB09-1633-D128-C439-78E2BBFEAA54}"/>
              </a:ext>
            </a:extLst>
          </p:cNvPr>
          <p:cNvGrpSpPr>
            <a:grpSpLocks/>
          </p:cNvGrpSpPr>
          <p:nvPr/>
        </p:nvGrpSpPr>
        <p:grpSpPr bwMode="auto">
          <a:xfrm>
            <a:off x="571500" y="428625"/>
            <a:ext cx="714375" cy="714375"/>
            <a:chOff x="357158" y="2285992"/>
            <a:chExt cx="714380" cy="714808"/>
          </a:xfrm>
        </p:grpSpPr>
        <p:grpSp>
          <p:nvGrpSpPr>
            <p:cNvPr id="37902" name="Group 52">
              <a:extLst>
                <a:ext uri="{FF2B5EF4-FFF2-40B4-BE49-F238E27FC236}">
                  <a16:creationId xmlns:a16="http://schemas.microsoft.com/office/drawing/2014/main" id="{21A3089C-968F-E1AB-D2AC-EB761697B347}"/>
                </a:ext>
              </a:extLst>
            </p:cNvPr>
            <p:cNvGrpSpPr>
              <a:grpSpLocks/>
            </p:cNvGrpSpPr>
            <p:nvPr/>
          </p:nvGrpSpPr>
          <p:grpSpPr bwMode="auto">
            <a:xfrm>
              <a:off x="357158" y="2285992"/>
              <a:ext cx="714380" cy="714808"/>
              <a:chOff x="1289" y="498"/>
              <a:chExt cx="668" cy="752"/>
            </a:xfrm>
          </p:grpSpPr>
          <p:sp>
            <p:nvSpPr>
              <p:cNvPr id="37904" name="Oval 53">
                <a:extLst>
                  <a:ext uri="{FF2B5EF4-FFF2-40B4-BE49-F238E27FC236}">
                    <a16:creationId xmlns:a16="http://schemas.microsoft.com/office/drawing/2014/main" id="{FF94E880-3E5B-F2A5-818A-00B3000EEF65}"/>
                  </a:ext>
                </a:extLst>
              </p:cNvPr>
              <p:cNvSpPr>
                <a:spLocks noChangeArrowheads="1"/>
              </p:cNvSpPr>
              <p:nvPr/>
            </p:nvSpPr>
            <p:spPr bwMode="gray">
              <a:xfrm>
                <a:off x="1289" y="582"/>
                <a:ext cx="668" cy="668"/>
              </a:xfrm>
              <a:prstGeom prst="ellipse">
                <a:avLst/>
              </a:prstGeom>
              <a:solidFill>
                <a:srgbClr val="333333"/>
              </a:soli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37905" name="Oval 54">
                <a:extLst>
                  <a:ext uri="{FF2B5EF4-FFF2-40B4-BE49-F238E27FC236}">
                    <a16:creationId xmlns:a16="http://schemas.microsoft.com/office/drawing/2014/main" id="{77B04893-E5B0-2B4B-7A6B-949DA31ABDE9}"/>
                  </a:ext>
                </a:extLst>
              </p:cNvPr>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37906" name="Oval 55">
                <a:extLst>
                  <a:ext uri="{FF2B5EF4-FFF2-40B4-BE49-F238E27FC236}">
                    <a16:creationId xmlns:a16="http://schemas.microsoft.com/office/drawing/2014/main" id="{F5302327-836D-3731-855E-3B2CE53C4690}"/>
                  </a:ext>
                </a:extLst>
              </p:cNvPr>
              <p:cNvSpPr>
                <a:spLocks noChangeArrowheads="1"/>
              </p:cNvSpPr>
              <p:nvPr/>
            </p:nvSpPr>
            <p:spPr bwMode="gray">
              <a:xfrm>
                <a:off x="1304" y="498"/>
                <a:ext cx="631" cy="724"/>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37907" name="Oval 56">
                <a:extLst>
                  <a:ext uri="{FF2B5EF4-FFF2-40B4-BE49-F238E27FC236}">
                    <a16:creationId xmlns:a16="http://schemas.microsoft.com/office/drawing/2014/main" id="{DF5ED95B-AE10-D35F-6DB3-6AC57CA92DC3}"/>
                  </a:ext>
                </a:extLst>
              </p:cNvPr>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37908" name="Oval 57">
                <a:extLst>
                  <a:ext uri="{FF2B5EF4-FFF2-40B4-BE49-F238E27FC236}">
                    <a16:creationId xmlns:a16="http://schemas.microsoft.com/office/drawing/2014/main" id="{880ECFFD-9A5D-1C87-1623-E3C07BD86EA5}"/>
                  </a:ext>
                </a:extLst>
              </p:cNvPr>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pSp>
        <p:sp>
          <p:nvSpPr>
            <p:cNvPr id="37903" name="Text Box 29">
              <a:extLst>
                <a:ext uri="{FF2B5EF4-FFF2-40B4-BE49-F238E27FC236}">
                  <a16:creationId xmlns:a16="http://schemas.microsoft.com/office/drawing/2014/main" id="{21DF1A76-2CFE-FB20-3A50-6B8809B7155D}"/>
                </a:ext>
              </a:extLst>
            </p:cNvPr>
            <p:cNvSpPr txBox="1">
              <a:spLocks noChangeArrowheads="1"/>
            </p:cNvSpPr>
            <p:nvPr/>
          </p:nvSpPr>
          <p:spPr bwMode="gray">
            <a:xfrm>
              <a:off x="428596" y="2438468"/>
              <a:ext cx="542027" cy="519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a:r>
                <a:rPr kumimoji="0" lang="zh-CN" altLang="en-US" sz="2800">
                  <a:solidFill>
                    <a:srgbClr val="0000CC"/>
                  </a:solidFill>
                  <a:latin typeface="Arial" panose="020B0604020202020204" pitchFamily="34" charset="0"/>
                  <a:ea typeface="宋体" panose="02010600030101010101" pitchFamily="2" charset="-122"/>
                </a:rPr>
                <a:t>例</a:t>
              </a:r>
            </a:p>
          </p:txBody>
        </p:sp>
      </p:grpSp>
      <p:sp>
        <p:nvSpPr>
          <p:cNvPr id="80" name="矩形 14">
            <a:extLst>
              <a:ext uri="{FF2B5EF4-FFF2-40B4-BE49-F238E27FC236}">
                <a16:creationId xmlns:a16="http://schemas.microsoft.com/office/drawing/2014/main" id="{15E9E3F2-0DB0-669C-6316-48F47C278C7E}"/>
              </a:ext>
            </a:extLst>
          </p:cNvPr>
          <p:cNvSpPr>
            <a:spLocks noChangeArrowheads="1"/>
          </p:cNvSpPr>
          <p:nvPr/>
        </p:nvSpPr>
        <p:spPr bwMode="auto">
          <a:xfrm>
            <a:off x="785813" y="2286000"/>
            <a:ext cx="3071812" cy="862013"/>
          </a:xfrm>
          <a:prstGeom prst="rect">
            <a:avLst/>
          </a:prstGeom>
          <a:noFill/>
          <a:ln w="9525">
            <a:noFill/>
            <a:miter lim="800000"/>
            <a:headEnd/>
            <a:tailEnd/>
          </a:ln>
        </p:spPr>
        <p:txBody>
          <a:bodyPr>
            <a:spAutoFit/>
          </a:bodyPr>
          <a:lstStyle/>
          <a:p>
            <a:pPr>
              <a:lnSpc>
                <a:spcPts val="3000"/>
              </a:lnSpc>
              <a:defRPr/>
            </a:pPr>
            <a:r>
              <a:rPr lang="zh-CN" altLang="en-US" sz="2000" b="0" dirty="0">
                <a:solidFill>
                  <a:schemeClr val="tx1"/>
                </a:solidFill>
                <a:latin typeface="Arial" charset="0"/>
                <a:ea typeface="微软雅黑" pitchFamily="34" charset="-122"/>
                <a:cs typeface="Arial" charset="0"/>
              </a:rPr>
              <a:t>共有</a:t>
            </a:r>
            <a:r>
              <a:rPr lang="en-US" altLang="zh-CN" sz="2000" i="1"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rPr>
              <a:t>3</a:t>
            </a:r>
            <a:r>
              <a:rPr lang="zh-CN" altLang="en-US" sz="2000" i="1"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rPr>
              <a:t> </a:t>
            </a:r>
            <a:r>
              <a:rPr lang="zh-CN" altLang="en-US" sz="2000"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rPr>
              <a:t>段</a:t>
            </a:r>
            <a:r>
              <a:rPr lang="zh-CN" altLang="en-US" sz="2000" b="0" dirty="0">
                <a:solidFill>
                  <a:schemeClr val="tx1"/>
                </a:solidFill>
                <a:latin typeface="Arial" charset="0"/>
                <a:ea typeface="微软雅黑" pitchFamily="34" charset="-122"/>
                <a:cs typeface="Arial" charset="0"/>
              </a:rPr>
              <a:t>移存器，</a:t>
            </a:r>
            <a:endParaRPr lang="en-US" altLang="zh-CN" sz="2000" b="0" dirty="0">
              <a:solidFill>
                <a:schemeClr val="tx1"/>
              </a:solidFill>
              <a:latin typeface="Arial" charset="0"/>
              <a:ea typeface="微软雅黑" pitchFamily="34" charset="-122"/>
              <a:cs typeface="Arial" charset="0"/>
            </a:endParaRPr>
          </a:p>
          <a:p>
            <a:pPr>
              <a:lnSpc>
                <a:spcPts val="3000"/>
              </a:lnSpc>
              <a:defRPr/>
            </a:pPr>
            <a:r>
              <a:rPr lang="zh-CN" altLang="en-US" sz="2000" b="0" dirty="0">
                <a:solidFill>
                  <a:schemeClr val="tx1"/>
                </a:solidFill>
                <a:latin typeface="Arial" charset="0"/>
                <a:ea typeface="微软雅黑" pitchFamily="34" charset="-122"/>
                <a:cs typeface="Arial" charset="0"/>
              </a:rPr>
              <a:t>每段</a:t>
            </a:r>
            <a:r>
              <a:rPr lang="en-US" altLang="zh-CN" sz="2000" dirty="0">
                <a:solidFill>
                  <a:schemeClr val="tx1"/>
                </a:solidFill>
                <a:latin typeface="Arial" charset="0"/>
                <a:ea typeface="微软雅黑" pitchFamily="34" charset="-122"/>
                <a:cs typeface="Arial" charset="0"/>
              </a:rPr>
              <a:t>1</a:t>
            </a:r>
            <a:r>
              <a:rPr lang="zh-CN" altLang="en-US" sz="2000" i="1" dirty="0">
                <a:solidFill>
                  <a:schemeClr val="tx1"/>
                </a:solidFill>
                <a:latin typeface="Arial" charset="0"/>
                <a:ea typeface="微软雅黑" pitchFamily="34" charset="-122"/>
                <a:cs typeface="Arial" charset="0"/>
              </a:rPr>
              <a:t> </a:t>
            </a:r>
            <a:r>
              <a:rPr lang="zh-CN" altLang="en-US" sz="2000" b="0"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rPr>
              <a:t>级（存储</a:t>
            </a:r>
            <a:r>
              <a:rPr lang="en-US" altLang="zh-CN" sz="2000" b="0"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rPr>
              <a:t>1</a:t>
            </a:r>
            <a:r>
              <a:rPr lang="zh-CN" altLang="en-US" sz="2000" b="0"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rPr>
              <a:t>个信元）</a:t>
            </a:r>
            <a:r>
              <a:rPr lang="en-US" altLang="zh-CN" sz="2000" dirty="0">
                <a:solidFill>
                  <a:schemeClr val="tx1"/>
                </a:solidFill>
                <a:latin typeface="Arial" charset="0"/>
                <a:ea typeface="微软雅黑" pitchFamily="34" charset="-122"/>
                <a:cs typeface="Arial" charset="0"/>
              </a:rPr>
              <a:t> </a:t>
            </a:r>
            <a:endParaRPr lang="zh-CN" altLang="en-US" sz="2000" b="0" dirty="0">
              <a:solidFill>
                <a:schemeClr val="tx1"/>
              </a:solidFill>
              <a:ea typeface="微软雅黑" pitchFamily="34" charset="-122"/>
              <a:cs typeface="Arial" charset="0"/>
            </a:endParaRPr>
          </a:p>
        </p:txBody>
      </p:sp>
      <p:sp>
        <p:nvSpPr>
          <p:cNvPr id="38921" name="矩形 14">
            <a:extLst>
              <a:ext uri="{FF2B5EF4-FFF2-40B4-BE49-F238E27FC236}">
                <a16:creationId xmlns:a16="http://schemas.microsoft.com/office/drawing/2014/main" id="{DA2FC9B0-B1CA-136B-CB75-7352D61A1FD8}"/>
              </a:ext>
            </a:extLst>
          </p:cNvPr>
          <p:cNvSpPr>
            <a:spLocks noChangeArrowheads="1"/>
          </p:cNvSpPr>
          <p:nvPr/>
        </p:nvSpPr>
        <p:spPr bwMode="auto">
          <a:xfrm>
            <a:off x="785813" y="3143250"/>
            <a:ext cx="29289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zh-CN" altLang="en-US" sz="2000" b="0">
                <a:solidFill>
                  <a:schemeClr val="tx1"/>
                </a:solidFill>
                <a:latin typeface="Arial" panose="020B0604020202020204" pitchFamily="34" charset="0"/>
                <a:ea typeface="微软雅黑" panose="020B0503020204020204" pitchFamily="34" charset="-122"/>
                <a:cs typeface="Arial" panose="020B0604020202020204" pitchFamily="34" charset="0"/>
              </a:rPr>
              <a:t>每次输</a:t>
            </a:r>
            <a:r>
              <a:rPr lang="zh-CN" altLang="en-US" sz="2000">
                <a:solidFill>
                  <a:schemeClr val="tx1"/>
                </a:solidFill>
                <a:latin typeface="Arial" panose="020B0604020202020204" pitchFamily="34" charset="0"/>
                <a:ea typeface="微软雅黑" panose="020B0503020204020204" pitchFamily="34" charset="-122"/>
                <a:cs typeface="Arial" panose="020B0604020202020204" pitchFamily="34" charset="0"/>
              </a:rPr>
              <a:t>入</a:t>
            </a:r>
            <a:r>
              <a:rPr lang="en-US" altLang="zh-CN" sz="2400">
                <a:solidFill>
                  <a:schemeClr val="tx1"/>
                </a:solidFill>
                <a:latin typeface="Arial" panose="020B0604020202020204" pitchFamily="34" charset="0"/>
                <a:ea typeface="微软雅黑" panose="020B0503020204020204" pitchFamily="34" charset="-122"/>
                <a:cs typeface="Arial" panose="020B0604020202020204" pitchFamily="34" charset="0"/>
              </a:rPr>
              <a:t>1b</a:t>
            </a:r>
            <a:r>
              <a:rPr lang="zh-CN" altLang="en-US" sz="2000" b="0">
                <a:solidFill>
                  <a:schemeClr val="tx1"/>
                </a:solidFill>
                <a:latin typeface="Arial" panose="020B0604020202020204" pitchFamily="34" charset="0"/>
                <a:ea typeface="微软雅黑" panose="020B0503020204020204" pitchFamily="34" charset="-122"/>
                <a:cs typeface="Arial" panose="020B0604020202020204" pitchFamily="34" charset="0"/>
              </a:rPr>
              <a:t>，输</a:t>
            </a:r>
            <a:r>
              <a:rPr lang="zh-CN" altLang="en-US" sz="2000">
                <a:solidFill>
                  <a:schemeClr val="tx1"/>
                </a:solidFill>
                <a:latin typeface="Arial" panose="020B0604020202020204" pitchFamily="34" charset="0"/>
                <a:ea typeface="微软雅黑" panose="020B0503020204020204" pitchFamily="34" charset="-122"/>
                <a:cs typeface="Arial" panose="020B0604020202020204" pitchFamily="34" charset="0"/>
              </a:rPr>
              <a:t>出 </a:t>
            </a:r>
            <a:r>
              <a:rPr lang="en-US" altLang="zh-CN" sz="2400">
                <a:solidFill>
                  <a:schemeClr val="tx1"/>
                </a:solidFill>
                <a:latin typeface="Arial" panose="020B0604020202020204" pitchFamily="34" charset="0"/>
                <a:ea typeface="微软雅黑" panose="020B0503020204020204" pitchFamily="34" charset="-122"/>
                <a:cs typeface="Arial" panose="020B0604020202020204" pitchFamily="34" charset="0"/>
              </a:rPr>
              <a:t>3b</a:t>
            </a:r>
            <a:r>
              <a:rPr lang="en-US" altLang="zh-CN" sz="2000">
                <a:solidFill>
                  <a:schemeClr val="tx1"/>
                </a:solidFill>
                <a:latin typeface="Arial" panose="020B0604020202020204" pitchFamily="34" charset="0"/>
                <a:ea typeface="微软雅黑" panose="020B0503020204020204" pitchFamily="34" charset="-122"/>
                <a:cs typeface="Arial" panose="020B0604020202020204" pitchFamily="34" charset="0"/>
              </a:rPr>
              <a:t> </a:t>
            </a:r>
            <a:endParaRPr lang="zh-CN" altLang="en-US" sz="2000" b="0">
              <a:solidFill>
                <a:schemeClr val="tx1"/>
              </a:solidFill>
              <a:ea typeface="微软雅黑" panose="020B0503020204020204" pitchFamily="34" charset="-122"/>
              <a:cs typeface="Arial" panose="020B0604020202020204" pitchFamily="34" charset="0"/>
            </a:endParaRPr>
          </a:p>
        </p:txBody>
      </p:sp>
      <p:sp>
        <p:nvSpPr>
          <p:cNvPr id="69" name="矩形 68">
            <a:extLst>
              <a:ext uri="{FF2B5EF4-FFF2-40B4-BE49-F238E27FC236}">
                <a16:creationId xmlns:a16="http://schemas.microsoft.com/office/drawing/2014/main" id="{B50D311E-76B4-BE00-4D9D-E2E3C9A54A19}"/>
              </a:ext>
            </a:extLst>
          </p:cNvPr>
          <p:cNvSpPr/>
          <p:nvPr/>
        </p:nvSpPr>
        <p:spPr>
          <a:xfrm>
            <a:off x="714375" y="1814513"/>
            <a:ext cx="954088" cy="400050"/>
          </a:xfrm>
          <a:prstGeom prst="rect">
            <a:avLst/>
          </a:prstGeom>
        </p:spPr>
        <p:txBody>
          <a:bodyPr wrap="none">
            <a:spAutoFit/>
          </a:bodyPr>
          <a:lstStyle/>
          <a:p>
            <a:pPr>
              <a:defRPr/>
            </a:pPr>
            <a:r>
              <a:rPr lang="zh-CN" altLang="en-US" sz="2000"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rPr>
              <a:t>分析</a:t>
            </a:r>
            <a:r>
              <a:rPr lang="zh-CN" altLang="en-US" sz="2000" dirty="0">
                <a:solidFill>
                  <a:schemeClr val="tx1"/>
                </a:solidFill>
                <a:latin typeface="Arial" charset="0"/>
                <a:ea typeface="微软雅黑" pitchFamily="34" charset="-122"/>
                <a:cs typeface="Arial" charset="0"/>
              </a:rPr>
              <a:t>：</a:t>
            </a:r>
            <a:endParaRPr lang="en-US" altLang="zh-CN" sz="2000" dirty="0">
              <a:solidFill>
                <a:schemeClr val="tx1"/>
              </a:solidFill>
              <a:latin typeface="Arial" charset="0"/>
              <a:ea typeface="微软雅黑" pitchFamily="34" charset="-122"/>
              <a:cs typeface="Arial" charset="0"/>
            </a:endParaRPr>
          </a:p>
        </p:txBody>
      </p:sp>
      <p:sp>
        <p:nvSpPr>
          <p:cNvPr id="74" name="矩形 73">
            <a:extLst>
              <a:ext uri="{FF2B5EF4-FFF2-40B4-BE49-F238E27FC236}">
                <a16:creationId xmlns:a16="http://schemas.microsoft.com/office/drawing/2014/main" id="{DD3F41A9-D1D5-4A8E-0D3B-F0A3077B29F7}"/>
              </a:ext>
            </a:extLst>
          </p:cNvPr>
          <p:cNvSpPr/>
          <p:nvPr/>
        </p:nvSpPr>
        <p:spPr>
          <a:xfrm>
            <a:off x="2586038" y="4927600"/>
            <a:ext cx="1290637" cy="400050"/>
          </a:xfrm>
          <a:prstGeom prst="rect">
            <a:avLst/>
          </a:prstGeom>
        </p:spPr>
        <p:txBody>
          <a:bodyPr wrap="none">
            <a:spAutoFit/>
          </a:bodyPr>
          <a:lstStyle/>
          <a:p>
            <a:pPr>
              <a:defRPr/>
            </a:pPr>
            <a:r>
              <a:rPr lang="zh-CN" altLang="en-US" sz="2000" b="0" dirty="0">
                <a:solidFill>
                  <a:srgbClr val="0000CC"/>
                </a:solidFill>
                <a:effectLst>
                  <a:outerShdw blurRad="38100" dist="38100" dir="2700000" algn="tl">
                    <a:srgbClr val="000000">
                      <a:alpha val="43137"/>
                    </a:srgbClr>
                  </a:outerShdw>
                </a:effectLst>
                <a:latin typeface="微软雅黑" pitchFamily="34" charset="-122"/>
                <a:ea typeface="微软雅黑" pitchFamily="34" charset="-122"/>
              </a:rPr>
              <a:t>信息位</a:t>
            </a:r>
            <a:r>
              <a:rPr lang="en-US" altLang="zh-CN" sz="2000" dirty="0">
                <a:solidFill>
                  <a:srgbClr val="0000CC"/>
                </a:solidFill>
                <a:latin typeface="微软雅黑" pitchFamily="34" charset="-122"/>
                <a:ea typeface="微软雅黑" pitchFamily="34" charset="-122"/>
              </a:rPr>
              <a:t>---</a:t>
            </a:r>
            <a:endParaRPr lang="zh-CN" altLang="en-US" sz="2000" dirty="0">
              <a:solidFill>
                <a:srgbClr val="0000CC"/>
              </a:solidFill>
              <a:latin typeface="微软雅黑" pitchFamily="34" charset="-122"/>
              <a:ea typeface="微软雅黑" pitchFamily="34" charset="-122"/>
            </a:endParaRPr>
          </a:p>
        </p:txBody>
      </p:sp>
      <p:pic>
        <p:nvPicPr>
          <p:cNvPr id="38984" name="Picture 72">
            <a:extLst>
              <a:ext uri="{FF2B5EF4-FFF2-40B4-BE49-F238E27FC236}">
                <a16:creationId xmlns:a16="http://schemas.microsoft.com/office/drawing/2014/main" id="{D8BE5AA6-B7F2-1015-D154-8F22CD4710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0088" y="3729038"/>
            <a:ext cx="7586662"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85" name="Picture 73">
            <a:extLst>
              <a:ext uri="{FF2B5EF4-FFF2-40B4-BE49-F238E27FC236}">
                <a16:creationId xmlns:a16="http://schemas.microsoft.com/office/drawing/2014/main" id="{24A2788C-4739-D076-D947-E22C95DA8FB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30475" y="5572125"/>
            <a:ext cx="13573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5" name="直接连接符 65">
            <a:extLst>
              <a:ext uri="{FF2B5EF4-FFF2-40B4-BE49-F238E27FC236}">
                <a16:creationId xmlns:a16="http://schemas.microsoft.com/office/drawing/2014/main" id="{774438B2-D262-4DEF-58BA-B3241B274C0D}"/>
              </a:ext>
            </a:extLst>
          </p:cNvPr>
          <p:cNvCxnSpPr>
            <a:cxnSpLocks noChangeShapeType="1"/>
          </p:cNvCxnSpPr>
          <p:nvPr/>
        </p:nvCxnSpPr>
        <p:spPr bwMode="auto">
          <a:xfrm rot="5400000">
            <a:off x="5114926" y="3089275"/>
            <a:ext cx="258762" cy="1587"/>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61"/>
                                        </p:tgtEl>
                                        <p:attrNameLst>
                                          <p:attrName>style.visibility</p:attrName>
                                        </p:attrNameLst>
                                      </p:cBhvr>
                                      <p:to>
                                        <p:strVal val="visible"/>
                                      </p:to>
                                    </p:set>
                                    <p:animEffect transition="in" filter="wipe(up)">
                                      <p:cBhvr>
                                        <p:cTn id="11" dur="1000"/>
                                        <p:tgtEl>
                                          <p:spTgt spid="61"/>
                                        </p:tgtEl>
                                      </p:cBhvr>
                                    </p:animEffect>
                                  </p:childTnLst>
                                </p:cTn>
                              </p:par>
                            </p:childTnLst>
                          </p:cTn>
                        </p:par>
                        <p:par>
                          <p:cTn id="12" fill="hold" nodeType="afterGroup">
                            <p:stCondLst>
                              <p:cond delay="1500"/>
                            </p:stCondLst>
                            <p:childTnLst>
                              <p:par>
                                <p:cTn id="13" presetID="22" presetClass="entr" presetSubtype="1" fill="hold" nodeType="afterEffect">
                                  <p:stCondLst>
                                    <p:cond delay="0"/>
                                  </p:stCondLst>
                                  <p:childTnLst>
                                    <p:set>
                                      <p:cBhvr>
                                        <p:cTn id="14" dur="1" fill="hold">
                                          <p:stCondLst>
                                            <p:cond delay="0"/>
                                          </p:stCondLst>
                                        </p:cTn>
                                        <p:tgtEl>
                                          <p:spTgt spid="37961"/>
                                        </p:tgtEl>
                                        <p:attrNameLst>
                                          <p:attrName>style.visibility</p:attrName>
                                        </p:attrNameLst>
                                      </p:cBhvr>
                                      <p:to>
                                        <p:strVal val="visible"/>
                                      </p:to>
                                    </p:set>
                                    <p:animEffect transition="in" filter="wipe(up)">
                                      <p:cBhvr>
                                        <p:cTn id="15" dur="2000"/>
                                        <p:tgtEl>
                                          <p:spTgt spid="37961"/>
                                        </p:tgtEl>
                                      </p:cBhvr>
                                    </p:animEffect>
                                  </p:childTnLst>
                                </p:cTn>
                              </p:par>
                            </p:childTnLst>
                          </p:cTn>
                        </p:par>
                        <p:par>
                          <p:cTn id="16" fill="hold" nodeType="afterGroup">
                            <p:stCondLst>
                              <p:cond delay="3500"/>
                            </p:stCondLst>
                            <p:childTnLst>
                              <p:par>
                                <p:cTn id="17" presetID="22" presetClass="entr" presetSubtype="1" fill="hold" nodeType="afterEffect">
                                  <p:stCondLst>
                                    <p:cond delay="0"/>
                                  </p:stCondLst>
                                  <p:childTnLst>
                                    <p:set>
                                      <p:cBhvr>
                                        <p:cTn id="18" dur="1" fill="hold">
                                          <p:stCondLst>
                                            <p:cond delay="0"/>
                                          </p:stCondLst>
                                        </p:cTn>
                                        <p:tgtEl>
                                          <p:spTgt spid="75"/>
                                        </p:tgtEl>
                                        <p:attrNameLst>
                                          <p:attrName>style.visibility</p:attrName>
                                        </p:attrNameLst>
                                      </p:cBhvr>
                                      <p:to>
                                        <p:strVal val="visible"/>
                                      </p:to>
                                    </p:set>
                                    <p:animEffect transition="in" filter="wipe(up)">
                                      <p:cBhvr>
                                        <p:cTn id="19" dur="2000"/>
                                        <p:tgtEl>
                                          <p:spTgt spid="7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nodeType="clickEffect">
                                  <p:stCondLst>
                                    <p:cond delay="0"/>
                                  </p:stCondLst>
                                  <p:childTnLst>
                                    <p:set>
                                      <p:cBhvr>
                                        <p:cTn id="23" dur="1" fill="hold">
                                          <p:stCondLst>
                                            <p:cond delay="0"/>
                                          </p:stCondLst>
                                        </p:cTn>
                                        <p:tgtEl>
                                          <p:spTgt spid="69"/>
                                        </p:tgtEl>
                                        <p:attrNameLst>
                                          <p:attrName>style.visibility</p:attrName>
                                        </p:attrNameLst>
                                      </p:cBhvr>
                                      <p:to>
                                        <p:strVal val="visible"/>
                                      </p:to>
                                    </p:set>
                                    <p:animEffect transition="in" filter="wipe(up)">
                                      <p:cBhvr>
                                        <p:cTn id="24" dur="1000"/>
                                        <p:tgtEl>
                                          <p:spTgt spid="69"/>
                                        </p:tgtEl>
                                      </p:cBhvr>
                                    </p:animEffect>
                                  </p:childTnLst>
                                </p:cTn>
                              </p:par>
                            </p:childTnLst>
                          </p:cTn>
                        </p:par>
                        <p:par>
                          <p:cTn id="25" fill="hold" nodeType="afterGroup">
                            <p:stCondLst>
                              <p:cond delay="1000"/>
                            </p:stCondLst>
                            <p:childTnLst>
                              <p:par>
                                <p:cTn id="26" presetID="22" presetClass="entr" presetSubtype="1" fill="hold" nodeType="afterEffect">
                                  <p:stCondLst>
                                    <p:cond delay="0"/>
                                  </p:stCondLst>
                                  <p:childTnLst>
                                    <p:set>
                                      <p:cBhvr>
                                        <p:cTn id="27" dur="1" fill="hold">
                                          <p:stCondLst>
                                            <p:cond delay="0"/>
                                          </p:stCondLst>
                                        </p:cTn>
                                        <p:tgtEl>
                                          <p:spTgt spid="80"/>
                                        </p:tgtEl>
                                        <p:attrNameLst>
                                          <p:attrName>style.visibility</p:attrName>
                                        </p:attrNameLst>
                                      </p:cBhvr>
                                      <p:to>
                                        <p:strVal val="visible"/>
                                      </p:to>
                                    </p:set>
                                    <p:animEffect transition="in" filter="wipe(up)">
                                      <p:cBhvr>
                                        <p:cTn id="28" dur="1000"/>
                                        <p:tgtEl>
                                          <p:spTgt spid="8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nodeType="clickEffect">
                                  <p:stCondLst>
                                    <p:cond delay="0"/>
                                  </p:stCondLst>
                                  <p:childTnLst>
                                    <p:set>
                                      <p:cBhvr>
                                        <p:cTn id="32" dur="1" fill="hold">
                                          <p:stCondLst>
                                            <p:cond delay="0"/>
                                          </p:stCondLst>
                                        </p:cTn>
                                        <p:tgtEl>
                                          <p:spTgt spid="38921"/>
                                        </p:tgtEl>
                                        <p:attrNameLst>
                                          <p:attrName>style.visibility</p:attrName>
                                        </p:attrNameLst>
                                      </p:cBhvr>
                                      <p:to>
                                        <p:strVal val="visible"/>
                                      </p:to>
                                    </p:set>
                                    <p:animEffect transition="in" filter="wipe(up)">
                                      <p:cBhvr>
                                        <p:cTn id="33" dur="1000"/>
                                        <p:tgtEl>
                                          <p:spTgt spid="38921"/>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nodeType="clickEffect">
                                  <p:stCondLst>
                                    <p:cond delay="0"/>
                                  </p:stCondLst>
                                  <p:childTnLst>
                                    <p:set>
                                      <p:cBhvr>
                                        <p:cTn id="37" dur="1" fill="hold">
                                          <p:stCondLst>
                                            <p:cond delay="0"/>
                                          </p:stCondLst>
                                        </p:cTn>
                                        <p:tgtEl>
                                          <p:spTgt spid="38984"/>
                                        </p:tgtEl>
                                        <p:attrNameLst>
                                          <p:attrName>style.visibility</p:attrName>
                                        </p:attrNameLst>
                                      </p:cBhvr>
                                      <p:to>
                                        <p:strVal val="visible"/>
                                      </p:to>
                                    </p:set>
                                    <p:animEffect transition="in" filter="wipe(up)">
                                      <p:cBhvr>
                                        <p:cTn id="38" dur="1000"/>
                                        <p:tgtEl>
                                          <p:spTgt spid="38984"/>
                                        </p:tgtEl>
                                      </p:cBhvr>
                                    </p:animEffect>
                                  </p:childTnLst>
                                </p:cTn>
                              </p:par>
                            </p:childTnLst>
                          </p:cTn>
                        </p:par>
                        <p:par>
                          <p:cTn id="39" fill="hold" nodeType="afterGroup">
                            <p:stCondLst>
                              <p:cond delay="1000"/>
                            </p:stCondLst>
                            <p:childTnLst>
                              <p:par>
                                <p:cTn id="40" presetID="22" presetClass="entr" presetSubtype="1" fill="hold" nodeType="afterEffect">
                                  <p:stCondLst>
                                    <p:cond delay="0"/>
                                  </p:stCondLst>
                                  <p:childTnLst>
                                    <p:set>
                                      <p:cBhvr>
                                        <p:cTn id="41" dur="1" fill="hold">
                                          <p:stCondLst>
                                            <p:cond delay="0"/>
                                          </p:stCondLst>
                                        </p:cTn>
                                        <p:tgtEl>
                                          <p:spTgt spid="108604"/>
                                        </p:tgtEl>
                                        <p:attrNameLst>
                                          <p:attrName>style.visibility</p:attrName>
                                        </p:attrNameLst>
                                      </p:cBhvr>
                                      <p:to>
                                        <p:strVal val="visible"/>
                                      </p:to>
                                    </p:set>
                                    <p:animEffect transition="in" filter="wipe(up)">
                                      <p:cBhvr>
                                        <p:cTn id="42" dur="1000"/>
                                        <p:tgtEl>
                                          <p:spTgt spid="10860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2" fill="hold" nodeType="clickEffect">
                                  <p:stCondLst>
                                    <p:cond delay="0"/>
                                  </p:stCondLst>
                                  <p:childTnLst>
                                    <p:set>
                                      <p:cBhvr>
                                        <p:cTn id="46" dur="1" fill="hold">
                                          <p:stCondLst>
                                            <p:cond delay="0"/>
                                          </p:stCondLst>
                                        </p:cTn>
                                        <p:tgtEl>
                                          <p:spTgt spid="74"/>
                                        </p:tgtEl>
                                        <p:attrNameLst>
                                          <p:attrName>style.visibility</p:attrName>
                                        </p:attrNameLst>
                                      </p:cBhvr>
                                      <p:to>
                                        <p:strVal val="visible"/>
                                      </p:to>
                                    </p:set>
                                    <p:animEffect transition="in" filter="wipe(right)">
                                      <p:cBhvr>
                                        <p:cTn id="47" dur="1000"/>
                                        <p:tgtEl>
                                          <p:spTgt spid="7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2" fill="hold" nodeType="clickEffect">
                                  <p:stCondLst>
                                    <p:cond delay="0"/>
                                  </p:stCondLst>
                                  <p:childTnLst>
                                    <p:set>
                                      <p:cBhvr>
                                        <p:cTn id="51" dur="1" fill="hold">
                                          <p:stCondLst>
                                            <p:cond delay="0"/>
                                          </p:stCondLst>
                                        </p:cTn>
                                        <p:tgtEl>
                                          <p:spTgt spid="38985"/>
                                        </p:tgtEl>
                                        <p:attrNameLst>
                                          <p:attrName>style.visibility</p:attrName>
                                        </p:attrNameLst>
                                      </p:cBhvr>
                                      <p:to>
                                        <p:strVal val="visible"/>
                                      </p:to>
                                    </p:set>
                                    <p:animEffect transition="in" filter="wipe(right)">
                                      <p:cBhvr>
                                        <p:cTn id="52" dur="1000"/>
                                        <p:tgtEl>
                                          <p:spTgt spid="389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80" grpId="0"/>
      <p:bldP spid="38921" grpId="0"/>
      <p:bldP spid="69" grpId="0"/>
      <p:bldP spid="74"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C139ADB-C4E9-1756-4F5D-9315DDE6D8F4}"/>
              </a:ext>
            </a:extLst>
          </p:cNvPr>
          <p:cNvSpPr>
            <a:spLocks noGrp="1"/>
          </p:cNvSpPr>
          <p:nvPr>
            <p:ph idx="1"/>
          </p:nvPr>
        </p:nvSpPr>
        <p:spPr>
          <a:xfrm>
            <a:off x="755650" y="2928938"/>
            <a:ext cx="7772400" cy="446087"/>
          </a:xfrm>
        </p:spPr>
        <p:txBody>
          <a:bodyPr/>
          <a:lstStyle/>
          <a:p>
            <a:pPr>
              <a:buFont typeface="Wingdings" panose="05000000000000000000" pitchFamily="2" charset="2"/>
              <a:buNone/>
              <a:defRPr/>
            </a:pPr>
            <a:r>
              <a:rPr lang="zh-CN" altLang="en-US" sz="2000" dirty="0">
                <a:effectLst>
                  <a:outerShdw blurRad="38100" dist="38100" dir="2700000" algn="tl">
                    <a:srgbClr val="000000">
                      <a:alpha val="43137"/>
                    </a:srgbClr>
                  </a:outerShdw>
                </a:effectLst>
                <a:latin typeface="Arial" pitchFamily="34" charset="0"/>
                <a:ea typeface="微软雅黑" pitchFamily="34" charset="-122"/>
                <a:cs typeface="Arial" pitchFamily="34" charset="0"/>
              </a:rPr>
              <a:t>设</a:t>
            </a:r>
            <a:r>
              <a:rPr lang="zh-CN" sz="2000" dirty="0">
                <a:latin typeface="Arial" pitchFamily="34" charset="0"/>
                <a:ea typeface="微软雅黑" pitchFamily="34" charset="-122"/>
                <a:cs typeface="Arial" pitchFamily="34" charset="0"/>
              </a:rPr>
              <a:t>移存器初始是</a:t>
            </a:r>
            <a:r>
              <a:rPr lang="zh-CN" sz="2000" dirty="0">
                <a:solidFill>
                  <a:srgbClr val="0000CC"/>
                </a:solidFill>
                <a:latin typeface="Arial" pitchFamily="34" charset="0"/>
                <a:ea typeface="微软雅黑" pitchFamily="34" charset="-122"/>
                <a:cs typeface="Arial" pitchFamily="34" charset="0"/>
              </a:rPr>
              <a:t>全零</a:t>
            </a:r>
            <a:r>
              <a:rPr lang="zh-CN" sz="2000" dirty="0">
                <a:latin typeface="Arial" pitchFamily="34" charset="0"/>
                <a:ea typeface="微软雅黑" pitchFamily="34" charset="-122"/>
                <a:cs typeface="Arial" pitchFamily="34" charset="0"/>
              </a:rPr>
              <a:t>状态</a:t>
            </a:r>
            <a:r>
              <a:rPr lang="zh-CN" altLang="en-US" sz="2000" dirty="0">
                <a:latin typeface="Arial" pitchFamily="34" charset="0"/>
                <a:ea typeface="微软雅黑" pitchFamily="34" charset="-122"/>
                <a:cs typeface="Arial" pitchFamily="34" charset="0"/>
              </a:rPr>
              <a:t>，当输入</a:t>
            </a:r>
            <a:r>
              <a:rPr lang="zh-CN" sz="2000" dirty="0">
                <a:latin typeface="Arial" pitchFamily="34" charset="0"/>
                <a:ea typeface="微软雅黑" pitchFamily="34" charset="-122"/>
                <a:cs typeface="Arial" pitchFamily="34" charset="0"/>
              </a:rPr>
              <a:t>信息序列</a:t>
            </a:r>
            <a:r>
              <a:rPr lang="en-US" sz="2000" dirty="0">
                <a:latin typeface="Arial" pitchFamily="34" charset="0"/>
                <a:ea typeface="微软雅黑" pitchFamily="34" charset="-122"/>
                <a:cs typeface="Arial" pitchFamily="34" charset="0"/>
              </a:rPr>
              <a:t> </a:t>
            </a:r>
            <a:r>
              <a:rPr lang="zh-CN" altLang="en-US" sz="2000" dirty="0">
                <a:latin typeface="Arial" pitchFamily="34" charset="0"/>
                <a:ea typeface="微软雅黑" pitchFamily="34" charset="-122"/>
                <a:cs typeface="Arial" pitchFamily="34" charset="0"/>
              </a:rPr>
              <a:t>：</a:t>
            </a:r>
            <a:endParaRPr lang="en-US" sz="2000" dirty="0">
              <a:latin typeface="Arial" pitchFamily="34" charset="0"/>
              <a:ea typeface="微软雅黑" pitchFamily="34" charset="-122"/>
              <a:cs typeface="Arial" pitchFamily="34" charset="0"/>
            </a:endParaRPr>
          </a:p>
          <a:p>
            <a:pPr>
              <a:defRPr/>
            </a:pPr>
            <a:endParaRPr lang="zh-CN" altLang="en-US" sz="2000" dirty="0">
              <a:latin typeface="Arial" pitchFamily="34" charset="0"/>
              <a:ea typeface="微软雅黑" pitchFamily="34" charset="-122"/>
              <a:cs typeface="Arial" pitchFamily="34" charset="0"/>
            </a:endParaRPr>
          </a:p>
        </p:txBody>
      </p:sp>
      <p:sp>
        <p:nvSpPr>
          <p:cNvPr id="4" name="矩形 3">
            <a:extLst>
              <a:ext uri="{FF2B5EF4-FFF2-40B4-BE49-F238E27FC236}">
                <a16:creationId xmlns:a16="http://schemas.microsoft.com/office/drawing/2014/main" id="{15EF6759-9A18-3A0A-14C1-0C405E1E39FD}"/>
              </a:ext>
            </a:extLst>
          </p:cNvPr>
          <p:cNvSpPr/>
          <p:nvPr/>
        </p:nvSpPr>
        <p:spPr>
          <a:xfrm>
            <a:off x="785813" y="4286250"/>
            <a:ext cx="5908675" cy="400050"/>
          </a:xfrm>
          <a:prstGeom prst="rect">
            <a:avLst/>
          </a:prstGeom>
        </p:spPr>
        <p:txBody>
          <a:bodyPr>
            <a:spAutoFit/>
          </a:bodyPr>
          <a:lstStyle/>
          <a:p>
            <a:pPr marL="342900" indent="-342900" eaLnBrk="0" hangingPunct="0">
              <a:spcBef>
                <a:spcPct val="20000"/>
              </a:spcBef>
              <a:buClr>
                <a:srgbClr val="3333CC"/>
              </a:buClr>
              <a:buSzPct val="60000"/>
              <a:defRPr/>
            </a:pP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则</a:t>
            </a:r>
            <a:r>
              <a:rPr kumimoji="0" lang="zh-CN" altLang="en-US" sz="2000" b="0" kern="0" dirty="0">
                <a:solidFill>
                  <a:srgbClr val="000000"/>
                </a:solidFill>
                <a:latin typeface="Arial" pitchFamily="34" charset="0"/>
                <a:ea typeface="微软雅黑" pitchFamily="34" charset="-122"/>
                <a:cs typeface="Arial" pitchFamily="34" charset="0"/>
              </a:rPr>
              <a:t>编码器输出序列：</a:t>
            </a:r>
          </a:p>
        </p:txBody>
      </p:sp>
      <p:graphicFrame>
        <p:nvGraphicFramePr>
          <p:cNvPr id="108604" name="Object 60">
            <a:extLst>
              <a:ext uri="{FF2B5EF4-FFF2-40B4-BE49-F238E27FC236}">
                <a16:creationId xmlns:a16="http://schemas.microsoft.com/office/drawing/2014/main" id="{01FBBF3D-0DBB-0C9E-77C9-4978780776EA}"/>
              </a:ext>
            </a:extLst>
          </p:cNvPr>
          <p:cNvGraphicFramePr>
            <a:graphicFrameLocks noChangeAspect="1"/>
          </p:cNvGraphicFramePr>
          <p:nvPr/>
        </p:nvGraphicFramePr>
        <p:xfrm>
          <a:off x="3516313" y="1143000"/>
          <a:ext cx="2555875" cy="1500188"/>
        </p:xfrm>
        <a:graphic>
          <a:graphicData uri="http://schemas.openxmlformats.org/presentationml/2006/ole">
            <mc:AlternateContent xmlns:mc="http://schemas.openxmlformats.org/markup-compatibility/2006">
              <mc:Choice xmlns:v="urn:schemas-microsoft-com:vml" Requires="v">
                <p:oleObj name="公式" r:id="rId2" imgW="1168200" imgH="685800" progId="Equation.3">
                  <p:embed/>
                </p:oleObj>
              </mc:Choice>
              <mc:Fallback>
                <p:oleObj name="公式" r:id="rId2" imgW="1168200" imgH="685800" progId="Equation.3">
                  <p:embed/>
                  <p:pic>
                    <p:nvPicPr>
                      <p:cNvPr id="0" name="Object 6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6313" y="1143000"/>
                        <a:ext cx="2555875" cy="1500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矩形 7">
            <a:extLst>
              <a:ext uri="{FF2B5EF4-FFF2-40B4-BE49-F238E27FC236}">
                <a16:creationId xmlns:a16="http://schemas.microsoft.com/office/drawing/2014/main" id="{2AA9DDDA-BC12-4ED2-6E2B-0578000D3045}"/>
              </a:ext>
            </a:extLst>
          </p:cNvPr>
          <p:cNvSpPr/>
          <p:nvPr/>
        </p:nvSpPr>
        <p:spPr>
          <a:xfrm>
            <a:off x="814388" y="5815013"/>
            <a:ext cx="4286250" cy="400050"/>
          </a:xfrm>
          <a:prstGeom prst="rect">
            <a:avLst/>
          </a:prstGeom>
        </p:spPr>
        <p:txBody>
          <a:bodyPr>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结果为</a:t>
            </a: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系统码</a:t>
            </a:r>
            <a:r>
              <a:rPr kumimoji="0" lang="zh-CN" altLang="en-US" sz="2000" b="0" kern="0" dirty="0">
                <a:solidFill>
                  <a:srgbClr val="000000"/>
                </a:solidFill>
                <a:latin typeface="Arial" pitchFamily="34" charset="0"/>
                <a:ea typeface="微软雅黑" pitchFamily="34" charset="-122"/>
                <a:cs typeface="Arial" pitchFamily="34" charset="0"/>
              </a:rPr>
              <a:t>形式。</a:t>
            </a:r>
            <a:endParaRPr lang="zh-CN" altLang="en-US" dirty="0"/>
          </a:p>
        </p:txBody>
      </p:sp>
      <p:pic>
        <p:nvPicPr>
          <p:cNvPr id="39942" name="Picture 8">
            <a:extLst>
              <a:ext uri="{FF2B5EF4-FFF2-40B4-BE49-F238E27FC236}">
                <a16:creationId xmlns:a16="http://schemas.microsoft.com/office/drawing/2014/main" id="{9AE1F238-92B0-6AB0-F556-5B55993F8D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21101" b="70357"/>
          <a:stretch>
            <a:fillRect/>
          </a:stretch>
        </p:blipFill>
        <p:spPr bwMode="auto">
          <a:xfrm>
            <a:off x="1643063" y="3429000"/>
            <a:ext cx="61436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3" name="Picture 8">
            <a:extLst>
              <a:ext uri="{FF2B5EF4-FFF2-40B4-BE49-F238E27FC236}">
                <a16:creationId xmlns:a16="http://schemas.microsoft.com/office/drawing/2014/main" id="{4A8124A5-19D1-4C3B-2501-8C692335B0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70403" r="8257" b="-47"/>
          <a:stretch>
            <a:fillRect/>
          </a:stretch>
        </p:blipFill>
        <p:spPr bwMode="auto">
          <a:xfrm>
            <a:off x="1643063" y="4714875"/>
            <a:ext cx="7143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1000"/>
                                        <p:tgtEl>
                                          <p:spTgt spid="3">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39942"/>
                                        </p:tgtEl>
                                        <p:attrNameLst>
                                          <p:attrName>style.visibility</p:attrName>
                                        </p:attrNameLst>
                                      </p:cBhvr>
                                      <p:to>
                                        <p:strVal val="visible"/>
                                      </p:to>
                                    </p:set>
                                    <p:animEffect transition="in" filter="wipe(up)">
                                      <p:cBhvr>
                                        <p:cTn id="11" dur="1000"/>
                                        <p:tgtEl>
                                          <p:spTgt spid="3994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up)">
                                      <p:cBhvr>
                                        <p:cTn id="16" dur="1000"/>
                                        <p:tgtEl>
                                          <p:spTgt spid="4"/>
                                        </p:tgtEl>
                                      </p:cBhvr>
                                    </p:animEffect>
                                  </p:childTnLst>
                                </p:cTn>
                              </p:par>
                            </p:childTnLst>
                          </p:cTn>
                        </p:par>
                        <p:par>
                          <p:cTn id="17" fill="hold" nodeType="afterGroup">
                            <p:stCondLst>
                              <p:cond delay="1000"/>
                            </p:stCondLst>
                            <p:childTnLst>
                              <p:par>
                                <p:cTn id="18" presetID="22" presetClass="entr" presetSubtype="1" fill="hold" nodeType="afterEffect">
                                  <p:stCondLst>
                                    <p:cond delay="0"/>
                                  </p:stCondLst>
                                  <p:childTnLst>
                                    <p:set>
                                      <p:cBhvr>
                                        <p:cTn id="19" dur="1" fill="hold">
                                          <p:stCondLst>
                                            <p:cond delay="0"/>
                                          </p:stCondLst>
                                        </p:cTn>
                                        <p:tgtEl>
                                          <p:spTgt spid="39943"/>
                                        </p:tgtEl>
                                        <p:attrNameLst>
                                          <p:attrName>style.visibility</p:attrName>
                                        </p:attrNameLst>
                                      </p:cBhvr>
                                      <p:to>
                                        <p:strVal val="visible"/>
                                      </p:to>
                                    </p:set>
                                    <p:animEffect transition="in" filter="wipe(up)">
                                      <p:cBhvr>
                                        <p:cTn id="20" dur="1000"/>
                                        <p:tgtEl>
                                          <p:spTgt spid="3994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up)">
                                      <p:cBhvr>
                                        <p:cTn id="25"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8"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5">
            <a:extLst>
              <a:ext uri="{FF2B5EF4-FFF2-40B4-BE49-F238E27FC236}">
                <a16:creationId xmlns:a16="http://schemas.microsoft.com/office/drawing/2014/main" id="{DB787A4F-0A2E-632B-B95F-507892F7FC69}"/>
              </a:ext>
            </a:extLst>
          </p:cNvPr>
          <p:cNvGrpSpPr>
            <a:grpSpLocks/>
          </p:cNvGrpSpPr>
          <p:nvPr/>
        </p:nvGrpSpPr>
        <p:grpSpPr bwMode="auto">
          <a:xfrm>
            <a:off x="841375" y="2525713"/>
            <a:ext cx="7516813" cy="2474912"/>
            <a:chOff x="924" y="828"/>
            <a:chExt cx="4411" cy="1453"/>
          </a:xfrm>
        </p:grpSpPr>
        <p:sp>
          <p:nvSpPr>
            <p:cNvPr id="39941" name="AutoShape 5">
              <a:extLst>
                <a:ext uri="{FF2B5EF4-FFF2-40B4-BE49-F238E27FC236}">
                  <a16:creationId xmlns:a16="http://schemas.microsoft.com/office/drawing/2014/main" id="{84D61466-517F-0C66-E668-F3D714C6F95E}"/>
                </a:ext>
              </a:extLst>
            </p:cNvPr>
            <p:cNvSpPr>
              <a:spLocks noChangeAspect="1" noChangeArrowheads="1"/>
            </p:cNvSpPr>
            <p:nvPr/>
          </p:nvSpPr>
          <p:spPr bwMode="auto">
            <a:xfrm>
              <a:off x="924" y="828"/>
              <a:ext cx="4411"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20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grpSp>
          <p:nvGrpSpPr>
            <p:cNvPr id="39942" name="Group 6">
              <a:extLst>
                <a:ext uri="{FF2B5EF4-FFF2-40B4-BE49-F238E27FC236}">
                  <a16:creationId xmlns:a16="http://schemas.microsoft.com/office/drawing/2014/main" id="{83B7658B-D857-ABAC-19C1-0633CA0CC9CC}"/>
                </a:ext>
              </a:extLst>
            </p:cNvPr>
            <p:cNvGrpSpPr>
              <a:grpSpLocks/>
            </p:cNvGrpSpPr>
            <p:nvPr/>
          </p:nvGrpSpPr>
          <p:grpSpPr bwMode="auto">
            <a:xfrm>
              <a:off x="1282" y="1613"/>
              <a:ext cx="3868" cy="199"/>
              <a:chOff x="2836" y="3061"/>
              <a:chExt cx="5059" cy="260"/>
            </a:xfrm>
          </p:grpSpPr>
          <p:grpSp>
            <p:nvGrpSpPr>
              <p:cNvPr id="39959" name="Group 7">
                <a:extLst>
                  <a:ext uri="{FF2B5EF4-FFF2-40B4-BE49-F238E27FC236}">
                    <a16:creationId xmlns:a16="http://schemas.microsoft.com/office/drawing/2014/main" id="{4717EB78-DBEA-E704-A723-DEE0151F97FC}"/>
                  </a:ext>
                </a:extLst>
              </p:cNvPr>
              <p:cNvGrpSpPr>
                <a:grpSpLocks/>
              </p:cNvGrpSpPr>
              <p:nvPr/>
            </p:nvGrpSpPr>
            <p:grpSpPr bwMode="auto">
              <a:xfrm>
                <a:off x="3213" y="3061"/>
                <a:ext cx="4214" cy="260"/>
                <a:chOff x="3213" y="3061"/>
                <a:chExt cx="4214" cy="260"/>
              </a:xfrm>
            </p:grpSpPr>
            <p:sp>
              <p:nvSpPr>
                <p:cNvPr id="39961" name="Text Box 8">
                  <a:extLst>
                    <a:ext uri="{FF2B5EF4-FFF2-40B4-BE49-F238E27FC236}">
                      <a16:creationId xmlns:a16="http://schemas.microsoft.com/office/drawing/2014/main" id="{83A14EFF-DE6E-80C7-4811-A8B5B7EC3EC6}"/>
                    </a:ext>
                  </a:extLst>
                </p:cNvPr>
                <p:cNvSpPr txBox="1">
                  <a:spLocks noChangeArrowheads="1"/>
                </p:cNvSpPr>
                <p:nvPr/>
              </p:nvSpPr>
              <p:spPr bwMode="auto">
                <a:xfrm>
                  <a:off x="3213" y="3061"/>
                  <a:ext cx="469" cy="260"/>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2000" i="1">
                      <a:solidFill>
                        <a:srgbClr val="003399"/>
                      </a:solidFill>
                      <a:latin typeface="Arial" panose="020B0604020202020204" pitchFamily="34" charset="0"/>
                      <a:ea typeface="微软雅黑" panose="020B0503020204020204" pitchFamily="34" charset="-122"/>
                      <a:cs typeface="Arial" panose="020B0604020202020204" pitchFamily="34" charset="0"/>
                    </a:rPr>
                    <a:t>c</a:t>
                  </a:r>
                  <a:r>
                    <a:rPr lang="en-US" altLang="zh-CN" sz="2000" i="1" baseline="-25000">
                      <a:solidFill>
                        <a:srgbClr val="003399"/>
                      </a:solidFill>
                      <a:latin typeface="Arial" panose="020B0604020202020204" pitchFamily="34" charset="0"/>
                      <a:ea typeface="微软雅黑" panose="020B0503020204020204" pitchFamily="34" charset="-122"/>
                      <a:cs typeface="Arial" panose="020B0604020202020204" pitchFamily="34" charset="0"/>
                    </a:rPr>
                    <a:t>i-2</a:t>
                  </a:r>
                  <a:endParaRPr lang="en-US" altLang="zh-CN" sz="20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39962" name="Text Box 9">
                  <a:extLst>
                    <a:ext uri="{FF2B5EF4-FFF2-40B4-BE49-F238E27FC236}">
                      <a16:creationId xmlns:a16="http://schemas.microsoft.com/office/drawing/2014/main" id="{DBDD4DBC-DDEB-6C81-FF71-5F8CB894A781}"/>
                    </a:ext>
                  </a:extLst>
                </p:cNvPr>
                <p:cNvSpPr txBox="1">
                  <a:spLocks noChangeArrowheads="1"/>
                </p:cNvSpPr>
                <p:nvPr/>
              </p:nvSpPr>
              <p:spPr bwMode="auto">
                <a:xfrm>
                  <a:off x="3682" y="3061"/>
                  <a:ext cx="468" cy="260"/>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2000" i="1">
                      <a:solidFill>
                        <a:srgbClr val="003399"/>
                      </a:solidFill>
                      <a:latin typeface="Arial" panose="020B0604020202020204" pitchFamily="34" charset="0"/>
                      <a:ea typeface="微软雅黑" panose="020B0503020204020204" pitchFamily="34" charset="-122"/>
                      <a:cs typeface="Arial" panose="020B0604020202020204" pitchFamily="34" charset="0"/>
                    </a:rPr>
                    <a:t>d</a:t>
                  </a:r>
                  <a:r>
                    <a:rPr lang="en-US" altLang="zh-CN" sz="2000" i="1" baseline="-25000">
                      <a:solidFill>
                        <a:srgbClr val="003399"/>
                      </a:solidFill>
                      <a:latin typeface="Arial" panose="020B0604020202020204" pitchFamily="34" charset="0"/>
                      <a:ea typeface="微软雅黑" panose="020B0503020204020204" pitchFamily="34" charset="-122"/>
                      <a:cs typeface="Arial" panose="020B0604020202020204" pitchFamily="34" charset="0"/>
                    </a:rPr>
                    <a:t>i-</a:t>
                  </a:r>
                  <a:r>
                    <a:rPr lang="en-US" altLang="zh-CN" sz="2000" baseline="-25000">
                      <a:solidFill>
                        <a:srgbClr val="003399"/>
                      </a:solidFill>
                      <a:latin typeface="Arial" panose="020B0604020202020204" pitchFamily="34" charset="0"/>
                      <a:ea typeface="微软雅黑" panose="020B0503020204020204" pitchFamily="34" charset="-122"/>
                      <a:cs typeface="Arial" panose="020B0604020202020204" pitchFamily="34" charset="0"/>
                    </a:rPr>
                    <a:t>2</a:t>
                  </a:r>
                  <a:endParaRPr lang="en-US" altLang="zh-CN" sz="20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39963" name="Text Box 10">
                  <a:extLst>
                    <a:ext uri="{FF2B5EF4-FFF2-40B4-BE49-F238E27FC236}">
                      <a16:creationId xmlns:a16="http://schemas.microsoft.com/office/drawing/2014/main" id="{9C1C34BF-81DF-0C85-208C-95A0152B1318}"/>
                    </a:ext>
                  </a:extLst>
                </p:cNvPr>
                <p:cNvSpPr txBox="1">
                  <a:spLocks noChangeArrowheads="1"/>
                </p:cNvSpPr>
                <p:nvPr/>
              </p:nvSpPr>
              <p:spPr bwMode="auto">
                <a:xfrm>
                  <a:off x="4150" y="3061"/>
                  <a:ext cx="468" cy="260"/>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2000" i="1">
                      <a:solidFill>
                        <a:srgbClr val="003399"/>
                      </a:solidFill>
                      <a:latin typeface="Arial" panose="020B0604020202020204" pitchFamily="34" charset="0"/>
                      <a:ea typeface="微软雅黑" panose="020B0503020204020204" pitchFamily="34" charset="-122"/>
                      <a:cs typeface="Arial" panose="020B0604020202020204" pitchFamily="34" charset="0"/>
                    </a:rPr>
                    <a:t>e</a:t>
                  </a:r>
                  <a:r>
                    <a:rPr lang="en-US" altLang="zh-CN" sz="2000" i="1" baseline="-25000">
                      <a:solidFill>
                        <a:srgbClr val="003399"/>
                      </a:solidFill>
                      <a:latin typeface="Arial" panose="020B0604020202020204" pitchFamily="34" charset="0"/>
                      <a:ea typeface="微软雅黑" panose="020B0503020204020204" pitchFamily="34" charset="-122"/>
                      <a:cs typeface="Arial" panose="020B0604020202020204" pitchFamily="34" charset="0"/>
                    </a:rPr>
                    <a:t>i</a:t>
                  </a:r>
                  <a:r>
                    <a:rPr lang="en-US" altLang="zh-CN" sz="2000" baseline="-25000">
                      <a:solidFill>
                        <a:srgbClr val="003399"/>
                      </a:solidFill>
                      <a:latin typeface="Arial" panose="020B0604020202020204" pitchFamily="34" charset="0"/>
                      <a:ea typeface="微软雅黑" panose="020B0503020204020204" pitchFamily="34" charset="-122"/>
                      <a:cs typeface="Arial" panose="020B0604020202020204" pitchFamily="34" charset="0"/>
                    </a:rPr>
                    <a:t>-2</a:t>
                  </a:r>
                  <a:endParaRPr lang="en-US" altLang="zh-CN" sz="20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39964" name="Text Box 11">
                  <a:extLst>
                    <a:ext uri="{FF2B5EF4-FFF2-40B4-BE49-F238E27FC236}">
                      <a16:creationId xmlns:a16="http://schemas.microsoft.com/office/drawing/2014/main" id="{59BBE9A9-A46D-407D-8BDF-167349328978}"/>
                    </a:ext>
                  </a:extLst>
                </p:cNvPr>
                <p:cNvSpPr txBox="1">
                  <a:spLocks noChangeArrowheads="1"/>
                </p:cNvSpPr>
                <p:nvPr/>
              </p:nvSpPr>
              <p:spPr bwMode="auto">
                <a:xfrm>
                  <a:off x="4618" y="3061"/>
                  <a:ext cx="468" cy="260"/>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2000" i="1">
                      <a:solidFill>
                        <a:srgbClr val="003399"/>
                      </a:solidFill>
                      <a:latin typeface="Arial" panose="020B0604020202020204" pitchFamily="34" charset="0"/>
                      <a:ea typeface="微软雅黑" panose="020B0503020204020204" pitchFamily="34" charset="-122"/>
                      <a:cs typeface="Arial" panose="020B0604020202020204" pitchFamily="34" charset="0"/>
                    </a:rPr>
                    <a:t>c</a:t>
                  </a:r>
                  <a:r>
                    <a:rPr lang="en-US" altLang="zh-CN" sz="2000" i="1" baseline="-25000">
                      <a:solidFill>
                        <a:srgbClr val="003399"/>
                      </a:solidFill>
                      <a:latin typeface="Arial" panose="020B0604020202020204" pitchFamily="34" charset="0"/>
                      <a:ea typeface="微软雅黑" panose="020B0503020204020204" pitchFamily="34" charset="-122"/>
                      <a:cs typeface="Arial" panose="020B0604020202020204" pitchFamily="34" charset="0"/>
                    </a:rPr>
                    <a:t>i</a:t>
                  </a:r>
                  <a:r>
                    <a:rPr lang="en-US" altLang="zh-CN" sz="2000" baseline="-25000">
                      <a:solidFill>
                        <a:srgbClr val="003399"/>
                      </a:solidFill>
                      <a:latin typeface="Arial" panose="020B0604020202020204" pitchFamily="34" charset="0"/>
                      <a:ea typeface="微软雅黑" panose="020B0503020204020204" pitchFamily="34" charset="-122"/>
                      <a:cs typeface="Arial" panose="020B0604020202020204" pitchFamily="34" charset="0"/>
                    </a:rPr>
                    <a:t>-1</a:t>
                  </a:r>
                  <a:endParaRPr lang="en-US" altLang="zh-CN" sz="20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39965" name="Text Box 12">
                  <a:extLst>
                    <a:ext uri="{FF2B5EF4-FFF2-40B4-BE49-F238E27FC236}">
                      <a16:creationId xmlns:a16="http://schemas.microsoft.com/office/drawing/2014/main" id="{DE2AF173-51C7-2057-8088-36FFD96DD957}"/>
                    </a:ext>
                  </a:extLst>
                </p:cNvPr>
                <p:cNvSpPr txBox="1">
                  <a:spLocks noChangeArrowheads="1"/>
                </p:cNvSpPr>
                <p:nvPr/>
              </p:nvSpPr>
              <p:spPr bwMode="auto">
                <a:xfrm>
                  <a:off x="5086" y="3061"/>
                  <a:ext cx="468" cy="260"/>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2000" i="1">
                      <a:solidFill>
                        <a:srgbClr val="003399"/>
                      </a:solidFill>
                      <a:latin typeface="Arial" panose="020B0604020202020204" pitchFamily="34" charset="0"/>
                      <a:ea typeface="微软雅黑" panose="020B0503020204020204" pitchFamily="34" charset="-122"/>
                      <a:cs typeface="Arial" panose="020B0604020202020204" pitchFamily="34" charset="0"/>
                    </a:rPr>
                    <a:t>d</a:t>
                  </a:r>
                  <a:r>
                    <a:rPr lang="en-US" altLang="zh-CN" sz="2000" i="1" baseline="-25000">
                      <a:solidFill>
                        <a:srgbClr val="003399"/>
                      </a:solidFill>
                      <a:latin typeface="Arial" panose="020B0604020202020204" pitchFamily="34" charset="0"/>
                      <a:ea typeface="微软雅黑" panose="020B0503020204020204" pitchFamily="34" charset="-122"/>
                      <a:cs typeface="Arial" panose="020B0604020202020204" pitchFamily="34" charset="0"/>
                    </a:rPr>
                    <a:t>i</a:t>
                  </a:r>
                  <a:r>
                    <a:rPr lang="en-US" altLang="zh-CN" sz="2000" baseline="-25000">
                      <a:solidFill>
                        <a:srgbClr val="003399"/>
                      </a:solidFill>
                      <a:latin typeface="Arial" panose="020B0604020202020204" pitchFamily="34" charset="0"/>
                      <a:ea typeface="微软雅黑" panose="020B0503020204020204" pitchFamily="34" charset="-122"/>
                      <a:cs typeface="Arial" panose="020B0604020202020204" pitchFamily="34" charset="0"/>
                    </a:rPr>
                    <a:t>-1</a:t>
                  </a:r>
                  <a:endParaRPr lang="en-US" altLang="zh-CN" sz="20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39966" name="Text Box 13">
                  <a:extLst>
                    <a:ext uri="{FF2B5EF4-FFF2-40B4-BE49-F238E27FC236}">
                      <a16:creationId xmlns:a16="http://schemas.microsoft.com/office/drawing/2014/main" id="{06F0203E-72FC-F317-0EDE-6BAC4F98CA7C}"/>
                    </a:ext>
                  </a:extLst>
                </p:cNvPr>
                <p:cNvSpPr txBox="1">
                  <a:spLocks noChangeArrowheads="1"/>
                </p:cNvSpPr>
                <p:nvPr/>
              </p:nvSpPr>
              <p:spPr bwMode="auto">
                <a:xfrm>
                  <a:off x="5554" y="3061"/>
                  <a:ext cx="469" cy="260"/>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2000" i="1">
                      <a:solidFill>
                        <a:srgbClr val="003399"/>
                      </a:solidFill>
                      <a:latin typeface="Arial" panose="020B0604020202020204" pitchFamily="34" charset="0"/>
                      <a:ea typeface="微软雅黑" panose="020B0503020204020204" pitchFamily="34" charset="-122"/>
                      <a:cs typeface="Arial" panose="020B0604020202020204" pitchFamily="34" charset="0"/>
                    </a:rPr>
                    <a:t>e</a:t>
                  </a:r>
                  <a:r>
                    <a:rPr lang="en-US" altLang="zh-CN" sz="2000" i="1" baseline="-25000">
                      <a:solidFill>
                        <a:srgbClr val="003399"/>
                      </a:solidFill>
                      <a:latin typeface="Arial" panose="020B0604020202020204" pitchFamily="34" charset="0"/>
                      <a:ea typeface="微软雅黑" panose="020B0503020204020204" pitchFamily="34" charset="-122"/>
                      <a:cs typeface="Arial" panose="020B0604020202020204" pitchFamily="34" charset="0"/>
                    </a:rPr>
                    <a:t>i</a:t>
                  </a:r>
                  <a:r>
                    <a:rPr lang="en-US" altLang="zh-CN" sz="2000" baseline="-25000">
                      <a:solidFill>
                        <a:srgbClr val="003399"/>
                      </a:solidFill>
                      <a:latin typeface="Arial" panose="020B0604020202020204" pitchFamily="34" charset="0"/>
                      <a:ea typeface="微软雅黑" panose="020B0503020204020204" pitchFamily="34" charset="-122"/>
                      <a:cs typeface="Arial" panose="020B0604020202020204" pitchFamily="34" charset="0"/>
                    </a:rPr>
                    <a:t>-1</a:t>
                  </a:r>
                  <a:endParaRPr lang="en-US" altLang="zh-CN" sz="20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39967" name="Text Box 14">
                  <a:extLst>
                    <a:ext uri="{FF2B5EF4-FFF2-40B4-BE49-F238E27FC236}">
                      <a16:creationId xmlns:a16="http://schemas.microsoft.com/office/drawing/2014/main" id="{2DE08C03-738A-6BE4-DC1C-44A6CF9DF95D}"/>
                    </a:ext>
                  </a:extLst>
                </p:cNvPr>
                <p:cNvSpPr txBox="1">
                  <a:spLocks noChangeArrowheads="1"/>
                </p:cNvSpPr>
                <p:nvPr/>
              </p:nvSpPr>
              <p:spPr bwMode="auto">
                <a:xfrm>
                  <a:off x="6023" y="3061"/>
                  <a:ext cx="468" cy="260"/>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2000" i="1">
                      <a:solidFill>
                        <a:srgbClr val="003399"/>
                      </a:solidFill>
                      <a:latin typeface="Arial" panose="020B0604020202020204" pitchFamily="34" charset="0"/>
                      <a:ea typeface="微软雅黑" panose="020B0503020204020204" pitchFamily="34" charset="-122"/>
                      <a:cs typeface="Arial" panose="020B0604020202020204" pitchFamily="34" charset="0"/>
                    </a:rPr>
                    <a:t>c</a:t>
                  </a:r>
                  <a:r>
                    <a:rPr lang="en-US" altLang="zh-CN" sz="2000" i="1" baseline="-25000">
                      <a:solidFill>
                        <a:srgbClr val="003399"/>
                      </a:solidFill>
                      <a:latin typeface="Arial" panose="020B0604020202020204" pitchFamily="34" charset="0"/>
                      <a:ea typeface="微软雅黑" panose="020B0503020204020204" pitchFamily="34" charset="-122"/>
                      <a:cs typeface="Arial" panose="020B0604020202020204" pitchFamily="34" charset="0"/>
                    </a:rPr>
                    <a:t>i</a:t>
                  </a:r>
                  <a:endParaRPr lang="en-US" altLang="zh-CN" sz="20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39968" name="Text Box 15">
                  <a:extLst>
                    <a:ext uri="{FF2B5EF4-FFF2-40B4-BE49-F238E27FC236}">
                      <a16:creationId xmlns:a16="http://schemas.microsoft.com/office/drawing/2014/main" id="{AE52B798-124A-2FD4-E9D4-BF5A1286CCA0}"/>
                    </a:ext>
                  </a:extLst>
                </p:cNvPr>
                <p:cNvSpPr txBox="1">
                  <a:spLocks noChangeArrowheads="1"/>
                </p:cNvSpPr>
                <p:nvPr/>
              </p:nvSpPr>
              <p:spPr bwMode="auto">
                <a:xfrm>
                  <a:off x="6491" y="3061"/>
                  <a:ext cx="468" cy="260"/>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2000" i="1">
                      <a:solidFill>
                        <a:srgbClr val="003399"/>
                      </a:solidFill>
                      <a:latin typeface="Arial" panose="020B0604020202020204" pitchFamily="34" charset="0"/>
                      <a:ea typeface="微软雅黑" panose="020B0503020204020204" pitchFamily="34" charset="-122"/>
                      <a:cs typeface="Arial" panose="020B0604020202020204" pitchFamily="34" charset="0"/>
                    </a:rPr>
                    <a:t>d</a:t>
                  </a:r>
                  <a:r>
                    <a:rPr lang="en-US" altLang="zh-CN" sz="2000" i="1" baseline="-25000">
                      <a:solidFill>
                        <a:srgbClr val="003399"/>
                      </a:solidFill>
                      <a:latin typeface="Arial" panose="020B0604020202020204" pitchFamily="34" charset="0"/>
                      <a:ea typeface="微软雅黑" panose="020B0503020204020204" pitchFamily="34" charset="-122"/>
                      <a:cs typeface="Arial" panose="020B0604020202020204" pitchFamily="34" charset="0"/>
                    </a:rPr>
                    <a:t>i</a:t>
                  </a:r>
                  <a:endParaRPr lang="en-US" altLang="zh-CN" sz="20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39969" name="Text Box 16">
                  <a:extLst>
                    <a:ext uri="{FF2B5EF4-FFF2-40B4-BE49-F238E27FC236}">
                      <a16:creationId xmlns:a16="http://schemas.microsoft.com/office/drawing/2014/main" id="{735B683C-5093-58BD-4CDB-03EA8D8E3356}"/>
                    </a:ext>
                  </a:extLst>
                </p:cNvPr>
                <p:cNvSpPr txBox="1">
                  <a:spLocks noChangeArrowheads="1"/>
                </p:cNvSpPr>
                <p:nvPr/>
              </p:nvSpPr>
              <p:spPr bwMode="auto">
                <a:xfrm>
                  <a:off x="6959" y="3061"/>
                  <a:ext cx="468" cy="260"/>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2000" i="1">
                      <a:solidFill>
                        <a:srgbClr val="003399"/>
                      </a:solidFill>
                      <a:latin typeface="Arial" panose="020B0604020202020204" pitchFamily="34" charset="0"/>
                      <a:ea typeface="微软雅黑" panose="020B0503020204020204" pitchFamily="34" charset="-122"/>
                      <a:cs typeface="Arial" panose="020B0604020202020204" pitchFamily="34" charset="0"/>
                    </a:rPr>
                    <a:t>e</a:t>
                  </a:r>
                  <a:r>
                    <a:rPr lang="en-US" altLang="zh-CN" sz="2000" i="1" baseline="-25000">
                      <a:solidFill>
                        <a:srgbClr val="003399"/>
                      </a:solidFill>
                      <a:latin typeface="Arial" panose="020B0604020202020204" pitchFamily="34" charset="0"/>
                      <a:ea typeface="微软雅黑" panose="020B0503020204020204" pitchFamily="34" charset="-122"/>
                      <a:cs typeface="Arial" panose="020B0604020202020204" pitchFamily="34" charset="0"/>
                    </a:rPr>
                    <a:t>i</a:t>
                  </a:r>
                  <a:endParaRPr lang="en-US" altLang="zh-CN" sz="20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39960" name="Line 17">
                <a:extLst>
                  <a:ext uri="{FF2B5EF4-FFF2-40B4-BE49-F238E27FC236}">
                    <a16:creationId xmlns:a16="http://schemas.microsoft.com/office/drawing/2014/main" id="{09728643-07FD-DD25-7F23-9AE6A4F4B7F3}"/>
                  </a:ext>
                </a:extLst>
              </p:cNvPr>
              <p:cNvSpPr>
                <a:spLocks noChangeShapeType="1"/>
              </p:cNvSpPr>
              <p:nvPr/>
            </p:nvSpPr>
            <p:spPr bwMode="auto">
              <a:xfrm>
                <a:off x="2836" y="3311"/>
                <a:ext cx="5059"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9943" name="Group 18">
              <a:extLst>
                <a:ext uri="{FF2B5EF4-FFF2-40B4-BE49-F238E27FC236}">
                  <a16:creationId xmlns:a16="http://schemas.microsoft.com/office/drawing/2014/main" id="{2395FD3D-B82B-D71B-189F-7BCF7EA98227}"/>
                </a:ext>
              </a:extLst>
            </p:cNvPr>
            <p:cNvGrpSpPr>
              <a:grpSpLocks/>
            </p:cNvGrpSpPr>
            <p:nvPr/>
          </p:nvGrpSpPr>
          <p:grpSpPr bwMode="auto">
            <a:xfrm>
              <a:off x="1292" y="878"/>
              <a:ext cx="3878" cy="198"/>
              <a:chOff x="2836" y="2385"/>
              <a:chExt cx="5072" cy="260"/>
            </a:xfrm>
          </p:grpSpPr>
          <p:grpSp>
            <p:nvGrpSpPr>
              <p:cNvPr id="39954" name="Group 19">
                <a:extLst>
                  <a:ext uri="{FF2B5EF4-FFF2-40B4-BE49-F238E27FC236}">
                    <a16:creationId xmlns:a16="http://schemas.microsoft.com/office/drawing/2014/main" id="{F88F663A-CD89-56EA-B095-80BF81247E60}"/>
                  </a:ext>
                </a:extLst>
              </p:cNvPr>
              <p:cNvGrpSpPr>
                <a:grpSpLocks/>
              </p:cNvGrpSpPr>
              <p:nvPr/>
            </p:nvGrpSpPr>
            <p:grpSpPr bwMode="auto">
              <a:xfrm>
                <a:off x="3213" y="2385"/>
                <a:ext cx="4214" cy="260"/>
                <a:chOff x="3213" y="2385"/>
                <a:chExt cx="4214" cy="260"/>
              </a:xfrm>
            </p:grpSpPr>
            <p:sp>
              <p:nvSpPr>
                <p:cNvPr id="39956" name="Text Box 20">
                  <a:extLst>
                    <a:ext uri="{FF2B5EF4-FFF2-40B4-BE49-F238E27FC236}">
                      <a16:creationId xmlns:a16="http://schemas.microsoft.com/office/drawing/2014/main" id="{745E7A54-B505-4C08-11E2-72A6AC42D054}"/>
                    </a:ext>
                  </a:extLst>
                </p:cNvPr>
                <p:cNvSpPr txBox="1">
                  <a:spLocks noChangeArrowheads="1"/>
                </p:cNvSpPr>
                <p:nvPr/>
              </p:nvSpPr>
              <p:spPr bwMode="auto">
                <a:xfrm>
                  <a:off x="3213" y="2385"/>
                  <a:ext cx="1405" cy="260"/>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2000" i="1">
                      <a:solidFill>
                        <a:srgbClr val="003399"/>
                      </a:solidFill>
                      <a:latin typeface="Arial" panose="020B0604020202020204" pitchFamily="34" charset="0"/>
                      <a:ea typeface="微软雅黑" panose="020B0503020204020204" pitchFamily="34" charset="-122"/>
                      <a:cs typeface="Arial" panose="020B0604020202020204" pitchFamily="34" charset="0"/>
                    </a:rPr>
                    <a:t>b</a:t>
                  </a:r>
                  <a:r>
                    <a:rPr lang="en-US" altLang="zh-CN" sz="2000" i="1" baseline="-25000">
                      <a:solidFill>
                        <a:srgbClr val="003399"/>
                      </a:solidFill>
                      <a:latin typeface="Arial" panose="020B0604020202020204" pitchFamily="34" charset="0"/>
                      <a:ea typeface="微软雅黑" panose="020B0503020204020204" pitchFamily="34" charset="-122"/>
                      <a:cs typeface="Arial" panose="020B0604020202020204" pitchFamily="34" charset="0"/>
                    </a:rPr>
                    <a:t>i-</a:t>
                  </a:r>
                  <a:r>
                    <a:rPr lang="en-US" altLang="zh-CN" sz="2000" baseline="-25000">
                      <a:solidFill>
                        <a:srgbClr val="003399"/>
                      </a:solidFill>
                      <a:latin typeface="Arial" panose="020B0604020202020204" pitchFamily="34" charset="0"/>
                      <a:ea typeface="微软雅黑" panose="020B0503020204020204" pitchFamily="34" charset="-122"/>
                      <a:cs typeface="Arial" panose="020B0604020202020204" pitchFamily="34" charset="0"/>
                    </a:rPr>
                    <a:t>2</a:t>
                  </a:r>
                  <a:endParaRPr lang="en-US" altLang="zh-CN" sz="20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39957" name="Text Box 21">
                  <a:extLst>
                    <a:ext uri="{FF2B5EF4-FFF2-40B4-BE49-F238E27FC236}">
                      <a16:creationId xmlns:a16="http://schemas.microsoft.com/office/drawing/2014/main" id="{37E83FF6-6F1D-A4A2-EB3A-B77CD2011B71}"/>
                    </a:ext>
                  </a:extLst>
                </p:cNvPr>
                <p:cNvSpPr txBox="1">
                  <a:spLocks noChangeArrowheads="1"/>
                </p:cNvSpPr>
                <p:nvPr/>
              </p:nvSpPr>
              <p:spPr bwMode="auto">
                <a:xfrm>
                  <a:off x="4618" y="2385"/>
                  <a:ext cx="1405" cy="260"/>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2000" i="1">
                      <a:solidFill>
                        <a:srgbClr val="003399"/>
                      </a:solidFill>
                      <a:latin typeface="Arial" panose="020B0604020202020204" pitchFamily="34" charset="0"/>
                      <a:ea typeface="微软雅黑" panose="020B0503020204020204" pitchFamily="34" charset="-122"/>
                      <a:cs typeface="Arial" panose="020B0604020202020204" pitchFamily="34" charset="0"/>
                    </a:rPr>
                    <a:t>b</a:t>
                  </a:r>
                  <a:r>
                    <a:rPr lang="en-US" altLang="zh-CN" sz="2000" i="1" baseline="-25000">
                      <a:solidFill>
                        <a:srgbClr val="003399"/>
                      </a:solidFill>
                      <a:latin typeface="Arial" panose="020B0604020202020204" pitchFamily="34" charset="0"/>
                      <a:ea typeface="微软雅黑" panose="020B0503020204020204" pitchFamily="34" charset="-122"/>
                      <a:cs typeface="Arial" panose="020B0604020202020204" pitchFamily="34" charset="0"/>
                    </a:rPr>
                    <a:t>i</a:t>
                  </a:r>
                  <a:r>
                    <a:rPr lang="zh-CN" altLang="en-US" sz="2000" baseline="-25000">
                      <a:solidFill>
                        <a:srgbClr val="003399"/>
                      </a:solidFill>
                      <a:latin typeface="Arial" panose="020B0604020202020204" pitchFamily="34" charset="0"/>
                      <a:ea typeface="微软雅黑" panose="020B0503020204020204" pitchFamily="34" charset="-122"/>
                      <a:cs typeface="Arial" panose="020B0604020202020204" pitchFamily="34" charset="0"/>
                    </a:rPr>
                    <a:t>－</a:t>
                  </a:r>
                  <a:r>
                    <a:rPr lang="en-US" altLang="zh-CN" sz="2000" baseline="-25000">
                      <a:solidFill>
                        <a:srgbClr val="003399"/>
                      </a:solidFill>
                      <a:latin typeface="Arial" panose="020B0604020202020204" pitchFamily="34" charset="0"/>
                      <a:ea typeface="微软雅黑" panose="020B0503020204020204" pitchFamily="34" charset="-122"/>
                      <a:cs typeface="Arial" panose="020B0604020202020204" pitchFamily="34" charset="0"/>
                    </a:rPr>
                    <a:t>1</a:t>
                  </a:r>
                  <a:endParaRPr lang="en-US" altLang="zh-CN" sz="20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39958" name="Text Box 22">
                  <a:extLst>
                    <a:ext uri="{FF2B5EF4-FFF2-40B4-BE49-F238E27FC236}">
                      <a16:creationId xmlns:a16="http://schemas.microsoft.com/office/drawing/2014/main" id="{8F24DFEB-CE08-1A1F-15FD-0805AA64FC82}"/>
                    </a:ext>
                  </a:extLst>
                </p:cNvPr>
                <p:cNvSpPr txBox="1">
                  <a:spLocks noChangeArrowheads="1"/>
                </p:cNvSpPr>
                <p:nvPr/>
              </p:nvSpPr>
              <p:spPr bwMode="auto">
                <a:xfrm>
                  <a:off x="6023" y="2385"/>
                  <a:ext cx="1404" cy="260"/>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2000" i="1">
                      <a:solidFill>
                        <a:srgbClr val="003399"/>
                      </a:solidFill>
                      <a:latin typeface="Arial" panose="020B0604020202020204" pitchFamily="34" charset="0"/>
                      <a:ea typeface="微软雅黑" panose="020B0503020204020204" pitchFamily="34" charset="-122"/>
                      <a:cs typeface="Arial" panose="020B0604020202020204" pitchFamily="34" charset="0"/>
                    </a:rPr>
                    <a:t>b</a:t>
                  </a:r>
                  <a:r>
                    <a:rPr lang="en-US" altLang="zh-CN" sz="2000" i="1" baseline="-25000">
                      <a:solidFill>
                        <a:srgbClr val="003399"/>
                      </a:solidFill>
                      <a:latin typeface="Arial" panose="020B0604020202020204" pitchFamily="34" charset="0"/>
                      <a:ea typeface="微软雅黑" panose="020B0503020204020204" pitchFamily="34" charset="-122"/>
                      <a:cs typeface="Arial" panose="020B0604020202020204" pitchFamily="34" charset="0"/>
                    </a:rPr>
                    <a:t>i</a:t>
                  </a:r>
                  <a:endParaRPr lang="en-US" altLang="zh-CN" sz="20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39955" name="Line 23">
                <a:extLst>
                  <a:ext uri="{FF2B5EF4-FFF2-40B4-BE49-F238E27FC236}">
                    <a16:creationId xmlns:a16="http://schemas.microsoft.com/office/drawing/2014/main" id="{F4FBBA31-09FC-BBB0-DC58-E5BB86220B25}"/>
                  </a:ext>
                </a:extLst>
              </p:cNvPr>
              <p:cNvSpPr>
                <a:spLocks noChangeShapeType="1"/>
              </p:cNvSpPr>
              <p:nvPr/>
            </p:nvSpPr>
            <p:spPr bwMode="auto">
              <a:xfrm>
                <a:off x="2836" y="2635"/>
                <a:ext cx="5072"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9944" name="Text Box 24">
              <a:extLst>
                <a:ext uri="{FF2B5EF4-FFF2-40B4-BE49-F238E27FC236}">
                  <a16:creationId xmlns:a16="http://schemas.microsoft.com/office/drawing/2014/main" id="{229CE4F1-2842-8DE7-A7C5-C8C403941F42}"/>
                </a:ext>
              </a:extLst>
            </p:cNvPr>
            <p:cNvSpPr txBox="1">
              <a:spLocks noChangeArrowheads="1"/>
            </p:cNvSpPr>
            <p:nvPr/>
          </p:nvSpPr>
          <p:spPr bwMode="auto">
            <a:xfrm>
              <a:off x="4812" y="1106"/>
              <a:ext cx="418"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2000" i="1">
                  <a:solidFill>
                    <a:srgbClr val="003399"/>
                  </a:solidFill>
                  <a:latin typeface="Arial" panose="020B0604020202020204" pitchFamily="34" charset="0"/>
                  <a:ea typeface="微软雅黑" panose="020B0503020204020204" pitchFamily="34" charset="-122"/>
                  <a:cs typeface="Arial" panose="020B0604020202020204" pitchFamily="34" charset="0"/>
                </a:rPr>
                <a:t>t</a:t>
              </a:r>
              <a:endParaRPr lang="en-US" altLang="zh-CN" sz="20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39945" name="Text Box 25">
              <a:extLst>
                <a:ext uri="{FF2B5EF4-FFF2-40B4-BE49-F238E27FC236}">
                  <a16:creationId xmlns:a16="http://schemas.microsoft.com/office/drawing/2014/main" id="{4889FE40-B3AF-EE05-024D-B14C012736F3}"/>
                </a:ext>
              </a:extLst>
            </p:cNvPr>
            <p:cNvSpPr txBox="1">
              <a:spLocks noChangeArrowheads="1"/>
            </p:cNvSpPr>
            <p:nvPr/>
          </p:nvSpPr>
          <p:spPr bwMode="auto">
            <a:xfrm>
              <a:off x="4822" y="1623"/>
              <a:ext cx="418"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2000" i="1">
                  <a:solidFill>
                    <a:srgbClr val="003399"/>
                  </a:solidFill>
                  <a:latin typeface="Arial" panose="020B0604020202020204" pitchFamily="34" charset="0"/>
                  <a:ea typeface="微软雅黑" panose="020B0503020204020204" pitchFamily="34" charset="-122"/>
                  <a:cs typeface="Arial" panose="020B0604020202020204" pitchFamily="34" charset="0"/>
                </a:rPr>
                <a:t>t</a:t>
              </a:r>
              <a:endParaRPr lang="en-US" altLang="zh-CN" sz="20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39946" name="Line 26">
              <a:extLst>
                <a:ext uri="{FF2B5EF4-FFF2-40B4-BE49-F238E27FC236}">
                  <a16:creationId xmlns:a16="http://schemas.microsoft.com/office/drawing/2014/main" id="{400640DF-6B45-B663-FAF6-AA207898B275}"/>
                </a:ext>
              </a:extLst>
            </p:cNvPr>
            <p:cNvSpPr>
              <a:spLocks noChangeShapeType="1"/>
            </p:cNvSpPr>
            <p:nvPr/>
          </p:nvSpPr>
          <p:spPr bwMode="auto">
            <a:xfrm>
              <a:off x="2108" y="1076"/>
              <a:ext cx="2505" cy="527"/>
            </a:xfrm>
            <a:prstGeom prst="line">
              <a:avLst/>
            </a:prstGeom>
            <a:noFill/>
            <a:ln w="9525">
              <a:solidFill>
                <a:srgbClr val="000000"/>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47" name="Line 27">
              <a:extLst>
                <a:ext uri="{FF2B5EF4-FFF2-40B4-BE49-F238E27FC236}">
                  <a16:creationId xmlns:a16="http://schemas.microsoft.com/office/drawing/2014/main" id="{D633AB52-0321-41F5-D871-D6CFC9EEB70F}"/>
                </a:ext>
              </a:extLst>
            </p:cNvPr>
            <p:cNvSpPr>
              <a:spLocks noChangeShapeType="1"/>
            </p:cNvSpPr>
            <p:nvPr/>
          </p:nvSpPr>
          <p:spPr bwMode="auto">
            <a:xfrm>
              <a:off x="4265" y="1086"/>
              <a:ext cx="338" cy="517"/>
            </a:xfrm>
            <a:prstGeom prst="line">
              <a:avLst/>
            </a:prstGeom>
            <a:noFill/>
            <a:ln w="9525">
              <a:solidFill>
                <a:srgbClr val="000000"/>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48" name="Line 28">
              <a:extLst>
                <a:ext uri="{FF2B5EF4-FFF2-40B4-BE49-F238E27FC236}">
                  <a16:creationId xmlns:a16="http://schemas.microsoft.com/office/drawing/2014/main" id="{10C19883-8C44-79AE-35A6-9E1BE7A4E428}"/>
                </a:ext>
              </a:extLst>
            </p:cNvPr>
            <p:cNvSpPr>
              <a:spLocks noChangeShapeType="1"/>
            </p:cNvSpPr>
            <p:nvPr/>
          </p:nvSpPr>
          <p:spPr bwMode="auto">
            <a:xfrm>
              <a:off x="2118" y="1057"/>
              <a:ext cx="2119" cy="556"/>
            </a:xfrm>
            <a:prstGeom prst="line">
              <a:avLst/>
            </a:prstGeom>
            <a:noFill/>
            <a:ln w="9525">
              <a:solidFill>
                <a:srgbClr val="000000"/>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49" name="Line 29">
              <a:extLst>
                <a:ext uri="{FF2B5EF4-FFF2-40B4-BE49-F238E27FC236}">
                  <a16:creationId xmlns:a16="http://schemas.microsoft.com/office/drawing/2014/main" id="{613F5398-508F-280D-ED6C-2EB85BB49C7E}"/>
                </a:ext>
              </a:extLst>
            </p:cNvPr>
            <p:cNvSpPr>
              <a:spLocks noChangeShapeType="1"/>
            </p:cNvSpPr>
            <p:nvPr/>
          </p:nvSpPr>
          <p:spPr bwMode="auto">
            <a:xfrm>
              <a:off x="3171" y="1076"/>
              <a:ext cx="1412" cy="507"/>
            </a:xfrm>
            <a:prstGeom prst="line">
              <a:avLst/>
            </a:prstGeom>
            <a:noFill/>
            <a:ln w="9525">
              <a:solidFill>
                <a:srgbClr val="000000"/>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50" name="Line 30">
              <a:extLst>
                <a:ext uri="{FF2B5EF4-FFF2-40B4-BE49-F238E27FC236}">
                  <a16:creationId xmlns:a16="http://schemas.microsoft.com/office/drawing/2014/main" id="{B40B8DDB-C8E2-0EE5-9145-11254644EEC2}"/>
                </a:ext>
              </a:extLst>
            </p:cNvPr>
            <p:cNvSpPr>
              <a:spLocks noChangeShapeType="1"/>
            </p:cNvSpPr>
            <p:nvPr/>
          </p:nvSpPr>
          <p:spPr bwMode="auto">
            <a:xfrm flipH="1">
              <a:off x="4226" y="1086"/>
              <a:ext cx="29" cy="527"/>
            </a:xfrm>
            <a:prstGeom prst="line">
              <a:avLst/>
            </a:prstGeom>
            <a:noFill/>
            <a:ln w="9525">
              <a:solidFill>
                <a:srgbClr val="000000"/>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51" name="Line 32">
              <a:extLst>
                <a:ext uri="{FF2B5EF4-FFF2-40B4-BE49-F238E27FC236}">
                  <a16:creationId xmlns:a16="http://schemas.microsoft.com/office/drawing/2014/main" id="{B8EF8644-62DA-73C8-CFB0-0CA12BFDBACE}"/>
                </a:ext>
              </a:extLst>
            </p:cNvPr>
            <p:cNvSpPr>
              <a:spLocks noChangeShapeType="1"/>
            </p:cNvSpPr>
            <p:nvPr/>
          </p:nvSpPr>
          <p:spPr bwMode="auto">
            <a:xfrm flipH="1">
              <a:off x="3877" y="1076"/>
              <a:ext cx="370" cy="547"/>
            </a:xfrm>
            <a:prstGeom prst="line">
              <a:avLst/>
            </a:prstGeom>
            <a:noFill/>
            <a:ln w="9525">
              <a:solidFill>
                <a:srgbClr val="000000"/>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52" name="Text Box 33">
              <a:extLst>
                <a:ext uri="{FF2B5EF4-FFF2-40B4-BE49-F238E27FC236}">
                  <a16:creationId xmlns:a16="http://schemas.microsoft.com/office/drawing/2014/main" id="{B2C39096-69FE-8AA0-FFAD-17A736B5F7E8}"/>
                </a:ext>
              </a:extLst>
            </p:cNvPr>
            <p:cNvSpPr txBox="1">
              <a:spLocks noChangeArrowheads="1"/>
            </p:cNvSpPr>
            <p:nvPr/>
          </p:nvSpPr>
          <p:spPr bwMode="auto">
            <a:xfrm>
              <a:off x="1182" y="874"/>
              <a:ext cx="348"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zh-CN" altLang="en-US" sz="2000">
                  <a:solidFill>
                    <a:srgbClr val="003399"/>
                  </a:solidFill>
                  <a:latin typeface="Arial" panose="020B0604020202020204" pitchFamily="34" charset="0"/>
                  <a:ea typeface="微软雅黑" panose="020B0503020204020204" pitchFamily="34" charset="-122"/>
                  <a:cs typeface="Arial" panose="020B0604020202020204" pitchFamily="34" charset="0"/>
                </a:rPr>
                <a:t>输入</a:t>
              </a:r>
            </a:p>
          </p:txBody>
        </p:sp>
        <p:sp>
          <p:nvSpPr>
            <p:cNvPr id="39953" name="Text Box 34">
              <a:extLst>
                <a:ext uri="{FF2B5EF4-FFF2-40B4-BE49-F238E27FC236}">
                  <a16:creationId xmlns:a16="http://schemas.microsoft.com/office/drawing/2014/main" id="{671FBA7C-79B3-1E52-0E35-882D849C446B}"/>
                </a:ext>
              </a:extLst>
            </p:cNvPr>
            <p:cNvSpPr txBox="1">
              <a:spLocks noChangeArrowheads="1"/>
            </p:cNvSpPr>
            <p:nvPr/>
          </p:nvSpPr>
          <p:spPr bwMode="auto">
            <a:xfrm>
              <a:off x="1182" y="1619"/>
              <a:ext cx="348"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zh-CN" altLang="en-US" sz="2000">
                  <a:solidFill>
                    <a:srgbClr val="003399"/>
                  </a:solidFill>
                  <a:latin typeface="Arial" panose="020B0604020202020204" pitchFamily="34" charset="0"/>
                  <a:ea typeface="微软雅黑" panose="020B0503020204020204" pitchFamily="34" charset="-122"/>
                  <a:cs typeface="Arial" panose="020B0604020202020204" pitchFamily="34" charset="0"/>
                </a:rPr>
                <a:t>输出</a:t>
              </a:r>
            </a:p>
          </p:txBody>
        </p:sp>
      </p:grpSp>
      <p:sp>
        <p:nvSpPr>
          <p:cNvPr id="109571" name="Rectangle 3">
            <a:extLst>
              <a:ext uri="{FF2B5EF4-FFF2-40B4-BE49-F238E27FC236}">
                <a16:creationId xmlns:a16="http://schemas.microsoft.com/office/drawing/2014/main" id="{98B82195-DDDA-561B-7DAA-C2DAB0E34044}"/>
              </a:ext>
            </a:extLst>
          </p:cNvPr>
          <p:cNvSpPr>
            <a:spLocks noGrp="1" noChangeArrowheads="1"/>
          </p:cNvSpPr>
          <p:nvPr>
            <p:ph type="body" idx="1"/>
          </p:nvPr>
        </p:nvSpPr>
        <p:spPr>
          <a:xfrm>
            <a:off x="857250" y="1143000"/>
            <a:ext cx="7643813" cy="1071563"/>
          </a:xfrm>
        </p:spPr>
        <p:txBody>
          <a:bodyPr/>
          <a:lstStyle/>
          <a:p>
            <a:pPr eaLnBrk="1" hangingPunct="1">
              <a:lnSpc>
                <a:spcPts val="3800"/>
              </a:lnSpc>
              <a:buFont typeface="Wingdings" panose="05000000000000000000" pitchFamily="2" charset="2"/>
              <a:buNone/>
              <a:defRPr/>
            </a:pPr>
            <a:r>
              <a:rPr lang="zh-CN" altLang="en-US" sz="2000" dirty="0">
                <a:latin typeface="Arial" charset="0"/>
                <a:ea typeface="微软雅黑" pitchFamily="34" charset="-122"/>
                <a:cs typeface="Arial" charset="0"/>
              </a:rPr>
              <a:t>信息位</a:t>
            </a:r>
            <a:r>
              <a:rPr lang="en-US" altLang="zh-CN" sz="2400" b="1" i="1" dirty="0">
                <a:solidFill>
                  <a:srgbClr val="0000CC"/>
                </a:solidFill>
                <a:latin typeface="Arial" charset="0"/>
                <a:ea typeface="微软雅黑" pitchFamily="34" charset="-122"/>
                <a:cs typeface="Arial" charset="0"/>
              </a:rPr>
              <a:t>b</a:t>
            </a:r>
            <a:r>
              <a:rPr lang="en-US" altLang="zh-CN" sz="2400" b="1" i="1" baseline="-25000" dirty="0">
                <a:solidFill>
                  <a:srgbClr val="0000CC"/>
                </a:solidFill>
                <a:latin typeface="Arial" charset="0"/>
                <a:ea typeface="微软雅黑" pitchFamily="34" charset="-122"/>
                <a:cs typeface="Arial" charset="0"/>
              </a:rPr>
              <a:t>i </a:t>
            </a:r>
            <a:r>
              <a:rPr lang="zh-CN" altLang="en-US" sz="2000" dirty="0">
                <a:latin typeface="Arial" charset="0"/>
                <a:ea typeface="微软雅黑" pitchFamily="34" charset="-122"/>
                <a:cs typeface="Arial" charset="0"/>
              </a:rPr>
              <a:t>的</a:t>
            </a:r>
            <a:r>
              <a:rPr lang="zh-CN" altLang="en-US" sz="2000" b="1" dirty="0">
                <a:latin typeface="Arial" charset="0"/>
                <a:ea typeface="微软雅黑" pitchFamily="34" charset="-122"/>
                <a:cs typeface="Arial" charset="0"/>
              </a:rPr>
              <a:t>监督位</a:t>
            </a:r>
            <a:r>
              <a:rPr lang="zh-CN" altLang="en-US" sz="2000" dirty="0">
                <a:latin typeface="Arial" charset="0"/>
                <a:ea typeface="微软雅黑" pitchFamily="34" charset="-122"/>
                <a:cs typeface="Arial" charset="0"/>
              </a:rPr>
              <a:t>和</a:t>
            </a:r>
            <a:r>
              <a:rPr lang="zh-CN" altLang="en-US" sz="2000" b="1" dirty="0">
                <a:latin typeface="Arial" charset="0"/>
                <a:ea typeface="微软雅黑" pitchFamily="34" charset="-122"/>
                <a:cs typeface="Arial" charset="0"/>
              </a:rPr>
              <a:t>各信息位</a:t>
            </a:r>
            <a:r>
              <a:rPr lang="zh-CN" altLang="en-US" sz="2000" dirty="0">
                <a:latin typeface="Arial" charset="0"/>
                <a:ea typeface="微软雅黑" pitchFamily="34" charset="-122"/>
                <a:cs typeface="Arial" charset="0"/>
              </a:rPr>
              <a:t>之间的</a:t>
            </a:r>
            <a:r>
              <a:rPr lang="zh-CN" altLang="en-US" sz="2000" b="1" dirty="0">
                <a:latin typeface="Arial" charset="0"/>
                <a:ea typeface="微软雅黑" pitchFamily="34" charset="-122"/>
                <a:cs typeface="Arial" charset="0"/>
              </a:rPr>
              <a:t>约束关系</a:t>
            </a:r>
            <a:r>
              <a:rPr lang="zh-CN" altLang="en-US" sz="2000" dirty="0">
                <a:latin typeface="Arial" charset="0"/>
                <a:ea typeface="微软雅黑" pitchFamily="34" charset="-122"/>
                <a:cs typeface="Arial" charset="0"/>
              </a:rPr>
              <a:t>如下图中虚线所示：</a:t>
            </a:r>
            <a:r>
              <a:rPr lang="zh-CN" altLang="en-US" sz="2000" dirty="0">
                <a:latin typeface="Arial" charset="0"/>
                <a:ea typeface="微软雅黑" pitchFamily="34" charset="-122"/>
                <a:cs typeface="Arial" charset="0"/>
                <a:sym typeface="Wingdings" pitchFamily="2" charset="2"/>
              </a:rPr>
              <a:t>（</a:t>
            </a:r>
            <a:r>
              <a:rPr lang="zh-CN" altLang="en-US" sz="2000" dirty="0">
                <a:latin typeface="Arial" charset="0"/>
                <a:ea typeface="微软雅黑" pitchFamily="34" charset="-122"/>
                <a:cs typeface="Arial" charset="0"/>
              </a:rPr>
              <a:t>编码</a:t>
            </a:r>
            <a:r>
              <a:rPr lang="zh-CN" altLang="en-US" sz="2000" dirty="0">
                <a:effectLst>
                  <a:outerShdw blurRad="38100" dist="38100" dir="2700000" algn="tl">
                    <a:srgbClr val="C0C0C0"/>
                  </a:outerShdw>
                </a:effectLst>
                <a:latin typeface="Arial" charset="0"/>
                <a:ea typeface="微软雅黑" pitchFamily="34" charset="-122"/>
                <a:cs typeface="Arial" charset="0"/>
              </a:rPr>
              <a:t>约束度 </a:t>
            </a:r>
            <a:r>
              <a:rPr lang="en-US" altLang="zh-CN" sz="2000" b="1" i="1" dirty="0">
                <a:solidFill>
                  <a:srgbClr val="FF0000"/>
                </a:solidFill>
                <a:latin typeface="Arial" charset="0"/>
                <a:ea typeface="微软雅黑" pitchFamily="34" charset="-122"/>
                <a:cs typeface="Arial" charset="0"/>
              </a:rPr>
              <a:t>N=3</a:t>
            </a:r>
            <a:r>
              <a:rPr lang="zh-CN" altLang="en-US" sz="2000" b="1" i="1" dirty="0">
                <a:latin typeface="Arial" charset="0"/>
                <a:ea typeface="微软雅黑" pitchFamily="34" charset="-122"/>
                <a:cs typeface="Arial" charset="0"/>
              </a:rPr>
              <a:t>，</a:t>
            </a:r>
            <a:r>
              <a:rPr lang="zh-CN" altLang="en-US" sz="2000" dirty="0">
                <a:effectLst>
                  <a:outerShdw blurRad="38100" dist="38100" dir="2700000" algn="tl">
                    <a:srgbClr val="C0C0C0"/>
                  </a:outerShdw>
                </a:effectLst>
                <a:latin typeface="Arial" charset="0"/>
                <a:ea typeface="微软雅黑" pitchFamily="34" charset="-122"/>
                <a:cs typeface="Arial" charset="0"/>
              </a:rPr>
              <a:t>约束长度 </a:t>
            </a:r>
            <a:r>
              <a:rPr lang="en-US" altLang="zh-CN" sz="2000" b="1" i="1" dirty="0" err="1">
                <a:solidFill>
                  <a:srgbClr val="FF0000"/>
                </a:solidFill>
                <a:latin typeface="Arial" charset="0"/>
                <a:ea typeface="微软雅黑" pitchFamily="34" charset="-122"/>
                <a:cs typeface="Arial" charset="0"/>
              </a:rPr>
              <a:t>nN</a:t>
            </a:r>
            <a:r>
              <a:rPr lang="en-US" altLang="zh-CN" sz="2000" b="1" i="1" dirty="0">
                <a:solidFill>
                  <a:srgbClr val="FF0000"/>
                </a:solidFill>
                <a:latin typeface="Arial" charset="0"/>
                <a:ea typeface="微软雅黑" pitchFamily="34" charset="-122"/>
                <a:cs typeface="Arial" charset="0"/>
              </a:rPr>
              <a:t> =3</a:t>
            </a:r>
            <a:r>
              <a:rPr lang="en-US" altLang="zh-CN" sz="2000" b="1" dirty="0">
                <a:solidFill>
                  <a:srgbClr val="FF0000"/>
                </a:solidFill>
                <a:latin typeface="Arial" charset="0"/>
                <a:ea typeface="微软雅黑" pitchFamily="34" charset="-122"/>
                <a:cs typeface="Arial" charset="0"/>
                <a:sym typeface="Symbol" pitchFamily="18" charset="2"/>
              </a:rPr>
              <a:t>×3 </a:t>
            </a:r>
            <a:r>
              <a:rPr lang="en-US" altLang="zh-CN" sz="2000" dirty="0">
                <a:solidFill>
                  <a:srgbClr val="FF0000"/>
                </a:solidFill>
                <a:latin typeface="Arial" charset="0"/>
                <a:ea typeface="微软雅黑" pitchFamily="34" charset="-122"/>
                <a:cs typeface="Arial" charset="0"/>
                <a:sym typeface="Symbol" pitchFamily="18" charset="2"/>
              </a:rPr>
              <a:t>=</a:t>
            </a:r>
            <a:r>
              <a:rPr lang="en-US" altLang="zh-CN" sz="2000" b="1" dirty="0">
                <a:solidFill>
                  <a:srgbClr val="FF0000"/>
                </a:solidFill>
                <a:latin typeface="Arial" charset="0"/>
                <a:ea typeface="微软雅黑" pitchFamily="34" charset="-122"/>
                <a:cs typeface="Arial" charset="0"/>
              </a:rPr>
              <a:t>9</a:t>
            </a:r>
            <a:r>
              <a:rPr lang="zh-CN" altLang="en-US" sz="2000" b="1" dirty="0">
                <a:latin typeface="Arial" charset="0"/>
                <a:ea typeface="微软雅黑" pitchFamily="34" charset="-122"/>
                <a:cs typeface="Arial" charset="0"/>
              </a:rPr>
              <a:t>） </a:t>
            </a:r>
          </a:p>
          <a:p>
            <a:pPr lvl="3" eaLnBrk="1" hangingPunct="1">
              <a:lnSpc>
                <a:spcPts val="3800"/>
              </a:lnSpc>
              <a:defRPr/>
            </a:pPr>
            <a:endParaRPr lang="zh-CN" altLang="en-US" dirty="0">
              <a:latin typeface="Arial" charset="0"/>
              <a:ea typeface="微软雅黑" pitchFamily="34" charset="-122"/>
              <a:cs typeface="Arial" charset="0"/>
            </a:endParaRPr>
          </a:p>
          <a:p>
            <a:pPr lvl="3" eaLnBrk="1" hangingPunct="1">
              <a:lnSpc>
                <a:spcPts val="3800"/>
              </a:lnSpc>
              <a:defRPr/>
            </a:pPr>
            <a:endParaRPr lang="zh-CN" altLang="en-US" dirty="0">
              <a:latin typeface="Arial" charset="0"/>
              <a:ea typeface="微软雅黑" pitchFamily="34" charset="-122"/>
              <a:cs typeface="Arial" charset="0"/>
            </a:endParaRPr>
          </a:p>
          <a:p>
            <a:pPr lvl="3" eaLnBrk="1" hangingPunct="1">
              <a:lnSpc>
                <a:spcPts val="3800"/>
              </a:lnSpc>
              <a:defRPr/>
            </a:pPr>
            <a:endParaRPr lang="zh-CN" altLang="en-US" dirty="0">
              <a:latin typeface="Arial" charset="0"/>
              <a:ea typeface="微软雅黑" pitchFamily="34" charset="-122"/>
              <a:cs typeface="Arial" charset="0"/>
            </a:endParaRPr>
          </a:p>
          <a:p>
            <a:pPr lvl="3" eaLnBrk="1" hangingPunct="1">
              <a:lnSpc>
                <a:spcPts val="3800"/>
              </a:lnSpc>
              <a:defRPr/>
            </a:pPr>
            <a:endParaRPr lang="en-US" altLang="zh-CN" dirty="0">
              <a:latin typeface="Arial" charset="0"/>
              <a:ea typeface="微软雅黑" pitchFamily="34" charset="-122"/>
              <a:cs typeface="Arial" charset="0"/>
            </a:endParaRPr>
          </a:p>
        </p:txBody>
      </p:sp>
      <p:graphicFrame>
        <p:nvGraphicFramePr>
          <p:cNvPr id="108604" name="Object 60">
            <a:extLst>
              <a:ext uri="{FF2B5EF4-FFF2-40B4-BE49-F238E27FC236}">
                <a16:creationId xmlns:a16="http://schemas.microsoft.com/office/drawing/2014/main" id="{FA3E9E9A-28F6-8C77-33DE-0A17E2B6EA56}"/>
              </a:ext>
            </a:extLst>
          </p:cNvPr>
          <p:cNvGraphicFramePr>
            <a:graphicFrameLocks noChangeAspect="1"/>
          </p:cNvGraphicFramePr>
          <p:nvPr/>
        </p:nvGraphicFramePr>
        <p:xfrm>
          <a:off x="3571875" y="4714875"/>
          <a:ext cx="2555875" cy="1500188"/>
        </p:xfrm>
        <a:graphic>
          <a:graphicData uri="http://schemas.openxmlformats.org/presentationml/2006/ole">
            <mc:AlternateContent xmlns:mc="http://schemas.openxmlformats.org/markup-compatibility/2006">
              <mc:Choice xmlns:v="urn:schemas-microsoft-com:vml" Requires="v">
                <p:oleObj name="公式" r:id="rId2" imgW="1168200" imgH="685800" progId="Equation.3">
                  <p:embed/>
                </p:oleObj>
              </mc:Choice>
              <mc:Fallback>
                <p:oleObj name="公式" r:id="rId2" imgW="1168200" imgH="685800" progId="Equation.3">
                  <p:embed/>
                  <p:pic>
                    <p:nvPicPr>
                      <p:cNvPr id="0" name="Object 6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1875" y="4714875"/>
                        <a:ext cx="2555875" cy="1500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09571">
                                            <p:txEl>
                                              <p:pRg st="0" end="0"/>
                                            </p:txEl>
                                          </p:spTgt>
                                        </p:tgtEl>
                                        <p:attrNameLst>
                                          <p:attrName>style.visibility</p:attrName>
                                        </p:attrNameLst>
                                      </p:cBhvr>
                                      <p:to>
                                        <p:strVal val="visible"/>
                                      </p:to>
                                    </p:set>
                                    <p:animEffect transition="in" filter="wipe(up)">
                                      <p:cBhvr>
                                        <p:cTn id="7" dur="2000"/>
                                        <p:tgtEl>
                                          <p:spTgt spid="1095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B8C2529C-6181-8186-B82B-BA2A9300E878}"/>
              </a:ext>
            </a:extLst>
          </p:cNvPr>
          <p:cNvSpPr/>
          <p:nvPr/>
        </p:nvSpPr>
        <p:spPr>
          <a:xfrm>
            <a:off x="1000125" y="1404938"/>
            <a:ext cx="4089400" cy="523875"/>
          </a:xfrm>
          <a:prstGeom prst="rect">
            <a:avLst/>
          </a:prstGeom>
        </p:spPr>
        <p:txBody>
          <a:bodyPr>
            <a:spAutoFit/>
          </a:bodyPr>
          <a:lstStyle/>
          <a:p>
            <a:pPr marL="342900" indent="-342900" eaLnBrk="0" hangingPunct="0">
              <a:spcBef>
                <a:spcPct val="20000"/>
              </a:spcBef>
              <a:buClr>
                <a:srgbClr val="3333CC"/>
              </a:buClr>
              <a:buSzPct val="60000"/>
              <a:buFont typeface="Wingdings" pitchFamily="2" charset="2"/>
              <a:buChar char="n"/>
              <a:defRPr/>
            </a:pPr>
            <a:r>
              <a:rPr kumimoji="0" lang="zh-CN" altLang="en-US" sz="2800" b="0" kern="0" dirty="0">
                <a:solidFill>
                  <a:srgbClr val="000000"/>
                </a:solidFill>
                <a:latin typeface="微软雅黑" pitchFamily="34" charset="-122"/>
                <a:ea typeface="微软雅黑" pitchFamily="34" charset="-122"/>
              </a:rPr>
              <a:t>卷积码的</a:t>
            </a:r>
            <a:r>
              <a:rPr kumimoji="0" lang="zh-CN" altLang="en-US" sz="2800" kern="0" dirty="0">
                <a:solidFill>
                  <a:srgbClr val="000000"/>
                </a:solidFill>
                <a:latin typeface="微软雅黑" pitchFamily="34" charset="-122"/>
                <a:ea typeface="微软雅黑" pitchFamily="34" charset="-122"/>
              </a:rPr>
              <a:t>表述方法</a:t>
            </a:r>
            <a:r>
              <a:rPr kumimoji="0" lang="zh-CN" altLang="en-US" sz="2800" b="0" kern="0" dirty="0">
                <a:solidFill>
                  <a:srgbClr val="000000"/>
                </a:solidFill>
                <a:latin typeface="微软雅黑" pitchFamily="34" charset="-122"/>
                <a:ea typeface="微软雅黑" pitchFamily="34" charset="-122"/>
              </a:rPr>
              <a:t>：</a:t>
            </a:r>
            <a:endParaRPr kumimoji="0" lang="en-US" altLang="zh-CN" sz="2800" b="0" kern="0" dirty="0">
              <a:solidFill>
                <a:srgbClr val="000000"/>
              </a:solidFill>
              <a:latin typeface="微软雅黑" pitchFamily="34" charset="-122"/>
              <a:ea typeface="微软雅黑" pitchFamily="34" charset="-122"/>
            </a:endParaRPr>
          </a:p>
        </p:txBody>
      </p:sp>
      <p:pic>
        <p:nvPicPr>
          <p:cNvPr id="120835" name="Picture 8">
            <a:extLst>
              <a:ext uri="{FF2B5EF4-FFF2-40B4-BE49-F238E27FC236}">
                <a16:creationId xmlns:a16="http://schemas.microsoft.com/office/drawing/2014/main" id="{610D1A4B-3800-607E-142D-0AB814BE4C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3125" y="2357438"/>
            <a:ext cx="4857750" cy="202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D871FF7-69D1-D424-740D-84ECD4CBB11D}"/>
              </a:ext>
            </a:extLst>
          </p:cNvPr>
          <p:cNvSpPr>
            <a:spLocks noChangeArrowheads="1"/>
          </p:cNvSpPr>
          <p:nvPr/>
        </p:nvSpPr>
        <p:spPr bwMode="auto">
          <a:xfrm>
            <a:off x="0" y="441325"/>
            <a:ext cx="6286500" cy="585788"/>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anchor="ctr">
            <a:spAutoFit/>
          </a:bodyPr>
          <a:lstStyle/>
          <a:p>
            <a:pPr marL="0" lvl="1" indent="306388" eaLnBrk="0" hangingPunct="0">
              <a:defRPr/>
            </a:pPr>
            <a:r>
              <a:rPr lang="en-US" altLang="en-US" sz="3200" dirty="0">
                <a:solidFill>
                  <a:srgbClr val="800080"/>
                </a:solidFill>
                <a:latin typeface="Arial" pitchFamily="34" charset="0"/>
                <a:ea typeface="微软雅黑" pitchFamily="34" charset="-122"/>
                <a:cs typeface="Arial" pitchFamily="34" charset="0"/>
              </a:rPr>
              <a:t>11</a:t>
            </a:r>
            <a:r>
              <a:rPr lang="en-US" altLang="zh-CN" sz="3200" dirty="0">
                <a:solidFill>
                  <a:srgbClr val="800080"/>
                </a:solidFill>
                <a:latin typeface="Arial" pitchFamily="34" charset="0"/>
                <a:ea typeface="微软雅黑" pitchFamily="34" charset="-122"/>
                <a:cs typeface="Arial" pitchFamily="34" charset="0"/>
              </a:rPr>
              <a:t>.7.2  </a:t>
            </a:r>
            <a:r>
              <a:rPr kumimoji="0" lang="zh-CN" altLang="en-US" sz="3200" kern="0" dirty="0">
                <a:solidFill>
                  <a:srgbClr val="003399"/>
                </a:solidFill>
                <a:latin typeface="微软雅黑" pitchFamily="34" charset="-122"/>
                <a:ea typeface="微软雅黑" pitchFamily="34" charset="-122"/>
              </a:rPr>
              <a:t>卷积码的代数表述</a:t>
            </a:r>
            <a:endParaRPr lang="zh-CN" altLang="en-US" sz="3200" i="1" dirty="0">
              <a:solidFill>
                <a:srgbClr val="990099"/>
              </a:solidFill>
              <a:latin typeface="微软雅黑" pitchFamily="34" charset="-122"/>
              <a:ea typeface="微软雅黑" pitchFamily="34" charset="-122"/>
            </a:endParaRPr>
          </a:p>
        </p:txBody>
      </p:sp>
      <p:sp>
        <p:nvSpPr>
          <p:cNvPr id="3" name="Rectangle 3">
            <a:extLst>
              <a:ext uri="{FF2B5EF4-FFF2-40B4-BE49-F238E27FC236}">
                <a16:creationId xmlns:a16="http://schemas.microsoft.com/office/drawing/2014/main" id="{AD16A5D7-DF59-6189-EB5B-7796C951EB32}"/>
              </a:ext>
            </a:extLst>
          </p:cNvPr>
          <p:cNvSpPr txBox="1">
            <a:spLocks noChangeArrowheads="1"/>
          </p:cNvSpPr>
          <p:nvPr/>
        </p:nvSpPr>
        <p:spPr bwMode="auto">
          <a:xfrm>
            <a:off x="950913" y="5224463"/>
            <a:ext cx="7693025" cy="990600"/>
          </a:xfrm>
          <a:prstGeom prst="rect">
            <a:avLst/>
          </a:prstGeom>
          <a:noFill/>
          <a:ln w="9525">
            <a:noFill/>
            <a:miter lim="800000"/>
            <a:headEnd/>
            <a:tailEnd/>
          </a:ln>
        </p:spPr>
        <p:txBody>
          <a:bodyPr/>
          <a:lstStyle/>
          <a:p>
            <a:pPr marL="228600" indent="-228600">
              <a:lnSpc>
                <a:spcPct val="120000"/>
              </a:lnSpc>
              <a:spcBef>
                <a:spcPct val="20000"/>
              </a:spcBef>
              <a:buClr>
                <a:schemeClr val="accent2"/>
              </a:buClr>
              <a:buSzPct val="55000"/>
              <a:buFont typeface="Wingdings" pitchFamily="2" charset="2"/>
              <a:buNone/>
              <a:defRPr/>
            </a:pPr>
            <a:r>
              <a:rPr kumimoji="0" lang="zh-CN" altLang="en-US" sz="2000" b="0" kern="0" dirty="0">
                <a:solidFill>
                  <a:schemeClr val="tx1"/>
                </a:solidFill>
                <a:latin typeface="Arial" pitchFamily="34" charset="0"/>
                <a:ea typeface="微软雅黑" pitchFamily="34" charset="-122"/>
                <a:cs typeface="Arial" pitchFamily="34" charset="0"/>
              </a:rPr>
              <a:t>仍以前面</a:t>
            </a:r>
            <a:r>
              <a:rPr kumimoji="0" lang="en-US" altLang="zh-CN" sz="2000" b="0" kern="0" dirty="0">
                <a:solidFill>
                  <a:srgbClr val="000000"/>
                </a:solidFill>
                <a:latin typeface="Arial" pitchFamily="34" charset="0"/>
                <a:ea typeface="微软雅黑" pitchFamily="34" charset="-122"/>
                <a:cs typeface="Arial" pitchFamily="34" charset="0"/>
              </a:rPr>
              <a:t> </a:t>
            </a:r>
            <a:r>
              <a:rPr kumimoji="0" lang="en-US" altLang="zh-CN" sz="2000" kern="0" dirty="0">
                <a:solidFill>
                  <a:srgbClr val="000000"/>
                </a:solidFill>
                <a:latin typeface="Arial" pitchFamily="34" charset="0"/>
                <a:ea typeface="微软雅黑" pitchFamily="34" charset="-122"/>
                <a:cs typeface="Arial" pitchFamily="34" charset="0"/>
              </a:rPr>
              <a:t>(3, 1, 3)</a:t>
            </a:r>
            <a:r>
              <a:rPr kumimoji="0" lang="zh-CN" altLang="en-US" sz="2000" b="0" kern="0" dirty="0">
                <a:solidFill>
                  <a:srgbClr val="000000"/>
                </a:solidFill>
                <a:latin typeface="Arial" pitchFamily="34" charset="0"/>
                <a:ea typeface="微软雅黑" pitchFamily="34" charset="-122"/>
                <a:cs typeface="Arial" pitchFamily="34" charset="0"/>
              </a:rPr>
              <a:t>卷积码为例</a:t>
            </a:r>
            <a:r>
              <a:rPr kumimoji="0" lang="zh-CN" altLang="en-US" sz="2000" b="0" kern="0" dirty="0">
                <a:solidFill>
                  <a:schemeClr val="tx1"/>
                </a:solidFill>
                <a:latin typeface="Arial" pitchFamily="34" charset="0"/>
                <a:ea typeface="微软雅黑" pitchFamily="34" charset="-122"/>
                <a:cs typeface="Arial" pitchFamily="34" charset="0"/>
              </a:rPr>
              <a:t>分析。设各级移存器</a:t>
            </a:r>
            <a:r>
              <a:rPr lang="zh-CN" altLang="en-US" sz="2000" dirty="0">
                <a:solidFill>
                  <a:schemeClr val="tx1"/>
                </a:solidFill>
                <a:latin typeface="Arial" pitchFamily="34" charset="0"/>
                <a:ea typeface="微软雅黑" pitchFamily="34" charset="-122"/>
                <a:cs typeface="Arial" pitchFamily="34" charset="0"/>
              </a:rPr>
              <a:t>初始是“</a:t>
            </a:r>
            <a:r>
              <a:rPr lang="en-US" altLang="zh-CN" sz="2000" dirty="0">
                <a:solidFill>
                  <a:schemeClr val="tx1"/>
                </a:solidFill>
                <a:latin typeface="Arial" pitchFamily="34" charset="0"/>
                <a:ea typeface="微软雅黑" pitchFamily="34" charset="-122"/>
                <a:cs typeface="Arial" pitchFamily="34" charset="0"/>
              </a:rPr>
              <a:t>0</a:t>
            </a:r>
            <a:r>
              <a:rPr lang="zh-CN" altLang="en-US" sz="2000" dirty="0">
                <a:solidFill>
                  <a:schemeClr val="tx1"/>
                </a:solidFill>
                <a:latin typeface="Arial" pitchFamily="34" charset="0"/>
                <a:ea typeface="微软雅黑" pitchFamily="34" charset="-122"/>
                <a:cs typeface="Arial" pitchFamily="34" charset="0"/>
              </a:rPr>
              <a:t>”状态，</a:t>
            </a:r>
            <a:endParaRPr lang="en-US" altLang="zh-CN" sz="2000" dirty="0">
              <a:solidFill>
                <a:schemeClr val="tx1"/>
              </a:solidFill>
              <a:latin typeface="Arial" pitchFamily="34" charset="0"/>
              <a:ea typeface="微软雅黑" pitchFamily="34" charset="-122"/>
              <a:cs typeface="Arial" pitchFamily="34" charset="0"/>
            </a:endParaRPr>
          </a:p>
          <a:p>
            <a:pPr marL="228600" indent="-228600">
              <a:lnSpc>
                <a:spcPct val="120000"/>
              </a:lnSpc>
              <a:spcBef>
                <a:spcPct val="20000"/>
              </a:spcBef>
              <a:buClr>
                <a:schemeClr val="accent2"/>
              </a:buClr>
              <a:buSzPct val="55000"/>
              <a:buFont typeface="Wingdings" pitchFamily="2" charset="2"/>
              <a:buNone/>
              <a:defRPr/>
            </a:pPr>
            <a:r>
              <a:rPr kumimoji="0" lang="zh-CN" altLang="en-US" sz="2000" b="0" kern="0" dirty="0">
                <a:solidFill>
                  <a:schemeClr val="tx1"/>
                </a:solidFill>
                <a:latin typeface="Arial" pitchFamily="34" charset="0"/>
                <a:ea typeface="微软雅黑" pitchFamily="34" charset="-122"/>
                <a:cs typeface="Arial" pitchFamily="34" charset="0"/>
              </a:rPr>
              <a:t>则监督位</a:t>
            </a:r>
            <a:r>
              <a:rPr kumimoji="0" lang="en-US" altLang="zh-CN" sz="2400" i="1" kern="0" dirty="0" err="1">
                <a:solidFill>
                  <a:srgbClr val="990099"/>
                </a:solidFill>
                <a:latin typeface="Arial" pitchFamily="34" charset="0"/>
                <a:ea typeface="微软雅黑" pitchFamily="34" charset="-122"/>
                <a:cs typeface="Arial" pitchFamily="34" charset="0"/>
              </a:rPr>
              <a:t>d</a:t>
            </a:r>
            <a:r>
              <a:rPr kumimoji="0" lang="en-US" altLang="zh-CN" sz="2400" i="1" kern="0" baseline="-25000" dirty="0" err="1">
                <a:solidFill>
                  <a:srgbClr val="990099"/>
                </a:solidFill>
                <a:latin typeface="Arial" pitchFamily="34" charset="0"/>
                <a:ea typeface="微软雅黑" pitchFamily="34" charset="-122"/>
                <a:cs typeface="Arial" pitchFamily="34" charset="0"/>
              </a:rPr>
              <a:t>i</a:t>
            </a:r>
            <a:r>
              <a:rPr kumimoji="0" lang="zh-CN" altLang="en-US" sz="2400" b="0" kern="0" dirty="0">
                <a:solidFill>
                  <a:srgbClr val="990099"/>
                </a:solidFill>
                <a:latin typeface="Arial" pitchFamily="34" charset="0"/>
                <a:ea typeface="微软雅黑" pitchFamily="34" charset="-122"/>
                <a:cs typeface="Arial" pitchFamily="34" charset="0"/>
              </a:rPr>
              <a:t>、</a:t>
            </a:r>
            <a:r>
              <a:rPr kumimoji="0" lang="en-US" altLang="zh-CN" sz="2400" i="1" kern="0" dirty="0" err="1">
                <a:solidFill>
                  <a:srgbClr val="990099"/>
                </a:solidFill>
                <a:latin typeface="Arial" pitchFamily="34" charset="0"/>
                <a:ea typeface="微软雅黑" pitchFamily="34" charset="-122"/>
                <a:cs typeface="Arial" pitchFamily="34" charset="0"/>
              </a:rPr>
              <a:t>e</a:t>
            </a:r>
            <a:r>
              <a:rPr kumimoji="0" lang="en-US" altLang="zh-CN" sz="2400" i="1" kern="0" baseline="-25000" dirty="0" err="1">
                <a:solidFill>
                  <a:srgbClr val="990099"/>
                </a:solidFill>
                <a:latin typeface="Arial" pitchFamily="34" charset="0"/>
                <a:ea typeface="微软雅黑" pitchFamily="34" charset="-122"/>
                <a:cs typeface="Arial" pitchFamily="34" charset="0"/>
              </a:rPr>
              <a:t>i</a:t>
            </a:r>
            <a:r>
              <a:rPr kumimoji="0" lang="zh-CN" altLang="en-US" sz="2000" b="0" kern="0" dirty="0">
                <a:solidFill>
                  <a:schemeClr val="tx1"/>
                </a:solidFill>
                <a:latin typeface="Arial" pitchFamily="34" charset="0"/>
                <a:ea typeface="微软雅黑" pitchFamily="34" charset="-122"/>
                <a:cs typeface="Arial" pitchFamily="34" charset="0"/>
              </a:rPr>
              <a:t>和信息位</a:t>
            </a:r>
            <a:r>
              <a:rPr kumimoji="0" lang="en-US" altLang="zh-CN" sz="2400" i="1" kern="0" dirty="0">
                <a:solidFill>
                  <a:srgbClr val="0000CC"/>
                </a:solidFill>
                <a:latin typeface="Arial" pitchFamily="34" charset="0"/>
                <a:ea typeface="微软雅黑" pitchFamily="34" charset="-122"/>
                <a:cs typeface="Arial" pitchFamily="34" charset="0"/>
              </a:rPr>
              <a:t>b</a:t>
            </a:r>
            <a:r>
              <a:rPr kumimoji="0" lang="en-US" altLang="zh-CN" sz="2400" i="1" kern="0" baseline="-25000" dirty="0">
                <a:solidFill>
                  <a:srgbClr val="0000CC"/>
                </a:solidFill>
                <a:latin typeface="Arial" pitchFamily="34" charset="0"/>
                <a:ea typeface="微软雅黑" pitchFamily="34" charset="-122"/>
                <a:cs typeface="Arial" pitchFamily="34" charset="0"/>
              </a:rPr>
              <a:t>i</a:t>
            </a:r>
            <a:r>
              <a:rPr kumimoji="0" lang="zh-CN" altLang="en-US" sz="2000" b="0" kern="0" dirty="0">
                <a:solidFill>
                  <a:schemeClr val="tx1"/>
                </a:solidFill>
                <a:latin typeface="Arial" pitchFamily="34" charset="0"/>
                <a:ea typeface="微软雅黑" pitchFamily="34" charset="-122"/>
                <a:cs typeface="Arial" pitchFamily="34" charset="0"/>
              </a:rPr>
              <a:t>之间的关系可以写为</a:t>
            </a:r>
            <a:r>
              <a:rPr kumimoji="0" lang="en-US" altLang="zh-CN" sz="2000" b="0" kern="0" dirty="0">
                <a:solidFill>
                  <a:schemeClr val="tx1"/>
                </a:solidFill>
                <a:latin typeface="Arial" pitchFamily="34" charset="0"/>
                <a:ea typeface="微软雅黑" pitchFamily="34" charset="-122"/>
                <a:cs typeface="Arial" pitchFamily="34" charset="0"/>
              </a:rPr>
              <a:t>:</a:t>
            </a:r>
            <a:endParaRPr kumimoji="0" lang="zh-CN" altLang="en-US" sz="2000" b="0" kern="0" dirty="0">
              <a:solidFill>
                <a:schemeClr val="tx1"/>
              </a:solidFill>
              <a:latin typeface="Arial" pitchFamily="34" charset="0"/>
              <a:ea typeface="微软雅黑" pitchFamily="34" charset="-122"/>
              <a:cs typeface="Arial" pitchFamily="34" charset="0"/>
            </a:endParaRPr>
          </a:p>
        </p:txBody>
      </p:sp>
      <p:graphicFrame>
        <p:nvGraphicFramePr>
          <p:cNvPr id="108604" name="Object 60">
            <a:extLst>
              <a:ext uri="{FF2B5EF4-FFF2-40B4-BE49-F238E27FC236}">
                <a16:creationId xmlns:a16="http://schemas.microsoft.com/office/drawing/2014/main" id="{FF09317F-9619-C070-3998-15692CD1CBE7}"/>
              </a:ext>
            </a:extLst>
          </p:cNvPr>
          <p:cNvGraphicFramePr>
            <a:graphicFrameLocks noChangeAspect="1"/>
          </p:cNvGraphicFramePr>
          <p:nvPr/>
        </p:nvGraphicFramePr>
        <p:xfrm>
          <a:off x="3016250" y="1498600"/>
          <a:ext cx="2555875" cy="1500188"/>
        </p:xfrm>
        <a:graphic>
          <a:graphicData uri="http://schemas.openxmlformats.org/presentationml/2006/ole">
            <mc:AlternateContent xmlns:mc="http://schemas.openxmlformats.org/markup-compatibility/2006">
              <mc:Choice xmlns:v="urn:schemas-microsoft-com:vml" Requires="v">
                <p:oleObj name="公式" r:id="rId2" imgW="1168200" imgH="685800" progId="Equation.3">
                  <p:embed/>
                </p:oleObj>
              </mc:Choice>
              <mc:Fallback>
                <p:oleObj name="公式" r:id="rId2" imgW="1168200" imgH="685800" progId="Equation.3">
                  <p:embed/>
                  <p:pic>
                    <p:nvPicPr>
                      <p:cNvPr id="0" name="Object 6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6250" y="1498600"/>
                        <a:ext cx="2555875" cy="1500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a:extLst>
              <a:ext uri="{FF2B5EF4-FFF2-40B4-BE49-F238E27FC236}">
                <a16:creationId xmlns:a16="http://schemas.microsoft.com/office/drawing/2014/main" id="{4BE2B800-7BB9-45EB-80D8-007E3027893E}"/>
              </a:ext>
            </a:extLst>
          </p:cNvPr>
          <p:cNvSpPr/>
          <p:nvPr/>
        </p:nvSpPr>
        <p:spPr>
          <a:xfrm>
            <a:off x="857250" y="1498600"/>
            <a:ext cx="1030288" cy="430213"/>
          </a:xfrm>
          <a:prstGeom prst="rect">
            <a:avLst/>
          </a:prstGeom>
        </p:spPr>
        <p:txBody>
          <a:bodyPr wrap="none">
            <a:spAutoFit/>
          </a:bodyPr>
          <a:lstStyle/>
          <a:p>
            <a:pPr>
              <a:defRPr/>
            </a:pPr>
            <a:r>
              <a:rPr kumimoji="0" lang="zh-CN" altLang="en-US" sz="2200" b="0" kern="0" dirty="0">
                <a:solidFill>
                  <a:srgbClr val="000000"/>
                </a:solidFill>
                <a:latin typeface="微软雅黑" pitchFamily="34" charset="-122"/>
                <a:ea typeface="微软雅黑" pitchFamily="34" charset="-122"/>
              </a:rPr>
              <a:t>上式：</a:t>
            </a:r>
            <a:endParaRPr lang="zh-CN" altLang="en-US" dirty="0"/>
          </a:p>
        </p:txBody>
      </p:sp>
      <p:sp>
        <p:nvSpPr>
          <p:cNvPr id="6" name="矩形 5">
            <a:extLst>
              <a:ext uri="{FF2B5EF4-FFF2-40B4-BE49-F238E27FC236}">
                <a16:creationId xmlns:a16="http://schemas.microsoft.com/office/drawing/2014/main" id="{C0720361-22F5-3E5B-C82B-F1FA5CE773B7}"/>
              </a:ext>
            </a:extLst>
          </p:cNvPr>
          <p:cNvSpPr/>
          <p:nvPr/>
        </p:nvSpPr>
        <p:spPr>
          <a:xfrm>
            <a:off x="871538" y="3141663"/>
            <a:ext cx="5630862" cy="430212"/>
          </a:xfrm>
          <a:prstGeom prst="rect">
            <a:avLst/>
          </a:prstGeom>
        </p:spPr>
        <p:txBody>
          <a:bodyPr>
            <a:spAutoFit/>
          </a:bodyPr>
          <a:lstStyle/>
          <a:p>
            <a:pPr>
              <a:defRPr/>
            </a:pPr>
            <a:r>
              <a:rPr kumimoji="0" lang="zh-CN" altLang="en-US" sz="2200" b="0" kern="0" dirty="0">
                <a:solidFill>
                  <a:srgbClr val="000000"/>
                </a:solidFill>
                <a:latin typeface="微软雅黑" pitchFamily="34" charset="-122"/>
                <a:ea typeface="微软雅黑" pitchFamily="34" charset="-122"/>
              </a:rPr>
              <a:t>表示的</a:t>
            </a:r>
            <a:r>
              <a:rPr kumimoji="0" lang="zh-CN" altLang="en-US" sz="2200" kern="0" dirty="0">
                <a:solidFill>
                  <a:srgbClr val="003399"/>
                </a:solidFill>
                <a:latin typeface="微软雅黑" pitchFamily="34" charset="-122"/>
                <a:ea typeface="微软雅黑" pitchFamily="34" charset="-122"/>
              </a:rPr>
              <a:t>卷积码</a:t>
            </a:r>
            <a:r>
              <a:rPr kumimoji="0" lang="zh-CN" altLang="en-US" sz="2200" b="0" kern="0" dirty="0">
                <a:solidFill>
                  <a:schemeClr val="tx1"/>
                </a:solidFill>
                <a:latin typeface="微软雅黑" pitchFamily="34" charset="-122"/>
                <a:ea typeface="微软雅黑" pitchFamily="34" charset="-122"/>
              </a:rPr>
              <a:t>也是一种</a:t>
            </a:r>
            <a:r>
              <a:rPr kumimoji="0" lang="zh-CN" altLang="en-US" sz="2200" kern="0" dirty="0">
                <a:solidFill>
                  <a:srgbClr val="FF0000"/>
                </a:solidFill>
                <a:latin typeface="微软雅黑" pitchFamily="34" charset="-122"/>
                <a:ea typeface="微软雅黑" pitchFamily="34" charset="-122"/>
              </a:rPr>
              <a:t>线性码</a:t>
            </a:r>
            <a:r>
              <a:rPr kumimoji="0" lang="zh-CN" altLang="en-US" sz="2200" b="0" kern="0" dirty="0">
                <a:solidFill>
                  <a:srgbClr val="000000"/>
                </a:solidFill>
                <a:latin typeface="微软雅黑" pitchFamily="34" charset="-122"/>
                <a:ea typeface="微软雅黑" pitchFamily="34" charset="-122"/>
              </a:rPr>
              <a:t>。</a:t>
            </a:r>
            <a:endParaRPr lang="zh-CN" altLang="en-US" dirty="0"/>
          </a:p>
        </p:txBody>
      </p:sp>
      <p:sp>
        <p:nvSpPr>
          <p:cNvPr id="7" name="矩形 6">
            <a:extLst>
              <a:ext uri="{FF2B5EF4-FFF2-40B4-BE49-F238E27FC236}">
                <a16:creationId xmlns:a16="http://schemas.microsoft.com/office/drawing/2014/main" id="{FFBF2DE3-CCF4-A332-E4E3-5B56C553AA65}"/>
              </a:ext>
            </a:extLst>
          </p:cNvPr>
          <p:cNvSpPr/>
          <p:nvPr/>
        </p:nvSpPr>
        <p:spPr>
          <a:xfrm>
            <a:off x="4572000" y="3141663"/>
            <a:ext cx="4357688" cy="461962"/>
          </a:xfrm>
          <a:prstGeom prst="rect">
            <a:avLst/>
          </a:prstGeom>
        </p:spPr>
        <p:txBody>
          <a:bodyPr>
            <a:spAutoFit/>
          </a:bodyPr>
          <a:lstStyle/>
          <a:p>
            <a:pPr>
              <a:defRPr/>
            </a:pPr>
            <a:r>
              <a:rPr kumimoji="0" lang="en-US" altLang="zh-CN" sz="2200" b="0" kern="0" dirty="0">
                <a:solidFill>
                  <a:srgbClr val="000000"/>
                </a:solidFill>
                <a:latin typeface="微软雅黑" pitchFamily="34" charset="-122"/>
                <a:ea typeface="微软雅黑" pitchFamily="34" charset="-122"/>
              </a:rPr>
              <a:t>——</a:t>
            </a:r>
            <a:r>
              <a:rPr kumimoji="0" lang="zh-CN" altLang="en-US" sz="2200" b="0" kern="0" dirty="0">
                <a:solidFill>
                  <a:srgbClr val="000000"/>
                </a:solidFill>
                <a:latin typeface="微软雅黑" pitchFamily="34" charset="-122"/>
                <a:ea typeface="微软雅黑" pitchFamily="34" charset="-122"/>
              </a:rPr>
              <a:t>可完全由 </a:t>
            </a:r>
            <a:r>
              <a:rPr kumimoji="0" lang="en-US" altLang="zh-CN" sz="2400" i="1" kern="0" dirty="0">
                <a:solidFill>
                  <a:srgbClr val="FF0000"/>
                </a:solidFill>
                <a:latin typeface="微软雅黑" pitchFamily="34" charset="-122"/>
                <a:ea typeface="微软雅黑" pitchFamily="34" charset="-122"/>
              </a:rPr>
              <a:t>H</a:t>
            </a:r>
            <a:r>
              <a:rPr kumimoji="0" lang="en-US" altLang="zh-CN" sz="2200" kern="0" dirty="0">
                <a:solidFill>
                  <a:srgbClr val="FF0000"/>
                </a:solidFill>
                <a:latin typeface="微软雅黑" pitchFamily="34" charset="-122"/>
                <a:ea typeface="微软雅黑" pitchFamily="34" charset="-122"/>
              </a:rPr>
              <a:t>  </a:t>
            </a:r>
            <a:r>
              <a:rPr kumimoji="0" lang="zh-CN" altLang="en-US" sz="2200" b="0" kern="0" dirty="0">
                <a:solidFill>
                  <a:srgbClr val="000000"/>
                </a:solidFill>
                <a:latin typeface="微软雅黑" pitchFamily="34" charset="-122"/>
                <a:ea typeface="微软雅黑" pitchFamily="34" charset="-122"/>
              </a:rPr>
              <a:t>或 </a:t>
            </a:r>
            <a:r>
              <a:rPr kumimoji="0" lang="en-US" altLang="zh-CN" sz="2400" i="1" kern="0" dirty="0">
                <a:solidFill>
                  <a:srgbClr val="FF0000"/>
                </a:solidFill>
                <a:latin typeface="微软雅黑" pitchFamily="34" charset="-122"/>
                <a:ea typeface="微软雅黑" pitchFamily="34" charset="-122"/>
              </a:rPr>
              <a:t>G</a:t>
            </a:r>
            <a:r>
              <a:rPr kumimoji="0" lang="en-US" altLang="zh-CN" sz="2200" kern="0" dirty="0">
                <a:solidFill>
                  <a:srgbClr val="FF0000"/>
                </a:solidFill>
                <a:latin typeface="微软雅黑" pitchFamily="34" charset="-122"/>
                <a:ea typeface="微软雅黑" pitchFamily="34" charset="-122"/>
              </a:rPr>
              <a:t> </a:t>
            </a:r>
            <a:r>
              <a:rPr kumimoji="0" lang="zh-CN" altLang="en-US" sz="2200" b="0" kern="0" dirty="0">
                <a:solidFill>
                  <a:srgbClr val="000000"/>
                </a:solidFill>
                <a:latin typeface="微软雅黑" pitchFamily="34" charset="-122"/>
                <a:ea typeface="微软雅黑" pitchFamily="34" charset="-122"/>
              </a:rPr>
              <a:t>所确定。</a:t>
            </a:r>
            <a:endParaRPr lang="zh-CN" altLang="en-US" dirty="0"/>
          </a:p>
        </p:txBody>
      </p:sp>
      <p:sp>
        <p:nvSpPr>
          <p:cNvPr id="10" name="矩形 9">
            <a:extLst>
              <a:ext uri="{FF2B5EF4-FFF2-40B4-BE49-F238E27FC236}">
                <a16:creationId xmlns:a16="http://schemas.microsoft.com/office/drawing/2014/main" id="{C9E34AC7-D4AB-8E45-DC00-56F71172470D}"/>
              </a:ext>
            </a:extLst>
          </p:cNvPr>
          <p:cNvSpPr/>
          <p:nvPr/>
        </p:nvSpPr>
        <p:spPr>
          <a:xfrm>
            <a:off x="571500" y="4333875"/>
            <a:ext cx="2074863" cy="523875"/>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wrap="none">
            <a:spAutoFit/>
          </a:bodyPr>
          <a:lstStyle/>
          <a:p>
            <a:pPr>
              <a:buClr>
                <a:srgbClr val="FF0000"/>
              </a:buClr>
              <a:buSzPct val="80000"/>
              <a:buFont typeface="Wingdings" pitchFamily="2" charset="2"/>
              <a:buChar char="n"/>
              <a:defRPr/>
            </a:pPr>
            <a:r>
              <a:rPr kumimoji="0" lang="zh-CN" altLang="en-US" sz="2800" b="0" kern="0" dirty="0">
                <a:solidFill>
                  <a:srgbClr val="000000"/>
                </a:solidFill>
                <a:latin typeface="Arial" pitchFamily="34" charset="0"/>
                <a:ea typeface="微软雅黑" pitchFamily="34" charset="-122"/>
                <a:cs typeface="Arial" pitchFamily="34" charset="0"/>
              </a:rPr>
              <a:t> </a:t>
            </a:r>
            <a:r>
              <a:rPr kumimoji="0" lang="zh-CN" altLang="en-US" sz="2400" kern="0" dirty="0">
                <a:solidFill>
                  <a:srgbClr val="000000"/>
                </a:solidFill>
                <a:latin typeface="Arial" pitchFamily="34" charset="0"/>
                <a:ea typeface="微软雅黑" pitchFamily="34" charset="-122"/>
                <a:cs typeface="Arial" pitchFamily="34" charset="0"/>
              </a:rPr>
              <a:t>监督矩阵 </a:t>
            </a:r>
            <a:r>
              <a:rPr kumimoji="0" lang="en-US" altLang="zh-CN" sz="2800" i="1" kern="0" dirty="0">
                <a:solidFill>
                  <a:srgbClr val="FF0000"/>
                </a:solidFill>
                <a:latin typeface="Arial" pitchFamily="34" charset="0"/>
                <a:ea typeface="微软雅黑" pitchFamily="34" charset="-122"/>
                <a:cs typeface="Arial" pitchFamily="34" charset="0"/>
              </a:rPr>
              <a:t>H</a:t>
            </a:r>
            <a:endParaRPr lang="zh-CN" altLang="en-US" sz="2800" dirty="0">
              <a:solidFill>
                <a:srgbClr val="FF0000"/>
              </a:solidFill>
              <a:latin typeface="Arial" pitchFamily="34" charset="0"/>
              <a:ea typeface="微软雅黑" pitchFamily="34" charset="-122"/>
              <a:cs typeface="Arial" pitchFamily="34" charset="0"/>
            </a:endParaRPr>
          </a:p>
        </p:txBody>
      </p:sp>
      <p:sp>
        <p:nvSpPr>
          <p:cNvPr id="11" name="AutoShape 13">
            <a:extLst>
              <a:ext uri="{FF2B5EF4-FFF2-40B4-BE49-F238E27FC236}">
                <a16:creationId xmlns:a16="http://schemas.microsoft.com/office/drawing/2014/main" id="{67EA114B-7753-14C3-2889-C46403014AC5}"/>
              </a:ext>
            </a:extLst>
          </p:cNvPr>
          <p:cNvSpPr>
            <a:spLocks noChangeArrowheads="1"/>
          </p:cNvSpPr>
          <p:nvPr/>
        </p:nvSpPr>
        <p:spPr bwMode="auto">
          <a:xfrm>
            <a:off x="6072198" y="3786190"/>
            <a:ext cx="785818" cy="714380"/>
          </a:xfrm>
          <a:prstGeom prst="wedgeRoundRectCallout">
            <a:avLst>
              <a:gd name="adj1" fmla="val 16405"/>
              <a:gd name="adj2" fmla="val -82161"/>
              <a:gd name="adj3" fmla="val 16667"/>
            </a:avLst>
          </a:prstGeom>
          <a:solidFill>
            <a:schemeClr val="bg2">
              <a:lumMod val="10000"/>
              <a:lumOff val="90000"/>
            </a:schemeClr>
          </a:solidFill>
          <a:ln w="9525">
            <a:noFill/>
            <a:miter lim="800000"/>
            <a:headEnd/>
            <a:tailEnd/>
          </a:ln>
          <a:effectLst>
            <a:innerShdw blurRad="63500" dist="50800" dir="16200000">
              <a:prstClr val="black">
                <a:alpha val="50000"/>
              </a:prstClr>
            </a:innerShdw>
          </a:effectLst>
        </p:spPr>
        <p:txBody>
          <a:bodyPr/>
          <a:lstStyle/>
          <a:p>
            <a:pPr algn="just">
              <a:lnSpc>
                <a:spcPts val="2600"/>
              </a:lnSpc>
              <a:defRPr/>
            </a:pPr>
            <a:r>
              <a:rPr lang="zh-CN" altLang="en-US" sz="2000" b="0" dirty="0">
                <a:solidFill>
                  <a:schemeClr val="tx1"/>
                </a:solidFill>
                <a:latin typeface="Arial" pitchFamily="34" charset="0"/>
                <a:ea typeface="黑体" pitchFamily="2" charset="-122"/>
                <a:cs typeface="Arial" pitchFamily="34" charset="0"/>
              </a:rPr>
              <a:t>监督</a:t>
            </a:r>
            <a:endParaRPr lang="en-US" altLang="zh-CN" sz="2000" b="0" dirty="0">
              <a:solidFill>
                <a:schemeClr val="tx1"/>
              </a:solidFill>
              <a:latin typeface="Arial" pitchFamily="34" charset="0"/>
              <a:ea typeface="黑体" pitchFamily="2" charset="-122"/>
              <a:cs typeface="Arial" pitchFamily="34" charset="0"/>
            </a:endParaRPr>
          </a:p>
          <a:p>
            <a:pPr algn="just">
              <a:lnSpc>
                <a:spcPts val="2600"/>
              </a:lnSpc>
              <a:defRPr/>
            </a:pPr>
            <a:r>
              <a:rPr lang="zh-CN" altLang="en-US" sz="2000" b="0" dirty="0">
                <a:solidFill>
                  <a:schemeClr val="tx1"/>
                </a:solidFill>
                <a:latin typeface="Arial" pitchFamily="34" charset="0"/>
                <a:ea typeface="黑体" pitchFamily="2" charset="-122"/>
                <a:cs typeface="Arial" pitchFamily="34" charset="0"/>
              </a:rPr>
              <a:t>矩阵</a:t>
            </a:r>
            <a:endParaRPr lang="zh-CN" sz="2000" b="0" dirty="0">
              <a:solidFill>
                <a:schemeClr val="tx1"/>
              </a:solidFill>
              <a:latin typeface="Arial" pitchFamily="34" charset="0"/>
              <a:ea typeface="黑体" pitchFamily="2" charset="-122"/>
              <a:cs typeface="Arial" pitchFamily="34" charset="0"/>
            </a:endParaRPr>
          </a:p>
        </p:txBody>
      </p:sp>
      <p:sp>
        <p:nvSpPr>
          <p:cNvPr id="13" name="AutoShape 13">
            <a:extLst>
              <a:ext uri="{FF2B5EF4-FFF2-40B4-BE49-F238E27FC236}">
                <a16:creationId xmlns:a16="http://schemas.microsoft.com/office/drawing/2014/main" id="{53D10208-ECFA-CB2D-887D-648D87EC4516}"/>
              </a:ext>
            </a:extLst>
          </p:cNvPr>
          <p:cNvSpPr>
            <a:spLocks noChangeArrowheads="1"/>
          </p:cNvSpPr>
          <p:nvPr/>
        </p:nvSpPr>
        <p:spPr bwMode="auto">
          <a:xfrm>
            <a:off x="7143768" y="3786190"/>
            <a:ext cx="785818" cy="714380"/>
          </a:xfrm>
          <a:prstGeom prst="wedgeRoundRectCallout">
            <a:avLst>
              <a:gd name="adj1" fmla="val -20533"/>
              <a:gd name="adj2" fmla="val -84192"/>
              <a:gd name="adj3" fmla="val 16667"/>
            </a:avLst>
          </a:prstGeom>
          <a:solidFill>
            <a:schemeClr val="bg2">
              <a:lumMod val="10000"/>
              <a:lumOff val="90000"/>
            </a:schemeClr>
          </a:solidFill>
          <a:ln w="9525">
            <a:noFill/>
            <a:miter lim="800000"/>
            <a:headEnd/>
            <a:tailEnd/>
          </a:ln>
          <a:effectLst>
            <a:innerShdw blurRad="63500" dist="50800" dir="16200000">
              <a:prstClr val="black">
                <a:alpha val="50000"/>
              </a:prstClr>
            </a:innerShdw>
          </a:effectLst>
        </p:spPr>
        <p:txBody>
          <a:bodyPr/>
          <a:lstStyle/>
          <a:p>
            <a:pPr algn="just">
              <a:lnSpc>
                <a:spcPts val="2600"/>
              </a:lnSpc>
              <a:defRPr/>
            </a:pPr>
            <a:r>
              <a:rPr lang="zh-CN" altLang="en-US" sz="2000" b="0" dirty="0">
                <a:solidFill>
                  <a:schemeClr val="tx1"/>
                </a:solidFill>
                <a:latin typeface="Arial" pitchFamily="34" charset="0"/>
                <a:ea typeface="黑体" pitchFamily="2" charset="-122"/>
                <a:cs typeface="Arial" pitchFamily="34" charset="0"/>
              </a:rPr>
              <a:t>生成</a:t>
            </a:r>
            <a:endParaRPr lang="en-US" altLang="zh-CN" sz="2000" b="0" dirty="0">
              <a:solidFill>
                <a:schemeClr val="tx1"/>
              </a:solidFill>
              <a:latin typeface="Arial" pitchFamily="34" charset="0"/>
              <a:ea typeface="黑体" pitchFamily="2" charset="-122"/>
              <a:cs typeface="Arial" pitchFamily="34" charset="0"/>
            </a:endParaRPr>
          </a:p>
          <a:p>
            <a:pPr algn="just">
              <a:lnSpc>
                <a:spcPts val="2600"/>
              </a:lnSpc>
              <a:defRPr/>
            </a:pPr>
            <a:r>
              <a:rPr lang="zh-CN" altLang="en-US" sz="2000" b="0" dirty="0">
                <a:solidFill>
                  <a:schemeClr val="tx1"/>
                </a:solidFill>
                <a:latin typeface="Arial" pitchFamily="34" charset="0"/>
                <a:ea typeface="黑体" pitchFamily="2" charset="-122"/>
                <a:cs typeface="Arial" pitchFamily="34" charset="0"/>
              </a:rPr>
              <a:t>矩阵</a:t>
            </a:r>
            <a:endParaRPr lang="zh-CN" sz="2000" b="0" dirty="0">
              <a:solidFill>
                <a:schemeClr val="tx1"/>
              </a:solidFill>
              <a:latin typeface="Arial" pitchFamily="34" charset="0"/>
              <a:ea typeface="黑体" pitchFamily="2" charset="-122"/>
              <a:cs typeface="Arial"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1000"/>
                                        <p:tgtEl>
                                          <p:spTgt spid="5"/>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108604"/>
                                        </p:tgtEl>
                                        <p:attrNameLst>
                                          <p:attrName>style.visibility</p:attrName>
                                        </p:attrNameLst>
                                      </p:cBhvr>
                                      <p:to>
                                        <p:strVal val="visible"/>
                                      </p:to>
                                    </p:set>
                                    <p:animEffect transition="in" filter="wipe(up)">
                                      <p:cBhvr>
                                        <p:cTn id="16" dur="2000"/>
                                        <p:tgtEl>
                                          <p:spTgt spid="108604"/>
                                        </p:tgtEl>
                                      </p:cBhvr>
                                    </p:animEffect>
                                  </p:childTnLst>
                                </p:cTn>
                              </p:par>
                            </p:childTnLst>
                          </p:cTn>
                        </p:par>
                        <p:par>
                          <p:cTn id="17" fill="hold" nodeType="afterGroup">
                            <p:stCondLst>
                              <p:cond delay="3000"/>
                            </p:stCondLst>
                            <p:childTnLst>
                              <p:par>
                                <p:cTn id="18" presetID="22" presetClass="entr" presetSubtype="8"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1000"/>
                                        <p:tgtEl>
                                          <p:spTgt spid="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up)">
                                      <p:cBhvr>
                                        <p:cTn id="25" dur="1000"/>
                                        <p:tgtEl>
                                          <p:spTgt spid="7"/>
                                        </p:tgtEl>
                                      </p:cBhvr>
                                    </p:animEffect>
                                  </p:childTnLst>
                                </p:cTn>
                              </p:par>
                            </p:childTnLst>
                          </p:cTn>
                        </p:par>
                        <p:par>
                          <p:cTn id="26" fill="hold" nodeType="afterGroup">
                            <p:stCondLst>
                              <p:cond delay="1000"/>
                            </p:stCondLst>
                            <p:childTnLst>
                              <p:par>
                                <p:cTn id="27" presetID="22" presetClass="entr" presetSubtype="1"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up)">
                                      <p:cBhvr>
                                        <p:cTn id="29" dur="1000"/>
                                        <p:tgtEl>
                                          <p:spTgt spid="11"/>
                                        </p:tgtEl>
                                      </p:cBhvr>
                                    </p:animEffect>
                                  </p:childTnLst>
                                </p:cTn>
                              </p:par>
                            </p:childTnLst>
                          </p:cTn>
                        </p:par>
                        <p:par>
                          <p:cTn id="30" fill="hold" nodeType="afterGroup">
                            <p:stCondLst>
                              <p:cond delay="2000"/>
                            </p:stCondLst>
                            <p:childTnLst>
                              <p:par>
                                <p:cTn id="31" presetID="22" presetClass="entr" presetSubtype="1" fill="hold"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up)">
                                      <p:cBhvr>
                                        <p:cTn id="33" dur="1000"/>
                                        <p:tgtEl>
                                          <p:spTgt spid="1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ipe(up)">
                                      <p:cBhvr>
                                        <p:cTn id="38" dur="1000"/>
                                        <p:tgtEl>
                                          <p:spTgt spid="1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wipe(up)">
                                      <p:cBhvr>
                                        <p:cTn id="43"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5" grpId="0"/>
      <p:bldP spid="6" grpId="0"/>
      <p:bldP spid="7" grpId="0"/>
      <p:bldP spid="10"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26" name="Picture 18">
            <a:extLst>
              <a:ext uri="{FF2B5EF4-FFF2-40B4-BE49-F238E27FC236}">
                <a16:creationId xmlns:a16="http://schemas.microsoft.com/office/drawing/2014/main" id="{FAD00B12-FA0A-36B7-BEBD-B17202F1C3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6322" t="26633"/>
          <a:stretch>
            <a:fillRect/>
          </a:stretch>
        </p:blipFill>
        <p:spPr bwMode="auto">
          <a:xfrm>
            <a:off x="5813425" y="1527175"/>
            <a:ext cx="2325688" cy="371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6">
            <a:extLst>
              <a:ext uri="{FF2B5EF4-FFF2-40B4-BE49-F238E27FC236}">
                <a16:creationId xmlns:a16="http://schemas.microsoft.com/office/drawing/2014/main" id="{8D2172BF-EF49-DF6D-6B95-3242D00082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3346" b="-3600"/>
          <a:stretch>
            <a:fillRect/>
          </a:stretch>
        </p:blipFill>
        <p:spPr bwMode="auto">
          <a:xfrm>
            <a:off x="1255713" y="1458913"/>
            <a:ext cx="2286000" cy="392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60" name="Rectangle 5">
            <a:extLst>
              <a:ext uri="{FF2B5EF4-FFF2-40B4-BE49-F238E27FC236}">
                <a16:creationId xmlns:a16="http://schemas.microsoft.com/office/drawing/2014/main" id="{3A51E814-21D9-2279-F8BA-E4CF47C2AFA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21861" name="Rectangle 7">
            <a:extLst>
              <a:ext uri="{FF2B5EF4-FFF2-40B4-BE49-F238E27FC236}">
                <a16:creationId xmlns:a16="http://schemas.microsoft.com/office/drawing/2014/main" id="{4B67319A-5208-540A-020E-323C2D775B7D}"/>
              </a:ext>
            </a:extLst>
          </p:cNvPr>
          <p:cNvSpPr>
            <a:spLocks noChangeArrowheads="1"/>
          </p:cNvSpPr>
          <p:nvPr/>
        </p:nvSpPr>
        <p:spPr bwMode="auto">
          <a:xfrm>
            <a:off x="0" y="23288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cxnSp>
        <p:nvCxnSpPr>
          <p:cNvPr id="43015" name="直接连接符 12">
            <a:extLst>
              <a:ext uri="{FF2B5EF4-FFF2-40B4-BE49-F238E27FC236}">
                <a16:creationId xmlns:a16="http://schemas.microsoft.com/office/drawing/2014/main" id="{CB157DC6-FD4B-3679-985C-01DD9FBD1C0D}"/>
              </a:ext>
            </a:extLst>
          </p:cNvPr>
          <p:cNvCxnSpPr>
            <a:cxnSpLocks noChangeShapeType="1"/>
          </p:cNvCxnSpPr>
          <p:nvPr/>
        </p:nvCxnSpPr>
        <p:spPr bwMode="auto">
          <a:xfrm>
            <a:off x="1571625" y="2368550"/>
            <a:ext cx="1643063" cy="1588"/>
          </a:xfrm>
          <a:prstGeom prst="line">
            <a:avLst/>
          </a:prstGeom>
          <a:noFill/>
          <a:ln w="9525" algn="ctr">
            <a:solidFill>
              <a:srgbClr val="6666FF"/>
            </a:solidFill>
            <a:miter lim="800000"/>
            <a:headEnd/>
            <a:tailEnd/>
          </a:ln>
          <a:extLst>
            <a:ext uri="{909E8E84-426E-40DD-AFC4-6F175D3DCCD1}">
              <a14:hiddenFill xmlns:a14="http://schemas.microsoft.com/office/drawing/2010/main">
                <a:noFill/>
              </a14:hiddenFill>
            </a:ext>
          </a:extLst>
        </p:spPr>
      </p:cxnSp>
      <p:cxnSp>
        <p:nvCxnSpPr>
          <p:cNvPr id="43016" name="直接连接符 13">
            <a:extLst>
              <a:ext uri="{FF2B5EF4-FFF2-40B4-BE49-F238E27FC236}">
                <a16:creationId xmlns:a16="http://schemas.microsoft.com/office/drawing/2014/main" id="{DBB031E1-7B95-C522-B9FD-0386EEDC2C07}"/>
              </a:ext>
            </a:extLst>
          </p:cNvPr>
          <p:cNvCxnSpPr>
            <a:cxnSpLocks noChangeShapeType="1"/>
          </p:cNvCxnSpPr>
          <p:nvPr/>
        </p:nvCxnSpPr>
        <p:spPr bwMode="auto">
          <a:xfrm>
            <a:off x="1571625" y="3186113"/>
            <a:ext cx="1643063" cy="1587"/>
          </a:xfrm>
          <a:prstGeom prst="line">
            <a:avLst/>
          </a:prstGeom>
          <a:noFill/>
          <a:ln w="9525" algn="ctr">
            <a:solidFill>
              <a:srgbClr val="6666FF"/>
            </a:solidFill>
            <a:miter lim="800000"/>
            <a:headEnd/>
            <a:tailEnd/>
          </a:ln>
          <a:extLst>
            <a:ext uri="{909E8E84-426E-40DD-AFC4-6F175D3DCCD1}">
              <a14:hiddenFill xmlns:a14="http://schemas.microsoft.com/office/drawing/2010/main">
                <a:noFill/>
              </a14:hiddenFill>
            </a:ext>
          </a:extLst>
        </p:spPr>
      </p:cxnSp>
      <p:cxnSp>
        <p:nvCxnSpPr>
          <p:cNvPr id="43017" name="直接连接符 14">
            <a:extLst>
              <a:ext uri="{FF2B5EF4-FFF2-40B4-BE49-F238E27FC236}">
                <a16:creationId xmlns:a16="http://schemas.microsoft.com/office/drawing/2014/main" id="{4B83D04C-39D7-75B0-1FEE-C8CFE3347906}"/>
              </a:ext>
            </a:extLst>
          </p:cNvPr>
          <p:cNvCxnSpPr>
            <a:cxnSpLocks noChangeShapeType="1"/>
          </p:cNvCxnSpPr>
          <p:nvPr/>
        </p:nvCxnSpPr>
        <p:spPr bwMode="auto">
          <a:xfrm>
            <a:off x="1571625" y="4041775"/>
            <a:ext cx="1643063" cy="1588"/>
          </a:xfrm>
          <a:prstGeom prst="line">
            <a:avLst/>
          </a:prstGeom>
          <a:noFill/>
          <a:ln w="9525" algn="ctr">
            <a:solidFill>
              <a:srgbClr val="6666FF"/>
            </a:solidFill>
            <a:miter lim="800000"/>
            <a:headEnd/>
            <a:tailEnd/>
          </a:ln>
          <a:extLst>
            <a:ext uri="{909E8E84-426E-40DD-AFC4-6F175D3DCCD1}">
              <a14:hiddenFill xmlns:a14="http://schemas.microsoft.com/office/drawing/2010/main">
                <a:noFill/>
              </a14:hiddenFill>
            </a:ext>
          </a:extLst>
        </p:spPr>
      </p:cxnSp>
      <p:cxnSp>
        <p:nvCxnSpPr>
          <p:cNvPr id="43018" name="直接连接符 15">
            <a:extLst>
              <a:ext uri="{FF2B5EF4-FFF2-40B4-BE49-F238E27FC236}">
                <a16:creationId xmlns:a16="http://schemas.microsoft.com/office/drawing/2014/main" id="{73D7F2E6-E7D8-C709-55B6-E5E1683238EE}"/>
              </a:ext>
            </a:extLst>
          </p:cNvPr>
          <p:cNvCxnSpPr>
            <a:cxnSpLocks noChangeShapeType="1"/>
          </p:cNvCxnSpPr>
          <p:nvPr/>
        </p:nvCxnSpPr>
        <p:spPr bwMode="auto">
          <a:xfrm>
            <a:off x="5929313" y="2368550"/>
            <a:ext cx="1643062" cy="1588"/>
          </a:xfrm>
          <a:prstGeom prst="line">
            <a:avLst/>
          </a:prstGeom>
          <a:noFill/>
          <a:ln w="9525" algn="ctr">
            <a:solidFill>
              <a:srgbClr val="6666FF"/>
            </a:solidFill>
            <a:miter lim="800000"/>
            <a:headEnd/>
            <a:tailEnd/>
          </a:ln>
          <a:extLst>
            <a:ext uri="{909E8E84-426E-40DD-AFC4-6F175D3DCCD1}">
              <a14:hiddenFill xmlns:a14="http://schemas.microsoft.com/office/drawing/2010/main">
                <a:noFill/>
              </a14:hiddenFill>
            </a:ext>
          </a:extLst>
        </p:spPr>
      </p:cxnSp>
      <p:cxnSp>
        <p:nvCxnSpPr>
          <p:cNvPr id="43019" name="直接连接符 16">
            <a:extLst>
              <a:ext uri="{FF2B5EF4-FFF2-40B4-BE49-F238E27FC236}">
                <a16:creationId xmlns:a16="http://schemas.microsoft.com/office/drawing/2014/main" id="{B47F3D4F-42CB-9376-E0AD-7D71629AE24F}"/>
              </a:ext>
            </a:extLst>
          </p:cNvPr>
          <p:cNvCxnSpPr>
            <a:cxnSpLocks noChangeShapeType="1"/>
          </p:cNvCxnSpPr>
          <p:nvPr/>
        </p:nvCxnSpPr>
        <p:spPr bwMode="auto">
          <a:xfrm>
            <a:off x="5929313" y="3186113"/>
            <a:ext cx="1643062" cy="1587"/>
          </a:xfrm>
          <a:prstGeom prst="line">
            <a:avLst/>
          </a:prstGeom>
          <a:noFill/>
          <a:ln w="9525" algn="ctr">
            <a:solidFill>
              <a:srgbClr val="6666FF"/>
            </a:solidFill>
            <a:miter lim="800000"/>
            <a:headEnd/>
            <a:tailEnd/>
          </a:ln>
          <a:extLst>
            <a:ext uri="{909E8E84-426E-40DD-AFC4-6F175D3DCCD1}">
              <a14:hiddenFill xmlns:a14="http://schemas.microsoft.com/office/drawing/2010/main">
                <a:noFill/>
              </a14:hiddenFill>
            </a:ext>
          </a:extLst>
        </p:spPr>
      </p:cxnSp>
      <p:cxnSp>
        <p:nvCxnSpPr>
          <p:cNvPr id="43020" name="直接连接符 17">
            <a:extLst>
              <a:ext uri="{FF2B5EF4-FFF2-40B4-BE49-F238E27FC236}">
                <a16:creationId xmlns:a16="http://schemas.microsoft.com/office/drawing/2014/main" id="{1CDBDE81-DBFE-4166-F0D4-75FD11494302}"/>
              </a:ext>
            </a:extLst>
          </p:cNvPr>
          <p:cNvCxnSpPr>
            <a:cxnSpLocks noChangeShapeType="1"/>
          </p:cNvCxnSpPr>
          <p:nvPr/>
        </p:nvCxnSpPr>
        <p:spPr bwMode="auto">
          <a:xfrm>
            <a:off x="5929313" y="4041775"/>
            <a:ext cx="1643062" cy="1588"/>
          </a:xfrm>
          <a:prstGeom prst="line">
            <a:avLst/>
          </a:prstGeom>
          <a:noFill/>
          <a:ln w="9525" algn="ctr">
            <a:solidFill>
              <a:srgbClr val="6666FF"/>
            </a:solidFill>
            <a:miter lim="800000"/>
            <a:headEnd/>
            <a:tailEnd/>
          </a:ln>
          <a:extLst>
            <a:ext uri="{909E8E84-426E-40DD-AFC4-6F175D3DCCD1}">
              <a14:hiddenFill xmlns:a14="http://schemas.microsoft.com/office/drawing/2010/main">
                <a:noFill/>
              </a14:hiddenFill>
            </a:ext>
          </a:extLst>
        </p:spPr>
      </p:cxnSp>
      <p:sp>
        <p:nvSpPr>
          <p:cNvPr id="19" name="矩形 18">
            <a:extLst>
              <a:ext uri="{FF2B5EF4-FFF2-40B4-BE49-F238E27FC236}">
                <a16:creationId xmlns:a16="http://schemas.microsoft.com/office/drawing/2014/main" id="{70A0E216-8BB6-BB74-2B56-383A798EDCBD}"/>
              </a:ext>
            </a:extLst>
          </p:cNvPr>
          <p:cNvSpPr/>
          <p:nvPr/>
        </p:nvSpPr>
        <p:spPr>
          <a:xfrm>
            <a:off x="3643313" y="3141663"/>
            <a:ext cx="2000250" cy="400050"/>
          </a:xfrm>
          <a:prstGeom prst="rect">
            <a:avLst/>
          </a:prstGeom>
        </p:spPr>
        <p:txBody>
          <a:bodyPr>
            <a:spAutoFit/>
          </a:bodyPr>
          <a:lstStyle/>
          <a:p>
            <a:pPr>
              <a:defRPr/>
            </a:pP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左式可以改写为</a:t>
            </a:r>
            <a:endParaRPr lang="zh-CN" altLang="en-US" sz="2000" dirty="0">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p:txBody>
      </p:sp>
      <p:sp>
        <p:nvSpPr>
          <p:cNvPr id="20" name="矩形 19">
            <a:extLst>
              <a:ext uri="{FF2B5EF4-FFF2-40B4-BE49-F238E27FC236}">
                <a16:creationId xmlns:a16="http://schemas.microsoft.com/office/drawing/2014/main" id="{BDA0F0DD-CA96-A20E-A71A-4AEC97D8A121}"/>
              </a:ext>
            </a:extLst>
          </p:cNvPr>
          <p:cNvSpPr/>
          <p:nvPr/>
        </p:nvSpPr>
        <p:spPr>
          <a:xfrm>
            <a:off x="1571625" y="5253038"/>
            <a:ext cx="6357938" cy="534987"/>
          </a:xfrm>
          <a:prstGeom prst="rect">
            <a:avLst/>
          </a:prstGeom>
        </p:spPr>
        <p:txBody>
          <a:bodyPr>
            <a:spAutoFit/>
          </a:bodyPr>
          <a:lstStyle/>
          <a:p>
            <a:pPr>
              <a:lnSpc>
                <a:spcPts val="4000"/>
              </a:lnSpc>
              <a:defRPr/>
            </a:pPr>
            <a:r>
              <a:rPr kumimoji="0" lang="zh-CN" altLang="en-US" sz="2000" b="0" kern="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注</a:t>
            </a: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：上面两式及后面的式子中</a:t>
            </a:r>
            <a:r>
              <a:rPr kumimoji="0" lang="zh-CN" altLang="en-US" sz="2000" b="0" kern="0" dirty="0">
                <a:solidFill>
                  <a:srgbClr val="000000"/>
                </a:solidFill>
                <a:effectLst>
                  <a:outerShdw blurRad="38100" dist="38100" dir="2700000" algn="tl">
                    <a:srgbClr val="000000">
                      <a:alpha val="43137"/>
                    </a:srgbClr>
                  </a:outerShdw>
                </a:effectLst>
                <a:latin typeface="+mn-ea"/>
                <a:ea typeface="+mn-ea"/>
                <a:cs typeface="Arial" pitchFamily="34" charset="0"/>
              </a:rPr>
              <a:t>“</a:t>
            </a:r>
            <a:r>
              <a:rPr kumimoji="0" lang="zh-CN" altLang="en-US" sz="2000" b="0" kern="0" dirty="0">
                <a:solidFill>
                  <a:srgbClr val="FF0000"/>
                </a:solidFill>
                <a:effectLst>
                  <a:outerShdw blurRad="38100" dist="38100" dir="2700000" algn="tl">
                    <a:srgbClr val="000000">
                      <a:alpha val="43137"/>
                    </a:srgbClr>
                  </a:outerShdw>
                </a:effectLst>
                <a:latin typeface="+mn-ea"/>
                <a:ea typeface="+mn-ea"/>
                <a:cs typeface="Arial" pitchFamily="34" charset="0"/>
              </a:rPr>
              <a:t>＋</a:t>
            </a:r>
            <a:r>
              <a:rPr kumimoji="0" lang="zh-CN" altLang="en-US" sz="2000" b="0" kern="0" dirty="0">
                <a:solidFill>
                  <a:srgbClr val="000000"/>
                </a:solidFill>
                <a:effectLst>
                  <a:outerShdw blurRad="38100" dist="38100" dir="2700000" algn="tl">
                    <a:srgbClr val="000000">
                      <a:alpha val="43137"/>
                    </a:srgbClr>
                  </a:outerShdw>
                </a:effectLst>
                <a:latin typeface="+mn-ea"/>
                <a:ea typeface="+mn-ea"/>
                <a:cs typeface="Arial" pitchFamily="34" charset="0"/>
              </a:rPr>
              <a:t>” </a:t>
            </a: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cs typeface="Arial" pitchFamily="34" charset="0"/>
              </a:rPr>
              <a:t>表示</a:t>
            </a:r>
            <a:r>
              <a:rPr kumimoji="0" lang="zh-CN" altLang="en-US" sz="2000" b="0" kern="0" dirty="0">
                <a:solidFill>
                  <a:srgbClr val="000000"/>
                </a:solidFill>
                <a:effectLst>
                  <a:outerShdw blurRad="38100" dist="38100" dir="2700000" algn="tl">
                    <a:srgbClr val="000000">
                      <a:alpha val="43137"/>
                    </a:srgbClr>
                  </a:outerShdw>
                </a:effectLst>
                <a:latin typeface="+mn-ea"/>
                <a:ea typeface="+mn-ea"/>
                <a:cs typeface="Arial" pitchFamily="34" charset="0"/>
              </a:rPr>
              <a:t>“</a:t>
            </a:r>
            <a:r>
              <a:rPr kumimoji="0" lang="zh-CN" altLang="en-US" sz="2000" b="0" kern="0" dirty="0">
                <a:solidFill>
                  <a:srgbClr val="FF0000"/>
                </a:solidFill>
                <a:effectLst>
                  <a:outerShdw blurRad="38100" dist="38100" dir="2700000" algn="tl">
                    <a:srgbClr val="000000">
                      <a:alpha val="43137"/>
                    </a:srgbClr>
                  </a:outerShdw>
                </a:effectLst>
                <a:latin typeface="+mn-ea"/>
                <a:ea typeface="+mn-ea"/>
                <a:cs typeface="Arial" pitchFamily="34" charset="0"/>
                <a:sym typeface="Symbol" pitchFamily="18" charset="2"/>
              </a:rPr>
              <a:t></a:t>
            </a:r>
            <a:r>
              <a:rPr kumimoji="0" lang="zh-CN" altLang="en-US" sz="2000" b="0" kern="0" dirty="0">
                <a:solidFill>
                  <a:srgbClr val="000000"/>
                </a:solidFill>
                <a:effectLst>
                  <a:outerShdw blurRad="38100" dist="38100" dir="2700000" algn="tl">
                    <a:srgbClr val="000000">
                      <a:alpha val="43137"/>
                    </a:srgbClr>
                  </a:outerShdw>
                </a:effectLst>
                <a:latin typeface="+mn-ea"/>
                <a:ea typeface="+mn-ea"/>
                <a:cs typeface="Arial" pitchFamily="34" charset="0"/>
              </a:rPr>
              <a:t>”。</a:t>
            </a:r>
            <a:endParaRPr lang="zh-CN" altLang="en-US" dirty="0">
              <a:effectLst>
                <a:outerShdw blurRad="38100" dist="38100" dir="2700000" algn="tl">
                  <a:srgbClr val="000000">
                    <a:alpha val="43137"/>
                  </a:srgbClr>
                </a:outerShdw>
              </a:effectLst>
              <a:latin typeface="+mn-ea"/>
              <a:ea typeface="+mn-ea"/>
            </a:endParaRPr>
          </a:p>
        </p:txBody>
      </p:sp>
      <p:sp>
        <p:nvSpPr>
          <p:cNvPr id="21" name="矩形 20">
            <a:extLst>
              <a:ext uri="{FF2B5EF4-FFF2-40B4-BE49-F238E27FC236}">
                <a16:creationId xmlns:a16="http://schemas.microsoft.com/office/drawing/2014/main" id="{D95398A3-DFC6-EA8E-295F-D638EB02EA5C}"/>
              </a:ext>
            </a:extLst>
          </p:cNvPr>
          <p:cNvSpPr/>
          <p:nvPr/>
        </p:nvSpPr>
        <p:spPr>
          <a:xfrm>
            <a:off x="928688" y="5957888"/>
            <a:ext cx="4881562" cy="400050"/>
          </a:xfrm>
          <a:prstGeom prst="rect">
            <a:avLst/>
          </a:prstGeom>
        </p:spPr>
        <p:txBody>
          <a:bodyPr>
            <a:spAutoFit/>
          </a:bodyPr>
          <a:lstStyle/>
          <a:p>
            <a:pPr marL="342900" indent="-342900">
              <a:spcBef>
                <a:spcPct val="20000"/>
              </a:spcBef>
              <a:buClr>
                <a:srgbClr val="3333CC"/>
              </a:buClr>
              <a:buSzPct val="60000"/>
              <a:defRPr/>
            </a:pPr>
            <a:r>
              <a:rPr kumimoji="0" lang="zh-CN" altLang="en-US" sz="2000" kern="0" dirty="0">
                <a:solidFill>
                  <a:srgbClr val="000000"/>
                </a:solidFill>
                <a:latin typeface="Arial" pitchFamily="34" charset="0"/>
                <a:ea typeface="微软雅黑" pitchFamily="34" charset="-122"/>
                <a:cs typeface="Arial" pitchFamily="34" charset="0"/>
              </a:rPr>
              <a:t>将上式用矩阵表示成：</a:t>
            </a:r>
          </a:p>
        </p:txBody>
      </p:sp>
      <p:pic>
        <p:nvPicPr>
          <p:cNvPr id="121871" name="Picture 16">
            <a:extLst>
              <a:ext uri="{FF2B5EF4-FFF2-40B4-BE49-F238E27FC236}">
                <a16:creationId xmlns:a16="http://schemas.microsoft.com/office/drawing/2014/main" id="{DFDD6110-CC08-F8DC-01B0-94397299BF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77724"/>
          <a:stretch>
            <a:fillRect/>
          </a:stretch>
        </p:blipFill>
        <p:spPr bwMode="auto">
          <a:xfrm>
            <a:off x="1428750" y="214313"/>
            <a:ext cx="2286000" cy="1090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1000"/>
                                        <p:tgtEl>
                                          <p:spTgt spid="17"/>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43015"/>
                                        </p:tgtEl>
                                        <p:attrNameLst>
                                          <p:attrName>style.visibility</p:attrName>
                                        </p:attrNameLst>
                                      </p:cBhvr>
                                      <p:to>
                                        <p:strVal val="visible"/>
                                      </p:to>
                                    </p:set>
                                    <p:animEffect transition="in" filter="wipe(left)">
                                      <p:cBhvr>
                                        <p:cTn id="11" dur="1000"/>
                                        <p:tgtEl>
                                          <p:spTgt spid="43015"/>
                                        </p:tgtEl>
                                      </p:cBhvr>
                                    </p:animEffect>
                                  </p:childTnLst>
                                </p:cTn>
                              </p:par>
                              <p:par>
                                <p:cTn id="12" presetID="22" presetClass="entr" presetSubtype="8" fill="hold" nodeType="withEffect">
                                  <p:stCondLst>
                                    <p:cond delay="0"/>
                                  </p:stCondLst>
                                  <p:childTnLst>
                                    <p:set>
                                      <p:cBhvr>
                                        <p:cTn id="13" dur="1" fill="hold">
                                          <p:stCondLst>
                                            <p:cond delay="0"/>
                                          </p:stCondLst>
                                        </p:cTn>
                                        <p:tgtEl>
                                          <p:spTgt spid="43016"/>
                                        </p:tgtEl>
                                        <p:attrNameLst>
                                          <p:attrName>style.visibility</p:attrName>
                                        </p:attrNameLst>
                                      </p:cBhvr>
                                      <p:to>
                                        <p:strVal val="visible"/>
                                      </p:to>
                                    </p:set>
                                    <p:animEffect transition="in" filter="wipe(left)">
                                      <p:cBhvr>
                                        <p:cTn id="14" dur="1000"/>
                                        <p:tgtEl>
                                          <p:spTgt spid="43016"/>
                                        </p:tgtEl>
                                      </p:cBhvr>
                                    </p:animEffect>
                                  </p:childTnLst>
                                </p:cTn>
                              </p:par>
                              <p:par>
                                <p:cTn id="15" presetID="22" presetClass="entr" presetSubtype="8" fill="hold" nodeType="withEffect">
                                  <p:stCondLst>
                                    <p:cond delay="0"/>
                                  </p:stCondLst>
                                  <p:childTnLst>
                                    <p:set>
                                      <p:cBhvr>
                                        <p:cTn id="16" dur="1" fill="hold">
                                          <p:stCondLst>
                                            <p:cond delay="0"/>
                                          </p:stCondLst>
                                        </p:cTn>
                                        <p:tgtEl>
                                          <p:spTgt spid="43017"/>
                                        </p:tgtEl>
                                        <p:attrNameLst>
                                          <p:attrName>style.visibility</p:attrName>
                                        </p:attrNameLst>
                                      </p:cBhvr>
                                      <p:to>
                                        <p:strVal val="visible"/>
                                      </p:to>
                                    </p:set>
                                    <p:animEffect transition="in" filter="wipe(left)">
                                      <p:cBhvr>
                                        <p:cTn id="17" dur="1000"/>
                                        <p:tgtEl>
                                          <p:spTgt spid="4301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up)">
                                      <p:cBhvr>
                                        <p:cTn id="22" dur="1000"/>
                                        <p:tgtEl>
                                          <p:spTgt spid="19"/>
                                        </p:tgtEl>
                                      </p:cBhvr>
                                    </p:animEffect>
                                  </p:childTnLst>
                                </p:cTn>
                              </p:par>
                            </p:childTnLst>
                          </p:cTn>
                        </p:par>
                        <p:par>
                          <p:cTn id="23" fill="hold" nodeType="afterGroup">
                            <p:stCondLst>
                              <p:cond delay="1000"/>
                            </p:stCondLst>
                            <p:childTnLst>
                              <p:par>
                                <p:cTn id="24" presetID="22" presetClass="entr" presetSubtype="1" fill="hold" nodeType="afterEffect">
                                  <p:stCondLst>
                                    <p:cond delay="0"/>
                                  </p:stCondLst>
                                  <p:childTnLst>
                                    <p:set>
                                      <p:cBhvr>
                                        <p:cTn id="25" dur="1" fill="hold">
                                          <p:stCondLst>
                                            <p:cond delay="0"/>
                                          </p:stCondLst>
                                        </p:cTn>
                                        <p:tgtEl>
                                          <p:spTgt spid="43026"/>
                                        </p:tgtEl>
                                        <p:attrNameLst>
                                          <p:attrName>style.visibility</p:attrName>
                                        </p:attrNameLst>
                                      </p:cBhvr>
                                      <p:to>
                                        <p:strVal val="visible"/>
                                      </p:to>
                                    </p:set>
                                    <p:animEffect transition="in" filter="wipe(up)">
                                      <p:cBhvr>
                                        <p:cTn id="26" dur="1000"/>
                                        <p:tgtEl>
                                          <p:spTgt spid="43026"/>
                                        </p:tgtEl>
                                      </p:cBhvr>
                                    </p:animEffect>
                                  </p:childTnLst>
                                </p:cTn>
                              </p:par>
                            </p:childTnLst>
                          </p:cTn>
                        </p:par>
                        <p:par>
                          <p:cTn id="27" fill="hold" nodeType="afterGroup">
                            <p:stCondLst>
                              <p:cond delay="2000"/>
                            </p:stCondLst>
                            <p:childTnLst>
                              <p:par>
                                <p:cTn id="28" presetID="22" presetClass="entr" presetSubtype="8" fill="hold" nodeType="afterEffect">
                                  <p:stCondLst>
                                    <p:cond delay="0"/>
                                  </p:stCondLst>
                                  <p:childTnLst>
                                    <p:set>
                                      <p:cBhvr>
                                        <p:cTn id="29" dur="1" fill="hold">
                                          <p:stCondLst>
                                            <p:cond delay="0"/>
                                          </p:stCondLst>
                                        </p:cTn>
                                        <p:tgtEl>
                                          <p:spTgt spid="43018"/>
                                        </p:tgtEl>
                                        <p:attrNameLst>
                                          <p:attrName>style.visibility</p:attrName>
                                        </p:attrNameLst>
                                      </p:cBhvr>
                                      <p:to>
                                        <p:strVal val="visible"/>
                                      </p:to>
                                    </p:set>
                                    <p:animEffect transition="in" filter="wipe(left)">
                                      <p:cBhvr>
                                        <p:cTn id="30" dur="1000"/>
                                        <p:tgtEl>
                                          <p:spTgt spid="43018"/>
                                        </p:tgtEl>
                                      </p:cBhvr>
                                    </p:animEffect>
                                  </p:childTnLst>
                                </p:cTn>
                              </p:par>
                            </p:childTnLst>
                          </p:cTn>
                        </p:par>
                        <p:par>
                          <p:cTn id="31" fill="hold" nodeType="afterGroup">
                            <p:stCondLst>
                              <p:cond delay="3000"/>
                            </p:stCondLst>
                            <p:childTnLst>
                              <p:par>
                                <p:cTn id="32" presetID="22" presetClass="entr" presetSubtype="8" fill="hold" nodeType="afterEffect">
                                  <p:stCondLst>
                                    <p:cond delay="0"/>
                                  </p:stCondLst>
                                  <p:childTnLst>
                                    <p:set>
                                      <p:cBhvr>
                                        <p:cTn id="33" dur="1" fill="hold">
                                          <p:stCondLst>
                                            <p:cond delay="0"/>
                                          </p:stCondLst>
                                        </p:cTn>
                                        <p:tgtEl>
                                          <p:spTgt spid="43019"/>
                                        </p:tgtEl>
                                        <p:attrNameLst>
                                          <p:attrName>style.visibility</p:attrName>
                                        </p:attrNameLst>
                                      </p:cBhvr>
                                      <p:to>
                                        <p:strVal val="visible"/>
                                      </p:to>
                                    </p:set>
                                    <p:animEffect transition="in" filter="wipe(left)">
                                      <p:cBhvr>
                                        <p:cTn id="34" dur="1000"/>
                                        <p:tgtEl>
                                          <p:spTgt spid="43019"/>
                                        </p:tgtEl>
                                      </p:cBhvr>
                                    </p:animEffect>
                                  </p:childTnLst>
                                </p:cTn>
                              </p:par>
                            </p:childTnLst>
                          </p:cTn>
                        </p:par>
                        <p:par>
                          <p:cTn id="35" fill="hold" nodeType="afterGroup">
                            <p:stCondLst>
                              <p:cond delay="4000"/>
                            </p:stCondLst>
                            <p:childTnLst>
                              <p:par>
                                <p:cTn id="36" presetID="22" presetClass="entr" presetSubtype="8" fill="hold" nodeType="afterEffect">
                                  <p:stCondLst>
                                    <p:cond delay="0"/>
                                  </p:stCondLst>
                                  <p:childTnLst>
                                    <p:set>
                                      <p:cBhvr>
                                        <p:cTn id="37" dur="1" fill="hold">
                                          <p:stCondLst>
                                            <p:cond delay="0"/>
                                          </p:stCondLst>
                                        </p:cTn>
                                        <p:tgtEl>
                                          <p:spTgt spid="43020"/>
                                        </p:tgtEl>
                                        <p:attrNameLst>
                                          <p:attrName>style.visibility</p:attrName>
                                        </p:attrNameLst>
                                      </p:cBhvr>
                                      <p:to>
                                        <p:strVal val="visible"/>
                                      </p:to>
                                    </p:set>
                                    <p:animEffect transition="in" filter="wipe(left)">
                                      <p:cBhvr>
                                        <p:cTn id="38" dur="1000"/>
                                        <p:tgtEl>
                                          <p:spTgt spid="4302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up)">
                                      <p:cBhvr>
                                        <p:cTn id="43" dur="1000"/>
                                        <p:tgtEl>
                                          <p:spTgt spid="20"/>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1"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wipe(up)">
                                      <p:cBhvr>
                                        <p:cTn id="48"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71C5EC28-8380-ACDB-D694-13369EF51346}"/>
              </a:ext>
            </a:extLst>
          </p:cNvPr>
          <p:cNvSpPr/>
          <p:nvPr/>
        </p:nvSpPr>
        <p:spPr bwMode="auto">
          <a:xfrm>
            <a:off x="0" y="857250"/>
            <a:ext cx="5072063" cy="285750"/>
          </a:xfrm>
          <a:prstGeom prst="rect">
            <a:avLst/>
          </a:prstGeom>
          <a:solidFill>
            <a:schemeClr val="bg1">
              <a:lumMod val="95000"/>
            </a:schemeClr>
          </a:solidFill>
          <a:ln w="9525" cap="flat" cmpd="sng" algn="ctr">
            <a:noFill/>
            <a:prstDash val="solid"/>
            <a:miter lim="800000"/>
            <a:headEnd type="none" w="med" len="med"/>
            <a:tailEnd type="none" w="med" len="med"/>
          </a:ln>
          <a:effectLst/>
        </p:spPr>
        <p:txBody>
          <a:bodyPr wrap="none"/>
          <a:lstStyle/>
          <a:p>
            <a:pPr>
              <a:defRPr/>
            </a:pPr>
            <a:endParaRPr lang="zh-CN" altLang="en-US"/>
          </a:p>
        </p:txBody>
      </p:sp>
      <p:sp>
        <p:nvSpPr>
          <p:cNvPr id="41989" name="Rectangle 5">
            <a:extLst>
              <a:ext uri="{FF2B5EF4-FFF2-40B4-BE49-F238E27FC236}">
                <a16:creationId xmlns:a16="http://schemas.microsoft.com/office/drawing/2014/main" id="{40777AAA-C1A0-0F31-F7F2-C4257B53458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aphicFrame>
        <p:nvGraphicFramePr>
          <p:cNvPr id="112644" name="Object 4">
            <a:extLst>
              <a:ext uri="{FF2B5EF4-FFF2-40B4-BE49-F238E27FC236}">
                <a16:creationId xmlns:a16="http://schemas.microsoft.com/office/drawing/2014/main" id="{10858A03-11AD-DE6D-116D-F548774B3965}"/>
              </a:ext>
            </a:extLst>
          </p:cNvPr>
          <p:cNvGraphicFramePr>
            <a:graphicFrameLocks noChangeAspect="1"/>
          </p:cNvGraphicFramePr>
          <p:nvPr/>
        </p:nvGraphicFramePr>
        <p:xfrm>
          <a:off x="696913" y="357188"/>
          <a:ext cx="3624262" cy="4816475"/>
        </p:xfrm>
        <a:graphic>
          <a:graphicData uri="http://schemas.openxmlformats.org/presentationml/2006/ole">
            <mc:AlternateContent xmlns:mc="http://schemas.openxmlformats.org/markup-compatibility/2006">
              <mc:Choice xmlns:v="urn:schemas-microsoft-com:vml" Requires="v">
                <p:oleObj name="公式" r:id="rId3" imgW="1663560" imgH="2793960" progId="Equation.3">
                  <p:embed/>
                </p:oleObj>
              </mc:Choice>
              <mc:Fallback>
                <p:oleObj name="公式" r:id="rId3" imgW="1663560" imgH="279396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6913" y="357188"/>
                        <a:ext cx="3624262" cy="4816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3668" name="Object 7">
            <a:extLst>
              <a:ext uri="{FF2B5EF4-FFF2-40B4-BE49-F238E27FC236}">
                <a16:creationId xmlns:a16="http://schemas.microsoft.com/office/drawing/2014/main" id="{A075A5DC-1DEA-41A3-0E5C-B76D4E0C94A9}"/>
              </a:ext>
            </a:extLst>
          </p:cNvPr>
          <p:cNvGraphicFramePr>
            <a:graphicFrameLocks noChangeAspect="1"/>
          </p:cNvGraphicFramePr>
          <p:nvPr/>
        </p:nvGraphicFramePr>
        <p:xfrm>
          <a:off x="5072063" y="1387475"/>
          <a:ext cx="2687637" cy="3824288"/>
        </p:xfrm>
        <a:graphic>
          <a:graphicData uri="http://schemas.openxmlformats.org/presentationml/2006/ole">
            <mc:AlternateContent xmlns:mc="http://schemas.openxmlformats.org/markup-compatibility/2006">
              <mc:Choice xmlns:v="urn:schemas-microsoft-com:vml" Requires="v">
                <p:oleObj name="公式" r:id="rId5" imgW="1371600" imgH="2082600" progId="Equation.3">
                  <p:embed/>
                </p:oleObj>
              </mc:Choice>
              <mc:Fallback>
                <p:oleObj name="公式" r:id="rId5" imgW="1371600" imgH="20826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72063" y="1387475"/>
                        <a:ext cx="2687637" cy="3824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039" name="矩形 10">
            <a:extLst>
              <a:ext uri="{FF2B5EF4-FFF2-40B4-BE49-F238E27FC236}">
                <a16:creationId xmlns:a16="http://schemas.microsoft.com/office/drawing/2014/main" id="{1C7B6FA9-A169-2618-3A91-803349B79F82}"/>
              </a:ext>
            </a:extLst>
          </p:cNvPr>
          <p:cNvSpPr>
            <a:spLocks noChangeArrowheads="1"/>
          </p:cNvSpPr>
          <p:nvPr/>
        </p:nvSpPr>
        <p:spPr bwMode="auto">
          <a:xfrm>
            <a:off x="5035550" y="3044825"/>
            <a:ext cx="422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kumimoji="0" lang="en-US" altLang="zh-CN" sz="2400" i="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a:t>
            </a:r>
            <a:endParaRPr lang="zh-CN" altLang="en-US">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Rectangle 3">
            <a:extLst>
              <a:ext uri="{FF2B5EF4-FFF2-40B4-BE49-F238E27FC236}">
                <a16:creationId xmlns:a16="http://schemas.microsoft.com/office/drawing/2014/main" id="{A8C0B86A-858E-9D88-8084-78106DE10779}"/>
              </a:ext>
            </a:extLst>
          </p:cNvPr>
          <p:cNvSpPr txBox="1">
            <a:spLocks noChangeArrowheads="1"/>
          </p:cNvSpPr>
          <p:nvPr/>
        </p:nvSpPr>
        <p:spPr bwMode="auto">
          <a:xfrm>
            <a:off x="500063" y="5316538"/>
            <a:ext cx="6929437" cy="357187"/>
          </a:xfrm>
          <a:prstGeom prst="rect">
            <a:avLst/>
          </a:prstGeom>
          <a:noFill/>
          <a:ln w="9525">
            <a:noFill/>
            <a:miter lim="800000"/>
            <a:headEnd/>
            <a:tailEnd/>
          </a:ln>
        </p:spPr>
        <p:txBody>
          <a:bodyPr/>
          <a:lstStyle/>
          <a:p>
            <a:pPr marL="342900" indent="-342900">
              <a:lnSpc>
                <a:spcPct val="90000"/>
              </a:lnSpc>
              <a:spcBef>
                <a:spcPct val="20000"/>
              </a:spcBef>
              <a:buClr>
                <a:schemeClr val="folHlink"/>
              </a:buClr>
              <a:buSzPct val="60000"/>
              <a:buFont typeface="Wingdings" pitchFamily="2" charset="2"/>
              <a:buNone/>
              <a:defRPr/>
            </a:pPr>
            <a:r>
              <a:rPr kumimoji="0" lang="zh-CN" altLang="en-US" sz="2000" kern="0" dirty="0">
                <a:solidFill>
                  <a:srgbClr val="0000CC"/>
                </a:solidFill>
                <a:latin typeface="微软雅黑" pitchFamily="34" charset="-122"/>
                <a:ea typeface="微软雅黑" pitchFamily="34" charset="-122"/>
              </a:rPr>
              <a:t>可见</a:t>
            </a:r>
            <a:r>
              <a:rPr kumimoji="0" lang="zh-CN" altLang="en-US" sz="2000" b="0" kern="0" dirty="0">
                <a:solidFill>
                  <a:schemeClr val="tx1"/>
                </a:solidFill>
                <a:latin typeface="微软雅黑" pitchFamily="34" charset="-122"/>
                <a:ea typeface="微软雅黑" pitchFamily="34" charset="-122"/>
              </a:rPr>
              <a:t>，卷积码的监督矩阵</a:t>
            </a:r>
            <a:r>
              <a:rPr kumimoji="0" lang="en-US" altLang="zh-CN" sz="2000" i="1" kern="0" dirty="0">
                <a:solidFill>
                  <a:srgbClr val="FF0000"/>
                </a:solidFill>
                <a:latin typeface="微软雅黑" pitchFamily="34" charset="-122"/>
                <a:ea typeface="微软雅黑" pitchFamily="34" charset="-122"/>
              </a:rPr>
              <a:t>H </a:t>
            </a:r>
            <a:r>
              <a:rPr kumimoji="0" lang="zh-CN" altLang="en-US" sz="2000" b="0" kern="0" dirty="0">
                <a:solidFill>
                  <a:schemeClr val="tx1"/>
                </a:solidFill>
                <a:latin typeface="微软雅黑" pitchFamily="34" charset="-122"/>
                <a:ea typeface="微软雅黑" pitchFamily="34" charset="-122"/>
              </a:rPr>
              <a:t>是一个有头无尾的</a:t>
            </a:r>
            <a:r>
              <a:rPr kumimoji="0" lang="zh-CN" altLang="en-US" sz="2000" kern="0" dirty="0">
                <a:solidFill>
                  <a:schemeClr val="tx1"/>
                </a:solidFill>
                <a:latin typeface="微软雅黑" pitchFamily="34" charset="-122"/>
                <a:ea typeface="微软雅黑" pitchFamily="34" charset="-122"/>
              </a:rPr>
              <a:t>半无穷矩阵</a:t>
            </a:r>
            <a:r>
              <a:rPr kumimoji="0" lang="zh-CN" altLang="en-US" sz="2000" b="0" kern="0" dirty="0">
                <a:solidFill>
                  <a:schemeClr val="tx1"/>
                </a:solidFill>
                <a:latin typeface="微软雅黑" pitchFamily="34" charset="-122"/>
                <a:ea typeface="微软雅黑" pitchFamily="34" charset="-122"/>
              </a:rPr>
              <a:t>。</a:t>
            </a:r>
            <a:endParaRPr kumimoji="0" lang="en-US" altLang="zh-CN" sz="2000" b="0" kern="0" dirty="0">
              <a:solidFill>
                <a:schemeClr val="tx1"/>
              </a:solidFill>
              <a:latin typeface="微软雅黑" pitchFamily="34" charset="-122"/>
              <a:ea typeface="微软雅黑" pitchFamily="34" charset="-122"/>
            </a:endParaRPr>
          </a:p>
        </p:txBody>
      </p:sp>
      <p:cxnSp>
        <p:nvCxnSpPr>
          <p:cNvPr id="44041" name="直接连接符 13">
            <a:extLst>
              <a:ext uri="{FF2B5EF4-FFF2-40B4-BE49-F238E27FC236}">
                <a16:creationId xmlns:a16="http://schemas.microsoft.com/office/drawing/2014/main" id="{E2A3F40A-123F-D03C-E34D-8DC43A1BBAD8}"/>
              </a:ext>
            </a:extLst>
          </p:cNvPr>
          <p:cNvCxnSpPr>
            <a:cxnSpLocks noChangeShapeType="1"/>
          </p:cNvCxnSpPr>
          <p:nvPr/>
        </p:nvCxnSpPr>
        <p:spPr bwMode="auto">
          <a:xfrm rot="5400000">
            <a:off x="5029994" y="3515519"/>
            <a:ext cx="2427288" cy="0"/>
          </a:xfrm>
          <a:prstGeom prst="line">
            <a:avLst/>
          </a:prstGeom>
          <a:noFill/>
          <a:ln w="19050" algn="ctr">
            <a:solidFill>
              <a:srgbClr val="FF0000"/>
            </a:solidFill>
            <a:prstDash val="dash"/>
            <a:miter lim="800000"/>
            <a:headEnd/>
            <a:tailEnd/>
          </a:ln>
          <a:extLst>
            <a:ext uri="{909E8E84-426E-40DD-AFC4-6F175D3DCCD1}">
              <a14:hiddenFill xmlns:a14="http://schemas.microsoft.com/office/drawing/2010/main">
                <a:noFill/>
              </a14:hiddenFill>
            </a:ext>
          </a:extLst>
        </p:spPr>
      </p:cxnSp>
      <p:cxnSp>
        <p:nvCxnSpPr>
          <p:cNvPr id="44042" name="直接连接符 16">
            <a:extLst>
              <a:ext uri="{FF2B5EF4-FFF2-40B4-BE49-F238E27FC236}">
                <a16:creationId xmlns:a16="http://schemas.microsoft.com/office/drawing/2014/main" id="{CCF75CBA-DFB8-57F2-E300-C77D234D3611}"/>
              </a:ext>
            </a:extLst>
          </p:cNvPr>
          <p:cNvCxnSpPr>
            <a:cxnSpLocks noChangeShapeType="1"/>
          </p:cNvCxnSpPr>
          <p:nvPr/>
        </p:nvCxnSpPr>
        <p:spPr bwMode="auto">
          <a:xfrm rot="5400000">
            <a:off x="5444331" y="4315619"/>
            <a:ext cx="2428875" cy="1588"/>
          </a:xfrm>
          <a:prstGeom prst="line">
            <a:avLst/>
          </a:prstGeom>
          <a:noFill/>
          <a:ln w="19050" algn="ctr">
            <a:solidFill>
              <a:srgbClr val="FF0000"/>
            </a:solidFill>
            <a:prstDash val="dash"/>
            <a:miter lim="800000"/>
            <a:headEnd/>
            <a:tailEnd/>
          </a:ln>
          <a:extLst>
            <a:ext uri="{909E8E84-426E-40DD-AFC4-6F175D3DCCD1}">
              <a14:hiddenFill xmlns:a14="http://schemas.microsoft.com/office/drawing/2010/main">
                <a:noFill/>
              </a14:hiddenFill>
            </a:ext>
          </a:extLst>
        </p:spPr>
      </p:cxnSp>
      <p:sp>
        <p:nvSpPr>
          <p:cNvPr id="20" name="矩形 19">
            <a:extLst>
              <a:ext uri="{FF2B5EF4-FFF2-40B4-BE49-F238E27FC236}">
                <a16:creationId xmlns:a16="http://schemas.microsoft.com/office/drawing/2014/main" id="{3D2CE153-E4A5-24DD-074D-6948659137A2}"/>
              </a:ext>
            </a:extLst>
          </p:cNvPr>
          <p:cNvSpPr/>
          <p:nvPr/>
        </p:nvSpPr>
        <p:spPr>
          <a:xfrm>
            <a:off x="1285875" y="6145213"/>
            <a:ext cx="6215063" cy="368300"/>
          </a:xfrm>
          <a:prstGeom prst="rect">
            <a:avLst/>
          </a:prstGeom>
        </p:spPr>
        <p:txBody>
          <a:bodyPr>
            <a:spAutoFit/>
          </a:bodyPr>
          <a:lstStyle/>
          <a:p>
            <a:pPr marL="342900" indent="-342900">
              <a:lnSpc>
                <a:spcPct val="90000"/>
              </a:lnSpc>
              <a:spcBef>
                <a:spcPct val="20000"/>
              </a:spcBef>
              <a:buClr>
                <a:srgbClr val="3333CC"/>
              </a:buClr>
              <a:buSzPct val="60000"/>
              <a:defRPr/>
            </a:pPr>
            <a:r>
              <a:rPr kumimoji="0" lang="zh-CN" altLang="en-US" sz="2000" b="0" kern="0" dirty="0">
                <a:solidFill>
                  <a:srgbClr val="000000"/>
                </a:solidFill>
                <a:latin typeface="微软雅黑" pitchFamily="34" charset="-122"/>
                <a:ea typeface="微软雅黑" pitchFamily="34" charset="-122"/>
              </a:rPr>
              <a:t>且自</a:t>
            </a:r>
            <a:r>
              <a:rPr kumimoji="0" lang="zh-CN" altLang="en-US" sz="2000" kern="0" dirty="0">
                <a:solidFill>
                  <a:srgbClr val="000000"/>
                </a:solidFill>
                <a:latin typeface="微软雅黑" pitchFamily="34" charset="-122"/>
                <a:ea typeface="微软雅黑" pitchFamily="34" charset="-122"/>
              </a:rPr>
              <a:t>第</a:t>
            </a:r>
            <a:r>
              <a:rPr kumimoji="0" lang="en-US" altLang="zh-CN" sz="2000" kern="0" dirty="0">
                <a:solidFill>
                  <a:srgbClr val="000000"/>
                </a:solidFill>
                <a:latin typeface="微软雅黑" pitchFamily="34" charset="-122"/>
                <a:ea typeface="微软雅黑" pitchFamily="34" charset="-122"/>
              </a:rPr>
              <a:t>7</a:t>
            </a:r>
            <a:r>
              <a:rPr kumimoji="0" lang="zh-CN" altLang="en-US" sz="2000" kern="0" dirty="0">
                <a:solidFill>
                  <a:srgbClr val="000000"/>
                </a:solidFill>
                <a:latin typeface="微软雅黑" pitchFamily="34" charset="-122"/>
                <a:ea typeface="微软雅黑" pitchFamily="34" charset="-122"/>
              </a:rPr>
              <a:t>行</a:t>
            </a:r>
            <a:r>
              <a:rPr kumimoji="0" lang="zh-CN" altLang="en-US" sz="2000" b="0" kern="0" dirty="0">
                <a:solidFill>
                  <a:srgbClr val="000000"/>
                </a:solidFill>
                <a:latin typeface="微软雅黑" pitchFamily="34" charset="-122"/>
                <a:ea typeface="微软雅黑" pitchFamily="34" charset="-122"/>
              </a:rPr>
              <a:t>起，</a:t>
            </a: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每两行</a:t>
            </a:r>
            <a:r>
              <a:rPr kumimoji="0" lang="zh-CN" altLang="en-US" sz="2000" b="0" kern="0" dirty="0">
                <a:solidFill>
                  <a:srgbClr val="000000"/>
                </a:solidFill>
                <a:latin typeface="微软雅黑" pitchFamily="34" charset="-122"/>
                <a:ea typeface="微软雅黑" pitchFamily="34" charset="-122"/>
              </a:rPr>
              <a:t>的</a:t>
            </a: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左端</a:t>
            </a:r>
            <a:r>
              <a:rPr kumimoji="0" lang="zh-CN" altLang="en-US" sz="2000" kern="0" dirty="0">
                <a:solidFill>
                  <a:srgbClr val="000000"/>
                </a:solidFill>
                <a:latin typeface="微软雅黑" pitchFamily="34" charset="-122"/>
                <a:ea typeface="微软雅黑" pitchFamily="34" charset="-122"/>
              </a:rPr>
              <a:t>比</a:t>
            </a: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上两行</a:t>
            </a:r>
            <a:r>
              <a:rPr kumimoji="0" lang="zh-CN" altLang="en-US" sz="2000" b="0" kern="0" dirty="0">
                <a:solidFill>
                  <a:srgbClr val="000000"/>
                </a:solidFill>
                <a:latin typeface="微软雅黑" pitchFamily="34" charset="-122"/>
                <a:ea typeface="微软雅黑" pitchFamily="34" charset="-122"/>
              </a:rPr>
              <a:t>多了</a:t>
            </a:r>
            <a:r>
              <a:rPr kumimoji="0" lang="en-US" altLang="zh-CN" sz="2000" b="0" kern="0" dirty="0">
                <a:solidFill>
                  <a:srgbClr val="000000"/>
                </a:solidFill>
                <a:latin typeface="微软雅黑" pitchFamily="34" charset="-122"/>
                <a:ea typeface="微软雅黑" pitchFamily="34" charset="-122"/>
              </a:rPr>
              <a:t>3</a:t>
            </a:r>
            <a:r>
              <a:rPr kumimoji="0" lang="zh-CN" altLang="en-US" sz="2000" b="0" kern="0" dirty="0">
                <a:solidFill>
                  <a:srgbClr val="000000"/>
                </a:solidFill>
                <a:latin typeface="微软雅黑" pitchFamily="34" charset="-122"/>
                <a:ea typeface="微软雅黑" pitchFamily="34" charset="-122"/>
              </a:rPr>
              <a:t>个“</a:t>
            </a:r>
            <a:r>
              <a:rPr kumimoji="0" lang="en-US" altLang="zh-CN" sz="2000" b="0" kern="0" dirty="0">
                <a:solidFill>
                  <a:srgbClr val="000000"/>
                </a:solidFill>
                <a:latin typeface="微软雅黑" pitchFamily="34" charset="-122"/>
                <a:ea typeface="微软雅黑" pitchFamily="34" charset="-122"/>
              </a:rPr>
              <a:t>0”</a:t>
            </a:r>
            <a:r>
              <a:rPr kumimoji="0" lang="zh-CN" altLang="en-US" sz="2000" b="0" kern="0" dirty="0">
                <a:solidFill>
                  <a:srgbClr val="000000"/>
                </a:solidFill>
                <a:latin typeface="微软雅黑" pitchFamily="34" charset="-122"/>
                <a:ea typeface="微软雅黑" pitchFamily="34" charset="-122"/>
              </a:rPr>
              <a:t>。 </a:t>
            </a:r>
          </a:p>
        </p:txBody>
      </p:sp>
      <p:sp>
        <p:nvSpPr>
          <p:cNvPr id="21" name="矩形 20">
            <a:extLst>
              <a:ext uri="{FF2B5EF4-FFF2-40B4-BE49-F238E27FC236}">
                <a16:creationId xmlns:a16="http://schemas.microsoft.com/office/drawing/2014/main" id="{B8B87768-D45C-E5E1-8793-6A21FD2D4EDF}"/>
              </a:ext>
            </a:extLst>
          </p:cNvPr>
          <p:cNvSpPr/>
          <p:nvPr/>
        </p:nvSpPr>
        <p:spPr>
          <a:xfrm>
            <a:off x="500063" y="5715000"/>
            <a:ext cx="8429625" cy="369888"/>
          </a:xfrm>
          <a:prstGeom prst="rect">
            <a:avLst/>
          </a:prstGeom>
        </p:spPr>
        <p:txBody>
          <a:bodyPr>
            <a:spAutoFit/>
          </a:bodyPr>
          <a:lstStyle/>
          <a:p>
            <a:pPr marL="342900" indent="-342900">
              <a:lnSpc>
                <a:spcPct val="90000"/>
              </a:lnSpc>
              <a:spcBef>
                <a:spcPct val="20000"/>
              </a:spcBef>
              <a:buClr>
                <a:srgbClr val="3333CC"/>
              </a:buClr>
              <a:buSzPct val="60000"/>
              <a:defRPr/>
            </a:pPr>
            <a:r>
              <a:rPr kumimoji="0" lang="zh-CN" altLang="en-US" sz="2000" kern="0" dirty="0">
                <a:solidFill>
                  <a:srgbClr val="000000"/>
                </a:solidFill>
                <a:latin typeface="微软雅黑" pitchFamily="34" charset="-122"/>
                <a:ea typeface="微软雅黑" pitchFamily="34" charset="-122"/>
              </a:rPr>
              <a:t>此外</a:t>
            </a:r>
            <a:r>
              <a:rPr kumimoji="0" lang="zh-CN" altLang="en-US" sz="2000" b="0" kern="0" dirty="0">
                <a:solidFill>
                  <a:srgbClr val="000000"/>
                </a:solidFill>
                <a:latin typeface="微软雅黑" pitchFamily="34" charset="-122"/>
                <a:ea typeface="微软雅黑" pitchFamily="34" charset="-122"/>
              </a:rPr>
              <a:t>，该矩阵的</a:t>
            </a:r>
            <a:r>
              <a:rPr kumimoji="0" lang="zh-CN" altLang="en-US" sz="2000" kern="0" dirty="0">
                <a:solidFill>
                  <a:schemeClr val="tx1"/>
                </a:solidFill>
                <a:latin typeface="微软雅黑" pitchFamily="34" charset="-122"/>
                <a:ea typeface="微软雅黑" pitchFamily="34" charset="-122"/>
              </a:rPr>
              <a:t>每</a:t>
            </a:r>
            <a:r>
              <a:rPr kumimoji="0" lang="en-US" altLang="zh-CN" sz="2000" kern="0" dirty="0">
                <a:solidFill>
                  <a:schemeClr val="tx1"/>
                </a:solidFill>
                <a:latin typeface="微软雅黑" pitchFamily="34" charset="-122"/>
                <a:ea typeface="微软雅黑" pitchFamily="34" charset="-122"/>
              </a:rPr>
              <a:t>3</a:t>
            </a:r>
            <a:r>
              <a:rPr kumimoji="0" lang="zh-CN" altLang="en-US" sz="2000" kern="0" dirty="0">
                <a:solidFill>
                  <a:schemeClr val="tx1"/>
                </a:solidFill>
                <a:latin typeface="微软雅黑" pitchFamily="34" charset="-122"/>
                <a:ea typeface="微软雅黑" pitchFamily="34" charset="-122"/>
              </a:rPr>
              <a:t>列</a:t>
            </a:r>
            <a:r>
              <a:rPr kumimoji="0" lang="zh-CN" altLang="en-US" sz="2000" b="0" kern="0" dirty="0">
                <a:solidFill>
                  <a:srgbClr val="000000"/>
                </a:solidFill>
                <a:latin typeface="微软雅黑" pitchFamily="34" charset="-122"/>
                <a:ea typeface="微软雅黑" pitchFamily="34" charset="-122"/>
              </a:rPr>
              <a:t>的</a:t>
            </a:r>
            <a:r>
              <a:rPr kumimoji="0" lang="zh-CN" altLang="en-US" sz="2000" kern="0" dirty="0">
                <a:solidFill>
                  <a:srgbClr val="000000"/>
                </a:solidFill>
                <a:latin typeface="微软雅黑" pitchFamily="34" charset="-122"/>
                <a:ea typeface="微软雅黑" pitchFamily="34" charset="-122"/>
              </a:rPr>
              <a:t>结构相同</a:t>
            </a:r>
            <a:r>
              <a:rPr kumimoji="0" lang="zh-CN" altLang="en-US" sz="2000" b="0" kern="0" dirty="0">
                <a:solidFill>
                  <a:srgbClr val="000000"/>
                </a:solidFill>
                <a:latin typeface="微软雅黑" pitchFamily="34" charset="-122"/>
                <a:ea typeface="微软雅黑" pitchFamily="34" charset="-122"/>
              </a:rPr>
              <a:t>，只是</a:t>
            </a:r>
            <a:r>
              <a:rPr kumimoji="0" lang="zh-CN" altLang="en-US" sz="2000" kern="0" dirty="0">
                <a:solidFill>
                  <a:srgbClr val="000000"/>
                </a:solidFill>
                <a:latin typeface="微软雅黑" pitchFamily="34" charset="-122"/>
                <a:ea typeface="微软雅黑" pitchFamily="34" charset="-122"/>
              </a:rPr>
              <a:t>后</a:t>
            </a:r>
            <a:r>
              <a:rPr kumimoji="0" lang="en-US" altLang="zh-CN" sz="2000" kern="0" dirty="0">
                <a:solidFill>
                  <a:srgbClr val="000000"/>
                </a:solidFill>
                <a:latin typeface="微软雅黑" pitchFamily="34" charset="-122"/>
                <a:ea typeface="微软雅黑" pitchFamily="34" charset="-122"/>
              </a:rPr>
              <a:t>3</a:t>
            </a:r>
            <a:r>
              <a:rPr kumimoji="0" lang="zh-CN" altLang="en-US" sz="2000" kern="0" dirty="0">
                <a:solidFill>
                  <a:srgbClr val="000000"/>
                </a:solidFill>
                <a:latin typeface="微软雅黑" pitchFamily="34" charset="-122"/>
                <a:ea typeface="微软雅黑" pitchFamily="34" charset="-122"/>
              </a:rPr>
              <a:t>列</a:t>
            </a: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比</a:t>
            </a:r>
            <a:r>
              <a:rPr kumimoji="0" lang="zh-CN" altLang="en-US" sz="2000" kern="0" dirty="0">
                <a:solidFill>
                  <a:srgbClr val="000000"/>
                </a:solidFill>
                <a:latin typeface="微软雅黑" pitchFamily="34" charset="-122"/>
                <a:ea typeface="微软雅黑" pitchFamily="34" charset="-122"/>
              </a:rPr>
              <a:t>前</a:t>
            </a:r>
            <a:r>
              <a:rPr kumimoji="0" lang="en-US" altLang="zh-CN" sz="2000" kern="0" dirty="0">
                <a:solidFill>
                  <a:srgbClr val="000000"/>
                </a:solidFill>
                <a:latin typeface="微软雅黑" pitchFamily="34" charset="-122"/>
                <a:ea typeface="微软雅黑" pitchFamily="34" charset="-122"/>
              </a:rPr>
              <a:t>3</a:t>
            </a:r>
            <a:r>
              <a:rPr kumimoji="0" lang="zh-CN" altLang="en-US" sz="2000" kern="0" dirty="0">
                <a:solidFill>
                  <a:srgbClr val="000000"/>
                </a:solidFill>
                <a:latin typeface="微软雅黑" pitchFamily="34" charset="-122"/>
                <a:ea typeface="微软雅黑" pitchFamily="34" charset="-122"/>
              </a:rPr>
              <a:t>列</a:t>
            </a: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向</a:t>
            </a:r>
            <a:r>
              <a:rPr kumimoji="0" lang="zh-CN" altLang="en-US" sz="2000" kern="0" dirty="0">
                <a:solidFill>
                  <a:srgbClr val="000000"/>
                </a:solidFill>
                <a:latin typeface="微软雅黑" pitchFamily="34" charset="-122"/>
                <a:ea typeface="微软雅黑" pitchFamily="34" charset="-122"/>
              </a:rPr>
              <a:t>下移</a:t>
            </a:r>
            <a:r>
              <a:rPr kumimoji="0" lang="zh-CN" altLang="en-US" sz="2000" b="0" kern="0" dirty="0">
                <a:solidFill>
                  <a:srgbClr val="000000"/>
                </a:solidFill>
                <a:latin typeface="微软雅黑" pitchFamily="34" charset="-122"/>
                <a:ea typeface="微软雅黑" pitchFamily="34" charset="-122"/>
              </a:rPr>
              <a:t>了</a:t>
            </a:r>
            <a:r>
              <a:rPr kumimoji="0" lang="zh-CN" altLang="en-US" sz="2000" kern="0" dirty="0">
                <a:solidFill>
                  <a:srgbClr val="000000"/>
                </a:solidFill>
                <a:latin typeface="微软雅黑" pitchFamily="34" charset="-122"/>
                <a:ea typeface="微软雅黑" pitchFamily="34" charset="-122"/>
              </a:rPr>
              <a:t>两</a:t>
            </a:r>
            <a:r>
              <a:rPr kumimoji="0" lang="zh-CN" altLang="en-US" sz="2000" kern="0" dirty="0">
                <a:solidFill>
                  <a:srgbClr val="0000CC"/>
                </a:solidFill>
                <a:latin typeface="微软雅黑" pitchFamily="34" charset="-122"/>
                <a:ea typeface="微软雅黑" pitchFamily="34" charset="-122"/>
              </a:rPr>
              <a:t>行</a:t>
            </a:r>
            <a:r>
              <a:rPr kumimoji="0" lang="zh-CN" altLang="en-US" sz="2000" b="0" kern="0" dirty="0">
                <a:solidFill>
                  <a:srgbClr val="000000"/>
                </a:solidFill>
                <a:latin typeface="微软雅黑" pitchFamily="34" charset="-122"/>
                <a:ea typeface="微软雅黑" pitchFamily="34" charset="-122"/>
              </a:rPr>
              <a:t>。</a:t>
            </a:r>
          </a:p>
        </p:txBody>
      </p:sp>
      <p:cxnSp>
        <p:nvCxnSpPr>
          <p:cNvPr id="44045" name="直接连接符 22">
            <a:extLst>
              <a:ext uri="{FF2B5EF4-FFF2-40B4-BE49-F238E27FC236}">
                <a16:creationId xmlns:a16="http://schemas.microsoft.com/office/drawing/2014/main" id="{C0FCE790-B8E4-1A73-AEB6-D82D61772C92}"/>
              </a:ext>
            </a:extLst>
          </p:cNvPr>
          <p:cNvCxnSpPr>
            <a:cxnSpLocks noChangeShapeType="1"/>
          </p:cNvCxnSpPr>
          <p:nvPr/>
        </p:nvCxnSpPr>
        <p:spPr bwMode="auto">
          <a:xfrm>
            <a:off x="5786438" y="4244975"/>
            <a:ext cx="428625" cy="1588"/>
          </a:xfrm>
          <a:prstGeom prst="line">
            <a:avLst/>
          </a:prstGeom>
          <a:noFill/>
          <a:ln w="28575" algn="ctr">
            <a:solidFill>
              <a:srgbClr val="0000CC"/>
            </a:solidFill>
            <a:miter lim="800000"/>
            <a:headEnd/>
            <a:tailEnd/>
          </a:ln>
          <a:extLst>
            <a:ext uri="{909E8E84-426E-40DD-AFC4-6F175D3DCCD1}">
              <a14:hiddenFill xmlns:a14="http://schemas.microsoft.com/office/drawing/2010/main">
                <a:noFill/>
              </a14:hiddenFill>
            </a:ext>
          </a:extLst>
        </p:spPr>
      </p:cxnSp>
      <p:cxnSp>
        <p:nvCxnSpPr>
          <p:cNvPr id="44046" name="直接连接符 25">
            <a:extLst>
              <a:ext uri="{FF2B5EF4-FFF2-40B4-BE49-F238E27FC236}">
                <a16:creationId xmlns:a16="http://schemas.microsoft.com/office/drawing/2014/main" id="{9BB63817-B3A3-D23B-A1D6-78BBF6EBDBBB}"/>
              </a:ext>
            </a:extLst>
          </p:cNvPr>
          <p:cNvCxnSpPr>
            <a:cxnSpLocks noChangeShapeType="1"/>
          </p:cNvCxnSpPr>
          <p:nvPr/>
        </p:nvCxnSpPr>
        <p:spPr bwMode="auto">
          <a:xfrm>
            <a:off x="5786438" y="4687888"/>
            <a:ext cx="428625" cy="1587"/>
          </a:xfrm>
          <a:prstGeom prst="line">
            <a:avLst/>
          </a:prstGeom>
          <a:noFill/>
          <a:ln w="28575" algn="ctr">
            <a:solidFill>
              <a:srgbClr val="0000CC"/>
            </a:solidFill>
            <a:miter lim="800000"/>
            <a:headEnd/>
            <a:tailEnd/>
          </a:ln>
          <a:extLst>
            <a:ext uri="{909E8E84-426E-40DD-AFC4-6F175D3DCCD1}">
              <a14:hiddenFill xmlns:a14="http://schemas.microsoft.com/office/drawing/2010/main">
                <a:noFill/>
              </a14:hiddenFill>
            </a:ext>
          </a:extLst>
        </p:spPr>
      </p:cxnSp>
      <p:pic>
        <p:nvPicPr>
          <p:cNvPr id="44047" name="Picture 15">
            <a:extLst>
              <a:ext uri="{FF2B5EF4-FFF2-40B4-BE49-F238E27FC236}">
                <a16:creationId xmlns:a16="http://schemas.microsoft.com/office/drawing/2014/main" id="{D3A34EBE-B6C2-4B40-95D5-DDBA111621E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29188" y="403225"/>
            <a:ext cx="3357562"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12644"/>
                                        </p:tgtEl>
                                        <p:attrNameLst>
                                          <p:attrName>style.visibility</p:attrName>
                                        </p:attrNameLst>
                                      </p:cBhvr>
                                      <p:to>
                                        <p:strVal val="visible"/>
                                      </p:to>
                                    </p:set>
                                    <p:animEffect transition="in" filter="wipe(left)">
                                      <p:cBhvr>
                                        <p:cTn id="7" dur="2000"/>
                                        <p:tgtEl>
                                          <p:spTgt spid="1126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4047"/>
                                        </p:tgtEl>
                                        <p:attrNameLst>
                                          <p:attrName>style.visibility</p:attrName>
                                        </p:attrNameLst>
                                      </p:cBhvr>
                                      <p:to>
                                        <p:strVal val="visible"/>
                                      </p:to>
                                    </p:set>
                                    <p:animEffect transition="in" filter="wipe(up)">
                                      <p:cBhvr>
                                        <p:cTn id="12" dur="1000"/>
                                        <p:tgtEl>
                                          <p:spTgt spid="44047"/>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113668"/>
                                        </p:tgtEl>
                                        <p:attrNameLst>
                                          <p:attrName>style.visibility</p:attrName>
                                        </p:attrNameLst>
                                      </p:cBhvr>
                                      <p:to>
                                        <p:strVal val="visible"/>
                                      </p:to>
                                    </p:set>
                                    <p:animEffect transition="in" filter="wipe(left)">
                                      <p:cBhvr>
                                        <p:cTn id="16" dur="2000"/>
                                        <p:tgtEl>
                                          <p:spTgt spid="113668"/>
                                        </p:tgtEl>
                                      </p:cBhvr>
                                    </p:animEffect>
                                  </p:childTnLst>
                                </p:cTn>
                              </p:par>
                              <p:par>
                                <p:cTn id="17" presetID="22" presetClass="entr" presetSubtype="8" fill="hold" nodeType="withEffect">
                                  <p:stCondLst>
                                    <p:cond delay="0"/>
                                  </p:stCondLst>
                                  <p:childTnLst>
                                    <p:set>
                                      <p:cBhvr>
                                        <p:cTn id="18" dur="1" fill="hold">
                                          <p:stCondLst>
                                            <p:cond delay="0"/>
                                          </p:stCondLst>
                                        </p:cTn>
                                        <p:tgtEl>
                                          <p:spTgt spid="44039"/>
                                        </p:tgtEl>
                                        <p:attrNameLst>
                                          <p:attrName>style.visibility</p:attrName>
                                        </p:attrNameLst>
                                      </p:cBhvr>
                                      <p:to>
                                        <p:strVal val="visible"/>
                                      </p:to>
                                    </p:set>
                                    <p:animEffect transition="in" filter="wipe(left)">
                                      <p:cBhvr>
                                        <p:cTn id="19" dur="2000"/>
                                        <p:tgtEl>
                                          <p:spTgt spid="4403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up)">
                                      <p:cBhvr>
                                        <p:cTn id="24" dur="1000"/>
                                        <p:tgtEl>
                                          <p:spTgt spid="1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wipe(up)">
                                      <p:cBhvr>
                                        <p:cTn id="29" dur="1000"/>
                                        <p:tgtEl>
                                          <p:spTgt spid="21"/>
                                        </p:tgtEl>
                                      </p:cBhvr>
                                    </p:animEffect>
                                  </p:childTnLst>
                                </p:cTn>
                              </p:par>
                              <p:par>
                                <p:cTn id="30" presetID="22" presetClass="entr" presetSubtype="4" fill="hold" nodeType="withEffect">
                                  <p:stCondLst>
                                    <p:cond delay="0"/>
                                  </p:stCondLst>
                                  <p:childTnLst>
                                    <p:set>
                                      <p:cBhvr>
                                        <p:cTn id="31" dur="1" fill="hold">
                                          <p:stCondLst>
                                            <p:cond delay="0"/>
                                          </p:stCondLst>
                                        </p:cTn>
                                        <p:tgtEl>
                                          <p:spTgt spid="44041"/>
                                        </p:tgtEl>
                                        <p:attrNameLst>
                                          <p:attrName>style.visibility</p:attrName>
                                        </p:attrNameLst>
                                      </p:cBhvr>
                                      <p:to>
                                        <p:strVal val="visible"/>
                                      </p:to>
                                    </p:set>
                                    <p:animEffect transition="in" filter="wipe(down)">
                                      <p:cBhvr>
                                        <p:cTn id="32" dur="1000"/>
                                        <p:tgtEl>
                                          <p:spTgt spid="44041"/>
                                        </p:tgtEl>
                                      </p:cBhvr>
                                    </p:animEffect>
                                  </p:childTnLst>
                                </p:cTn>
                              </p:par>
                              <p:par>
                                <p:cTn id="33" presetID="22" presetClass="entr" presetSubtype="4" fill="hold" nodeType="withEffect">
                                  <p:stCondLst>
                                    <p:cond delay="0"/>
                                  </p:stCondLst>
                                  <p:childTnLst>
                                    <p:set>
                                      <p:cBhvr>
                                        <p:cTn id="34" dur="1" fill="hold">
                                          <p:stCondLst>
                                            <p:cond delay="0"/>
                                          </p:stCondLst>
                                        </p:cTn>
                                        <p:tgtEl>
                                          <p:spTgt spid="44042"/>
                                        </p:tgtEl>
                                        <p:attrNameLst>
                                          <p:attrName>style.visibility</p:attrName>
                                        </p:attrNameLst>
                                      </p:cBhvr>
                                      <p:to>
                                        <p:strVal val="visible"/>
                                      </p:to>
                                    </p:set>
                                    <p:animEffect transition="in" filter="wipe(down)">
                                      <p:cBhvr>
                                        <p:cTn id="35" dur="1000"/>
                                        <p:tgtEl>
                                          <p:spTgt spid="4404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wipe(up)">
                                      <p:cBhvr>
                                        <p:cTn id="40" dur="1000"/>
                                        <p:tgtEl>
                                          <p:spTgt spid="20"/>
                                        </p:tgtEl>
                                      </p:cBhvr>
                                    </p:animEffect>
                                  </p:childTnLst>
                                </p:cTn>
                              </p:par>
                              <p:par>
                                <p:cTn id="41" presetID="22" presetClass="entr" presetSubtype="8" fill="hold" nodeType="withEffect">
                                  <p:stCondLst>
                                    <p:cond delay="0"/>
                                  </p:stCondLst>
                                  <p:childTnLst>
                                    <p:set>
                                      <p:cBhvr>
                                        <p:cTn id="42" dur="1" fill="hold">
                                          <p:stCondLst>
                                            <p:cond delay="0"/>
                                          </p:stCondLst>
                                        </p:cTn>
                                        <p:tgtEl>
                                          <p:spTgt spid="44045"/>
                                        </p:tgtEl>
                                        <p:attrNameLst>
                                          <p:attrName>style.visibility</p:attrName>
                                        </p:attrNameLst>
                                      </p:cBhvr>
                                      <p:to>
                                        <p:strVal val="visible"/>
                                      </p:to>
                                    </p:set>
                                    <p:animEffect transition="in" filter="wipe(left)">
                                      <p:cBhvr>
                                        <p:cTn id="43" dur="1000"/>
                                        <p:tgtEl>
                                          <p:spTgt spid="44045"/>
                                        </p:tgtEl>
                                      </p:cBhvr>
                                    </p:animEffect>
                                  </p:childTnLst>
                                </p:cTn>
                              </p:par>
                              <p:par>
                                <p:cTn id="44" presetID="22" presetClass="entr" presetSubtype="8" fill="hold" nodeType="withEffect">
                                  <p:stCondLst>
                                    <p:cond delay="0"/>
                                  </p:stCondLst>
                                  <p:childTnLst>
                                    <p:set>
                                      <p:cBhvr>
                                        <p:cTn id="45" dur="1" fill="hold">
                                          <p:stCondLst>
                                            <p:cond delay="0"/>
                                          </p:stCondLst>
                                        </p:cTn>
                                        <p:tgtEl>
                                          <p:spTgt spid="44046"/>
                                        </p:tgtEl>
                                        <p:attrNameLst>
                                          <p:attrName>style.visibility</p:attrName>
                                        </p:attrNameLst>
                                      </p:cBhvr>
                                      <p:to>
                                        <p:strVal val="visible"/>
                                      </p:to>
                                    </p:set>
                                    <p:animEffect transition="in" filter="wipe(left)">
                                      <p:cBhvr>
                                        <p:cTn id="46" dur="1000"/>
                                        <p:tgtEl>
                                          <p:spTgt spid="440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9" grpId="0"/>
      <p:bldP spid="12" grpId="0"/>
      <p:bldP spid="20" grpId="0"/>
      <p:bldP spid="21"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1" name="Rectangle 3">
            <a:extLst>
              <a:ext uri="{FF2B5EF4-FFF2-40B4-BE49-F238E27FC236}">
                <a16:creationId xmlns:a16="http://schemas.microsoft.com/office/drawing/2014/main" id="{FA25B39D-CB07-C0CA-D569-042B3DF805F6}"/>
              </a:ext>
            </a:extLst>
          </p:cNvPr>
          <p:cNvSpPr>
            <a:spLocks noGrp="1" noChangeArrowheads="1"/>
          </p:cNvSpPr>
          <p:nvPr>
            <p:ph type="body" idx="1"/>
          </p:nvPr>
        </p:nvSpPr>
        <p:spPr>
          <a:xfrm>
            <a:off x="285750" y="1571625"/>
            <a:ext cx="6929438" cy="490538"/>
          </a:xfrm>
        </p:spPr>
        <p:txBody>
          <a:bodyPr/>
          <a:lstStyle/>
          <a:p>
            <a:pPr eaLnBrk="1" hangingPunct="1">
              <a:lnSpc>
                <a:spcPct val="110000"/>
              </a:lnSpc>
              <a:buFont typeface="Wingdings" panose="05000000000000000000" pitchFamily="2" charset="2"/>
              <a:buNone/>
              <a:defRPr/>
            </a:pPr>
            <a:r>
              <a:rPr lang="en-US" altLang="zh-CN" sz="2000" dirty="0">
                <a:latin typeface="Arial" charset="0"/>
                <a:ea typeface="微软雅黑" pitchFamily="34" charset="-122"/>
                <a:cs typeface="Arial" charset="0"/>
              </a:rPr>
              <a:t>	</a:t>
            </a:r>
            <a:r>
              <a:rPr lang="zh-CN" altLang="en-US" sz="2000" dirty="0">
                <a:latin typeface="Arial" charset="0"/>
                <a:ea typeface="微软雅黑" pitchFamily="34" charset="-122"/>
                <a:cs typeface="Arial" charset="0"/>
              </a:rPr>
              <a:t>这种</a:t>
            </a:r>
            <a:r>
              <a:rPr lang="zh-CN" altLang="en-US" sz="2000" b="1" dirty="0">
                <a:solidFill>
                  <a:srgbClr val="FF0000"/>
                </a:solidFill>
                <a:latin typeface="Arial" charset="0"/>
                <a:ea typeface="微软雅黑" pitchFamily="34" charset="-122"/>
                <a:cs typeface="Arial" charset="0"/>
              </a:rPr>
              <a:t>截短</a:t>
            </a:r>
            <a:r>
              <a:rPr lang="zh-CN" altLang="en-US" sz="2000" b="1" dirty="0">
                <a:solidFill>
                  <a:srgbClr val="0000CC"/>
                </a:solidFill>
                <a:latin typeface="Arial" charset="0"/>
                <a:ea typeface="微软雅黑" pitchFamily="34" charset="-122"/>
                <a:cs typeface="Arial" charset="0"/>
              </a:rPr>
              <a:t>监督矩阵</a:t>
            </a:r>
            <a:r>
              <a:rPr lang="zh-CN" altLang="en-US" sz="2000" dirty="0">
                <a:latin typeface="Arial" charset="0"/>
                <a:ea typeface="微软雅黑" pitchFamily="34" charset="-122"/>
                <a:cs typeface="Arial" charset="0"/>
              </a:rPr>
              <a:t>的</a:t>
            </a:r>
            <a:r>
              <a:rPr lang="zh-CN" altLang="en-US" sz="2000" dirty="0">
                <a:effectLst>
                  <a:outerShdw blurRad="38100" dist="38100" dir="2700000" algn="tl">
                    <a:srgbClr val="000000">
                      <a:alpha val="43137"/>
                    </a:srgbClr>
                  </a:outerShdw>
                </a:effectLst>
                <a:latin typeface="Arial" charset="0"/>
                <a:ea typeface="微软雅黑" pitchFamily="34" charset="-122"/>
                <a:cs typeface="Arial" charset="0"/>
              </a:rPr>
              <a:t>结构</a:t>
            </a:r>
            <a:r>
              <a:rPr lang="zh-CN" altLang="en-US" sz="2000" dirty="0">
                <a:latin typeface="Arial" charset="0"/>
                <a:ea typeface="微软雅黑" pitchFamily="34" charset="-122"/>
                <a:cs typeface="Arial" charset="0"/>
              </a:rPr>
              <a:t>形式如下图所示：</a:t>
            </a:r>
            <a:endParaRPr lang="zh-CN" altLang="en-US" dirty="0">
              <a:latin typeface="Arial" charset="0"/>
              <a:ea typeface="微软雅黑" pitchFamily="34" charset="-122"/>
              <a:cs typeface="Arial" charset="0"/>
            </a:endParaRPr>
          </a:p>
          <a:p>
            <a:pPr lvl="3" eaLnBrk="1" hangingPunct="1">
              <a:lnSpc>
                <a:spcPct val="110000"/>
              </a:lnSpc>
              <a:buFont typeface="Wingdings" panose="05000000000000000000" pitchFamily="2" charset="2"/>
              <a:buNone/>
              <a:defRPr/>
            </a:pPr>
            <a:endParaRPr lang="zh-CN" altLang="en-US" dirty="0">
              <a:latin typeface="Arial" charset="0"/>
              <a:ea typeface="微软雅黑" pitchFamily="34" charset="-122"/>
              <a:cs typeface="Arial" charset="0"/>
            </a:endParaRPr>
          </a:p>
          <a:p>
            <a:pPr lvl="3" eaLnBrk="1" hangingPunct="1">
              <a:lnSpc>
                <a:spcPct val="110000"/>
              </a:lnSpc>
              <a:buFont typeface="Wingdings" panose="05000000000000000000" pitchFamily="2" charset="2"/>
              <a:buNone/>
              <a:defRPr/>
            </a:pPr>
            <a:endParaRPr lang="zh-CN" altLang="en-US" dirty="0">
              <a:latin typeface="Arial" charset="0"/>
              <a:ea typeface="微软雅黑" pitchFamily="34" charset="-122"/>
              <a:cs typeface="Arial" charset="0"/>
            </a:endParaRPr>
          </a:p>
          <a:p>
            <a:pPr lvl="3" eaLnBrk="1" hangingPunct="1">
              <a:lnSpc>
                <a:spcPct val="110000"/>
              </a:lnSpc>
              <a:buFont typeface="Wingdings" panose="05000000000000000000" pitchFamily="2" charset="2"/>
              <a:buNone/>
              <a:defRPr/>
            </a:pPr>
            <a:endParaRPr lang="zh-CN" altLang="en-US" dirty="0">
              <a:latin typeface="Arial" charset="0"/>
              <a:ea typeface="微软雅黑" pitchFamily="34" charset="-122"/>
              <a:cs typeface="Arial" charset="0"/>
            </a:endParaRPr>
          </a:p>
          <a:p>
            <a:pPr eaLnBrk="1" hangingPunct="1">
              <a:lnSpc>
                <a:spcPct val="110000"/>
              </a:lnSpc>
              <a:buFont typeface="Wingdings" panose="05000000000000000000" pitchFamily="2" charset="2"/>
              <a:buNone/>
              <a:defRPr/>
            </a:pPr>
            <a:r>
              <a:rPr lang="zh-CN" altLang="en-US" sz="2000" dirty="0">
                <a:latin typeface="Arial" charset="0"/>
                <a:ea typeface="微软雅黑" pitchFamily="34" charset="-122"/>
                <a:cs typeface="Arial" charset="0"/>
              </a:rPr>
              <a:t>	</a:t>
            </a:r>
          </a:p>
        </p:txBody>
      </p:sp>
      <p:grpSp>
        <p:nvGrpSpPr>
          <p:cNvPr id="2" name="Group 33">
            <a:extLst>
              <a:ext uri="{FF2B5EF4-FFF2-40B4-BE49-F238E27FC236}">
                <a16:creationId xmlns:a16="http://schemas.microsoft.com/office/drawing/2014/main" id="{ABE35DE6-A487-DE4D-78A2-9CC7381891BB}"/>
              </a:ext>
            </a:extLst>
          </p:cNvPr>
          <p:cNvGrpSpPr>
            <a:grpSpLocks/>
          </p:cNvGrpSpPr>
          <p:nvPr/>
        </p:nvGrpSpPr>
        <p:grpSpPr bwMode="auto">
          <a:xfrm>
            <a:off x="1000125" y="2274888"/>
            <a:ext cx="5214938" cy="2511425"/>
            <a:chOff x="1604" y="1590"/>
            <a:chExt cx="2552" cy="1483"/>
          </a:xfrm>
        </p:grpSpPr>
        <p:sp>
          <p:nvSpPr>
            <p:cNvPr id="43027" name="AutoShape 5">
              <a:extLst>
                <a:ext uri="{FF2B5EF4-FFF2-40B4-BE49-F238E27FC236}">
                  <a16:creationId xmlns:a16="http://schemas.microsoft.com/office/drawing/2014/main" id="{E21BC05E-1CDA-1F6E-3306-952F299C2239}"/>
                </a:ext>
              </a:extLst>
            </p:cNvPr>
            <p:cNvSpPr>
              <a:spLocks noChangeAspect="1" noChangeArrowheads="1"/>
            </p:cNvSpPr>
            <p:nvPr/>
          </p:nvSpPr>
          <p:spPr bwMode="auto">
            <a:xfrm>
              <a:off x="1604" y="1593"/>
              <a:ext cx="2552" cy="1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solidFill>
                  <a:srgbClr val="003399"/>
                </a:solidFill>
              </a:endParaRPr>
            </a:p>
          </p:txBody>
        </p:sp>
        <p:grpSp>
          <p:nvGrpSpPr>
            <p:cNvPr id="43028" name="Group 6">
              <a:extLst>
                <a:ext uri="{FF2B5EF4-FFF2-40B4-BE49-F238E27FC236}">
                  <a16:creationId xmlns:a16="http://schemas.microsoft.com/office/drawing/2014/main" id="{9CA423D6-4913-B05B-CBE2-96EB45E65D93}"/>
                </a:ext>
              </a:extLst>
            </p:cNvPr>
            <p:cNvGrpSpPr>
              <a:grpSpLocks/>
            </p:cNvGrpSpPr>
            <p:nvPr/>
          </p:nvGrpSpPr>
          <p:grpSpPr bwMode="auto">
            <a:xfrm>
              <a:off x="2039" y="1788"/>
              <a:ext cx="506" cy="253"/>
              <a:chOff x="3604" y="11768"/>
              <a:chExt cx="832" cy="416"/>
            </a:xfrm>
          </p:grpSpPr>
          <p:sp>
            <p:nvSpPr>
              <p:cNvPr id="43052" name="Line 7">
                <a:extLst>
                  <a:ext uri="{FF2B5EF4-FFF2-40B4-BE49-F238E27FC236}">
                    <a16:creationId xmlns:a16="http://schemas.microsoft.com/office/drawing/2014/main" id="{927F12DE-2E48-AB41-F8B2-C33AFAC0C613}"/>
                  </a:ext>
                </a:extLst>
              </p:cNvPr>
              <p:cNvSpPr>
                <a:spLocks noChangeShapeType="1"/>
              </p:cNvSpPr>
              <p:nvPr/>
            </p:nvSpPr>
            <p:spPr bwMode="auto">
              <a:xfrm>
                <a:off x="3604" y="11768"/>
                <a:ext cx="83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53" name="Line 8">
                <a:extLst>
                  <a:ext uri="{FF2B5EF4-FFF2-40B4-BE49-F238E27FC236}">
                    <a16:creationId xmlns:a16="http://schemas.microsoft.com/office/drawing/2014/main" id="{8ACF0E2D-1C21-E03E-C1F2-65CB313F9997}"/>
                  </a:ext>
                </a:extLst>
              </p:cNvPr>
              <p:cNvSpPr>
                <a:spLocks noChangeShapeType="1"/>
              </p:cNvSpPr>
              <p:nvPr/>
            </p:nvSpPr>
            <p:spPr bwMode="auto">
              <a:xfrm>
                <a:off x="4436" y="11768"/>
                <a:ext cx="0" cy="41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3029" name="Group 9">
              <a:extLst>
                <a:ext uri="{FF2B5EF4-FFF2-40B4-BE49-F238E27FC236}">
                  <a16:creationId xmlns:a16="http://schemas.microsoft.com/office/drawing/2014/main" id="{BA652A24-8B33-A7A1-2567-7A89110D7D2E}"/>
                </a:ext>
              </a:extLst>
            </p:cNvPr>
            <p:cNvGrpSpPr>
              <a:grpSpLocks/>
            </p:cNvGrpSpPr>
            <p:nvPr/>
          </p:nvGrpSpPr>
          <p:grpSpPr bwMode="auto">
            <a:xfrm>
              <a:off x="2538" y="2048"/>
              <a:ext cx="505" cy="253"/>
              <a:chOff x="3604" y="11768"/>
              <a:chExt cx="832" cy="416"/>
            </a:xfrm>
          </p:grpSpPr>
          <p:sp>
            <p:nvSpPr>
              <p:cNvPr id="43050" name="Line 10">
                <a:extLst>
                  <a:ext uri="{FF2B5EF4-FFF2-40B4-BE49-F238E27FC236}">
                    <a16:creationId xmlns:a16="http://schemas.microsoft.com/office/drawing/2014/main" id="{04933E8D-E320-872E-F031-A027392DC839}"/>
                  </a:ext>
                </a:extLst>
              </p:cNvPr>
              <p:cNvSpPr>
                <a:spLocks noChangeShapeType="1"/>
              </p:cNvSpPr>
              <p:nvPr/>
            </p:nvSpPr>
            <p:spPr bwMode="auto">
              <a:xfrm>
                <a:off x="3604" y="11768"/>
                <a:ext cx="83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51" name="Line 11">
                <a:extLst>
                  <a:ext uri="{FF2B5EF4-FFF2-40B4-BE49-F238E27FC236}">
                    <a16:creationId xmlns:a16="http://schemas.microsoft.com/office/drawing/2014/main" id="{62432FF3-A7D0-1DDE-E456-120EEC14EF11}"/>
                  </a:ext>
                </a:extLst>
              </p:cNvPr>
              <p:cNvSpPr>
                <a:spLocks noChangeShapeType="1"/>
              </p:cNvSpPr>
              <p:nvPr/>
            </p:nvSpPr>
            <p:spPr bwMode="auto">
              <a:xfrm>
                <a:off x="4436" y="11768"/>
                <a:ext cx="0" cy="41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3030" name="Line 12">
              <a:extLst>
                <a:ext uri="{FF2B5EF4-FFF2-40B4-BE49-F238E27FC236}">
                  <a16:creationId xmlns:a16="http://schemas.microsoft.com/office/drawing/2014/main" id="{D638820A-68D4-19E7-0FD8-46A4F1CD49D5}"/>
                </a:ext>
              </a:extLst>
            </p:cNvPr>
            <p:cNvSpPr>
              <a:spLocks noChangeShapeType="1"/>
            </p:cNvSpPr>
            <p:nvPr/>
          </p:nvSpPr>
          <p:spPr bwMode="auto">
            <a:xfrm>
              <a:off x="3044" y="2301"/>
              <a:ext cx="50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31" name="Line 13">
              <a:extLst>
                <a:ext uri="{FF2B5EF4-FFF2-40B4-BE49-F238E27FC236}">
                  <a16:creationId xmlns:a16="http://schemas.microsoft.com/office/drawing/2014/main" id="{D83161F7-9DE1-BBD9-6749-09BFE9E34BE7}"/>
                </a:ext>
              </a:extLst>
            </p:cNvPr>
            <p:cNvSpPr>
              <a:spLocks noChangeShapeType="1"/>
            </p:cNvSpPr>
            <p:nvPr/>
          </p:nvSpPr>
          <p:spPr bwMode="auto">
            <a:xfrm>
              <a:off x="3550" y="2301"/>
              <a:ext cx="0" cy="253"/>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32" name="Line 14">
              <a:extLst>
                <a:ext uri="{FF2B5EF4-FFF2-40B4-BE49-F238E27FC236}">
                  <a16:creationId xmlns:a16="http://schemas.microsoft.com/office/drawing/2014/main" id="{580F59D1-ECE7-865D-2C9C-1259FE36A1F1}"/>
                </a:ext>
              </a:extLst>
            </p:cNvPr>
            <p:cNvSpPr>
              <a:spLocks noChangeShapeType="1"/>
            </p:cNvSpPr>
            <p:nvPr/>
          </p:nvSpPr>
          <p:spPr bwMode="auto">
            <a:xfrm>
              <a:off x="3550" y="2554"/>
              <a:ext cx="506"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33" name="Line 15">
              <a:extLst>
                <a:ext uri="{FF2B5EF4-FFF2-40B4-BE49-F238E27FC236}">
                  <a16:creationId xmlns:a16="http://schemas.microsoft.com/office/drawing/2014/main" id="{2EBB748F-7837-C7E0-5DAA-BFFA9F119DF0}"/>
                </a:ext>
              </a:extLst>
            </p:cNvPr>
            <p:cNvSpPr>
              <a:spLocks noChangeShapeType="1"/>
            </p:cNvSpPr>
            <p:nvPr/>
          </p:nvSpPr>
          <p:spPr bwMode="auto">
            <a:xfrm>
              <a:off x="4056" y="2554"/>
              <a:ext cx="0" cy="25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34" name="Line 16">
              <a:extLst>
                <a:ext uri="{FF2B5EF4-FFF2-40B4-BE49-F238E27FC236}">
                  <a16:creationId xmlns:a16="http://schemas.microsoft.com/office/drawing/2014/main" id="{950D977F-6922-1E4C-CC02-9FF3914C9028}"/>
                </a:ext>
              </a:extLst>
            </p:cNvPr>
            <p:cNvSpPr>
              <a:spLocks noChangeShapeType="1"/>
            </p:cNvSpPr>
            <p:nvPr/>
          </p:nvSpPr>
          <p:spPr bwMode="auto">
            <a:xfrm>
              <a:off x="2039" y="1788"/>
              <a:ext cx="2" cy="100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35" name="Line 17">
              <a:extLst>
                <a:ext uri="{FF2B5EF4-FFF2-40B4-BE49-F238E27FC236}">
                  <a16:creationId xmlns:a16="http://schemas.microsoft.com/office/drawing/2014/main" id="{1FF461E8-453A-0EEE-6D6D-CA6EF3F494FA}"/>
                </a:ext>
              </a:extLst>
            </p:cNvPr>
            <p:cNvSpPr>
              <a:spLocks noChangeShapeType="1"/>
            </p:cNvSpPr>
            <p:nvPr/>
          </p:nvSpPr>
          <p:spPr bwMode="auto">
            <a:xfrm flipH="1">
              <a:off x="2039" y="2807"/>
              <a:ext cx="200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36" name="Text Box 18">
              <a:extLst>
                <a:ext uri="{FF2B5EF4-FFF2-40B4-BE49-F238E27FC236}">
                  <a16:creationId xmlns:a16="http://schemas.microsoft.com/office/drawing/2014/main" id="{3E300712-2452-5CCB-6B3A-144EBED9C11A}"/>
                </a:ext>
              </a:extLst>
            </p:cNvPr>
            <p:cNvSpPr txBox="1">
              <a:spLocks noChangeArrowheads="1"/>
            </p:cNvSpPr>
            <p:nvPr/>
          </p:nvSpPr>
          <p:spPr bwMode="auto">
            <a:xfrm>
              <a:off x="1604" y="2199"/>
              <a:ext cx="451"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800" i="1">
                  <a:solidFill>
                    <a:srgbClr val="0000CC"/>
                  </a:solidFill>
                  <a:latin typeface="Times New Roman" panose="02020603050405020304" pitchFamily="18" charset="0"/>
                </a:rPr>
                <a:t>H</a:t>
              </a:r>
              <a:r>
                <a:rPr lang="en-US" altLang="zh-CN" sz="2800" baseline="-25000">
                  <a:solidFill>
                    <a:srgbClr val="FF0000"/>
                  </a:solidFill>
                  <a:latin typeface="Times New Roman" panose="02020603050405020304" pitchFamily="18" charset="0"/>
                </a:rPr>
                <a:t>1</a:t>
              </a:r>
              <a:r>
                <a:rPr lang="en-US" altLang="zh-CN" sz="2800">
                  <a:solidFill>
                    <a:srgbClr val="003399"/>
                  </a:solidFill>
                  <a:latin typeface="Times New Roman" panose="02020603050405020304" pitchFamily="18" charset="0"/>
                </a:rPr>
                <a:t> =</a:t>
              </a:r>
              <a:endParaRPr lang="en-US" altLang="zh-CN" sz="4000">
                <a:solidFill>
                  <a:srgbClr val="003399"/>
                </a:solidFill>
              </a:endParaRPr>
            </a:p>
          </p:txBody>
        </p:sp>
        <p:grpSp>
          <p:nvGrpSpPr>
            <p:cNvPr id="43037" name="Group 19">
              <a:extLst>
                <a:ext uri="{FF2B5EF4-FFF2-40B4-BE49-F238E27FC236}">
                  <a16:creationId xmlns:a16="http://schemas.microsoft.com/office/drawing/2014/main" id="{0AAC9CC9-D98A-E05F-FEF9-B6CA249968B2}"/>
                </a:ext>
              </a:extLst>
            </p:cNvPr>
            <p:cNvGrpSpPr>
              <a:grpSpLocks/>
            </p:cNvGrpSpPr>
            <p:nvPr/>
          </p:nvGrpSpPr>
          <p:grpSpPr bwMode="auto">
            <a:xfrm>
              <a:off x="2039" y="1653"/>
              <a:ext cx="506" cy="111"/>
              <a:chOff x="3604" y="11482"/>
              <a:chExt cx="833" cy="182"/>
            </a:xfrm>
          </p:grpSpPr>
          <p:sp>
            <p:nvSpPr>
              <p:cNvPr id="43048" name="Line 20">
                <a:extLst>
                  <a:ext uri="{FF2B5EF4-FFF2-40B4-BE49-F238E27FC236}">
                    <a16:creationId xmlns:a16="http://schemas.microsoft.com/office/drawing/2014/main" id="{E68253D9-DEF2-49D6-EBBB-79357485840E}"/>
                  </a:ext>
                </a:extLst>
              </p:cNvPr>
              <p:cNvSpPr>
                <a:spLocks noChangeShapeType="1"/>
              </p:cNvSpPr>
              <p:nvPr/>
            </p:nvSpPr>
            <p:spPr bwMode="auto">
              <a:xfrm flipV="1">
                <a:off x="3604" y="11482"/>
                <a:ext cx="0" cy="18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49" name="Line 21">
                <a:extLst>
                  <a:ext uri="{FF2B5EF4-FFF2-40B4-BE49-F238E27FC236}">
                    <a16:creationId xmlns:a16="http://schemas.microsoft.com/office/drawing/2014/main" id="{757F00C6-BE63-9632-2605-060C508DF7F1}"/>
                  </a:ext>
                </a:extLst>
              </p:cNvPr>
              <p:cNvSpPr>
                <a:spLocks noChangeShapeType="1"/>
              </p:cNvSpPr>
              <p:nvPr/>
            </p:nvSpPr>
            <p:spPr bwMode="auto">
              <a:xfrm flipV="1">
                <a:off x="4436" y="11482"/>
                <a:ext cx="1" cy="18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3038" name="Text Box 22">
              <a:extLst>
                <a:ext uri="{FF2B5EF4-FFF2-40B4-BE49-F238E27FC236}">
                  <a16:creationId xmlns:a16="http://schemas.microsoft.com/office/drawing/2014/main" id="{60ADE774-F759-7DC6-6EFD-604D7461C8CD}"/>
                </a:ext>
              </a:extLst>
            </p:cNvPr>
            <p:cNvSpPr txBox="1">
              <a:spLocks noChangeArrowheads="1"/>
            </p:cNvSpPr>
            <p:nvPr/>
          </p:nvSpPr>
          <p:spPr bwMode="auto">
            <a:xfrm>
              <a:off x="2213" y="1590"/>
              <a:ext cx="181"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2000" i="1">
                  <a:solidFill>
                    <a:srgbClr val="0000CC"/>
                  </a:solidFill>
                  <a:latin typeface="Arial" panose="020B0604020202020204" pitchFamily="34" charset="0"/>
                  <a:cs typeface="Arial" panose="020B0604020202020204" pitchFamily="34" charset="0"/>
                </a:rPr>
                <a:t>n</a:t>
              </a:r>
              <a:endParaRPr lang="en-US" altLang="zh-CN" sz="2000">
                <a:solidFill>
                  <a:srgbClr val="0000CC"/>
                </a:solidFill>
                <a:latin typeface="Arial" panose="020B0604020202020204" pitchFamily="34" charset="0"/>
                <a:cs typeface="Arial" panose="020B0604020202020204" pitchFamily="34" charset="0"/>
              </a:endParaRPr>
            </a:p>
          </p:txBody>
        </p:sp>
        <p:sp>
          <p:nvSpPr>
            <p:cNvPr id="43039" name="Line 23">
              <a:extLst>
                <a:ext uri="{FF2B5EF4-FFF2-40B4-BE49-F238E27FC236}">
                  <a16:creationId xmlns:a16="http://schemas.microsoft.com/office/drawing/2014/main" id="{3F001410-2E16-140D-DAAA-231A45018AC4}"/>
                </a:ext>
              </a:extLst>
            </p:cNvPr>
            <p:cNvSpPr>
              <a:spLocks noChangeShapeType="1"/>
            </p:cNvSpPr>
            <p:nvPr/>
          </p:nvSpPr>
          <p:spPr bwMode="auto">
            <a:xfrm>
              <a:off x="2364" y="1709"/>
              <a:ext cx="17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40" name="Line 24">
              <a:extLst>
                <a:ext uri="{FF2B5EF4-FFF2-40B4-BE49-F238E27FC236}">
                  <a16:creationId xmlns:a16="http://schemas.microsoft.com/office/drawing/2014/main" id="{B2E68F36-B4AC-F90E-7DF5-EE95312CD97B}"/>
                </a:ext>
              </a:extLst>
            </p:cNvPr>
            <p:cNvSpPr>
              <a:spLocks noChangeShapeType="1"/>
            </p:cNvSpPr>
            <p:nvPr/>
          </p:nvSpPr>
          <p:spPr bwMode="auto">
            <a:xfrm flipH="1">
              <a:off x="2032" y="1709"/>
              <a:ext cx="221"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41" name="Text Box 25">
              <a:extLst>
                <a:ext uri="{FF2B5EF4-FFF2-40B4-BE49-F238E27FC236}">
                  <a16:creationId xmlns:a16="http://schemas.microsoft.com/office/drawing/2014/main" id="{5F4CD87B-FA80-E6F4-6441-6B6D49570B3C}"/>
                </a:ext>
              </a:extLst>
            </p:cNvPr>
            <p:cNvSpPr txBox="1">
              <a:spLocks noChangeArrowheads="1"/>
            </p:cNvSpPr>
            <p:nvPr/>
          </p:nvSpPr>
          <p:spPr bwMode="auto">
            <a:xfrm>
              <a:off x="2622" y="1813"/>
              <a:ext cx="35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2000" i="1">
                  <a:solidFill>
                    <a:srgbClr val="0000CC"/>
                  </a:solidFill>
                  <a:latin typeface="Arial" panose="020B0604020202020204" pitchFamily="34" charset="0"/>
                  <a:cs typeface="Arial" panose="020B0604020202020204" pitchFamily="34" charset="0"/>
                </a:rPr>
                <a:t>n </a:t>
              </a:r>
              <a:r>
                <a:rPr lang="en-US" altLang="zh-CN" sz="2000">
                  <a:solidFill>
                    <a:srgbClr val="0000CC"/>
                  </a:solidFill>
                  <a:latin typeface="Arial" panose="020B0604020202020204" pitchFamily="34" charset="0"/>
                  <a:cs typeface="Arial" panose="020B0604020202020204" pitchFamily="34" charset="0"/>
                </a:rPr>
                <a:t>– </a:t>
              </a:r>
              <a:r>
                <a:rPr lang="en-US" altLang="zh-CN" sz="2000" i="1">
                  <a:solidFill>
                    <a:srgbClr val="0000CC"/>
                  </a:solidFill>
                  <a:latin typeface="Arial" panose="020B0604020202020204" pitchFamily="34" charset="0"/>
                  <a:cs typeface="Arial" panose="020B0604020202020204" pitchFamily="34" charset="0"/>
                </a:rPr>
                <a:t>k</a:t>
              </a:r>
              <a:endParaRPr lang="en-US" altLang="zh-CN" sz="2000">
                <a:solidFill>
                  <a:srgbClr val="0000CC"/>
                </a:solidFill>
                <a:latin typeface="Arial" panose="020B0604020202020204" pitchFamily="34" charset="0"/>
                <a:cs typeface="Arial" panose="020B0604020202020204" pitchFamily="34" charset="0"/>
              </a:endParaRPr>
            </a:p>
          </p:txBody>
        </p:sp>
        <p:sp>
          <p:nvSpPr>
            <p:cNvPr id="43042" name="Line 26">
              <a:extLst>
                <a:ext uri="{FF2B5EF4-FFF2-40B4-BE49-F238E27FC236}">
                  <a16:creationId xmlns:a16="http://schemas.microsoft.com/office/drawing/2014/main" id="{E4DD22F4-83F5-9D6B-2B45-D4DBFC483AAC}"/>
                </a:ext>
              </a:extLst>
            </p:cNvPr>
            <p:cNvSpPr>
              <a:spLocks noChangeShapeType="1"/>
            </p:cNvSpPr>
            <p:nvPr/>
          </p:nvSpPr>
          <p:spPr bwMode="auto">
            <a:xfrm>
              <a:off x="2719" y="1788"/>
              <a:ext cx="14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43" name="Line 27">
              <a:extLst>
                <a:ext uri="{FF2B5EF4-FFF2-40B4-BE49-F238E27FC236}">
                  <a16:creationId xmlns:a16="http://schemas.microsoft.com/office/drawing/2014/main" id="{753E9ABC-6F27-798E-88FE-43C76CC537A2}"/>
                </a:ext>
              </a:extLst>
            </p:cNvPr>
            <p:cNvSpPr>
              <a:spLocks noChangeShapeType="1"/>
            </p:cNvSpPr>
            <p:nvPr/>
          </p:nvSpPr>
          <p:spPr bwMode="auto">
            <a:xfrm>
              <a:off x="2791" y="2048"/>
              <a:ext cx="0" cy="151"/>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43044" name="Line 28">
              <a:extLst>
                <a:ext uri="{FF2B5EF4-FFF2-40B4-BE49-F238E27FC236}">
                  <a16:creationId xmlns:a16="http://schemas.microsoft.com/office/drawing/2014/main" id="{5B16A458-C876-8C3A-1F63-88AE60CD6D66}"/>
                </a:ext>
              </a:extLst>
            </p:cNvPr>
            <p:cNvSpPr>
              <a:spLocks noChangeShapeType="1"/>
            </p:cNvSpPr>
            <p:nvPr/>
          </p:nvSpPr>
          <p:spPr bwMode="auto">
            <a:xfrm>
              <a:off x="2799" y="1629"/>
              <a:ext cx="0" cy="15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45" name="Text Box 29">
              <a:extLst>
                <a:ext uri="{FF2B5EF4-FFF2-40B4-BE49-F238E27FC236}">
                  <a16:creationId xmlns:a16="http://schemas.microsoft.com/office/drawing/2014/main" id="{8C96C9A3-268C-0E7E-463A-0C66BD7EA1FC}"/>
                </a:ext>
              </a:extLst>
            </p:cNvPr>
            <p:cNvSpPr txBox="1">
              <a:spLocks noChangeArrowheads="1"/>
            </p:cNvSpPr>
            <p:nvPr/>
          </p:nvSpPr>
          <p:spPr bwMode="auto">
            <a:xfrm>
              <a:off x="2055" y="2198"/>
              <a:ext cx="620"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2000">
                  <a:solidFill>
                    <a:srgbClr val="0000CC"/>
                  </a:solidFill>
                  <a:latin typeface="Arial" panose="020B0604020202020204" pitchFamily="34" charset="0"/>
                  <a:cs typeface="Arial" panose="020B0604020202020204" pitchFamily="34" charset="0"/>
                </a:rPr>
                <a:t>(</a:t>
              </a:r>
              <a:r>
                <a:rPr lang="en-US" altLang="zh-CN" sz="2000" i="1">
                  <a:solidFill>
                    <a:srgbClr val="0000CC"/>
                  </a:solidFill>
                  <a:latin typeface="Arial" panose="020B0604020202020204" pitchFamily="34" charset="0"/>
                  <a:cs typeface="Arial" panose="020B0604020202020204" pitchFamily="34" charset="0"/>
                </a:rPr>
                <a:t>n </a:t>
              </a:r>
              <a:r>
                <a:rPr lang="en-US" altLang="zh-CN" sz="2000">
                  <a:solidFill>
                    <a:srgbClr val="0000CC"/>
                  </a:solidFill>
                  <a:latin typeface="Arial" panose="020B0604020202020204" pitchFamily="34" charset="0"/>
                  <a:cs typeface="Arial" panose="020B0604020202020204" pitchFamily="34" charset="0"/>
                </a:rPr>
                <a:t>– </a:t>
              </a:r>
              <a:r>
                <a:rPr lang="en-US" altLang="zh-CN" sz="2000" i="1">
                  <a:solidFill>
                    <a:srgbClr val="0000CC"/>
                  </a:solidFill>
                  <a:latin typeface="Arial" panose="020B0604020202020204" pitchFamily="34" charset="0"/>
                  <a:cs typeface="Arial" panose="020B0604020202020204" pitchFamily="34" charset="0"/>
                </a:rPr>
                <a:t>k</a:t>
              </a:r>
              <a:r>
                <a:rPr lang="en-US" altLang="zh-CN" sz="2000">
                  <a:solidFill>
                    <a:srgbClr val="0000CC"/>
                  </a:solidFill>
                  <a:latin typeface="Arial" panose="020B0604020202020204" pitchFamily="34" charset="0"/>
                  <a:cs typeface="Arial" panose="020B0604020202020204" pitchFamily="34" charset="0"/>
                </a:rPr>
                <a:t>)</a:t>
              </a:r>
              <a:r>
                <a:rPr lang="en-US" altLang="zh-CN" sz="2000" i="1">
                  <a:solidFill>
                    <a:srgbClr val="0000CC"/>
                  </a:solidFill>
                  <a:latin typeface="Arial" panose="020B0604020202020204" pitchFamily="34" charset="0"/>
                  <a:cs typeface="Arial" panose="020B0604020202020204" pitchFamily="34" charset="0"/>
                </a:rPr>
                <a:t>N</a:t>
              </a:r>
              <a:endParaRPr lang="en-US" altLang="zh-CN" sz="2000">
                <a:solidFill>
                  <a:srgbClr val="0000CC"/>
                </a:solidFill>
                <a:latin typeface="Arial" panose="020B0604020202020204" pitchFamily="34" charset="0"/>
                <a:cs typeface="Arial" panose="020B0604020202020204" pitchFamily="34" charset="0"/>
              </a:endParaRPr>
            </a:p>
          </p:txBody>
        </p:sp>
        <p:sp>
          <p:nvSpPr>
            <p:cNvPr id="43046" name="Line 30">
              <a:extLst>
                <a:ext uri="{FF2B5EF4-FFF2-40B4-BE49-F238E27FC236}">
                  <a16:creationId xmlns:a16="http://schemas.microsoft.com/office/drawing/2014/main" id="{0B58681A-DAF1-8EC4-F84B-D65C87B55BE9}"/>
                </a:ext>
              </a:extLst>
            </p:cNvPr>
            <p:cNvSpPr>
              <a:spLocks noChangeShapeType="1"/>
            </p:cNvSpPr>
            <p:nvPr/>
          </p:nvSpPr>
          <p:spPr bwMode="auto">
            <a:xfrm>
              <a:off x="2285" y="2380"/>
              <a:ext cx="0" cy="42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47" name="Line 31">
              <a:extLst>
                <a:ext uri="{FF2B5EF4-FFF2-40B4-BE49-F238E27FC236}">
                  <a16:creationId xmlns:a16="http://schemas.microsoft.com/office/drawing/2014/main" id="{7866173D-0882-EA47-F4EC-7ADD16720C47}"/>
                </a:ext>
              </a:extLst>
            </p:cNvPr>
            <p:cNvSpPr>
              <a:spLocks noChangeShapeType="1"/>
            </p:cNvSpPr>
            <p:nvPr/>
          </p:nvSpPr>
          <p:spPr bwMode="auto">
            <a:xfrm flipV="1">
              <a:off x="2285" y="1780"/>
              <a:ext cx="0" cy="46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5" name="矩形 34">
            <a:extLst>
              <a:ext uri="{FF2B5EF4-FFF2-40B4-BE49-F238E27FC236}">
                <a16:creationId xmlns:a16="http://schemas.microsoft.com/office/drawing/2014/main" id="{5C30147F-A205-7DCD-17EE-0DB50002533B}"/>
              </a:ext>
            </a:extLst>
          </p:cNvPr>
          <p:cNvSpPr/>
          <p:nvPr/>
        </p:nvSpPr>
        <p:spPr>
          <a:xfrm>
            <a:off x="642938" y="1100138"/>
            <a:ext cx="7858125" cy="400050"/>
          </a:xfrm>
          <a:prstGeom prst="rect">
            <a:avLst/>
          </a:prstGeom>
        </p:spPr>
        <p:txBody>
          <a:bodyPr>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因此，通常只需研究产生前 </a:t>
            </a:r>
            <a:r>
              <a:rPr kumimoji="0" lang="en-US" altLang="zh-CN" sz="2000" i="1" kern="0" dirty="0" err="1">
                <a:solidFill>
                  <a:srgbClr val="0000CC"/>
                </a:solidFill>
                <a:latin typeface="Arial" pitchFamily="34" charset="0"/>
                <a:ea typeface="微软雅黑" pitchFamily="34" charset="-122"/>
                <a:cs typeface="Arial" pitchFamily="34" charset="0"/>
              </a:rPr>
              <a:t>nN</a:t>
            </a:r>
            <a:r>
              <a:rPr kumimoji="0" lang="en-US" altLang="zh-CN" sz="2000" i="1" kern="0" dirty="0">
                <a:solidFill>
                  <a:srgbClr val="0000CC"/>
                </a:solidFill>
                <a:latin typeface="Arial" pitchFamily="34" charset="0"/>
                <a:ea typeface="微软雅黑" pitchFamily="34" charset="-122"/>
                <a:cs typeface="Arial" pitchFamily="34" charset="0"/>
              </a:rPr>
              <a:t> </a:t>
            </a:r>
            <a:r>
              <a:rPr kumimoji="0" lang="zh-CN" altLang="en-US" sz="2000" b="0" kern="0" dirty="0">
                <a:solidFill>
                  <a:srgbClr val="000000"/>
                </a:solidFill>
                <a:latin typeface="Arial" pitchFamily="34" charset="0"/>
                <a:ea typeface="微软雅黑" pitchFamily="34" charset="-122"/>
                <a:cs typeface="Arial" pitchFamily="34" charset="0"/>
              </a:rPr>
              <a:t>个码元（此例 </a:t>
            </a:r>
            <a:r>
              <a:rPr kumimoji="0" lang="en-US" altLang="zh-CN" sz="2000" i="1" kern="0" dirty="0" err="1">
                <a:solidFill>
                  <a:srgbClr val="0000CC"/>
                </a:solidFill>
                <a:latin typeface="Arial" pitchFamily="34" charset="0"/>
                <a:ea typeface="微软雅黑" pitchFamily="34" charset="-122"/>
                <a:cs typeface="Arial" pitchFamily="34" charset="0"/>
              </a:rPr>
              <a:t>nN</a:t>
            </a:r>
            <a:r>
              <a:rPr kumimoji="0" lang="en-US" altLang="zh-CN" sz="2000" i="1" kern="0" dirty="0">
                <a:solidFill>
                  <a:srgbClr val="0000CC"/>
                </a:solidFill>
                <a:latin typeface="Arial" pitchFamily="34" charset="0"/>
                <a:ea typeface="微软雅黑" pitchFamily="34" charset="-122"/>
                <a:cs typeface="Arial" pitchFamily="34" charset="0"/>
              </a:rPr>
              <a:t>=</a:t>
            </a:r>
            <a:r>
              <a:rPr kumimoji="0" lang="en-US" altLang="zh-CN" sz="2000" b="0" kern="0" dirty="0">
                <a:solidFill>
                  <a:srgbClr val="0000CC"/>
                </a:solidFill>
                <a:latin typeface="Arial" pitchFamily="34" charset="0"/>
                <a:ea typeface="微软雅黑" pitchFamily="34" charset="-122"/>
                <a:cs typeface="Arial" pitchFamily="34" charset="0"/>
              </a:rPr>
              <a:t>9</a:t>
            </a:r>
            <a:r>
              <a:rPr kumimoji="0" lang="zh-CN" altLang="en-US" sz="2000" b="0" kern="0" dirty="0">
                <a:solidFill>
                  <a:srgbClr val="000000"/>
                </a:solidFill>
                <a:latin typeface="Arial" pitchFamily="34" charset="0"/>
                <a:ea typeface="微软雅黑" pitchFamily="34" charset="-122"/>
                <a:cs typeface="Arial" pitchFamily="34" charset="0"/>
              </a:rPr>
              <a:t>）的监督矩阵。</a:t>
            </a:r>
            <a:endParaRPr lang="zh-CN" altLang="en-US" dirty="0"/>
          </a:p>
        </p:txBody>
      </p:sp>
      <p:graphicFrame>
        <p:nvGraphicFramePr>
          <p:cNvPr id="113668" name="Object 33">
            <a:extLst>
              <a:ext uri="{FF2B5EF4-FFF2-40B4-BE49-F238E27FC236}">
                <a16:creationId xmlns:a16="http://schemas.microsoft.com/office/drawing/2014/main" id="{52824F64-D826-20B1-B803-0DED0D9899AF}"/>
              </a:ext>
            </a:extLst>
          </p:cNvPr>
          <p:cNvGraphicFramePr>
            <a:graphicFrameLocks noChangeAspect="1"/>
          </p:cNvGraphicFramePr>
          <p:nvPr/>
        </p:nvGraphicFramePr>
        <p:xfrm>
          <a:off x="6143625" y="1857375"/>
          <a:ext cx="2687638" cy="3824288"/>
        </p:xfrm>
        <a:graphic>
          <a:graphicData uri="http://schemas.openxmlformats.org/presentationml/2006/ole">
            <mc:AlternateContent xmlns:mc="http://schemas.openxmlformats.org/markup-compatibility/2006">
              <mc:Choice xmlns:v="urn:schemas-microsoft-com:vml" Requires="v">
                <p:oleObj name="公式" r:id="rId2" imgW="1371600" imgH="2082600" progId="Equation.3">
                  <p:embed/>
                </p:oleObj>
              </mc:Choice>
              <mc:Fallback>
                <p:oleObj name="公式" r:id="rId2" imgW="1371600" imgH="2082600" progId="Equation.3">
                  <p:embed/>
                  <p:pic>
                    <p:nvPicPr>
                      <p:cNvPr id="0" name="Object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3625" y="1857375"/>
                        <a:ext cx="2687638" cy="3824288"/>
                      </a:xfrm>
                      <a:prstGeom prst="rect">
                        <a:avLst/>
                      </a:prstGeom>
                      <a:noFill/>
                      <a:ln w="9525">
                        <a:solidFill>
                          <a:srgbClr val="F8F8F8"/>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 name="矩形 43">
            <a:extLst>
              <a:ext uri="{FF2B5EF4-FFF2-40B4-BE49-F238E27FC236}">
                <a16:creationId xmlns:a16="http://schemas.microsoft.com/office/drawing/2014/main" id="{6F1ADD86-2799-4AE1-5B76-2F695572718F}"/>
              </a:ext>
            </a:extLst>
          </p:cNvPr>
          <p:cNvSpPr/>
          <p:nvPr/>
        </p:nvSpPr>
        <p:spPr>
          <a:xfrm>
            <a:off x="5715000" y="671513"/>
            <a:ext cx="1071563" cy="400050"/>
          </a:xfrm>
          <a:prstGeom prst="rect">
            <a:avLst/>
          </a:prstGeom>
          <a:solidFill>
            <a:schemeClr val="bg2">
              <a:lumMod val="10000"/>
              <a:lumOff val="90000"/>
            </a:schemeClr>
          </a:solidFill>
        </p:spPr>
        <p:txBody>
          <a:bodyPr>
            <a:spAutoFit/>
          </a:bodyPr>
          <a:lstStyle/>
          <a:p>
            <a:pPr>
              <a:defRPr/>
            </a:pPr>
            <a:r>
              <a:rPr kumimoji="0" lang="en-US" altLang="zh-CN" sz="2000" b="0" kern="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(3, 1, 3)</a:t>
            </a:r>
            <a:endParaRPr lang="zh-CN" altLang="en-US" sz="2000" b="0" dirty="0">
              <a:solidFill>
                <a:srgbClr val="0000CC"/>
              </a:solidFill>
              <a:effectLst>
                <a:outerShdw blurRad="38100" dist="38100" dir="2700000" algn="tl">
                  <a:srgbClr val="000000">
                    <a:alpha val="43137"/>
                  </a:srgbClr>
                </a:outerShdw>
              </a:effectLst>
            </a:endParaRPr>
          </a:p>
        </p:txBody>
      </p:sp>
      <p:cxnSp>
        <p:nvCxnSpPr>
          <p:cNvPr id="50" name="直接连接符 49">
            <a:extLst>
              <a:ext uri="{FF2B5EF4-FFF2-40B4-BE49-F238E27FC236}">
                <a16:creationId xmlns:a16="http://schemas.microsoft.com/office/drawing/2014/main" id="{708FC6A0-8799-8035-5413-DA5F7B84E3F2}"/>
              </a:ext>
            </a:extLst>
          </p:cNvPr>
          <p:cNvCxnSpPr>
            <a:cxnSpLocks noChangeShapeType="1"/>
          </p:cNvCxnSpPr>
          <p:nvPr/>
        </p:nvCxnSpPr>
        <p:spPr bwMode="auto">
          <a:xfrm>
            <a:off x="6786563" y="1928813"/>
            <a:ext cx="500062" cy="1587"/>
          </a:xfrm>
          <a:prstGeom prst="line">
            <a:avLst/>
          </a:prstGeom>
          <a:noFill/>
          <a:ln w="952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52" name="直接连接符 51">
            <a:extLst>
              <a:ext uri="{FF2B5EF4-FFF2-40B4-BE49-F238E27FC236}">
                <a16:creationId xmlns:a16="http://schemas.microsoft.com/office/drawing/2014/main" id="{EAA2A0E1-C05D-7E08-A38F-3804A175CF25}"/>
              </a:ext>
            </a:extLst>
          </p:cNvPr>
          <p:cNvCxnSpPr>
            <a:cxnSpLocks noChangeShapeType="1"/>
          </p:cNvCxnSpPr>
          <p:nvPr/>
        </p:nvCxnSpPr>
        <p:spPr bwMode="auto">
          <a:xfrm rot="5400000">
            <a:off x="6894513" y="2320925"/>
            <a:ext cx="785812" cy="1588"/>
          </a:xfrm>
          <a:prstGeom prst="line">
            <a:avLst/>
          </a:prstGeom>
          <a:noFill/>
          <a:ln w="952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59" name="直接连接符 58">
            <a:extLst>
              <a:ext uri="{FF2B5EF4-FFF2-40B4-BE49-F238E27FC236}">
                <a16:creationId xmlns:a16="http://schemas.microsoft.com/office/drawing/2014/main" id="{4FACB5F4-F20E-CA6D-D10D-B3C8838061E1}"/>
              </a:ext>
            </a:extLst>
          </p:cNvPr>
          <p:cNvCxnSpPr>
            <a:cxnSpLocks noChangeShapeType="1"/>
          </p:cNvCxnSpPr>
          <p:nvPr/>
        </p:nvCxnSpPr>
        <p:spPr bwMode="auto">
          <a:xfrm>
            <a:off x="7286625" y="2714625"/>
            <a:ext cx="444500" cy="1588"/>
          </a:xfrm>
          <a:prstGeom prst="line">
            <a:avLst/>
          </a:prstGeom>
          <a:noFill/>
          <a:ln w="952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62" name="直接连接符 61">
            <a:extLst>
              <a:ext uri="{FF2B5EF4-FFF2-40B4-BE49-F238E27FC236}">
                <a16:creationId xmlns:a16="http://schemas.microsoft.com/office/drawing/2014/main" id="{907779E3-B769-F6BC-0303-67A123B5C960}"/>
              </a:ext>
            </a:extLst>
          </p:cNvPr>
          <p:cNvCxnSpPr>
            <a:cxnSpLocks noChangeShapeType="1"/>
          </p:cNvCxnSpPr>
          <p:nvPr/>
        </p:nvCxnSpPr>
        <p:spPr bwMode="auto">
          <a:xfrm rot="5400000">
            <a:off x="7323137" y="3135313"/>
            <a:ext cx="785813" cy="1588"/>
          </a:xfrm>
          <a:prstGeom prst="line">
            <a:avLst/>
          </a:prstGeom>
          <a:noFill/>
          <a:ln w="952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63" name="直接连接符 62">
            <a:extLst>
              <a:ext uri="{FF2B5EF4-FFF2-40B4-BE49-F238E27FC236}">
                <a16:creationId xmlns:a16="http://schemas.microsoft.com/office/drawing/2014/main" id="{7A4C7356-FBA3-9A2A-75F9-AE41B39C3C08}"/>
              </a:ext>
            </a:extLst>
          </p:cNvPr>
          <p:cNvCxnSpPr>
            <a:cxnSpLocks noChangeShapeType="1"/>
          </p:cNvCxnSpPr>
          <p:nvPr/>
        </p:nvCxnSpPr>
        <p:spPr bwMode="auto">
          <a:xfrm>
            <a:off x="7727950" y="3514725"/>
            <a:ext cx="444500" cy="1588"/>
          </a:xfrm>
          <a:prstGeom prst="line">
            <a:avLst/>
          </a:prstGeom>
          <a:noFill/>
          <a:ln w="952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64" name="直接连接符 63">
            <a:extLst>
              <a:ext uri="{FF2B5EF4-FFF2-40B4-BE49-F238E27FC236}">
                <a16:creationId xmlns:a16="http://schemas.microsoft.com/office/drawing/2014/main" id="{FB9F2642-C510-DC08-3126-C7B829C6EC71}"/>
              </a:ext>
            </a:extLst>
          </p:cNvPr>
          <p:cNvCxnSpPr>
            <a:cxnSpLocks noChangeShapeType="1"/>
          </p:cNvCxnSpPr>
          <p:nvPr/>
        </p:nvCxnSpPr>
        <p:spPr bwMode="auto">
          <a:xfrm rot="5400000">
            <a:off x="7764463" y="3921125"/>
            <a:ext cx="785812" cy="1588"/>
          </a:xfrm>
          <a:prstGeom prst="line">
            <a:avLst/>
          </a:prstGeom>
          <a:noFill/>
          <a:ln w="952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66" name="直接连接符 65">
            <a:extLst>
              <a:ext uri="{FF2B5EF4-FFF2-40B4-BE49-F238E27FC236}">
                <a16:creationId xmlns:a16="http://schemas.microsoft.com/office/drawing/2014/main" id="{76E7B00B-08A9-2961-71CC-02CBDEBD45E2}"/>
              </a:ext>
            </a:extLst>
          </p:cNvPr>
          <p:cNvCxnSpPr>
            <a:cxnSpLocks noChangeShapeType="1"/>
          </p:cNvCxnSpPr>
          <p:nvPr/>
        </p:nvCxnSpPr>
        <p:spPr bwMode="auto">
          <a:xfrm>
            <a:off x="6815138" y="4357688"/>
            <a:ext cx="1357312" cy="1587"/>
          </a:xfrm>
          <a:prstGeom prst="line">
            <a:avLst/>
          </a:prstGeom>
          <a:noFill/>
          <a:ln w="952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68" name="直接连接符 67">
            <a:extLst>
              <a:ext uri="{FF2B5EF4-FFF2-40B4-BE49-F238E27FC236}">
                <a16:creationId xmlns:a16="http://schemas.microsoft.com/office/drawing/2014/main" id="{5381DEEB-4678-6946-EFEE-898C666954AC}"/>
              </a:ext>
            </a:extLst>
          </p:cNvPr>
          <p:cNvCxnSpPr>
            <a:cxnSpLocks noChangeShapeType="1"/>
          </p:cNvCxnSpPr>
          <p:nvPr/>
        </p:nvCxnSpPr>
        <p:spPr bwMode="auto">
          <a:xfrm rot="5400000">
            <a:off x="6070601" y="3143250"/>
            <a:ext cx="2430462" cy="1587"/>
          </a:xfrm>
          <a:prstGeom prst="line">
            <a:avLst/>
          </a:prstGeom>
          <a:noFill/>
          <a:ln w="9525" algn="ctr">
            <a:solidFill>
              <a:srgbClr val="FF0000"/>
            </a:solidFill>
            <a:prstDash val="dash"/>
            <a:miter lim="800000"/>
            <a:headEnd/>
            <a:tailEnd/>
          </a:ln>
          <a:extLst>
            <a:ext uri="{909E8E84-426E-40DD-AFC4-6F175D3DCCD1}">
              <a14:hiddenFill xmlns:a14="http://schemas.microsoft.com/office/drawing/2010/main">
                <a:noFill/>
              </a14:hiddenFill>
            </a:ext>
          </a:extLst>
        </p:spPr>
      </p:cxnSp>
      <p:cxnSp>
        <p:nvCxnSpPr>
          <p:cNvPr id="70" name="直接连接符 69">
            <a:extLst>
              <a:ext uri="{FF2B5EF4-FFF2-40B4-BE49-F238E27FC236}">
                <a16:creationId xmlns:a16="http://schemas.microsoft.com/office/drawing/2014/main" id="{AC9B3CE8-3551-B74B-23FD-D348572F17FF}"/>
              </a:ext>
            </a:extLst>
          </p:cNvPr>
          <p:cNvCxnSpPr>
            <a:cxnSpLocks noChangeShapeType="1"/>
          </p:cNvCxnSpPr>
          <p:nvPr/>
        </p:nvCxnSpPr>
        <p:spPr bwMode="auto">
          <a:xfrm rot="5400000">
            <a:off x="6906419" y="3536156"/>
            <a:ext cx="1644650" cy="1588"/>
          </a:xfrm>
          <a:prstGeom prst="line">
            <a:avLst/>
          </a:prstGeom>
          <a:noFill/>
          <a:ln w="9525" algn="ctr">
            <a:solidFill>
              <a:srgbClr val="FF0000"/>
            </a:solidFill>
            <a:prstDash val="dash"/>
            <a:miter lim="800000"/>
            <a:headEnd/>
            <a:tailEnd/>
          </a:ln>
          <a:extLst>
            <a:ext uri="{909E8E84-426E-40DD-AFC4-6F175D3DCCD1}">
              <a14:hiddenFill xmlns:a14="http://schemas.microsoft.com/office/drawing/2010/main">
                <a:noFill/>
              </a14:hiddenFill>
            </a:ext>
          </a:extLst>
        </p:spPr>
      </p:cxnSp>
      <p:sp>
        <p:nvSpPr>
          <p:cNvPr id="71" name="矩形 70">
            <a:extLst>
              <a:ext uri="{FF2B5EF4-FFF2-40B4-BE49-F238E27FC236}">
                <a16:creationId xmlns:a16="http://schemas.microsoft.com/office/drawing/2014/main" id="{92C35487-D8C6-52DA-C7AF-54B81D685545}"/>
              </a:ext>
            </a:extLst>
          </p:cNvPr>
          <p:cNvSpPr/>
          <p:nvPr/>
        </p:nvSpPr>
        <p:spPr>
          <a:xfrm>
            <a:off x="714375" y="4857750"/>
            <a:ext cx="1211263" cy="400050"/>
          </a:xfrm>
          <a:prstGeom prst="rect">
            <a:avLst/>
          </a:prstGeom>
          <a:solidFill>
            <a:schemeClr val="bg1">
              <a:lumMod val="95000"/>
            </a:schemeClr>
          </a:solidFill>
          <a:effectLst>
            <a:outerShdw blurRad="50800" dist="38100" dir="2700000" algn="tl" rotWithShape="0">
              <a:prstClr val="black">
                <a:alpha val="40000"/>
              </a:prstClr>
            </a:outerShdw>
          </a:effectLst>
        </p:spPr>
        <p:txBody>
          <a:bodyPr wrap="none">
            <a:spAutoFit/>
          </a:bodyPr>
          <a:lstStyle/>
          <a:p>
            <a:pPr>
              <a:defRPr/>
            </a:pPr>
            <a:r>
              <a:rPr kumimoji="0" lang="zh-CN" altLang="en-US" sz="2000" kern="0" dirty="0">
                <a:solidFill>
                  <a:srgbClr val="000000"/>
                </a:solidFill>
                <a:latin typeface="Arial" pitchFamily="34" charset="0"/>
                <a:ea typeface="微软雅黑" pitchFamily="34" charset="-122"/>
                <a:cs typeface="Arial" pitchFamily="34" charset="0"/>
              </a:rPr>
              <a:t>由图可见</a:t>
            </a:r>
            <a:endParaRPr lang="zh-CN" altLang="en-US" dirty="0"/>
          </a:p>
        </p:txBody>
      </p:sp>
      <p:sp>
        <p:nvSpPr>
          <p:cNvPr id="46" name="矩形 45">
            <a:extLst>
              <a:ext uri="{FF2B5EF4-FFF2-40B4-BE49-F238E27FC236}">
                <a16:creationId xmlns:a16="http://schemas.microsoft.com/office/drawing/2014/main" id="{8EF20B95-285F-A931-DAC4-F18CEE60D9FC}"/>
              </a:ext>
            </a:extLst>
          </p:cNvPr>
          <p:cNvSpPr/>
          <p:nvPr/>
        </p:nvSpPr>
        <p:spPr>
          <a:xfrm>
            <a:off x="3529013" y="700088"/>
            <a:ext cx="1211262" cy="400050"/>
          </a:xfrm>
          <a:prstGeom prst="rect">
            <a:avLst/>
          </a:prstGeom>
          <a:solidFill>
            <a:schemeClr val="bg2">
              <a:lumMod val="10000"/>
              <a:lumOff val="90000"/>
            </a:schemeClr>
          </a:solidFill>
        </p:spPr>
        <p:txBody>
          <a:bodyPr wrap="none">
            <a:spAutoFit/>
          </a:bodyPr>
          <a:lstStyle/>
          <a:p>
            <a:pPr>
              <a:defRPr/>
            </a:pPr>
            <a:r>
              <a:rPr kumimoji="0" lang="zh-CN" altLang="en-US" sz="2000" b="0" kern="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约束长度</a:t>
            </a:r>
            <a:endParaRPr lang="zh-CN" altLang="en-US" dirty="0">
              <a:solidFill>
                <a:srgbClr val="0000CC"/>
              </a:solidFill>
              <a:effectLst>
                <a:outerShdw blurRad="38100" dist="38100" dir="2700000" algn="tl">
                  <a:srgbClr val="000000">
                    <a:alpha val="43137"/>
                  </a:srgbClr>
                </a:outerShdw>
              </a:effectLst>
            </a:endParaRPr>
          </a:p>
        </p:txBody>
      </p:sp>
      <p:pic>
        <p:nvPicPr>
          <p:cNvPr id="45103" name="Picture 47">
            <a:extLst>
              <a:ext uri="{FF2B5EF4-FFF2-40B4-BE49-F238E27FC236}">
                <a16:creationId xmlns:a16="http://schemas.microsoft.com/office/drawing/2014/main" id="{D3956C77-5C82-AE3F-E472-40DCFBA6D1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2175" y="5286375"/>
            <a:ext cx="5822950"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up)">
                                      <p:cBhvr>
                                        <p:cTn id="7" dur="1000"/>
                                        <p:tgtEl>
                                          <p:spTgt spid="35"/>
                                        </p:tgtEl>
                                      </p:cBhvr>
                                    </p:animEffect>
                                  </p:childTnLst>
                                </p:cTn>
                              </p:par>
                            </p:childTnLst>
                          </p:cTn>
                        </p:par>
                        <p:par>
                          <p:cTn id="8" fill="hold" nodeType="afterGroup">
                            <p:stCondLst>
                              <p:cond delay="1000"/>
                            </p:stCondLst>
                            <p:childTnLst>
                              <p:par>
                                <p:cTn id="9" presetID="22" presetClass="entr" presetSubtype="4"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wipe(down)">
                                      <p:cBhvr>
                                        <p:cTn id="11" dur="1000"/>
                                        <p:tgtEl>
                                          <p:spTgt spid="46"/>
                                        </p:tgtEl>
                                      </p:cBhvr>
                                    </p:animEffect>
                                  </p:childTnLst>
                                </p:cTn>
                              </p:par>
                            </p:childTnLst>
                          </p:cTn>
                        </p:par>
                        <p:par>
                          <p:cTn id="12" fill="hold" nodeType="afterGroup">
                            <p:stCondLst>
                              <p:cond delay="2000"/>
                            </p:stCondLst>
                            <p:childTnLst>
                              <p:par>
                                <p:cTn id="13" presetID="22" presetClass="entr" presetSubtype="4" fill="hold" nodeType="after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wipe(down)">
                                      <p:cBhvr>
                                        <p:cTn id="15" dur="1000"/>
                                        <p:tgtEl>
                                          <p:spTgt spid="4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50"/>
                                        </p:tgtEl>
                                        <p:attrNameLst>
                                          <p:attrName>style.visibility</p:attrName>
                                        </p:attrNameLst>
                                      </p:cBhvr>
                                      <p:to>
                                        <p:strVal val="visible"/>
                                      </p:to>
                                    </p:set>
                                    <p:animEffect transition="in" filter="wipe(left)">
                                      <p:cBhvr>
                                        <p:cTn id="20" dur="1000"/>
                                        <p:tgtEl>
                                          <p:spTgt spid="50"/>
                                        </p:tgtEl>
                                      </p:cBhvr>
                                    </p:animEffect>
                                  </p:childTnLst>
                                </p:cTn>
                              </p:par>
                            </p:childTnLst>
                          </p:cTn>
                        </p:par>
                        <p:par>
                          <p:cTn id="21" fill="hold" nodeType="afterGroup">
                            <p:stCondLst>
                              <p:cond delay="1000"/>
                            </p:stCondLst>
                            <p:childTnLst>
                              <p:par>
                                <p:cTn id="22" presetID="22" presetClass="entr" presetSubtype="1" fill="hold" nodeType="afterEffect">
                                  <p:stCondLst>
                                    <p:cond delay="0"/>
                                  </p:stCondLst>
                                  <p:childTnLst>
                                    <p:set>
                                      <p:cBhvr>
                                        <p:cTn id="23" dur="1" fill="hold">
                                          <p:stCondLst>
                                            <p:cond delay="0"/>
                                          </p:stCondLst>
                                        </p:cTn>
                                        <p:tgtEl>
                                          <p:spTgt spid="52"/>
                                        </p:tgtEl>
                                        <p:attrNameLst>
                                          <p:attrName>style.visibility</p:attrName>
                                        </p:attrNameLst>
                                      </p:cBhvr>
                                      <p:to>
                                        <p:strVal val="visible"/>
                                      </p:to>
                                    </p:set>
                                    <p:animEffect transition="in" filter="wipe(up)">
                                      <p:cBhvr>
                                        <p:cTn id="24" dur="1000"/>
                                        <p:tgtEl>
                                          <p:spTgt spid="52"/>
                                        </p:tgtEl>
                                      </p:cBhvr>
                                    </p:animEffect>
                                  </p:childTnLst>
                                </p:cTn>
                              </p:par>
                              <p:par>
                                <p:cTn id="25" presetID="22" presetClass="entr" presetSubtype="1" fill="hold" nodeType="withEffect">
                                  <p:stCondLst>
                                    <p:cond delay="0"/>
                                  </p:stCondLst>
                                  <p:childTnLst>
                                    <p:set>
                                      <p:cBhvr>
                                        <p:cTn id="26" dur="1" fill="hold">
                                          <p:stCondLst>
                                            <p:cond delay="0"/>
                                          </p:stCondLst>
                                        </p:cTn>
                                        <p:tgtEl>
                                          <p:spTgt spid="68"/>
                                        </p:tgtEl>
                                        <p:attrNameLst>
                                          <p:attrName>style.visibility</p:attrName>
                                        </p:attrNameLst>
                                      </p:cBhvr>
                                      <p:to>
                                        <p:strVal val="visible"/>
                                      </p:to>
                                    </p:set>
                                    <p:animEffect transition="in" filter="wipe(up)">
                                      <p:cBhvr>
                                        <p:cTn id="27" dur="1000"/>
                                        <p:tgtEl>
                                          <p:spTgt spid="68"/>
                                        </p:tgtEl>
                                      </p:cBhvr>
                                    </p:animEffect>
                                  </p:childTnLst>
                                </p:cTn>
                              </p:par>
                            </p:childTnLst>
                          </p:cTn>
                        </p:par>
                        <p:par>
                          <p:cTn id="28" fill="hold" nodeType="afterGroup">
                            <p:stCondLst>
                              <p:cond delay="2000"/>
                            </p:stCondLst>
                            <p:childTnLst>
                              <p:par>
                                <p:cTn id="29" presetID="22" presetClass="entr" presetSubtype="8" fill="hold" nodeType="afterEffect">
                                  <p:stCondLst>
                                    <p:cond delay="0"/>
                                  </p:stCondLst>
                                  <p:childTnLst>
                                    <p:set>
                                      <p:cBhvr>
                                        <p:cTn id="30" dur="1" fill="hold">
                                          <p:stCondLst>
                                            <p:cond delay="0"/>
                                          </p:stCondLst>
                                        </p:cTn>
                                        <p:tgtEl>
                                          <p:spTgt spid="66"/>
                                        </p:tgtEl>
                                        <p:attrNameLst>
                                          <p:attrName>style.visibility</p:attrName>
                                        </p:attrNameLst>
                                      </p:cBhvr>
                                      <p:to>
                                        <p:strVal val="visible"/>
                                      </p:to>
                                    </p:set>
                                    <p:animEffect transition="in" filter="wipe(left)">
                                      <p:cBhvr>
                                        <p:cTn id="31" dur="500"/>
                                        <p:tgtEl>
                                          <p:spTgt spid="66"/>
                                        </p:tgtEl>
                                      </p:cBhvr>
                                    </p:animEffect>
                                  </p:childTnLst>
                                </p:cTn>
                              </p:par>
                            </p:childTnLst>
                          </p:cTn>
                        </p:par>
                        <p:par>
                          <p:cTn id="32" fill="hold" nodeType="afterGroup">
                            <p:stCondLst>
                              <p:cond delay="2500"/>
                            </p:stCondLst>
                            <p:childTnLst>
                              <p:par>
                                <p:cTn id="33" presetID="22" presetClass="entr" presetSubtype="8" fill="hold" nodeType="afterEffect">
                                  <p:stCondLst>
                                    <p:cond delay="0"/>
                                  </p:stCondLst>
                                  <p:childTnLst>
                                    <p:set>
                                      <p:cBhvr>
                                        <p:cTn id="34" dur="1" fill="hold">
                                          <p:stCondLst>
                                            <p:cond delay="0"/>
                                          </p:stCondLst>
                                        </p:cTn>
                                        <p:tgtEl>
                                          <p:spTgt spid="59"/>
                                        </p:tgtEl>
                                        <p:attrNameLst>
                                          <p:attrName>style.visibility</p:attrName>
                                        </p:attrNameLst>
                                      </p:cBhvr>
                                      <p:to>
                                        <p:strVal val="visible"/>
                                      </p:to>
                                    </p:set>
                                    <p:animEffect transition="in" filter="wipe(left)">
                                      <p:cBhvr>
                                        <p:cTn id="35" dur="1000"/>
                                        <p:tgtEl>
                                          <p:spTgt spid="59"/>
                                        </p:tgtEl>
                                      </p:cBhvr>
                                    </p:animEffect>
                                  </p:childTnLst>
                                </p:cTn>
                              </p:par>
                            </p:childTnLst>
                          </p:cTn>
                        </p:par>
                        <p:par>
                          <p:cTn id="36" fill="hold" nodeType="afterGroup">
                            <p:stCondLst>
                              <p:cond delay="3500"/>
                            </p:stCondLst>
                            <p:childTnLst>
                              <p:par>
                                <p:cTn id="37" presetID="22" presetClass="entr" presetSubtype="1" fill="hold" nodeType="afterEffect">
                                  <p:stCondLst>
                                    <p:cond delay="0"/>
                                  </p:stCondLst>
                                  <p:childTnLst>
                                    <p:set>
                                      <p:cBhvr>
                                        <p:cTn id="38" dur="1" fill="hold">
                                          <p:stCondLst>
                                            <p:cond delay="0"/>
                                          </p:stCondLst>
                                        </p:cTn>
                                        <p:tgtEl>
                                          <p:spTgt spid="62"/>
                                        </p:tgtEl>
                                        <p:attrNameLst>
                                          <p:attrName>style.visibility</p:attrName>
                                        </p:attrNameLst>
                                      </p:cBhvr>
                                      <p:to>
                                        <p:strVal val="visible"/>
                                      </p:to>
                                    </p:set>
                                    <p:animEffect transition="in" filter="wipe(up)">
                                      <p:cBhvr>
                                        <p:cTn id="39" dur="1000"/>
                                        <p:tgtEl>
                                          <p:spTgt spid="62"/>
                                        </p:tgtEl>
                                      </p:cBhvr>
                                    </p:animEffect>
                                  </p:childTnLst>
                                </p:cTn>
                              </p:par>
                              <p:par>
                                <p:cTn id="40" presetID="22" presetClass="entr" presetSubtype="1" fill="hold" nodeType="withEffect">
                                  <p:stCondLst>
                                    <p:cond delay="0"/>
                                  </p:stCondLst>
                                  <p:childTnLst>
                                    <p:set>
                                      <p:cBhvr>
                                        <p:cTn id="41" dur="1" fill="hold">
                                          <p:stCondLst>
                                            <p:cond delay="0"/>
                                          </p:stCondLst>
                                        </p:cTn>
                                        <p:tgtEl>
                                          <p:spTgt spid="70"/>
                                        </p:tgtEl>
                                        <p:attrNameLst>
                                          <p:attrName>style.visibility</p:attrName>
                                        </p:attrNameLst>
                                      </p:cBhvr>
                                      <p:to>
                                        <p:strVal val="visible"/>
                                      </p:to>
                                    </p:set>
                                    <p:animEffect transition="in" filter="wipe(up)">
                                      <p:cBhvr>
                                        <p:cTn id="42" dur="1000"/>
                                        <p:tgtEl>
                                          <p:spTgt spid="70"/>
                                        </p:tgtEl>
                                      </p:cBhvr>
                                    </p:animEffect>
                                  </p:childTnLst>
                                </p:cTn>
                              </p:par>
                            </p:childTnLst>
                          </p:cTn>
                        </p:par>
                        <p:par>
                          <p:cTn id="43" fill="hold" nodeType="afterGroup">
                            <p:stCondLst>
                              <p:cond delay="4500"/>
                            </p:stCondLst>
                            <p:childTnLst>
                              <p:par>
                                <p:cTn id="44" presetID="22" presetClass="entr" presetSubtype="8" fill="hold" nodeType="afterEffect">
                                  <p:stCondLst>
                                    <p:cond delay="0"/>
                                  </p:stCondLst>
                                  <p:childTnLst>
                                    <p:set>
                                      <p:cBhvr>
                                        <p:cTn id="45" dur="1" fill="hold">
                                          <p:stCondLst>
                                            <p:cond delay="0"/>
                                          </p:stCondLst>
                                        </p:cTn>
                                        <p:tgtEl>
                                          <p:spTgt spid="63"/>
                                        </p:tgtEl>
                                        <p:attrNameLst>
                                          <p:attrName>style.visibility</p:attrName>
                                        </p:attrNameLst>
                                      </p:cBhvr>
                                      <p:to>
                                        <p:strVal val="visible"/>
                                      </p:to>
                                    </p:set>
                                    <p:animEffect transition="in" filter="wipe(left)">
                                      <p:cBhvr>
                                        <p:cTn id="46" dur="1000"/>
                                        <p:tgtEl>
                                          <p:spTgt spid="63"/>
                                        </p:tgtEl>
                                      </p:cBhvr>
                                    </p:animEffect>
                                  </p:childTnLst>
                                </p:cTn>
                              </p:par>
                            </p:childTnLst>
                          </p:cTn>
                        </p:par>
                        <p:par>
                          <p:cTn id="47" fill="hold" nodeType="afterGroup">
                            <p:stCondLst>
                              <p:cond delay="5500"/>
                            </p:stCondLst>
                            <p:childTnLst>
                              <p:par>
                                <p:cTn id="48" presetID="22" presetClass="entr" presetSubtype="1" fill="hold" nodeType="afterEffect">
                                  <p:stCondLst>
                                    <p:cond delay="0"/>
                                  </p:stCondLst>
                                  <p:childTnLst>
                                    <p:set>
                                      <p:cBhvr>
                                        <p:cTn id="49" dur="1" fill="hold">
                                          <p:stCondLst>
                                            <p:cond delay="0"/>
                                          </p:stCondLst>
                                        </p:cTn>
                                        <p:tgtEl>
                                          <p:spTgt spid="64"/>
                                        </p:tgtEl>
                                        <p:attrNameLst>
                                          <p:attrName>style.visibility</p:attrName>
                                        </p:attrNameLst>
                                      </p:cBhvr>
                                      <p:to>
                                        <p:strVal val="visible"/>
                                      </p:to>
                                    </p:set>
                                    <p:animEffect transition="in" filter="wipe(up)">
                                      <p:cBhvr>
                                        <p:cTn id="50" dur="1000"/>
                                        <p:tgtEl>
                                          <p:spTgt spid="6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1" fill="hold" nodeType="clickEffect">
                                  <p:stCondLst>
                                    <p:cond delay="0"/>
                                  </p:stCondLst>
                                  <p:childTnLst>
                                    <p:set>
                                      <p:cBhvr>
                                        <p:cTn id="54" dur="1" fill="hold">
                                          <p:stCondLst>
                                            <p:cond delay="0"/>
                                          </p:stCondLst>
                                        </p:cTn>
                                        <p:tgtEl>
                                          <p:spTgt spid="114691">
                                            <p:txEl>
                                              <p:pRg st="0" end="0"/>
                                            </p:txEl>
                                          </p:spTgt>
                                        </p:tgtEl>
                                        <p:attrNameLst>
                                          <p:attrName>style.visibility</p:attrName>
                                        </p:attrNameLst>
                                      </p:cBhvr>
                                      <p:to>
                                        <p:strVal val="visible"/>
                                      </p:to>
                                    </p:set>
                                    <p:animEffect transition="in" filter="wipe(up)">
                                      <p:cBhvr>
                                        <p:cTn id="55" dur="1000"/>
                                        <p:tgtEl>
                                          <p:spTgt spid="114691">
                                            <p:txEl>
                                              <p:pRg st="0" end="0"/>
                                            </p:txEl>
                                          </p:spTgt>
                                        </p:tgtEl>
                                      </p:cBhvr>
                                    </p:animEffect>
                                  </p:childTnLst>
                                </p:cTn>
                              </p:par>
                            </p:childTnLst>
                          </p:cTn>
                        </p:par>
                        <p:par>
                          <p:cTn id="56" fill="hold" nodeType="afterGroup">
                            <p:stCondLst>
                              <p:cond delay="1000"/>
                            </p:stCondLst>
                            <p:childTnLst>
                              <p:par>
                                <p:cTn id="57" presetID="22" presetClass="entr" presetSubtype="8" fill="hold" nodeType="afterEffect">
                                  <p:stCondLst>
                                    <p:cond delay="0"/>
                                  </p:stCondLst>
                                  <p:childTnLst>
                                    <p:set>
                                      <p:cBhvr>
                                        <p:cTn id="58" dur="1" fill="hold">
                                          <p:stCondLst>
                                            <p:cond delay="0"/>
                                          </p:stCondLst>
                                        </p:cTn>
                                        <p:tgtEl>
                                          <p:spTgt spid="2"/>
                                        </p:tgtEl>
                                        <p:attrNameLst>
                                          <p:attrName>style.visibility</p:attrName>
                                        </p:attrNameLst>
                                      </p:cBhvr>
                                      <p:to>
                                        <p:strVal val="visible"/>
                                      </p:to>
                                    </p:set>
                                    <p:animEffect transition="in" filter="wipe(left)">
                                      <p:cBhvr>
                                        <p:cTn id="59" dur="2000"/>
                                        <p:tgtEl>
                                          <p:spTgt spid="2"/>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4" fill="hold" nodeType="clickEffect">
                                  <p:stCondLst>
                                    <p:cond delay="0"/>
                                  </p:stCondLst>
                                  <p:childTnLst>
                                    <p:set>
                                      <p:cBhvr>
                                        <p:cTn id="63" dur="1" fill="hold">
                                          <p:stCondLst>
                                            <p:cond delay="0"/>
                                          </p:stCondLst>
                                        </p:cTn>
                                        <p:tgtEl>
                                          <p:spTgt spid="71"/>
                                        </p:tgtEl>
                                        <p:attrNameLst>
                                          <p:attrName>style.visibility</p:attrName>
                                        </p:attrNameLst>
                                      </p:cBhvr>
                                      <p:to>
                                        <p:strVal val="visible"/>
                                      </p:to>
                                    </p:set>
                                    <p:animEffect transition="in" filter="wipe(down)">
                                      <p:cBhvr>
                                        <p:cTn id="64" dur="500"/>
                                        <p:tgtEl>
                                          <p:spTgt spid="71"/>
                                        </p:tgtEl>
                                      </p:cBhvr>
                                    </p:animEffect>
                                  </p:childTnLst>
                                </p:cTn>
                              </p:par>
                            </p:childTnLst>
                          </p:cTn>
                        </p:par>
                        <p:par>
                          <p:cTn id="65" fill="hold" nodeType="afterGroup">
                            <p:stCondLst>
                              <p:cond delay="500"/>
                            </p:stCondLst>
                            <p:childTnLst>
                              <p:par>
                                <p:cTn id="66" presetID="22" presetClass="entr" presetSubtype="1" fill="hold" nodeType="afterEffect">
                                  <p:stCondLst>
                                    <p:cond delay="0"/>
                                  </p:stCondLst>
                                  <p:childTnLst>
                                    <p:set>
                                      <p:cBhvr>
                                        <p:cTn id="67" dur="1" fill="hold">
                                          <p:stCondLst>
                                            <p:cond delay="0"/>
                                          </p:stCondLst>
                                        </p:cTn>
                                        <p:tgtEl>
                                          <p:spTgt spid="45103"/>
                                        </p:tgtEl>
                                        <p:attrNameLst>
                                          <p:attrName>style.visibility</p:attrName>
                                        </p:attrNameLst>
                                      </p:cBhvr>
                                      <p:to>
                                        <p:strVal val="visible"/>
                                      </p:to>
                                    </p:set>
                                    <p:animEffect transition="in" filter="wipe(up)">
                                      <p:cBhvr>
                                        <p:cTn id="68" dur="1000"/>
                                        <p:tgtEl>
                                          <p:spTgt spid="45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p:bldP spid="35" grpId="0"/>
      <p:bldP spid="44" grpId="0" animBg="1"/>
      <p:bldP spid="71" grpId="0" animBg="1"/>
      <p:bldP spid="46"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5">
            <a:extLst>
              <a:ext uri="{FF2B5EF4-FFF2-40B4-BE49-F238E27FC236}">
                <a16:creationId xmlns:a16="http://schemas.microsoft.com/office/drawing/2014/main" id="{A23EF846-EFDE-504B-A3A4-8FAC8C31696C}"/>
              </a:ext>
            </a:extLst>
          </p:cNvPr>
          <p:cNvSpPr>
            <a:spLocks noChangeArrowheads="1"/>
          </p:cNvSpPr>
          <p:nvPr/>
        </p:nvSpPr>
        <p:spPr bwMode="auto">
          <a:xfrm>
            <a:off x="0" y="2743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44037" name="Rectangle 7">
            <a:extLst>
              <a:ext uri="{FF2B5EF4-FFF2-40B4-BE49-F238E27FC236}">
                <a16:creationId xmlns:a16="http://schemas.microsoft.com/office/drawing/2014/main" id="{6DC88048-0018-8530-7FE3-42606999B526}"/>
              </a:ext>
            </a:extLst>
          </p:cNvPr>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aphicFrame>
        <p:nvGraphicFramePr>
          <p:cNvPr id="115718" name="Object 6">
            <a:extLst>
              <a:ext uri="{FF2B5EF4-FFF2-40B4-BE49-F238E27FC236}">
                <a16:creationId xmlns:a16="http://schemas.microsoft.com/office/drawing/2014/main" id="{EEA5C748-9549-54E6-6193-842465114097}"/>
              </a:ext>
            </a:extLst>
          </p:cNvPr>
          <p:cNvGraphicFramePr>
            <a:graphicFrameLocks noChangeAspect="1"/>
          </p:cNvGraphicFramePr>
          <p:nvPr/>
        </p:nvGraphicFramePr>
        <p:xfrm>
          <a:off x="2357438" y="4500563"/>
          <a:ext cx="1081087" cy="798512"/>
        </p:xfrm>
        <a:graphic>
          <a:graphicData uri="http://schemas.openxmlformats.org/presentationml/2006/ole">
            <mc:AlternateContent xmlns:mc="http://schemas.openxmlformats.org/markup-compatibility/2006">
              <mc:Choice xmlns:v="urn:schemas-microsoft-com:vml" Requires="v">
                <p:oleObj name="公式" r:id="rId2" imgW="622300" imgH="457200" progId="Equation.3">
                  <p:embed/>
                </p:oleObj>
              </mc:Choice>
              <mc:Fallback>
                <p:oleObj name="公式" r:id="rId2" imgW="622300" imgH="457200"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7438" y="4500563"/>
                        <a:ext cx="1081087" cy="798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矩形 9">
            <a:extLst>
              <a:ext uri="{FF2B5EF4-FFF2-40B4-BE49-F238E27FC236}">
                <a16:creationId xmlns:a16="http://schemas.microsoft.com/office/drawing/2014/main" id="{3E0567F1-F5E4-7F02-793B-43F8D255AC58}"/>
              </a:ext>
            </a:extLst>
          </p:cNvPr>
          <p:cNvSpPr/>
          <p:nvPr/>
        </p:nvSpPr>
        <p:spPr>
          <a:xfrm>
            <a:off x="857250" y="1100138"/>
            <a:ext cx="7858125" cy="400050"/>
          </a:xfrm>
          <a:prstGeom prst="rect">
            <a:avLst/>
          </a:prstGeom>
        </p:spPr>
        <p:txBody>
          <a:bodyPr>
            <a:spAutoFit/>
          </a:bodyPr>
          <a:lstStyle/>
          <a:p>
            <a:pPr marL="342900" indent="-342900">
              <a:spcBef>
                <a:spcPct val="20000"/>
              </a:spcBef>
              <a:buClr>
                <a:srgbClr val="3333CC"/>
              </a:buClr>
              <a:buSzPct val="60000"/>
              <a:defRPr/>
            </a:pPr>
            <a:r>
              <a:rPr kumimoji="0" lang="zh-CN" altLang="en-US" sz="2000" b="0" kern="0" dirty="0">
                <a:solidFill>
                  <a:srgbClr val="000000"/>
                </a:solidFill>
                <a:latin typeface="Arial" pitchFamily="34" charset="0"/>
                <a:ea typeface="微软雅黑" pitchFamily="34" charset="-122"/>
                <a:cs typeface="Arial" pitchFamily="34" charset="0"/>
              </a:rPr>
              <a:t>此例</a:t>
            </a:r>
            <a:r>
              <a:rPr kumimoji="0" lang="en-US" altLang="zh-CN" sz="2000" b="0" kern="0" dirty="0">
                <a:solidFill>
                  <a:srgbClr val="0000CC"/>
                </a:solidFill>
                <a:latin typeface="Arial" pitchFamily="34" charset="0"/>
                <a:ea typeface="微软雅黑" pitchFamily="34" charset="-122"/>
                <a:cs typeface="Arial" pitchFamily="34" charset="0"/>
              </a:rPr>
              <a:t> </a:t>
            </a:r>
            <a:r>
              <a:rPr kumimoji="0" lang="en-US" altLang="zh-CN" sz="2000" kern="0" dirty="0">
                <a:solidFill>
                  <a:srgbClr val="0000CC"/>
                </a:solidFill>
                <a:latin typeface="Arial" pitchFamily="34" charset="0"/>
                <a:ea typeface="微软雅黑" pitchFamily="34" charset="-122"/>
                <a:cs typeface="Arial" pitchFamily="34" charset="0"/>
              </a:rPr>
              <a:t>(3, 1, 3)</a:t>
            </a:r>
            <a:r>
              <a:rPr kumimoji="0" lang="zh-CN" altLang="en-US" sz="2000" b="0" kern="0" dirty="0">
                <a:solidFill>
                  <a:srgbClr val="000000"/>
                </a:solidFill>
                <a:latin typeface="Arial" pitchFamily="34" charset="0"/>
                <a:ea typeface="微软雅黑" pitchFamily="34" charset="-122"/>
                <a:cs typeface="Arial" pitchFamily="34" charset="0"/>
              </a:rPr>
              <a:t> 码中的</a:t>
            </a:r>
            <a:r>
              <a:rPr kumimoji="0" lang="zh-CN" altLang="en-US" sz="2000" b="0" kern="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截短</a:t>
            </a:r>
            <a:r>
              <a:rPr kumimoji="0" lang="zh-CN" altLang="en-US" sz="2000" b="0" kern="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监督矩阵</a:t>
            </a:r>
            <a:r>
              <a:rPr kumimoji="0" lang="zh-CN" altLang="en-US" sz="2000" b="0" kern="0" dirty="0">
                <a:solidFill>
                  <a:srgbClr val="000000"/>
                </a:solidFill>
                <a:latin typeface="Arial" pitchFamily="34" charset="0"/>
                <a:ea typeface="微软雅黑" pitchFamily="34" charset="-122"/>
                <a:cs typeface="Arial" pitchFamily="34" charset="0"/>
              </a:rPr>
              <a:t>有如下形式：</a:t>
            </a:r>
          </a:p>
        </p:txBody>
      </p:sp>
      <p:sp>
        <p:nvSpPr>
          <p:cNvPr id="11" name="矩形 10">
            <a:extLst>
              <a:ext uri="{FF2B5EF4-FFF2-40B4-BE49-F238E27FC236}">
                <a16:creationId xmlns:a16="http://schemas.microsoft.com/office/drawing/2014/main" id="{D74C4EB5-ABDB-5BC5-9403-F70FE5FB0388}"/>
              </a:ext>
            </a:extLst>
          </p:cNvPr>
          <p:cNvSpPr/>
          <p:nvPr/>
        </p:nvSpPr>
        <p:spPr>
          <a:xfrm>
            <a:off x="928688" y="4500563"/>
            <a:ext cx="954087" cy="400050"/>
          </a:xfrm>
          <a:prstGeom prst="rect">
            <a:avLst/>
          </a:prstGeom>
        </p:spPr>
        <p:txBody>
          <a:bodyPr wrap="none">
            <a:spAutoFit/>
          </a:bodyPr>
          <a:lstStyle/>
          <a:p>
            <a:pPr marL="342900" indent="-342900">
              <a:spcBef>
                <a:spcPct val="20000"/>
              </a:spcBef>
              <a:buClr>
                <a:srgbClr val="3333CC"/>
              </a:buClr>
              <a:buSzPct val="60000"/>
              <a:defRPr/>
            </a:pPr>
            <a:r>
              <a:rPr kumimoji="0" lang="zh-CN" altLang="en-US" sz="2000" b="0" kern="0" dirty="0">
                <a:solidFill>
                  <a:srgbClr val="000000"/>
                </a:solidFill>
                <a:latin typeface="Arial" pitchFamily="34" charset="0"/>
                <a:ea typeface="微软雅黑" pitchFamily="34" charset="-122"/>
                <a:cs typeface="Arial" pitchFamily="34" charset="0"/>
              </a:rPr>
              <a:t>式中：</a:t>
            </a:r>
          </a:p>
        </p:txBody>
      </p:sp>
      <p:sp>
        <p:nvSpPr>
          <p:cNvPr id="12" name="矩形 11">
            <a:extLst>
              <a:ext uri="{FF2B5EF4-FFF2-40B4-BE49-F238E27FC236}">
                <a16:creationId xmlns:a16="http://schemas.microsoft.com/office/drawing/2014/main" id="{22DB1FF8-15B3-DB6A-9EC8-FBF11BBD509D}"/>
              </a:ext>
            </a:extLst>
          </p:cNvPr>
          <p:cNvSpPr/>
          <p:nvPr/>
        </p:nvSpPr>
        <p:spPr>
          <a:xfrm>
            <a:off x="3500438" y="4643438"/>
            <a:ext cx="2520950" cy="400050"/>
          </a:xfrm>
          <a:prstGeom prst="rect">
            <a:avLst/>
          </a:prstGeom>
        </p:spPr>
        <p:txBody>
          <a:bodyPr wrap="none">
            <a:spAutoFit/>
          </a:bodyPr>
          <a:lstStyle/>
          <a:p>
            <a:pPr>
              <a:defRPr/>
            </a:pPr>
            <a:r>
              <a:rPr kumimoji="0" lang="en-US" altLang="zh-CN" sz="2000" b="0" kern="0" dirty="0">
                <a:solidFill>
                  <a:srgbClr val="000000"/>
                </a:solidFill>
                <a:latin typeface="Arial" pitchFamily="34" charset="0"/>
                <a:ea typeface="微软雅黑" pitchFamily="34" charset="-122"/>
                <a:cs typeface="Arial" pitchFamily="34" charset="0"/>
              </a:rPr>
              <a:t>—— 2</a:t>
            </a:r>
            <a:r>
              <a:rPr kumimoji="0" lang="zh-CN" altLang="en-US" sz="2000" b="0" kern="0" dirty="0">
                <a:solidFill>
                  <a:srgbClr val="000000"/>
                </a:solidFill>
                <a:latin typeface="Arial" pitchFamily="34" charset="0"/>
                <a:ea typeface="微软雅黑" pitchFamily="34" charset="-122"/>
                <a:cs typeface="Arial" pitchFamily="34" charset="0"/>
              </a:rPr>
              <a:t>阶单位方阵； </a:t>
            </a:r>
            <a:endParaRPr lang="zh-CN" altLang="en-US" dirty="0"/>
          </a:p>
        </p:txBody>
      </p:sp>
      <p:sp>
        <p:nvSpPr>
          <p:cNvPr id="13" name="矩形 12">
            <a:extLst>
              <a:ext uri="{FF2B5EF4-FFF2-40B4-BE49-F238E27FC236}">
                <a16:creationId xmlns:a16="http://schemas.microsoft.com/office/drawing/2014/main" id="{CC26E0E5-3B96-B272-C3D0-5FCB615C0E73}"/>
              </a:ext>
            </a:extLst>
          </p:cNvPr>
          <p:cNvSpPr/>
          <p:nvPr/>
        </p:nvSpPr>
        <p:spPr>
          <a:xfrm>
            <a:off x="2314575" y="5429250"/>
            <a:ext cx="4286250" cy="400050"/>
          </a:xfrm>
          <a:prstGeom prst="rect">
            <a:avLst/>
          </a:prstGeom>
        </p:spPr>
        <p:txBody>
          <a:bodyPr>
            <a:spAutoFit/>
          </a:bodyPr>
          <a:lstStyle/>
          <a:p>
            <a:pPr>
              <a:defRPr/>
            </a:pPr>
            <a:r>
              <a:rPr kumimoji="0" lang="en-US" altLang="zh-CN" sz="2000" i="1" kern="0" dirty="0">
                <a:solidFill>
                  <a:srgbClr val="000000"/>
                </a:solidFill>
                <a:latin typeface="Arial" pitchFamily="34" charset="0"/>
                <a:ea typeface="微软雅黑" pitchFamily="34" charset="-122"/>
                <a:cs typeface="Arial" pitchFamily="34" charset="0"/>
              </a:rPr>
              <a:t>P</a:t>
            </a:r>
            <a:r>
              <a:rPr kumimoji="0" lang="en-US" altLang="zh-CN" sz="2000" b="0" i="1" kern="0" baseline="-25000" dirty="0" err="1">
                <a:solidFill>
                  <a:srgbClr val="000000"/>
                </a:solidFill>
                <a:latin typeface="Arial" pitchFamily="34" charset="0"/>
                <a:ea typeface="微软雅黑" pitchFamily="34" charset="-122"/>
                <a:cs typeface="Arial" pitchFamily="34" charset="0"/>
              </a:rPr>
              <a:t>i</a:t>
            </a:r>
            <a:r>
              <a:rPr kumimoji="0" lang="en-US" altLang="zh-CN" sz="2000" b="0" kern="0" dirty="0">
                <a:solidFill>
                  <a:srgbClr val="000000"/>
                </a:solidFill>
                <a:latin typeface="Arial" pitchFamily="34" charset="0"/>
                <a:ea typeface="微软雅黑" pitchFamily="34" charset="-122"/>
                <a:cs typeface="Arial" pitchFamily="34" charset="0"/>
              </a:rPr>
              <a:t>  —— 2 </a:t>
            </a:r>
            <a:r>
              <a:rPr kumimoji="0" lang="en-US" altLang="zh-CN" sz="2000" b="0" kern="0" dirty="0">
                <a:solidFill>
                  <a:srgbClr val="000000"/>
                </a:solidFill>
                <a:latin typeface="Arial" pitchFamily="34" charset="0"/>
                <a:ea typeface="微软雅黑" pitchFamily="34" charset="-122"/>
                <a:cs typeface="Arial" pitchFamily="34" charset="0"/>
                <a:sym typeface="Symbol" pitchFamily="18" charset="2"/>
              </a:rPr>
              <a:t></a:t>
            </a:r>
            <a:r>
              <a:rPr kumimoji="0" lang="en-US" altLang="zh-CN" sz="2000" b="0" kern="0" dirty="0">
                <a:solidFill>
                  <a:srgbClr val="000000"/>
                </a:solidFill>
                <a:latin typeface="Arial" pitchFamily="34" charset="0"/>
                <a:ea typeface="微软雅黑" pitchFamily="34" charset="-122"/>
                <a:cs typeface="Arial" pitchFamily="34" charset="0"/>
              </a:rPr>
              <a:t>1 </a:t>
            </a:r>
            <a:r>
              <a:rPr kumimoji="0" lang="zh-CN" altLang="en-US" sz="2000" b="0" kern="0" dirty="0">
                <a:solidFill>
                  <a:srgbClr val="000000"/>
                </a:solidFill>
                <a:latin typeface="Arial" pitchFamily="34" charset="0"/>
                <a:ea typeface="微软雅黑" pitchFamily="34" charset="-122"/>
                <a:cs typeface="Arial" pitchFamily="34" charset="0"/>
              </a:rPr>
              <a:t>阶矩阵，</a:t>
            </a:r>
            <a:r>
              <a:rPr kumimoji="0" lang="en-US" altLang="zh-CN" sz="2000" b="0" kern="0" dirty="0" err="1">
                <a:solidFill>
                  <a:srgbClr val="000000"/>
                </a:solidFill>
                <a:latin typeface="Arial" pitchFamily="34" charset="0"/>
                <a:ea typeface="微软雅黑" pitchFamily="34" charset="-122"/>
                <a:cs typeface="Arial" pitchFamily="34" charset="0"/>
              </a:rPr>
              <a:t>i</a:t>
            </a:r>
            <a:r>
              <a:rPr kumimoji="0" lang="en-US" altLang="zh-CN" sz="2000" b="0" kern="0" dirty="0">
                <a:solidFill>
                  <a:srgbClr val="000000"/>
                </a:solidFill>
                <a:latin typeface="Arial" pitchFamily="34" charset="0"/>
                <a:ea typeface="微软雅黑" pitchFamily="34" charset="-122"/>
                <a:cs typeface="Arial" pitchFamily="34" charset="0"/>
              </a:rPr>
              <a:t> = 1, 2, 3</a:t>
            </a:r>
            <a:r>
              <a:rPr kumimoji="0" lang="zh-CN" altLang="en-US" sz="2000" b="0" kern="0" dirty="0">
                <a:solidFill>
                  <a:srgbClr val="000000"/>
                </a:solidFill>
                <a:latin typeface="Arial" pitchFamily="34" charset="0"/>
                <a:ea typeface="微软雅黑" pitchFamily="34" charset="-122"/>
                <a:cs typeface="Arial" pitchFamily="34" charset="0"/>
              </a:rPr>
              <a:t>；</a:t>
            </a:r>
            <a:endParaRPr lang="zh-CN" altLang="en-US" dirty="0"/>
          </a:p>
        </p:txBody>
      </p:sp>
      <p:sp>
        <p:nvSpPr>
          <p:cNvPr id="14" name="矩形 13">
            <a:extLst>
              <a:ext uri="{FF2B5EF4-FFF2-40B4-BE49-F238E27FC236}">
                <a16:creationId xmlns:a16="http://schemas.microsoft.com/office/drawing/2014/main" id="{6550D67C-098F-BA3B-79FF-1B7C8EA038E5}"/>
              </a:ext>
            </a:extLst>
          </p:cNvPr>
          <p:cNvSpPr/>
          <p:nvPr/>
        </p:nvSpPr>
        <p:spPr>
          <a:xfrm>
            <a:off x="2286000" y="5929313"/>
            <a:ext cx="4714875" cy="400050"/>
          </a:xfrm>
          <a:prstGeom prst="rect">
            <a:avLst/>
          </a:prstGeom>
        </p:spPr>
        <p:txBody>
          <a:bodyPr>
            <a:spAutoFit/>
          </a:bodyPr>
          <a:lstStyle/>
          <a:p>
            <a:pPr>
              <a:defRPr/>
            </a:pPr>
            <a:r>
              <a:rPr kumimoji="0" lang="en-US" altLang="zh-CN" sz="2000" kern="0" dirty="0">
                <a:solidFill>
                  <a:srgbClr val="000000"/>
                </a:solidFill>
                <a:latin typeface="Arial" pitchFamily="34" charset="0"/>
                <a:ea typeface="微软雅黑" pitchFamily="34" charset="-122"/>
                <a:cs typeface="Arial" pitchFamily="34" charset="0"/>
              </a:rPr>
              <a:t>0</a:t>
            </a:r>
            <a:r>
              <a:rPr kumimoji="0" lang="en-US" altLang="zh-CN" sz="2000" b="0" kern="0" baseline="-25000" dirty="0">
                <a:solidFill>
                  <a:srgbClr val="000000"/>
                </a:solidFill>
                <a:latin typeface="Arial" pitchFamily="34" charset="0"/>
                <a:ea typeface="微软雅黑" pitchFamily="34" charset="-122"/>
                <a:cs typeface="Arial" pitchFamily="34" charset="0"/>
              </a:rPr>
              <a:t>2</a:t>
            </a:r>
            <a:r>
              <a:rPr kumimoji="0" lang="en-US" altLang="zh-CN" sz="2000" b="0" kern="0" dirty="0">
                <a:solidFill>
                  <a:srgbClr val="000000"/>
                </a:solidFill>
                <a:latin typeface="Arial" pitchFamily="34" charset="0"/>
                <a:ea typeface="微软雅黑" pitchFamily="34" charset="-122"/>
                <a:cs typeface="Arial" pitchFamily="34" charset="0"/>
              </a:rPr>
              <a:t> ——  2</a:t>
            </a:r>
            <a:r>
              <a:rPr kumimoji="0" lang="zh-CN" altLang="en-US" sz="2000" b="0" kern="0" dirty="0">
                <a:solidFill>
                  <a:srgbClr val="000000"/>
                </a:solidFill>
                <a:latin typeface="Arial" pitchFamily="34" charset="0"/>
                <a:ea typeface="微软雅黑" pitchFamily="34" charset="-122"/>
                <a:cs typeface="Arial" pitchFamily="34" charset="0"/>
              </a:rPr>
              <a:t>阶全零方阵。</a:t>
            </a:r>
            <a:endParaRPr lang="zh-CN" altLang="en-US" dirty="0"/>
          </a:p>
        </p:txBody>
      </p:sp>
      <p:grpSp>
        <p:nvGrpSpPr>
          <p:cNvPr id="2" name="组合 14">
            <a:extLst>
              <a:ext uri="{FF2B5EF4-FFF2-40B4-BE49-F238E27FC236}">
                <a16:creationId xmlns:a16="http://schemas.microsoft.com/office/drawing/2014/main" id="{6620853A-EDCB-AB8F-A9A0-39E767F9FDF6}"/>
              </a:ext>
            </a:extLst>
          </p:cNvPr>
          <p:cNvGrpSpPr>
            <a:grpSpLocks/>
          </p:cNvGrpSpPr>
          <p:nvPr/>
        </p:nvGrpSpPr>
        <p:grpSpPr bwMode="auto">
          <a:xfrm>
            <a:off x="2336800" y="1725613"/>
            <a:ext cx="4879975" cy="2346325"/>
            <a:chOff x="2337395" y="1725613"/>
            <a:chExt cx="4879380" cy="2346325"/>
          </a:xfrm>
        </p:grpSpPr>
        <p:graphicFrame>
          <p:nvGraphicFramePr>
            <p:cNvPr id="115716" name="Object 4">
              <a:extLst>
                <a:ext uri="{FF2B5EF4-FFF2-40B4-BE49-F238E27FC236}">
                  <a16:creationId xmlns:a16="http://schemas.microsoft.com/office/drawing/2014/main" id="{E52446C7-DADE-2008-EFF9-357C2059375E}"/>
                </a:ext>
              </a:extLst>
            </p:cNvPr>
            <p:cNvGraphicFramePr>
              <a:graphicFrameLocks noChangeAspect="1"/>
            </p:cNvGraphicFramePr>
            <p:nvPr/>
          </p:nvGraphicFramePr>
          <p:xfrm>
            <a:off x="2413000" y="1725613"/>
            <a:ext cx="4803775" cy="2346325"/>
          </p:xfrm>
          <a:graphic>
            <a:graphicData uri="http://schemas.openxmlformats.org/presentationml/2006/ole">
              <mc:AlternateContent xmlns:mc="http://schemas.openxmlformats.org/markup-compatibility/2006">
                <mc:Choice xmlns:v="urn:schemas-microsoft-com:vml" Requires="v">
                  <p:oleObj name="公式" r:id="rId4" imgW="2806560" imgH="1371600" progId="Equation.3">
                    <p:embed/>
                  </p:oleObj>
                </mc:Choice>
                <mc:Fallback>
                  <p:oleObj name="公式" r:id="rId4" imgW="2806560" imgH="13716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3000" y="1725613"/>
                          <a:ext cx="4803775" cy="2346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044" name="Text Box 18">
              <a:extLst>
                <a:ext uri="{FF2B5EF4-FFF2-40B4-BE49-F238E27FC236}">
                  <a16:creationId xmlns:a16="http://schemas.microsoft.com/office/drawing/2014/main" id="{F48B6F31-3212-56D5-CD24-7A9D49B55970}"/>
                </a:ext>
              </a:extLst>
            </p:cNvPr>
            <p:cNvSpPr txBox="1">
              <a:spLocks noChangeArrowheads="1"/>
            </p:cNvSpPr>
            <p:nvPr/>
          </p:nvSpPr>
          <p:spPr bwMode="auto">
            <a:xfrm>
              <a:off x="2337395" y="2643188"/>
              <a:ext cx="922337"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400" i="1">
                  <a:solidFill>
                    <a:srgbClr val="0000CC"/>
                  </a:solidFill>
                  <a:latin typeface="Times New Roman" panose="02020603050405020304" pitchFamily="18" charset="0"/>
                </a:rPr>
                <a:t>H</a:t>
              </a:r>
              <a:r>
                <a:rPr lang="en-US" altLang="zh-CN" sz="2400" baseline="-25000">
                  <a:solidFill>
                    <a:srgbClr val="FF0000"/>
                  </a:solidFill>
                  <a:latin typeface="Times New Roman" panose="02020603050405020304" pitchFamily="18" charset="0"/>
                </a:rPr>
                <a:t>1</a:t>
              </a:r>
              <a:r>
                <a:rPr lang="en-US" altLang="zh-CN" sz="2400">
                  <a:solidFill>
                    <a:srgbClr val="003399"/>
                  </a:solidFill>
                  <a:latin typeface="Times New Roman" panose="02020603050405020304" pitchFamily="18" charset="0"/>
                </a:rPr>
                <a:t> =</a:t>
              </a:r>
              <a:endParaRPr lang="en-US" altLang="zh-CN" sz="2400">
                <a:solidFill>
                  <a:srgbClr val="003399"/>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10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10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1000"/>
                                        <p:tgtEl>
                                          <p:spTgt spid="11"/>
                                        </p:tgtEl>
                                      </p:cBhvr>
                                    </p:animEffect>
                                  </p:childTnLst>
                                </p:cTn>
                              </p:par>
                            </p:childTnLst>
                          </p:cTn>
                        </p:par>
                        <p:par>
                          <p:cTn id="18" fill="hold" nodeType="afterGroup">
                            <p:stCondLst>
                              <p:cond delay="1000"/>
                            </p:stCondLst>
                            <p:childTnLst>
                              <p:par>
                                <p:cTn id="19" presetID="22" presetClass="entr" presetSubtype="1" fill="hold" nodeType="afterEffect">
                                  <p:stCondLst>
                                    <p:cond delay="0"/>
                                  </p:stCondLst>
                                  <p:childTnLst>
                                    <p:set>
                                      <p:cBhvr>
                                        <p:cTn id="20" dur="1" fill="hold">
                                          <p:stCondLst>
                                            <p:cond delay="0"/>
                                          </p:stCondLst>
                                        </p:cTn>
                                        <p:tgtEl>
                                          <p:spTgt spid="115718"/>
                                        </p:tgtEl>
                                        <p:attrNameLst>
                                          <p:attrName>style.visibility</p:attrName>
                                        </p:attrNameLst>
                                      </p:cBhvr>
                                      <p:to>
                                        <p:strVal val="visible"/>
                                      </p:to>
                                    </p:set>
                                    <p:animEffect transition="in" filter="wipe(up)">
                                      <p:cBhvr>
                                        <p:cTn id="21" dur="1000"/>
                                        <p:tgtEl>
                                          <p:spTgt spid="115718"/>
                                        </p:tgtEl>
                                      </p:cBhvr>
                                    </p:animEffect>
                                  </p:childTnLst>
                                </p:cTn>
                              </p:par>
                            </p:childTnLst>
                          </p:cTn>
                        </p:par>
                        <p:par>
                          <p:cTn id="22" fill="hold" nodeType="afterGroup">
                            <p:stCondLst>
                              <p:cond delay="2000"/>
                            </p:stCondLst>
                            <p:childTnLst>
                              <p:par>
                                <p:cTn id="23" presetID="22" presetClass="entr" presetSubtype="8" fill="hold" nodeType="after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left)">
                                      <p:cBhvr>
                                        <p:cTn id="25" dur="1000"/>
                                        <p:tgtEl>
                                          <p:spTgt spid="1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up)">
                                      <p:cBhvr>
                                        <p:cTn id="30" dur="1000"/>
                                        <p:tgtEl>
                                          <p:spTgt spid="1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up)">
                                      <p:cBhvr>
                                        <p:cTn id="35"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Rectangle 3">
            <a:extLst>
              <a:ext uri="{FF2B5EF4-FFF2-40B4-BE49-F238E27FC236}">
                <a16:creationId xmlns:a16="http://schemas.microsoft.com/office/drawing/2014/main" id="{36CAAF42-3635-623D-5744-A60E1DA93D2B}"/>
              </a:ext>
            </a:extLst>
          </p:cNvPr>
          <p:cNvSpPr>
            <a:spLocks noGrp="1" noChangeArrowheads="1"/>
          </p:cNvSpPr>
          <p:nvPr>
            <p:ph type="body" idx="1"/>
          </p:nvPr>
        </p:nvSpPr>
        <p:spPr>
          <a:xfrm>
            <a:off x="971550" y="3571875"/>
            <a:ext cx="7572375" cy="847725"/>
          </a:xfrm>
          <a:solidFill>
            <a:schemeClr val="bg2">
              <a:lumMod val="10000"/>
              <a:lumOff val="90000"/>
            </a:schemeClr>
          </a:solidFill>
        </p:spPr>
        <p:txBody>
          <a:bodyPr/>
          <a:lstStyle/>
          <a:p>
            <a:pPr eaLnBrk="1" hangingPunct="1">
              <a:buFont typeface="Wingdings" panose="05000000000000000000" pitchFamily="2" charset="2"/>
              <a:buNone/>
              <a:defRPr/>
            </a:pPr>
            <a:r>
              <a:rPr lang="zh-CN" altLang="en-US" sz="2000" dirty="0">
                <a:latin typeface="Arial" charset="0"/>
                <a:ea typeface="微软雅黑" pitchFamily="34" charset="-122"/>
                <a:cs typeface="Arial" charset="0"/>
              </a:rPr>
              <a:t>式中   </a:t>
            </a:r>
            <a:r>
              <a:rPr lang="en-US" altLang="zh-CN" sz="2000" b="1" i="1" dirty="0">
                <a:latin typeface="Arial" charset="0"/>
                <a:ea typeface="微软雅黑" pitchFamily="34" charset="-122"/>
                <a:cs typeface="Arial" charset="0"/>
              </a:rPr>
              <a:t>I</a:t>
            </a:r>
            <a:r>
              <a:rPr lang="en-US" altLang="zh-CN" sz="2000" i="1" baseline="-25000" dirty="0">
                <a:latin typeface="Arial" charset="0"/>
                <a:ea typeface="微软雅黑" pitchFamily="34" charset="-122"/>
                <a:cs typeface="Arial" charset="0"/>
              </a:rPr>
              <a:t>n-k</a:t>
            </a:r>
            <a:r>
              <a:rPr lang="en-US" altLang="zh-CN" sz="2000" dirty="0">
                <a:latin typeface="Arial" charset="0"/>
                <a:ea typeface="微软雅黑" pitchFamily="34" charset="-122"/>
                <a:cs typeface="Arial" charset="0"/>
              </a:rPr>
              <a:t> — (</a:t>
            </a:r>
            <a:r>
              <a:rPr lang="en-US" altLang="zh-CN" sz="2000" i="1" dirty="0">
                <a:latin typeface="Arial" charset="0"/>
                <a:ea typeface="微软雅黑" pitchFamily="34" charset="-122"/>
                <a:cs typeface="Arial" charset="0"/>
              </a:rPr>
              <a:t>n</a:t>
            </a:r>
            <a:r>
              <a:rPr lang="en-US" altLang="zh-CN" sz="2000" dirty="0">
                <a:latin typeface="Arial" charset="0"/>
                <a:ea typeface="微软雅黑" pitchFamily="34" charset="-122"/>
                <a:cs typeface="Arial" charset="0"/>
              </a:rPr>
              <a:t> – </a:t>
            </a:r>
            <a:r>
              <a:rPr lang="en-US" altLang="zh-CN" sz="2000" i="1" dirty="0">
                <a:latin typeface="Arial" charset="0"/>
                <a:ea typeface="微软雅黑" pitchFamily="34" charset="-122"/>
                <a:cs typeface="Arial" charset="0"/>
              </a:rPr>
              <a:t>k</a:t>
            </a:r>
            <a:r>
              <a:rPr lang="en-US" altLang="zh-CN" sz="2000" dirty="0">
                <a:latin typeface="Arial" charset="0"/>
                <a:ea typeface="微软雅黑" pitchFamily="34" charset="-122"/>
                <a:cs typeface="Arial" charset="0"/>
              </a:rPr>
              <a:t>)</a:t>
            </a:r>
            <a:r>
              <a:rPr lang="zh-CN" altLang="en-US" sz="2000" dirty="0">
                <a:latin typeface="Arial" charset="0"/>
                <a:ea typeface="微软雅黑" pitchFamily="34" charset="-122"/>
                <a:cs typeface="Arial" charset="0"/>
              </a:rPr>
              <a:t>阶单位方阵；   </a:t>
            </a:r>
            <a:r>
              <a:rPr lang="en-US" altLang="zh-CN" sz="2000" b="1" i="1" dirty="0">
                <a:latin typeface="Arial" charset="0"/>
                <a:ea typeface="微软雅黑" pitchFamily="34" charset="-122"/>
                <a:cs typeface="Arial" charset="0"/>
              </a:rPr>
              <a:t>P</a:t>
            </a:r>
            <a:r>
              <a:rPr lang="en-US" altLang="zh-CN" sz="2000" i="1" baseline="-25000" dirty="0">
                <a:latin typeface="Arial" charset="0"/>
                <a:ea typeface="微软雅黑" pitchFamily="34" charset="-122"/>
                <a:cs typeface="Arial" charset="0"/>
              </a:rPr>
              <a:t>i</a:t>
            </a:r>
            <a:r>
              <a:rPr lang="en-US" altLang="zh-CN" sz="2000" dirty="0">
                <a:latin typeface="Arial" charset="0"/>
                <a:ea typeface="微软雅黑" pitchFamily="34" charset="-122"/>
                <a:cs typeface="Arial" charset="0"/>
              </a:rPr>
              <a:t>  — (</a:t>
            </a:r>
            <a:r>
              <a:rPr lang="en-US" altLang="zh-CN" sz="2000" i="1" dirty="0">
                <a:latin typeface="Arial" charset="0"/>
                <a:ea typeface="微软雅黑" pitchFamily="34" charset="-122"/>
                <a:cs typeface="Arial" charset="0"/>
              </a:rPr>
              <a:t>n</a:t>
            </a:r>
            <a:r>
              <a:rPr lang="en-US" altLang="zh-CN" sz="2000" dirty="0">
                <a:latin typeface="Arial" charset="0"/>
                <a:ea typeface="微软雅黑" pitchFamily="34" charset="-122"/>
                <a:cs typeface="Arial" charset="0"/>
              </a:rPr>
              <a:t> – </a:t>
            </a:r>
            <a:r>
              <a:rPr lang="en-US" altLang="zh-CN" sz="2000" i="1" dirty="0">
                <a:latin typeface="Arial" charset="0"/>
                <a:ea typeface="微软雅黑" pitchFamily="34" charset="-122"/>
                <a:cs typeface="Arial" charset="0"/>
              </a:rPr>
              <a:t>k</a:t>
            </a:r>
            <a:r>
              <a:rPr lang="en-US" altLang="zh-CN" sz="2000" dirty="0">
                <a:latin typeface="Arial" charset="0"/>
                <a:ea typeface="微软雅黑" pitchFamily="34" charset="-122"/>
                <a:cs typeface="Arial" charset="0"/>
              </a:rPr>
              <a:t>)</a:t>
            </a:r>
            <a:r>
              <a:rPr lang="en-US" altLang="zh-CN" sz="2000" dirty="0">
                <a:latin typeface="Arial" charset="0"/>
                <a:ea typeface="微软雅黑" pitchFamily="34" charset="-122"/>
                <a:cs typeface="Arial" charset="0"/>
                <a:sym typeface="Symbol" pitchFamily="18" charset="2"/>
              </a:rPr>
              <a:t> </a:t>
            </a:r>
            <a:r>
              <a:rPr lang="en-US" altLang="zh-CN" sz="2000" i="1" dirty="0">
                <a:latin typeface="Arial" charset="0"/>
                <a:ea typeface="微软雅黑" pitchFamily="34" charset="-122"/>
                <a:cs typeface="Arial" charset="0"/>
              </a:rPr>
              <a:t>k </a:t>
            </a:r>
            <a:r>
              <a:rPr lang="zh-CN" altLang="en-US" sz="2000" dirty="0">
                <a:latin typeface="Arial" charset="0"/>
                <a:ea typeface="微软雅黑" pitchFamily="34" charset="-122"/>
                <a:cs typeface="Arial" charset="0"/>
              </a:rPr>
              <a:t>阶矩阵；</a:t>
            </a:r>
          </a:p>
          <a:p>
            <a:pPr eaLnBrk="1" hangingPunct="1">
              <a:lnSpc>
                <a:spcPct val="110000"/>
              </a:lnSpc>
              <a:buFont typeface="Wingdings" panose="05000000000000000000" pitchFamily="2" charset="2"/>
              <a:buNone/>
              <a:defRPr/>
            </a:pPr>
            <a:r>
              <a:rPr lang="zh-CN" altLang="en-US" sz="2000" dirty="0">
                <a:latin typeface="Arial" charset="0"/>
                <a:ea typeface="微软雅黑" pitchFamily="34" charset="-122"/>
                <a:cs typeface="Arial" charset="0"/>
              </a:rPr>
              <a:t>        </a:t>
            </a:r>
            <a:r>
              <a:rPr lang="en-US" altLang="zh-CN" sz="2000" b="1" i="1" dirty="0">
                <a:latin typeface="Arial" charset="0"/>
                <a:ea typeface="微软雅黑" pitchFamily="34" charset="-122"/>
                <a:cs typeface="Arial" charset="0"/>
              </a:rPr>
              <a:t>  </a:t>
            </a:r>
            <a:r>
              <a:rPr lang="en-US" altLang="zh-CN" sz="2000" b="1" dirty="0">
                <a:latin typeface="Arial" charset="0"/>
                <a:ea typeface="微软雅黑" pitchFamily="34" charset="-122"/>
                <a:cs typeface="Arial" charset="0"/>
              </a:rPr>
              <a:t>0</a:t>
            </a:r>
            <a:r>
              <a:rPr lang="en-US" altLang="zh-CN" sz="2000" i="1" baseline="-25000" dirty="0">
                <a:latin typeface="Arial" charset="0"/>
                <a:ea typeface="微软雅黑" pitchFamily="34" charset="-122"/>
                <a:cs typeface="Arial" charset="0"/>
              </a:rPr>
              <a:t>n-k</a:t>
            </a:r>
            <a:r>
              <a:rPr lang="en-US" altLang="zh-CN" sz="2000" dirty="0">
                <a:latin typeface="Arial" charset="0"/>
                <a:ea typeface="微软雅黑" pitchFamily="34" charset="-122"/>
                <a:cs typeface="Arial" charset="0"/>
              </a:rPr>
              <a:t> —  (</a:t>
            </a:r>
            <a:r>
              <a:rPr lang="en-US" altLang="zh-CN" sz="2000" i="1" dirty="0">
                <a:latin typeface="Arial" charset="0"/>
                <a:ea typeface="微软雅黑" pitchFamily="34" charset="-122"/>
                <a:cs typeface="Arial" charset="0"/>
              </a:rPr>
              <a:t>n</a:t>
            </a:r>
            <a:r>
              <a:rPr lang="en-US" altLang="zh-CN" sz="2000" dirty="0">
                <a:latin typeface="Arial" charset="0"/>
                <a:ea typeface="微软雅黑" pitchFamily="34" charset="-122"/>
                <a:cs typeface="Arial" charset="0"/>
              </a:rPr>
              <a:t> – </a:t>
            </a:r>
            <a:r>
              <a:rPr lang="en-US" altLang="zh-CN" sz="2000" i="1" dirty="0">
                <a:latin typeface="Arial" charset="0"/>
                <a:ea typeface="微软雅黑" pitchFamily="34" charset="-122"/>
                <a:cs typeface="Arial" charset="0"/>
              </a:rPr>
              <a:t>k</a:t>
            </a:r>
            <a:r>
              <a:rPr lang="en-US" altLang="zh-CN" sz="2000" dirty="0">
                <a:latin typeface="Arial" charset="0"/>
                <a:ea typeface="微软雅黑" pitchFamily="34" charset="-122"/>
                <a:cs typeface="Arial" charset="0"/>
              </a:rPr>
              <a:t>)</a:t>
            </a:r>
            <a:r>
              <a:rPr lang="zh-CN" altLang="en-US" sz="2000" dirty="0">
                <a:latin typeface="Arial" charset="0"/>
                <a:ea typeface="微软雅黑" pitchFamily="34" charset="-122"/>
                <a:cs typeface="Arial" charset="0"/>
              </a:rPr>
              <a:t>阶全零方阵。	</a:t>
            </a:r>
          </a:p>
        </p:txBody>
      </p:sp>
      <p:sp>
        <p:nvSpPr>
          <p:cNvPr id="45060" name="Rectangle 5">
            <a:extLst>
              <a:ext uri="{FF2B5EF4-FFF2-40B4-BE49-F238E27FC236}">
                <a16:creationId xmlns:a16="http://schemas.microsoft.com/office/drawing/2014/main" id="{1A324EA3-EBA2-9176-B7C0-D0F002AB9F2C}"/>
              </a:ext>
            </a:extLst>
          </p:cNvPr>
          <p:cNvSpPr>
            <a:spLocks noChangeArrowheads="1"/>
          </p:cNvSpPr>
          <p:nvPr/>
        </p:nvSpPr>
        <p:spPr bwMode="auto">
          <a:xfrm>
            <a:off x="0" y="2843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9" name="矩形 8">
            <a:extLst>
              <a:ext uri="{FF2B5EF4-FFF2-40B4-BE49-F238E27FC236}">
                <a16:creationId xmlns:a16="http://schemas.microsoft.com/office/drawing/2014/main" id="{C93E3FF1-25A0-B867-2A95-EE474BA93A98}"/>
              </a:ext>
            </a:extLst>
          </p:cNvPr>
          <p:cNvSpPr/>
          <p:nvPr/>
        </p:nvSpPr>
        <p:spPr>
          <a:xfrm>
            <a:off x="927100" y="5961063"/>
            <a:ext cx="7216775" cy="468312"/>
          </a:xfrm>
          <a:prstGeom prst="rect">
            <a:avLst/>
          </a:prstGeom>
        </p:spPr>
        <p:txBody>
          <a:bodyPr>
            <a:spAutoFit/>
          </a:bodyPr>
          <a:lstStyle/>
          <a:p>
            <a:pPr marL="342900" indent="-342900">
              <a:lnSpc>
                <a:spcPct val="110000"/>
              </a:lnSpc>
              <a:spcBef>
                <a:spcPct val="20000"/>
              </a:spcBef>
              <a:buClr>
                <a:srgbClr val="3333CC"/>
              </a:buClr>
              <a:buSzPct val="60000"/>
              <a:defRPr/>
            </a:pPr>
            <a:r>
              <a:rPr kumimoji="0" lang="zh-CN" altLang="en-US" sz="2000" i="1" kern="0" dirty="0">
                <a:solidFill>
                  <a:srgbClr val="000000"/>
                </a:solidFill>
                <a:latin typeface="Arial" pitchFamily="34" charset="0"/>
                <a:ea typeface="微软雅黑" pitchFamily="34" charset="-122"/>
                <a:cs typeface="Arial" pitchFamily="34" charset="0"/>
              </a:rPr>
              <a:t> </a:t>
            </a:r>
            <a:r>
              <a:rPr kumimoji="0" lang="en-US" altLang="zh-CN" sz="2000" i="1" kern="0" dirty="0">
                <a:solidFill>
                  <a:srgbClr val="FF0000"/>
                </a:solidFill>
                <a:latin typeface="Arial" pitchFamily="34" charset="0"/>
                <a:ea typeface="微软雅黑" pitchFamily="34" charset="-122"/>
                <a:cs typeface="Arial" pitchFamily="34" charset="0"/>
              </a:rPr>
              <a:t>h</a:t>
            </a:r>
            <a:r>
              <a:rPr kumimoji="0" lang="zh-CN" altLang="en-US" sz="2000" kern="0" dirty="0">
                <a:solidFill>
                  <a:srgbClr val="000000"/>
                </a:solidFill>
                <a:latin typeface="Arial" pitchFamily="34" charset="0"/>
                <a:ea typeface="微软雅黑" pitchFamily="34" charset="-122"/>
                <a:cs typeface="Arial" pitchFamily="34" charset="0"/>
              </a:rPr>
              <a:t>是卷积码的一个最重要矩阵。只要给定</a:t>
            </a:r>
            <a:r>
              <a:rPr kumimoji="0" lang="en-US" altLang="zh-CN" sz="2400" i="1" kern="0" dirty="0">
                <a:solidFill>
                  <a:srgbClr val="FF0000"/>
                </a:solidFill>
                <a:latin typeface="Arial" pitchFamily="34" charset="0"/>
                <a:ea typeface="微软雅黑" pitchFamily="34" charset="-122"/>
                <a:cs typeface="Arial" pitchFamily="34" charset="0"/>
              </a:rPr>
              <a:t>h</a:t>
            </a:r>
            <a:r>
              <a:rPr kumimoji="0" lang="zh-CN" altLang="en-US" sz="2000" kern="0" dirty="0">
                <a:solidFill>
                  <a:srgbClr val="000000"/>
                </a:solidFill>
                <a:latin typeface="Arial" pitchFamily="34" charset="0"/>
                <a:ea typeface="微软雅黑" pitchFamily="34" charset="-122"/>
                <a:cs typeface="Arial" pitchFamily="34" charset="0"/>
              </a:rPr>
              <a:t>，则可构造出</a:t>
            </a:r>
            <a:r>
              <a:rPr lang="en-US" altLang="zh-CN" sz="2400" i="1" dirty="0">
                <a:solidFill>
                  <a:srgbClr val="0000CC"/>
                </a:solidFill>
                <a:latin typeface="Times New Roman" pitchFamily="18" charset="0"/>
              </a:rPr>
              <a:t>H</a:t>
            </a:r>
            <a:r>
              <a:rPr lang="en-US" altLang="zh-CN" sz="2400" baseline="-25000" dirty="0">
                <a:solidFill>
                  <a:srgbClr val="FF0000"/>
                </a:solidFill>
                <a:latin typeface="Times New Roman" pitchFamily="18" charset="0"/>
              </a:rPr>
              <a:t>1 </a:t>
            </a:r>
            <a:r>
              <a:rPr kumimoji="0" lang="zh-CN" altLang="en-US" sz="2000" kern="0" dirty="0">
                <a:solidFill>
                  <a:srgbClr val="000000"/>
                </a:solidFill>
                <a:latin typeface="Arial" pitchFamily="34" charset="0"/>
                <a:ea typeface="微软雅黑" pitchFamily="34" charset="-122"/>
                <a:cs typeface="Arial" pitchFamily="34" charset="0"/>
              </a:rPr>
              <a:t>。</a:t>
            </a:r>
          </a:p>
        </p:txBody>
      </p:sp>
      <p:sp>
        <p:nvSpPr>
          <p:cNvPr id="11" name="矩形 10">
            <a:extLst>
              <a:ext uri="{FF2B5EF4-FFF2-40B4-BE49-F238E27FC236}">
                <a16:creationId xmlns:a16="http://schemas.microsoft.com/office/drawing/2014/main" id="{E182E344-ED98-AF15-E121-46AEAB3FFB14}"/>
              </a:ext>
            </a:extLst>
          </p:cNvPr>
          <p:cNvSpPr/>
          <p:nvPr/>
        </p:nvSpPr>
        <p:spPr>
          <a:xfrm>
            <a:off x="3286125" y="4643438"/>
            <a:ext cx="2071688" cy="400050"/>
          </a:xfrm>
          <a:prstGeom prst="rect">
            <a:avLst/>
          </a:prstGeom>
        </p:spPr>
        <p:txBody>
          <a:bodyPr>
            <a:spAutoFit/>
          </a:bodyPr>
          <a:lstStyle/>
          <a:p>
            <a:pPr>
              <a:defRPr/>
            </a:pPr>
            <a:r>
              <a:rPr kumimoji="0" lang="en-US" altLang="zh-CN" sz="2000" i="1" kern="0" dirty="0">
                <a:solidFill>
                  <a:srgbClr val="000000"/>
                </a:solidFill>
                <a:latin typeface="Arial" pitchFamily="34" charset="0"/>
                <a:ea typeface="微软雅黑" pitchFamily="34" charset="-122"/>
                <a:cs typeface="Arial" pitchFamily="34" charset="0"/>
              </a:rPr>
              <a:t>——</a:t>
            </a:r>
            <a:r>
              <a:rPr kumimoji="0" lang="en-US" altLang="zh-CN" sz="2000" i="1" kern="0" dirty="0">
                <a:solidFill>
                  <a:srgbClr val="0000CC"/>
                </a:solidFill>
                <a:latin typeface="Arial" pitchFamily="34" charset="0"/>
                <a:ea typeface="微软雅黑" pitchFamily="34" charset="-122"/>
                <a:cs typeface="Arial" pitchFamily="34" charset="0"/>
              </a:rPr>
              <a:t>H</a:t>
            </a:r>
            <a:r>
              <a:rPr kumimoji="0" lang="en-US" altLang="zh-CN" sz="2000" kern="0" baseline="-25000" dirty="0">
                <a:solidFill>
                  <a:srgbClr val="FF0000"/>
                </a:solidFill>
                <a:latin typeface="Arial" pitchFamily="34" charset="0"/>
                <a:ea typeface="微软雅黑" pitchFamily="34" charset="-122"/>
                <a:cs typeface="Arial" pitchFamily="34" charset="0"/>
              </a:rPr>
              <a:t>1</a:t>
            </a: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的末行：</a:t>
            </a:r>
            <a:endParaRPr lang="zh-CN" altLang="en-US" dirty="0">
              <a:effectLst>
                <a:outerShdw blurRad="38100" dist="38100" dir="2700000" algn="tl">
                  <a:srgbClr val="000000">
                    <a:alpha val="43137"/>
                  </a:srgbClr>
                </a:outerShdw>
              </a:effectLst>
            </a:endParaRPr>
          </a:p>
        </p:txBody>
      </p:sp>
      <p:sp>
        <p:nvSpPr>
          <p:cNvPr id="12" name="矩形 11">
            <a:extLst>
              <a:ext uri="{FF2B5EF4-FFF2-40B4-BE49-F238E27FC236}">
                <a16:creationId xmlns:a16="http://schemas.microsoft.com/office/drawing/2014/main" id="{687F85EA-4CFC-9BF7-5160-505344C156EE}"/>
              </a:ext>
            </a:extLst>
          </p:cNvPr>
          <p:cNvSpPr/>
          <p:nvPr/>
        </p:nvSpPr>
        <p:spPr>
          <a:xfrm>
            <a:off x="2843213" y="5253038"/>
            <a:ext cx="4929187" cy="461962"/>
          </a:xfrm>
          <a:prstGeom prst="rect">
            <a:avLst/>
          </a:prstGeom>
          <a:ln w="38100" cmpd="dbl">
            <a:solidFill>
              <a:srgbClr val="6666FF"/>
            </a:solidFill>
          </a:ln>
        </p:spPr>
        <p:txBody>
          <a:bodyPr>
            <a:spAutoFit/>
          </a:bodyPr>
          <a:lstStyle/>
          <a:p>
            <a:pPr>
              <a:defRPr/>
            </a:pPr>
            <a:r>
              <a:rPr kumimoji="0" lang="en-US" altLang="zh-CN" sz="2400" i="1" kern="0" dirty="0">
                <a:solidFill>
                  <a:srgbClr val="FF0000"/>
                </a:solidFill>
                <a:latin typeface="Arial" pitchFamily="34" charset="0"/>
                <a:ea typeface="微软雅黑" pitchFamily="34" charset="-122"/>
                <a:cs typeface="Arial" pitchFamily="34" charset="0"/>
              </a:rPr>
              <a:t>h</a:t>
            </a:r>
            <a:r>
              <a:rPr kumimoji="0" lang="en-US" altLang="zh-CN" sz="2400" b="0" kern="0" dirty="0">
                <a:solidFill>
                  <a:srgbClr val="FF0000"/>
                </a:solidFill>
                <a:latin typeface="Arial" pitchFamily="34" charset="0"/>
                <a:ea typeface="微软雅黑" pitchFamily="34" charset="-122"/>
                <a:cs typeface="Arial" pitchFamily="34" charset="0"/>
              </a:rPr>
              <a:t> </a:t>
            </a:r>
            <a:r>
              <a:rPr kumimoji="0" lang="en-US" altLang="zh-CN" sz="2000" b="0" kern="0" dirty="0">
                <a:solidFill>
                  <a:srgbClr val="000000"/>
                </a:solidFill>
                <a:latin typeface="Arial" pitchFamily="34" charset="0"/>
                <a:ea typeface="微软雅黑" pitchFamily="34" charset="-122"/>
                <a:cs typeface="Arial" pitchFamily="34" charset="0"/>
              </a:rPr>
              <a:t>= [</a:t>
            </a:r>
            <a:r>
              <a:rPr kumimoji="0" lang="en-US" altLang="zh-CN" sz="2000" i="1" kern="0" dirty="0">
                <a:solidFill>
                  <a:srgbClr val="000000"/>
                </a:solidFill>
                <a:latin typeface="Arial" pitchFamily="34" charset="0"/>
                <a:ea typeface="微软雅黑" pitchFamily="34" charset="-122"/>
                <a:cs typeface="Arial" pitchFamily="34" charset="0"/>
              </a:rPr>
              <a:t>P</a:t>
            </a:r>
            <a:r>
              <a:rPr kumimoji="0" lang="en-US" altLang="zh-CN" sz="2000" i="1" kern="0" baseline="-25000" dirty="0">
                <a:solidFill>
                  <a:srgbClr val="000000"/>
                </a:solidFill>
                <a:latin typeface="Arial" pitchFamily="34" charset="0"/>
                <a:ea typeface="微软雅黑" pitchFamily="34" charset="-122"/>
                <a:cs typeface="Arial" pitchFamily="34" charset="0"/>
              </a:rPr>
              <a:t>N</a:t>
            </a:r>
            <a:r>
              <a:rPr kumimoji="0" lang="en-US" altLang="zh-CN" sz="2000" i="1" kern="0" dirty="0">
                <a:solidFill>
                  <a:srgbClr val="000000"/>
                </a:solidFill>
                <a:latin typeface="Arial" pitchFamily="34" charset="0"/>
                <a:ea typeface="微软雅黑" pitchFamily="34" charset="-122"/>
                <a:cs typeface="Arial" pitchFamily="34" charset="0"/>
              </a:rPr>
              <a:t> </a:t>
            </a:r>
            <a:r>
              <a:rPr kumimoji="0" lang="en-US" altLang="zh-CN" sz="2000" kern="0" dirty="0">
                <a:solidFill>
                  <a:srgbClr val="000000"/>
                </a:solidFill>
                <a:latin typeface="Arial" pitchFamily="34" charset="0"/>
                <a:ea typeface="微软雅黑" pitchFamily="34" charset="-122"/>
                <a:cs typeface="Arial" pitchFamily="34" charset="0"/>
              </a:rPr>
              <a:t>0</a:t>
            </a:r>
            <a:r>
              <a:rPr kumimoji="0" lang="en-US" altLang="zh-CN" sz="2000" i="1" kern="0" baseline="-25000" dirty="0">
                <a:solidFill>
                  <a:srgbClr val="000000"/>
                </a:solidFill>
                <a:latin typeface="Arial" pitchFamily="34" charset="0"/>
                <a:ea typeface="微软雅黑" pitchFamily="34" charset="-122"/>
                <a:cs typeface="Arial" pitchFamily="34" charset="0"/>
              </a:rPr>
              <a:t>n-k</a:t>
            </a:r>
            <a:r>
              <a:rPr kumimoji="0" lang="en-US" altLang="zh-CN" sz="2000" i="1" kern="0" dirty="0">
                <a:solidFill>
                  <a:srgbClr val="000000"/>
                </a:solidFill>
                <a:latin typeface="Arial" pitchFamily="34" charset="0"/>
                <a:ea typeface="微软雅黑" pitchFamily="34" charset="-122"/>
                <a:cs typeface="Arial" pitchFamily="34" charset="0"/>
              </a:rPr>
              <a:t> P</a:t>
            </a:r>
            <a:r>
              <a:rPr kumimoji="0" lang="en-US" altLang="zh-CN" sz="2000" i="1" kern="0" baseline="-25000" dirty="0">
                <a:solidFill>
                  <a:srgbClr val="000000"/>
                </a:solidFill>
                <a:latin typeface="Arial" pitchFamily="34" charset="0"/>
                <a:ea typeface="微软雅黑" pitchFamily="34" charset="-122"/>
                <a:cs typeface="Arial" pitchFamily="34" charset="0"/>
              </a:rPr>
              <a:t>N-1</a:t>
            </a:r>
            <a:r>
              <a:rPr kumimoji="0" lang="en-US" altLang="zh-CN" sz="2000" i="1" kern="0" dirty="0">
                <a:solidFill>
                  <a:srgbClr val="000000"/>
                </a:solidFill>
                <a:latin typeface="Arial" pitchFamily="34" charset="0"/>
                <a:ea typeface="微软雅黑" pitchFamily="34" charset="-122"/>
                <a:cs typeface="Arial" pitchFamily="34" charset="0"/>
              </a:rPr>
              <a:t> </a:t>
            </a:r>
            <a:r>
              <a:rPr kumimoji="0" lang="en-US" altLang="zh-CN" sz="2000" kern="0" dirty="0">
                <a:solidFill>
                  <a:srgbClr val="000000"/>
                </a:solidFill>
                <a:latin typeface="Arial" pitchFamily="34" charset="0"/>
                <a:ea typeface="微软雅黑" pitchFamily="34" charset="-122"/>
                <a:cs typeface="Arial" pitchFamily="34" charset="0"/>
              </a:rPr>
              <a:t>0</a:t>
            </a:r>
            <a:r>
              <a:rPr kumimoji="0" lang="en-US" altLang="zh-CN" sz="2000" i="1" kern="0" baseline="-25000" dirty="0">
                <a:solidFill>
                  <a:srgbClr val="000000"/>
                </a:solidFill>
                <a:latin typeface="Arial" pitchFamily="34" charset="0"/>
                <a:ea typeface="微软雅黑" pitchFamily="34" charset="-122"/>
                <a:cs typeface="Arial" pitchFamily="34" charset="0"/>
              </a:rPr>
              <a:t>n-k</a:t>
            </a:r>
            <a:r>
              <a:rPr kumimoji="0" lang="en-US" altLang="zh-CN" sz="2000" i="1" kern="0" dirty="0">
                <a:solidFill>
                  <a:srgbClr val="000000"/>
                </a:solidFill>
                <a:latin typeface="Arial" pitchFamily="34" charset="0"/>
                <a:ea typeface="微软雅黑" pitchFamily="34" charset="-122"/>
                <a:cs typeface="Arial" pitchFamily="34" charset="0"/>
              </a:rPr>
              <a:t> P</a:t>
            </a:r>
            <a:r>
              <a:rPr kumimoji="0" lang="en-US" altLang="zh-CN" sz="2000" i="1" kern="0" baseline="-25000" dirty="0">
                <a:solidFill>
                  <a:srgbClr val="000000"/>
                </a:solidFill>
                <a:latin typeface="Arial" pitchFamily="34" charset="0"/>
                <a:ea typeface="微软雅黑" pitchFamily="34" charset="-122"/>
                <a:cs typeface="Arial" pitchFamily="34" charset="0"/>
              </a:rPr>
              <a:t>N-2</a:t>
            </a:r>
            <a:r>
              <a:rPr kumimoji="0" lang="en-US" altLang="zh-CN" sz="2000" i="1" kern="0" dirty="0">
                <a:solidFill>
                  <a:srgbClr val="000000"/>
                </a:solidFill>
                <a:latin typeface="Arial" pitchFamily="34" charset="0"/>
                <a:ea typeface="微软雅黑" pitchFamily="34" charset="-122"/>
                <a:cs typeface="Arial" pitchFamily="34" charset="0"/>
              </a:rPr>
              <a:t> </a:t>
            </a:r>
            <a:r>
              <a:rPr kumimoji="0" lang="en-US" altLang="zh-CN" sz="2000" kern="0" dirty="0">
                <a:solidFill>
                  <a:srgbClr val="000000"/>
                </a:solidFill>
                <a:latin typeface="Arial" pitchFamily="34" charset="0"/>
                <a:ea typeface="微软雅黑" pitchFamily="34" charset="-122"/>
                <a:cs typeface="Arial" pitchFamily="34" charset="0"/>
              </a:rPr>
              <a:t>0</a:t>
            </a:r>
            <a:r>
              <a:rPr kumimoji="0" lang="en-US" altLang="zh-CN" sz="2000" i="1" kern="0" baseline="-25000" dirty="0">
                <a:solidFill>
                  <a:srgbClr val="000000"/>
                </a:solidFill>
                <a:latin typeface="Arial" pitchFamily="34" charset="0"/>
                <a:ea typeface="微软雅黑" pitchFamily="34" charset="-122"/>
                <a:cs typeface="Arial" pitchFamily="34" charset="0"/>
              </a:rPr>
              <a:t>n-k</a:t>
            </a:r>
            <a:r>
              <a:rPr kumimoji="0" lang="en-US" altLang="zh-CN" sz="2000" i="1" kern="0" dirty="0">
                <a:solidFill>
                  <a:srgbClr val="000000"/>
                </a:solidFill>
                <a:latin typeface="Arial" pitchFamily="34" charset="0"/>
                <a:ea typeface="微软雅黑" pitchFamily="34" charset="-122"/>
                <a:cs typeface="Arial" pitchFamily="34" charset="0"/>
              </a:rPr>
              <a:t> </a:t>
            </a:r>
            <a:r>
              <a:rPr kumimoji="0" lang="en-US" altLang="zh-CN" sz="2000" kern="0" dirty="0">
                <a:solidFill>
                  <a:srgbClr val="000000"/>
                </a:solidFill>
                <a:latin typeface="Arial" pitchFamily="34" charset="0"/>
                <a:ea typeface="微软雅黑" pitchFamily="34" charset="-122"/>
                <a:cs typeface="Arial" pitchFamily="34" charset="0"/>
                <a:sym typeface="Symbol" pitchFamily="18" charset="2"/>
              </a:rPr>
              <a:t></a:t>
            </a:r>
            <a:r>
              <a:rPr kumimoji="0" lang="en-US" altLang="zh-CN" sz="2000" kern="0" dirty="0">
                <a:solidFill>
                  <a:srgbClr val="000000"/>
                </a:solidFill>
                <a:latin typeface="Arial" pitchFamily="34" charset="0"/>
                <a:ea typeface="微软雅黑" pitchFamily="34" charset="-122"/>
                <a:cs typeface="Arial" pitchFamily="34" charset="0"/>
              </a:rPr>
              <a:t> </a:t>
            </a:r>
            <a:r>
              <a:rPr kumimoji="0" lang="en-US" altLang="zh-CN" sz="2000" kern="0" dirty="0">
                <a:solidFill>
                  <a:srgbClr val="000000"/>
                </a:solidFill>
                <a:latin typeface="Arial" pitchFamily="34" charset="0"/>
                <a:ea typeface="微软雅黑" pitchFamily="34" charset="-122"/>
                <a:cs typeface="Arial" pitchFamily="34" charset="0"/>
                <a:sym typeface="Symbol" pitchFamily="18" charset="2"/>
              </a:rPr>
              <a:t></a:t>
            </a:r>
            <a:r>
              <a:rPr kumimoji="0" lang="en-US" altLang="zh-CN" sz="2000" kern="0" dirty="0">
                <a:solidFill>
                  <a:srgbClr val="000000"/>
                </a:solidFill>
                <a:latin typeface="Arial" pitchFamily="34" charset="0"/>
                <a:ea typeface="微软雅黑" pitchFamily="34" charset="-122"/>
                <a:cs typeface="Arial" pitchFamily="34" charset="0"/>
              </a:rPr>
              <a:t> </a:t>
            </a:r>
            <a:r>
              <a:rPr kumimoji="0" lang="en-US" altLang="zh-CN" sz="2000" kern="0" dirty="0">
                <a:solidFill>
                  <a:srgbClr val="000000"/>
                </a:solidFill>
                <a:latin typeface="Arial" pitchFamily="34" charset="0"/>
                <a:ea typeface="微软雅黑" pitchFamily="34" charset="-122"/>
                <a:cs typeface="Arial" pitchFamily="34" charset="0"/>
                <a:sym typeface="Symbol" pitchFamily="18" charset="2"/>
              </a:rPr>
              <a:t></a:t>
            </a:r>
            <a:r>
              <a:rPr kumimoji="0" lang="en-US" altLang="zh-CN" sz="2000" kern="0" dirty="0">
                <a:solidFill>
                  <a:srgbClr val="000000"/>
                </a:solidFill>
                <a:latin typeface="Arial" pitchFamily="34" charset="0"/>
                <a:ea typeface="微软雅黑" pitchFamily="34" charset="-122"/>
                <a:cs typeface="Arial" pitchFamily="34" charset="0"/>
              </a:rPr>
              <a:t> </a:t>
            </a:r>
            <a:r>
              <a:rPr kumimoji="0" lang="en-US" altLang="zh-CN" sz="2000" i="1" kern="0" dirty="0">
                <a:solidFill>
                  <a:srgbClr val="000000"/>
                </a:solidFill>
                <a:latin typeface="Arial" pitchFamily="34" charset="0"/>
                <a:ea typeface="微软雅黑" pitchFamily="34" charset="-122"/>
                <a:cs typeface="Arial" pitchFamily="34" charset="0"/>
              </a:rPr>
              <a:t>P</a:t>
            </a:r>
            <a:r>
              <a:rPr kumimoji="0" lang="en-US" altLang="zh-CN" sz="2000" i="1" kern="0" baseline="-25000" dirty="0">
                <a:solidFill>
                  <a:srgbClr val="000000"/>
                </a:solidFill>
                <a:latin typeface="Arial" pitchFamily="34" charset="0"/>
                <a:ea typeface="微软雅黑" pitchFamily="34" charset="-122"/>
                <a:cs typeface="Arial" pitchFamily="34" charset="0"/>
              </a:rPr>
              <a:t>1</a:t>
            </a:r>
            <a:r>
              <a:rPr kumimoji="0" lang="en-US" altLang="zh-CN" sz="2000" i="1" kern="0" dirty="0">
                <a:solidFill>
                  <a:srgbClr val="000000"/>
                </a:solidFill>
                <a:latin typeface="Arial" pitchFamily="34" charset="0"/>
                <a:ea typeface="微软雅黑" pitchFamily="34" charset="-122"/>
                <a:cs typeface="Arial" pitchFamily="34" charset="0"/>
              </a:rPr>
              <a:t> I</a:t>
            </a:r>
            <a:r>
              <a:rPr kumimoji="0" lang="en-US" altLang="zh-CN" sz="2000" i="1" kern="0" baseline="-25000" dirty="0">
                <a:solidFill>
                  <a:srgbClr val="000000"/>
                </a:solidFill>
                <a:latin typeface="Arial" pitchFamily="34" charset="0"/>
                <a:ea typeface="微软雅黑" pitchFamily="34" charset="-122"/>
                <a:cs typeface="Arial" pitchFamily="34" charset="0"/>
              </a:rPr>
              <a:t>n-k</a:t>
            </a:r>
            <a:r>
              <a:rPr kumimoji="0" lang="en-US" altLang="zh-CN" sz="2000" b="0" kern="0" dirty="0">
                <a:solidFill>
                  <a:srgbClr val="000000"/>
                </a:solidFill>
                <a:latin typeface="Arial" pitchFamily="34" charset="0"/>
                <a:ea typeface="微软雅黑" pitchFamily="34" charset="-122"/>
                <a:cs typeface="Arial" pitchFamily="34" charset="0"/>
              </a:rPr>
              <a:t>]</a:t>
            </a:r>
            <a:endParaRPr lang="zh-CN" altLang="en-US" dirty="0"/>
          </a:p>
        </p:txBody>
      </p:sp>
      <p:grpSp>
        <p:nvGrpSpPr>
          <p:cNvPr id="2" name="组合 14">
            <a:extLst>
              <a:ext uri="{FF2B5EF4-FFF2-40B4-BE49-F238E27FC236}">
                <a16:creationId xmlns:a16="http://schemas.microsoft.com/office/drawing/2014/main" id="{B4C060EF-2B87-7674-618A-D54A73CBD1AD}"/>
              </a:ext>
            </a:extLst>
          </p:cNvPr>
          <p:cNvGrpSpPr>
            <a:grpSpLocks/>
          </p:cNvGrpSpPr>
          <p:nvPr/>
        </p:nvGrpSpPr>
        <p:grpSpPr bwMode="auto">
          <a:xfrm>
            <a:off x="2398713" y="1331913"/>
            <a:ext cx="5483225" cy="2097087"/>
            <a:chOff x="2398370" y="1331913"/>
            <a:chExt cx="5483568" cy="2097087"/>
          </a:xfrm>
        </p:grpSpPr>
        <p:graphicFrame>
          <p:nvGraphicFramePr>
            <p:cNvPr id="116740" name="Object 4">
              <a:extLst>
                <a:ext uri="{FF2B5EF4-FFF2-40B4-BE49-F238E27FC236}">
                  <a16:creationId xmlns:a16="http://schemas.microsoft.com/office/drawing/2014/main" id="{8A20415D-D30D-F96D-3D4D-F9ED88737E79}"/>
                </a:ext>
              </a:extLst>
            </p:cNvPr>
            <p:cNvGraphicFramePr>
              <a:graphicFrameLocks noChangeAspect="1"/>
            </p:cNvGraphicFramePr>
            <p:nvPr/>
          </p:nvGraphicFramePr>
          <p:xfrm>
            <a:off x="2465388" y="1331913"/>
            <a:ext cx="5416550" cy="2097087"/>
          </p:xfrm>
          <a:graphic>
            <a:graphicData uri="http://schemas.openxmlformats.org/presentationml/2006/ole">
              <mc:AlternateContent xmlns:mc="http://schemas.openxmlformats.org/markup-compatibility/2006">
                <mc:Choice xmlns:v="urn:schemas-microsoft-com:vml" Requires="v">
                  <p:oleObj name="公式" r:id="rId2" imgW="3288960" imgH="1168200" progId="Equation.3">
                    <p:embed/>
                  </p:oleObj>
                </mc:Choice>
                <mc:Fallback>
                  <p:oleObj name="公式" r:id="rId2" imgW="3288960" imgH="11682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5388" y="1331913"/>
                          <a:ext cx="5416550" cy="2097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067" name="Text Box 18">
              <a:extLst>
                <a:ext uri="{FF2B5EF4-FFF2-40B4-BE49-F238E27FC236}">
                  <a16:creationId xmlns:a16="http://schemas.microsoft.com/office/drawing/2014/main" id="{E875C441-F9DF-29AF-BF63-F01A908E9C69}"/>
                </a:ext>
              </a:extLst>
            </p:cNvPr>
            <p:cNvSpPr txBox="1">
              <a:spLocks noChangeArrowheads="1"/>
            </p:cNvSpPr>
            <p:nvPr/>
          </p:nvSpPr>
          <p:spPr bwMode="auto">
            <a:xfrm>
              <a:off x="2398370" y="2143125"/>
              <a:ext cx="5715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400" i="1">
                  <a:solidFill>
                    <a:srgbClr val="0000CC"/>
                  </a:solidFill>
                  <a:latin typeface="Times New Roman" panose="02020603050405020304" pitchFamily="18" charset="0"/>
                </a:rPr>
                <a:t>H</a:t>
              </a:r>
              <a:r>
                <a:rPr lang="en-US" altLang="zh-CN" sz="2400" baseline="-25000">
                  <a:solidFill>
                    <a:srgbClr val="FF0000"/>
                  </a:solidFill>
                  <a:latin typeface="Times New Roman" panose="02020603050405020304" pitchFamily="18" charset="0"/>
                </a:rPr>
                <a:t>1</a:t>
              </a:r>
              <a:r>
                <a:rPr lang="en-US" altLang="zh-CN" sz="2400">
                  <a:solidFill>
                    <a:srgbClr val="003399"/>
                  </a:solidFill>
                  <a:latin typeface="Times New Roman" panose="02020603050405020304" pitchFamily="18" charset="0"/>
                </a:rPr>
                <a:t> </a:t>
              </a:r>
              <a:endParaRPr lang="en-US" altLang="zh-CN" sz="2400">
                <a:solidFill>
                  <a:srgbClr val="003399"/>
                </a:solidFill>
              </a:endParaRPr>
            </a:p>
          </p:txBody>
        </p:sp>
      </p:grpSp>
      <p:sp>
        <p:nvSpPr>
          <p:cNvPr id="13" name="矩形 12">
            <a:extLst>
              <a:ext uri="{FF2B5EF4-FFF2-40B4-BE49-F238E27FC236}">
                <a16:creationId xmlns:a16="http://schemas.microsoft.com/office/drawing/2014/main" id="{7EB1912B-33B5-BEFE-FFF3-0429F85901CF}"/>
              </a:ext>
            </a:extLst>
          </p:cNvPr>
          <p:cNvSpPr/>
          <p:nvPr/>
        </p:nvSpPr>
        <p:spPr>
          <a:xfrm>
            <a:off x="744538" y="711200"/>
            <a:ext cx="4184650" cy="503238"/>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a:lnSpc>
                <a:spcPts val="3200"/>
              </a:lnSpc>
              <a:buClr>
                <a:srgbClr val="0000CC"/>
              </a:buClr>
              <a:buSzPct val="65000"/>
              <a:buFont typeface="Wingdings" pitchFamily="2" charset="2"/>
              <a:buChar char="u"/>
              <a:defRPr/>
            </a:pPr>
            <a:r>
              <a:rPr kumimoji="0" lang="zh-CN" altLang="en-US" sz="2800" b="0" kern="0" dirty="0">
                <a:solidFill>
                  <a:srgbClr val="000000"/>
                </a:solidFill>
                <a:latin typeface="Arial" pitchFamily="34" charset="0"/>
                <a:ea typeface="微软雅黑" pitchFamily="34" charset="-122"/>
                <a:cs typeface="Arial" pitchFamily="34" charset="0"/>
              </a:rPr>
              <a:t> </a:t>
            </a:r>
            <a:r>
              <a:rPr kumimoji="0" lang="zh-CN" altLang="en-US" sz="2400" kern="0" dirty="0">
                <a:solidFill>
                  <a:srgbClr val="FF0000"/>
                </a:solidFill>
                <a:latin typeface="Arial" pitchFamily="34" charset="0"/>
                <a:ea typeface="微软雅黑" pitchFamily="34" charset="-122"/>
                <a:cs typeface="Arial" pitchFamily="34" charset="0"/>
              </a:rPr>
              <a:t>截短</a:t>
            </a:r>
            <a:r>
              <a:rPr kumimoji="0" lang="zh-CN" altLang="en-US" sz="2400" kern="0" dirty="0">
                <a:solidFill>
                  <a:schemeClr val="tx1"/>
                </a:solidFill>
                <a:latin typeface="Arial" pitchFamily="34" charset="0"/>
                <a:ea typeface="微软雅黑" pitchFamily="34" charset="-122"/>
                <a:cs typeface="Arial" pitchFamily="34" charset="0"/>
              </a:rPr>
              <a:t>监督矩阵</a:t>
            </a:r>
            <a:r>
              <a:rPr lang="en-US" altLang="zh-CN" sz="2400" i="1" dirty="0">
                <a:solidFill>
                  <a:srgbClr val="0000CC"/>
                </a:solidFill>
                <a:latin typeface="Times New Roman" pitchFamily="18" charset="0"/>
              </a:rPr>
              <a:t>H</a:t>
            </a:r>
            <a:r>
              <a:rPr lang="en-US" altLang="zh-CN" sz="2400" baseline="-25000" dirty="0">
                <a:solidFill>
                  <a:srgbClr val="FF0000"/>
                </a:solidFill>
                <a:latin typeface="Times New Roman" pitchFamily="18" charset="0"/>
              </a:rPr>
              <a:t>1 </a:t>
            </a:r>
            <a:r>
              <a:rPr kumimoji="0" lang="zh-CN" altLang="en-US" sz="2400" b="0" kern="0" dirty="0">
                <a:solidFill>
                  <a:schemeClr val="tx1"/>
                </a:solidFill>
                <a:latin typeface="Arial" pitchFamily="34" charset="0"/>
                <a:ea typeface="微软雅黑" pitchFamily="34" charset="-122"/>
                <a:cs typeface="Arial" pitchFamily="34" charset="0"/>
              </a:rPr>
              <a:t>一般形式</a:t>
            </a:r>
            <a:r>
              <a:rPr kumimoji="0" lang="zh-CN" altLang="en-US" sz="2400" kern="0" dirty="0">
                <a:solidFill>
                  <a:srgbClr val="000000"/>
                </a:solidFill>
                <a:latin typeface="+mn-ea"/>
                <a:ea typeface="+mn-ea"/>
                <a:cs typeface="Arial" pitchFamily="34" charset="0"/>
              </a:rPr>
              <a:t>：</a:t>
            </a:r>
            <a:endParaRPr lang="zh-CN" altLang="en-US" sz="2400" dirty="0">
              <a:latin typeface="+mn-ea"/>
              <a:ea typeface="+mn-ea"/>
              <a:cs typeface="Arial" pitchFamily="34" charset="0"/>
            </a:endParaRPr>
          </a:p>
        </p:txBody>
      </p:sp>
      <p:sp>
        <p:nvSpPr>
          <p:cNvPr id="14" name="矩形 13">
            <a:extLst>
              <a:ext uri="{FF2B5EF4-FFF2-40B4-BE49-F238E27FC236}">
                <a16:creationId xmlns:a16="http://schemas.microsoft.com/office/drawing/2014/main" id="{1E883C9C-21C7-5D54-586D-C13A4AE924AA}"/>
              </a:ext>
            </a:extLst>
          </p:cNvPr>
          <p:cNvSpPr/>
          <p:nvPr/>
        </p:nvSpPr>
        <p:spPr>
          <a:xfrm>
            <a:off x="714375" y="4568825"/>
            <a:ext cx="2571750" cy="503238"/>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a:lnSpc>
                <a:spcPts val="3200"/>
              </a:lnSpc>
              <a:buClr>
                <a:srgbClr val="0000CC"/>
              </a:buClr>
              <a:buSzPct val="65000"/>
              <a:buFont typeface="Wingdings" pitchFamily="2" charset="2"/>
              <a:buChar char="u"/>
              <a:defRPr/>
            </a:pPr>
            <a:r>
              <a:rPr kumimoji="0" lang="zh-CN" altLang="en-US" sz="2800" b="0" kern="0" dirty="0">
                <a:solidFill>
                  <a:srgbClr val="000000"/>
                </a:solidFill>
                <a:latin typeface="Arial" pitchFamily="34" charset="0"/>
                <a:ea typeface="微软雅黑" pitchFamily="34" charset="-122"/>
                <a:cs typeface="Arial" pitchFamily="34" charset="0"/>
              </a:rPr>
              <a:t> </a:t>
            </a:r>
            <a:r>
              <a:rPr kumimoji="0" lang="zh-CN" altLang="en-US" sz="2400" kern="0" dirty="0">
                <a:solidFill>
                  <a:srgbClr val="FF0000"/>
                </a:solidFill>
                <a:latin typeface="Arial" pitchFamily="34" charset="0"/>
                <a:ea typeface="微软雅黑" pitchFamily="34" charset="-122"/>
                <a:cs typeface="Arial" pitchFamily="34" charset="0"/>
              </a:rPr>
              <a:t>基本</a:t>
            </a:r>
            <a:r>
              <a:rPr kumimoji="0" lang="zh-CN" altLang="en-US" sz="2400" kern="0" dirty="0">
                <a:solidFill>
                  <a:schemeClr val="tx1"/>
                </a:solidFill>
                <a:latin typeface="Arial" pitchFamily="34" charset="0"/>
                <a:ea typeface="微软雅黑" pitchFamily="34" charset="-122"/>
                <a:cs typeface="Arial" pitchFamily="34" charset="0"/>
              </a:rPr>
              <a:t>监督矩阵</a:t>
            </a:r>
            <a:r>
              <a:rPr kumimoji="0" lang="en-US" altLang="zh-CN" sz="2400" i="1" kern="0" dirty="0">
                <a:solidFill>
                  <a:srgbClr val="FF0000"/>
                </a:solidFill>
                <a:latin typeface="Arial" pitchFamily="34" charset="0"/>
                <a:ea typeface="微软雅黑" pitchFamily="34" charset="-122"/>
                <a:cs typeface="Arial" pitchFamily="34" charset="0"/>
              </a:rPr>
              <a:t>h</a:t>
            </a:r>
            <a:endParaRPr lang="zh-CN" altLang="en-US" sz="2400" dirty="0">
              <a:latin typeface="+mn-ea"/>
              <a:ea typeface="+mn-ea"/>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16739">
                                            <p:txEl>
                                              <p:pRg st="0" end="0"/>
                                            </p:txEl>
                                          </p:spTgt>
                                        </p:tgtEl>
                                        <p:attrNameLst>
                                          <p:attrName>style.visibility</p:attrName>
                                        </p:attrNameLst>
                                      </p:cBhvr>
                                      <p:to>
                                        <p:strVal val="visible"/>
                                      </p:to>
                                    </p:set>
                                    <p:animEffect transition="in" filter="wipe(up)">
                                      <p:cBhvr>
                                        <p:cTn id="12" dur="1000"/>
                                        <p:tgtEl>
                                          <p:spTgt spid="11673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16739">
                                            <p:txEl>
                                              <p:pRg st="1" end="1"/>
                                            </p:txEl>
                                          </p:spTgt>
                                        </p:tgtEl>
                                        <p:attrNameLst>
                                          <p:attrName>style.visibility</p:attrName>
                                        </p:attrNameLst>
                                      </p:cBhvr>
                                      <p:to>
                                        <p:strVal val="visible"/>
                                      </p:to>
                                    </p:set>
                                    <p:animEffect transition="in" filter="wipe(up)">
                                      <p:cBhvr>
                                        <p:cTn id="17" dur="1000"/>
                                        <p:tgtEl>
                                          <p:spTgt spid="11673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up)">
                                      <p:cBhvr>
                                        <p:cTn id="22" dur="1000"/>
                                        <p:tgtEl>
                                          <p:spTgt spid="14"/>
                                        </p:tgtEl>
                                      </p:cBhvr>
                                    </p:animEffect>
                                  </p:childTnLst>
                                </p:cTn>
                              </p:par>
                            </p:childTnLst>
                          </p:cTn>
                        </p:par>
                        <p:par>
                          <p:cTn id="23" fill="hold" nodeType="afterGroup">
                            <p:stCondLst>
                              <p:cond delay="1000"/>
                            </p:stCondLst>
                            <p:childTnLst>
                              <p:par>
                                <p:cTn id="24" presetID="22" presetClass="entr" presetSubtype="8" fill="hold"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left)">
                                      <p:cBhvr>
                                        <p:cTn id="26" dur="1000"/>
                                        <p:tgtEl>
                                          <p:spTgt spid="1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up)">
                                      <p:cBhvr>
                                        <p:cTn id="31" dur="1000"/>
                                        <p:tgtEl>
                                          <p:spTgt spid="1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up)">
                                      <p:cBhvr>
                                        <p:cTn id="36"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animBg="1"/>
      <p:bldP spid="14"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Rectangle 3">
            <a:extLst>
              <a:ext uri="{FF2B5EF4-FFF2-40B4-BE49-F238E27FC236}">
                <a16:creationId xmlns:a16="http://schemas.microsoft.com/office/drawing/2014/main" id="{D93D2999-F41D-4C2C-F925-BC2C287B22DD}"/>
              </a:ext>
            </a:extLst>
          </p:cNvPr>
          <p:cNvSpPr>
            <a:spLocks noGrp="1" noChangeArrowheads="1"/>
          </p:cNvSpPr>
          <p:nvPr>
            <p:ph type="body" idx="1"/>
          </p:nvPr>
        </p:nvSpPr>
        <p:spPr>
          <a:xfrm>
            <a:off x="785813" y="1571625"/>
            <a:ext cx="7858125" cy="1285875"/>
          </a:xfrm>
        </p:spPr>
        <p:txBody>
          <a:bodyPr/>
          <a:lstStyle/>
          <a:p>
            <a:pPr eaLnBrk="1" hangingPunct="1">
              <a:lnSpc>
                <a:spcPts val="2800"/>
              </a:lnSpc>
              <a:buFont typeface="Wingdings" panose="05000000000000000000" pitchFamily="2" charset="2"/>
              <a:buNone/>
            </a:pPr>
            <a:r>
              <a:rPr lang="en-US" altLang="zh-CN" sz="2000">
                <a:latin typeface="Arial" panose="020B0604020202020204" pitchFamily="34" charset="0"/>
                <a:ea typeface="微软雅黑" panose="020B0503020204020204" pitchFamily="34" charset="-122"/>
                <a:cs typeface="Arial" panose="020B0604020202020204" pitchFamily="34" charset="0"/>
              </a:rPr>
              <a:t>      [ b</a:t>
            </a:r>
            <a:r>
              <a:rPr lang="en-US" altLang="zh-CN" sz="2000" baseline="-25000">
                <a:latin typeface="Arial" panose="020B0604020202020204" pitchFamily="34" charset="0"/>
                <a:ea typeface="微软雅黑" panose="020B0503020204020204" pitchFamily="34" charset="-122"/>
                <a:cs typeface="Arial" panose="020B0604020202020204" pitchFamily="34" charset="0"/>
              </a:rPr>
              <a:t>1</a:t>
            </a:r>
            <a:r>
              <a:rPr lang="en-US" altLang="zh-CN" sz="2000">
                <a:latin typeface="Arial" panose="020B0604020202020204" pitchFamily="34" charset="0"/>
                <a:ea typeface="微软雅黑" panose="020B0503020204020204" pitchFamily="34" charset="-122"/>
                <a:cs typeface="Arial" panose="020B0604020202020204" pitchFamily="34" charset="0"/>
              </a:rPr>
              <a:t> d</a:t>
            </a:r>
            <a:r>
              <a:rPr lang="en-US" altLang="zh-CN" sz="2000" baseline="-25000">
                <a:latin typeface="Arial" panose="020B0604020202020204" pitchFamily="34" charset="0"/>
                <a:ea typeface="微软雅黑" panose="020B0503020204020204" pitchFamily="34" charset="-122"/>
                <a:cs typeface="Arial" panose="020B0604020202020204" pitchFamily="34" charset="0"/>
              </a:rPr>
              <a:t>1</a:t>
            </a:r>
            <a:r>
              <a:rPr lang="en-US" altLang="zh-CN" sz="2000">
                <a:latin typeface="Arial" panose="020B0604020202020204" pitchFamily="34" charset="0"/>
                <a:ea typeface="微软雅黑" panose="020B0503020204020204" pitchFamily="34" charset="-122"/>
                <a:cs typeface="Arial" panose="020B0604020202020204" pitchFamily="34" charset="0"/>
              </a:rPr>
              <a:t> e</a:t>
            </a:r>
            <a:r>
              <a:rPr lang="en-US" altLang="zh-CN" sz="2000" baseline="-25000">
                <a:latin typeface="Arial" panose="020B0604020202020204" pitchFamily="34" charset="0"/>
                <a:ea typeface="微软雅黑" panose="020B0503020204020204" pitchFamily="34" charset="-122"/>
                <a:cs typeface="Arial" panose="020B0604020202020204" pitchFamily="34" charset="0"/>
              </a:rPr>
              <a:t>1</a:t>
            </a:r>
            <a:r>
              <a:rPr lang="en-US" altLang="zh-CN" sz="2000">
                <a:latin typeface="Arial" panose="020B0604020202020204" pitchFamily="34" charset="0"/>
                <a:ea typeface="微软雅黑" panose="020B0503020204020204" pitchFamily="34" charset="-122"/>
                <a:cs typeface="Arial" panose="020B0604020202020204" pitchFamily="34" charset="0"/>
              </a:rPr>
              <a:t>  b</a:t>
            </a:r>
            <a:r>
              <a:rPr lang="en-US" altLang="zh-CN" sz="2000" baseline="-25000">
                <a:latin typeface="Arial" panose="020B0604020202020204" pitchFamily="34" charset="0"/>
                <a:ea typeface="微软雅黑" panose="020B0503020204020204" pitchFamily="34" charset="-122"/>
                <a:cs typeface="Arial" panose="020B0604020202020204" pitchFamily="34" charset="0"/>
              </a:rPr>
              <a:t>2</a:t>
            </a:r>
            <a:r>
              <a:rPr lang="en-US" altLang="zh-CN" sz="2000">
                <a:latin typeface="Arial" panose="020B0604020202020204" pitchFamily="34" charset="0"/>
                <a:ea typeface="微软雅黑" panose="020B0503020204020204" pitchFamily="34" charset="-122"/>
                <a:cs typeface="Arial" panose="020B0604020202020204" pitchFamily="34" charset="0"/>
              </a:rPr>
              <a:t> d</a:t>
            </a:r>
            <a:r>
              <a:rPr lang="en-US" altLang="zh-CN" sz="2000" baseline="-25000">
                <a:latin typeface="Arial" panose="020B0604020202020204" pitchFamily="34" charset="0"/>
                <a:ea typeface="微软雅黑" panose="020B0503020204020204" pitchFamily="34" charset="-122"/>
                <a:cs typeface="Arial" panose="020B0604020202020204" pitchFamily="34" charset="0"/>
              </a:rPr>
              <a:t>2</a:t>
            </a:r>
            <a:r>
              <a:rPr lang="en-US" altLang="zh-CN" sz="2000">
                <a:latin typeface="Arial" panose="020B0604020202020204" pitchFamily="34" charset="0"/>
                <a:ea typeface="微软雅黑" panose="020B0503020204020204" pitchFamily="34" charset="-122"/>
                <a:cs typeface="Arial" panose="020B0604020202020204" pitchFamily="34" charset="0"/>
              </a:rPr>
              <a:t> e</a:t>
            </a:r>
            <a:r>
              <a:rPr lang="en-US" altLang="zh-CN" sz="2000" baseline="-25000">
                <a:latin typeface="Arial" panose="020B0604020202020204" pitchFamily="34" charset="0"/>
                <a:ea typeface="微软雅黑" panose="020B0503020204020204" pitchFamily="34" charset="-122"/>
                <a:cs typeface="Arial" panose="020B0604020202020204" pitchFamily="34" charset="0"/>
              </a:rPr>
              <a:t>2</a:t>
            </a:r>
            <a:r>
              <a:rPr lang="en-US" altLang="zh-CN" sz="2000">
                <a:latin typeface="Arial" panose="020B0604020202020204" pitchFamily="34" charset="0"/>
                <a:ea typeface="微软雅黑" panose="020B0503020204020204" pitchFamily="34" charset="-122"/>
                <a:cs typeface="Arial" panose="020B0604020202020204" pitchFamily="34" charset="0"/>
              </a:rPr>
              <a:t>  b</a:t>
            </a:r>
            <a:r>
              <a:rPr lang="en-US" altLang="zh-CN" sz="2000" baseline="-25000">
                <a:latin typeface="Arial" panose="020B0604020202020204" pitchFamily="34" charset="0"/>
                <a:ea typeface="微软雅黑" panose="020B0503020204020204" pitchFamily="34" charset="-122"/>
                <a:cs typeface="Arial" panose="020B0604020202020204" pitchFamily="34" charset="0"/>
              </a:rPr>
              <a:t>3</a:t>
            </a:r>
            <a:r>
              <a:rPr lang="en-US" altLang="zh-CN" sz="2000">
                <a:latin typeface="Arial" panose="020B0604020202020204" pitchFamily="34" charset="0"/>
                <a:ea typeface="微软雅黑" panose="020B0503020204020204" pitchFamily="34" charset="-122"/>
                <a:cs typeface="Arial" panose="020B0604020202020204" pitchFamily="34" charset="0"/>
              </a:rPr>
              <a:t> d</a:t>
            </a:r>
            <a:r>
              <a:rPr lang="en-US" altLang="zh-CN" sz="2000" baseline="-25000">
                <a:latin typeface="Arial" panose="020B0604020202020204" pitchFamily="34" charset="0"/>
                <a:ea typeface="微软雅黑" panose="020B0503020204020204" pitchFamily="34" charset="-122"/>
                <a:cs typeface="Arial" panose="020B0604020202020204" pitchFamily="34" charset="0"/>
              </a:rPr>
              <a:t>3</a:t>
            </a:r>
            <a:r>
              <a:rPr lang="en-US" altLang="zh-CN" sz="2000">
                <a:latin typeface="Arial" panose="020B0604020202020204" pitchFamily="34" charset="0"/>
                <a:ea typeface="微软雅黑" panose="020B0503020204020204" pitchFamily="34" charset="-122"/>
                <a:cs typeface="Arial" panose="020B0604020202020204" pitchFamily="34" charset="0"/>
              </a:rPr>
              <a:t> e</a:t>
            </a:r>
            <a:r>
              <a:rPr lang="en-US" altLang="zh-CN" sz="2000" baseline="-25000">
                <a:latin typeface="Arial" panose="020B0604020202020204" pitchFamily="34" charset="0"/>
                <a:ea typeface="微软雅黑" panose="020B0503020204020204" pitchFamily="34" charset="-122"/>
                <a:cs typeface="Arial" panose="020B0604020202020204" pitchFamily="34" charset="0"/>
              </a:rPr>
              <a:t>3 </a:t>
            </a:r>
            <a:r>
              <a:rPr lang="en-US" altLang="zh-CN" sz="2000">
                <a:latin typeface="Arial" panose="020B0604020202020204" pitchFamily="34" charset="0"/>
                <a:ea typeface="微软雅黑" panose="020B0503020204020204" pitchFamily="34" charset="-122"/>
                <a:cs typeface="Arial" panose="020B0604020202020204" pitchFamily="34" charset="0"/>
              </a:rPr>
              <a:t> b</a:t>
            </a:r>
            <a:r>
              <a:rPr lang="en-US" altLang="zh-CN" sz="2000" baseline="-25000">
                <a:latin typeface="Arial" panose="020B0604020202020204" pitchFamily="34" charset="0"/>
                <a:ea typeface="微软雅黑" panose="020B0503020204020204" pitchFamily="34" charset="-122"/>
                <a:cs typeface="Arial" panose="020B0604020202020204" pitchFamily="34" charset="0"/>
              </a:rPr>
              <a:t>4</a:t>
            </a:r>
            <a:r>
              <a:rPr lang="en-US" altLang="zh-CN" sz="2000">
                <a:latin typeface="Arial" panose="020B0604020202020204" pitchFamily="34" charset="0"/>
                <a:ea typeface="微软雅黑" panose="020B0503020204020204" pitchFamily="34" charset="-122"/>
                <a:cs typeface="Arial" panose="020B0604020202020204" pitchFamily="34" charset="0"/>
              </a:rPr>
              <a:t> d</a:t>
            </a:r>
            <a:r>
              <a:rPr lang="en-US" altLang="zh-CN" sz="2000" baseline="-25000">
                <a:latin typeface="Arial" panose="020B0604020202020204" pitchFamily="34" charset="0"/>
                <a:ea typeface="微软雅黑" panose="020B0503020204020204" pitchFamily="34" charset="-122"/>
                <a:cs typeface="Arial" panose="020B0604020202020204" pitchFamily="34" charset="0"/>
              </a:rPr>
              <a:t>4</a:t>
            </a:r>
            <a:r>
              <a:rPr lang="en-US" altLang="zh-CN" sz="2000">
                <a:latin typeface="Arial" panose="020B0604020202020204" pitchFamily="34" charset="0"/>
                <a:ea typeface="微软雅黑" panose="020B0503020204020204" pitchFamily="34" charset="-122"/>
                <a:cs typeface="Arial" panose="020B0604020202020204" pitchFamily="34" charset="0"/>
              </a:rPr>
              <a:t> e</a:t>
            </a:r>
            <a:r>
              <a:rPr lang="en-US" altLang="zh-CN" sz="2000" baseline="-25000">
                <a:latin typeface="Arial" panose="020B0604020202020204" pitchFamily="34" charset="0"/>
                <a:ea typeface="微软雅黑" panose="020B0503020204020204" pitchFamily="34" charset="-122"/>
                <a:cs typeface="Arial" panose="020B0604020202020204" pitchFamily="34" charset="0"/>
              </a:rPr>
              <a:t>4</a:t>
            </a:r>
            <a:r>
              <a:rPr lang="en-US" altLang="zh-CN" sz="2000" b="1" i="1">
                <a:latin typeface="Arial" panose="020B0604020202020204" pitchFamily="34" charset="0"/>
                <a:ea typeface="微软雅黑" panose="020B0503020204020204" pitchFamily="34" charset="-122"/>
                <a:cs typeface="Arial" panose="020B0604020202020204" pitchFamily="34" charset="0"/>
              </a:rPr>
              <a:t> </a:t>
            </a:r>
            <a:r>
              <a:rPr lang="en-US" altLang="zh-CN" sz="2000" b="1">
                <a:latin typeface="Arial" panose="020B0604020202020204" pitchFamily="34" charset="0"/>
                <a:ea typeface="微软雅黑" panose="020B0503020204020204" pitchFamily="34" charset="-122"/>
                <a:cs typeface="Arial" panose="020B0604020202020204" pitchFamily="34" charset="0"/>
                <a:sym typeface="Symbol" panose="05050102010706020507" pitchFamily="18" charset="2"/>
              </a:rPr>
              <a:t></a:t>
            </a:r>
            <a:r>
              <a:rPr lang="en-US" altLang="zh-CN" sz="2000" b="1">
                <a:latin typeface="Arial" panose="020B0604020202020204" pitchFamily="34" charset="0"/>
                <a:ea typeface="微软雅黑" panose="020B0503020204020204" pitchFamily="34" charset="-122"/>
                <a:cs typeface="Arial" panose="020B0604020202020204" pitchFamily="34" charset="0"/>
              </a:rPr>
              <a:t> </a:t>
            </a:r>
            <a:r>
              <a:rPr lang="en-US" altLang="zh-CN" sz="2000" b="1">
                <a:latin typeface="Arial" panose="020B0604020202020204" pitchFamily="34" charset="0"/>
                <a:ea typeface="微软雅黑" panose="020B0503020204020204" pitchFamily="34" charset="-122"/>
                <a:cs typeface="Arial" panose="020B0604020202020204" pitchFamily="34" charset="0"/>
                <a:sym typeface="Symbol" panose="05050102010706020507" pitchFamily="18" charset="2"/>
              </a:rPr>
              <a:t></a:t>
            </a:r>
            <a:r>
              <a:rPr lang="en-US" altLang="zh-CN" sz="2000" b="1">
                <a:latin typeface="Arial" panose="020B0604020202020204" pitchFamily="34" charset="0"/>
                <a:ea typeface="微软雅黑" panose="020B0503020204020204" pitchFamily="34" charset="-122"/>
                <a:cs typeface="Arial" panose="020B0604020202020204" pitchFamily="34" charset="0"/>
              </a:rPr>
              <a:t> </a:t>
            </a:r>
            <a:r>
              <a:rPr lang="en-US" altLang="zh-CN" sz="2000" b="1">
                <a:latin typeface="Arial" panose="020B0604020202020204" pitchFamily="34" charset="0"/>
                <a:ea typeface="微软雅黑" panose="020B0503020204020204" pitchFamily="34" charset="-122"/>
                <a:cs typeface="Arial" panose="020B0604020202020204" pitchFamily="34" charset="0"/>
                <a:sym typeface="Symbol" panose="05050102010706020507" pitchFamily="18" charset="2"/>
              </a:rPr>
              <a:t></a:t>
            </a:r>
            <a:r>
              <a:rPr lang="en-US" altLang="zh-CN" sz="2000" b="1">
                <a:latin typeface="Arial" panose="020B0604020202020204" pitchFamily="34" charset="0"/>
                <a:ea typeface="微软雅黑" panose="020B0503020204020204" pitchFamily="34" charset="-122"/>
                <a:cs typeface="Arial" panose="020B0604020202020204" pitchFamily="34" charset="0"/>
              </a:rPr>
              <a:t> </a:t>
            </a:r>
            <a:r>
              <a:rPr lang="en-US" altLang="zh-CN" sz="2000">
                <a:latin typeface="Arial" panose="020B0604020202020204" pitchFamily="34" charset="0"/>
                <a:ea typeface="微软雅黑" panose="020B0503020204020204" pitchFamily="34" charset="-122"/>
                <a:cs typeface="Arial" panose="020B0604020202020204" pitchFamily="34" charset="0"/>
              </a:rPr>
              <a:t>]</a:t>
            </a:r>
          </a:p>
          <a:p>
            <a:pPr eaLnBrk="1" hangingPunct="1">
              <a:lnSpc>
                <a:spcPts val="2800"/>
              </a:lnSpc>
              <a:buFont typeface="Wingdings" panose="05000000000000000000" pitchFamily="2" charset="2"/>
              <a:buNone/>
            </a:pPr>
            <a:r>
              <a:rPr lang="en-US" altLang="zh-CN" sz="2000">
                <a:latin typeface="Arial" panose="020B0604020202020204" pitchFamily="34" charset="0"/>
                <a:ea typeface="微软雅黑" panose="020B0503020204020204" pitchFamily="34" charset="-122"/>
                <a:cs typeface="Arial" panose="020B0604020202020204" pitchFamily="34" charset="0"/>
              </a:rPr>
              <a:t>         =</a:t>
            </a:r>
            <a:r>
              <a:rPr lang="en-US" altLang="zh-CN" sz="2000" b="1">
                <a:latin typeface="Arial" panose="020B0604020202020204" pitchFamily="34" charset="0"/>
                <a:ea typeface="微软雅黑" panose="020B0503020204020204" pitchFamily="34" charset="-122"/>
                <a:cs typeface="Arial" panose="020B0604020202020204" pitchFamily="34" charset="0"/>
              </a:rPr>
              <a:t> </a:t>
            </a:r>
            <a:r>
              <a:rPr lang="en-US" altLang="zh-CN" sz="2000">
                <a:latin typeface="Arial" panose="020B0604020202020204" pitchFamily="34" charset="0"/>
                <a:ea typeface="微软雅黑" panose="020B0503020204020204" pitchFamily="34" charset="-122"/>
                <a:cs typeface="Arial" panose="020B0604020202020204" pitchFamily="34" charset="0"/>
              </a:rPr>
              <a:t>[ b</a:t>
            </a:r>
            <a:r>
              <a:rPr lang="en-US" altLang="zh-CN" sz="2000" baseline="-25000">
                <a:latin typeface="Arial" panose="020B0604020202020204" pitchFamily="34" charset="0"/>
                <a:ea typeface="微软雅黑" panose="020B0503020204020204" pitchFamily="34" charset="-122"/>
                <a:cs typeface="Arial" panose="020B0604020202020204" pitchFamily="34" charset="0"/>
              </a:rPr>
              <a:t>1</a:t>
            </a:r>
            <a:r>
              <a:rPr lang="en-US" altLang="zh-CN" sz="2000">
                <a:latin typeface="Arial" panose="020B0604020202020204" pitchFamily="34" charset="0"/>
                <a:ea typeface="微软雅黑" panose="020B0503020204020204" pitchFamily="34" charset="-122"/>
                <a:cs typeface="Arial" panose="020B0604020202020204" pitchFamily="34" charset="0"/>
              </a:rPr>
              <a:t> b</a:t>
            </a:r>
            <a:r>
              <a:rPr lang="en-US" altLang="zh-CN" sz="2000" baseline="-25000">
                <a:latin typeface="Arial" panose="020B0604020202020204" pitchFamily="34" charset="0"/>
                <a:ea typeface="微软雅黑" panose="020B0503020204020204" pitchFamily="34" charset="-122"/>
                <a:cs typeface="Arial" panose="020B0604020202020204" pitchFamily="34" charset="0"/>
              </a:rPr>
              <a:t>1</a:t>
            </a:r>
            <a:r>
              <a:rPr lang="en-US" altLang="zh-CN" sz="2000">
                <a:latin typeface="Arial" panose="020B0604020202020204" pitchFamily="34" charset="0"/>
                <a:ea typeface="微软雅黑" panose="020B0503020204020204" pitchFamily="34" charset="-122"/>
                <a:cs typeface="Arial" panose="020B0604020202020204" pitchFamily="34" charset="0"/>
              </a:rPr>
              <a:t> b</a:t>
            </a:r>
            <a:r>
              <a:rPr lang="en-US" altLang="zh-CN" sz="2000" baseline="-25000">
                <a:latin typeface="Arial" panose="020B0604020202020204" pitchFamily="34" charset="0"/>
                <a:ea typeface="微软雅黑" panose="020B0503020204020204" pitchFamily="34" charset="-122"/>
                <a:cs typeface="Arial" panose="020B0604020202020204" pitchFamily="34" charset="0"/>
              </a:rPr>
              <a:t>1</a:t>
            </a:r>
            <a:r>
              <a:rPr lang="en-US" altLang="zh-CN" sz="2000">
                <a:latin typeface="Arial" panose="020B0604020202020204" pitchFamily="34" charset="0"/>
                <a:ea typeface="微软雅黑" panose="020B0503020204020204" pitchFamily="34" charset="-122"/>
                <a:cs typeface="Arial" panose="020B0604020202020204" pitchFamily="34" charset="0"/>
              </a:rPr>
              <a:t> b</a:t>
            </a:r>
            <a:r>
              <a:rPr lang="en-US" altLang="zh-CN" sz="2000" baseline="-25000">
                <a:latin typeface="Arial" panose="020B0604020202020204" pitchFamily="34" charset="0"/>
                <a:ea typeface="微软雅黑" panose="020B0503020204020204" pitchFamily="34" charset="-122"/>
                <a:cs typeface="Arial" panose="020B0604020202020204" pitchFamily="34" charset="0"/>
              </a:rPr>
              <a:t>2</a:t>
            </a:r>
            <a:r>
              <a:rPr lang="en-US" altLang="zh-CN" sz="2000">
                <a:latin typeface="Arial" panose="020B0604020202020204" pitchFamily="34" charset="0"/>
                <a:ea typeface="微软雅黑" panose="020B0503020204020204" pitchFamily="34" charset="-122"/>
                <a:cs typeface="Arial" panose="020B0604020202020204" pitchFamily="34" charset="0"/>
              </a:rPr>
              <a:t> b</a:t>
            </a:r>
            <a:r>
              <a:rPr lang="en-US" altLang="zh-CN" sz="2000" baseline="-25000">
                <a:latin typeface="Arial" panose="020B0604020202020204" pitchFamily="34" charset="0"/>
                <a:ea typeface="微软雅黑" panose="020B0503020204020204" pitchFamily="34" charset="-122"/>
                <a:cs typeface="Arial" panose="020B0604020202020204" pitchFamily="34" charset="0"/>
              </a:rPr>
              <a:t>2</a:t>
            </a:r>
            <a:r>
              <a:rPr lang="en-US" altLang="zh-CN" sz="2000">
                <a:latin typeface="Arial" panose="020B0604020202020204" pitchFamily="34" charset="0"/>
                <a:ea typeface="微软雅黑" panose="020B0503020204020204" pitchFamily="34" charset="-122"/>
                <a:cs typeface="Arial" panose="020B0604020202020204" pitchFamily="34" charset="0"/>
              </a:rPr>
              <a:t> (b</a:t>
            </a:r>
            <a:r>
              <a:rPr lang="en-US" altLang="zh-CN" sz="2000" baseline="-25000">
                <a:latin typeface="Arial" panose="020B0604020202020204" pitchFamily="34" charset="0"/>
                <a:ea typeface="微软雅黑" panose="020B0503020204020204" pitchFamily="34" charset="-122"/>
                <a:cs typeface="Arial" panose="020B0604020202020204" pitchFamily="34" charset="0"/>
              </a:rPr>
              <a:t>2</a:t>
            </a:r>
            <a:r>
              <a:rPr lang="en-US" altLang="zh-CN" sz="2000">
                <a:latin typeface="Arial" panose="020B0604020202020204" pitchFamily="34" charset="0"/>
                <a:ea typeface="微软雅黑" panose="020B0503020204020204" pitchFamily="34" charset="-122"/>
                <a:cs typeface="Arial" panose="020B0604020202020204" pitchFamily="34" charset="0"/>
              </a:rPr>
              <a:t> + b</a:t>
            </a:r>
            <a:r>
              <a:rPr lang="en-US" altLang="zh-CN" sz="2000" baseline="-25000">
                <a:latin typeface="Arial" panose="020B0604020202020204" pitchFamily="34" charset="0"/>
                <a:ea typeface="微软雅黑" panose="020B0503020204020204" pitchFamily="34" charset="-122"/>
                <a:cs typeface="Arial" panose="020B0604020202020204" pitchFamily="34" charset="0"/>
              </a:rPr>
              <a:t>1</a:t>
            </a:r>
            <a:r>
              <a:rPr lang="en-US" altLang="zh-CN" sz="2000">
                <a:latin typeface="Arial" panose="020B0604020202020204" pitchFamily="34" charset="0"/>
                <a:ea typeface="微软雅黑" panose="020B0503020204020204" pitchFamily="34" charset="-122"/>
                <a:cs typeface="Arial" panose="020B0604020202020204" pitchFamily="34" charset="0"/>
              </a:rPr>
              <a:t>) b</a:t>
            </a:r>
            <a:r>
              <a:rPr lang="en-US" altLang="zh-CN" sz="2000" baseline="-25000">
                <a:latin typeface="Arial" panose="020B0604020202020204" pitchFamily="34" charset="0"/>
                <a:ea typeface="微软雅黑" panose="020B0503020204020204" pitchFamily="34" charset="-122"/>
                <a:cs typeface="Arial" panose="020B0604020202020204" pitchFamily="34" charset="0"/>
              </a:rPr>
              <a:t>3</a:t>
            </a:r>
            <a:r>
              <a:rPr lang="en-US" altLang="zh-CN" sz="2000">
                <a:latin typeface="Arial" panose="020B0604020202020204" pitchFamily="34" charset="0"/>
                <a:ea typeface="微软雅黑" panose="020B0503020204020204" pitchFamily="34" charset="-122"/>
                <a:cs typeface="Arial" panose="020B0604020202020204" pitchFamily="34" charset="0"/>
              </a:rPr>
              <a:t> (b</a:t>
            </a:r>
            <a:r>
              <a:rPr lang="en-US" altLang="zh-CN" sz="2000" baseline="-25000">
                <a:latin typeface="Arial" panose="020B0604020202020204" pitchFamily="34" charset="0"/>
                <a:ea typeface="微软雅黑" panose="020B0503020204020204" pitchFamily="34" charset="-122"/>
                <a:cs typeface="Arial" panose="020B0604020202020204" pitchFamily="34" charset="0"/>
              </a:rPr>
              <a:t>3</a:t>
            </a:r>
            <a:r>
              <a:rPr lang="en-US" altLang="zh-CN" sz="2000">
                <a:latin typeface="Arial" panose="020B0604020202020204" pitchFamily="34" charset="0"/>
                <a:ea typeface="微软雅黑" panose="020B0503020204020204" pitchFamily="34" charset="-122"/>
                <a:cs typeface="Arial" panose="020B0604020202020204" pitchFamily="34" charset="0"/>
              </a:rPr>
              <a:t> + b</a:t>
            </a:r>
            <a:r>
              <a:rPr lang="en-US" altLang="zh-CN" sz="2000" baseline="-25000">
                <a:latin typeface="Arial" panose="020B0604020202020204" pitchFamily="34" charset="0"/>
                <a:ea typeface="微软雅黑" panose="020B0503020204020204" pitchFamily="34" charset="-122"/>
                <a:cs typeface="Arial" panose="020B0604020202020204" pitchFamily="34" charset="0"/>
              </a:rPr>
              <a:t>1</a:t>
            </a:r>
            <a:r>
              <a:rPr lang="en-US" altLang="zh-CN" sz="2000">
                <a:latin typeface="Arial" panose="020B0604020202020204" pitchFamily="34" charset="0"/>
                <a:ea typeface="微软雅黑" panose="020B0503020204020204" pitchFamily="34" charset="-122"/>
                <a:cs typeface="Arial" panose="020B0604020202020204" pitchFamily="34" charset="0"/>
              </a:rPr>
              <a:t>) (b</a:t>
            </a:r>
            <a:r>
              <a:rPr lang="en-US" altLang="zh-CN" sz="2000" baseline="-25000">
                <a:latin typeface="Arial" panose="020B0604020202020204" pitchFamily="34" charset="0"/>
                <a:ea typeface="微软雅黑" panose="020B0503020204020204" pitchFamily="34" charset="-122"/>
                <a:cs typeface="Arial" panose="020B0604020202020204" pitchFamily="34" charset="0"/>
              </a:rPr>
              <a:t>3</a:t>
            </a:r>
            <a:r>
              <a:rPr lang="en-US" altLang="zh-CN" sz="2000">
                <a:latin typeface="Arial" panose="020B0604020202020204" pitchFamily="34" charset="0"/>
                <a:ea typeface="微软雅黑" panose="020B0503020204020204" pitchFamily="34" charset="-122"/>
                <a:cs typeface="Arial" panose="020B0604020202020204" pitchFamily="34" charset="0"/>
              </a:rPr>
              <a:t> + b</a:t>
            </a:r>
            <a:r>
              <a:rPr lang="en-US" altLang="zh-CN" sz="2000" baseline="-25000">
                <a:latin typeface="Arial" panose="020B0604020202020204" pitchFamily="34" charset="0"/>
                <a:ea typeface="微软雅黑" panose="020B0503020204020204" pitchFamily="34" charset="-122"/>
                <a:cs typeface="Arial" panose="020B0604020202020204" pitchFamily="34" charset="0"/>
              </a:rPr>
              <a:t>2</a:t>
            </a:r>
            <a:r>
              <a:rPr lang="en-US" altLang="zh-CN" sz="2000">
                <a:latin typeface="Arial" panose="020B0604020202020204" pitchFamily="34" charset="0"/>
                <a:ea typeface="微软雅黑" panose="020B0503020204020204" pitchFamily="34" charset="-122"/>
                <a:cs typeface="Arial" panose="020B0604020202020204" pitchFamily="34" charset="0"/>
              </a:rPr>
              <a:t> + b</a:t>
            </a:r>
            <a:r>
              <a:rPr lang="en-US" altLang="zh-CN" sz="2000" baseline="-25000">
                <a:latin typeface="Arial" panose="020B0604020202020204" pitchFamily="34" charset="0"/>
                <a:ea typeface="微软雅黑" panose="020B0503020204020204" pitchFamily="34" charset="-122"/>
                <a:cs typeface="Arial" panose="020B0604020202020204" pitchFamily="34" charset="0"/>
              </a:rPr>
              <a:t>1</a:t>
            </a:r>
            <a:r>
              <a:rPr lang="en-US" altLang="zh-CN" sz="2000">
                <a:latin typeface="Arial" panose="020B0604020202020204" pitchFamily="34" charset="0"/>
                <a:ea typeface="微软雅黑" panose="020B0503020204020204" pitchFamily="34" charset="-122"/>
                <a:cs typeface="Arial" panose="020B0604020202020204" pitchFamily="34" charset="0"/>
              </a:rPr>
              <a:t>) b</a:t>
            </a:r>
            <a:r>
              <a:rPr lang="en-US" altLang="zh-CN" sz="2000" baseline="-25000">
                <a:latin typeface="Arial" panose="020B0604020202020204" pitchFamily="34" charset="0"/>
                <a:ea typeface="微软雅黑" panose="020B0503020204020204" pitchFamily="34" charset="-122"/>
                <a:cs typeface="Arial" panose="020B0604020202020204" pitchFamily="34" charset="0"/>
              </a:rPr>
              <a:t>4</a:t>
            </a:r>
            <a:r>
              <a:rPr lang="en-US" altLang="zh-CN" sz="2000">
                <a:latin typeface="Arial" panose="020B0604020202020204" pitchFamily="34" charset="0"/>
                <a:ea typeface="微软雅黑" panose="020B0503020204020204" pitchFamily="34" charset="-122"/>
                <a:cs typeface="Arial" panose="020B0604020202020204" pitchFamily="34" charset="0"/>
              </a:rPr>
              <a:t> (b</a:t>
            </a:r>
            <a:r>
              <a:rPr lang="en-US" altLang="zh-CN" sz="2000" baseline="-25000">
                <a:latin typeface="Arial" panose="020B0604020202020204" pitchFamily="34" charset="0"/>
                <a:ea typeface="微软雅黑" panose="020B0503020204020204" pitchFamily="34" charset="-122"/>
                <a:cs typeface="Arial" panose="020B0604020202020204" pitchFamily="34" charset="0"/>
              </a:rPr>
              <a:t>4</a:t>
            </a:r>
            <a:r>
              <a:rPr lang="en-US" altLang="zh-CN" sz="2000">
                <a:latin typeface="Arial" panose="020B0604020202020204" pitchFamily="34" charset="0"/>
                <a:ea typeface="微软雅黑" panose="020B0503020204020204" pitchFamily="34" charset="-122"/>
                <a:cs typeface="Arial" panose="020B0604020202020204" pitchFamily="34" charset="0"/>
              </a:rPr>
              <a:t> + b</a:t>
            </a:r>
            <a:r>
              <a:rPr lang="en-US" altLang="zh-CN" sz="2000" baseline="-25000">
                <a:latin typeface="Arial" panose="020B0604020202020204" pitchFamily="34" charset="0"/>
                <a:ea typeface="微软雅黑" panose="020B0503020204020204" pitchFamily="34" charset="-122"/>
                <a:cs typeface="Arial" panose="020B0604020202020204" pitchFamily="34" charset="0"/>
              </a:rPr>
              <a:t>2</a:t>
            </a:r>
            <a:r>
              <a:rPr lang="en-US" altLang="zh-CN" sz="2000">
                <a:latin typeface="Arial" panose="020B0604020202020204" pitchFamily="34" charset="0"/>
                <a:ea typeface="微软雅黑" panose="020B0503020204020204" pitchFamily="34" charset="-122"/>
                <a:cs typeface="Arial" panose="020B0604020202020204" pitchFamily="34" charset="0"/>
              </a:rPr>
              <a:t>)    </a:t>
            </a:r>
          </a:p>
          <a:p>
            <a:pPr eaLnBrk="1" hangingPunct="1">
              <a:lnSpc>
                <a:spcPts val="2800"/>
              </a:lnSpc>
              <a:buFont typeface="Wingdings" panose="05000000000000000000" pitchFamily="2" charset="2"/>
              <a:buNone/>
            </a:pPr>
            <a:r>
              <a:rPr lang="en-US" altLang="zh-CN" sz="2000">
                <a:latin typeface="Arial" panose="020B0604020202020204" pitchFamily="34" charset="0"/>
                <a:ea typeface="微软雅黑" panose="020B0503020204020204" pitchFamily="34" charset="-122"/>
                <a:cs typeface="Arial" panose="020B0604020202020204" pitchFamily="34" charset="0"/>
              </a:rPr>
              <a:t>             (b</a:t>
            </a:r>
            <a:r>
              <a:rPr lang="en-US" altLang="zh-CN" sz="2000" baseline="-25000">
                <a:latin typeface="Arial" panose="020B0604020202020204" pitchFamily="34" charset="0"/>
                <a:ea typeface="微软雅黑" panose="020B0503020204020204" pitchFamily="34" charset="-122"/>
                <a:cs typeface="Arial" panose="020B0604020202020204" pitchFamily="34" charset="0"/>
              </a:rPr>
              <a:t>4</a:t>
            </a:r>
            <a:r>
              <a:rPr lang="en-US" altLang="zh-CN" sz="2000">
                <a:latin typeface="Arial" panose="020B0604020202020204" pitchFamily="34" charset="0"/>
                <a:ea typeface="微软雅黑" panose="020B0503020204020204" pitchFamily="34" charset="-122"/>
                <a:cs typeface="Arial" panose="020B0604020202020204" pitchFamily="34" charset="0"/>
              </a:rPr>
              <a:t> + b</a:t>
            </a:r>
            <a:r>
              <a:rPr lang="en-US" altLang="zh-CN" sz="2000" baseline="-25000">
                <a:latin typeface="Arial" panose="020B0604020202020204" pitchFamily="34" charset="0"/>
                <a:ea typeface="微软雅黑" panose="020B0503020204020204" pitchFamily="34" charset="-122"/>
                <a:cs typeface="Arial" panose="020B0604020202020204" pitchFamily="34" charset="0"/>
              </a:rPr>
              <a:t>3</a:t>
            </a:r>
            <a:r>
              <a:rPr lang="en-US" altLang="zh-CN" sz="2000">
                <a:latin typeface="Arial" panose="020B0604020202020204" pitchFamily="34" charset="0"/>
                <a:ea typeface="微软雅黑" panose="020B0503020204020204" pitchFamily="34" charset="-122"/>
                <a:cs typeface="Arial" panose="020B0604020202020204" pitchFamily="34" charset="0"/>
              </a:rPr>
              <a:t> + b</a:t>
            </a:r>
            <a:r>
              <a:rPr lang="en-US" altLang="zh-CN" sz="2000" baseline="-25000">
                <a:latin typeface="Arial" panose="020B0604020202020204" pitchFamily="34" charset="0"/>
                <a:ea typeface="微软雅黑" panose="020B0503020204020204" pitchFamily="34" charset="-122"/>
                <a:cs typeface="Arial" panose="020B0604020202020204" pitchFamily="34" charset="0"/>
              </a:rPr>
              <a:t>2</a:t>
            </a:r>
            <a:r>
              <a:rPr lang="en-US" altLang="zh-CN" sz="2000">
                <a:latin typeface="Arial" panose="020B0604020202020204" pitchFamily="34" charset="0"/>
                <a:ea typeface="微软雅黑" panose="020B0503020204020204" pitchFamily="34" charset="-122"/>
                <a:cs typeface="Arial" panose="020B0604020202020204" pitchFamily="34" charset="0"/>
              </a:rPr>
              <a:t>)</a:t>
            </a:r>
            <a:r>
              <a:rPr lang="en-US" altLang="zh-CN" sz="2000" b="1" i="1">
                <a:latin typeface="Arial" panose="020B0604020202020204" pitchFamily="34" charset="0"/>
                <a:ea typeface="微软雅黑" panose="020B0503020204020204" pitchFamily="34" charset="-122"/>
                <a:cs typeface="Arial" panose="020B0604020202020204" pitchFamily="34" charset="0"/>
              </a:rPr>
              <a:t> </a:t>
            </a:r>
            <a:r>
              <a:rPr lang="en-US" altLang="zh-CN" sz="2000" b="1">
                <a:latin typeface="Arial" panose="020B0604020202020204" pitchFamily="34" charset="0"/>
                <a:ea typeface="微软雅黑" panose="020B0503020204020204" pitchFamily="34" charset="-122"/>
                <a:cs typeface="Arial" panose="020B0604020202020204" pitchFamily="34" charset="0"/>
                <a:sym typeface="Symbol" panose="05050102010706020507" pitchFamily="18" charset="2"/>
              </a:rPr>
              <a:t></a:t>
            </a:r>
            <a:r>
              <a:rPr lang="en-US" altLang="zh-CN" sz="2000" b="1">
                <a:latin typeface="Arial" panose="020B0604020202020204" pitchFamily="34" charset="0"/>
                <a:ea typeface="微软雅黑" panose="020B0503020204020204" pitchFamily="34" charset="-122"/>
                <a:cs typeface="Arial" panose="020B0604020202020204" pitchFamily="34" charset="0"/>
              </a:rPr>
              <a:t> </a:t>
            </a:r>
            <a:r>
              <a:rPr lang="en-US" altLang="zh-CN" sz="2000" b="1">
                <a:latin typeface="Arial" panose="020B0604020202020204" pitchFamily="34" charset="0"/>
                <a:ea typeface="微软雅黑" panose="020B0503020204020204" pitchFamily="34" charset="-122"/>
                <a:cs typeface="Arial" panose="020B0604020202020204" pitchFamily="34" charset="0"/>
                <a:sym typeface="Symbol" panose="05050102010706020507" pitchFamily="18" charset="2"/>
              </a:rPr>
              <a:t></a:t>
            </a:r>
            <a:r>
              <a:rPr lang="en-US" altLang="zh-CN" sz="2000" b="1">
                <a:latin typeface="Arial" panose="020B0604020202020204" pitchFamily="34" charset="0"/>
                <a:ea typeface="微软雅黑" panose="020B0503020204020204" pitchFamily="34" charset="-122"/>
                <a:cs typeface="Arial" panose="020B0604020202020204" pitchFamily="34" charset="0"/>
              </a:rPr>
              <a:t> </a:t>
            </a:r>
            <a:r>
              <a:rPr lang="en-US" altLang="zh-CN" sz="2000" b="1">
                <a:latin typeface="Arial" panose="020B0604020202020204" pitchFamily="34" charset="0"/>
                <a:ea typeface="微软雅黑" panose="020B0503020204020204" pitchFamily="34" charset="-122"/>
                <a:cs typeface="Arial" panose="020B0604020202020204" pitchFamily="34" charset="0"/>
                <a:sym typeface="Symbol" panose="05050102010706020507" pitchFamily="18" charset="2"/>
              </a:rPr>
              <a:t></a:t>
            </a:r>
            <a:r>
              <a:rPr lang="en-US" altLang="zh-CN" sz="2000" b="1">
                <a:latin typeface="Arial" panose="020B0604020202020204" pitchFamily="34" charset="0"/>
                <a:ea typeface="微软雅黑" panose="020B0503020204020204" pitchFamily="34" charset="-122"/>
                <a:cs typeface="Arial" panose="020B0604020202020204" pitchFamily="34" charset="0"/>
              </a:rPr>
              <a:t> </a:t>
            </a:r>
            <a:r>
              <a:rPr lang="en-US" altLang="zh-CN" sz="2000">
                <a:latin typeface="Arial" panose="020B0604020202020204" pitchFamily="34" charset="0"/>
                <a:ea typeface="微软雅黑" panose="020B0503020204020204" pitchFamily="34" charset="-122"/>
                <a:cs typeface="Arial" panose="020B0604020202020204" pitchFamily="34" charset="0"/>
              </a:rPr>
              <a:t>]</a:t>
            </a:r>
          </a:p>
          <a:p>
            <a:pPr lvl="3" eaLnBrk="1" hangingPunct="1">
              <a:lnSpc>
                <a:spcPts val="2800"/>
              </a:lnSpc>
              <a:buFont typeface="Wingdings" panose="05000000000000000000" pitchFamily="2" charset="2"/>
              <a:buNone/>
            </a:pPr>
            <a:endParaRPr lang="en-US" altLang="zh-CN">
              <a:latin typeface="Arial" panose="020B0604020202020204" pitchFamily="34" charset="0"/>
              <a:ea typeface="微软雅黑" panose="020B0503020204020204" pitchFamily="34" charset="-122"/>
              <a:cs typeface="Arial" panose="020B0604020202020204" pitchFamily="34" charset="0"/>
            </a:endParaRPr>
          </a:p>
        </p:txBody>
      </p:sp>
      <p:sp>
        <p:nvSpPr>
          <p:cNvPr id="46085" name="Rectangle 5">
            <a:extLst>
              <a:ext uri="{FF2B5EF4-FFF2-40B4-BE49-F238E27FC236}">
                <a16:creationId xmlns:a16="http://schemas.microsoft.com/office/drawing/2014/main" id="{31F4FD33-C9E0-7B5A-996C-244448FB3CF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aphicFrame>
        <p:nvGraphicFramePr>
          <p:cNvPr id="117764" name="Object 4">
            <a:extLst>
              <a:ext uri="{FF2B5EF4-FFF2-40B4-BE49-F238E27FC236}">
                <a16:creationId xmlns:a16="http://schemas.microsoft.com/office/drawing/2014/main" id="{2C5F6801-7B96-9784-FF1C-FD73F881BD5F}"/>
              </a:ext>
            </a:extLst>
          </p:cNvPr>
          <p:cNvGraphicFramePr>
            <a:graphicFrameLocks noChangeAspect="1"/>
          </p:cNvGraphicFramePr>
          <p:nvPr/>
        </p:nvGraphicFramePr>
        <p:xfrm>
          <a:off x="1989138" y="2786063"/>
          <a:ext cx="6226175" cy="3487737"/>
        </p:xfrm>
        <a:graphic>
          <a:graphicData uri="http://schemas.openxmlformats.org/presentationml/2006/ole">
            <mc:AlternateContent xmlns:mc="http://schemas.openxmlformats.org/markup-compatibility/2006">
              <mc:Choice xmlns:v="urn:schemas-microsoft-com:vml" Requires="v">
                <p:oleObj name="公式" r:id="rId2" imgW="2628720" imgH="1828800" progId="Equation.3">
                  <p:embed/>
                </p:oleObj>
              </mc:Choice>
              <mc:Fallback>
                <p:oleObj name="公式" r:id="rId2" imgW="2628720" imgH="18288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9138" y="2786063"/>
                        <a:ext cx="6226175" cy="3487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矩形 7">
            <a:extLst>
              <a:ext uri="{FF2B5EF4-FFF2-40B4-BE49-F238E27FC236}">
                <a16:creationId xmlns:a16="http://schemas.microsoft.com/office/drawing/2014/main" id="{CA8F3103-A5CD-18F2-B104-5C36DEDD4CA1}"/>
              </a:ext>
            </a:extLst>
          </p:cNvPr>
          <p:cNvSpPr/>
          <p:nvPr/>
        </p:nvSpPr>
        <p:spPr>
          <a:xfrm>
            <a:off x="571500" y="428625"/>
            <a:ext cx="2093913" cy="523875"/>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wrap="none">
            <a:spAutoFit/>
          </a:bodyPr>
          <a:lstStyle/>
          <a:p>
            <a:pPr>
              <a:buClr>
                <a:srgbClr val="FF0000"/>
              </a:buClr>
              <a:buSzPct val="80000"/>
              <a:buFont typeface="Wingdings" pitchFamily="2" charset="2"/>
              <a:buChar char="n"/>
              <a:defRPr/>
            </a:pPr>
            <a:r>
              <a:rPr kumimoji="0" lang="zh-CN" altLang="en-US" sz="2800" b="0" kern="0" dirty="0">
                <a:solidFill>
                  <a:srgbClr val="000000"/>
                </a:solidFill>
                <a:latin typeface="Arial" pitchFamily="34" charset="0"/>
                <a:ea typeface="微软雅黑" pitchFamily="34" charset="-122"/>
                <a:cs typeface="Arial" pitchFamily="34" charset="0"/>
              </a:rPr>
              <a:t> </a:t>
            </a:r>
            <a:r>
              <a:rPr kumimoji="0" lang="zh-CN" altLang="en-US" sz="2400" kern="0" dirty="0">
                <a:solidFill>
                  <a:srgbClr val="000000"/>
                </a:solidFill>
                <a:latin typeface="Arial" pitchFamily="34" charset="0"/>
                <a:ea typeface="微软雅黑" pitchFamily="34" charset="-122"/>
                <a:cs typeface="Arial" pitchFamily="34" charset="0"/>
              </a:rPr>
              <a:t>生成矩阵 </a:t>
            </a:r>
            <a:r>
              <a:rPr kumimoji="0" lang="en-US" altLang="zh-CN" sz="2800" i="1" kern="0" dirty="0">
                <a:solidFill>
                  <a:srgbClr val="FF0000"/>
                </a:solidFill>
                <a:latin typeface="Arial" pitchFamily="34" charset="0"/>
                <a:ea typeface="微软雅黑" pitchFamily="34" charset="-122"/>
                <a:cs typeface="Arial" pitchFamily="34" charset="0"/>
              </a:rPr>
              <a:t>G</a:t>
            </a:r>
            <a:endParaRPr lang="zh-CN" altLang="en-US" sz="2800" dirty="0">
              <a:solidFill>
                <a:srgbClr val="FF0000"/>
              </a:solidFill>
              <a:latin typeface="Arial" pitchFamily="34" charset="0"/>
              <a:ea typeface="微软雅黑" pitchFamily="34" charset="-122"/>
              <a:cs typeface="Arial" pitchFamily="34" charset="0"/>
            </a:endParaRPr>
          </a:p>
        </p:txBody>
      </p:sp>
      <p:sp>
        <p:nvSpPr>
          <p:cNvPr id="10" name="矩形 9">
            <a:extLst>
              <a:ext uri="{FF2B5EF4-FFF2-40B4-BE49-F238E27FC236}">
                <a16:creationId xmlns:a16="http://schemas.microsoft.com/office/drawing/2014/main" id="{32721446-D07E-444E-5511-6C15F8D6BCED}"/>
              </a:ext>
            </a:extLst>
          </p:cNvPr>
          <p:cNvSpPr/>
          <p:nvPr/>
        </p:nvSpPr>
        <p:spPr>
          <a:xfrm>
            <a:off x="857250" y="1071563"/>
            <a:ext cx="7140575" cy="400050"/>
          </a:xfrm>
          <a:prstGeom prst="rect">
            <a:avLst/>
          </a:prstGeom>
        </p:spPr>
        <p:txBody>
          <a:bodyPr>
            <a:spAutoFit/>
          </a:bodyPr>
          <a:lstStyle/>
          <a:p>
            <a:pPr marL="342900" indent="-342900">
              <a:spcBef>
                <a:spcPct val="20000"/>
              </a:spcBef>
              <a:buClr>
                <a:srgbClr val="3333CC"/>
              </a:buClr>
              <a:buSzPct val="60000"/>
              <a:defRPr/>
            </a:pPr>
            <a:r>
              <a:rPr kumimoji="0" lang="zh-CN" altLang="en-US" sz="2000" b="0" kern="0" dirty="0">
                <a:solidFill>
                  <a:srgbClr val="000000"/>
                </a:solidFill>
                <a:latin typeface="Arial" pitchFamily="34" charset="0"/>
                <a:ea typeface="微软雅黑" pitchFamily="34" charset="-122"/>
                <a:cs typeface="Arial" pitchFamily="34" charset="0"/>
              </a:rPr>
              <a:t>上例</a:t>
            </a:r>
            <a:r>
              <a:rPr kumimoji="0" lang="en-US" altLang="zh-CN" sz="2000" b="0" kern="0" dirty="0">
                <a:solidFill>
                  <a:srgbClr val="0000CC"/>
                </a:solidFill>
                <a:latin typeface="Arial" pitchFamily="34" charset="0"/>
                <a:ea typeface="微软雅黑" pitchFamily="34" charset="-122"/>
                <a:cs typeface="Arial" pitchFamily="34" charset="0"/>
              </a:rPr>
              <a:t>(</a:t>
            </a:r>
            <a:r>
              <a:rPr kumimoji="0" lang="en-US" altLang="zh-CN" sz="2000" b="0" i="1" kern="0" dirty="0">
                <a:solidFill>
                  <a:srgbClr val="0000CC"/>
                </a:solidFill>
                <a:latin typeface="Arial" pitchFamily="34" charset="0"/>
                <a:ea typeface="微软雅黑" pitchFamily="34" charset="-122"/>
                <a:cs typeface="Arial" pitchFamily="34" charset="0"/>
              </a:rPr>
              <a:t>n</a:t>
            </a:r>
            <a:r>
              <a:rPr kumimoji="0" lang="en-US" altLang="zh-CN" sz="2000" b="0" kern="0" dirty="0">
                <a:solidFill>
                  <a:srgbClr val="0000CC"/>
                </a:solidFill>
                <a:latin typeface="Arial" pitchFamily="34" charset="0"/>
                <a:ea typeface="微软雅黑" pitchFamily="34" charset="-122"/>
                <a:cs typeface="Arial" pitchFamily="34" charset="0"/>
              </a:rPr>
              <a:t>, </a:t>
            </a:r>
            <a:r>
              <a:rPr kumimoji="0" lang="en-US" altLang="zh-CN" sz="2000" b="0" i="1" kern="0" dirty="0">
                <a:solidFill>
                  <a:srgbClr val="0000CC"/>
                </a:solidFill>
                <a:latin typeface="Arial" pitchFamily="34" charset="0"/>
                <a:ea typeface="微软雅黑" pitchFamily="34" charset="-122"/>
                <a:cs typeface="Arial" pitchFamily="34" charset="0"/>
              </a:rPr>
              <a:t>k</a:t>
            </a:r>
            <a:r>
              <a:rPr kumimoji="0" lang="en-US" altLang="zh-CN" sz="2000" b="0" kern="0" dirty="0">
                <a:solidFill>
                  <a:srgbClr val="0000CC"/>
                </a:solidFill>
                <a:latin typeface="Arial" pitchFamily="34" charset="0"/>
                <a:ea typeface="微软雅黑" pitchFamily="34" charset="-122"/>
                <a:cs typeface="Arial" pitchFamily="34" charset="0"/>
              </a:rPr>
              <a:t>, </a:t>
            </a:r>
            <a:r>
              <a:rPr kumimoji="0" lang="en-US" altLang="zh-CN" sz="2000" b="0" i="1" kern="0" dirty="0">
                <a:solidFill>
                  <a:srgbClr val="0000CC"/>
                </a:solidFill>
                <a:latin typeface="Arial" pitchFamily="34" charset="0"/>
                <a:ea typeface="微软雅黑" pitchFamily="34" charset="-122"/>
                <a:cs typeface="Arial" pitchFamily="34" charset="0"/>
              </a:rPr>
              <a:t>N</a:t>
            </a:r>
            <a:r>
              <a:rPr kumimoji="0" lang="en-US" altLang="zh-CN" sz="2000" b="0" kern="0" dirty="0">
                <a:solidFill>
                  <a:srgbClr val="0000CC"/>
                </a:solidFill>
                <a:latin typeface="Arial" pitchFamily="34" charset="0"/>
                <a:ea typeface="微软雅黑" pitchFamily="34" charset="-122"/>
                <a:cs typeface="Arial" pitchFamily="34" charset="0"/>
              </a:rPr>
              <a:t>) = (3, 1, 3)</a:t>
            </a:r>
            <a:r>
              <a:rPr kumimoji="0" lang="zh-CN" altLang="en-US" sz="2000" b="0" kern="0" dirty="0">
                <a:solidFill>
                  <a:srgbClr val="000000"/>
                </a:solidFill>
                <a:latin typeface="Arial" pitchFamily="34" charset="0"/>
                <a:ea typeface="微软雅黑" pitchFamily="34" charset="-122"/>
                <a:cs typeface="Arial" pitchFamily="34" charset="0"/>
              </a:rPr>
              <a:t>中的输出码元序列可写成：</a:t>
            </a:r>
          </a:p>
        </p:txBody>
      </p:sp>
      <p:graphicFrame>
        <p:nvGraphicFramePr>
          <p:cNvPr id="71688" name="Object 8">
            <a:extLst>
              <a:ext uri="{FF2B5EF4-FFF2-40B4-BE49-F238E27FC236}">
                <a16:creationId xmlns:a16="http://schemas.microsoft.com/office/drawing/2014/main" id="{3CF80E3B-C3E6-A97F-1F66-8698D1CFAFE4}"/>
              </a:ext>
            </a:extLst>
          </p:cNvPr>
          <p:cNvGraphicFramePr>
            <a:graphicFrameLocks noChangeAspect="1"/>
          </p:cNvGraphicFramePr>
          <p:nvPr/>
        </p:nvGraphicFramePr>
        <p:xfrm>
          <a:off x="944563" y="5857875"/>
          <a:ext cx="2270125" cy="433388"/>
        </p:xfrm>
        <a:graphic>
          <a:graphicData uri="http://schemas.openxmlformats.org/presentationml/2006/ole">
            <mc:AlternateContent xmlns:mc="http://schemas.openxmlformats.org/markup-compatibility/2006">
              <mc:Choice xmlns:v="urn:schemas-microsoft-com:vml" Requires="v">
                <p:oleObj name="公式" r:id="rId4" imgW="1104840" imgH="228600" progId="Equation.3">
                  <p:embed/>
                </p:oleObj>
              </mc:Choice>
              <mc:Fallback>
                <p:oleObj name="公式" r:id="rId4" imgW="1104840" imgH="22860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4563" y="5857875"/>
                        <a:ext cx="2270125" cy="433388"/>
                      </a:xfrm>
                      <a:prstGeom prst="rect">
                        <a:avLst/>
                      </a:prstGeom>
                      <a:noFill/>
                      <a:ln w="38100" cmpd="dbl">
                        <a:solidFill>
                          <a:srgbClr val="6666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矩形 12">
            <a:extLst>
              <a:ext uri="{FF2B5EF4-FFF2-40B4-BE49-F238E27FC236}">
                <a16:creationId xmlns:a16="http://schemas.microsoft.com/office/drawing/2014/main" id="{E10EDAE1-2D2C-C938-1EE9-E9A117A4A76C}"/>
              </a:ext>
            </a:extLst>
          </p:cNvPr>
          <p:cNvSpPr/>
          <p:nvPr/>
        </p:nvSpPr>
        <p:spPr>
          <a:xfrm>
            <a:off x="885825" y="5357813"/>
            <a:ext cx="954088" cy="400050"/>
          </a:xfrm>
          <a:prstGeom prst="rect">
            <a:avLst/>
          </a:prstGeom>
        </p:spPr>
        <p:txBody>
          <a:bodyPr wrap="none">
            <a:spAutoFit/>
          </a:bodyPr>
          <a:lstStyle/>
          <a:p>
            <a:pPr>
              <a:defRPr/>
            </a:pPr>
            <a:r>
              <a:rPr kumimoji="0" lang="zh-CN" altLang="en-US" sz="2000" b="0" kern="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对比：</a:t>
            </a:r>
            <a:endParaRPr lang="zh-CN" altLang="en-US" dirty="0">
              <a:solidFill>
                <a:srgbClr val="0000CC"/>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10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17763">
                                            <p:txEl>
                                              <p:pRg st="0" end="0"/>
                                            </p:txEl>
                                          </p:spTgt>
                                        </p:tgtEl>
                                        <p:attrNameLst>
                                          <p:attrName>style.visibility</p:attrName>
                                        </p:attrNameLst>
                                      </p:cBhvr>
                                      <p:to>
                                        <p:strVal val="visible"/>
                                      </p:to>
                                    </p:set>
                                    <p:animEffect transition="in" filter="wipe(up)">
                                      <p:cBhvr>
                                        <p:cTn id="12" dur="1000"/>
                                        <p:tgtEl>
                                          <p:spTgt spid="11776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17763">
                                            <p:txEl>
                                              <p:pRg st="1" end="1"/>
                                            </p:txEl>
                                          </p:spTgt>
                                        </p:tgtEl>
                                        <p:attrNameLst>
                                          <p:attrName>style.visibility</p:attrName>
                                        </p:attrNameLst>
                                      </p:cBhvr>
                                      <p:to>
                                        <p:strVal val="visible"/>
                                      </p:to>
                                    </p:set>
                                    <p:animEffect transition="in" filter="wipe(up)">
                                      <p:cBhvr>
                                        <p:cTn id="17" dur="1000"/>
                                        <p:tgtEl>
                                          <p:spTgt spid="11776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17763">
                                            <p:txEl>
                                              <p:pRg st="2" end="2"/>
                                            </p:txEl>
                                          </p:spTgt>
                                        </p:tgtEl>
                                        <p:attrNameLst>
                                          <p:attrName>style.visibility</p:attrName>
                                        </p:attrNameLst>
                                      </p:cBhvr>
                                      <p:to>
                                        <p:strVal val="visible"/>
                                      </p:to>
                                    </p:set>
                                    <p:animEffect transition="in" filter="wipe(up)">
                                      <p:cBhvr>
                                        <p:cTn id="22" dur="1000"/>
                                        <p:tgtEl>
                                          <p:spTgt spid="117763">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17764"/>
                                        </p:tgtEl>
                                        <p:attrNameLst>
                                          <p:attrName>style.visibility</p:attrName>
                                        </p:attrNameLst>
                                      </p:cBhvr>
                                      <p:to>
                                        <p:strVal val="visible"/>
                                      </p:to>
                                    </p:set>
                                    <p:animEffect transition="in" filter="wipe(left)">
                                      <p:cBhvr>
                                        <p:cTn id="27" dur="3000"/>
                                        <p:tgtEl>
                                          <p:spTgt spid="11776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up)">
                                      <p:cBhvr>
                                        <p:cTn id="32" dur="1000"/>
                                        <p:tgtEl>
                                          <p:spTgt spid="13"/>
                                        </p:tgtEl>
                                      </p:cBhvr>
                                    </p:animEffect>
                                  </p:childTnLst>
                                </p:cTn>
                              </p:par>
                            </p:childTnLst>
                          </p:cTn>
                        </p:par>
                        <p:par>
                          <p:cTn id="33" fill="hold" nodeType="afterGroup">
                            <p:stCondLst>
                              <p:cond delay="1000"/>
                            </p:stCondLst>
                            <p:childTnLst>
                              <p:par>
                                <p:cTn id="34" presetID="22" presetClass="entr" presetSubtype="1" fill="hold" nodeType="afterEffect">
                                  <p:stCondLst>
                                    <p:cond delay="0"/>
                                  </p:stCondLst>
                                  <p:childTnLst>
                                    <p:set>
                                      <p:cBhvr>
                                        <p:cTn id="35" dur="1" fill="hold">
                                          <p:stCondLst>
                                            <p:cond delay="0"/>
                                          </p:stCondLst>
                                        </p:cTn>
                                        <p:tgtEl>
                                          <p:spTgt spid="71688"/>
                                        </p:tgtEl>
                                        <p:attrNameLst>
                                          <p:attrName>style.visibility</p:attrName>
                                        </p:attrNameLst>
                                      </p:cBhvr>
                                      <p:to>
                                        <p:strVal val="visible"/>
                                      </p:to>
                                    </p:set>
                                    <p:animEffect transition="in" filter="wipe(up)">
                                      <p:cBhvr>
                                        <p:cTn id="36" dur="1000"/>
                                        <p:tgtEl>
                                          <p:spTgt spid="716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3" grpId="0" build="p"/>
      <p:bldP spid="10" grpId="0"/>
      <p:bldP spid="13"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Rectangle 3">
            <a:extLst>
              <a:ext uri="{FF2B5EF4-FFF2-40B4-BE49-F238E27FC236}">
                <a16:creationId xmlns:a16="http://schemas.microsoft.com/office/drawing/2014/main" id="{3E3B52E2-1726-F847-E6A1-BD49F42894EA}"/>
              </a:ext>
            </a:extLst>
          </p:cNvPr>
          <p:cNvSpPr>
            <a:spLocks noGrp="1" noChangeArrowheads="1"/>
          </p:cNvSpPr>
          <p:nvPr>
            <p:ph type="body" idx="1"/>
          </p:nvPr>
        </p:nvSpPr>
        <p:spPr>
          <a:xfrm>
            <a:off x="857250" y="5486400"/>
            <a:ext cx="7500938" cy="847725"/>
          </a:xfrm>
        </p:spPr>
        <p:txBody>
          <a:bodyPr/>
          <a:lstStyle/>
          <a:p>
            <a:pPr eaLnBrk="1" hangingPunct="1">
              <a:lnSpc>
                <a:spcPts val="3200"/>
              </a:lnSpc>
              <a:buFont typeface="Wingdings" panose="05000000000000000000" pitchFamily="2" charset="2"/>
              <a:buNone/>
              <a:defRPr/>
            </a:pPr>
            <a:r>
              <a:rPr lang="zh-CN" altLang="en-US" sz="200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可见</a:t>
            </a:r>
            <a:r>
              <a:rPr lang="zh-CN" altLang="en-US" sz="2000" dirty="0">
                <a:latin typeface="Arial" pitchFamily="34" charset="0"/>
                <a:ea typeface="微软雅黑" pitchFamily="34" charset="-122"/>
                <a:cs typeface="Arial" pitchFamily="34" charset="0"/>
              </a:rPr>
              <a:t>，循环码的</a:t>
            </a:r>
            <a:r>
              <a:rPr lang="en-US" altLang="zh-CN" sz="2000" i="1"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G</a:t>
            </a:r>
            <a:r>
              <a:rPr lang="zh-CN" altLang="en-US" sz="2000" dirty="0">
                <a:latin typeface="Arial" pitchFamily="34" charset="0"/>
                <a:ea typeface="微软雅黑" pitchFamily="34" charset="-122"/>
                <a:cs typeface="Arial" pitchFamily="34" charset="0"/>
              </a:rPr>
              <a:t>也是一个</a:t>
            </a:r>
            <a:r>
              <a:rPr lang="zh-CN" altLang="en-US" sz="2000" dirty="0">
                <a:effectLst>
                  <a:outerShdw blurRad="38100" dist="38100" dir="2700000" algn="tl">
                    <a:srgbClr val="000000">
                      <a:alpha val="43137"/>
                    </a:srgbClr>
                  </a:outerShdw>
                </a:effectLst>
                <a:latin typeface="Arial" pitchFamily="34" charset="0"/>
                <a:ea typeface="微软雅黑" pitchFamily="34" charset="-122"/>
                <a:cs typeface="Arial" pitchFamily="34" charset="0"/>
              </a:rPr>
              <a:t>半无穷矩阵</a:t>
            </a:r>
            <a:r>
              <a:rPr lang="zh-CN" altLang="en-US" sz="2000" dirty="0">
                <a:latin typeface="Arial" pitchFamily="34" charset="0"/>
                <a:ea typeface="微软雅黑" pitchFamily="34" charset="-122"/>
                <a:cs typeface="Arial" pitchFamily="34" charset="0"/>
              </a:rPr>
              <a:t>，其</a:t>
            </a:r>
            <a:r>
              <a:rPr lang="zh-CN" altLang="en-US" sz="2000" b="1" dirty="0">
                <a:latin typeface="Arial" pitchFamily="34" charset="0"/>
                <a:ea typeface="微软雅黑" pitchFamily="34" charset="-122"/>
                <a:cs typeface="Arial" pitchFamily="34" charset="0"/>
              </a:rPr>
              <a:t>特点</a:t>
            </a:r>
            <a:r>
              <a:rPr lang="zh-CN" altLang="en-US" sz="2000" dirty="0">
                <a:latin typeface="Arial" pitchFamily="34" charset="0"/>
                <a:ea typeface="微软雅黑" pitchFamily="34" charset="-122"/>
                <a:cs typeface="Arial" pitchFamily="34" charset="0"/>
              </a:rPr>
              <a:t>：</a:t>
            </a:r>
            <a:r>
              <a:rPr lang="zh-CN" altLang="en-US" sz="2000" dirty="0">
                <a:effectLst>
                  <a:outerShdw blurRad="38100" dist="38100" dir="2700000" algn="tl">
                    <a:srgbClr val="000000">
                      <a:alpha val="43137"/>
                    </a:srgbClr>
                  </a:outerShdw>
                </a:effectLst>
                <a:latin typeface="Arial" pitchFamily="34" charset="0"/>
                <a:ea typeface="微软雅黑" pitchFamily="34" charset="-122"/>
                <a:cs typeface="Arial" pitchFamily="34" charset="0"/>
              </a:rPr>
              <a:t>每一行的结构</a:t>
            </a:r>
            <a:endParaRPr lang="en-US" altLang="zh-CN" sz="2000" dirty="0">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a:p>
            <a:pPr eaLnBrk="1" hangingPunct="1">
              <a:lnSpc>
                <a:spcPts val="3200"/>
              </a:lnSpc>
              <a:buFont typeface="Wingdings" panose="05000000000000000000" pitchFamily="2" charset="2"/>
              <a:buNone/>
              <a:defRPr/>
            </a:pPr>
            <a:r>
              <a:rPr lang="zh-CN" altLang="en-US" sz="2000" dirty="0">
                <a:effectLst>
                  <a:outerShdw blurRad="38100" dist="38100" dir="2700000" algn="tl">
                    <a:srgbClr val="000000">
                      <a:alpha val="43137"/>
                    </a:srgbClr>
                  </a:outerShdw>
                </a:effectLst>
                <a:latin typeface="Arial" pitchFamily="34" charset="0"/>
                <a:ea typeface="微软雅黑" pitchFamily="34" charset="-122"/>
                <a:cs typeface="Arial" pitchFamily="34" charset="0"/>
              </a:rPr>
              <a:t>           相同</a:t>
            </a:r>
            <a:r>
              <a:rPr lang="zh-CN" altLang="en-US" sz="2000" dirty="0">
                <a:latin typeface="Arial" pitchFamily="34" charset="0"/>
                <a:ea typeface="微软雅黑" pitchFamily="34" charset="-122"/>
                <a:cs typeface="Arial" pitchFamily="34" charset="0"/>
              </a:rPr>
              <a:t>，只是</a:t>
            </a:r>
            <a:r>
              <a:rPr lang="zh-CN" altLang="en-US" sz="2000" dirty="0">
                <a:effectLst>
                  <a:outerShdw blurRad="38100" dist="38100" dir="2700000" algn="tl">
                    <a:srgbClr val="000000">
                      <a:alpha val="43137"/>
                    </a:srgbClr>
                  </a:outerShdw>
                </a:effectLst>
                <a:latin typeface="Arial" pitchFamily="34" charset="0"/>
                <a:ea typeface="微软雅黑" pitchFamily="34" charset="-122"/>
                <a:cs typeface="Arial" pitchFamily="34" charset="0"/>
              </a:rPr>
              <a:t>比 上一行 </a:t>
            </a:r>
            <a:r>
              <a:rPr lang="zh-CN" altLang="en-US" sz="2000" dirty="0">
                <a:latin typeface="Arial" pitchFamily="34" charset="0"/>
                <a:ea typeface="微软雅黑" pitchFamily="34" charset="-122"/>
                <a:cs typeface="Arial" pitchFamily="34" charset="0"/>
              </a:rPr>
              <a:t>向 </a:t>
            </a:r>
            <a:r>
              <a:rPr lang="zh-CN" altLang="en-US" sz="2000" b="1" dirty="0">
                <a:latin typeface="Arial" pitchFamily="34" charset="0"/>
                <a:ea typeface="微软雅黑" pitchFamily="34" charset="-122"/>
                <a:cs typeface="Arial" pitchFamily="34" charset="0"/>
              </a:rPr>
              <a:t>右 </a:t>
            </a:r>
            <a:r>
              <a:rPr lang="zh-CN" altLang="en-US" sz="2000" dirty="0">
                <a:latin typeface="Arial" pitchFamily="34" charset="0"/>
                <a:ea typeface="微软雅黑" pitchFamily="34" charset="-122"/>
                <a:cs typeface="Arial" pitchFamily="34" charset="0"/>
              </a:rPr>
              <a:t>退后 </a:t>
            </a:r>
            <a:r>
              <a:rPr lang="en-US" altLang="zh-CN" sz="2000" b="1" dirty="0">
                <a:latin typeface="Arial" pitchFamily="34" charset="0"/>
                <a:ea typeface="微软雅黑" pitchFamily="34" charset="-122"/>
                <a:cs typeface="Arial" pitchFamily="34" charset="0"/>
              </a:rPr>
              <a:t>n = 3 </a:t>
            </a:r>
            <a:r>
              <a:rPr lang="zh-CN" altLang="en-US" sz="2000" b="1" dirty="0">
                <a:latin typeface="Arial" pitchFamily="34" charset="0"/>
                <a:ea typeface="微软雅黑" pitchFamily="34" charset="-122"/>
                <a:cs typeface="Arial" pitchFamily="34" charset="0"/>
              </a:rPr>
              <a:t>列 </a:t>
            </a:r>
            <a:r>
              <a:rPr lang="zh-CN" altLang="en-US" sz="2000" dirty="0">
                <a:latin typeface="Arial" pitchFamily="34" charset="0"/>
                <a:ea typeface="微软雅黑" pitchFamily="34" charset="-122"/>
                <a:cs typeface="Arial" pitchFamily="34" charset="0"/>
              </a:rPr>
              <a:t>。</a:t>
            </a:r>
          </a:p>
        </p:txBody>
      </p:sp>
      <p:sp>
        <p:nvSpPr>
          <p:cNvPr id="47108" name="Rectangle 5">
            <a:extLst>
              <a:ext uri="{FF2B5EF4-FFF2-40B4-BE49-F238E27FC236}">
                <a16:creationId xmlns:a16="http://schemas.microsoft.com/office/drawing/2014/main" id="{33BEAF08-4354-7F7C-5580-8FDE24EFAB79}"/>
              </a:ext>
            </a:extLst>
          </p:cNvPr>
          <p:cNvSpPr>
            <a:spLocks noChangeArrowheads="1"/>
          </p:cNvSpPr>
          <p:nvPr/>
        </p:nvSpPr>
        <p:spPr bwMode="auto">
          <a:xfrm>
            <a:off x="0" y="2514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aphicFrame>
        <p:nvGraphicFramePr>
          <p:cNvPr id="118788" name="Object 4">
            <a:extLst>
              <a:ext uri="{FF2B5EF4-FFF2-40B4-BE49-F238E27FC236}">
                <a16:creationId xmlns:a16="http://schemas.microsoft.com/office/drawing/2014/main" id="{D6842063-055E-1078-06C6-8C97CE8F608A}"/>
              </a:ext>
            </a:extLst>
          </p:cNvPr>
          <p:cNvGraphicFramePr>
            <a:graphicFrameLocks noChangeAspect="1"/>
          </p:cNvGraphicFramePr>
          <p:nvPr/>
        </p:nvGraphicFramePr>
        <p:xfrm>
          <a:off x="2935288" y="1643063"/>
          <a:ext cx="4065587" cy="3735387"/>
        </p:xfrm>
        <a:graphic>
          <a:graphicData uri="http://schemas.openxmlformats.org/presentationml/2006/ole">
            <mc:AlternateContent xmlns:mc="http://schemas.openxmlformats.org/markup-compatibility/2006">
              <mc:Choice xmlns:v="urn:schemas-microsoft-com:vml" Requires="v">
                <p:oleObj name="公式" r:id="rId2" imgW="1993680" imgH="1828800" progId="Equation.3">
                  <p:embed/>
                </p:oleObj>
              </mc:Choice>
              <mc:Fallback>
                <p:oleObj name="公式" r:id="rId2" imgW="1993680" imgH="18288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5288" y="1643063"/>
                        <a:ext cx="4065587" cy="3735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矩形 12">
            <a:extLst>
              <a:ext uri="{FF2B5EF4-FFF2-40B4-BE49-F238E27FC236}">
                <a16:creationId xmlns:a16="http://schemas.microsoft.com/office/drawing/2014/main" id="{4AF11669-D12C-2B04-BF1E-DAFA6C5DD690}"/>
              </a:ext>
            </a:extLst>
          </p:cNvPr>
          <p:cNvSpPr/>
          <p:nvPr/>
        </p:nvSpPr>
        <p:spPr>
          <a:xfrm>
            <a:off x="857250" y="1071563"/>
            <a:ext cx="6786563" cy="461962"/>
          </a:xfrm>
          <a:prstGeom prst="rect">
            <a:avLst/>
          </a:prstGeom>
        </p:spPr>
        <p:txBody>
          <a:bodyPr>
            <a:spAutoFit/>
          </a:bodyPr>
          <a:lstStyle/>
          <a:p>
            <a:pPr marL="228600" indent="-228600">
              <a:spcBef>
                <a:spcPct val="20000"/>
              </a:spcBef>
              <a:buClr>
                <a:srgbClr val="FFCF01"/>
              </a:buClr>
              <a:buSzPct val="55000"/>
              <a:defRPr/>
            </a:pPr>
            <a:r>
              <a:rPr kumimoji="0" lang="zh-CN" altLang="en-US" sz="2000" b="0" kern="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可知</a:t>
            </a:r>
            <a:r>
              <a:rPr kumimoji="0" lang="zh-CN" altLang="en-US" sz="2000" b="0" kern="0" dirty="0">
                <a:solidFill>
                  <a:srgbClr val="000000"/>
                </a:solidFill>
                <a:latin typeface="Arial" pitchFamily="34" charset="0"/>
                <a:ea typeface="微软雅黑" pitchFamily="34" charset="-122"/>
                <a:cs typeface="Arial" pitchFamily="34" charset="0"/>
              </a:rPr>
              <a:t>，此码的</a:t>
            </a:r>
            <a:r>
              <a:rPr kumimoji="0" lang="zh-CN" altLang="en-US" sz="2400" kern="0" dirty="0">
                <a:solidFill>
                  <a:srgbClr val="000000"/>
                </a:solidFill>
                <a:latin typeface="Arial" pitchFamily="34" charset="0"/>
                <a:ea typeface="微软雅黑" pitchFamily="34" charset="-122"/>
                <a:cs typeface="Arial" pitchFamily="34" charset="0"/>
              </a:rPr>
              <a:t>生成矩阵</a:t>
            </a:r>
            <a:r>
              <a:rPr kumimoji="0" lang="en-US" altLang="zh-CN" sz="2400" i="1" kern="0" dirty="0">
                <a:solidFill>
                  <a:srgbClr val="FF0000"/>
                </a:solidFill>
                <a:latin typeface="Arial" pitchFamily="34" charset="0"/>
                <a:ea typeface="微软雅黑" pitchFamily="34" charset="-122"/>
                <a:cs typeface="Arial" pitchFamily="34" charset="0"/>
              </a:rPr>
              <a:t>G </a:t>
            </a:r>
            <a:r>
              <a:rPr kumimoji="0" lang="zh-CN" altLang="en-US" sz="2000" b="0" kern="0" dirty="0">
                <a:solidFill>
                  <a:srgbClr val="000000"/>
                </a:solidFill>
                <a:latin typeface="Arial" pitchFamily="34" charset="0"/>
                <a:ea typeface="微软雅黑" pitchFamily="34" charset="-122"/>
                <a:cs typeface="Arial" pitchFamily="34" charset="0"/>
              </a:rPr>
              <a:t>即为上式最右矩阵：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1000"/>
                                        <p:tgtEl>
                                          <p:spTgt spid="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18788"/>
                                        </p:tgtEl>
                                        <p:attrNameLst>
                                          <p:attrName>style.visibility</p:attrName>
                                        </p:attrNameLst>
                                      </p:cBhvr>
                                      <p:to>
                                        <p:strVal val="visible"/>
                                      </p:to>
                                    </p:set>
                                    <p:animEffect transition="in" filter="wipe(up)">
                                      <p:cBhvr>
                                        <p:cTn id="12" dur="1000"/>
                                        <p:tgtEl>
                                          <p:spTgt spid="1187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18787">
                                            <p:txEl>
                                              <p:pRg st="0" end="0"/>
                                            </p:txEl>
                                          </p:spTgt>
                                        </p:tgtEl>
                                        <p:attrNameLst>
                                          <p:attrName>style.visibility</p:attrName>
                                        </p:attrNameLst>
                                      </p:cBhvr>
                                      <p:to>
                                        <p:strVal val="visible"/>
                                      </p:to>
                                    </p:set>
                                    <p:animEffect transition="in" filter="wipe(up)">
                                      <p:cBhvr>
                                        <p:cTn id="17" dur="1000"/>
                                        <p:tgtEl>
                                          <p:spTgt spid="118787">
                                            <p:txEl>
                                              <p:pRg st="0" end="0"/>
                                            </p:txEl>
                                          </p:spTgt>
                                        </p:tgtEl>
                                      </p:cBhvr>
                                    </p:animEffect>
                                  </p:childTnLst>
                                </p:cTn>
                              </p:par>
                            </p:childTnLst>
                          </p:cTn>
                        </p:par>
                        <p:par>
                          <p:cTn id="18" fill="hold" nodeType="afterGroup">
                            <p:stCondLst>
                              <p:cond delay="1000"/>
                            </p:stCondLst>
                            <p:childTnLst>
                              <p:par>
                                <p:cTn id="19" presetID="22" presetClass="entr" presetSubtype="1" fill="hold" nodeType="afterEffect">
                                  <p:stCondLst>
                                    <p:cond delay="0"/>
                                  </p:stCondLst>
                                  <p:childTnLst>
                                    <p:set>
                                      <p:cBhvr>
                                        <p:cTn id="20" dur="1" fill="hold">
                                          <p:stCondLst>
                                            <p:cond delay="0"/>
                                          </p:stCondLst>
                                        </p:cTn>
                                        <p:tgtEl>
                                          <p:spTgt spid="118787">
                                            <p:txEl>
                                              <p:pRg st="1" end="1"/>
                                            </p:txEl>
                                          </p:spTgt>
                                        </p:tgtEl>
                                        <p:attrNameLst>
                                          <p:attrName>style.visibility</p:attrName>
                                        </p:attrNameLst>
                                      </p:cBhvr>
                                      <p:to>
                                        <p:strVal val="visible"/>
                                      </p:to>
                                    </p:set>
                                    <p:animEffect transition="in" filter="wipe(up)">
                                      <p:cBhvr>
                                        <p:cTn id="21" dur="1000"/>
                                        <p:tgtEl>
                                          <p:spTgt spid="11878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7" grpId="0" build="p"/>
      <p:bldP spid="13"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Rectangle 3">
            <a:extLst>
              <a:ext uri="{FF2B5EF4-FFF2-40B4-BE49-F238E27FC236}">
                <a16:creationId xmlns:a16="http://schemas.microsoft.com/office/drawing/2014/main" id="{D1F51868-518F-1292-2F08-559EE568960D}"/>
              </a:ext>
            </a:extLst>
          </p:cNvPr>
          <p:cNvSpPr>
            <a:spLocks noGrp="1" noChangeArrowheads="1"/>
          </p:cNvSpPr>
          <p:nvPr>
            <p:ph type="body" idx="1"/>
          </p:nvPr>
        </p:nvSpPr>
        <p:spPr>
          <a:xfrm>
            <a:off x="914400" y="3298825"/>
            <a:ext cx="6786563" cy="844550"/>
          </a:xfrm>
        </p:spPr>
        <p:txBody>
          <a:bodyPr/>
          <a:lstStyle/>
          <a:p>
            <a:pPr eaLnBrk="1" hangingPunct="1">
              <a:lnSpc>
                <a:spcPct val="110000"/>
              </a:lnSpc>
              <a:buFont typeface="Wingdings" panose="05000000000000000000" pitchFamily="2" charset="2"/>
              <a:buNone/>
            </a:pPr>
            <a:r>
              <a:rPr lang="zh-CN" altLang="en-US" sz="2000">
                <a:latin typeface="Arial" panose="020B0604020202020204" pitchFamily="34" charset="0"/>
                <a:ea typeface="微软雅黑" panose="020B0503020204020204" pitchFamily="34" charset="-122"/>
                <a:cs typeface="Arial" panose="020B0604020202020204" pitchFamily="34" charset="0"/>
              </a:rPr>
              <a:t>式中， </a:t>
            </a:r>
            <a:r>
              <a:rPr lang="en-US" altLang="zh-CN" sz="2000" b="1" i="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1" baseline="-25000">
                <a:latin typeface="Arial" panose="020B0604020202020204" pitchFamily="34" charset="0"/>
                <a:ea typeface="微软雅黑" panose="020B0503020204020204" pitchFamily="34" charset="-122"/>
                <a:cs typeface="Arial" panose="020B0604020202020204" pitchFamily="34" charset="0"/>
              </a:rPr>
              <a:t>1</a:t>
            </a:r>
            <a:r>
              <a:rPr lang="en-US" altLang="zh-CN" sz="2000" b="1">
                <a:latin typeface="Arial" panose="020B0604020202020204" pitchFamily="34" charset="0"/>
                <a:ea typeface="微软雅黑" panose="020B0503020204020204" pitchFamily="34" charset="-122"/>
                <a:cs typeface="Arial" panose="020B0604020202020204" pitchFamily="34" charset="0"/>
              </a:rPr>
              <a:t> </a:t>
            </a:r>
            <a:r>
              <a:rPr lang="zh-CN" altLang="en-US" sz="2000">
                <a:latin typeface="Arial" panose="020B0604020202020204" pitchFamily="34" charset="0"/>
                <a:ea typeface="微软雅黑" panose="020B0503020204020204" pitchFamily="34" charset="-122"/>
                <a:cs typeface="Arial" panose="020B0604020202020204" pitchFamily="34" charset="0"/>
              </a:rPr>
              <a:t>为 一阶单位方阵； </a:t>
            </a:r>
            <a:r>
              <a:rPr lang="en-US" altLang="zh-CN" sz="2000" b="1">
                <a:latin typeface="Arial" panose="020B0604020202020204" pitchFamily="34" charset="0"/>
                <a:ea typeface="微软雅黑" panose="020B0503020204020204" pitchFamily="34" charset="-122"/>
                <a:cs typeface="Arial" panose="020B0604020202020204" pitchFamily="34" charset="0"/>
              </a:rPr>
              <a:t>Q</a:t>
            </a:r>
            <a:r>
              <a:rPr lang="en-US" altLang="zh-CN" sz="2000" b="1" baseline="-25000">
                <a:latin typeface="Arial" panose="020B0604020202020204" pitchFamily="34" charset="0"/>
                <a:ea typeface="微软雅黑" panose="020B0503020204020204" pitchFamily="34" charset="-122"/>
                <a:cs typeface="Arial" panose="020B0604020202020204" pitchFamily="34" charset="0"/>
              </a:rPr>
              <a:t>i</a:t>
            </a:r>
            <a:r>
              <a:rPr lang="en-US" altLang="zh-CN" sz="2000" b="1">
                <a:latin typeface="Arial" panose="020B0604020202020204" pitchFamily="34" charset="0"/>
                <a:ea typeface="微软雅黑" panose="020B0503020204020204" pitchFamily="34" charset="-122"/>
                <a:cs typeface="Arial" panose="020B0604020202020204" pitchFamily="34" charset="0"/>
              </a:rPr>
              <a:t> </a:t>
            </a:r>
            <a:r>
              <a:rPr lang="zh-CN" altLang="en-US" sz="2000">
                <a:latin typeface="Arial" panose="020B0604020202020204" pitchFamily="34" charset="0"/>
                <a:ea typeface="微软雅黑" panose="020B0503020204020204" pitchFamily="34" charset="-122"/>
                <a:cs typeface="Arial" panose="020B0604020202020204" pitchFamily="34" charset="0"/>
              </a:rPr>
              <a:t>为 </a:t>
            </a:r>
            <a:r>
              <a:rPr lang="en-US" altLang="zh-CN" sz="2000">
                <a:latin typeface="Arial" panose="020B0604020202020204" pitchFamily="34" charset="0"/>
                <a:ea typeface="微软雅黑" panose="020B0503020204020204" pitchFamily="34" charset="-122"/>
                <a:cs typeface="Arial" panose="020B0604020202020204" pitchFamily="34" charset="0"/>
              </a:rPr>
              <a:t>1 </a:t>
            </a:r>
            <a:r>
              <a:rPr lang="en-US" altLang="zh-CN" sz="2000">
                <a:latin typeface="Arial" panose="020B0604020202020204" pitchFamily="34" charset="0"/>
                <a:ea typeface="微软雅黑" panose="020B0503020204020204" pitchFamily="34" charset="-122"/>
                <a:cs typeface="Arial" panose="020B0604020202020204" pitchFamily="34" charset="0"/>
                <a:sym typeface="Symbol" panose="05050102010706020507" pitchFamily="18" charset="2"/>
              </a:rPr>
              <a:t></a:t>
            </a:r>
            <a:r>
              <a:rPr lang="en-US" altLang="zh-CN" sz="2000">
                <a:latin typeface="Arial" panose="020B0604020202020204" pitchFamily="34" charset="0"/>
                <a:ea typeface="微软雅黑" panose="020B0503020204020204" pitchFamily="34" charset="-122"/>
                <a:cs typeface="Arial" panose="020B0604020202020204" pitchFamily="34" charset="0"/>
              </a:rPr>
              <a:t> 2 </a:t>
            </a:r>
            <a:r>
              <a:rPr lang="zh-CN" altLang="en-US" sz="2000">
                <a:latin typeface="Arial" panose="020B0604020202020204" pitchFamily="34" charset="0"/>
                <a:ea typeface="微软雅黑" panose="020B0503020204020204" pitchFamily="34" charset="-122"/>
                <a:cs typeface="Arial" panose="020B0604020202020204" pitchFamily="34" charset="0"/>
              </a:rPr>
              <a:t>阶矩阵；</a:t>
            </a:r>
            <a:endParaRPr lang="en-US" altLang="zh-CN" sz="2000">
              <a:latin typeface="Arial" panose="020B0604020202020204" pitchFamily="34" charset="0"/>
              <a:ea typeface="微软雅黑" panose="020B0503020204020204" pitchFamily="34" charset="-122"/>
              <a:cs typeface="Arial" panose="020B0604020202020204" pitchFamily="34" charset="0"/>
            </a:endParaRPr>
          </a:p>
          <a:p>
            <a:pPr eaLnBrk="1" hangingPunct="1">
              <a:lnSpc>
                <a:spcPct val="110000"/>
              </a:lnSpc>
              <a:buFont typeface="Wingdings" panose="05000000000000000000" pitchFamily="2" charset="2"/>
              <a:buNone/>
            </a:pPr>
            <a:r>
              <a:rPr lang="en-US" altLang="zh-CN" sz="2000">
                <a:latin typeface="Arial" panose="020B0604020202020204" pitchFamily="34" charset="0"/>
                <a:ea typeface="微软雅黑" panose="020B0503020204020204" pitchFamily="34" charset="-122"/>
                <a:cs typeface="Arial" panose="020B0604020202020204" pitchFamily="34" charset="0"/>
              </a:rPr>
              <a:t> </a:t>
            </a:r>
            <a:r>
              <a:rPr lang="zh-CN" altLang="en-US" sz="2000" b="1"/>
              <a:t> </a:t>
            </a:r>
            <a:r>
              <a:rPr lang="en-US" altLang="zh-CN" sz="2000" b="1"/>
              <a:t>       </a:t>
            </a:r>
            <a:r>
              <a:rPr lang="zh-CN" altLang="en-US" sz="2000" b="1"/>
              <a:t>  </a:t>
            </a:r>
            <a:r>
              <a:rPr lang="en-US" altLang="zh-CN" sz="2000" b="1"/>
              <a:t>0</a:t>
            </a:r>
            <a:r>
              <a:rPr lang="en-US" altLang="zh-CN" sz="2000" b="1">
                <a:latin typeface="Arial" panose="020B0604020202020204" pitchFamily="34" charset="0"/>
                <a:ea typeface="微软雅黑" panose="020B0503020204020204" pitchFamily="34" charset="-122"/>
              </a:rPr>
              <a:t> </a:t>
            </a:r>
            <a:r>
              <a:rPr lang="zh-CN" altLang="en-US" sz="2000">
                <a:latin typeface="Arial" panose="020B0604020202020204" pitchFamily="34" charset="0"/>
                <a:ea typeface="微软雅黑" panose="020B0503020204020204" pitchFamily="34" charset="-122"/>
              </a:rPr>
              <a:t>为</a:t>
            </a:r>
            <a:r>
              <a:rPr lang="zh-CN" altLang="en-US" sz="2000"/>
              <a:t>一</a:t>
            </a:r>
            <a:r>
              <a:rPr lang="zh-CN" altLang="en-US" sz="2000">
                <a:latin typeface="Arial" panose="020B0604020202020204" pitchFamily="34" charset="0"/>
                <a:ea typeface="微软雅黑" panose="020B0503020204020204" pitchFamily="34" charset="-122"/>
              </a:rPr>
              <a:t>阶全零方阵。 </a:t>
            </a:r>
            <a:r>
              <a:rPr lang="zh-CN" altLang="en-US" sz="2000"/>
              <a:t> </a:t>
            </a:r>
            <a:endParaRPr lang="zh-CN" altLang="en-US" sz="2000">
              <a:latin typeface="Arial" panose="020B0604020202020204" pitchFamily="34" charset="0"/>
              <a:ea typeface="微软雅黑" panose="020B0503020204020204" pitchFamily="34" charset="-122"/>
            </a:endParaRPr>
          </a:p>
        </p:txBody>
      </p:sp>
      <p:graphicFrame>
        <p:nvGraphicFramePr>
          <p:cNvPr id="119812" name="Object 4">
            <a:extLst>
              <a:ext uri="{FF2B5EF4-FFF2-40B4-BE49-F238E27FC236}">
                <a16:creationId xmlns:a16="http://schemas.microsoft.com/office/drawing/2014/main" id="{F08A6698-93F5-2661-AFBA-E77B5ADC9BC9}"/>
              </a:ext>
            </a:extLst>
          </p:cNvPr>
          <p:cNvGraphicFramePr>
            <a:graphicFrameLocks noChangeAspect="1"/>
          </p:cNvGraphicFramePr>
          <p:nvPr/>
        </p:nvGraphicFramePr>
        <p:xfrm>
          <a:off x="1844675" y="1546225"/>
          <a:ext cx="6043613" cy="1463675"/>
        </p:xfrm>
        <a:graphic>
          <a:graphicData uri="http://schemas.openxmlformats.org/presentationml/2006/ole">
            <mc:AlternateContent xmlns:mc="http://schemas.openxmlformats.org/markup-compatibility/2006">
              <mc:Choice xmlns:v="urn:schemas-microsoft-com:vml" Requires="v">
                <p:oleObj name="公式" r:id="rId2" imgW="3060360" imgH="736560" progId="Equation.3">
                  <p:embed/>
                </p:oleObj>
              </mc:Choice>
              <mc:Fallback>
                <p:oleObj name="公式" r:id="rId2" imgW="3060360" imgH="73656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4675" y="1546225"/>
                        <a:ext cx="6043613" cy="1463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矩形 6">
            <a:extLst>
              <a:ext uri="{FF2B5EF4-FFF2-40B4-BE49-F238E27FC236}">
                <a16:creationId xmlns:a16="http://schemas.microsoft.com/office/drawing/2014/main" id="{05A1C19A-9C63-FA6D-70A3-40F037871DDC}"/>
              </a:ext>
            </a:extLst>
          </p:cNvPr>
          <p:cNvSpPr/>
          <p:nvPr/>
        </p:nvSpPr>
        <p:spPr>
          <a:xfrm>
            <a:off x="757238" y="785813"/>
            <a:ext cx="2857500" cy="503237"/>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a:lnSpc>
                <a:spcPts val="3200"/>
              </a:lnSpc>
              <a:buClr>
                <a:srgbClr val="0000CC"/>
              </a:buClr>
              <a:buSzPct val="65000"/>
              <a:buFont typeface="Wingdings" pitchFamily="2" charset="2"/>
              <a:buChar char="u"/>
              <a:defRPr/>
            </a:pPr>
            <a:r>
              <a:rPr kumimoji="0" lang="zh-CN" altLang="en-US" sz="2800" b="0" kern="0" dirty="0">
                <a:solidFill>
                  <a:srgbClr val="000000"/>
                </a:solidFill>
                <a:latin typeface="Arial" pitchFamily="34" charset="0"/>
                <a:ea typeface="微软雅黑" pitchFamily="34" charset="-122"/>
                <a:cs typeface="Arial" pitchFamily="34" charset="0"/>
              </a:rPr>
              <a:t> </a:t>
            </a:r>
            <a:r>
              <a:rPr kumimoji="0" lang="zh-CN" altLang="en-US" sz="2400" kern="0" dirty="0">
                <a:solidFill>
                  <a:srgbClr val="FF0000"/>
                </a:solidFill>
                <a:latin typeface="Arial" pitchFamily="34" charset="0"/>
                <a:ea typeface="微软雅黑" pitchFamily="34" charset="-122"/>
                <a:cs typeface="Arial" pitchFamily="34" charset="0"/>
              </a:rPr>
              <a:t>截短</a:t>
            </a:r>
            <a:r>
              <a:rPr kumimoji="0" lang="zh-CN" altLang="en-US" sz="2400" kern="0" dirty="0">
                <a:solidFill>
                  <a:srgbClr val="000000"/>
                </a:solidFill>
                <a:latin typeface="Arial" pitchFamily="34" charset="0"/>
                <a:ea typeface="微软雅黑" pitchFamily="34" charset="-122"/>
                <a:cs typeface="Arial" pitchFamily="34" charset="0"/>
              </a:rPr>
              <a:t>生成矩阵 </a:t>
            </a:r>
            <a:r>
              <a:rPr lang="en-US" altLang="zh-CN" sz="2400" i="1" dirty="0">
                <a:solidFill>
                  <a:srgbClr val="0000CC"/>
                </a:solidFill>
                <a:latin typeface="Arial" pitchFamily="34" charset="0"/>
                <a:cs typeface="Arial" pitchFamily="34" charset="0"/>
              </a:rPr>
              <a:t>G</a:t>
            </a:r>
            <a:r>
              <a:rPr lang="en-US" altLang="zh-CN" sz="2400" baseline="-25000" dirty="0">
                <a:solidFill>
                  <a:srgbClr val="FF0000"/>
                </a:solidFill>
                <a:latin typeface="Arial" pitchFamily="34" charset="0"/>
                <a:cs typeface="Arial" pitchFamily="34" charset="0"/>
              </a:rPr>
              <a:t>1</a:t>
            </a:r>
            <a:endParaRPr lang="zh-CN" altLang="en-US" sz="2400" dirty="0">
              <a:solidFill>
                <a:srgbClr val="FF0000"/>
              </a:solidFill>
              <a:latin typeface="Arial" pitchFamily="34" charset="0"/>
              <a:ea typeface="微软雅黑" pitchFamily="34" charset="-122"/>
              <a:cs typeface="Arial" pitchFamily="34" charset="0"/>
            </a:endParaRPr>
          </a:p>
        </p:txBody>
      </p:sp>
      <p:sp>
        <p:nvSpPr>
          <p:cNvPr id="8" name="矩形 7">
            <a:extLst>
              <a:ext uri="{FF2B5EF4-FFF2-40B4-BE49-F238E27FC236}">
                <a16:creationId xmlns:a16="http://schemas.microsoft.com/office/drawing/2014/main" id="{FE6050D7-5E68-23F1-79CF-098AF9FC6AB0}"/>
              </a:ext>
            </a:extLst>
          </p:cNvPr>
          <p:cNvSpPr/>
          <p:nvPr/>
        </p:nvSpPr>
        <p:spPr>
          <a:xfrm>
            <a:off x="912813" y="4430713"/>
            <a:ext cx="6013450" cy="498475"/>
          </a:xfrm>
          <a:prstGeom prst="rect">
            <a:avLst/>
          </a:prstGeom>
        </p:spPr>
        <p:txBody>
          <a:bodyPr>
            <a:spAutoFit/>
          </a:bodyPr>
          <a:lstStyle/>
          <a:p>
            <a:pPr marL="342900" indent="-342900">
              <a:lnSpc>
                <a:spcPct val="110000"/>
              </a:lnSpc>
              <a:spcBef>
                <a:spcPct val="20000"/>
              </a:spcBef>
              <a:buClr>
                <a:srgbClr val="3333CC"/>
              </a:buClr>
              <a:buSzPct val="60000"/>
              <a:defRPr/>
            </a:pPr>
            <a:r>
              <a:rPr kumimoji="0" lang="zh-CN" altLang="en-US" sz="2000" b="0" kern="0" dirty="0">
                <a:solidFill>
                  <a:srgbClr val="000000"/>
                </a:solidFill>
                <a:latin typeface="Arial" pitchFamily="34" charset="0"/>
                <a:ea typeface="微软雅黑" pitchFamily="34" charset="-122"/>
                <a:cs typeface="Arial" pitchFamily="34" charset="0"/>
              </a:rPr>
              <a:t>与</a:t>
            </a:r>
            <a:r>
              <a:rPr kumimoji="0" lang="en-US" altLang="zh-CN" sz="2400" i="1" kern="0" dirty="0">
                <a:solidFill>
                  <a:srgbClr val="0000CC"/>
                </a:solidFill>
                <a:latin typeface="Arial" pitchFamily="34" charset="0"/>
                <a:ea typeface="微软雅黑" pitchFamily="34" charset="-122"/>
                <a:cs typeface="Arial" pitchFamily="34" charset="0"/>
              </a:rPr>
              <a:t>H</a:t>
            </a:r>
            <a:r>
              <a:rPr kumimoji="0" lang="en-US" altLang="zh-CN" sz="2400" kern="0" baseline="-25000" dirty="0">
                <a:solidFill>
                  <a:srgbClr val="FF0000"/>
                </a:solidFill>
                <a:latin typeface="Arial" pitchFamily="34" charset="0"/>
                <a:ea typeface="微软雅黑" pitchFamily="34" charset="-122"/>
                <a:cs typeface="Arial" pitchFamily="34" charset="0"/>
              </a:rPr>
              <a:t>1</a:t>
            </a:r>
            <a:r>
              <a:rPr kumimoji="0" lang="zh-CN" altLang="en-US" sz="2000" b="0" kern="0" dirty="0">
                <a:solidFill>
                  <a:srgbClr val="000000"/>
                </a:solidFill>
                <a:latin typeface="Arial" pitchFamily="34" charset="0"/>
                <a:ea typeface="微软雅黑" pitchFamily="34" charset="-122"/>
                <a:cs typeface="Arial" pitchFamily="34" charset="0"/>
              </a:rPr>
              <a:t>矩阵比较可见，</a:t>
            </a:r>
            <a:r>
              <a:rPr kumimoji="0" lang="en-US" altLang="zh-CN" sz="2400" i="1" kern="0" dirty="0">
                <a:solidFill>
                  <a:srgbClr val="000000"/>
                </a:solidFill>
                <a:latin typeface="Arial" pitchFamily="34" charset="0"/>
                <a:ea typeface="微软雅黑" pitchFamily="34" charset="-122"/>
                <a:cs typeface="Arial" pitchFamily="34" charset="0"/>
              </a:rPr>
              <a:t>Q</a:t>
            </a:r>
            <a:r>
              <a:rPr kumimoji="0" lang="en-US" altLang="zh-CN" sz="2400" i="1" kern="0" baseline="-25000" dirty="0" err="1">
                <a:solidFill>
                  <a:srgbClr val="000000"/>
                </a:solidFill>
                <a:latin typeface="Arial" pitchFamily="34" charset="0"/>
                <a:ea typeface="微软雅黑" pitchFamily="34" charset="-122"/>
                <a:cs typeface="Arial" pitchFamily="34" charset="0"/>
              </a:rPr>
              <a:t>i</a:t>
            </a:r>
            <a:r>
              <a:rPr kumimoji="0" lang="en-US" altLang="zh-CN" sz="2400" i="1" kern="0" baseline="-25000" dirty="0">
                <a:solidFill>
                  <a:srgbClr val="000000"/>
                </a:solidFill>
                <a:latin typeface="Arial" pitchFamily="34" charset="0"/>
                <a:ea typeface="微软雅黑" pitchFamily="34" charset="-122"/>
                <a:cs typeface="Arial" pitchFamily="34" charset="0"/>
              </a:rPr>
              <a:t> </a:t>
            </a:r>
            <a:r>
              <a:rPr kumimoji="0" lang="zh-CN" altLang="en-US" sz="2000" b="0" kern="0" dirty="0">
                <a:solidFill>
                  <a:srgbClr val="000000"/>
                </a:solidFill>
                <a:latin typeface="Arial" pitchFamily="34" charset="0"/>
                <a:ea typeface="微软雅黑" pitchFamily="34" charset="-122"/>
                <a:cs typeface="Arial" pitchFamily="34" charset="0"/>
              </a:rPr>
              <a:t>是 矩阵 </a:t>
            </a:r>
            <a:r>
              <a:rPr kumimoji="0" lang="en-US" altLang="zh-CN" sz="2000" i="1" kern="0" dirty="0">
                <a:solidFill>
                  <a:srgbClr val="000000"/>
                </a:solidFill>
                <a:latin typeface="Arial" pitchFamily="34" charset="0"/>
                <a:ea typeface="微软雅黑" pitchFamily="34" charset="-122"/>
                <a:cs typeface="Arial" pitchFamily="34" charset="0"/>
              </a:rPr>
              <a:t>P</a:t>
            </a:r>
            <a:r>
              <a:rPr kumimoji="0" lang="en-US" altLang="zh-CN" sz="2000" i="1" kern="0" baseline="-25000" dirty="0">
                <a:solidFill>
                  <a:srgbClr val="000000"/>
                </a:solidFill>
                <a:latin typeface="Arial" pitchFamily="34" charset="0"/>
                <a:ea typeface="微软雅黑" pitchFamily="34" charset="-122"/>
                <a:cs typeface="Arial" pitchFamily="34" charset="0"/>
              </a:rPr>
              <a:t>i</a:t>
            </a:r>
            <a:r>
              <a:rPr kumimoji="0" lang="en-US" altLang="zh-CN" sz="2000" kern="0" baseline="30000" dirty="0">
                <a:solidFill>
                  <a:srgbClr val="000000"/>
                </a:solidFill>
                <a:latin typeface="Arial" pitchFamily="34" charset="0"/>
                <a:ea typeface="微软雅黑" pitchFamily="34" charset="-122"/>
                <a:cs typeface="Arial" pitchFamily="34" charset="0"/>
              </a:rPr>
              <a:t> </a:t>
            </a:r>
            <a:r>
              <a:rPr kumimoji="0" lang="zh-CN" altLang="en-US" sz="2000" b="0" kern="0" dirty="0">
                <a:solidFill>
                  <a:srgbClr val="000000"/>
                </a:solidFill>
                <a:latin typeface="Arial" pitchFamily="34" charset="0"/>
                <a:ea typeface="微软雅黑" pitchFamily="34" charset="-122"/>
                <a:cs typeface="Arial" pitchFamily="34" charset="0"/>
              </a:rPr>
              <a:t>的转置：</a:t>
            </a:r>
          </a:p>
        </p:txBody>
      </p:sp>
      <p:sp>
        <p:nvSpPr>
          <p:cNvPr id="9" name="矩形 8">
            <a:extLst>
              <a:ext uri="{FF2B5EF4-FFF2-40B4-BE49-F238E27FC236}">
                <a16:creationId xmlns:a16="http://schemas.microsoft.com/office/drawing/2014/main" id="{7B85C1CA-DCAA-BEF6-3708-94FF6B596EAD}"/>
              </a:ext>
            </a:extLst>
          </p:cNvPr>
          <p:cNvSpPr/>
          <p:nvPr/>
        </p:nvSpPr>
        <p:spPr>
          <a:xfrm>
            <a:off x="3357563" y="5110163"/>
            <a:ext cx="1571625" cy="461962"/>
          </a:xfrm>
          <a:prstGeom prst="rect">
            <a:avLst/>
          </a:prstGeom>
          <a:ln w="38100" cmpd="dbl">
            <a:solidFill>
              <a:srgbClr val="6666FF"/>
            </a:solidFill>
          </a:ln>
        </p:spPr>
        <p:txBody>
          <a:bodyPr>
            <a:spAutoFit/>
          </a:bodyPr>
          <a:lstStyle/>
          <a:p>
            <a:pPr>
              <a:defRPr/>
            </a:pPr>
            <a:r>
              <a:rPr kumimoji="0" lang="en-US" altLang="zh-CN" sz="2400" i="1" kern="0" dirty="0">
                <a:solidFill>
                  <a:srgbClr val="000000"/>
                </a:solidFill>
                <a:latin typeface="Arial" pitchFamily="34" charset="0"/>
                <a:ea typeface="微软雅黑" pitchFamily="34" charset="-122"/>
                <a:cs typeface="Arial" pitchFamily="34" charset="0"/>
              </a:rPr>
              <a:t>  </a:t>
            </a:r>
            <a:r>
              <a:rPr kumimoji="0" lang="en-US" altLang="zh-CN" sz="2400" i="1" kern="0" dirty="0" err="1">
                <a:solidFill>
                  <a:srgbClr val="000000"/>
                </a:solidFill>
                <a:latin typeface="Arial" pitchFamily="34" charset="0"/>
                <a:ea typeface="微软雅黑" pitchFamily="34" charset="-122"/>
                <a:cs typeface="Arial" pitchFamily="34" charset="0"/>
              </a:rPr>
              <a:t>Q</a:t>
            </a:r>
            <a:r>
              <a:rPr kumimoji="0" lang="en-US" altLang="zh-CN" sz="2400" i="1" kern="0" baseline="-25000" dirty="0" err="1">
                <a:solidFill>
                  <a:srgbClr val="000000"/>
                </a:solidFill>
                <a:latin typeface="Arial" pitchFamily="34" charset="0"/>
                <a:ea typeface="微软雅黑" pitchFamily="34" charset="-122"/>
                <a:cs typeface="Arial" pitchFamily="34" charset="0"/>
              </a:rPr>
              <a:t>i</a:t>
            </a:r>
            <a:r>
              <a:rPr kumimoji="0" lang="en-US" altLang="zh-CN" sz="2400" kern="0" dirty="0">
                <a:solidFill>
                  <a:srgbClr val="000000"/>
                </a:solidFill>
                <a:latin typeface="Arial" pitchFamily="34" charset="0"/>
                <a:ea typeface="微软雅黑" pitchFamily="34" charset="-122"/>
                <a:cs typeface="Arial" pitchFamily="34" charset="0"/>
              </a:rPr>
              <a:t> = </a:t>
            </a:r>
            <a:r>
              <a:rPr kumimoji="0" lang="en-US" altLang="zh-CN" sz="2400" i="1" kern="0" dirty="0" err="1">
                <a:solidFill>
                  <a:srgbClr val="000000"/>
                </a:solidFill>
                <a:latin typeface="Arial" pitchFamily="34" charset="0"/>
                <a:ea typeface="微软雅黑" pitchFamily="34" charset="-122"/>
                <a:cs typeface="Arial" pitchFamily="34" charset="0"/>
              </a:rPr>
              <a:t>P</a:t>
            </a:r>
            <a:r>
              <a:rPr kumimoji="0" lang="en-US" altLang="zh-CN" sz="2400" i="1" kern="0" baseline="-25000" dirty="0" err="1">
                <a:solidFill>
                  <a:srgbClr val="000000"/>
                </a:solidFill>
                <a:latin typeface="Arial" pitchFamily="34" charset="0"/>
                <a:ea typeface="微软雅黑" pitchFamily="34" charset="-122"/>
                <a:cs typeface="Arial" pitchFamily="34" charset="0"/>
              </a:rPr>
              <a:t>i</a:t>
            </a:r>
            <a:r>
              <a:rPr kumimoji="0" lang="en-US" altLang="zh-CN" sz="2400" kern="0" baseline="30000" dirty="0" err="1">
                <a:solidFill>
                  <a:srgbClr val="000000"/>
                </a:solidFill>
                <a:latin typeface="Arial" pitchFamily="34" charset="0"/>
                <a:ea typeface="微软雅黑" pitchFamily="34" charset="-122"/>
                <a:cs typeface="Arial" pitchFamily="34" charset="0"/>
              </a:rPr>
              <a:t>T</a:t>
            </a:r>
            <a:r>
              <a:rPr kumimoji="0" lang="en-US" altLang="zh-CN" sz="2400" kern="0" dirty="0">
                <a:solidFill>
                  <a:srgbClr val="000000"/>
                </a:solidFill>
                <a:latin typeface="Arial" pitchFamily="34" charset="0"/>
                <a:ea typeface="微软雅黑" pitchFamily="34" charset="-122"/>
                <a:cs typeface="Arial" pitchFamily="34" charset="0"/>
              </a:rPr>
              <a:t>   </a:t>
            </a:r>
            <a:endParaRPr lang="zh-CN" altLang="en-US" sz="2400" dirty="0"/>
          </a:p>
        </p:txBody>
      </p:sp>
      <p:sp>
        <p:nvSpPr>
          <p:cNvPr id="10" name="矩形 9">
            <a:extLst>
              <a:ext uri="{FF2B5EF4-FFF2-40B4-BE49-F238E27FC236}">
                <a16:creationId xmlns:a16="http://schemas.microsoft.com/office/drawing/2014/main" id="{96F8A578-37C7-7A98-86A0-230495C07F4F}"/>
              </a:ext>
            </a:extLst>
          </p:cNvPr>
          <p:cNvSpPr/>
          <p:nvPr/>
        </p:nvSpPr>
        <p:spPr>
          <a:xfrm>
            <a:off x="898525" y="5886450"/>
            <a:ext cx="5673725" cy="400050"/>
          </a:xfrm>
          <a:prstGeom prst="rect">
            <a:avLst/>
          </a:prstGeom>
        </p:spPr>
        <p:txBody>
          <a:bodyPr>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一般说来，截短生成矩阵具有如下形式：</a:t>
            </a:r>
            <a:endParaRPr lang="zh-CN" altLang="en-US" dirty="0"/>
          </a:p>
        </p:txBody>
      </p:sp>
      <p:sp>
        <p:nvSpPr>
          <p:cNvPr id="14" name="矩形 13">
            <a:extLst>
              <a:ext uri="{FF2B5EF4-FFF2-40B4-BE49-F238E27FC236}">
                <a16:creationId xmlns:a16="http://schemas.microsoft.com/office/drawing/2014/main" id="{D6DCF1AF-D95F-3F3B-861F-BF2AD6A9F885}"/>
              </a:ext>
            </a:extLst>
          </p:cNvPr>
          <p:cNvSpPr/>
          <p:nvPr/>
        </p:nvSpPr>
        <p:spPr>
          <a:xfrm>
            <a:off x="5043488" y="5110163"/>
            <a:ext cx="1814512" cy="461962"/>
          </a:xfrm>
          <a:prstGeom prst="rect">
            <a:avLst/>
          </a:prstGeom>
        </p:spPr>
        <p:txBody>
          <a:bodyPr wrap="none">
            <a:spAutoFit/>
          </a:bodyPr>
          <a:lstStyle/>
          <a:p>
            <a:pPr>
              <a:defRPr/>
            </a:pPr>
            <a:r>
              <a:rPr kumimoji="0" lang="en-US" altLang="zh-CN" sz="2400" kern="0" dirty="0">
                <a:solidFill>
                  <a:srgbClr val="000000"/>
                </a:solidFill>
                <a:latin typeface="Arial" pitchFamily="34" charset="0"/>
                <a:ea typeface="微软雅黑" pitchFamily="34" charset="-122"/>
                <a:cs typeface="Arial" pitchFamily="34" charset="0"/>
              </a:rPr>
              <a:t>(</a:t>
            </a:r>
            <a:r>
              <a:rPr kumimoji="0" lang="en-US" altLang="zh-CN" sz="2400" i="1" kern="0" dirty="0" err="1">
                <a:solidFill>
                  <a:srgbClr val="000000"/>
                </a:solidFill>
                <a:latin typeface="Arial" pitchFamily="34" charset="0"/>
                <a:ea typeface="微软雅黑" pitchFamily="34" charset="-122"/>
                <a:cs typeface="Arial" pitchFamily="34" charset="0"/>
              </a:rPr>
              <a:t>i</a:t>
            </a:r>
            <a:r>
              <a:rPr kumimoji="0" lang="en-US" altLang="zh-CN" sz="2400" kern="0" dirty="0">
                <a:solidFill>
                  <a:srgbClr val="000000"/>
                </a:solidFill>
                <a:latin typeface="Arial" pitchFamily="34" charset="0"/>
                <a:ea typeface="微软雅黑" pitchFamily="34" charset="-122"/>
                <a:cs typeface="Arial" pitchFamily="34" charset="0"/>
              </a:rPr>
              <a:t> = 1, 2, </a:t>
            </a:r>
            <a:r>
              <a:rPr kumimoji="0" lang="en-US" altLang="zh-CN" sz="2400" kern="0" dirty="0">
                <a:solidFill>
                  <a:srgbClr val="000000"/>
                </a:solidFill>
                <a:latin typeface="Arial" pitchFamily="34" charset="0"/>
                <a:ea typeface="微软雅黑" pitchFamily="34" charset="-122"/>
                <a:cs typeface="Arial" pitchFamily="34" charset="0"/>
                <a:sym typeface="Symbol" pitchFamily="18" charset="2"/>
              </a:rPr>
              <a:t></a:t>
            </a:r>
            <a:r>
              <a:rPr kumimoji="0" lang="en-US" altLang="zh-CN" sz="2400" kern="0" dirty="0">
                <a:solidFill>
                  <a:srgbClr val="000000"/>
                </a:solidFill>
                <a:latin typeface="Arial" pitchFamily="34" charset="0"/>
                <a:ea typeface="微软雅黑" pitchFamily="34" charset="-122"/>
                <a:cs typeface="Arial" pitchFamily="34" charset="0"/>
              </a:rPr>
              <a:t>)</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19812"/>
                                        </p:tgtEl>
                                        <p:attrNameLst>
                                          <p:attrName>style.visibility</p:attrName>
                                        </p:attrNameLst>
                                      </p:cBhvr>
                                      <p:to>
                                        <p:strVal val="visible"/>
                                      </p:to>
                                    </p:set>
                                    <p:animEffect transition="in" filter="wipe(up)">
                                      <p:cBhvr>
                                        <p:cTn id="7" dur="1000"/>
                                        <p:tgtEl>
                                          <p:spTgt spid="1198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19811">
                                            <p:txEl>
                                              <p:pRg st="0" end="0"/>
                                            </p:txEl>
                                          </p:spTgt>
                                        </p:tgtEl>
                                        <p:attrNameLst>
                                          <p:attrName>style.visibility</p:attrName>
                                        </p:attrNameLst>
                                      </p:cBhvr>
                                      <p:to>
                                        <p:strVal val="visible"/>
                                      </p:to>
                                    </p:set>
                                    <p:animEffect transition="in" filter="wipe(up)">
                                      <p:cBhvr>
                                        <p:cTn id="12" dur="1000"/>
                                        <p:tgtEl>
                                          <p:spTgt spid="11981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19811">
                                            <p:txEl>
                                              <p:pRg st="1" end="1"/>
                                            </p:txEl>
                                          </p:spTgt>
                                        </p:tgtEl>
                                        <p:attrNameLst>
                                          <p:attrName>style.visibility</p:attrName>
                                        </p:attrNameLst>
                                      </p:cBhvr>
                                      <p:to>
                                        <p:strVal val="visible"/>
                                      </p:to>
                                    </p:set>
                                    <p:animEffect transition="in" filter="wipe(up)">
                                      <p:cBhvr>
                                        <p:cTn id="17" dur="1000"/>
                                        <p:tgtEl>
                                          <p:spTgt spid="119811">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up)">
                                      <p:cBhvr>
                                        <p:cTn id="22" dur="1000"/>
                                        <p:tgtEl>
                                          <p:spTgt spid="8"/>
                                        </p:tgtEl>
                                      </p:cBhvr>
                                    </p:animEffect>
                                  </p:childTnLst>
                                </p:cTn>
                              </p:par>
                            </p:childTnLst>
                          </p:cTn>
                        </p:par>
                        <p:par>
                          <p:cTn id="23" fill="hold" nodeType="afterGroup">
                            <p:stCondLst>
                              <p:cond delay="1000"/>
                            </p:stCondLst>
                            <p:childTnLst>
                              <p:par>
                                <p:cTn id="24" presetID="22" presetClass="entr" presetSubtype="1" fill="hold"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up)">
                                      <p:cBhvr>
                                        <p:cTn id="26" dur="1000"/>
                                        <p:tgtEl>
                                          <p:spTgt spid="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left)">
                                      <p:cBhvr>
                                        <p:cTn id="31" dur="1000"/>
                                        <p:tgtEl>
                                          <p:spTgt spid="1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up)">
                                      <p:cBhvr>
                                        <p:cTn id="3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1" grpId="0" build="p"/>
      <p:bldP spid="8" grpId="0"/>
      <p:bldP spid="9" grpId="0" animBg="1"/>
      <p:bldP spid="10" grpId="0"/>
      <p:bldP spid="14"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Rectangle 3">
            <a:extLst>
              <a:ext uri="{FF2B5EF4-FFF2-40B4-BE49-F238E27FC236}">
                <a16:creationId xmlns:a16="http://schemas.microsoft.com/office/drawing/2014/main" id="{84465D2B-9AED-95AB-FD8B-AD8177D9CFCB}"/>
              </a:ext>
            </a:extLst>
          </p:cNvPr>
          <p:cNvSpPr>
            <a:spLocks noGrp="1" noChangeArrowheads="1"/>
          </p:cNvSpPr>
          <p:nvPr>
            <p:ph type="body" idx="1"/>
          </p:nvPr>
        </p:nvSpPr>
        <p:spPr>
          <a:xfrm>
            <a:off x="1085850" y="5929313"/>
            <a:ext cx="7772400" cy="500062"/>
          </a:xfrm>
        </p:spPr>
        <p:txBody>
          <a:bodyPr/>
          <a:lstStyle/>
          <a:p>
            <a:pPr eaLnBrk="1" hangingPunct="1">
              <a:buFont typeface="Wingdings" panose="05000000000000000000" pitchFamily="2" charset="2"/>
              <a:buNone/>
            </a:pPr>
            <a:r>
              <a:rPr lang="zh-CN" altLang="en-US" sz="2000" b="1">
                <a:latin typeface="微软雅黑" panose="020B0503020204020204" pitchFamily="34" charset="-122"/>
                <a:ea typeface="微软雅黑" panose="020B0503020204020204" pitchFamily="34" charset="-122"/>
              </a:rPr>
              <a:t>只要给定 </a:t>
            </a:r>
            <a:r>
              <a:rPr lang="en-US" altLang="zh-CN" sz="2400" b="1" i="1">
                <a:solidFill>
                  <a:srgbClr val="FF0000"/>
                </a:solidFill>
                <a:latin typeface="Arial" panose="020B0604020202020204" pitchFamily="34" charset="0"/>
                <a:ea typeface="微软雅黑" panose="020B0503020204020204" pitchFamily="34" charset="-122"/>
                <a:cs typeface="Arial" panose="020B0604020202020204" pitchFamily="34" charset="0"/>
              </a:rPr>
              <a:t>g</a:t>
            </a:r>
            <a:r>
              <a:rPr lang="zh-CN" altLang="en-US" sz="2000" b="1">
                <a:latin typeface="微软雅黑" panose="020B0503020204020204" pitchFamily="34" charset="-122"/>
                <a:ea typeface="微软雅黑" panose="020B0503020204020204" pitchFamily="34" charset="-122"/>
              </a:rPr>
              <a:t>，则可从已知的信息位得到整个编码序列。</a:t>
            </a:r>
          </a:p>
        </p:txBody>
      </p:sp>
      <p:sp>
        <p:nvSpPr>
          <p:cNvPr id="49156" name="Rectangle 5">
            <a:extLst>
              <a:ext uri="{FF2B5EF4-FFF2-40B4-BE49-F238E27FC236}">
                <a16:creationId xmlns:a16="http://schemas.microsoft.com/office/drawing/2014/main" id="{2E348671-7932-5EF2-7882-D2FC6E0D745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aphicFrame>
        <p:nvGraphicFramePr>
          <p:cNvPr id="120836" name="Object 4">
            <a:extLst>
              <a:ext uri="{FF2B5EF4-FFF2-40B4-BE49-F238E27FC236}">
                <a16:creationId xmlns:a16="http://schemas.microsoft.com/office/drawing/2014/main" id="{CCB199AD-8A9C-53BB-B6E7-52A8F0D4E287}"/>
              </a:ext>
            </a:extLst>
          </p:cNvPr>
          <p:cNvGraphicFramePr>
            <a:graphicFrameLocks noChangeAspect="1"/>
          </p:cNvGraphicFramePr>
          <p:nvPr/>
        </p:nvGraphicFramePr>
        <p:xfrm>
          <a:off x="2338388" y="1376363"/>
          <a:ext cx="5053012" cy="1981200"/>
        </p:xfrm>
        <a:graphic>
          <a:graphicData uri="http://schemas.openxmlformats.org/presentationml/2006/ole">
            <mc:AlternateContent xmlns:mc="http://schemas.openxmlformats.org/markup-compatibility/2006">
              <mc:Choice xmlns:v="urn:schemas-microsoft-com:vml" Requires="v">
                <p:oleObj name="公式" r:id="rId2" imgW="2793960" imgH="1168200" progId="Equation.3">
                  <p:embed/>
                </p:oleObj>
              </mc:Choice>
              <mc:Fallback>
                <p:oleObj name="公式" r:id="rId2" imgW="2793960" imgH="11682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8388" y="1376363"/>
                        <a:ext cx="5053012" cy="198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矩形 10">
            <a:extLst>
              <a:ext uri="{FF2B5EF4-FFF2-40B4-BE49-F238E27FC236}">
                <a16:creationId xmlns:a16="http://schemas.microsoft.com/office/drawing/2014/main" id="{6866930D-6EC0-81F1-51A0-FCB72FA741A2}"/>
              </a:ext>
            </a:extLst>
          </p:cNvPr>
          <p:cNvSpPr/>
          <p:nvPr/>
        </p:nvSpPr>
        <p:spPr>
          <a:xfrm>
            <a:off x="785813" y="4548188"/>
            <a:ext cx="2549525" cy="523875"/>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wrap="none">
            <a:spAutoFit/>
          </a:bodyPr>
          <a:lstStyle/>
          <a:p>
            <a:pPr>
              <a:buClr>
                <a:srgbClr val="0000CC"/>
              </a:buClr>
              <a:buSzPct val="65000"/>
              <a:buFont typeface="Wingdings" pitchFamily="2" charset="2"/>
              <a:buChar char="u"/>
              <a:defRPr/>
            </a:pPr>
            <a:r>
              <a:rPr kumimoji="0" lang="zh-CN" altLang="en-US" sz="2800" b="0" kern="0" dirty="0">
                <a:solidFill>
                  <a:srgbClr val="000000"/>
                </a:solidFill>
                <a:latin typeface="Arial" pitchFamily="34" charset="0"/>
                <a:ea typeface="微软雅黑" pitchFamily="34" charset="-122"/>
                <a:cs typeface="Arial" pitchFamily="34" charset="0"/>
              </a:rPr>
              <a:t> </a:t>
            </a:r>
            <a:r>
              <a:rPr lang="zh-CN" altLang="en-US" sz="2400" dirty="0">
                <a:solidFill>
                  <a:schemeClr val="hlink"/>
                </a:solidFill>
                <a:latin typeface="微软雅黑" pitchFamily="34" charset="-122"/>
                <a:ea typeface="微软雅黑" pitchFamily="34" charset="-122"/>
              </a:rPr>
              <a:t>基本</a:t>
            </a:r>
            <a:r>
              <a:rPr kumimoji="0" lang="zh-CN" altLang="en-US" sz="2400" b="0" kern="0" dirty="0">
                <a:solidFill>
                  <a:srgbClr val="000000"/>
                </a:solidFill>
                <a:latin typeface="Arial" pitchFamily="34" charset="0"/>
                <a:ea typeface="微软雅黑" pitchFamily="34" charset="-122"/>
                <a:cs typeface="Arial" pitchFamily="34" charset="0"/>
              </a:rPr>
              <a:t>生成矩阵</a:t>
            </a:r>
            <a:r>
              <a:rPr lang="en-US" altLang="zh-CN" sz="2400" i="1" dirty="0">
                <a:solidFill>
                  <a:srgbClr val="FF0000"/>
                </a:solidFill>
                <a:latin typeface="Arial" pitchFamily="34" charset="0"/>
                <a:cs typeface="Arial" pitchFamily="34" charset="0"/>
              </a:rPr>
              <a:t>g</a:t>
            </a:r>
            <a:endParaRPr lang="zh-CN" altLang="en-US" sz="2400" dirty="0">
              <a:solidFill>
                <a:srgbClr val="FF0000"/>
              </a:solidFill>
              <a:latin typeface="Arial" pitchFamily="34" charset="0"/>
              <a:ea typeface="微软雅黑" pitchFamily="34" charset="-122"/>
              <a:cs typeface="Arial" pitchFamily="34" charset="0"/>
            </a:endParaRPr>
          </a:p>
        </p:txBody>
      </p:sp>
      <p:sp>
        <p:nvSpPr>
          <p:cNvPr id="12" name="矩形 11">
            <a:extLst>
              <a:ext uri="{FF2B5EF4-FFF2-40B4-BE49-F238E27FC236}">
                <a16:creationId xmlns:a16="http://schemas.microsoft.com/office/drawing/2014/main" id="{A3C0D26A-1B3F-5274-B33D-D212C913C15A}"/>
              </a:ext>
            </a:extLst>
          </p:cNvPr>
          <p:cNvSpPr/>
          <p:nvPr/>
        </p:nvSpPr>
        <p:spPr>
          <a:xfrm>
            <a:off x="955675" y="3516313"/>
            <a:ext cx="7188200" cy="769937"/>
          </a:xfrm>
          <a:prstGeom prst="rect">
            <a:avLst/>
          </a:prstGeom>
          <a:solidFill>
            <a:schemeClr val="bg2">
              <a:lumMod val="10000"/>
              <a:lumOff val="90000"/>
            </a:schemeClr>
          </a:solidFill>
        </p:spPr>
        <p:txBody>
          <a:bodyPr>
            <a:spAutoFit/>
          </a:bodyPr>
          <a:lstStyle/>
          <a:p>
            <a:pPr marL="342900" indent="-342900">
              <a:spcBef>
                <a:spcPct val="20000"/>
              </a:spcBef>
              <a:buClr>
                <a:srgbClr val="3333CC"/>
              </a:buClr>
              <a:buSzPct val="60000"/>
              <a:defRPr/>
            </a:pPr>
            <a:r>
              <a:rPr kumimoji="0" lang="zh-CN" altLang="en-US" sz="2000" b="0" kern="0" dirty="0">
                <a:solidFill>
                  <a:srgbClr val="000000"/>
                </a:solidFill>
                <a:latin typeface="微软雅黑" pitchFamily="34" charset="-122"/>
                <a:ea typeface="微软雅黑" pitchFamily="34" charset="-122"/>
              </a:rPr>
              <a:t>式中</a:t>
            </a:r>
            <a:r>
              <a:rPr kumimoji="0" lang="en-US" altLang="zh-CN" sz="2000" b="0" kern="0" dirty="0">
                <a:solidFill>
                  <a:srgbClr val="000000"/>
                </a:solidFill>
                <a:latin typeface="微软雅黑" pitchFamily="34" charset="-122"/>
                <a:ea typeface="微软雅黑" pitchFamily="34" charset="-122"/>
              </a:rPr>
              <a:t>:  </a:t>
            </a:r>
            <a:r>
              <a:rPr kumimoji="0" lang="zh-CN" altLang="en-US" sz="2000" b="0" kern="0" dirty="0">
                <a:solidFill>
                  <a:srgbClr val="000000"/>
                </a:solidFill>
                <a:latin typeface="微软雅黑" pitchFamily="34" charset="-122"/>
                <a:ea typeface="微软雅黑" pitchFamily="34" charset="-122"/>
              </a:rPr>
              <a:t> </a:t>
            </a:r>
            <a:r>
              <a:rPr kumimoji="0" lang="en-US" altLang="zh-CN" sz="2000" i="1" kern="0" dirty="0">
                <a:solidFill>
                  <a:srgbClr val="000000"/>
                </a:solidFill>
                <a:latin typeface="微软雅黑" pitchFamily="34" charset="-122"/>
                <a:ea typeface="微软雅黑" pitchFamily="34" charset="-122"/>
              </a:rPr>
              <a:t>I</a:t>
            </a:r>
            <a:r>
              <a:rPr kumimoji="0" lang="en-US" altLang="zh-CN" sz="2000" b="0" i="1" kern="0" baseline="-25000" dirty="0">
                <a:solidFill>
                  <a:srgbClr val="000000"/>
                </a:solidFill>
                <a:latin typeface="微软雅黑" pitchFamily="34" charset="-122"/>
                <a:ea typeface="微软雅黑" pitchFamily="34" charset="-122"/>
              </a:rPr>
              <a:t>k</a:t>
            </a:r>
            <a:r>
              <a:rPr kumimoji="0" lang="en-US" altLang="zh-CN" sz="2000" b="0" kern="0" dirty="0">
                <a:solidFill>
                  <a:srgbClr val="000000"/>
                </a:solidFill>
                <a:latin typeface="微软雅黑" pitchFamily="34" charset="-122"/>
                <a:ea typeface="微软雅黑" pitchFamily="34" charset="-122"/>
              </a:rPr>
              <a:t> </a:t>
            </a:r>
            <a:r>
              <a:rPr kumimoji="0" lang="zh-CN" altLang="en-US" sz="2000" b="0" kern="0" dirty="0">
                <a:solidFill>
                  <a:srgbClr val="000000"/>
                </a:solidFill>
                <a:latin typeface="微软雅黑" pitchFamily="34" charset="-122"/>
                <a:ea typeface="微软雅黑" pitchFamily="34" charset="-122"/>
              </a:rPr>
              <a:t>－ </a:t>
            </a:r>
            <a:r>
              <a:rPr kumimoji="0" lang="en-US" altLang="zh-CN" sz="2000" b="0" i="1" kern="0" dirty="0">
                <a:solidFill>
                  <a:srgbClr val="000000"/>
                </a:solidFill>
                <a:latin typeface="微软雅黑" pitchFamily="34" charset="-122"/>
                <a:ea typeface="微软雅黑" pitchFamily="34" charset="-122"/>
              </a:rPr>
              <a:t>k</a:t>
            </a:r>
            <a:r>
              <a:rPr kumimoji="0" lang="zh-CN" altLang="en-US" sz="2000" b="0" kern="0" dirty="0">
                <a:solidFill>
                  <a:srgbClr val="000000"/>
                </a:solidFill>
                <a:latin typeface="微软雅黑" pitchFamily="34" charset="-122"/>
                <a:ea typeface="微软雅黑" pitchFamily="34" charset="-122"/>
              </a:rPr>
              <a:t>阶单位方阵； </a:t>
            </a:r>
            <a:r>
              <a:rPr kumimoji="0" lang="en-US" altLang="zh-CN" sz="2000" i="1" kern="0" dirty="0">
                <a:solidFill>
                  <a:srgbClr val="000000"/>
                </a:solidFill>
                <a:latin typeface="微软雅黑" pitchFamily="34" charset="-122"/>
                <a:ea typeface="微软雅黑" pitchFamily="34" charset="-122"/>
              </a:rPr>
              <a:t>Q</a:t>
            </a:r>
            <a:r>
              <a:rPr kumimoji="0" lang="en-US" altLang="zh-CN" sz="2000" b="0" i="1" kern="0" baseline="-25000" dirty="0" err="1">
                <a:solidFill>
                  <a:srgbClr val="000000"/>
                </a:solidFill>
                <a:latin typeface="微软雅黑" pitchFamily="34" charset="-122"/>
                <a:ea typeface="微软雅黑" pitchFamily="34" charset="-122"/>
              </a:rPr>
              <a:t>i</a:t>
            </a:r>
            <a:r>
              <a:rPr kumimoji="0" lang="en-US" altLang="zh-CN" sz="2000" b="0" kern="0" dirty="0">
                <a:solidFill>
                  <a:srgbClr val="000000"/>
                </a:solidFill>
                <a:latin typeface="微软雅黑" pitchFamily="34" charset="-122"/>
                <a:ea typeface="微软雅黑" pitchFamily="34" charset="-122"/>
              </a:rPr>
              <a:t> </a:t>
            </a:r>
            <a:r>
              <a:rPr kumimoji="0" lang="zh-CN" altLang="en-US" sz="2000" b="0" kern="0" dirty="0">
                <a:solidFill>
                  <a:srgbClr val="000000"/>
                </a:solidFill>
                <a:latin typeface="微软雅黑" pitchFamily="34" charset="-122"/>
                <a:ea typeface="微软雅黑" pitchFamily="34" charset="-122"/>
              </a:rPr>
              <a:t>－ </a:t>
            </a:r>
            <a:r>
              <a:rPr kumimoji="0" lang="en-US" altLang="zh-CN" sz="2000" b="0" kern="0" dirty="0">
                <a:solidFill>
                  <a:srgbClr val="000000"/>
                </a:solidFill>
                <a:latin typeface="微软雅黑" pitchFamily="34" charset="-122"/>
                <a:ea typeface="微软雅黑" pitchFamily="34" charset="-122"/>
              </a:rPr>
              <a:t>(</a:t>
            </a:r>
            <a:r>
              <a:rPr kumimoji="0" lang="en-US" altLang="zh-CN" sz="2000" b="0" i="1" kern="0" dirty="0">
                <a:solidFill>
                  <a:srgbClr val="000000"/>
                </a:solidFill>
                <a:latin typeface="微软雅黑" pitchFamily="34" charset="-122"/>
                <a:ea typeface="微软雅黑" pitchFamily="34" charset="-122"/>
              </a:rPr>
              <a:t>n</a:t>
            </a:r>
            <a:r>
              <a:rPr kumimoji="0" lang="en-US" altLang="zh-CN" sz="2000" b="0" kern="0" dirty="0">
                <a:solidFill>
                  <a:srgbClr val="000000"/>
                </a:solidFill>
                <a:latin typeface="微软雅黑" pitchFamily="34" charset="-122"/>
                <a:ea typeface="微软雅黑" pitchFamily="34" charset="-122"/>
              </a:rPr>
              <a:t> – </a:t>
            </a:r>
            <a:r>
              <a:rPr kumimoji="0" lang="en-US" altLang="zh-CN" sz="2000" b="0" i="1" kern="0" dirty="0">
                <a:solidFill>
                  <a:srgbClr val="000000"/>
                </a:solidFill>
                <a:latin typeface="微软雅黑" pitchFamily="34" charset="-122"/>
                <a:ea typeface="微软雅黑" pitchFamily="34" charset="-122"/>
              </a:rPr>
              <a:t>k</a:t>
            </a:r>
            <a:r>
              <a:rPr kumimoji="0" lang="en-US" altLang="zh-CN" sz="2000" b="0" kern="0" dirty="0">
                <a:solidFill>
                  <a:srgbClr val="000000"/>
                </a:solidFill>
                <a:latin typeface="微软雅黑" pitchFamily="34" charset="-122"/>
                <a:ea typeface="微软雅黑" pitchFamily="34" charset="-122"/>
              </a:rPr>
              <a:t>)</a:t>
            </a:r>
            <a:r>
              <a:rPr kumimoji="0" lang="en-US" altLang="zh-CN" sz="2000" b="0" kern="0" dirty="0">
                <a:solidFill>
                  <a:srgbClr val="000000"/>
                </a:solidFill>
                <a:latin typeface="微软雅黑" pitchFamily="34" charset="-122"/>
                <a:ea typeface="微软雅黑" pitchFamily="34" charset="-122"/>
                <a:sym typeface="Symbol" pitchFamily="18" charset="2"/>
              </a:rPr>
              <a:t></a:t>
            </a:r>
            <a:r>
              <a:rPr kumimoji="0" lang="en-US" altLang="zh-CN" sz="2000" b="0" i="1" kern="0" dirty="0">
                <a:solidFill>
                  <a:srgbClr val="000000"/>
                </a:solidFill>
                <a:latin typeface="微软雅黑" pitchFamily="34" charset="-122"/>
                <a:ea typeface="微软雅黑" pitchFamily="34" charset="-122"/>
              </a:rPr>
              <a:t>k</a:t>
            </a:r>
            <a:r>
              <a:rPr kumimoji="0" lang="zh-CN" altLang="en-US" sz="2000" b="0" kern="0" dirty="0">
                <a:solidFill>
                  <a:srgbClr val="000000"/>
                </a:solidFill>
                <a:latin typeface="微软雅黑" pitchFamily="34" charset="-122"/>
                <a:ea typeface="微软雅黑" pitchFamily="34" charset="-122"/>
              </a:rPr>
              <a:t>阶矩阵；</a:t>
            </a:r>
          </a:p>
          <a:p>
            <a:pPr marL="342900" indent="-342900">
              <a:spcBef>
                <a:spcPct val="20000"/>
              </a:spcBef>
              <a:buClr>
                <a:srgbClr val="3333CC"/>
              </a:buClr>
              <a:buSzPct val="60000"/>
              <a:defRPr/>
            </a:pPr>
            <a:r>
              <a:rPr kumimoji="0" lang="zh-CN" altLang="en-US" sz="2000" b="0" kern="0" dirty="0">
                <a:solidFill>
                  <a:srgbClr val="000000"/>
                </a:solidFill>
                <a:latin typeface="微软雅黑" pitchFamily="34" charset="-122"/>
                <a:ea typeface="微软雅黑" pitchFamily="34" charset="-122"/>
              </a:rPr>
              <a:t>	      </a:t>
            </a:r>
            <a:r>
              <a:rPr kumimoji="0" lang="en-US" altLang="zh-CN" sz="2000" kern="0" dirty="0">
                <a:solidFill>
                  <a:srgbClr val="000000"/>
                </a:solidFill>
                <a:latin typeface="微软雅黑" pitchFamily="34" charset="-122"/>
                <a:ea typeface="微软雅黑" pitchFamily="34" charset="-122"/>
              </a:rPr>
              <a:t>0</a:t>
            </a:r>
            <a:r>
              <a:rPr kumimoji="0" lang="en-US" altLang="zh-CN" sz="2000" b="0" i="1" kern="0" baseline="-25000" dirty="0">
                <a:solidFill>
                  <a:srgbClr val="000000"/>
                </a:solidFill>
                <a:latin typeface="微软雅黑" pitchFamily="34" charset="-122"/>
                <a:ea typeface="微软雅黑" pitchFamily="34" charset="-122"/>
              </a:rPr>
              <a:t>k</a:t>
            </a:r>
            <a:r>
              <a:rPr kumimoji="0" lang="en-US" altLang="zh-CN" sz="2000" b="0" kern="0" dirty="0">
                <a:solidFill>
                  <a:srgbClr val="000000"/>
                </a:solidFill>
                <a:latin typeface="微软雅黑" pitchFamily="34" charset="-122"/>
                <a:ea typeface="微软雅黑" pitchFamily="34" charset="-122"/>
              </a:rPr>
              <a:t> </a:t>
            </a:r>
            <a:r>
              <a:rPr kumimoji="0" lang="zh-CN" altLang="en-US" sz="2000" b="0" kern="0" dirty="0">
                <a:solidFill>
                  <a:srgbClr val="000000"/>
                </a:solidFill>
                <a:latin typeface="微软雅黑" pitchFamily="34" charset="-122"/>
                <a:ea typeface="微软雅黑" pitchFamily="34" charset="-122"/>
              </a:rPr>
              <a:t>－ </a:t>
            </a:r>
            <a:r>
              <a:rPr kumimoji="0" lang="en-US" altLang="zh-CN" sz="2000" b="0" kern="0" dirty="0">
                <a:solidFill>
                  <a:srgbClr val="000000"/>
                </a:solidFill>
                <a:latin typeface="微软雅黑" pitchFamily="34" charset="-122"/>
                <a:ea typeface="微软雅黑" pitchFamily="34" charset="-122"/>
              </a:rPr>
              <a:t>k</a:t>
            </a:r>
            <a:r>
              <a:rPr kumimoji="0" lang="zh-CN" altLang="en-US" sz="2000" b="0" kern="0" dirty="0">
                <a:solidFill>
                  <a:srgbClr val="000000"/>
                </a:solidFill>
                <a:latin typeface="微软雅黑" pitchFamily="34" charset="-122"/>
                <a:ea typeface="微软雅黑" pitchFamily="34" charset="-122"/>
              </a:rPr>
              <a:t>阶全零方阵。</a:t>
            </a:r>
          </a:p>
        </p:txBody>
      </p:sp>
      <p:sp>
        <p:nvSpPr>
          <p:cNvPr id="13" name="矩形 12">
            <a:extLst>
              <a:ext uri="{FF2B5EF4-FFF2-40B4-BE49-F238E27FC236}">
                <a16:creationId xmlns:a16="http://schemas.microsoft.com/office/drawing/2014/main" id="{0E546DCF-BC99-4C9A-AC10-04C3F6CCCEED}"/>
              </a:ext>
            </a:extLst>
          </p:cNvPr>
          <p:cNvSpPr/>
          <p:nvPr/>
        </p:nvSpPr>
        <p:spPr>
          <a:xfrm>
            <a:off x="3429000" y="4633913"/>
            <a:ext cx="2314575" cy="400050"/>
          </a:xfrm>
          <a:prstGeom prst="rect">
            <a:avLst/>
          </a:prstGeom>
        </p:spPr>
        <p:txBody>
          <a:bodyPr wrap="none">
            <a:spAutoFit/>
          </a:bodyPr>
          <a:lstStyle/>
          <a:p>
            <a:pPr>
              <a:defRPr/>
            </a:pPr>
            <a:r>
              <a:rPr kumimoji="0" lang="en-US" altLang="zh-CN" sz="2000" b="0" kern="0" dirty="0">
                <a:solidFill>
                  <a:srgbClr val="000000"/>
                </a:solidFill>
                <a:latin typeface="微软雅黑" pitchFamily="34" charset="-122"/>
                <a:ea typeface="微软雅黑" pitchFamily="34" charset="-122"/>
              </a:rPr>
              <a:t>——</a:t>
            </a:r>
            <a:r>
              <a:rPr lang="en-US" altLang="zh-CN" sz="2000" i="1" dirty="0">
                <a:solidFill>
                  <a:srgbClr val="FF0000"/>
                </a:solidFill>
                <a:latin typeface="Arial" pitchFamily="34" charset="0"/>
                <a:cs typeface="Arial" pitchFamily="34" charset="0"/>
              </a:rPr>
              <a:t>G</a:t>
            </a:r>
            <a:r>
              <a:rPr lang="en-US" altLang="zh-CN" sz="2000" baseline="-25000" dirty="0">
                <a:solidFill>
                  <a:srgbClr val="FF0000"/>
                </a:solidFill>
                <a:latin typeface="Arial" pitchFamily="34" charset="0"/>
                <a:cs typeface="Arial" pitchFamily="34" charset="0"/>
              </a:rPr>
              <a:t>1</a:t>
            </a:r>
            <a:r>
              <a:rPr kumimoji="0" lang="zh-CN" altLang="en-US" sz="2000" b="0" kern="0" dirty="0">
                <a:solidFill>
                  <a:srgbClr val="000000"/>
                </a:solidFill>
                <a:latin typeface="微软雅黑" pitchFamily="34" charset="-122"/>
                <a:ea typeface="微软雅黑" pitchFamily="34" charset="-122"/>
              </a:rPr>
              <a:t>矩阵</a:t>
            </a:r>
            <a:r>
              <a:rPr kumimoji="0" lang="zh-CN" altLang="en-US" sz="2000" kern="0" dirty="0">
                <a:solidFill>
                  <a:srgbClr val="000000"/>
                </a:solidFill>
                <a:latin typeface="微软雅黑" pitchFamily="34" charset="-122"/>
                <a:ea typeface="微软雅黑" pitchFamily="34" charset="-122"/>
              </a:rPr>
              <a:t>第一行</a:t>
            </a:r>
            <a:endParaRPr lang="zh-CN" altLang="en-US" dirty="0"/>
          </a:p>
        </p:txBody>
      </p:sp>
      <p:sp>
        <p:nvSpPr>
          <p:cNvPr id="15" name="矩形 14">
            <a:extLst>
              <a:ext uri="{FF2B5EF4-FFF2-40B4-BE49-F238E27FC236}">
                <a16:creationId xmlns:a16="http://schemas.microsoft.com/office/drawing/2014/main" id="{6A019A85-2748-99AA-5652-0DB66145C9E3}"/>
              </a:ext>
            </a:extLst>
          </p:cNvPr>
          <p:cNvSpPr/>
          <p:nvPr/>
        </p:nvSpPr>
        <p:spPr>
          <a:xfrm>
            <a:off x="2857500" y="5324475"/>
            <a:ext cx="4786313" cy="461963"/>
          </a:xfrm>
          <a:prstGeom prst="rect">
            <a:avLst/>
          </a:prstGeom>
          <a:ln w="38100" cmpd="dbl">
            <a:solidFill>
              <a:srgbClr val="6666FF"/>
            </a:solidFill>
          </a:ln>
        </p:spPr>
        <p:txBody>
          <a:bodyPr>
            <a:spAutoFit/>
          </a:bodyPr>
          <a:lstStyle/>
          <a:p>
            <a:pPr>
              <a:defRPr/>
            </a:pPr>
            <a:r>
              <a:rPr kumimoji="0" lang="en-US" altLang="zh-CN" sz="2400" i="1" kern="0" dirty="0">
                <a:solidFill>
                  <a:srgbClr val="000000"/>
                </a:solidFill>
                <a:latin typeface="Arial" pitchFamily="34" charset="0"/>
                <a:ea typeface="微软雅黑" pitchFamily="34" charset="-122"/>
                <a:cs typeface="Arial" pitchFamily="34" charset="0"/>
              </a:rPr>
              <a:t> </a:t>
            </a:r>
            <a:r>
              <a:rPr kumimoji="0" lang="en-US" altLang="zh-CN" sz="2400" i="1" kern="0" dirty="0">
                <a:solidFill>
                  <a:srgbClr val="FF0000"/>
                </a:solidFill>
                <a:latin typeface="Arial" pitchFamily="34" charset="0"/>
                <a:ea typeface="微软雅黑" pitchFamily="34" charset="-122"/>
                <a:cs typeface="Arial" pitchFamily="34" charset="0"/>
              </a:rPr>
              <a:t>g</a:t>
            </a:r>
            <a:r>
              <a:rPr kumimoji="0" lang="en-US" altLang="zh-CN" sz="2400" b="0" kern="0" dirty="0">
                <a:solidFill>
                  <a:srgbClr val="FF0000"/>
                </a:solidFill>
                <a:latin typeface="Arial" pitchFamily="34" charset="0"/>
                <a:ea typeface="微软雅黑" pitchFamily="34" charset="-122"/>
                <a:cs typeface="Arial" pitchFamily="34" charset="0"/>
              </a:rPr>
              <a:t> </a:t>
            </a:r>
            <a:r>
              <a:rPr kumimoji="0" lang="zh-CN" altLang="en-US" sz="2400" kern="0" dirty="0">
                <a:solidFill>
                  <a:srgbClr val="000000"/>
                </a:solidFill>
                <a:latin typeface="微软雅黑" pitchFamily="34" charset="-122"/>
                <a:ea typeface="微软雅黑" pitchFamily="34" charset="-122"/>
              </a:rPr>
              <a:t>＝</a:t>
            </a:r>
            <a:r>
              <a:rPr kumimoji="0" lang="zh-CN" altLang="en-US" sz="2400" b="0" kern="0" dirty="0">
                <a:solidFill>
                  <a:srgbClr val="000000"/>
                </a:solidFill>
                <a:latin typeface="微软雅黑" pitchFamily="34" charset="-122"/>
                <a:ea typeface="微软雅黑" pitchFamily="34" charset="-122"/>
              </a:rPr>
              <a:t> </a:t>
            </a:r>
            <a:r>
              <a:rPr kumimoji="0" lang="en-US" altLang="zh-CN" sz="2400" b="0" kern="0" dirty="0">
                <a:solidFill>
                  <a:srgbClr val="000000"/>
                </a:solidFill>
                <a:latin typeface="Arial" pitchFamily="34" charset="0"/>
                <a:ea typeface="微软雅黑" pitchFamily="34" charset="-122"/>
                <a:cs typeface="Arial" pitchFamily="34" charset="0"/>
              </a:rPr>
              <a:t>[</a:t>
            </a:r>
            <a:r>
              <a:rPr kumimoji="0" lang="en-US" altLang="zh-CN" sz="2400" i="1" kern="0" dirty="0">
                <a:solidFill>
                  <a:srgbClr val="000000"/>
                </a:solidFill>
                <a:latin typeface="Arial" pitchFamily="34" charset="0"/>
                <a:ea typeface="微软雅黑" pitchFamily="34" charset="-122"/>
                <a:cs typeface="Arial" pitchFamily="34" charset="0"/>
              </a:rPr>
              <a:t>I</a:t>
            </a:r>
            <a:r>
              <a:rPr kumimoji="0" lang="en-US" altLang="zh-CN" sz="2400" b="0" i="1" kern="0" baseline="-25000" dirty="0">
                <a:solidFill>
                  <a:srgbClr val="000000"/>
                </a:solidFill>
                <a:latin typeface="Arial" pitchFamily="34" charset="0"/>
                <a:ea typeface="微软雅黑" pitchFamily="34" charset="-122"/>
                <a:cs typeface="Arial" pitchFamily="34" charset="0"/>
              </a:rPr>
              <a:t>k</a:t>
            </a:r>
            <a:r>
              <a:rPr kumimoji="0" lang="en-US" altLang="zh-CN" sz="2400" b="0" i="1" kern="0" dirty="0">
                <a:solidFill>
                  <a:srgbClr val="000000"/>
                </a:solidFill>
                <a:latin typeface="Arial" pitchFamily="34" charset="0"/>
                <a:ea typeface="微软雅黑" pitchFamily="34" charset="-122"/>
                <a:cs typeface="Arial" pitchFamily="34" charset="0"/>
              </a:rPr>
              <a:t> </a:t>
            </a:r>
            <a:r>
              <a:rPr kumimoji="0" lang="en-US" altLang="zh-CN" sz="2400" i="1" kern="0" dirty="0">
                <a:solidFill>
                  <a:srgbClr val="000000"/>
                </a:solidFill>
                <a:latin typeface="Arial" pitchFamily="34" charset="0"/>
                <a:ea typeface="微软雅黑" pitchFamily="34" charset="-122"/>
                <a:cs typeface="Arial" pitchFamily="34" charset="0"/>
              </a:rPr>
              <a:t>Q</a:t>
            </a:r>
            <a:r>
              <a:rPr kumimoji="0" lang="en-US" altLang="zh-CN" sz="2400" b="0" kern="0" baseline="-25000" dirty="0">
                <a:solidFill>
                  <a:srgbClr val="000000"/>
                </a:solidFill>
                <a:latin typeface="Arial" pitchFamily="34" charset="0"/>
                <a:ea typeface="微软雅黑" pitchFamily="34" charset="-122"/>
                <a:cs typeface="Arial" pitchFamily="34" charset="0"/>
              </a:rPr>
              <a:t>1</a:t>
            </a:r>
            <a:r>
              <a:rPr kumimoji="0" lang="en-US" altLang="zh-CN" sz="2400" b="0" kern="0" dirty="0">
                <a:solidFill>
                  <a:srgbClr val="000000"/>
                </a:solidFill>
                <a:latin typeface="Arial" pitchFamily="34" charset="0"/>
                <a:ea typeface="微软雅黑" pitchFamily="34" charset="-122"/>
                <a:cs typeface="Arial" pitchFamily="34" charset="0"/>
              </a:rPr>
              <a:t> </a:t>
            </a:r>
            <a:r>
              <a:rPr kumimoji="0" lang="en-US" altLang="zh-CN" sz="2400" kern="0" dirty="0">
                <a:solidFill>
                  <a:srgbClr val="000000"/>
                </a:solidFill>
                <a:latin typeface="Arial" pitchFamily="34" charset="0"/>
                <a:ea typeface="微软雅黑" pitchFamily="34" charset="-122"/>
                <a:cs typeface="Arial" pitchFamily="34" charset="0"/>
              </a:rPr>
              <a:t>0</a:t>
            </a:r>
            <a:r>
              <a:rPr kumimoji="0" lang="en-US" altLang="zh-CN" sz="2400" b="0" kern="0" baseline="-25000" dirty="0">
                <a:solidFill>
                  <a:srgbClr val="000000"/>
                </a:solidFill>
                <a:latin typeface="Arial" pitchFamily="34" charset="0"/>
                <a:ea typeface="微软雅黑" pitchFamily="34" charset="-122"/>
                <a:cs typeface="Arial" pitchFamily="34" charset="0"/>
              </a:rPr>
              <a:t>k</a:t>
            </a:r>
            <a:r>
              <a:rPr kumimoji="0" lang="en-US" altLang="zh-CN" sz="2400" b="0" kern="0" dirty="0">
                <a:solidFill>
                  <a:srgbClr val="000000"/>
                </a:solidFill>
                <a:latin typeface="Arial" pitchFamily="34" charset="0"/>
                <a:ea typeface="微软雅黑" pitchFamily="34" charset="-122"/>
                <a:cs typeface="Arial" pitchFamily="34" charset="0"/>
              </a:rPr>
              <a:t> </a:t>
            </a:r>
            <a:r>
              <a:rPr kumimoji="0" lang="en-US" altLang="zh-CN" sz="2400" i="1" kern="0" dirty="0">
                <a:solidFill>
                  <a:srgbClr val="000000"/>
                </a:solidFill>
                <a:latin typeface="Arial" pitchFamily="34" charset="0"/>
                <a:ea typeface="微软雅黑" pitchFamily="34" charset="-122"/>
                <a:cs typeface="Arial" pitchFamily="34" charset="0"/>
              </a:rPr>
              <a:t>Q</a:t>
            </a:r>
            <a:r>
              <a:rPr kumimoji="0" lang="en-US" altLang="zh-CN" sz="2400" b="0" kern="0" baseline="-25000" dirty="0">
                <a:solidFill>
                  <a:srgbClr val="000000"/>
                </a:solidFill>
                <a:latin typeface="Arial" pitchFamily="34" charset="0"/>
                <a:ea typeface="微软雅黑" pitchFamily="34" charset="-122"/>
                <a:cs typeface="Arial" pitchFamily="34" charset="0"/>
              </a:rPr>
              <a:t>2</a:t>
            </a:r>
            <a:r>
              <a:rPr kumimoji="0" lang="en-US" altLang="zh-CN" sz="2400" b="0" kern="0" dirty="0">
                <a:solidFill>
                  <a:srgbClr val="000000"/>
                </a:solidFill>
                <a:latin typeface="Arial" pitchFamily="34" charset="0"/>
                <a:ea typeface="微软雅黑" pitchFamily="34" charset="-122"/>
                <a:cs typeface="Arial" pitchFamily="34" charset="0"/>
              </a:rPr>
              <a:t> </a:t>
            </a:r>
            <a:r>
              <a:rPr kumimoji="0" lang="en-US" altLang="zh-CN" sz="2400" kern="0" dirty="0">
                <a:solidFill>
                  <a:srgbClr val="000000"/>
                </a:solidFill>
                <a:latin typeface="Arial" pitchFamily="34" charset="0"/>
                <a:ea typeface="微软雅黑" pitchFamily="34" charset="-122"/>
                <a:cs typeface="Arial" pitchFamily="34" charset="0"/>
              </a:rPr>
              <a:t>0</a:t>
            </a:r>
            <a:r>
              <a:rPr kumimoji="0" lang="en-US" altLang="zh-CN" sz="2400" b="0" i="1" kern="0" baseline="-25000" dirty="0">
                <a:solidFill>
                  <a:srgbClr val="000000"/>
                </a:solidFill>
                <a:latin typeface="Arial" pitchFamily="34" charset="0"/>
                <a:ea typeface="微软雅黑" pitchFamily="34" charset="-122"/>
                <a:cs typeface="Arial" pitchFamily="34" charset="0"/>
              </a:rPr>
              <a:t>k</a:t>
            </a:r>
            <a:r>
              <a:rPr kumimoji="0" lang="en-US" altLang="zh-CN" sz="2400" b="0" i="1" kern="0" dirty="0">
                <a:solidFill>
                  <a:srgbClr val="000000"/>
                </a:solidFill>
                <a:latin typeface="Arial" pitchFamily="34" charset="0"/>
                <a:ea typeface="微软雅黑" pitchFamily="34" charset="-122"/>
                <a:cs typeface="Arial" pitchFamily="34" charset="0"/>
              </a:rPr>
              <a:t> </a:t>
            </a:r>
            <a:r>
              <a:rPr kumimoji="0" lang="en-US" altLang="zh-CN" sz="2400" i="1" kern="0" dirty="0">
                <a:solidFill>
                  <a:srgbClr val="000000"/>
                </a:solidFill>
                <a:latin typeface="Arial" pitchFamily="34" charset="0"/>
                <a:ea typeface="微软雅黑" pitchFamily="34" charset="-122"/>
                <a:cs typeface="Arial" pitchFamily="34" charset="0"/>
              </a:rPr>
              <a:t>Q</a:t>
            </a:r>
            <a:r>
              <a:rPr kumimoji="0" lang="en-US" altLang="zh-CN" sz="2400" b="0" kern="0" baseline="-25000" dirty="0">
                <a:solidFill>
                  <a:srgbClr val="000000"/>
                </a:solidFill>
                <a:latin typeface="Arial" pitchFamily="34" charset="0"/>
                <a:ea typeface="微软雅黑" pitchFamily="34" charset="-122"/>
                <a:cs typeface="Arial" pitchFamily="34" charset="0"/>
              </a:rPr>
              <a:t>3</a:t>
            </a:r>
            <a:r>
              <a:rPr kumimoji="0" lang="en-US" altLang="zh-CN" sz="2400" i="1" kern="0" dirty="0">
                <a:solidFill>
                  <a:srgbClr val="000000"/>
                </a:solidFill>
                <a:latin typeface="Arial" pitchFamily="34" charset="0"/>
                <a:ea typeface="微软雅黑" pitchFamily="34" charset="-122"/>
                <a:cs typeface="Arial" pitchFamily="34" charset="0"/>
                <a:sym typeface="Symbol" pitchFamily="18" charset="2"/>
              </a:rPr>
              <a:t></a:t>
            </a:r>
            <a:r>
              <a:rPr kumimoji="0" lang="en-US" altLang="zh-CN" sz="2400" kern="0" dirty="0">
                <a:solidFill>
                  <a:srgbClr val="000000"/>
                </a:solidFill>
                <a:latin typeface="Arial" pitchFamily="34" charset="0"/>
                <a:ea typeface="微软雅黑" pitchFamily="34" charset="-122"/>
                <a:cs typeface="Arial" pitchFamily="34" charset="0"/>
              </a:rPr>
              <a:t>0</a:t>
            </a:r>
            <a:r>
              <a:rPr kumimoji="0" lang="en-US" altLang="zh-CN" sz="2400" b="0" i="1" kern="0" baseline="-25000" dirty="0">
                <a:solidFill>
                  <a:srgbClr val="000000"/>
                </a:solidFill>
                <a:latin typeface="Arial" pitchFamily="34" charset="0"/>
                <a:ea typeface="微软雅黑" pitchFamily="34" charset="-122"/>
                <a:cs typeface="Arial" pitchFamily="34" charset="0"/>
              </a:rPr>
              <a:t>k</a:t>
            </a:r>
            <a:r>
              <a:rPr kumimoji="0" lang="en-US" altLang="zh-CN" sz="2400" b="0" i="1" kern="0" dirty="0">
                <a:solidFill>
                  <a:srgbClr val="000000"/>
                </a:solidFill>
                <a:latin typeface="Arial" pitchFamily="34" charset="0"/>
                <a:ea typeface="微软雅黑" pitchFamily="34" charset="-122"/>
                <a:cs typeface="Arial" pitchFamily="34" charset="0"/>
              </a:rPr>
              <a:t> </a:t>
            </a:r>
            <a:r>
              <a:rPr kumimoji="0" lang="en-US" altLang="zh-CN" sz="2400" i="1" kern="0" dirty="0">
                <a:solidFill>
                  <a:srgbClr val="000000"/>
                </a:solidFill>
                <a:latin typeface="Arial" pitchFamily="34" charset="0"/>
                <a:ea typeface="微软雅黑" pitchFamily="34" charset="-122"/>
                <a:cs typeface="Arial" pitchFamily="34" charset="0"/>
              </a:rPr>
              <a:t>Q</a:t>
            </a:r>
            <a:r>
              <a:rPr kumimoji="0" lang="en-US" altLang="zh-CN" sz="2400" b="0" i="1" kern="0" baseline="-25000" dirty="0">
                <a:solidFill>
                  <a:srgbClr val="000000"/>
                </a:solidFill>
                <a:latin typeface="Arial" pitchFamily="34" charset="0"/>
                <a:ea typeface="微软雅黑" pitchFamily="34" charset="-122"/>
                <a:cs typeface="Arial" pitchFamily="34" charset="0"/>
              </a:rPr>
              <a:t>N</a:t>
            </a:r>
            <a:r>
              <a:rPr kumimoji="0" lang="en-US" altLang="zh-CN" sz="2400" b="0" kern="0" dirty="0">
                <a:solidFill>
                  <a:srgbClr val="000000"/>
                </a:solidFill>
                <a:latin typeface="Arial" pitchFamily="34" charset="0"/>
                <a:ea typeface="微软雅黑" pitchFamily="34" charset="-122"/>
                <a:cs typeface="Arial" pitchFamily="34" charset="0"/>
              </a:rPr>
              <a:t>]</a:t>
            </a:r>
            <a:endParaRPr lang="zh-CN" altLang="en-US" sz="2400" dirty="0">
              <a:latin typeface="Arial" pitchFamily="34" charset="0"/>
              <a:cs typeface="Arial" pitchFamily="34" charset="0"/>
            </a:endParaRPr>
          </a:p>
        </p:txBody>
      </p:sp>
      <p:sp>
        <p:nvSpPr>
          <p:cNvPr id="17" name="矩形 16">
            <a:extLst>
              <a:ext uri="{FF2B5EF4-FFF2-40B4-BE49-F238E27FC236}">
                <a16:creationId xmlns:a16="http://schemas.microsoft.com/office/drawing/2014/main" id="{636F3506-2A79-A08A-7355-53E8821169CE}"/>
              </a:ext>
            </a:extLst>
          </p:cNvPr>
          <p:cNvSpPr/>
          <p:nvPr/>
        </p:nvSpPr>
        <p:spPr>
          <a:xfrm>
            <a:off x="857250" y="711200"/>
            <a:ext cx="3571875" cy="503238"/>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a:lnSpc>
                <a:spcPts val="3200"/>
              </a:lnSpc>
              <a:buClr>
                <a:srgbClr val="0000CC"/>
              </a:buClr>
              <a:buSzPct val="65000"/>
              <a:buFont typeface="Wingdings" pitchFamily="2" charset="2"/>
              <a:buChar char="u"/>
              <a:defRPr/>
            </a:pPr>
            <a:r>
              <a:rPr kumimoji="0" lang="zh-CN" altLang="en-US" sz="2800" b="0" kern="0" dirty="0">
                <a:solidFill>
                  <a:srgbClr val="000000"/>
                </a:solidFill>
                <a:latin typeface="Arial" pitchFamily="34" charset="0"/>
                <a:ea typeface="微软雅黑" pitchFamily="34" charset="-122"/>
                <a:cs typeface="Arial" pitchFamily="34" charset="0"/>
              </a:rPr>
              <a:t> </a:t>
            </a:r>
            <a:r>
              <a:rPr kumimoji="0" lang="zh-CN" altLang="en-US" sz="2400" kern="0" dirty="0">
                <a:solidFill>
                  <a:srgbClr val="FF0000"/>
                </a:solidFill>
                <a:latin typeface="Arial" pitchFamily="34" charset="0"/>
                <a:ea typeface="微软雅黑" pitchFamily="34" charset="-122"/>
                <a:cs typeface="Arial" pitchFamily="34" charset="0"/>
              </a:rPr>
              <a:t>截短</a:t>
            </a:r>
            <a:r>
              <a:rPr kumimoji="0" lang="zh-CN" altLang="en-US" sz="2400" b="0" kern="0" dirty="0">
                <a:solidFill>
                  <a:srgbClr val="000000"/>
                </a:solidFill>
                <a:latin typeface="Arial" pitchFamily="34" charset="0"/>
                <a:ea typeface="微软雅黑" pitchFamily="34" charset="-122"/>
                <a:cs typeface="Arial" pitchFamily="34" charset="0"/>
              </a:rPr>
              <a:t>生成矩阵</a:t>
            </a:r>
            <a:r>
              <a:rPr kumimoji="0" lang="zh-CN" altLang="en-US" sz="2400" kern="0" dirty="0">
                <a:solidFill>
                  <a:srgbClr val="000000"/>
                </a:solidFill>
                <a:latin typeface="Arial" pitchFamily="34" charset="0"/>
                <a:ea typeface="微软雅黑" pitchFamily="34" charset="-122"/>
                <a:cs typeface="Arial" pitchFamily="34" charset="0"/>
              </a:rPr>
              <a:t>一般形式</a:t>
            </a:r>
            <a:endParaRPr lang="zh-CN" altLang="en-US" sz="2400" dirty="0">
              <a:solidFill>
                <a:srgbClr val="FF0000"/>
              </a:solidFill>
              <a:latin typeface="Arial" pitchFamily="34" charset="0"/>
              <a:ea typeface="微软雅黑" pitchFamily="34" charset="-122"/>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20836"/>
                                        </p:tgtEl>
                                        <p:attrNameLst>
                                          <p:attrName>style.visibility</p:attrName>
                                        </p:attrNameLst>
                                      </p:cBhvr>
                                      <p:to>
                                        <p:strVal val="visible"/>
                                      </p:to>
                                    </p:set>
                                    <p:animEffect transition="in" filter="wipe(up)">
                                      <p:cBhvr>
                                        <p:cTn id="7" dur="1000"/>
                                        <p:tgtEl>
                                          <p:spTgt spid="12083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1000"/>
                                        <p:tgtEl>
                                          <p:spTgt spid="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1000"/>
                                        <p:tgtEl>
                                          <p:spTgt spid="11"/>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left)">
                                      <p:cBhvr>
                                        <p:cTn id="21" dur="1000"/>
                                        <p:tgtEl>
                                          <p:spTgt spid="1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up)">
                                      <p:cBhvr>
                                        <p:cTn id="26" dur="1000"/>
                                        <p:tgtEl>
                                          <p:spTgt spid="1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120835">
                                            <p:txEl>
                                              <p:pRg st="0" end="0"/>
                                            </p:txEl>
                                          </p:spTgt>
                                        </p:tgtEl>
                                        <p:attrNameLst>
                                          <p:attrName>style.visibility</p:attrName>
                                        </p:attrNameLst>
                                      </p:cBhvr>
                                      <p:to>
                                        <p:strVal val="visible"/>
                                      </p:to>
                                    </p:set>
                                    <p:animEffect transition="in" filter="wipe(up)">
                                      <p:cBhvr>
                                        <p:cTn id="31" dur="1000"/>
                                        <p:tgtEl>
                                          <p:spTgt spid="12083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build="p"/>
      <p:bldP spid="11" grpId="0" animBg="1"/>
      <p:bldP spid="12" grpId="0" animBg="1"/>
      <p:bldP spid="13" grpId="0"/>
      <p:bldP spid="15"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BCC3038B-E040-B01F-388F-4B5BA65067E6}"/>
              </a:ext>
            </a:extLst>
          </p:cNvPr>
          <p:cNvSpPr/>
          <p:nvPr/>
        </p:nvSpPr>
        <p:spPr>
          <a:xfrm>
            <a:off x="857250" y="1285875"/>
            <a:ext cx="4089400" cy="523875"/>
          </a:xfrm>
          <a:prstGeom prst="rect">
            <a:avLst/>
          </a:prstGeom>
        </p:spPr>
        <p:txBody>
          <a:bodyPr>
            <a:spAutoFit/>
          </a:bodyPr>
          <a:lstStyle/>
          <a:p>
            <a:pPr marL="457200" indent="-457200" eaLnBrk="0" hangingPunct="0">
              <a:spcBef>
                <a:spcPct val="20000"/>
              </a:spcBef>
              <a:buClr>
                <a:srgbClr val="FF0000"/>
              </a:buClr>
              <a:buSzPct val="75000"/>
              <a:buFont typeface="Wingdings" pitchFamily="2" charset="2"/>
              <a:buChar char="n"/>
              <a:defRPr/>
            </a:pPr>
            <a:r>
              <a:rPr kumimoji="0" lang="zh-CN" altLang="en-US" sz="2800" kern="0" dirty="0">
                <a:solidFill>
                  <a:srgbClr val="000000"/>
                </a:solidFill>
                <a:latin typeface="微软雅黑" pitchFamily="34" charset="-122"/>
                <a:ea typeface="微软雅黑" pitchFamily="34" charset="-122"/>
              </a:rPr>
              <a:t>分类</a:t>
            </a:r>
            <a:r>
              <a:rPr kumimoji="0" lang="zh-CN" altLang="en-US" sz="2400" b="0" kern="0" dirty="0">
                <a:solidFill>
                  <a:srgbClr val="000000"/>
                </a:solidFill>
                <a:latin typeface="微软雅黑" pitchFamily="34" charset="-122"/>
                <a:ea typeface="微软雅黑" pitchFamily="34" charset="-122"/>
              </a:rPr>
              <a:t>：</a:t>
            </a:r>
            <a:endParaRPr kumimoji="0" lang="en-US" altLang="zh-CN" sz="2400" b="0" kern="0" dirty="0">
              <a:solidFill>
                <a:srgbClr val="000000"/>
              </a:solidFill>
              <a:latin typeface="微软雅黑" pitchFamily="34" charset="-122"/>
              <a:ea typeface="微软雅黑" pitchFamily="34" charset="-122"/>
            </a:endParaRPr>
          </a:p>
        </p:txBody>
      </p:sp>
      <p:sp>
        <p:nvSpPr>
          <p:cNvPr id="6" name="矩形 5">
            <a:extLst>
              <a:ext uri="{FF2B5EF4-FFF2-40B4-BE49-F238E27FC236}">
                <a16:creationId xmlns:a16="http://schemas.microsoft.com/office/drawing/2014/main" id="{B0A5F298-2E64-08EC-3B7A-91A35C219AB3}"/>
              </a:ext>
            </a:extLst>
          </p:cNvPr>
          <p:cNvSpPr/>
          <p:nvPr/>
        </p:nvSpPr>
        <p:spPr>
          <a:xfrm>
            <a:off x="1071563" y="2066925"/>
            <a:ext cx="8016875" cy="933450"/>
          </a:xfrm>
          <a:prstGeom prst="rect">
            <a:avLst/>
          </a:prstGeom>
        </p:spPr>
        <p:txBody>
          <a:bodyPr>
            <a:spAutoFit/>
          </a:bodyPr>
          <a:lstStyle/>
          <a:p>
            <a:pPr marL="342900" indent="-342900" eaLnBrk="0" hangingPunct="0">
              <a:lnSpc>
                <a:spcPts val="3200"/>
              </a:lnSpc>
              <a:spcBef>
                <a:spcPct val="20000"/>
              </a:spcBef>
              <a:buClr>
                <a:srgbClr val="3333CC"/>
              </a:buClr>
              <a:buSzPct val="60000"/>
              <a:defRPr/>
            </a:pPr>
            <a:r>
              <a:rPr kumimoji="0" lang="zh-CN" altLang="en-US" sz="2400" kern="0" dirty="0">
                <a:solidFill>
                  <a:schemeClr val="tx1"/>
                </a:solidFill>
                <a:latin typeface="微软雅黑" pitchFamily="34" charset="-122"/>
                <a:ea typeface="微软雅黑" pitchFamily="34" charset="-122"/>
              </a:rPr>
              <a:t>代数解码</a:t>
            </a:r>
            <a:r>
              <a:rPr kumimoji="0" lang="zh-CN" altLang="en-US" sz="2000" b="0" kern="0" dirty="0">
                <a:solidFill>
                  <a:schemeClr val="tx1"/>
                </a:solidFill>
                <a:latin typeface="微软雅黑" pitchFamily="34" charset="-122"/>
                <a:ea typeface="微软雅黑" pitchFamily="34" charset="-122"/>
              </a:rPr>
              <a:t>：</a:t>
            </a:r>
            <a:endParaRPr kumimoji="0" lang="en-US" altLang="zh-CN" sz="2000" b="0" kern="0" dirty="0">
              <a:solidFill>
                <a:schemeClr val="tx1"/>
              </a:solidFill>
              <a:latin typeface="微软雅黑" pitchFamily="34" charset="-122"/>
              <a:ea typeface="微软雅黑" pitchFamily="34" charset="-122"/>
            </a:endParaRPr>
          </a:p>
          <a:p>
            <a:pPr marL="342900" indent="-342900" eaLnBrk="0" hangingPunct="0">
              <a:lnSpc>
                <a:spcPts val="3200"/>
              </a:lnSpc>
              <a:spcBef>
                <a:spcPct val="20000"/>
              </a:spcBef>
              <a:buClr>
                <a:srgbClr val="3333CC"/>
              </a:buClr>
              <a:buSzPct val="60000"/>
              <a:defRPr/>
            </a:pPr>
            <a:r>
              <a:rPr kumimoji="0" lang="en-US" altLang="zh-CN" sz="2000" b="0" kern="0" dirty="0">
                <a:solidFill>
                  <a:schemeClr val="tx1"/>
                </a:solidFill>
                <a:latin typeface="微软雅黑" pitchFamily="34" charset="-122"/>
                <a:ea typeface="微软雅黑" pitchFamily="34" charset="-122"/>
              </a:rPr>
              <a:t>  ——</a:t>
            </a:r>
            <a:r>
              <a:rPr kumimoji="0" lang="zh-CN" altLang="en-US" sz="2000" b="0" kern="0" dirty="0">
                <a:solidFill>
                  <a:schemeClr val="tx1"/>
                </a:solidFill>
                <a:latin typeface="微软雅黑" pitchFamily="34" charset="-122"/>
                <a:ea typeface="微软雅黑" pitchFamily="34" charset="-122"/>
              </a:rPr>
              <a:t>利用编码本身的代数结构进行解码，不考虑信道的统计特性。</a:t>
            </a:r>
            <a:endParaRPr kumimoji="0" lang="en-US" altLang="zh-CN" sz="2000" b="0" kern="0" dirty="0">
              <a:solidFill>
                <a:srgbClr val="000000"/>
              </a:solidFill>
              <a:latin typeface="微软雅黑" pitchFamily="34" charset="-122"/>
              <a:ea typeface="微软雅黑" pitchFamily="34" charset="-122"/>
            </a:endParaRPr>
          </a:p>
        </p:txBody>
      </p:sp>
      <p:sp>
        <p:nvSpPr>
          <p:cNvPr id="7" name="矩形 6">
            <a:extLst>
              <a:ext uri="{FF2B5EF4-FFF2-40B4-BE49-F238E27FC236}">
                <a16:creationId xmlns:a16="http://schemas.microsoft.com/office/drawing/2014/main" id="{1578ACE8-0834-7BAA-D6BF-F8132CF62DA4}"/>
              </a:ext>
            </a:extLst>
          </p:cNvPr>
          <p:cNvSpPr/>
          <p:nvPr/>
        </p:nvSpPr>
        <p:spPr>
          <a:xfrm>
            <a:off x="1089025" y="3883025"/>
            <a:ext cx="6427788" cy="974725"/>
          </a:xfrm>
          <a:prstGeom prst="rect">
            <a:avLst/>
          </a:prstGeom>
        </p:spPr>
        <p:txBody>
          <a:bodyPr wrap="none">
            <a:spAutoFit/>
          </a:bodyPr>
          <a:lstStyle/>
          <a:p>
            <a:pPr marL="342900" indent="-342900" eaLnBrk="0" hangingPunct="0">
              <a:lnSpc>
                <a:spcPts val="3200"/>
              </a:lnSpc>
              <a:spcBef>
                <a:spcPct val="20000"/>
              </a:spcBef>
              <a:buClr>
                <a:srgbClr val="3333CC"/>
              </a:buClr>
              <a:buSzPct val="60000"/>
              <a:defRPr/>
            </a:pPr>
            <a:r>
              <a:rPr kumimoji="0" lang="zh-CN" altLang="en-US" sz="2400" kern="0" dirty="0">
                <a:solidFill>
                  <a:schemeClr val="tx1"/>
                </a:solidFill>
                <a:latin typeface="微软雅黑" pitchFamily="34" charset="-122"/>
                <a:ea typeface="微软雅黑" pitchFamily="34" charset="-122"/>
              </a:rPr>
              <a:t>概率解码</a:t>
            </a:r>
            <a:r>
              <a:rPr kumimoji="0" lang="zh-CN" altLang="en-US" sz="2000" b="0" kern="0" dirty="0">
                <a:solidFill>
                  <a:schemeClr val="tx1"/>
                </a:solidFill>
                <a:latin typeface="微软雅黑" pitchFamily="34" charset="-122"/>
                <a:ea typeface="微软雅黑" pitchFamily="34" charset="-122"/>
              </a:rPr>
              <a:t>（最大似然解码）</a:t>
            </a:r>
            <a:r>
              <a:rPr kumimoji="0" lang="zh-CN" altLang="en-US" sz="2000" b="0" kern="0" dirty="0">
                <a:solidFill>
                  <a:schemeClr val="hlink"/>
                </a:solidFill>
                <a:latin typeface="微软雅黑" pitchFamily="34" charset="-122"/>
                <a:ea typeface="微软雅黑" pitchFamily="34" charset="-122"/>
              </a:rPr>
              <a:t>：</a:t>
            </a:r>
            <a:endParaRPr kumimoji="0" lang="en-US" altLang="zh-CN" sz="2000" b="0" kern="0" dirty="0">
              <a:solidFill>
                <a:schemeClr val="hlink"/>
              </a:solidFill>
              <a:latin typeface="微软雅黑" pitchFamily="34" charset="-122"/>
              <a:ea typeface="微软雅黑" pitchFamily="34" charset="-122"/>
            </a:endParaRPr>
          </a:p>
          <a:p>
            <a:pPr marL="342900" indent="-342900" eaLnBrk="0" hangingPunct="0">
              <a:lnSpc>
                <a:spcPts val="3200"/>
              </a:lnSpc>
              <a:spcBef>
                <a:spcPct val="20000"/>
              </a:spcBef>
              <a:buClr>
                <a:srgbClr val="3333CC"/>
              </a:buClr>
              <a:buSzPct val="60000"/>
              <a:defRPr/>
            </a:pPr>
            <a:r>
              <a:rPr kumimoji="0" lang="en-US" altLang="zh-CN" sz="2000" b="0" kern="0" dirty="0">
                <a:solidFill>
                  <a:schemeClr val="tx1"/>
                </a:solidFill>
                <a:latin typeface="微软雅黑" pitchFamily="34" charset="-122"/>
                <a:ea typeface="微软雅黑" pitchFamily="34" charset="-122"/>
              </a:rPr>
              <a:t>  —— </a:t>
            </a:r>
            <a:r>
              <a:rPr kumimoji="0" lang="zh-CN" altLang="en-US" sz="2000" b="0" kern="0" dirty="0">
                <a:solidFill>
                  <a:schemeClr val="tx1"/>
                </a:solidFill>
                <a:latin typeface="微软雅黑" pitchFamily="34" charset="-122"/>
                <a:ea typeface="微软雅黑" pitchFamily="34" charset="-122"/>
              </a:rPr>
              <a:t>基于信道的统计特性和卷积码的特点进行计算。</a:t>
            </a:r>
            <a:endParaRPr kumimoji="0" lang="en-US" altLang="zh-CN" sz="2000" b="0" kern="0" dirty="0">
              <a:solidFill>
                <a:srgbClr val="000000"/>
              </a:solidFill>
              <a:latin typeface="微软雅黑" pitchFamily="34" charset="-122"/>
              <a:ea typeface="微软雅黑" pitchFamily="34" charset="-122"/>
            </a:endParaRPr>
          </a:p>
        </p:txBody>
      </p:sp>
      <p:sp>
        <p:nvSpPr>
          <p:cNvPr id="9" name="AutoShape 11">
            <a:extLst>
              <a:ext uri="{FF2B5EF4-FFF2-40B4-BE49-F238E27FC236}">
                <a16:creationId xmlns:a16="http://schemas.microsoft.com/office/drawing/2014/main" id="{43CCC686-100E-28F0-87CE-7DE5BB8ED6D3}"/>
              </a:ext>
            </a:extLst>
          </p:cNvPr>
          <p:cNvSpPr>
            <a:spLocks/>
          </p:cNvSpPr>
          <p:nvPr/>
        </p:nvSpPr>
        <p:spPr bwMode="auto">
          <a:xfrm>
            <a:off x="1671638" y="5160963"/>
            <a:ext cx="285750" cy="714375"/>
          </a:xfrm>
          <a:prstGeom prst="leftBrace">
            <a:avLst>
              <a:gd name="adj1" fmla="val 27188"/>
              <a:gd name="adj2" fmla="val 50000"/>
            </a:avLst>
          </a:prstGeom>
          <a:noFill/>
          <a:ln w="9525">
            <a:solidFill>
              <a:srgbClr val="0000CC"/>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2400"/>
          </a:p>
        </p:txBody>
      </p:sp>
      <p:sp>
        <p:nvSpPr>
          <p:cNvPr id="10" name="AutoShape 11">
            <a:extLst>
              <a:ext uri="{FF2B5EF4-FFF2-40B4-BE49-F238E27FC236}">
                <a16:creationId xmlns:a16="http://schemas.microsoft.com/office/drawing/2014/main" id="{026062D4-6E35-7D64-2E77-EA8E771927B1}"/>
              </a:ext>
            </a:extLst>
          </p:cNvPr>
          <p:cNvSpPr>
            <a:spLocks/>
          </p:cNvSpPr>
          <p:nvPr/>
        </p:nvSpPr>
        <p:spPr bwMode="auto">
          <a:xfrm>
            <a:off x="785813" y="2328863"/>
            <a:ext cx="314325" cy="1685925"/>
          </a:xfrm>
          <a:prstGeom prst="leftBrace">
            <a:avLst>
              <a:gd name="adj1" fmla="val 27141"/>
              <a:gd name="adj2" fmla="val 50000"/>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2400"/>
          </a:p>
        </p:txBody>
      </p:sp>
      <p:sp>
        <p:nvSpPr>
          <p:cNvPr id="8" name="Rectangle 1">
            <a:extLst>
              <a:ext uri="{FF2B5EF4-FFF2-40B4-BE49-F238E27FC236}">
                <a16:creationId xmlns:a16="http://schemas.microsoft.com/office/drawing/2014/main" id="{D538963A-D5D7-41A5-3133-E5F2CA1887B2}"/>
              </a:ext>
            </a:extLst>
          </p:cNvPr>
          <p:cNvSpPr>
            <a:spLocks noChangeArrowheads="1"/>
          </p:cNvSpPr>
          <p:nvPr/>
        </p:nvSpPr>
        <p:spPr bwMode="auto">
          <a:xfrm>
            <a:off x="0" y="441325"/>
            <a:ext cx="6286500" cy="585788"/>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anchor="ctr">
            <a:spAutoFit/>
          </a:bodyPr>
          <a:lstStyle/>
          <a:p>
            <a:pPr marL="0" lvl="1" indent="306388" eaLnBrk="0" hangingPunct="0">
              <a:defRPr/>
            </a:pPr>
            <a:r>
              <a:rPr lang="en-US" altLang="en-US" sz="3200" dirty="0">
                <a:solidFill>
                  <a:srgbClr val="800080"/>
                </a:solidFill>
                <a:latin typeface="Arial" pitchFamily="34" charset="0"/>
                <a:ea typeface="微软雅黑" pitchFamily="34" charset="-122"/>
                <a:cs typeface="Arial" pitchFamily="34" charset="0"/>
              </a:rPr>
              <a:t>11</a:t>
            </a:r>
            <a:r>
              <a:rPr lang="en-US" altLang="zh-CN" sz="3200" dirty="0">
                <a:solidFill>
                  <a:srgbClr val="800080"/>
                </a:solidFill>
                <a:latin typeface="Arial" pitchFamily="34" charset="0"/>
                <a:ea typeface="微软雅黑" pitchFamily="34" charset="-122"/>
                <a:cs typeface="Arial" pitchFamily="34" charset="0"/>
              </a:rPr>
              <a:t>.7.3  </a:t>
            </a:r>
            <a:r>
              <a:rPr kumimoji="0" lang="zh-CN" altLang="en-US" sz="3200" kern="0" dirty="0">
                <a:solidFill>
                  <a:srgbClr val="003399"/>
                </a:solidFill>
                <a:latin typeface="微软雅黑" pitchFamily="34" charset="-122"/>
                <a:ea typeface="微软雅黑" pitchFamily="34" charset="-122"/>
              </a:rPr>
              <a:t>卷积码的解码</a:t>
            </a:r>
            <a:endParaRPr lang="zh-CN" altLang="en-US" sz="3200" i="1" dirty="0">
              <a:solidFill>
                <a:srgbClr val="990099"/>
              </a:solidFill>
              <a:latin typeface="微软雅黑" pitchFamily="34" charset="-122"/>
              <a:ea typeface="微软雅黑" pitchFamily="34" charset="-122"/>
            </a:endParaRPr>
          </a:p>
        </p:txBody>
      </p:sp>
      <p:sp>
        <p:nvSpPr>
          <p:cNvPr id="11" name="矩形 10">
            <a:extLst>
              <a:ext uri="{FF2B5EF4-FFF2-40B4-BE49-F238E27FC236}">
                <a16:creationId xmlns:a16="http://schemas.microsoft.com/office/drawing/2014/main" id="{FAB60AB4-14FF-E5BB-ABC3-F5C6710F9D07}"/>
              </a:ext>
            </a:extLst>
          </p:cNvPr>
          <p:cNvSpPr/>
          <p:nvPr/>
        </p:nvSpPr>
        <p:spPr>
          <a:xfrm>
            <a:off x="1257300" y="3100388"/>
            <a:ext cx="7929563" cy="400050"/>
          </a:xfrm>
          <a:prstGeom prst="rect">
            <a:avLst/>
          </a:prstGeom>
        </p:spPr>
        <p:txBody>
          <a:bodyPr>
            <a:spAutoFit/>
          </a:bodyPr>
          <a:lstStyle/>
          <a:p>
            <a:pPr>
              <a:defRPr/>
            </a:pPr>
            <a:r>
              <a:rPr kumimoji="0" lang="zh-CN" altLang="en-US" sz="2000" b="0" kern="0" dirty="0">
                <a:solidFill>
                  <a:schemeClr val="tx1"/>
                </a:solidFill>
                <a:latin typeface="微软雅黑" pitchFamily="34" charset="-122"/>
                <a:ea typeface="微软雅黑" pitchFamily="34" charset="-122"/>
              </a:rPr>
              <a:t>       如：</a:t>
            </a:r>
            <a:r>
              <a:rPr kumimoji="0" lang="zh-CN" altLang="en-US" sz="2000" kern="0" dirty="0">
                <a:solidFill>
                  <a:srgbClr val="003399"/>
                </a:solidFill>
                <a:latin typeface="微软雅黑" pitchFamily="34" charset="-122"/>
                <a:ea typeface="微软雅黑" pitchFamily="34" charset="-122"/>
              </a:rPr>
              <a:t>大数逻辑解码</a:t>
            </a:r>
            <a:r>
              <a:rPr kumimoji="0" lang="zh-CN" altLang="en-US" sz="2000" b="0" kern="0" dirty="0">
                <a:solidFill>
                  <a:schemeClr val="tx1"/>
                </a:solidFill>
                <a:latin typeface="微软雅黑" pitchFamily="34" charset="-122"/>
                <a:ea typeface="微软雅黑" pitchFamily="34" charset="-122"/>
              </a:rPr>
              <a:t>（门限解码），适用 </a:t>
            </a:r>
            <a:r>
              <a:rPr kumimoji="0" lang="en-US" altLang="zh-CN" sz="2000" kern="0" dirty="0" err="1">
                <a:solidFill>
                  <a:srgbClr val="003399"/>
                </a:solidFill>
                <a:latin typeface="微软雅黑" pitchFamily="34" charset="-122"/>
                <a:ea typeface="微软雅黑" pitchFamily="34" charset="-122"/>
                <a:cs typeface="Arial" pitchFamily="34" charset="0"/>
              </a:rPr>
              <a:t>nN</a:t>
            </a:r>
            <a:r>
              <a:rPr kumimoji="0" lang="en-US" altLang="zh-CN" sz="2000" kern="0" dirty="0">
                <a:solidFill>
                  <a:srgbClr val="003399"/>
                </a:solidFill>
                <a:latin typeface="微软雅黑" pitchFamily="34" charset="-122"/>
                <a:ea typeface="微软雅黑" pitchFamily="34" charset="-122"/>
                <a:cs typeface="Arial" pitchFamily="34" charset="0"/>
              </a:rPr>
              <a:t> </a:t>
            </a:r>
            <a:r>
              <a:rPr kumimoji="0" lang="zh-CN" altLang="en-US" sz="2000" b="0" kern="0" dirty="0">
                <a:solidFill>
                  <a:schemeClr val="tx1"/>
                </a:solidFill>
                <a:latin typeface="微软雅黑" pitchFamily="34" charset="-122"/>
                <a:ea typeface="微软雅黑" pitchFamily="34" charset="-122"/>
              </a:rPr>
              <a:t>较短的卷积码。</a:t>
            </a:r>
            <a:endParaRPr lang="zh-CN" altLang="en-US" sz="2000" dirty="0">
              <a:latin typeface="微软雅黑" pitchFamily="34" charset="-122"/>
              <a:ea typeface="微软雅黑" pitchFamily="34" charset="-122"/>
            </a:endParaRPr>
          </a:p>
        </p:txBody>
      </p:sp>
      <p:sp>
        <p:nvSpPr>
          <p:cNvPr id="12" name="矩形 11">
            <a:extLst>
              <a:ext uri="{FF2B5EF4-FFF2-40B4-BE49-F238E27FC236}">
                <a16:creationId xmlns:a16="http://schemas.microsoft.com/office/drawing/2014/main" id="{3768F4DE-0579-E3BA-AB3A-48FE505CC451}"/>
              </a:ext>
            </a:extLst>
          </p:cNvPr>
          <p:cNvSpPr/>
          <p:nvPr/>
        </p:nvSpPr>
        <p:spPr>
          <a:xfrm>
            <a:off x="1285875" y="5029200"/>
            <a:ext cx="7072313" cy="400050"/>
          </a:xfrm>
          <a:prstGeom prst="rect">
            <a:avLst/>
          </a:prstGeom>
        </p:spPr>
        <p:txBody>
          <a:bodyPr>
            <a:spAutoFit/>
          </a:bodyPr>
          <a:lstStyle/>
          <a:p>
            <a:pPr>
              <a:defRPr/>
            </a:pPr>
            <a:r>
              <a:rPr kumimoji="0" lang="zh-CN" altLang="en-US" sz="2000" b="0" kern="0" dirty="0">
                <a:solidFill>
                  <a:srgbClr val="FF0000"/>
                </a:solidFill>
                <a:latin typeface="微软雅黑" pitchFamily="34" charset="-122"/>
                <a:ea typeface="微软雅黑" pitchFamily="34" charset="-122"/>
              </a:rPr>
              <a:t>         </a:t>
            </a:r>
            <a:r>
              <a:rPr kumimoji="0" lang="zh-CN" altLang="en-US" sz="2000" kern="0" dirty="0">
                <a:solidFill>
                  <a:srgbClr val="003399"/>
                </a:solidFill>
                <a:latin typeface="微软雅黑" pitchFamily="34" charset="-122"/>
                <a:ea typeface="微软雅黑" pitchFamily="34" charset="-122"/>
              </a:rPr>
              <a:t>序贯解码</a:t>
            </a:r>
            <a:r>
              <a:rPr kumimoji="0" lang="en-US" altLang="zh-CN" sz="2000" b="0" kern="0" dirty="0">
                <a:solidFill>
                  <a:schemeClr val="tx1"/>
                </a:solidFill>
                <a:latin typeface="微软雅黑" pitchFamily="34" charset="-122"/>
                <a:ea typeface="微软雅黑" pitchFamily="34" charset="-122"/>
              </a:rPr>
              <a:t>:   </a:t>
            </a:r>
            <a:r>
              <a:rPr kumimoji="0" lang="zh-CN" altLang="en-US" sz="2000" b="0" kern="0" dirty="0">
                <a:solidFill>
                  <a:schemeClr val="tx1"/>
                </a:solidFill>
                <a:latin typeface="微软雅黑" pitchFamily="34" charset="-122"/>
                <a:ea typeface="微软雅黑" pitchFamily="34" charset="-122"/>
              </a:rPr>
              <a:t>适用无记忆信道</a:t>
            </a:r>
            <a:endParaRPr lang="zh-CN" altLang="en-US" sz="2000" dirty="0">
              <a:latin typeface="微软雅黑" pitchFamily="34" charset="-122"/>
              <a:ea typeface="微软雅黑" pitchFamily="34" charset="-122"/>
            </a:endParaRPr>
          </a:p>
        </p:txBody>
      </p:sp>
      <p:sp>
        <p:nvSpPr>
          <p:cNvPr id="13" name="矩形 12">
            <a:extLst>
              <a:ext uri="{FF2B5EF4-FFF2-40B4-BE49-F238E27FC236}">
                <a16:creationId xmlns:a16="http://schemas.microsoft.com/office/drawing/2014/main" id="{F0DF97A6-3F03-30DB-E6F5-F2932301C968}"/>
              </a:ext>
            </a:extLst>
          </p:cNvPr>
          <p:cNvSpPr/>
          <p:nvPr/>
        </p:nvSpPr>
        <p:spPr>
          <a:xfrm>
            <a:off x="1714500" y="5600700"/>
            <a:ext cx="7000875" cy="400050"/>
          </a:xfrm>
          <a:prstGeom prst="rect">
            <a:avLst/>
          </a:prstGeom>
        </p:spPr>
        <p:txBody>
          <a:bodyPr>
            <a:spAutoFit/>
          </a:bodyPr>
          <a:lstStyle/>
          <a:p>
            <a:pPr>
              <a:defRPr/>
            </a:pPr>
            <a:r>
              <a:rPr kumimoji="0" lang="zh-CN" altLang="en-US" sz="2000" b="0" kern="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   维特比算法：</a:t>
            </a:r>
            <a:r>
              <a:rPr kumimoji="0" lang="zh-CN" altLang="en-US" sz="2000" b="0" kern="0" dirty="0">
                <a:solidFill>
                  <a:schemeClr val="tx1"/>
                </a:solidFill>
                <a:latin typeface="微软雅黑" pitchFamily="34" charset="-122"/>
                <a:ea typeface="微软雅黑" pitchFamily="34" charset="-122"/>
              </a:rPr>
              <a:t>当码的 </a:t>
            </a:r>
            <a:r>
              <a:rPr kumimoji="0" lang="en-US" altLang="zh-CN" sz="2000" kern="0" dirty="0" err="1">
                <a:solidFill>
                  <a:srgbClr val="003399"/>
                </a:solidFill>
                <a:latin typeface="微软雅黑" pitchFamily="34" charset="-122"/>
                <a:ea typeface="微软雅黑" pitchFamily="34" charset="-122"/>
                <a:cs typeface="Arial" pitchFamily="34" charset="0"/>
              </a:rPr>
              <a:t>nN</a:t>
            </a:r>
            <a:r>
              <a:rPr kumimoji="0" lang="en-US" altLang="zh-CN" sz="2000" kern="0" dirty="0">
                <a:solidFill>
                  <a:srgbClr val="003399"/>
                </a:solidFill>
                <a:latin typeface="微软雅黑" pitchFamily="34" charset="-122"/>
                <a:ea typeface="微软雅黑" pitchFamily="34" charset="-122"/>
                <a:cs typeface="Arial" pitchFamily="34" charset="0"/>
              </a:rPr>
              <a:t> </a:t>
            </a:r>
            <a:r>
              <a:rPr kumimoji="0" lang="zh-CN" altLang="en-US" sz="2000" b="0" kern="0" dirty="0">
                <a:solidFill>
                  <a:schemeClr val="tx1"/>
                </a:solidFill>
                <a:latin typeface="微软雅黑" pitchFamily="34" charset="-122"/>
                <a:ea typeface="微软雅黑" pitchFamily="34" charset="-122"/>
              </a:rPr>
              <a:t>较短时，效率更高、速度更快</a:t>
            </a:r>
            <a:endParaRPr lang="zh-CN" altLang="en-US" sz="2000" dirty="0">
              <a:latin typeface="微软雅黑" pitchFamily="34" charset="-122"/>
              <a:ea typeface="微软雅黑" pitchFamily="34" charset="-122"/>
            </a:endParaRPr>
          </a:p>
        </p:txBody>
      </p:sp>
      <p:sp>
        <p:nvSpPr>
          <p:cNvPr id="14" name="矩形 13">
            <a:extLst>
              <a:ext uri="{FF2B5EF4-FFF2-40B4-BE49-F238E27FC236}">
                <a16:creationId xmlns:a16="http://schemas.microsoft.com/office/drawing/2014/main" id="{1C0B0C93-E432-6142-70BC-BCE81E89F7FD}"/>
              </a:ext>
            </a:extLst>
          </p:cNvPr>
          <p:cNvSpPr/>
          <p:nvPr/>
        </p:nvSpPr>
        <p:spPr>
          <a:xfrm>
            <a:off x="6000750" y="3500438"/>
            <a:ext cx="1211263" cy="400050"/>
          </a:xfrm>
          <a:prstGeom prst="rect">
            <a:avLst/>
          </a:prstGeom>
        </p:spPr>
        <p:txBody>
          <a:bodyPr wrap="none">
            <a:spAutoFit/>
          </a:bodyPr>
          <a:lstStyle/>
          <a:p>
            <a:pPr>
              <a:defRPr/>
            </a:pPr>
            <a:r>
              <a:rPr kumimoji="0" lang="zh-CN" altLang="en-US" sz="2000" b="0" kern="0" dirty="0">
                <a:solidFill>
                  <a:srgbClr val="003399"/>
                </a:solidFill>
                <a:effectLst>
                  <a:outerShdw blurRad="38100" dist="38100" dir="2700000" algn="tl">
                    <a:srgbClr val="000000">
                      <a:alpha val="43137"/>
                    </a:srgbClr>
                  </a:outerShdw>
                </a:effectLst>
                <a:latin typeface="微软雅黑" pitchFamily="34" charset="-122"/>
                <a:ea typeface="微软雅黑" pitchFamily="34" charset="-122"/>
              </a:rPr>
              <a:t>约束长度</a:t>
            </a:r>
            <a:endParaRPr lang="zh-CN" altLang="en-US" dirty="0">
              <a:solidFill>
                <a:srgbClr val="003399"/>
              </a:solidFill>
              <a:effectLst>
                <a:outerShdw blurRad="38100" dist="38100" dir="2700000" algn="tl">
                  <a:srgbClr val="000000">
                    <a:alpha val="43137"/>
                  </a:srgbClr>
                </a:outerShdw>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10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10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1000"/>
                                        <p:tgtEl>
                                          <p:spTgt spid="11"/>
                                        </p:tgtEl>
                                      </p:cBhvr>
                                    </p:animEffect>
                                  </p:childTnLst>
                                </p:cTn>
                              </p:par>
                            </p:childTnLst>
                          </p:cTn>
                        </p:par>
                        <p:par>
                          <p:cTn id="18" fill="hold" nodeType="afterGroup">
                            <p:stCondLst>
                              <p:cond delay="1000"/>
                            </p:stCondLst>
                            <p:childTnLst>
                              <p:par>
                                <p:cTn id="19" presetID="22" presetClass="entr" presetSubtype="1" fill="hold"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up)">
                                      <p:cBhvr>
                                        <p:cTn id="21" dur="1000"/>
                                        <p:tgtEl>
                                          <p:spTgt spid="1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up)">
                                      <p:cBhvr>
                                        <p:cTn id="26" dur="1000"/>
                                        <p:tgtEl>
                                          <p:spTgt spid="7"/>
                                        </p:tgtEl>
                                      </p:cBhvr>
                                    </p:animEffect>
                                  </p:childTnLst>
                                </p:cTn>
                              </p:par>
                              <p:par>
                                <p:cTn id="27" presetID="22" presetClass="entr" presetSubtype="1"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up)">
                                      <p:cBhvr>
                                        <p:cTn id="29" dur="1000"/>
                                        <p:tgtEl>
                                          <p:spTgt spid="10"/>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up)">
                                      <p:cBhvr>
                                        <p:cTn id="34" dur="1000"/>
                                        <p:tgtEl>
                                          <p:spTgt spid="9"/>
                                        </p:tgtEl>
                                      </p:cBhvr>
                                    </p:animEffect>
                                  </p:childTnLst>
                                </p:cTn>
                              </p:par>
                            </p:childTnLst>
                          </p:cTn>
                        </p:par>
                        <p:par>
                          <p:cTn id="35" fill="hold" nodeType="afterGroup">
                            <p:stCondLst>
                              <p:cond delay="1000"/>
                            </p:stCondLst>
                            <p:childTnLst>
                              <p:par>
                                <p:cTn id="36" presetID="22" presetClass="entr" presetSubtype="1" fill="hold" nodeType="after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up)">
                                      <p:cBhvr>
                                        <p:cTn id="38" dur="1000"/>
                                        <p:tgtEl>
                                          <p:spTgt spid="12"/>
                                        </p:tgtEl>
                                      </p:cBhvr>
                                    </p:animEffect>
                                  </p:childTnLst>
                                </p:cTn>
                              </p:par>
                            </p:childTnLst>
                          </p:cTn>
                        </p:par>
                        <p:par>
                          <p:cTn id="39" fill="hold" nodeType="afterGroup">
                            <p:stCondLst>
                              <p:cond delay="2000"/>
                            </p:stCondLst>
                            <p:childTnLst>
                              <p:par>
                                <p:cTn id="40" presetID="22" presetClass="entr" presetSubtype="1" fill="hold" nodeType="after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up)">
                                      <p:cBhvr>
                                        <p:cTn id="42"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9" grpId="0" animBg="1"/>
      <p:bldP spid="10" grpId="0" animBg="1"/>
      <p:bldP spid="11" grpId="0"/>
      <p:bldP spid="12" grpId="0"/>
      <p:bldP spid="13" grpId="0"/>
      <p:bldP spid="14"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Rectangle 3">
            <a:extLst>
              <a:ext uri="{FF2B5EF4-FFF2-40B4-BE49-F238E27FC236}">
                <a16:creationId xmlns:a16="http://schemas.microsoft.com/office/drawing/2014/main" id="{A1EC3C9E-D99D-F658-E15F-E416BB39190C}"/>
              </a:ext>
            </a:extLst>
          </p:cNvPr>
          <p:cNvSpPr>
            <a:spLocks noGrp="1" noChangeArrowheads="1"/>
          </p:cNvSpPr>
          <p:nvPr>
            <p:ph type="body" idx="1"/>
          </p:nvPr>
        </p:nvSpPr>
        <p:spPr>
          <a:xfrm>
            <a:off x="971550" y="1143000"/>
            <a:ext cx="7643813" cy="2428875"/>
          </a:xfrm>
        </p:spPr>
        <p:txBody>
          <a:bodyPr/>
          <a:lstStyle/>
          <a:p>
            <a:pPr eaLnBrk="1" hangingPunct="1">
              <a:lnSpc>
                <a:spcPts val="3200"/>
              </a:lnSpc>
              <a:buFont typeface="Wingdings" panose="05000000000000000000" pitchFamily="2" charset="2"/>
              <a:buNone/>
            </a:pPr>
            <a:r>
              <a:rPr lang="zh-CN" altLang="en-US" sz="2000">
                <a:latin typeface="微软雅黑" panose="020B0503020204020204" pitchFamily="34" charset="-122"/>
                <a:ea typeface="微软雅黑" panose="020B0503020204020204" pitchFamily="34" charset="-122"/>
              </a:rPr>
              <a:t>                     首先将接收信息位暂存于移存器中，并从接收码元的</a:t>
            </a:r>
            <a:endParaRPr lang="en-US" altLang="zh-CN" sz="2000">
              <a:latin typeface="微软雅黑" panose="020B0503020204020204" pitchFamily="34" charset="-122"/>
              <a:ea typeface="微软雅黑" panose="020B0503020204020204" pitchFamily="34" charset="-122"/>
            </a:endParaRPr>
          </a:p>
          <a:p>
            <a:pPr eaLnBrk="1" hangingPunct="1">
              <a:lnSpc>
                <a:spcPts val="3200"/>
              </a:lnSpc>
              <a:buFont typeface="Wingdings" panose="05000000000000000000" pitchFamily="2" charset="2"/>
              <a:buNone/>
            </a:pPr>
            <a:r>
              <a:rPr lang="zh-CN" altLang="en-US" sz="2000">
                <a:latin typeface="微软雅黑" panose="020B0503020204020204" pitchFamily="34" charset="-122"/>
                <a:ea typeface="微软雅黑" panose="020B0503020204020204" pitchFamily="34" charset="-122"/>
              </a:rPr>
              <a:t>信息位和监督位计算校正子。然后，将计算得出的校正子暂存，并</a:t>
            </a:r>
            <a:endParaRPr lang="en-US" altLang="zh-CN" sz="2000">
              <a:latin typeface="微软雅黑" panose="020B0503020204020204" pitchFamily="34" charset="-122"/>
              <a:ea typeface="微软雅黑" panose="020B0503020204020204" pitchFamily="34" charset="-122"/>
            </a:endParaRPr>
          </a:p>
          <a:p>
            <a:pPr eaLnBrk="1" hangingPunct="1">
              <a:lnSpc>
                <a:spcPts val="3200"/>
              </a:lnSpc>
              <a:buFont typeface="Wingdings" panose="05000000000000000000" pitchFamily="2" charset="2"/>
              <a:buNone/>
            </a:pPr>
            <a:r>
              <a:rPr lang="zh-CN" altLang="en-US" sz="2000">
                <a:latin typeface="微软雅黑" panose="020B0503020204020204" pitchFamily="34" charset="-122"/>
                <a:ea typeface="微软雅黑" panose="020B0503020204020204" pitchFamily="34" charset="-122"/>
              </a:rPr>
              <a:t>用它来检测错码的位置。在信息位移存器输出端，接有一个模</a:t>
            </a:r>
            <a:r>
              <a:rPr lang="en-US" altLang="zh-CN" sz="2000">
                <a:latin typeface="微软雅黑" panose="020B0503020204020204" pitchFamily="34" charset="-122"/>
                <a:ea typeface="微软雅黑" panose="020B0503020204020204" pitchFamily="34" charset="-122"/>
              </a:rPr>
              <a:t>2</a:t>
            </a:r>
            <a:r>
              <a:rPr lang="zh-CN" altLang="en-US" sz="2000">
                <a:latin typeface="微软雅黑" panose="020B0503020204020204" pitchFamily="34" charset="-122"/>
                <a:ea typeface="微软雅黑" panose="020B0503020204020204" pitchFamily="34" charset="-122"/>
              </a:rPr>
              <a:t>加</a:t>
            </a:r>
            <a:endParaRPr lang="en-US" altLang="zh-CN" sz="2000">
              <a:latin typeface="微软雅黑" panose="020B0503020204020204" pitchFamily="34" charset="-122"/>
              <a:ea typeface="微软雅黑" panose="020B0503020204020204" pitchFamily="34" charset="-122"/>
            </a:endParaRPr>
          </a:p>
          <a:p>
            <a:pPr eaLnBrk="1" hangingPunct="1">
              <a:lnSpc>
                <a:spcPts val="3200"/>
              </a:lnSpc>
              <a:buFont typeface="Wingdings" panose="05000000000000000000" pitchFamily="2" charset="2"/>
              <a:buNone/>
            </a:pPr>
            <a:r>
              <a:rPr lang="zh-CN" altLang="en-US" sz="2000">
                <a:latin typeface="微软雅黑" panose="020B0503020204020204" pitchFamily="34" charset="-122"/>
                <a:ea typeface="微软雅黑" panose="020B0503020204020204" pitchFamily="34" charset="-122"/>
              </a:rPr>
              <a:t>电路；当检测到输出的信息位有错时，在输出的信息位上加“</a:t>
            </a:r>
            <a:r>
              <a:rPr lang="en-US" altLang="zh-CN" sz="2000">
                <a:latin typeface="微软雅黑" panose="020B0503020204020204" pitchFamily="34" charset="-122"/>
                <a:ea typeface="微软雅黑" panose="020B0503020204020204" pitchFamily="34" charset="-122"/>
              </a:rPr>
              <a:t>1”</a:t>
            </a:r>
            <a:r>
              <a:rPr lang="zh-CN" altLang="en-US" sz="2000">
                <a:latin typeface="微软雅黑" panose="020B0503020204020204" pitchFamily="34" charset="-122"/>
                <a:ea typeface="微软雅黑" panose="020B0503020204020204" pitchFamily="34" charset="-122"/>
              </a:rPr>
              <a:t>，</a:t>
            </a:r>
            <a:endParaRPr lang="en-US" altLang="zh-CN" sz="2000">
              <a:latin typeface="微软雅黑" panose="020B0503020204020204" pitchFamily="34" charset="-122"/>
              <a:ea typeface="微软雅黑" panose="020B0503020204020204" pitchFamily="34" charset="-122"/>
            </a:endParaRPr>
          </a:p>
          <a:p>
            <a:pPr eaLnBrk="1" hangingPunct="1">
              <a:lnSpc>
                <a:spcPts val="3200"/>
              </a:lnSpc>
              <a:buFont typeface="Wingdings" panose="05000000000000000000" pitchFamily="2" charset="2"/>
              <a:buNone/>
            </a:pPr>
            <a:r>
              <a:rPr lang="zh-CN" altLang="en-US" sz="2000">
                <a:latin typeface="微软雅黑" panose="020B0503020204020204" pitchFamily="34" charset="-122"/>
                <a:ea typeface="微软雅黑" panose="020B0503020204020204" pitchFamily="34" charset="-122"/>
              </a:rPr>
              <a:t>从而纠正之。 </a:t>
            </a:r>
          </a:p>
        </p:txBody>
      </p:sp>
      <p:grpSp>
        <p:nvGrpSpPr>
          <p:cNvPr id="2" name="Group 59">
            <a:extLst>
              <a:ext uri="{FF2B5EF4-FFF2-40B4-BE49-F238E27FC236}">
                <a16:creationId xmlns:a16="http://schemas.microsoft.com/office/drawing/2014/main" id="{73ABEF77-D288-DB8B-2465-ED4B90C4B177}"/>
              </a:ext>
            </a:extLst>
          </p:cNvPr>
          <p:cNvGrpSpPr>
            <a:grpSpLocks/>
          </p:cNvGrpSpPr>
          <p:nvPr/>
        </p:nvGrpSpPr>
        <p:grpSpPr bwMode="auto">
          <a:xfrm>
            <a:off x="1428750" y="3571875"/>
            <a:ext cx="7358063" cy="3195638"/>
            <a:chOff x="1207" y="1366"/>
            <a:chExt cx="3516" cy="2181"/>
          </a:xfrm>
        </p:grpSpPr>
        <p:sp>
          <p:nvSpPr>
            <p:cNvPr id="123910" name="AutoShape 5">
              <a:extLst>
                <a:ext uri="{FF2B5EF4-FFF2-40B4-BE49-F238E27FC236}">
                  <a16:creationId xmlns:a16="http://schemas.microsoft.com/office/drawing/2014/main" id="{B9227CD8-B2EC-BDD1-DBEB-59843D1EF0ED}"/>
                </a:ext>
              </a:extLst>
            </p:cNvPr>
            <p:cNvSpPr>
              <a:spLocks noChangeAspect="1" noChangeArrowheads="1"/>
            </p:cNvSpPr>
            <p:nvPr/>
          </p:nvSpPr>
          <p:spPr bwMode="auto">
            <a:xfrm>
              <a:off x="1207" y="1366"/>
              <a:ext cx="3516" cy="2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华文中宋" panose="02010600040101010101" pitchFamily="2" charset="-122"/>
                <a:ea typeface="华文中宋" panose="02010600040101010101" pitchFamily="2" charset="-122"/>
              </a:endParaRPr>
            </a:p>
          </p:txBody>
        </p:sp>
        <p:sp>
          <p:nvSpPr>
            <p:cNvPr id="123911" name="Text Box 6">
              <a:extLst>
                <a:ext uri="{FF2B5EF4-FFF2-40B4-BE49-F238E27FC236}">
                  <a16:creationId xmlns:a16="http://schemas.microsoft.com/office/drawing/2014/main" id="{76398EC8-0FFE-E597-CB0C-1FA1F5B2A621}"/>
                </a:ext>
              </a:extLst>
            </p:cNvPr>
            <p:cNvSpPr txBox="1">
              <a:spLocks noChangeArrowheads="1"/>
            </p:cNvSpPr>
            <p:nvPr/>
          </p:nvSpPr>
          <p:spPr bwMode="auto">
            <a:xfrm>
              <a:off x="2151" y="1924"/>
              <a:ext cx="1604" cy="245"/>
            </a:xfrm>
            <a:prstGeom prst="rect">
              <a:avLst/>
            </a:prstGeom>
            <a:solidFill>
              <a:srgbClr val="FFFFFF"/>
            </a:solidFill>
            <a:ln w="9525">
              <a:solidFill>
                <a:srgbClr val="000000"/>
              </a:solidFill>
              <a:miter lim="800000"/>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zh-CN" altLang="en-US" sz="1800">
                  <a:solidFill>
                    <a:schemeClr val="tx1"/>
                  </a:solidFill>
                  <a:latin typeface="华文中宋" panose="02010600040101010101" pitchFamily="2" charset="-122"/>
                  <a:ea typeface="华文中宋" panose="02010600040101010101" pitchFamily="2" charset="-122"/>
                </a:rPr>
                <a:t>校正子计算</a:t>
              </a:r>
            </a:p>
          </p:txBody>
        </p:sp>
        <p:grpSp>
          <p:nvGrpSpPr>
            <p:cNvPr id="123912" name="Group 7">
              <a:extLst>
                <a:ext uri="{FF2B5EF4-FFF2-40B4-BE49-F238E27FC236}">
                  <a16:creationId xmlns:a16="http://schemas.microsoft.com/office/drawing/2014/main" id="{7BBED571-68CE-142A-9304-BDB8DAF3C57D}"/>
                </a:ext>
              </a:extLst>
            </p:cNvPr>
            <p:cNvGrpSpPr>
              <a:grpSpLocks/>
            </p:cNvGrpSpPr>
            <p:nvPr/>
          </p:nvGrpSpPr>
          <p:grpSpPr bwMode="auto">
            <a:xfrm>
              <a:off x="2151" y="1460"/>
              <a:ext cx="1604" cy="464"/>
              <a:chOff x="4202" y="2046"/>
              <a:chExt cx="2653" cy="767"/>
            </a:xfrm>
          </p:grpSpPr>
          <p:sp>
            <p:nvSpPr>
              <p:cNvPr id="123958" name="Text Box 8">
                <a:extLst>
                  <a:ext uri="{FF2B5EF4-FFF2-40B4-BE49-F238E27FC236}">
                    <a16:creationId xmlns:a16="http://schemas.microsoft.com/office/drawing/2014/main" id="{6E60F1AB-DEBE-865F-8973-503439050051}"/>
                  </a:ext>
                </a:extLst>
              </p:cNvPr>
              <p:cNvSpPr txBox="1">
                <a:spLocks noChangeArrowheads="1"/>
              </p:cNvSpPr>
              <p:nvPr/>
            </p:nvSpPr>
            <p:spPr bwMode="auto">
              <a:xfrm>
                <a:off x="4202" y="2046"/>
                <a:ext cx="2653" cy="403"/>
              </a:xfrm>
              <a:prstGeom prst="rect">
                <a:avLst/>
              </a:prstGeom>
              <a:solidFill>
                <a:srgbClr val="FFFFFF"/>
              </a:solidFill>
              <a:ln w="9525">
                <a:solidFill>
                  <a:srgbClr val="000000"/>
                </a:solidFill>
                <a:miter lim="800000"/>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zh-CN" altLang="en-US" sz="1800">
                    <a:solidFill>
                      <a:schemeClr val="tx1"/>
                    </a:solidFill>
                    <a:latin typeface="华文中宋" panose="02010600040101010101" pitchFamily="2" charset="-122"/>
                    <a:ea typeface="华文中宋" panose="02010600040101010101" pitchFamily="2" charset="-122"/>
                  </a:rPr>
                  <a:t>信息位移存器</a:t>
                </a:r>
              </a:p>
            </p:txBody>
          </p:sp>
          <p:sp>
            <p:nvSpPr>
              <p:cNvPr id="123959" name="Line 9">
                <a:extLst>
                  <a:ext uri="{FF2B5EF4-FFF2-40B4-BE49-F238E27FC236}">
                    <a16:creationId xmlns:a16="http://schemas.microsoft.com/office/drawing/2014/main" id="{07055A3B-0A79-E696-F888-22A72D53E059}"/>
                  </a:ext>
                </a:extLst>
              </p:cNvPr>
              <p:cNvSpPr>
                <a:spLocks noChangeShapeType="1"/>
              </p:cNvSpPr>
              <p:nvPr/>
            </p:nvSpPr>
            <p:spPr bwMode="auto">
              <a:xfrm>
                <a:off x="4423" y="2449"/>
                <a:ext cx="1" cy="36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60" name="Line 10">
                <a:extLst>
                  <a:ext uri="{FF2B5EF4-FFF2-40B4-BE49-F238E27FC236}">
                    <a16:creationId xmlns:a16="http://schemas.microsoft.com/office/drawing/2014/main" id="{A9DB7BB7-9D5C-C434-8B8B-29DF987DF5B6}"/>
                  </a:ext>
                </a:extLst>
              </p:cNvPr>
              <p:cNvSpPr>
                <a:spLocks noChangeShapeType="1"/>
              </p:cNvSpPr>
              <p:nvPr/>
            </p:nvSpPr>
            <p:spPr bwMode="auto">
              <a:xfrm>
                <a:off x="4722" y="2449"/>
                <a:ext cx="1" cy="36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61" name="Line 11">
                <a:extLst>
                  <a:ext uri="{FF2B5EF4-FFF2-40B4-BE49-F238E27FC236}">
                    <a16:creationId xmlns:a16="http://schemas.microsoft.com/office/drawing/2014/main" id="{7A7E4AFD-680E-D6B6-1D5D-D5EEB6D5D685}"/>
                  </a:ext>
                </a:extLst>
              </p:cNvPr>
              <p:cNvSpPr>
                <a:spLocks noChangeShapeType="1"/>
              </p:cNvSpPr>
              <p:nvPr/>
            </p:nvSpPr>
            <p:spPr bwMode="auto">
              <a:xfrm>
                <a:off x="4995" y="2449"/>
                <a:ext cx="1" cy="36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62" name="Line 12">
                <a:extLst>
                  <a:ext uri="{FF2B5EF4-FFF2-40B4-BE49-F238E27FC236}">
                    <a16:creationId xmlns:a16="http://schemas.microsoft.com/office/drawing/2014/main" id="{33737142-3D7C-24B8-FF6F-BE357AB38920}"/>
                  </a:ext>
                </a:extLst>
              </p:cNvPr>
              <p:cNvSpPr>
                <a:spLocks noChangeShapeType="1"/>
              </p:cNvSpPr>
              <p:nvPr/>
            </p:nvSpPr>
            <p:spPr bwMode="auto">
              <a:xfrm>
                <a:off x="6608" y="2449"/>
                <a:ext cx="1" cy="36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23913" name="Text Box 13">
              <a:extLst>
                <a:ext uri="{FF2B5EF4-FFF2-40B4-BE49-F238E27FC236}">
                  <a16:creationId xmlns:a16="http://schemas.microsoft.com/office/drawing/2014/main" id="{F5F60E7B-D386-2368-F1CB-FF258F923147}"/>
                </a:ext>
              </a:extLst>
            </p:cNvPr>
            <p:cNvSpPr txBox="1">
              <a:spLocks noChangeArrowheads="1"/>
            </p:cNvSpPr>
            <p:nvPr/>
          </p:nvSpPr>
          <p:spPr bwMode="auto">
            <a:xfrm>
              <a:off x="2151" y="2554"/>
              <a:ext cx="1604" cy="244"/>
            </a:xfrm>
            <a:prstGeom prst="rect">
              <a:avLst/>
            </a:prstGeom>
            <a:solidFill>
              <a:srgbClr val="FFFFFF"/>
            </a:solidFill>
            <a:ln w="9525">
              <a:solidFill>
                <a:srgbClr val="000000"/>
              </a:solidFill>
              <a:miter lim="800000"/>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zh-CN" altLang="en-US" sz="1800">
                  <a:solidFill>
                    <a:schemeClr val="tx1"/>
                  </a:solidFill>
                  <a:latin typeface="华文中宋" panose="02010600040101010101" pitchFamily="2" charset="-122"/>
                  <a:ea typeface="华文中宋" panose="02010600040101010101" pitchFamily="2" charset="-122"/>
                </a:rPr>
                <a:t>校正子移存器</a:t>
              </a:r>
            </a:p>
          </p:txBody>
        </p:sp>
        <p:grpSp>
          <p:nvGrpSpPr>
            <p:cNvPr id="123914" name="Group 14">
              <a:extLst>
                <a:ext uri="{FF2B5EF4-FFF2-40B4-BE49-F238E27FC236}">
                  <a16:creationId xmlns:a16="http://schemas.microsoft.com/office/drawing/2014/main" id="{84090B94-EF53-8424-6345-6BAAF48D4526}"/>
                </a:ext>
              </a:extLst>
            </p:cNvPr>
            <p:cNvGrpSpPr>
              <a:grpSpLocks/>
            </p:cNvGrpSpPr>
            <p:nvPr/>
          </p:nvGrpSpPr>
          <p:grpSpPr bwMode="auto">
            <a:xfrm>
              <a:off x="2284" y="2798"/>
              <a:ext cx="1322" cy="220"/>
              <a:chOff x="4436" y="4257"/>
              <a:chExt cx="2186" cy="364"/>
            </a:xfrm>
          </p:grpSpPr>
          <p:sp>
            <p:nvSpPr>
              <p:cNvPr id="123954" name="Line 15">
                <a:extLst>
                  <a:ext uri="{FF2B5EF4-FFF2-40B4-BE49-F238E27FC236}">
                    <a16:creationId xmlns:a16="http://schemas.microsoft.com/office/drawing/2014/main" id="{C74D8E70-B00D-F56E-A9B4-2A9BF464F5FD}"/>
                  </a:ext>
                </a:extLst>
              </p:cNvPr>
              <p:cNvSpPr>
                <a:spLocks noChangeShapeType="1"/>
              </p:cNvSpPr>
              <p:nvPr/>
            </p:nvSpPr>
            <p:spPr bwMode="auto">
              <a:xfrm>
                <a:off x="4436" y="4257"/>
                <a:ext cx="1" cy="36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55" name="Line 16">
                <a:extLst>
                  <a:ext uri="{FF2B5EF4-FFF2-40B4-BE49-F238E27FC236}">
                    <a16:creationId xmlns:a16="http://schemas.microsoft.com/office/drawing/2014/main" id="{4EC34A94-14FC-667E-E77D-1A423615EE64}"/>
                  </a:ext>
                </a:extLst>
              </p:cNvPr>
              <p:cNvSpPr>
                <a:spLocks noChangeShapeType="1"/>
              </p:cNvSpPr>
              <p:nvPr/>
            </p:nvSpPr>
            <p:spPr bwMode="auto">
              <a:xfrm>
                <a:off x="4735" y="4257"/>
                <a:ext cx="1" cy="36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56" name="Line 17">
                <a:extLst>
                  <a:ext uri="{FF2B5EF4-FFF2-40B4-BE49-F238E27FC236}">
                    <a16:creationId xmlns:a16="http://schemas.microsoft.com/office/drawing/2014/main" id="{6C040CBE-6ED1-AAA6-3E63-4F7B3205863E}"/>
                  </a:ext>
                </a:extLst>
              </p:cNvPr>
              <p:cNvSpPr>
                <a:spLocks noChangeShapeType="1"/>
              </p:cNvSpPr>
              <p:nvPr/>
            </p:nvSpPr>
            <p:spPr bwMode="auto">
              <a:xfrm>
                <a:off x="5008" y="4257"/>
                <a:ext cx="1" cy="36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57" name="Line 18">
                <a:extLst>
                  <a:ext uri="{FF2B5EF4-FFF2-40B4-BE49-F238E27FC236}">
                    <a16:creationId xmlns:a16="http://schemas.microsoft.com/office/drawing/2014/main" id="{F5A0DEB1-AD9B-C80A-4283-70E2D3C28D5D}"/>
                  </a:ext>
                </a:extLst>
              </p:cNvPr>
              <p:cNvSpPr>
                <a:spLocks noChangeShapeType="1"/>
              </p:cNvSpPr>
              <p:nvPr/>
            </p:nvSpPr>
            <p:spPr bwMode="auto">
              <a:xfrm>
                <a:off x="6621" y="4257"/>
                <a:ext cx="1" cy="36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23915" name="Text Box 19">
              <a:extLst>
                <a:ext uri="{FF2B5EF4-FFF2-40B4-BE49-F238E27FC236}">
                  <a16:creationId xmlns:a16="http://schemas.microsoft.com/office/drawing/2014/main" id="{45EBE20B-845B-AE9F-A558-BE25170DF09B}"/>
                </a:ext>
              </a:extLst>
            </p:cNvPr>
            <p:cNvSpPr txBox="1">
              <a:spLocks noChangeArrowheads="1"/>
            </p:cNvSpPr>
            <p:nvPr/>
          </p:nvSpPr>
          <p:spPr bwMode="auto">
            <a:xfrm>
              <a:off x="2167" y="3018"/>
              <a:ext cx="1604" cy="245"/>
            </a:xfrm>
            <a:prstGeom prst="rect">
              <a:avLst/>
            </a:prstGeom>
            <a:solidFill>
              <a:srgbClr val="FFFFFF"/>
            </a:solidFill>
            <a:ln w="9525">
              <a:solidFill>
                <a:srgbClr val="000000"/>
              </a:solidFill>
              <a:miter lim="800000"/>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zh-CN" altLang="en-US" sz="1800">
                  <a:solidFill>
                    <a:schemeClr val="tx1"/>
                  </a:solidFill>
                  <a:latin typeface="华文中宋" panose="02010600040101010101" pitchFamily="2" charset="-122"/>
                  <a:ea typeface="华文中宋" panose="02010600040101010101" pitchFamily="2" charset="-122"/>
                </a:rPr>
                <a:t>错码检测</a:t>
              </a:r>
            </a:p>
          </p:txBody>
        </p:sp>
        <p:sp>
          <p:nvSpPr>
            <p:cNvPr id="123916" name="Text Box 20">
              <a:extLst>
                <a:ext uri="{FF2B5EF4-FFF2-40B4-BE49-F238E27FC236}">
                  <a16:creationId xmlns:a16="http://schemas.microsoft.com/office/drawing/2014/main" id="{4661E09C-9616-DCD2-D66E-8ED5D8A99882}"/>
                </a:ext>
              </a:extLst>
            </p:cNvPr>
            <p:cNvSpPr txBox="1">
              <a:spLocks noChangeArrowheads="1"/>
            </p:cNvSpPr>
            <p:nvPr/>
          </p:nvSpPr>
          <p:spPr bwMode="auto">
            <a:xfrm>
              <a:off x="2803" y="1578"/>
              <a:ext cx="638"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1800">
                  <a:solidFill>
                    <a:schemeClr val="tx1"/>
                  </a:solidFill>
                  <a:latin typeface="华文中宋" panose="02010600040101010101" pitchFamily="2" charset="-122"/>
                  <a:ea typeface="华文中宋" panose="02010600040101010101" pitchFamily="2" charset="-122"/>
                  <a:sym typeface="Symbol" panose="05050102010706020507" pitchFamily="18" charset="2"/>
                </a:rPr>
                <a:t></a:t>
              </a:r>
              <a:r>
                <a:rPr lang="en-US" altLang="zh-CN" sz="1800">
                  <a:solidFill>
                    <a:schemeClr val="tx1"/>
                  </a:solidFill>
                  <a:latin typeface="华文中宋" panose="02010600040101010101" pitchFamily="2" charset="-122"/>
                  <a:ea typeface="华文中宋" panose="02010600040101010101" pitchFamily="2" charset="-122"/>
                </a:rPr>
                <a:t> </a:t>
              </a:r>
              <a:r>
                <a:rPr lang="en-US" altLang="zh-CN" sz="1800">
                  <a:solidFill>
                    <a:schemeClr val="tx1"/>
                  </a:solidFill>
                  <a:latin typeface="华文中宋" panose="02010600040101010101" pitchFamily="2" charset="-122"/>
                  <a:ea typeface="华文中宋" panose="02010600040101010101" pitchFamily="2" charset="-122"/>
                  <a:sym typeface="Symbol" panose="05050102010706020507" pitchFamily="18" charset="2"/>
                </a:rPr>
                <a:t></a:t>
              </a:r>
              <a:r>
                <a:rPr lang="en-US" altLang="zh-CN" sz="1800">
                  <a:solidFill>
                    <a:schemeClr val="tx1"/>
                  </a:solidFill>
                  <a:latin typeface="华文中宋" panose="02010600040101010101" pitchFamily="2" charset="-122"/>
                  <a:ea typeface="华文中宋" panose="02010600040101010101" pitchFamily="2" charset="-122"/>
                </a:rPr>
                <a:t> </a:t>
              </a:r>
              <a:r>
                <a:rPr lang="en-US" altLang="zh-CN" sz="1800">
                  <a:solidFill>
                    <a:schemeClr val="tx1"/>
                  </a:solidFill>
                  <a:latin typeface="华文中宋" panose="02010600040101010101" pitchFamily="2" charset="-122"/>
                  <a:ea typeface="华文中宋" panose="02010600040101010101" pitchFamily="2" charset="-122"/>
                  <a:sym typeface="Symbol" panose="05050102010706020507" pitchFamily="18" charset="2"/>
                </a:rPr>
                <a:t></a:t>
              </a:r>
              <a:endParaRPr lang="en-US" altLang="zh-CN" sz="1800">
                <a:solidFill>
                  <a:schemeClr val="tx1"/>
                </a:solidFill>
                <a:latin typeface="华文中宋" panose="02010600040101010101" pitchFamily="2" charset="-122"/>
                <a:ea typeface="华文中宋" panose="02010600040101010101" pitchFamily="2" charset="-122"/>
              </a:endParaRPr>
            </a:p>
          </p:txBody>
        </p:sp>
        <p:sp>
          <p:nvSpPr>
            <p:cNvPr id="123917" name="Text Box 21">
              <a:extLst>
                <a:ext uri="{FF2B5EF4-FFF2-40B4-BE49-F238E27FC236}">
                  <a16:creationId xmlns:a16="http://schemas.microsoft.com/office/drawing/2014/main" id="{F264D046-81EF-23BE-4360-C21AD6CEC2F9}"/>
                </a:ext>
              </a:extLst>
            </p:cNvPr>
            <p:cNvSpPr txBox="1">
              <a:spLocks noChangeArrowheads="1"/>
            </p:cNvSpPr>
            <p:nvPr/>
          </p:nvSpPr>
          <p:spPr bwMode="auto">
            <a:xfrm>
              <a:off x="2788" y="2696"/>
              <a:ext cx="637"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1800">
                  <a:solidFill>
                    <a:schemeClr val="tx1"/>
                  </a:solidFill>
                  <a:latin typeface="华文中宋" panose="02010600040101010101" pitchFamily="2" charset="-122"/>
                  <a:ea typeface="华文中宋" panose="02010600040101010101" pitchFamily="2" charset="-122"/>
                  <a:sym typeface="Symbol" panose="05050102010706020507" pitchFamily="18" charset="2"/>
                </a:rPr>
                <a:t></a:t>
              </a:r>
              <a:r>
                <a:rPr lang="en-US" altLang="zh-CN" sz="1800">
                  <a:solidFill>
                    <a:schemeClr val="tx1"/>
                  </a:solidFill>
                  <a:latin typeface="华文中宋" panose="02010600040101010101" pitchFamily="2" charset="-122"/>
                  <a:ea typeface="华文中宋" panose="02010600040101010101" pitchFamily="2" charset="-122"/>
                </a:rPr>
                <a:t> </a:t>
              </a:r>
              <a:r>
                <a:rPr lang="en-US" altLang="zh-CN" sz="1800">
                  <a:solidFill>
                    <a:schemeClr val="tx1"/>
                  </a:solidFill>
                  <a:latin typeface="华文中宋" panose="02010600040101010101" pitchFamily="2" charset="-122"/>
                  <a:ea typeface="华文中宋" panose="02010600040101010101" pitchFamily="2" charset="-122"/>
                  <a:sym typeface="Symbol" panose="05050102010706020507" pitchFamily="18" charset="2"/>
                </a:rPr>
                <a:t></a:t>
              </a:r>
              <a:r>
                <a:rPr lang="en-US" altLang="zh-CN" sz="1800">
                  <a:solidFill>
                    <a:schemeClr val="tx1"/>
                  </a:solidFill>
                  <a:latin typeface="华文中宋" panose="02010600040101010101" pitchFamily="2" charset="-122"/>
                  <a:ea typeface="华文中宋" panose="02010600040101010101" pitchFamily="2" charset="-122"/>
                </a:rPr>
                <a:t> </a:t>
              </a:r>
              <a:r>
                <a:rPr lang="en-US" altLang="zh-CN" sz="1800">
                  <a:solidFill>
                    <a:schemeClr val="tx1"/>
                  </a:solidFill>
                  <a:latin typeface="华文中宋" panose="02010600040101010101" pitchFamily="2" charset="-122"/>
                  <a:ea typeface="华文中宋" panose="02010600040101010101" pitchFamily="2" charset="-122"/>
                  <a:sym typeface="Symbol" panose="05050102010706020507" pitchFamily="18" charset="2"/>
                </a:rPr>
                <a:t></a:t>
              </a:r>
              <a:endParaRPr lang="en-US" altLang="zh-CN" sz="1800">
                <a:solidFill>
                  <a:schemeClr val="tx1"/>
                </a:solidFill>
                <a:latin typeface="华文中宋" panose="02010600040101010101" pitchFamily="2" charset="-122"/>
                <a:ea typeface="华文中宋" panose="02010600040101010101" pitchFamily="2" charset="-122"/>
              </a:endParaRPr>
            </a:p>
          </p:txBody>
        </p:sp>
        <p:grpSp>
          <p:nvGrpSpPr>
            <p:cNvPr id="123918" name="Group 22">
              <a:extLst>
                <a:ext uri="{FF2B5EF4-FFF2-40B4-BE49-F238E27FC236}">
                  <a16:creationId xmlns:a16="http://schemas.microsoft.com/office/drawing/2014/main" id="{581B5066-0E76-842D-D7CA-F14A4832E6D9}"/>
                </a:ext>
              </a:extLst>
            </p:cNvPr>
            <p:cNvGrpSpPr>
              <a:grpSpLocks/>
            </p:cNvGrpSpPr>
            <p:nvPr/>
          </p:nvGrpSpPr>
          <p:grpSpPr bwMode="auto">
            <a:xfrm>
              <a:off x="2277" y="2397"/>
              <a:ext cx="1321" cy="165"/>
              <a:chOff x="4436" y="4257"/>
              <a:chExt cx="2186" cy="364"/>
            </a:xfrm>
          </p:grpSpPr>
          <p:sp>
            <p:nvSpPr>
              <p:cNvPr id="123950" name="Line 23">
                <a:extLst>
                  <a:ext uri="{FF2B5EF4-FFF2-40B4-BE49-F238E27FC236}">
                    <a16:creationId xmlns:a16="http://schemas.microsoft.com/office/drawing/2014/main" id="{DAE5B5F7-BC08-4A46-A4FC-E5EA43717AC5}"/>
                  </a:ext>
                </a:extLst>
              </p:cNvPr>
              <p:cNvSpPr>
                <a:spLocks noChangeShapeType="1"/>
              </p:cNvSpPr>
              <p:nvPr/>
            </p:nvSpPr>
            <p:spPr bwMode="auto">
              <a:xfrm>
                <a:off x="4436" y="4257"/>
                <a:ext cx="1" cy="36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51" name="Line 24">
                <a:extLst>
                  <a:ext uri="{FF2B5EF4-FFF2-40B4-BE49-F238E27FC236}">
                    <a16:creationId xmlns:a16="http://schemas.microsoft.com/office/drawing/2014/main" id="{F746D83C-AFA3-09A2-407A-DFFF1969B569}"/>
                  </a:ext>
                </a:extLst>
              </p:cNvPr>
              <p:cNvSpPr>
                <a:spLocks noChangeShapeType="1"/>
              </p:cNvSpPr>
              <p:nvPr/>
            </p:nvSpPr>
            <p:spPr bwMode="auto">
              <a:xfrm>
                <a:off x="4735" y="4257"/>
                <a:ext cx="1" cy="36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52" name="Line 25">
                <a:extLst>
                  <a:ext uri="{FF2B5EF4-FFF2-40B4-BE49-F238E27FC236}">
                    <a16:creationId xmlns:a16="http://schemas.microsoft.com/office/drawing/2014/main" id="{C8962D1F-07D6-C28C-5474-BE333D602B9D}"/>
                  </a:ext>
                </a:extLst>
              </p:cNvPr>
              <p:cNvSpPr>
                <a:spLocks noChangeShapeType="1"/>
              </p:cNvSpPr>
              <p:nvPr/>
            </p:nvSpPr>
            <p:spPr bwMode="auto">
              <a:xfrm>
                <a:off x="5008" y="4257"/>
                <a:ext cx="1" cy="36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53" name="Line 26">
                <a:extLst>
                  <a:ext uri="{FF2B5EF4-FFF2-40B4-BE49-F238E27FC236}">
                    <a16:creationId xmlns:a16="http://schemas.microsoft.com/office/drawing/2014/main" id="{FB0324A8-B149-EB07-CBB2-95119A157E74}"/>
                  </a:ext>
                </a:extLst>
              </p:cNvPr>
              <p:cNvSpPr>
                <a:spLocks noChangeShapeType="1"/>
              </p:cNvSpPr>
              <p:nvPr/>
            </p:nvSpPr>
            <p:spPr bwMode="auto">
              <a:xfrm>
                <a:off x="6621" y="4257"/>
                <a:ext cx="1" cy="36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23919" name="Line 27">
              <a:extLst>
                <a:ext uri="{FF2B5EF4-FFF2-40B4-BE49-F238E27FC236}">
                  <a16:creationId xmlns:a16="http://schemas.microsoft.com/office/drawing/2014/main" id="{ED56AE41-4027-855E-8C84-5A19B8E910A8}"/>
                </a:ext>
              </a:extLst>
            </p:cNvPr>
            <p:cNvSpPr>
              <a:spLocks noChangeShapeType="1"/>
            </p:cNvSpPr>
            <p:nvPr/>
          </p:nvSpPr>
          <p:spPr bwMode="auto">
            <a:xfrm>
              <a:off x="2269" y="2397"/>
              <a:ext cx="1887" cy="1"/>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3920" name="Group 28">
              <a:extLst>
                <a:ext uri="{FF2B5EF4-FFF2-40B4-BE49-F238E27FC236}">
                  <a16:creationId xmlns:a16="http://schemas.microsoft.com/office/drawing/2014/main" id="{228E1E90-3E2B-86C8-080F-048D0942B6D5}"/>
                </a:ext>
              </a:extLst>
            </p:cNvPr>
            <p:cNvGrpSpPr>
              <a:grpSpLocks/>
            </p:cNvGrpSpPr>
            <p:nvPr/>
          </p:nvGrpSpPr>
          <p:grpSpPr bwMode="auto">
            <a:xfrm>
              <a:off x="1884" y="1570"/>
              <a:ext cx="267" cy="174"/>
              <a:chOff x="3773" y="2228"/>
              <a:chExt cx="442" cy="286"/>
            </a:xfrm>
          </p:grpSpPr>
          <p:grpSp>
            <p:nvGrpSpPr>
              <p:cNvPr id="123946" name="Group 29">
                <a:extLst>
                  <a:ext uri="{FF2B5EF4-FFF2-40B4-BE49-F238E27FC236}">
                    <a16:creationId xmlns:a16="http://schemas.microsoft.com/office/drawing/2014/main" id="{D429237B-7D7C-ED6B-4C71-FA09E2921D48}"/>
                  </a:ext>
                </a:extLst>
              </p:cNvPr>
              <p:cNvGrpSpPr>
                <a:grpSpLocks/>
              </p:cNvGrpSpPr>
              <p:nvPr/>
            </p:nvGrpSpPr>
            <p:grpSpPr bwMode="auto">
              <a:xfrm>
                <a:off x="3812" y="2228"/>
                <a:ext cx="403" cy="260"/>
                <a:chOff x="3812" y="2228"/>
                <a:chExt cx="403" cy="260"/>
              </a:xfrm>
            </p:grpSpPr>
            <p:sp>
              <p:nvSpPr>
                <p:cNvPr id="123948" name="Line 30">
                  <a:extLst>
                    <a:ext uri="{FF2B5EF4-FFF2-40B4-BE49-F238E27FC236}">
                      <a16:creationId xmlns:a16="http://schemas.microsoft.com/office/drawing/2014/main" id="{31D504F1-BC18-1090-FB69-60F9524FCE5B}"/>
                    </a:ext>
                  </a:extLst>
                </p:cNvPr>
                <p:cNvSpPr>
                  <a:spLocks noChangeShapeType="1"/>
                </p:cNvSpPr>
                <p:nvPr/>
              </p:nvSpPr>
              <p:spPr bwMode="auto">
                <a:xfrm>
                  <a:off x="3812" y="2228"/>
                  <a:ext cx="40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49" name="Line 31">
                  <a:extLst>
                    <a:ext uri="{FF2B5EF4-FFF2-40B4-BE49-F238E27FC236}">
                      <a16:creationId xmlns:a16="http://schemas.microsoft.com/office/drawing/2014/main" id="{5836AFEB-3913-D596-F0F5-DA5A8D95BF9D}"/>
                    </a:ext>
                  </a:extLst>
                </p:cNvPr>
                <p:cNvSpPr>
                  <a:spLocks noChangeShapeType="1"/>
                </p:cNvSpPr>
                <p:nvPr/>
              </p:nvSpPr>
              <p:spPr bwMode="auto">
                <a:xfrm>
                  <a:off x="3812" y="2228"/>
                  <a:ext cx="2" cy="2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3947" name="Oval 32">
                <a:extLst>
                  <a:ext uri="{FF2B5EF4-FFF2-40B4-BE49-F238E27FC236}">
                    <a16:creationId xmlns:a16="http://schemas.microsoft.com/office/drawing/2014/main" id="{021E3368-6F18-7939-72F0-ABF565F83017}"/>
                  </a:ext>
                </a:extLst>
              </p:cNvPr>
              <p:cNvSpPr>
                <a:spLocks noChangeArrowheads="1"/>
              </p:cNvSpPr>
              <p:nvPr/>
            </p:nvSpPr>
            <p:spPr bwMode="auto">
              <a:xfrm>
                <a:off x="3773" y="2410"/>
                <a:ext cx="104" cy="104"/>
              </a:xfrm>
              <a:prstGeom prst="ellipse">
                <a:avLst/>
              </a:prstGeom>
              <a:solidFill>
                <a:srgbClr val="FFFFFF"/>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华文中宋" panose="02010600040101010101" pitchFamily="2" charset="-122"/>
                  <a:ea typeface="华文中宋" panose="02010600040101010101" pitchFamily="2" charset="-122"/>
                </a:endParaRPr>
              </a:p>
            </p:txBody>
          </p:sp>
        </p:grpSp>
        <p:grpSp>
          <p:nvGrpSpPr>
            <p:cNvPr id="123921" name="Group 33">
              <a:extLst>
                <a:ext uri="{FF2B5EF4-FFF2-40B4-BE49-F238E27FC236}">
                  <a16:creationId xmlns:a16="http://schemas.microsoft.com/office/drawing/2014/main" id="{7DA33BB4-1EBB-70D8-ABEA-D041B6E99E83}"/>
                </a:ext>
              </a:extLst>
            </p:cNvPr>
            <p:cNvGrpSpPr>
              <a:grpSpLocks/>
            </p:cNvGrpSpPr>
            <p:nvPr/>
          </p:nvGrpSpPr>
          <p:grpSpPr bwMode="auto">
            <a:xfrm flipV="1">
              <a:off x="1876" y="1895"/>
              <a:ext cx="267" cy="172"/>
              <a:chOff x="3773" y="2228"/>
              <a:chExt cx="442" cy="286"/>
            </a:xfrm>
          </p:grpSpPr>
          <p:grpSp>
            <p:nvGrpSpPr>
              <p:cNvPr id="123942" name="Group 34">
                <a:extLst>
                  <a:ext uri="{FF2B5EF4-FFF2-40B4-BE49-F238E27FC236}">
                    <a16:creationId xmlns:a16="http://schemas.microsoft.com/office/drawing/2014/main" id="{E062C99D-118B-9449-A1C4-16CD960E9520}"/>
                  </a:ext>
                </a:extLst>
              </p:cNvPr>
              <p:cNvGrpSpPr>
                <a:grpSpLocks/>
              </p:cNvGrpSpPr>
              <p:nvPr/>
            </p:nvGrpSpPr>
            <p:grpSpPr bwMode="auto">
              <a:xfrm>
                <a:off x="3812" y="2228"/>
                <a:ext cx="403" cy="260"/>
                <a:chOff x="3812" y="2228"/>
                <a:chExt cx="403" cy="260"/>
              </a:xfrm>
            </p:grpSpPr>
            <p:sp>
              <p:nvSpPr>
                <p:cNvPr id="123944" name="Line 35">
                  <a:extLst>
                    <a:ext uri="{FF2B5EF4-FFF2-40B4-BE49-F238E27FC236}">
                      <a16:creationId xmlns:a16="http://schemas.microsoft.com/office/drawing/2014/main" id="{C21948F2-71D0-38DC-6C61-59E446FC6307}"/>
                    </a:ext>
                  </a:extLst>
                </p:cNvPr>
                <p:cNvSpPr>
                  <a:spLocks noChangeShapeType="1"/>
                </p:cNvSpPr>
                <p:nvPr/>
              </p:nvSpPr>
              <p:spPr bwMode="auto">
                <a:xfrm>
                  <a:off x="3812" y="2228"/>
                  <a:ext cx="40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45" name="Line 36">
                  <a:extLst>
                    <a:ext uri="{FF2B5EF4-FFF2-40B4-BE49-F238E27FC236}">
                      <a16:creationId xmlns:a16="http://schemas.microsoft.com/office/drawing/2014/main" id="{B29437BE-BB8C-DF02-D4DB-EBD4D3C95460}"/>
                    </a:ext>
                  </a:extLst>
                </p:cNvPr>
                <p:cNvSpPr>
                  <a:spLocks noChangeShapeType="1"/>
                </p:cNvSpPr>
                <p:nvPr/>
              </p:nvSpPr>
              <p:spPr bwMode="auto">
                <a:xfrm>
                  <a:off x="3812" y="2228"/>
                  <a:ext cx="2" cy="2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3943" name="Oval 37">
                <a:extLst>
                  <a:ext uri="{FF2B5EF4-FFF2-40B4-BE49-F238E27FC236}">
                    <a16:creationId xmlns:a16="http://schemas.microsoft.com/office/drawing/2014/main" id="{E883F15B-A011-233A-B593-86A3A45ABDCC}"/>
                  </a:ext>
                </a:extLst>
              </p:cNvPr>
              <p:cNvSpPr>
                <a:spLocks noChangeArrowheads="1"/>
              </p:cNvSpPr>
              <p:nvPr/>
            </p:nvSpPr>
            <p:spPr bwMode="auto">
              <a:xfrm>
                <a:off x="3773" y="2410"/>
                <a:ext cx="104" cy="104"/>
              </a:xfrm>
              <a:prstGeom prst="ellipse">
                <a:avLst/>
              </a:prstGeom>
              <a:solidFill>
                <a:srgbClr val="FFFFFF"/>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华文中宋" panose="02010600040101010101" pitchFamily="2" charset="-122"/>
                  <a:ea typeface="华文中宋" panose="02010600040101010101" pitchFamily="2" charset="-122"/>
                </a:endParaRPr>
              </a:p>
            </p:txBody>
          </p:sp>
        </p:grpSp>
        <p:sp>
          <p:nvSpPr>
            <p:cNvPr id="123922" name="Oval 38">
              <a:extLst>
                <a:ext uri="{FF2B5EF4-FFF2-40B4-BE49-F238E27FC236}">
                  <a16:creationId xmlns:a16="http://schemas.microsoft.com/office/drawing/2014/main" id="{B8A85742-4560-BA24-9524-D93343BC2535}"/>
                </a:ext>
              </a:extLst>
            </p:cNvPr>
            <p:cNvSpPr>
              <a:spLocks noChangeArrowheads="1"/>
            </p:cNvSpPr>
            <p:nvPr/>
          </p:nvSpPr>
          <p:spPr bwMode="auto">
            <a:xfrm>
              <a:off x="1679" y="1791"/>
              <a:ext cx="64" cy="63"/>
            </a:xfrm>
            <a:prstGeom prst="ellipse">
              <a:avLst/>
            </a:prstGeom>
            <a:solidFill>
              <a:srgbClr val="FFFFFF"/>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华文中宋" panose="02010600040101010101" pitchFamily="2" charset="-122"/>
                <a:ea typeface="华文中宋" panose="02010600040101010101" pitchFamily="2" charset="-122"/>
              </a:endParaRPr>
            </a:p>
          </p:txBody>
        </p:sp>
        <p:sp>
          <p:nvSpPr>
            <p:cNvPr id="123923" name="Line 39">
              <a:extLst>
                <a:ext uri="{FF2B5EF4-FFF2-40B4-BE49-F238E27FC236}">
                  <a16:creationId xmlns:a16="http://schemas.microsoft.com/office/drawing/2014/main" id="{AE92F9C3-29BC-9FD3-FD9A-EE811CD59589}"/>
                </a:ext>
              </a:extLst>
            </p:cNvPr>
            <p:cNvSpPr>
              <a:spLocks noChangeShapeType="1"/>
            </p:cNvSpPr>
            <p:nvPr/>
          </p:nvSpPr>
          <p:spPr bwMode="auto">
            <a:xfrm>
              <a:off x="1419" y="1830"/>
              <a:ext cx="25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24" name="Line 40">
              <a:extLst>
                <a:ext uri="{FF2B5EF4-FFF2-40B4-BE49-F238E27FC236}">
                  <a16:creationId xmlns:a16="http://schemas.microsoft.com/office/drawing/2014/main" id="{4D6A20D5-1301-0932-31AF-1714C0BF7672}"/>
                </a:ext>
              </a:extLst>
            </p:cNvPr>
            <p:cNvSpPr>
              <a:spLocks noChangeShapeType="1"/>
            </p:cNvSpPr>
            <p:nvPr/>
          </p:nvSpPr>
          <p:spPr bwMode="auto">
            <a:xfrm flipV="1">
              <a:off x="1742" y="1728"/>
              <a:ext cx="149" cy="7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25" name="Arc 41">
              <a:extLst>
                <a:ext uri="{FF2B5EF4-FFF2-40B4-BE49-F238E27FC236}">
                  <a16:creationId xmlns:a16="http://schemas.microsoft.com/office/drawing/2014/main" id="{B33106A5-0FB7-8FC4-290B-8A02EE07CEE5}"/>
                </a:ext>
              </a:extLst>
            </p:cNvPr>
            <p:cNvSpPr>
              <a:spLocks/>
            </p:cNvSpPr>
            <p:nvPr/>
          </p:nvSpPr>
          <p:spPr bwMode="auto">
            <a:xfrm rot="2474897">
              <a:off x="1671" y="1744"/>
              <a:ext cx="181" cy="1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华文中宋" panose="02010600040101010101" pitchFamily="2" charset="-122"/>
                <a:ea typeface="华文中宋" panose="02010600040101010101" pitchFamily="2" charset="-122"/>
              </a:endParaRPr>
            </a:p>
          </p:txBody>
        </p:sp>
        <p:sp>
          <p:nvSpPr>
            <p:cNvPr id="123926" name="Line 42">
              <a:extLst>
                <a:ext uri="{FF2B5EF4-FFF2-40B4-BE49-F238E27FC236}">
                  <a16:creationId xmlns:a16="http://schemas.microsoft.com/office/drawing/2014/main" id="{5135C30A-1957-36EC-5777-ADF24A1155BD}"/>
                </a:ext>
              </a:extLst>
            </p:cNvPr>
            <p:cNvSpPr>
              <a:spLocks noChangeShapeType="1"/>
            </p:cNvSpPr>
            <p:nvPr/>
          </p:nvSpPr>
          <p:spPr bwMode="auto">
            <a:xfrm>
              <a:off x="1907" y="2680"/>
              <a:ext cx="251"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27" name="Line 43">
              <a:extLst>
                <a:ext uri="{FF2B5EF4-FFF2-40B4-BE49-F238E27FC236}">
                  <a16:creationId xmlns:a16="http://schemas.microsoft.com/office/drawing/2014/main" id="{8468BF12-7202-9CD0-2412-6C93BFD58DBB}"/>
                </a:ext>
              </a:extLst>
            </p:cNvPr>
            <p:cNvSpPr>
              <a:spLocks noChangeShapeType="1"/>
            </p:cNvSpPr>
            <p:nvPr/>
          </p:nvSpPr>
          <p:spPr bwMode="auto">
            <a:xfrm>
              <a:off x="2968" y="2176"/>
              <a:ext cx="1" cy="13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28" name="Line 44">
              <a:extLst>
                <a:ext uri="{FF2B5EF4-FFF2-40B4-BE49-F238E27FC236}">
                  <a16:creationId xmlns:a16="http://schemas.microsoft.com/office/drawing/2014/main" id="{553534B8-D4FE-9B71-5B8A-807B62DBAB98}"/>
                </a:ext>
              </a:extLst>
            </p:cNvPr>
            <p:cNvSpPr>
              <a:spLocks noChangeShapeType="1"/>
            </p:cNvSpPr>
            <p:nvPr/>
          </p:nvSpPr>
          <p:spPr bwMode="auto">
            <a:xfrm flipH="1">
              <a:off x="1891" y="2310"/>
              <a:ext cx="107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29" name="Line 45">
              <a:extLst>
                <a:ext uri="{FF2B5EF4-FFF2-40B4-BE49-F238E27FC236}">
                  <a16:creationId xmlns:a16="http://schemas.microsoft.com/office/drawing/2014/main" id="{097ABEB3-3D50-9DB0-D1BB-B05C6CC82123}"/>
                </a:ext>
              </a:extLst>
            </p:cNvPr>
            <p:cNvSpPr>
              <a:spLocks noChangeShapeType="1"/>
            </p:cNvSpPr>
            <p:nvPr/>
          </p:nvSpPr>
          <p:spPr bwMode="auto">
            <a:xfrm>
              <a:off x="1891" y="2310"/>
              <a:ext cx="1" cy="37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30" name="Line 46">
              <a:extLst>
                <a:ext uri="{FF2B5EF4-FFF2-40B4-BE49-F238E27FC236}">
                  <a16:creationId xmlns:a16="http://schemas.microsoft.com/office/drawing/2014/main" id="{5566EAE5-1837-65A3-3FA8-4D4DF123CE55}"/>
                </a:ext>
              </a:extLst>
            </p:cNvPr>
            <p:cNvSpPr>
              <a:spLocks noChangeShapeType="1"/>
            </p:cNvSpPr>
            <p:nvPr/>
          </p:nvSpPr>
          <p:spPr bwMode="auto">
            <a:xfrm>
              <a:off x="3763" y="1570"/>
              <a:ext cx="251"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31" name="AutoShape 47">
              <a:extLst>
                <a:ext uri="{FF2B5EF4-FFF2-40B4-BE49-F238E27FC236}">
                  <a16:creationId xmlns:a16="http://schemas.microsoft.com/office/drawing/2014/main" id="{B30D6B1D-DF58-C7E4-0E25-5FC4D44C9B62}"/>
                </a:ext>
              </a:extLst>
            </p:cNvPr>
            <p:cNvSpPr>
              <a:spLocks noChangeArrowheads="1"/>
            </p:cNvSpPr>
            <p:nvPr/>
          </p:nvSpPr>
          <p:spPr bwMode="auto">
            <a:xfrm>
              <a:off x="4019" y="1450"/>
              <a:ext cx="205" cy="244"/>
            </a:xfrm>
            <a:prstGeom prst="flowChartOr">
              <a:avLst/>
            </a:prstGeom>
            <a:solidFill>
              <a:srgbClr val="FFFFFF"/>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华文中宋" panose="02010600040101010101" pitchFamily="2" charset="-122"/>
                <a:ea typeface="华文中宋" panose="02010600040101010101" pitchFamily="2" charset="-122"/>
              </a:endParaRPr>
            </a:p>
          </p:txBody>
        </p:sp>
        <p:sp>
          <p:nvSpPr>
            <p:cNvPr id="123932" name="Line 48">
              <a:extLst>
                <a:ext uri="{FF2B5EF4-FFF2-40B4-BE49-F238E27FC236}">
                  <a16:creationId xmlns:a16="http://schemas.microsoft.com/office/drawing/2014/main" id="{76181BF0-B9C9-5DE9-4F26-F79EA916DDAD}"/>
                </a:ext>
              </a:extLst>
            </p:cNvPr>
            <p:cNvSpPr>
              <a:spLocks noChangeShapeType="1"/>
            </p:cNvSpPr>
            <p:nvPr/>
          </p:nvSpPr>
          <p:spPr bwMode="auto">
            <a:xfrm>
              <a:off x="3779" y="3152"/>
              <a:ext cx="361"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33" name="Line 49">
              <a:extLst>
                <a:ext uri="{FF2B5EF4-FFF2-40B4-BE49-F238E27FC236}">
                  <a16:creationId xmlns:a16="http://schemas.microsoft.com/office/drawing/2014/main" id="{B5E681B1-F6FD-BCB9-882B-B36DF895D2E6}"/>
                </a:ext>
              </a:extLst>
            </p:cNvPr>
            <p:cNvSpPr>
              <a:spLocks noChangeShapeType="1"/>
            </p:cNvSpPr>
            <p:nvPr/>
          </p:nvSpPr>
          <p:spPr bwMode="auto">
            <a:xfrm>
              <a:off x="4124" y="1681"/>
              <a:ext cx="0" cy="1471"/>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3934" name="Oval 50">
              <a:extLst>
                <a:ext uri="{FF2B5EF4-FFF2-40B4-BE49-F238E27FC236}">
                  <a16:creationId xmlns:a16="http://schemas.microsoft.com/office/drawing/2014/main" id="{51D14328-895A-244A-F003-7F795716D6A7}"/>
                </a:ext>
              </a:extLst>
            </p:cNvPr>
            <p:cNvSpPr>
              <a:spLocks noChangeArrowheads="1"/>
            </p:cNvSpPr>
            <p:nvPr/>
          </p:nvSpPr>
          <p:spPr bwMode="auto">
            <a:xfrm>
              <a:off x="4109" y="2373"/>
              <a:ext cx="47" cy="40"/>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华文中宋" panose="02010600040101010101" pitchFamily="2" charset="-122"/>
                <a:ea typeface="华文中宋" panose="02010600040101010101" pitchFamily="2" charset="-122"/>
              </a:endParaRPr>
            </a:p>
          </p:txBody>
        </p:sp>
        <p:sp>
          <p:nvSpPr>
            <p:cNvPr id="123935" name="Line 51">
              <a:extLst>
                <a:ext uri="{FF2B5EF4-FFF2-40B4-BE49-F238E27FC236}">
                  <a16:creationId xmlns:a16="http://schemas.microsoft.com/office/drawing/2014/main" id="{4B4868A9-AB8F-C91F-53CF-B94BF97E01C1}"/>
                </a:ext>
              </a:extLst>
            </p:cNvPr>
            <p:cNvSpPr>
              <a:spLocks noChangeShapeType="1"/>
            </p:cNvSpPr>
            <p:nvPr/>
          </p:nvSpPr>
          <p:spPr bwMode="auto">
            <a:xfrm>
              <a:off x="4211" y="1578"/>
              <a:ext cx="252"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936" name="Text Box 52">
              <a:extLst>
                <a:ext uri="{FF2B5EF4-FFF2-40B4-BE49-F238E27FC236}">
                  <a16:creationId xmlns:a16="http://schemas.microsoft.com/office/drawing/2014/main" id="{30367CED-C6AC-B786-6531-7D69AFC9D692}"/>
                </a:ext>
              </a:extLst>
            </p:cNvPr>
            <p:cNvSpPr txBox="1">
              <a:spLocks noChangeArrowheads="1"/>
            </p:cNvSpPr>
            <p:nvPr/>
          </p:nvSpPr>
          <p:spPr bwMode="auto">
            <a:xfrm>
              <a:off x="2835" y="2263"/>
              <a:ext cx="638"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1800">
                  <a:solidFill>
                    <a:schemeClr val="tx1"/>
                  </a:solidFill>
                  <a:latin typeface="华文中宋" panose="02010600040101010101" pitchFamily="2" charset="-122"/>
                  <a:ea typeface="华文中宋" panose="02010600040101010101" pitchFamily="2" charset="-122"/>
                  <a:sym typeface="Symbol" panose="05050102010706020507" pitchFamily="18" charset="2"/>
                </a:rPr>
                <a:t></a:t>
              </a:r>
              <a:r>
                <a:rPr lang="en-US" altLang="zh-CN" sz="1800">
                  <a:solidFill>
                    <a:schemeClr val="tx1"/>
                  </a:solidFill>
                  <a:latin typeface="华文中宋" panose="02010600040101010101" pitchFamily="2" charset="-122"/>
                  <a:ea typeface="华文中宋" panose="02010600040101010101" pitchFamily="2" charset="-122"/>
                </a:rPr>
                <a:t> </a:t>
              </a:r>
              <a:r>
                <a:rPr lang="en-US" altLang="zh-CN" sz="1800">
                  <a:solidFill>
                    <a:schemeClr val="tx1"/>
                  </a:solidFill>
                  <a:latin typeface="华文中宋" panose="02010600040101010101" pitchFamily="2" charset="-122"/>
                  <a:ea typeface="华文中宋" panose="02010600040101010101" pitchFamily="2" charset="-122"/>
                  <a:sym typeface="Symbol" panose="05050102010706020507" pitchFamily="18" charset="2"/>
                </a:rPr>
                <a:t></a:t>
              </a:r>
              <a:r>
                <a:rPr lang="en-US" altLang="zh-CN" sz="1800">
                  <a:solidFill>
                    <a:schemeClr val="tx1"/>
                  </a:solidFill>
                  <a:latin typeface="华文中宋" panose="02010600040101010101" pitchFamily="2" charset="-122"/>
                  <a:ea typeface="华文中宋" panose="02010600040101010101" pitchFamily="2" charset="-122"/>
                </a:rPr>
                <a:t> </a:t>
              </a:r>
              <a:r>
                <a:rPr lang="en-US" altLang="zh-CN" sz="1800">
                  <a:solidFill>
                    <a:schemeClr val="tx1"/>
                  </a:solidFill>
                  <a:latin typeface="华文中宋" panose="02010600040101010101" pitchFamily="2" charset="-122"/>
                  <a:ea typeface="华文中宋" panose="02010600040101010101" pitchFamily="2" charset="-122"/>
                  <a:sym typeface="Symbol" panose="05050102010706020507" pitchFamily="18" charset="2"/>
                </a:rPr>
                <a:t></a:t>
              </a:r>
              <a:endParaRPr lang="en-US" altLang="zh-CN" sz="1800">
                <a:solidFill>
                  <a:schemeClr val="tx1"/>
                </a:solidFill>
                <a:latin typeface="华文中宋" panose="02010600040101010101" pitchFamily="2" charset="-122"/>
                <a:ea typeface="华文中宋" panose="02010600040101010101" pitchFamily="2" charset="-122"/>
              </a:endParaRPr>
            </a:p>
          </p:txBody>
        </p:sp>
        <p:sp>
          <p:nvSpPr>
            <p:cNvPr id="123937" name="Text Box 53">
              <a:extLst>
                <a:ext uri="{FF2B5EF4-FFF2-40B4-BE49-F238E27FC236}">
                  <a16:creationId xmlns:a16="http://schemas.microsoft.com/office/drawing/2014/main" id="{A01C2F26-A967-7425-D53C-524739057847}"/>
                </a:ext>
              </a:extLst>
            </p:cNvPr>
            <p:cNvSpPr txBox="1">
              <a:spLocks noChangeArrowheads="1"/>
            </p:cNvSpPr>
            <p:nvPr/>
          </p:nvSpPr>
          <p:spPr bwMode="auto">
            <a:xfrm>
              <a:off x="1207" y="1627"/>
              <a:ext cx="441"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zh-CN" altLang="en-US" sz="1800">
                  <a:solidFill>
                    <a:schemeClr val="tx1"/>
                  </a:solidFill>
                  <a:latin typeface="华文中宋" panose="02010600040101010101" pitchFamily="2" charset="-122"/>
                  <a:ea typeface="华文中宋" panose="02010600040101010101" pitchFamily="2" charset="-122"/>
                </a:rPr>
                <a:t>输入</a:t>
              </a:r>
            </a:p>
          </p:txBody>
        </p:sp>
        <p:sp>
          <p:nvSpPr>
            <p:cNvPr id="123938" name="Text Box 54">
              <a:extLst>
                <a:ext uri="{FF2B5EF4-FFF2-40B4-BE49-F238E27FC236}">
                  <a16:creationId xmlns:a16="http://schemas.microsoft.com/office/drawing/2014/main" id="{96CD52EA-5A8B-2225-2727-DA0A5C51E873}"/>
                </a:ext>
              </a:extLst>
            </p:cNvPr>
            <p:cNvSpPr txBox="1">
              <a:spLocks noChangeArrowheads="1"/>
            </p:cNvSpPr>
            <p:nvPr/>
          </p:nvSpPr>
          <p:spPr bwMode="auto">
            <a:xfrm>
              <a:off x="4143" y="1383"/>
              <a:ext cx="441"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zh-CN" altLang="en-US" sz="1800">
                  <a:solidFill>
                    <a:schemeClr val="tx1"/>
                  </a:solidFill>
                  <a:latin typeface="华文中宋" panose="02010600040101010101" pitchFamily="2" charset="-122"/>
                  <a:ea typeface="华文中宋" panose="02010600040101010101" pitchFamily="2" charset="-122"/>
                </a:rPr>
                <a:t>输出</a:t>
              </a:r>
            </a:p>
          </p:txBody>
        </p:sp>
        <p:sp>
          <p:nvSpPr>
            <p:cNvPr id="123939" name="Text Box 55">
              <a:extLst>
                <a:ext uri="{FF2B5EF4-FFF2-40B4-BE49-F238E27FC236}">
                  <a16:creationId xmlns:a16="http://schemas.microsoft.com/office/drawing/2014/main" id="{B4A128C3-D473-805C-D405-9BCBE265A3AB}"/>
                </a:ext>
              </a:extLst>
            </p:cNvPr>
            <p:cNvSpPr txBox="1">
              <a:spLocks noChangeArrowheads="1"/>
            </p:cNvSpPr>
            <p:nvPr/>
          </p:nvSpPr>
          <p:spPr bwMode="auto">
            <a:xfrm>
              <a:off x="3464" y="2195"/>
              <a:ext cx="64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zh-CN" altLang="en-US" sz="1800">
                  <a:solidFill>
                    <a:schemeClr val="tx1"/>
                  </a:solidFill>
                  <a:latin typeface="华文中宋" panose="02010600040101010101" pitchFamily="2" charset="-122"/>
                  <a:ea typeface="华文中宋" panose="02010600040101010101" pitchFamily="2" charset="-122"/>
                </a:rPr>
                <a:t>修正校正子</a:t>
              </a:r>
            </a:p>
          </p:txBody>
        </p:sp>
        <p:sp>
          <p:nvSpPr>
            <p:cNvPr id="123940" name="Text Box 56">
              <a:extLst>
                <a:ext uri="{FF2B5EF4-FFF2-40B4-BE49-F238E27FC236}">
                  <a16:creationId xmlns:a16="http://schemas.microsoft.com/office/drawing/2014/main" id="{EFA7EAFB-E257-F04A-70BC-FC5A69EE42A4}"/>
                </a:ext>
              </a:extLst>
            </p:cNvPr>
            <p:cNvSpPr txBox="1">
              <a:spLocks noChangeArrowheads="1"/>
            </p:cNvSpPr>
            <p:nvPr/>
          </p:nvSpPr>
          <p:spPr bwMode="auto">
            <a:xfrm>
              <a:off x="1686" y="1366"/>
              <a:ext cx="41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zh-CN" altLang="en-US" sz="1800">
                  <a:solidFill>
                    <a:schemeClr val="tx1"/>
                  </a:solidFill>
                  <a:latin typeface="华文中宋" panose="02010600040101010101" pitchFamily="2" charset="-122"/>
                  <a:ea typeface="华文中宋" panose="02010600040101010101" pitchFamily="2" charset="-122"/>
                </a:rPr>
                <a:t>信息位</a:t>
              </a:r>
            </a:p>
          </p:txBody>
        </p:sp>
        <p:sp>
          <p:nvSpPr>
            <p:cNvPr id="123941" name="Text Box 57">
              <a:extLst>
                <a:ext uri="{FF2B5EF4-FFF2-40B4-BE49-F238E27FC236}">
                  <a16:creationId xmlns:a16="http://schemas.microsoft.com/office/drawing/2014/main" id="{73AA68B5-0305-35EB-AB57-7D473A7C7F8B}"/>
                </a:ext>
              </a:extLst>
            </p:cNvPr>
            <p:cNvSpPr txBox="1">
              <a:spLocks noChangeArrowheads="1"/>
            </p:cNvSpPr>
            <p:nvPr/>
          </p:nvSpPr>
          <p:spPr bwMode="auto">
            <a:xfrm>
              <a:off x="1702" y="2078"/>
              <a:ext cx="411"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zh-CN" altLang="en-US" sz="1800">
                  <a:solidFill>
                    <a:schemeClr val="tx1"/>
                  </a:solidFill>
                  <a:latin typeface="华文中宋" panose="02010600040101010101" pitchFamily="2" charset="-122"/>
                  <a:ea typeface="华文中宋" panose="02010600040101010101" pitchFamily="2" charset="-122"/>
                </a:rPr>
                <a:t>监督位</a:t>
              </a:r>
            </a:p>
          </p:txBody>
        </p:sp>
      </p:grpSp>
      <p:sp>
        <p:nvSpPr>
          <p:cNvPr id="60" name="矩形 59">
            <a:extLst>
              <a:ext uri="{FF2B5EF4-FFF2-40B4-BE49-F238E27FC236}">
                <a16:creationId xmlns:a16="http://schemas.microsoft.com/office/drawing/2014/main" id="{1673FA05-2707-5CE6-DDFB-F6C59D35D05A}"/>
              </a:ext>
            </a:extLst>
          </p:cNvPr>
          <p:cNvSpPr/>
          <p:nvPr/>
        </p:nvSpPr>
        <p:spPr>
          <a:xfrm>
            <a:off x="642938" y="465138"/>
            <a:ext cx="3368675" cy="534987"/>
          </a:xfrm>
          <a:prstGeom prst="rect">
            <a:avLst/>
          </a:prstGeom>
        </p:spPr>
        <p:txBody>
          <a:bodyPr>
            <a:spAutoFit/>
          </a:bodyPr>
          <a:lstStyle/>
          <a:p>
            <a:pPr marL="228600" indent="-228600">
              <a:lnSpc>
                <a:spcPct val="90000"/>
              </a:lnSpc>
              <a:spcBef>
                <a:spcPct val="20000"/>
              </a:spcBef>
              <a:buClr>
                <a:srgbClr val="FF0000"/>
              </a:buClr>
              <a:buSzPct val="75000"/>
              <a:defRPr/>
            </a:pPr>
            <a:r>
              <a:rPr kumimoji="0" lang="en-US" altLang="zh-CN" sz="3200" u="sng" kern="0" dirty="0">
                <a:solidFill>
                  <a:srgbClr val="FF0000"/>
                </a:solidFill>
                <a:latin typeface="Arial" pitchFamily="34" charset="0"/>
                <a:ea typeface="黑体" pitchFamily="2" charset="-122"/>
                <a:cs typeface="Arial" pitchFamily="34" charset="0"/>
              </a:rPr>
              <a:t>1</a:t>
            </a:r>
            <a:r>
              <a:rPr kumimoji="0" lang="zh-CN" altLang="en-US" sz="3200" kern="0" dirty="0">
                <a:solidFill>
                  <a:srgbClr val="000000"/>
                </a:solidFill>
                <a:latin typeface="黑体" pitchFamily="2" charset="-122"/>
                <a:ea typeface="黑体" pitchFamily="2" charset="-122"/>
              </a:rPr>
              <a:t> 大数逻辑解码</a:t>
            </a:r>
          </a:p>
        </p:txBody>
      </p:sp>
      <p:sp>
        <p:nvSpPr>
          <p:cNvPr id="61" name="矩形 60">
            <a:extLst>
              <a:ext uri="{FF2B5EF4-FFF2-40B4-BE49-F238E27FC236}">
                <a16:creationId xmlns:a16="http://schemas.microsoft.com/office/drawing/2014/main" id="{77DA850C-277F-BDD8-F36E-6EC865D81AC0}"/>
              </a:ext>
            </a:extLst>
          </p:cNvPr>
          <p:cNvSpPr/>
          <p:nvPr/>
        </p:nvSpPr>
        <p:spPr>
          <a:xfrm>
            <a:off x="857250" y="1203325"/>
            <a:ext cx="2286000" cy="425450"/>
          </a:xfrm>
          <a:prstGeom prst="rect">
            <a:avLst/>
          </a:prstGeom>
        </p:spPr>
        <p:txBody>
          <a:bodyPr>
            <a:spAutoFit/>
          </a:bodyPr>
          <a:lstStyle/>
          <a:p>
            <a:pPr marL="228600" indent="-228600">
              <a:lnSpc>
                <a:spcPct val="90000"/>
              </a:lnSpc>
              <a:spcBef>
                <a:spcPct val="20000"/>
              </a:spcBef>
              <a:buClr>
                <a:srgbClr val="0000CC"/>
              </a:buClr>
              <a:buSzPct val="65000"/>
              <a:defRPr/>
            </a:pPr>
            <a:r>
              <a:rPr kumimoji="0" lang="zh-CN" altLang="en-US" sz="2400" kern="0" dirty="0">
                <a:solidFill>
                  <a:srgbClr val="003399"/>
                </a:solidFill>
                <a:latin typeface="微软雅黑" pitchFamily="34" charset="-122"/>
                <a:ea typeface="微软雅黑" pitchFamily="34" charset="-122"/>
              </a:rPr>
              <a:t>  工作原理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wipe(up)">
                                      <p:cBhvr>
                                        <p:cTn id="7" dur="1000"/>
                                        <p:tgtEl>
                                          <p:spTgt spid="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1"/>
                                        </p:tgtEl>
                                        <p:attrNameLst>
                                          <p:attrName>style.visibility</p:attrName>
                                        </p:attrNameLst>
                                      </p:cBhvr>
                                      <p:to>
                                        <p:strVal val="visible"/>
                                      </p:to>
                                    </p:set>
                                    <p:animEffect transition="in" filter="wipe(up)">
                                      <p:cBhvr>
                                        <p:cTn id="12" dur="1000"/>
                                        <p:tgtEl>
                                          <p:spTgt spid="61"/>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up)">
                                      <p:cBhvr>
                                        <p:cTn id="16" dur="10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122883">
                                            <p:txEl>
                                              <p:pRg st="0" end="0"/>
                                            </p:txEl>
                                          </p:spTgt>
                                        </p:tgtEl>
                                        <p:attrNameLst>
                                          <p:attrName>style.visibility</p:attrName>
                                        </p:attrNameLst>
                                      </p:cBhvr>
                                      <p:to>
                                        <p:strVal val="visible"/>
                                      </p:to>
                                    </p:set>
                                    <p:animEffect transition="in" filter="wipe(up)">
                                      <p:cBhvr>
                                        <p:cTn id="21" dur="1000"/>
                                        <p:tgtEl>
                                          <p:spTgt spid="122883">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122883">
                                            <p:txEl>
                                              <p:pRg st="1" end="1"/>
                                            </p:txEl>
                                          </p:spTgt>
                                        </p:tgtEl>
                                        <p:attrNameLst>
                                          <p:attrName>style.visibility</p:attrName>
                                        </p:attrNameLst>
                                      </p:cBhvr>
                                      <p:to>
                                        <p:strVal val="visible"/>
                                      </p:to>
                                    </p:set>
                                    <p:animEffect transition="in" filter="wipe(up)">
                                      <p:cBhvr>
                                        <p:cTn id="26" dur="1000"/>
                                        <p:tgtEl>
                                          <p:spTgt spid="122883">
                                            <p:txEl>
                                              <p:pRg st="1" end="1"/>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122883">
                                            <p:txEl>
                                              <p:pRg st="2" end="2"/>
                                            </p:txEl>
                                          </p:spTgt>
                                        </p:tgtEl>
                                        <p:attrNameLst>
                                          <p:attrName>style.visibility</p:attrName>
                                        </p:attrNameLst>
                                      </p:cBhvr>
                                      <p:to>
                                        <p:strVal val="visible"/>
                                      </p:to>
                                    </p:set>
                                    <p:animEffect transition="in" filter="wipe(up)">
                                      <p:cBhvr>
                                        <p:cTn id="31" dur="1000"/>
                                        <p:tgtEl>
                                          <p:spTgt spid="122883">
                                            <p:txEl>
                                              <p:pRg st="2" end="2"/>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122883">
                                            <p:txEl>
                                              <p:pRg st="3" end="3"/>
                                            </p:txEl>
                                          </p:spTgt>
                                        </p:tgtEl>
                                        <p:attrNameLst>
                                          <p:attrName>style.visibility</p:attrName>
                                        </p:attrNameLst>
                                      </p:cBhvr>
                                      <p:to>
                                        <p:strVal val="visible"/>
                                      </p:to>
                                    </p:set>
                                    <p:animEffect transition="in" filter="wipe(up)">
                                      <p:cBhvr>
                                        <p:cTn id="36" dur="1000"/>
                                        <p:tgtEl>
                                          <p:spTgt spid="122883">
                                            <p:txEl>
                                              <p:pRg st="3" end="3"/>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nodeType="clickEffect">
                                  <p:stCondLst>
                                    <p:cond delay="0"/>
                                  </p:stCondLst>
                                  <p:childTnLst>
                                    <p:set>
                                      <p:cBhvr>
                                        <p:cTn id="40" dur="1" fill="hold">
                                          <p:stCondLst>
                                            <p:cond delay="0"/>
                                          </p:stCondLst>
                                        </p:cTn>
                                        <p:tgtEl>
                                          <p:spTgt spid="122883">
                                            <p:txEl>
                                              <p:pRg st="4" end="4"/>
                                            </p:txEl>
                                          </p:spTgt>
                                        </p:tgtEl>
                                        <p:attrNameLst>
                                          <p:attrName>style.visibility</p:attrName>
                                        </p:attrNameLst>
                                      </p:cBhvr>
                                      <p:to>
                                        <p:strVal val="visible"/>
                                      </p:to>
                                    </p:set>
                                    <p:animEffect transition="in" filter="wipe(up)">
                                      <p:cBhvr>
                                        <p:cTn id="41" dur="1000"/>
                                        <p:tgtEl>
                                          <p:spTgt spid="1228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1"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Rectangle 3">
            <a:extLst>
              <a:ext uri="{FF2B5EF4-FFF2-40B4-BE49-F238E27FC236}">
                <a16:creationId xmlns:a16="http://schemas.microsoft.com/office/drawing/2014/main" id="{CE9DFA71-6B27-8505-87E1-EC3E55D46B69}"/>
              </a:ext>
            </a:extLst>
          </p:cNvPr>
          <p:cNvSpPr>
            <a:spLocks noGrp="1" noChangeArrowheads="1"/>
          </p:cNvSpPr>
          <p:nvPr>
            <p:ph type="body" idx="1"/>
          </p:nvPr>
        </p:nvSpPr>
        <p:spPr>
          <a:xfrm>
            <a:off x="928688" y="1143000"/>
            <a:ext cx="7643812" cy="1000125"/>
          </a:xfrm>
        </p:spPr>
        <p:txBody>
          <a:bodyPr/>
          <a:lstStyle/>
          <a:p>
            <a:pPr eaLnBrk="1" hangingPunct="1">
              <a:lnSpc>
                <a:spcPct val="150000"/>
              </a:lnSpc>
              <a:buFont typeface="Wingdings" panose="05000000000000000000" pitchFamily="2" charset="2"/>
              <a:buNone/>
            </a:pPr>
            <a:r>
              <a:rPr lang="zh-CN" altLang="en-US" sz="2000">
                <a:latin typeface="微软雅黑" panose="020B0503020204020204" pitchFamily="34" charset="-122"/>
                <a:ea typeface="微软雅黑" panose="020B0503020204020204" pitchFamily="34" charset="-122"/>
              </a:rPr>
              <a:t>这里的错码检测是采用二进制码的大数逻辑解码算法。它利用一组</a:t>
            </a:r>
            <a:endParaRPr lang="en-US" altLang="zh-CN" sz="2000">
              <a:latin typeface="微软雅黑" panose="020B0503020204020204" pitchFamily="34" charset="-122"/>
              <a:ea typeface="微软雅黑" panose="020B0503020204020204" pitchFamily="34" charset="-122"/>
            </a:endParaRPr>
          </a:p>
          <a:p>
            <a:pPr eaLnBrk="1" hangingPunct="1">
              <a:lnSpc>
                <a:spcPct val="150000"/>
              </a:lnSpc>
              <a:buFont typeface="Wingdings" panose="05000000000000000000" pitchFamily="2" charset="2"/>
              <a:buNone/>
            </a:pPr>
            <a:r>
              <a:rPr lang="zh-CN" altLang="en-US" sz="2000">
                <a:latin typeface="微软雅黑" panose="020B0503020204020204" pitchFamily="34" charset="-122"/>
                <a:ea typeface="微软雅黑" panose="020B0503020204020204" pitchFamily="34" charset="-122"/>
              </a:rPr>
              <a:t>“</a:t>
            </a:r>
            <a:r>
              <a:rPr lang="zh-CN" altLang="en-US" sz="2000">
                <a:solidFill>
                  <a:srgbClr val="0000CC"/>
                </a:solidFill>
                <a:latin typeface="微软雅黑" panose="020B0503020204020204" pitchFamily="34" charset="-122"/>
                <a:ea typeface="微软雅黑" panose="020B0503020204020204" pitchFamily="34" charset="-122"/>
              </a:rPr>
              <a:t>正交</a:t>
            </a:r>
            <a:r>
              <a:rPr lang="zh-CN" altLang="en-US" sz="2000">
                <a:latin typeface="微软雅黑" panose="020B0503020204020204" pitchFamily="34" charset="-122"/>
                <a:ea typeface="微软雅黑" panose="020B0503020204020204" pitchFamily="34" charset="-122"/>
              </a:rPr>
              <a:t>”校验方程进行计算。</a:t>
            </a:r>
          </a:p>
        </p:txBody>
      </p:sp>
      <p:sp>
        <p:nvSpPr>
          <p:cNvPr id="6" name="Rectangle 3">
            <a:extLst>
              <a:ext uri="{FF2B5EF4-FFF2-40B4-BE49-F238E27FC236}">
                <a16:creationId xmlns:a16="http://schemas.microsoft.com/office/drawing/2014/main" id="{631E8150-EF19-219D-AC21-57D5D640678E}"/>
              </a:ext>
            </a:extLst>
          </p:cNvPr>
          <p:cNvSpPr txBox="1">
            <a:spLocks noChangeArrowheads="1"/>
          </p:cNvSpPr>
          <p:nvPr/>
        </p:nvSpPr>
        <p:spPr bwMode="auto">
          <a:xfrm>
            <a:off x="857250" y="2571750"/>
            <a:ext cx="7572375" cy="2214563"/>
          </a:xfrm>
          <a:prstGeom prst="rect">
            <a:avLst/>
          </a:prstGeom>
          <a:noFill/>
          <a:ln w="9525">
            <a:noFill/>
            <a:miter lim="800000"/>
            <a:headEnd/>
            <a:tailEnd/>
          </a:ln>
        </p:spPr>
        <p:txBody>
          <a:bodyPr/>
          <a:lstStyle/>
          <a:p>
            <a:pPr marL="342900" indent="-342900">
              <a:lnSpc>
                <a:spcPct val="150000"/>
              </a:lnSpc>
              <a:spcBef>
                <a:spcPct val="20000"/>
              </a:spcBef>
              <a:buClr>
                <a:schemeClr val="folHlink"/>
              </a:buClr>
              <a:buSzPct val="60000"/>
              <a:buFont typeface="Wingdings" pitchFamily="2" charset="2"/>
              <a:buNone/>
              <a:defRPr/>
            </a:pPr>
            <a:r>
              <a:rPr kumimoji="0" lang="zh-CN" altLang="en-US" sz="2000" b="0" kern="0" dirty="0">
                <a:solidFill>
                  <a:schemeClr val="tx1"/>
                </a:solidFill>
                <a:latin typeface="微软雅黑" pitchFamily="34" charset="-122"/>
                <a:ea typeface="微软雅黑" pitchFamily="34" charset="-122"/>
              </a:rPr>
              <a:t>这里的“</a:t>
            </a:r>
            <a:r>
              <a:rPr kumimoji="0" lang="zh-CN" altLang="en-US" sz="2000" kern="0" dirty="0">
                <a:solidFill>
                  <a:srgbClr val="0000CC"/>
                </a:solidFill>
                <a:latin typeface="微软雅黑" pitchFamily="34" charset="-122"/>
                <a:ea typeface="微软雅黑" pitchFamily="34" charset="-122"/>
              </a:rPr>
              <a:t>正交</a:t>
            </a:r>
            <a:r>
              <a:rPr kumimoji="0" lang="zh-CN" altLang="en-US" sz="2000" b="0" kern="0" dirty="0">
                <a:solidFill>
                  <a:schemeClr val="tx1"/>
                </a:solidFill>
                <a:latin typeface="微软雅黑" pitchFamily="34" charset="-122"/>
                <a:ea typeface="微软雅黑" pitchFamily="34" charset="-122"/>
              </a:rPr>
              <a:t>” 定义：若被校验的那个信息位出现在校验方程组</a:t>
            </a:r>
            <a:endParaRPr kumimoji="0" lang="en-US" altLang="zh-CN" sz="2000" b="0" kern="0" dirty="0">
              <a:solidFill>
                <a:schemeClr val="tx1"/>
              </a:solidFill>
              <a:latin typeface="微软雅黑" pitchFamily="34" charset="-122"/>
              <a:ea typeface="微软雅黑" pitchFamily="34" charset="-122"/>
            </a:endParaRPr>
          </a:p>
          <a:p>
            <a:pPr marL="342900" indent="-342900">
              <a:lnSpc>
                <a:spcPct val="150000"/>
              </a:lnSpc>
              <a:spcBef>
                <a:spcPct val="20000"/>
              </a:spcBef>
              <a:buClr>
                <a:schemeClr val="folHlink"/>
              </a:buClr>
              <a:buSzPct val="60000"/>
              <a:buFont typeface="Wingdings" pitchFamily="2" charset="2"/>
              <a:buNone/>
              <a:defRPr/>
            </a:pPr>
            <a:r>
              <a:rPr kumimoji="0" lang="zh-CN" altLang="en-US" sz="2000" b="0" kern="0" dirty="0">
                <a:solidFill>
                  <a:schemeClr val="tx1"/>
                </a:solidFill>
                <a:latin typeface="微软雅黑" pitchFamily="34" charset="-122"/>
                <a:ea typeface="微软雅黑" pitchFamily="34" charset="-122"/>
              </a:rPr>
              <a:t>的每一个方程中，而其他的信息位至多在一个方程中出现，则称这</a:t>
            </a:r>
            <a:endParaRPr kumimoji="0" lang="en-US" altLang="zh-CN" sz="2000" b="0" kern="0" dirty="0">
              <a:solidFill>
                <a:schemeClr val="tx1"/>
              </a:solidFill>
              <a:latin typeface="微软雅黑" pitchFamily="34" charset="-122"/>
              <a:ea typeface="微软雅黑" pitchFamily="34" charset="-122"/>
            </a:endParaRPr>
          </a:p>
          <a:p>
            <a:pPr marL="342900" indent="-342900">
              <a:lnSpc>
                <a:spcPct val="150000"/>
              </a:lnSpc>
              <a:spcBef>
                <a:spcPct val="20000"/>
              </a:spcBef>
              <a:buClr>
                <a:schemeClr val="folHlink"/>
              </a:buClr>
              <a:buSzPct val="60000"/>
              <a:buFont typeface="Wingdings" pitchFamily="2" charset="2"/>
              <a:buNone/>
              <a:defRPr/>
            </a:pPr>
            <a:r>
              <a:rPr kumimoji="0" lang="zh-CN" altLang="en-US" sz="2000" b="0" kern="0" dirty="0">
                <a:solidFill>
                  <a:schemeClr val="tx1"/>
                </a:solidFill>
                <a:latin typeface="微软雅黑" pitchFamily="34" charset="-122"/>
                <a:ea typeface="微软雅黑" pitchFamily="34" charset="-122"/>
              </a:rPr>
              <a:t>组方程为正交校验方程。这样就可以根据被错码影响了的方程数目</a:t>
            </a:r>
            <a:endParaRPr kumimoji="0" lang="en-US" altLang="zh-CN" sz="2000" b="0" kern="0" dirty="0">
              <a:solidFill>
                <a:schemeClr val="tx1"/>
              </a:solidFill>
              <a:latin typeface="微软雅黑" pitchFamily="34" charset="-122"/>
              <a:ea typeface="微软雅黑" pitchFamily="34" charset="-122"/>
            </a:endParaRPr>
          </a:p>
          <a:p>
            <a:pPr marL="342900" indent="-342900">
              <a:lnSpc>
                <a:spcPct val="150000"/>
              </a:lnSpc>
              <a:spcBef>
                <a:spcPct val="20000"/>
              </a:spcBef>
              <a:buClr>
                <a:schemeClr val="folHlink"/>
              </a:buClr>
              <a:buSzPct val="60000"/>
              <a:buFont typeface="Wingdings" pitchFamily="2" charset="2"/>
              <a:buNone/>
              <a:defRPr/>
            </a:pPr>
            <a:r>
              <a:rPr kumimoji="0" lang="zh-CN" altLang="en-US" sz="2000" b="0" kern="0" dirty="0">
                <a:solidFill>
                  <a:schemeClr val="tx1"/>
                </a:solidFill>
                <a:latin typeface="微软雅黑" pitchFamily="34" charset="-122"/>
                <a:ea typeface="微软雅黑" pitchFamily="34" charset="-122"/>
              </a:rPr>
              <a:t>在方程组中是否占多数来判断该信息位是否错了。</a:t>
            </a:r>
          </a:p>
        </p:txBody>
      </p:sp>
      <p:sp>
        <p:nvSpPr>
          <p:cNvPr id="7" name="矩形 6">
            <a:extLst>
              <a:ext uri="{FF2B5EF4-FFF2-40B4-BE49-F238E27FC236}">
                <a16:creationId xmlns:a16="http://schemas.microsoft.com/office/drawing/2014/main" id="{F5DEE180-E2DE-9B48-0CFC-BAB23A342D48}"/>
              </a:ext>
            </a:extLst>
          </p:cNvPr>
          <p:cNvSpPr/>
          <p:nvPr/>
        </p:nvSpPr>
        <p:spPr>
          <a:xfrm>
            <a:off x="928688" y="5357813"/>
            <a:ext cx="7429500" cy="500062"/>
          </a:xfrm>
          <a:prstGeom prst="rect">
            <a:avLst/>
          </a:prstGeom>
        </p:spPr>
        <p:txBody>
          <a:bodyPr>
            <a:spAutoFit/>
          </a:bodyPr>
          <a:lstStyle/>
          <a:p>
            <a:pPr marL="342900" indent="-342900">
              <a:lnSpc>
                <a:spcPct val="150000"/>
              </a:lnSpc>
              <a:spcBef>
                <a:spcPct val="20000"/>
              </a:spcBef>
              <a:buClr>
                <a:srgbClr val="3333CC"/>
              </a:buClr>
              <a:buSzPct val="60000"/>
              <a:defRPr/>
            </a:pPr>
            <a:r>
              <a:rPr kumimoji="0" lang="zh-CN" altLang="en-US" sz="2000" b="0" kern="0" dirty="0">
                <a:solidFill>
                  <a:srgbClr val="000000"/>
                </a:solidFill>
                <a:latin typeface="微软雅黑" pitchFamily="34" charset="-122"/>
                <a:ea typeface="微软雅黑" pitchFamily="34" charset="-122"/>
              </a:rPr>
              <a:t>下面将用一个实例来具体讲述这一过程。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23907">
                                            <p:txEl>
                                              <p:pRg st="0" end="0"/>
                                            </p:txEl>
                                          </p:spTgt>
                                        </p:tgtEl>
                                        <p:attrNameLst>
                                          <p:attrName>style.visibility</p:attrName>
                                        </p:attrNameLst>
                                      </p:cBhvr>
                                      <p:to>
                                        <p:strVal val="visible"/>
                                      </p:to>
                                    </p:set>
                                    <p:animEffect transition="in" filter="wipe(up)">
                                      <p:cBhvr>
                                        <p:cTn id="7" dur="1000"/>
                                        <p:tgtEl>
                                          <p:spTgt spid="123907">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123907">
                                            <p:txEl>
                                              <p:pRg st="1" end="1"/>
                                            </p:txEl>
                                          </p:spTgt>
                                        </p:tgtEl>
                                        <p:attrNameLst>
                                          <p:attrName>style.visibility</p:attrName>
                                        </p:attrNameLst>
                                      </p:cBhvr>
                                      <p:to>
                                        <p:strVal val="visible"/>
                                      </p:to>
                                    </p:set>
                                    <p:animEffect transition="in" filter="wipe(up)">
                                      <p:cBhvr>
                                        <p:cTn id="11" dur="1000"/>
                                        <p:tgtEl>
                                          <p:spTgt spid="123907">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Effect transition="in" filter="wipe(up)">
                                      <p:cBhvr>
                                        <p:cTn id="16" dur="1000"/>
                                        <p:tgtEl>
                                          <p:spTgt spid="6">
                                            <p:txEl>
                                              <p:pRg st="0" end="0"/>
                                            </p:txEl>
                                          </p:spTgt>
                                        </p:tgtEl>
                                      </p:cBhvr>
                                    </p:animEffect>
                                  </p:childTnLst>
                                </p:cTn>
                              </p:par>
                            </p:childTnLst>
                          </p:cTn>
                        </p:par>
                        <p:par>
                          <p:cTn id="17" fill="hold" nodeType="afterGroup">
                            <p:stCondLst>
                              <p:cond delay="1000"/>
                            </p:stCondLst>
                            <p:childTnLst>
                              <p:par>
                                <p:cTn id="18" presetID="22" presetClass="entr" presetSubtype="1" fill="hold" nodeType="after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wipe(up)">
                                      <p:cBhvr>
                                        <p:cTn id="20" dur="1000"/>
                                        <p:tgtEl>
                                          <p:spTgt spid="6">
                                            <p:txEl>
                                              <p:pRg st="1" end="1"/>
                                            </p:txEl>
                                          </p:spTgt>
                                        </p:tgtEl>
                                      </p:cBhvr>
                                    </p:animEffect>
                                  </p:childTnLst>
                                </p:cTn>
                              </p:par>
                            </p:childTnLst>
                          </p:cTn>
                        </p:par>
                        <p:par>
                          <p:cTn id="21" fill="hold" nodeType="afterGroup">
                            <p:stCondLst>
                              <p:cond delay="2000"/>
                            </p:stCondLst>
                            <p:childTnLst>
                              <p:par>
                                <p:cTn id="22" presetID="22" presetClass="entr" presetSubtype="1" fill="hold" nodeType="afterEffect">
                                  <p:stCondLst>
                                    <p:cond delay="0"/>
                                  </p:stCondLst>
                                  <p:childTnLst>
                                    <p:set>
                                      <p:cBhvr>
                                        <p:cTn id="23" dur="1" fill="hold">
                                          <p:stCondLst>
                                            <p:cond delay="0"/>
                                          </p:stCondLst>
                                        </p:cTn>
                                        <p:tgtEl>
                                          <p:spTgt spid="6">
                                            <p:txEl>
                                              <p:pRg st="2" end="2"/>
                                            </p:txEl>
                                          </p:spTgt>
                                        </p:tgtEl>
                                        <p:attrNameLst>
                                          <p:attrName>style.visibility</p:attrName>
                                        </p:attrNameLst>
                                      </p:cBhvr>
                                      <p:to>
                                        <p:strVal val="visible"/>
                                      </p:to>
                                    </p:set>
                                    <p:animEffect transition="in" filter="wipe(up)">
                                      <p:cBhvr>
                                        <p:cTn id="24" dur="1000"/>
                                        <p:tgtEl>
                                          <p:spTgt spid="6">
                                            <p:txEl>
                                              <p:pRg st="2" end="2"/>
                                            </p:txEl>
                                          </p:spTgt>
                                        </p:tgtEl>
                                      </p:cBhvr>
                                    </p:animEffect>
                                  </p:childTnLst>
                                </p:cTn>
                              </p:par>
                            </p:childTnLst>
                          </p:cTn>
                        </p:par>
                        <p:par>
                          <p:cTn id="25" fill="hold" nodeType="afterGroup">
                            <p:stCondLst>
                              <p:cond delay="3000"/>
                            </p:stCondLst>
                            <p:childTnLst>
                              <p:par>
                                <p:cTn id="26" presetID="22" presetClass="entr" presetSubtype="1" fill="hold" nodeType="after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wipe(up)">
                                      <p:cBhvr>
                                        <p:cTn id="28" dur="1000"/>
                                        <p:tgtEl>
                                          <p:spTgt spid="6">
                                            <p:txEl>
                                              <p:pRg st="3" end="3"/>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up)">
                                      <p:cBhvr>
                                        <p:cTn id="33"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Rectangle 3">
            <a:extLst>
              <a:ext uri="{FF2B5EF4-FFF2-40B4-BE49-F238E27FC236}">
                <a16:creationId xmlns:a16="http://schemas.microsoft.com/office/drawing/2014/main" id="{AE176EB5-4CDF-BD27-DD50-00EBE8CF59E4}"/>
              </a:ext>
            </a:extLst>
          </p:cNvPr>
          <p:cNvSpPr>
            <a:spLocks noGrp="1" noChangeArrowheads="1"/>
          </p:cNvSpPr>
          <p:nvPr>
            <p:ph type="body" idx="1"/>
          </p:nvPr>
        </p:nvSpPr>
        <p:spPr>
          <a:xfrm>
            <a:off x="1643063" y="3429000"/>
            <a:ext cx="3214687" cy="3214688"/>
          </a:xfrm>
        </p:spPr>
        <p:txBody>
          <a:bodyPr/>
          <a:lstStyle/>
          <a:p>
            <a:pPr eaLnBrk="1" hangingPunct="1">
              <a:buFont typeface="Wingdings" panose="05000000000000000000" pitchFamily="2" charset="2"/>
              <a:buNone/>
            </a:pPr>
            <a:r>
              <a:rPr lang="en-US" altLang="zh-CN" sz="2400" i="1">
                <a:latin typeface="Arial" panose="020B0604020202020204" pitchFamily="34" charset="0"/>
                <a:ea typeface="微软雅黑" panose="020B0503020204020204" pitchFamily="34" charset="-122"/>
                <a:cs typeface="Arial" panose="020B0604020202020204" pitchFamily="34" charset="0"/>
              </a:rPr>
              <a:t>c</a:t>
            </a:r>
            <a:r>
              <a:rPr lang="en-US" altLang="zh-CN" sz="2400" baseline="-25000">
                <a:latin typeface="Arial" panose="020B0604020202020204" pitchFamily="34" charset="0"/>
                <a:ea typeface="微软雅黑" panose="020B0503020204020204" pitchFamily="34" charset="-122"/>
                <a:cs typeface="Arial" panose="020B0604020202020204" pitchFamily="34" charset="0"/>
              </a:rPr>
              <a:t>1</a:t>
            </a:r>
            <a:r>
              <a:rPr lang="en-US" altLang="zh-CN" sz="2400">
                <a:latin typeface="Arial" panose="020B0604020202020204" pitchFamily="34" charset="0"/>
                <a:ea typeface="微软雅黑" panose="020B0503020204020204" pitchFamily="34" charset="-122"/>
                <a:cs typeface="Arial" panose="020B0604020202020204" pitchFamily="34" charset="0"/>
              </a:rPr>
              <a:t> = </a:t>
            </a:r>
            <a:r>
              <a:rPr lang="en-US" altLang="zh-CN" sz="2400" i="1">
                <a:latin typeface="Arial" panose="020B0604020202020204" pitchFamily="34" charset="0"/>
                <a:ea typeface="微软雅黑" panose="020B0503020204020204" pitchFamily="34" charset="-122"/>
                <a:cs typeface="Arial" panose="020B0604020202020204" pitchFamily="34" charset="0"/>
              </a:rPr>
              <a:t>b</a:t>
            </a:r>
            <a:r>
              <a:rPr lang="en-US" altLang="zh-CN" sz="2400" baseline="-25000">
                <a:latin typeface="Arial" panose="020B0604020202020204" pitchFamily="34" charset="0"/>
                <a:ea typeface="微软雅黑" panose="020B0503020204020204" pitchFamily="34" charset="-122"/>
                <a:cs typeface="Arial" panose="020B0604020202020204" pitchFamily="34" charset="0"/>
              </a:rPr>
              <a:t>1</a:t>
            </a:r>
          </a:p>
          <a:p>
            <a:pPr eaLnBrk="1" hangingPunct="1">
              <a:buFont typeface="Wingdings" panose="05000000000000000000" pitchFamily="2" charset="2"/>
              <a:buNone/>
            </a:pPr>
            <a:r>
              <a:rPr lang="en-US" altLang="zh-CN" sz="2400" i="1">
                <a:latin typeface="Arial" panose="020B0604020202020204" pitchFamily="34" charset="0"/>
                <a:ea typeface="微软雅黑" panose="020B0503020204020204" pitchFamily="34" charset="-122"/>
                <a:cs typeface="Arial" panose="020B0604020202020204" pitchFamily="34" charset="0"/>
              </a:rPr>
              <a:t>c</a:t>
            </a:r>
            <a:r>
              <a:rPr lang="en-US" altLang="zh-CN" sz="2400" baseline="-25000">
                <a:latin typeface="Arial" panose="020B0604020202020204" pitchFamily="34" charset="0"/>
                <a:ea typeface="微软雅黑" panose="020B0503020204020204" pitchFamily="34" charset="-122"/>
                <a:cs typeface="Arial" panose="020B0604020202020204" pitchFamily="34" charset="0"/>
              </a:rPr>
              <a:t>2</a:t>
            </a:r>
            <a:r>
              <a:rPr lang="en-US" altLang="zh-CN" sz="2400">
                <a:latin typeface="Arial" panose="020B0604020202020204" pitchFamily="34" charset="0"/>
                <a:ea typeface="微软雅黑" panose="020B0503020204020204" pitchFamily="34" charset="-122"/>
                <a:cs typeface="Arial" panose="020B0604020202020204" pitchFamily="34" charset="0"/>
              </a:rPr>
              <a:t> = </a:t>
            </a:r>
            <a:r>
              <a:rPr lang="en-US" altLang="zh-CN" sz="2400" i="1">
                <a:latin typeface="Arial" panose="020B0604020202020204" pitchFamily="34" charset="0"/>
                <a:ea typeface="微软雅黑" panose="020B0503020204020204" pitchFamily="34" charset="-122"/>
                <a:cs typeface="Arial" panose="020B0604020202020204" pitchFamily="34" charset="0"/>
              </a:rPr>
              <a:t>b</a:t>
            </a:r>
            <a:r>
              <a:rPr lang="en-US" altLang="zh-CN" sz="2400" baseline="-25000">
                <a:latin typeface="Arial" panose="020B0604020202020204" pitchFamily="34" charset="0"/>
                <a:ea typeface="微软雅黑" panose="020B0503020204020204" pitchFamily="34" charset="-122"/>
                <a:cs typeface="Arial" panose="020B0604020202020204" pitchFamily="34" charset="0"/>
              </a:rPr>
              <a:t>2</a:t>
            </a:r>
          </a:p>
          <a:p>
            <a:pPr eaLnBrk="1" hangingPunct="1">
              <a:buFont typeface="Wingdings" panose="05000000000000000000" pitchFamily="2" charset="2"/>
              <a:buNone/>
            </a:pPr>
            <a:r>
              <a:rPr lang="en-US" altLang="zh-CN" sz="2400" i="1">
                <a:latin typeface="Arial" panose="020B0604020202020204" pitchFamily="34" charset="0"/>
                <a:ea typeface="微软雅黑" panose="020B0503020204020204" pitchFamily="34" charset="-122"/>
                <a:cs typeface="Arial" panose="020B0604020202020204" pitchFamily="34" charset="0"/>
              </a:rPr>
              <a:t>c</a:t>
            </a:r>
            <a:r>
              <a:rPr lang="en-US" altLang="zh-CN" sz="2400" baseline="-25000">
                <a:latin typeface="Arial" panose="020B0604020202020204" pitchFamily="34" charset="0"/>
                <a:ea typeface="微软雅黑" panose="020B0503020204020204" pitchFamily="34" charset="-122"/>
                <a:cs typeface="Arial" panose="020B0604020202020204" pitchFamily="34" charset="0"/>
              </a:rPr>
              <a:t>3</a:t>
            </a:r>
            <a:r>
              <a:rPr lang="en-US" altLang="zh-CN" sz="2400">
                <a:latin typeface="Arial" panose="020B0604020202020204" pitchFamily="34" charset="0"/>
                <a:ea typeface="微软雅黑" panose="020B0503020204020204" pitchFamily="34" charset="-122"/>
                <a:cs typeface="Arial" panose="020B0604020202020204" pitchFamily="34" charset="0"/>
              </a:rPr>
              <a:t> = </a:t>
            </a:r>
            <a:r>
              <a:rPr lang="en-US" altLang="zh-CN" sz="2400" i="1">
                <a:latin typeface="Arial" panose="020B0604020202020204" pitchFamily="34" charset="0"/>
                <a:ea typeface="微软雅黑" panose="020B0503020204020204" pitchFamily="34" charset="-122"/>
                <a:cs typeface="Arial" panose="020B0604020202020204" pitchFamily="34" charset="0"/>
              </a:rPr>
              <a:t>b</a:t>
            </a:r>
            <a:r>
              <a:rPr lang="en-US" altLang="zh-CN" sz="2400" baseline="-25000">
                <a:latin typeface="Arial" panose="020B0604020202020204" pitchFamily="34" charset="0"/>
                <a:ea typeface="微软雅黑" panose="020B0503020204020204" pitchFamily="34" charset="-122"/>
                <a:cs typeface="Arial" panose="020B0604020202020204" pitchFamily="34" charset="0"/>
              </a:rPr>
              <a:t>3</a:t>
            </a:r>
          </a:p>
          <a:p>
            <a:pPr eaLnBrk="1" hangingPunct="1">
              <a:buFont typeface="Wingdings" panose="05000000000000000000" pitchFamily="2" charset="2"/>
              <a:buNone/>
            </a:pPr>
            <a:r>
              <a:rPr lang="en-US" altLang="zh-CN" sz="2400" i="1">
                <a:latin typeface="Arial" panose="020B0604020202020204" pitchFamily="34" charset="0"/>
                <a:ea typeface="微软雅黑" panose="020B0503020204020204" pitchFamily="34" charset="-122"/>
                <a:cs typeface="Arial" panose="020B0604020202020204" pitchFamily="34" charset="0"/>
              </a:rPr>
              <a:t>c</a:t>
            </a:r>
            <a:r>
              <a:rPr lang="en-US" altLang="zh-CN" sz="2400" baseline="-25000">
                <a:latin typeface="Arial" panose="020B0604020202020204" pitchFamily="34" charset="0"/>
                <a:ea typeface="微软雅黑" panose="020B0503020204020204" pitchFamily="34" charset="-122"/>
                <a:cs typeface="Arial" panose="020B0604020202020204" pitchFamily="34" charset="0"/>
              </a:rPr>
              <a:t>4</a:t>
            </a:r>
            <a:r>
              <a:rPr lang="en-US" altLang="zh-CN" sz="2400">
                <a:latin typeface="Arial" panose="020B0604020202020204" pitchFamily="34" charset="0"/>
                <a:ea typeface="微软雅黑" panose="020B0503020204020204" pitchFamily="34" charset="-122"/>
                <a:cs typeface="Arial" panose="020B0604020202020204" pitchFamily="34" charset="0"/>
              </a:rPr>
              <a:t> = </a:t>
            </a:r>
            <a:r>
              <a:rPr lang="en-US" altLang="zh-CN" sz="2400" i="1">
                <a:latin typeface="Arial" panose="020B0604020202020204" pitchFamily="34" charset="0"/>
                <a:ea typeface="微软雅黑" panose="020B0503020204020204" pitchFamily="34" charset="-122"/>
                <a:cs typeface="Arial" panose="020B0604020202020204" pitchFamily="34" charset="0"/>
              </a:rPr>
              <a:t>b</a:t>
            </a:r>
            <a:r>
              <a:rPr lang="en-US" altLang="zh-CN" sz="2400" baseline="-25000">
                <a:latin typeface="Arial" panose="020B0604020202020204" pitchFamily="34" charset="0"/>
                <a:ea typeface="微软雅黑" panose="020B0503020204020204" pitchFamily="34" charset="-122"/>
                <a:cs typeface="Arial" panose="020B0604020202020204" pitchFamily="34" charset="0"/>
              </a:rPr>
              <a:t>1</a:t>
            </a:r>
            <a:r>
              <a:rPr lang="en-US" altLang="zh-CN" sz="2400">
                <a:latin typeface="Arial" panose="020B0604020202020204" pitchFamily="34" charset="0"/>
                <a:ea typeface="微软雅黑" panose="020B0503020204020204" pitchFamily="34" charset="-122"/>
                <a:cs typeface="Arial" panose="020B0604020202020204" pitchFamily="34" charset="0"/>
              </a:rPr>
              <a:t> + </a:t>
            </a:r>
            <a:r>
              <a:rPr lang="en-US" altLang="zh-CN" sz="2400" i="1">
                <a:latin typeface="Arial" panose="020B0604020202020204" pitchFamily="34" charset="0"/>
                <a:ea typeface="微软雅黑" panose="020B0503020204020204" pitchFamily="34" charset="-122"/>
                <a:cs typeface="Arial" panose="020B0604020202020204" pitchFamily="34" charset="0"/>
              </a:rPr>
              <a:t>b</a:t>
            </a:r>
            <a:r>
              <a:rPr lang="en-US" altLang="zh-CN" sz="2400" baseline="-25000">
                <a:latin typeface="Arial" panose="020B0604020202020204" pitchFamily="34" charset="0"/>
                <a:ea typeface="微软雅黑" panose="020B0503020204020204" pitchFamily="34" charset="-122"/>
                <a:cs typeface="Arial" panose="020B0604020202020204" pitchFamily="34" charset="0"/>
              </a:rPr>
              <a:t>4</a:t>
            </a:r>
          </a:p>
          <a:p>
            <a:pPr eaLnBrk="1" hangingPunct="1">
              <a:buFont typeface="Wingdings" panose="05000000000000000000" pitchFamily="2" charset="2"/>
              <a:buNone/>
            </a:pPr>
            <a:r>
              <a:rPr lang="en-US" altLang="zh-CN" sz="2400" i="1">
                <a:latin typeface="Arial" panose="020B0604020202020204" pitchFamily="34" charset="0"/>
                <a:ea typeface="微软雅黑" panose="020B0503020204020204" pitchFamily="34" charset="-122"/>
                <a:cs typeface="Arial" panose="020B0604020202020204" pitchFamily="34" charset="0"/>
              </a:rPr>
              <a:t>c</a:t>
            </a:r>
            <a:r>
              <a:rPr lang="en-US" altLang="zh-CN" sz="2400" baseline="-25000">
                <a:latin typeface="Arial" panose="020B0604020202020204" pitchFamily="34" charset="0"/>
                <a:ea typeface="微软雅黑" panose="020B0503020204020204" pitchFamily="34" charset="-122"/>
                <a:cs typeface="Arial" panose="020B0604020202020204" pitchFamily="34" charset="0"/>
              </a:rPr>
              <a:t>5</a:t>
            </a:r>
            <a:r>
              <a:rPr lang="en-US" altLang="zh-CN" sz="2400">
                <a:latin typeface="Arial" panose="020B0604020202020204" pitchFamily="34" charset="0"/>
                <a:ea typeface="微软雅黑" panose="020B0503020204020204" pitchFamily="34" charset="-122"/>
                <a:cs typeface="Arial" panose="020B0604020202020204" pitchFamily="34" charset="0"/>
              </a:rPr>
              <a:t> = </a:t>
            </a:r>
            <a:r>
              <a:rPr lang="en-US" altLang="zh-CN" sz="2400" i="1">
                <a:latin typeface="Arial" panose="020B0604020202020204" pitchFamily="34" charset="0"/>
                <a:ea typeface="微软雅黑" panose="020B0503020204020204" pitchFamily="34" charset="-122"/>
                <a:cs typeface="Arial" panose="020B0604020202020204" pitchFamily="34" charset="0"/>
              </a:rPr>
              <a:t>b</a:t>
            </a:r>
            <a:r>
              <a:rPr lang="en-US" altLang="zh-CN" sz="2400" baseline="-25000">
                <a:latin typeface="Arial" panose="020B0604020202020204" pitchFamily="34" charset="0"/>
                <a:ea typeface="微软雅黑" panose="020B0503020204020204" pitchFamily="34" charset="-122"/>
                <a:cs typeface="Arial" panose="020B0604020202020204" pitchFamily="34" charset="0"/>
              </a:rPr>
              <a:t>1</a:t>
            </a:r>
            <a:r>
              <a:rPr lang="en-US" altLang="zh-CN" sz="2400">
                <a:latin typeface="Arial" panose="020B0604020202020204" pitchFamily="34" charset="0"/>
                <a:ea typeface="微软雅黑" panose="020B0503020204020204" pitchFamily="34" charset="-122"/>
                <a:cs typeface="Arial" panose="020B0604020202020204" pitchFamily="34" charset="0"/>
              </a:rPr>
              <a:t> + </a:t>
            </a:r>
            <a:r>
              <a:rPr lang="en-US" altLang="zh-CN" sz="2400" i="1">
                <a:latin typeface="Arial" panose="020B0604020202020204" pitchFamily="34" charset="0"/>
                <a:ea typeface="微软雅黑" panose="020B0503020204020204" pitchFamily="34" charset="-122"/>
                <a:cs typeface="Arial" panose="020B0604020202020204" pitchFamily="34" charset="0"/>
              </a:rPr>
              <a:t>b</a:t>
            </a:r>
            <a:r>
              <a:rPr lang="en-US" altLang="zh-CN" sz="2400" baseline="-25000">
                <a:latin typeface="Arial" panose="020B0604020202020204" pitchFamily="34" charset="0"/>
                <a:ea typeface="微软雅黑" panose="020B0503020204020204" pitchFamily="34" charset="-122"/>
                <a:cs typeface="Arial" panose="020B0604020202020204" pitchFamily="34" charset="0"/>
              </a:rPr>
              <a:t>2</a:t>
            </a:r>
            <a:r>
              <a:rPr lang="en-US" altLang="zh-CN" sz="2400">
                <a:latin typeface="Arial" panose="020B0604020202020204" pitchFamily="34" charset="0"/>
                <a:ea typeface="微软雅黑" panose="020B0503020204020204" pitchFamily="34" charset="-122"/>
                <a:cs typeface="Arial" panose="020B0604020202020204" pitchFamily="34" charset="0"/>
              </a:rPr>
              <a:t> + </a:t>
            </a:r>
            <a:r>
              <a:rPr lang="en-US" altLang="zh-CN" sz="2400" i="1">
                <a:latin typeface="Arial" panose="020B0604020202020204" pitchFamily="34" charset="0"/>
                <a:ea typeface="微软雅黑" panose="020B0503020204020204" pitchFamily="34" charset="-122"/>
                <a:cs typeface="Arial" panose="020B0604020202020204" pitchFamily="34" charset="0"/>
              </a:rPr>
              <a:t>b</a:t>
            </a:r>
            <a:r>
              <a:rPr lang="en-US" altLang="zh-CN" sz="2400" baseline="-25000">
                <a:latin typeface="Arial" panose="020B0604020202020204" pitchFamily="34" charset="0"/>
                <a:ea typeface="微软雅黑" panose="020B0503020204020204" pitchFamily="34" charset="-122"/>
                <a:cs typeface="Arial" panose="020B0604020202020204" pitchFamily="34" charset="0"/>
              </a:rPr>
              <a:t>5</a:t>
            </a:r>
          </a:p>
          <a:p>
            <a:pPr eaLnBrk="1" hangingPunct="1">
              <a:buFont typeface="Wingdings" panose="05000000000000000000" pitchFamily="2" charset="2"/>
              <a:buNone/>
            </a:pPr>
            <a:r>
              <a:rPr lang="en-US" altLang="zh-CN" sz="2400" i="1">
                <a:latin typeface="Arial" panose="020B0604020202020204" pitchFamily="34" charset="0"/>
                <a:ea typeface="微软雅黑" panose="020B0503020204020204" pitchFamily="34" charset="-122"/>
                <a:cs typeface="Arial" panose="020B0604020202020204" pitchFamily="34" charset="0"/>
              </a:rPr>
              <a:t>c</a:t>
            </a:r>
            <a:r>
              <a:rPr lang="en-US" altLang="zh-CN" sz="2400" baseline="-25000">
                <a:latin typeface="Arial" panose="020B0604020202020204" pitchFamily="34" charset="0"/>
                <a:ea typeface="微软雅黑" panose="020B0503020204020204" pitchFamily="34" charset="-122"/>
                <a:cs typeface="Arial" panose="020B0604020202020204" pitchFamily="34" charset="0"/>
              </a:rPr>
              <a:t>6</a:t>
            </a:r>
            <a:r>
              <a:rPr lang="en-US" altLang="zh-CN" sz="2400">
                <a:latin typeface="Arial" panose="020B0604020202020204" pitchFamily="34" charset="0"/>
                <a:ea typeface="微软雅黑" panose="020B0503020204020204" pitchFamily="34" charset="-122"/>
                <a:cs typeface="Arial" panose="020B0604020202020204" pitchFamily="34" charset="0"/>
              </a:rPr>
              <a:t> = </a:t>
            </a:r>
            <a:r>
              <a:rPr lang="en-US" altLang="zh-CN" sz="2400" i="1">
                <a:latin typeface="Arial" panose="020B0604020202020204" pitchFamily="34" charset="0"/>
                <a:ea typeface="微软雅黑" panose="020B0503020204020204" pitchFamily="34" charset="-122"/>
                <a:cs typeface="Arial" panose="020B0604020202020204" pitchFamily="34" charset="0"/>
              </a:rPr>
              <a:t>b</a:t>
            </a:r>
            <a:r>
              <a:rPr lang="en-US" altLang="zh-CN" sz="2400" baseline="-25000">
                <a:latin typeface="Arial" panose="020B0604020202020204" pitchFamily="34" charset="0"/>
                <a:ea typeface="微软雅黑" panose="020B0503020204020204" pitchFamily="34" charset="-122"/>
                <a:cs typeface="Arial" panose="020B0604020202020204" pitchFamily="34" charset="0"/>
              </a:rPr>
              <a:t>1</a:t>
            </a:r>
            <a:r>
              <a:rPr lang="en-US" altLang="zh-CN" sz="2400">
                <a:latin typeface="Arial" panose="020B0604020202020204" pitchFamily="34" charset="0"/>
                <a:ea typeface="微软雅黑" panose="020B0503020204020204" pitchFamily="34" charset="-122"/>
                <a:cs typeface="Arial" panose="020B0604020202020204" pitchFamily="34" charset="0"/>
              </a:rPr>
              <a:t> + </a:t>
            </a:r>
            <a:r>
              <a:rPr lang="en-US" altLang="zh-CN" sz="2400" i="1">
                <a:latin typeface="Arial" panose="020B0604020202020204" pitchFamily="34" charset="0"/>
                <a:ea typeface="微软雅黑" panose="020B0503020204020204" pitchFamily="34" charset="-122"/>
                <a:cs typeface="Arial" panose="020B0604020202020204" pitchFamily="34" charset="0"/>
              </a:rPr>
              <a:t>b</a:t>
            </a:r>
            <a:r>
              <a:rPr lang="en-US" altLang="zh-CN" sz="2400" baseline="-25000">
                <a:latin typeface="Arial" panose="020B0604020202020204" pitchFamily="34" charset="0"/>
                <a:ea typeface="微软雅黑" panose="020B0503020204020204" pitchFamily="34" charset="-122"/>
                <a:cs typeface="Arial" panose="020B0604020202020204" pitchFamily="34" charset="0"/>
              </a:rPr>
              <a:t>2</a:t>
            </a:r>
            <a:r>
              <a:rPr lang="en-US" altLang="zh-CN" sz="2400">
                <a:latin typeface="Arial" panose="020B0604020202020204" pitchFamily="34" charset="0"/>
                <a:ea typeface="微软雅黑" panose="020B0503020204020204" pitchFamily="34" charset="-122"/>
                <a:cs typeface="Arial" panose="020B0604020202020204" pitchFamily="34" charset="0"/>
              </a:rPr>
              <a:t> + </a:t>
            </a:r>
            <a:r>
              <a:rPr lang="en-US" altLang="zh-CN" sz="2400" i="1">
                <a:latin typeface="Arial" panose="020B0604020202020204" pitchFamily="34" charset="0"/>
                <a:ea typeface="微软雅黑" panose="020B0503020204020204" pitchFamily="34" charset="-122"/>
                <a:cs typeface="Arial" panose="020B0604020202020204" pitchFamily="34" charset="0"/>
              </a:rPr>
              <a:t>b</a:t>
            </a:r>
            <a:r>
              <a:rPr lang="en-US" altLang="zh-CN" sz="2400" baseline="-25000">
                <a:latin typeface="Arial" panose="020B0604020202020204" pitchFamily="34" charset="0"/>
                <a:ea typeface="微软雅黑" panose="020B0503020204020204" pitchFamily="34" charset="-122"/>
                <a:cs typeface="Arial" panose="020B0604020202020204" pitchFamily="34" charset="0"/>
              </a:rPr>
              <a:t>3</a:t>
            </a:r>
            <a:r>
              <a:rPr lang="en-US" altLang="zh-CN" sz="2400">
                <a:latin typeface="Arial" panose="020B0604020202020204" pitchFamily="34" charset="0"/>
                <a:ea typeface="微软雅黑" panose="020B0503020204020204" pitchFamily="34" charset="-122"/>
                <a:cs typeface="Arial" panose="020B0604020202020204" pitchFamily="34" charset="0"/>
              </a:rPr>
              <a:t> + </a:t>
            </a:r>
            <a:r>
              <a:rPr lang="en-US" altLang="zh-CN" sz="2400" i="1">
                <a:latin typeface="Arial" panose="020B0604020202020204" pitchFamily="34" charset="0"/>
                <a:ea typeface="微软雅黑" panose="020B0503020204020204" pitchFamily="34" charset="-122"/>
                <a:cs typeface="Arial" panose="020B0604020202020204" pitchFamily="34" charset="0"/>
              </a:rPr>
              <a:t>b</a:t>
            </a:r>
            <a:r>
              <a:rPr lang="en-US" altLang="zh-CN" sz="2400" baseline="-25000">
                <a:latin typeface="Arial" panose="020B0604020202020204" pitchFamily="34" charset="0"/>
                <a:ea typeface="微软雅黑" panose="020B0503020204020204" pitchFamily="34" charset="-122"/>
                <a:cs typeface="Arial" panose="020B0604020202020204" pitchFamily="34" charset="0"/>
              </a:rPr>
              <a:t>6</a:t>
            </a:r>
          </a:p>
          <a:p>
            <a:pPr eaLnBrk="1" hangingPunct="1">
              <a:buFont typeface="Wingdings" panose="05000000000000000000" pitchFamily="2" charset="2"/>
              <a:buNone/>
            </a:pPr>
            <a:r>
              <a:rPr lang="en-US" altLang="zh-CN" sz="2400" baseline="-25000">
                <a:latin typeface="Arial" panose="020B0604020202020204" pitchFamily="34" charset="0"/>
                <a:ea typeface="微软雅黑" panose="020B0503020204020204" pitchFamily="34" charset="-122"/>
                <a:cs typeface="Arial" panose="020B0604020202020204" pitchFamily="34" charset="0"/>
                <a:sym typeface="Symbol" panose="05050102010706020507" pitchFamily="18" charset="2"/>
              </a:rPr>
              <a:t> </a:t>
            </a:r>
            <a:r>
              <a:rPr lang="en-US" altLang="zh-CN" sz="2400">
                <a:latin typeface="Arial" panose="020B0604020202020204" pitchFamily="34" charset="0"/>
                <a:ea typeface="微软雅黑" panose="020B0503020204020204" pitchFamily="34" charset="-122"/>
                <a:cs typeface="Arial" panose="020B0604020202020204" pitchFamily="34" charset="0"/>
                <a:sym typeface="Symbol" panose="05050102010706020507" pitchFamily="18" charset="2"/>
              </a:rPr>
              <a:t>   </a:t>
            </a:r>
            <a:r>
              <a:rPr lang="en-US" altLang="zh-CN" sz="2000" b="1">
                <a:latin typeface="Arial" panose="020B0604020202020204" pitchFamily="34" charset="0"/>
                <a:ea typeface="微软雅黑" panose="020B0503020204020204" pitchFamily="34" charset="-122"/>
                <a:cs typeface="Arial" panose="020B0604020202020204" pitchFamily="34" charset="0"/>
                <a:sym typeface="Symbol" panose="05050102010706020507" pitchFamily="18" charset="2"/>
              </a:rPr>
              <a:t></a:t>
            </a:r>
            <a:r>
              <a:rPr lang="en-US" altLang="zh-CN" sz="2000" b="1">
                <a:latin typeface="Arial" panose="020B0604020202020204" pitchFamily="34" charset="0"/>
                <a:ea typeface="微软雅黑" panose="020B0503020204020204" pitchFamily="34" charset="-122"/>
                <a:cs typeface="Arial" panose="020B0604020202020204" pitchFamily="34" charset="0"/>
              </a:rPr>
              <a:t> </a:t>
            </a:r>
            <a:r>
              <a:rPr lang="en-US" altLang="zh-CN" sz="2000" b="1">
                <a:latin typeface="Arial" panose="020B0604020202020204" pitchFamily="34" charset="0"/>
                <a:ea typeface="微软雅黑" panose="020B0503020204020204" pitchFamily="34" charset="-122"/>
                <a:cs typeface="Arial" panose="020B0604020202020204" pitchFamily="34" charset="0"/>
                <a:sym typeface="Symbol" panose="05050102010706020507" pitchFamily="18" charset="2"/>
              </a:rPr>
              <a:t></a:t>
            </a:r>
            <a:r>
              <a:rPr lang="en-US" altLang="zh-CN" sz="2000" b="1">
                <a:latin typeface="Arial" panose="020B0604020202020204" pitchFamily="34" charset="0"/>
                <a:ea typeface="微软雅黑" panose="020B0503020204020204" pitchFamily="34" charset="-122"/>
                <a:cs typeface="Arial" panose="020B0604020202020204" pitchFamily="34" charset="0"/>
              </a:rPr>
              <a:t> </a:t>
            </a:r>
            <a:r>
              <a:rPr lang="en-US" altLang="zh-CN" sz="2000" b="1">
                <a:latin typeface="Arial" panose="020B0604020202020204" pitchFamily="34" charset="0"/>
                <a:ea typeface="微软雅黑" panose="020B0503020204020204" pitchFamily="34" charset="-122"/>
                <a:cs typeface="Arial" panose="020B0604020202020204" pitchFamily="34" charset="0"/>
                <a:sym typeface="Symbol" panose="05050102010706020507" pitchFamily="18" charset="2"/>
              </a:rPr>
              <a:t></a:t>
            </a:r>
            <a:r>
              <a:rPr lang="en-US" altLang="zh-CN" sz="2000" b="1">
                <a:latin typeface="Arial" panose="020B0604020202020204" pitchFamily="34" charset="0"/>
                <a:ea typeface="微软雅黑" panose="020B0503020204020204" pitchFamily="34" charset="-122"/>
                <a:cs typeface="Arial" panose="020B0604020202020204" pitchFamily="34" charset="0"/>
              </a:rPr>
              <a:t> </a:t>
            </a:r>
            <a:r>
              <a:rPr lang="en-US" altLang="zh-CN" sz="2000" b="1">
                <a:latin typeface="Arial" panose="020B0604020202020204" pitchFamily="34" charset="0"/>
                <a:ea typeface="微软雅黑" panose="020B0503020204020204" pitchFamily="34" charset="-122"/>
                <a:cs typeface="Arial" panose="020B0604020202020204" pitchFamily="34" charset="0"/>
                <a:sym typeface="Symbol" panose="05050102010706020507" pitchFamily="18" charset="2"/>
              </a:rPr>
              <a:t></a:t>
            </a:r>
          </a:p>
        </p:txBody>
      </p:sp>
      <p:grpSp>
        <p:nvGrpSpPr>
          <p:cNvPr id="2" name="Group 34">
            <a:extLst>
              <a:ext uri="{FF2B5EF4-FFF2-40B4-BE49-F238E27FC236}">
                <a16:creationId xmlns:a16="http://schemas.microsoft.com/office/drawing/2014/main" id="{82192F7D-8A45-2B0C-8365-096C756D28E7}"/>
              </a:ext>
            </a:extLst>
          </p:cNvPr>
          <p:cNvGrpSpPr>
            <a:grpSpLocks/>
          </p:cNvGrpSpPr>
          <p:nvPr/>
        </p:nvGrpSpPr>
        <p:grpSpPr bwMode="auto">
          <a:xfrm>
            <a:off x="3405188" y="928688"/>
            <a:ext cx="5381625" cy="2384425"/>
            <a:chOff x="1576" y="1310"/>
            <a:chExt cx="3487" cy="1453"/>
          </a:xfrm>
        </p:grpSpPr>
        <p:sp>
          <p:nvSpPr>
            <p:cNvPr id="125974" name="AutoShape 5">
              <a:extLst>
                <a:ext uri="{FF2B5EF4-FFF2-40B4-BE49-F238E27FC236}">
                  <a16:creationId xmlns:a16="http://schemas.microsoft.com/office/drawing/2014/main" id="{3F3B1C7B-0F42-C59F-D42F-BA640ECBC162}"/>
                </a:ext>
              </a:extLst>
            </p:cNvPr>
            <p:cNvSpPr>
              <a:spLocks noChangeAspect="1" noChangeArrowheads="1"/>
            </p:cNvSpPr>
            <p:nvPr/>
          </p:nvSpPr>
          <p:spPr bwMode="auto">
            <a:xfrm>
              <a:off x="1576" y="1310"/>
              <a:ext cx="3487"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5975" name="Text Box 6">
              <a:extLst>
                <a:ext uri="{FF2B5EF4-FFF2-40B4-BE49-F238E27FC236}">
                  <a16:creationId xmlns:a16="http://schemas.microsoft.com/office/drawing/2014/main" id="{7F77AAA5-F2FB-D568-1824-E9B8BF994F3E}"/>
                </a:ext>
              </a:extLst>
            </p:cNvPr>
            <p:cNvSpPr txBox="1">
              <a:spLocks noChangeArrowheads="1"/>
            </p:cNvSpPr>
            <p:nvPr/>
          </p:nvSpPr>
          <p:spPr bwMode="auto">
            <a:xfrm>
              <a:off x="2238" y="1420"/>
              <a:ext cx="312" cy="220"/>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2000" i="1">
                  <a:solidFill>
                    <a:schemeClr val="tx1"/>
                  </a:solidFill>
                  <a:latin typeface="Arial" panose="020B0604020202020204" pitchFamily="34" charset="0"/>
                  <a:ea typeface="华文中宋" panose="02010600040101010101" pitchFamily="2" charset="-122"/>
                  <a:cs typeface="Arial" panose="020B0604020202020204" pitchFamily="34" charset="0"/>
                </a:rPr>
                <a:t>b</a:t>
              </a:r>
              <a:r>
                <a:rPr lang="en-US" altLang="zh-CN" sz="1800" baseline="-25000">
                  <a:solidFill>
                    <a:schemeClr val="tx1"/>
                  </a:solidFill>
                  <a:latin typeface="Arial" panose="020B0604020202020204" pitchFamily="34" charset="0"/>
                  <a:ea typeface="华文中宋" panose="02010600040101010101" pitchFamily="2" charset="-122"/>
                  <a:cs typeface="Arial" panose="020B0604020202020204" pitchFamily="34" charset="0"/>
                </a:rPr>
                <a:t>6</a:t>
              </a:r>
              <a:endParaRPr lang="en-US" altLang="zh-CN" sz="36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5976" name="Text Box 7">
              <a:extLst>
                <a:ext uri="{FF2B5EF4-FFF2-40B4-BE49-F238E27FC236}">
                  <a16:creationId xmlns:a16="http://schemas.microsoft.com/office/drawing/2014/main" id="{DE2D0658-753A-5729-FDDD-690F2BDD4C6B}"/>
                </a:ext>
              </a:extLst>
            </p:cNvPr>
            <p:cNvSpPr txBox="1">
              <a:spLocks noChangeArrowheads="1"/>
            </p:cNvSpPr>
            <p:nvPr/>
          </p:nvSpPr>
          <p:spPr bwMode="auto">
            <a:xfrm>
              <a:off x="2550" y="1420"/>
              <a:ext cx="312" cy="220"/>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2000" i="1">
                  <a:solidFill>
                    <a:schemeClr val="tx1"/>
                  </a:solidFill>
                  <a:latin typeface="Arial" panose="020B0604020202020204" pitchFamily="34" charset="0"/>
                  <a:ea typeface="华文中宋" panose="02010600040101010101" pitchFamily="2" charset="-122"/>
                  <a:cs typeface="Arial" panose="020B0604020202020204" pitchFamily="34" charset="0"/>
                </a:rPr>
                <a:t>b</a:t>
              </a:r>
              <a:r>
                <a:rPr lang="en-US" altLang="zh-CN" sz="1800" baseline="-25000">
                  <a:solidFill>
                    <a:schemeClr val="tx1"/>
                  </a:solidFill>
                  <a:latin typeface="Arial" panose="020B0604020202020204" pitchFamily="34" charset="0"/>
                  <a:ea typeface="华文中宋" panose="02010600040101010101" pitchFamily="2" charset="-122"/>
                  <a:cs typeface="Arial" panose="020B0604020202020204" pitchFamily="34" charset="0"/>
                </a:rPr>
                <a:t>5</a:t>
              </a:r>
              <a:endParaRPr lang="en-US" altLang="zh-CN" sz="36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5977" name="Text Box 8">
              <a:extLst>
                <a:ext uri="{FF2B5EF4-FFF2-40B4-BE49-F238E27FC236}">
                  <a16:creationId xmlns:a16="http://schemas.microsoft.com/office/drawing/2014/main" id="{2506E6E5-5A2F-6A16-2898-6E5074776781}"/>
                </a:ext>
              </a:extLst>
            </p:cNvPr>
            <p:cNvSpPr txBox="1">
              <a:spLocks noChangeArrowheads="1"/>
            </p:cNvSpPr>
            <p:nvPr/>
          </p:nvSpPr>
          <p:spPr bwMode="auto">
            <a:xfrm>
              <a:off x="2862" y="1420"/>
              <a:ext cx="312" cy="220"/>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2000" i="1">
                  <a:solidFill>
                    <a:schemeClr val="tx1"/>
                  </a:solidFill>
                  <a:latin typeface="Arial" panose="020B0604020202020204" pitchFamily="34" charset="0"/>
                  <a:ea typeface="华文中宋" panose="02010600040101010101" pitchFamily="2" charset="-122"/>
                  <a:cs typeface="Arial" panose="020B0604020202020204" pitchFamily="34" charset="0"/>
                </a:rPr>
                <a:t>b</a:t>
              </a:r>
              <a:r>
                <a:rPr lang="en-US" altLang="zh-CN" sz="1800" baseline="-25000">
                  <a:solidFill>
                    <a:schemeClr val="tx1"/>
                  </a:solidFill>
                  <a:latin typeface="Arial" panose="020B0604020202020204" pitchFamily="34" charset="0"/>
                  <a:ea typeface="华文中宋" panose="02010600040101010101" pitchFamily="2" charset="-122"/>
                  <a:cs typeface="Arial" panose="020B0604020202020204" pitchFamily="34" charset="0"/>
                </a:rPr>
                <a:t>4</a:t>
              </a:r>
              <a:endParaRPr lang="en-US" altLang="zh-CN" sz="36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5978" name="Text Box 9">
              <a:extLst>
                <a:ext uri="{FF2B5EF4-FFF2-40B4-BE49-F238E27FC236}">
                  <a16:creationId xmlns:a16="http://schemas.microsoft.com/office/drawing/2014/main" id="{29F76E15-8A07-CE82-A596-FBD501BCAA1F}"/>
                </a:ext>
              </a:extLst>
            </p:cNvPr>
            <p:cNvSpPr txBox="1">
              <a:spLocks noChangeArrowheads="1"/>
            </p:cNvSpPr>
            <p:nvPr/>
          </p:nvSpPr>
          <p:spPr bwMode="auto">
            <a:xfrm>
              <a:off x="3174" y="1420"/>
              <a:ext cx="313" cy="220"/>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2000" i="1">
                  <a:solidFill>
                    <a:schemeClr val="tx1"/>
                  </a:solidFill>
                  <a:latin typeface="Arial" panose="020B0604020202020204" pitchFamily="34" charset="0"/>
                  <a:ea typeface="华文中宋" panose="02010600040101010101" pitchFamily="2" charset="-122"/>
                  <a:cs typeface="Arial" panose="020B0604020202020204" pitchFamily="34" charset="0"/>
                </a:rPr>
                <a:t>b</a:t>
              </a:r>
              <a:r>
                <a:rPr lang="en-US" altLang="zh-CN" sz="1800" baseline="-25000">
                  <a:solidFill>
                    <a:schemeClr val="tx1"/>
                  </a:solidFill>
                  <a:latin typeface="Arial" panose="020B0604020202020204" pitchFamily="34" charset="0"/>
                  <a:ea typeface="华文中宋" panose="02010600040101010101" pitchFamily="2" charset="-122"/>
                  <a:cs typeface="Arial" panose="020B0604020202020204" pitchFamily="34" charset="0"/>
                </a:rPr>
                <a:t>3</a:t>
              </a:r>
              <a:endParaRPr lang="en-US" altLang="zh-CN" sz="36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5979" name="Text Box 10">
              <a:extLst>
                <a:ext uri="{FF2B5EF4-FFF2-40B4-BE49-F238E27FC236}">
                  <a16:creationId xmlns:a16="http://schemas.microsoft.com/office/drawing/2014/main" id="{14F3A43A-B7F8-3BC5-DCAA-6E5AE003D4E1}"/>
                </a:ext>
              </a:extLst>
            </p:cNvPr>
            <p:cNvSpPr txBox="1">
              <a:spLocks noChangeArrowheads="1"/>
            </p:cNvSpPr>
            <p:nvPr/>
          </p:nvSpPr>
          <p:spPr bwMode="auto">
            <a:xfrm>
              <a:off x="3487" y="1420"/>
              <a:ext cx="312" cy="220"/>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2000" i="1">
                  <a:solidFill>
                    <a:schemeClr val="tx1"/>
                  </a:solidFill>
                  <a:latin typeface="Arial" panose="020B0604020202020204" pitchFamily="34" charset="0"/>
                  <a:ea typeface="华文中宋" panose="02010600040101010101" pitchFamily="2" charset="-122"/>
                  <a:cs typeface="Arial" panose="020B0604020202020204" pitchFamily="34" charset="0"/>
                </a:rPr>
                <a:t>b</a:t>
              </a:r>
              <a:r>
                <a:rPr lang="en-US" altLang="zh-CN" sz="1800" baseline="-25000">
                  <a:solidFill>
                    <a:schemeClr val="tx1"/>
                  </a:solidFill>
                  <a:latin typeface="Arial" panose="020B0604020202020204" pitchFamily="34" charset="0"/>
                  <a:ea typeface="华文中宋" panose="02010600040101010101" pitchFamily="2" charset="-122"/>
                  <a:cs typeface="Arial" panose="020B0604020202020204" pitchFamily="34" charset="0"/>
                </a:rPr>
                <a:t>2</a:t>
              </a:r>
              <a:endParaRPr lang="en-US" altLang="zh-CN" sz="36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5980" name="Text Box 11">
              <a:extLst>
                <a:ext uri="{FF2B5EF4-FFF2-40B4-BE49-F238E27FC236}">
                  <a16:creationId xmlns:a16="http://schemas.microsoft.com/office/drawing/2014/main" id="{0425D721-2DD6-77B9-3019-9108964106E2}"/>
                </a:ext>
              </a:extLst>
            </p:cNvPr>
            <p:cNvSpPr txBox="1">
              <a:spLocks noChangeArrowheads="1"/>
            </p:cNvSpPr>
            <p:nvPr/>
          </p:nvSpPr>
          <p:spPr bwMode="auto">
            <a:xfrm>
              <a:off x="3799" y="1420"/>
              <a:ext cx="313" cy="220"/>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2000" i="1">
                  <a:solidFill>
                    <a:schemeClr val="tx1"/>
                  </a:solidFill>
                  <a:latin typeface="Arial" panose="020B0604020202020204" pitchFamily="34" charset="0"/>
                  <a:ea typeface="华文中宋" panose="02010600040101010101" pitchFamily="2" charset="-122"/>
                  <a:cs typeface="Arial" panose="020B0604020202020204" pitchFamily="34" charset="0"/>
                </a:rPr>
                <a:t>b</a:t>
              </a:r>
              <a:r>
                <a:rPr lang="en-US" altLang="zh-CN" sz="1800" baseline="-25000">
                  <a:solidFill>
                    <a:schemeClr val="tx1"/>
                  </a:solidFill>
                  <a:latin typeface="Arial" panose="020B0604020202020204" pitchFamily="34" charset="0"/>
                  <a:ea typeface="华文中宋" panose="02010600040101010101" pitchFamily="2" charset="-122"/>
                  <a:cs typeface="Arial" panose="020B0604020202020204" pitchFamily="34" charset="0"/>
                </a:rPr>
                <a:t>1</a:t>
              </a:r>
              <a:endParaRPr lang="en-US" altLang="zh-CN" sz="36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5981" name="Text Box 12">
              <a:extLst>
                <a:ext uri="{FF2B5EF4-FFF2-40B4-BE49-F238E27FC236}">
                  <a16:creationId xmlns:a16="http://schemas.microsoft.com/office/drawing/2014/main" id="{774C4C14-1341-F1A1-CCB0-6ED31CD4D59F}"/>
                </a:ext>
              </a:extLst>
            </p:cNvPr>
            <p:cNvSpPr txBox="1">
              <a:spLocks noChangeArrowheads="1"/>
            </p:cNvSpPr>
            <p:nvPr/>
          </p:nvSpPr>
          <p:spPr bwMode="auto">
            <a:xfrm>
              <a:off x="4360" y="2355"/>
              <a:ext cx="671"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2000">
                  <a:solidFill>
                    <a:schemeClr val="tx1"/>
                  </a:solidFill>
                  <a:latin typeface="Arial" panose="020B0604020202020204" pitchFamily="34" charset="0"/>
                  <a:ea typeface="华文中宋" panose="02010600040101010101" pitchFamily="2" charset="-122"/>
                  <a:cs typeface="Arial" panose="020B0604020202020204" pitchFamily="34" charset="0"/>
                  <a:sym typeface="Symbol" panose="05050102010706020507" pitchFamily="18" charset="2"/>
                </a:rPr>
                <a:t></a:t>
              </a:r>
              <a:r>
                <a:rPr lang="en-US" altLang="zh-CN" sz="2000" i="1">
                  <a:solidFill>
                    <a:schemeClr val="tx1"/>
                  </a:solidFill>
                  <a:latin typeface="Arial" panose="020B0604020202020204" pitchFamily="34" charset="0"/>
                  <a:ea typeface="华文中宋" panose="02010600040101010101" pitchFamily="2" charset="-122"/>
                  <a:cs typeface="Arial" panose="020B0604020202020204" pitchFamily="34" charset="0"/>
                </a:rPr>
                <a:t>b</a:t>
              </a:r>
              <a:r>
                <a:rPr lang="en-US" altLang="zh-CN" sz="2000" i="1" baseline="-25000">
                  <a:solidFill>
                    <a:schemeClr val="tx1"/>
                  </a:solidFill>
                  <a:latin typeface="Arial" panose="020B0604020202020204" pitchFamily="34" charset="0"/>
                  <a:ea typeface="华文中宋" panose="02010600040101010101" pitchFamily="2" charset="-122"/>
                  <a:cs typeface="Arial" panose="020B0604020202020204" pitchFamily="34" charset="0"/>
                </a:rPr>
                <a:t>i </a:t>
              </a:r>
              <a:r>
                <a:rPr lang="en-US" altLang="zh-CN" sz="2000" i="1">
                  <a:solidFill>
                    <a:schemeClr val="tx1"/>
                  </a:solidFill>
                  <a:latin typeface="Arial" panose="020B0604020202020204" pitchFamily="34" charset="0"/>
                  <a:ea typeface="华文中宋" panose="02010600040101010101" pitchFamily="2" charset="-122"/>
                  <a:cs typeface="Arial" panose="020B0604020202020204" pitchFamily="34" charset="0"/>
                </a:rPr>
                <a:t>c</a:t>
              </a:r>
              <a:r>
                <a:rPr lang="en-US" altLang="zh-CN" sz="1800" i="1" baseline="-25000">
                  <a:solidFill>
                    <a:schemeClr val="tx1"/>
                  </a:solidFill>
                  <a:latin typeface="Arial" panose="020B0604020202020204" pitchFamily="34" charset="0"/>
                  <a:ea typeface="华文中宋" panose="02010600040101010101" pitchFamily="2" charset="-122"/>
                  <a:cs typeface="Arial" panose="020B0604020202020204" pitchFamily="34" charset="0"/>
                </a:rPr>
                <a:t>i</a:t>
              </a:r>
              <a:r>
                <a:rPr lang="en-US" altLang="zh-CN" sz="1800" i="1">
                  <a:solidFill>
                    <a:schemeClr val="tx1"/>
                  </a:solidFill>
                  <a:latin typeface="Arial" panose="020B0604020202020204" pitchFamily="34" charset="0"/>
                  <a:ea typeface="华文中宋" panose="02010600040101010101" pitchFamily="2" charset="-122"/>
                  <a:cs typeface="Arial" panose="020B0604020202020204" pitchFamily="34" charset="0"/>
                  <a:sym typeface="Symbol" panose="05050102010706020507" pitchFamily="18" charset="2"/>
                </a:rPr>
                <a:t></a:t>
              </a:r>
              <a:endParaRPr lang="en-US" altLang="zh-CN" sz="36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5982" name="AutoShape 13">
              <a:extLst>
                <a:ext uri="{FF2B5EF4-FFF2-40B4-BE49-F238E27FC236}">
                  <a16:creationId xmlns:a16="http://schemas.microsoft.com/office/drawing/2014/main" id="{5968DE32-B06D-CC02-F86D-87A157F981D0}"/>
                </a:ext>
              </a:extLst>
            </p:cNvPr>
            <p:cNvSpPr>
              <a:spLocks noChangeArrowheads="1"/>
            </p:cNvSpPr>
            <p:nvPr/>
          </p:nvSpPr>
          <p:spPr bwMode="auto">
            <a:xfrm>
              <a:off x="3524" y="1869"/>
              <a:ext cx="248" cy="220"/>
            </a:xfrm>
            <a:prstGeom prst="flowChartOr">
              <a:avLst/>
            </a:prstGeom>
            <a:solidFill>
              <a:srgbClr val="FFFFFF"/>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5983" name="Line 14">
              <a:extLst>
                <a:ext uri="{FF2B5EF4-FFF2-40B4-BE49-F238E27FC236}">
                  <a16:creationId xmlns:a16="http://schemas.microsoft.com/office/drawing/2014/main" id="{B47CDFA8-DECF-E425-1F3D-9E04A58D5E2E}"/>
                </a:ext>
              </a:extLst>
            </p:cNvPr>
            <p:cNvSpPr>
              <a:spLocks noChangeShapeType="1"/>
            </p:cNvSpPr>
            <p:nvPr/>
          </p:nvSpPr>
          <p:spPr bwMode="auto">
            <a:xfrm>
              <a:off x="3643" y="1648"/>
              <a:ext cx="1" cy="23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5984" name="Line 15">
              <a:extLst>
                <a:ext uri="{FF2B5EF4-FFF2-40B4-BE49-F238E27FC236}">
                  <a16:creationId xmlns:a16="http://schemas.microsoft.com/office/drawing/2014/main" id="{785E15B9-16C3-0E75-A909-A3AE7AECB574}"/>
                </a:ext>
              </a:extLst>
            </p:cNvPr>
            <p:cNvSpPr>
              <a:spLocks noChangeShapeType="1"/>
            </p:cNvSpPr>
            <p:nvPr/>
          </p:nvSpPr>
          <p:spPr bwMode="auto">
            <a:xfrm flipH="1">
              <a:off x="3726" y="1639"/>
              <a:ext cx="220" cy="25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5985" name="Line 16">
              <a:extLst>
                <a:ext uri="{FF2B5EF4-FFF2-40B4-BE49-F238E27FC236}">
                  <a16:creationId xmlns:a16="http://schemas.microsoft.com/office/drawing/2014/main" id="{D98FD20F-8C30-0EBC-AAB3-B1280F1FD5DC}"/>
                </a:ext>
              </a:extLst>
            </p:cNvPr>
            <p:cNvSpPr>
              <a:spLocks noChangeShapeType="1"/>
            </p:cNvSpPr>
            <p:nvPr/>
          </p:nvSpPr>
          <p:spPr bwMode="auto">
            <a:xfrm>
              <a:off x="3340" y="1639"/>
              <a:ext cx="248" cy="24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5986" name="Line 17">
              <a:extLst>
                <a:ext uri="{FF2B5EF4-FFF2-40B4-BE49-F238E27FC236}">
                  <a16:creationId xmlns:a16="http://schemas.microsoft.com/office/drawing/2014/main" id="{4E318E5E-ED69-8F21-21FB-A4D0C68D2D2B}"/>
                </a:ext>
              </a:extLst>
            </p:cNvPr>
            <p:cNvSpPr>
              <a:spLocks noChangeShapeType="1"/>
            </p:cNvSpPr>
            <p:nvPr/>
          </p:nvSpPr>
          <p:spPr bwMode="auto">
            <a:xfrm>
              <a:off x="2394" y="1639"/>
              <a:ext cx="1130" cy="3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5987" name="Line 18">
              <a:extLst>
                <a:ext uri="{FF2B5EF4-FFF2-40B4-BE49-F238E27FC236}">
                  <a16:creationId xmlns:a16="http://schemas.microsoft.com/office/drawing/2014/main" id="{17D4B3E7-8465-6B8B-B9B9-C84A172FCC75}"/>
                </a:ext>
              </a:extLst>
            </p:cNvPr>
            <p:cNvSpPr>
              <a:spLocks noChangeShapeType="1"/>
            </p:cNvSpPr>
            <p:nvPr/>
          </p:nvSpPr>
          <p:spPr bwMode="auto">
            <a:xfrm>
              <a:off x="3781" y="1979"/>
              <a:ext cx="34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988" name="Line 19">
              <a:extLst>
                <a:ext uri="{FF2B5EF4-FFF2-40B4-BE49-F238E27FC236}">
                  <a16:creationId xmlns:a16="http://schemas.microsoft.com/office/drawing/2014/main" id="{1A969A36-BF02-BF82-F7A6-67AA2F3704F5}"/>
                </a:ext>
              </a:extLst>
            </p:cNvPr>
            <p:cNvSpPr>
              <a:spLocks noChangeShapeType="1"/>
            </p:cNvSpPr>
            <p:nvPr/>
          </p:nvSpPr>
          <p:spPr bwMode="auto">
            <a:xfrm>
              <a:off x="4121" y="1979"/>
              <a:ext cx="1" cy="20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5989" name="Oval 20">
              <a:extLst>
                <a:ext uri="{FF2B5EF4-FFF2-40B4-BE49-F238E27FC236}">
                  <a16:creationId xmlns:a16="http://schemas.microsoft.com/office/drawing/2014/main" id="{96988CEB-A6D2-67CD-6E91-7365FC3C11B1}"/>
                </a:ext>
              </a:extLst>
            </p:cNvPr>
            <p:cNvSpPr>
              <a:spLocks noChangeArrowheads="1"/>
            </p:cNvSpPr>
            <p:nvPr/>
          </p:nvSpPr>
          <p:spPr bwMode="auto">
            <a:xfrm>
              <a:off x="4093" y="2181"/>
              <a:ext cx="65" cy="55"/>
            </a:xfrm>
            <a:prstGeom prst="ellipse">
              <a:avLst/>
            </a:prstGeom>
            <a:solidFill>
              <a:srgbClr val="FFFFFF"/>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5990" name="Oval 21">
              <a:extLst>
                <a:ext uri="{FF2B5EF4-FFF2-40B4-BE49-F238E27FC236}">
                  <a16:creationId xmlns:a16="http://schemas.microsoft.com/office/drawing/2014/main" id="{CD022E7A-6B4B-15D0-9AB0-9BAFFFC30AEE}"/>
                </a:ext>
              </a:extLst>
            </p:cNvPr>
            <p:cNvSpPr>
              <a:spLocks noChangeArrowheads="1"/>
            </p:cNvSpPr>
            <p:nvPr/>
          </p:nvSpPr>
          <p:spPr bwMode="auto">
            <a:xfrm>
              <a:off x="4093" y="2392"/>
              <a:ext cx="65" cy="55"/>
            </a:xfrm>
            <a:prstGeom prst="ellipse">
              <a:avLst/>
            </a:prstGeom>
            <a:solidFill>
              <a:srgbClr val="FFFFFF"/>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5991" name="Oval 22">
              <a:extLst>
                <a:ext uri="{FF2B5EF4-FFF2-40B4-BE49-F238E27FC236}">
                  <a16:creationId xmlns:a16="http://schemas.microsoft.com/office/drawing/2014/main" id="{84E26674-B318-344E-9457-FC826B648258}"/>
                </a:ext>
              </a:extLst>
            </p:cNvPr>
            <p:cNvSpPr>
              <a:spLocks noChangeArrowheads="1"/>
            </p:cNvSpPr>
            <p:nvPr/>
          </p:nvSpPr>
          <p:spPr bwMode="auto">
            <a:xfrm>
              <a:off x="4314" y="2291"/>
              <a:ext cx="64" cy="55"/>
            </a:xfrm>
            <a:prstGeom prst="ellipse">
              <a:avLst/>
            </a:prstGeom>
            <a:solidFill>
              <a:srgbClr val="FFFFFF"/>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5992" name="Line 23">
              <a:extLst>
                <a:ext uri="{FF2B5EF4-FFF2-40B4-BE49-F238E27FC236}">
                  <a16:creationId xmlns:a16="http://schemas.microsoft.com/office/drawing/2014/main" id="{8D49EBBB-1F15-93EA-8707-E1C605093DBE}"/>
                </a:ext>
              </a:extLst>
            </p:cNvPr>
            <p:cNvSpPr>
              <a:spLocks noChangeShapeType="1"/>
            </p:cNvSpPr>
            <p:nvPr/>
          </p:nvSpPr>
          <p:spPr bwMode="auto">
            <a:xfrm>
              <a:off x="1834" y="1547"/>
              <a:ext cx="40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5993" name="Line 24">
              <a:extLst>
                <a:ext uri="{FF2B5EF4-FFF2-40B4-BE49-F238E27FC236}">
                  <a16:creationId xmlns:a16="http://schemas.microsoft.com/office/drawing/2014/main" id="{78B56C85-8E36-2243-12F7-610C47843ABC}"/>
                </a:ext>
              </a:extLst>
            </p:cNvPr>
            <p:cNvSpPr>
              <a:spLocks noChangeShapeType="1"/>
            </p:cNvSpPr>
            <p:nvPr/>
          </p:nvSpPr>
          <p:spPr bwMode="auto">
            <a:xfrm>
              <a:off x="2008" y="1547"/>
              <a:ext cx="2" cy="8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994" name="Line 25">
              <a:extLst>
                <a:ext uri="{FF2B5EF4-FFF2-40B4-BE49-F238E27FC236}">
                  <a16:creationId xmlns:a16="http://schemas.microsoft.com/office/drawing/2014/main" id="{BA317110-E73B-2C1F-15D0-30C85475EC4E}"/>
                </a:ext>
              </a:extLst>
            </p:cNvPr>
            <p:cNvSpPr>
              <a:spLocks noChangeShapeType="1"/>
            </p:cNvSpPr>
            <p:nvPr/>
          </p:nvSpPr>
          <p:spPr bwMode="auto">
            <a:xfrm flipH="1">
              <a:off x="2008" y="2420"/>
              <a:ext cx="2085" cy="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5995" name="Line 26">
              <a:extLst>
                <a:ext uri="{FF2B5EF4-FFF2-40B4-BE49-F238E27FC236}">
                  <a16:creationId xmlns:a16="http://schemas.microsoft.com/office/drawing/2014/main" id="{BE858B9A-0F1F-33B3-6F7E-7558BA8C44D8}"/>
                </a:ext>
              </a:extLst>
            </p:cNvPr>
            <p:cNvSpPr>
              <a:spLocks noChangeShapeType="1"/>
            </p:cNvSpPr>
            <p:nvPr/>
          </p:nvSpPr>
          <p:spPr bwMode="auto">
            <a:xfrm>
              <a:off x="4369" y="2319"/>
              <a:ext cx="31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5996" name="Text Box 27">
              <a:extLst>
                <a:ext uri="{FF2B5EF4-FFF2-40B4-BE49-F238E27FC236}">
                  <a16:creationId xmlns:a16="http://schemas.microsoft.com/office/drawing/2014/main" id="{7A3E54AC-5F1E-0A35-4184-0533CFF9E49B}"/>
                </a:ext>
              </a:extLst>
            </p:cNvPr>
            <p:cNvSpPr txBox="1">
              <a:spLocks noChangeArrowheads="1"/>
            </p:cNvSpPr>
            <p:nvPr/>
          </p:nvSpPr>
          <p:spPr bwMode="auto">
            <a:xfrm>
              <a:off x="1576" y="1374"/>
              <a:ext cx="4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zh-CN" altLang="en-US" sz="1800">
                  <a:solidFill>
                    <a:schemeClr val="tx1"/>
                  </a:solidFill>
                  <a:latin typeface="Arial" panose="020B0604020202020204" pitchFamily="34" charset="0"/>
                  <a:ea typeface="华文中宋" panose="02010600040101010101" pitchFamily="2" charset="-122"/>
                  <a:cs typeface="Arial" panose="020B0604020202020204" pitchFamily="34" charset="0"/>
                </a:rPr>
                <a:t>输入</a:t>
              </a:r>
              <a:endParaRPr lang="zh-CN" altLang="en-US" sz="36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5997" name="Text Box 28">
              <a:extLst>
                <a:ext uri="{FF2B5EF4-FFF2-40B4-BE49-F238E27FC236}">
                  <a16:creationId xmlns:a16="http://schemas.microsoft.com/office/drawing/2014/main" id="{A555AFA3-9993-819A-3575-C02133CF9337}"/>
                </a:ext>
              </a:extLst>
            </p:cNvPr>
            <p:cNvSpPr txBox="1">
              <a:spLocks noChangeArrowheads="1"/>
            </p:cNvSpPr>
            <p:nvPr/>
          </p:nvSpPr>
          <p:spPr bwMode="auto">
            <a:xfrm>
              <a:off x="4433" y="2118"/>
              <a:ext cx="4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zh-CN" altLang="en-US" sz="1800">
                  <a:solidFill>
                    <a:schemeClr val="tx1"/>
                  </a:solidFill>
                  <a:latin typeface="Arial" panose="020B0604020202020204" pitchFamily="34" charset="0"/>
                  <a:ea typeface="华文中宋" panose="02010600040101010101" pitchFamily="2" charset="-122"/>
                  <a:cs typeface="Arial" panose="020B0604020202020204" pitchFamily="34" charset="0"/>
                </a:rPr>
                <a:t>输出</a:t>
              </a:r>
              <a:endParaRPr lang="zh-CN" altLang="en-US" sz="36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5998" name="Text Box 29">
              <a:extLst>
                <a:ext uri="{FF2B5EF4-FFF2-40B4-BE49-F238E27FC236}">
                  <a16:creationId xmlns:a16="http://schemas.microsoft.com/office/drawing/2014/main" id="{655953AF-D2CC-158B-B350-B38899EF486A}"/>
                </a:ext>
              </a:extLst>
            </p:cNvPr>
            <p:cNvSpPr txBox="1">
              <a:spLocks noChangeArrowheads="1"/>
            </p:cNvSpPr>
            <p:nvPr/>
          </p:nvSpPr>
          <p:spPr bwMode="auto">
            <a:xfrm>
              <a:off x="3698" y="2224"/>
              <a:ext cx="31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2000" i="1">
                  <a:solidFill>
                    <a:schemeClr val="tx1"/>
                  </a:solidFill>
                  <a:latin typeface="Arial" panose="020B0604020202020204" pitchFamily="34" charset="0"/>
                  <a:ea typeface="华文中宋" panose="02010600040101010101" pitchFamily="2" charset="-122"/>
                  <a:cs typeface="Arial" panose="020B0604020202020204" pitchFamily="34" charset="0"/>
                </a:rPr>
                <a:t>b</a:t>
              </a:r>
              <a:r>
                <a:rPr lang="en-US" altLang="zh-CN" sz="1800" i="1" baseline="-25000">
                  <a:solidFill>
                    <a:schemeClr val="tx1"/>
                  </a:solidFill>
                  <a:latin typeface="Arial" panose="020B0604020202020204" pitchFamily="34" charset="0"/>
                  <a:ea typeface="华文中宋" panose="02010600040101010101" pitchFamily="2" charset="-122"/>
                  <a:cs typeface="Arial" panose="020B0604020202020204" pitchFamily="34" charset="0"/>
                </a:rPr>
                <a:t>i</a:t>
              </a:r>
              <a:endParaRPr lang="en-US" altLang="zh-CN" sz="36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5999" name="Text Box 30">
              <a:extLst>
                <a:ext uri="{FF2B5EF4-FFF2-40B4-BE49-F238E27FC236}">
                  <a16:creationId xmlns:a16="http://schemas.microsoft.com/office/drawing/2014/main" id="{621E7DF2-964E-3027-83BB-09F078DA14BF}"/>
                </a:ext>
              </a:extLst>
            </p:cNvPr>
            <p:cNvSpPr txBox="1">
              <a:spLocks noChangeArrowheads="1"/>
            </p:cNvSpPr>
            <p:nvPr/>
          </p:nvSpPr>
          <p:spPr bwMode="auto">
            <a:xfrm>
              <a:off x="4009" y="1789"/>
              <a:ext cx="313"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2000" i="1">
                  <a:solidFill>
                    <a:schemeClr val="tx1"/>
                  </a:solidFill>
                  <a:latin typeface="Arial" panose="020B0604020202020204" pitchFamily="34" charset="0"/>
                  <a:ea typeface="华文中宋" panose="02010600040101010101" pitchFamily="2" charset="-122"/>
                  <a:cs typeface="Arial" panose="020B0604020202020204" pitchFamily="34" charset="0"/>
                </a:rPr>
                <a:t>c</a:t>
              </a:r>
              <a:r>
                <a:rPr lang="en-US" altLang="zh-CN" sz="1800" i="1" baseline="-25000">
                  <a:solidFill>
                    <a:schemeClr val="tx1"/>
                  </a:solidFill>
                  <a:latin typeface="Arial" panose="020B0604020202020204" pitchFamily="34" charset="0"/>
                  <a:ea typeface="华文中宋" panose="02010600040101010101" pitchFamily="2" charset="-122"/>
                  <a:cs typeface="Arial" panose="020B0604020202020204" pitchFamily="34" charset="0"/>
                </a:rPr>
                <a:t>i</a:t>
              </a:r>
              <a:endParaRPr lang="en-US" altLang="zh-CN" sz="36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6000" name="Line 31">
              <a:extLst>
                <a:ext uri="{FF2B5EF4-FFF2-40B4-BE49-F238E27FC236}">
                  <a16:creationId xmlns:a16="http://schemas.microsoft.com/office/drawing/2014/main" id="{E52C5205-5A15-8DB4-AE5C-D6B6C2E86AAB}"/>
                </a:ext>
              </a:extLst>
            </p:cNvPr>
            <p:cNvSpPr>
              <a:spLocks noChangeShapeType="1"/>
            </p:cNvSpPr>
            <p:nvPr/>
          </p:nvSpPr>
          <p:spPr bwMode="auto">
            <a:xfrm flipH="1">
              <a:off x="4148" y="2328"/>
              <a:ext cx="166" cy="7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6001" name="Arc 32">
              <a:extLst>
                <a:ext uri="{FF2B5EF4-FFF2-40B4-BE49-F238E27FC236}">
                  <a16:creationId xmlns:a16="http://schemas.microsoft.com/office/drawing/2014/main" id="{4D38F7AD-F488-7195-7E52-67DFD3250FE5}"/>
                </a:ext>
              </a:extLst>
            </p:cNvPr>
            <p:cNvSpPr>
              <a:spLocks/>
            </p:cNvSpPr>
            <p:nvPr/>
          </p:nvSpPr>
          <p:spPr bwMode="auto">
            <a:xfrm rot="-233806">
              <a:off x="4235" y="2182"/>
              <a:ext cx="164" cy="227"/>
            </a:xfrm>
            <a:custGeom>
              <a:avLst/>
              <a:gdLst>
                <a:gd name="T0" fmla="*/ 0 w 21600"/>
                <a:gd name="T1" fmla="*/ 0 h 41283"/>
                <a:gd name="T2" fmla="*/ 0 w 21600"/>
                <a:gd name="T3" fmla="*/ 0 h 41283"/>
                <a:gd name="T4" fmla="*/ 0 w 21600"/>
                <a:gd name="T5" fmla="*/ 0 h 41283"/>
                <a:gd name="T6" fmla="*/ 0 60000 65536"/>
                <a:gd name="T7" fmla="*/ 0 60000 65536"/>
                <a:gd name="T8" fmla="*/ 0 60000 65536"/>
                <a:gd name="T9" fmla="*/ 0 w 21600"/>
                <a:gd name="T10" fmla="*/ 0 h 41283"/>
                <a:gd name="T11" fmla="*/ 21600 w 21600"/>
                <a:gd name="T12" fmla="*/ 41283 h 41283"/>
              </a:gdLst>
              <a:ahLst/>
              <a:cxnLst>
                <a:cxn ang="T6">
                  <a:pos x="T0" y="T1"/>
                </a:cxn>
                <a:cxn ang="T7">
                  <a:pos x="T2" y="T3"/>
                </a:cxn>
                <a:cxn ang="T8">
                  <a:pos x="T4" y="T5"/>
                </a:cxn>
              </a:cxnLst>
              <a:rect l="T9" t="T10" r="T11" b="T12"/>
              <a:pathLst>
                <a:path w="21600" h="41283" fill="none" extrusionOk="0">
                  <a:moveTo>
                    <a:pt x="14559" y="41283"/>
                  </a:moveTo>
                  <a:cubicBezTo>
                    <a:pt x="5847" y="38279"/>
                    <a:pt x="0" y="30078"/>
                    <a:pt x="0" y="20863"/>
                  </a:cubicBezTo>
                  <a:cubicBezTo>
                    <a:pt x="-1" y="11088"/>
                    <a:pt x="6564" y="2532"/>
                    <a:pt x="16005" y="0"/>
                  </a:cubicBezTo>
                </a:path>
                <a:path w="21600" h="41283" stroke="0" extrusionOk="0">
                  <a:moveTo>
                    <a:pt x="14559" y="41283"/>
                  </a:moveTo>
                  <a:cubicBezTo>
                    <a:pt x="5847" y="38279"/>
                    <a:pt x="0" y="30078"/>
                    <a:pt x="0" y="20863"/>
                  </a:cubicBezTo>
                  <a:cubicBezTo>
                    <a:pt x="-1" y="11088"/>
                    <a:pt x="6564" y="2532"/>
                    <a:pt x="16005" y="0"/>
                  </a:cubicBezTo>
                  <a:lnTo>
                    <a:pt x="21600" y="20863"/>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35" name="矩形 34">
            <a:extLst>
              <a:ext uri="{FF2B5EF4-FFF2-40B4-BE49-F238E27FC236}">
                <a16:creationId xmlns:a16="http://schemas.microsoft.com/office/drawing/2014/main" id="{290BBFFC-E52D-0FC5-85FD-C1EFBC36F5B1}"/>
              </a:ext>
            </a:extLst>
          </p:cNvPr>
          <p:cNvSpPr/>
          <p:nvPr/>
        </p:nvSpPr>
        <p:spPr>
          <a:xfrm>
            <a:off x="1000125" y="500063"/>
            <a:ext cx="7572375" cy="461962"/>
          </a:xfrm>
          <a:prstGeom prst="rect">
            <a:avLst/>
          </a:prstGeom>
          <a:solidFill>
            <a:schemeClr val="bg2">
              <a:lumMod val="10000"/>
              <a:lumOff val="90000"/>
            </a:schemeClr>
          </a:solidFill>
          <a:ln>
            <a:solidFill>
              <a:schemeClr val="tx1">
                <a:lumMod val="50000"/>
                <a:lumOff val="50000"/>
              </a:schemeClr>
            </a:solidFill>
          </a:ln>
          <a:effectLst/>
        </p:spPr>
        <p:txBody>
          <a:bodyPr>
            <a:spAutoFit/>
          </a:bodyPr>
          <a:lstStyle/>
          <a:p>
            <a:pPr marL="228600" indent="-228600">
              <a:spcBef>
                <a:spcPct val="20000"/>
              </a:spcBef>
              <a:buClr>
                <a:srgbClr val="FFCF01"/>
              </a:buClr>
              <a:buSzPct val="55000"/>
              <a:defRPr/>
            </a:pPr>
            <a:r>
              <a:rPr kumimoji="0" lang="en-US" altLang="zh-CN" sz="2000" b="0" kern="0" dirty="0">
                <a:solidFill>
                  <a:srgbClr val="000000"/>
                </a:solidFill>
                <a:latin typeface="Arial" pitchFamily="34" charset="0"/>
                <a:ea typeface="微软雅黑" pitchFamily="34" charset="-122"/>
                <a:cs typeface="Arial" pitchFamily="34" charset="0"/>
              </a:rPr>
              <a:t>        </a:t>
            </a:r>
            <a:r>
              <a:rPr kumimoji="0" lang="en-US" altLang="zh-CN" sz="2400" b="0" kern="0" dirty="0">
                <a:solidFill>
                  <a:srgbClr val="000000"/>
                </a:solidFill>
                <a:latin typeface="Arial" pitchFamily="34" charset="0"/>
                <a:ea typeface="微软雅黑" pitchFamily="34" charset="-122"/>
                <a:cs typeface="Arial" pitchFamily="34" charset="0"/>
              </a:rPr>
              <a:t>(2, 1, 6)</a:t>
            </a:r>
            <a:r>
              <a:rPr kumimoji="0" lang="zh-CN" altLang="en-US" sz="2400" b="0" kern="0" dirty="0">
                <a:solidFill>
                  <a:srgbClr val="000000"/>
                </a:solidFill>
                <a:latin typeface="Arial" pitchFamily="34" charset="0"/>
                <a:ea typeface="微软雅黑" pitchFamily="34" charset="-122"/>
                <a:cs typeface="Arial" pitchFamily="34" charset="0"/>
              </a:rPr>
              <a:t>卷积码</a:t>
            </a:r>
          </a:p>
        </p:txBody>
      </p:sp>
      <p:sp>
        <p:nvSpPr>
          <p:cNvPr id="36" name="矩形 35">
            <a:extLst>
              <a:ext uri="{FF2B5EF4-FFF2-40B4-BE49-F238E27FC236}">
                <a16:creationId xmlns:a16="http://schemas.microsoft.com/office/drawing/2014/main" id="{9DCA5A31-DB45-AE86-1474-AF8EDA9DEEB9}"/>
              </a:ext>
            </a:extLst>
          </p:cNvPr>
          <p:cNvSpPr/>
          <p:nvPr/>
        </p:nvSpPr>
        <p:spPr>
          <a:xfrm>
            <a:off x="714375" y="1357313"/>
            <a:ext cx="2686050" cy="461962"/>
          </a:xfrm>
          <a:prstGeom prst="rect">
            <a:avLst/>
          </a:prstGeom>
        </p:spPr>
        <p:txBody>
          <a:bodyPr wrap="none">
            <a:spAutoFit/>
          </a:bodyPr>
          <a:lstStyle/>
          <a:p>
            <a:pPr marL="342900" indent="-342900">
              <a:spcBef>
                <a:spcPct val="20000"/>
              </a:spcBef>
              <a:buClr>
                <a:srgbClr val="3333CC"/>
              </a:buClr>
              <a:buSzPct val="60000"/>
              <a:buFont typeface="Wingdings" pitchFamily="2" charset="2"/>
              <a:buChar char="l"/>
              <a:defRPr/>
            </a:pPr>
            <a:r>
              <a:rPr kumimoji="0" lang="zh-CN" altLang="en-US" sz="2400" kern="0" dirty="0">
                <a:solidFill>
                  <a:srgbClr val="003399"/>
                </a:solidFill>
                <a:latin typeface="Arial" pitchFamily="34" charset="0"/>
                <a:ea typeface="微软雅黑" pitchFamily="34" charset="-122"/>
                <a:cs typeface="Arial" pitchFamily="34" charset="0"/>
              </a:rPr>
              <a:t>编码器方框图：</a:t>
            </a:r>
          </a:p>
        </p:txBody>
      </p:sp>
      <p:sp>
        <p:nvSpPr>
          <p:cNvPr id="37" name="矩形 36">
            <a:extLst>
              <a:ext uri="{FF2B5EF4-FFF2-40B4-BE49-F238E27FC236}">
                <a16:creationId xmlns:a16="http://schemas.microsoft.com/office/drawing/2014/main" id="{63B11E41-4122-D27A-CCF7-10B8C31431FD}"/>
              </a:ext>
            </a:extLst>
          </p:cNvPr>
          <p:cNvSpPr/>
          <p:nvPr/>
        </p:nvSpPr>
        <p:spPr>
          <a:xfrm>
            <a:off x="712788" y="2457450"/>
            <a:ext cx="3286125" cy="400050"/>
          </a:xfrm>
          <a:prstGeom prst="rect">
            <a:avLst/>
          </a:prstGeom>
        </p:spPr>
        <p:txBody>
          <a:bodyPr>
            <a:spAutoFit/>
          </a:bodyPr>
          <a:lstStyle/>
          <a:p>
            <a:pPr marL="342900" indent="-342900">
              <a:spcBef>
                <a:spcPct val="20000"/>
              </a:spcBef>
              <a:buClr>
                <a:srgbClr val="3333CC"/>
              </a:buClr>
              <a:buSzPct val="60000"/>
              <a:buFont typeface="Wingdings" pitchFamily="2" charset="2"/>
              <a:buChar char="l"/>
              <a:defRPr/>
            </a:pPr>
            <a:r>
              <a:rPr kumimoji="0" lang="zh-CN" altLang="en-US" sz="2000" kern="0" dirty="0">
                <a:solidFill>
                  <a:srgbClr val="003399"/>
                </a:solidFill>
                <a:latin typeface="Arial" pitchFamily="34" charset="0"/>
                <a:ea typeface="微软雅黑" pitchFamily="34" charset="-122"/>
                <a:cs typeface="Arial" pitchFamily="34" charset="0"/>
              </a:rPr>
              <a:t>监督位和信息位的关系</a:t>
            </a:r>
            <a:r>
              <a:rPr kumimoji="0" lang="zh-CN" altLang="en-US" sz="2000" b="0" kern="0" dirty="0">
                <a:solidFill>
                  <a:srgbClr val="003399"/>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a:t>
            </a:r>
          </a:p>
        </p:txBody>
      </p:sp>
      <p:sp>
        <p:nvSpPr>
          <p:cNvPr id="38" name="矩形 37">
            <a:extLst>
              <a:ext uri="{FF2B5EF4-FFF2-40B4-BE49-F238E27FC236}">
                <a16:creationId xmlns:a16="http://schemas.microsoft.com/office/drawing/2014/main" id="{972F94AF-CB2A-88AB-E865-D66AB72D3895}"/>
              </a:ext>
            </a:extLst>
          </p:cNvPr>
          <p:cNvSpPr/>
          <p:nvPr/>
        </p:nvSpPr>
        <p:spPr>
          <a:xfrm>
            <a:off x="714375" y="2957513"/>
            <a:ext cx="3786188" cy="400050"/>
          </a:xfrm>
          <a:prstGeom prst="rect">
            <a:avLst/>
          </a:prstGeom>
        </p:spPr>
        <p:txBody>
          <a:bodyPr>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（当输入序列为</a:t>
            </a:r>
            <a:r>
              <a:rPr kumimoji="0" lang="en-US" altLang="zh-CN" sz="2000" b="0" i="1" kern="0" dirty="0">
                <a:solidFill>
                  <a:srgbClr val="000000"/>
                </a:solidFill>
                <a:latin typeface="Arial" pitchFamily="34" charset="0"/>
                <a:ea typeface="微软雅黑" pitchFamily="34" charset="-122"/>
                <a:cs typeface="Arial" pitchFamily="34" charset="0"/>
              </a:rPr>
              <a:t>b</a:t>
            </a:r>
            <a:r>
              <a:rPr kumimoji="0" lang="en-US" altLang="zh-CN" sz="2000" b="0" kern="0" baseline="-25000" dirty="0">
                <a:solidFill>
                  <a:srgbClr val="000000"/>
                </a:solidFill>
                <a:latin typeface="Arial" pitchFamily="34" charset="0"/>
                <a:ea typeface="微软雅黑" pitchFamily="34" charset="-122"/>
                <a:cs typeface="Arial" pitchFamily="34" charset="0"/>
              </a:rPr>
              <a:t>1</a:t>
            </a:r>
            <a:r>
              <a:rPr kumimoji="0" lang="en-US" altLang="zh-CN" sz="2000" b="0" kern="0" dirty="0">
                <a:solidFill>
                  <a:srgbClr val="000000"/>
                </a:solidFill>
                <a:latin typeface="Arial" pitchFamily="34" charset="0"/>
                <a:ea typeface="微软雅黑" pitchFamily="34" charset="-122"/>
                <a:cs typeface="Arial" pitchFamily="34" charset="0"/>
              </a:rPr>
              <a:t> </a:t>
            </a:r>
            <a:r>
              <a:rPr kumimoji="0" lang="en-US" altLang="zh-CN" sz="2000" b="0" i="1" kern="0" dirty="0">
                <a:solidFill>
                  <a:srgbClr val="000000"/>
                </a:solidFill>
                <a:latin typeface="Arial" pitchFamily="34" charset="0"/>
                <a:ea typeface="微软雅黑" pitchFamily="34" charset="-122"/>
                <a:cs typeface="Arial" pitchFamily="34" charset="0"/>
              </a:rPr>
              <a:t>b</a:t>
            </a:r>
            <a:r>
              <a:rPr kumimoji="0" lang="en-US" altLang="zh-CN" sz="2000" b="0" kern="0" baseline="-25000" dirty="0">
                <a:solidFill>
                  <a:srgbClr val="000000"/>
                </a:solidFill>
                <a:latin typeface="Arial" pitchFamily="34" charset="0"/>
                <a:ea typeface="微软雅黑" pitchFamily="34" charset="-122"/>
                <a:cs typeface="Arial" pitchFamily="34" charset="0"/>
              </a:rPr>
              <a:t>2</a:t>
            </a:r>
            <a:r>
              <a:rPr kumimoji="0" lang="en-US" altLang="zh-CN" sz="2000" b="0" kern="0" dirty="0">
                <a:solidFill>
                  <a:srgbClr val="000000"/>
                </a:solidFill>
                <a:latin typeface="Arial" pitchFamily="34" charset="0"/>
                <a:ea typeface="微软雅黑" pitchFamily="34" charset="-122"/>
                <a:cs typeface="Arial" pitchFamily="34" charset="0"/>
              </a:rPr>
              <a:t> </a:t>
            </a:r>
            <a:r>
              <a:rPr kumimoji="0" lang="en-US" altLang="zh-CN" sz="2000" b="0" i="1" kern="0" dirty="0">
                <a:solidFill>
                  <a:srgbClr val="000000"/>
                </a:solidFill>
                <a:latin typeface="Arial" pitchFamily="34" charset="0"/>
                <a:ea typeface="微软雅黑" pitchFamily="34" charset="-122"/>
                <a:cs typeface="Arial" pitchFamily="34" charset="0"/>
              </a:rPr>
              <a:t>b</a:t>
            </a:r>
            <a:r>
              <a:rPr kumimoji="0" lang="en-US" altLang="zh-CN" sz="2000" b="0" kern="0" baseline="-25000" dirty="0">
                <a:solidFill>
                  <a:srgbClr val="000000"/>
                </a:solidFill>
                <a:latin typeface="Arial" pitchFamily="34" charset="0"/>
                <a:ea typeface="微软雅黑" pitchFamily="34" charset="-122"/>
                <a:cs typeface="Arial" pitchFamily="34" charset="0"/>
              </a:rPr>
              <a:t>3</a:t>
            </a:r>
            <a:r>
              <a:rPr kumimoji="0" lang="en-US" altLang="zh-CN" sz="2000" b="0" kern="0" dirty="0">
                <a:solidFill>
                  <a:srgbClr val="000000"/>
                </a:solidFill>
                <a:latin typeface="Arial" pitchFamily="34" charset="0"/>
                <a:ea typeface="微软雅黑" pitchFamily="34" charset="-122"/>
                <a:cs typeface="Arial" pitchFamily="34" charset="0"/>
              </a:rPr>
              <a:t> </a:t>
            </a:r>
            <a:r>
              <a:rPr kumimoji="0" lang="en-US" altLang="zh-CN" sz="2000" b="0" i="1" kern="0" dirty="0">
                <a:solidFill>
                  <a:srgbClr val="000000"/>
                </a:solidFill>
                <a:latin typeface="Arial" pitchFamily="34" charset="0"/>
                <a:ea typeface="微软雅黑" pitchFamily="34" charset="-122"/>
                <a:cs typeface="Arial" pitchFamily="34" charset="0"/>
              </a:rPr>
              <a:t>b</a:t>
            </a:r>
            <a:r>
              <a:rPr kumimoji="0" lang="en-US" altLang="zh-CN" sz="2000" b="0" kern="0" baseline="-25000" dirty="0">
                <a:solidFill>
                  <a:srgbClr val="000000"/>
                </a:solidFill>
                <a:latin typeface="Arial" pitchFamily="34" charset="0"/>
                <a:ea typeface="微软雅黑" pitchFamily="34" charset="-122"/>
                <a:cs typeface="Arial" pitchFamily="34" charset="0"/>
              </a:rPr>
              <a:t>4</a:t>
            </a:r>
            <a:r>
              <a:rPr kumimoji="0" lang="en-US" altLang="zh-CN" sz="2000" b="0" kern="0" dirty="0">
                <a:solidFill>
                  <a:srgbClr val="000000"/>
                </a:solidFill>
                <a:latin typeface="Arial" pitchFamily="34" charset="0"/>
                <a:ea typeface="微软雅黑" pitchFamily="34" charset="-122"/>
                <a:cs typeface="Arial" pitchFamily="34" charset="0"/>
              </a:rPr>
              <a:t> </a:t>
            </a:r>
            <a:r>
              <a:rPr kumimoji="0" lang="en-US" altLang="zh-CN" sz="2000" b="0" kern="0" dirty="0">
                <a:solidFill>
                  <a:srgbClr val="000000"/>
                </a:solidFill>
                <a:latin typeface="Arial" pitchFamily="34" charset="0"/>
                <a:ea typeface="微软雅黑" pitchFamily="34" charset="-122"/>
                <a:cs typeface="Arial" pitchFamily="34" charset="0"/>
                <a:sym typeface="Symbol" pitchFamily="18" charset="2"/>
              </a:rPr>
              <a:t></a:t>
            </a:r>
            <a:r>
              <a:rPr kumimoji="0" lang="zh-CN" altLang="en-US" sz="2000" b="0" kern="0" dirty="0">
                <a:solidFill>
                  <a:srgbClr val="000000"/>
                </a:solidFill>
                <a:latin typeface="Arial" pitchFamily="34" charset="0"/>
                <a:ea typeface="微软雅黑" pitchFamily="34" charset="-122"/>
                <a:cs typeface="Arial" pitchFamily="34" charset="0"/>
              </a:rPr>
              <a:t>时）</a:t>
            </a:r>
            <a:endParaRPr lang="zh-CN" altLang="en-US" dirty="0"/>
          </a:p>
        </p:txBody>
      </p:sp>
      <p:sp>
        <p:nvSpPr>
          <p:cNvPr id="40" name="Rectangle 3">
            <a:extLst>
              <a:ext uri="{FF2B5EF4-FFF2-40B4-BE49-F238E27FC236}">
                <a16:creationId xmlns:a16="http://schemas.microsoft.com/office/drawing/2014/main" id="{A45C7FB2-4188-6D6B-DD11-E0B05C4700F1}"/>
              </a:ext>
            </a:extLst>
          </p:cNvPr>
          <p:cNvSpPr txBox="1">
            <a:spLocks noChangeArrowheads="1"/>
          </p:cNvSpPr>
          <p:nvPr/>
        </p:nvSpPr>
        <p:spPr bwMode="auto">
          <a:xfrm>
            <a:off x="5429250" y="3571875"/>
            <a:ext cx="3143250" cy="2786063"/>
          </a:xfrm>
          <a:prstGeom prst="rect">
            <a:avLst/>
          </a:prstGeom>
          <a:noFill/>
          <a:ln w="9525">
            <a:noFill/>
            <a:miter lim="800000"/>
            <a:headEnd/>
            <a:tailEnd/>
          </a:ln>
        </p:spPr>
        <p:txBody>
          <a:bodyPr/>
          <a:lstStyle/>
          <a:p>
            <a:pPr marL="342900" indent="-342900">
              <a:lnSpc>
                <a:spcPts val="3200"/>
              </a:lnSpc>
              <a:spcBef>
                <a:spcPct val="20000"/>
              </a:spcBef>
              <a:buClr>
                <a:schemeClr val="folHlink"/>
              </a:buClr>
              <a:buSzPct val="60000"/>
              <a:buFont typeface="Wingdings" pitchFamily="2" charset="2"/>
              <a:buNone/>
              <a:defRPr/>
            </a:pPr>
            <a:r>
              <a:rPr kumimoji="0" lang="en-US" altLang="zh-CN" sz="2000" b="0" i="1" kern="0" dirty="0">
                <a:solidFill>
                  <a:schemeClr val="tx1"/>
                </a:solidFill>
                <a:latin typeface="Arial" pitchFamily="34" charset="0"/>
                <a:ea typeface="微软雅黑" pitchFamily="34" charset="-122"/>
                <a:cs typeface="Arial" pitchFamily="34" charset="0"/>
              </a:rPr>
              <a:t>S</a:t>
            </a:r>
            <a:r>
              <a:rPr kumimoji="0" lang="en-US" altLang="zh-CN" sz="2000" b="0" kern="0" baseline="-25000" dirty="0">
                <a:solidFill>
                  <a:schemeClr val="tx1"/>
                </a:solidFill>
                <a:latin typeface="Arial" pitchFamily="34" charset="0"/>
                <a:ea typeface="微软雅黑" pitchFamily="34" charset="-122"/>
                <a:cs typeface="Arial" pitchFamily="34" charset="0"/>
              </a:rPr>
              <a:t>1</a:t>
            </a:r>
            <a:r>
              <a:rPr kumimoji="0" lang="en-US" altLang="zh-CN" sz="2000" b="0" kern="0" dirty="0">
                <a:solidFill>
                  <a:schemeClr val="tx1"/>
                </a:solidFill>
                <a:latin typeface="Arial" pitchFamily="34" charset="0"/>
                <a:ea typeface="微软雅黑" pitchFamily="34" charset="-122"/>
                <a:cs typeface="Arial" pitchFamily="34" charset="0"/>
              </a:rPr>
              <a:t> = </a:t>
            </a:r>
            <a:r>
              <a:rPr kumimoji="0" lang="en-US" altLang="zh-CN" sz="2000" b="0" i="1" kern="0" dirty="0">
                <a:solidFill>
                  <a:schemeClr val="tx1"/>
                </a:solidFill>
                <a:latin typeface="Arial" pitchFamily="34" charset="0"/>
                <a:ea typeface="微软雅黑" pitchFamily="34" charset="-122"/>
                <a:cs typeface="Arial" pitchFamily="34" charset="0"/>
              </a:rPr>
              <a:t>c</a:t>
            </a:r>
            <a:r>
              <a:rPr kumimoji="0" lang="en-US" altLang="zh-CN" sz="2000" b="0" kern="0" baseline="-25000" dirty="0">
                <a:solidFill>
                  <a:schemeClr val="tx1"/>
                </a:solidFill>
                <a:latin typeface="Arial" pitchFamily="34" charset="0"/>
                <a:ea typeface="微软雅黑" pitchFamily="34" charset="-122"/>
                <a:cs typeface="Arial" pitchFamily="34" charset="0"/>
              </a:rPr>
              <a:t>1</a:t>
            </a:r>
            <a:r>
              <a:rPr kumimoji="0" lang="en-US" altLang="zh-CN" sz="2000" b="0" kern="0" dirty="0">
                <a:solidFill>
                  <a:schemeClr val="tx1"/>
                </a:solidFill>
                <a:latin typeface="Arial" pitchFamily="34" charset="0"/>
                <a:ea typeface="微软雅黑" pitchFamily="34" charset="-122"/>
                <a:cs typeface="Arial" pitchFamily="34" charset="0"/>
              </a:rPr>
              <a:t> + </a:t>
            </a:r>
            <a:r>
              <a:rPr kumimoji="0" lang="en-US" altLang="zh-CN" sz="2000" b="0" i="1" kern="0" dirty="0">
                <a:solidFill>
                  <a:schemeClr val="tx1"/>
                </a:solidFill>
                <a:latin typeface="Arial" pitchFamily="34" charset="0"/>
                <a:ea typeface="微软雅黑" pitchFamily="34" charset="-122"/>
                <a:cs typeface="Arial" pitchFamily="34" charset="0"/>
              </a:rPr>
              <a:t>b</a:t>
            </a:r>
            <a:r>
              <a:rPr kumimoji="0" lang="en-US" altLang="zh-CN" sz="2000" b="0" kern="0" baseline="-25000" dirty="0">
                <a:solidFill>
                  <a:schemeClr val="tx1"/>
                </a:solidFill>
                <a:latin typeface="Arial" pitchFamily="34" charset="0"/>
                <a:ea typeface="微软雅黑" pitchFamily="34" charset="-122"/>
                <a:cs typeface="Arial" pitchFamily="34" charset="0"/>
              </a:rPr>
              <a:t>1</a:t>
            </a:r>
          </a:p>
          <a:p>
            <a:pPr marL="342900" indent="-342900">
              <a:lnSpc>
                <a:spcPts val="3200"/>
              </a:lnSpc>
              <a:spcBef>
                <a:spcPct val="20000"/>
              </a:spcBef>
              <a:buClr>
                <a:schemeClr val="folHlink"/>
              </a:buClr>
              <a:buSzPct val="60000"/>
              <a:buFont typeface="Wingdings" pitchFamily="2" charset="2"/>
              <a:buNone/>
              <a:defRPr/>
            </a:pPr>
            <a:r>
              <a:rPr kumimoji="0" lang="en-US" altLang="zh-CN" sz="2000" b="0" i="1" kern="0" dirty="0">
                <a:solidFill>
                  <a:schemeClr val="tx1"/>
                </a:solidFill>
                <a:latin typeface="Arial" pitchFamily="34" charset="0"/>
                <a:ea typeface="微软雅黑" pitchFamily="34" charset="-122"/>
                <a:cs typeface="Arial" pitchFamily="34" charset="0"/>
              </a:rPr>
              <a:t>S</a:t>
            </a:r>
            <a:r>
              <a:rPr kumimoji="0" lang="en-US" altLang="zh-CN" sz="2000" b="0" kern="0" baseline="-25000" dirty="0">
                <a:solidFill>
                  <a:schemeClr val="tx1"/>
                </a:solidFill>
                <a:latin typeface="Arial" pitchFamily="34" charset="0"/>
                <a:ea typeface="微软雅黑" pitchFamily="34" charset="-122"/>
                <a:cs typeface="Arial" pitchFamily="34" charset="0"/>
              </a:rPr>
              <a:t>2</a:t>
            </a:r>
            <a:r>
              <a:rPr kumimoji="0" lang="en-US" altLang="zh-CN" sz="2000" b="0" kern="0" dirty="0">
                <a:solidFill>
                  <a:schemeClr val="tx1"/>
                </a:solidFill>
                <a:latin typeface="Arial" pitchFamily="34" charset="0"/>
                <a:ea typeface="微软雅黑" pitchFamily="34" charset="-122"/>
                <a:cs typeface="Arial" pitchFamily="34" charset="0"/>
              </a:rPr>
              <a:t> = </a:t>
            </a:r>
            <a:r>
              <a:rPr kumimoji="0" lang="en-US" altLang="zh-CN" sz="2000" b="0" i="1" kern="0" dirty="0">
                <a:solidFill>
                  <a:schemeClr val="tx1"/>
                </a:solidFill>
                <a:latin typeface="Arial" pitchFamily="34" charset="0"/>
                <a:ea typeface="微软雅黑" pitchFamily="34" charset="-122"/>
                <a:cs typeface="Arial" pitchFamily="34" charset="0"/>
              </a:rPr>
              <a:t>c</a:t>
            </a:r>
            <a:r>
              <a:rPr kumimoji="0" lang="en-US" altLang="zh-CN" sz="2000" b="0" kern="0" baseline="-25000" dirty="0">
                <a:solidFill>
                  <a:schemeClr val="tx1"/>
                </a:solidFill>
                <a:latin typeface="Arial" pitchFamily="34" charset="0"/>
                <a:ea typeface="微软雅黑" pitchFamily="34" charset="-122"/>
                <a:cs typeface="Arial" pitchFamily="34" charset="0"/>
              </a:rPr>
              <a:t>2</a:t>
            </a:r>
            <a:r>
              <a:rPr kumimoji="0" lang="en-US" altLang="zh-CN" sz="2000" b="0" kern="0" dirty="0">
                <a:solidFill>
                  <a:schemeClr val="tx1"/>
                </a:solidFill>
                <a:latin typeface="Arial" pitchFamily="34" charset="0"/>
                <a:ea typeface="微软雅黑" pitchFamily="34" charset="-122"/>
                <a:cs typeface="Arial" pitchFamily="34" charset="0"/>
              </a:rPr>
              <a:t> + </a:t>
            </a:r>
            <a:r>
              <a:rPr kumimoji="0" lang="en-US" altLang="zh-CN" sz="2000" b="0" i="1" kern="0" dirty="0">
                <a:solidFill>
                  <a:schemeClr val="tx1"/>
                </a:solidFill>
                <a:latin typeface="Arial" pitchFamily="34" charset="0"/>
                <a:ea typeface="微软雅黑" pitchFamily="34" charset="-122"/>
                <a:cs typeface="Arial" pitchFamily="34" charset="0"/>
              </a:rPr>
              <a:t>b</a:t>
            </a:r>
            <a:r>
              <a:rPr kumimoji="0" lang="en-US" altLang="zh-CN" sz="2000" b="0" kern="0" baseline="-25000" dirty="0">
                <a:solidFill>
                  <a:schemeClr val="tx1"/>
                </a:solidFill>
                <a:latin typeface="Arial" pitchFamily="34" charset="0"/>
                <a:ea typeface="微软雅黑" pitchFamily="34" charset="-122"/>
                <a:cs typeface="Arial" pitchFamily="34" charset="0"/>
              </a:rPr>
              <a:t>2</a:t>
            </a:r>
          </a:p>
          <a:p>
            <a:pPr marL="342900" indent="-342900">
              <a:lnSpc>
                <a:spcPts val="3200"/>
              </a:lnSpc>
              <a:spcBef>
                <a:spcPct val="20000"/>
              </a:spcBef>
              <a:buClr>
                <a:schemeClr val="folHlink"/>
              </a:buClr>
              <a:buSzPct val="60000"/>
              <a:buFont typeface="Wingdings" pitchFamily="2" charset="2"/>
              <a:buNone/>
              <a:defRPr/>
            </a:pPr>
            <a:r>
              <a:rPr kumimoji="0" lang="en-US" altLang="zh-CN" sz="2000" b="0" i="1" kern="0" dirty="0">
                <a:solidFill>
                  <a:schemeClr val="tx1"/>
                </a:solidFill>
                <a:latin typeface="Arial" pitchFamily="34" charset="0"/>
                <a:ea typeface="微软雅黑" pitchFamily="34" charset="-122"/>
                <a:cs typeface="Arial" pitchFamily="34" charset="0"/>
              </a:rPr>
              <a:t>S</a:t>
            </a:r>
            <a:r>
              <a:rPr kumimoji="0" lang="en-US" altLang="zh-CN" sz="2000" b="0" kern="0" baseline="-25000" dirty="0">
                <a:solidFill>
                  <a:schemeClr val="tx1"/>
                </a:solidFill>
                <a:latin typeface="Arial" pitchFamily="34" charset="0"/>
                <a:ea typeface="微软雅黑" pitchFamily="34" charset="-122"/>
                <a:cs typeface="Arial" pitchFamily="34" charset="0"/>
              </a:rPr>
              <a:t>3</a:t>
            </a:r>
            <a:r>
              <a:rPr kumimoji="0" lang="en-US" altLang="zh-CN" sz="2000" b="0" kern="0" dirty="0">
                <a:solidFill>
                  <a:schemeClr val="tx1"/>
                </a:solidFill>
                <a:latin typeface="Arial" pitchFamily="34" charset="0"/>
                <a:ea typeface="微软雅黑" pitchFamily="34" charset="-122"/>
                <a:cs typeface="Arial" pitchFamily="34" charset="0"/>
              </a:rPr>
              <a:t> = </a:t>
            </a:r>
            <a:r>
              <a:rPr kumimoji="0" lang="en-US" altLang="zh-CN" sz="2000" b="0" i="1" kern="0" dirty="0">
                <a:solidFill>
                  <a:schemeClr val="tx1"/>
                </a:solidFill>
                <a:latin typeface="Arial" pitchFamily="34" charset="0"/>
                <a:ea typeface="微软雅黑" pitchFamily="34" charset="-122"/>
                <a:cs typeface="Arial" pitchFamily="34" charset="0"/>
              </a:rPr>
              <a:t>c</a:t>
            </a:r>
            <a:r>
              <a:rPr kumimoji="0" lang="en-US" altLang="zh-CN" sz="2000" b="0" kern="0" baseline="-25000" dirty="0">
                <a:solidFill>
                  <a:schemeClr val="tx1"/>
                </a:solidFill>
                <a:latin typeface="Arial" pitchFamily="34" charset="0"/>
                <a:ea typeface="微软雅黑" pitchFamily="34" charset="-122"/>
                <a:cs typeface="Arial" pitchFamily="34" charset="0"/>
              </a:rPr>
              <a:t>3</a:t>
            </a:r>
            <a:r>
              <a:rPr kumimoji="0" lang="en-US" altLang="zh-CN" sz="2000" b="0" kern="0" dirty="0">
                <a:solidFill>
                  <a:schemeClr val="tx1"/>
                </a:solidFill>
                <a:latin typeface="Arial" pitchFamily="34" charset="0"/>
                <a:ea typeface="微软雅黑" pitchFamily="34" charset="-122"/>
                <a:cs typeface="Arial" pitchFamily="34" charset="0"/>
              </a:rPr>
              <a:t> + </a:t>
            </a:r>
            <a:r>
              <a:rPr kumimoji="0" lang="en-US" altLang="zh-CN" sz="2000" b="0" i="1" kern="0" dirty="0">
                <a:solidFill>
                  <a:schemeClr val="tx1"/>
                </a:solidFill>
                <a:latin typeface="Arial" pitchFamily="34" charset="0"/>
                <a:ea typeface="微软雅黑" pitchFamily="34" charset="-122"/>
                <a:cs typeface="Arial" pitchFamily="34" charset="0"/>
              </a:rPr>
              <a:t>b</a:t>
            </a:r>
            <a:r>
              <a:rPr kumimoji="0" lang="en-US" altLang="zh-CN" sz="2000" b="0" kern="0" baseline="-25000" dirty="0">
                <a:solidFill>
                  <a:schemeClr val="tx1"/>
                </a:solidFill>
                <a:latin typeface="Arial" pitchFamily="34" charset="0"/>
                <a:ea typeface="微软雅黑" pitchFamily="34" charset="-122"/>
                <a:cs typeface="Arial" pitchFamily="34" charset="0"/>
              </a:rPr>
              <a:t>3</a:t>
            </a:r>
          </a:p>
          <a:p>
            <a:pPr marL="342900" indent="-342900">
              <a:lnSpc>
                <a:spcPts val="3200"/>
              </a:lnSpc>
              <a:spcBef>
                <a:spcPct val="20000"/>
              </a:spcBef>
              <a:buClr>
                <a:schemeClr val="folHlink"/>
              </a:buClr>
              <a:buSzPct val="60000"/>
              <a:buFont typeface="Wingdings" pitchFamily="2" charset="2"/>
              <a:buNone/>
              <a:defRPr/>
            </a:pPr>
            <a:r>
              <a:rPr kumimoji="0" lang="en-US" altLang="zh-CN" sz="2000" b="0" i="1" kern="0" dirty="0">
                <a:solidFill>
                  <a:schemeClr val="tx1"/>
                </a:solidFill>
                <a:latin typeface="Arial" pitchFamily="34" charset="0"/>
                <a:ea typeface="微软雅黑" pitchFamily="34" charset="-122"/>
                <a:cs typeface="Arial" pitchFamily="34" charset="0"/>
              </a:rPr>
              <a:t>S</a:t>
            </a:r>
            <a:r>
              <a:rPr kumimoji="0" lang="en-US" altLang="zh-CN" sz="2000" b="0" kern="0" baseline="-25000" dirty="0">
                <a:solidFill>
                  <a:schemeClr val="tx1"/>
                </a:solidFill>
                <a:latin typeface="Arial" pitchFamily="34" charset="0"/>
                <a:ea typeface="微软雅黑" pitchFamily="34" charset="-122"/>
                <a:cs typeface="Arial" pitchFamily="34" charset="0"/>
              </a:rPr>
              <a:t>4</a:t>
            </a:r>
            <a:r>
              <a:rPr kumimoji="0" lang="en-US" altLang="zh-CN" sz="2000" b="0" kern="0" dirty="0">
                <a:solidFill>
                  <a:schemeClr val="tx1"/>
                </a:solidFill>
                <a:latin typeface="Arial" pitchFamily="34" charset="0"/>
                <a:ea typeface="微软雅黑" pitchFamily="34" charset="-122"/>
                <a:cs typeface="Arial" pitchFamily="34" charset="0"/>
              </a:rPr>
              <a:t> = </a:t>
            </a:r>
            <a:r>
              <a:rPr kumimoji="0" lang="en-US" altLang="zh-CN" sz="2000" b="0" i="1" kern="0" dirty="0">
                <a:solidFill>
                  <a:schemeClr val="tx1"/>
                </a:solidFill>
                <a:latin typeface="Arial" pitchFamily="34" charset="0"/>
                <a:ea typeface="微软雅黑" pitchFamily="34" charset="-122"/>
                <a:cs typeface="Arial" pitchFamily="34" charset="0"/>
              </a:rPr>
              <a:t>c</a:t>
            </a:r>
            <a:r>
              <a:rPr kumimoji="0" lang="en-US" altLang="zh-CN" sz="2000" b="0" kern="0" baseline="-25000" dirty="0">
                <a:solidFill>
                  <a:schemeClr val="tx1"/>
                </a:solidFill>
                <a:latin typeface="Arial" pitchFamily="34" charset="0"/>
                <a:ea typeface="微软雅黑" pitchFamily="34" charset="-122"/>
                <a:cs typeface="Arial" pitchFamily="34" charset="0"/>
              </a:rPr>
              <a:t>4</a:t>
            </a:r>
            <a:r>
              <a:rPr kumimoji="0" lang="en-US" altLang="zh-CN" sz="2000" b="0" kern="0" dirty="0">
                <a:solidFill>
                  <a:schemeClr val="tx1"/>
                </a:solidFill>
                <a:latin typeface="Arial" pitchFamily="34" charset="0"/>
                <a:ea typeface="微软雅黑" pitchFamily="34" charset="-122"/>
                <a:cs typeface="Arial" pitchFamily="34" charset="0"/>
              </a:rPr>
              <a:t> + </a:t>
            </a:r>
            <a:r>
              <a:rPr kumimoji="0" lang="en-US" altLang="zh-CN" sz="2000" b="0" i="1" kern="0" dirty="0">
                <a:solidFill>
                  <a:schemeClr val="tx1"/>
                </a:solidFill>
                <a:latin typeface="Arial" pitchFamily="34" charset="0"/>
                <a:ea typeface="微软雅黑" pitchFamily="34" charset="-122"/>
                <a:cs typeface="Arial" pitchFamily="34" charset="0"/>
              </a:rPr>
              <a:t>b</a:t>
            </a:r>
            <a:r>
              <a:rPr kumimoji="0" lang="en-US" altLang="zh-CN" sz="2000" b="0" kern="0" baseline="-25000" dirty="0">
                <a:solidFill>
                  <a:schemeClr val="tx1"/>
                </a:solidFill>
                <a:latin typeface="Arial" pitchFamily="34" charset="0"/>
                <a:ea typeface="微软雅黑" pitchFamily="34" charset="-122"/>
                <a:cs typeface="Arial" pitchFamily="34" charset="0"/>
              </a:rPr>
              <a:t>1</a:t>
            </a:r>
            <a:r>
              <a:rPr kumimoji="0" lang="en-US" altLang="zh-CN" sz="2000" b="0" kern="0" dirty="0">
                <a:solidFill>
                  <a:schemeClr val="tx1"/>
                </a:solidFill>
                <a:latin typeface="Arial" pitchFamily="34" charset="0"/>
                <a:ea typeface="微软雅黑" pitchFamily="34" charset="-122"/>
                <a:cs typeface="Arial" pitchFamily="34" charset="0"/>
              </a:rPr>
              <a:t> + </a:t>
            </a:r>
            <a:r>
              <a:rPr kumimoji="0" lang="en-US" altLang="zh-CN" sz="2000" b="0" i="1" kern="0" dirty="0">
                <a:solidFill>
                  <a:schemeClr val="tx1"/>
                </a:solidFill>
                <a:latin typeface="Arial" pitchFamily="34" charset="0"/>
                <a:ea typeface="微软雅黑" pitchFamily="34" charset="-122"/>
                <a:cs typeface="Arial" pitchFamily="34" charset="0"/>
              </a:rPr>
              <a:t>b</a:t>
            </a:r>
            <a:r>
              <a:rPr kumimoji="0" lang="en-US" altLang="zh-CN" sz="2000" b="0" kern="0" baseline="-25000" dirty="0">
                <a:solidFill>
                  <a:schemeClr val="tx1"/>
                </a:solidFill>
                <a:latin typeface="Arial" pitchFamily="34" charset="0"/>
                <a:ea typeface="微软雅黑" pitchFamily="34" charset="-122"/>
                <a:cs typeface="Arial" pitchFamily="34" charset="0"/>
              </a:rPr>
              <a:t>4</a:t>
            </a:r>
          </a:p>
          <a:p>
            <a:pPr marL="342900" indent="-342900">
              <a:lnSpc>
                <a:spcPts val="3200"/>
              </a:lnSpc>
              <a:spcBef>
                <a:spcPct val="20000"/>
              </a:spcBef>
              <a:buClr>
                <a:schemeClr val="folHlink"/>
              </a:buClr>
              <a:buSzPct val="60000"/>
              <a:buFont typeface="Wingdings" pitchFamily="2" charset="2"/>
              <a:buNone/>
              <a:defRPr/>
            </a:pPr>
            <a:r>
              <a:rPr kumimoji="0" lang="en-US" altLang="zh-CN" sz="2000" b="0" i="1" kern="0" dirty="0">
                <a:solidFill>
                  <a:schemeClr val="tx1"/>
                </a:solidFill>
                <a:latin typeface="Arial" pitchFamily="34" charset="0"/>
                <a:ea typeface="微软雅黑" pitchFamily="34" charset="-122"/>
                <a:cs typeface="Arial" pitchFamily="34" charset="0"/>
              </a:rPr>
              <a:t>S</a:t>
            </a:r>
            <a:r>
              <a:rPr kumimoji="0" lang="en-US" altLang="zh-CN" sz="2000" b="0" kern="0" baseline="-25000" dirty="0">
                <a:solidFill>
                  <a:schemeClr val="tx1"/>
                </a:solidFill>
                <a:latin typeface="Arial" pitchFamily="34" charset="0"/>
                <a:ea typeface="微软雅黑" pitchFamily="34" charset="-122"/>
                <a:cs typeface="Arial" pitchFamily="34" charset="0"/>
              </a:rPr>
              <a:t>5</a:t>
            </a:r>
            <a:r>
              <a:rPr kumimoji="0" lang="en-US" altLang="zh-CN" sz="2000" b="0" kern="0" dirty="0">
                <a:solidFill>
                  <a:schemeClr val="tx1"/>
                </a:solidFill>
                <a:latin typeface="Arial" pitchFamily="34" charset="0"/>
                <a:ea typeface="微软雅黑" pitchFamily="34" charset="-122"/>
                <a:cs typeface="Arial" pitchFamily="34" charset="0"/>
              </a:rPr>
              <a:t> = </a:t>
            </a:r>
            <a:r>
              <a:rPr kumimoji="0" lang="en-US" altLang="zh-CN" sz="2000" b="0" i="1" kern="0" dirty="0">
                <a:solidFill>
                  <a:schemeClr val="tx1"/>
                </a:solidFill>
                <a:latin typeface="Arial" pitchFamily="34" charset="0"/>
                <a:ea typeface="微软雅黑" pitchFamily="34" charset="-122"/>
                <a:cs typeface="Arial" pitchFamily="34" charset="0"/>
              </a:rPr>
              <a:t>c</a:t>
            </a:r>
            <a:r>
              <a:rPr kumimoji="0" lang="en-US" altLang="zh-CN" sz="2000" b="0" kern="0" baseline="-25000" dirty="0">
                <a:solidFill>
                  <a:schemeClr val="tx1"/>
                </a:solidFill>
                <a:latin typeface="Arial" pitchFamily="34" charset="0"/>
                <a:ea typeface="微软雅黑" pitchFamily="34" charset="-122"/>
                <a:cs typeface="Arial" pitchFamily="34" charset="0"/>
              </a:rPr>
              <a:t>5</a:t>
            </a:r>
            <a:r>
              <a:rPr kumimoji="0" lang="en-US" altLang="zh-CN" sz="2000" b="0" kern="0" dirty="0">
                <a:solidFill>
                  <a:schemeClr val="tx1"/>
                </a:solidFill>
                <a:latin typeface="Arial" pitchFamily="34" charset="0"/>
                <a:ea typeface="微软雅黑" pitchFamily="34" charset="-122"/>
                <a:cs typeface="Arial" pitchFamily="34" charset="0"/>
              </a:rPr>
              <a:t> + </a:t>
            </a:r>
            <a:r>
              <a:rPr kumimoji="0" lang="en-US" altLang="zh-CN" sz="2000" b="0" i="1" kern="0" dirty="0">
                <a:solidFill>
                  <a:schemeClr val="tx1"/>
                </a:solidFill>
                <a:latin typeface="Arial" pitchFamily="34" charset="0"/>
                <a:ea typeface="微软雅黑" pitchFamily="34" charset="-122"/>
                <a:cs typeface="Arial" pitchFamily="34" charset="0"/>
              </a:rPr>
              <a:t>b</a:t>
            </a:r>
            <a:r>
              <a:rPr kumimoji="0" lang="en-US" altLang="zh-CN" sz="2000" b="0" kern="0" baseline="-25000" dirty="0">
                <a:solidFill>
                  <a:schemeClr val="tx1"/>
                </a:solidFill>
                <a:latin typeface="Arial" pitchFamily="34" charset="0"/>
                <a:ea typeface="微软雅黑" pitchFamily="34" charset="-122"/>
                <a:cs typeface="Arial" pitchFamily="34" charset="0"/>
              </a:rPr>
              <a:t>1</a:t>
            </a:r>
            <a:r>
              <a:rPr kumimoji="0" lang="en-US" altLang="zh-CN" sz="2000" b="0" kern="0" dirty="0">
                <a:solidFill>
                  <a:schemeClr val="tx1"/>
                </a:solidFill>
                <a:latin typeface="Arial" pitchFamily="34" charset="0"/>
                <a:ea typeface="微软雅黑" pitchFamily="34" charset="-122"/>
                <a:cs typeface="Arial" pitchFamily="34" charset="0"/>
              </a:rPr>
              <a:t> + </a:t>
            </a:r>
            <a:r>
              <a:rPr kumimoji="0" lang="en-US" altLang="zh-CN" sz="2000" b="0" i="1" kern="0" dirty="0">
                <a:solidFill>
                  <a:schemeClr val="tx1"/>
                </a:solidFill>
                <a:latin typeface="Arial" pitchFamily="34" charset="0"/>
                <a:ea typeface="微软雅黑" pitchFamily="34" charset="-122"/>
                <a:cs typeface="Arial" pitchFamily="34" charset="0"/>
              </a:rPr>
              <a:t>b</a:t>
            </a:r>
            <a:r>
              <a:rPr kumimoji="0" lang="en-US" altLang="zh-CN" sz="2000" b="0" kern="0" baseline="-25000" dirty="0">
                <a:solidFill>
                  <a:schemeClr val="tx1"/>
                </a:solidFill>
                <a:latin typeface="Arial" pitchFamily="34" charset="0"/>
                <a:ea typeface="微软雅黑" pitchFamily="34" charset="-122"/>
                <a:cs typeface="Arial" pitchFamily="34" charset="0"/>
              </a:rPr>
              <a:t>2</a:t>
            </a:r>
            <a:r>
              <a:rPr kumimoji="0" lang="en-US" altLang="zh-CN" sz="2000" b="0" kern="0" dirty="0">
                <a:solidFill>
                  <a:schemeClr val="tx1"/>
                </a:solidFill>
                <a:latin typeface="Arial" pitchFamily="34" charset="0"/>
                <a:ea typeface="微软雅黑" pitchFamily="34" charset="-122"/>
                <a:cs typeface="Arial" pitchFamily="34" charset="0"/>
              </a:rPr>
              <a:t> + </a:t>
            </a:r>
            <a:r>
              <a:rPr kumimoji="0" lang="en-US" altLang="zh-CN" sz="2000" b="0" i="1" kern="0" dirty="0">
                <a:solidFill>
                  <a:schemeClr val="tx1"/>
                </a:solidFill>
                <a:latin typeface="Arial" pitchFamily="34" charset="0"/>
                <a:ea typeface="微软雅黑" pitchFamily="34" charset="-122"/>
                <a:cs typeface="Arial" pitchFamily="34" charset="0"/>
              </a:rPr>
              <a:t>b</a:t>
            </a:r>
            <a:r>
              <a:rPr kumimoji="0" lang="en-US" altLang="zh-CN" sz="2000" b="0" kern="0" baseline="-25000" dirty="0">
                <a:solidFill>
                  <a:schemeClr val="tx1"/>
                </a:solidFill>
                <a:latin typeface="Arial" pitchFamily="34" charset="0"/>
                <a:ea typeface="微软雅黑" pitchFamily="34" charset="-122"/>
                <a:cs typeface="Arial" pitchFamily="34" charset="0"/>
              </a:rPr>
              <a:t>5</a:t>
            </a:r>
          </a:p>
          <a:p>
            <a:pPr marL="342900" indent="-342900">
              <a:lnSpc>
                <a:spcPts val="3200"/>
              </a:lnSpc>
              <a:spcBef>
                <a:spcPct val="20000"/>
              </a:spcBef>
              <a:buClr>
                <a:schemeClr val="folHlink"/>
              </a:buClr>
              <a:buSzPct val="60000"/>
              <a:buFont typeface="Wingdings" pitchFamily="2" charset="2"/>
              <a:buNone/>
              <a:defRPr/>
            </a:pPr>
            <a:r>
              <a:rPr kumimoji="0" lang="en-US" altLang="zh-CN" sz="2000" b="0" i="1" kern="0" dirty="0">
                <a:solidFill>
                  <a:schemeClr val="tx1"/>
                </a:solidFill>
                <a:latin typeface="Arial" pitchFamily="34" charset="0"/>
                <a:ea typeface="微软雅黑" pitchFamily="34" charset="-122"/>
                <a:cs typeface="Arial" pitchFamily="34" charset="0"/>
              </a:rPr>
              <a:t>S</a:t>
            </a:r>
            <a:r>
              <a:rPr kumimoji="0" lang="en-US" altLang="zh-CN" sz="2000" b="0" kern="0" baseline="-25000" dirty="0">
                <a:solidFill>
                  <a:schemeClr val="tx1"/>
                </a:solidFill>
                <a:latin typeface="Arial" pitchFamily="34" charset="0"/>
                <a:ea typeface="微软雅黑" pitchFamily="34" charset="-122"/>
                <a:cs typeface="Arial" pitchFamily="34" charset="0"/>
              </a:rPr>
              <a:t>6</a:t>
            </a:r>
            <a:r>
              <a:rPr kumimoji="0" lang="en-US" altLang="zh-CN" sz="2000" b="0" kern="0" dirty="0">
                <a:solidFill>
                  <a:schemeClr val="tx1"/>
                </a:solidFill>
                <a:latin typeface="Arial" pitchFamily="34" charset="0"/>
                <a:ea typeface="微软雅黑" pitchFamily="34" charset="-122"/>
                <a:cs typeface="Arial" pitchFamily="34" charset="0"/>
              </a:rPr>
              <a:t> = </a:t>
            </a:r>
            <a:r>
              <a:rPr kumimoji="0" lang="en-US" altLang="zh-CN" sz="2000" b="0" i="1" kern="0" dirty="0">
                <a:solidFill>
                  <a:schemeClr val="tx1"/>
                </a:solidFill>
                <a:latin typeface="Arial" pitchFamily="34" charset="0"/>
                <a:ea typeface="微软雅黑" pitchFamily="34" charset="-122"/>
                <a:cs typeface="Arial" pitchFamily="34" charset="0"/>
              </a:rPr>
              <a:t>c</a:t>
            </a:r>
            <a:r>
              <a:rPr kumimoji="0" lang="en-US" altLang="zh-CN" sz="2000" b="0" kern="0" baseline="-25000" dirty="0">
                <a:solidFill>
                  <a:schemeClr val="tx1"/>
                </a:solidFill>
                <a:latin typeface="Arial" pitchFamily="34" charset="0"/>
                <a:ea typeface="微软雅黑" pitchFamily="34" charset="-122"/>
                <a:cs typeface="Arial" pitchFamily="34" charset="0"/>
              </a:rPr>
              <a:t>6</a:t>
            </a:r>
            <a:r>
              <a:rPr kumimoji="0" lang="en-US" altLang="zh-CN" sz="2000" b="0" kern="0" dirty="0">
                <a:solidFill>
                  <a:schemeClr val="tx1"/>
                </a:solidFill>
                <a:latin typeface="Arial" pitchFamily="34" charset="0"/>
                <a:ea typeface="微软雅黑" pitchFamily="34" charset="-122"/>
                <a:cs typeface="Arial" pitchFamily="34" charset="0"/>
              </a:rPr>
              <a:t> + </a:t>
            </a:r>
            <a:r>
              <a:rPr kumimoji="0" lang="en-US" altLang="zh-CN" sz="2000" b="0" i="1" kern="0" dirty="0">
                <a:solidFill>
                  <a:schemeClr val="tx1"/>
                </a:solidFill>
                <a:latin typeface="Arial" pitchFamily="34" charset="0"/>
                <a:ea typeface="微软雅黑" pitchFamily="34" charset="-122"/>
                <a:cs typeface="Arial" pitchFamily="34" charset="0"/>
              </a:rPr>
              <a:t>b</a:t>
            </a:r>
            <a:r>
              <a:rPr kumimoji="0" lang="en-US" altLang="zh-CN" sz="2000" b="0" kern="0" baseline="-25000" dirty="0">
                <a:solidFill>
                  <a:schemeClr val="tx1"/>
                </a:solidFill>
                <a:latin typeface="Arial" pitchFamily="34" charset="0"/>
                <a:ea typeface="微软雅黑" pitchFamily="34" charset="-122"/>
                <a:cs typeface="Arial" pitchFamily="34" charset="0"/>
              </a:rPr>
              <a:t>1</a:t>
            </a:r>
            <a:r>
              <a:rPr kumimoji="0" lang="en-US" altLang="zh-CN" sz="2000" b="0" kern="0" dirty="0">
                <a:solidFill>
                  <a:schemeClr val="tx1"/>
                </a:solidFill>
                <a:latin typeface="Arial" pitchFamily="34" charset="0"/>
                <a:ea typeface="微软雅黑" pitchFamily="34" charset="-122"/>
                <a:cs typeface="Arial" pitchFamily="34" charset="0"/>
              </a:rPr>
              <a:t> + </a:t>
            </a:r>
            <a:r>
              <a:rPr kumimoji="0" lang="en-US" altLang="zh-CN" sz="2000" b="0" i="1" kern="0" dirty="0">
                <a:solidFill>
                  <a:schemeClr val="tx1"/>
                </a:solidFill>
                <a:latin typeface="Arial" pitchFamily="34" charset="0"/>
                <a:ea typeface="微软雅黑" pitchFamily="34" charset="-122"/>
                <a:cs typeface="Arial" pitchFamily="34" charset="0"/>
              </a:rPr>
              <a:t>b</a:t>
            </a:r>
            <a:r>
              <a:rPr kumimoji="0" lang="en-US" altLang="zh-CN" sz="2000" b="0" kern="0" baseline="-25000" dirty="0">
                <a:solidFill>
                  <a:schemeClr val="tx1"/>
                </a:solidFill>
                <a:latin typeface="Arial" pitchFamily="34" charset="0"/>
                <a:ea typeface="微软雅黑" pitchFamily="34" charset="-122"/>
                <a:cs typeface="Arial" pitchFamily="34" charset="0"/>
              </a:rPr>
              <a:t>2</a:t>
            </a:r>
            <a:r>
              <a:rPr kumimoji="0" lang="en-US" altLang="zh-CN" sz="2000" b="0" kern="0" dirty="0">
                <a:solidFill>
                  <a:schemeClr val="tx1"/>
                </a:solidFill>
                <a:latin typeface="Arial" pitchFamily="34" charset="0"/>
                <a:ea typeface="微软雅黑" pitchFamily="34" charset="-122"/>
                <a:cs typeface="Arial" pitchFamily="34" charset="0"/>
              </a:rPr>
              <a:t> + </a:t>
            </a:r>
            <a:r>
              <a:rPr kumimoji="0" lang="en-US" altLang="zh-CN" sz="2000" b="0" i="1" kern="0" dirty="0">
                <a:solidFill>
                  <a:schemeClr val="tx1"/>
                </a:solidFill>
                <a:latin typeface="Arial" pitchFamily="34" charset="0"/>
                <a:ea typeface="微软雅黑" pitchFamily="34" charset="-122"/>
                <a:cs typeface="Arial" pitchFamily="34" charset="0"/>
              </a:rPr>
              <a:t>b</a:t>
            </a:r>
            <a:r>
              <a:rPr kumimoji="0" lang="en-US" altLang="zh-CN" sz="2000" b="0" kern="0" baseline="-25000" dirty="0">
                <a:solidFill>
                  <a:schemeClr val="tx1"/>
                </a:solidFill>
                <a:latin typeface="Arial" pitchFamily="34" charset="0"/>
                <a:ea typeface="微软雅黑" pitchFamily="34" charset="-122"/>
                <a:cs typeface="Arial" pitchFamily="34" charset="0"/>
              </a:rPr>
              <a:t>3</a:t>
            </a:r>
            <a:r>
              <a:rPr kumimoji="0" lang="en-US" altLang="zh-CN" sz="2000" b="0" kern="0" dirty="0">
                <a:solidFill>
                  <a:schemeClr val="tx1"/>
                </a:solidFill>
                <a:latin typeface="Arial" pitchFamily="34" charset="0"/>
                <a:ea typeface="微软雅黑" pitchFamily="34" charset="-122"/>
                <a:cs typeface="Arial" pitchFamily="34" charset="0"/>
              </a:rPr>
              <a:t> + </a:t>
            </a:r>
            <a:r>
              <a:rPr kumimoji="0" lang="en-US" altLang="zh-CN" sz="2000" b="0" i="1" kern="0" dirty="0">
                <a:solidFill>
                  <a:schemeClr val="tx1"/>
                </a:solidFill>
                <a:latin typeface="Arial" pitchFamily="34" charset="0"/>
                <a:ea typeface="微软雅黑" pitchFamily="34" charset="-122"/>
                <a:cs typeface="Arial" pitchFamily="34" charset="0"/>
              </a:rPr>
              <a:t>b</a:t>
            </a:r>
            <a:r>
              <a:rPr kumimoji="0" lang="en-US" altLang="zh-CN" sz="2000" b="0" kern="0" baseline="-25000" dirty="0">
                <a:solidFill>
                  <a:schemeClr val="tx1"/>
                </a:solidFill>
                <a:latin typeface="Arial" pitchFamily="34" charset="0"/>
                <a:ea typeface="微软雅黑" pitchFamily="34" charset="-122"/>
                <a:cs typeface="Arial" pitchFamily="34" charset="0"/>
              </a:rPr>
              <a:t>6</a:t>
            </a:r>
            <a:endParaRPr kumimoji="0" lang="zh-CN" altLang="en-US" sz="2000" b="0" kern="0" dirty="0">
              <a:solidFill>
                <a:schemeClr val="tx1"/>
              </a:solidFill>
              <a:latin typeface="Arial" pitchFamily="34" charset="0"/>
              <a:ea typeface="微软雅黑" pitchFamily="34" charset="-122"/>
              <a:cs typeface="Arial" pitchFamily="34" charset="0"/>
            </a:endParaRPr>
          </a:p>
        </p:txBody>
      </p:sp>
      <p:sp>
        <p:nvSpPr>
          <p:cNvPr id="41" name="矩形 40">
            <a:extLst>
              <a:ext uri="{FF2B5EF4-FFF2-40B4-BE49-F238E27FC236}">
                <a16:creationId xmlns:a16="http://schemas.microsoft.com/office/drawing/2014/main" id="{82927DA3-B637-DA50-67F6-6FBDB6C6CD56}"/>
              </a:ext>
            </a:extLst>
          </p:cNvPr>
          <p:cNvSpPr/>
          <p:nvPr/>
        </p:nvSpPr>
        <p:spPr>
          <a:xfrm>
            <a:off x="1058863" y="4270375"/>
            <a:ext cx="441325" cy="1016000"/>
          </a:xfrm>
          <a:prstGeom prst="rect">
            <a:avLst/>
          </a:prstGeom>
        </p:spPr>
        <p:txBody>
          <a:bodyPr wrap="none">
            <a:spAutoFit/>
          </a:bodyPr>
          <a:lstStyle/>
          <a:p>
            <a:pPr>
              <a:defRPr/>
            </a:pPr>
            <a:r>
              <a:rPr kumimoji="0" lang="zh-CN" altLang="en-US" sz="2000" kern="0" dirty="0">
                <a:solidFill>
                  <a:srgbClr val="0000CC"/>
                </a:solidFill>
                <a:latin typeface="Arial" pitchFamily="34" charset="0"/>
                <a:ea typeface="微软雅黑" pitchFamily="34" charset="-122"/>
                <a:cs typeface="Arial" pitchFamily="34" charset="0"/>
              </a:rPr>
              <a:t>监</a:t>
            </a:r>
            <a:endParaRPr kumimoji="0" lang="en-US" altLang="zh-CN" sz="2000" kern="0" dirty="0">
              <a:solidFill>
                <a:srgbClr val="0000CC"/>
              </a:solidFill>
              <a:latin typeface="Arial" pitchFamily="34" charset="0"/>
              <a:ea typeface="微软雅黑" pitchFamily="34" charset="-122"/>
              <a:cs typeface="Arial" pitchFamily="34" charset="0"/>
            </a:endParaRPr>
          </a:p>
          <a:p>
            <a:pPr>
              <a:defRPr/>
            </a:pPr>
            <a:r>
              <a:rPr kumimoji="0" lang="zh-CN" altLang="en-US" sz="2000" kern="0" dirty="0">
                <a:solidFill>
                  <a:srgbClr val="0000CC"/>
                </a:solidFill>
                <a:latin typeface="Arial" pitchFamily="34" charset="0"/>
                <a:ea typeface="微软雅黑" pitchFamily="34" charset="-122"/>
                <a:cs typeface="Arial" pitchFamily="34" charset="0"/>
              </a:rPr>
              <a:t>督</a:t>
            </a:r>
            <a:endParaRPr kumimoji="0" lang="en-US" altLang="zh-CN" sz="2000" kern="0" dirty="0">
              <a:solidFill>
                <a:srgbClr val="0000CC"/>
              </a:solidFill>
              <a:latin typeface="Arial" pitchFamily="34" charset="0"/>
              <a:ea typeface="微软雅黑" pitchFamily="34" charset="-122"/>
              <a:cs typeface="Arial" pitchFamily="34" charset="0"/>
            </a:endParaRPr>
          </a:p>
          <a:p>
            <a:pPr>
              <a:defRPr/>
            </a:pPr>
            <a:r>
              <a:rPr kumimoji="0" lang="zh-CN" altLang="en-US" sz="2000" kern="0" dirty="0">
                <a:solidFill>
                  <a:srgbClr val="0000CC"/>
                </a:solidFill>
                <a:latin typeface="Arial" pitchFamily="34" charset="0"/>
                <a:ea typeface="微软雅黑" pitchFamily="34" charset="-122"/>
                <a:cs typeface="Arial" pitchFamily="34" charset="0"/>
              </a:rPr>
              <a:t>位</a:t>
            </a:r>
            <a:endParaRPr lang="zh-CN" altLang="en-US" dirty="0"/>
          </a:p>
        </p:txBody>
      </p:sp>
      <p:sp>
        <p:nvSpPr>
          <p:cNvPr id="42" name="矩形 41">
            <a:extLst>
              <a:ext uri="{FF2B5EF4-FFF2-40B4-BE49-F238E27FC236}">
                <a16:creationId xmlns:a16="http://schemas.microsoft.com/office/drawing/2014/main" id="{08A6BBE8-D9E9-90AF-61F3-16B2150D7CFF}"/>
              </a:ext>
            </a:extLst>
          </p:cNvPr>
          <p:cNvSpPr/>
          <p:nvPr/>
        </p:nvSpPr>
        <p:spPr>
          <a:xfrm>
            <a:off x="4902200" y="3071813"/>
            <a:ext cx="2154238" cy="461962"/>
          </a:xfrm>
          <a:prstGeom prst="rect">
            <a:avLst/>
          </a:prstGeom>
        </p:spPr>
        <p:txBody>
          <a:bodyPr wrap="none">
            <a:spAutoFit/>
          </a:bodyPr>
          <a:lstStyle/>
          <a:p>
            <a:pPr marL="342900" indent="-342900">
              <a:spcBef>
                <a:spcPct val="20000"/>
              </a:spcBef>
              <a:buClr>
                <a:srgbClr val="3333CC"/>
              </a:buClr>
              <a:buSzPct val="60000"/>
              <a:buFont typeface="Wingdings" pitchFamily="2" charset="2"/>
              <a:buChar char="l"/>
              <a:defRPr/>
            </a:pPr>
            <a:r>
              <a:rPr kumimoji="0" lang="zh-CN" altLang="en-US" sz="2400" kern="0" dirty="0">
                <a:solidFill>
                  <a:srgbClr val="003399"/>
                </a:solidFill>
                <a:latin typeface="Arial" pitchFamily="34" charset="0"/>
                <a:ea typeface="微软雅黑" pitchFamily="34" charset="-122"/>
                <a:cs typeface="Arial" pitchFamily="34" charset="0"/>
              </a:rPr>
              <a:t>监督关系式 </a:t>
            </a:r>
          </a:p>
        </p:txBody>
      </p:sp>
      <p:sp>
        <p:nvSpPr>
          <p:cNvPr id="43" name="AutoShape 11">
            <a:extLst>
              <a:ext uri="{FF2B5EF4-FFF2-40B4-BE49-F238E27FC236}">
                <a16:creationId xmlns:a16="http://schemas.microsoft.com/office/drawing/2014/main" id="{492C140C-6AFB-8DFD-12C3-9A53825CB6E7}"/>
              </a:ext>
            </a:extLst>
          </p:cNvPr>
          <p:cNvSpPr>
            <a:spLocks/>
          </p:cNvSpPr>
          <p:nvPr/>
        </p:nvSpPr>
        <p:spPr bwMode="auto">
          <a:xfrm>
            <a:off x="1357313" y="3744913"/>
            <a:ext cx="214312" cy="2143125"/>
          </a:xfrm>
          <a:prstGeom prst="leftBrace">
            <a:avLst>
              <a:gd name="adj1" fmla="val 27188"/>
              <a:gd name="adj2" fmla="val 50000"/>
            </a:avLst>
          </a:prstGeom>
          <a:noFill/>
          <a:ln w="9525">
            <a:solidFill>
              <a:schemeClr val="tx1">
                <a:lumMod val="50000"/>
                <a:lumOff val="50000"/>
              </a:schemeClr>
            </a:solidFill>
            <a:round/>
            <a:headEnd/>
            <a:tailEnd/>
          </a:ln>
        </p:spPr>
        <p:txBody>
          <a:bodyPr/>
          <a:lstStyle/>
          <a:p>
            <a:pPr>
              <a:defRPr/>
            </a:pPr>
            <a:endParaRPr lang="zh-CN" altLang="en-US" sz="2400" dirty="0">
              <a:solidFill>
                <a:srgbClr val="0000CC"/>
              </a:solidFill>
            </a:endParaRPr>
          </a:p>
        </p:txBody>
      </p:sp>
      <p:sp>
        <p:nvSpPr>
          <p:cNvPr id="45" name="AutoShape 11">
            <a:extLst>
              <a:ext uri="{FF2B5EF4-FFF2-40B4-BE49-F238E27FC236}">
                <a16:creationId xmlns:a16="http://schemas.microsoft.com/office/drawing/2014/main" id="{CD0EEB16-22C5-F390-3568-22F0721D3108}"/>
              </a:ext>
            </a:extLst>
          </p:cNvPr>
          <p:cNvSpPr>
            <a:spLocks/>
          </p:cNvSpPr>
          <p:nvPr/>
        </p:nvSpPr>
        <p:spPr bwMode="auto">
          <a:xfrm>
            <a:off x="5286375" y="3929063"/>
            <a:ext cx="214313" cy="2143125"/>
          </a:xfrm>
          <a:prstGeom prst="leftBrace">
            <a:avLst>
              <a:gd name="adj1" fmla="val 27188"/>
              <a:gd name="adj2" fmla="val 50000"/>
            </a:avLst>
          </a:prstGeom>
          <a:noFill/>
          <a:ln w="9525">
            <a:solidFill>
              <a:schemeClr val="tx1">
                <a:lumMod val="50000"/>
                <a:lumOff val="50000"/>
              </a:schemeClr>
            </a:solidFill>
            <a:round/>
            <a:headEnd/>
            <a:tailEnd/>
          </a:ln>
        </p:spPr>
        <p:txBody>
          <a:bodyPr/>
          <a:lstStyle/>
          <a:p>
            <a:pPr>
              <a:defRPr/>
            </a:pPr>
            <a:endParaRPr lang="zh-CN" altLang="en-US" sz="2400" dirty="0">
              <a:solidFill>
                <a:srgbClr val="0000CC"/>
              </a:solidFill>
            </a:endParaRPr>
          </a:p>
        </p:txBody>
      </p:sp>
      <p:sp>
        <p:nvSpPr>
          <p:cNvPr id="46" name="Freeform 57">
            <a:extLst>
              <a:ext uri="{FF2B5EF4-FFF2-40B4-BE49-F238E27FC236}">
                <a16:creationId xmlns:a16="http://schemas.microsoft.com/office/drawing/2014/main" id="{D930920F-AFE5-13F1-C149-9964DD670191}"/>
              </a:ext>
            </a:extLst>
          </p:cNvPr>
          <p:cNvSpPr>
            <a:spLocks/>
          </p:cNvSpPr>
          <p:nvPr/>
        </p:nvSpPr>
        <p:spPr bwMode="auto">
          <a:xfrm>
            <a:off x="3705225" y="4357688"/>
            <a:ext cx="866775" cy="785812"/>
          </a:xfrm>
          <a:custGeom>
            <a:avLst/>
            <a:gdLst>
              <a:gd name="T0" fmla="*/ 2147483647 w 46"/>
              <a:gd name="T1" fmla="*/ 0 h 43"/>
              <a:gd name="T2" fmla="*/ 2147483647 w 46"/>
              <a:gd name="T3" fmla="*/ 2147483647 h 43"/>
              <a:gd name="T4" fmla="*/ 2147483647 w 46"/>
              <a:gd name="T5" fmla="*/ 2147483647 h 43"/>
              <a:gd name="T6" fmla="*/ 2147483647 w 46"/>
              <a:gd name="T7" fmla="*/ 2147483647 h 43"/>
              <a:gd name="T8" fmla="*/ 2147483647 w 46"/>
              <a:gd name="T9" fmla="*/ 2147483647 h 43"/>
              <a:gd name="T10" fmla="*/ 2147483647 w 46"/>
              <a:gd name="T11" fmla="*/ 2147483647 h 43"/>
              <a:gd name="T12" fmla="*/ 0 w 46"/>
              <a:gd name="T13" fmla="*/ 2147483647 h 43"/>
              <a:gd name="T14" fmla="*/ 2147483647 w 46"/>
              <a:gd name="T15" fmla="*/ 0 h 43"/>
              <a:gd name="T16" fmla="*/ 0 60000 65536"/>
              <a:gd name="T17" fmla="*/ 0 60000 65536"/>
              <a:gd name="T18" fmla="*/ 0 60000 65536"/>
              <a:gd name="T19" fmla="*/ 0 60000 65536"/>
              <a:gd name="T20" fmla="*/ 0 60000 65536"/>
              <a:gd name="T21" fmla="*/ 0 60000 65536"/>
              <a:gd name="T22" fmla="*/ 0 60000 65536"/>
              <a:gd name="T23" fmla="*/ 0 60000 65536"/>
              <a:gd name="T24" fmla="*/ 0 w 46"/>
              <a:gd name="T25" fmla="*/ 0 h 43"/>
              <a:gd name="T26" fmla="*/ 46 w 46"/>
              <a:gd name="T27" fmla="*/ 43 h 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6" h="43">
                <a:moveTo>
                  <a:pt x="4" y="0"/>
                </a:moveTo>
                <a:cubicBezTo>
                  <a:pt x="4" y="0"/>
                  <a:pt x="24" y="13"/>
                  <a:pt x="35" y="15"/>
                </a:cubicBezTo>
                <a:lnTo>
                  <a:pt x="30" y="6"/>
                </a:lnTo>
                <a:lnTo>
                  <a:pt x="46" y="22"/>
                </a:lnTo>
                <a:lnTo>
                  <a:pt x="27" y="40"/>
                </a:lnTo>
                <a:lnTo>
                  <a:pt x="34" y="30"/>
                </a:lnTo>
                <a:cubicBezTo>
                  <a:pt x="34" y="30"/>
                  <a:pt x="6" y="33"/>
                  <a:pt x="0" y="43"/>
                </a:cubicBezTo>
                <a:lnTo>
                  <a:pt x="4" y="0"/>
                </a:lnTo>
              </a:path>
            </a:pathLst>
          </a:custGeom>
          <a:gradFill rotWithShape="0">
            <a:gsLst>
              <a:gs pos="0">
                <a:srgbClr val="FFFFFF">
                  <a:alpha val="0"/>
                </a:srgbClr>
              </a:gs>
              <a:gs pos="100000">
                <a:srgbClr val="979797"/>
              </a:gs>
            </a:gsLst>
            <a:lin ang="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pSp>
        <p:nvGrpSpPr>
          <p:cNvPr id="3" name="组合 46">
            <a:extLst>
              <a:ext uri="{FF2B5EF4-FFF2-40B4-BE49-F238E27FC236}">
                <a16:creationId xmlns:a16="http://schemas.microsoft.com/office/drawing/2014/main" id="{A4BC6871-78EB-8E98-6A35-30DD244CE663}"/>
              </a:ext>
            </a:extLst>
          </p:cNvPr>
          <p:cNvGrpSpPr>
            <a:grpSpLocks/>
          </p:cNvGrpSpPr>
          <p:nvPr/>
        </p:nvGrpSpPr>
        <p:grpSpPr bwMode="auto">
          <a:xfrm>
            <a:off x="500063" y="285750"/>
            <a:ext cx="714375" cy="714375"/>
            <a:chOff x="357158" y="2285992"/>
            <a:chExt cx="714380" cy="714808"/>
          </a:xfrm>
        </p:grpSpPr>
        <p:grpSp>
          <p:nvGrpSpPr>
            <p:cNvPr id="125967" name="Group 52">
              <a:extLst>
                <a:ext uri="{FF2B5EF4-FFF2-40B4-BE49-F238E27FC236}">
                  <a16:creationId xmlns:a16="http://schemas.microsoft.com/office/drawing/2014/main" id="{0CC80876-88F9-17AD-1DB9-3848218A792A}"/>
                </a:ext>
              </a:extLst>
            </p:cNvPr>
            <p:cNvGrpSpPr>
              <a:grpSpLocks/>
            </p:cNvGrpSpPr>
            <p:nvPr/>
          </p:nvGrpSpPr>
          <p:grpSpPr bwMode="auto">
            <a:xfrm>
              <a:off x="357158" y="2285992"/>
              <a:ext cx="714380" cy="714808"/>
              <a:chOff x="1289" y="498"/>
              <a:chExt cx="668" cy="752"/>
            </a:xfrm>
          </p:grpSpPr>
          <p:sp>
            <p:nvSpPr>
              <p:cNvPr id="125969" name="Oval 53">
                <a:extLst>
                  <a:ext uri="{FF2B5EF4-FFF2-40B4-BE49-F238E27FC236}">
                    <a16:creationId xmlns:a16="http://schemas.microsoft.com/office/drawing/2014/main" id="{26760D47-42B9-B392-27A0-4231E83865C8}"/>
                  </a:ext>
                </a:extLst>
              </p:cNvPr>
              <p:cNvSpPr>
                <a:spLocks noChangeArrowheads="1"/>
              </p:cNvSpPr>
              <p:nvPr/>
            </p:nvSpPr>
            <p:spPr bwMode="gray">
              <a:xfrm>
                <a:off x="1289" y="582"/>
                <a:ext cx="668" cy="668"/>
              </a:xfrm>
              <a:prstGeom prst="ellipse">
                <a:avLst/>
              </a:prstGeom>
              <a:solidFill>
                <a:srgbClr val="333333"/>
              </a:soli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25970" name="Oval 54">
                <a:extLst>
                  <a:ext uri="{FF2B5EF4-FFF2-40B4-BE49-F238E27FC236}">
                    <a16:creationId xmlns:a16="http://schemas.microsoft.com/office/drawing/2014/main" id="{9CFAF3DA-FE4A-776B-F154-0D056FABDDE3}"/>
                  </a:ext>
                </a:extLst>
              </p:cNvPr>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25971" name="Oval 55">
                <a:extLst>
                  <a:ext uri="{FF2B5EF4-FFF2-40B4-BE49-F238E27FC236}">
                    <a16:creationId xmlns:a16="http://schemas.microsoft.com/office/drawing/2014/main" id="{80475692-FD59-D926-2196-223A6B18BD32}"/>
                  </a:ext>
                </a:extLst>
              </p:cNvPr>
              <p:cNvSpPr>
                <a:spLocks noChangeArrowheads="1"/>
              </p:cNvSpPr>
              <p:nvPr/>
            </p:nvSpPr>
            <p:spPr bwMode="gray">
              <a:xfrm>
                <a:off x="1304" y="498"/>
                <a:ext cx="631" cy="724"/>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25972" name="Oval 56">
                <a:extLst>
                  <a:ext uri="{FF2B5EF4-FFF2-40B4-BE49-F238E27FC236}">
                    <a16:creationId xmlns:a16="http://schemas.microsoft.com/office/drawing/2014/main" id="{6D54F417-441E-6A82-D08D-83E93D247E0E}"/>
                  </a:ext>
                </a:extLst>
              </p:cNvPr>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25973" name="Oval 57">
                <a:extLst>
                  <a:ext uri="{FF2B5EF4-FFF2-40B4-BE49-F238E27FC236}">
                    <a16:creationId xmlns:a16="http://schemas.microsoft.com/office/drawing/2014/main" id="{F00B54F2-5097-2C64-A640-C444452EFE43}"/>
                  </a:ext>
                </a:extLst>
              </p:cNvPr>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pSp>
        <p:sp>
          <p:nvSpPr>
            <p:cNvPr id="125968" name="Text Box 29">
              <a:extLst>
                <a:ext uri="{FF2B5EF4-FFF2-40B4-BE49-F238E27FC236}">
                  <a16:creationId xmlns:a16="http://schemas.microsoft.com/office/drawing/2014/main" id="{78515FED-5591-6ABA-1C14-1A180C51B4EC}"/>
                </a:ext>
              </a:extLst>
            </p:cNvPr>
            <p:cNvSpPr txBox="1">
              <a:spLocks noChangeArrowheads="1"/>
            </p:cNvSpPr>
            <p:nvPr/>
          </p:nvSpPr>
          <p:spPr bwMode="gray">
            <a:xfrm>
              <a:off x="428596" y="2438468"/>
              <a:ext cx="542027" cy="519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a:r>
                <a:rPr kumimoji="0" lang="zh-CN" altLang="en-US" sz="2800">
                  <a:solidFill>
                    <a:srgbClr val="0000CC"/>
                  </a:solidFill>
                  <a:latin typeface="Arial" panose="020B0604020202020204" pitchFamily="34" charset="0"/>
                  <a:ea typeface="宋体" panose="02010600030101010101" pitchFamily="2" charset="-122"/>
                </a:rPr>
                <a:t>例</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wipe(up)">
                                      <p:cBhvr>
                                        <p:cTn id="11" dur="1000"/>
                                        <p:tgtEl>
                                          <p:spTgt spid="3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wipe(up)">
                                      <p:cBhvr>
                                        <p:cTn id="16" dur="1000"/>
                                        <p:tgtEl>
                                          <p:spTgt spid="36"/>
                                        </p:tgtEl>
                                      </p:cBhvr>
                                    </p:animEffect>
                                  </p:childTnLst>
                                </p:cTn>
                              </p:par>
                            </p:childTnLst>
                          </p:cTn>
                        </p:par>
                        <p:par>
                          <p:cTn id="17" fill="hold" nodeType="afterGroup">
                            <p:stCondLst>
                              <p:cond delay="1000"/>
                            </p:stCondLst>
                            <p:childTnLst>
                              <p:par>
                                <p:cTn id="18" presetID="22" presetClass="entr" presetSubtype="1"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up)">
                                      <p:cBhvr>
                                        <p:cTn id="20" dur="2000"/>
                                        <p:tgtEl>
                                          <p:spTgt spid="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wipe(up)">
                                      <p:cBhvr>
                                        <p:cTn id="25" dur="1000"/>
                                        <p:tgtEl>
                                          <p:spTgt spid="3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wipe(up)">
                                      <p:cBhvr>
                                        <p:cTn id="30" dur="1000"/>
                                        <p:tgtEl>
                                          <p:spTgt spid="3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125955">
                                            <p:txEl>
                                              <p:pRg st="0" end="0"/>
                                            </p:txEl>
                                          </p:spTgt>
                                        </p:tgtEl>
                                        <p:attrNameLst>
                                          <p:attrName>style.visibility</p:attrName>
                                        </p:attrNameLst>
                                      </p:cBhvr>
                                      <p:to>
                                        <p:strVal val="visible"/>
                                      </p:to>
                                    </p:set>
                                    <p:animEffect transition="in" filter="wipe(up)">
                                      <p:cBhvr>
                                        <p:cTn id="35" dur="1000"/>
                                        <p:tgtEl>
                                          <p:spTgt spid="125955">
                                            <p:txEl>
                                              <p:pRg st="0" end="0"/>
                                            </p:txEl>
                                          </p:spTgt>
                                        </p:tgtEl>
                                      </p:cBhvr>
                                    </p:animEffect>
                                  </p:childTnLst>
                                </p:cTn>
                              </p:par>
                              <p:par>
                                <p:cTn id="36" presetID="22" presetClass="entr" presetSubtype="1" fill="hold" nodeType="withEffect">
                                  <p:stCondLst>
                                    <p:cond delay="0"/>
                                  </p:stCondLst>
                                  <p:childTnLst>
                                    <p:set>
                                      <p:cBhvr>
                                        <p:cTn id="37" dur="1" fill="hold">
                                          <p:stCondLst>
                                            <p:cond delay="0"/>
                                          </p:stCondLst>
                                        </p:cTn>
                                        <p:tgtEl>
                                          <p:spTgt spid="125955">
                                            <p:txEl>
                                              <p:pRg st="1" end="1"/>
                                            </p:txEl>
                                          </p:spTgt>
                                        </p:tgtEl>
                                        <p:attrNameLst>
                                          <p:attrName>style.visibility</p:attrName>
                                        </p:attrNameLst>
                                      </p:cBhvr>
                                      <p:to>
                                        <p:strVal val="visible"/>
                                      </p:to>
                                    </p:set>
                                    <p:animEffect transition="in" filter="wipe(up)">
                                      <p:cBhvr>
                                        <p:cTn id="38" dur="1000"/>
                                        <p:tgtEl>
                                          <p:spTgt spid="125955">
                                            <p:txEl>
                                              <p:pRg st="1" end="1"/>
                                            </p:txEl>
                                          </p:spTgt>
                                        </p:tgtEl>
                                      </p:cBhvr>
                                    </p:animEffect>
                                  </p:childTnLst>
                                </p:cTn>
                              </p:par>
                              <p:par>
                                <p:cTn id="39" presetID="22" presetClass="entr" presetSubtype="1" fill="hold" nodeType="withEffect">
                                  <p:stCondLst>
                                    <p:cond delay="0"/>
                                  </p:stCondLst>
                                  <p:childTnLst>
                                    <p:set>
                                      <p:cBhvr>
                                        <p:cTn id="40" dur="1" fill="hold">
                                          <p:stCondLst>
                                            <p:cond delay="0"/>
                                          </p:stCondLst>
                                        </p:cTn>
                                        <p:tgtEl>
                                          <p:spTgt spid="125955">
                                            <p:txEl>
                                              <p:pRg st="2" end="2"/>
                                            </p:txEl>
                                          </p:spTgt>
                                        </p:tgtEl>
                                        <p:attrNameLst>
                                          <p:attrName>style.visibility</p:attrName>
                                        </p:attrNameLst>
                                      </p:cBhvr>
                                      <p:to>
                                        <p:strVal val="visible"/>
                                      </p:to>
                                    </p:set>
                                    <p:animEffect transition="in" filter="wipe(up)">
                                      <p:cBhvr>
                                        <p:cTn id="41" dur="1000"/>
                                        <p:tgtEl>
                                          <p:spTgt spid="125955">
                                            <p:txEl>
                                              <p:pRg st="2" end="2"/>
                                            </p:txEl>
                                          </p:spTgt>
                                        </p:tgtEl>
                                      </p:cBhvr>
                                    </p:animEffect>
                                  </p:childTnLst>
                                </p:cTn>
                              </p:par>
                              <p:par>
                                <p:cTn id="42" presetID="22" presetClass="entr" presetSubtype="1" fill="hold" nodeType="withEffect">
                                  <p:stCondLst>
                                    <p:cond delay="0"/>
                                  </p:stCondLst>
                                  <p:childTnLst>
                                    <p:set>
                                      <p:cBhvr>
                                        <p:cTn id="43" dur="1" fill="hold">
                                          <p:stCondLst>
                                            <p:cond delay="0"/>
                                          </p:stCondLst>
                                        </p:cTn>
                                        <p:tgtEl>
                                          <p:spTgt spid="125955">
                                            <p:txEl>
                                              <p:pRg st="3" end="3"/>
                                            </p:txEl>
                                          </p:spTgt>
                                        </p:tgtEl>
                                        <p:attrNameLst>
                                          <p:attrName>style.visibility</p:attrName>
                                        </p:attrNameLst>
                                      </p:cBhvr>
                                      <p:to>
                                        <p:strVal val="visible"/>
                                      </p:to>
                                    </p:set>
                                    <p:animEffect transition="in" filter="wipe(up)">
                                      <p:cBhvr>
                                        <p:cTn id="44" dur="1000"/>
                                        <p:tgtEl>
                                          <p:spTgt spid="125955">
                                            <p:txEl>
                                              <p:pRg st="3" end="3"/>
                                            </p:txEl>
                                          </p:spTgt>
                                        </p:tgtEl>
                                      </p:cBhvr>
                                    </p:animEffect>
                                  </p:childTnLst>
                                </p:cTn>
                              </p:par>
                              <p:par>
                                <p:cTn id="45" presetID="22" presetClass="entr" presetSubtype="1" fill="hold" nodeType="withEffect">
                                  <p:stCondLst>
                                    <p:cond delay="0"/>
                                  </p:stCondLst>
                                  <p:childTnLst>
                                    <p:set>
                                      <p:cBhvr>
                                        <p:cTn id="46" dur="1" fill="hold">
                                          <p:stCondLst>
                                            <p:cond delay="0"/>
                                          </p:stCondLst>
                                        </p:cTn>
                                        <p:tgtEl>
                                          <p:spTgt spid="125955">
                                            <p:txEl>
                                              <p:pRg st="4" end="4"/>
                                            </p:txEl>
                                          </p:spTgt>
                                        </p:tgtEl>
                                        <p:attrNameLst>
                                          <p:attrName>style.visibility</p:attrName>
                                        </p:attrNameLst>
                                      </p:cBhvr>
                                      <p:to>
                                        <p:strVal val="visible"/>
                                      </p:to>
                                    </p:set>
                                    <p:animEffect transition="in" filter="wipe(up)">
                                      <p:cBhvr>
                                        <p:cTn id="47" dur="1000"/>
                                        <p:tgtEl>
                                          <p:spTgt spid="125955">
                                            <p:txEl>
                                              <p:pRg st="4" end="4"/>
                                            </p:txEl>
                                          </p:spTgt>
                                        </p:tgtEl>
                                      </p:cBhvr>
                                    </p:animEffect>
                                  </p:childTnLst>
                                </p:cTn>
                              </p:par>
                              <p:par>
                                <p:cTn id="48" presetID="22" presetClass="entr" presetSubtype="1" fill="hold" nodeType="withEffect">
                                  <p:stCondLst>
                                    <p:cond delay="0"/>
                                  </p:stCondLst>
                                  <p:childTnLst>
                                    <p:set>
                                      <p:cBhvr>
                                        <p:cTn id="49" dur="1" fill="hold">
                                          <p:stCondLst>
                                            <p:cond delay="0"/>
                                          </p:stCondLst>
                                        </p:cTn>
                                        <p:tgtEl>
                                          <p:spTgt spid="125955">
                                            <p:txEl>
                                              <p:pRg st="5" end="5"/>
                                            </p:txEl>
                                          </p:spTgt>
                                        </p:tgtEl>
                                        <p:attrNameLst>
                                          <p:attrName>style.visibility</p:attrName>
                                        </p:attrNameLst>
                                      </p:cBhvr>
                                      <p:to>
                                        <p:strVal val="visible"/>
                                      </p:to>
                                    </p:set>
                                    <p:animEffect transition="in" filter="wipe(up)">
                                      <p:cBhvr>
                                        <p:cTn id="50" dur="1000"/>
                                        <p:tgtEl>
                                          <p:spTgt spid="125955">
                                            <p:txEl>
                                              <p:pRg st="5" end="5"/>
                                            </p:txEl>
                                          </p:spTgt>
                                        </p:tgtEl>
                                      </p:cBhvr>
                                    </p:animEffect>
                                  </p:childTnLst>
                                </p:cTn>
                              </p:par>
                              <p:par>
                                <p:cTn id="51" presetID="22" presetClass="entr" presetSubtype="1" fill="hold" nodeType="withEffect">
                                  <p:stCondLst>
                                    <p:cond delay="0"/>
                                  </p:stCondLst>
                                  <p:childTnLst>
                                    <p:set>
                                      <p:cBhvr>
                                        <p:cTn id="52" dur="1" fill="hold">
                                          <p:stCondLst>
                                            <p:cond delay="0"/>
                                          </p:stCondLst>
                                        </p:cTn>
                                        <p:tgtEl>
                                          <p:spTgt spid="125955">
                                            <p:txEl>
                                              <p:pRg st="6" end="6"/>
                                            </p:txEl>
                                          </p:spTgt>
                                        </p:tgtEl>
                                        <p:attrNameLst>
                                          <p:attrName>style.visibility</p:attrName>
                                        </p:attrNameLst>
                                      </p:cBhvr>
                                      <p:to>
                                        <p:strVal val="visible"/>
                                      </p:to>
                                    </p:set>
                                    <p:animEffect transition="in" filter="wipe(up)">
                                      <p:cBhvr>
                                        <p:cTn id="53" dur="1000"/>
                                        <p:tgtEl>
                                          <p:spTgt spid="125955">
                                            <p:txEl>
                                              <p:pRg st="6" end="6"/>
                                            </p:txEl>
                                          </p:spTgt>
                                        </p:tgtEl>
                                      </p:cBhvr>
                                    </p:animEffect>
                                  </p:childTnLst>
                                </p:cTn>
                              </p:par>
                            </p:childTnLst>
                          </p:cTn>
                        </p:par>
                        <p:par>
                          <p:cTn id="54" fill="hold" nodeType="afterGroup">
                            <p:stCondLst>
                              <p:cond delay="1000"/>
                            </p:stCondLst>
                            <p:childTnLst>
                              <p:par>
                                <p:cTn id="55" presetID="22" presetClass="entr" presetSubtype="2" fill="hold" nodeType="afterEffect">
                                  <p:stCondLst>
                                    <p:cond delay="0"/>
                                  </p:stCondLst>
                                  <p:childTnLst>
                                    <p:set>
                                      <p:cBhvr>
                                        <p:cTn id="56" dur="1" fill="hold">
                                          <p:stCondLst>
                                            <p:cond delay="0"/>
                                          </p:stCondLst>
                                        </p:cTn>
                                        <p:tgtEl>
                                          <p:spTgt spid="41"/>
                                        </p:tgtEl>
                                        <p:attrNameLst>
                                          <p:attrName>style.visibility</p:attrName>
                                        </p:attrNameLst>
                                      </p:cBhvr>
                                      <p:to>
                                        <p:strVal val="visible"/>
                                      </p:to>
                                    </p:set>
                                    <p:animEffect transition="in" filter="wipe(right)">
                                      <p:cBhvr>
                                        <p:cTn id="57" dur="1000"/>
                                        <p:tgtEl>
                                          <p:spTgt spid="4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46"/>
                                        </p:tgtEl>
                                        <p:attrNameLst>
                                          <p:attrName>style.visibility</p:attrName>
                                        </p:attrNameLst>
                                      </p:cBhvr>
                                      <p:to>
                                        <p:strVal val="visible"/>
                                      </p:to>
                                    </p:set>
                                    <p:animEffect transition="in" filter="wipe(left)">
                                      <p:cBhvr>
                                        <p:cTn id="62" dur="500"/>
                                        <p:tgtEl>
                                          <p:spTgt spid="46"/>
                                        </p:tgtEl>
                                      </p:cBhvr>
                                    </p:animEffect>
                                  </p:childTnLst>
                                </p:cTn>
                              </p:par>
                            </p:childTnLst>
                          </p:cTn>
                        </p:par>
                        <p:par>
                          <p:cTn id="63" fill="hold" nodeType="afterGroup">
                            <p:stCondLst>
                              <p:cond delay="500"/>
                            </p:stCondLst>
                            <p:childTnLst>
                              <p:par>
                                <p:cTn id="64" presetID="22" presetClass="entr" presetSubtype="1" fill="hold" nodeType="afterEffect">
                                  <p:stCondLst>
                                    <p:cond delay="0"/>
                                  </p:stCondLst>
                                  <p:childTnLst>
                                    <p:set>
                                      <p:cBhvr>
                                        <p:cTn id="65" dur="1" fill="hold">
                                          <p:stCondLst>
                                            <p:cond delay="0"/>
                                          </p:stCondLst>
                                        </p:cTn>
                                        <p:tgtEl>
                                          <p:spTgt spid="42"/>
                                        </p:tgtEl>
                                        <p:attrNameLst>
                                          <p:attrName>style.visibility</p:attrName>
                                        </p:attrNameLst>
                                      </p:cBhvr>
                                      <p:to>
                                        <p:strVal val="visible"/>
                                      </p:to>
                                    </p:set>
                                    <p:animEffect transition="in" filter="wipe(up)">
                                      <p:cBhvr>
                                        <p:cTn id="66" dur="1000"/>
                                        <p:tgtEl>
                                          <p:spTgt spid="42"/>
                                        </p:tgtEl>
                                      </p:cBhvr>
                                    </p:animEffect>
                                  </p:childTnLst>
                                </p:cTn>
                              </p:par>
                            </p:childTnLst>
                          </p:cTn>
                        </p:par>
                        <p:par>
                          <p:cTn id="67" fill="hold" nodeType="afterGroup">
                            <p:stCondLst>
                              <p:cond delay="1500"/>
                            </p:stCondLst>
                            <p:childTnLst>
                              <p:par>
                                <p:cTn id="68" presetID="22" presetClass="entr" presetSubtype="1" fill="hold" nodeType="afterEffect">
                                  <p:stCondLst>
                                    <p:cond delay="0"/>
                                  </p:stCondLst>
                                  <p:childTnLst>
                                    <p:set>
                                      <p:cBhvr>
                                        <p:cTn id="69" dur="1" fill="hold">
                                          <p:stCondLst>
                                            <p:cond delay="0"/>
                                          </p:stCondLst>
                                        </p:cTn>
                                        <p:tgtEl>
                                          <p:spTgt spid="40">
                                            <p:txEl>
                                              <p:pRg st="0" end="0"/>
                                            </p:txEl>
                                          </p:spTgt>
                                        </p:tgtEl>
                                        <p:attrNameLst>
                                          <p:attrName>style.visibility</p:attrName>
                                        </p:attrNameLst>
                                      </p:cBhvr>
                                      <p:to>
                                        <p:strVal val="visible"/>
                                      </p:to>
                                    </p:set>
                                    <p:animEffect transition="in" filter="wipe(up)">
                                      <p:cBhvr>
                                        <p:cTn id="70" dur="1000"/>
                                        <p:tgtEl>
                                          <p:spTgt spid="40">
                                            <p:txEl>
                                              <p:pRg st="0" end="0"/>
                                            </p:txEl>
                                          </p:spTgt>
                                        </p:tgtEl>
                                      </p:cBhvr>
                                    </p:animEffect>
                                  </p:childTnLst>
                                </p:cTn>
                              </p:par>
                              <p:par>
                                <p:cTn id="71" presetID="22" presetClass="entr" presetSubtype="1" fill="hold" nodeType="withEffect">
                                  <p:stCondLst>
                                    <p:cond delay="0"/>
                                  </p:stCondLst>
                                  <p:childTnLst>
                                    <p:set>
                                      <p:cBhvr>
                                        <p:cTn id="72" dur="1" fill="hold">
                                          <p:stCondLst>
                                            <p:cond delay="0"/>
                                          </p:stCondLst>
                                        </p:cTn>
                                        <p:tgtEl>
                                          <p:spTgt spid="40">
                                            <p:txEl>
                                              <p:pRg st="1" end="1"/>
                                            </p:txEl>
                                          </p:spTgt>
                                        </p:tgtEl>
                                        <p:attrNameLst>
                                          <p:attrName>style.visibility</p:attrName>
                                        </p:attrNameLst>
                                      </p:cBhvr>
                                      <p:to>
                                        <p:strVal val="visible"/>
                                      </p:to>
                                    </p:set>
                                    <p:animEffect transition="in" filter="wipe(up)">
                                      <p:cBhvr>
                                        <p:cTn id="73" dur="1000"/>
                                        <p:tgtEl>
                                          <p:spTgt spid="40">
                                            <p:txEl>
                                              <p:pRg st="1" end="1"/>
                                            </p:txEl>
                                          </p:spTgt>
                                        </p:tgtEl>
                                      </p:cBhvr>
                                    </p:animEffect>
                                  </p:childTnLst>
                                </p:cTn>
                              </p:par>
                              <p:par>
                                <p:cTn id="74" presetID="22" presetClass="entr" presetSubtype="1" fill="hold" nodeType="withEffect">
                                  <p:stCondLst>
                                    <p:cond delay="0"/>
                                  </p:stCondLst>
                                  <p:childTnLst>
                                    <p:set>
                                      <p:cBhvr>
                                        <p:cTn id="75" dur="1" fill="hold">
                                          <p:stCondLst>
                                            <p:cond delay="0"/>
                                          </p:stCondLst>
                                        </p:cTn>
                                        <p:tgtEl>
                                          <p:spTgt spid="40">
                                            <p:txEl>
                                              <p:pRg st="2" end="2"/>
                                            </p:txEl>
                                          </p:spTgt>
                                        </p:tgtEl>
                                        <p:attrNameLst>
                                          <p:attrName>style.visibility</p:attrName>
                                        </p:attrNameLst>
                                      </p:cBhvr>
                                      <p:to>
                                        <p:strVal val="visible"/>
                                      </p:to>
                                    </p:set>
                                    <p:animEffect transition="in" filter="wipe(up)">
                                      <p:cBhvr>
                                        <p:cTn id="76" dur="1000"/>
                                        <p:tgtEl>
                                          <p:spTgt spid="40">
                                            <p:txEl>
                                              <p:pRg st="2" end="2"/>
                                            </p:txEl>
                                          </p:spTgt>
                                        </p:tgtEl>
                                      </p:cBhvr>
                                    </p:animEffect>
                                  </p:childTnLst>
                                </p:cTn>
                              </p:par>
                              <p:par>
                                <p:cTn id="77" presetID="22" presetClass="entr" presetSubtype="1" fill="hold" nodeType="withEffect">
                                  <p:stCondLst>
                                    <p:cond delay="0"/>
                                  </p:stCondLst>
                                  <p:childTnLst>
                                    <p:set>
                                      <p:cBhvr>
                                        <p:cTn id="78" dur="1" fill="hold">
                                          <p:stCondLst>
                                            <p:cond delay="0"/>
                                          </p:stCondLst>
                                        </p:cTn>
                                        <p:tgtEl>
                                          <p:spTgt spid="40">
                                            <p:txEl>
                                              <p:pRg st="3" end="3"/>
                                            </p:txEl>
                                          </p:spTgt>
                                        </p:tgtEl>
                                        <p:attrNameLst>
                                          <p:attrName>style.visibility</p:attrName>
                                        </p:attrNameLst>
                                      </p:cBhvr>
                                      <p:to>
                                        <p:strVal val="visible"/>
                                      </p:to>
                                    </p:set>
                                    <p:animEffect transition="in" filter="wipe(up)">
                                      <p:cBhvr>
                                        <p:cTn id="79" dur="1000"/>
                                        <p:tgtEl>
                                          <p:spTgt spid="40">
                                            <p:txEl>
                                              <p:pRg st="3" end="3"/>
                                            </p:txEl>
                                          </p:spTgt>
                                        </p:tgtEl>
                                      </p:cBhvr>
                                    </p:animEffect>
                                  </p:childTnLst>
                                </p:cTn>
                              </p:par>
                              <p:par>
                                <p:cTn id="80" presetID="22" presetClass="entr" presetSubtype="1" fill="hold" nodeType="withEffect">
                                  <p:stCondLst>
                                    <p:cond delay="0"/>
                                  </p:stCondLst>
                                  <p:childTnLst>
                                    <p:set>
                                      <p:cBhvr>
                                        <p:cTn id="81" dur="1" fill="hold">
                                          <p:stCondLst>
                                            <p:cond delay="0"/>
                                          </p:stCondLst>
                                        </p:cTn>
                                        <p:tgtEl>
                                          <p:spTgt spid="40">
                                            <p:txEl>
                                              <p:pRg st="4" end="4"/>
                                            </p:txEl>
                                          </p:spTgt>
                                        </p:tgtEl>
                                        <p:attrNameLst>
                                          <p:attrName>style.visibility</p:attrName>
                                        </p:attrNameLst>
                                      </p:cBhvr>
                                      <p:to>
                                        <p:strVal val="visible"/>
                                      </p:to>
                                    </p:set>
                                    <p:animEffect transition="in" filter="wipe(up)">
                                      <p:cBhvr>
                                        <p:cTn id="82" dur="1000"/>
                                        <p:tgtEl>
                                          <p:spTgt spid="40">
                                            <p:txEl>
                                              <p:pRg st="4" end="4"/>
                                            </p:txEl>
                                          </p:spTgt>
                                        </p:tgtEl>
                                      </p:cBhvr>
                                    </p:animEffect>
                                  </p:childTnLst>
                                </p:cTn>
                              </p:par>
                              <p:par>
                                <p:cTn id="83" presetID="22" presetClass="entr" presetSubtype="1" fill="hold" nodeType="withEffect">
                                  <p:stCondLst>
                                    <p:cond delay="0"/>
                                  </p:stCondLst>
                                  <p:childTnLst>
                                    <p:set>
                                      <p:cBhvr>
                                        <p:cTn id="84" dur="1" fill="hold">
                                          <p:stCondLst>
                                            <p:cond delay="0"/>
                                          </p:stCondLst>
                                        </p:cTn>
                                        <p:tgtEl>
                                          <p:spTgt spid="40">
                                            <p:txEl>
                                              <p:pRg st="5" end="5"/>
                                            </p:txEl>
                                          </p:spTgt>
                                        </p:tgtEl>
                                        <p:attrNameLst>
                                          <p:attrName>style.visibility</p:attrName>
                                        </p:attrNameLst>
                                      </p:cBhvr>
                                      <p:to>
                                        <p:strVal val="visible"/>
                                      </p:to>
                                    </p:set>
                                    <p:animEffect transition="in" filter="wipe(up)">
                                      <p:cBhvr>
                                        <p:cTn id="85" dur="1000"/>
                                        <p:tgtEl>
                                          <p:spTgt spid="40">
                                            <p:txEl>
                                              <p:pRg st="5" end="5"/>
                                            </p:txEl>
                                          </p:spTgt>
                                        </p:tgtEl>
                                      </p:cBhvr>
                                    </p:animEffect>
                                  </p:childTnLst>
                                </p:cTn>
                              </p:par>
                            </p:childTnLst>
                          </p:cTn>
                        </p:par>
                        <p:par>
                          <p:cTn id="86" fill="hold" nodeType="afterGroup">
                            <p:stCondLst>
                              <p:cond delay="2500"/>
                            </p:stCondLst>
                            <p:childTnLst>
                              <p:par>
                                <p:cTn id="87" presetID="22" presetClass="entr" presetSubtype="1" fill="hold" nodeType="afterEffect">
                                  <p:stCondLst>
                                    <p:cond delay="0"/>
                                  </p:stCondLst>
                                  <p:childTnLst>
                                    <p:set>
                                      <p:cBhvr>
                                        <p:cTn id="88" dur="1" fill="hold">
                                          <p:stCondLst>
                                            <p:cond delay="0"/>
                                          </p:stCondLst>
                                        </p:cTn>
                                        <p:tgtEl>
                                          <p:spTgt spid="43"/>
                                        </p:tgtEl>
                                        <p:attrNameLst>
                                          <p:attrName>style.visibility</p:attrName>
                                        </p:attrNameLst>
                                      </p:cBhvr>
                                      <p:to>
                                        <p:strVal val="visible"/>
                                      </p:to>
                                    </p:set>
                                    <p:animEffect transition="in" filter="wipe(up)">
                                      <p:cBhvr>
                                        <p:cTn id="89" dur="1000"/>
                                        <p:tgtEl>
                                          <p:spTgt spid="43"/>
                                        </p:tgtEl>
                                      </p:cBhvr>
                                    </p:animEffect>
                                  </p:childTnLst>
                                </p:cTn>
                              </p:par>
                            </p:childTnLst>
                          </p:cTn>
                        </p:par>
                        <p:par>
                          <p:cTn id="90" fill="hold" nodeType="afterGroup">
                            <p:stCondLst>
                              <p:cond delay="3500"/>
                            </p:stCondLst>
                            <p:childTnLst>
                              <p:par>
                                <p:cTn id="91" presetID="22" presetClass="entr" presetSubtype="1" fill="hold" nodeType="afterEffect">
                                  <p:stCondLst>
                                    <p:cond delay="0"/>
                                  </p:stCondLst>
                                  <p:childTnLst>
                                    <p:set>
                                      <p:cBhvr>
                                        <p:cTn id="92" dur="1" fill="hold">
                                          <p:stCondLst>
                                            <p:cond delay="0"/>
                                          </p:stCondLst>
                                        </p:cTn>
                                        <p:tgtEl>
                                          <p:spTgt spid="45"/>
                                        </p:tgtEl>
                                        <p:attrNameLst>
                                          <p:attrName>style.visibility</p:attrName>
                                        </p:attrNameLst>
                                      </p:cBhvr>
                                      <p:to>
                                        <p:strVal val="visible"/>
                                      </p:to>
                                    </p:set>
                                    <p:animEffect transition="in" filter="wipe(up)">
                                      <p:cBhvr>
                                        <p:cTn id="93" dur="10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p:bldP spid="37" grpId="0"/>
      <p:bldP spid="38" grpId="0"/>
      <p:bldP spid="41" grpId="0"/>
      <p:bldP spid="42" grpId="0"/>
      <p:bldP spid="43" grpId="0" animBg="1"/>
      <p:bldP spid="45" grpId="0" animBg="1"/>
      <p:bldP spid="46"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3" name="Rectangle 3">
            <a:extLst>
              <a:ext uri="{FF2B5EF4-FFF2-40B4-BE49-F238E27FC236}">
                <a16:creationId xmlns:a16="http://schemas.microsoft.com/office/drawing/2014/main" id="{5937D689-9B33-9DF2-1E17-6CE99FD0CED9}"/>
              </a:ext>
            </a:extLst>
          </p:cNvPr>
          <p:cNvSpPr>
            <a:spLocks noGrp="1" noChangeArrowheads="1"/>
          </p:cNvSpPr>
          <p:nvPr>
            <p:ph type="body" idx="1"/>
          </p:nvPr>
        </p:nvSpPr>
        <p:spPr>
          <a:xfrm>
            <a:off x="928688" y="4214813"/>
            <a:ext cx="7643812" cy="2000250"/>
          </a:xfrm>
        </p:spPr>
        <p:txBody>
          <a:bodyPr/>
          <a:lstStyle/>
          <a:p>
            <a:pPr eaLnBrk="1" hangingPunct="1">
              <a:lnSpc>
                <a:spcPts val="3200"/>
              </a:lnSpc>
              <a:buFont typeface="Wingdings" panose="05000000000000000000" pitchFamily="2" charset="2"/>
              <a:buNone/>
            </a:pPr>
            <a:r>
              <a:rPr lang="zh-CN" altLang="en-US" sz="2000">
                <a:latin typeface="Arial" panose="020B0604020202020204" pitchFamily="34" charset="0"/>
                <a:ea typeface="微软雅黑" panose="020B0503020204020204" pitchFamily="34" charset="-122"/>
                <a:cs typeface="Arial" panose="020B0604020202020204" pitchFamily="34" charset="0"/>
              </a:rPr>
              <a:t>在上式中，只有信息位</a:t>
            </a:r>
            <a:r>
              <a:rPr lang="en-US" altLang="zh-CN" sz="2000" b="1" i="1">
                <a:solidFill>
                  <a:srgbClr val="FF0000"/>
                </a:solidFill>
                <a:latin typeface="Arial" panose="020B0604020202020204" pitchFamily="34" charset="0"/>
                <a:ea typeface="微软雅黑" panose="020B0503020204020204" pitchFamily="34" charset="-122"/>
                <a:cs typeface="Arial" panose="020B0604020202020204" pitchFamily="34" charset="0"/>
              </a:rPr>
              <a:t>b</a:t>
            </a:r>
            <a:r>
              <a:rPr lang="en-US" altLang="zh-CN" sz="2000" b="1" baseline="-25000">
                <a:solidFill>
                  <a:srgbClr val="FF0000"/>
                </a:solidFill>
                <a:latin typeface="Arial" panose="020B0604020202020204" pitchFamily="34" charset="0"/>
                <a:ea typeface="微软雅黑" panose="020B0503020204020204" pitchFamily="34" charset="-122"/>
                <a:cs typeface="Arial" panose="020B0604020202020204" pitchFamily="34" charset="0"/>
              </a:rPr>
              <a:t>1</a:t>
            </a:r>
            <a:r>
              <a:rPr lang="zh-CN" altLang="en-US" sz="2000">
                <a:latin typeface="Arial" panose="020B0604020202020204" pitchFamily="34" charset="0"/>
                <a:ea typeface="微软雅黑" panose="020B0503020204020204" pitchFamily="34" charset="-122"/>
                <a:cs typeface="Arial" panose="020B0604020202020204" pitchFamily="34" charset="0"/>
              </a:rPr>
              <a:t>出现在每个方程中，监督位和其他信息位</a:t>
            </a:r>
            <a:endParaRPr lang="en-US" altLang="zh-CN" sz="2000">
              <a:latin typeface="Arial" panose="020B0604020202020204" pitchFamily="34" charset="0"/>
              <a:ea typeface="微软雅黑" panose="020B0503020204020204" pitchFamily="34" charset="-122"/>
              <a:cs typeface="Arial" panose="020B0604020202020204" pitchFamily="34" charset="0"/>
            </a:endParaRPr>
          </a:p>
          <a:p>
            <a:pPr eaLnBrk="1" hangingPunct="1">
              <a:lnSpc>
                <a:spcPts val="3200"/>
              </a:lnSpc>
              <a:buFont typeface="Wingdings" panose="05000000000000000000" pitchFamily="2" charset="2"/>
              <a:buNone/>
            </a:pPr>
            <a:r>
              <a:rPr lang="zh-CN" altLang="en-US" sz="2000">
                <a:latin typeface="Arial" panose="020B0604020202020204" pitchFamily="34" charset="0"/>
                <a:ea typeface="微软雅黑" panose="020B0503020204020204" pitchFamily="34" charset="-122"/>
                <a:cs typeface="Arial" panose="020B0604020202020204" pitchFamily="34" charset="0"/>
              </a:rPr>
              <a:t>均最多只出现一次。因此，在接收端解码时，考察</a:t>
            </a:r>
            <a:r>
              <a:rPr lang="en-US" altLang="zh-CN" sz="2000">
                <a:latin typeface="Arial" panose="020B0604020202020204" pitchFamily="34" charset="0"/>
                <a:ea typeface="微软雅黑" panose="020B0503020204020204" pitchFamily="34" charset="-122"/>
                <a:cs typeface="Arial" panose="020B0604020202020204" pitchFamily="34" charset="0"/>
              </a:rPr>
              <a:t>b</a:t>
            </a:r>
            <a:r>
              <a:rPr lang="en-US" altLang="zh-CN" sz="2000" baseline="-25000">
                <a:latin typeface="Arial" panose="020B0604020202020204" pitchFamily="34" charset="0"/>
                <a:ea typeface="微软雅黑" panose="020B0503020204020204" pitchFamily="34" charset="-122"/>
                <a:cs typeface="Arial" panose="020B0604020202020204" pitchFamily="34" charset="0"/>
              </a:rPr>
              <a:t>1</a:t>
            </a:r>
            <a:r>
              <a:rPr lang="zh-CN" altLang="en-US" sz="2000">
                <a:latin typeface="Arial" panose="020B0604020202020204" pitchFamily="34" charset="0"/>
                <a:ea typeface="微软雅黑" panose="020B0503020204020204" pitchFamily="34" charset="-122"/>
                <a:cs typeface="Arial" panose="020B0604020202020204" pitchFamily="34" charset="0"/>
              </a:rPr>
              <a:t>、</a:t>
            </a:r>
            <a:r>
              <a:rPr lang="en-US" altLang="zh-CN" sz="2000">
                <a:latin typeface="Arial" panose="020B0604020202020204" pitchFamily="34" charset="0"/>
                <a:ea typeface="微软雅黑" panose="020B0503020204020204" pitchFamily="34" charset="-122"/>
                <a:cs typeface="Arial" panose="020B0604020202020204" pitchFamily="34" charset="0"/>
              </a:rPr>
              <a:t>c</a:t>
            </a:r>
            <a:r>
              <a:rPr lang="en-US" altLang="zh-CN" sz="2000" baseline="-25000">
                <a:latin typeface="Arial" panose="020B0604020202020204" pitchFamily="34" charset="0"/>
                <a:ea typeface="微软雅黑" panose="020B0503020204020204" pitchFamily="34" charset="-122"/>
                <a:cs typeface="Arial" panose="020B0604020202020204" pitchFamily="34" charset="0"/>
              </a:rPr>
              <a:t>1</a:t>
            </a:r>
            <a:r>
              <a:rPr lang="zh-CN" altLang="en-US" sz="2000">
                <a:latin typeface="Arial" panose="020B0604020202020204" pitchFamily="34" charset="0"/>
                <a:ea typeface="微软雅黑" panose="020B0503020204020204" pitchFamily="34" charset="-122"/>
                <a:cs typeface="Arial" panose="020B0604020202020204" pitchFamily="34" charset="0"/>
              </a:rPr>
              <a:t>至</a:t>
            </a:r>
            <a:r>
              <a:rPr lang="en-US" altLang="zh-CN" sz="2000">
                <a:latin typeface="Arial" panose="020B0604020202020204" pitchFamily="34" charset="0"/>
                <a:ea typeface="微软雅黑" panose="020B0503020204020204" pitchFamily="34" charset="-122"/>
                <a:cs typeface="Arial" panose="020B0604020202020204" pitchFamily="34" charset="0"/>
              </a:rPr>
              <a:t>b</a:t>
            </a:r>
            <a:r>
              <a:rPr lang="en-US" altLang="zh-CN" sz="2000" baseline="-25000">
                <a:latin typeface="Arial" panose="020B0604020202020204" pitchFamily="34" charset="0"/>
                <a:ea typeface="微软雅黑" panose="020B0503020204020204" pitchFamily="34" charset="-122"/>
                <a:cs typeface="Arial" panose="020B0604020202020204" pitchFamily="34" charset="0"/>
              </a:rPr>
              <a:t>6</a:t>
            </a:r>
            <a:r>
              <a:rPr lang="zh-CN" altLang="en-US" sz="2000">
                <a:latin typeface="Arial" panose="020B0604020202020204" pitchFamily="34" charset="0"/>
                <a:ea typeface="微软雅黑" panose="020B0503020204020204" pitchFamily="34" charset="-122"/>
                <a:cs typeface="Arial" panose="020B0604020202020204" pitchFamily="34" charset="0"/>
              </a:rPr>
              <a:t>、</a:t>
            </a:r>
            <a:r>
              <a:rPr lang="en-US" altLang="zh-CN" sz="2000">
                <a:latin typeface="Arial" panose="020B0604020202020204" pitchFamily="34" charset="0"/>
                <a:ea typeface="微软雅黑" panose="020B0503020204020204" pitchFamily="34" charset="-122"/>
                <a:cs typeface="Arial" panose="020B0604020202020204" pitchFamily="34" charset="0"/>
              </a:rPr>
              <a:t>c</a:t>
            </a:r>
            <a:r>
              <a:rPr lang="en-US" altLang="zh-CN" sz="2000" baseline="-25000">
                <a:latin typeface="Arial" panose="020B0604020202020204" pitchFamily="34" charset="0"/>
                <a:ea typeface="微软雅黑" panose="020B0503020204020204" pitchFamily="34" charset="-122"/>
                <a:cs typeface="Arial" panose="020B0604020202020204" pitchFamily="34" charset="0"/>
              </a:rPr>
              <a:t>6</a:t>
            </a:r>
          </a:p>
          <a:p>
            <a:pPr eaLnBrk="1" hangingPunct="1">
              <a:lnSpc>
                <a:spcPts val="3200"/>
              </a:lnSpc>
              <a:buFont typeface="Wingdings" panose="05000000000000000000" pitchFamily="2" charset="2"/>
              <a:buNone/>
            </a:pPr>
            <a:r>
              <a:rPr lang="zh-CN" altLang="en-US" sz="2000">
                <a:latin typeface="Arial" panose="020B0604020202020204" pitchFamily="34" charset="0"/>
                <a:ea typeface="微软雅黑" panose="020B0503020204020204" pitchFamily="34" charset="-122"/>
                <a:cs typeface="Arial" panose="020B0604020202020204" pitchFamily="34" charset="0"/>
              </a:rPr>
              <a:t>等</a:t>
            </a:r>
            <a:r>
              <a:rPr lang="en-US" altLang="zh-CN" sz="2000">
                <a:latin typeface="Arial" panose="020B0604020202020204" pitchFamily="34" charset="0"/>
                <a:ea typeface="微软雅黑" panose="020B0503020204020204" pitchFamily="34" charset="-122"/>
                <a:cs typeface="Arial" panose="020B0604020202020204" pitchFamily="34" charset="0"/>
              </a:rPr>
              <a:t>12</a:t>
            </a:r>
            <a:r>
              <a:rPr lang="zh-CN" altLang="en-US" sz="2000">
                <a:latin typeface="Arial" panose="020B0604020202020204" pitchFamily="34" charset="0"/>
                <a:ea typeface="微软雅黑" panose="020B0503020204020204" pitchFamily="34" charset="-122"/>
                <a:cs typeface="Arial" panose="020B0604020202020204" pitchFamily="34" charset="0"/>
              </a:rPr>
              <a:t>个码元，仅当</a:t>
            </a:r>
            <a:r>
              <a:rPr lang="en-US" altLang="zh-CN" sz="2000" b="1">
                <a:solidFill>
                  <a:srgbClr val="FF0000"/>
                </a:solidFill>
                <a:latin typeface="Arial" panose="020B0604020202020204" pitchFamily="34" charset="0"/>
                <a:ea typeface="微软雅黑" panose="020B0503020204020204" pitchFamily="34" charset="-122"/>
                <a:cs typeface="Arial" panose="020B0604020202020204" pitchFamily="34" charset="0"/>
              </a:rPr>
              <a:t>b</a:t>
            </a:r>
            <a:r>
              <a:rPr lang="en-US" altLang="zh-CN" sz="2000" b="1" baseline="-25000">
                <a:solidFill>
                  <a:srgbClr val="FF0000"/>
                </a:solidFill>
                <a:latin typeface="Arial" panose="020B0604020202020204" pitchFamily="34" charset="0"/>
                <a:ea typeface="微软雅黑" panose="020B0503020204020204" pitchFamily="34" charset="-122"/>
                <a:cs typeface="Arial" panose="020B0604020202020204" pitchFamily="34" charset="0"/>
              </a:rPr>
              <a:t>1</a:t>
            </a:r>
            <a:r>
              <a:rPr lang="zh-CN" altLang="en-US" sz="2000">
                <a:latin typeface="Arial" panose="020B0604020202020204" pitchFamily="34" charset="0"/>
                <a:ea typeface="微软雅黑" panose="020B0503020204020204" pitchFamily="34" charset="-122"/>
                <a:cs typeface="Arial" panose="020B0604020202020204" pitchFamily="34" charset="0"/>
              </a:rPr>
              <a:t>出错时，式中才可能有</a:t>
            </a:r>
            <a:r>
              <a:rPr lang="en-US" altLang="zh-CN" sz="2000">
                <a:latin typeface="Arial" panose="020B0604020202020204" pitchFamily="34" charset="0"/>
                <a:ea typeface="微软雅黑" panose="020B0503020204020204" pitchFamily="34" charset="-122"/>
                <a:cs typeface="Arial" panose="020B0604020202020204" pitchFamily="34" charset="0"/>
              </a:rPr>
              <a:t>3</a:t>
            </a:r>
            <a:r>
              <a:rPr lang="zh-CN" altLang="en-US" sz="2000">
                <a:latin typeface="Arial" panose="020B0604020202020204" pitchFamily="34" charset="0"/>
                <a:ea typeface="微软雅黑" panose="020B0503020204020204" pitchFamily="34" charset="-122"/>
                <a:cs typeface="Arial" panose="020B0604020202020204" pitchFamily="34" charset="0"/>
              </a:rPr>
              <a:t>个或</a:t>
            </a:r>
            <a:r>
              <a:rPr lang="en-US" altLang="zh-CN" sz="2000">
                <a:latin typeface="Arial" panose="020B0604020202020204" pitchFamily="34" charset="0"/>
                <a:ea typeface="微软雅黑" panose="020B0503020204020204" pitchFamily="34" charset="-122"/>
                <a:cs typeface="Arial" panose="020B0604020202020204" pitchFamily="34" charset="0"/>
              </a:rPr>
              <a:t>3</a:t>
            </a:r>
            <a:r>
              <a:rPr lang="zh-CN" altLang="en-US" sz="2000">
                <a:latin typeface="Arial" panose="020B0604020202020204" pitchFamily="34" charset="0"/>
                <a:ea typeface="微软雅黑" panose="020B0503020204020204" pitchFamily="34" charset="-122"/>
                <a:cs typeface="Arial" panose="020B0604020202020204" pitchFamily="34" charset="0"/>
              </a:rPr>
              <a:t>个以上方程等于</a:t>
            </a:r>
            <a:endParaRPr lang="en-US" altLang="zh-CN" sz="2000">
              <a:latin typeface="Arial" panose="020B0604020202020204" pitchFamily="34" charset="0"/>
              <a:ea typeface="微软雅黑" panose="020B0503020204020204" pitchFamily="34" charset="-122"/>
              <a:cs typeface="Arial" panose="020B0604020202020204" pitchFamily="34" charset="0"/>
            </a:endParaRPr>
          </a:p>
          <a:p>
            <a:pPr eaLnBrk="1" hangingPunct="1">
              <a:lnSpc>
                <a:spcPts val="3200"/>
              </a:lnSpc>
              <a:buFont typeface="Wingdings" panose="05000000000000000000" pitchFamily="2" charset="2"/>
              <a:buNone/>
            </a:pPr>
            <a:r>
              <a:rPr lang="zh-CN" altLang="en-US" sz="2000">
                <a:latin typeface="Arial" panose="020B0604020202020204" pitchFamily="34" charset="0"/>
                <a:ea typeface="微软雅黑" panose="020B0503020204020204" pitchFamily="34" charset="-122"/>
                <a:cs typeface="Arial" panose="020B0604020202020204" pitchFamily="34" charset="0"/>
              </a:rPr>
              <a:t>“</a:t>
            </a:r>
            <a:r>
              <a:rPr lang="en-US" altLang="zh-CN" sz="2000">
                <a:latin typeface="Arial" panose="020B0604020202020204" pitchFamily="34" charset="0"/>
                <a:ea typeface="微软雅黑" panose="020B0503020204020204" pitchFamily="34" charset="-122"/>
                <a:cs typeface="Arial" panose="020B0604020202020204" pitchFamily="34" charset="0"/>
              </a:rPr>
              <a:t>1”</a:t>
            </a:r>
            <a:r>
              <a:rPr lang="zh-CN" altLang="en-US" sz="2000">
                <a:latin typeface="Arial" panose="020B0604020202020204" pitchFamily="34" charset="0"/>
                <a:ea typeface="微软雅黑" panose="020B0503020204020204" pitchFamily="34" charset="-122"/>
                <a:cs typeface="Arial" panose="020B0604020202020204" pitchFamily="34" charset="0"/>
              </a:rPr>
              <a:t>。从而能够纠正</a:t>
            </a:r>
            <a:r>
              <a:rPr lang="en-US" altLang="zh-CN" sz="2000" b="1" i="1">
                <a:solidFill>
                  <a:srgbClr val="FF0000"/>
                </a:solidFill>
                <a:latin typeface="Arial" panose="020B0604020202020204" pitchFamily="34" charset="0"/>
                <a:ea typeface="微软雅黑" panose="020B0503020204020204" pitchFamily="34" charset="-122"/>
                <a:cs typeface="Arial" panose="020B0604020202020204" pitchFamily="34" charset="0"/>
              </a:rPr>
              <a:t>b</a:t>
            </a:r>
            <a:r>
              <a:rPr lang="en-US" altLang="zh-CN" sz="2000" b="1" baseline="-25000">
                <a:solidFill>
                  <a:srgbClr val="FF0000"/>
                </a:solidFill>
                <a:latin typeface="Arial" panose="020B0604020202020204" pitchFamily="34" charset="0"/>
                <a:ea typeface="微软雅黑" panose="020B0503020204020204" pitchFamily="34" charset="-122"/>
                <a:cs typeface="Arial" panose="020B0604020202020204" pitchFamily="34" charset="0"/>
              </a:rPr>
              <a:t>1</a:t>
            </a:r>
            <a:r>
              <a:rPr lang="zh-CN" altLang="en-US" sz="2000">
                <a:latin typeface="Arial" panose="020B0604020202020204" pitchFamily="34" charset="0"/>
                <a:ea typeface="微软雅黑" panose="020B0503020204020204" pitchFamily="34" charset="-122"/>
                <a:cs typeface="Arial" panose="020B0604020202020204" pitchFamily="34" charset="0"/>
              </a:rPr>
              <a:t>的错误。 </a:t>
            </a:r>
          </a:p>
        </p:txBody>
      </p:sp>
      <p:sp>
        <p:nvSpPr>
          <p:cNvPr id="7" name="矩形 6">
            <a:extLst>
              <a:ext uri="{FF2B5EF4-FFF2-40B4-BE49-F238E27FC236}">
                <a16:creationId xmlns:a16="http://schemas.microsoft.com/office/drawing/2014/main" id="{8D3D0CA4-7635-000B-DF17-7C97C25655D7}"/>
              </a:ext>
            </a:extLst>
          </p:cNvPr>
          <p:cNvSpPr/>
          <p:nvPr/>
        </p:nvSpPr>
        <p:spPr>
          <a:xfrm>
            <a:off x="714375" y="1071563"/>
            <a:ext cx="2786063" cy="461962"/>
          </a:xfrm>
          <a:prstGeom prst="rect">
            <a:avLst/>
          </a:prstGeom>
        </p:spPr>
        <p:txBody>
          <a:bodyPr>
            <a:spAutoFit/>
          </a:bodyPr>
          <a:lstStyle/>
          <a:p>
            <a:pPr marL="342900" indent="-342900">
              <a:spcBef>
                <a:spcPct val="20000"/>
              </a:spcBef>
              <a:buClr>
                <a:srgbClr val="3333CC"/>
              </a:buClr>
              <a:buSzPct val="60000"/>
              <a:buFont typeface="Wingdings" pitchFamily="2" charset="2"/>
              <a:buChar char="l"/>
              <a:defRPr/>
            </a:pPr>
            <a:r>
              <a:rPr kumimoji="0" lang="zh-CN" altLang="en-US" sz="2400" kern="0" dirty="0">
                <a:solidFill>
                  <a:srgbClr val="003399"/>
                </a:solidFill>
                <a:latin typeface="Arial" pitchFamily="34" charset="0"/>
                <a:ea typeface="微软雅黑" pitchFamily="34" charset="-122"/>
                <a:cs typeface="Arial" pitchFamily="34" charset="0"/>
              </a:rPr>
              <a:t>正交校验方程组</a:t>
            </a:r>
            <a:r>
              <a:rPr kumimoji="0" lang="zh-CN" altLang="en-US" sz="2400" kern="0" dirty="0">
                <a:solidFill>
                  <a:srgbClr val="003399"/>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p>
        </p:txBody>
      </p:sp>
      <p:sp>
        <p:nvSpPr>
          <p:cNvPr id="128006" name="矩形 10">
            <a:extLst>
              <a:ext uri="{FF2B5EF4-FFF2-40B4-BE49-F238E27FC236}">
                <a16:creationId xmlns:a16="http://schemas.microsoft.com/office/drawing/2014/main" id="{DDE06E88-762B-426E-F318-BB9B7F18593C}"/>
              </a:ext>
            </a:extLst>
          </p:cNvPr>
          <p:cNvSpPr>
            <a:spLocks noChangeArrowheads="1"/>
          </p:cNvSpPr>
          <p:nvPr/>
        </p:nvSpPr>
        <p:spPr bwMode="auto">
          <a:xfrm>
            <a:off x="1357313" y="1601788"/>
            <a:ext cx="76438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buFont typeface="Wingdings" panose="05000000000000000000" pitchFamily="2" charset="2"/>
              <a:buNone/>
            </a:pPr>
            <a:r>
              <a:rPr lang="zh-CN" altLang="en-US" sz="2000" b="0">
                <a:solidFill>
                  <a:schemeClr val="tx1"/>
                </a:solidFill>
                <a:latin typeface="Arial" panose="020B0604020202020204" pitchFamily="34" charset="0"/>
                <a:ea typeface="微软雅黑" panose="020B0503020204020204" pitchFamily="34" charset="-122"/>
                <a:cs typeface="Arial" panose="020B0604020202020204" pitchFamily="34" charset="0"/>
              </a:rPr>
              <a:t>上式经过简单线性变换后，得出如下正交校验方程组：</a:t>
            </a:r>
          </a:p>
        </p:txBody>
      </p:sp>
      <p:pic>
        <p:nvPicPr>
          <p:cNvPr id="128007" name="Picture 7">
            <a:extLst>
              <a:ext uri="{FF2B5EF4-FFF2-40B4-BE49-F238E27FC236}">
                <a16:creationId xmlns:a16="http://schemas.microsoft.com/office/drawing/2014/main" id="{90A19562-6522-B6A3-794D-FAC1F0BC58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7488" y="2071688"/>
            <a:ext cx="4171950" cy="197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28006"/>
                                        </p:tgtEl>
                                        <p:attrNameLst>
                                          <p:attrName>style.visibility</p:attrName>
                                        </p:attrNameLst>
                                      </p:cBhvr>
                                      <p:to>
                                        <p:strVal val="visible"/>
                                      </p:to>
                                    </p:set>
                                    <p:animEffect transition="in" filter="wipe(up)">
                                      <p:cBhvr>
                                        <p:cTn id="12" dur="1000"/>
                                        <p:tgtEl>
                                          <p:spTgt spid="128006"/>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128007"/>
                                        </p:tgtEl>
                                        <p:attrNameLst>
                                          <p:attrName>style.visibility</p:attrName>
                                        </p:attrNameLst>
                                      </p:cBhvr>
                                      <p:to>
                                        <p:strVal val="visible"/>
                                      </p:to>
                                    </p:set>
                                    <p:animEffect transition="in" filter="wipe(up)">
                                      <p:cBhvr>
                                        <p:cTn id="16" dur="2000"/>
                                        <p:tgtEl>
                                          <p:spTgt spid="12800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128003">
                                            <p:txEl>
                                              <p:pRg st="0" end="0"/>
                                            </p:txEl>
                                          </p:spTgt>
                                        </p:tgtEl>
                                        <p:attrNameLst>
                                          <p:attrName>style.visibility</p:attrName>
                                        </p:attrNameLst>
                                      </p:cBhvr>
                                      <p:to>
                                        <p:strVal val="visible"/>
                                      </p:to>
                                    </p:set>
                                    <p:animEffect transition="in" filter="wipe(up)">
                                      <p:cBhvr>
                                        <p:cTn id="21" dur="1000"/>
                                        <p:tgtEl>
                                          <p:spTgt spid="128003">
                                            <p:txEl>
                                              <p:pRg st="0" end="0"/>
                                            </p:txEl>
                                          </p:spTgt>
                                        </p:tgtEl>
                                      </p:cBhvr>
                                    </p:animEffect>
                                  </p:childTnLst>
                                </p:cTn>
                              </p:par>
                            </p:childTnLst>
                          </p:cTn>
                        </p:par>
                        <p:par>
                          <p:cTn id="22" fill="hold" nodeType="afterGroup">
                            <p:stCondLst>
                              <p:cond delay="1000"/>
                            </p:stCondLst>
                            <p:childTnLst>
                              <p:par>
                                <p:cTn id="23" presetID="22" presetClass="entr" presetSubtype="1" fill="hold" nodeType="afterEffect">
                                  <p:stCondLst>
                                    <p:cond delay="0"/>
                                  </p:stCondLst>
                                  <p:childTnLst>
                                    <p:set>
                                      <p:cBhvr>
                                        <p:cTn id="24" dur="1" fill="hold">
                                          <p:stCondLst>
                                            <p:cond delay="0"/>
                                          </p:stCondLst>
                                        </p:cTn>
                                        <p:tgtEl>
                                          <p:spTgt spid="128003">
                                            <p:txEl>
                                              <p:pRg st="1" end="1"/>
                                            </p:txEl>
                                          </p:spTgt>
                                        </p:tgtEl>
                                        <p:attrNameLst>
                                          <p:attrName>style.visibility</p:attrName>
                                        </p:attrNameLst>
                                      </p:cBhvr>
                                      <p:to>
                                        <p:strVal val="visible"/>
                                      </p:to>
                                    </p:set>
                                    <p:animEffect transition="in" filter="wipe(up)">
                                      <p:cBhvr>
                                        <p:cTn id="25" dur="1000"/>
                                        <p:tgtEl>
                                          <p:spTgt spid="128003">
                                            <p:txEl>
                                              <p:pRg st="1" end="1"/>
                                            </p:txEl>
                                          </p:spTgt>
                                        </p:tgtEl>
                                      </p:cBhvr>
                                    </p:animEffect>
                                  </p:childTnLst>
                                </p:cTn>
                              </p:par>
                            </p:childTnLst>
                          </p:cTn>
                        </p:par>
                        <p:par>
                          <p:cTn id="26" fill="hold" nodeType="afterGroup">
                            <p:stCondLst>
                              <p:cond delay="2000"/>
                            </p:stCondLst>
                            <p:childTnLst>
                              <p:par>
                                <p:cTn id="27" presetID="22" presetClass="entr" presetSubtype="1" fill="hold" nodeType="afterEffect">
                                  <p:stCondLst>
                                    <p:cond delay="0"/>
                                  </p:stCondLst>
                                  <p:childTnLst>
                                    <p:set>
                                      <p:cBhvr>
                                        <p:cTn id="28" dur="1" fill="hold">
                                          <p:stCondLst>
                                            <p:cond delay="0"/>
                                          </p:stCondLst>
                                        </p:cTn>
                                        <p:tgtEl>
                                          <p:spTgt spid="128003">
                                            <p:txEl>
                                              <p:pRg st="2" end="2"/>
                                            </p:txEl>
                                          </p:spTgt>
                                        </p:tgtEl>
                                        <p:attrNameLst>
                                          <p:attrName>style.visibility</p:attrName>
                                        </p:attrNameLst>
                                      </p:cBhvr>
                                      <p:to>
                                        <p:strVal val="visible"/>
                                      </p:to>
                                    </p:set>
                                    <p:animEffect transition="in" filter="wipe(up)">
                                      <p:cBhvr>
                                        <p:cTn id="29" dur="1000"/>
                                        <p:tgtEl>
                                          <p:spTgt spid="128003">
                                            <p:txEl>
                                              <p:pRg st="2" end="2"/>
                                            </p:txEl>
                                          </p:spTgt>
                                        </p:tgtEl>
                                      </p:cBhvr>
                                    </p:animEffect>
                                  </p:childTnLst>
                                </p:cTn>
                              </p:par>
                            </p:childTnLst>
                          </p:cTn>
                        </p:par>
                        <p:par>
                          <p:cTn id="30" fill="hold" nodeType="afterGroup">
                            <p:stCondLst>
                              <p:cond delay="3000"/>
                            </p:stCondLst>
                            <p:childTnLst>
                              <p:par>
                                <p:cTn id="31" presetID="22" presetClass="entr" presetSubtype="1" fill="hold" nodeType="afterEffect">
                                  <p:stCondLst>
                                    <p:cond delay="0"/>
                                  </p:stCondLst>
                                  <p:childTnLst>
                                    <p:set>
                                      <p:cBhvr>
                                        <p:cTn id="32" dur="1" fill="hold">
                                          <p:stCondLst>
                                            <p:cond delay="0"/>
                                          </p:stCondLst>
                                        </p:cTn>
                                        <p:tgtEl>
                                          <p:spTgt spid="128003">
                                            <p:txEl>
                                              <p:pRg st="3" end="3"/>
                                            </p:txEl>
                                          </p:spTgt>
                                        </p:tgtEl>
                                        <p:attrNameLst>
                                          <p:attrName>style.visibility</p:attrName>
                                        </p:attrNameLst>
                                      </p:cBhvr>
                                      <p:to>
                                        <p:strVal val="visible"/>
                                      </p:to>
                                    </p:set>
                                    <p:animEffect transition="in" filter="wipe(up)">
                                      <p:cBhvr>
                                        <p:cTn id="33" dur="1000"/>
                                        <p:tgtEl>
                                          <p:spTgt spid="1280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8006"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8002" name="Group 72">
            <a:extLst>
              <a:ext uri="{FF2B5EF4-FFF2-40B4-BE49-F238E27FC236}">
                <a16:creationId xmlns:a16="http://schemas.microsoft.com/office/drawing/2014/main" id="{5323C6EC-ED4A-0253-D595-585DA889281C}"/>
              </a:ext>
            </a:extLst>
          </p:cNvPr>
          <p:cNvGrpSpPr>
            <a:grpSpLocks/>
          </p:cNvGrpSpPr>
          <p:nvPr/>
        </p:nvGrpSpPr>
        <p:grpSpPr bwMode="auto">
          <a:xfrm>
            <a:off x="1509713" y="1500188"/>
            <a:ext cx="6705600" cy="4900612"/>
            <a:chOff x="1518" y="1294"/>
            <a:chExt cx="3630" cy="3008"/>
          </a:xfrm>
        </p:grpSpPr>
        <p:sp>
          <p:nvSpPr>
            <p:cNvPr id="128005" name="AutoShape 5">
              <a:extLst>
                <a:ext uri="{FF2B5EF4-FFF2-40B4-BE49-F238E27FC236}">
                  <a16:creationId xmlns:a16="http://schemas.microsoft.com/office/drawing/2014/main" id="{2DC192A1-7C4C-B1C7-856F-C12DAC4C0C12}"/>
                </a:ext>
              </a:extLst>
            </p:cNvPr>
            <p:cNvSpPr>
              <a:spLocks noChangeAspect="1" noChangeArrowheads="1"/>
            </p:cNvSpPr>
            <p:nvPr/>
          </p:nvSpPr>
          <p:spPr bwMode="auto">
            <a:xfrm>
              <a:off x="1518" y="1340"/>
              <a:ext cx="3630" cy="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8006" name="AutoShape 6">
              <a:extLst>
                <a:ext uri="{FF2B5EF4-FFF2-40B4-BE49-F238E27FC236}">
                  <a16:creationId xmlns:a16="http://schemas.microsoft.com/office/drawing/2014/main" id="{0F16B577-A78B-FDD0-7EA0-105737F95ED2}"/>
                </a:ext>
              </a:extLst>
            </p:cNvPr>
            <p:cNvSpPr>
              <a:spLocks noChangeArrowheads="1"/>
            </p:cNvSpPr>
            <p:nvPr/>
          </p:nvSpPr>
          <p:spPr bwMode="auto">
            <a:xfrm>
              <a:off x="3558" y="2009"/>
              <a:ext cx="220" cy="196"/>
            </a:xfrm>
            <a:prstGeom prst="flowChartOr">
              <a:avLst/>
            </a:prstGeom>
            <a:solidFill>
              <a:srgbClr val="FFFFFF"/>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8007" name="Line 7">
              <a:extLst>
                <a:ext uri="{FF2B5EF4-FFF2-40B4-BE49-F238E27FC236}">
                  <a16:creationId xmlns:a16="http://schemas.microsoft.com/office/drawing/2014/main" id="{A89DA64C-3A15-5586-58AD-F563DC3D1EFA}"/>
                </a:ext>
              </a:extLst>
            </p:cNvPr>
            <p:cNvSpPr>
              <a:spLocks noChangeShapeType="1"/>
            </p:cNvSpPr>
            <p:nvPr/>
          </p:nvSpPr>
          <p:spPr bwMode="auto">
            <a:xfrm>
              <a:off x="3664" y="1813"/>
              <a:ext cx="0" cy="20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8008" name="Line 8">
              <a:extLst>
                <a:ext uri="{FF2B5EF4-FFF2-40B4-BE49-F238E27FC236}">
                  <a16:creationId xmlns:a16="http://schemas.microsoft.com/office/drawing/2014/main" id="{EEEE8C0C-D459-89E8-C1DC-7EE7A819185B}"/>
                </a:ext>
              </a:extLst>
            </p:cNvPr>
            <p:cNvSpPr>
              <a:spLocks noChangeShapeType="1"/>
            </p:cNvSpPr>
            <p:nvPr/>
          </p:nvSpPr>
          <p:spPr bwMode="auto">
            <a:xfrm flipH="1">
              <a:off x="3737" y="1805"/>
              <a:ext cx="196" cy="22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8009" name="Line 9">
              <a:extLst>
                <a:ext uri="{FF2B5EF4-FFF2-40B4-BE49-F238E27FC236}">
                  <a16:creationId xmlns:a16="http://schemas.microsoft.com/office/drawing/2014/main" id="{86D2DF34-C72D-EFAD-524B-F08124419A3F}"/>
                </a:ext>
              </a:extLst>
            </p:cNvPr>
            <p:cNvSpPr>
              <a:spLocks noChangeShapeType="1"/>
            </p:cNvSpPr>
            <p:nvPr/>
          </p:nvSpPr>
          <p:spPr bwMode="auto">
            <a:xfrm>
              <a:off x="3394" y="1805"/>
              <a:ext cx="221" cy="22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8010" name="Line 10">
              <a:extLst>
                <a:ext uri="{FF2B5EF4-FFF2-40B4-BE49-F238E27FC236}">
                  <a16:creationId xmlns:a16="http://schemas.microsoft.com/office/drawing/2014/main" id="{9AB87030-3A43-FD80-E016-72EFE04675E7}"/>
                </a:ext>
              </a:extLst>
            </p:cNvPr>
            <p:cNvSpPr>
              <a:spLocks noChangeShapeType="1"/>
            </p:cNvSpPr>
            <p:nvPr/>
          </p:nvSpPr>
          <p:spPr bwMode="auto">
            <a:xfrm>
              <a:off x="2554" y="1805"/>
              <a:ext cx="1004" cy="27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8011" name="Line 11">
              <a:extLst>
                <a:ext uri="{FF2B5EF4-FFF2-40B4-BE49-F238E27FC236}">
                  <a16:creationId xmlns:a16="http://schemas.microsoft.com/office/drawing/2014/main" id="{9FD8A317-6E53-9581-50DC-996CE48B407A}"/>
                </a:ext>
              </a:extLst>
            </p:cNvPr>
            <p:cNvSpPr>
              <a:spLocks noChangeShapeType="1"/>
            </p:cNvSpPr>
            <p:nvPr/>
          </p:nvSpPr>
          <p:spPr bwMode="auto">
            <a:xfrm>
              <a:off x="3664" y="2205"/>
              <a:ext cx="0" cy="17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8012" name="Line 12">
              <a:extLst>
                <a:ext uri="{FF2B5EF4-FFF2-40B4-BE49-F238E27FC236}">
                  <a16:creationId xmlns:a16="http://schemas.microsoft.com/office/drawing/2014/main" id="{8521AEE3-C595-735A-7DA8-1C4D79F2B899}"/>
                </a:ext>
              </a:extLst>
            </p:cNvPr>
            <p:cNvSpPr>
              <a:spLocks noChangeShapeType="1"/>
            </p:cNvSpPr>
            <p:nvPr/>
          </p:nvSpPr>
          <p:spPr bwMode="auto">
            <a:xfrm>
              <a:off x="2187" y="1723"/>
              <a:ext cx="228"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8013" name="Line 13">
              <a:extLst>
                <a:ext uri="{FF2B5EF4-FFF2-40B4-BE49-F238E27FC236}">
                  <a16:creationId xmlns:a16="http://schemas.microsoft.com/office/drawing/2014/main" id="{79923FB5-709A-CAE6-D8A7-8451C2E3222E}"/>
                </a:ext>
              </a:extLst>
            </p:cNvPr>
            <p:cNvSpPr>
              <a:spLocks noChangeShapeType="1"/>
            </p:cNvSpPr>
            <p:nvPr/>
          </p:nvSpPr>
          <p:spPr bwMode="auto">
            <a:xfrm>
              <a:off x="2163" y="1944"/>
              <a:ext cx="1" cy="5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14" name="Line 14">
              <a:extLst>
                <a:ext uri="{FF2B5EF4-FFF2-40B4-BE49-F238E27FC236}">
                  <a16:creationId xmlns:a16="http://schemas.microsoft.com/office/drawing/2014/main" id="{3A827BD8-3C66-43A6-1582-3DD7D1F3F951}"/>
                </a:ext>
              </a:extLst>
            </p:cNvPr>
            <p:cNvSpPr>
              <a:spLocks noChangeShapeType="1"/>
            </p:cNvSpPr>
            <p:nvPr/>
          </p:nvSpPr>
          <p:spPr bwMode="auto">
            <a:xfrm flipH="1">
              <a:off x="2179" y="2474"/>
              <a:ext cx="1362" cy="1"/>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8015" name="Text Box 15">
              <a:extLst>
                <a:ext uri="{FF2B5EF4-FFF2-40B4-BE49-F238E27FC236}">
                  <a16:creationId xmlns:a16="http://schemas.microsoft.com/office/drawing/2014/main" id="{0F9014AB-8479-D2DD-A91F-F2D207B6EF67}"/>
                </a:ext>
              </a:extLst>
            </p:cNvPr>
            <p:cNvSpPr txBox="1">
              <a:spLocks noChangeArrowheads="1"/>
            </p:cNvSpPr>
            <p:nvPr/>
          </p:nvSpPr>
          <p:spPr bwMode="auto">
            <a:xfrm>
              <a:off x="1518" y="1601"/>
              <a:ext cx="43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zh-CN" altLang="en-US" sz="1800">
                  <a:solidFill>
                    <a:schemeClr val="tx1"/>
                  </a:solidFill>
                  <a:latin typeface="Arial" panose="020B0604020202020204" pitchFamily="34" charset="0"/>
                  <a:ea typeface="华文中宋" panose="02010600040101010101" pitchFamily="2" charset="-122"/>
                  <a:cs typeface="Arial" panose="020B0604020202020204" pitchFamily="34" charset="0"/>
                </a:rPr>
                <a:t>输入</a:t>
              </a:r>
            </a:p>
          </p:txBody>
        </p:sp>
        <p:sp>
          <p:nvSpPr>
            <p:cNvPr id="128016" name="Text Box 16">
              <a:extLst>
                <a:ext uri="{FF2B5EF4-FFF2-40B4-BE49-F238E27FC236}">
                  <a16:creationId xmlns:a16="http://schemas.microsoft.com/office/drawing/2014/main" id="{3F4083B8-EDA2-3618-9EAE-6C4302086AA2}"/>
                </a:ext>
              </a:extLst>
            </p:cNvPr>
            <p:cNvSpPr txBox="1">
              <a:spLocks noChangeArrowheads="1"/>
            </p:cNvSpPr>
            <p:nvPr/>
          </p:nvSpPr>
          <p:spPr bwMode="auto">
            <a:xfrm>
              <a:off x="4496" y="1513"/>
              <a:ext cx="433"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zh-CN" altLang="en-US" sz="1800">
                  <a:solidFill>
                    <a:schemeClr val="tx1"/>
                  </a:solidFill>
                  <a:latin typeface="Arial" panose="020B0604020202020204" pitchFamily="34" charset="0"/>
                  <a:ea typeface="华文中宋" panose="02010600040101010101" pitchFamily="2" charset="-122"/>
                  <a:cs typeface="Arial" panose="020B0604020202020204" pitchFamily="34" charset="0"/>
                </a:rPr>
                <a:t>输出</a:t>
              </a:r>
            </a:p>
          </p:txBody>
        </p:sp>
        <p:sp>
          <p:nvSpPr>
            <p:cNvPr id="128017" name="Text Box 17">
              <a:extLst>
                <a:ext uri="{FF2B5EF4-FFF2-40B4-BE49-F238E27FC236}">
                  <a16:creationId xmlns:a16="http://schemas.microsoft.com/office/drawing/2014/main" id="{00CBB0B5-0904-E5B4-46A6-CCDA1351AE5E}"/>
                </a:ext>
              </a:extLst>
            </p:cNvPr>
            <p:cNvSpPr txBox="1">
              <a:spLocks noChangeArrowheads="1"/>
            </p:cNvSpPr>
            <p:nvPr/>
          </p:nvSpPr>
          <p:spPr bwMode="auto">
            <a:xfrm>
              <a:off x="4120" y="3772"/>
              <a:ext cx="278"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1800">
                  <a:solidFill>
                    <a:schemeClr val="tx1"/>
                  </a:solidFill>
                  <a:latin typeface="Arial" panose="020B0604020202020204" pitchFamily="34" charset="0"/>
                  <a:ea typeface="华文中宋" panose="02010600040101010101" pitchFamily="2" charset="-122"/>
                  <a:cs typeface="Arial" panose="020B0604020202020204" pitchFamily="34" charset="0"/>
                </a:rPr>
                <a:t>Y</a:t>
              </a:r>
            </a:p>
          </p:txBody>
        </p:sp>
        <p:grpSp>
          <p:nvGrpSpPr>
            <p:cNvPr id="128018" name="Group 18">
              <a:extLst>
                <a:ext uri="{FF2B5EF4-FFF2-40B4-BE49-F238E27FC236}">
                  <a16:creationId xmlns:a16="http://schemas.microsoft.com/office/drawing/2014/main" id="{59516BE6-64FF-3439-B27C-C40F4EF92D60}"/>
                </a:ext>
              </a:extLst>
            </p:cNvPr>
            <p:cNvGrpSpPr>
              <a:grpSpLocks/>
            </p:cNvGrpSpPr>
            <p:nvPr/>
          </p:nvGrpSpPr>
          <p:grpSpPr bwMode="auto">
            <a:xfrm>
              <a:off x="1918" y="1707"/>
              <a:ext cx="272" cy="237"/>
              <a:chOff x="6738" y="6385"/>
              <a:chExt cx="434" cy="377"/>
            </a:xfrm>
          </p:grpSpPr>
          <p:grpSp>
            <p:nvGrpSpPr>
              <p:cNvPr id="128064" name="Group 19">
                <a:extLst>
                  <a:ext uri="{FF2B5EF4-FFF2-40B4-BE49-F238E27FC236}">
                    <a16:creationId xmlns:a16="http://schemas.microsoft.com/office/drawing/2014/main" id="{51756E1B-75D8-BA58-50B7-114A1311FDB4}"/>
                  </a:ext>
                </a:extLst>
              </p:cNvPr>
              <p:cNvGrpSpPr>
                <a:grpSpLocks/>
              </p:cNvGrpSpPr>
              <p:nvPr/>
            </p:nvGrpSpPr>
            <p:grpSpPr bwMode="auto">
              <a:xfrm>
                <a:off x="6769" y="6385"/>
                <a:ext cx="403" cy="377"/>
                <a:chOff x="6768" y="6385"/>
                <a:chExt cx="403" cy="377"/>
              </a:xfrm>
            </p:grpSpPr>
            <p:sp>
              <p:nvSpPr>
                <p:cNvPr id="128066" name="Oval 20">
                  <a:extLst>
                    <a:ext uri="{FF2B5EF4-FFF2-40B4-BE49-F238E27FC236}">
                      <a16:creationId xmlns:a16="http://schemas.microsoft.com/office/drawing/2014/main" id="{29F3328E-378D-7F1C-266B-FA19A9FCEE42}"/>
                    </a:ext>
                  </a:extLst>
                </p:cNvPr>
                <p:cNvSpPr>
                  <a:spLocks noChangeArrowheads="1"/>
                </p:cNvSpPr>
                <p:nvPr/>
              </p:nvSpPr>
              <p:spPr bwMode="auto">
                <a:xfrm flipH="1">
                  <a:off x="7080" y="6385"/>
                  <a:ext cx="91" cy="78"/>
                </a:xfrm>
                <a:prstGeom prst="ellipse">
                  <a:avLst/>
                </a:prstGeom>
                <a:solidFill>
                  <a:srgbClr val="FFFFFF"/>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8067" name="Oval 21">
                  <a:extLst>
                    <a:ext uri="{FF2B5EF4-FFF2-40B4-BE49-F238E27FC236}">
                      <a16:creationId xmlns:a16="http://schemas.microsoft.com/office/drawing/2014/main" id="{4385E678-527A-20D7-FAD9-758BEBC16988}"/>
                    </a:ext>
                  </a:extLst>
                </p:cNvPr>
                <p:cNvSpPr>
                  <a:spLocks noChangeArrowheads="1"/>
                </p:cNvSpPr>
                <p:nvPr/>
              </p:nvSpPr>
              <p:spPr bwMode="auto">
                <a:xfrm flipH="1">
                  <a:off x="7080" y="6684"/>
                  <a:ext cx="91" cy="78"/>
                </a:xfrm>
                <a:prstGeom prst="ellipse">
                  <a:avLst/>
                </a:prstGeom>
                <a:solidFill>
                  <a:srgbClr val="FFFFFF"/>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8068" name="Oval 22">
                  <a:extLst>
                    <a:ext uri="{FF2B5EF4-FFF2-40B4-BE49-F238E27FC236}">
                      <a16:creationId xmlns:a16="http://schemas.microsoft.com/office/drawing/2014/main" id="{DE4A8D6F-8EA9-FCCF-B27D-18DB9E0AA9AF}"/>
                    </a:ext>
                  </a:extLst>
                </p:cNvPr>
                <p:cNvSpPr>
                  <a:spLocks noChangeArrowheads="1"/>
                </p:cNvSpPr>
                <p:nvPr/>
              </p:nvSpPr>
              <p:spPr bwMode="auto">
                <a:xfrm flipH="1">
                  <a:off x="6768" y="6541"/>
                  <a:ext cx="91" cy="78"/>
                </a:xfrm>
                <a:prstGeom prst="ellipse">
                  <a:avLst/>
                </a:prstGeom>
                <a:solidFill>
                  <a:srgbClr val="FFFFFF"/>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8069" name="Line 23">
                  <a:extLst>
                    <a:ext uri="{FF2B5EF4-FFF2-40B4-BE49-F238E27FC236}">
                      <a16:creationId xmlns:a16="http://schemas.microsoft.com/office/drawing/2014/main" id="{29A11165-99C2-678B-7826-5E409C30DBF7}"/>
                    </a:ext>
                  </a:extLst>
                </p:cNvPr>
                <p:cNvSpPr>
                  <a:spLocks noChangeShapeType="1"/>
                </p:cNvSpPr>
                <p:nvPr/>
              </p:nvSpPr>
              <p:spPr bwMode="auto">
                <a:xfrm>
                  <a:off x="6859" y="6593"/>
                  <a:ext cx="234" cy="10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28065" name="Arc 24">
                <a:extLst>
                  <a:ext uri="{FF2B5EF4-FFF2-40B4-BE49-F238E27FC236}">
                    <a16:creationId xmlns:a16="http://schemas.microsoft.com/office/drawing/2014/main" id="{6608E6CE-0D32-BBA5-7069-EB205E4F1BED}"/>
                  </a:ext>
                </a:extLst>
              </p:cNvPr>
              <p:cNvSpPr>
                <a:spLocks/>
              </p:cNvSpPr>
              <p:nvPr/>
            </p:nvSpPr>
            <p:spPr bwMode="auto">
              <a:xfrm rot="830300" flipH="1">
                <a:off x="6738" y="6387"/>
                <a:ext cx="233" cy="321"/>
              </a:xfrm>
              <a:custGeom>
                <a:avLst/>
                <a:gdLst>
                  <a:gd name="T0" fmla="*/ 0 w 21600"/>
                  <a:gd name="T1" fmla="*/ 0 h 41283"/>
                  <a:gd name="T2" fmla="*/ 0 w 21600"/>
                  <a:gd name="T3" fmla="*/ 0 h 41283"/>
                  <a:gd name="T4" fmla="*/ 0 w 21600"/>
                  <a:gd name="T5" fmla="*/ 0 h 41283"/>
                  <a:gd name="T6" fmla="*/ 0 60000 65536"/>
                  <a:gd name="T7" fmla="*/ 0 60000 65536"/>
                  <a:gd name="T8" fmla="*/ 0 60000 65536"/>
                  <a:gd name="T9" fmla="*/ 0 w 21600"/>
                  <a:gd name="T10" fmla="*/ 0 h 41283"/>
                  <a:gd name="T11" fmla="*/ 21600 w 21600"/>
                  <a:gd name="T12" fmla="*/ 41283 h 41283"/>
                </a:gdLst>
                <a:ahLst/>
                <a:cxnLst>
                  <a:cxn ang="T6">
                    <a:pos x="T0" y="T1"/>
                  </a:cxn>
                  <a:cxn ang="T7">
                    <a:pos x="T2" y="T3"/>
                  </a:cxn>
                  <a:cxn ang="T8">
                    <a:pos x="T4" y="T5"/>
                  </a:cxn>
                </a:cxnLst>
                <a:rect l="T9" t="T10" r="T11" b="T12"/>
                <a:pathLst>
                  <a:path w="21600" h="41283" fill="none" extrusionOk="0">
                    <a:moveTo>
                      <a:pt x="14559" y="41283"/>
                    </a:moveTo>
                    <a:cubicBezTo>
                      <a:pt x="5847" y="38279"/>
                      <a:pt x="0" y="30078"/>
                      <a:pt x="0" y="20863"/>
                    </a:cubicBezTo>
                    <a:cubicBezTo>
                      <a:pt x="-1" y="11088"/>
                      <a:pt x="6564" y="2532"/>
                      <a:pt x="16005" y="0"/>
                    </a:cubicBezTo>
                  </a:path>
                  <a:path w="21600" h="41283" stroke="0" extrusionOk="0">
                    <a:moveTo>
                      <a:pt x="14559" y="41283"/>
                    </a:moveTo>
                    <a:cubicBezTo>
                      <a:pt x="5847" y="38279"/>
                      <a:pt x="0" y="30078"/>
                      <a:pt x="0" y="20863"/>
                    </a:cubicBezTo>
                    <a:cubicBezTo>
                      <a:pt x="-1" y="11088"/>
                      <a:pt x="6564" y="2532"/>
                      <a:pt x="16005" y="0"/>
                    </a:cubicBezTo>
                    <a:lnTo>
                      <a:pt x="21600" y="20863"/>
                    </a:lnTo>
                    <a:close/>
                  </a:path>
                </a:pathLst>
              </a:custGeom>
              <a:noFill/>
              <a:ln w="952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grpSp>
        <p:sp>
          <p:nvSpPr>
            <p:cNvPr id="128019" name="AutoShape 26">
              <a:extLst>
                <a:ext uri="{FF2B5EF4-FFF2-40B4-BE49-F238E27FC236}">
                  <a16:creationId xmlns:a16="http://schemas.microsoft.com/office/drawing/2014/main" id="{2F28C817-9A8B-A948-87BA-6AB35C34A122}"/>
                </a:ext>
              </a:extLst>
            </p:cNvPr>
            <p:cNvSpPr>
              <a:spLocks noChangeArrowheads="1"/>
            </p:cNvSpPr>
            <p:nvPr/>
          </p:nvSpPr>
          <p:spPr bwMode="auto">
            <a:xfrm>
              <a:off x="3558" y="2376"/>
              <a:ext cx="220" cy="196"/>
            </a:xfrm>
            <a:prstGeom prst="flowChartOr">
              <a:avLst/>
            </a:prstGeom>
            <a:solidFill>
              <a:srgbClr val="FFFFFF"/>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8020" name="Line 27">
              <a:extLst>
                <a:ext uri="{FF2B5EF4-FFF2-40B4-BE49-F238E27FC236}">
                  <a16:creationId xmlns:a16="http://schemas.microsoft.com/office/drawing/2014/main" id="{0253ADE8-3E66-EFC8-448D-1B10543132DE}"/>
                </a:ext>
              </a:extLst>
            </p:cNvPr>
            <p:cNvSpPr>
              <a:spLocks noChangeShapeType="1"/>
            </p:cNvSpPr>
            <p:nvPr/>
          </p:nvSpPr>
          <p:spPr bwMode="auto">
            <a:xfrm>
              <a:off x="1697" y="1822"/>
              <a:ext cx="22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8021" name="Line 28">
              <a:extLst>
                <a:ext uri="{FF2B5EF4-FFF2-40B4-BE49-F238E27FC236}">
                  <a16:creationId xmlns:a16="http://schemas.microsoft.com/office/drawing/2014/main" id="{9463AB31-30FB-1D74-5EF7-C4549345BC2E}"/>
                </a:ext>
              </a:extLst>
            </p:cNvPr>
            <p:cNvSpPr>
              <a:spLocks noChangeShapeType="1"/>
            </p:cNvSpPr>
            <p:nvPr/>
          </p:nvSpPr>
          <p:spPr bwMode="auto">
            <a:xfrm>
              <a:off x="3664" y="2205"/>
              <a:ext cx="0" cy="17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8022" name="Text Box 30">
              <a:extLst>
                <a:ext uri="{FF2B5EF4-FFF2-40B4-BE49-F238E27FC236}">
                  <a16:creationId xmlns:a16="http://schemas.microsoft.com/office/drawing/2014/main" id="{D2BE9671-A453-EFF5-7AE1-CDD376C3B97B}"/>
                </a:ext>
              </a:extLst>
            </p:cNvPr>
            <p:cNvSpPr txBox="1">
              <a:spLocks noChangeArrowheads="1"/>
            </p:cNvSpPr>
            <p:nvPr/>
          </p:nvSpPr>
          <p:spPr bwMode="auto">
            <a:xfrm>
              <a:off x="2415" y="1611"/>
              <a:ext cx="278" cy="195"/>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1800" i="1">
                  <a:solidFill>
                    <a:schemeClr val="tx1"/>
                  </a:solidFill>
                  <a:latin typeface="Arial" panose="020B0604020202020204" pitchFamily="34" charset="0"/>
                  <a:ea typeface="华文中宋" panose="02010600040101010101" pitchFamily="2" charset="-122"/>
                  <a:cs typeface="Arial" panose="020B0604020202020204" pitchFamily="34" charset="0"/>
                </a:rPr>
                <a:t>b</a:t>
              </a:r>
              <a:r>
                <a:rPr lang="en-US" altLang="zh-CN" sz="1800" baseline="-25000">
                  <a:solidFill>
                    <a:schemeClr val="tx1"/>
                  </a:solidFill>
                  <a:latin typeface="Arial" panose="020B0604020202020204" pitchFamily="34" charset="0"/>
                  <a:ea typeface="华文中宋" panose="02010600040101010101" pitchFamily="2" charset="-122"/>
                  <a:cs typeface="Arial" panose="020B0604020202020204" pitchFamily="34" charset="0"/>
                </a:rPr>
                <a:t>6</a:t>
              </a:r>
              <a:endParaRPr lang="en-US" altLang="zh-CN" sz="18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8023" name="Text Box 31">
              <a:extLst>
                <a:ext uri="{FF2B5EF4-FFF2-40B4-BE49-F238E27FC236}">
                  <a16:creationId xmlns:a16="http://schemas.microsoft.com/office/drawing/2014/main" id="{D611EB4D-100E-90B0-F066-C889C2638D0D}"/>
                </a:ext>
              </a:extLst>
            </p:cNvPr>
            <p:cNvSpPr txBox="1">
              <a:spLocks noChangeArrowheads="1"/>
            </p:cNvSpPr>
            <p:nvPr/>
          </p:nvSpPr>
          <p:spPr bwMode="auto">
            <a:xfrm>
              <a:off x="2693" y="1611"/>
              <a:ext cx="277" cy="195"/>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1800" i="1">
                  <a:solidFill>
                    <a:schemeClr val="tx1"/>
                  </a:solidFill>
                  <a:latin typeface="Arial" panose="020B0604020202020204" pitchFamily="34" charset="0"/>
                  <a:ea typeface="华文中宋" panose="02010600040101010101" pitchFamily="2" charset="-122"/>
                  <a:cs typeface="Arial" panose="020B0604020202020204" pitchFamily="34" charset="0"/>
                </a:rPr>
                <a:t>b</a:t>
              </a:r>
              <a:r>
                <a:rPr lang="en-US" altLang="zh-CN" sz="1800" baseline="-25000">
                  <a:solidFill>
                    <a:schemeClr val="tx1"/>
                  </a:solidFill>
                  <a:latin typeface="Arial" panose="020B0604020202020204" pitchFamily="34" charset="0"/>
                  <a:ea typeface="华文中宋" panose="02010600040101010101" pitchFamily="2" charset="-122"/>
                  <a:cs typeface="Arial" panose="020B0604020202020204" pitchFamily="34" charset="0"/>
                </a:rPr>
                <a:t>5</a:t>
              </a:r>
              <a:endParaRPr lang="en-US" altLang="zh-CN" sz="18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8024" name="Text Box 32">
              <a:extLst>
                <a:ext uri="{FF2B5EF4-FFF2-40B4-BE49-F238E27FC236}">
                  <a16:creationId xmlns:a16="http://schemas.microsoft.com/office/drawing/2014/main" id="{4C0AE5A1-15F4-BBC4-894C-EC8693B69028}"/>
                </a:ext>
              </a:extLst>
            </p:cNvPr>
            <p:cNvSpPr txBox="1">
              <a:spLocks noChangeArrowheads="1"/>
            </p:cNvSpPr>
            <p:nvPr/>
          </p:nvSpPr>
          <p:spPr bwMode="auto">
            <a:xfrm>
              <a:off x="2970" y="1611"/>
              <a:ext cx="277" cy="195"/>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1800" i="1">
                  <a:solidFill>
                    <a:schemeClr val="tx1"/>
                  </a:solidFill>
                  <a:latin typeface="Arial" panose="020B0604020202020204" pitchFamily="34" charset="0"/>
                  <a:ea typeface="华文中宋" panose="02010600040101010101" pitchFamily="2" charset="-122"/>
                  <a:cs typeface="Arial" panose="020B0604020202020204" pitchFamily="34" charset="0"/>
                </a:rPr>
                <a:t>b</a:t>
              </a:r>
              <a:r>
                <a:rPr lang="en-US" altLang="zh-CN" sz="1800" baseline="-25000">
                  <a:solidFill>
                    <a:schemeClr val="tx1"/>
                  </a:solidFill>
                  <a:latin typeface="Arial" panose="020B0604020202020204" pitchFamily="34" charset="0"/>
                  <a:ea typeface="华文中宋" panose="02010600040101010101" pitchFamily="2" charset="-122"/>
                  <a:cs typeface="Arial" panose="020B0604020202020204" pitchFamily="34" charset="0"/>
                </a:rPr>
                <a:t>4</a:t>
              </a:r>
              <a:endParaRPr lang="en-US" altLang="zh-CN" sz="18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8025" name="Text Box 33">
              <a:extLst>
                <a:ext uri="{FF2B5EF4-FFF2-40B4-BE49-F238E27FC236}">
                  <a16:creationId xmlns:a16="http://schemas.microsoft.com/office/drawing/2014/main" id="{5F660D04-63F9-719B-AE1D-41EF967C4A4F}"/>
                </a:ext>
              </a:extLst>
            </p:cNvPr>
            <p:cNvSpPr txBox="1">
              <a:spLocks noChangeArrowheads="1"/>
            </p:cNvSpPr>
            <p:nvPr/>
          </p:nvSpPr>
          <p:spPr bwMode="auto">
            <a:xfrm>
              <a:off x="3247" y="1611"/>
              <a:ext cx="278" cy="195"/>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1800" i="1">
                  <a:solidFill>
                    <a:schemeClr val="tx1"/>
                  </a:solidFill>
                  <a:latin typeface="Arial" panose="020B0604020202020204" pitchFamily="34" charset="0"/>
                  <a:ea typeface="华文中宋" panose="02010600040101010101" pitchFamily="2" charset="-122"/>
                  <a:cs typeface="Arial" panose="020B0604020202020204" pitchFamily="34" charset="0"/>
                </a:rPr>
                <a:t>b</a:t>
              </a:r>
              <a:r>
                <a:rPr lang="en-US" altLang="zh-CN" sz="1800" baseline="-25000">
                  <a:solidFill>
                    <a:schemeClr val="tx1"/>
                  </a:solidFill>
                  <a:latin typeface="Arial" panose="020B0604020202020204" pitchFamily="34" charset="0"/>
                  <a:ea typeface="华文中宋" panose="02010600040101010101" pitchFamily="2" charset="-122"/>
                  <a:cs typeface="Arial" panose="020B0604020202020204" pitchFamily="34" charset="0"/>
                </a:rPr>
                <a:t>3</a:t>
              </a:r>
              <a:endParaRPr lang="en-US" altLang="zh-CN" sz="18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8026" name="Text Box 34">
              <a:extLst>
                <a:ext uri="{FF2B5EF4-FFF2-40B4-BE49-F238E27FC236}">
                  <a16:creationId xmlns:a16="http://schemas.microsoft.com/office/drawing/2014/main" id="{C0C96F71-F0A0-0A02-DE7C-8ABE80AC4CC6}"/>
                </a:ext>
              </a:extLst>
            </p:cNvPr>
            <p:cNvSpPr txBox="1">
              <a:spLocks noChangeArrowheads="1"/>
            </p:cNvSpPr>
            <p:nvPr/>
          </p:nvSpPr>
          <p:spPr bwMode="auto">
            <a:xfrm>
              <a:off x="3525" y="1611"/>
              <a:ext cx="277" cy="195"/>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1800" i="1">
                  <a:solidFill>
                    <a:schemeClr val="tx1"/>
                  </a:solidFill>
                  <a:latin typeface="Arial" panose="020B0604020202020204" pitchFamily="34" charset="0"/>
                  <a:ea typeface="华文中宋" panose="02010600040101010101" pitchFamily="2" charset="-122"/>
                  <a:cs typeface="Arial" panose="020B0604020202020204" pitchFamily="34" charset="0"/>
                </a:rPr>
                <a:t>b</a:t>
              </a:r>
              <a:r>
                <a:rPr lang="en-US" altLang="zh-CN" sz="1800" baseline="-25000">
                  <a:solidFill>
                    <a:schemeClr val="tx1"/>
                  </a:solidFill>
                  <a:latin typeface="Arial" panose="020B0604020202020204" pitchFamily="34" charset="0"/>
                  <a:ea typeface="华文中宋" panose="02010600040101010101" pitchFamily="2" charset="-122"/>
                  <a:cs typeface="Arial" panose="020B0604020202020204" pitchFamily="34" charset="0"/>
                </a:rPr>
                <a:t>2</a:t>
              </a:r>
              <a:endParaRPr lang="en-US" altLang="zh-CN" sz="18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8027" name="Text Box 35">
              <a:extLst>
                <a:ext uri="{FF2B5EF4-FFF2-40B4-BE49-F238E27FC236}">
                  <a16:creationId xmlns:a16="http://schemas.microsoft.com/office/drawing/2014/main" id="{F71BDDA1-1E25-33B5-7FC2-2894F3863734}"/>
                </a:ext>
              </a:extLst>
            </p:cNvPr>
            <p:cNvSpPr txBox="1">
              <a:spLocks noChangeArrowheads="1"/>
            </p:cNvSpPr>
            <p:nvPr/>
          </p:nvSpPr>
          <p:spPr bwMode="auto">
            <a:xfrm>
              <a:off x="3802" y="1611"/>
              <a:ext cx="277" cy="195"/>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1800" i="1">
                  <a:solidFill>
                    <a:schemeClr val="tx1"/>
                  </a:solidFill>
                  <a:latin typeface="Arial" panose="020B0604020202020204" pitchFamily="34" charset="0"/>
                  <a:ea typeface="华文中宋" panose="02010600040101010101" pitchFamily="2" charset="-122"/>
                  <a:cs typeface="Arial" panose="020B0604020202020204" pitchFamily="34" charset="0"/>
                </a:rPr>
                <a:t>b</a:t>
              </a:r>
              <a:r>
                <a:rPr lang="en-US" altLang="zh-CN" sz="1800" baseline="-25000">
                  <a:solidFill>
                    <a:schemeClr val="tx1"/>
                  </a:solidFill>
                  <a:latin typeface="Arial" panose="020B0604020202020204" pitchFamily="34" charset="0"/>
                  <a:ea typeface="华文中宋" panose="02010600040101010101" pitchFamily="2" charset="-122"/>
                  <a:cs typeface="Arial" panose="020B0604020202020204" pitchFamily="34" charset="0"/>
                </a:rPr>
                <a:t>1</a:t>
              </a:r>
              <a:endParaRPr lang="en-US" altLang="zh-CN" sz="18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8028" name="Line 36">
              <a:extLst>
                <a:ext uri="{FF2B5EF4-FFF2-40B4-BE49-F238E27FC236}">
                  <a16:creationId xmlns:a16="http://schemas.microsoft.com/office/drawing/2014/main" id="{8A04EDBE-6F43-048B-C256-F8FCCED2AA0D}"/>
                </a:ext>
              </a:extLst>
            </p:cNvPr>
            <p:cNvSpPr>
              <a:spLocks noChangeShapeType="1"/>
            </p:cNvSpPr>
            <p:nvPr/>
          </p:nvSpPr>
          <p:spPr bwMode="auto">
            <a:xfrm flipH="1">
              <a:off x="2538" y="2953"/>
              <a:ext cx="192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29" name="Line 37">
              <a:extLst>
                <a:ext uri="{FF2B5EF4-FFF2-40B4-BE49-F238E27FC236}">
                  <a16:creationId xmlns:a16="http://schemas.microsoft.com/office/drawing/2014/main" id="{7B7EF12F-D921-8D4C-751A-A0A158D6AA1B}"/>
                </a:ext>
              </a:extLst>
            </p:cNvPr>
            <p:cNvSpPr>
              <a:spLocks noChangeShapeType="1"/>
            </p:cNvSpPr>
            <p:nvPr/>
          </p:nvSpPr>
          <p:spPr bwMode="auto">
            <a:xfrm flipH="1">
              <a:off x="2187" y="2749"/>
              <a:ext cx="1468"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8030" name="Text Box 39">
              <a:extLst>
                <a:ext uri="{FF2B5EF4-FFF2-40B4-BE49-F238E27FC236}">
                  <a16:creationId xmlns:a16="http://schemas.microsoft.com/office/drawing/2014/main" id="{887D0A80-9590-6FDF-8DC8-03FBF29C3076}"/>
                </a:ext>
              </a:extLst>
            </p:cNvPr>
            <p:cNvSpPr txBox="1">
              <a:spLocks noChangeArrowheads="1"/>
            </p:cNvSpPr>
            <p:nvPr/>
          </p:nvSpPr>
          <p:spPr bwMode="auto">
            <a:xfrm>
              <a:off x="2415" y="3144"/>
              <a:ext cx="278" cy="195"/>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1800" i="1">
                  <a:solidFill>
                    <a:schemeClr val="tx1"/>
                  </a:solidFill>
                  <a:latin typeface="Arial" panose="020B0604020202020204" pitchFamily="34" charset="0"/>
                  <a:ea typeface="华文中宋" panose="02010600040101010101" pitchFamily="2" charset="-122"/>
                  <a:cs typeface="Arial" panose="020B0604020202020204" pitchFamily="34" charset="0"/>
                </a:rPr>
                <a:t>S</a:t>
              </a:r>
              <a:r>
                <a:rPr lang="en-US" altLang="zh-CN" sz="1800" baseline="-25000">
                  <a:solidFill>
                    <a:schemeClr val="tx1"/>
                  </a:solidFill>
                  <a:latin typeface="Arial" panose="020B0604020202020204" pitchFamily="34" charset="0"/>
                  <a:ea typeface="华文中宋" panose="02010600040101010101" pitchFamily="2" charset="-122"/>
                  <a:cs typeface="Arial" panose="020B0604020202020204" pitchFamily="34" charset="0"/>
                </a:rPr>
                <a:t>6</a:t>
              </a:r>
              <a:endParaRPr lang="en-US" altLang="zh-CN" sz="18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8031" name="Text Box 40">
              <a:extLst>
                <a:ext uri="{FF2B5EF4-FFF2-40B4-BE49-F238E27FC236}">
                  <a16:creationId xmlns:a16="http://schemas.microsoft.com/office/drawing/2014/main" id="{8D481746-30A3-EA38-AAE3-DBAA9E729FD9}"/>
                </a:ext>
              </a:extLst>
            </p:cNvPr>
            <p:cNvSpPr txBox="1">
              <a:spLocks noChangeArrowheads="1"/>
            </p:cNvSpPr>
            <p:nvPr/>
          </p:nvSpPr>
          <p:spPr bwMode="auto">
            <a:xfrm>
              <a:off x="2693" y="3144"/>
              <a:ext cx="277" cy="195"/>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1800" i="1">
                  <a:solidFill>
                    <a:schemeClr val="tx1"/>
                  </a:solidFill>
                  <a:latin typeface="Arial" panose="020B0604020202020204" pitchFamily="34" charset="0"/>
                  <a:ea typeface="华文中宋" panose="02010600040101010101" pitchFamily="2" charset="-122"/>
                  <a:cs typeface="Arial" panose="020B0604020202020204" pitchFamily="34" charset="0"/>
                </a:rPr>
                <a:t>S</a:t>
              </a:r>
              <a:r>
                <a:rPr lang="en-US" altLang="zh-CN" sz="1800" baseline="-25000">
                  <a:solidFill>
                    <a:schemeClr val="tx1"/>
                  </a:solidFill>
                  <a:latin typeface="Arial" panose="020B0604020202020204" pitchFamily="34" charset="0"/>
                  <a:ea typeface="华文中宋" panose="02010600040101010101" pitchFamily="2" charset="-122"/>
                  <a:cs typeface="Arial" panose="020B0604020202020204" pitchFamily="34" charset="0"/>
                </a:rPr>
                <a:t>5</a:t>
              </a:r>
              <a:endParaRPr lang="en-US" altLang="zh-CN" sz="18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8032" name="Text Box 41">
              <a:extLst>
                <a:ext uri="{FF2B5EF4-FFF2-40B4-BE49-F238E27FC236}">
                  <a16:creationId xmlns:a16="http://schemas.microsoft.com/office/drawing/2014/main" id="{EF4F798F-59E6-A4C9-30C4-CCE923CC1AF9}"/>
                </a:ext>
              </a:extLst>
            </p:cNvPr>
            <p:cNvSpPr txBox="1">
              <a:spLocks noChangeArrowheads="1"/>
            </p:cNvSpPr>
            <p:nvPr/>
          </p:nvSpPr>
          <p:spPr bwMode="auto">
            <a:xfrm>
              <a:off x="2970" y="3144"/>
              <a:ext cx="277" cy="195"/>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1800" i="1">
                  <a:solidFill>
                    <a:schemeClr val="tx1"/>
                  </a:solidFill>
                  <a:latin typeface="Arial" panose="020B0604020202020204" pitchFamily="34" charset="0"/>
                  <a:ea typeface="华文中宋" panose="02010600040101010101" pitchFamily="2" charset="-122"/>
                  <a:cs typeface="Arial" panose="020B0604020202020204" pitchFamily="34" charset="0"/>
                </a:rPr>
                <a:t>S</a:t>
              </a:r>
              <a:r>
                <a:rPr lang="en-US" altLang="zh-CN" sz="1800" baseline="-25000">
                  <a:solidFill>
                    <a:schemeClr val="tx1"/>
                  </a:solidFill>
                  <a:latin typeface="Arial" panose="020B0604020202020204" pitchFamily="34" charset="0"/>
                  <a:ea typeface="华文中宋" panose="02010600040101010101" pitchFamily="2" charset="-122"/>
                  <a:cs typeface="Arial" panose="020B0604020202020204" pitchFamily="34" charset="0"/>
                </a:rPr>
                <a:t>4</a:t>
              </a:r>
              <a:endParaRPr lang="en-US" altLang="zh-CN" sz="18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8033" name="Text Box 42">
              <a:extLst>
                <a:ext uri="{FF2B5EF4-FFF2-40B4-BE49-F238E27FC236}">
                  <a16:creationId xmlns:a16="http://schemas.microsoft.com/office/drawing/2014/main" id="{89374CCB-8603-F943-402B-F096E46A3582}"/>
                </a:ext>
              </a:extLst>
            </p:cNvPr>
            <p:cNvSpPr txBox="1">
              <a:spLocks noChangeArrowheads="1"/>
            </p:cNvSpPr>
            <p:nvPr/>
          </p:nvSpPr>
          <p:spPr bwMode="auto">
            <a:xfrm>
              <a:off x="3247" y="3144"/>
              <a:ext cx="278" cy="195"/>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1800" i="1">
                  <a:solidFill>
                    <a:schemeClr val="tx1"/>
                  </a:solidFill>
                  <a:latin typeface="Arial" panose="020B0604020202020204" pitchFamily="34" charset="0"/>
                  <a:ea typeface="华文中宋" panose="02010600040101010101" pitchFamily="2" charset="-122"/>
                  <a:cs typeface="Arial" panose="020B0604020202020204" pitchFamily="34" charset="0"/>
                </a:rPr>
                <a:t>S</a:t>
              </a:r>
              <a:r>
                <a:rPr lang="en-US" altLang="zh-CN" sz="1800" baseline="-25000">
                  <a:solidFill>
                    <a:schemeClr val="tx1"/>
                  </a:solidFill>
                  <a:latin typeface="Arial" panose="020B0604020202020204" pitchFamily="34" charset="0"/>
                  <a:ea typeface="华文中宋" panose="02010600040101010101" pitchFamily="2" charset="-122"/>
                  <a:cs typeface="Arial" panose="020B0604020202020204" pitchFamily="34" charset="0"/>
                </a:rPr>
                <a:t>3</a:t>
              </a:r>
              <a:endParaRPr lang="en-US" altLang="zh-CN" sz="18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8034" name="Text Box 43">
              <a:extLst>
                <a:ext uri="{FF2B5EF4-FFF2-40B4-BE49-F238E27FC236}">
                  <a16:creationId xmlns:a16="http://schemas.microsoft.com/office/drawing/2014/main" id="{0869D4E4-3901-2705-F197-1AC5757E7C20}"/>
                </a:ext>
              </a:extLst>
            </p:cNvPr>
            <p:cNvSpPr txBox="1">
              <a:spLocks noChangeArrowheads="1"/>
            </p:cNvSpPr>
            <p:nvPr/>
          </p:nvSpPr>
          <p:spPr bwMode="auto">
            <a:xfrm>
              <a:off x="3525" y="3144"/>
              <a:ext cx="277" cy="195"/>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1800" i="1">
                  <a:solidFill>
                    <a:schemeClr val="tx1"/>
                  </a:solidFill>
                  <a:latin typeface="Arial" panose="020B0604020202020204" pitchFamily="34" charset="0"/>
                  <a:ea typeface="华文中宋" panose="02010600040101010101" pitchFamily="2" charset="-122"/>
                  <a:cs typeface="Arial" panose="020B0604020202020204" pitchFamily="34" charset="0"/>
                </a:rPr>
                <a:t>S</a:t>
              </a:r>
              <a:r>
                <a:rPr lang="en-US" altLang="zh-CN" sz="1800" baseline="-25000">
                  <a:solidFill>
                    <a:schemeClr val="tx1"/>
                  </a:solidFill>
                  <a:latin typeface="Arial" panose="020B0604020202020204" pitchFamily="34" charset="0"/>
                  <a:ea typeface="华文中宋" panose="02010600040101010101" pitchFamily="2" charset="-122"/>
                  <a:cs typeface="Arial" panose="020B0604020202020204" pitchFamily="34" charset="0"/>
                </a:rPr>
                <a:t>2</a:t>
              </a:r>
              <a:endParaRPr lang="en-US" altLang="zh-CN" sz="18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8035" name="Text Box 44">
              <a:extLst>
                <a:ext uri="{FF2B5EF4-FFF2-40B4-BE49-F238E27FC236}">
                  <a16:creationId xmlns:a16="http://schemas.microsoft.com/office/drawing/2014/main" id="{725A7C67-1209-803E-EB2A-3F0C287DED86}"/>
                </a:ext>
              </a:extLst>
            </p:cNvPr>
            <p:cNvSpPr txBox="1">
              <a:spLocks noChangeArrowheads="1"/>
            </p:cNvSpPr>
            <p:nvPr/>
          </p:nvSpPr>
          <p:spPr bwMode="auto">
            <a:xfrm>
              <a:off x="3802" y="3144"/>
              <a:ext cx="277" cy="195"/>
            </a:xfrm>
            <a:prstGeom prst="rect">
              <a:avLst/>
            </a:prstGeom>
            <a:solidFill>
              <a:srgbClr val="FFFFFF"/>
            </a:solidFill>
            <a:ln w="9525">
              <a:solidFill>
                <a:srgbClr val="000000"/>
              </a:solidFill>
              <a:miter lim="800000"/>
              <a:headEnd/>
              <a:tailEnd/>
            </a:ln>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en-US" altLang="zh-CN" sz="1800" i="1">
                  <a:solidFill>
                    <a:schemeClr val="tx1"/>
                  </a:solidFill>
                  <a:latin typeface="Arial" panose="020B0604020202020204" pitchFamily="34" charset="0"/>
                  <a:ea typeface="华文中宋" panose="02010600040101010101" pitchFamily="2" charset="-122"/>
                  <a:cs typeface="Arial" panose="020B0604020202020204" pitchFamily="34" charset="0"/>
                </a:rPr>
                <a:t>S</a:t>
              </a:r>
              <a:r>
                <a:rPr lang="en-US" altLang="zh-CN" sz="1800" baseline="-25000">
                  <a:solidFill>
                    <a:schemeClr val="tx1"/>
                  </a:solidFill>
                  <a:latin typeface="Arial" panose="020B0604020202020204" pitchFamily="34" charset="0"/>
                  <a:ea typeface="华文中宋" panose="02010600040101010101" pitchFamily="2" charset="-122"/>
                  <a:cs typeface="Arial" panose="020B0604020202020204" pitchFamily="34" charset="0"/>
                </a:rPr>
                <a:t>1</a:t>
              </a:r>
              <a:endParaRPr lang="en-US" altLang="zh-CN" sz="18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8036" name="Line 45">
              <a:extLst>
                <a:ext uri="{FF2B5EF4-FFF2-40B4-BE49-F238E27FC236}">
                  <a16:creationId xmlns:a16="http://schemas.microsoft.com/office/drawing/2014/main" id="{845D9653-2753-DA79-B2C0-36C8ADE5DF2A}"/>
                </a:ext>
              </a:extLst>
            </p:cNvPr>
            <p:cNvSpPr>
              <a:spLocks noChangeShapeType="1"/>
            </p:cNvSpPr>
            <p:nvPr/>
          </p:nvSpPr>
          <p:spPr bwMode="auto">
            <a:xfrm>
              <a:off x="2195" y="3249"/>
              <a:ext cx="237"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8037" name="Line 46">
              <a:extLst>
                <a:ext uri="{FF2B5EF4-FFF2-40B4-BE49-F238E27FC236}">
                  <a16:creationId xmlns:a16="http://schemas.microsoft.com/office/drawing/2014/main" id="{D23ED716-DB11-B631-2248-FA5021897B79}"/>
                </a:ext>
              </a:extLst>
            </p:cNvPr>
            <p:cNvSpPr>
              <a:spLocks noChangeShapeType="1"/>
            </p:cNvSpPr>
            <p:nvPr/>
          </p:nvSpPr>
          <p:spPr bwMode="auto">
            <a:xfrm>
              <a:off x="2538" y="2962"/>
              <a:ext cx="0" cy="16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8038" name="Line 47">
              <a:extLst>
                <a:ext uri="{FF2B5EF4-FFF2-40B4-BE49-F238E27FC236}">
                  <a16:creationId xmlns:a16="http://schemas.microsoft.com/office/drawing/2014/main" id="{FF91CBD7-4C8C-A456-4648-1875AA85D8CB}"/>
                </a:ext>
              </a:extLst>
            </p:cNvPr>
            <p:cNvSpPr>
              <a:spLocks noChangeShapeType="1"/>
            </p:cNvSpPr>
            <p:nvPr/>
          </p:nvSpPr>
          <p:spPr bwMode="auto">
            <a:xfrm>
              <a:off x="2799" y="2962"/>
              <a:ext cx="0" cy="16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8039" name="Line 48">
              <a:extLst>
                <a:ext uri="{FF2B5EF4-FFF2-40B4-BE49-F238E27FC236}">
                  <a16:creationId xmlns:a16="http://schemas.microsoft.com/office/drawing/2014/main" id="{CBBB7453-5932-2D26-92C8-174339CBCE66}"/>
                </a:ext>
              </a:extLst>
            </p:cNvPr>
            <p:cNvSpPr>
              <a:spLocks noChangeShapeType="1"/>
            </p:cNvSpPr>
            <p:nvPr/>
          </p:nvSpPr>
          <p:spPr bwMode="auto">
            <a:xfrm>
              <a:off x="3100" y="2962"/>
              <a:ext cx="1" cy="16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8040" name="Line 49">
              <a:extLst>
                <a:ext uri="{FF2B5EF4-FFF2-40B4-BE49-F238E27FC236}">
                  <a16:creationId xmlns:a16="http://schemas.microsoft.com/office/drawing/2014/main" id="{E8F224E8-7A81-AD76-9F8F-355DE244990D}"/>
                </a:ext>
              </a:extLst>
            </p:cNvPr>
            <p:cNvSpPr>
              <a:spLocks noChangeShapeType="1"/>
            </p:cNvSpPr>
            <p:nvPr/>
          </p:nvSpPr>
          <p:spPr bwMode="auto">
            <a:xfrm>
              <a:off x="3924" y="2962"/>
              <a:ext cx="2" cy="16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8041" name="AutoShape 50">
              <a:extLst>
                <a:ext uri="{FF2B5EF4-FFF2-40B4-BE49-F238E27FC236}">
                  <a16:creationId xmlns:a16="http://schemas.microsoft.com/office/drawing/2014/main" id="{07595371-684A-3EA6-A2B2-4BC65B18147D}"/>
                </a:ext>
              </a:extLst>
            </p:cNvPr>
            <p:cNvSpPr>
              <a:spLocks noChangeArrowheads="1"/>
            </p:cNvSpPr>
            <p:nvPr/>
          </p:nvSpPr>
          <p:spPr bwMode="auto">
            <a:xfrm>
              <a:off x="2448" y="3494"/>
              <a:ext cx="220" cy="195"/>
            </a:xfrm>
            <a:prstGeom prst="flowChartOr">
              <a:avLst/>
            </a:prstGeom>
            <a:solidFill>
              <a:srgbClr val="FFFFFF"/>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8042" name="Line 51">
              <a:extLst>
                <a:ext uri="{FF2B5EF4-FFF2-40B4-BE49-F238E27FC236}">
                  <a16:creationId xmlns:a16="http://schemas.microsoft.com/office/drawing/2014/main" id="{3AAD674D-6588-7AE8-42B2-0CD18D42986D}"/>
                </a:ext>
              </a:extLst>
            </p:cNvPr>
            <p:cNvSpPr>
              <a:spLocks noChangeShapeType="1"/>
            </p:cNvSpPr>
            <p:nvPr/>
          </p:nvSpPr>
          <p:spPr bwMode="auto">
            <a:xfrm>
              <a:off x="2554" y="3347"/>
              <a:ext cx="1" cy="16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8043" name="Line 52">
              <a:extLst>
                <a:ext uri="{FF2B5EF4-FFF2-40B4-BE49-F238E27FC236}">
                  <a16:creationId xmlns:a16="http://schemas.microsoft.com/office/drawing/2014/main" id="{2F10938B-8774-895B-499E-FA220DF7EDF3}"/>
                </a:ext>
              </a:extLst>
            </p:cNvPr>
            <p:cNvSpPr>
              <a:spLocks noChangeShapeType="1"/>
            </p:cNvSpPr>
            <p:nvPr/>
          </p:nvSpPr>
          <p:spPr bwMode="auto">
            <a:xfrm flipH="1">
              <a:off x="2660" y="3592"/>
              <a:ext cx="1020"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8044" name="Line 53">
              <a:extLst>
                <a:ext uri="{FF2B5EF4-FFF2-40B4-BE49-F238E27FC236}">
                  <a16:creationId xmlns:a16="http://schemas.microsoft.com/office/drawing/2014/main" id="{B82F600E-4AC6-9E6F-1D24-8FB3EC0A8D0E}"/>
                </a:ext>
              </a:extLst>
            </p:cNvPr>
            <p:cNvSpPr>
              <a:spLocks noChangeShapeType="1"/>
            </p:cNvSpPr>
            <p:nvPr/>
          </p:nvSpPr>
          <p:spPr bwMode="auto">
            <a:xfrm>
              <a:off x="3672" y="3335"/>
              <a:ext cx="0" cy="25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45" name="Line 54">
              <a:extLst>
                <a:ext uri="{FF2B5EF4-FFF2-40B4-BE49-F238E27FC236}">
                  <a16:creationId xmlns:a16="http://schemas.microsoft.com/office/drawing/2014/main" id="{34B61077-A2E8-8957-89F0-4C2B5BCB8E48}"/>
                </a:ext>
              </a:extLst>
            </p:cNvPr>
            <p:cNvSpPr>
              <a:spLocks noChangeShapeType="1"/>
            </p:cNvSpPr>
            <p:nvPr/>
          </p:nvSpPr>
          <p:spPr bwMode="auto">
            <a:xfrm>
              <a:off x="2554" y="3698"/>
              <a:ext cx="1" cy="16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8288" name="Text Box 55">
              <a:extLst>
                <a:ext uri="{FF2B5EF4-FFF2-40B4-BE49-F238E27FC236}">
                  <a16:creationId xmlns:a16="http://schemas.microsoft.com/office/drawing/2014/main" id="{FBDF0807-10CC-53C6-645F-1DDAB50C390C}"/>
                </a:ext>
              </a:extLst>
            </p:cNvPr>
            <p:cNvSpPr txBox="1">
              <a:spLocks noChangeArrowheads="1"/>
            </p:cNvSpPr>
            <p:nvPr/>
          </p:nvSpPr>
          <p:spPr bwMode="auto">
            <a:xfrm>
              <a:off x="2407" y="3849"/>
              <a:ext cx="1697" cy="209"/>
            </a:xfrm>
            <a:prstGeom prst="rect">
              <a:avLst/>
            </a:prstGeom>
            <a:solidFill>
              <a:srgbClr val="FFFFFF"/>
            </a:solidFill>
            <a:ln w="9525">
              <a:solidFill>
                <a:srgbClr val="000000"/>
              </a:solidFill>
              <a:miter lim="800000"/>
              <a:headEnd/>
              <a:tailEnd/>
            </a:ln>
          </p:spPr>
          <p:txBody>
            <a:bodyPr tIns="18000"/>
            <a:lstStyle/>
            <a:p>
              <a:pPr algn="ctr">
                <a:defRPr/>
              </a:pPr>
              <a:r>
                <a:rPr lang="zh-CN" altLang="en-US" sz="1800" dirty="0">
                  <a:solidFill>
                    <a:schemeClr val="tx1"/>
                  </a:solidFill>
                  <a:latin typeface="Arial" pitchFamily="34" charset="0"/>
                  <a:ea typeface="华文中宋" pitchFamily="2" charset="-122"/>
                  <a:cs typeface="Arial" pitchFamily="34" charset="0"/>
                </a:rPr>
                <a:t>门限电路：</a:t>
              </a:r>
              <a:r>
                <a:rPr lang="zh-CN" altLang="en-US" sz="1800" dirty="0">
                  <a:solidFill>
                    <a:schemeClr val="tx1"/>
                  </a:solidFill>
                  <a:latin typeface="+mn-ea"/>
                  <a:ea typeface="+mn-ea"/>
                  <a:cs typeface="Arial" pitchFamily="34" charset="0"/>
                </a:rPr>
                <a:t>“</a:t>
              </a:r>
              <a:r>
                <a:rPr lang="en-US" altLang="zh-CN" sz="1800" dirty="0">
                  <a:solidFill>
                    <a:schemeClr val="tx1"/>
                  </a:solidFill>
                  <a:latin typeface="+mn-ea"/>
                  <a:ea typeface="+mn-ea"/>
                  <a:cs typeface="Arial" pitchFamily="34" charset="0"/>
                </a:rPr>
                <a:t>1”</a:t>
              </a:r>
              <a:r>
                <a:rPr lang="zh-CN" altLang="en-US" sz="1800" dirty="0">
                  <a:solidFill>
                    <a:schemeClr val="tx1"/>
                  </a:solidFill>
                  <a:latin typeface="Arial" pitchFamily="34" charset="0"/>
                  <a:ea typeface="华文中宋" pitchFamily="2" charset="-122"/>
                  <a:cs typeface="Arial" pitchFamily="34" charset="0"/>
                </a:rPr>
                <a:t>的个数 </a:t>
              </a:r>
              <a:r>
                <a:rPr lang="zh-CN" altLang="en-US" sz="1800" dirty="0">
                  <a:solidFill>
                    <a:schemeClr val="tx1"/>
                  </a:solidFill>
                  <a:latin typeface="Arial" pitchFamily="34" charset="0"/>
                  <a:ea typeface="华文中宋" pitchFamily="2" charset="-122"/>
                  <a:cs typeface="Arial" pitchFamily="34" charset="0"/>
                  <a:sym typeface="Symbol" pitchFamily="18" charset="2"/>
                </a:rPr>
                <a:t></a:t>
              </a:r>
              <a:r>
                <a:rPr lang="zh-CN" altLang="en-US" sz="1800" dirty="0">
                  <a:solidFill>
                    <a:schemeClr val="tx1"/>
                  </a:solidFill>
                  <a:latin typeface="Arial" pitchFamily="34" charset="0"/>
                  <a:ea typeface="华文中宋" pitchFamily="2" charset="-122"/>
                  <a:cs typeface="Arial" pitchFamily="34" charset="0"/>
                </a:rPr>
                <a:t> </a:t>
              </a:r>
              <a:r>
                <a:rPr lang="en-US" altLang="zh-CN" sz="1800" dirty="0">
                  <a:solidFill>
                    <a:schemeClr val="tx1"/>
                  </a:solidFill>
                  <a:latin typeface="Arial" pitchFamily="34" charset="0"/>
                  <a:ea typeface="华文中宋" pitchFamily="2" charset="-122"/>
                  <a:cs typeface="Arial" pitchFamily="34" charset="0"/>
                </a:rPr>
                <a:t>3 </a:t>
              </a:r>
              <a:r>
                <a:rPr lang="zh-CN" altLang="en-US" sz="1800" dirty="0">
                  <a:solidFill>
                    <a:schemeClr val="tx1"/>
                  </a:solidFill>
                  <a:latin typeface="Arial" pitchFamily="34" charset="0"/>
                  <a:ea typeface="华文中宋" pitchFamily="2" charset="-122"/>
                  <a:cs typeface="Arial" pitchFamily="34" charset="0"/>
                </a:rPr>
                <a:t>？</a:t>
              </a:r>
            </a:p>
          </p:txBody>
        </p:sp>
        <p:sp>
          <p:nvSpPr>
            <p:cNvPr id="128047" name="Line 56">
              <a:extLst>
                <a:ext uri="{FF2B5EF4-FFF2-40B4-BE49-F238E27FC236}">
                  <a16:creationId xmlns:a16="http://schemas.microsoft.com/office/drawing/2014/main" id="{F1082852-1BF1-D804-1DE0-71883E5AEA31}"/>
                </a:ext>
              </a:extLst>
            </p:cNvPr>
            <p:cNvSpPr>
              <a:spLocks noChangeShapeType="1"/>
            </p:cNvSpPr>
            <p:nvPr/>
          </p:nvSpPr>
          <p:spPr bwMode="auto">
            <a:xfrm>
              <a:off x="2831" y="3335"/>
              <a:ext cx="0" cy="51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8048" name="Line 57">
              <a:extLst>
                <a:ext uri="{FF2B5EF4-FFF2-40B4-BE49-F238E27FC236}">
                  <a16:creationId xmlns:a16="http://schemas.microsoft.com/office/drawing/2014/main" id="{32CB8061-B5E8-64FE-B1D7-CFFE941DFB8F}"/>
                </a:ext>
              </a:extLst>
            </p:cNvPr>
            <p:cNvSpPr>
              <a:spLocks noChangeShapeType="1"/>
            </p:cNvSpPr>
            <p:nvPr/>
          </p:nvSpPr>
          <p:spPr bwMode="auto">
            <a:xfrm>
              <a:off x="3100" y="3343"/>
              <a:ext cx="1" cy="51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8049" name="Line 58">
              <a:extLst>
                <a:ext uri="{FF2B5EF4-FFF2-40B4-BE49-F238E27FC236}">
                  <a16:creationId xmlns:a16="http://schemas.microsoft.com/office/drawing/2014/main" id="{B29EEBCA-FF78-02AE-1D67-96A1CDDDA94D}"/>
                </a:ext>
              </a:extLst>
            </p:cNvPr>
            <p:cNvSpPr>
              <a:spLocks noChangeShapeType="1"/>
            </p:cNvSpPr>
            <p:nvPr/>
          </p:nvSpPr>
          <p:spPr bwMode="auto">
            <a:xfrm>
              <a:off x="3941" y="3343"/>
              <a:ext cx="0" cy="51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8050" name="Line 59">
              <a:extLst>
                <a:ext uri="{FF2B5EF4-FFF2-40B4-BE49-F238E27FC236}">
                  <a16:creationId xmlns:a16="http://schemas.microsoft.com/office/drawing/2014/main" id="{61F28359-B832-5659-C6FA-315F1DBD3A6B}"/>
                </a:ext>
              </a:extLst>
            </p:cNvPr>
            <p:cNvSpPr>
              <a:spLocks noChangeShapeType="1"/>
            </p:cNvSpPr>
            <p:nvPr/>
          </p:nvSpPr>
          <p:spPr bwMode="auto">
            <a:xfrm>
              <a:off x="4087" y="1715"/>
              <a:ext cx="245"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8051" name="Line 60">
              <a:extLst>
                <a:ext uri="{FF2B5EF4-FFF2-40B4-BE49-F238E27FC236}">
                  <a16:creationId xmlns:a16="http://schemas.microsoft.com/office/drawing/2014/main" id="{E2088E4C-26AE-A5C4-C910-7C5CAF7E0A4B}"/>
                </a:ext>
              </a:extLst>
            </p:cNvPr>
            <p:cNvSpPr>
              <a:spLocks noChangeShapeType="1"/>
            </p:cNvSpPr>
            <p:nvPr/>
          </p:nvSpPr>
          <p:spPr bwMode="auto">
            <a:xfrm>
              <a:off x="4573" y="1715"/>
              <a:ext cx="277" cy="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8052" name="Line 61">
              <a:extLst>
                <a:ext uri="{FF2B5EF4-FFF2-40B4-BE49-F238E27FC236}">
                  <a16:creationId xmlns:a16="http://schemas.microsoft.com/office/drawing/2014/main" id="{2329449B-F840-DE15-4840-04B0E6E3B46E}"/>
                </a:ext>
              </a:extLst>
            </p:cNvPr>
            <p:cNvSpPr>
              <a:spLocks noChangeShapeType="1"/>
            </p:cNvSpPr>
            <p:nvPr/>
          </p:nvSpPr>
          <p:spPr bwMode="auto">
            <a:xfrm>
              <a:off x="4112" y="3959"/>
              <a:ext cx="34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8053" name="Line 62">
              <a:extLst>
                <a:ext uri="{FF2B5EF4-FFF2-40B4-BE49-F238E27FC236}">
                  <a16:creationId xmlns:a16="http://schemas.microsoft.com/office/drawing/2014/main" id="{B640BD1D-AB58-AB38-ACE4-00CAFC7D1403}"/>
                </a:ext>
              </a:extLst>
            </p:cNvPr>
            <p:cNvSpPr>
              <a:spLocks noChangeShapeType="1"/>
            </p:cNvSpPr>
            <p:nvPr/>
          </p:nvSpPr>
          <p:spPr bwMode="auto">
            <a:xfrm>
              <a:off x="4454" y="1810"/>
              <a:ext cx="0" cy="2145"/>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8054" name="Oval 63">
              <a:extLst>
                <a:ext uri="{FF2B5EF4-FFF2-40B4-BE49-F238E27FC236}">
                  <a16:creationId xmlns:a16="http://schemas.microsoft.com/office/drawing/2014/main" id="{3422A413-05C3-89E1-284C-75BF52877E79}"/>
                </a:ext>
              </a:extLst>
            </p:cNvPr>
            <p:cNvSpPr>
              <a:spLocks noChangeArrowheads="1"/>
            </p:cNvSpPr>
            <p:nvPr/>
          </p:nvSpPr>
          <p:spPr bwMode="auto">
            <a:xfrm>
              <a:off x="4438" y="2960"/>
              <a:ext cx="33" cy="32"/>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8055" name="Text Box 64">
              <a:extLst>
                <a:ext uri="{FF2B5EF4-FFF2-40B4-BE49-F238E27FC236}">
                  <a16:creationId xmlns:a16="http://schemas.microsoft.com/office/drawing/2014/main" id="{135AE87A-414A-EC9A-E1CC-67D49B1BC75E}"/>
                </a:ext>
              </a:extLst>
            </p:cNvPr>
            <p:cNvSpPr txBox="1">
              <a:spLocks noChangeArrowheads="1"/>
            </p:cNvSpPr>
            <p:nvPr/>
          </p:nvSpPr>
          <p:spPr bwMode="auto">
            <a:xfrm>
              <a:off x="1741" y="2785"/>
              <a:ext cx="434"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128000"/>
                </a:lnSpc>
              </a:pPr>
              <a:r>
                <a:rPr lang="zh-CN" altLang="en-US" sz="1800">
                  <a:solidFill>
                    <a:schemeClr val="tx1"/>
                  </a:solidFill>
                  <a:latin typeface="Arial" panose="020B0604020202020204" pitchFamily="34" charset="0"/>
                  <a:ea typeface="华文中宋" panose="02010600040101010101" pitchFamily="2" charset="-122"/>
                  <a:cs typeface="Arial" panose="020B0604020202020204" pitchFamily="34" charset="0"/>
                </a:rPr>
                <a:t>校正子</a:t>
              </a:r>
            </a:p>
            <a:p>
              <a:pPr algn="ctr" eaLnBrk="1" hangingPunct="1">
                <a:lnSpc>
                  <a:spcPct val="128000"/>
                </a:lnSpc>
              </a:pPr>
              <a:r>
                <a:rPr lang="en-US" altLang="zh-CN" sz="2400" i="1" baseline="30000">
                  <a:solidFill>
                    <a:schemeClr val="tx1"/>
                  </a:solidFill>
                  <a:latin typeface="Arial" panose="020B0604020202020204" pitchFamily="34" charset="0"/>
                  <a:ea typeface="华文中宋" panose="02010600040101010101" pitchFamily="2" charset="-122"/>
                  <a:cs typeface="Arial" panose="020B0604020202020204" pitchFamily="34" charset="0"/>
                </a:rPr>
                <a:t>S</a:t>
              </a:r>
              <a:r>
                <a:rPr lang="en-US" altLang="zh-CN" sz="2400" i="1" baseline="-25000">
                  <a:solidFill>
                    <a:schemeClr val="tx1"/>
                  </a:solidFill>
                  <a:latin typeface="Arial" panose="020B0604020202020204" pitchFamily="34" charset="0"/>
                  <a:ea typeface="华文中宋" panose="02010600040101010101" pitchFamily="2" charset="-122"/>
                  <a:cs typeface="Arial" panose="020B0604020202020204" pitchFamily="34" charset="0"/>
                </a:rPr>
                <a:t>i</a:t>
              </a:r>
              <a:endParaRPr lang="en-US" altLang="zh-CN" sz="24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8056" name="Text Box 65">
              <a:extLst>
                <a:ext uri="{FF2B5EF4-FFF2-40B4-BE49-F238E27FC236}">
                  <a16:creationId xmlns:a16="http://schemas.microsoft.com/office/drawing/2014/main" id="{922AA6E1-C096-6592-792B-3A6F1A167CA4}"/>
                </a:ext>
              </a:extLst>
            </p:cNvPr>
            <p:cNvSpPr txBox="1">
              <a:spLocks noChangeArrowheads="1"/>
            </p:cNvSpPr>
            <p:nvPr/>
          </p:nvSpPr>
          <p:spPr bwMode="auto">
            <a:xfrm>
              <a:off x="2949" y="2960"/>
              <a:ext cx="112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zh-CN" altLang="en-US" sz="1800">
                  <a:solidFill>
                    <a:schemeClr val="tx1"/>
                  </a:solidFill>
                  <a:latin typeface="Arial" panose="020B0604020202020204" pitchFamily="34" charset="0"/>
                  <a:ea typeface="华文中宋" panose="02010600040101010101" pitchFamily="2" charset="-122"/>
                  <a:cs typeface="Arial" panose="020B0604020202020204" pitchFamily="34" charset="0"/>
                </a:rPr>
                <a:t>校正子移存器</a:t>
              </a:r>
            </a:p>
          </p:txBody>
        </p:sp>
        <p:sp>
          <p:nvSpPr>
            <p:cNvPr id="128057" name="AutoShape 66">
              <a:extLst>
                <a:ext uri="{FF2B5EF4-FFF2-40B4-BE49-F238E27FC236}">
                  <a16:creationId xmlns:a16="http://schemas.microsoft.com/office/drawing/2014/main" id="{6D421C6A-826C-C248-4C64-441DC97B8480}"/>
                </a:ext>
              </a:extLst>
            </p:cNvPr>
            <p:cNvSpPr>
              <a:spLocks noChangeArrowheads="1"/>
            </p:cNvSpPr>
            <p:nvPr/>
          </p:nvSpPr>
          <p:spPr bwMode="auto">
            <a:xfrm>
              <a:off x="4340" y="1617"/>
              <a:ext cx="220" cy="196"/>
            </a:xfrm>
            <a:prstGeom prst="flowChartOr">
              <a:avLst/>
            </a:prstGeom>
            <a:solidFill>
              <a:srgbClr val="FFFFFF"/>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8058" name="Text Box 67">
              <a:extLst>
                <a:ext uri="{FF2B5EF4-FFF2-40B4-BE49-F238E27FC236}">
                  <a16:creationId xmlns:a16="http://schemas.microsoft.com/office/drawing/2014/main" id="{0C25C743-1D39-2F05-B1BE-1E97ED7BAA4D}"/>
                </a:ext>
              </a:extLst>
            </p:cNvPr>
            <p:cNvSpPr txBox="1">
              <a:spLocks noChangeArrowheads="1"/>
            </p:cNvSpPr>
            <p:nvPr/>
          </p:nvSpPr>
          <p:spPr bwMode="auto">
            <a:xfrm>
              <a:off x="2676" y="1294"/>
              <a:ext cx="112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zh-CN" altLang="en-US" sz="1800">
                  <a:solidFill>
                    <a:schemeClr val="tx1"/>
                  </a:solidFill>
                  <a:latin typeface="Arial" panose="020B0604020202020204" pitchFamily="34" charset="0"/>
                  <a:ea typeface="华文中宋" panose="02010600040101010101" pitchFamily="2" charset="-122"/>
                  <a:cs typeface="Arial" panose="020B0604020202020204" pitchFamily="34" charset="0"/>
                </a:rPr>
                <a:t>信息位移存器</a:t>
              </a:r>
            </a:p>
          </p:txBody>
        </p:sp>
        <p:sp>
          <p:nvSpPr>
            <p:cNvPr id="128059" name="Text Box 68">
              <a:extLst>
                <a:ext uri="{FF2B5EF4-FFF2-40B4-BE49-F238E27FC236}">
                  <a16:creationId xmlns:a16="http://schemas.microsoft.com/office/drawing/2014/main" id="{330AEC64-3CE4-BDE4-3B7C-DD720825C71F}"/>
                </a:ext>
              </a:extLst>
            </p:cNvPr>
            <p:cNvSpPr txBox="1">
              <a:spLocks noChangeArrowheads="1"/>
            </p:cNvSpPr>
            <p:nvPr/>
          </p:nvSpPr>
          <p:spPr bwMode="auto">
            <a:xfrm>
              <a:off x="2794" y="2084"/>
              <a:ext cx="72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zh-CN" altLang="en-US" sz="1800">
                  <a:solidFill>
                    <a:schemeClr val="tx1"/>
                  </a:solidFill>
                  <a:latin typeface="Arial" panose="020B0604020202020204" pitchFamily="34" charset="0"/>
                  <a:ea typeface="华文中宋" panose="02010600040101010101" pitchFamily="2" charset="-122"/>
                  <a:cs typeface="Arial" panose="020B0604020202020204" pitchFamily="34" charset="0"/>
                </a:rPr>
                <a:t>重算监督位</a:t>
              </a:r>
              <a:r>
                <a:rPr lang="en-US" altLang="zh-CN" sz="1800" i="1">
                  <a:solidFill>
                    <a:schemeClr val="tx1"/>
                  </a:solidFill>
                  <a:latin typeface="Arial" panose="020B0604020202020204" pitchFamily="34" charset="0"/>
                  <a:ea typeface="华文中宋" panose="02010600040101010101" pitchFamily="2" charset="-122"/>
                  <a:cs typeface="Arial" panose="020B0604020202020204" pitchFamily="34" charset="0"/>
                </a:rPr>
                <a:t>c</a:t>
              </a:r>
              <a:r>
                <a:rPr lang="en-US" altLang="zh-CN" sz="1800" i="1" baseline="-25000">
                  <a:solidFill>
                    <a:schemeClr val="tx1"/>
                  </a:solidFill>
                  <a:latin typeface="Arial" panose="020B0604020202020204" pitchFamily="34" charset="0"/>
                  <a:ea typeface="华文中宋" panose="02010600040101010101" pitchFamily="2" charset="-122"/>
                  <a:cs typeface="Arial" panose="020B0604020202020204" pitchFamily="34" charset="0"/>
                </a:rPr>
                <a:t>i</a:t>
              </a:r>
              <a:endParaRPr lang="en-US" altLang="zh-CN" sz="18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8060" name="Text Box 69">
              <a:extLst>
                <a:ext uri="{FF2B5EF4-FFF2-40B4-BE49-F238E27FC236}">
                  <a16:creationId xmlns:a16="http://schemas.microsoft.com/office/drawing/2014/main" id="{9FA28EDD-6619-A5DD-EA85-9DA3C6910648}"/>
                </a:ext>
              </a:extLst>
            </p:cNvPr>
            <p:cNvSpPr txBox="1">
              <a:spLocks noChangeArrowheads="1"/>
            </p:cNvSpPr>
            <p:nvPr/>
          </p:nvSpPr>
          <p:spPr bwMode="auto">
            <a:xfrm>
              <a:off x="2285" y="2312"/>
              <a:ext cx="72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zh-CN" altLang="en-US" sz="1800">
                  <a:solidFill>
                    <a:schemeClr val="tx1"/>
                  </a:solidFill>
                  <a:latin typeface="Arial" panose="020B0604020202020204" pitchFamily="34" charset="0"/>
                  <a:ea typeface="华文中宋" panose="02010600040101010101" pitchFamily="2" charset="-122"/>
                  <a:cs typeface="Arial" panose="020B0604020202020204" pitchFamily="34" charset="0"/>
                </a:rPr>
                <a:t>接收监督位</a:t>
              </a:r>
            </a:p>
          </p:txBody>
        </p:sp>
        <p:sp>
          <p:nvSpPr>
            <p:cNvPr id="128061" name="Text Box 70">
              <a:extLst>
                <a:ext uri="{FF2B5EF4-FFF2-40B4-BE49-F238E27FC236}">
                  <a16:creationId xmlns:a16="http://schemas.microsoft.com/office/drawing/2014/main" id="{9532404C-6C84-DE00-41C7-84DE5853F93F}"/>
                </a:ext>
              </a:extLst>
            </p:cNvPr>
            <p:cNvSpPr txBox="1">
              <a:spLocks noChangeArrowheads="1"/>
            </p:cNvSpPr>
            <p:nvPr/>
          </p:nvSpPr>
          <p:spPr bwMode="auto">
            <a:xfrm>
              <a:off x="2897" y="2578"/>
              <a:ext cx="72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r>
                <a:rPr lang="zh-CN" altLang="en-US" sz="1800">
                  <a:solidFill>
                    <a:schemeClr val="tx1"/>
                  </a:solidFill>
                  <a:latin typeface="Arial" panose="020B0604020202020204" pitchFamily="34" charset="0"/>
                  <a:ea typeface="华文中宋" panose="02010600040101010101" pitchFamily="2" charset="-122"/>
                  <a:cs typeface="Arial" panose="020B0604020202020204" pitchFamily="34" charset="0"/>
                </a:rPr>
                <a:t>计算校正子</a:t>
              </a:r>
              <a:r>
                <a:rPr lang="en-US" altLang="zh-CN" sz="1800" i="1">
                  <a:solidFill>
                    <a:schemeClr val="tx1"/>
                  </a:solidFill>
                  <a:latin typeface="Arial" panose="020B0604020202020204" pitchFamily="34" charset="0"/>
                  <a:ea typeface="华文中宋" panose="02010600040101010101" pitchFamily="2" charset="-122"/>
                  <a:cs typeface="Arial" panose="020B0604020202020204" pitchFamily="34" charset="0"/>
                </a:rPr>
                <a:t>S</a:t>
              </a:r>
              <a:r>
                <a:rPr lang="en-US" altLang="zh-CN" sz="1800" i="1" baseline="-25000">
                  <a:solidFill>
                    <a:schemeClr val="tx1"/>
                  </a:solidFill>
                  <a:latin typeface="Arial" panose="020B0604020202020204" pitchFamily="34" charset="0"/>
                  <a:ea typeface="华文中宋" panose="02010600040101010101" pitchFamily="2" charset="-122"/>
                  <a:cs typeface="Arial" panose="020B0604020202020204" pitchFamily="34" charset="0"/>
                </a:rPr>
                <a:t>i</a:t>
              </a:r>
              <a:endParaRPr lang="en-US" altLang="zh-CN" sz="1800">
                <a:solidFill>
                  <a:schemeClr val="tx1"/>
                </a:solidFill>
                <a:latin typeface="Arial" panose="020B0604020202020204" pitchFamily="34" charset="0"/>
                <a:ea typeface="华文中宋" panose="02010600040101010101" pitchFamily="2" charset="-122"/>
                <a:cs typeface="Arial" panose="020B0604020202020204" pitchFamily="34" charset="0"/>
              </a:endParaRPr>
            </a:p>
          </p:txBody>
        </p:sp>
        <p:sp>
          <p:nvSpPr>
            <p:cNvPr id="128062" name="Text Box 71">
              <a:extLst>
                <a:ext uri="{FF2B5EF4-FFF2-40B4-BE49-F238E27FC236}">
                  <a16:creationId xmlns:a16="http://schemas.microsoft.com/office/drawing/2014/main" id="{FD0C3AFF-3BDE-1CBB-05EB-F3BB309FFC15}"/>
                </a:ext>
              </a:extLst>
            </p:cNvPr>
            <p:cNvSpPr txBox="1">
              <a:spLocks noChangeArrowheads="1"/>
            </p:cNvSpPr>
            <p:nvPr/>
          </p:nvSpPr>
          <p:spPr bwMode="auto">
            <a:xfrm>
              <a:off x="2474" y="1456"/>
              <a:ext cx="1790"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en-US" altLang="zh-CN" sz="1800">
                  <a:solidFill>
                    <a:schemeClr val="tx1"/>
                  </a:solidFill>
                  <a:latin typeface="Arial" panose="020B0604020202020204" pitchFamily="34" charset="0"/>
                  <a:ea typeface="华文中宋" panose="02010600040101010101" pitchFamily="2" charset="-122"/>
                  <a:cs typeface="Arial" panose="020B0604020202020204" pitchFamily="34" charset="0"/>
                </a:rPr>
                <a:t>  6      5      4       3      2     1</a:t>
              </a:r>
            </a:p>
          </p:txBody>
        </p:sp>
        <p:sp>
          <p:nvSpPr>
            <p:cNvPr id="128063" name="Line 28">
              <a:extLst>
                <a:ext uri="{FF2B5EF4-FFF2-40B4-BE49-F238E27FC236}">
                  <a16:creationId xmlns:a16="http://schemas.microsoft.com/office/drawing/2014/main" id="{8680BD2D-80E1-BE5F-1D1A-F042EC6D8A5C}"/>
                </a:ext>
              </a:extLst>
            </p:cNvPr>
            <p:cNvSpPr>
              <a:spLocks noChangeShapeType="1"/>
            </p:cNvSpPr>
            <p:nvPr/>
          </p:nvSpPr>
          <p:spPr bwMode="auto">
            <a:xfrm>
              <a:off x="3669" y="2566"/>
              <a:ext cx="0" cy="17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3" name="矩形 72">
            <a:extLst>
              <a:ext uri="{FF2B5EF4-FFF2-40B4-BE49-F238E27FC236}">
                <a16:creationId xmlns:a16="http://schemas.microsoft.com/office/drawing/2014/main" id="{8037CAA9-F497-437E-51C1-7C7588F2B8B7}"/>
              </a:ext>
            </a:extLst>
          </p:cNvPr>
          <p:cNvSpPr/>
          <p:nvPr/>
        </p:nvSpPr>
        <p:spPr>
          <a:xfrm>
            <a:off x="714375" y="1071563"/>
            <a:ext cx="2686050" cy="461962"/>
          </a:xfrm>
          <a:prstGeom prst="rect">
            <a:avLst/>
          </a:prstGeom>
        </p:spPr>
        <p:txBody>
          <a:bodyPr wrap="none">
            <a:spAutoFit/>
          </a:bodyPr>
          <a:lstStyle/>
          <a:p>
            <a:pPr marL="342900" indent="-342900">
              <a:spcBef>
                <a:spcPct val="20000"/>
              </a:spcBef>
              <a:buClr>
                <a:srgbClr val="3333CC"/>
              </a:buClr>
              <a:buSzPct val="60000"/>
              <a:buFont typeface="Wingdings" pitchFamily="2" charset="2"/>
              <a:buChar char="l"/>
              <a:defRPr/>
            </a:pPr>
            <a:r>
              <a:rPr kumimoji="0" lang="zh-CN" altLang="en-US" sz="2400" kern="0" dirty="0">
                <a:solidFill>
                  <a:srgbClr val="003399"/>
                </a:solidFill>
                <a:latin typeface="Arial" pitchFamily="34" charset="0"/>
                <a:ea typeface="微软雅黑" pitchFamily="34" charset="-122"/>
                <a:cs typeface="Arial" pitchFamily="34" charset="0"/>
              </a:rPr>
              <a:t>解码器方框图：</a:t>
            </a:r>
          </a:p>
        </p:txBody>
      </p:sp>
      <p:cxnSp>
        <p:nvCxnSpPr>
          <p:cNvPr id="128004" name="直接连接符 74">
            <a:extLst>
              <a:ext uri="{FF2B5EF4-FFF2-40B4-BE49-F238E27FC236}">
                <a16:creationId xmlns:a16="http://schemas.microsoft.com/office/drawing/2014/main" id="{4BCBC837-5429-6EAE-105E-92C6F57CDFBB}"/>
              </a:ext>
            </a:extLst>
          </p:cNvPr>
          <p:cNvCxnSpPr>
            <a:cxnSpLocks noChangeShapeType="1"/>
          </p:cNvCxnSpPr>
          <p:nvPr/>
        </p:nvCxnSpPr>
        <p:spPr bwMode="auto">
          <a:xfrm rot="5400000">
            <a:off x="2380457" y="4263231"/>
            <a:ext cx="812800" cy="1587"/>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Picture 73">
            <a:extLst>
              <a:ext uri="{FF2B5EF4-FFF2-40B4-BE49-F238E27FC236}">
                <a16:creationId xmlns:a16="http://schemas.microsoft.com/office/drawing/2014/main" id="{A809EBC5-30FA-4DAE-C0B0-8E68B2F85C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6976" b="12590"/>
          <a:stretch>
            <a:fillRect/>
          </a:stretch>
        </p:blipFill>
        <p:spPr bwMode="auto">
          <a:xfrm>
            <a:off x="3187700" y="3643313"/>
            <a:ext cx="5384800" cy="228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89" name="Picture 65">
            <a:extLst>
              <a:ext uri="{FF2B5EF4-FFF2-40B4-BE49-F238E27FC236}">
                <a16:creationId xmlns:a16="http://schemas.microsoft.com/office/drawing/2014/main" id="{243C37EF-45ED-BDA4-443A-D6CCC2FD12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 y="4929188"/>
            <a:ext cx="3786188"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5" name="矩形 174">
            <a:extLst>
              <a:ext uri="{FF2B5EF4-FFF2-40B4-BE49-F238E27FC236}">
                <a16:creationId xmlns:a16="http://schemas.microsoft.com/office/drawing/2014/main" id="{E9499AF1-FC65-D3EE-64E6-2343DE150816}"/>
              </a:ext>
            </a:extLst>
          </p:cNvPr>
          <p:cNvSpPr/>
          <p:nvPr/>
        </p:nvSpPr>
        <p:spPr>
          <a:xfrm>
            <a:off x="500063" y="465138"/>
            <a:ext cx="4714875" cy="534987"/>
          </a:xfrm>
          <a:prstGeom prst="rect">
            <a:avLst/>
          </a:prstGeom>
        </p:spPr>
        <p:txBody>
          <a:bodyPr>
            <a:spAutoFit/>
          </a:bodyPr>
          <a:lstStyle/>
          <a:p>
            <a:pPr marL="228600" lvl="1" indent="-228600">
              <a:lnSpc>
                <a:spcPct val="90000"/>
              </a:lnSpc>
              <a:spcBef>
                <a:spcPct val="20000"/>
              </a:spcBef>
              <a:buClr>
                <a:srgbClr val="FF0000"/>
              </a:buClr>
              <a:buSzPct val="75000"/>
              <a:defRPr/>
            </a:pPr>
            <a:r>
              <a:rPr kumimoji="0" lang="en-US" altLang="zh-CN" sz="3200" u="sng" kern="0" dirty="0">
                <a:solidFill>
                  <a:srgbClr val="FF0000"/>
                </a:solidFill>
                <a:latin typeface="Arial" pitchFamily="34" charset="0"/>
                <a:ea typeface="黑体" pitchFamily="2" charset="-122"/>
                <a:cs typeface="Arial" pitchFamily="34" charset="0"/>
              </a:rPr>
              <a:t>2</a:t>
            </a:r>
            <a:r>
              <a:rPr kumimoji="0" lang="zh-CN" altLang="en-US" sz="3200" kern="0" dirty="0">
                <a:solidFill>
                  <a:srgbClr val="000000"/>
                </a:solidFill>
                <a:latin typeface="黑体" pitchFamily="2" charset="-122"/>
                <a:ea typeface="黑体" pitchFamily="2" charset="-122"/>
              </a:rPr>
              <a:t> </a:t>
            </a:r>
            <a:r>
              <a:rPr kumimoji="0" lang="zh-CN" altLang="en-US" sz="3200" kern="0" dirty="0">
                <a:solidFill>
                  <a:schemeClr val="tx1"/>
                </a:solidFill>
                <a:latin typeface="黑体" pitchFamily="2" charset="-122"/>
                <a:ea typeface="黑体" pitchFamily="2" charset="-122"/>
              </a:rPr>
              <a:t>卷积码的几何表述</a:t>
            </a:r>
            <a:endParaRPr kumimoji="0" lang="zh-CN" altLang="en-US" sz="3200" kern="0" dirty="0">
              <a:solidFill>
                <a:srgbClr val="000000"/>
              </a:solidFill>
              <a:latin typeface="黑体" pitchFamily="2" charset="-122"/>
              <a:ea typeface="黑体" pitchFamily="2" charset="-122"/>
            </a:endParaRPr>
          </a:p>
        </p:txBody>
      </p:sp>
      <p:sp>
        <p:nvSpPr>
          <p:cNvPr id="176" name="矩形 175">
            <a:extLst>
              <a:ext uri="{FF2B5EF4-FFF2-40B4-BE49-F238E27FC236}">
                <a16:creationId xmlns:a16="http://schemas.microsoft.com/office/drawing/2014/main" id="{2BCF9ED7-3219-6853-AEAD-716F1659A167}"/>
              </a:ext>
            </a:extLst>
          </p:cNvPr>
          <p:cNvSpPr/>
          <p:nvPr/>
        </p:nvSpPr>
        <p:spPr>
          <a:xfrm>
            <a:off x="714375" y="1143000"/>
            <a:ext cx="1643063" cy="498475"/>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marL="228600" lvl="1" indent="-228600">
              <a:lnSpc>
                <a:spcPts val="3500"/>
              </a:lnSpc>
              <a:spcBef>
                <a:spcPct val="20000"/>
              </a:spcBef>
              <a:buClr>
                <a:srgbClr val="FF0000"/>
              </a:buClr>
              <a:buSzPct val="75000"/>
              <a:defRPr/>
            </a:pPr>
            <a:r>
              <a:rPr kumimoji="0" lang="en-US" altLang="zh-CN" sz="2400" kern="0" dirty="0">
                <a:solidFill>
                  <a:srgbClr val="FF0000"/>
                </a:solidFill>
                <a:latin typeface="Arial" pitchFamily="34" charset="0"/>
                <a:ea typeface="黑体" pitchFamily="2" charset="-122"/>
                <a:cs typeface="Arial" pitchFamily="34" charset="0"/>
              </a:rPr>
              <a:t>1</a:t>
            </a:r>
            <a:r>
              <a:rPr kumimoji="0" lang="zh-CN" altLang="en-US" sz="2400" kern="0" dirty="0">
                <a:solidFill>
                  <a:srgbClr val="FF0000"/>
                </a:solidFill>
                <a:latin typeface="Arial" pitchFamily="34" charset="0"/>
                <a:ea typeface="黑体" pitchFamily="2" charset="-122"/>
                <a:cs typeface="Arial" pitchFamily="34" charset="0"/>
              </a:rPr>
              <a:t>）</a:t>
            </a:r>
            <a:r>
              <a:rPr lang="zh-CN" altLang="en-US" sz="2400" dirty="0">
                <a:solidFill>
                  <a:srgbClr val="FF0000"/>
                </a:solidFill>
                <a:latin typeface="Arial" pitchFamily="34" charset="0"/>
                <a:ea typeface="微软雅黑" pitchFamily="34" charset="-122"/>
                <a:cs typeface="Arial" pitchFamily="34" charset="0"/>
              </a:rPr>
              <a:t>码树图</a:t>
            </a:r>
            <a:endParaRPr kumimoji="0" lang="zh-CN" altLang="en-US" sz="2400" kern="0" dirty="0">
              <a:solidFill>
                <a:srgbClr val="FF0000"/>
              </a:solidFill>
              <a:latin typeface="Arial" pitchFamily="34" charset="0"/>
              <a:ea typeface="微软雅黑" pitchFamily="34" charset="-122"/>
              <a:cs typeface="Arial" pitchFamily="34" charset="0"/>
            </a:endParaRPr>
          </a:p>
        </p:txBody>
      </p:sp>
      <p:sp>
        <p:nvSpPr>
          <p:cNvPr id="268" name="Rectangle 3">
            <a:extLst>
              <a:ext uri="{FF2B5EF4-FFF2-40B4-BE49-F238E27FC236}">
                <a16:creationId xmlns:a16="http://schemas.microsoft.com/office/drawing/2014/main" id="{C169B036-C569-61AC-956C-BCE4A15143A5}"/>
              </a:ext>
            </a:extLst>
          </p:cNvPr>
          <p:cNvSpPr txBox="1">
            <a:spLocks noChangeArrowheads="1"/>
          </p:cNvSpPr>
          <p:nvPr/>
        </p:nvSpPr>
        <p:spPr bwMode="auto">
          <a:xfrm>
            <a:off x="928688" y="2957513"/>
            <a:ext cx="7572375" cy="428625"/>
          </a:xfrm>
          <a:prstGeom prst="rect">
            <a:avLst/>
          </a:prstGeom>
          <a:solidFill>
            <a:schemeClr val="bg2">
              <a:lumMod val="10000"/>
              <a:lumOff val="90000"/>
            </a:schemeClr>
          </a:solidFill>
          <a:ln w="9525">
            <a:noFill/>
            <a:miter lim="800000"/>
            <a:headEnd/>
            <a:tailEnd/>
          </a:ln>
          <a:effectLst>
            <a:outerShdw blurRad="50800" dist="38100" dir="2700000" algn="tl" rotWithShape="0">
              <a:prstClr val="black">
                <a:alpha val="40000"/>
              </a:prstClr>
            </a:outerShdw>
          </a:effectLst>
        </p:spPr>
        <p:txBody>
          <a:bodyPr/>
          <a:lstStyle/>
          <a:p>
            <a:pPr marL="342900" indent="-342900">
              <a:spcBef>
                <a:spcPct val="20000"/>
              </a:spcBef>
              <a:buClr>
                <a:schemeClr val="folHlink"/>
              </a:buClr>
              <a:buSzPct val="60000"/>
              <a:buFont typeface="Wingdings" pitchFamily="2" charset="2"/>
              <a:buNone/>
              <a:defRPr/>
            </a:pPr>
            <a:r>
              <a:rPr kumimoji="0" lang="zh-CN" altLang="en-US" sz="2000" kern="0" dirty="0">
                <a:solidFill>
                  <a:schemeClr val="tx1"/>
                </a:solidFill>
                <a:latin typeface="Arial" pitchFamily="34" charset="0"/>
                <a:ea typeface="微软雅黑" pitchFamily="34" charset="-122"/>
                <a:cs typeface="Arial" pitchFamily="34" charset="0"/>
              </a:rPr>
              <a:t>以前面</a:t>
            </a:r>
            <a:r>
              <a:rPr kumimoji="0" lang="en-US" altLang="zh-CN" sz="2000" kern="0" dirty="0">
                <a:solidFill>
                  <a:srgbClr val="003399"/>
                </a:solidFill>
                <a:latin typeface="Arial" pitchFamily="34" charset="0"/>
                <a:ea typeface="微软雅黑" pitchFamily="34" charset="-122"/>
                <a:cs typeface="Arial" pitchFamily="34" charset="0"/>
              </a:rPr>
              <a:t> (3, 1, 3)</a:t>
            </a:r>
            <a:r>
              <a:rPr kumimoji="0" lang="en-US" altLang="zh-CN" sz="2000" kern="0" dirty="0">
                <a:solidFill>
                  <a:schemeClr val="tx1"/>
                </a:solidFill>
                <a:latin typeface="Arial" pitchFamily="34" charset="0"/>
                <a:ea typeface="微软雅黑" pitchFamily="34" charset="-122"/>
                <a:cs typeface="Arial" pitchFamily="34" charset="0"/>
              </a:rPr>
              <a:t> </a:t>
            </a:r>
            <a:r>
              <a:rPr kumimoji="0" lang="zh-CN" altLang="en-US" sz="2000" kern="0" dirty="0">
                <a:solidFill>
                  <a:schemeClr val="tx1"/>
                </a:solidFill>
                <a:latin typeface="Arial" pitchFamily="34" charset="0"/>
                <a:ea typeface="微软雅黑" pitchFamily="34" charset="-122"/>
                <a:cs typeface="Arial" pitchFamily="34" charset="0"/>
              </a:rPr>
              <a:t>卷积码为例：</a:t>
            </a:r>
          </a:p>
        </p:txBody>
      </p:sp>
      <p:sp>
        <p:nvSpPr>
          <p:cNvPr id="62" name="矩形 61">
            <a:extLst>
              <a:ext uri="{FF2B5EF4-FFF2-40B4-BE49-F238E27FC236}">
                <a16:creationId xmlns:a16="http://schemas.microsoft.com/office/drawing/2014/main" id="{BEA2E265-F48F-2715-B31D-D338EEDBDF30}"/>
              </a:ext>
            </a:extLst>
          </p:cNvPr>
          <p:cNvSpPr>
            <a:spLocks noChangeArrowheads="1"/>
          </p:cNvSpPr>
          <p:nvPr/>
        </p:nvSpPr>
        <p:spPr bwMode="auto">
          <a:xfrm>
            <a:off x="4429125" y="2957513"/>
            <a:ext cx="4214813" cy="400050"/>
          </a:xfrm>
          <a:prstGeom prst="rect">
            <a:avLst/>
          </a:prstGeom>
          <a:noFill/>
          <a:ln w="9525">
            <a:noFill/>
            <a:miter lim="800000"/>
            <a:headEnd/>
            <a:tailEnd/>
          </a:ln>
        </p:spPr>
        <p:txBody>
          <a:bodyPr>
            <a:spAutoFit/>
          </a:bodyPr>
          <a:lstStyle/>
          <a:p>
            <a:pPr>
              <a:defRPr/>
            </a:pPr>
            <a:r>
              <a:rPr lang="zh-CN" altLang="en-US" sz="2000" b="0"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rPr>
              <a:t>并设 </a:t>
            </a:r>
            <a:r>
              <a:rPr lang="en-US" altLang="zh-CN" sz="2000" b="0"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rPr>
              <a:t>M</a:t>
            </a:r>
            <a:r>
              <a:rPr lang="en-US" altLang="zh-CN" sz="2000" b="0" baseline="-25000"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rPr>
              <a:t>1</a:t>
            </a:r>
            <a:r>
              <a:rPr lang="zh-CN" altLang="en-US" sz="2000" b="0"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rPr>
              <a:t>，</a:t>
            </a:r>
            <a:r>
              <a:rPr lang="en-US" altLang="zh-CN" sz="2000" b="0"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rPr>
              <a:t>M</a:t>
            </a:r>
            <a:r>
              <a:rPr lang="en-US" altLang="zh-CN" sz="2000" b="0" baseline="-25000"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rPr>
              <a:t>2</a:t>
            </a:r>
            <a:r>
              <a:rPr lang="zh-CN" altLang="en-US" sz="2000" b="0"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rPr>
              <a:t>和 </a:t>
            </a:r>
            <a:r>
              <a:rPr lang="en-US" altLang="zh-CN" sz="2000" b="0"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rPr>
              <a:t>M</a:t>
            </a:r>
            <a:r>
              <a:rPr lang="en-US" altLang="zh-CN" sz="2000" b="0" baseline="-25000"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rPr>
              <a:t>3 </a:t>
            </a:r>
            <a:r>
              <a:rPr lang="zh-CN" altLang="en-US" sz="2000" b="0"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rPr>
              <a:t>的初始状态 </a:t>
            </a:r>
            <a:r>
              <a:rPr lang="en-US" altLang="zh-CN" sz="2000" b="0"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rPr>
              <a:t>000   </a:t>
            </a:r>
            <a:endParaRPr lang="zh-CN" altLang="en-US" sz="2000" b="0"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endParaRPr>
          </a:p>
        </p:txBody>
      </p:sp>
      <p:sp>
        <p:nvSpPr>
          <p:cNvPr id="63" name="矩形 62">
            <a:extLst>
              <a:ext uri="{FF2B5EF4-FFF2-40B4-BE49-F238E27FC236}">
                <a16:creationId xmlns:a16="http://schemas.microsoft.com/office/drawing/2014/main" id="{EE0CB013-0915-A735-3C45-E50A46F94379}"/>
              </a:ext>
            </a:extLst>
          </p:cNvPr>
          <p:cNvSpPr/>
          <p:nvPr/>
        </p:nvSpPr>
        <p:spPr>
          <a:xfrm>
            <a:off x="1714500" y="3314700"/>
            <a:ext cx="1143000" cy="400050"/>
          </a:xfrm>
          <a:prstGeom prst="rect">
            <a:avLst/>
          </a:prstGeom>
        </p:spPr>
        <p:txBody>
          <a:bodyPr>
            <a:spAutoFit/>
          </a:bodyPr>
          <a:lstStyle/>
          <a:p>
            <a:pPr>
              <a:defRPr/>
            </a:pPr>
            <a:r>
              <a:rPr kumimoji="0" lang="en-US" altLang="zh-CN" sz="2000" kern="0" dirty="0">
                <a:solidFill>
                  <a:srgbClr val="003399"/>
                </a:solidFill>
                <a:latin typeface="Arial" pitchFamily="34" charset="0"/>
                <a:ea typeface="微软雅黑" pitchFamily="34" charset="-122"/>
                <a:cs typeface="Arial" pitchFamily="34" charset="0"/>
              </a:rPr>
              <a:t>(</a:t>
            </a:r>
            <a:r>
              <a:rPr kumimoji="0" lang="en-US" altLang="zh-CN" sz="2000" i="1" kern="0" dirty="0">
                <a:solidFill>
                  <a:srgbClr val="003399"/>
                </a:solidFill>
                <a:latin typeface="Arial" pitchFamily="34" charset="0"/>
                <a:ea typeface="微软雅黑" pitchFamily="34" charset="-122"/>
                <a:cs typeface="Arial" pitchFamily="34" charset="0"/>
              </a:rPr>
              <a:t>n</a:t>
            </a:r>
            <a:r>
              <a:rPr kumimoji="0" lang="en-US" altLang="zh-CN" sz="2000" kern="0" dirty="0">
                <a:solidFill>
                  <a:srgbClr val="003399"/>
                </a:solidFill>
                <a:latin typeface="Arial" pitchFamily="34" charset="0"/>
                <a:ea typeface="微软雅黑" pitchFamily="34" charset="-122"/>
                <a:cs typeface="Arial" pitchFamily="34" charset="0"/>
              </a:rPr>
              <a:t>, </a:t>
            </a:r>
            <a:r>
              <a:rPr kumimoji="0" lang="en-US" altLang="zh-CN" sz="2000" i="1" kern="0" dirty="0">
                <a:solidFill>
                  <a:srgbClr val="003399"/>
                </a:solidFill>
                <a:latin typeface="Arial" pitchFamily="34" charset="0"/>
                <a:ea typeface="微软雅黑" pitchFamily="34" charset="-122"/>
                <a:cs typeface="Arial" pitchFamily="34" charset="0"/>
              </a:rPr>
              <a:t>k</a:t>
            </a:r>
            <a:r>
              <a:rPr kumimoji="0" lang="en-US" altLang="zh-CN" sz="2000" kern="0" dirty="0">
                <a:solidFill>
                  <a:srgbClr val="003399"/>
                </a:solidFill>
                <a:latin typeface="Arial" pitchFamily="34" charset="0"/>
                <a:ea typeface="微软雅黑" pitchFamily="34" charset="-122"/>
                <a:cs typeface="Arial" pitchFamily="34" charset="0"/>
              </a:rPr>
              <a:t>, </a:t>
            </a:r>
            <a:r>
              <a:rPr kumimoji="0" lang="en-US" altLang="zh-CN" sz="2000" i="1" kern="0" dirty="0">
                <a:solidFill>
                  <a:srgbClr val="003399"/>
                </a:solidFill>
                <a:latin typeface="Arial" pitchFamily="34" charset="0"/>
                <a:ea typeface="微软雅黑" pitchFamily="34" charset="-122"/>
                <a:cs typeface="Arial" pitchFamily="34" charset="0"/>
              </a:rPr>
              <a:t>N</a:t>
            </a:r>
            <a:r>
              <a:rPr kumimoji="0" lang="en-US" altLang="zh-CN" sz="2000" kern="0" dirty="0">
                <a:solidFill>
                  <a:srgbClr val="003399"/>
                </a:solidFill>
                <a:latin typeface="Arial" pitchFamily="34" charset="0"/>
                <a:ea typeface="微软雅黑" pitchFamily="34" charset="-122"/>
                <a:cs typeface="Arial" pitchFamily="34" charset="0"/>
              </a:rPr>
              <a:t>)  </a:t>
            </a:r>
            <a:endParaRPr lang="zh-CN" altLang="en-US" sz="2000" dirty="0"/>
          </a:p>
        </p:txBody>
      </p:sp>
      <p:pic>
        <p:nvPicPr>
          <p:cNvPr id="52288" name="Picture 64">
            <a:extLst>
              <a:ext uri="{FF2B5EF4-FFF2-40B4-BE49-F238E27FC236}">
                <a16:creationId xmlns:a16="http://schemas.microsoft.com/office/drawing/2014/main" id="{59B394C4-672A-A1E4-0B93-DB10B68DB3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175" y="1700213"/>
            <a:ext cx="8275638"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75"/>
                                        </p:tgtEl>
                                        <p:attrNameLst>
                                          <p:attrName>style.visibility</p:attrName>
                                        </p:attrNameLst>
                                      </p:cBhvr>
                                      <p:to>
                                        <p:strVal val="visible"/>
                                      </p:to>
                                    </p:set>
                                    <p:animEffect transition="in" filter="wipe(up)">
                                      <p:cBhvr>
                                        <p:cTn id="7" dur="1000"/>
                                        <p:tgtEl>
                                          <p:spTgt spid="1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76"/>
                                        </p:tgtEl>
                                        <p:attrNameLst>
                                          <p:attrName>style.visibility</p:attrName>
                                        </p:attrNameLst>
                                      </p:cBhvr>
                                      <p:to>
                                        <p:strVal val="visible"/>
                                      </p:to>
                                    </p:set>
                                    <p:animEffect transition="in" filter="wipe(up)">
                                      <p:cBhvr>
                                        <p:cTn id="12" dur="1000"/>
                                        <p:tgtEl>
                                          <p:spTgt spid="176"/>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52288"/>
                                        </p:tgtEl>
                                        <p:attrNameLst>
                                          <p:attrName>style.visibility</p:attrName>
                                        </p:attrNameLst>
                                      </p:cBhvr>
                                      <p:to>
                                        <p:strVal val="visible"/>
                                      </p:to>
                                    </p:set>
                                    <p:animEffect transition="in" filter="wipe(up)">
                                      <p:cBhvr>
                                        <p:cTn id="16" dur="1000"/>
                                        <p:tgtEl>
                                          <p:spTgt spid="5228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268"/>
                                        </p:tgtEl>
                                        <p:attrNameLst>
                                          <p:attrName>style.visibility</p:attrName>
                                        </p:attrNameLst>
                                      </p:cBhvr>
                                      <p:to>
                                        <p:strVal val="visible"/>
                                      </p:to>
                                    </p:set>
                                    <p:animEffect transition="in" filter="wipe(up)">
                                      <p:cBhvr>
                                        <p:cTn id="21" dur="1000"/>
                                        <p:tgtEl>
                                          <p:spTgt spid="268"/>
                                        </p:tgtEl>
                                      </p:cBhvr>
                                    </p:animEffect>
                                  </p:childTnLst>
                                </p:cTn>
                              </p:par>
                              <p:par>
                                <p:cTn id="22" presetID="22" presetClass="entr" presetSubtype="1" fill="hold" nodeType="withEffect">
                                  <p:stCondLst>
                                    <p:cond delay="0"/>
                                  </p:stCondLst>
                                  <p:childTnLst>
                                    <p:set>
                                      <p:cBhvr>
                                        <p:cTn id="23" dur="1" fill="hold">
                                          <p:stCondLst>
                                            <p:cond delay="0"/>
                                          </p:stCondLst>
                                        </p:cTn>
                                        <p:tgtEl>
                                          <p:spTgt spid="63"/>
                                        </p:tgtEl>
                                        <p:attrNameLst>
                                          <p:attrName>style.visibility</p:attrName>
                                        </p:attrNameLst>
                                      </p:cBhvr>
                                      <p:to>
                                        <p:strVal val="visible"/>
                                      </p:to>
                                    </p:set>
                                    <p:animEffect transition="in" filter="wipe(up)">
                                      <p:cBhvr>
                                        <p:cTn id="24" dur="1000"/>
                                        <p:tgtEl>
                                          <p:spTgt spid="63"/>
                                        </p:tgtEl>
                                      </p:cBhvr>
                                    </p:animEffect>
                                  </p:childTnLst>
                                </p:cTn>
                              </p:par>
                            </p:childTnLst>
                          </p:cTn>
                        </p:par>
                        <p:par>
                          <p:cTn id="25" fill="hold" nodeType="afterGroup">
                            <p:stCondLst>
                              <p:cond delay="1000"/>
                            </p:stCondLst>
                            <p:childTnLst>
                              <p:par>
                                <p:cTn id="26" presetID="22" presetClass="entr" presetSubtype="1" fill="hold" nodeType="afterEffect">
                                  <p:stCondLst>
                                    <p:cond delay="0"/>
                                  </p:stCondLst>
                                  <p:childTnLst>
                                    <p:set>
                                      <p:cBhvr>
                                        <p:cTn id="27" dur="1" fill="hold">
                                          <p:stCondLst>
                                            <p:cond delay="0"/>
                                          </p:stCondLst>
                                        </p:cTn>
                                        <p:tgtEl>
                                          <p:spTgt spid="64"/>
                                        </p:tgtEl>
                                        <p:attrNameLst>
                                          <p:attrName>style.visibility</p:attrName>
                                        </p:attrNameLst>
                                      </p:cBhvr>
                                      <p:to>
                                        <p:strVal val="visible"/>
                                      </p:to>
                                    </p:set>
                                    <p:animEffect transition="in" filter="wipe(up)">
                                      <p:cBhvr>
                                        <p:cTn id="28" dur="2000"/>
                                        <p:tgtEl>
                                          <p:spTgt spid="6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nodeType="clickEffect">
                                  <p:stCondLst>
                                    <p:cond delay="0"/>
                                  </p:stCondLst>
                                  <p:childTnLst>
                                    <p:set>
                                      <p:cBhvr>
                                        <p:cTn id="32" dur="1" fill="hold">
                                          <p:stCondLst>
                                            <p:cond delay="0"/>
                                          </p:stCondLst>
                                        </p:cTn>
                                        <p:tgtEl>
                                          <p:spTgt spid="62"/>
                                        </p:tgtEl>
                                        <p:attrNameLst>
                                          <p:attrName>style.visibility</p:attrName>
                                        </p:attrNameLst>
                                      </p:cBhvr>
                                      <p:to>
                                        <p:strVal val="visible"/>
                                      </p:to>
                                    </p:set>
                                    <p:animEffect transition="in" filter="wipe(up)">
                                      <p:cBhvr>
                                        <p:cTn id="33" dur="1000"/>
                                        <p:tgtEl>
                                          <p:spTgt spid="62"/>
                                        </p:tgtEl>
                                      </p:cBhvr>
                                    </p:animEffect>
                                  </p:childTnLst>
                                </p:cTn>
                              </p:par>
                            </p:childTnLst>
                          </p:cTn>
                        </p:par>
                        <p:par>
                          <p:cTn id="34" fill="hold" nodeType="afterGroup">
                            <p:stCondLst>
                              <p:cond delay="1000"/>
                            </p:stCondLst>
                            <p:childTnLst>
                              <p:par>
                                <p:cTn id="35" presetID="22" presetClass="entr" presetSubtype="1" fill="hold" nodeType="afterEffect">
                                  <p:stCondLst>
                                    <p:cond delay="0"/>
                                  </p:stCondLst>
                                  <p:childTnLst>
                                    <p:set>
                                      <p:cBhvr>
                                        <p:cTn id="36" dur="1" fill="hold">
                                          <p:stCondLst>
                                            <p:cond delay="0"/>
                                          </p:stCondLst>
                                        </p:cTn>
                                        <p:tgtEl>
                                          <p:spTgt spid="52289"/>
                                        </p:tgtEl>
                                        <p:attrNameLst>
                                          <p:attrName>style.visibility</p:attrName>
                                        </p:attrNameLst>
                                      </p:cBhvr>
                                      <p:to>
                                        <p:strVal val="visible"/>
                                      </p:to>
                                    </p:set>
                                    <p:animEffect transition="in" filter="wipe(up)">
                                      <p:cBhvr>
                                        <p:cTn id="37" dur="1000"/>
                                        <p:tgtEl>
                                          <p:spTgt spid="522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 grpId="0"/>
      <p:bldP spid="176" grpId="0" animBg="1"/>
      <p:bldP spid="268" grpId="0" animBg="1"/>
      <p:bldP spid="63"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225" name="Picture 177">
            <a:extLst>
              <a:ext uri="{FF2B5EF4-FFF2-40B4-BE49-F238E27FC236}">
                <a16:creationId xmlns:a16="http://schemas.microsoft.com/office/drawing/2014/main" id="{11F3A053-D89F-D7DC-1688-FC9AAB6602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2274"/>
          <a:stretch>
            <a:fillRect/>
          </a:stretch>
        </p:blipFill>
        <p:spPr bwMode="auto">
          <a:xfrm>
            <a:off x="606425" y="5384800"/>
            <a:ext cx="8037513"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224" name="Picture 176">
            <a:extLst>
              <a:ext uri="{FF2B5EF4-FFF2-40B4-BE49-F238E27FC236}">
                <a16:creationId xmlns:a16="http://schemas.microsoft.com/office/drawing/2014/main" id="{4C821FA7-B5EB-E430-F006-D262A05288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7491"/>
          <a:stretch>
            <a:fillRect/>
          </a:stretch>
        </p:blipFill>
        <p:spPr bwMode="auto">
          <a:xfrm>
            <a:off x="2205038" y="401638"/>
            <a:ext cx="6592887" cy="495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6" name="矩形 175">
            <a:extLst>
              <a:ext uri="{FF2B5EF4-FFF2-40B4-BE49-F238E27FC236}">
                <a16:creationId xmlns:a16="http://schemas.microsoft.com/office/drawing/2014/main" id="{359E44C5-9F31-B3E3-16AB-1435670ADAF9}"/>
              </a:ext>
            </a:extLst>
          </p:cNvPr>
          <p:cNvSpPr/>
          <p:nvPr/>
        </p:nvSpPr>
        <p:spPr>
          <a:xfrm>
            <a:off x="500063" y="500063"/>
            <a:ext cx="3000375" cy="541337"/>
          </a:xfrm>
          <a:prstGeom prst="rect">
            <a:avLst/>
          </a:prstGeom>
          <a:noFill/>
          <a:effectLst>
            <a:outerShdw blurRad="50800" dist="38100" dir="2700000" algn="tl" rotWithShape="0">
              <a:prstClr val="black">
                <a:alpha val="40000"/>
              </a:prstClr>
            </a:outerShdw>
          </a:effectLst>
        </p:spPr>
        <p:txBody>
          <a:bodyPr>
            <a:spAutoFit/>
          </a:bodyPr>
          <a:lstStyle/>
          <a:p>
            <a:pPr marL="228600" lvl="1" indent="-228600">
              <a:lnSpc>
                <a:spcPts val="3500"/>
              </a:lnSpc>
              <a:spcBef>
                <a:spcPct val="20000"/>
              </a:spcBef>
              <a:buClr>
                <a:srgbClr val="FF0000"/>
              </a:buClr>
              <a:buSzPct val="75000"/>
              <a:defRPr/>
            </a:pPr>
            <a:r>
              <a:rPr kumimoji="0" lang="en-US" altLang="zh-CN" sz="2400" kern="0" dirty="0">
                <a:solidFill>
                  <a:srgbClr val="003399"/>
                </a:solidFill>
                <a:latin typeface="Arial" pitchFamily="34" charset="0"/>
                <a:ea typeface="微软雅黑" pitchFamily="34" charset="-122"/>
                <a:cs typeface="Arial" pitchFamily="34" charset="0"/>
              </a:rPr>
              <a:t> (3, 1, 3)</a:t>
            </a:r>
            <a:r>
              <a:rPr kumimoji="0" lang="en-US" altLang="zh-CN" sz="2400" kern="0" dirty="0">
                <a:solidFill>
                  <a:schemeClr val="tx1"/>
                </a:solidFill>
                <a:latin typeface="Arial" pitchFamily="34" charset="0"/>
                <a:ea typeface="微软雅黑" pitchFamily="34" charset="-122"/>
                <a:cs typeface="Arial" pitchFamily="34" charset="0"/>
              </a:rPr>
              <a:t> </a:t>
            </a:r>
            <a:r>
              <a:rPr lang="zh-CN" altLang="en-US" sz="2400" b="0" dirty="0">
                <a:solidFill>
                  <a:srgbClr val="FF0000"/>
                </a:solidFill>
                <a:latin typeface="Arial" pitchFamily="34" charset="0"/>
                <a:ea typeface="微软雅黑" pitchFamily="34" charset="-122"/>
                <a:cs typeface="Arial" pitchFamily="34" charset="0"/>
              </a:rPr>
              <a:t>码树图</a:t>
            </a:r>
            <a:r>
              <a:rPr lang="zh-CN" altLang="en-US" sz="2400" b="0" dirty="0">
                <a:solidFill>
                  <a:srgbClr val="FF0000"/>
                </a:solidFill>
                <a:latin typeface="+mn-ea"/>
                <a:ea typeface="+mn-ea"/>
                <a:cs typeface="Arial" pitchFamily="34" charset="0"/>
              </a:rPr>
              <a:t>：</a:t>
            </a:r>
            <a:endParaRPr kumimoji="0" lang="zh-CN" altLang="en-US" sz="2400" b="0" kern="0" dirty="0">
              <a:solidFill>
                <a:srgbClr val="FF0000"/>
              </a:solidFill>
              <a:latin typeface="+mn-ea"/>
              <a:ea typeface="+mn-ea"/>
              <a:cs typeface="Arial" pitchFamily="34" charset="0"/>
            </a:endParaRPr>
          </a:p>
        </p:txBody>
      </p:sp>
      <p:grpSp>
        <p:nvGrpSpPr>
          <p:cNvPr id="2" name="组合 57">
            <a:extLst>
              <a:ext uri="{FF2B5EF4-FFF2-40B4-BE49-F238E27FC236}">
                <a16:creationId xmlns:a16="http://schemas.microsoft.com/office/drawing/2014/main" id="{8D13452B-07CD-B65E-5DC8-0F16CB13F504}"/>
              </a:ext>
            </a:extLst>
          </p:cNvPr>
          <p:cNvGrpSpPr>
            <a:grpSpLocks/>
          </p:cNvGrpSpPr>
          <p:nvPr/>
        </p:nvGrpSpPr>
        <p:grpSpPr bwMode="auto">
          <a:xfrm>
            <a:off x="441325" y="5286375"/>
            <a:ext cx="933450" cy="571500"/>
            <a:chOff x="2495087" y="3214687"/>
            <a:chExt cx="933912" cy="571484"/>
          </a:xfrm>
        </p:grpSpPr>
        <p:sp>
          <p:nvSpPr>
            <p:cNvPr id="190" name="椭圆 189">
              <a:extLst>
                <a:ext uri="{FF2B5EF4-FFF2-40B4-BE49-F238E27FC236}">
                  <a16:creationId xmlns:a16="http://schemas.microsoft.com/office/drawing/2014/main" id="{7FB245BE-C1C6-0AF6-D3B8-24FCB9F97973}"/>
                </a:ext>
              </a:extLst>
            </p:cNvPr>
            <p:cNvSpPr/>
            <p:nvPr/>
          </p:nvSpPr>
          <p:spPr bwMode="auto">
            <a:xfrm>
              <a:off x="2499852" y="3214687"/>
              <a:ext cx="929147" cy="571484"/>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lstStyle/>
            <a:p>
              <a:pPr>
                <a:defRPr/>
              </a:pPr>
              <a:endParaRPr lang="zh-CN" altLang="en-US" dirty="0"/>
            </a:p>
          </p:txBody>
        </p:sp>
        <p:sp>
          <p:nvSpPr>
            <p:cNvPr id="194" name="矩形 193">
              <a:extLst>
                <a:ext uri="{FF2B5EF4-FFF2-40B4-BE49-F238E27FC236}">
                  <a16:creationId xmlns:a16="http://schemas.microsoft.com/office/drawing/2014/main" id="{365E0823-67BD-CD61-4818-60E44D168091}"/>
                </a:ext>
              </a:extLst>
            </p:cNvPr>
            <p:cNvSpPr/>
            <p:nvPr/>
          </p:nvSpPr>
          <p:spPr>
            <a:xfrm>
              <a:off x="2495087" y="3257549"/>
              <a:ext cx="921206" cy="461949"/>
            </a:xfrm>
            <a:prstGeom prst="rect">
              <a:avLst/>
            </a:prstGeom>
          </p:spPr>
          <p:txBody>
            <a:bodyPr wrap="none">
              <a:spAutoFit/>
            </a:bodyPr>
            <a:lstStyle/>
            <a:p>
              <a:pPr>
                <a:defRPr/>
              </a:pPr>
              <a:r>
                <a:rPr kumimoji="0" lang="zh-CN" altLang="en-US" sz="2400" kern="0" dirty="0">
                  <a:solidFill>
                    <a:srgbClr val="FF0000"/>
                  </a:solidFill>
                  <a:latin typeface="宋体" pitchFamily="2" charset="-122"/>
                  <a:ea typeface="宋体"/>
                </a:rPr>
                <a:t>观察</a:t>
              </a:r>
              <a:r>
                <a:rPr kumimoji="0" lang="en-US" altLang="zh-CN" sz="1800" kern="0" dirty="0">
                  <a:solidFill>
                    <a:srgbClr val="FF0000"/>
                  </a:solidFill>
                  <a:latin typeface="宋体" pitchFamily="2" charset="-122"/>
                  <a:ea typeface="宋体"/>
                </a:rPr>
                <a:t>1</a:t>
              </a:r>
              <a:endParaRPr lang="zh-CN" altLang="en-US" sz="1800" dirty="0">
                <a:solidFill>
                  <a:srgbClr val="FF0000"/>
                </a:solidFill>
              </a:endParaRPr>
            </a:p>
          </p:txBody>
        </p:sp>
      </p:grpSp>
      <p:pic>
        <p:nvPicPr>
          <p:cNvPr id="130226" name="Picture 178">
            <a:extLst>
              <a:ext uri="{FF2B5EF4-FFF2-40B4-BE49-F238E27FC236}">
                <a16:creationId xmlns:a16="http://schemas.microsoft.com/office/drawing/2014/main" id="{53A59050-2269-ED64-AD87-99E74C95B4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7313" y="3571875"/>
            <a:ext cx="1500187"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223" name="Picture 175">
            <a:extLst>
              <a:ext uri="{FF2B5EF4-FFF2-40B4-BE49-F238E27FC236}">
                <a16:creationId xmlns:a16="http://schemas.microsoft.com/office/drawing/2014/main" id="{CE44F87B-EFE0-32B5-8FAC-405D5F36E9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9925" y="1030288"/>
            <a:ext cx="292893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76"/>
                                        </p:tgtEl>
                                        <p:attrNameLst>
                                          <p:attrName>style.visibility</p:attrName>
                                        </p:attrNameLst>
                                      </p:cBhvr>
                                      <p:to>
                                        <p:strVal val="visible"/>
                                      </p:to>
                                    </p:set>
                                    <p:animEffect transition="in" filter="wipe(up)">
                                      <p:cBhvr>
                                        <p:cTn id="7" dur="1000"/>
                                        <p:tgtEl>
                                          <p:spTgt spid="176"/>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130224"/>
                                        </p:tgtEl>
                                        <p:attrNameLst>
                                          <p:attrName>style.visibility</p:attrName>
                                        </p:attrNameLst>
                                      </p:cBhvr>
                                      <p:to>
                                        <p:strVal val="visible"/>
                                      </p:to>
                                    </p:set>
                                    <p:animEffect transition="in" filter="wipe(left)">
                                      <p:cBhvr>
                                        <p:cTn id="11" dur="2000"/>
                                        <p:tgtEl>
                                          <p:spTgt spid="13022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130223"/>
                                        </p:tgtEl>
                                        <p:attrNameLst>
                                          <p:attrName>style.visibility</p:attrName>
                                        </p:attrNameLst>
                                      </p:cBhvr>
                                      <p:to>
                                        <p:strVal val="visible"/>
                                      </p:to>
                                    </p:set>
                                    <p:animEffect transition="in" filter="wipe(up)">
                                      <p:cBhvr>
                                        <p:cTn id="16" dur="1000"/>
                                        <p:tgtEl>
                                          <p:spTgt spid="13022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1000"/>
                                        <p:tgtEl>
                                          <p:spTgt spid="2"/>
                                        </p:tgtEl>
                                      </p:cBhvr>
                                    </p:animEffect>
                                  </p:childTnLst>
                                </p:cTn>
                              </p:par>
                            </p:childTnLst>
                          </p:cTn>
                        </p:par>
                        <p:par>
                          <p:cTn id="22" fill="hold" nodeType="afterGroup">
                            <p:stCondLst>
                              <p:cond delay="1000"/>
                            </p:stCondLst>
                            <p:childTnLst>
                              <p:par>
                                <p:cTn id="23" presetID="22" presetClass="entr" presetSubtype="1" fill="hold" nodeType="afterEffect">
                                  <p:stCondLst>
                                    <p:cond delay="0"/>
                                  </p:stCondLst>
                                  <p:childTnLst>
                                    <p:set>
                                      <p:cBhvr>
                                        <p:cTn id="24" dur="1" fill="hold">
                                          <p:stCondLst>
                                            <p:cond delay="0"/>
                                          </p:stCondLst>
                                        </p:cTn>
                                        <p:tgtEl>
                                          <p:spTgt spid="130225"/>
                                        </p:tgtEl>
                                        <p:attrNameLst>
                                          <p:attrName>style.visibility</p:attrName>
                                        </p:attrNameLst>
                                      </p:cBhvr>
                                      <p:to>
                                        <p:strVal val="visible"/>
                                      </p:to>
                                    </p:set>
                                    <p:animEffect transition="in" filter="wipe(up)">
                                      <p:cBhvr>
                                        <p:cTn id="25" dur="2000"/>
                                        <p:tgtEl>
                                          <p:spTgt spid="130225"/>
                                        </p:tgtEl>
                                      </p:cBhvr>
                                    </p:animEffect>
                                  </p:childTnLst>
                                </p:cTn>
                              </p:par>
                            </p:childTnLst>
                          </p:cTn>
                        </p:par>
                        <p:par>
                          <p:cTn id="26" fill="hold" nodeType="afterGroup">
                            <p:stCondLst>
                              <p:cond delay="3000"/>
                            </p:stCondLst>
                            <p:childTnLst>
                              <p:par>
                                <p:cTn id="27" presetID="6" presetClass="entr" presetSubtype="32" fill="hold" nodeType="afterEffect">
                                  <p:stCondLst>
                                    <p:cond delay="0"/>
                                  </p:stCondLst>
                                  <p:childTnLst>
                                    <p:set>
                                      <p:cBhvr>
                                        <p:cTn id="28" dur="1" fill="hold">
                                          <p:stCondLst>
                                            <p:cond delay="0"/>
                                          </p:stCondLst>
                                        </p:cTn>
                                        <p:tgtEl>
                                          <p:spTgt spid="130226"/>
                                        </p:tgtEl>
                                        <p:attrNameLst>
                                          <p:attrName>style.visibility</p:attrName>
                                        </p:attrNameLst>
                                      </p:cBhvr>
                                      <p:to>
                                        <p:strVal val="visible"/>
                                      </p:to>
                                    </p:set>
                                    <p:animEffect transition="in" filter="circle(out)">
                                      <p:cBhvr>
                                        <p:cTn id="29" dur="2000"/>
                                        <p:tgtEl>
                                          <p:spTgt spid="130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1074" name="Picture 176">
            <a:extLst>
              <a:ext uri="{FF2B5EF4-FFF2-40B4-BE49-F238E27FC236}">
                <a16:creationId xmlns:a16="http://schemas.microsoft.com/office/drawing/2014/main" id="{78715564-3833-A1FB-42D0-E1A5AA322D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7491"/>
          <a:stretch>
            <a:fillRect/>
          </a:stretch>
        </p:blipFill>
        <p:spPr bwMode="auto">
          <a:xfrm>
            <a:off x="2205038" y="401638"/>
            <a:ext cx="6592887" cy="495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8" name="Rectangle 3">
            <a:extLst>
              <a:ext uri="{FF2B5EF4-FFF2-40B4-BE49-F238E27FC236}">
                <a16:creationId xmlns:a16="http://schemas.microsoft.com/office/drawing/2014/main" id="{80A592DF-4A41-DF41-2195-E56C08195A0A}"/>
              </a:ext>
            </a:extLst>
          </p:cNvPr>
          <p:cNvSpPr txBox="1">
            <a:spLocks noChangeArrowheads="1"/>
          </p:cNvSpPr>
          <p:nvPr/>
        </p:nvSpPr>
        <p:spPr bwMode="auto">
          <a:xfrm>
            <a:off x="500063" y="5429250"/>
            <a:ext cx="8001027" cy="928688"/>
          </a:xfrm>
          <a:prstGeom prst="rect">
            <a:avLst/>
          </a:prstGeom>
          <a:solidFill>
            <a:schemeClr val="bg2">
              <a:lumMod val="10000"/>
              <a:lumOff val="90000"/>
            </a:schemeClr>
          </a:solidFill>
          <a:ln w="9525">
            <a:noFill/>
            <a:miter lim="800000"/>
            <a:headEnd/>
            <a:tailEnd/>
          </a:ln>
          <a:effectLst>
            <a:innerShdw blurRad="63500" dist="50800" dir="2700000">
              <a:prstClr val="black">
                <a:alpha val="50000"/>
              </a:prstClr>
            </a:innerShdw>
          </a:effectLst>
        </p:spPr>
        <p:txBody>
          <a:bodyPr/>
          <a:lstStyle/>
          <a:p>
            <a:pPr marL="342900" indent="-342900" eaLnBrk="0" hangingPunct="0">
              <a:lnSpc>
                <a:spcPts val="3000"/>
              </a:lnSpc>
              <a:spcBef>
                <a:spcPct val="20000"/>
              </a:spcBef>
              <a:buClr>
                <a:srgbClr val="3333CC"/>
              </a:buClr>
              <a:buSzPct val="60000"/>
              <a:defRPr/>
            </a:pPr>
            <a:r>
              <a:rPr kumimoji="0" lang="zh-CN" altLang="en-US" sz="2000" kern="0" dirty="0">
                <a:solidFill>
                  <a:srgbClr val="000000"/>
                </a:solidFill>
                <a:latin typeface="Arial" pitchFamily="34" charset="0"/>
                <a:ea typeface="微软雅黑" pitchFamily="34" charset="-122"/>
                <a:cs typeface="Arial" pitchFamily="34" charset="0"/>
              </a:rPr>
              <a:t>               </a:t>
            </a:r>
            <a:endParaRPr kumimoji="0" lang="en-US" altLang="zh-CN" sz="2000" kern="0" dirty="0">
              <a:solidFill>
                <a:srgbClr val="000000"/>
              </a:solidFill>
              <a:latin typeface="Arial" pitchFamily="34" charset="0"/>
              <a:ea typeface="微软雅黑" pitchFamily="34" charset="-122"/>
              <a:cs typeface="Arial" pitchFamily="34" charset="0"/>
            </a:endParaRPr>
          </a:p>
          <a:p>
            <a:pPr marL="342900" indent="-342900" eaLnBrk="0" hangingPunct="0">
              <a:lnSpc>
                <a:spcPts val="3000"/>
              </a:lnSpc>
              <a:spcBef>
                <a:spcPct val="20000"/>
              </a:spcBef>
              <a:buClr>
                <a:srgbClr val="3333CC"/>
              </a:buClr>
              <a:buSzPct val="60000"/>
              <a:defRPr/>
            </a:pP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每条树枝上标注的码元为输出比特，每个节点为移存器的状态</a:t>
            </a:r>
            <a:r>
              <a:rPr kumimoji="0" 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a b c d</a:t>
            </a:r>
            <a:endPar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p:txBody>
      </p:sp>
      <p:cxnSp>
        <p:nvCxnSpPr>
          <p:cNvPr id="188" name="直接连接符 187">
            <a:extLst>
              <a:ext uri="{FF2B5EF4-FFF2-40B4-BE49-F238E27FC236}">
                <a16:creationId xmlns:a16="http://schemas.microsoft.com/office/drawing/2014/main" id="{4748269F-3F3B-5D56-839D-2CE018385BE1}"/>
              </a:ext>
            </a:extLst>
          </p:cNvPr>
          <p:cNvCxnSpPr>
            <a:cxnSpLocks noChangeShapeType="1"/>
          </p:cNvCxnSpPr>
          <p:nvPr/>
        </p:nvCxnSpPr>
        <p:spPr bwMode="auto">
          <a:xfrm>
            <a:off x="3306763" y="3114675"/>
            <a:ext cx="890587" cy="4763"/>
          </a:xfrm>
          <a:prstGeom prst="line">
            <a:avLst/>
          </a:prstGeom>
          <a:noFill/>
          <a:ln w="2857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191" name="直接连接符 190">
            <a:extLst>
              <a:ext uri="{FF2B5EF4-FFF2-40B4-BE49-F238E27FC236}">
                <a16:creationId xmlns:a16="http://schemas.microsoft.com/office/drawing/2014/main" id="{FACD0DD1-A557-712A-0BB9-485511573519}"/>
              </a:ext>
            </a:extLst>
          </p:cNvPr>
          <p:cNvCxnSpPr>
            <a:cxnSpLocks noChangeShapeType="1"/>
          </p:cNvCxnSpPr>
          <p:nvPr/>
        </p:nvCxnSpPr>
        <p:spPr bwMode="auto">
          <a:xfrm rot="5400000">
            <a:off x="3691731" y="3628232"/>
            <a:ext cx="1000125" cy="1588"/>
          </a:xfrm>
          <a:prstGeom prst="line">
            <a:avLst/>
          </a:prstGeom>
          <a:noFill/>
          <a:ln w="2857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193" name="直接连接符 192">
            <a:extLst>
              <a:ext uri="{FF2B5EF4-FFF2-40B4-BE49-F238E27FC236}">
                <a16:creationId xmlns:a16="http://schemas.microsoft.com/office/drawing/2014/main" id="{EC8C46C4-99C1-4E54-FE2A-B93097879304}"/>
              </a:ext>
            </a:extLst>
          </p:cNvPr>
          <p:cNvCxnSpPr>
            <a:cxnSpLocks noChangeShapeType="1"/>
          </p:cNvCxnSpPr>
          <p:nvPr/>
        </p:nvCxnSpPr>
        <p:spPr bwMode="auto">
          <a:xfrm>
            <a:off x="4192588" y="4157663"/>
            <a:ext cx="890587" cy="4762"/>
          </a:xfrm>
          <a:prstGeom prst="line">
            <a:avLst/>
          </a:prstGeom>
          <a:noFill/>
          <a:ln w="2857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197" name="直接连接符 196">
            <a:extLst>
              <a:ext uri="{FF2B5EF4-FFF2-40B4-BE49-F238E27FC236}">
                <a16:creationId xmlns:a16="http://schemas.microsoft.com/office/drawing/2014/main" id="{70FA8273-4A4D-331B-BCFB-E1125A48098B}"/>
              </a:ext>
            </a:extLst>
          </p:cNvPr>
          <p:cNvCxnSpPr>
            <a:cxnSpLocks noChangeShapeType="1"/>
          </p:cNvCxnSpPr>
          <p:nvPr/>
        </p:nvCxnSpPr>
        <p:spPr bwMode="auto">
          <a:xfrm rot="5400000" flipH="1" flipV="1">
            <a:off x="4802188" y="4411663"/>
            <a:ext cx="573087" cy="1587"/>
          </a:xfrm>
          <a:prstGeom prst="line">
            <a:avLst/>
          </a:prstGeom>
          <a:noFill/>
          <a:ln w="2857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198" name="直接连接符 197">
            <a:extLst>
              <a:ext uri="{FF2B5EF4-FFF2-40B4-BE49-F238E27FC236}">
                <a16:creationId xmlns:a16="http://schemas.microsoft.com/office/drawing/2014/main" id="{3AD12641-1FFD-A7AA-4054-0E510DEF84CF}"/>
              </a:ext>
            </a:extLst>
          </p:cNvPr>
          <p:cNvCxnSpPr>
            <a:cxnSpLocks noChangeShapeType="1"/>
          </p:cNvCxnSpPr>
          <p:nvPr/>
        </p:nvCxnSpPr>
        <p:spPr bwMode="auto">
          <a:xfrm>
            <a:off x="5086350" y="4700588"/>
            <a:ext cx="892175" cy="4762"/>
          </a:xfrm>
          <a:prstGeom prst="line">
            <a:avLst/>
          </a:prstGeom>
          <a:noFill/>
          <a:ln w="2857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202" name="直接连接符 201">
            <a:extLst>
              <a:ext uri="{FF2B5EF4-FFF2-40B4-BE49-F238E27FC236}">
                <a16:creationId xmlns:a16="http://schemas.microsoft.com/office/drawing/2014/main" id="{4EE8B22A-4C1A-A5E9-879B-F0CBC21BB52C}"/>
              </a:ext>
            </a:extLst>
          </p:cNvPr>
          <p:cNvCxnSpPr>
            <a:cxnSpLocks noChangeShapeType="1"/>
          </p:cNvCxnSpPr>
          <p:nvPr/>
        </p:nvCxnSpPr>
        <p:spPr bwMode="auto">
          <a:xfrm rot="5400000">
            <a:off x="5807869" y="4599781"/>
            <a:ext cx="285750" cy="1588"/>
          </a:xfrm>
          <a:prstGeom prst="line">
            <a:avLst/>
          </a:prstGeom>
          <a:noFill/>
          <a:ln w="2857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203" name="直接连接符 202">
            <a:extLst>
              <a:ext uri="{FF2B5EF4-FFF2-40B4-BE49-F238E27FC236}">
                <a16:creationId xmlns:a16="http://schemas.microsoft.com/office/drawing/2014/main" id="{C8E49BBC-15D2-8378-03E4-47456065DEA8}"/>
              </a:ext>
            </a:extLst>
          </p:cNvPr>
          <p:cNvCxnSpPr>
            <a:cxnSpLocks noChangeShapeType="1"/>
          </p:cNvCxnSpPr>
          <p:nvPr/>
        </p:nvCxnSpPr>
        <p:spPr bwMode="auto">
          <a:xfrm>
            <a:off x="5949950" y="4443413"/>
            <a:ext cx="892175" cy="4762"/>
          </a:xfrm>
          <a:prstGeom prst="line">
            <a:avLst/>
          </a:prstGeom>
          <a:noFill/>
          <a:ln w="2857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206" name="直接连接符 205">
            <a:extLst>
              <a:ext uri="{FF2B5EF4-FFF2-40B4-BE49-F238E27FC236}">
                <a16:creationId xmlns:a16="http://schemas.microsoft.com/office/drawing/2014/main" id="{DF08E721-E023-4876-ABCD-8B7DFDC60A29}"/>
              </a:ext>
            </a:extLst>
          </p:cNvPr>
          <p:cNvCxnSpPr>
            <a:cxnSpLocks noChangeShapeType="1"/>
          </p:cNvCxnSpPr>
          <p:nvPr/>
        </p:nvCxnSpPr>
        <p:spPr bwMode="auto">
          <a:xfrm>
            <a:off x="6850063" y="4572000"/>
            <a:ext cx="890587" cy="4763"/>
          </a:xfrm>
          <a:prstGeom prst="line">
            <a:avLst/>
          </a:prstGeom>
          <a:noFill/>
          <a:ln w="2857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211" name="直接连接符 210">
            <a:extLst>
              <a:ext uri="{FF2B5EF4-FFF2-40B4-BE49-F238E27FC236}">
                <a16:creationId xmlns:a16="http://schemas.microsoft.com/office/drawing/2014/main" id="{9C31E5A9-4A02-A630-BF41-B29506C5FFC3}"/>
              </a:ext>
            </a:extLst>
          </p:cNvPr>
          <p:cNvCxnSpPr>
            <a:cxnSpLocks noChangeShapeType="1"/>
          </p:cNvCxnSpPr>
          <p:nvPr/>
        </p:nvCxnSpPr>
        <p:spPr bwMode="auto">
          <a:xfrm rot="5400000">
            <a:off x="6793706" y="4499769"/>
            <a:ext cx="142875" cy="1588"/>
          </a:xfrm>
          <a:prstGeom prst="line">
            <a:avLst/>
          </a:prstGeom>
          <a:noFill/>
          <a:ln w="28575" algn="ctr">
            <a:solidFill>
              <a:srgbClr val="FF0000"/>
            </a:solidFill>
            <a:miter lim="800000"/>
            <a:headEnd/>
            <a:tailEnd/>
          </a:ln>
          <a:extLst>
            <a:ext uri="{909E8E84-426E-40DD-AFC4-6F175D3DCCD1}">
              <a14:hiddenFill xmlns:a14="http://schemas.microsoft.com/office/drawing/2010/main">
                <a:noFill/>
              </a14:hiddenFill>
            </a:ext>
          </a:extLst>
        </p:spPr>
      </p:cxnSp>
      <p:sp>
        <p:nvSpPr>
          <p:cNvPr id="212" name="Text Box 59">
            <a:extLst>
              <a:ext uri="{FF2B5EF4-FFF2-40B4-BE49-F238E27FC236}">
                <a16:creationId xmlns:a16="http://schemas.microsoft.com/office/drawing/2014/main" id="{EC3D8B97-026B-EF9A-ACAB-948AE0727E0B}"/>
              </a:ext>
            </a:extLst>
          </p:cNvPr>
          <p:cNvSpPr txBox="1">
            <a:spLocks noChangeArrowheads="1"/>
          </p:cNvSpPr>
          <p:nvPr/>
        </p:nvSpPr>
        <p:spPr bwMode="auto">
          <a:xfrm>
            <a:off x="3214689" y="5228586"/>
            <a:ext cx="5214963" cy="357187"/>
          </a:xfrm>
          <a:prstGeom prst="rect">
            <a:avLst/>
          </a:prstGeom>
          <a:solidFill>
            <a:schemeClr val="bg2">
              <a:lumMod val="10000"/>
              <a:lumOff val="90000"/>
            </a:schemeClr>
          </a:solidFill>
          <a:ln w="9525">
            <a:noFill/>
            <a:miter lim="800000"/>
            <a:headEnd/>
            <a:tailEnd/>
          </a:ln>
          <a:effectLst>
            <a:innerShdw blurRad="63500" dist="50800" dir="13500000">
              <a:prstClr val="black">
                <a:alpha val="50000"/>
              </a:prstClr>
            </a:innerShdw>
          </a:effectLst>
        </p:spPr>
        <p:txBody>
          <a:bodyPr/>
          <a:lstStyle/>
          <a:p>
            <a:pPr algn="just">
              <a:defRPr/>
            </a:pPr>
            <a:r>
              <a:rPr lang="zh-CN" altLang="en-US" sz="2800" baseline="30000" dirty="0">
                <a:solidFill>
                  <a:srgbClr val="0000CC"/>
                </a:solidFill>
                <a:latin typeface="Arial" pitchFamily="34" charset="0"/>
                <a:ea typeface="微软雅黑" pitchFamily="34" charset="-122"/>
                <a:cs typeface="Arial" pitchFamily="34" charset="0"/>
              </a:rPr>
              <a:t>若信息位</a:t>
            </a:r>
            <a:r>
              <a:rPr lang="zh-CN" altLang="en-US" sz="2400" baseline="3000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r>
              <a:rPr lang="en-US" altLang="zh-CN" sz="2400" baseline="3000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1	     1	     0	      1 </a:t>
            </a:r>
            <a:endParaRPr lang="en-US" altLang="zh-CN" sz="240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p:txBody>
      </p:sp>
      <p:sp>
        <p:nvSpPr>
          <p:cNvPr id="217" name="Text Box 59">
            <a:extLst>
              <a:ext uri="{FF2B5EF4-FFF2-40B4-BE49-F238E27FC236}">
                <a16:creationId xmlns:a16="http://schemas.microsoft.com/office/drawing/2014/main" id="{03AE41C8-D3ED-FF74-093C-D0555F3BED07}"/>
              </a:ext>
            </a:extLst>
          </p:cNvPr>
          <p:cNvSpPr txBox="1">
            <a:spLocks noChangeArrowheads="1"/>
          </p:cNvSpPr>
          <p:nvPr/>
        </p:nvSpPr>
        <p:spPr bwMode="auto">
          <a:xfrm>
            <a:off x="3214688" y="5529263"/>
            <a:ext cx="5214937" cy="328629"/>
          </a:xfrm>
          <a:prstGeom prst="rect">
            <a:avLst/>
          </a:prstGeom>
          <a:solidFill>
            <a:schemeClr val="bg2">
              <a:lumMod val="10000"/>
              <a:lumOff val="90000"/>
            </a:schemeClr>
          </a:solidFill>
          <a:ln w="9525">
            <a:noFill/>
            <a:miter lim="800000"/>
            <a:headEnd/>
            <a:tailEnd/>
          </a:ln>
          <a:effectLst>
            <a:innerShdw blurRad="63500" dist="50800" dir="8100000">
              <a:prstClr val="black">
                <a:alpha val="50000"/>
              </a:prstClr>
            </a:innerShdw>
          </a:effectLst>
        </p:spPr>
        <p:txBody>
          <a:bodyPr/>
          <a:lstStyle/>
          <a:p>
            <a:pPr algn="just">
              <a:defRPr/>
            </a:pPr>
            <a:r>
              <a:rPr lang="zh-CN" altLang="en-US" sz="2800" baseline="30000" dirty="0">
                <a:solidFill>
                  <a:srgbClr val="FF0000"/>
                </a:solidFill>
                <a:latin typeface="Arial" pitchFamily="34" charset="0"/>
                <a:ea typeface="微软雅黑" pitchFamily="34" charset="-122"/>
                <a:cs typeface="Arial" pitchFamily="34" charset="0"/>
              </a:rPr>
              <a:t>编码输出    </a:t>
            </a:r>
            <a:r>
              <a:rPr lang="en-US" altLang="zh-CN" sz="2800" baseline="30000" dirty="0">
                <a:solidFill>
                  <a:srgbClr val="FF0000"/>
                </a:solidFill>
                <a:latin typeface="Arial" pitchFamily="34" charset="0"/>
                <a:ea typeface="微软雅黑" pitchFamily="34" charset="-122"/>
                <a:cs typeface="Arial" pitchFamily="34" charset="0"/>
              </a:rPr>
              <a:t>111      110        </a:t>
            </a:r>
            <a:r>
              <a:rPr lang="en-US" altLang="zh-CN" sz="2800" dirty="0">
                <a:solidFill>
                  <a:srgbClr val="FF0000"/>
                </a:solidFill>
                <a:latin typeface="Arial" pitchFamily="34" charset="0"/>
                <a:ea typeface="微软雅黑" pitchFamily="34" charset="-122"/>
                <a:cs typeface="Arial" pitchFamily="34" charset="0"/>
              </a:rPr>
              <a:t> </a:t>
            </a:r>
            <a:r>
              <a:rPr lang="en-US" altLang="zh-CN" sz="2800" baseline="30000" dirty="0">
                <a:solidFill>
                  <a:srgbClr val="FF0000"/>
                </a:solidFill>
                <a:latin typeface="Arial" pitchFamily="34" charset="0"/>
                <a:ea typeface="微软雅黑" pitchFamily="34" charset="-122"/>
                <a:cs typeface="Arial" pitchFamily="34" charset="0"/>
              </a:rPr>
              <a:t>010         100</a:t>
            </a:r>
            <a:r>
              <a:rPr lang="zh-CN" altLang="en-US" sz="2400" baseline="3000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endParaRPr lang="en-US" altLang="zh-CN" sz="240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p:txBody>
      </p:sp>
      <p:sp>
        <p:nvSpPr>
          <p:cNvPr id="190" name="矩形 189">
            <a:extLst>
              <a:ext uri="{FF2B5EF4-FFF2-40B4-BE49-F238E27FC236}">
                <a16:creationId xmlns:a16="http://schemas.microsoft.com/office/drawing/2014/main" id="{A3995B36-215A-388F-CBBC-BA8666B438B1}"/>
              </a:ext>
            </a:extLst>
          </p:cNvPr>
          <p:cNvSpPr/>
          <p:nvPr/>
        </p:nvSpPr>
        <p:spPr>
          <a:xfrm>
            <a:off x="500063" y="500063"/>
            <a:ext cx="3000375" cy="541337"/>
          </a:xfrm>
          <a:prstGeom prst="rect">
            <a:avLst/>
          </a:prstGeom>
          <a:noFill/>
          <a:effectLst>
            <a:outerShdw blurRad="50800" dist="38100" dir="2700000" algn="tl" rotWithShape="0">
              <a:prstClr val="black">
                <a:alpha val="40000"/>
              </a:prstClr>
            </a:outerShdw>
          </a:effectLst>
        </p:spPr>
        <p:txBody>
          <a:bodyPr>
            <a:spAutoFit/>
          </a:bodyPr>
          <a:lstStyle/>
          <a:p>
            <a:pPr marL="228600" lvl="1" indent="-228600">
              <a:lnSpc>
                <a:spcPts val="3500"/>
              </a:lnSpc>
              <a:spcBef>
                <a:spcPct val="20000"/>
              </a:spcBef>
              <a:buClr>
                <a:srgbClr val="FF0000"/>
              </a:buClr>
              <a:buSzPct val="75000"/>
              <a:defRPr/>
            </a:pPr>
            <a:r>
              <a:rPr kumimoji="0" lang="en-US" altLang="zh-CN" sz="2400" kern="0" dirty="0">
                <a:solidFill>
                  <a:srgbClr val="003399"/>
                </a:solidFill>
                <a:latin typeface="Arial" pitchFamily="34" charset="0"/>
                <a:ea typeface="微软雅黑" pitchFamily="34" charset="-122"/>
                <a:cs typeface="Arial" pitchFamily="34" charset="0"/>
              </a:rPr>
              <a:t> (3, 1, 3)</a:t>
            </a:r>
            <a:r>
              <a:rPr kumimoji="0" lang="en-US" altLang="zh-CN" sz="2400" kern="0" dirty="0">
                <a:solidFill>
                  <a:schemeClr val="tx1"/>
                </a:solidFill>
                <a:latin typeface="Arial" pitchFamily="34" charset="0"/>
                <a:ea typeface="微软雅黑" pitchFamily="34" charset="-122"/>
                <a:cs typeface="Arial" pitchFamily="34" charset="0"/>
              </a:rPr>
              <a:t> </a:t>
            </a:r>
            <a:r>
              <a:rPr lang="zh-CN" altLang="en-US" sz="2400" b="0" dirty="0">
                <a:solidFill>
                  <a:srgbClr val="FF0000"/>
                </a:solidFill>
                <a:latin typeface="Arial" pitchFamily="34" charset="0"/>
                <a:ea typeface="微软雅黑" pitchFamily="34" charset="-122"/>
                <a:cs typeface="Arial" pitchFamily="34" charset="0"/>
              </a:rPr>
              <a:t>码树图</a:t>
            </a:r>
            <a:r>
              <a:rPr lang="zh-CN" altLang="en-US" sz="2400" b="0" dirty="0">
                <a:solidFill>
                  <a:srgbClr val="FF0000"/>
                </a:solidFill>
                <a:latin typeface="+mn-ea"/>
                <a:ea typeface="+mn-ea"/>
                <a:cs typeface="Arial" pitchFamily="34" charset="0"/>
              </a:rPr>
              <a:t>：</a:t>
            </a:r>
            <a:endParaRPr kumimoji="0" lang="zh-CN" altLang="en-US" sz="2400" b="0" kern="0" dirty="0">
              <a:solidFill>
                <a:srgbClr val="FF0000"/>
              </a:solidFill>
              <a:latin typeface="+mn-ea"/>
              <a:ea typeface="+mn-ea"/>
              <a:cs typeface="Arial" pitchFamily="34" charset="0"/>
            </a:endParaRPr>
          </a:p>
        </p:txBody>
      </p:sp>
      <p:grpSp>
        <p:nvGrpSpPr>
          <p:cNvPr id="2" name="组合 57">
            <a:extLst>
              <a:ext uri="{FF2B5EF4-FFF2-40B4-BE49-F238E27FC236}">
                <a16:creationId xmlns:a16="http://schemas.microsoft.com/office/drawing/2014/main" id="{745A758B-E001-3FD0-7FAC-03E7774990DE}"/>
              </a:ext>
            </a:extLst>
          </p:cNvPr>
          <p:cNvGrpSpPr>
            <a:grpSpLocks/>
          </p:cNvGrpSpPr>
          <p:nvPr/>
        </p:nvGrpSpPr>
        <p:grpSpPr bwMode="auto">
          <a:xfrm>
            <a:off x="374650" y="5214938"/>
            <a:ext cx="933450" cy="571500"/>
            <a:chOff x="2495087" y="3214687"/>
            <a:chExt cx="933912" cy="571484"/>
          </a:xfrm>
        </p:grpSpPr>
        <p:sp>
          <p:nvSpPr>
            <p:cNvPr id="210" name="椭圆 209">
              <a:extLst>
                <a:ext uri="{FF2B5EF4-FFF2-40B4-BE49-F238E27FC236}">
                  <a16:creationId xmlns:a16="http://schemas.microsoft.com/office/drawing/2014/main" id="{39DDED16-FDE7-CBB2-52E5-507581323B28}"/>
                </a:ext>
              </a:extLst>
            </p:cNvPr>
            <p:cNvSpPr/>
            <p:nvPr/>
          </p:nvSpPr>
          <p:spPr bwMode="auto">
            <a:xfrm>
              <a:off x="2499852" y="3214687"/>
              <a:ext cx="929147" cy="571484"/>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lstStyle/>
            <a:p>
              <a:pPr>
                <a:defRPr/>
              </a:pPr>
              <a:endParaRPr lang="zh-CN" altLang="en-US" dirty="0"/>
            </a:p>
          </p:txBody>
        </p:sp>
        <p:sp>
          <p:nvSpPr>
            <p:cNvPr id="219" name="矩形 218">
              <a:extLst>
                <a:ext uri="{FF2B5EF4-FFF2-40B4-BE49-F238E27FC236}">
                  <a16:creationId xmlns:a16="http://schemas.microsoft.com/office/drawing/2014/main" id="{CB2FC110-5022-F06D-0F20-CA258332C8EB}"/>
                </a:ext>
              </a:extLst>
            </p:cNvPr>
            <p:cNvSpPr/>
            <p:nvPr/>
          </p:nvSpPr>
          <p:spPr>
            <a:xfrm>
              <a:off x="2495087" y="3257548"/>
              <a:ext cx="921206" cy="461950"/>
            </a:xfrm>
            <a:prstGeom prst="rect">
              <a:avLst/>
            </a:prstGeom>
          </p:spPr>
          <p:txBody>
            <a:bodyPr wrap="none">
              <a:spAutoFit/>
            </a:bodyPr>
            <a:lstStyle/>
            <a:p>
              <a:pPr>
                <a:defRPr/>
              </a:pPr>
              <a:r>
                <a:rPr kumimoji="0" lang="zh-CN" altLang="en-US" sz="2400" kern="0" dirty="0">
                  <a:solidFill>
                    <a:srgbClr val="FF0000"/>
                  </a:solidFill>
                  <a:latin typeface="宋体" pitchFamily="2" charset="-122"/>
                  <a:ea typeface="宋体"/>
                </a:rPr>
                <a:t>观察</a:t>
              </a:r>
              <a:r>
                <a:rPr kumimoji="0" lang="en-US" altLang="zh-CN" sz="1800" kern="0" dirty="0">
                  <a:solidFill>
                    <a:srgbClr val="FF0000"/>
                  </a:solidFill>
                  <a:latin typeface="宋体" pitchFamily="2" charset="-122"/>
                  <a:ea typeface="宋体"/>
                </a:rPr>
                <a:t>2</a:t>
              </a:r>
              <a:endParaRPr lang="zh-CN" altLang="en-US" sz="1800" dirty="0">
                <a:solidFill>
                  <a:srgbClr val="FF0000"/>
                </a:solidFill>
              </a:endParaRPr>
            </a:p>
          </p:txBody>
        </p:sp>
      </p:grpSp>
      <p:pic>
        <p:nvPicPr>
          <p:cNvPr id="131095" name="Picture 189">
            <a:extLst>
              <a:ext uri="{FF2B5EF4-FFF2-40B4-BE49-F238E27FC236}">
                <a16:creationId xmlns:a16="http://schemas.microsoft.com/office/drawing/2014/main" id="{10B59D61-590D-70F6-8518-35F7C9EC71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1400" y="3473450"/>
            <a:ext cx="1530350" cy="159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1096" name="Picture 175">
            <a:extLst>
              <a:ext uri="{FF2B5EF4-FFF2-40B4-BE49-F238E27FC236}">
                <a16:creationId xmlns:a16="http://schemas.microsoft.com/office/drawing/2014/main" id="{438BAE61-624E-AD89-892A-D4854A75F6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9925" y="1027113"/>
            <a:ext cx="292893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208"/>
                                        </p:tgtEl>
                                        <p:attrNameLst>
                                          <p:attrName>style.visibility</p:attrName>
                                        </p:attrNameLst>
                                      </p:cBhvr>
                                      <p:to>
                                        <p:strVal val="visible"/>
                                      </p:to>
                                    </p:set>
                                    <p:animEffect transition="in" filter="wipe(up)">
                                      <p:cBhvr>
                                        <p:cTn id="11" dur="1000"/>
                                        <p:tgtEl>
                                          <p:spTgt spid="20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12"/>
                                        </p:tgtEl>
                                        <p:attrNameLst>
                                          <p:attrName>style.visibility</p:attrName>
                                        </p:attrNameLst>
                                      </p:cBhvr>
                                      <p:to>
                                        <p:strVal val="visible"/>
                                      </p:to>
                                    </p:set>
                                    <p:animEffect transition="in" filter="wipe(left)">
                                      <p:cBhvr>
                                        <p:cTn id="16" dur="2000"/>
                                        <p:tgtEl>
                                          <p:spTgt spid="212"/>
                                        </p:tgtEl>
                                      </p:cBhvr>
                                    </p:animEffect>
                                  </p:childTnLst>
                                </p:cTn>
                              </p:par>
                            </p:childTnLst>
                          </p:cTn>
                        </p:par>
                        <p:par>
                          <p:cTn id="17" fill="hold" nodeType="afterGroup">
                            <p:stCondLst>
                              <p:cond delay="2000"/>
                            </p:stCondLst>
                            <p:childTnLst>
                              <p:par>
                                <p:cTn id="18" presetID="22" presetClass="entr" presetSubtype="8" fill="hold" nodeType="afterEffect">
                                  <p:stCondLst>
                                    <p:cond delay="0"/>
                                  </p:stCondLst>
                                  <p:childTnLst>
                                    <p:set>
                                      <p:cBhvr>
                                        <p:cTn id="19" dur="1" fill="hold">
                                          <p:stCondLst>
                                            <p:cond delay="0"/>
                                          </p:stCondLst>
                                        </p:cTn>
                                        <p:tgtEl>
                                          <p:spTgt spid="188"/>
                                        </p:tgtEl>
                                        <p:attrNameLst>
                                          <p:attrName>style.visibility</p:attrName>
                                        </p:attrNameLst>
                                      </p:cBhvr>
                                      <p:to>
                                        <p:strVal val="visible"/>
                                      </p:to>
                                    </p:set>
                                    <p:animEffect transition="in" filter="wipe(left)">
                                      <p:cBhvr>
                                        <p:cTn id="20" dur="1000"/>
                                        <p:tgtEl>
                                          <p:spTgt spid="188"/>
                                        </p:tgtEl>
                                      </p:cBhvr>
                                    </p:animEffect>
                                  </p:childTnLst>
                                </p:cTn>
                              </p:par>
                            </p:childTnLst>
                          </p:cTn>
                        </p:par>
                        <p:par>
                          <p:cTn id="21" fill="hold" nodeType="afterGroup">
                            <p:stCondLst>
                              <p:cond delay="3000"/>
                            </p:stCondLst>
                            <p:childTnLst>
                              <p:par>
                                <p:cTn id="22" presetID="22" presetClass="entr" presetSubtype="1" fill="hold" nodeType="afterEffect">
                                  <p:stCondLst>
                                    <p:cond delay="0"/>
                                  </p:stCondLst>
                                  <p:childTnLst>
                                    <p:set>
                                      <p:cBhvr>
                                        <p:cTn id="23" dur="1" fill="hold">
                                          <p:stCondLst>
                                            <p:cond delay="0"/>
                                          </p:stCondLst>
                                        </p:cTn>
                                        <p:tgtEl>
                                          <p:spTgt spid="191"/>
                                        </p:tgtEl>
                                        <p:attrNameLst>
                                          <p:attrName>style.visibility</p:attrName>
                                        </p:attrNameLst>
                                      </p:cBhvr>
                                      <p:to>
                                        <p:strVal val="visible"/>
                                      </p:to>
                                    </p:set>
                                    <p:animEffect transition="in" filter="wipe(up)">
                                      <p:cBhvr>
                                        <p:cTn id="24" dur="2000"/>
                                        <p:tgtEl>
                                          <p:spTgt spid="191"/>
                                        </p:tgtEl>
                                      </p:cBhvr>
                                    </p:animEffect>
                                  </p:childTnLst>
                                </p:cTn>
                              </p:par>
                            </p:childTnLst>
                          </p:cTn>
                        </p:par>
                        <p:par>
                          <p:cTn id="25" fill="hold" nodeType="afterGroup">
                            <p:stCondLst>
                              <p:cond delay="5000"/>
                            </p:stCondLst>
                            <p:childTnLst>
                              <p:par>
                                <p:cTn id="26" presetID="22" presetClass="entr" presetSubtype="8" fill="hold" nodeType="afterEffect">
                                  <p:stCondLst>
                                    <p:cond delay="0"/>
                                  </p:stCondLst>
                                  <p:childTnLst>
                                    <p:set>
                                      <p:cBhvr>
                                        <p:cTn id="27" dur="1" fill="hold">
                                          <p:stCondLst>
                                            <p:cond delay="0"/>
                                          </p:stCondLst>
                                        </p:cTn>
                                        <p:tgtEl>
                                          <p:spTgt spid="193"/>
                                        </p:tgtEl>
                                        <p:attrNameLst>
                                          <p:attrName>style.visibility</p:attrName>
                                        </p:attrNameLst>
                                      </p:cBhvr>
                                      <p:to>
                                        <p:strVal val="visible"/>
                                      </p:to>
                                    </p:set>
                                    <p:animEffect transition="in" filter="wipe(left)">
                                      <p:cBhvr>
                                        <p:cTn id="28" dur="1000"/>
                                        <p:tgtEl>
                                          <p:spTgt spid="193"/>
                                        </p:tgtEl>
                                      </p:cBhvr>
                                    </p:animEffect>
                                  </p:childTnLst>
                                </p:cTn>
                              </p:par>
                            </p:childTnLst>
                          </p:cTn>
                        </p:par>
                        <p:par>
                          <p:cTn id="29" fill="hold" nodeType="afterGroup">
                            <p:stCondLst>
                              <p:cond delay="6000"/>
                            </p:stCondLst>
                            <p:childTnLst>
                              <p:par>
                                <p:cTn id="30" presetID="22" presetClass="entr" presetSubtype="1" fill="hold" nodeType="afterEffect">
                                  <p:stCondLst>
                                    <p:cond delay="0"/>
                                  </p:stCondLst>
                                  <p:childTnLst>
                                    <p:set>
                                      <p:cBhvr>
                                        <p:cTn id="31" dur="1" fill="hold">
                                          <p:stCondLst>
                                            <p:cond delay="0"/>
                                          </p:stCondLst>
                                        </p:cTn>
                                        <p:tgtEl>
                                          <p:spTgt spid="197"/>
                                        </p:tgtEl>
                                        <p:attrNameLst>
                                          <p:attrName>style.visibility</p:attrName>
                                        </p:attrNameLst>
                                      </p:cBhvr>
                                      <p:to>
                                        <p:strVal val="visible"/>
                                      </p:to>
                                    </p:set>
                                    <p:animEffect transition="in" filter="wipe(up)">
                                      <p:cBhvr>
                                        <p:cTn id="32" dur="2000"/>
                                        <p:tgtEl>
                                          <p:spTgt spid="197"/>
                                        </p:tgtEl>
                                      </p:cBhvr>
                                    </p:animEffect>
                                  </p:childTnLst>
                                </p:cTn>
                              </p:par>
                            </p:childTnLst>
                          </p:cTn>
                        </p:par>
                        <p:par>
                          <p:cTn id="33" fill="hold" nodeType="afterGroup">
                            <p:stCondLst>
                              <p:cond delay="8000"/>
                            </p:stCondLst>
                            <p:childTnLst>
                              <p:par>
                                <p:cTn id="34" presetID="22" presetClass="entr" presetSubtype="8" fill="hold" nodeType="afterEffect">
                                  <p:stCondLst>
                                    <p:cond delay="0"/>
                                  </p:stCondLst>
                                  <p:childTnLst>
                                    <p:set>
                                      <p:cBhvr>
                                        <p:cTn id="35" dur="1" fill="hold">
                                          <p:stCondLst>
                                            <p:cond delay="0"/>
                                          </p:stCondLst>
                                        </p:cTn>
                                        <p:tgtEl>
                                          <p:spTgt spid="198"/>
                                        </p:tgtEl>
                                        <p:attrNameLst>
                                          <p:attrName>style.visibility</p:attrName>
                                        </p:attrNameLst>
                                      </p:cBhvr>
                                      <p:to>
                                        <p:strVal val="visible"/>
                                      </p:to>
                                    </p:set>
                                    <p:animEffect transition="in" filter="wipe(left)">
                                      <p:cBhvr>
                                        <p:cTn id="36" dur="1000"/>
                                        <p:tgtEl>
                                          <p:spTgt spid="198"/>
                                        </p:tgtEl>
                                      </p:cBhvr>
                                    </p:animEffect>
                                  </p:childTnLst>
                                </p:cTn>
                              </p:par>
                            </p:childTnLst>
                          </p:cTn>
                        </p:par>
                        <p:par>
                          <p:cTn id="37" fill="hold" nodeType="afterGroup">
                            <p:stCondLst>
                              <p:cond delay="9000"/>
                            </p:stCondLst>
                            <p:childTnLst>
                              <p:par>
                                <p:cTn id="38" presetID="22" presetClass="entr" presetSubtype="4" fill="hold" nodeType="afterEffect">
                                  <p:stCondLst>
                                    <p:cond delay="0"/>
                                  </p:stCondLst>
                                  <p:childTnLst>
                                    <p:set>
                                      <p:cBhvr>
                                        <p:cTn id="39" dur="1" fill="hold">
                                          <p:stCondLst>
                                            <p:cond delay="0"/>
                                          </p:stCondLst>
                                        </p:cTn>
                                        <p:tgtEl>
                                          <p:spTgt spid="202"/>
                                        </p:tgtEl>
                                        <p:attrNameLst>
                                          <p:attrName>style.visibility</p:attrName>
                                        </p:attrNameLst>
                                      </p:cBhvr>
                                      <p:to>
                                        <p:strVal val="visible"/>
                                      </p:to>
                                    </p:set>
                                    <p:animEffect transition="in" filter="wipe(down)">
                                      <p:cBhvr>
                                        <p:cTn id="40" dur="2000"/>
                                        <p:tgtEl>
                                          <p:spTgt spid="202"/>
                                        </p:tgtEl>
                                      </p:cBhvr>
                                    </p:animEffect>
                                  </p:childTnLst>
                                </p:cTn>
                              </p:par>
                            </p:childTnLst>
                          </p:cTn>
                        </p:par>
                        <p:par>
                          <p:cTn id="41" fill="hold" nodeType="afterGroup">
                            <p:stCondLst>
                              <p:cond delay="11000"/>
                            </p:stCondLst>
                            <p:childTnLst>
                              <p:par>
                                <p:cTn id="42" presetID="22" presetClass="entr" presetSubtype="8" fill="hold" nodeType="afterEffect">
                                  <p:stCondLst>
                                    <p:cond delay="0"/>
                                  </p:stCondLst>
                                  <p:childTnLst>
                                    <p:set>
                                      <p:cBhvr>
                                        <p:cTn id="43" dur="1" fill="hold">
                                          <p:stCondLst>
                                            <p:cond delay="0"/>
                                          </p:stCondLst>
                                        </p:cTn>
                                        <p:tgtEl>
                                          <p:spTgt spid="203"/>
                                        </p:tgtEl>
                                        <p:attrNameLst>
                                          <p:attrName>style.visibility</p:attrName>
                                        </p:attrNameLst>
                                      </p:cBhvr>
                                      <p:to>
                                        <p:strVal val="visible"/>
                                      </p:to>
                                    </p:set>
                                    <p:animEffect transition="in" filter="wipe(left)">
                                      <p:cBhvr>
                                        <p:cTn id="44" dur="1000"/>
                                        <p:tgtEl>
                                          <p:spTgt spid="203"/>
                                        </p:tgtEl>
                                      </p:cBhvr>
                                    </p:animEffect>
                                  </p:childTnLst>
                                </p:cTn>
                              </p:par>
                            </p:childTnLst>
                          </p:cTn>
                        </p:par>
                        <p:par>
                          <p:cTn id="45" fill="hold" nodeType="afterGroup">
                            <p:stCondLst>
                              <p:cond delay="12000"/>
                            </p:stCondLst>
                            <p:childTnLst>
                              <p:par>
                                <p:cTn id="46" presetID="22" presetClass="entr" presetSubtype="1" fill="hold" nodeType="afterEffect">
                                  <p:stCondLst>
                                    <p:cond delay="0"/>
                                  </p:stCondLst>
                                  <p:childTnLst>
                                    <p:set>
                                      <p:cBhvr>
                                        <p:cTn id="47" dur="1" fill="hold">
                                          <p:stCondLst>
                                            <p:cond delay="0"/>
                                          </p:stCondLst>
                                        </p:cTn>
                                        <p:tgtEl>
                                          <p:spTgt spid="211"/>
                                        </p:tgtEl>
                                        <p:attrNameLst>
                                          <p:attrName>style.visibility</p:attrName>
                                        </p:attrNameLst>
                                      </p:cBhvr>
                                      <p:to>
                                        <p:strVal val="visible"/>
                                      </p:to>
                                    </p:set>
                                    <p:animEffect transition="in" filter="wipe(up)">
                                      <p:cBhvr>
                                        <p:cTn id="48" dur="2000"/>
                                        <p:tgtEl>
                                          <p:spTgt spid="211"/>
                                        </p:tgtEl>
                                      </p:cBhvr>
                                    </p:animEffect>
                                  </p:childTnLst>
                                </p:cTn>
                              </p:par>
                            </p:childTnLst>
                          </p:cTn>
                        </p:par>
                        <p:par>
                          <p:cTn id="49" fill="hold" nodeType="afterGroup">
                            <p:stCondLst>
                              <p:cond delay="14000"/>
                            </p:stCondLst>
                            <p:childTnLst>
                              <p:par>
                                <p:cTn id="50" presetID="22" presetClass="entr" presetSubtype="8" fill="hold" nodeType="afterEffect">
                                  <p:stCondLst>
                                    <p:cond delay="0"/>
                                  </p:stCondLst>
                                  <p:childTnLst>
                                    <p:set>
                                      <p:cBhvr>
                                        <p:cTn id="51" dur="1" fill="hold">
                                          <p:stCondLst>
                                            <p:cond delay="0"/>
                                          </p:stCondLst>
                                        </p:cTn>
                                        <p:tgtEl>
                                          <p:spTgt spid="206"/>
                                        </p:tgtEl>
                                        <p:attrNameLst>
                                          <p:attrName>style.visibility</p:attrName>
                                        </p:attrNameLst>
                                      </p:cBhvr>
                                      <p:to>
                                        <p:strVal val="visible"/>
                                      </p:to>
                                    </p:set>
                                    <p:animEffect transition="in" filter="wipe(left)">
                                      <p:cBhvr>
                                        <p:cTn id="52" dur="1000"/>
                                        <p:tgtEl>
                                          <p:spTgt spid="20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217"/>
                                        </p:tgtEl>
                                        <p:attrNameLst>
                                          <p:attrName>style.visibility</p:attrName>
                                        </p:attrNameLst>
                                      </p:cBhvr>
                                      <p:to>
                                        <p:strVal val="visible"/>
                                      </p:to>
                                    </p:set>
                                    <p:animEffect transition="in" filter="wipe(left)">
                                      <p:cBhvr>
                                        <p:cTn id="57" dur="2000"/>
                                        <p:tgtEl>
                                          <p:spTgt spid="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8" name="Picture 176">
            <a:extLst>
              <a:ext uri="{FF2B5EF4-FFF2-40B4-BE49-F238E27FC236}">
                <a16:creationId xmlns:a16="http://schemas.microsoft.com/office/drawing/2014/main" id="{F325715D-C357-AA97-A0AE-9F140F0D32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7491"/>
          <a:stretch>
            <a:fillRect/>
          </a:stretch>
        </p:blipFill>
        <p:spPr bwMode="auto">
          <a:xfrm>
            <a:off x="2214563" y="401638"/>
            <a:ext cx="6592887" cy="495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280" name="Picture 184">
            <a:extLst>
              <a:ext uri="{FF2B5EF4-FFF2-40B4-BE49-F238E27FC236}">
                <a16:creationId xmlns:a16="http://schemas.microsoft.com/office/drawing/2014/main" id="{673B1871-C221-6725-F802-181B13AB37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 y="5099050"/>
            <a:ext cx="6072188"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0" name="矩形 189">
            <a:extLst>
              <a:ext uri="{FF2B5EF4-FFF2-40B4-BE49-F238E27FC236}">
                <a16:creationId xmlns:a16="http://schemas.microsoft.com/office/drawing/2014/main" id="{38028D8B-9B9F-1F4C-882E-F9F884CFB6BB}"/>
              </a:ext>
            </a:extLst>
          </p:cNvPr>
          <p:cNvSpPr/>
          <p:nvPr/>
        </p:nvSpPr>
        <p:spPr>
          <a:xfrm>
            <a:off x="500063" y="500063"/>
            <a:ext cx="3000375" cy="541337"/>
          </a:xfrm>
          <a:prstGeom prst="rect">
            <a:avLst/>
          </a:prstGeom>
          <a:noFill/>
          <a:effectLst>
            <a:outerShdw blurRad="50800" dist="38100" dir="2700000" algn="tl" rotWithShape="0">
              <a:prstClr val="black">
                <a:alpha val="40000"/>
              </a:prstClr>
            </a:outerShdw>
          </a:effectLst>
        </p:spPr>
        <p:txBody>
          <a:bodyPr>
            <a:spAutoFit/>
          </a:bodyPr>
          <a:lstStyle/>
          <a:p>
            <a:pPr marL="228600" lvl="1" indent="-228600">
              <a:lnSpc>
                <a:spcPts val="3500"/>
              </a:lnSpc>
              <a:spcBef>
                <a:spcPct val="20000"/>
              </a:spcBef>
              <a:buClr>
                <a:srgbClr val="FF0000"/>
              </a:buClr>
              <a:buSzPct val="75000"/>
              <a:defRPr/>
            </a:pPr>
            <a:r>
              <a:rPr kumimoji="0" lang="en-US" altLang="zh-CN" sz="2400" kern="0" dirty="0">
                <a:solidFill>
                  <a:srgbClr val="003399"/>
                </a:solidFill>
                <a:latin typeface="Arial" pitchFamily="34" charset="0"/>
                <a:ea typeface="微软雅黑" pitchFamily="34" charset="-122"/>
                <a:cs typeface="Arial" pitchFamily="34" charset="0"/>
              </a:rPr>
              <a:t> (3, 1, 3)</a:t>
            </a:r>
            <a:r>
              <a:rPr kumimoji="0" lang="en-US" altLang="zh-CN" sz="2400" kern="0" dirty="0">
                <a:solidFill>
                  <a:schemeClr val="tx1"/>
                </a:solidFill>
                <a:latin typeface="Arial" pitchFamily="34" charset="0"/>
                <a:ea typeface="微软雅黑" pitchFamily="34" charset="-122"/>
                <a:cs typeface="Arial" pitchFamily="34" charset="0"/>
              </a:rPr>
              <a:t> </a:t>
            </a:r>
            <a:r>
              <a:rPr lang="zh-CN" altLang="en-US" sz="2400" b="0" dirty="0">
                <a:solidFill>
                  <a:srgbClr val="FF0000"/>
                </a:solidFill>
                <a:latin typeface="Arial" pitchFamily="34" charset="0"/>
                <a:ea typeface="微软雅黑" pitchFamily="34" charset="-122"/>
                <a:cs typeface="Arial" pitchFamily="34" charset="0"/>
              </a:rPr>
              <a:t>码树图</a:t>
            </a:r>
            <a:r>
              <a:rPr lang="zh-CN" altLang="en-US" sz="2400" b="0" dirty="0">
                <a:solidFill>
                  <a:srgbClr val="FF0000"/>
                </a:solidFill>
                <a:latin typeface="+mn-ea"/>
                <a:ea typeface="+mn-ea"/>
                <a:cs typeface="Arial" pitchFamily="34" charset="0"/>
              </a:rPr>
              <a:t>：</a:t>
            </a:r>
            <a:endParaRPr kumimoji="0" lang="zh-CN" altLang="en-US" sz="2400" b="0" kern="0" dirty="0">
              <a:solidFill>
                <a:srgbClr val="FF0000"/>
              </a:solidFill>
              <a:latin typeface="+mn-ea"/>
              <a:ea typeface="+mn-ea"/>
              <a:cs typeface="Arial" pitchFamily="34" charset="0"/>
            </a:endParaRPr>
          </a:p>
        </p:txBody>
      </p:sp>
      <p:grpSp>
        <p:nvGrpSpPr>
          <p:cNvPr id="2" name="组合 57">
            <a:extLst>
              <a:ext uri="{FF2B5EF4-FFF2-40B4-BE49-F238E27FC236}">
                <a16:creationId xmlns:a16="http://schemas.microsoft.com/office/drawing/2014/main" id="{ECB8CD71-2462-1467-FAAE-2532483C7AC2}"/>
              </a:ext>
            </a:extLst>
          </p:cNvPr>
          <p:cNvGrpSpPr>
            <a:grpSpLocks/>
          </p:cNvGrpSpPr>
          <p:nvPr/>
        </p:nvGrpSpPr>
        <p:grpSpPr bwMode="auto">
          <a:xfrm>
            <a:off x="620713" y="4857750"/>
            <a:ext cx="933450" cy="571500"/>
            <a:chOff x="2495088" y="3214687"/>
            <a:chExt cx="933911" cy="571484"/>
          </a:xfrm>
        </p:grpSpPr>
        <p:sp>
          <p:nvSpPr>
            <p:cNvPr id="210" name="椭圆 209">
              <a:extLst>
                <a:ext uri="{FF2B5EF4-FFF2-40B4-BE49-F238E27FC236}">
                  <a16:creationId xmlns:a16="http://schemas.microsoft.com/office/drawing/2014/main" id="{6C49FC42-C16C-BE78-1239-E9F9E71BDED6}"/>
                </a:ext>
              </a:extLst>
            </p:cNvPr>
            <p:cNvSpPr/>
            <p:nvPr/>
          </p:nvSpPr>
          <p:spPr bwMode="auto">
            <a:xfrm>
              <a:off x="2499852" y="3214687"/>
              <a:ext cx="929147" cy="571484"/>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lstStyle/>
            <a:p>
              <a:pPr>
                <a:defRPr/>
              </a:pPr>
              <a:endParaRPr lang="zh-CN" altLang="en-US" dirty="0"/>
            </a:p>
          </p:txBody>
        </p:sp>
        <p:sp>
          <p:nvSpPr>
            <p:cNvPr id="219" name="矩形 218">
              <a:extLst>
                <a:ext uri="{FF2B5EF4-FFF2-40B4-BE49-F238E27FC236}">
                  <a16:creationId xmlns:a16="http://schemas.microsoft.com/office/drawing/2014/main" id="{D18657A8-E5D5-ED49-293B-B3D934E8E3C5}"/>
                </a:ext>
              </a:extLst>
            </p:cNvPr>
            <p:cNvSpPr/>
            <p:nvPr/>
          </p:nvSpPr>
          <p:spPr>
            <a:xfrm>
              <a:off x="2495088" y="3257549"/>
              <a:ext cx="921205" cy="461949"/>
            </a:xfrm>
            <a:prstGeom prst="rect">
              <a:avLst/>
            </a:prstGeom>
          </p:spPr>
          <p:txBody>
            <a:bodyPr wrap="none">
              <a:spAutoFit/>
            </a:bodyPr>
            <a:lstStyle/>
            <a:p>
              <a:pPr>
                <a:defRPr/>
              </a:pPr>
              <a:r>
                <a:rPr kumimoji="0" lang="zh-CN" altLang="en-US" sz="2400" kern="0" dirty="0">
                  <a:solidFill>
                    <a:srgbClr val="FF0000"/>
                  </a:solidFill>
                  <a:latin typeface="宋体" pitchFamily="2" charset="-122"/>
                  <a:ea typeface="宋体"/>
                </a:rPr>
                <a:t>观察</a:t>
              </a:r>
              <a:r>
                <a:rPr kumimoji="0" lang="en-US" altLang="zh-CN" sz="1800" kern="0" dirty="0">
                  <a:solidFill>
                    <a:srgbClr val="FF0000"/>
                  </a:solidFill>
                  <a:latin typeface="宋体" pitchFamily="2" charset="-122"/>
                  <a:ea typeface="宋体"/>
                </a:rPr>
                <a:t>3</a:t>
              </a:r>
              <a:endParaRPr lang="zh-CN" altLang="en-US" sz="1800" dirty="0">
                <a:solidFill>
                  <a:srgbClr val="FF0000"/>
                </a:solidFill>
              </a:endParaRPr>
            </a:p>
          </p:txBody>
        </p:sp>
      </p:grpSp>
      <p:pic>
        <p:nvPicPr>
          <p:cNvPr id="132102" name="Picture 189">
            <a:extLst>
              <a:ext uri="{FF2B5EF4-FFF2-40B4-BE49-F238E27FC236}">
                <a16:creationId xmlns:a16="http://schemas.microsoft.com/office/drawing/2014/main" id="{9167A6A9-898A-678A-C8A3-1291BF571D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2928938"/>
            <a:ext cx="1530350" cy="159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03" name="Picture 175">
            <a:extLst>
              <a:ext uri="{FF2B5EF4-FFF2-40B4-BE49-F238E27FC236}">
                <a16:creationId xmlns:a16="http://schemas.microsoft.com/office/drawing/2014/main" id="{BC2F2F64-95A6-9846-0E03-B7CCFFD06F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9925" y="1030288"/>
            <a:ext cx="292893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132280"/>
                                        </p:tgtEl>
                                        <p:attrNameLst>
                                          <p:attrName>style.visibility</p:attrName>
                                        </p:attrNameLst>
                                      </p:cBhvr>
                                      <p:to>
                                        <p:strVal val="visible"/>
                                      </p:to>
                                    </p:set>
                                    <p:animEffect transition="in" filter="wipe(up)">
                                      <p:cBhvr>
                                        <p:cTn id="11" dur="2000"/>
                                        <p:tgtEl>
                                          <p:spTgt spid="1322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22" name="Picture 176">
            <a:extLst>
              <a:ext uri="{FF2B5EF4-FFF2-40B4-BE49-F238E27FC236}">
                <a16:creationId xmlns:a16="http://schemas.microsoft.com/office/drawing/2014/main" id="{34F4C1E3-095C-CFD5-85D7-F45EA874C2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7491"/>
          <a:stretch>
            <a:fillRect/>
          </a:stretch>
        </p:blipFill>
        <p:spPr bwMode="auto">
          <a:xfrm>
            <a:off x="2357438" y="1044575"/>
            <a:ext cx="6592887" cy="495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3123" name="直接连接符 187">
            <a:extLst>
              <a:ext uri="{FF2B5EF4-FFF2-40B4-BE49-F238E27FC236}">
                <a16:creationId xmlns:a16="http://schemas.microsoft.com/office/drawing/2014/main" id="{F2BF95E4-79E1-4667-942B-F912DE20E896}"/>
              </a:ext>
            </a:extLst>
          </p:cNvPr>
          <p:cNvCxnSpPr>
            <a:cxnSpLocks noChangeShapeType="1"/>
          </p:cNvCxnSpPr>
          <p:nvPr/>
        </p:nvCxnSpPr>
        <p:spPr bwMode="auto">
          <a:xfrm>
            <a:off x="3457575" y="3757613"/>
            <a:ext cx="890588" cy="4762"/>
          </a:xfrm>
          <a:prstGeom prst="line">
            <a:avLst/>
          </a:prstGeom>
          <a:noFill/>
          <a:ln w="2857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133124" name="直接连接符 190">
            <a:extLst>
              <a:ext uri="{FF2B5EF4-FFF2-40B4-BE49-F238E27FC236}">
                <a16:creationId xmlns:a16="http://schemas.microsoft.com/office/drawing/2014/main" id="{2251FD6C-2C30-2C79-F01D-FC57A831E2E5}"/>
              </a:ext>
            </a:extLst>
          </p:cNvPr>
          <p:cNvCxnSpPr>
            <a:cxnSpLocks noChangeShapeType="1"/>
          </p:cNvCxnSpPr>
          <p:nvPr/>
        </p:nvCxnSpPr>
        <p:spPr bwMode="auto">
          <a:xfrm rot="5400000">
            <a:off x="3842544" y="4271169"/>
            <a:ext cx="1000125" cy="1587"/>
          </a:xfrm>
          <a:prstGeom prst="line">
            <a:avLst/>
          </a:prstGeom>
          <a:noFill/>
          <a:ln w="2857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133125" name="直接连接符 192">
            <a:extLst>
              <a:ext uri="{FF2B5EF4-FFF2-40B4-BE49-F238E27FC236}">
                <a16:creationId xmlns:a16="http://schemas.microsoft.com/office/drawing/2014/main" id="{65448060-46C1-4D0F-A1B0-A1A6A456FB85}"/>
              </a:ext>
            </a:extLst>
          </p:cNvPr>
          <p:cNvCxnSpPr>
            <a:cxnSpLocks noChangeShapeType="1"/>
          </p:cNvCxnSpPr>
          <p:nvPr/>
        </p:nvCxnSpPr>
        <p:spPr bwMode="auto">
          <a:xfrm>
            <a:off x="4343400" y="4772025"/>
            <a:ext cx="890588" cy="4763"/>
          </a:xfrm>
          <a:prstGeom prst="line">
            <a:avLst/>
          </a:prstGeom>
          <a:noFill/>
          <a:ln w="2857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133126" name="直接连接符 196">
            <a:extLst>
              <a:ext uri="{FF2B5EF4-FFF2-40B4-BE49-F238E27FC236}">
                <a16:creationId xmlns:a16="http://schemas.microsoft.com/office/drawing/2014/main" id="{124FCF46-9226-7998-F33E-BB0918C1941F}"/>
              </a:ext>
            </a:extLst>
          </p:cNvPr>
          <p:cNvCxnSpPr>
            <a:cxnSpLocks noChangeShapeType="1"/>
          </p:cNvCxnSpPr>
          <p:nvPr/>
        </p:nvCxnSpPr>
        <p:spPr bwMode="auto">
          <a:xfrm rot="5400000" flipH="1" flipV="1">
            <a:off x="4953000" y="5054600"/>
            <a:ext cx="573088" cy="1588"/>
          </a:xfrm>
          <a:prstGeom prst="line">
            <a:avLst/>
          </a:prstGeom>
          <a:noFill/>
          <a:ln w="2857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133127" name="直接连接符 197">
            <a:extLst>
              <a:ext uri="{FF2B5EF4-FFF2-40B4-BE49-F238E27FC236}">
                <a16:creationId xmlns:a16="http://schemas.microsoft.com/office/drawing/2014/main" id="{B41F2A13-6269-ADC1-5F8B-88A549BC8F55}"/>
              </a:ext>
            </a:extLst>
          </p:cNvPr>
          <p:cNvCxnSpPr>
            <a:cxnSpLocks noChangeShapeType="1"/>
          </p:cNvCxnSpPr>
          <p:nvPr/>
        </p:nvCxnSpPr>
        <p:spPr bwMode="auto">
          <a:xfrm>
            <a:off x="5237163" y="5343525"/>
            <a:ext cx="892175" cy="4763"/>
          </a:xfrm>
          <a:prstGeom prst="line">
            <a:avLst/>
          </a:prstGeom>
          <a:noFill/>
          <a:ln w="2857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133128" name="直接连接符 201">
            <a:extLst>
              <a:ext uri="{FF2B5EF4-FFF2-40B4-BE49-F238E27FC236}">
                <a16:creationId xmlns:a16="http://schemas.microsoft.com/office/drawing/2014/main" id="{A1EBE67C-47C9-3626-F6E2-1A7C13497E5E}"/>
              </a:ext>
            </a:extLst>
          </p:cNvPr>
          <p:cNvCxnSpPr>
            <a:cxnSpLocks noChangeShapeType="1"/>
          </p:cNvCxnSpPr>
          <p:nvPr/>
        </p:nvCxnSpPr>
        <p:spPr bwMode="auto">
          <a:xfrm rot="5400000">
            <a:off x="5958682" y="5242719"/>
            <a:ext cx="285750" cy="1587"/>
          </a:xfrm>
          <a:prstGeom prst="line">
            <a:avLst/>
          </a:prstGeom>
          <a:noFill/>
          <a:ln w="2857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133129" name="直接连接符 202">
            <a:extLst>
              <a:ext uri="{FF2B5EF4-FFF2-40B4-BE49-F238E27FC236}">
                <a16:creationId xmlns:a16="http://schemas.microsoft.com/office/drawing/2014/main" id="{12F0B1FF-CA7B-64E0-7A44-5CE13A9FCE5B}"/>
              </a:ext>
            </a:extLst>
          </p:cNvPr>
          <p:cNvCxnSpPr>
            <a:cxnSpLocks noChangeShapeType="1"/>
          </p:cNvCxnSpPr>
          <p:nvPr/>
        </p:nvCxnSpPr>
        <p:spPr bwMode="auto">
          <a:xfrm>
            <a:off x="6100763" y="5100638"/>
            <a:ext cx="892175" cy="4762"/>
          </a:xfrm>
          <a:prstGeom prst="line">
            <a:avLst/>
          </a:prstGeom>
          <a:noFill/>
          <a:ln w="2857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133130" name="直接连接符 205">
            <a:extLst>
              <a:ext uri="{FF2B5EF4-FFF2-40B4-BE49-F238E27FC236}">
                <a16:creationId xmlns:a16="http://schemas.microsoft.com/office/drawing/2014/main" id="{B1C0AFF1-B884-91A3-5DB9-BFC8BC35A311}"/>
              </a:ext>
            </a:extLst>
          </p:cNvPr>
          <p:cNvCxnSpPr>
            <a:cxnSpLocks noChangeShapeType="1"/>
          </p:cNvCxnSpPr>
          <p:nvPr/>
        </p:nvCxnSpPr>
        <p:spPr bwMode="auto">
          <a:xfrm>
            <a:off x="7000875" y="5229225"/>
            <a:ext cx="890588" cy="4763"/>
          </a:xfrm>
          <a:prstGeom prst="line">
            <a:avLst/>
          </a:prstGeom>
          <a:noFill/>
          <a:ln w="2857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133131" name="直接连接符 210">
            <a:extLst>
              <a:ext uri="{FF2B5EF4-FFF2-40B4-BE49-F238E27FC236}">
                <a16:creationId xmlns:a16="http://schemas.microsoft.com/office/drawing/2014/main" id="{12CEC023-FE15-EA03-5346-E496FDAA6433}"/>
              </a:ext>
            </a:extLst>
          </p:cNvPr>
          <p:cNvCxnSpPr>
            <a:cxnSpLocks noChangeShapeType="1"/>
          </p:cNvCxnSpPr>
          <p:nvPr/>
        </p:nvCxnSpPr>
        <p:spPr bwMode="auto">
          <a:xfrm rot="5400000">
            <a:off x="6944519" y="5142707"/>
            <a:ext cx="142875" cy="1587"/>
          </a:xfrm>
          <a:prstGeom prst="line">
            <a:avLst/>
          </a:prstGeom>
          <a:noFill/>
          <a:ln w="28575" algn="ctr">
            <a:solidFill>
              <a:srgbClr val="FF0000"/>
            </a:solidFill>
            <a:miter lim="800000"/>
            <a:headEnd/>
            <a:tailEnd/>
          </a:ln>
          <a:extLst>
            <a:ext uri="{909E8E84-426E-40DD-AFC4-6F175D3DCCD1}">
              <a14:hiddenFill xmlns:a14="http://schemas.microsoft.com/office/drawing/2010/main">
                <a:noFill/>
              </a14:hiddenFill>
            </a:ext>
          </a:extLst>
        </p:spPr>
      </p:cxnSp>
      <p:sp>
        <p:nvSpPr>
          <p:cNvPr id="212" name="Text Box 59">
            <a:extLst>
              <a:ext uri="{FF2B5EF4-FFF2-40B4-BE49-F238E27FC236}">
                <a16:creationId xmlns:a16="http://schemas.microsoft.com/office/drawing/2014/main" id="{ED17583D-D163-FC32-513D-4808EAC0DDE5}"/>
              </a:ext>
            </a:extLst>
          </p:cNvPr>
          <p:cNvSpPr txBox="1">
            <a:spLocks noChangeArrowheads="1"/>
          </p:cNvSpPr>
          <p:nvPr/>
        </p:nvSpPr>
        <p:spPr bwMode="auto">
          <a:xfrm>
            <a:off x="3286125" y="5729288"/>
            <a:ext cx="5214938" cy="357187"/>
          </a:xfrm>
          <a:prstGeom prst="rect">
            <a:avLst/>
          </a:prstGeom>
          <a:noFill/>
          <a:ln w="9525">
            <a:noFill/>
            <a:miter lim="800000"/>
            <a:headEnd/>
            <a:tailEnd/>
          </a:ln>
        </p:spPr>
        <p:txBody>
          <a:bodyPr/>
          <a:lstStyle/>
          <a:p>
            <a:pPr algn="just">
              <a:defRPr/>
            </a:pPr>
            <a:r>
              <a:rPr lang="zh-CN" altLang="en-US" sz="2800" baseline="30000" dirty="0">
                <a:solidFill>
                  <a:srgbClr val="0000CC"/>
                </a:solidFill>
                <a:latin typeface="Arial" pitchFamily="34" charset="0"/>
                <a:ea typeface="微软雅黑" pitchFamily="34" charset="-122"/>
                <a:cs typeface="Arial" pitchFamily="34" charset="0"/>
              </a:rPr>
              <a:t>若信息位</a:t>
            </a:r>
            <a:r>
              <a:rPr lang="zh-CN" altLang="en-US" sz="2400" baseline="3000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r>
              <a:rPr lang="en-US" altLang="zh-CN" sz="2400" baseline="3000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1	     1	     0	      1 </a:t>
            </a:r>
            <a:endParaRPr lang="en-US" altLang="zh-CN" sz="240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p:txBody>
      </p:sp>
      <p:sp>
        <p:nvSpPr>
          <p:cNvPr id="217" name="Text Box 59">
            <a:extLst>
              <a:ext uri="{FF2B5EF4-FFF2-40B4-BE49-F238E27FC236}">
                <a16:creationId xmlns:a16="http://schemas.microsoft.com/office/drawing/2014/main" id="{705E5082-E2DC-57EC-9763-8A3BEE2B8E25}"/>
              </a:ext>
            </a:extLst>
          </p:cNvPr>
          <p:cNvSpPr txBox="1">
            <a:spLocks noChangeArrowheads="1"/>
          </p:cNvSpPr>
          <p:nvPr/>
        </p:nvSpPr>
        <p:spPr bwMode="auto">
          <a:xfrm>
            <a:off x="3286125" y="6042025"/>
            <a:ext cx="5214938" cy="312738"/>
          </a:xfrm>
          <a:prstGeom prst="rect">
            <a:avLst/>
          </a:prstGeom>
          <a:noFill/>
          <a:ln w="9525">
            <a:noFill/>
            <a:miter lim="800000"/>
            <a:headEnd/>
            <a:tailEnd/>
          </a:ln>
        </p:spPr>
        <p:txBody>
          <a:bodyPr/>
          <a:lstStyle/>
          <a:p>
            <a:pPr algn="just">
              <a:defRPr/>
            </a:pPr>
            <a:r>
              <a:rPr lang="zh-CN" altLang="en-US" sz="2800" baseline="30000" dirty="0">
                <a:solidFill>
                  <a:srgbClr val="FF0000"/>
                </a:solidFill>
                <a:latin typeface="Arial" pitchFamily="34" charset="0"/>
                <a:ea typeface="微软雅黑" pitchFamily="34" charset="-122"/>
                <a:cs typeface="Arial" pitchFamily="34" charset="0"/>
              </a:rPr>
              <a:t>编码输出    </a:t>
            </a:r>
            <a:r>
              <a:rPr lang="en-US" altLang="zh-CN" sz="2800" baseline="30000" dirty="0">
                <a:solidFill>
                  <a:srgbClr val="FF0000"/>
                </a:solidFill>
                <a:latin typeface="Arial" pitchFamily="34" charset="0"/>
                <a:ea typeface="微软雅黑" pitchFamily="34" charset="-122"/>
                <a:cs typeface="Arial" pitchFamily="34" charset="0"/>
              </a:rPr>
              <a:t>111      110        </a:t>
            </a:r>
            <a:r>
              <a:rPr lang="en-US" altLang="zh-CN" sz="2800" dirty="0">
                <a:solidFill>
                  <a:srgbClr val="FF0000"/>
                </a:solidFill>
                <a:latin typeface="Arial" pitchFamily="34" charset="0"/>
                <a:ea typeface="微软雅黑" pitchFamily="34" charset="-122"/>
                <a:cs typeface="Arial" pitchFamily="34" charset="0"/>
              </a:rPr>
              <a:t> </a:t>
            </a:r>
            <a:r>
              <a:rPr lang="en-US" altLang="zh-CN" sz="2800" baseline="30000" dirty="0">
                <a:solidFill>
                  <a:srgbClr val="FF0000"/>
                </a:solidFill>
                <a:latin typeface="Arial" pitchFamily="34" charset="0"/>
                <a:ea typeface="微软雅黑" pitchFamily="34" charset="-122"/>
                <a:cs typeface="Arial" pitchFamily="34" charset="0"/>
              </a:rPr>
              <a:t>010         100</a:t>
            </a:r>
            <a:r>
              <a:rPr lang="zh-CN" altLang="en-US" sz="2400" baseline="3000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endParaRPr lang="en-US" altLang="zh-CN" sz="240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p:txBody>
      </p:sp>
      <p:sp>
        <p:nvSpPr>
          <p:cNvPr id="192" name="内容占位符 2">
            <a:extLst>
              <a:ext uri="{FF2B5EF4-FFF2-40B4-BE49-F238E27FC236}">
                <a16:creationId xmlns:a16="http://schemas.microsoft.com/office/drawing/2014/main" id="{51B84C26-5636-F315-51C5-E406B2A973AC}"/>
              </a:ext>
            </a:extLst>
          </p:cNvPr>
          <p:cNvSpPr txBox="1">
            <a:spLocks/>
          </p:cNvSpPr>
          <p:nvPr/>
        </p:nvSpPr>
        <p:spPr bwMode="auto">
          <a:xfrm>
            <a:off x="428625" y="428625"/>
            <a:ext cx="8174038" cy="571500"/>
          </a:xfrm>
          <a:prstGeom prst="rect">
            <a:avLst/>
          </a:prstGeom>
          <a:solidFill>
            <a:schemeClr val="bg2">
              <a:lumMod val="10000"/>
              <a:lumOff val="90000"/>
            </a:schemeClr>
          </a:solidFill>
          <a:ln w="9525">
            <a:noFill/>
            <a:miter lim="800000"/>
            <a:headEnd/>
            <a:tailEnd/>
          </a:ln>
          <a:effectLst>
            <a:outerShdw blurRad="50800" dist="38100" dir="2700000" algn="tl" rotWithShape="0">
              <a:prstClr val="black">
                <a:alpha val="40000"/>
              </a:prstClr>
            </a:outerShdw>
          </a:effectLst>
        </p:spPr>
        <p:txBody>
          <a:bodyPr/>
          <a:lstStyle/>
          <a:p>
            <a:pPr marL="342900" indent="-342900" eaLnBrk="0" hangingPunct="0">
              <a:lnSpc>
                <a:spcPct val="150000"/>
              </a:lnSpc>
              <a:spcBef>
                <a:spcPct val="20000"/>
              </a:spcBef>
              <a:buClr>
                <a:schemeClr val="folHlink"/>
              </a:buClr>
              <a:buSzPct val="60000"/>
              <a:buFont typeface="Wingdings" pitchFamily="2" charset="2"/>
              <a:buChar char="n"/>
              <a:defRPr/>
            </a:pPr>
            <a:r>
              <a:rPr kumimoji="0" lang="zh-CN" altLang="en-US" sz="2400" b="0" kern="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码树图</a:t>
            </a:r>
            <a:r>
              <a:rPr kumimoji="0" lang="zh-CN" altLang="en-US" sz="24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原则上还可以用于</a:t>
            </a:r>
            <a:r>
              <a:rPr kumimoji="0" lang="zh-CN" altLang="en-US" sz="2400" b="0" kern="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解码</a:t>
            </a:r>
            <a:r>
              <a:rPr kumimoji="0" lang="zh-CN" altLang="en-US" sz="24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a:t>
            </a:r>
            <a:endParaRPr kumimoji="0" lang="zh-CN" altLang="en-US" sz="2400" b="0" kern="0"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endParaRPr>
          </a:p>
        </p:txBody>
      </p:sp>
      <p:sp>
        <p:nvSpPr>
          <p:cNvPr id="195" name="矩形 194">
            <a:extLst>
              <a:ext uri="{FF2B5EF4-FFF2-40B4-BE49-F238E27FC236}">
                <a16:creationId xmlns:a16="http://schemas.microsoft.com/office/drawing/2014/main" id="{DF4EA35A-F0A1-85B4-AD05-09B7354F84EE}"/>
              </a:ext>
            </a:extLst>
          </p:cNvPr>
          <p:cNvSpPr/>
          <p:nvPr/>
        </p:nvSpPr>
        <p:spPr>
          <a:xfrm>
            <a:off x="1857375" y="6029325"/>
            <a:ext cx="1500188" cy="400050"/>
          </a:xfrm>
          <a:prstGeom prst="rect">
            <a:avLst/>
          </a:prstGeom>
        </p:spPr>
        <p:txBody>
          <a:bodyPr>
            <a:spAutoFit/>
          </a:bodyPr>
          <a:lstStyle/>
          <a:p>
            <a:pPr>
              <a:defRPr/>
            </a:pPr>
            <a:r>
              <a:rPr kumimoji="0" lang="zh-CN" altLang="en-US" sz="2000" b="0" kern="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发送序列</a:t>
            </a:r>
            <a:r>
              <a:rPr kumimoji="0" lang="en-US" altLang="zh-CN" sz="2000" dirty="0">
                <a:solidFill>
                  <a:srgbClr val="FF0000"/>
                </a:solidFill>
                <a:latin typeface="Cambria Math"/>
                <a:ea typeface="Cambria Math"/>
                <a:cs typeface="Arial" pitchFamily="34" charset="0"/>
                <a:sym typeface="Symbol" pitchFamily="18" charset="2"/>
              </a:rPr>
              <a:t>⟵</a:t>
            </a:r>
            <a:endParaRPr lang="zh-CN" altLang="en-US" sz="2000" dirty="0">
              <a:solidFill>
                <a:srgbClr val="FF0000"/>
              </a:solidFill>
              <a:effectLst>
                <a:outerShdw blurRad="38100" dist="38100" dir="2700000" algn="tl">
                  <a:srgbClr val="000000">
                    <a:alpha val="43137"/>
                  </a:srgbClr>
                </a:outerShdw>
              </a:effectLst>
            </a:endParaRPr>
          </a:p>
        </p:txBody>
      </p:sp>
      <p:pic>
        <p:nvPicPr>
          <p:cNvPr id="133301" name="Picture 181">
            <a:extLst>
              <a:ext uri="{FF2B5EF4-FFF2-40B4-BE49-F238E27FC236}">
                <a16:creationId xmlns:a16="http://schemas.microsoft.com/office/drawing/2014/main" id="{98A7C307-6341-9C36-BBC8-E617D35137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088" y="1131888"/>
            <a:ext cx="8358187" cy="235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92"/>
                                        </p:tgtEl>
                                        <p:attrNameLst>
                                          <p:attrName>style.visibility</p:attrName>
                                        </p:attrNameLst>
                                      </p:cBhvr>
                                      <p:to>
                                        <p:strVal val="visible"/>
                                      </p:to>
                                    </p:set>
                                    <p:animEffect transition="in" filter="wipe(up)">
                                      <p:cBhvr>
                                        <p:cTn id="7" dur="1000"/>
                                        <p:tgtEl>
                                          <p:spTgt spid="1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33301"/>
                                        </p:tgtEl>
                                        <p:attrNameLst>
                                          <p:attrName>style.visibility</p:attrName>
                                        </p:attrNameLst>
                                      </p:cBhvr>
                                      <p:to>
                                        <p:strVal val="visible"/>
                                      </p:to>
                                    </p:set>
                                    <p:animEffect transition="in" filter="wipe(up)">
                                      <p:cBhvr>
                                        <p:cTn id="12" dur="1000"/>
                                        <p:tgtEl>
                                          <p:spTgt spid="133301"/>
                                        </p:tgtEl>
                                      </p:cBhvr>
                                    </p:animEffect>
                                  </p:childTnLst>
                                </p:cTn>
                              </p:par>
                              <p:par>
                                <p:cTn id="13" presetID="22" presetClass="entr" presetSubtype="2" fill="hold" nodeType="withEffect">
                                  <p:stCondLst>
                                    <p:cond delay="0"/>
                                  </p:stCondLst>
                                  <p:childTnLst>
                                    <p:set>
                                      <p:cBhvr>
                                        <p:cTn id="14" dur="1" fill="hold">
                                          <p:stCondLst>
                                            <p:cond delay="0"/>
                                          </p:stCondLst>
                                        </p:cTn>
                                        <p:tgtEl>
                                          <p:spTgt spid="195"/>
                                        </p:tgtEl>
                                        <p:attrNameLst>
                                          <p:attrName>style.visibility</p:attrName>
                                        </p:attrNameLst>
                                      </p:cBhvr>
                                      <p:to>
                                        <p:strVal val="visible"/>
                                      </p:to>
                                    </p:set>
                                    <p:animEffect transition="in" filter="wipe(right)">
                                      <p:cBhvr>
                                        <p:cTn id="15" dur="2000"/>
                                        <p:tgtEl>
                                          <p:spTgt spid="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46" name="Picture 176">
            <a:extLst>
              <a:ext uri="{FF2B5EF4-FFF2-40B4-BE49-F238E27FC236}">
                <a16:creationId xmlns:a16="http://schemas.microsoft.com/office/drawing/2014/main" id="{3AFCA675-B5D6-EA8D-5EF5-8A5331CC15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7491"/>
          <a:stretch>
            <a:fillRect/>
          </a:stretch>
        </p:blipFill>
        <p:spPr bwMode="auto">
          <a:xfrm>
            <a:off x="2357438" y="1057275"/>
            <a:ext cx="6592887" cy="4957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4147" name="直接连接符 187">
            <a:extLst>
              <a:ext uri="{FF2B5EF4-FFF2-40B4-BE49-F238E27FC236}">
                <a16:creationId xmlns:a16="http://schemas.microsoft.com/office/drawing/2014/main" id="{9DAEA6D3-9033-4A8B-66C9-A34EEDE204A0}"/>
              </a:ext>
            </a:extLst>
          </p:cNvPr>
          <p:cNvCxnSpPr>
            <a:cxnSpLocks noChangeShapeType="1"/>
          </p:cNvCxnSpPr>
          <p:nvPr/>
        </p:nvCxnSpPr>
        <p:spPr bwMode="auto">
          <a:xfrm>
            <a:off x="3457575" y="3757613"/>
            <a:ext cx="890588" cy="4762"/>
          </a:xfrm>
          <a:prstGeom prst="line">
            <a:avLst/>
          </a:prstGeom>
          <a:noFill/>
          <a:ln w="2857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134148" name="直接连接符 190">
            <a:extLst>
              <a:ext uri="{FF2B5EF4-FFF2-40B4-BE49-F238E27FC236}">
                <a16:creationId xmlns:a16="http://schemas.microsoft.com/office/drawing/2014/main" id="{A42AD7F0-102B-8092-8576-C8B986D60F26}"/>
              </a:ext>
            </a:extLst>
          </p:cNvPr>
          <p:cNvCxnSpPr>
            <a:cxnSpLocks noChangeShapeType="1"/>
          </p:cNvCxnSpPr>
          <p:nvPr/>
        </p:nvCxnSpPr>
        <p:spPr bwMode="auto">
          <a:xfrm rot="5400000">
            <a:off x="3842544" y="4271169"/>
            <a:ext cx="1000125" cy="1587"/>
          </a:xfrm>
          <a:prstGeom prst="line">
            <a:avLst/>
          </a:prstGeom>
          <a:noFill/>
          <a:ln w="2857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134149" name="直接连接符 192">
            <a:extLst>
              <a:ext uri="{FF2B5EF4-FFF2-40B4-BE49-F238E27FC236}">
                <a16:creationId xmlns:a16="http://schemas.microsoft.com/office/drawing/2014/main" id="{4C47CA98-BF53-4745-6B6F-65432CA98584}"/>
              </a:ext>
            </a:extLst>
          </p:cNvPr>
          <p:cNvCxnSpPr>
            <a:cxnSpLocks noChangeShapeType="1"/>
          </p:cNvCxnSpPr>
          <p:nvPr/>
        </p:nvCxnSpPr>
        <p:spPr bwMode="auto">
          <a:xfrm>
            <a:off x="4343400" y="4772025"/>
            <a:ext cx="890588" cy="4763"/>
          </a:xfrm>
          <a:prstGeom prst="line">
            <a:avLst/>
          </a:prstGeom>
          <a:noFill/>
          <a:ln w="2857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134150" name="直接连接符 196">
            <a:extLst>
              <a:ext uri="{FF2B5EF4-FFF2-40B4-BE49-F238E27FC236}">
                <a16:creationId xmlns:a16="http://schemas.microsoft.com/office/drawing/2014/main" id="{EBA0873B-5005-19EA-158A-5DD82C44999B}"/>
              </a:ext>
            </a:extLst>
          </p:cNvPr>
          <p:cNvCxnSpPr>
            <a:cxnSpLocks noChangeShapeType="1"/>
          </p:cNvCxnSpPr>
          <p:nvPr/>
        </p:nvCxnSpPr>
        <p:spPr bwMode="auto">
          <a:xfrm rot="5400000" flipH="1" flipV="1">
            <a:off x="4953000" y="5054600"/>
            <a:ext cx="573088" cy="1588"/>
          </a:xfrm>
          <a:prstGeom prst="line">
            <a:avLst/>
          </a:prstGeom>
          <a:noFill/>
          <a:ln w="2857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134151" name="直接连接符 197">
            <a:extLst>
              <a:ext uri="{FF2B5EF4-FFF2-40B4-BE49-F238E27FC236}">
                <a16:creationId xmlns:a16="http://schemas.microsoft.com/office/drawing/2014/main" id="{60225358-BBA0-CF19-F0E7-B1A89E6DD2B5}"/>
              </a:ext>
            </a:extLst>
          </p:cNvPr>
          <p:cNvCxnSpPr>
            <a:cxnSpLocks noChangeShapeType="1"/>
          </p:cNvCxnSpPr>
          <p:nvPr/>
        </p:nvCxnSpPr>
        <p:spPr bwMode="auto">
          <a:xfrm>
            <a:off x="5237163" y="5343525"/>
            <a:ext cx="892175" cy="4763"/>
          </a:xfrm>
          <a:prstGeom prst="line">
            <a:avLst/>
          </a:prstGeom>
          <a:noFill/>
          <a:ln w="2857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134152" name="直接连接符 201">
            <a:extLst>
              <a:ext uri="{FF2B5EF4-FFF2-40B4-BE49-F238E27FC236}">
                <a16:creationId xmlns:a16="http://schemas.microsoft.com/office/drawing/2014/main" id="{3995B974-4D5B-176F-6B01-8FC50311DD61}"/>
              </a:ext>
            </a:extLst>
          </p:cNvPr>
          <p:cNvCxnSpPr>
            <a:cxnSpLocks noChangeShapeType="1"/>
          </p:cNvCxnSpPr>
          <p:nvPr/>
        </p:nvCxnSpPr>
        <p:spPr bwMode="auto">
          <a:xfrm rot="5400000">
            <a:off x="5958682" y="5242719"/>
            <a:ext cx="285750" cy="1587"/>
          </a:xfrm>
          <a:prstGeom prst="line">
            <a:avLst/>
          </a:prstGeom>
          <a:noFill/>
          <a:ln w="2857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134153" name="直接连接符 202">
            <a:extLst>
              <a:ext uri="{FF2B5EF4-FFF2-40B4-BE49-F238E27FC236}">
                <a16:creationId xmlns:a16="http://schemas.microsoft.com/office/drawing/2014/main" id="{88917009-30FB-7F2B-B403-BB9B28C14AF9}"/>
              </a:ext>
            </a:extLst>
          </p:cNvPr>
          <p:cNvCxnSpPr>
            <a:cxnSpLocks noChangeShapeType="1"/>
          </p:cNvCxnSpPr>
          <p:nvPr/>
        </p:nvCxnSpPr>
        <p:spPr bwMode="auto">
          <a:xfrm>
            <a:off x="6100763" y="5100638"/>
            <a:ext cx="892175" cy="4762"/>
          </a:xfrm>
          <a:prstGeom prst="line">
            <a:avLst/>
          </a:prstGeom>
          <a:noFill/>
          <a:ln w="2857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134154" name="直接连接符 205">
            <a:extLst>
              <a:ext uri="{FF2B5EF4-FFF2-40B4-BE49-F238E27FC236}">
                <a16:creationId xmlns:a16="http://schemas.microsoft.com/office/drawing/2014/main" id="{6F0E5385-6B16-E38F-F488-EA2AA029A716}"/>
              </a:ext>
            </a:extLst>
          </p:cNvPr>
          <p:cNvCxnSpPr>
            <a:cxnSpLocks noChangeShapeType="1"/>
          </p:cNvCxnSpPr>
          <p:nvPr/>
        </p:nvCxnSpPr>
        <p:spPr bwMode="auto">
          <a:xfrm>
            <a:off x="7000875" y="5229225"/>
            <a:ext cx="890588" cy="4763"/>
          </a:xfrm>
          <a:prstGeom prst="line">
            <a:avLst/>
          </a:prstGeom>
          <a:noFill/>
          <a:ln w="2857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134155" name="直接连接符 210">
            <a:extLst>
              <a:ext uri="{FF2B5EF4-FFF2-40B4-BE49-F238E27FC236}">
                <a16:creationId xmlns:a16="http://schemas.microsoft.com/office/drawing/2014/main" id="{4E8E8775-62F0-6CB8-3D0F-067EF14C3B1C}"/>
              </a:ext>
            </a:extLst>
          </p:cNvPr>
          <p:cNvCxnSpPr>
            <a:cxnSpLocks noChangeShapeType="1"/>
          </p:cNvCxnSpPr>
          <p:nvPr/>
        </p:nvCxnSpPr>
        <p:spPr bwMode="auto">
          <a:xfrm rot="5400000">
            <a:off x="6944519" y="5142707"/>
            <a:ext cx="142875" cy="1587"/>
          </a:xfrm>
          <a:prstGeom prst="line">
            <a:avLst/>
          </a:prstGeom>
          <a:noFill/>
          <a:ln w="28575" algn="ctr">
            <a:solidFill>
              <a:srgbClr val="FF0000"/>
            </a:solidFill>
            <a:miter lim="800000"/>
            <a:headEnd/>
            <a:tailEnd/>
          </a:ln>
          <a:extLst>
            <a:ext uri="{909E8E84-426E-40DD-AFC4-6F175D3DCCD1}">
              <a14:hiddenFill xmlns:a14="http://schemas.microsoft.com/office/drawing/2010/main">
                <a:noFill/>
              </a14:hiddenFill>
            </a:ext>
          </a:extLst>
        </p:spPr>
      </p:cxnSp>
      <p:sp>
        <p:nvSpPr>
          <p:cNvPr id="212" name="Text Box 59">
            <a:extLst>
              <a:ext uri="{FF2B5EF4-FFF2-40B4-BE49-F238E27FC236}">
                <a16:creationId xmlns:a16="http://schemas.microsoft.com/office/drawing/2014/main" id="{085D4D91-5489-489B-F3E0-901DEC0C805B}"/>
              </a:ext>
            </a:extLst>
          </p:cNvPr>
          <p:cNvSpPr txBox="1">
            <a:spLocks noChangeArrowheads="1"/>
          </p:cNvSpPr>
          <p:nvPr/>
        </p:nvSpPr>
        <p:spPr bwMode="auto">
          <a:xfrm>
            <a:off x="3286125" y="5772150"/>
            <a:ext cx="5214938" cy="357188"/>
          </a:xfrm>
          <a:prstGeom prst="rect">
            <a:avLst/>
          </a:prstGeom>
          <a:noFill/>
          <a:ln w="9525">
            <a:noFill/>
            <a:miter lim="800000"/>
            <a:headEnd/>
            <a:tailEnd/>
          </a:ln>
        </p:spPr>
        <p:txBody>
          <a:bodyPr/>
          <a:lstStyle/>
          <a:p>
            <a:pPr algn="just">
              <a:defRPr/>
            </a:pPr>
            <a:r>
              <a:rPr lang="zh-CN" altLang="en-US" sz="2800" baseline="30000" dirty="0">
                <a:solidFill>
                  <a:srgbClr val="0000CC"/>
                </a:solidFill>
                <a:latin typeface="Arial" pitchFamily="34" charset="0"/>
                <a:ea typeface="微软雅黑" pitchFamily="34" charset="-122"/>
                <a:cs typeface="Arial" pitchFamily="34" charset="0"/>
              </a:rPr>
              <a:t>若信息位</a:t>
            </a:r>
            <a:r>
              <a:rPr lang="zh-CN" altLang="en-US" sz="2400" baseline="3000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r>
              <a:rPr lang="en-US" altLang="zh-CN" sz="2400" baseline="3000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1	     1	     0	      1 </a:t>
            </a:r>
            <a:endParaRPr lang="en-US" altLang="zh-CN" sz="240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p:txBody>
      </p:sp>
      <p:sp>
        <p:nvSpPr>
          <p:cNvPr id="217" name="Text Box 59">
            <a:extLst>
              <a:ext uri="{FF2B5EF4-FFF2-40B4-BE49-F238E27FC236}">
                <a16:creationId xmlns:a16="http://schemas.microsoft.com/office/drawing/2014/main" id="{8FBC1740-274B-0104-E91C-C8472F432560}"/>
              </a:ext>
            </a:extLst>
          </p:cNvPr>
          <p:cNvSpPr txBox="1">
            <a:spLocks noChangeArrowheads="1"/>
          </p:cNvSpPr>
          <p:nvPr/>
        </p:nvSpPr>
        <p:spPr bwMode="auto">
          <a:xfrm>
            <a:off x="3286125" y="6057900"/>
            <a:ext cx="5214938" cy="312738"/>
          </a:xfrm>
          <a:prstGeom prst="rect">
            <a:avLst/>
          </a:prstGeom>
          <a:noFill/>
          <a:ln w="9525">
            <a:noFill/>
            <a:miter lim="800000"/>
            <a:headEnd/>
            <a:tailEnd/>
          </a:ln>
        </p:spPr>
        <p:txBody>
          <a:bodyPr/>
          <a:lstStyle/>
          <a:p>
            <a:pPr algn="just">
              <a:defRPr/>
            </a:pPr>
            <a:r>
              <a:rPr lang="zh-CN" altLang="en-US" sz="2800" baseline="30000" dirty="0">
                <a:solidFill>
                  <a:srgbClr val="FF0000"/>
                </a:solidFill>
                <a:latin typeface="Arial" pitchFamily="34" charset="0"/>
                <a:ea typeface="微软雅黑" pitchFamily="34" charset="-122"/>
                <a:cs typeface="Arial" pitchFamily="34" charset="0"/>
              </a:rPr>
              <a:t>编码输出    </a:t>
            </a:r>
            <a:r>
              <a:rPr lang="en-US" altLang="zh-CN" sz="2800" baseline="30000" dirty="0">
                <a:solidFill>
                  <a:srgbClr val="FF0000"/>
                </a:solidFill>
                <a:latin typeface="Arial" pitchFamily="34" charset="0"/>
                <a:ea typeface="微软雅黑" pitchFamily="34" charset="-122"/>
                <a:cs typeface="Arial" pitchFamily="34" charset="0"/>
              </a:rPr>
              <a:t>111      110        </a:t>
            </a:r>
            <a:r>
              <a:rPr lang="en-US" altLang="zh-CN" sz="2800" dirty="0">
                <a:solidFill>
                  <a:srgbClr val="FF0000"/>
                </a:solidFill>
                <a:latin typeface="Arial" pitchFamily="34" charset="0"/>
                <a:ea typeface="微软雅黑" pitchFamily="34" charset="-122"/>
                <a:cs typeface="Arial" pitchFamily="34" charset="0"/>
              </a:rPr>
              <a:t> </a:t>
            </a:r>
            <a:r>
              <a:rPr lang="en-US" altLang="zh-CN" sz="2800" baseline="30000" dirty="0">
                <a:solidFill>
                  <a:srgbClr val="FF0000"/>
                </a:solidFill>
                <a:latin typeface="Arial" pitchFamily="34" charset="0"/>
                <a:ea typeface="微软雅黑" pitchFamily="34" charset="-122"/>
                <a:cs typeface="Arial" pitchFamily="34" charset="0"/>
              </a:rPr>
              <a:t>010         100</a:t>
            </a:r>
            <a:r>
              <a:rPr lang="zh-CN" altLang="en-US" sz="2400" baseline="3000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endParaRPr lang="en-US" altLang="zh-CN" sz="240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p:txBody>
      </p:sp>
      <p:sp>
        <p:nvSpPr>
          <p:cNvPr id="195" name="矩形 194">
            <a:extLst>
              <a:ext uri="{FF2B5EF4-FFF2-40B4-BE49-F238E27FC236}">
                <a16:creationId xmlns:a16="http://schemas.microsoft.com/office/drawing/2014/main" id="{FA76803D-6791-3135-E261-B139F47D6EDE}"/>
              </a:ext>
            </a:extLst>
          </p:cNvPr>
          <p:cNvSpPr/>
          <p:nvPr/>
        </p:nvSpPr>
        <p:spPr>
          <a:xfrm>
            <a:off x="1857375" y="6072188"/>
            <a:ext cx="1500188" cy="400050"/>
          </a:xfrm>
          <a:prstGeom prst="rect">
            <a:avLst/>
          </a:prstGeom>
        </p:spPr>
        <p:txBody>
          <a:bodyPr>
            <a:spAutoFit/>
          </a:bodyPr>
          <a:lstStyle/>
          <a:p>
            <a:pPr>
              <a:defRPr/>
            </a:pPr>
            <a:r>
              <a:rPr kumimoji="0" lang="zh-CN" altLang="en-US" sz="2000" b="0" kern="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发送序列</a:t>
            </a:r>
            <a:r>
              <a:rPr kumimoji="0" lang="en-US" altLang="zh-CN" sz="2000" b="0" dirty="0">
                <a:solidFill>
                  <a:srgbClr val="FF0000"/>
                </a:solidFill>
                <a:latin typeface="Cambria Math"/>
                <a:ea typeface="Cambria Math"/>
                <a:cs typeface="Arial" pitchFamily="34" charset="0"/>
                <a:sym typeface="Symbol" pitchFamily="18" charset="2"/>
              </a:rPr>
              <a:t>⟵</a:t>
            </a:r>
            <a:endParaRPr lang="zh-CN" altLang="en-US" sz="2000" dirty="0">
              <a:solidFill>
                <a:srgbClr val="FF0000"/>
              </a:solidFill>
              <a:effectLst>
                <a:outerShdw blurRad="38100" dist="38100" dir="2700000" algn="tl">
                  <a:srgbClr val="000000">
                    <a:alpha val="43137"/>
                  </a:srgbClr>
                </a:outerShdw>
              </a:effectLst>
            </a:endParaRPr>
          </a:p>
        </p:txBody>
      </p:sp>
      <p:pic>
        <p:nvPicPr>
          <p:cNvPr id="134324" name="Picture 180">
            <a:extLst>
              <a:ext uri="{FF2B5EF4-FFF2-40B4-BE49-F238E27FC236}">
                <a16:creationId xmlns:a16="http://schemas.microsoft.com/office/drawing/2014/main" id="{11D7D790-D742-244C-1FDB-B2CC05446F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388" y="1071563"/>
            <a:ext cx="8123237"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34324"/>
                                        </p:tgtEl>
                                        <p:attrNameLst>
                                          <p:attrName>style.visibility</p:attrName>
                                        </p:attrNameLst>
                                      </p:cBhvr>
                                      <p:to>
                                        <p:strVal val="visible"/>
                                      </p:to>
                                    </p:set>
                                    <p:animEffect transition="in" filter="wipe(up)">
                                      <p:cBhvr>
                                        <p:cTn id="7" dur="2000"/>
                                        <p:tgtEl>
                                          <p:spTgt spid="1343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7" name="Rectangle 3">
            <a:extLst>
              <a:ext uri="{FF2B5EF4-FFF2-40B4-BE49-F238E27FC236}">
                <a16:creationId xmlns:a16="http://schemas.microsoft.com/office/drawing/2014/main" id="{998189D8-B8D0-8AFA-B8E1-E33186042EB1}"/>
              </a:ext>
            </a:extLst>
          </p:cNvPr>
          <p:cNvSpPr>
            <a:spLocks noGrp="1" noChangeArrowheads="1"/>
          </p:cNvSpPr>
          <p:nvPr>
            <p:ph type="body" idx="1"/>
          </p:nvPr>
        </p:nvSpPr>
        <p:spPr>
          <a:xfrm>
            <a:off x="928688" y="1214438"/>
            <a:ext cx="7500937" cy="2214562"/>
          </a:xfrm>
          <a:solidFill>
            <a:schemeClr val="bg2">
              <a:lumMod val="10000"/>
              <a:lumOff val="90000"/>
            </a:schemeClr>
          </a:solidFill>
        </p:spPr>
        <p:txBody>
          <a:bodyPr/>
          <a:lstStyle/>
          <a:p>
            <a:pPr eaLnBrk="1" hangingPunct="1">
              <a:lnSpc>
                <a:spcPct val="150000"/>
              </a:lnSpc>
              <a:buFont typeface="Wingdings" panose="05000000000000000000" pitchFamily="2" charset="2"/>
              <a:buNone/>
              <a:defRPr/>
            </a:pPr>
            <a:r>
              <a:rPr lang="zh-CN" altLang="en-US" sz="2000" dirty="0">
                <a:latin typeface="Arial" charset="0"/>
                <a:ea typeface="微软雅黑" pitchFamily="34" charset="-122"/>
                <a:cs typeface="Arial" charset="0"/>
              </a:rPr>
              <a:t>一般说来，</a:t>
            </a:r>
            <a:r>
              <a:rPr lang="zh-CN" altLang="en-US" sz="2000" b="1" dirty="0">
                <a:latin typeface="Arial" charset="0"/>
                <a:ea typeface="微软雅黑" pitchFamily="34" charset="-122"/>
                <a:cs typeface="Arial" charset="0"/>
              </a:rPr>
              <a:t>码树搜索</a:t>
            </a:r>
            <a:r>
              <a:rPr lang="zh-CN" altLang="en-US" sz="2000" b="1" dirty="0">
                <a:solidFill>
                  <a:srgbClr val="0000CC"/>
                </a:solidFill>
                <a:latin typeface="Arial" charset="0"/>
                <a:ea typeface="微软雅黑" pitchFamily="34" charset="-122"/>
                <a:cs typeface="Arial" charset="0"/>
              </a:rPr>
              <a:t>解码法</a:t>
            </a:r>
            <a:r>
              <a:rPr lang="zh-CN" altLang="en-US" sz="2000" dirty="0">
                <a:latin typeface="Arial" charset="0"/>
                <a:ea typeface="微软雅黑" pitchFamily="34" charset="-122"/>
                <a:cs typeface="Arial" charset="0"/>
              </a:rPr>
              <a:t>并不实用，因为随着信息序列的增长，</a:t>
            </a:r>
            <a:endParaRPr lang="en-US" altLang="zh-CN" sz="2000" dirty="0">
              <a:latin typeface="Arial" charset="0"/>
              <a:ea typeface="微软雅黑" pitchFamily="34" charset="-122"/>
              <a:cs typeface="Arial" charset="0"/>
            </a:endParaRPr>
          </a:p>
          <a:p>
            <a:pPr eaLnBrk="1" hangingPunct="1">
              <a:lnSpc>
                <a:spcPct val="150000"/>
              </a:lnSpc>
              <a:buFont typeface="Wingdings" panose="05000000000000000000" pitchFamily="2" charset="2"/>
              <a:buNone/>
              <a:defRPr/>
            </a:pPr>
            <a:r>
              <a:rPr lang="zh-CN" altLang="en-US" sz="2000" dirty="0">
                <a:latin typeface="Arial" charset="0"/>
                <a:ea typeface="微软雅黑" pitchFamily="34" charset="-122"/>
                <a:cs typeface="Arial" charset="0"/>
              </a:rPr>
              <a:t>码树分支数目按指数规律增长；在上面的码树图中，只有</a:t>
            </a:r>
            <a:r>
              <a:rPr lang="en-US" altLang="zh-CN" sz="2000" dirty="0">
                <a:latin typeface="Arial" charset="0"/>
                <a:ea typeface="微软雅黑" pitchFamily="34" charset="-122"/>
                <a:cs typeface="Arial" charset="0"/>
              </a:rPr>
              <a:t>4</a:t>
            </a:r>
            <a:r>
              <a:rPr lang="zh-CN" altLang="en-US" sz="2000" dirty="0">
                <a:latin typeface="Arial" charset="0"/>
                <a:ea typeface="微软雅黑" pitchFamily="34" charset="-122"/>
                <a:cs typeface="Arial" charset="0"/>
              </a:rPr>
              <a:t>个信息</a:t>
            </a:r>
            <a:endParaRPr lang="en-US" altLang="zh-CN" sz="2000" dirty="0">
              <a:latin typeface="Arial" charset="0"/>
              <a:ea typeface="微软雅黑" pitchFamily="34" charset="-122"/>
              <a:cs typeface="Arial" charset="0"/>
            </a:endParaRPr>
          </a:p>
          <a:p>
            <a:pPr eaLnBrk="1" hangingPunct="1">
              <a:lnSpc>
                <a:spcPct val="150000"/>
              </a:lnSpc>
              <a:buFont typeface="Wingdings" panose="05000000000000000000" pitchFamily="2" charset="2"/>
              <a:buNone/>
              <a:defRPr/>
            </a:pPr>
            <a:r>
              <a:rPr lang="zh-CN" altLang="en-US" sz="2000" dirty="0">
                <a:latin typeface="Arial" charset="0"/>
                <a:ea typeface="微软雅黑" pitchFamily="34" charset="-122"/>
                <a:cs typeface="Arial" charset="0"/>
              </a:rPr>
              <a:t>位，分支已有</a:t>
            </a:r>
            <a:r>
              <a:rPr lang="en-US" altLang="zh-CN" sz="2000" dirty="0">
                <a:latin typeface="Arial" charset="0"/>
                <a:ea typeface="微软雅黑" pitchFamily="34" charset="-122"/>
                <a:cs typeface="Arial" charset="0"/>
              </a:rPr>
              <a:t>2</a:t>
            </a:r>
            <a:r>
              <a:rPr lang="en-US" altLang="zh-CN" sz="2000" baseline="30000" dirty="0">
                <a:latin typeface="Arial" charset="0"/>
                <a:ea typeface="微软雅黑" pitchFamily="34" charset="-122"/>
                <a:cs typeface="Arial" charset="0"/>
              </a:rPr>
              <a:t>4</a:t>
            </a:r>
            <a:r>
              <a:rPr lang="en-US" altLang="zh-CN" sz="2000" dirty="0">
                <a:latin typeface="Arial" charset="0"/>
                <a:ea typeface="微软雅黑" pitchFamily="34" charset="-122"/>
                <a:cs typeface="Arial" charset="0"/>
              </a:rPr>
              <a:t> = 16</a:t>
            </a:r>
            <a:r>
              <a:rPr lang="zh-CN" altLang="en-US" sz="2000" dirty="0">
                <a:latin typeface="Arial" charset="0"/>
                <a:ea typeface="微软雅黑" pitchFamily="34" charset="-122"/>
                <a:cs typeface="Arial" charset="0"/>
              </a:rPr>
              <a:t>个。但是它为以后实用解码算法建立了初步</a:t>
            </a:r>
            <a:endParaRPr lang="en-US" altLang="zh-CN" sz="2000" dirty="0">
              <a:latin typeface="Arial" charset="0"/>
              <a:ea typeface="微软雅黑" pitchFamily="34" charset="-122"/>
              <a:cs typeface="Arial" charset="0"/>
            </a:endParaRPr>
          </a:p>
          <a:p>
            <a:pPr eaLnBrk="1" hangingPunct="1">
              <a:lnSpc>
                <a:spcPct val="150000"/>
              </a:lnSpc>
              <a:buFont typeface="Wingdings" panose="05000000000000000000" pitchFamily="2" charset="2"/>
              <a:buNone/>
              <a:defRPr/>
            </a:pPr>
            <a:r>
              <a:rPr lang="zh-CN" altLang="en-US" sz="2000" dirty="0">
                <a:latin typeface="Arial" charset="0"/>
                <a:ea typeface="微软雅黑" pitchFamily="34" charset="-122"/>
                <a:cs typeface="Arial" charset="0"/>
              </a:rPr>
              <a:t>基础。</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34147">
                                            <p:txEl>
                                              <p:pRg st="0" end="0"/>
                                            </p:txEl>
                                          </p:spTgt>
                                        </p:tgtEl>
                                        <p:attrNameLst>
                                          <p:attrName>style.visibility</p:attrName>
                                        </p:attrNameLst>
                                      </p:cBhvr>
                                      <p:to>
                                        <p:strVal val="visible"/>
                                      </p:to>
                                    </p:set>
                                    <p:animEffect transition="in" filter="wipe(up)">
                                      <p:cBhvr>
                                        <p:cTn id="7" dur="1000"/>
                                        <p:tgtEl>
                                          <p:spTgt spid="1341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34147">
                                            <p:txEl>
                                              <p:pRg st="1" end="1"/>
                                            </p:txEl>
                                          </p:spTgt>
                                        </p:tgtEl>
                                        <p:attrNameLst>
                                          <p:attrName>style.visibility</p:attrName>
                                        </p:attrNameLst>
                                      </p:cBhvr>
                                      <p:to>
                                        <p:strVal val="visible"/>
                                      </p:to>
                                    </p:set>
                                    <p:animEffect transition="in" filter="wipe(up)">
                                      <p:cBhvr>
                                        <p:cTn id="12" dur="1000"/>
                                        <p:tgtEl>
                                          <p:spTgt spid="1341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34147">
                                            <p:txEl>
                                              <p:pRg st="2" end="2"/>
                                            </p:txEl>
                                          </p:spTgt>
                                        </p:tgtEl>
                                        <p:attrNameLst>
                                          <p:attrName>style.visibility</p:attrName>
                                        </p:attrNameLst>
                                      </p:cBhvr>
                                      <p:to>
                                        <p:strVal val="visible"/>
                                      </p:to>
                                    </p:set>
                                    <p:animEffect transition="in" filter="wipe(up)">
                                      <p:cBhvr>
                                        <p:cTn id="17" dur="1000"/>
                                        <p:tgtEl>
                                          <p:spTgt spid="13414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34147">
                                            <p:txEl>
                                              <p:pRg st="3" end="3"/>
                                            </p:txEl>
                                          </p:spTgt>
                                        </p:tgtEl>
                                        <p:attrNameLst>
                                          <p:attrName>style.visibility</p:attrName>
                                        </p:attrNameLst>
                                      </p:cBhvr>
                                      <p:to>
                                        <p:strVal val="visible"/>
                                      </p:to>
                                    </p:set>
                                    <p:animEffect transition="in" filter="wipe(up)">
                                      <p:cBhvr>
                                        <p:cTn id="22" dur="1000"/>
                                        <p:tgtEl>
                                          <p:spTgt spid="1341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253" name="Picture 61">
            <a:extLst>
              <a:ext uri="{FF2B5EF4-FFF2-40B4-BE49-F238E27FC236}">
                <a16:creationId xmlns:a16="http://schemas.microsoft.com/office/drawing/2014/main" id="{001ADF4A-4E4B-8284-BEAC-28F9F4E19C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4075" y="1871663"/>
            <a:ext cx="790257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BCB6BFBD-2312-5848-3E52-5D0C22A46012}"/>
              </a:ext>
            </a:extLst>
          </p:cNvPr>
          <p:cNvSpPr/>
          <p:nvPr/>
        </p:nvSpPr>
        <p:spPr>
          <a:xfrm>
            <a:off x="714375" y="1071563"/>
            <a:ext cx="1643063" cy="498475"/>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marL="228600" lvl="1" indent="-228600">
              <a:lnSpc>
                <a:spcPts val="3500"/>
              </a:lnSpc>
              <a:spcBef>
                <a:spcPct val="20000"/>
              </a:spcBef>
              <a:buClr>
                <a:srgbClr val="FF0000"/>
              </a:buClr>
              <a:buSzPct val="75000"/>
              <a:defRPr/>
            </a:pPr>
            <a:r>
              <a:rPr kumimoji="0" lang="en-US" altLang="zh-CN" sz="2400" kern="0" dirty="0">
                <a:solidFill>
                  <a:srgbClr val="FF0000"/>
                </a:solidFill>
                <a:latin typeface="Arial" pitchFamily="34" charset="0"/>
                <a:ea typeface="黑体" pitchFamily="2" charset="-122"/>
                <a:cs typeface="Arial" pitchFamily="34" charset="0"/>
              </a:rPr>
              <a:t>2</a:t>
            </a:r>
            <a:r>
              <a:rPr kumimoji="0" lang="zh-CN" altLang="en-US" sz="2400" kern="0" dirty="0">
                <a:solidFill>
                  <a:srgbClr val="FF0000"/>
                </a:solidFill>
                <a:latin typeface="Arial" pitchFamily="34" charset="0"/>
                <a:ea typeface="黑体" pitchFamily="2" charset="-122"/>
                <a:cs typeface="Arial" pitchFamily="34" charset="0"/>
              </a:rPr>
              <a:t>）</a:t>
            </a:r>
            <a:r>
              <a:rPr lang="zh-CN" altLang="en-US" sz="2400" dirty="0">
                <a:solidFill>
                  <a:srgbClr val="FF0000"/>
                </a:solidFill>
                <a:latin typeface="Arial" pitchFamily="34" charset="0"/>
                <a:ea typeface="微软雅黑" pitchFamily="34" charset="-122"/>
                <a:cs typeface="Arial" pitchFamily="34" charset="0"/>
              </a:rPr>
              <a:t>状态图</a:t>
            </a:r>
            <a:endParaRPr kumimoji="0" lang="zh-CN" altLang="en-US" sz="2400" kern="0" dirty="0">
              <a:solidFill>
                <a:srgbClr val="FF0000"/>
              </a:solidFill>
              <a:latin typeface="Arial" pitchFamily="34" charset="0"/>
              <a:ea typeface="微软雅黑" pitchFamily="34" charset="-122"/>
              <a:cs typeface="Arial" pitchFamily="34" charset="0"/>
            </a:endParaRPr>
          </a:p>
        </p:txBody>
      </p:sp>
      <p:sp>
        <p:nvSpPr>
          <p:cNvPr id="61" name="矩形 60">
            <a:extLst>
              <a:ext uri="{FF2B5EF4-FFF2-40B4-BE49-F238E27FC236}">
                <a16:creationId xmlns:a16="http://schemas.microsoft.com/office/drawing/2014/main" id="{FCBD3925-C7A0-FC78-8785-433447721854}"/>
              </a:ext>
            </a:extLst>
          </p:cNvPr>
          <p:cNvSpPr/>
          <p:nvPr/>
        </p:nvSpPr>
        <p:spPr>
          <a:xfrm>
            <a:off x="6500813" y="611188"/>
            <a:ext cx="2071687" cy="460375"/>
          </a:xfrm>
          <a:prstGeom prst="rect">
            <a:avLst/>
          </a:prstGeom>
        </p:spPr>
        <p:txBody>
          <a:bodyPr>
            <a:spAutoFit/>
          </a:bodyPr>
          <a:lstStyle/>
          <a:p>
            <a:pPr marL="342900" indent="-342900">
              <a:lnSpc>
                <a:spcPts val="3200"/>
              </a:lnSpc>
              <a:spcBef>
                <a:spcPct val="20000"/>
              </a:spcBef>
              <a:buClr>
                <a:srgbClr val="3333CC"/>
              </a:buClr>
              <a:buSzPct val="60000"/>
              <a:defRPr/>
            </a:pPr>
            <a:r>
              <a:rPr kumimoji="0" lang="zh-CN" altLang="en-US" sz="2000" b="0" kern="0" dirty="0">
                <a:solidFill>
                  <a:srgbClr val="000000"/>
                </a:solidFill>
                <a:effectLst>
                  <a:outerShdw blurRad="38100" dist="38100" dir="2700000" algn="tl">
                    <a:srgbClr val="000000">
                      <a:alpha val="43137"/>
                    </a:srgbClr>
                  </a:outerShdw>
                </a:effectLst>
                <a:latin typeface="Arial" charset="0"/>
                <a:ea typeface="微软雅黑" pitchFamily="34" charset="-122"/>
                <a:cs typeface="Arial" charset="0"/>
              </a:rPr>
              <a:t>码树图</a:t>
            </a:r>
            <a:r>
              <a:rPr kumimoji="0" lang="en-US" altLang="zh-CN" sz="2000" b="0" dirty="0">
                <a:solidFill>
                  <a:srgbClr val="FF0000"/>
                </a:solidFill>
                <a:effectLst>
                  <a:outerShdw blurRad="38100" dist="38100" dir="2700000" algn="tl">
                    <a:srgbClr val="000000">
                      <a:alpha val="43137"/>
                    </a:srgbClr>
                  </a:outerShdw>
                </a:effectLst>
                <a:latin typeface="Times New Roman" pitchFamily="18" charset="0"/>
                <a:ea typeface="宋体" pitchFamily="2" charset="-122"/>
                <a:cs typeface="Times New Roman" pitchFamily="18" charset="0"/>
                <a:sym typeface="Wingdings" pitchFamily="2" charset="2"/>
              </a:rPr>
              <a:t></a:t>
            </a:r>
            <a:r>
              <a:rPr kumimoji="0" lang="zh-CN" altLang="en-US" sz="2000" b="0" kern="0" dirty="0">
                <a:solidFill>
                  <a:srgbClr val="000000"/>
                </a:solidFill>
                <a:effectLst>
                  <a:outerShdw blurRad="38100" dist="38100" dir="2700000" algn="tl">
                    <a:srgbClr val="000000">
                      <a:alpha val="43137"/>
                    </a:srgbClr>
                  </a:outerShdw>
                </a:effectLst>
                <a:latin typeface="Arial" charset="0"/>
                <a:ea typeface="微软雅黑" pitchFamily="34" charset="-122"/>
                <a:cs typeface="Arial" charset="0"/>
              </a:rPr>
              <a:t>状态图</a:t>
            </a:r>
          </a:p>
        </p:txBody>
      </p:sp>
      <p:sp>
        <p:nvSpPr>
          <p:cNvPr id="62" name="矩形 61">
            <a:extLst>
              <a:ext uri="{FF2B5EF4-FFF2-40B4-BE49-F238E27FC236}">
                <a16:creationId xmlns:a16="http://schemas.microsoft.com/office/drawing/2014/main" id="{CAAD4B51-830F-6584-9A62-ADC5705ACA2D}"/>
              </a:ext>
            </a:extLst>
          </p:cNvPr>
          <p:cNvSpPr/>
          <p:nvPr/>
        </p:nvSpPr>
        <p:spPr>
          <a:xfrm>
            <a:off x="1000125" y="1889125"/>
            <a:ext cx="3286125" cy="400050"/>
          </a:xfrm>
          <a:prstGeom prst="rect">
            <a:avLst/>
          </a:prstGeom>
          <a:solidFill>
            <a:schemeClr val="bg1">
              <a:lumMod val="95000"/>
            </a:schemeClr>
          </a:solidFill>
          <a:effectLst>
            <a:outerShdw blurRad="50800" dist="38100" dir="2700000" algn="tl" rotWithShape="0">
              <a:prstClr val="black">
                <a:alpha val="40000"/>
              </a:prstClr>
            </a:outerShdw>
          </a:effectLst>
        </p:spPr>
        <p:txBody>
          <a:bodyPr>
            <a:spAutoFit/>
          </a:bodyPr>
          <a:lstStyle/>
          <a:p>
            <a:pPr>
              <a:defRPr/>
            </a:pPr>
            <a:r>
              <a:rPr kumimoji="0" lang="zh-CN" altLang="en-US" sz="2000" b="0" kern="0" dirty="0">
                <a:solidFill>
                  <a:srgbClr val="000000"/>
                </a:solidFill>
                <a:latin typeface="Arial" charset="0"/>
                <a:ea typeface="微软雅黑" pitchFamily="34" charset="-122"/>
                <a:cs typeface="Arial" charset="0"/>
              </a:rPr>
              <a:t>由</a:t>
            </a:r>
            <a:r>
              <a:rPr kumimoji="0" lang="en-US" altLang="zh-CN" sz="2000" kern="0" dirty="0">
                <a:solidFill>
                  <a:srgbClr val="003399"/>
                </a:solidFill>
                <a:latin typeface="Arial" pitchFamily="34" charset="0"/>
                <a:ea typeface="微软雅黑" pitchFamily="34" charset="-122"/>
                <a:cs typeface="Arial" pitchFamily="34" charset="0"/>
              </a:rPr>
              <a:t>(3, 1, 3)</a:t>
            </a:r>
            <a:r>
              <a:rPr kumimoji="0" lang="zh-CN" altLang="en-US" sz="2000" b="0" kern="0" dirty="0">
                <a:solidFill>
                  <a:srgbClr val="000000"/>
                </a:solidFill>
                <a:latin typeface="Arial" charset="0"/>
                <a:ea typeface="微软雅黑" pitchFamily="34" charset="-122"/>
                <a:cs typeface="Arial" charset="0"/>
              </a:rPr>
              <a:t>编码器结构可知：</a:t>
            </a:r>
            <a:endParaRPr lang="zh-CN" altLang="en-US" dirty="0"/>
          </a:p>
        </p:txBody>
      </p:sp>
      <p:pic>
        <p:nvPicPr>
          <p:cNvPr id="136252" name="Picture 60">
            <a:extLst>
              <a:ext uri="{FF2B5EF4-FFF2-40B4-BE49-F238E27FC236}">
                <a16:creationId xmlns:a16="http://schemas.microsoft.com/office/drawing/2014/main" id="{AC006D9E-52C4-937C-3B84-70DC96356A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0650" y="3286125"/>
            <a:ext cx="1673225" cy="192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73">
            <a:extLst>
              <a:ext uri="{FF2B5EF4-FFF2-40B4-BE49-F238E27FC236}">
                <a16:creationId xmlns:a16="http://schemas.microsoft.com/office/drawing/2014/main" id="{0CF9220A-4ABB-1D9E-CAD5-8B8B7F7F00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6976" b="14966"/>
          <a:stretch>
            <a:fillRect/>
          </a:stretch>
        </p:blipFill>
        <p:spPr bwMode="auto">
          <a:xfrm>
            <a:off x="1044575" y="3143250"/>
            <a:ext cx="5384800" cy="221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60">
            <a:extLst>
              <a:ext uri="{FF2B5EF4-FFF2-40B4-BE49-F238E27FC236}">
                <a16:creationId xmlns:a16="http://schemas.microsoft.com/office/drawing/2014/main" id="{BF1AE0F1-10C2-89E4-24FE-32B78D7AC0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r="926"/>
          <a:stretch>
            <a:fillRect/>
          </a:stretch>
        </p:blipFill>
        <p:spPr bwMode="auto">
          <a:xfrm>
            <a:off x="785813" y="5357813"/>
            <a:ext cx="7643812" cy="1023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wipe(up)">
                                      <p:cBhvr>
                                        <p:cTn id="7" dur="1000"/>
                                        <p:tgtEl>
                                          <p:spTgt spid="61"/>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1000"/>
                                        <p:tgtEl>
                                          <p:spTgt spid="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62"/>
                                        </p:tgtEl>
                                        <p:attrNameLst>
                                          <p:attrName>style.visibility</p:attrName>
                                        </p:attrNameLst>
                                      </p:cBhvr>
                                      <p:to>
                                        <p:strVal val="visible"/>
                                      </p:to>
                                    </p:set>
                                    <p:animEffect transition="in" filter="wipe(up)">
                                      <p:cBhvr>
                                        <p:cTn id="16" dur="1000"/>
                                        <p:tgtEl>
                                          <p:spTgt spid="62"/>
                                        </p:tgtEl>
                                      </p:cBhvr>
                                    </p:animEffect>
                                  </p:childTnLst>
                                </p:cTn>
                              </p:par>
                            </p:childTnLst>
                          </p:cTn>
                        </p:par>
                        <p:par>
                          <p:cTn id="17" fill="hold" nodeType="afterGroup">
                            <p:stCondLst>
                              <p:cond delay="1000"/>
                            </p:stCondLst>
                            <p:childTnLst>
                              <p:par>
                                <p:cTn id="18" presetID="22" presetClass="entr" presetSubtype="1" fill="hold" nodeType="afterEffect">
                                  <p:stCondLst>
                                    <p:cond delay="0"/>
                                  </p:stCondLst>
                                  <p:childTnLst>
                                    <p:set>
                                      <p:cBhvr>
                                        <p:cTn id="19" dur="1" fill="hold">
                                          <p:stCondLst>
                                            <p:cond delay="0"/>
                                          </p:stCondLst>
                                        </p:cTn>
                                        <p:tgtEl>
                                          <p:spTgt spid="60"/>
                                        </p:tgtEl>
                                        <p:attrNameLst>
                                          <p:attrName>style.visibility</p:attrName>
                                        </p:attrNameLst>
                                      </p:cBhvr>
                                      <p:to>
                                        <p:strVal val="visible"/>
                                      </p:to>
                                    </p:set>
                                    <p:animEffect transition="in" filter="wipe(up)">
                                      <p:cBhvr>
                                        <p:cTn id="20" dur="2000"/>
                                        <p:tgtEl>
                                          <p:spTgt spid="60"/>
                                        </p:tgtEl>
                                      </p:cBhvr>
                                    </p:animEffect>
                                  </p:childTnLst>
                                </p:cTn>
                              </p:par>
                            </p:childTnLst>
                          </p:cTn>
                        </p:par>
                        <p:par>
                          <p:cTn id="21" fill="hold" nodeType="afterGroup">
                            <p:stCondLst>
                              <p:cond delay="3000"/>
                            </p:stCondLst>
                            <p:childTnLst>
                              <p:par>
                                <p:cTn id="22" presetID="22" presetClass="entr" presetSubtype="1" fill="hold" nodeType="afterEffect">
                                  <p:stCondLst>
                                    <p:cond delay="0"/>
                                  </p:stCondLst>
                                  <p:childTnLst>
                                    <p:set>
                                      <p:cBhvr>
                                        <p:cTn id="23" dur="1" fill="hold">
                                          <p:stCondLst>
                                            <p:cond delay="0"/>
                                          </p:stCondLst>
                                        </p:cTn>
                                        <p:tgtEl>
                                          <p:spTgt spid="136253"/>
                                        </p:tgtEl>
                                        <p:attrNameLst>
                                          <p:attrName>style.visibility</p:attrName>
                                        </p:attrNameLst>
                                      </p:cBhvr>
                                      <p:to>
                                        <p:strVal val="visible"/>
                                      </p:to>
                                    </p:set>
                                    <p:animEffect transition="in" filter="wipe(up)">
                                      <p:cBhvr>
                                        <p:cTn id="24" dur="1000"/>
                                        <p:tgtEl>
                                          <p:spTgt spid="13625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136252"/>
                                        </p:tgtEl>
                                        <p:attrNameLst>
                                          <p:attrName>style.visibility</p:attrName>
                                        </p:attrNameLst>
                                      </p:cBhvr>
                                      <p:to>
                                        <p:strVal val="visible"/>
                                      </p:to>
                                    </p:set>
                                    <p:animEffect transition="in" filter="wipe(up)">
                                      <p:cBhvr>
                                        <p:cTn id="29" dur="1000"/>
                                        <p:tgtEl>
                                          <p:spTgt spid="13625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up)">
                                      <p:cBhvr>
                                        <p:cTn id="34"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1" grpId="0"/>
      <p:bldP spid="62"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5" name="Rectangle 3">
            <a:extLst>
              <a:ext uri="{FF2B5EF4-FFF2-40B4-BE49-F238E27FC236}">
                <a16:creationId xmlns:a16="http://schemas.microsoft.com/office/drawing/2014/main" id="{F74B5549-EE07-1114-FCF2-611940D5606C}"/>
              </a:ext>
            </a:extLst>
          </p:cNvPr>
          <p:cNvSpPr>
            <a:spLocks noGrp="1" noChangeArrowheads="1"/>
          </p:cNvSpPr>
          <p:nvPr>
            <p:ph type="body" idx="1"/>
          </p:nvPr>
        </p:nvSpPr>
        <p:spPr>
          <a:xfrm>
            <a:off x="428625" y="1571625"/>
            <a:ext cx="2286000" cy="2357438"/>
          </a:xfrm>
          <a:solidFill>
            <a:schemeClr val="bg2">
              <a:lumMod val="10000"/>
              <a:lumOff val="90000"/>
            </a:schemeClr>
          </a:solidFill>
        </p:spPr>
        <p:txBody>
          <a:bodyPr/>
          <a:lstStyle/>
          <a:p>
            <a:pPr eaLnBrk="1" hangingPunct="1">
              <a:lnSpc>
                <a:spcPts val="3000"/>
              </a:lnSpc>
              <a:buFont typeface="Wingdings" panose="05000000000000000000" pitchFamily="2" charset="2"/>
              <a:buNone/>
              <a:defRPr/>
            </a:pPr>
            <a:r>
              <a:rPr lang="zh-CN" altLang="en-US" sz="2000" dirty="0">
                <a:latin typeface="Arial" pitchFamily="34" charset="0"/>
                <a:ea typeface="微软雅黑" pitchFamily="34" charset="-122"/>
                <a:cs typeface="Arial" pitchFamily="34" charset="0"/>
              </a:rPr>
              <a:t> </a:t>
            </a:r>
            <a:r>
              <a:rPr lang="zh-CN" altLang="en-US" sz="2000" dirty="0">
                <a:effectLst>
                  <a:outerShdw blurRad="38100" dist="38100" dir="2700000" algn="tl">
                    <a:srgbClr val="000000">
                      <a:alpha val="43137"/>
                    </a:srgbClr>
                  </a:outerShdw>
                </a:effectLst>
                <a:latin typeface="Arial" pitchFamily="34" charset="0"/>
                <a:ea typeface="微软雅黑" pitchFamily="34" charset="-122"/>
                <a:cs typeface="Arial" pitchFamily="34" charset="0"/>
              </a:rPr>
              <a:t>前</a:t>
            </a:r>
            <a:r>
              <a:rPr lang="zh-CN" altLang="en-US" sz="2000" dirty="0">
                <a:latin typeface="Arial" pitchFamily="34" charset="0"/>
                <a:ea typeface="微软雅黑" pitchFamily="34" charset="-122"/>
                <a:cs typeface="Arial" pitchFamily="34" charset="0"/>
              </a:rPr>
              <a:t>一状态 </a:t>
            </a:r>
            <a:r>
              <a:rPr lang="en-US" altLang="zh-CN" sz="2400" b="1" i="1" dirty="0">
                <a:solidFill>
                  <a:srgbClr val="0000CC"/>
                </a:solidFill>
                <a:latin typeface="Arial" pitchFamily="34" charset="0"/>
                <a:ea typeface="微软雅黑" pitchFamily="34" charset="-122"/>
                <a:cs typeface="Arial" pitchFamily="34" charset="0"/>
              </a:rPr>
              <a:t>a</a:t>
            </a:r>
            <a:r>
              <a:rPr lang="zh-CN" altLang="en-US" sz="2000" dirty="0">
                <a:latin typeface="Arial" pitchFamily="34" charset="0"/>
                <a:ea typeface="微软雅黑" pitchFamily="34" charset="-122"/>
                <a:cs typeface="Arial" pitchFamily="34" charset="0"/>
              </a:rPr>
              <a:t>只能转</a:t>
            </a:r>
            <a:endParaRPr lang="en-US" altLang="zh-CN" sz="2000" dirty="0">
              <a:latin typeface="Arial" pitchFamily="34" charset="0"/>
              <a:ea typeface="微软雅黑" pitchFamily="34" charset="-122"/>
              <a:cs typeface="Arial" pitchFamily="34" charset="0"/>
            </a:endParaRPr>
          </a:p>
          <a:p>
            <a:pPr eaLnBrk="1" hangingPunct="1">
              <a:lnSpc>
                <a:spcPts val="3000"/>
              </a:lnSpc>
              <a:buFont typeface="Wingdings" panose="05000000000000000000" pitchFamily="2" charset="2"/>
              <a:buNone/>
              <a:defRPr/>
            </a:pPr>
            <a:r>
              <a:rPr lang="zh-CN" altLang="en-US" sz="2000" dirty="0">
                <a:latin typeface="Arial" pitchFamily="34" charset="0"/>
                <a:ea typeface="微软雅黑" pitchFamily="34" charset="-122"/>
                <a:cs typeface="Arial" pitchFamily="34" charset="0"/>
              </a:rPr>
              <a:t>到下一状态</a:t>
            </a:r>
            <a:r>
              <a:rPr lang="en-US" altLang="zh-CN" sz="2400" b="1" i="1" dirty="0">
                <a:solidFill>
                  <a:srgbClr val="0000CC"/>
                </a:solidFill>
                <a:latin typeface="Arial" pitchFamily="34" charset="0"/>
                <a:ea typeface="微软雅黑" pitchFamily="34" charset="-122"/>
                <a:cs typeface="Arial" pitchFamily="34" charset="0"/>
              </a:rPr>
              <a:t>a</a:t>
            </a:r>
            <a:r>
              <a:rPr lang="zh-CN" altLang="en-US" sz="2000" dirty="0">
                <a:latin typeface="Arial" pitchFamily="34" charset="0"/>
                <a:ea typeface="微软雅黑" pitchFamily="34" charset="-122"/>
                <a:cs typeface="Arial" pitchFamily="34" charset="0"/>
              </a:rPr>
              <a:t>或</a:t>
            </a:r>
            <a:r>
              <a:rPr lang="en-US" altLang="zh-CN" sz="2400" b="1" i="1" dirty="0">
                <a:solidFill>
                  <a:srgbClr val="0000CC"/>
                </a:solidFill>
                <a:latin typeface="Arial" pitchFamily="34" charset="0"/>
                <a:ea typeface="微软雅黑" pitchFamily="34" charset="-122"/>
                <a:cs typeface="Arial" pitchFamily="34" charset="0"/>
              </a:rPr>
              <a:t>b</a:t>
            </a:r>
            <a:r>
              <a:rPr lang="zh-CN" altLang="en-US" sz="2000" dirty="0">
                <a:latin typeface="Arial" pitchFamily="34" charset="0"/>
                <a:ea typeface="微软雅黑" pitchFamily="34" charset="-122"/>
                <a:cs typeface="Arial" pitchFamily="34" charset="0"/>
              </a:rPr>
              <a:t>；</a:t>
            </a:r>
            <a:endParaRPr lang="en-US" altLang="zh-CN" sz="2000" dirty="0">
              <a:latin typeface="Arial" pitchFamily="34" charset="0"/>
              <a:ea typeface="微软雅黑" pitchFamily="34" charset="-122"/>
              <a:cs typeface="Arial" pitchFamily="34" charset="0"/>
            </a:endParaRPr>
          </a:p>
          <a:p>
            <a:pPr eaLnBrk="1" hangingPunct="1">
              <a:lnSpc>
                <a:spcPts val="3000"/>
              </a:lnSpc>
              <a:buFont typeface="Wingdings" panose="05000000000000000000" pitchFamily="2" charset="2"/>
              <a:buNone/>
              <a:defRPr/>
            </a:pPr>
            <a:r>
              <a:rPr lang="zh-CN" altLang="en-US" sz="2000" dirty="0">
                <a:effectLst>
                  <a:outerShdw blurRad="38100" dist="38100" dir="2700000" algn="tl">
                    <a:srgbClr val="000000">
                      <a:alpha val="43137"/>
                    </a:srgbClr>
                  </a:outerShdw>
                </a:effectLst>
                <a:latin typeface="Arial" pitchFamily="34" charset="0"/>
                <a:ea typeface="微软雅黑" pitchFamily="34" charset="-122"/>
                <a:cs typeface="Arial" pitchFamily="34" charset="0"/>
              </a:rPr>
              <a:t> 前</a:t>
            </a:r>
            <a:r>
              <a:rPr lang="zh-CN" altLang="en-US" sz="2000" dirty="0">
                <a:latin typeface="Arial" pitchFamily="34" charset="0"/>
                <a:ea typeface="微软雅黑" pitchFamily="34" charset="-122"/>
                <a:cs typeface="Arial" pitchFamily="34" charset="0"/>
              </a:rPr>
              <a:t>一状态</a:t>
            </a:r>
            <a:r>
              <a:rPr lang="en-US" altLang="zh-CN" sz="2400" b="1" i="1" dirty="0">
                <a:solidFill>
                  <a:srgbClr val="0000CC"/>
                </a:solidFill>
                <a:latin typeface="Arial" pitchFamily="34" charset="0"/>
                <a:ea typeface="微软雅黑" pitchFamily="34" charset="-122"/>
                <a:cs typeface="Arial" pitchFamily="34" charset="0"/>
              </a:rPr>
              <a:t>b</a:t>
            </a:r>
            <a:r>
              <a:rPr lang="zh-CN" altLang="en-US" sz="2000" dirty="0">
                <a:latin typeface="Arial" pitchFamily="34" charset="0"/>
                <a:ea typeface="微软雅黑" pitchFamily="34" charset="-122"/>
                <a:cs typeface="Arial" pitchFamily="34" charset="0"/>
              </a:rPr>
              <a:t>只能转</a:t>
            </a:r>
            <a:endParaRPr lang="en-US" altLang="zh-CN" sz="2000" dirty="0">
              <a:latin typeface="Arial" pitchFamily="34" charset="0"/>
              <a:ea typeface="微软雅黑" pitchFamily="34" charset="-122"/>
              <a:cs typeface="Arial" pitchFamily="34" charset="0"/>
            </a:endParaRPr>
          </a:p>
          <a:p>
            <a:pPr eaLnBrk="1" hangingPunct="1">
              <a:lnSpc>
                <a:spcPts val="3000"/>
              </a:lnSpc>
              <a:buFont typeface="Wingdings" panose="05000000000000000000" pitchFamily="2" charset="2"/>
              <a:buNone/>
              <a:defRPr/>
            </a:pPr>
            <a:r>
              <a:rPr lang="zh-CN" altLang="en-US" sz="2000" dirty="0">
                <a:latin typeface="Arial" pitchFamily="34" charset="0"/>
                <a:ea typeface="微软雅黑" pitchFamily="34" charset="-122"/>
                <a:cs typeface="Arial" pitchFamily="34" charset="0"/>
              </a:rPr>
              <a:t>到下一状态</a:t>
            </a:r>
            <a:r>
              <a:rPr lang="en-US" altLang="zh-CN" sz="2400" b="1" i="1" dirty="0">
                <a:solidFill>
                  <a:srgbClr val="0000CC"/>
                </a:solidFill>
                <a:latin typeface="Arial" pitchFamily="34" charset="0"/>
                <a:ea typeface="微软雅黑" pitchFamily="34" charset="-122"/>
                <a:cs typeface="Arial" pitchFamily="34" charset="0"/>
              </a:rPr>
              <a:t>c</a:t>
            </a:r>
            <a:r>
              <a:rPr lang="zh-CN" altLang="en-US" sz="2000" dirty="0">
                <a:latin typeface="Arial" pitchFamily="34" charset="0"/>
                <a:ea typeface="微软雅黑" pitchFamily="34" charset="-122"/>
                <a:cs typeface="Arial" pitchFamily="34" charset="0"/>
              </a:rPr>
              <a:t>或</a:t>
            </a:r>
            <a:r>
              <a:rPr lang="en-US" altLang="zh-CN" sz="2400" b="1" i="1" dirty="0">
                <a:solidFill>
                  <a:srgbClr val="0000CC"/>
                </a:solidFill>
                <a:latin typeface="Arial" pitchFamily="34" charset="0"/>
                <a:ea typeface="微软雅黑" pitchFamily="34" charset="-122"/>
                <a:cs typeface="Arial" pitchFamily="34" charset="0"/>
              </a:rPr>
              <a:t>d</a:t>
            </a:r>
            <a:r>
              <a:rPr lang="zh-CN" altLang="en-US" sz="2000" dirty="0">
                <a:latin typeface="Arial" pitchFamily="34" charset="0"/>
                <a:ea typeface="微软雅黑" pitchFamily="34" charset="-122"/>
                <a:cs typeface="Arial" pitchFamily="34" charset="0"/>
              </a:rPr>
              <a:t>，  </a:t>
            </a:r>
            <a:endParaRPr lang="en-US" altLang="zh-CN" sz="2000" dirty="0">
              <a:latin typeface="Arial" pitchFamily="34" charset="0"/>
              <a:ea typeface="微软雅黑" pitchFamily="34" charset="-122"/>
              <a:cs typeface="Arial" pitchFamily="34" charset="0"/>
            </a:endParaRPr>
          </a:p>
          <a:p>
            <a:pPr eaLnBrk="1" hangingPunct="1">
              <a:lnSpc>
                <a:spcPts val="3000"/>
              </a:lnSpc>
              <a:buFont typeface="Wingdings" panose="05000000000000000000" pitchFamily="2" charset="2"/>
              <a:buNone/>
              <a:defRPr/>
            </a:pPr>
            <a:r>
              <a:rPr lang="zh-CN" altLang="en-US" sz="2000" dirty="0">
                <a:latin typeface="Arial" pitchFamily="34" charset="0"/>
                <a:ea typeface="微软雅黑" pitchFamily="34" charset="-122"/>
                <a:cs typeface="Arial" pitchFamily="34" charset="0"/>
              </a:rPr>
              <a:t> 等等。</a:t>
            </a:r>
          </a:p>
          <a:p>
            <a:pPr eaLnBrk="1" hangingPunct="1">
              <a:lnSpc>
                <a:spcPts val="3000"/>
              </a:lnSpc>
              <a:buFont typeface="Wingdings" panose="05000000000000000000" pitchFamily="2" charset="2"/>
              <a:buNone/>
              <a:defRPr/>
            </a:pPr>
            <a:r>
              <a:rPr lang="zh-CN" altLang="en-US" sz="2000" dirty="0">
                <a:latin typeface="Arial" pitchFamily="34" charset="0"/>
                <a:ea typeface="微软雅黑" pitchFamily="34" charset="-122"/>
                <a:cs typeface="Arial" pitchFamily="34" charset="0"/>
              </a:rPr>
              <a:t>	</a:t>
            </a:r>
          </a:p>
        </p:txBody>
      </p:sp>
      <p:sp>
        <p:nvSpPr>
          <p:cNvPr id="6" name="矩形 5">
            <a:extLst>
              <a:ext uri="{FF2B5EF4-FFF2-40B4-BE49-F238E27FC236}">
                <a16:creationId xmlns:a16="http://schemas.microsoft.com/office/drawing/2014/main" id="{0BBDF259-9AB2-1068-A974-6016775F5EEC}"/>
              </a:ext>
            </a:extLst>
          </p:cNvPr>
          <p:cNvSpPr/>
          <p:nvPr/>
        </p:nvSpPr>
        <p:spPr>
          <a:xfrm>
            <a:off x="571500" y="4652963"/>
            <a:ext cx="2357438" cy="990600"/>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a:lnSpc>
                <a:spcPts val="3500"/>
              </a:lnSpc>
              <a:defRPr/>
            </a:pPr>
            <a:r>
              <a:rPr kumimoji="0" lang="zh-CN" altLang="en-US" sz="2000" b="0" kern="0" dirty="0">
                <a:solidFill>
                  <a:srgbClr val="000000"/>
                </a:solidFill>
                <a:latin typeface="Arial" pitchFamily="34" charset="0"/>
                <a:ea typeface="微软雅黑" pitchFamily="34" charset="-122"/>
                <a:cs typeface="Arial" pitchFamily="34" charset="0"/>
              </a:rPr>
              <a:t>按照 表中的规律</a:t>
            </a:r>
            <a:endParaRPr kumimoji="0" lang="en-US" altLang="zh-CN" sz="2000" b="0" kern="0" dirty="0">
              <a:solidFill>
                <a:srgbClr val="000000"/>
              </a:solidFill>
              <a:latin typeface="Arial" pitchFamily="34" charset="0"/>
              <a:ea typeface="微软雅黑" pitchFamily="34" charset="-122"/>
              <a:cs typeface="Arial" pitchFamily="34" charset="0"/>
            </a:endParaRPr>
          </a:p>
          <a:p>
            <a:pPr>
              <a:lnSpc>
                <a:spcPts val="3500"/>
              </a:lnSpc>
              <a:defRPr/>
            </a:pPr>
            <a:r>
              <a:rPr kumimoji="0" lang="zh-CN" altLang="en-US" sz="2000" b="0" kern="0" dirty="0">
                <a:solidFill>
                  <a:srgbClr val="000000"/>
                </a:solidFill>
                <a:latin typeface="Arial" pitchFamily="34" charset="0"/>
                <a:ea typeface="微软雅黑" pitchFamily="34" charset="-122"/>
                <a:cs typeface="Arial" pitchFamily="34" charset="0"/>
              </a:rPr>
              <a:t> 画出的</a:t>
            </a:r>
            <a:r>
              <a:rPr kumimoji="0" lang="zh-CN" altLang="en-US" sz="2000" kern="0" dirty="0">
                <a:solidFill>
                  <a:srgbClr val="FF0000"/>
                </a:solidFill>
                <a:latin typeface="Arial" pitchFamily="34" charset="0"/>
                <a:ea typeface="微软雅黑" pitchFamily="34" charset="-122"/>
                <a:cs typeface="Arial" pitchFamily="34" charset="0"/>
              </a:rPr>
              <a:t>状态图</a:t>
            </a:r>
            <a:r>
              <a:rPr kumimoji="0" lang="zh-CN" altLang="en-US" sz="2000" b="0" kern="0" dirty="0">
                <a:solidFill>
                  <a:srgbClr val="000000"/>
                </a:solidFill>
                <a:latin typeface="Arial" pitchFamily="34" charset="0"/>
                <a:ea typeface="微软雅黑" pitchFamily="34" charset="-122"/>
                <a:cs typeface="Arial" pitchFamily="34" charset="0"/>
              </a:rPr>
              <a:t>： </a:t>
            </a:r>
            <a:endParaRPr lang="zh-CN" altLang="en-US" dirty="0"/>
          </a:p>
        </p:txBody>
      </p:sp>
      <p:sp>
        <p:nvSpPr>
          <p:cNvPr id="5" name="矩形 4">
            <a:extLst>
              <a:ext uri="{FF2B5EF4-FFF2-40B4-BE49-F238E27FC236}">
                <a16:creationId xmlns:a16="http://schemas.microsoft.com/office/drawing/2014/main" id="{1D5E9789-D680-E6B9-349D-4DA9295AF4C5}"/>
              </a:ext>
            </a:extLst>
          </p:cNvPr>
          <p:cNvSpPr/>
          <p:nvPr/>
        </p:nvSpPr>
        <p:spPr>
          <a:xfrm>
            <a:off x="571500" y="1071563"/>
            <a:ext cx="1466850" cy="400050"/>
          </a:xfrm>
          <a:prstGeom prst="rect">
            <a:avLst/>
          </a:prstGeom>
        </p:spPr>
        <p:txBody>
          <a:bodyPr wrap="none">
            <a:spAutoFit/>
          </a:bodyPr>
          <a:lstStyle/>
          <a:p>
            <a:pPr>
              <a:defRPr/>
            </a:pPr>
            <a:r>
              <a:rPr kumimoji="0" lang="zh-CN" altLang="en-US" sz="2000" kern="0" dirty="0">
                <a:solidFill>
                  <a:srgbClr val="000000"/>
                </a:solidFill>
                <a:latin typeface="Arial" pitchFamily="34" charset="0"/>
                <a:ea typeface="微软雅黑" pitchFamily="34" charset="-122"/>
                <a:cs typeface="Arial" pitchFamily="34" charset="0"/>
              </a:rPr>
              <a:t>由表看出：</a:t>
            </a:r>
            <a:endParaRPr lang="zh-CN" altLang="en-US" dirty="0"/>
          </a:p>
        </p:txBody>
      </p:sp>
      <p:grpSp>
        <p:nvGrpSpPr>
          <p:cNvPr id="2" name="Group 6">
            <a:extLst>
              <a:ext uri="{FF2B5EF4-FFF2-40B4-BE49-F238E27FC236}">
                <a16:creationId xmlns:a16="http://schemas.microsoft.com/office/drawing/2014/main" id="{D92A66E8-1299-25B2-6C4F-585591FB97EB}"/>
              </a:ext>
            </a:extLst>
          </p:cNvPr>
          <p:cNvGrpSpPr>
            <a:grpSpLocks/>
          </p:cNvGrpSpPr>
          <p:nvPr/>
        </p:nvGrpSpPr>
        <p:grpSpPr bwMode="auto">
          <a:xfrm>
            <a:off x="3429000" y="4143375"/>
            <a:ext cx="4929188" cy="2428875"/>
            <a:chOff x="5763" y="8738"/>
            <a:chExt cx="4128" cy="2180"/>
          </a:xfrm>
        </p:grpSpPr>
        <p:sp>
          <p:nvSpPr>
            <p:cNvPr id="137223" name="Freeform 7">
              <a:extLst>
                <a:ext uri="{FF2B5EF4-FFF2-40B4-BE49-F238E27FC236}">
                  <a16:creationId xmlns:a16="http://schemas.microsoft.com/office/drawing/2014/main" id="{FB964E70-3F7F-B94A-F634-B368C60212A4}"/>
                </a:ext>
              </a:extLst>
            </p:cNvPr>
            <p:cNvSpPr>
              <a:spLocks/>
            </p:cNvSpPr>
            <p:nvPr/>
          </p:nvSpPr>
          <p:spPr bwMode="auto">
            <a:xfrm>
              <a:off x="7497" y="9764"/>
              <a:ext cx="38" cy="256"/>
            </a:xfrm>
            <a:custGeom>
              <a:avLst/>
              <a:gdLst>
                <a:gd name="T0" fmla="*/ 2147483647 w 2"/>
                <a:gd name="T1" fmla="*/ 32301 h 201"/>
                <a:gd name="T2" fmla="*/ 2147483647 w 2"/>
                <a:gd name="T3" fmla="*/ 0 h 201"/>
                <a:gd name="T4" fmla="*/ 0 60000 65536"/>
                <a:gd name="T5" fmla="*/ 0 60000 65536"/>
                <a:gd name="T6" fmla="*/ 0 w 2"/>
                <a:gd name="T7" fmla="*/ 0 h 201"/>
                <a:gd name="T8" fmla="*/ 2 w 2"/>
                <a:gd name="T9" fmla="*/ 201 h 201"/>
              </a:gdLst>
              <a:ahLst/>
              <a:cxnLst>
                <a:cxn ang="T4">
                  <a:pos x="T0" y="T1"/>
                </a:cxn>
                <a:cxn ang="T5">
                  <a:pos x="T2" y="T3"/>
                </a:cxn>
              </a:cxnLst>
              <a:rect l="T6" t="T7" r="T8" b="T9"/>
              <a:pathLst>
                <a:path w="2" h="201">
                  <a:moveTo>
                    <a:pt x="2" y="201"/>
                  </a:moveTo>
                  <a:cubicBezTo>
                    <a:pt x="1" y="119"/>
                    <a:pt x="0" y="38"/>
                    <a:pt x="2" y="0"/>
                  </a:cubicBezTo>
                </a:path>
              </a:pathLst>
            </a:custGeom>
            <a:noFill/>
            <a:ln w="9525">
              <a:solidFill>
                <a:srgbClr val="FF0000"/>
              </a:solidFill>
              <a:prstDash val="dash"/>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grpSp>
          <p:nvGrpSpPr>
            <p:cNvPr id="137224" name="Group 8">
              <a:extLst>
                <a:ext uri="{FF2B5EF4-FFF2-40B4-BE49-F238E27FC236}">
                  <a16:creationId xmlns:a16="http://schemas.microsoft.com/office/drawing/2014/main" id="{803EC635-A29D-69C7-4F53-0BD43D483532}"/>
                </a:ext>
              </a:extLst>
            </p:cNvPr>
            <p:cNvGrpSpPr>
              <a:grpSpLocks/>
            </p:cNvGrpSpPr>
            <p:nvPr/>
          </p:nvGrpSpPr>
          <p:grpSpPr bwMode="auto">
            <a:xfrm>
              <a:off x="5763" y="8738"/>
              <a:ext cx="4128" cy="2180"/>
              <a:chOff x="5127" y="8987"/>
              <a:chExt cx="4128" cy="2180"/>
            </a:xfrm>
          </p:grpSpPr>
          <p:grpSp>
            <p:nvGrpSpPr>
              <p:cNvPr id="137225" name="Group 9">
                <a:extLst>
                  <a:ext uri="{FF2B5EF4-FFF2-40B4-BE49-F238E27FC236}">
                    <a16:creationId xmlns:a16="http://schemas.microsoft.com/office/drawing/2014/main" id="{491C6046-0DF1-B932-BF2D-5ABD44841697}"/>
                  </a:ext>
                </a:extLst>
              </p:cNvPr>
              <p:cNvGrpSpPr>
                <a:grpSpLocks/>
              </p:cNvGrpSpPr>
              <p:nvPr/>
            </p:nvGrpSpPr>
            <p:grpSpPr bwMode="auto">
              <a:xfrm>
                <a:off x="5127" y="8987"/>
                <a:ext cx="4128" cy="2180"/>
                <a:chOff x="5127" y="8987"/>
                <a:chExt cx="4128" cy="2180"/>
              </a:xfrm>
            </p:grpSpPr>
            <p:grpSp>
              <p:nvGrpSpPr>
                <p:cNvPr id="137235" name="Group 10">
                  <a:extLst>
                    <a:ext uri="{FF2B5EF4-FFF2-40B4-BE49-F238E27FC236}">
                      <a16:creationId xmlns:a16="http://schemas.microsoft.com/office/drawing/2014/main" id="{3C02BCB5-D009-01A3-6180-AEA9EC954194}"/>
                    </a:ext>
                  </a:extLst>
                </p:cNvPr>
                <p:cNvGrpSpPr>
                  <a:grpSpLocks/>
                </p:cNvGrpSpPr>
                <p:nvPr/>
              </p:nvGrpSpPr>
              <p:grpSpPr bwMode="auto">
                <a:xfrm>
                  <a:off x="5127" y="9279"/>
                  <a:ext cx="4128" cy="1566"/>
                  <a:chOff x="5127" y="9279"/>
                  <a:chExt cx="4128" cy="1566"/>
                </a:xfrm>
              </p:grpSpPr>
              <p:grpSp>
                <p:nvGrpSpPr>
                  <p:cNvPr id="137241" name="Group 11">
                    <a:extLst>
                      <a:ext uri="{FF2B5EF4-FFF2-40B4-BE49-F238E27FC236}">
                        <a16:creationId xmlns:a16="http://schemas.microsoft.com/office/drawing/2014/main" id="{670AA0F2-53BF-FCF7-43F6-EAA1F0A5C8E7}"/>
                      </a:ext>
                    </a:extLst>
                  </p:cNvPr>
                  <p:cNvGrpSpPr>
                    <a:grpSpLocks/>
                  </p:cNvGrpSpPr>
                  <p:nvPr/>
                </p:nvGrpSpPr>
                <p:grpSpPr bwMode="auto">
                  <a:xfrm>
                    <a:off x="5127" y="9300"/>
                    <a:ext cx="4128" cy="1512"/>
                    <a:chOff x="5127" y="9300"/>
                    <a:chExt cx="4128" cy="1512"/>
                  </a:xfrm>
                </p:grpSpPr>
                <p:grpSp>
                  <p:nvGrpSpPr>
                    <p:cNvPr id="137246" name="Group 12">
                      <a:extLst>
                        <a:ext uri="{FF2B5EF4-FFF2-40B4-BE49-F238E27FC236}">
                          <a16:creationId xmlns:a16="http://schemas.microsoft.com/office/drawing/2014/main" id="{119C417F-D981-974D-ADE2-19571C14F2A6}"/>
                        </a:ext>
                      </a:extLst>
                    </p:cNvPr>
                    <p:cNvGrpSpPr>
                      <a:grpSpLocks/>
                    </p:cNvGrpSpPr>
                    <p:nvPr/>
                  </p:nvGrpSpPr>
                  <p:grpSpPr bwMode="auto">
                    <a:xfrm>
                      <a:off x="5127" y="9300"/>
                      <a:ext cx="4119" cy="1512"/>
                      <a:chOff x="5127" y="9300"/>
                      <a:chExt cx="4119" cy="1512"/>
                    </a:xfrm>
                  </p:grpSpPr>
                  <p:grpSp>
                    <p:nvGrpSpPr>
                      <p:cNvPr id="137248" name="Group 13">
                        <a:extLst>
                          <a:ext uri="{FF2B5EF4-FFF2-40B4-BE49-F238E27FC236}">
                            <a16:creationId xmlns:a16="http://schemas.microsoft.com/office/drawing/2014/main" id="{B3BA96B9-FEDA-5B36-F23E-8178C133EC95}"/>
                          </a:ext>
                        </a:extLst>
                      </p:cNvPr>
                      <p:cNvGrpSpPr>
                        <a:grpSpLocks/>
                      </p:cNvGrpSpPr>
                      <p:nvPr/>
                    </p:nvGrpSpPr>
                    <p:grpSpPr bwMode="auto">
                      <a:xfrm>
                        <a:off x="5127" y="9300"/>
                        <a:ext cx="4119" cy="1512"/>
                        <a:chOff x="5127" y="9300"/>
                        <a:chExt cx="4119" cy="1512"/>
                      </a:xfrm>
                    </p:grpSpPr>
                    <p:grpSp>
                      <p:nvGrpSpPr>
                        <p:cNvPr id="137250" name="Group 14">
                          <a:extLst>
                            <a:ext uri="{FF2B5EF4-FFF2-40B4-BE49-F238E27FC236}">
                              <a16:creationId xmlns:a16="http://schemas.microsoft.com/office/drawing/2014/main" id="{A6BE6573-1071-E39C-6345-FD3AA53B86D3}"/>
                            </a:ext>
                          </a:extLst>
                        </p:cNvPr>
                        <p:cNvGrpSpPr>
                          <a:grpSpLocks/>
                        </p:cNvGrpSpPr>
                        <p:nvPr/>
                      </p:nvGrpSpPr>
                      <p:grpSpPr bwMode="auto">
                        <a:xfrm>
                          <a:off x="5127" y="9300"/>
                          <a:ext cx="4119" cy="1512"/>
                          <a:chOff x="5127" y="9300"/>
                          <a:chExt cx="4119" cy="1512"/>
                        </a:xfrm>
                      </p:grpSpPr>
                      <p:grpSp>
                        <p:nvGrpSpPr>
                          <p:cNvPr id="137252" name="Group 15">
                            <a:extLst>
                              <a:ext uri="{FF2B5EF4-FFF2-40B4-BE49-F238E27FC236}">
                                <a16:creationId xmlns:a16="http://schemas.microsoft.com/office/drawing/2014/main" id="{44037399-419F-1708-0C89-905420D50BFB}"/>
                              </a:ext>
                            </a:extLst>
                          </p:cNvPr>
                          <p:cNvGrpSpPr>
                            <a:grpSpLocks/>
                          </p:cNvGrpSpPr>
                          <p:nvPr/>
                        </p:nvGrpSpPr>
                        <p:grpSpPr bwMode="auto">
                          <a:xfrm>
                            <a:off x="5127" y="9300"/>
                            <a:ext cx="4119" cy="1512"/>
                            <a:chOff x="5127" y="9300"/>
                            <a:chExt cx="4119" cy="1512"/>
                          </a:xfrm>
                        </p:grpSpPr>
                        <p:grpSp>
                          <p:nvGrpSpPr>
                            <p:cNvPr id="137254" name="Group 16">
                              <a:extLst>
                                <a:ext uri="{FF2B5EF4-FFF2-40B4-BE49-F238E27FC236}">
                                  <a16:creationId xmlns:a16="http://schemas.microsoft.com/office/drawing/2014/main" id="{816005E9-411C-C84A-104A-F6AF5BC40355}"/>
                                </a:ext>
                              </a:extLst>
                            </p:cNvPr>
                            <p:cNvGrpSpPr>
                              <a:grpSpLocks/>
                            </p:cNvGrpSpPr>
                            <p:nvPr/>
                          </p:nvGrpSpPr>
                          <p:grpSpPr bwMode="auto">
                            <a:xfrm>
                              <a:off x="5127" y="9300"/>
                              <a:ext cx="4119" cy="1512"/>
                              <a:chOff x="5127" y="9312"/>
                              <a:chExt cx="4119" cy="1512"/>
                            </a:xfrm>
                          </p:grpSpPr>
                          <p:sp>
                            <p:nvSpPr>
                              <p:cNvPr id="137258" name="Oval 17">
                                <a:extLst>
                                  <a:ext uri="{FF2B5EF4-FFF2-40B4-BE49-F238E27FC236}">
                                    <a16:creationId xmlns:a16="http://schemas.microsoft.com/office/drawing/2014/main" id="{C17CACC7-B276-8CB3-815F-1A048A0529C0}"/>
                                  </a:ext>
                                </a:extLst>
                              </p:cNvPr>
                              <p:cNvSpPr>
                                <a:spLocks noChangeArrowheads="1"/>
                              </p:cNvSpPr>
                              <p:nvPr/>
                            </p:nvSpPr>
                            <p:spPr bwMode="auto">
                              <a:xfrm>
                                <a:off x="5127" y="9513"/>
                                <a:ext cx="1155" cy="1095"/>
                              </a:xfrm>
                              <a:prstGeom prst="ellipse">
                                <a:avLst/>
                              </a:prstGeom>
                              <a:solidFill>
                                <a:srgbClr val="FFFFFF"/>
                              </a:solidFill>
                              <a:ln w="19050">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sp>
                            <p:nvSpPr>
                              <p:cNvPr id="137259" name="Oval 18">
                                <a:extLst>
                                  <a:ext uri="{FF2B5EF4-FFF2-40B4-BE49-F238E27FC236}">
                                    <a16:creationId xmlns:a16="http://schemas.microsoft.com/office/drawing/2014/main" id="{2384B0DC-82F3-ED10-F6E0-D0A9DE125524}"/>
                                  </a:ext>
                                </a:extLst>
                              </p:cNvPr>
                              <p:cNvSpPr>
                                <a:spLocks noChangeArrowheads="1"/>
                              </p:cNvSpPr>
                              <p:nvPr/>
                            </p:nvSpPr>
                            <p:spPr bwMode="auto">
                              <a:xfrm>
                                <a:off x="8091" y="9528"/>
                                <a:ext cx="1155" cy="1095"/>
                              </a:xfrm>
                              <a:prstGeom prst="ellipse">
                                <a:avLst/>
                              </a:prstGeom>
                              <a:solidFill>
                                <a:srgbClr val="FFFFFF"/>
                              </a:solidFill>
                              <a:ln w="19050">
                                <a:solidFill>
                                  <a:srgbClr val="000000"/>
                                </a:solidFill>
                                <a:prstDash val="dash"/>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sp>
                            <p:nvSpPr>
                              <p:cNvPr id="137260" name="Line 19">
                                <a:extLst>
                                  <a:ext uri="{FF2B5EF4-FFF2-40B4-BE49-F238E27FC236}">
                                    <a16:creationId xmlns:a16="http://schemas.microsoft.com/office/drawing/2014/main" id="{F9A9C298-B152-E127-21E4-C62F8B20A885}"/>
                                  </a:ext>
                                </a:extLst>
                              </p:cNvPr>
                              <p:cNvSpPr>
                                <a:spLocks noChangeShapeType="1"/>
                              </p:cNvSpPr>
                              <p:nvPr/>
                            </p:nvSpPr>
                            <p:spPr bwMode="auto">
                              <a:xfrm flipV="1">
                                <a:off x="6270" y="9318"/>
                                <a:ext cx="900" cy="75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61" name="Line 20">
                                <a:extLst>
                                  <a:ext uri="{FF2B5EF4-FFF2-40B4-BE49-F238E27FC236}">
                                    <a16:creationId xmlns:a16="http://schemas.microsoft.com/office/drawing/2014/main" id="{8C3AB08D-67C4-D5A0-EA3F-1491E298DF55}"/>
                                  </a:ext>
                                </a:extLst>
                              </p:cNvPr>
                              <p:cNvSpPr>
                                <a:spLocks noChangeShapeType="1"/>
                              </p:cNvSpPr>
                              <p:nvPr/>
                            </p:nvSpPr>
                            <p:spPr bwMode="auto">
                              <a:xfrm>
                                <a:off x="6270" y="10052"/>
                                <a:ext cx="900" cy="7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62" name="Line 21">
                                <a:extLst>
                                  <a:ext uri="{FF2B5EF4-FFF2-40B4-BE49-F238E27FC236}">
                                    <a16:creationId xmlns:a16="http://schemas.microsoft.com/office/drawing/2014/main" id="{76682431-C1DC-4D9F-AF83-F42486C6B245}"/>
                                  </a:ext>
                                </a:extLst>
                              </p:cNvPr>
                              <p:cNvSpPr>
                                <a:spLocks noChangeShapeType="1"/>
                              </p:cNvSpPr>
                              <p:nvPr/>
                            </p:nvSpPr>
                            <p:spPr bwMode="auto">
                              <a:xfrm>
                                <a:off x="7176" y="9312"/>
                                <a:ext cx="900" cy="75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63" name="Line 22">
                                <a:extLst>
                                  <a:ext uri="{FF2B5EF4-FFF2-40B4-BE49-F238E27FC236}">
                                    <a16:creationId xmlns:a16="http://schemas.microsoft.com/office/drawing/2014/main" id="{0A0086EF-ED83-6EB1-9CC7-EE444F583860}"/>
                                  </a:ext>
                                </a:extLst>
                              </p:cNvPr>
                              <p:cNvSpPr>
                                <a:spLocks noChangeShapeType="1"/>
                              </p:cNvSpPr>
                              <p:nvPr/>
                            </p:nvSpPr>
                            <p:spPr bwMode="auto">
                              <a:xfrm flipV="1">
                                <a:off x="7176" y="10074"/>
                                <a:ext cx="900" cy="7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64" name="Arc 23">
                                <a:extLst>
                                  <a:ext uri="{FF2B5EF4-FFF2-40B4-BE49-F238E27FC236}">
                                    <a16:creationId xmlns:a16="http://schemas.microsoft.com/office/drawing/2014/main" id="{D9F35A92-F679-C6B5-0B97-07C8FEEB3949}"/>
                                  </a:ext>
                                </a:extLst>
                              </p:cNvPr>
                              <p:cNvSpPr>
                                <a:spLocks/>
                              </p:cNvSpPr>
                              <p:nvPr/>
                            </p:nvSpPr>
                            <p:spPr bwMode="auto">
                              <a:xfrm rot="2741334">
                                <a:off x="6686" y="9552"/>
                                <a:ext cx="1055" cy="100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sp>
                            <p:nvSpPr>
                              <p:cNvPr id="137265" name="Arc 24">
                                <a:extLst>
                                  <a:ext uri="{FF2B5EF4-FFF2-40B4-BE49-F238E27FC236}">
                                    <a16:creationId xmlns:a16="http://schemas.microsoft.com/office/drawing/2014/main" id="{749BD413-9B57-952A-5E49-A675589F6B73}"/>
                                  </a:ext>
                                </a:extLst>
                              </p:cNvPr>
                              <p:cNvSpPr>
                                <a:spLocks/>
                              </p:cNvSpPr>
                              <p:nvPr/>
                            </p:nvSpPr>
                            <p:spPr bwMode="auto">
                              <a:xfrm rot="18858666" flipH="1">
                                <a:off x="6639" y="9554"/>
                                <a:ext cx="1055" cy="100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grpSp>
                        <p:sp>
                          <p:nvSpPr>
                            <p:cNvPr id="137255" name="Line 25">
                              <a:extLst>
                                <a:ext uri="{FF2B5EF4-FFF2-40B4-BE49-F238E27FC236}">
                                  <a16:creationId xmlns:a16="http://schemas.microsoft.com/office/drawing/2014/main" id="{550BF2E2-80A5-FF44-EA64-6A1BD3CD21D8}"/>
                                </a:ext>
                              </a:extLst>
                            </p:cNvPr>
                            <p:cNvSpPr>
                              <a:spLocks noChangeShapeType="1"/>
                            </p:cNvSpPr>
                            <p:nvPr/>
                          </p:nvSpPr>
                          <p:spPr bwMode="auto">
                            <a:xfrm flipV="1">
                              <a:off x="6563" y="9690"/>
                              <a:ext cx="148" cy="130"/>
                            </a:xfrm>
                            <a:prstGeom prst="line">
                              <a:avLst/>
                            </a:prstGeom>
                            <a:noFill/>
                            <a:ln w="1270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7256" name="Line 26">
                              <a:extLst>
                                <a:ext uri="{FF2B5EF4-FFF2-40B4-BE49-F238E27FC236}">
                                  <a16:creationId xmlns:a16="http://schemas.microsoft.com/office/drawing/2014/main" id="{B6B206A0-3F2C-49EA-7028-14826F084C77}"/>
                                </a:ext>
                              </a:extLst>
                            </p:cNvPr>
                            <p:cNvSpPr>
                              <a:spLocks noChangeShapeType="1"/>
                            </p:cNvSpPr>
                            <p:nvPr/>
                          </p:nvSpPr>
                          <p:spPr bwMode="auto">
                            <a:xfrm flipV="1">
                              <a:off x="7599" y="10227"/>
                              <a:ext cx="276" cy="252"/>
                            </a:xfrm>
                            <a:prstGeom prst="line">
                              <a:avLst/>
                            </a:prstGeom>
                            <a:noFill/>
                            <a:ln w="9525">
                              <a:solidFill>
                                <a:srgbClr val="FF0000"/>
                              </a:solidFill>
                              <a:prstDash val="dash"/>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37257" name="Line 27">
                              <a:extLst>
                                <a:ext uri="{FF2B5EF4-FFF2-40B4-BE49-F238E27FC236}">
                                  <a16:creationId xmlns:a16="http://schemas.microsoft.com/office/drawing/2014/main" id="{F447B919-DCE1-1AD9-C398-6767C252E781}"/>
                                </a:ext>
                              </a:extLst>
                            </p:cNvPr>
                            <p:cNvSpPr>
                              <a:spLocks noChangeShapeType="1"/>
                            </p:cNvSpPr>
                            <p:nvPr/>
                          </p:nvSpPr>
                          <p:spPr bwMode="auto">
                            <a:xfrm flipH="1" flipV="1">
                              <a:off x="6675" y="10368"/>
                              <a:ext cx="210" cy="201"/>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37253" name="Line 28">
                            <a:extLst>
                              <a:ext uri="{FF2B5EF4-FFF2-40B4-BE49-F238E27FC236}">
                                <a16:creationId xmlns:a16="http://schemas.microsoft.com/office/drawing/2014/main" id="{D86DD2E0-B325-1A59-BC74-F8EAEC225F06}"/>
                              </a:ext>
                            </a:extLst>
                          </p:cNvPr>
                          <p:cNvSpPr>
                            <a:spLocks noChangeShapeType="1"/>
                          </p:cNvSpPr>
                          <p:nvPr/>
                        </p:nvSpPr>
                        <p:spPr bwMode="auto">
                          <a:xfrm>
                            <a:off x="7500" y="9567"/>
                            <a:ext cx="237" cy="201"/>
                          </a:xfrm>
                          <a:prstGeom prst="line">
                            <a:avLst/>
                          </a:prstGeom>
                          <a:noFill/>
                          <a:ln w="1270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6" name="Freeform 29">
                          <a:extLst>
                            <a:ext uri="{FF2B5EF4-FFF2-40B4-BE49-F238E27FC236}">
                              <a16:creationId xmlns:a16="http://schemas.microsoft.com/office/drawing/2014/main" id="{7EC05860-736E-53C5-E56E-D08473571262}"/>
                            </a:ext>
                          </a:extLst>
                        </p:cNvPr>
                        <p:cNvSpPr>
                          <a:spLocks/>
                        </p:cNvSpPr>
                        <p:nvPr/>
                      </p:nvSpPr>
                      <p:spPr bwMode="auto">
                        <a:xfrm>
                          <a:off x="7476" y="9816"/>
                          <a:ext cx="36" cy="214"/>
                        </a:xfrm>
                        <a:custGeom>
                          <a:avLst/>
                          <a:gdLst>
                            <a:gd name="T0" fmla="*/ 0 w 36"/>
                            <a:gd name="T1" fmla="*/ 0 h 213"/>
                            <a:gd name="T2" fmla="*/ 36 w 36"/>
                            <a:gd name="T3" fmla="*/ 213 h 213"/>
                            <a:gd name="T4" fmla="*/ 0 60000 65536"/>
                            <a:gd name="T5" fmla="*/ 0 60000 65536"/>
                            <a:gd name="T6" fmla="*/ 0 w 36"/>
                            <a:gd name="T7" fmla="*/ 0 h 213"/>
                            <a:gd name="T8" fmla="*/ 36 w 36"/>
                            <a:gd name="T9" fmla="*/ 213 h 213"/>
                          </a:gdLst>
                          <a:ahLst/>
                          <a:cxnLst>
                            <a:cxn ang="T4">
                              <a:pos x="T0" y="T1"/>
                            </a:cxn>
                            <a:cxn ang="T5">
                              <a:pos x="T2" y="T3"/>
                            </a:cxn>
                          </a:cxnLst>
                          <a:rect l="T6" t="T7" r="T8" b="T9"/>
                          <a:pathLst>
                            <a:path w="36" h="213">
                              <a:moveTo>
                                <a:pt x="0" y="0"/>
                              </a:moveTo>
                              <a:cubicBezTo>
                                <a:pt x="15" y="89"/>
                                <a:pt x="30" y="178"/>
                                <a:pt x="36" y="213"/>
                              </a:cubicBezTo>
                            </a:path>
                          </a:pathLst>
                        </a:custGeom>
                        <a:noFill/>
                        <a:ln w="9525">
                          <a:solidFill>
                            <a:srgbClr val="FF0000"/>
                          </a:solidFill>
                          <a:round/>
                          <a:headEnd/>
                          <a:tailEnd type="triangle" w="med" len="med"/>
                        </a:ln>
                      </p:spPr>
                      <p:txBody>
                        <a:bodyPr/>
                        <a:lstStyle/>
                        <a:p>
                          <a:pPr>
                            <a:defRPr/>
                          </a:pPr>
                          <a:endParaRPr lang="zh-CN" altLang="en-US" sz="1800">
                            <a:ln>
                              <a:solidFill>
                                <a:srgbClr val="FF0000"/>
                              </a:solidFill>
                            </a:ln>
                            <a:solidFill>
                              <a:schemeClr val="tx1"/>
                            </a:solidFill>
                            <a:latin typeface="Arial" pitchFamily="34" charset="0"/>
                            <a:cs typeface="Arial" pitchFamily="34" charset="0"/>
                          </a:endParaRPr>
                        </a:p>
                      </p:txBody>
                    </p:sp>
                  </p:grpSp>
                  <p:sp>
                    <p:nvSpPr>
                      <p:cNvPr id="137249" name="Freeform 30">
                        <a:extLst>
                          <a:ext uri="{FF2B5EF4-FFF2-40B4-BE49-F238E27FC236}">
                            <a16:creationId xmlns:a16="http://schemas.microsoft.com/office/drawing/2014/main" id="{6C8FE3DE-C458-69E7-2878-5281D108217A}"/>
                          </a:ext>
                        </a:extLst>
                      </p:cNvPr>
                      <p:cNvSpPr>
                        <a:spLocks/>
                      </p:cNvSpPr>
                      <p:nvPr/>
                    </p:nvSpPr>
                    <p:spPr bwMode="auto">
                      <a:xfrm>
                        <a:off x="5133" y="10017"/>
                        <a:ext cx="1" cy="126"/>
                      </a:xfrm>
                      <a:custGeom>
                        <a:avLst/>
                        <a:gdLst>
                          <a:gd name="T0" fmla="*/ 0 w 1"/>
                          <a:gd name="T1" fmla="*/ 126 h 126"/>
                          <a:gd name="T2" fmla="*/ 0 w 1"/>
                          <a:gd name="T3" fmla="*/ 0 h 126"/>
                          <a:gd name="T4" fmla="*/ 0 60000 65536"/>
                          <a:gd name="T5" fmla="*/ 0 60000 65536"/>
                          <a:gd name="T6" fmla="*/ 0 w 1"/>
                          <a:gd name="T7" fmla="*/ 0 h 126"/>
                          <a:gd name="T8" fmla="*/ 1 w 1"/>
                          <a:gd name="T9" fmla="*/ 126 h 126"/>
                        </a:gdLst>
                        <a:ahLst/>
                        <a:cxnLst>
                          <a:cxn ang="T4">
                            <a:pos x="T0" y="T1"/>
                          </a:cxn>
                          <a:cxn ang="T5">
                            <a:pos x="T2" y="T3"/>
                          </a:cxn>
                        </a:cxnLst>
                        <a:rect l="T6" t="T7" r="T8" b="T9"/>
                        <a:pathLst>
                          <a:path w="1" h="126">
                            <a:moveTo>
                              <a:pt x="0" y="126"/>
                            </a:moveTo>
                            <a:cubicBezTo>
                              <a:pt x="0" y="73"/>
                              <a:pt x="0" y="21"/>
                              <a:pt x="0" y="0"/>
                            </a:cubicBezTo>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grpSp>
                <p:sp>
                  <p:nvSpPr>
                    <p:cNvPr id="137247" name="Freeform 31">
                      <a:extLst>
                        <a:ext uri="{FF2B5EF4-FFF2-40B4-BE49-F238E27FC236}">
                          <a16:creationId xmlns:a16="http://schemas.microsoft.com/office/drawing/2014/main" id="{FA103C6A-28D7-53D7-32A3-983AF24034B0}"/>
                        </a:ext>
                      </a:extLst>
                    </p:cNvPr>
                    <p:cNvSpPr>
                      <a:spLocks/>
                    </p:cNvSpPr>
                    <p:nvPr/>
                  </p:nvSpPr>
                  <p:spPr bwMode="auto">
                    <a:xfrm>
                      <a:off x="9228" y="9930"/>
                      <a:ext cx="27" cy="87"/>
                    </a:xfrm>
                    <a:custGeom>
                      <a:avLst/>
                      <a:gdLst>
                        <a:gd name="T0" fmla="*/ 0 w 27"/>
                        <a:gd name="T1" fmla="*/ 0 h 87"/>
                        <a:gd name="T2" fmla="*/ 27 w 27"/>
                        <a:gd name="T3" fmla="*/ 87 h 87"/>
                        <a:gd name="T4" fmla="*/ 0 60000 65536"/>
                        <a:gd name="T5" fmla="*/ 0 60000 65536"/>
                        <a:gd name="T6" fmla="*/ 0 w 27"/>
                        <a:gd name="T7" fmla="*/ 0 h 87"/>
                        <a:gd name="T8" fmla="*/ 27 w 27"/>
                        <a:gd name="T9" fmla="*/ 87 h 87"/>
                      </a:gdLst>
                      <a:ahLst/>
                      <a:cxnLst>
                        <a:cxn ang="T4">
                          <a:pos x="T0" y="T1"/>
                        </a:cxn>
                        <a:cxn ang="T5">
                          <a:pos x="T2" y="T3"/>
                        </a:cxn>
                      </a:cxnLst>
                      <a:rect l="T6" t="T7" r="T8" b="T9"/>
                      <a:pathLst>
                        <a:path w="27" h="87">
                          <a:moveTo>
                            <a:pt x="0" y="0"/>
                          </a:moveTo>
                          <a:cubicBezTo>
                            <a:pt x="11" y="36"/>
                            <a:pt x="23" y="73"/>
                            <a:pt x="27" y="87"/>
                          </a:cubicBezTo>
                        </a:path>
                      </a:pathLst>
                    </a:custGeom>
                    <a:noFill/>
                    <a:ln w="9525">
                      <a:solidFill>
                        <a:srgbClr val="FF0000"/>
                      </a:solidFill>
                      <a:prstDash val="dash"/>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grpSp>
              <p:sp>
                <p:nvSpPr>
                  <p:cNvPr id="137242" name="Oval 32">
                    <a:extLst>
                      <a:ext uri="{FF2B5EF4-FFF2-40B4-BE49-F238E27FC236}">
                        <a16:creationId xmlns:a16="http://schemas.microsoft.com/office/drawing/2014/main" id="{3C0D15BF-1647-DBC6-6F0A-2CE3B446F970}"/>
                      </a:ext>
                    </a:extLst>
                  </p:cNvPr>
                  <p:cNvSpPr>
                    <a:spLocks noChangeArrowheads="1"/>
                  </p:cNvSpPr>
                  <p:nvPr/>
                </p:nvSpPr>
                <p:spPr bwMode="auto">
                  <a:xfrm>
                    <a:off x="8049" y="10020"/>
                    <a:ext cx="90" cy="87"/>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sp>
                <p:nvSpPr>
                  <p:cNvPr id="137243" name="Oval 33">
                    <a:extLst>
                      <a:ext uri="{FF2B5EF4-FFF2-40B4-BE49-F238E27FC236}">
                        <a16:creationId xmlns:a16="http://schemas.microsoft.com/office/drawing/2014/main" id="{34AC4CF4-0935-BE3B-1CF3-58BEB8855981}"/>
                      </a:ext>
                    </a:extLst>
                  </p:cNvPr>
                  <p:cNvSpPr>
                    <a:spLocks noChangeArrowheads="1"/>
                  </p:cNvSpPr>
                  <p:nvPr/>
                </p:nvSpPr>
                <p:spPr bwMode="auto">
                  <a:xfrm>
                    <a:off x="6234" y="10020"/>
                    <a:ext cx="90" cy="87"/>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sp>
                <p:nvSpPr>
                  <p:cNvPr id="137244" name="Oval 34">
                    <a:extLst>
                      <a:ext uri="{FF2B5EF4-FFF2-40B4-BE49-F238E27FC236}">
                        <a16:creationId xmlns:a16="http://schemas.microsoft.com/office/drawing/2014/main" id="{65B66C9F-1D9E-EEC8-02DF-A824B2A576E1}"/>
                      </a:ext>
                    </a:extLst>
                  </p:cNvPr>
                  <p:cNvSpPr>
                    <a:spLocks noChangeArrowheads="1"/>
                  </p:cNvSpPr>
                  <p:nvPr/>
                </p:nvSpPr>
                <p:spPr bwMode="auto">
                  <a:xfrm>
                    <a:off x="7137" y="9279"/>
                    <a:ext cx="90" cy="87"/>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sp>
                <p:nvSpPr>
                  <p:cNvPr id="137245" name="Oval 35">
                    <a:extLst>
                      <a:ext uri="{FF2B5EF4-FFF2-40B4-BE49-F238E27FC236}">
                        <a16:creationId xmlns:a16="http://schemas.microsoft.com/office/drawing/2014/main" id="{27849E0B-BD32-58D3-4DAF-162BE20B4D27}"/>
                      </a:ext>
                    </a:extLst>
                  </p:cNvPr>
                  <p:cNvSpPr>
                    <a:spLocks noChangeArrowheads="1"/>
                  </p:cNvSpPr>
                  <p:nvPr/>
                </p:nvSpPr>
                <p:spPr bwMode="auto">
                  <a:xfrm>
                    <a:off x="7149" y="10758"/>
                    <a:ext cx="90" cy="87"/>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grpSp>
            <p:grpSp>
              <p:nvGrpSpPr>
                <p:cNvPr id="137236" name="Group 36">
                  <a:extLst>
                    <a:ext uri="{FF2B5EF4-FFF2-40B4-BE49-F238E27FC236}">
                      <a16:creationId xmlns:a16="http://schemas.microsoft.com/office/drawing/2014/main" id="{DEE8CF9D-CA8E-5CBF-DCE5-EE4390375278}"/>
                    </a:ext>
                  </a:extLst>
                </p:cNvPr>
                <p:cNvGrpSpPr>
                  <a:grpSpLocks/>
                </p:cNvGrpSpPr>
                <p:nvPr/>
              </p:nvGrpSpPr>
              <p:grpSpPr bwMode="auto">
                <a:xfrm>
                  <a:off x="5994" y="8987"/>
                  <a:ext cx="2565" cy="2180"/>
                  <a:chOff x="5994" y="8987"/>
                  <a:chExt cx="2565" cy="2180"/>
                </a:xfrm>
              </p:grpSpPr>
              <p:sp>
                <p:nvSpPr>
                  <p:cNvPr id="137237" name="Text Box 37">
                    <a:extLst>
                      <a:ext uri="{FF2B5EF4-FFF2-40B4-BE49-F238E27FC236}">
                        <a16:creationId xmlns:a16="http://schemas.microsoft.com/office/drawing/2014/main" id="{E4084C4D-DEC9-43D7-A856-2EFE93B33A7B}"/>
                      </a:ext>
                    </a:extLst>
                  </p:cNvPr>
                  <p:cNvSpPr txBox="1">
                    <a:spLocks noChangeArrowheads="1"/>
                  </p:cNvSpPr>
                  <p:nvPr/>
                </p:nvSpPr>
                <p:spPr bwMode="auto">
                  <a:xfrm>
                    <a:off x="5994" y="9884"/>
                    <a:ext cx="462"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i="1">
                        <a:solidFill>
                          <a:srgbClr val="0000CC"/>
                        </a:solidFill>
                        <a:latin typeface="Arial" panose="020B0604020202020204" pitchFamily="34" charset="0"/>
                        <a:cs typeface="Arial" panose="020B0604020202020204" pitchFamily="34" charset="0"/>
                      </a:rPr>
                      <a:t>a</a:t>
                    </a:r>
                  </a:p>
                </p:txBody>
              </p:sp>
              <p:sp>
                <p:nvSpPr>
                  <p:cNvPr id="137238" name="Text Box 38">
                    <a:extLst>
                      <a:ext uri="{FF2B5EF4-FFF2-40B4-BE49-F238E27FC236}">
                        <a16:creationId xmlns:a16="http://schemas.microsoft.com/office/drawing/2014/main" id="{ECDAEAC9-3D77-CD4A-4925-CC8E76158392}"/>
                      </a:ext>
                    </a:extLst>
                  </p:cNvPr>
                  <p:cNvSpPr txBox="1">
                    <a:spLocks noChangeArrowheads="1"/>
                  </p:cNvSpPr>
                  <p:nvPr/>
                </p:nvSpPr>
                <p:spPr bwMode="auto">
                  <a:xfrm>
                    <a:off x="7053" y="8987"/>
                    <a:ext cx="462"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i="1">
                        <a:solidFill>
                          <a:srgbClr val="0000CC"/>
                        </a:solidFill>
                        <a:latin typeface="Arial" panose="020B0604020202020204" pitchFamily="34" charset="0"/>
                        <a:cs typeface="Arial" panose="020B0604020202020204" pitchFamily="34" charset="0"/>
                      </a:rPr>
                      <a:t>b</a:t>
                    </a:r>
                    <a:endParaRPr lang="en-US" altLang="zh-CN" sz="2000">
                      <a:solidFill>
                        <a:srgbClr val="0000CC"/>
                      </a:solidFill>
                      <a:latin typeface="Arial" panose="020B0604020202020204" pitchFamily="34" charset="0"/>
                      <a:cs typeface="Arial" panose="020B0604020202020204" pitchFamily="34" charset="0"/>
                    </a:endParaRPr>
                  </a:p>
                </p:txBody>
              </p:sp>
              <p:sp>
                <p:nvSpPr>
                  <p:cNvPr id="137239" name="Text Box 39">
                    <a:extLst>
                      <a:ext uri="{FF2B5EF4-FFF2-40B4-BE49-F238E27FC236}">
                        <a16:creationId xmlns:a16="http://schemas.microsoft.com/office/drawing/2014/main" id="{062294BD-30B7-1CB4-96D6-4DC0A1B4CC72}"/>
                      </a:ext>
                    </a:extLst>
                  </p:cNvPr>
                  <p:cNvSpPr txBox="1">
                    <a:spLocks noChangeArrowheads="1"/>
                  </p:cNvSpPr>
                  <p:nvPr/>
                </p:nvSpPr>
                <p:spPr bwMode="auto">
                  <a:xfrm>
                    <a:off x="7041" y="10744"/>
                    <a:ext cx="462"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i="1">
                        <a:solidFill>
                          <a:srgbClr val="0000CC"/>
                        </a:solidFill>
                        <a:latin typeface="Arial" panose="020B0604020202020204" pitchFamily="34" charset="0"/>
                        <a:cs typeface="Arial" panose="020B0604020202020204" pitchFamily="34" charset="0"/>
                      </a:rPr>
                      <a:t>c</a:t>
                    </a:r>
                    <a:endParaRPr lang="en-US" altLang="zh-CN" sz="2000">
                      <a:solidFill>
                        <a:srgbClr val="0000CC"/>
                      </a:solidFill>
                      <a:latin typeface="Arial" panose="020B0604020202020204" pitchFamily="34" charset="0"/>
                      <a:cs typeface="Arial" panose="020B0604020202020204" pitchFamily="34" charset="0"/>
                    </a:endParaRPr>
                  </a:p>
                </p:txBody>
              </p:sp>
              <p:sp>
                <p:nvSpPr>
                  <p:cNvPr id="137240" name="Text Box 40">
                    <a:extLst>
                      <a:ext uri="{FF2B5EF4-FFF2-40B4-BE49-F238E27FC236}">
                        <a16:creationId xmlns:a16="http://schemas.microsoft.com/office/drawing/2014/main" id="{E36B272A-DA42-39B0-2C38-07610719D5DA}"/>
                      </a:ext>
                    </a:extLst>
                  </p:cNvPr>
                  <p:cNvSpPr txBox="1">
                    <a:spLocks noChangeArrowheads="1"/>
                  </p:cNvSpPr>
                  <p:nvPr/>
                </p:nvSpPr>
                <p:spPr bwMode="auto">
                  <a:xfrm>
                    <a:off x="8097" y="9894"/>
                    <a:ext cx="462"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i="1">
                        <a:solidFill>
                          <a:srgbClr val="0000CC"/>
                        </a:solidFill>
                        <a:latin typeface="Arial" panose="020B0604020202020204" pitchFamily="34" charset="0"/>
                        <a:cs typeface="Arial" panose="020B0604020202020204" pitchFamily="34" charset="0"/>
                      </a:rPr>
                      <a:t>d</a:t>
                    </a:r>
                    <a:endParaRPr lang="en-US" altLang="zh-CN" sz="2000">
                      <a:solidFill>
                        <a:srgbClr val="0000CC"/>
                      </a:solidFill>
                      <a:latin typeface="Arial" panose="020B0604020202020204" pitchFamily="34" charset="0"/>
                      <a:cs typeface="Arial" panose="020B0604020202020204" pitchFamily="34" charset="0"/>
                    </a:endParaRPr>
                  </a:p>
                </p:txBody>
              </p:sp>
            </p:grpSp>
          </p:grpSp>
          <p:grpSp>
            <p:nvGrpSpPr>
              <p:cNvPr id="137226" name="Group 41">
                <a:extLst>
                  <a:ext uri="{FF2B5EF4-FFF2-40B4-BE49-F238E27FC236}">
                    <a16:creationId xmlns:a16="http://schemas.microsoft.com/office/drawing/2014/main" id="{3F269396-88E0-A395-F758-CD66C6B1681F}"/>
                  </a:ext>
                </a:extLst>
              </p:cNvPr>
              <p:cNvGrpSpPr>
                <a:grpSpLocks/>
              </p:cNvGrpSpPr>
              <p:nvPr/>
            </p:nvGrpSpPr>
            <p:grpSpPr bwMode="auto">
              <a:xfrm>
                <a:off x="5476" y="9430"/>
                <a:ext cx="3518" cy="1417"/>
                <a:chOff x="5476" y="9430"/>
                <a:chExt cx="3518" cy="1417"/>
              </a:xfrm>
            </p:grpSpPr>
            <p:sp>
              <p:nvSpPr>
                <p:cNvPr id="137227" name="Text Box 42">
                  <a:extLst>
                    <a:ext uri="{FF2B5EF4-FFF2-40B4-BE49-F238E27FC236}">
                      <a16:creationId xmlns:a16="http://schemas.microsoft.com/office/drawing/2014/main" id="{8D7D2609-ADE6-7F0C-42E5-8E93456C1480}"/>
                    </a:ext>
                  </a:extLst>
                </p:cNvPr>
                <p:cNvSpPr txBox="1">
                  <a:spLocks noChangeArrowheads="1"/>
                </p:cNvSpPr>
                <p:nvPr/>
              </p:nvSpPr>
              <p:spPr bwMode="auto">
                <a:xfrm>
                  <a:off x="5476" y="9487"/>
                  <a:ext cx="564"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cs typeface="Arial" panose="020B0604020202020204" pitchFamily="34" charset="0"/>
                    </a:rPr>
                    <a:t>000</a:t>
                  </a:r>
                </a:p>
              </p:txBody>
            </p:sp>
            <p:sp>
              <p:nvSpPr>
                <p:cNvPr id="137228" name="Text Box 43">
                  <a:extLst>
                    <a:ext uri="{FF2B5EF4-FFF2-40B4-BE49-F238E27FC236}">
                      <a16:creationId xmlns:a16="http://schemas.microsoft.com/office/drawing/2014/main" id="{A76ED19A-DCC7-ED5C-B38C-E50E41FA48B0}"/>
                    </a:ext>
                  </a:extLst>
                </p:cNvPr>
                <p:cNvSpPr txBox="1">
                  <a:spLocks noChangeArrowheads="1"/>
                </p:cNvSpPr>
                <p:nvPr/>
              </p:nvSpPr>
              <p:spPr bwMode="auto">
                <a:xfrm>
                  <a:off x="6300" y="9462"/>
                  <a:ext cx="564"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cs typeface="Arial" panose="020B0604020202020204" pitchFamily="34" charset="0"/>
                    </a:rPr>
                    <a:t>111</a:t>
                  </a:r>
                </a:p>
              </p:txBody>
            </p:sp>
            <p:sp>
              <p:nvSpPr>
                <p:cNvPr id="137229" name="Text Box 44">
                  <a:extLst>
                    <a:ext uri="{FF2B5EF4-FFF2-40B4-BE49-F238E27FC236}">
                      <a16:creationId xmlns:a16="http://schemas.microsoft.com/office/drawing/2014/main" id="{0A3C4A53-A8FB-DB8F-07AE-B3A7B50465D7}"/>
                    </a:ext>
                  </a:extLst>
                </p:cNvPr>
                <p:cNvSpPr txBox="1">
                  <a:spLocks noChangeArrowheads="1"/>
                </p:cNvSpPr>
                <p:nvPr/>
              </p:nvSpPr>
              <p:spPr bwMode="auto">
                <a:xfrm>
                  <a:off x="8430" y="9500"/>
                  <a:ext cx="564"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cs typeface="Arial" panose="020B0604020202020204" pitchFamily="34" charset="0"/>
                    </a:rPr>
                    <a:t>101</a:t>
                  </a:r>
                </a:p>
              </p:txBody>
            </p:sp>
            <p:sp>
              <p:nvSpPr>
                <p:cNvPr id="137230" name="Text Box 45">
                  <a:extLst>
                    <a:ext uri="{FF2B5EF4-FFF2-40B4-BE49-F238E27FC236}">
                      <a16:creationId xmlns:a16="http://schemas.microsoft.com/office/drawing/2014/main" id="{0FC3C41E-B376-488F-73F0-99955E1210BC}"/>
                    </a:ext>
                  </a:extLst>
                </p:cNvPr>
                <p:cNvSpPr txBox="1">
                  <a:spLocks noChangeArrowheads="1"/>
                </p:cNvSpPr>
                <p:nvPr/>
              </p:nvSpPr>
              <p:spPr bwMode="auto">
                <a:xfrm>
                  <a:off x="7566" y="9430"/>
                  <a:ext cx="564"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cs typeface="Arial" panose="020B0604020202020204" pitchFamily="34" charset="0"/>
                    </a:rPr>
                    <a:t>110</a:t>
                  </a:r>
                </a:p>
              </p:txBody>
            </p:sp>
            <p:sp>
              <p:nvSpPr>
                <p:cNvPr id="137231" name="Text Box 46">
                  <a:extLst>
                    <a:ext uri="{FF2B5EF4-FFF2-40B4-BE49-F238E27FC236}">
                      <a16:creationId xmlns:a16="http://schemas.microsoft.com/office/drawing/2014/main" id="{BBFCB005-88ED-4470-D1E6-C3C39D9BBD1F}"/>
                    </a:ext>
                  </a:extLst>
                </p:cNvPr>
                <p:cNvSpPr txBox="1">
                  <a:spLocks noChangeArrowheads="1"/>
                </p:cNvSpPr>
                <p:nvPr/>
              </p:nvSpPr>
              <p:spPr bwMode="auto">
                <a:xfrm>
                  <a:off x="7566" y="10424"/>
                  <a:ext cx="564"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cs typeface="Arial" panose="020B0604020202020204" pitchFamily="34" charset="0"/>
                    </a:rPr>
                    <a:t>010</a:t>
                  </a:r>
                </a:p>
              </p:txBody>
            </p:sp>
            <p:sp>
              <p:nvSpPr>
                <p:cNvPr id="137232" name="Text Box 47">
                  <a:extLst>
                    <a:ext uri="{FF2B5EF4-FFF2-40B4-BE49-F238E27FC236}">
                      <a16:creationId xmlns:a16="http://schemas.microsoft.com/office/drawing/2014/main" id="{CF4DF3D1-5816-4CDC-844B-DCE834CAF66F}"/>
                    </a:ext>
                  </a:extLst>
                </p:cNvPr>
                <p:cNvSpPr txBox="1">
                  <a:spLocks noChangeArrowheads="1"/>
                </p:cNvSpPr>
                <p:nvPr/>
              </p:nvSpPr>
              <p:spPr bwMode="auto">
                <a:xfrm>
                  <a:off x="6315" y="10401"/>
                  <a:ext cx="564"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cs typeface="Arial" panose="020B0604020202020204" pitchFamily="34" charset="0"/>
                    </a:rPr>
                    <a:t>011</a:t>
                  </a:r>
                </a:p>
              </p:txBody>
            </p:sp>
            <p:sp>
              <p:nvSpPr>
                <p:cNvPr id="137233" name="Text Box 48">
                  <a:extLst>
                    <a:ext uri="{FF2B5EF4-FFF2-40B4-BE49-F238E27FC236}">
                      <a16:creationId xmlns:a16="http://schemas.microsoft.com/office/drawing/2014/main" id="{3845EEF5-E375-8156-7E90-ED8F7D4D95AC}"/>
                    </a:ext>
                  </a:extLst>
                </p:cNvPr>
                <p:cNvSpPr txBox="1">
                  <a:spLocks noChangeArrowheads="1"/>
                </p:cNvSpPr>
                <p:nvPr/>
              </p:nvSpPr>
              <p:spPr bwMode="auto">
                <a:xfrm>
                  <a:off x="6453" y="9910"/>
                  <a:ext cx="564"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cs typeface="Arial" panose="020B0604020202020204" pitchFamily="34" charset="0"/>
                    </a:rPr>
                    <a:t>100</a:t>
                  </a:r>
                </a:p>
              </p:txBody>
            </p:sp>
            <p:sp>
              <p:nvSpPr>
                <p:cNvPr id="137234" name="Text Box 49">
                  <a:extLst>
                    <a:ext uri="{FF2B5EF4-FFF2-40B4-BE49-F238E27FC236}">
                      <a16:creationId xmlns:a16="http://schemas.microsoft.com/office/drawing/2014/main" id="{FABECFE7-616E-D8B1-CDAD-ADAC238A72B5}"/>
                    </a:ext>
                  </a:extLst>
                </p:cNvPr>
                <p:cNvSpPr txBox="1">
                  <a:spLocks noChangeArrowheads="1"/>
                </p:cNvSpPr>
                <p:nvPr/>
              </p:nvSpPr>
              <p:spPr bwMode="auto">
                <a:xfrm>
                  <a:off x="7460" y="9885"/>
                  <a:ext cx="564"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cs typeface="Arial" panose="020B0604020202020204" pitchFamily="34" charset="0"/>
                    </a:rPr>
                    <a:t>001</a:t>
                  </a:r>
                </a:p>
              </p:txBody>
            </p:sp>
          </p:grpSp>
        </p:grpSp>
      </p:grpSp>
      <p:pic>
        <p:nvPicPr>
          <p:cNvPr id="138247" name="Picture 83">
            <a:extLst>
              <a:ext uri="{FF2B5EF4-FFF2-40B4-BE49-F238E27FC236}">
                <a16:creationId xmlns:a16="http://schemas.microsoft.com/office/drawing/2014/main" id="{5E040460-9562-26DE-2EBF-A42DB016EE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479425"/>
            <a:ext cx="6110288" cy="359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38247"/>
                                        </p:tgtEl>
                                        <p:attrNameLst>
                                          <p:attrName>style.visibility</p:attrName>
                                        </p:attrNameLst>
                                      </p:cBhvr>
                                      <p:to>
                                        <p:strVal val="visible"/>
                                      </p:to>
                                    </p:set>
                                    <p:animEffect transition="in" filter="wipe(up)">
                                      <p:cBhvr>
                                        <p:cTn id="7" dur="1000"/>
                                        <p:tgtEl>
                                          <p:spTgt spid="1382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1000"/>
                                        <p:tgtEl>
                                          <p:spTgt spid="5"/>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136195">
                                            <p:bg/>
                                          </p:spTgt>
                                        </p:tgtEl>
                                        <p:attrNameLst>
                                          <p:attrName>style.visibility</p:attrName>
                                        </p:attrNameLst>
                                      </p:cBhvr>
                                      <p:to>
                                        <p:strVal val="visible"/>
                                      </p:to>
                                    </p:set>
                                    <p:animEffect transition="in" filter="wipe(up)">
                                      <p:cBhvr>
                                        <p:cTn id="16" dur="1000"/>
                                        <p:tgtEl>
                                          <p:spTgt spid="136195">
                                            <p:bg/>
                                          </p:spTgt>
                                        </p:tgtEl>
                                      </p:cBhvr>
                                    </p:animEffect>
                                  </p:childTnLst>
                                </p:cTn>
                              </p:par>
                            </p:childTnLst>
                          </p:cTn>
                        </p:par>
                        <p:par>
                          <p:cTn id="17" fill="hold" nodeType="afterGroup">
                            <p:stCondLst>
                              <p:cond delay="2000"/>
                            </p:stCondLst>
                            <p:childTnLst>
                              <p:par>
                                <p:cTn id="18" presetID="22" presetClass="entr" presetSubtype="1" fill="hold" nodeType="afterEffect">
                                  <p:stCondLst>
                                    <p:cond delay="0"/>
                                  </p:stCondLst>
                                  <p:childTnLst>
                                    <p:set>
                                      <p:cBhvr>
                                        <p:cTn id="19" dur="1" fill="hold">
                                          <p:stCondLst>
                                            <p:cond delay="0"/>
                                          </p:stCondLst>
                                        </p:cTn>
                                        <p:tgtEl>
                                          <p:spTgt spid="136195">
                                            <p:txEl>
                                              <p:pRg st="0" end="0"/>
                                            </p:txEl>
                                          </p:spTgt>
                                        </p:tgtEl>
                                        <p:attrNameLst>
                                          <p:attrName>style.visibility</p:attrName>
                                        </p:attrNameLst>
                                      </p:cBhvr>
                                      <p:to>
                                        <p:strVal val="visible"/>
                                      </p:to>
                                    </p:set>
                                    <p:animEffect transition="in" filter="wipe(up)">
                                      <p:cBhvr>
                                        <p:cTn id="20" dur="1000"/>
                                        <p:tgtEl>
                                          <p:spTgt spid="136195">
                                            <p:txEl>
                                              <p:pRg st="0" end="0"/>
                                            </p:txEl>
                                          </p:spTgt>
                                        </p:tgtEl>
                                      </p:cBhvr>
                                    </p:animEffect>
                                  </p:childTnLst>
                                </p:cTn>
                              </p:par>
                            </p:childTnLst>
                          </p:cTn>
                        </p:par>
                        <p:par>
                          <p:cTn id="21" fill="hold" nodeType="afterGroup">
                            <p:stCondLst>
                              <p:cond delay="3000"/>
                            </p:stCondLst>
                            <p:childTnLst>
                              <p:par>
                                <p:cTn id="22" presetID="22" presetClass="entr" presetSubtype="1" fill="hold" nodeType="afterEffect">
                                  <p:stCondLst>
                                    <p:cond delay="0"/>
                                  </p:stCondLst>
                                  <p:childTnLst>
                                    <p:set>
                                      <p:cBhvr>
                                        <p:cTn id="23" dur="1" fill="hold">
                                          <p:stCondLst>
                                            <p:cond delay="0"/>
                                          </p:stCondLst>
                                        </p:cTn>
                                        <p:tgtEl>
                                          <p:spTgt spid="136195">
                                            <p:txEl>
                                              <p:pRg st="1" end="1"/>
                                            </p:txEl>
                                          </p:spTgt>
                                        </p:tgtEl>
                                        <p:attrNameLst>
                                          <p:attrName>style.visibility</p:attrName>
                                        </p:attrNameLst>
                                      </p:cBhvr>
                                      <p:to>
                                        <p:strVal val="visible"/>
                                      </p:to>
                                    </p:set>
                                    <p:animEffect transition="in" filter="wipe(up)">
                                      <p:cBhvr>
                                        <p:cTn id="24" dur="1000"/>
                                        <p:tgtEl>
                                          <p:spTgt spid="136195">
                                            <p:txEl>
                                              <p:pRg st="1" end="1"/>
                                            </p:txEl>
                                          </p:spTgt>
                                        </p:tgtEl>
                                      </p:cBhvr>
                                    </p:animEffect>
                                  </p:childTnLst>
                                </p:cTn>
                              </p:par>
                            </p:childTnLst>
                          </p:cTn>
                        </p:par>
                        <p:par>
                          <p:cTn id="25" fill="hold" nodeType="afterGroup">
                            <p:stCondLst>
                              <p:cond delay="4000"/>
                            </p:stCondLst>
                            <p:childTnLst>
                              <p:par>
                                <p:cTn id="26" presetID="22" presetClass="entr" presetSubtype="1" fill="hold" nodeType="afterEffect">
                                  <p:stCondLst>
                                    <p:cond delay="0"/>
                                  </p:stCondLst>
                                  <p:childTnLst>
                                    <p:set>
                                      <p:cBhvr>
                                        <p:cTn id="27" dur="1" fill="hold">
                                          <p:stCondLst>
                                            <p:cond delay="0"/>
                                          </p:stCondLst>
                                        </p:cTn>
                                        <p:tgtEl>
                                          <p:spTgt spid="136195">
                                            <p:txEl>
                                              <p:pRg st="2" end="2"/>
                                            </p:txEl>
                                          </p:spTgt>
                                        </p:tgtEl>
                                        <p:attrNameLst>
                                          <p:attrName>style.visibility</p:attrName>
                                        </p:attrNameLst>
                                      </p:cBhvr>
                                      <p:to>
                                        <p:strVal val="visible"/>
                                      </p:to>
                                    </p:set>
                                    <p:animEffect transition="in" filter="wipe(up)">
                                      <p:cBhvr>
                                        <p:cTn id="28" dur="1000"/>
                                        <p:tgtEl>
                                          <p:spTgt spid="136195">
                                            <p:txEl>
                                              <p:pRg st="2" end="2"/>
                                            </p:txEl>
                                          </p:spTgt>
                                        </p:tgtEl>
                                      </p:cBhvr>
                                    </p:animEffect>
                                  </p:childTnLst>
                                </p:cTn>
                              </p:par>
                            </p:childTnLst>
                          </p:cTn>
                        </p:par>
                        <p:par>
                          <p:cTn id="29" fill="hold" nodeType="afterGroup">
                            <p:stCondLst>
                              <p:cond delay="5000"/>
                            </p:stCondLst>
                            <p:childTnLst>
                              <p:par>
                                <p:cTn id="30" presetID="22" presetClass="entr" presetSubtype="1" fill="hold" nodeType="afterEffect">
                                  <p:stCondLst>
                                    <p:cond delay="0"/>
                                  </p:stCondLst>
                                  <p:childTnLst>
                                    <p:set>
                                      <p:cBhvr>
                                        <p:cTn id="31" dur="1" fill="hold">
                                          <p:stCondLst>
                                            <p:cond delay="0"/>
                                          </p:stCondLst>
                                        </p:cTn>
                                        <p:tgtEl>
                                          <p:spTgt spid="136195">
                                            <p:txEl>
                                              <p:pRg st="3" end="3"/>
                                            </p:txEl>
                                          </p:spTgt>
                                        </p:tgtEl>
                                        <p:attrNameLst>
                                          <p:attrName>style.visibility</p:attrName>
                                        </p:attrNameLst>
                                      </p:cBhvr>
                                      <p:to>
                                        <p:strVal val="visible"/>
                                      </p:to>
                                    </p:set>
                                    <p:animEffect transition="in" filter="wipe(up)">
                                      <p:cBhvr>
                                        <p:cTn id="32" dur="1000"/>
                                        <p:tgtEl>
                                          <p:spTgt spid="136195">
                                            <p:txEl>
                                              <p:pRg st="3" end="3"/>
                                            </p:txEl>
                                          </p:spTgt>
                                        </p:tgtEl>
                                      </p:cBhvr>
                                    </p:animEffect>
                                  </p:childTnLst>
                                </p:cTn>
                              </p:par>
                            </p:childTnLst>
                          </p:cTn>
                        </p:par>
                        <p:par>
                          <p:cTn id="33" fill="hold" nodeType="afterGroup">
                            <p:stCondLst>
                              <p:cond delay="6000"/>
                            </p:stCondLst>
                            <p:childTnLst>
                              <p:par>
                                <p:cTn id="34" presetID="22" presetClass="entr" presetSubtype="1" fill="hold" nodeType="afterEffect">
                                  <p:stCondLst>
                                    <p:cond delay="0"/>
                                  </p:stCondLst>
                                  <p:childTnLst>
                                    <p:set>
                                      <p:cBhvr>
                                        <p:cTn id="35" dur="1" fill="hold">
                                          <p:stCondLst>
                                            <p:cond delay="0"/>
                                          </p:stCondLst>
                                        </p:cTn>
                                        <p:tgtEl>
                                          <p:spTgt spid="136195">
                                            <p:txEl>
                                              <p:pRg st="4" end="4"/>
                                            </p:txEl>
                                          </p:spTgt>
                                        </p:tgtEl>
                                        <p:attrNameLst>
                                          <p:attrName>style.visibility</p:attrName>
                                        </p:attrNameLst>
                                      </p:cBhvr>
                                      <p:to>
                                        <p:strVal val="visible"/>
                                      </p:to>
                                    </p:set>
                                    <p:animEffect transition="in" filter="wipe(up)">
                                      <p:cBhvr>
                                        <p:cTn id="36" dur="1000"/>
                                        <p:tgtEl>
                                          <p:spTgt spid="136195">
                                            <p:txEl>
                                              <p:pRg st="4" end="4"/>
                                            </p:txEl>
                                          </p:spTgt>
                                        </p:tgtEl>
                                      </p:cBhvr>
                                    </p:animEffect>
                                  </p:childTnLst>
                                </p:cTn>
                              </p:par>
                            </p:childTnLst>
                          </p:cTn>
                        </p:par>
                        <p:par>
                          <p:cTn id="37" fill="hold" nodeType="afterGroup">
                            <p:stCondLst>
                              <p:cond delay="7000"/>
                            </p:stCondLst>
                            <p:childTnLst>
                              <p:par>
                                <p:cTn id="38" presetID="22" presetClass="entr" presetSubtype="1" fill="hold" nodeType="afterEffect">
                                  <p:stCondLst>
                                    <p:cond delay="0"/>
                                  </p:stCondLst>
                                  <p:childTnLst>
                                    <p:set>
                                      <p:cBhvr>
                                        <p:cTn id="39" dur="1" fill="hold">
                                          <p:stCondLst>
                                            <p:cond delay="0"/>
                                          </p:stCondLst>
                                        </p:cTn>
                                        <p:tgtEl>
                                          <p:spTgt spid="136195">
                                            <p:txEl>
                                              <p:pRg st="5" end="5"/>
                                            </p:txEl>
                                          </p:spTgt>
                                        </p:tgtEl>
                                        <p:attrNameLst>
                                          <p:attrName>style.visibility</p:attrName>
                                        </p:attrNameLst>
                                      </p:cBhvr>
                                      <p:to>
                                        <p:strVal val="visible"/>
                                      </p:to>
                                    </p:set>
                                    <p:animEffect transition="in" filter="wipe(up)">
                                      <p:cBhvr>
                                        <p:cTn id="40" dur="1000"/>
                                        <p:tgtEl>
                                          <p:spTgt spid="136195">
                                            <p:txEl>
                                              <p:pRg st="5" end="5"/>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1" fill="hold" nodeType="click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wipe(up)">
                                      <p:cBhvr>
                                        <p:cTn id="45" dur="1000"/>
                                        <p:tgtEl>
                                          <p:spTgt spid="6"/>
                                        </p:tgtEl>
                                      </p:cBhvr>
                                    </p:animEffect>
                                  </p:childTnLst>
                                </p:cTn>
                              </p:par>
                            </p:childTnLst>
                          </p:cTn>
                        </p:par>
                        <p:par>
                          <p:cTn id="46" fill="hold" nodeType="afterGroup">
                            <p:stCondLst>
                              <p:cond delay="1000"/>
                            </p:stCondLst>
                            <p:childTnLst>
                              <p:par>
                                <p:cTn id="47" presetID="22" presetClass="entr" presetSubtype="8" fill="hold" nodeType="afterEffect">
                                  <p:stCondLst>
                                    <p:cond delay="0"/>
                                  </p:stCondLst>
                                  <p:childTnLst>
                                    <p:set>
                                      <p:cBhvr>
                                        <p:cTn id="48" dur="1" fill="hold">
                                          <p:stCondLst>
                                            <p:cond delay="0"/>
                                          </p:stCondLst>
                                        </p:cTn>
                                        <p:tgtEl>
                                          <p:spTgt spid="2"/>
                                        </p:tgtEl>
                                        <p:attrNameLst>
                                          <p:attrName>style.visibility</p:attrName>
                                        </p:attrNameLst>
                                      </p:cBhvr>
                                      <p:to>
                                        <p:strVal val="visible"/>
                                      </p:to>
                                    </p:set>
                                    <p:animEffect transition="in" filter="wipe(left)">
                                      <p:cBhvr>
                                        <p:cTn id="49"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5" grpId="0" build="p" animBg="1"/>
      <p:bldP spid="6" grpId="0" animBg="1"/>
      <p:bldP spid="5"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8242" name="Group 6">
            <a:extLst>
              <a:ext uri="{FF2B5EF4-FFF2-40B4-BE49-F238E27FC236}">
                <a16:creationId xmlns:a16="http://schemas.microsoft.com/office/drawing/2014/main" id="{70E10AFF-2969-FBC5-38E9-6F2B0A99D196}"/>
              </a:ext>
            </a:extLst>
          </p:cNvPr>
          <p:cNvGrpSpPr>
            <a:grpSpLocks/>
          </p:cNvGrpSpPr>
          <p:nvPr/>
        </p:nvGrpSpPr>
        <p:grpSpPr bwMode="auto">
          <a:xfrm>
            <a:off x="2214563" y="1000125"/>
            <a:ext cx="4929187" cy="2428875"/>
            <a:chOff x="5763" y="8738"/>
            <a:chExt cx="4128" cy="2180"/>
          </a:xfrm>
        </p:grpSpPr>
        <p:sp>
          <p:nvSpPr>
            <p:cNvPr id="138251" name="Freeform 7">
              <a:extLst>
                <a:ext uri="{FF2B5EF4-FFF2-40B4-BE49-F238E27FC236}">
                  <a16:creationId xmlns:a16="http://schemas.microsoft.com/office/drawing/2014/main" id="{4AA07F3A-3FC9-E02A-4E4A-B8C51385BFE7}"/>
                </a:ext>
              </a:extLst>
            </p:cNvPr>
            <p:cNvSpPr>
              <a:spLocks/>
            </p:cNvSpPr>
            <p:nvPr/>
          </p:nvSpPr>
          <p:spPr bwMode="auto">
            <a:xfrm>
              <a:off x="7497" y="9764"/>
              <a:ext cx="38" cy="256"/>
            </a:xfrm>
            <a:custGeom>
              <a:avLst/>
              <a:gdLst>
                <a:gd name="T0" fmla="*/ 2147483647 w 2"/>
                <a:gd name="T1" fmla="*/ 32301 h 201"/>
                <a:gd name="T2" fmla="*/ 2147483647 w 2"/>
                <a:gd name="T3" fmla="*/ 0 h 201"/>
                <a:gd name="T4" fmla="*/ 0 60000 65536"/>
                <a:gd name="T5" fmla="*/ 0 60000 65536"/>
                <a:gd name="T6" fmla="*/ 0 w 2"/>
                <a:gd name="T7" fmla="*/ 0 h 201"/>
                <a:gd name="T8" fmla="*/ 2 w 2"/>
                <a:gd name="T9" fmla="*/ 201 h 201"/>
              </a:gdLst>
              <a:ahLst/>
              <a:cxnLst>
                <a:cxn ang="T4">
                  <a:pos x="T0" y="T1"/>
                </a:cxn>
                <a:cxn ang="T5">
                  <a:pos x="T2" y="T3"/>
                </a:cxn>
              </a:cxnLst>
              <a:rect l="T6" t="T7" r="T8" b="T9"/>
              <a:pathLst>
                <a:path w="2" h="201">
                  <a:moveTo>
                    <a:pt x="2" y="201"/>
                  </a:moveTo>
                  <a:cubicBezTo>
                    <a:pt x="1" y="119"/>
                    <a:pt x="0" y="38"/>
                    <a:pt x="2" y="0"/>
                  </a:cubicBezTo>
                </a:path>
              </a:pathLst>
            </a:custGeom>
            <a:noFill/>
            <a:ln w="9525">
              <a:solidFill>
                <a:srgbClr val="FF0000"/>
              </a:solidFill>
              <a:prstDash val="dash"/>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grpSp>
          <p:nvGrpSpPr>
            <p:cNvPr id="138252" name="Group 8">
              <a:extLst>
                <a:ext uri="{FF2B5EF4-FFF2-40B4-BE49-F238E27FC236}">
                  <a16:creationId xmlns:a16="http://schemas.microsoft.com/office/drawing/2014/main" id="{F33E0387-8446-4E5A-3E5B-D4CB7FEC236D}"/>
                </a:ext>
              </a:extLst>
            </p:cNvPr>
            <p:cNvGrpSpPr>
              <a:grpSpLocks/>
            </p:cNvGrpSpPr>
            <p:nvPr/>
          </p:nvGrpSpPr>
          <p:grpSpPr bwMode="auto">
            <a:xfrm>
              <a:off x="5763" y="8738"/>
              <a:ext cx="4128" cy="2180"/>
              <a:chOff x="5127" y="8987"/>
              <a:chExt cx="4128" cy="2180"/>
            </a:xfrm>
          </p:grpSpPr>
          <p:grpSp>
            <p:nvGrpSpPr>
              <p:cNvPr id="138253" name="Group 9">
                <a:extLst>
                  <a:ext uri="{FF2B5EF4-FFF2-40B4-BE49-F238E27FC236}">
                    <a16:creationId xmlns:a16="http://schemas.microsoft.com/office/drawing/2014/main" id="{DA2D66DD-D844-B28D-B03C-E12BDB8A6BC5}"/>
                  </a:ext>
                </a:extLst>
              </p:cNvPr>
              <p:cNvGrpSpPr>
                <a:grpSpLocks/>
              </p:cNvGrpSpPr>
              <p:nvPr/>
            </p:nvGrpSpPr>
            <p:grpSpPr bwMode="auto">
              <a:xfrm>
                <a:off x="5127" y="8987"/>
                <a:ext cx="4128" cy="2180"/>
                <a:chOff x="5127" y="8987"/>
                <a:chExt cx="4128" cy="2180"/>
              </a:xfrm>
            </p:grpSpPr>
            <p:grpSp>
              <p:nvGrpSpPr>
                <p:cNvPr id="138263" name="Group 10">
                  <a:extLst>
                    <a:ext uri="{FF2B5EF4-FFF2-40B4-BE49-F238E27FC236}">
                      <a16:creationId xmlns:a16="http://schemas.microsoft.com/office/drawing/2014/main" id="{FA0F4DA6-6903-340E-43C4-74D189B4F03B}"/>
                    </a:ext>
                  </a:extLst>
                </p:cNvPr>
                <p:cNvGrpSpPr>
                  <a:grpSpLocks/>
                </p:cNvGrpSpPr>
                <p:nvPr/>
              </p:nvGrpSpPr>
              <p:grpSpPr bwMode="auto">
                <a:xfrm>
                  <a:off x="5127" y="9279"/>
                  <a:ext cx="4128" cy="1566"/>
                  <a:chOff x="5127" y="9279"/>
                  <a:chExt cx="4128" cy="1566"/>
                </a:xfrm>
              </p:grpSpPr>
              <p:grpSp>
                <p:nvGrpSpPr>
                  <p:cNvPr id="138269" name="Group 11">
                    <a:extLst>
                      <a:ext uri="{FF2B5EF4-FFF2-40B4-BE49-F238E27FC236}">
                        <a16:creationId xmlns:a16="http://schemas.microsoft.com/office/drawing/2014/main" id="{B87BCEF1-0537-E960-3856-3789062C3C18}"/>
                      </a:ext>
                    </a:extLst>
                  </p:cNvPr>
                  <p:cNvGrpSpPr>
                    <a:grpSpLocks/>
                  </p:cNvGrpSpPr>
                  <p:nvPr/>
                </p:nvGrpSpPr>
                <p:grpSpPr bwMode="auto">
                  <a:xfrm>
                    <a:off x="5127" y="9300"/>
                    <a:ext cx="4128" cy="1512"/>
                    <a:chOff x="5127" y="9300"/>
                    <a:chExt cx="4128" cy="1512"/>
                  </a:xfrm>
                </p:grpSpPr>
                <p:grpSp>
                  <p:nvGrpSpPr>
                    <p:cNvPr id="138274" name="Group 12">
                      <a:extLst>
                        <a:ext uri="{FF2B5EF4-FFF2-40B4-BE49-F238E27FC236}">
                          <a16:creationId xmlns:a16="http://schemas.microsoft.com/office/drawing/2014/main" id="{84E2171B-55A3-67CE-D854-68CA8A86D1FD}"/>
                        </a:ext>
                      </a:extLst>
                    </p:cNvPr>
                    <p:cNvGrpSpPr>
                      <a:grpSpLocks/>
                    </p:cNvGrpSpPr>
                    <p:nvPr/>
                  </p:nvGrpSpPr>
                  <p:grpSpPr bwMode="auto">
                    <a:xfrm>
                      <a:off x="5127" y="9300"/>
                      <a:ext cx="4119" cy="1512"/>
                      <a:chOff x="5127" y="9300"/>
                      <a:chExt cx="4119" cy="1512"/>
                    </a:xfrm>
                  </p:grpSpPr>
                  <p:grpSp>
                    <p:nvGrpSpPr>
                      <p:cNvPr id="138276" name="Group 13">
                        <a:extLst>
                          <a:ext uri="{FF2B5EF4-FFF2-40B4-BE49-F238E27FC236}">
                            <a16:creationId xmlns:a16="http://schemas.microsoft.com/office/drawing/2014/main" id="{BEDDEBC4-8D83-B65F-1A88-9554BEAAE400}"/>
                          </a:ext>
                        </a:extLst>
                      </p:cNvPr>
                      <p:cNvGrpSpPr>
                        <a:grpSpLocks/>
                      </p:cNvGrpSpPr>
                      <p:nvPr/>
                    </p:nvGrpSpPr>
                    <p:grpSpPr bwMode="auto">
                      <a:xfrm>
                        <a:off x="5127" y="9300"/>
                        <a:ext cx="4119" cy="1512"/>
                        <a:chOff x="5127" y="9300"/>
                        <a:chExt cx="4119" cy="1512"/>
                      </a:xfrm>
                    </p:grpSpPr>
                    <p:grpSp>
                      <p:nvGrpSpPr>
                        <p:cNvPr id="138278" name="Group 14">
                          <a:extLst>
                            <a:ext uri="{FF2B5EF4-FFF2-40B4-BE49-F238E27FC236}">
                              <a16:creationId xmlns:a16="http://schemas.microsoft.com/office/drawing/2014/main" id="{75DF8D75-BCB9-C46B-F800-D51DDFEE0C1A}"/>
                            </a:ext>
                          </a:extLst>
                        </p:cNvPr>
                        <p:cNvGrpSpPr>
                          <a:grpSpLocks/>
                        </p:cNvGrpSpPr>
                        <p:nvPr/>
                      </p:nvGrpSpPr>
                      <p:grpSpPr bwMode="auto">
                        <a:xfrm>
                          <a:off x="5127" y="9300"/>
                          <a:ext cx="4119" cy="1512"/>
                          <a:chOff x="5127" y="9300"/>
                          <a:chExt cx="4119" cy="1512"/>
                        </a:xfrm>
                      </p:grpSpPr>
                      <p:grpSp>
                        <p:nvGrpSpPr>
                          <p:cNvPr id="138280" name="Group 15">
                            <a:extLst>
                              <a:ext uri="{FF2B5EF4-FFF2-40B4-BE49-F238E27FC236}">
                                <a16:creationId xmlns:a16="http://schemas.microsoft.com/office/drawing/2014/main" id="{D04654CB-F906-08A9-B7DA-E9B5A4B489BA}"/>
                              </a:ext>
                            </a:extLst>
                          </p:cNvPr>
                          <p:cNvGrpSpPr>
                            <a:grpSpLocks/>
                          </p:cNvGrpSpPr>
                          <p:nvPr/>
                        </p:nvGrpSpPr>
                        <p:grpSpPr bwMode="auto">
                          <a:xfrm>
                            <a:off x="5127" y="9300"/>
                            <a:ext cx="4119" cy="1512"/>
                            <a:chOff x="5127" y="9300"/>
                            <a:chExt cx="4119" cy="1512"/>
                          </a:xfrm>
                        </p:grpSpPr>
                        <p:grpSp>
                          <p:nvGrpSpPr>
                            <p:cNvPr id="138282" name="Group 16">
                              <a:extLst>
                                <a:ext uri="{FF2B5EF4-FFF2-40B4-BE49-F238E27FC236}">
                                  <a16:creationId xmlns:a16="http://schemas.microsoft.com/office/drawing/2014/main" id="{569DA6ED-564A-914F-011F-A04D9DB42290}"/>
                                </a:ext>
                              </a:extLst>
                            </p:cNvPr>
                            <p:cNvGrpSpPr>
                              <a:grpSpLocks/>
                            </p:cNvGrpSpPr>
                            <p:nvPr/>
                          </p:nvGrpSpPr>
                          <p:grpSpPr bwMode="auto">
                            <a:xfrm>
                              <a:off x="5127" y="9300"/>
                              <a:ext cx="4119" cy="1512"/>
                              <a:chOff x="5127" y="9312"/>
                              <a:chExt cx="4119" cy="1512"/>
                            </a:xfrm>
                          </p:grpSpPr>
                          <p:sp>
                            <p:nvSpPr>
                              <p:cNvPr id="138286" name="Oval 17">
                                <a:extLst>
                                  <a:ext uri="{FF2B5EF4-FFF2-40B4-BE49-F238E27FC236}">
                                    <a16:creationId xmlns:a16="http://schemas.microsoft.com/office/drawing/2014/main" id="{732C15BE-655F-D658-7153-9879C4EFD721}"/>
                                  </a:ext>
                                </a:extLst>
                              </p:cNvPr>
                              <p:cNvSpPr>
                                <a:spLocks noChangeArrowheads="1"/>
                              </p:cNvSpPr>
                              <p:nvPr/>
                            </p:nvSpPr>
                            <p:spPr bwMode="auto">
                              <a:xfrm>
                                <a:off x="5127" y="9513"/>
                                <a:ext cx="1155" cy="1095"/>
                              </a:xfrm>
                              <a:prstGeom prst="ellipse">
                                <a:avLst/>
                              </a:prstGeom>
                              <a:solidFill>
                                <a:srgbClr val="FFFFFF"/>
                              </a:solidFill>
                              <a:ln w="19050">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sp>
                            <p:nvSpPr>
                              <p:cNvPr id="138287" name="Oval 18">
                                <a:extLst>
                                  <a:ext uri="{FF2B5EF4-FFF2-40B4-BE49-F238E27FC236}">
                                    <a16:creationId xmlns:a16="http://schemas.microsoft.com/office/drawing/2014/main" id="{5A585712-AD6B-A110-0672-615E419CDEF8}"/>
                                  </a:ext>
                                </a:extLst>
                              </p:cNvPr>
                              <p:cNvSpPr>
                                <a:spLocks noChangeArrowheads="1"/>
                              </p:cNvSpPr>
                              <p:nvPr/>
                            </p:nvSpPr>
                            <p:spPr bwMode="auto">
                              <a:xfrm>
                                <a:off x="8091" y="9528"/>
                                <a:ext cx="1155" cy="1095"/>
                              </a:xfrm>
                              <a:prstGeom prst="ellipse">
                                <a:avLst/>
                              </a:prstGeom>
                              <a:solidFill>
                                <a:srgbClr val="FFFFFF"/>
                              </a:solidFill>
                              <a:ln w="19050">
                                <a:solidFill>
                                  <a:srgbClr val="000000"/>
                                </a:solidFill>
                                <a:prstDash val="dash"/>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sp>
                            <p:nvSpPr>
                              <p:cNvPr id="138288" name="Line 19">
                                <a:extLst>
                                  <a:ext uri="{FF2B5EF4-FFF2-40B4-BE49-F238E27FC236}">
                                    <a16:creationId xmlns:a16="http://schemas.microsoft.com/office/drawing/2014/main" id="{4DD89820-0703-FD85-633E-466D7E47AE35}"/>
                                  </a:ext>
                                </a:extLst>
                              </p:cNvPr>
                              <p:cNvSpPr>
                                <a:spLocks noChangeShapeType="1"/>
                              </p:cNvSpPr>
                              <p:nvPr/>
                            </p:nvSpPr>
                            <p:spPr bwMode="auto">
                              <a:xfrm flipV="1">
                                <a:off x="6270" y="9318"/>
                                <a:ext cx="900" cy="75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289" name="Line 20">
                                <a:extLst>
                                  <a:ext uri="{FF2B5EF4-FFF2-40B4-BE49-F238E27FC236}">
                                    <a16:creationId xmlns:a16="http://schemas.microsoft.com/office/drawing/2014/main" id="{92AD0B59-3607-16AD-40E1-607FC44B3234}"/>
                                  </a:ext>
                                </a:extLst>
                              </p:cNvPr>
                              <p:cNvSpPr>
                                <a:spLocks noChangeShapeType="1"/>
                              </p:cNvSpPr>
                              <p:nvPr/>
                            </p:nvSpPr>
                            <p:spPr bwMode="auto">
                              <a:xfrm>
                                <a:off x="6270" y="10052"/>
                                <a:ext cx="900" cy="7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290" name="Line 21">
                                <a:extLst>
                                  <a:ext uri="{FF2B5EF4-FFF2-40B4-BE49-F238E27FC236}">
                                    <a16:creationId xmlns:a16="http://schemas.microsoft.com/office/drawing/2014/main" id="{56C08963-970A-7752-162A-77FAB9272CD6}"/>
                                  </a:ext>
                                </a:extLst>
                              </p:cNvPr>
                              <p:cNvSpPr>
                                <a:spLocks noChangeShapeType="1"/>
                              </p:cNvSpPr>
                              <p:nvPr/>
                            </p:nvSpPr>
                            <p:spPr bwMode="auto">
                              <a:xfrm>
                                <a:off x="7176" y="9312"/>
                                <a:ext cx="900" cy="75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291" name="Line 22">
                                <a:extLst>
                                  <a:ext uri="{FF2B5EF4-FFF2-40B4-BE49-F238E27FC236}">
                                    <a16:creationId xmlns:a16="http://schemas.microsoft.com/office/drawing/2014/main" id="{A63C4C39-7FC5-9317-82C8-70E19F685588}"/>
                                  </a:ext>
                                </a:extLst>
                              </p:cNvPr>
                              <p:cNvSpPr>
                                <a:spLocks noChangeShapeType="1"/>
                              </p:cNvSpPr>
                              <p:nvPr/>
                            </p:nvSpPr>
                            <p:spPr bwMode="auto">
                              <a:xfrm flipV="1">
                                <a:off x="7176" y="10074"/>
                                <a:ext cx="900" cy="7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292" name="Arc 23">
                                <a:extLst>
                                  <a:ext uri="{FF2B5EF4-FFF2-40B4-BE49-F238E27FC236}">
                                    <a16:creationId xmlns:a16="http://schemas.microsoft.com/office/drawing/2014/main" id="{01D345DA-0A85-D55A-EDF1-AEE49A8A0A68}"/>
                                  </a:ext>
                                </a:extLst>
                              </p:cNvPr>
                              <p:cNvSpPr>
                                <a:spLocks/>
                              </p:cNvSpPr>
                              <p:nvPr/>
                            </p:nvSpPr>
                            <p:spPr bwMode="auto">
                              <a:xfrm rot="2741334">
                                <a:off x="6686" y="9552"/>
                                <a:ext cx="1055" cy="100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sp>
                            <p:nvSpPr>
                              <p:cNvPr id="138293" name="Arc 24">
                                <a:extLst>
                                  <a:ext uri="{FF2B5EF4-FFF2-40B4-BE49-F238E27FC236}">
                                    <a16:creationId xmlns:a16="http://schemas.microsoft.com/office/drawing/2014/main" id="{5F739392-9EC9-B71A-766A-F1AB45612FF0}"/>
                                  </a:ext>
                                </a:extLst>
                              </p:cNvPr>
                              <p:cNvSpPr>
                                <a:spLocks/>
                              </p:cNvSpPr>
                              <p:nvPr/>
                            </p:nvSpPr>
                            <p:spPr bwMode="auto">
                              <a:xfrm rot="18858666" flipH="1">
                                <a:off x="6639" y="9554"/>
                                <a:ext cx="1055" cy="100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grpSp>
                        <p:sp>
                          <p:nvSpPr>
                            <p:cNvPr id="138283" name="Line 25">
                              <a:extLst>
                                <a:ext uri="{FF2B5EF4-FFF2-40B4-BE49-F238E27FC236}">
                                  <a16:creationId xmlns:a16="http://schemas.microsoft.com/office/drawing/2014/main" id="{137C930D-2962-F4B0-1D0A-828F129E3D6A}"/>
                                </a:ext>
                              </a:extLst>
                            </p:cNvPr>
                            <p:cNvSpPr>
                              <a:spLocks noChangeShapeType="1"/>
                            </p:cNvSpPr>
                            <p:nvPr/>
                          </p:nvSpPr>
                          <p:spPr bwMode="auto">
                            <a:xfrm flipV="1">
                              <a:off x="6563" y="9690"/>
                              <a:ext cx="148" cy="130"/>
                            </a:xfrm>
                            <a:prstGeom prst="line">
                              <a:avLst/>
                            </a:prstGeom>
                            <a:noFill/>
                            <a:ln w="1270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8284" name="Line 26">
                              <a:extLst>
                                <a:ext uri="{FF2B5EF4-FFF2-40B4-BE49-F238E27FC236}">
                                  <a16:creationId xmlns:a16="http://schemas.microsoft.com/office/drawing/2014/main" id="{A8CD663E-F123-5417-ED49-DB05348FD378}"/>
                                </a:ext>
                              </a:extLst>
                            </p:cNvPr>
                            <p:cNvSpPr>
                              <a:spLocks noChangeShapeType="1"/>
                            </p:cNvSpPr>
                            <p:nvPr/>
                          </p:nvSpPr>
                          <p:spPr bwMode="auto">
                            <a:xfrm flipV="1">
                              <a:off x="7599" y="10227"/>
                              <a:ext cx="276" cy="252"/>
                            </a:xfrm>
                            <a:prstGeom prst="line">
                              <a:avLst/>
                            </a:prstGeom>
                            <a:noFill/>
                            <a:ln w="9525">
                              <a:solidFill>
                                <a:srgbClr val="FF0000"/>
                              </a:solidFill>
                              <a:prstDash val="dash"/>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38285" name="Line 27">
                              <a:extLst>
                                <a:ext uri="{FF2B5EF4-FFF2-40B4-BE49-F238E27FC236}">
                                  <a16:creationId xmlns:a16="http://schemas.microsoft.com/office/drawing/2014/main" id="{CA6A34B9-DE17-51E2-2C50-885242813B54}"/>
                                </a:ext>
                              </a:extLst>
                            </p:cNvPr>
                            <p:cNvSpPr>
                              <a:spLocks noChangeShapeType="1"/>
                            </p:cNvSpPr>
                            <p:nvPr/>
                          </p:nvSpPr>
                          <p:spPr bwMode="auto">
                            <a:xfrm flipH="1" flipV="1">
                              <a:off x="6675" y="10368"/>
                              <a:ext cx="210" cy="201"/>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38281" name="Line 28">
                            <a:extLst>
                              <a:ext uri="{FF2B5EF4-FFF2-40B4-BE49-F238E27FC236}">
                                <a16:creationId xmlns:a16="http://schemas.microsoft.com/office/drawing/2014/main" id="{647F5D40-F237-BD35-56C4-7A6F7FD08785}"/>
                              </a:ext>
                            </a:extLst>
                          </p:cNvPr>
                          <p:cNvSpPr>
                            <a:spLocks noChangeShapeType="1"/>
                          </p:cNvSpPr>
                          <p:nvPr/>
                        </p:nvSpPr>
                        <p:spPr bwMode="auto">
                          <a:xfrm>
                            <a:off x="7500" y="9567"/>
                            <a:ext cx="237" cy="201"/>
                          </a:xfrm>
                          <a:prstGeom prst="line">
                            <a:avLst/>
                          </a:prstGeom>
                          <a:noFill/>
                          <a:ln w="1270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6" name="Freeform 29">
                          <a:extLst>
                            <a:ext uri="{FF2B5EF4-FFF2-40B4-BE49-F238E27FC236}">
                              <a16:creationId xmlns:a16="http://schemas.microsoft.com/office/drawing/2014/main" id="{D1D5CFC2-BFAF-89B1-2BA9-AFB039A80835}"/>
                            </a:ext>
                          </a:extLst>
                        </p:cNvPr>
                        <p:cNvSpPr>
                          <a:spLocks/>
                        </p:cNvSpPr>
                        <p:nvPr/>
                      </p:nvSpPr>
                      <p:spPr bwMode="auto">
                        <a:xfrm>
                          <a:off x="7476" y="9816"/>
                          <a:ext cx="36" cy="214"/>
                        </a:xfrm>
                        <a:custGeom>
                          <a:avLst/>
                          <a:gdLst>
                            <a:gd name="T0" fmla="*/ 0 w 36"/>
                            <a:gd name="T1" fmla="*/ 0 h 213"/>
                            <a:gd name="T2" fmla="*/ 36 w 36"/>
                            <a:gd name="T3" fmla="*/ 213 h 213"/>
                            <a:gd name="T4" fmla="*/ 0 60000 65536"/>
                            <a:gd name="T5" fmla="*/ 0 60000 65536"/>
                            <a:gd name="T6" fmla="*/ 0 w 36"/>
                            <a:gd name="T7" fmla="*/ 0 h 213"/>
                            <a:gd name="T8" fmla="*/ 36 w 36"/>
                            <a:gd name="T9" fmla="*/ 213 h 213"/>
                          </a:gdLst>
                          <a:ahLst/>
                          <a:cxnLst>
                            <a:cxn ang="T4">
                              <a:pos x="T0" y="T1"/>
                            </a:cxn>
                            <a:cxn ang="T5">
                              <a:pos x="T2" y="T3"/>
                            </a:cxn>
                          </a:cxnLst>
                          <a:rect l="T6" t="T7" r="T8" b="T9"/>
                          <a:pathLst>
                            <a:path w="36" h="213">
                              <a:moveTo>
                                <a:pt x="0" y="0"/>
                              </a:moveTo>
                              <a:cubicBezTo>
                                <a:pt x="15" y="89"/>
                                <a:pt x="30" y="178"/>
                                <a:pt x="36" y="213"/>
                              </a:cubicBezTo>
                            </a:path>
                          </a:pathLst>
                        </a:custGeom>
                        <a:noFill/>
                        <a:ln w="9525">
                          <a:solidFill>
                            <a:srgbClr val="FF0000"/>
                          </a:solidFill>
                          <a:round/>
                          <a:headEnd/>
                          <a:tailEnd type="triangle" w="med" len="med"/>
                        </a:ln>
                      </p:spPr>
                      <p:txBody>
                        <a:bodyPr/>
                        <a:lstStyle/>
                        <a:p>
                          <a:pPr>
                            <a:defRPr/>
                          </a:pPr>
                          <a:endParaRPr lang="zh-CN" altLang="en-US" sz="1800">
                            <a:ln>
                              <a:solidFill>
                                <a:srgbClr val="FF0000"/>
                              </a:solidFill>
                            </a:ln>
                            <a:solidFill>
                              <a:schemeClr val="tx1"/>
                            </a:solidFill>
                            <a:latin typeface="Arial" pitchFamily="34" charset="0"/>
                            <a:cs typeface="Arial" pitchFamily="34" charset="0"/>
                          </a:endParaRPr>
                        </a:p>
                      </p:txBody>
                    </p:sp>
                  </p:grpSp>
                  <p:sp>
                    <p:nvSpPr>
                      <p:cNvPr id="138277" name="Freeform 30">
                        <a:extLst>
                          <a:ext uri="{FF2B5EF4-FFF2-40B4-BE49-F238E27FC236}">
                            <a16:creationId xmlns:a16="http://schemas.microsoft.com/office/drawing/2014/main" id="{EE4DEDDB-67C8-3016-D878-F3D830B37CCA}"/>
                          </a:ext>
                        </a:extLst>
                      </p:cNvPr>
                      <p:cNvSpPr>
                        <a:spLocks/>
                      </p:cNvSpPr>
                      <p:nvPr/>
                    </p:nvSpPr>
                    <p:spPr bwMode="auto">
                      <a:xfrm>
                        <a:off x="5133" y="10017"/>
                        <a:ext cx="1" cy="126"/>
                      </a:xfrm>
                      <a:custGeom>
                        <a:avLst/>
                        <a:gdLst>
                          <a:gd name="T0" fmla="*/ 0 w 1"/>
                          <a:gd name="T1" fmla="*/ 126 h 126"/>
                          <a:gd name="T2" fmla="*/ 0 w 1"/>
                          <a:gd name="T3" fmla="*/ 0 h 126"/>
                          <a:gd name="T4" fmla="*/ 0 60000 65536"/>
                          <a:gd name="T5" fmla="*/ 0 60000 65536"/>
                          <a:gd name="T6" fmla="*/ 0 w 1"/>
                          <a:gd name="T7" fmla="*/ 0 h 126"/>
                          <a:gd name="T8" fmla="*/ 1 w 1"/>
                          <a:gd name="T9" fmla="*/ 126 h 126"/>
                        </a:gdLst>
                        <a:ahLst/>
                        <a:cxnLst>
                          <a:cxn ang="T4">
                            <a:pos x="T0" y="T1"/>
                          </a:cxn>
                          <a:cxn ang="T5">
                            <a:pos x="T2" y="T3"/>
                          </a:cxn>
                        </a:cxnLst>
                        <a:rect l="T6" t="T7" r="T8" b="T9"/>
                        <a:pathLst>
                          <a:path w="1" h="126">
                            <a:moveTo>
                              <a:pt x="0" y="126"/>
                            </a:moveTo>
                            <a:cubicBezTo>
                              <a:pt x="0" y="73"/>
                              <a:pt x="0" y="21"/>
                              <a:pt x="0" y="0"/>
                            </a:cubicBezTo>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grpSp>
                <p:sp>
                  <p:nvSpPr>
                    <p:cNvPr id="138275" name="Freeform 31">
                      <a:extLst>
                        <a:ext uri="{FF2B5EF4-FFF2-40B4-BE49-F238E27FC236}">
                          <a16:creationId xmlns:a16="http://schemas.microsoft.com/office/drawing/2014/main" id="{2D6FB61B-250F-802E-B597-35854F65085D}"/>
                        </a:ext>
                      </a:extLst>
                    </p:cNvPr>
                    <p:cNvSpPr>
                      <a:spLocks/>
                    </p:cNvSpPr>
                    <p:nvPr/>
                  </p:nvSpPr>
                  <p:spPr bwMode="auto">
                    <a:xfrm>
                      <a:off x="9228" y="9930"/>
                      <a:ext cx="27" cy="87"/>
                    </a:xfrm>
                    <a:custGeom>
                      <a:avLst/>
                      <a:gdLst>
                        <a:gd name="T0" fmla="*/ 0 w 27"/>
                        <a:gd name="T1" fmla="*/ 0 h 87"/>
                        <a:gd name="T2" fmla="*/ 27 w 27"/>
                        <a:gd name="T3" fmla="*/ 87 h 87"/>
                        <a:gd name="T4" fmla="*/ 0 60000 65536"/>
                        <a:gd name="T5" fmla="*/ 0 60000 65536"/>
                        <a:gd name="T6" fmla="*/ 0 w 27"/>
                        <a:gd name="T7" fmla="*/ 0 h 87"/>
                        <a:gd name="T8" fmla="*/ 27 w 27"/>
                        <a:gd name="T9" fmla="*/ 87 h 87"/>
                      </a:gdLst>
                      <a:ahLst/>
                      <a:cxnLst>
                        <a:cxn ang="T4">
                          <a:pos x="T0" y="T1"/>
                        </a:cxn>
                        <a:cxn ang="T5">
                          <a:pos x="T2" y="T3"/>
                        </a:cxn>
                      </a:cxnLst>
                      <a:rect l="T6" t="T7" r="T8" b="T9"/>
                      <a:pathLst>
                        <a:path w="27" h="87">
                          <a:moveTo>
                            <a:pt x="0" y="0"/>
                          </a:moveTo>
                          <a:cubicBezTo>
                            <a:pt x="11" y="36"/>
                            <a:pt x="23" y="73"/>
                            <a:pt x="27" y="87"/>
                          </a:cubicBezTo>
                        </a:path>
                      </a:pathLst>
                    </a:custGeom>
                    <a:noFill/>
                    <a:ln w="9525">
                      <a:solidFill>
                        <a:srgbClr val="FF0000"/>
                      </a:solidFill>
                      <a:prstDash val="dash"/>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grpSp>
              <p:sp>
                <p:nvSpPr>
                  <p:cNvPr id="138270" name="Oval 32">
                    <a:extLst>
                      <a:ext uri="{FF2B5EF4-FFF2-40B4-BE49-F238E27FC236}">
                        <a16:creationId xmlns:a16="http://schemas.microsoft.com/office/drawing/2014/main" id="{BDB6043A-2562-0961-6B9A-DB944CC571CF}"/>
                      </a:ext>
                    </a:extLst>
                  </p:cNvPr>
                  <p:cNvSpPr>
                    <a:spLocks noChangeArrowheads="1"/>
                  </p:cNvSpPr>
                  <p:nvPr/>
                </p:nvSpPr>
                <p:spPr bwMode="auto">
                  <a:xfrm>
                    <a:off x="8049" y="10020"/>
                    <a:ext cx="90" cy="87"/>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sp>
                <p:nvSpPr>
                  <p:cNvPr id="138271" name="Oval 33">
                    <a:extLst>
                      <a:ext uri="{FF2B5EF4-FFF2-40B4-BE49-F238E27FC236}">
                        <a16:creationId xmlns:a16="http://schemas.microsoft.com/office/drawing/2014/main" id="{705FC7EB-1F75-389F-1F19-8A0E23C81C3B}"/>
                      </a:ext>
                    </a:extLst>
                  </p:cNvPr>
                  <p:cNvSpPr>
                    <a:spLocks noChangeArrowheads="1"/>
                  </p:cNvSpPr>
                  <p:nvPr/>
                </p:nvSpPr>
                <p:spPr bwMode="auto">
                  <a:xfrm>
                    <a:off x="6234" y="10020"/>
                    <a:ext cx="90" cy="87"/>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sp>
                <p:nvSpPr>
                  <p:cNvPr id="138272" name="Oval 34">
                    <a:extLst>
                      <a:ext uri="{FF2B5EF4-FFF2-40B4-BE49-F238E27FC236}">
                        <a16:creationId xmlns:a16="http://schemas.microsoft.com/office/drawing/2014/main" id="{DE5B4490-2EA6-19C4-9ECD-4C2BD7484AB9}"/>
                      </a:ext>
                    </a:extLst>
                  </p:cNvPr>
                  <p:cNvSpPr>
                    <a:spLocks noChangeArrowheads="1"/>
                  </p:cNvSpPr>
                  <p:nvPr/>
                </p:nvSpPr>
                <p:spPr bwMode="auto">
                  <a:xfrm>
                    <a:off x="7137" y="9279"/>
                    <a:ext cx="90" cy="87"/>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sp>
                <p:nvSpPr>
                  <p:cNvPr id="138273" name="Oval 35">
                    <a:extLst>
                      <a:ext uri="{FF2B5EF4-FFF2-40B4-BE49-F238E27FC236}">
                        <a16:creationId xmlns:a16="http://schemas.microsoft.com/office/drawing/2014/main" id="{14921ED0-8633-2000-F058-E76E75EBB088}"/>
                      </a:ext>
                    </a:extLst>
                  </p:cNvPr>
                  <p:cNvSpPr>
                    <a:spLocks noChangeArrowheads="1"/>
                  </p:cNvSpPr>
                  <p:nvPr/>
                </p:nvSpPr>
                <p:spPr bwMode="auto">
                  <a:xfrm>
                    <a:off x="7149" y="10758"/>
                    <a:ext cx="90" cy="87"/>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grpSp>
            <p:grpSp>
              <p:nvGrpSpPr>
                <p:cNvPr id="138264" name="Group 36">
                  <a:extLst>
                    <a:ext uri="{FF2B5EF4-FFF2-40B4-BE49-F238E27FC236}">
                      <a16:creationId xmlns:a16="http://schemas.microsoft.com/office/drawing/2014/main" id="{3429315C-8EFB-D622-7F1C-58B8808E89FE}"/>
                    </a:ext>
                  </a:extLst>
                </p:cNvPr>
                <p:cNvGrpSpPr>
                  <a:grpSpLocks/>
                </p:cNvGrpSpPr>
                <p:nvPr/>
              </p:nvGrpSpPr>
              <p:grpSpPr bwMode="auto">
                <a:xfrm>
                  <a:off x="5994" y="8987"/>
                  <a:ext cx="2565" cy="2180"/>
                  <a:chOff x="5994" y="8987"/>
                  <a:chExt cx="2565" cy="2180"/>
                </a:xfrm>
              </p:grpSpPr>
              <p:sp>
                <p:nvSpPr>
                  <p:cNvPr id="138265" name="Text Box 37">
                    <a:extLst>
                      <a:ext uri="{FF2B5EF4-FFF2-40B4-BE49-F238E27FC236}">
                        <a16:creationId xmlns:a16="http://schemas.microsoft.com/office/drawing/2014/main" id="{4C1C596A-E6E8-5039-4497-A67A25290C12}"/>
                      </a:ext>
                    </a:extLst>
                  </p:cNvPr>
                  <p:cNvSpPr txBox="1">
                    <a:spLocks noChangeArrowheads="1"/>
                  </p:cNvSpPr>
                  <p:nvPr/>
                </p:nvSpPr>
                <p:spPr bwMode="auto">
                  <a:xfrm>
                    <a:off x="5994" y="9884"/>
                    <a:ext cx="462"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i="1">
                        <a:solidFill>
                          <a:srgbClr val="0000CC"/>
                        </a:solidFill>
                        <a:latin typeface="Arial" panose="020B0604020202020204" pitchFamily="34" charset="0"/>
                        <a:cs typeface="Arial" panose="020B0604020202020204" pitchFamily="34" charset="0"/>
                      </a:rPr>
                      <a:t>a</a:t>
                    </a:r>
                  </a:p>
                </p:txBody>
              </p:sp>
              <p:sp>
                <p:nvSpPr>
                  <p:cNvPr id="138266" name="Text Box 38">
                    <a:extLst>
                      <a:ext uri="{FF2B5EF4-FFF2-40B4-BE49-F238E27FC236}">
                        <a16:creationId xmlns:a16="http://schemas.microsoft.com/office/drawing/2014/main" id="{48D8E1C6-1417-1060-13D9-C999CE29653D}"/>
                      </a:ext>
                    </a:extLst>
                  </p:cNvPr>
                  <p:cNvSpPr txBox="1">
                    <a:spLocks noChangeArrowheads="1"/>
                  </p:cNvSpPr>
                  <p:nvPr/>
                </p:nvSpPr>
                <p:spPr bwMode="auto">
                  <a:xfrm>
                    <a:off x="7053" y="8987"/>
                    <a:ext cx="462"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i="1">
                        <a:solidFill>
                          <a:srgbClr val="0000CC"/>
                        </a:solidFill>
                        <a:latin typeface="Arial" panose="020B0604020202020204" pitchFamily="34" charset="0"/>
                        <a:cs typeface="Arial" panose="020B0604020202020204" pitchFamily="34" charset="0"/>
                      </a:rPr>
                      <a:t>b</a:t>
                    </a:r>
                    <a:endParaRPr lang="en-US" altLang="zh-CN" sz="2000">
                      <a:solidFill>
                        <a:srgbClr val="0000CC"/>
                      </a:solidFill>
                      <a:latin typeface="Arial" panose="020B0604020202020204" pitchFamily="34" charset="0"/>
                      <a:cs typeface="Arial" panose="020B0604020202020204" pitchFamily="34" charset="0"/>
                    </a:endParaRPr>
                  </a:p>
                </p:txBody>
              </p:sp>
              <p:sp>
                <p:nvSpPr>
                  <p:cNvPr id="138267" name="Text Box 39">
                    <a:extLst>
                      <a:ext uri="{FF2B5EF4-FFF2-40B4-BE49-F238E27FC236}">
                        <a16:creationId xmlns:a16="http://schemas.microsoft.com/office/drawing/2014/main" id="{74764034-3349-E1A8-1F5D-EEBC39A16ACE}"/>
                      </a:ext>
                    </a:extLst>
                  </p:cNvPr>
                  <p:cNvSpPr txBox="1">
                    <a:spLocks noChangeArrowheads="1"/>
                  </p:cNvSpPr>
                  <p:nvPr/>
                </p:nvSpPr>
                <p:spPr bwMode="auto">
                  <a:xfrm>
                    <a:off x="7041" y="10744"/>
                    <a:ext cx="462"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i="1">
                        <a:solidFill>
                          <a:srgbClr val="0000CC"/>
                        </a:solidFill>
                        <a:latin typeface="Arial" panose="020B0604020202020204" pitchFamily="34" charset="0"/>
                        <a:cs typeface="Arial" panose="020B0604020202020204" pitchFamily="34" charset="0"/>
                      </a:rPr>
                      <a:t>c</a:t>
                    </a:r>
                    <a:endParaRPr lang="en-US" altLang="zh-CN" sz="2000">
                      <a:solidFill>
                        <a:srgbClr val="0000CC"/>
                      </a:solidFill>
                      <a:latin typeface="Arial" panose="020B0604020202020204" pitchFamily="34" charset="0"/>
                      <a:cs typeface="Arial" panose="020B0604020202020204" pitchFamily="34" charset="0"/>
                    </a:endParaRPr>
                  </a:p>
                </p:txBody>
              </p:sp>
              <p:sp>
                <p:nvSpPr>
                  <p:cNvPr id="138268" name="Text Box 40">
                    <a:extLst>
                      <a:ext uri="{FF2B5EF4-FFF2-40B4-BE49-F238E27FC236}">
                        <a16:creationId xmlns:a16="http://schemas.microsoft.com/office/drawing/2014/main" id="{9801CE30-661E-0C03-165B-894867857C80}"/>
                      </a:ext>
                    </a:extLst>
                  </p:cNvPr>
                  <p:cNvSpPr txBox="1">
                    <a:spLocks noChangeArrowheads="1"/>
                  </p:cNvSpPr>
                  <p:nvPr/>
                </p:nvSpPr>
                <p:spPr bwMode="auto">
                  <a:xfrm>
                    <a:off x="8097" y="9894"/>
                    <a:ext cx="462"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i="1">
                        <a:solidFill>
                          <a:srgbClr val="0000CC"/>
                        </a:solidFill>
                        <a:latin typeface="Arial" panose="020B0604020202020204" pitchFamily="34" charset="0"/>
                        <a:cs typeface="Arial" panose="020B0604020202020204" pitchFamily="34" charset="0"/>
                      </a:rPr>
                      <a:t>d</a:t>
                    </a:r>
                    <a:endParaRPr lang="en-US" altLang="zh-CN" sz="2000">
                      <a:solidFill>
                        <a:srgbClr val="0000CC"/>
                      </a:solidFill>
                      <a:latin typeface="Arial" panose="020B0604020202020204" pitchFamily="34" charset="0"/>
                      <a:cs typeface="Arial" panose="020B0604020202020204" pitchFamily="34" charset="0"/>
                    </a:endParaRPr>
                  </a:p>
                </p:txBody>
              </p:sp>
            </p:grpSp>
          </p:grpSp>
          <p:grpSp>
            <p:nvGrpSpPr>
              <p:cNvPr id="138254" name="Group 41">
                <a:extLst>
                  <a:ext uri="{FF2B5EF4-FFF2-40B4-BE49-F238E27FC236}">
                    <a16:creationId xmlns:a16="http://schemas.microsoft.com/office/drawing/2014/main" id="{F4F96573-EC28-E6A6-FD24-5338EFF5C623}"/>
                  </a:ext>
                </a:extLst>
              </p:cNvPr>
              <p:cNvGrpSpPr>
                <a:grpSpLocks/>
              </p:cNvGrpSpPr>
              <p:nvPr/>
            </p:nvGrpSpPr>
            <p:grpSpPr bwMode="auto">
              <a:xfrm>
                <a:off x="5476" y="9430"/>
                <a:ext cx="3518" cy="1417"/>
                <a:chOff x="5476" y="9430"/>
                <a:chExt cx="3518" cy="1417"/>
              </a:xfrm>
            </p:grpSpPr>
            <p:sp>
              <p:nvSpPr>
                <p:cNvPr id="138255" name="Text Box 42">
                  <a:extLst>
                    <a:ext uri="{FF2B5EF4-FFF2-40B4-BE49-F238E27FC236}">
                      <a16:creationId xmlns:a16="http://schemas.microsoft.com/office/drawing/2014/main" id="{1ACFAE8E-150F-90DB-37BE-4AEAF59AEB0C}"/>
                    </a:ext>
                  </a:extLst>
                </p:cNvPr>
                <p:cNvSpPr txBox="1">
                  <a:spLocks noChangeArrowheads="1"/>
                </p:cNvSpPr>
                <p:nvPr/>
              </p:nvSpPr>
              <p:spPr bwMode="auto">
                <a:xfrm>
                  <a:off x="5476" y="9487"/>
                  <a:ext cx="564"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cs typeface="Arial" panose="020B0604020202020204" pitchFamily="34" charset="0"/>
                    </a:rPr>
                    <a:t>000</a:t>
                  </a:r>
                </a:p>
              </p:txBody>
            </p:sp>
            <p:sp>
              <p:nvSpPr>
                <p:cNvPr id="138256" name="Text Box 43">
                  <a:extLst>
                    <a:ext uri="{FF2B5EF4-FFF2-40B4-BE49-F238E27FC236}">
                      <a16:creationId xmlns:a16="http://schemas.microsoft.com/office/drawing/2014/main" id="{355AD846-1AA4-E57A-2B67-BE528FCB1AED}"/>
                    </a:ext>
                  </a:extLst>
                </p:cNvPr>
                <p:cNvSpPr txBox="1">
                  <a:spLocks noChangeArrowheads="1"/>
                </p:cNvSpPr>
                <p:nvPr/>
              </p:nvSpPr>
              <p:spPr bwMode="auto">
                <a:xfrm>
                  <a:off x="6300" y="9462"/>
                  <a:ext cx="564"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cs typeface="Arial" panose="020B0604020202020204" pitchFamily="34" charset="0"/>
                    </a:rPr>
                    <a:t>111</a:t>
                  </a:r>
                </a:p>
              </p:txBody>
            </p:sp>
            <p:sp>
              <p:nvSpPr>
                <p:cNvPr id="138257" name="Text Box 44">
                  <a:extLst>
                    <a:ext uri="{FF2B5EF4-FFF2-40B4-BE49-F238E27FC236}">
                      <a16:creationId xmlns:a16="http://schemas.microsoft.com/office/drawing/2014/main" id="{41BAB329-054C-CCD4-A7FB-4909DFE0CAEC}"/>
                    </a:ext>
                  </a:extLst>
                </p:cNvPr>
                <p:cNvSpPr txBox="1">
                  <a:spLocks noChangeArrowheads="1"/>
                </p:cNvSpPr>
                <p:nvPr/>
              </p:nvSpPr>
              <p:spPr bwMode="auto">
                <a:xfrm>
                  <a:off x="8430" y="9500"/>
                  <a:ext cx="564"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cs typeface="Arial" panose="020B0604020202020204" pitchFamily="34" charset="0"/>
                    </a:rPr>
                    <a:t>101</a:t>
                  </a:r>
                </a:p>
              </p:txBody>
            </p:sp>
            <p:sp>
              <p:nvSpPr>
                <p:cNvPr id="138258" name="Text Box 45">
                  <a:extLst>
                    <a:ext uri="{FF2B5EF4-FFF2-40B4-BE49-F238E27FC236}">
                      <a16:creationId xmlns:a16="http://schemas.microsoft.com/office/drawing/2014/main" id="{F8D0B72D-769B-E1AF-BCB4-406E1037D22F}"/>
                    </a:ext>
                  </a:extLst>
                </p:cNvPr>
                <p:cNvSpPr txBox="1">
                  <a:spLocks noChangeArrowheads="1"/>
                </p:cNvSpPr>
                <p:nvPr/>
              </p:nvSpPr>
              <p:spPr bwMode="auto">
                <a:xfrm>
                  <a:off x="7566" y="9430"/>
                  <a:ext cx="564"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cs typeface="Arial" panose="020B0604020202020204" pitchFamily="34" charset="0"/>
                    </a:rPr>
                    <a:t>110</a:t>
                  </a:r>
                </a:p>
              </p:txBody>
            </p:sp>
            <p:sp>
              <p:nvSpPr>
                <p:cNvPr id="138259" name="Text Box 46">
                  <a:extLst>
                    <a:ext uri="{FF2B5EF4-FFF2-40B4-BE49-F238E27FC236}">
                      <a16:creationId xmlns:a16="http://schemas.microsoft.com/office/drawing/2014/main" id="{89515986-A642-EADE-C4FB-EBCFD226F595}"/>
                    </a:ext>
                  </a:extLst>
                </p:cNvPr>
                <p:cNvSpPr txBox="1">
                  <a:spLocks noChangeArrowheads="1"/>
                </p:cNvSpPr>
                <p:nvPr/>
              </p:nvSpPr>
              <p:spPr bwMode="auto">
                <a:xfrm>
                  <a:off x="7566" y="10424"/>
                  <a:ext cx="564"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cs typeface="Arial" panose="020B0604020202020204" pitchFamily="34" charset="0"/>
                    </a:rPr>
                    <a:t>010</a:t>
                  </a:r>
                </a:p>
              </p:txBody>
            </p:sp>
            <p:sp>
              <p:nvSpPr>
                <p:cNvPr id="138260" name="Text Box 47">
                  <a:extLst>
                    <a:ext uri="{FF2B5EF4-FFF2-40B4-BE49-F238E27FC236}">
                      <a16:creationId xmlns:a16="http://schemas.microsoft.com/office/drawing/2014/main" id="{8714181A-B9B7-51F6-38F7-5E5E9E0151F0}"/>
                    </a:ext>
                  </a:extLst>
                </p:cNvPr>
                <p:cNvSpPr txBox="1">
                  <a:spLocks noChangeArrowheads="1"/>
                </p:cNvSpPr>
                <p:nvPr/>
              </p:nvSpPr>
              <p:spPr bwMode="auto">
                <a:xfrm>
                  <a:off x="6315" y="10401"/>
                  <a:ext cx="564"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cs typeface="Arial" panose="020B0604020202020204" pitchFamily="34" charset="0"/>
                    </a:rPr>
                    <a:t>011</a:t>
                  </a:r>
                </a:p>
              </p:txBody>
            </p:sp>
            <p:sp>
              <p:nvSpPr>
                <p:cNvPr id="138261" name="Text Box 48">
                  <a:extLst>
                    <a:ext uri="{FF2B5EF4-FFF2-40B4-BE49-F238E27FC236}">
                      <a16:creationId xmlns:a16="http://schemas.microsoft.com/office/drawing/2014/main" id="{DBAFFD86-8C22-5D66-AF6B-7927B0A0AF93}"/>
                    </a:ext>
                  </a:extLst>
                </p:cNvPr>
                <p:cNvSpPr txBox="1">
                  <a:spLocks noChangeArrowheads="1"/>
                </p:cNvSpPr>
                <p:nvPr/>
              </p:nvSpPr>
              <p:spPr bwMode="auto">
                <a:xfrm>
                  <a:off x="6453" y="9910"/>
                  <a:ext cx="564"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cs typeface="Arial" panose="020B0604020202020204" pitchFamily="34" charset="0"/>
                    </a:rPr>
                    <a:t>100</a:t>
                  </a:r>
                </a:p>
              </p:txBody>
            </p:sp>
            <p:sp>
              <p:nvSpPr>
                <p:cNvPr id="138262" name="Text Box 49">
                  <a:extLst>
                    <a:ext uri="{FF2B5EF4-FFF2-40B4-BE49-F238E27FC236}">
                      <a16:creationId xmlns:a16="http://schemas.microsoft.com/office/drawing/2014/main" id="{2A678B6F-199B-967F-48F6-BDFDF6DC3CAE}"/>
                    </a:ext>
                  </a:extLst>
                </p:cNvPr>
                <p:cNvSpPr txBox="1">
                  <a:spLocks noChangeArrowheads="1"/>
                </p:cNvSpPr>
                <p:nvPr/>
              </p:nvSpPr>
              <p:spPr bwMode="auto">
                <a:xfrm>
                  <a:off x="7460" y="9885"/>
                  <a:ext cx="564"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cs typeface="Arial" panose="020B0604020202020204" pitchFamily="34" charset="0"/>
                    </a:rPr>
                    <a:t>001</a:t>
                  </a:r>
                </a:p>
              </p:txBody>
            </p:sp>
          </p:grpSp>
        </p:grpSp>
      </p:grpSp>
      <p:sp>
        <p:nvSpPr>
          <p:cNvPr id="91" name="矩形 90">
            <a:extLst>
              <a:ext uri="{FF2B5EF4-FFF2-40B4-BE49-F238E27FC236}">
                <a16:creationId xmlns:a16="http://schemas.microsoft.com/office/drawing/2014/main" id="{A4D37E41-A453-7FF3-E5DC-311B9E4D95D4}"/>
              </a:ext>
            </a:extLst>
          </p:cNvPr>
          <p:cNvSpPr/>
          <p:nvPr/>
        </p:nvSpPr>
        <p:spPr>
          <a:xfrm>
            <a:off x="928688" y="5072063"/>
            <a:ext cx="7429500" cy="400050"/>
          </a:xfrm>
          <a:prstGeom prst="rect">
            <a:avLst/>
          </a:prstGeom>
        </p:spPr>
        <p:txBody>
          <a:bodyPr>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利用</a:t>
            </a:r>
            <a:r>
              <a:rPr kumimoji="0" lang="zh-CN" altLang="en-US" sz="2000" kern="0" dirty="0">
                <a:solidFill>
                  <a:schemeClr val="tx1"/>
                </a:solidFill>
                <a:latin typeface="Arial" pitchFamily="34" charset="0"/>
                <a:ea typeface="微软雅黑" pitchFamily="34" charset="-122"/>
                <a:cs typeface="Arial" pitchFamily="34" charset="0"/>
              </a:rPr>
              <a:t>状态图</a:t>
            </a:r>
            <a:r>
              <a:rPr kumimoji="0" lang="zh-CN" altLang="en-US" sz="2000" b="0" kern="0" dirty="0">
                <a:solidFill>
                  <a:srgbClr val="000000"/>
                </a:solidFill>
                <a:latin typeface="Arial" pitchFamily="34" charset="0"/>
                <a:ea typeface="微软雅黑" pitchFamily="34" charset="-122"/>
                <a:cs typeface="Arial" pitchFamily="34" charset="0"/>
              </a:rPr>
              <a:t>可方便地从输</a:t>
            </a:r>
            <a:r>
              <a:rPr kumimoji="0" lang="zh-CN" altLang="en-US" sz="2000" kern="0" dirty="0">
                <a:solidFill>
                  <a:srgbClr val="000000"/>
                </a:solidFill>
                <a:latin typeface="Arial" pitchFamily="34" charset="0"/>
                <a:ea typeface="微软雅黑" pitchFamily="34" charset="-122"/>
                <a:cs typeface="Arial" pitchFamily="34" charset="0"/>
              </a:rPr>
              <a:t>入</a:t>
            </a:r>
            <a:r>
              <a:rPr kumimoji="0" lang="zh-CN" altLang="en-US" sz="2000" b="0" kern="0" dirty="0">
                <a:solidFill>
                  <a:srgbClr val="000000"/>
                </a:solidFill>
                <a:latin typeface="Arial" pitchFamily="34" charset="0"/>
                <a:ea typeface="微软雅黑" pitchFamily="34" charset="-122"/>
                <a:cs typeface="Arial" pitchFamily="34" charset="0"/>
              </a:rPr>
              <a:t>序列得到输</a:t>
            </a:r>
            <a:r>
              <a:rPr kumimoji="0" lang="zh-CN" altLang="en-US" sz="2000" kern="0" dirty="0">
                <a:solidFill>
                  <a:srgbClr val="000000"/>
                </a:solidFill>
                <a:latin typeface="Arial" pitchFamily="34" charset="0"/>
                <a:ea typeface="微软雅黑" pitchFamily="34" charset="-122"/>
                <a:cs typeface="Arial" pitchFamily="34" charset="0"/>
              </a:rPr>
              <a:t>出</a:t>
            </a:r>
            <a:r>
              <a:rPr kumimoji="0" lang="zh-CN" altLang="en-US" sz="2000" b="0" kern="0" dirty="0">
                <a:solidFill>
                  <a:srgbClr val="000000"/>
                </a:solidFill>
                <a:latin typeface="Arial" pitchFamily="34" charset="0"/>
                <a:ea typeface="微软雅黑" pitchFamily="34" charset="-122"/>
                <a:cs typeface="Arial" pitchFamily="34" charset="0"/>
              </a:rPr>
              <a:t>序列。例如： </a:t>
            </a:r>
            <a:endParaRPr lang="zh-CN" altLang="en-US" dirty="0"/>
          </a:p>
        </p:txBody>
      </p:sp>
      <p:sp>
        <p:nvSpPr>
          <p:cNvPr id="92" name="Text Box 59">
            <a:extLst>
              <a:ext uri="{FF2B5EF4-FFF2-40B4-BE49-F238E27FC236}">
                <a16:creationId xmlns:a16="http://schemas.microsoft.com/office/drawing/2014/main" id="{1A624E8B-D80E-7167-CE78-DC4FA9FF57C7}"/>
              </a:ext>
            </a:extLst>
          </p:cNvPr>
          <p:cNvSpPr txBox="1">
            <a:spLocks noChangeArrowheads="1"/>
          </p:cNvSpPr>
          <p:nvPr/>
        </p:nvSpPr>
        <p:spPr bwMode="auto">
          <a:xfrm>
            <a:off x="2786063" y="5572125"/>
            <a:ext cx="5214937" cy="357188"/>
          </a:xfrm>
          <a:prstGeom prst="rect">
            <a:avLst/>
          </a:prstGeom>
          <a:noFill/>
          <a:ln w="9525">
            <a:noFill/>
            <a:miter lim="800000"/>
            <a:headEnd/>
            <a:tailEnd/>
          </a:ln>
        </p:spPr>
        <p:txBody>
          <a:bodyPr/>
          <a:lstStyle/>
          <a:p>
            <a:pPr algn="just">
              <a:defRPr/>
            </a:pPr>
            <a:r>
              <a:rPr lang="zh-CN" altLang="en-US" sz="2800" baseline="30000" dirty="0">
                <a:solidFill>
                  <a:srgbClr val="0000CC"/>
                </a:solidFill>
                <a:latin typeface="Arial" pitchFamily="34" charset="0"/>
                <a:ea typeface="微软雅黑" pitchFamily="34" charset="-122"/>
                <a:cs typeface="Arial" pitchFamily="34" charset="0"/>
              </a:rPr>
              <a:t>输入信息位</a:t>
            </a:r>
            <a:r>
              <a:rPr lang="zh-CN" altLang="en-US" sz="2400" baseline="3000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r>
              <a:rPr lang="en-US" altLang="zh-CN" sz="2400" baseline="3000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1	        1	     0 </a:t>
            </a:r>
            <a:r>
              <a:rPr lang="en-US" altLang="zh-CN" sz="240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r>
              <a:rPr lang="en-US" altLang="zh-CN" sz="2400" baseline="3000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1 </a:t>
            </a:r>
            <a:endParaRPr lang="en-US" altLang="zh-CN" sz="240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p:txBody>
      </p:sp>
      <p:sp>
        <p:nvSpPr>
          <p:cNvPr id="93" name="Text Box 59">
            <a:extLst>
              <a:ext uri="{FF2B5EF4-FFF2-40B4-BE49-F238E27FC236}">
                <a16:creationId xmlns:a16="http://schemas.microsoft.com/office/drawing/2014/main" id="{92F7B946-3EDE-9176-1F0E-3EBDA2499CBB}"/>
              </a:ext>
            </a:extLst>
          </p:cNvPr>
          <p:cNvSpPr txBox="1">
            <a:spLocks noChangeArrowheads="1"/>
          </p:cNvSpPr>
          <p:nvPr/>
        </p:nvSpPr>
        <p:spPr bwMode="auto">
          <a:xfrm>
            <a:off x="2786063" y="5929313"/>
            <a:ext cx="5214937" cy="312737"/>
          </a:xfrm>
          <a:prstGeom prst="rect">
            <a:avLst/>
          </a:prstGeom>
          <a:noFill/>
          <a:ln w="9525">
            <a:noFill/>
            <a:miter lim="800000"/>
            <a:headEnd/>
            <a:tailEnd/>
          </a:ln>
        </p:spPr>
        <p:txBody>
          <a:bodyPr/>
          <a:lstStyle/>
          <a:p>
            <a:pPr algn="just">
              <a:defRPr/>
            </a:pPr>
            <a:r>
              <a:rPr lang="zh-CN" altLang="en-US" sz="2800" baseline="30000" dirty="0">
                <a:solidFill>
                  <a:srgbClr val="FF0000"/>
                </a:solidFill>
                <a:latin typeface="Arial" pitchFamily="34" charset="0"/>
                <a:ea typeface="微软雅黑" pitchFamily="34" charset="-122"/>
                <a:cs typeface="Arial" pitchFamily="34" charset="0"/>
              </a:rPr>
              <a:t>   编码输出     </a:t>
            </a:r>
            <a:r>
              <a:rPr lang="en-US" altLang="zh-CN" sz="2800" baseline="30000" dirty="0">
                <a:solidFill>
                  <a:srgbClr val="FF0000"/>
                </a:solidFill>
                <a:latin typeface="Arial" pitchFamily="34" charset="0"/>
                <a:ea typeface="微软雅黑" pitchFamily="34" charset="-122"/>
                <a:cs typeface="Arial" pitchFamily="34" charset="0"/>
              </a:rPr>
              <a:t>111     110    </a:t>
            </a:r>
            <a:r>
              <a:rPr lang="en-US" altLang="zh-CN" sz="2800" dirty="0">
                <a:solidFill>
                  <a:srgbClr val="FF0000"/>
                </a:solidFill>
                <a:latin typeface="Arial" pitchFamily="34" charset="0"/>
                <a:ea typeface="微软雅黑" pitchFamily="34" charset="-122"/>
                <a:cs typeface="Arial" pitchFamily="34" charset="0"/>
              </a:rPr>
              <a:t> </a:t>
            </a:r>
            <a:r>
              <a:rPr lang="en-US" altLang="zh-CN" sz="2800" baseline="30000" dirty="0">
                <a:solidFill>
                  <a:srgbClr val="FF0000"/>
                </a:solidFill>
                <a:latin typeface="Arial" pitchFamily="34" charset="0"/>
                <a:ea typeface="微软雅黑" pitchFamily="34" charset="-122"/>
                <a:cs typeface="Arial" pitchFamily="34" charset="0"/>
              </a:rPr>
              <a:t>010     100</a:t>
            </a:r>
            <a:r>
              <a:rPr lang="zh-CN" altLang="en-US" sz="2400" baseline="3000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endParaRPr lang="en-US" altLang="zh-CN" sz="240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p:txBody>
      </p:sp>
      <p:sp>
        <p:nvSpPr>
          <p:cNvPr id="101" name="Text Box 43">
            <a:extLst>
              <a:ext uri="{FF2B5EF4-FFF2-40B4-BE49-F238E27FC236}">
                <a16:creationId xmlns:a16="http://schemas.microsoft.com/office/drawing/2014/main" id="{BAB8F1B3-15FB-7870-8B71-E83DD3EC67D2}"/>
              </a:ext>
            </a:extLst>
          </p:cNvPr>
          <p:cNvSpPr txBox="1">
            <a:spLocks noChangeArrowheads="1"/>
          </p:cNvSpPr>
          <p:nvPr/>
        </p:nvSpPr>
        <p:spPr bwMode="auto">
          <a:xfrm>
            <a:off x="3603625" y="1528763"/>
            <a:ext cx="6731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rgbClr val="FF0000"/>
                </a:solidFill>
                <a:latin typeface="Arial" panose="020B0604020202020204" pitchFamily="34" charset="0"/>
                <a:cs typeface="Arial" panose="020B0604020202020204" pitchFamily="34" charset="0"/>
              </a:rPr>
              <a:t>111</a:t>
            </a:r>
          </a:p>
        </p:txBody>
      </p:sp>
      <p:sp>
        <p:nvSpPr>
          <p:cNvPr id="102" name="Text Box 45">
            <a:extLst>
              <a:ext uri="{FF2B5EF4-FFF2-40B4-BE49-F238E27FC236}">
                <a16:creationId xmlns:a16="http://schemas.microsoft.com/office/drawing/2014/main" id="{055812CB-076F-E099-7FF9-EF3093AE37A4}"/>
              </a:ext>
            </a:extLst>
          </p:cNvPr>
          <p:cNvSpPr txBox="1">
            <a:spLocks noChangeArrowheads="1"/>
          </p:cNvSpPr>
          <p:nvPr/>
        </p:nvSpPr>
        <p:spPr bwMode="auto">
          <a:xfrm>
            <a:off x="5132388" y="1500188"/>
            <a:ext cx="6731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rgbClr val="FF0000"/>
                </a:solidFill>
                <a:latin typeface="Arial" panose="020B0604020202020204" pitchFamily="34" charset="0"/>
                <a:cs typeface="Arial" panose="020B0604020202020204" pitchFamily="34" charset="0"/>
              </a:rPr>
              <a:t>110</a:t>
            </a:r>
          </a:p>
        </p:txBody>
      </p:sp>
      <p:sp>
        <p:nvSpPr>
          <p:cNvPr id="103" name="Text Box 46">
            <a:extLst>
              <a:ext uri="{FF2B5EF4-FFF2-40B4-BE49-F238E27FC236}">
                <a16:creationId xmlns:a16="http://schemas.microsoft.com/office/drawing/2014/main" id="{0022857F-3226-AD51-8976-34711C2D22C5}"/>
              </a:ext>
            </a:extLst>
          </p:cNvPr>
          <p:cNvSpPr txBox="1">
            <a:spLocks noChangeArrowheads="1"/>
          </p:cNvSpPr>
          <p:nvPr/>
        </p:nvSpPr>
        <p:spPr bwMode="auto">
          <a:xfrm>
            <a:off x="5132388" y="2600325"/>
            <a:ext cx="6731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rgbClr val="FF0000"/>
                </a:solidFill>
                <a:latin typeface="Arial" panose="020B0604020202020204" pitchFamily="34" charset="0"/>
                <a:cs typeface="Arial" panose="020B0604020202020204" pitchFamily="34" charset="0"/>
              </a:rPr>
              <a:t>010</a:t>
            </a:r>
          </a:p>
        </p:txBody>
      </p:sp>
      <p:sp>
        <p:nvSpPr>
          <p:cNvPr id="104" name="Text Box 48">
            <a:extLst>
              <a:ext uri="{FF2B5EF4-FFF2-40B4-BE49-F238E27FC236}">
                <a16:creationId xmlns:a16="http://schemas.microsoft.com/office/drawing/2014/main" id="{D4D2D47F-9823-5AAB-DDFE-AFB904E57AB3}"/>
              </a:ext>
            </a:extLst>
          </p:cNvPr>
          <p:cNvSpPr txBox="1">
            <a:spLocks noChangeArrowheads="1"/>
          </p:cNvSpPr>
          <p:nvPr/>
        </p:nvSpPr>
        <p:spPr bwMode="auto">
          <a:xfrm>
            <a:off x="3802063" y="2028825"/>
            <a:ext cx="6731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rgbClr val="FF0000"/>
                </a:solidFill>
                <a:latin typeface="Arial" panose="020B0604020202020204" pitchFamily="34" charset="0"/>
                <a:cs typeface="Arial" panose="020B0604020202020204" pitchFamily="34" charset="0"/>
              </a:rPr>
              <a:t>100</a:t>
            </a:r>
          </a:p>
        </p:txBody>
      </p:sp>
      <p:pic>
        <p:nvPicPr>
          <p:cNvPr id="139318" name="Picture 54">
            <a:extLst>
              <a:ext uri="{FF2B5EF4-FFF2-40B4-BE49-F238E27FC236}">
                <a16:creationId xmlns:a16="http://schemas.microsoft.com/office/drawing/2014/main" id="{32ADAEEB-076E-0203-9BD8-C4EAA85A9A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3357563"/>
            <a:ext cx="7300913"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39318"/>
                                        </p:tgtEl>
                                        <p:attrNameLst>
                                          <p:attrName>style.visibility</p:attrName>
                                        </p:attrNameLst>
                                      </p:cBhvr>
                                      <p:to>
                                        <p:strVal val="visible"/>
                                      </p:to>
                                    </p:set>
                                    <p:animEffect transition="in" filter="wipe(up)">
                                      <p:cBhvr>
                                        <p:cTn id="7" dur="2000"/>
                                        <p:tgtEl>
                                          <p:spTgt spid="1393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91"/>
                                        </p:tgtEl>
                                        <p:attrNameLst>
                                          <p:attrName>style.visibility</p:attrName>
                                        </p:attrNameLst>
                                      </p:cBhvr>
                                      <p:to>
                                        <p:strVal val="visible"/>
                                      </p:to>
                                    </p:set>
                                    <p:animEffect transition="in" filter="wipe(up)">
                                      <p:cBhvr>
                                        <p:cTn id="12" dur="1000"/>
                                        <p:tgtEl>
                                          <p:spTgt spid="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92"/>
                                        </p:tgtEl>
                                        <p:attrNameLst>
                                          <p:attrName>style.visibility</p:attrName>
                                        </p:attrNameLst>
                                      </p:cBhvr>
                                      <p:to>
                                        <p:strVal val="visible"/>
                                      </p:to>
                                    </p:set>
                                    <p:animEffect transition="in" filter="wipe(up)">
                                      <p:cBhvr>
                                        <p:cTn id="17" dur="1000"/>
                                        <p:tgtEl>
                                          <p:spTgt spid="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1"/>
                                        </p:tgtEl>
                                        <p:attrNameLst>
                                          <p:attrName>style.visibility</p:attrName>
                                        </p:attrNameLst>
                                      </p:cBhvr>
                                      <p:to>
                                        <p:strVal val="visible"/>
                                      </p:to>
                                    </p:set>
                                    <p:animEffect transition="in" filter="wipe(left)">
                                      <p:cBhvr>
                                        <p:cTn id="22" dur="1000"/>
                                        <p:tgtEl>
                                          <p:spTgt spid="10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02"/>
                                        </p:tgtEl>
                                        <p:attrNameLst>
                                          <p:attrName>style.visibility</p:attrName>
                                        </p:attrNameLst>
                                      </p:cBhvr>
                                      <p:to>
                                        <p:strVal val="visible"/>
                                      </p:to>
                                    </p:set>
                                    <p:animEffect transition="in" filter="wipe(left)">
                                      <p:cBhvr>
                                        <p:cTn id="27" dur="1000"/>
                                        <p:tgtEl>
                                          <p:spTgt spid="10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2" fill="hold" nodeType="clickEffect">
                                  <p:stCondLst>
                                    <p:cond delay="0"/>
                                  </p:stCondLst>
                                  <p:childTnLst>
                                    <p:set>
                                      <p:cBhvr>
                                        <p:cTn id="31" dur="1" fill="hold">
                                          <p:stCondLst>
                                            <p:cond delay="0"/>
                                          </p:stCondLst>
                                        </p:cTn>
                                        <p:tgtEl>
                                          <p:spTgt spid="103"/>
                                        </p:tgtEl>
                                        <p:attrNameLst>
                                          <p:attrName>style.visibility</p:attrName>
                                        </p:attrNameLst>
                                      </p:cBhvr>
                                      <p:to>
                                        <p:strVal val="visible"/>
                                      </p:to>
                                    </p:set>
                                    <p:animEffect transition="in" filter="wipe(right)">
                                      <p:cBhvr>
                                        <p:cTn id="32" dur="1000"/>
                                        <p:tgtEl>
                                          <p:spTgt spid="10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2" fill="hold" nodeType="clickEffect">
                                  <p:stCondLst>
                                    <p:cond delay="0"/>
                                  </p:stCondLst>
                                  <p:childTnLst>
                                    <p:set>
                                      <p:cBhvr>
                                        <p:cTn id="36" dur="1" fill="hold">
                                          <p:stCondLst>
                                            <p:cond delay="0"/>
                                          </p:stCondLst>
                                        </p:cTn>
                                        <p:tgtEl>
                                          <p:spTgt spid="104"/>
                                        </p:tgtEl>
                                        <p:attrNameLst>
                                          <p:attrName>style.visibility</p:attrName>
                                        </p:attrNameLst>
                                      </p:cBhvr>
                                      <p:to>
                                        <p:strVal val="visible"/>
                                      </p:to>
                                    </p:set>
                                    <p:animEffect transition="in" filter="wipe(right)">
                                      <p:cBhvr>
                                        <p:cTn id="37" dur="1000"/>
                                        <p:tgtEl>
                                          <p:spTgt spid="10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93"/>
                                        </p:tgtEl>
                                        <p:attrNameLst>
                                          <p:attrName>style.visibility</p:attrName>
                                        </p:attrNameLst>
                                      </p:cBhvr>
                                      <p:to>
                                        <p:strVal val="visible"/>
                                      </p:to>
                                    </p:set>
                                    <p:animEffect transition="in" filter="wipe(up)">
                                      <p:cBhvr>
                                        <p:cTn id="42" dur="10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P spid="92" grpId="0"/>
      <p:bldP spid="93" grpId="0"/>
      <p:bldP spid="101" grpId="0"/>
      <p:bldP spid="102" grpId="0"/>
      <p:bldP spid="103" grpId="0"/>
      <p:bldP spid="104"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3" name="Rectangle 3">
            <a:extLst>
              <a:ext uri="{FF2B5EF4-FFF2-40B4-BE49-F238E27FC236}">
                <a16:creationId xmlns:a16="http://schemas.microsoft.com/office/drawing/2014/main" id="{21512953-9B45-E153-03F8-387DE5F26319}"/>
              </a:ext>
            </a:extLst>
          </p:cNvPr>
          <p:cNvSpPr>
            <a:spLocks noGrp="1" noChangeArrowheads="1"/>
          </p:cNvSpPr>
          <p:nvPr>
            <p:ph type="body" idx="1"/>
          </p:nvPr>
        </p:nvSpPr>
        <p:spPr>
          <a:xfrm>
            <a:off x="1000125" y="5500688"/>
            <a:ext cx="7143750" cy="928687"/>
          </a:xfrm>
        </p:spPr>
        <p:txBody>
          <a:bodyPr/>
          <a:lstStyle/>
          <a:p>
            <a:pPr eaLnBrk="1" hangingPunct="1">
              <a:lnSpc>
                <a:spcPts val="3200"/>
              </a:lnSpc>
              <a:buFont typeface="Wingdings" panose="05000000000000000000" pitchFamily="2" charset="2"/>
              <a:buNone/>
            </a:pPr>
            <a:r>
              <a:rPr lang="zh-CN" altLang="en-US" sz="2000" b="1">
                <a:solidFill>
                  <a:srgbClr val="0000CC"/>
                </a:solidFill>
                <a:latin typeface="Arial" panose="020B0604020202020204" pitchFamily="34" charset="0"/>
                <a:ea typeface="微软雅黑" panose="020B0503020204020204" pitchFamily="34" charset="-122"/>
                <a:cs typeface="Arial" panose="020B0604020202020204" pitchFamily="34" charset="0"/>
              </a:rPr>
              <a:t>可见</a:t>
            </a:r>
            <a:r>
              <a:rPr lang="zh-CN" altLang="en-US" sz="2000" b="1">
                <a:latin typeface="Arial" panose="020B0604020202020204" pitchFamily="34" charset="0"/>
                <a:ea typeface="微软雅黑" panose="020B0503020204020204" pitchFamily="34" charset="-122"/>
                <a:cs typeface="Arial" panose="020B0604020202020204" pitchFamily="34" charset="0"/>
              </a:rPr>
              <a:t>：</a:t>
            </a:r>
            <a:r>
              <a:rPr lang="zh-CN" altLang="en-US" sz="2000">
                <a:latin typeface="Arial" panose="020B0604020202020204" pitchFamily="34" charset="0"/>
                <a:ea typeface="微软雅黑" panose="020B0503020204020204" pitchFamily="34" charset="-122"/>
                <a:cs typeface="Arial" panose="020B0604020202020204" pitchFamily="34" charset="0"/>
              </a:rPr>
              <a:t>在第</a:t>
            </a:r>
            <a:r>
              <a:rPr lang="en-US" altLang="zh-CN" sz="2000" b="1">
                <a:latin typeface="Arial" panose="020B0604020202020204" pitchFamily="34" charset="0"/>
                <a:ea typeface="微软雅黑" panose="020B0503020204020204" pitchFamily="34" charset="-122"/>
                <a:cs typeface="Arial" panose="020B0604020202020204" pitchFamily="34" charset="0"/>
              </a:rPr>
              <a:t>4</a:t>
            </a:r>
            <a:r>
              <a:rPr lang="zh-CN" altLang="en-US" sz="2000">
                <a:latin typeface="Arial" panose="020B0604020202020204" pitchFamily="34" charset="0"/>
                <a:ea typeface="微软雅黑" panose="020B0503020204020204" pitchFamily="34" charset="-122"/>
                <a:cs typeface="Arial" panose="020B0604020202020204" pitchFamily="34" charset="0"/>
              </a:rPr>
              <a:t>时隙以后的网格图形完全是重复第</a:t>
            </a:r>
            <a:r>
              <a:rPr lang="en-US" altLang="zh-CN" sz="2000">
                <a:latin typeface="Arial" panose="020B0604020202020204" pitchFamily="34" charset="0"/>
                <a:ea typeface="微软雅黑" panose="020B0503020204020204" pitchFamily="34" charset="-122"/>
                <a:cs typeface="Arial" panose="020B0604020202020204" pitchFamily="34" charset="0"/>
              </a:rPr>
              <a:t>3</a:t>
            </a:r>
            <a:r>
              <a:rPr lang="zh-CN" altLang="en-US" sz="2000">
                <a:latin typeface="Arial" panose="020B0604020202020204" pitchFamily="34" charset="0"/>
                <a:ea typeface="微软雅黑" panose="020B0503020204020204" pitchFamily="34" charset="-122"/>
                <a:cs typeface="Arial" panose="020B0604020202020204" pitchFamily="34" charset="0"/>
              </a:rPr>
              <a:t>时隙的图形。</a:t>
            </a:r>
            <a:endParaRPr lang="en-US" altLang="zh-CN" sz="2000">
              <a:latin typeface="Arial" panose="020B0604020202020204" pitchFamily="34" charset="0"/>
              <a:ea typeface="微软雅黑" panose="020B0503020204020204" pitchFamily="34" charset="-122"/>
              <a:cs typeface="Arial" panose="020B0604020202020204" pitchFamily="34" charset="0"/>
            </a:endParaRPr>
          </a:p>
          <a:p>
            <a:pPr eaLnBrk="1" hangingPunct="1">
              <a:lnSpc>
                <a:spcPts val="3200"/>
              </a:lnSpc>
              <a:buFont typeface="Wingdings" panose="05000000000000000000" pitchFamily="2" charset="2"/>
              <a:buNone/>
            </a:pPr>
            <a:r>
              <a:rPr lang="zh-CN" altLang="en-US" sz="2000">
                <a:latin typeface="Arial" panose="020B0604020202020204" pitchFamily="34" charset="0"/>
                <a:ea typeface="微软雅黑" panose="020B0503020204020204" pitchFamily="34" charset="-122"/>
                <a:cs typeface="Arial" panose="020B0604020202020204" pitchFamily="34" charset="0"/>
              </a:rPr>
              <a:t>           这是因为此</a:t>
            </a:r>
            <a:r>
              <a:rPr lang="en-US" altLang="zh-CN" sz="2000">
                <a:latin typeface="Arial" panose="020B0604020202020204" pitchFamily="34" charset="0"/>
                <a:ea typeface="微软雅黑" panose="020B0503020204020204" pitchFamily="34" charset="-122"/>
                <a:cs typeface="Arial" panose="020B0604020202020204" pitchFamily="34" charset="0"/>
              </a:rPr>
              <a:t>(3, 1, 3)</a:t>
            </a:r>
            <a:r>
              <a:rPr lang="zh-CN" altLang="en-US" sz="2000">
                <a:latin typeface="Arial" panose="020B0604020202020204" pitchFamily="34" charset="0"/>
                <a:ea typeface="微软雅黑" panose="020B0503020204020204" pitchFamily="34" charset="-122"/>
                <a:cs typeface="Arial" panose="020B0604020202020204" pitchFamily="34" charset="0"/>
              </a:rPr>
              <a:t>卷积码的约束长度为</a:t>
            </a:r>
            <a:r>
              <a:rPr lang="en-US" altLang="zh-CN" sz="2000">
                <a:latin typeface="Arial" panose="020B0604020202020204" pitchFamily="34" charset="0"/>
                <a:ea typeface="微软雅黑" panose="020B0503020204020204" pitchFamily="34" charset="-122"/>
                <a:cs typeface="Arial" panose="020B0604020202020204" pitchFamily="34" charset="0"/>
              </a:rPr>
              <a:t>3</a:t>
            </a:r>
            <a:r>
              <a:rPr lang="zh-CN" altLang="en-US" sz="2000">
                <a:latin typeface="Arial" panose="020B0604020202020204" pitchFamily="34" charset="0"/>
                <a:ea typeface="微软雅黑" panose="020B0503020204020204" pitchFamily="34" charset="-122"/>
                <a:cs typeface="Arial" panose="020B0604020202020204" pitchFamily="34" charset="0"/>
              </a:rPr>
              <a:t>。 </a:t>
            </a:r>
          </a:p>
        </p:txBody>
      </p:sp>
      <p:sp>
        <p:nvSpPr>
          <p:cNvPr id="136" name="矩形 135">
            <a:extLst>
              <a:ext uri="{FF2B5EF4-FFF2-40B4-BE49-F238E27FC236}">
                <a16:creationId xmlns:a16="http://schemas.microsoft.com/office/drawing/2014/main" id="{879FD5D2-7B4F-5101-42F5-63BA94ECFA8B}"/>
              </a:ext>
            </a:extLst>
          </p:cNvPr>
          <p:cNvSpPr/>
          <p:nvPr/>
        </p:nvSpPr>
        <p:spPr>
          <a:xfrm>
            <a:off x="714375" y="1071563"/>
            <a:ext cx="1643063" cy="498475"/>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marL="228600" lvl="1" indent="-228600">
              <a:lnSpc>
                <a:spcPts val="3500"/>
              </a:lnSpc>
              <a:spcBef>
                <a:spcPct val="20000"/>
              </a:spcBef>
              <a:buClr>
                <a:srgbClr val="FF0000"/>
              </a:buClr>
              <a:buSzPct val="75000"/>
              <a:defRPr/>
            </a:pPr>
            <a:r>
              <a:rPr kumimoji="0" lang="en-US" altLang="zh-CN" sz="2400" kern="0" dirty="0">
                <a:solidFill>
                  <a:srgbClr val="FF0000"/>
                </a:solidFill>
                <a:latin typeface="Arial" pitchFamily="34" charset="0"/>
                <a:ea typeface="黑体" pitchFamily="2" charset="-122"/>
                <a:cs typeface="Arial" pitchFamily="34" charset="0"/>
              </a:rPr>
              <a:t>3</a:t>
            </a:r>
            <a:r>
              <a:rPr kumimoji="0" lang="zh-CN" altLang="en-US" sz="2400" kern="0" dirty="0">
                <a:solidFill>
                  <a:srgbClr val="FF0000"/>
                </a:solidFill>
                <a:latin typeface="Arial" pitchFamily="34" charset="0"/>
                <a:ea typeface="黑体" pitchFamily="2" charset="-122"/>
                <a:cs typeface="Arial" pitchFamily="34" charset="0"/>
              </a:rPr>
              <a:t>）</a:t>
            </a:r>
            <a:r>
              <a:rPr lang="zh-CN" altLang="en-US" sz="2400" dirty="0">
                <a:solidFill>
                  <a:srgbClr val="FF0000"/>
                </a:solidFill>
                <a:latin typeface="Arial" pitchFamily="34" charset="0"/>
                <a:ea typeface="微软雅黑" pitchFamily="34" charset="-122"/>
                <a:cs typeface="Arial" pitchFamily="34" charset="0"/>
              </a:rPr>
              <a:t>网格图</a:t>
            </a:r>
            <a:endParaRPr kumimoji="0" lang="zh-CN" altLang="en-US" sz="2400" kern="0" dirty="0">
              <a:solidFill>
                <a:srgbClr val="FF0000"/>
              </a:solidFill>
              <a:latin typeface="Arial" pitchFamily="34" charset="0"/>
              <a:ea typeface="微软雅黑" pitchFamily="34" charset="-122"/>
              <a:cs typeface="Arial" pitchFamily="34" charset="0"/>
            </a:endParaRPr>
          </a:p>
        </p:txBody>
      </p:sp>
      <p:sp>
        <p:nvSpPr>
          <p:cNvPr id="137" name="矩形 136">
            <a:extLst>
              <a:ext uri="{FF2B5EF4-FFF2-40B4-BE49-F238E27FC236}">
                <a16:creationId xmlns:a16="http://schemas.microsoft.com/office/drawing/2014/main" id="{96A0AC09-0077-4EA3-4A33-C0C1DE54FC27}"/>
              </a:ext>
            </a:extLst>
          </p:cNvPr>
          <p:cNvSpPr/>
          <p:nvPr/>
        </p:nvSpPr>
        <p:spPr>
          <a:xfrm>
            <a:off x="4786313" y="571500"/>
            <a:ext cx="3857625" cy="400050"/>
          </a:xfrm>
          <a:prstGeom prst="rect">
            <a:avLst/>
          </a:prstGeom>
        </p:spPr>
        <p:txBody>
          <a:bodyPr>
            <a:spAutoFit/>
          </a:bodyPr>
          <a:lstStyle/>
          <a:p>
            <a:pPr>
              <a:defRPr/>
            </a:pP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将状态图在时间上展开</a:t>
            </a:r>
            <a:r>
              <a:rPr kumimoji="0" lang="en-US" altLang="zh-CN" sz="2000" b="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sym typeface="Wingdings" pitchFamily="2" charset="2"/>
              </a:rPr>
              <a:t> </a:t>
            </a:r>
            <a:r>
              <a:rPr kumimoji="0" lang="zh-CN" altLang="en-US" sz="2000" b="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网格图</a:t>
            </a:r>
            <a:endParaRPr lang="zh-CN" altLang="en-US" sz="2000" dirty="0">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138" name="矩形 137">
            <a:extLst>
              <a:ext uri="{FF2B5EF4-FFF2-40B4-BE49-F238E27FC236}">
                <a16:creationId xmlns:a16="http://schemas.microsoft.com/office/drawing/2014/main" id="{6051843A-E27C-C447-C7E8-CB3EC2D79A67}"/>
              </a:ext>
            </a:extLst>
          </p:cNvPr>
          <p:cNvSpPr/>
          <p:nvPr/>
        </p:nvSpPr>
        <p:spPr>
          <a:xfrm>
            <a:off x="2928938" y="1214438"/>
            <a:ext cx="2571750" cy="400050"/>
          </a:xfrm>
          <a:prstGeom prst="rect">
            <a:avLst/>
          </a:prstGeom>
        </p:spPr>
        <p:txBody>
          <a:bodyPr>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图中画出了</a:t>
            </a:r>
            <a:r>
              <a:rPr kumimoji="0" lang="en-US" altLang="zh-CN" sz="2000" b="0" kern="0" dirty="0">
                <a:solidFill>
                  <a:srgbClr val="000000"/>
                </a:solidFill>
                <a:latin typeface="Arial" pitchFamily="34" charset="0"/>
                <a:ea typeface="微软雅黑" pitchFamily="34" charset="-122"/>
                <a:cs typeface="Arial" pitchFamily="34" charset="0"/>
              </a:rPr>
              <a:t>5</a:t>
            </a:r>
            <a:r>
              <a:rPr kumimoji="0" lang="zh-CN" altLang="en-US" sz="2000" b="0" kern="0" dirty="0">
                <a:solidFill>
                  <a:srgbClr val="000000"/>
                </a:solidFill>
                <a:latin typeface="Arial" pitchFamily="34" charset="0"/>
                <a:ea typeface="微软雅黑" pitchFamily="34" charset="-122"/>
                <a:cs typeface="Arial" pitchFamily="34" charset="0"/>
              </a:rPr>
              <a:t>个时隙。</a:t>
            </a:r>
            <a:endParaRPr lang="zh-CN" altLang="en-US" dirty="0"/>
          </a:p>
        </p:txBody>
      </p:sp>
      <p:pic>
        <p:nvPicPr>
          <p:cNvPr id="140425" name="Picture 137">
            <a:extLst>
              <a:ext uri="{FF2B5EF4-FFF2-40B4-BE49-F238E27FC236}">
                <a16:creationId xmlns:a16="http://schemas.microsoft.com/office/drawing/2014/main" id="{6A120933-4C0A-9DF1-7531-5014F0151B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3063" y="4357688"/>
            <a:ext cx="6072187" cy="106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9271" name="Picture 137">
            <a:extLst>
              <a:ext uri="{FF2B5EF4-FFF2-40B4-BE49-F238E27FC236}">
                <a16:creationId xmlns:a16="http://schemas.microsoft.com/office/drawing/2014/main" id="{37723B2E-E567-7DF1-E403-2646901205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1153" t="19574" b="10446"/>
          <a:stretch>
            <a:fillRect/>
          </a:stretch>
        </p:blipFill>
        <p:spPr bwMode="auto">
          <a:xfrm>
            <a:off x="1214438" y="1714500"/>
            <a:ext cx="7143750" cy="257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37"/>
                                        </p:tgtEl>
                                        <p:attrNameLst>
                                          <p:attrName>style.visibility</p:attrName>
                                        </p:attrNameLst>
                                      </p:cBhvr>
                                      <p:to>
                                        <p:strVal val="visible"/>
                                      </p:to>
                                    </p:set>
                                    <p:animEffect transition="in" filter="wipe(up)">
                                      <p:cBhvr>
                                        <p:cTn id="7" dur="1000"/>
                                        <p:tgtEl>
                                          <p:spTgt spid="137"/>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136"/>
                                        </p:tgtEl>
                                        <p:attrNameLst>
                                          <p:attrName>style.visibility</p:attrName>
                                        </p:attrNameLst>
                                      </p:cBhvr>
                                      <p:to>
                                        <p:strVal val="visible"/>
                                      </p:to>
                                    </p:set>
                                    <p:animEffect transition="in" filter="wipe(up)">
                                      <p:cBhvr>
                                        <p:cTn id="11" dur="1000"/>
                                        <p:tgtEl>
                                          <p:spTgt spid="13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138"/>
                                        </p:tgtEl>
                                        <p:attrNameLst>
                                          <p:attrName>style.visibility</p:attrName>
                                        </p:attrNameLst>
                                      </p:cBhvr>
                                      <p:to>
                                        <p:strVal val="visible"/>
                                      </p:to>
                                    </p:set>
                                    <p:animEffect transition="in" filter="wipe(up)">
                                      <p:cBhvr>
                                        <p:cTn id="16" dur="1000"/>
                                        <p:tgtEl>
                                          <p:spTgt spid="13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140425"/>
                                        </p:tgtEl>
                                        <p:attrNameLst>
                                          <p:attrName>style.visibility</p:attrName>
                                        </p:attrNameLst>
                                      </p:cBhvr>
                                      <p:to>
                                        <p:strVal val="visible"/>
                                      </p:to>
                                    </p:set>
                                    <p:animEffect transition="in" filter="wipe(up)">
                                      <p:cBhvr>
                                        <p:cTn id="21" dur="1000"/>
                                        <p:tgtEl>
                                          <p:spTgt spid="14042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138243">
                                            <p:txEl>
                                              <p:pRg st="0" end="0"/>
                                            </p:txEl>
                                          </p:spTgt>
                                        </p:tgtEl>
                                        <p:attrNameLst>
                                          <p:attrName>style.visibility</p:attrName>
                                        </p:attrNameLst>
                                      </p:cBhvr>
                                      <p:to>
                                        <p:strVal val="visible"/>
                                      </p:to>
                                    </p:set>
                                    <p:animEffect transition="in" filter="wipe(up)">
                                      <p:cBhvr>
                                        <p:cTn id="26" dur="1000"/>
                                        <p:tgtEl>
                                          <p:spTgt spid="138243">
                                            <p:txEl>
                                              <p:pRg st="0" end="0"/>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138243">
                                            <p:txEl>
                                              <p:pRg st="1" end="1"/>
                                            </p:txEl>
                                          </p:spTgt>
                                        </p:tgtEl>
                                        <p:attrNameLst>
                                          <p:attrName>style.visibility</p:attrName>
                                        </p:attrNameLst>
                                      </p:cBhvr>
                                      <p:to>
                                        <p:strVal val="visible"/>
                                      </p:to>
                                    </p:set>
                                    <p:animEffect transition="in" filter="wipe(up)">
                                      <p:cBhvr>
                                        <p:cTn id="31" dur="1000"/>
                                        <p:tgtEl>
                                          <p:spTgt spid="13824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3" grpId="0" build="p"/>
      <p:bldP spid="136" grpId="0" animBg="1"/>
      <p:bldP spid="137" grpId="0"/>
      <p:bldP spid="138"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矩形 62">
            <a:extLst>
              <a:ext uri="{FF2B5EF4-FFF2-40B4-BE49-F238E27FC236}">
                <a16:creationId xmlns:a16="http://schemas.microsoft.com/office/drawing/2014/main" id="{4FF5EFC9-86E4-657F-7724-A9FF5A2A3B0F}"/>
              </a:ext>
            </a:extLst>
          </p:cNvPr>
          <p:cNvSpPr/>
          <p:nvPr/>
        </p:nvSpPr>
        <p:spPr>
          <a:xfrm>
            <a:off x="928688" y="1000125"/>
            <a:ext cx="6827837" cy="400050"/>
          </a:xfrm>
          <a:prstGeom prst="rect">
            <a:avLst/>
          </a:prstGeom>
        </p:spPr>
        <p:txBody>
          <a:bodyPr>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当</a:t>
            </a:r>
            <a:r>
              <a:rPr kumimoji="0" lang="zh-CN" altLang="en-US" sz="2000" kern="0" dirty="0">
                <a:solidFill>
                  <a:srgbClr val="000000"/>
                </a:solidFill>
                <a:latin typeface="Arial" pitchFamily="34" charset="0"/>
                <a:ea typeface="微软雅黑" pitchFamily="34" charset="-122"/>
                <a:cs typeface="Arial" pitchFamily="34" charset="0"/>
              </a:rPr>
              <a:t>输入</a:t>
            </a:r>
            <a:r>
              <a:rPr kumimoji="0" lang="zh-CN" altLang="en-US" sz="2000" b="0" kern="0" dirty="0">
                <a:solidFill>
                  <a:srgbClr val="000000"/>
                </a:solidFill>
                <a:latin typeface="Arial" pitchFamily="34" charset="0"/>
                <a:ea typeface="微软雅黑" pitchFamily="34" charset="-122"/>
                <a:cs typeface="Arial" pitchFamily="34" charset="0"/>
              </a:rPr>
              <a:t>信息位为</a:t>
            </a:r>
            <a:r>
              <a:rPr kumimoji="0" lang="en-US" altLang="zh-CN" sz="2000" kern="0" dirty="0">
                <a:solidFill>
                  <a:srgbClr val="0000CC"/>
                </a:solidFill>
                <a:latin typeface="Arial" pitchFamily="34" charset="0"/>
                <a:ea typeface="微软雅黑" pitchFamily="34" charset="-122"/>
                <a:cs typeface="Arial" pitchFamily="34" charset="0"/>
              </a:rPr>
              <a:t>11010</a:t>
            </a:r>
            <a:r>
              <a:rPr kumimoji="0" lang="zh-CN" altLang="en-US" sz="2000" b="0" kern="0" dirty="0">
                <a:solidFill>
                  <a:srgbClr val="000000"/>
                </a:solidFill>
                <a:latin typeface="Arial" pitchFamily="34" charset="0"/>
                <a:ea typeface="微软雅黑" pitchFamily="34" charset="-122"/>
                <a:cs typeface="Arial" pitchFamily="34" charset="0"/>
              </a:rPr>
              <a:t>时，在网格图中的</a:t>
            </a:r>
            <a:r>
              <a:rPr kumimoji="0" lang="zh-CN" altLang="en-US" sz="2000" kern="0" dirty="0">
                <a:solidFill>
                  <a:srgbClr val="000000"/>
                </a:solidFill>
                <a:latin typeface="Arial" pitchFamily="34" charset="0"/>
                <a:ea typeface="微软雅黑" pitchFamily="34" charset="-122"/>
                <a:cs typeface="Arial" pitchFamily="34" charset="0"/>
              </a:rPr>
              <a:t>编码路径：</a:t>
            </a:r>
            <a:endParaRPr lang="zh-CN" altLang="en-US" dirty="0"/>
          </a:p>
        </p:txBody>
      </p:sp>
      <p:sp>
        <p:nvSpPr>
          <p:cNvPr id="64" name="矩形 63">
            <a:extLst>
              <a:ext uri="{FF2B5EF4-FFF2-40B4-BE49-F238E27FC236}">
                <a16:creationId xmlns:a16="http://schemas.microsoft.com/office/drawing/2014/main" id="{21822299-0363-3F5A-A8F4-1E41FA6CDCD8}"/>
              </a:ext>
            </a:extLst>
          </p:cNvPr>
          <p:cNvSpPr/>
          <p:nvPr/>
        </p:nvSpPr>
        <p:spPr>
          <a:xfrm>
            <a:off x="936625" y="4243388"/>
            <a:ext cx="7278688" cy="400050"/>
          </a:xfrm>
          <a:prstGeom prst="rect">
            <a:avLst/>
          </a:prstGeom>
        </p:spPr>
        <p:txBody>
          <a:bodyPr>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这时的</a:t>
            </a:r>
            <a:r>
              <a:rPr kumimoji="0" lang="zh-CN" altLang="en-US" sz="2000" kern="0" dirty="0">
                <a:solidFill>
                  <a:srgbClr val="000000"/>
                </a:solidFill>
                <a:latin typeface="Arial" pitchFamily="34" charset="0"/>
                <a:ea typeface="微软雅黑" pitchFamily="34" charset="-122"/>
                <a:cs typeface="Arial" pitchFamily="34" charset="0"/>
              </a:rPr>
              <a:t>输出编码序列</a:t>
            </a:r>
            <a:r>
              <a:rPr kumimoji="0" lang="zh-CN" altLang="en-US" sz="2000" b="0" kern="0" dirty="0">
                <a:solidFill>
                  <a:srgbClr val="000000"/>
                </a:solidFill>
                <a:latin typeface="Arial" pitchFamily="34" charset="0"/>
                <a:ea typeface="微软雅黑" pitchFamily="34" charset="-122"/>
                <a:cs typeface="Arial" pitchFamily="34" charset="0"/>
              </a:rPr>
              <a:t>：</a:t>
            </a:r>
            <a:r>
              <a:rPr kumimoji="0" lang="en-US" altLang="zh-CN" sz="2000" kern="0" dirty="0">
                <a:solidFill>
                  <a:srgbClr val="000000"/>
                </a:solidFill>
                <a:latin typeface="Arial" pitchFamily="34" charset="0"/>
                <a:ea typeface="微软雅黑" pitchFamily="34" charset="-122"/>
                <a:cs typeface="Arial" pitchFamily="34" charset="0"/>
              </a:rPr>
              <a:t>111 110 010 100 011</a:t>
            </a:r>
            <a:r>
              <a:rPr kumimoji="0" lang="en-US" altLang="zh-CN" sz="2000" b="0" kern="0" dirty="0">
                <a:solidFill>
                  <a:srgbClr val="000000"/>
                </a:solidFill>
                <a:latin typeface="Arial" pitchFamily="34" charset="0"/>
                <a:ea typeface="微软雅黑" pitchFamily="34" charset="-122"/>
                <a:cs typeface="Arial" pitchFamily="34" charset="0"/>
              </a:rPr>
              <a:t>…</a:t>
            </a:r>
            <a:r>
              <a:rPr kumimoji="0" lang="zh-CN" altLang="en-US" sz="2000" b="0" kern="0" dirty="0">
                <a:solidFill>
                  <a:srgbClr val="000000"/>
                </a:solidFill>
                <a:latin typeface="Arial" pitchFamily="34" charset="0"/>
                <a:ea typeface="微软雅黑" pitchFamily="34" charset="-122"/>
                <a:cs typeface="Arial" pitchFamily="34" charset="0"/>
              </a:rPr>
              <a:t>。</a:t>
            </a:r>
            <a:endParaRPr lang="zh-CN" altLang="en-US" dirty="0"/>
          </a:p>
        </p:txBody>
      </p:sp>
      <p:sp>
        <p:nvSpPr>
          <p:cNvPr id="65" name="矩形 64">
            <a:extLst>
              <a:ext uri="{FF2B5EF4-FFF2-40B4-BE49-F238E27FC236}">
                <a16:creationId xmlns:a16="http://schemas.microsoft.com/office/drawing/2014/main" id="{39E13A7E-B808-8473-16DE-041A7CF3B22D}"/>
              </a:ext>
            </a:extLst>
          </p:cNvPr>
          <p:cNvSpPr/>
          <p:nvPr/>
        </p:nvSpPr>
        <p:spPr>
          <a:xfrm>
            <a:off x="857250" y="5643563"/>
            <a:ext cx="7572375" cy="460375"/>
          </a:xfrm>
          <a:prstGeom prst="rect">
            <a:avLst/>
          </a:prstGeom>
        </p:spPr>
        <p:txBody>
          <a:bodyPr>
            <a:spAutoFit/>
          </a:bodyPr>
          <a:lstStyle/>
          <a:p>
            <a:pPr marL="342900" indent="-342900">
              <a:lnSpc>
                <a:spcPts val="3200"/>
              </a:lnSpc>
              <a:spcBef>
                <a:spcPct val="20000"/>
              </a:spcBef>
              <a:buClr>
                <a:srgbClr val="3333CC"/>
              </a:buClr>
              <a:buSzPct val="60000"/>
              <a:defRPr/>
            </a:pPr>
            <a:r>
              <a:rPr kumimoji="0" lang="zh-CN" altLang="en-US" sz="2000" b="0" kern="0" dirty="0">
                <a:solidFill>
                  <a:schemeClr val="tx1"/>
                </a:solidFill>
                <a:latin typeface="Arial" pitchFamily="34" charset="0"/>
                <a:ea typeface="微软雅黑" pitchFamily="34" charset="-122"/>
                <a:cs typeface="Arial" pitchFamily="34" charset="0"/>
              </a:rPr>
              <a:t>基于上面的</a:t>
            </a: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状态图</a:t>
            </a:r>
            <a:r>
              <a:rPr kumimoji="0" lang="zh-CN" altLang="en-US" sz="2000" b="0" kern="0" dirty="0">
                <a:solidFill>
                  <a:schemeClr val="tx1"/>
                </a:solidFill>
                <a:latin typeface="Arial" pitchFamily="34" charset="0"/>
                <a:ea typeface="微软雅黑" pitchFamily="34" charset="-122"/>
                <a:cs typeface="Arial" pitchFamily="34" charset="0"/>
              </a:rPr>
              <a:t>和</a:t>
            </a: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网格图</a:t>
            </a:r>
            <a:r>
              <a:rPr kumimoji="0" lang="zh-CN" altLang="en-US" sz="2000" b="0" kern="0" dirty="0">
                <a:solidFill>
                  <a:schemeClr val="tx1"/>
                </a:solidFill>
                <a:latin typeface="Arial" pitchFamily="34" charset="0"/>
                <a:ea typeface="微软雅黑" pitchFamily="34" charset="-122"/>
                <a:cs typeface="Arial" pitchFamily="34" charset="0"/>
              </a:rPr>
              <a:t>，下面将讨论</a:t>
            </a:r>
            <a:r>
              <a:rPr kumimoji="0" lang="zh-CN" altLang="en-US" sz="2000" kern="0" dirty="0">
                <a:solidFill>
                  <a:schemeClr val="tx1"/>
                </a:solidFill>
                <a:latin typeface="Arial" pitchFamily="34" charset="0"/>
                <a:ea typeface="微软雅黑" pitchFamily="34" charset="-122"/>
                <a:cs typeface="Arial" pitchFamily="34" charset="0"/>
              </a:rPr>
              <a:t>维特比解码算法</a:t>
            </a:r>
            <a:r>
              <a:rPr kumimoji="0" lang="zh-CN" altLang="en-US" sz="2000" b="0" kern="0" dirty="0">
                <a:solidFill>
                  <a:schemeClr val="tx1"/>
                </a:solidFill>
                <a:latin typeface="Arial" pitchFamily="34" charset="0"/>
                <a:ea typeface="微软雅黑" pitchFamily="34" charset="-122"/>
                <a:cs typeface="Arial" pitchFamily="34" charset="0"/>
              </a:rPr>
              <a:t>。</a:t>
            </a:r>
          </a:p>
        </p:txBody>
      </p:sp>
      <p:pic>
        <p:nvPicPr>
          <p:cNvPr id="140351" name="Picture 63">
            <a:extLst>
              <a:ext uri="{FF2B5EF4-FFF2-40B4-BE49-F238E27FC236}">
                <a16:creationId xmlns:a16="http://schemas.microsoft.com/office/drawing/2014/main" id="{92CF8AF5-1FEB-78CA-A432-D0547FF2E6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6363" y="1643063"/>
            <a:ext cx="6838950" cy="221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0295" name="Picture 7">
            <a:extLst>
              <a:ext uri="{FF2B5EF4-FFF2-40B4-BE49-F238E27FC236}">
                <a16:creationId xmlns:a16="http://schemas.microsoft.com/office/drawing/2014/main" id="{C17743DE-F061-240D-A5F5-87A86DA74D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7233" b="4716"/>
          <a:stretch>
            <a:fillRect/>
          </a:stretch>
        </p:blipFill>
        <p:spPr bwMode="auto">
          <a:xfrm>
            <a:off x="812800" y="4857750"/>
            <a:ext cx="7331075"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wipe(up)">
                                      <p:cBhvr>
                                        <p:cTn id="7" dur="1000"/>
                                        <p:tgtEl>
                                          <p:spTgt spid="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40351"/>
                                        </p:tgtEl>
                                        <p:attrNameLst>
                                          <p:attrName>style.visibility</p:attrName>
                                        </p:attrNameLst>
                                      </p:cBhvr>
                                      <p:to>
                                        <p:strVal val="visible"/>
                                      </p:to>
                                    </p:set>
                                    <p:animEffect transition="in" filter="wipe(left)">
                                      <p:cBhvr>
                                        <p:cTn id="12" dur="2000"/>
                                        <p:tgtEl>
                                          <p:spTgt spid="1403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64"/>
                                        </p:tgtEl>
                                        <p:attrNameLst>
                                          <p:attrName>style.visibility</p:attrName>
                                        </p:attrNameLst>
                                      </p:cBhvr>
                                      <p:to>
                                        <p:strVal val="visible"/>
                                      </p:to>
                                    </p:set>
                                    <p:animEffect transition="in" filter="wipe(up)">
                                      <p:cBhvr>
                                        <p:cTn id="17" dur="1000"/>
                                        <p:tgtEl>
                                          <p:spTgt spid="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40295"/>
                                        </p:tgtEl>
                                        <p:attrNameLst>
                                          <p:attrName>style.visibility</p:attrName>
                                        </p:attrNameLst>
                                      </p:cBhvr>
                                      <p:to>
                                        <p:strVal val="visible"/>
                                      </p:to>
                                    </p:set>
                                    <p:animEffect transition="in" filter="wipe(up)">
                                      <p:cBhvr>
                                        <p:cTn id="22" dur="1000"/>
                                        <p:tgtEl>
                                          <p:spTgt spid="14029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65"/>
                                        </p:tgtEl>
                                        <p:attrNameLst>
                                          <p:attrName>style.visibility</p:attrName>
                                        </p:attrNameLst>
                                      </p:cBhvr>
                                      <p:to>
                                        <p:strVal val="visible"/>
                                      </p:to>
                                    </p:set>
                                    <p:animEffect transition="in" filter="wipe(up)">
                                      <p:cBhvr>
                                        <p:cTn id="27" dur="10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4" grpId="0"/>
      <p:bldP spid="65"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CC6479C8-4B16-5559-7C82-6F5ACA663FCE}"/>
              </a:ext>
            </a:extLst>
          </p:cNvPr>
          <p:cNvSpPr/>
          <p:nvPr/>
        </p:nvSpPr>
        <p:spPr>
          <a:xfrm>
            <a:off x="500063" y="506413"/>
            <a:ext cx="4714875" cy="534987"/>
          </a:xfrm>
          <a:prstGeom prst="rect">
            <a:avLst/>
          </a:prstGeom>
        </p:spPr>
        <p:txBody>
          <a:bodyPr>
            <a:spAutoFit/>
          </a:bodyPr>
          <a:lstStyle/>
          <a:p>
            <a:pPr marL="228600" lvl="1" indent="-228600">
              <a:lnSpc>
                <a:spcPct val="90000"/>
              </a:lnSpc>
              <a:spcBef>
                <a:spcPct val="20000"/>
              </a:spcBef>
              <a:buClr>
                <a:srgbClr val="FF0000"/>
              </a:buClr>
              <a:buSzPct val="75000"/>
              <a:defRPr/>
            </a:pPr>
            <a:r>
              <a:rPr kumimoji="0" lang="en-US" altLang="zh-CN" sz="3200" u="sng" kern="0" dirty="0">
                <a:solidFill>
                  <a:srgbClr val="FF0000"/>
                </a:solidFill>
                <a:latin typeface="Arial" pitchFamily="34" charset="0"/>
                <a:ea typeface="黑体" pitchFamily="2" charset="-122"/>
                <a:cs typeface="Arial" pitchFamily="34" charset="0"/>
              </a:rPr>
              <a:t>3</a:t>
            </a:r>
            <a:r>
              <a:rPr kumimoji="0" lang="zh-CN" altLang="en-US" sz="3200" kern="0" dirty="0">
                <a:solidFill>
                  <a:srgbClr val="000000"/>
                </a:solidFill>
                <a:latin typeface="黑体" pitchFamily="2" charset="-122"/>
                <a:ea typeface="黑体" pitchFamily="2" charset="-122"/>
              </a:rPr>
              <a:t> </a:t>
            </a:r>
            <a:r>
              <a:rPr lang="zh-CN" altLang="en-US" sz="3200" dirty="0">
                <a:solidFill>
                  <a:schemeClr val="tx1"/>
                </a:solidFill>
                <a:latin typeface="黑体" pitchFamily="2" charset="-122"/>
                <a:ea typeface="黑体" pitchFamily="2" charset="-122"/>
              </a:rPr>
              <a:t>维特比解码算法</a:t>
            </a:r>
            <a:endParaRPr kumimoji="0" lang="zh-CN" altLang="en-US" sz="3200" kern="0" dirty="0">
              <a:solidFill>
                <a:srgbClr val="000000"/>
              </a:solidFill>
              <a:latin typeface="黑体" pitchFamily="2" charset="-122"/>
              <a:ea typeface="黑体" pitchFamily="2" charset="-122"/>
            </a:endParaRPr>
          </a:p>
        </p:txBody>
      </p:sp>
      <p:sp>
        <p:nvSpPr>
          <p:cNvPr id="4" name="矩形 3">
            <a:extLst>
              <a:ext uri="{FF2B5EF4-FFF2-40B4-BE49-F238E27FC236}">
                <a16:creationId xmlns:a16="http://schemas.microsoft.com/office/drawing/2014/main" id="{040996FD-D0F6-E1D2-EE58-3A5FC61EF3AA}"/>
              </a:ext>
            </a:extLst>
          </p:cNvPr>
          <p:cNvSpPr/>
          <p:nvPr/>
        </p:nvSpPr>
        <p:spPr>
          <a:xfrm>
            <a:off x="714375" y="1141413"/>
            <a:ext cx="1714500" cy="501650"/>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marL="228600" lvl="1" indent="-228600">
              <a:lnSpc>
                <a:spcPts val="3500"/>
              </a:lnSpc>
              <a:spcBef>
                <a:spcPct val="20000"/>
              </a:spcBef>
              <a:buClr>
                <a:srgbClr val="FF0000"/>
              </a:buClr>
              <a:buSzPct val="75000"/>
              <a:buFont typeface="Wingdings" pitchFamily="2" charset="2"/>
              <a:buChar char="n"/>
              <a:defRPr/>
            </a:pPr>
            <a:r>
              <a:rPr lang="zh-CN" altLang="en-US" sz="2400" b="0" dirty="0">
                <a:solidFill>
                  <a:srgbClr val="0000CC"/>
                </a:solidFill>
                <a:effectLst>
                  <a:outerShdw blurRad="38100" dist="38100" dir="2700000" algn="tl">
                    <a:srgbClr val="000000">
                      <a:alpha val="43137"/>
                    </a:srgbClr>
                  </a:outerShdw>
                </a:effectLst>
                <a:latin typeface="微软雅黑" pitchFamily="34" charset="-122"/>
                <a:ea typeface="微软雅黑" pitchFamily="34" charset="-122"/>
              </a:rPr>
              <a:t>基本原理</a:t>
            </a:r>
            <a:endParaRPr kumimoji="0" lang="zh-CN" altLang="en-US" sz="2400" b="0" kern="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p:txBody>
      </p:sp>
      <p:sp>
        <p:nvSpPr>
          <p:cNvPr id="5" name="矩形 4">
            <a:extLst>
              <a:ext uri="{FF2B5EF4-FFF2-40B4-BE49-F238E27FC236}">
                <a16:creationId xmlns:a16="http://schemas.microsoft.com/office/drawing/2014/main" id="{3B620E28-92AA-8C54-7D73-729AF9B95B6C}"/>
              </a:ext>
            </a:extLst>
          </p:cNvPr>
          <p:cNvSpPr/>
          <p:nvPr/>
        </p:nvSpPr>
        <p:spPr>
          <a:xfrm>
            <a:off x="1000125" y="3214688"/>
            <a:ext cx="7429500" cy="400050"/>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     仍用上面</a:t>
            </a:r>
            <a:r>
              <a:rPr kumimoji="0" lang="en-US" altLang="zh-CN" sz="2000" kern="0" dirty="0">
                <a:solidFill>
                  <a:srgbClr val="000000"/>
                </a:solidFill>
                <a:latin typeface="Arial" pitchFamily="34" charset="0"/>
                <a:ea typeface="微软雅黑" pitchFamily="34" charset="-122"/>
                <a:cs typeface="Arial" pitchFamily="34" charset="0"/>
              </a:rPr>
              <a:t>(3, 1, 3)</a:t>
            </a:r>
            <a:r>
              <a:rPr kumimoji="0" lang="zh-CN" altLang="en-US" sz="2000" b="0" kern="0" dirty="0">
                <a:solidFill>
                  <a:srgbClr val="000000"/>
                </a:solidFill>
                <a:latin typeface="Arial" pitchFamily="34" charset="0"/>
                <a:ea typeface="微软雅黑" pitchFamily="34" charset="-122"/>
                <a:cs typeface="Arial" pitchFamily="34" charset="0"/>
              </a:rPr>
              <a:t>卷积码的例子来说明</a:t>
            </a:r>
            <a:r>
              <a:rPr kumimoji="0" lang="zh-CN" altLang="en-US" sz="2000" kern="0" dirty="0">
                <a:solidFill>
                  <a:srgbClr val="000000"/>
                </a:solidFill>
                <a:latin typeface="Arial" pitchFamily="34" charset="0"/>
                <a:ea typeface="微软雅黑" pitchFamily="34" charset="-122"/>
                <a:cs typeface="Arial" pitchFamily="34" charset="0"/>
              </a:rPr>
              <a:t>维特比算法</a:t>
            </a:r>
            <a:r>
              <a:rPr kumimoji="0" lang="zh-CN" altLang="en-US" sz="2000" b="0" kern="0" dirty="0">
                <a:solidFill>
                  <a:srgbClr val="000000"/>
                </a:solidFill>
                <a:latin typeface="Arial" pitchFamily="34" charset="0"/>
                <a:ea typeface="微软雅黑" pitchFamily="34" charset="-122"/>
                <a:cs typeface="Arial" pitchFamily="34" charset="0"/>
              </a:rPr>
              <a:t>的</a:t>
            </a:r>
            <a:r>
              <a:rPr kumimoji="0" lang="zh-CN" altLang="en-US" sz="2000" kern="0" dirty="0">
                <a:solidFill>
                  <a:srgbClr val="000000"/>
                </a:solidFill>
                <a:latin typeface="Arial" pitchFamily="34" charset="0"/>
                <a:ea typeface="微软雅黑" pitchFamily="34" charset="-122"/>
                <a:cs typeface="Arial" pitchFamily="34" charset="0"/>
              </a:rPr>
              <a:t>原理</a:t>
            </a:r>
            <a:r>
              <a:rPr kumimoji="0" lang="zh-CN" altLang="en-US" sz="2000" b="0" kern="0" dirty="0">
                <a:solidFill>
                  <a:srgbClr val="000000"/>
                </a:solidFill>
                <a:latin typeface="Arial" pitchFamily="34" charset="0"/>
                <a:ea typeface="微软雅黑" pitchFamily="34" charset="-122"/>
                <a:cs typeface="Arial" pitchFamily="34" charset="0"/>
              </a:rPr>
              <a:t>。</a:t>
            </a:r>
            <a:endParaRPr lang="zh-CN" altLang="en-US" dirty="0"/>
          </a:p>
        </p:txBody>
      </p:sp>
      <p:grpSp>
        <p:nvGrpSpPr>
          <p:cNvPr id="2" name="组合 8">
            <a:extLst>
              <a:ext uri="{FF2B5EF4-FFF2-40B4-BE49-F238E27FC236}">
                <a16:creationId xmlns:a16="http://schemas.microsoft.com/office/drawing/2014/main" id="{2E74E6E6-32E8-11CF-BF68-F899CA4B63B0}"/>
              </a:ext>
            </a:extLst>
          </p:cNvPr>
          <p:cNvGrpSpPr>
            <a:grpSpLocks/>
          </p:cNvGrpSpPr>
          <p:nvPr/>
        </p:nvGrpSpPr>
        <p:grpSpPr bwMode="auto">
          <a:xfrm>
            <a:off x="642938" y="2928938"/>
            <a:ext cx="714375" cy="714375"/>
            <a:chOff x="357158" y="2285992"/>
            <a:chExt cx="714380" cy="714808"/>
          </a:xfrm>
        </p:grpSpPr>
        <p:grpSp>
          <p:nvGrpSpPr>
            <p:cNvPr id="141321" name="Group 52">
              <a:extLst>
                <a:ext uri="{FF2B5EF4-FFF2-40B4-BE49-F238E27FC236}">
                  <a16:creationId xmlns:a16="http://schemas.microsoft.com/office/drawing/2014/main" id="{6D3226C3-E098-02A3-B4DA-5B71AD913043}"/>
                </a:ext>
              </a:extLst>
            </p:cNvPr>
            <p:cNvGrpSpPr>
              <a:grpSpLocks/>
            </p:cNvGrpSpPr>
            <p:nvPr/>
          </p:nvGrpSpPr>
          <p:grpSpPr bwMode="auto">
            <a:xfrm>
              <a:off x="357158" y="2285992"/>
              <a:ext cx="714380" cy="714808"/>
              <a:chOff x="1289" y="498"/>
              <a:chExt cx="668" cy="752"/>
            </a:xfrm>
          </p:grpSpPr>
          <p:sp>
            <p:nvSpPr>
              <p:cNvPr id="141323" name="Oval 53">
                <a:extLst>
                  <a:ext uri="{FF2B5EF4-FFF2-40B4-BE49-F238E27FC236}">
                    <a16:creationId xmlns:a16="http://schemas.microsoft.com/office/drawing/2014/main" id="{96B8D2FC-2935-3143-D5D2-FC6DEBC8B2BE}"/>
                  </a:ext>
                </a:extLst>
              </p:cNvPr>
              <p:cNvSpPr>
                <a:spLocks noChangeArrowheads="1"/>
              </p:cNvSpPr>
              <p:nvPr/>
            </p:nvSpPr>
            <p:spPr bwMode="gray">
              <a:xfrm>
                <a:off x="1289" y="582"/>
                <a:ext cx="668" cy="668"/>
              </a:xfrm>
              <a:prstGeom prst="ellipse">
                <a:avLst/>
              </a:prstGeom>
              <a:solidFill>
                <a:srgbClr val="333333"/>
              </a:soli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41324" name="Oval 54">
                <a:extLst>
                  <a:ext uri="{FF2B5EF4-FFF2-40B4-BE49-F238E27FC236}">
                    <a16:creationId xmlns:a16="http://schemas.microsoft.com/office/drawing/2014/main" id="{C2A7BF4C-ED81-BA00-67DE-143B1828D554}"/>
                  </a:ext>
                </a:extLst>
              </p:cNvPr>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41325" name="Oval 55">
                <a:extLst>
                  <a:ext uri="{FF2B5EF4-FFF2-40B4-BE49-F238E27FC236}">
                    <a16:creationId xmlns:a16="http://schemas.microsoft.com/office/drawing/2014/main" id="{77DC94CF-1789-0ACA-5BE3-75FBD1C87E6F}"/>
                  </a:ext>
                </a:extLst>
              </p:cNvPr>
              <p:cNvSpPr>
                <a:spLocks noChangeArrowheads="1"/>
              </p:cNvSpPr>
              <p:nvPr/>
            </p:nvSpPr>
            <p:spPr bwMode="gray">
              <a:xfrm>
                <a:off x="1304" y="498"/>
                <a:ext cx="631" cy="724"/>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41326" name="Oval 56">
                <a:extLst>
                  <a:ext uri="{FF2B5EF4-FFF2-40B4-BE49-F238E27FC236}">
                    <a16:creationId xmlns:a16="http://schemas.microsoft.com/office/drawing/2014/main" id="{2DB23CFF-63C0-F880-0E28-A64AECF0E64C}"/>
                  </a:ext>
                </a:extLst>
              </p:cNvPr>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41327" name="Oval 57">
                <a:extLst>
                  <a:ext uri="{FF2B5EF4-FFF2-40B4-BE49-F238E27FC236}">
                    <a16:creationId xmlns:a16="http://schemas.microsoft.com/office/drawing/2014/main" id="{F6D718E2-1E07-D96A-1317-C9AFEDED60E4}"/>
                  </a:ext>
                </a:extLst>
              </p:cNvPr>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pSp>
        <p:sp>
          <p:nvSpPr>
            <p:cNvPr id="141322" name="Text Box 29">
              <a:extLst>
                <a:ext uri="{FF2B5EF4-FFF2-40B4-BE49-F238E27FC236}">
                  <a16:creationId xmlns:a16="http://schemas.microsoft.com/office/drawing/2014/main" id="{FA9B959C-ECC8-7F0D-DB74-B6E7A68DA8A0}"/>
                </a:ext>
              </a:extLst>
            </p:cNvPr>
            <p:cNvSpPr txBox="1">
              <a:spLocks noChangeArrowheads="1"/>
            </p:cNvSpPr>
            <p:nvPr/>
          </p:nvSpPr>
          <p:spPr bwMode="gray">
            <a:xfrm>
              <a:off x="428596" y="2438468"/>
              <a:ext cx="542027" cy="519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a:r>
                <a:rPr kumimoji="0" lang="zh-CN" altLang="en-US" sz="2800">
                  <a:solidFill>
                    <a:srgbClr val="0000CC"/>
                  </a:solidFill>
                  <a:latin typeface="Arial" panose="020B0604020202020204" pitchFamily="34" charset="0"/>
                  <a:ea typeface="宋体" panose="02010600030101010101" pitchFamily="2" charset="-122"/>
                </a:rPr>
                <a:t>例</a:t>
              </a:r>
            </a:p>
          </p:txBody>
        </p:sp>
      </p:grpSp>
      <p:sp>
        <p:nvSpPr>
          <p:cNvPr id="18" name="Rectangle 3">
            <a:extLst>
              <a:ext uri="{FF2B5EF4-FFF2-40B4-BE49-F238E27FC236}">
                <a16:creationId xmlns:a16="http://schemas.microsoft.com/office/drawing/2014/main" id="{D44D3150-CB19-70C0-CC69-98342C1A5AC1}"/>
              </a:ext>
            </a:extLst>
          </p:cNvPr>
          <p:cNvSpPr txBox="1">
            <a:spLocks noChangeArrowheads="1"/>
          </p:cNvSpPr>
          <p:nvPr/>
        </p:nvSpPr>
        <p:spPr bwMode="auto">
          <a:xfrm>
            <a:off x="928688" y="3854450"/>
            <a:ext cx="7572375" cy="1857375"/>
          </a:xfrm>
          <a:prstGeom prst="rect">
            <a:avLst/>
          </a:prstGeom>
          <a:noFill/>
          <a:ln w="9525">
            <a:noFill/>
            <a:miter lim="800000"/>
            <a:headEnd/>
            <a:tailEnd/>
          </a:ln>
        </p:spPr>
        <p:txBody>
          <a:bodyPr/>
          <a:lstStyle/>
          <a:p>
            <a:pPr marL="342900" indent="-342900">
              <a:lnSpc>
                <a:spcPts val="3200"/>
              </a:lnSpc>
              <a:spcBef>
                <a:spcPct val="20000"/>
              </a:spcBef>
              <a:buClr>
                <a:schemeClr val="folHlink"/>
              </a:buClr>
              <a:buSzPct val="60000"/>
              <a:buFont typeface="Wingdings" pitchFamily="2" charset="2"/>
              <a:buNone/>
              <a:defRPr/>
            </a:pPr>
            <a:r>
              <a:rPr kumimoji="0" lang="zh-CN" altLang="en-US" sz="2000" b="0" kern="0" dirty="0">
                <a:solidFill>
                  <a:schemeClr val="tx1"/>
                </a:solidFill>
                <a:latin typeface="Arial" pitchFamily="34" charset="0"/>
                <a:ea typeface="微软雅黑" pitchFamily="34" charset="-122"/>
                <a:cs typeface="Arial" pitchFamily="34" charset="0"/>
              </a:rPr>
              <a:t>设发送信息位为</a:t>
            </a:r>
            <a:r>
              <a:rPr kumimoji="0" lang="en-US" altLang="zh-CN" sz="2400" kern="0" dirty="0">
                <a:solidFill>
                  <a:schemeClr val="tx1"/>
                </a:solidFill>
                <a:latin typeface="Arial" pitchFamily="34" charset="0"/>
                <a:ea typeface="微软雅黑" pitchFamily="34" charset="-122"/>
                <a:cs typeface="Arial" pitchFamily="34" charset="0"/>
              </a:rPr>
              <a:t>1101</a:t>
            </a:r>
            <a:r>
              <a:rPr kumimoji="0" lang="zh-CN" altLang="en-US" sz="2000" b="0" kern="0" dirty="0">
                <a:solidFill>
                  <a:schemeClr val="tx1"/>
                </a:solidFill>
                <a:latin typeface="Arial" pitchFamily="34" charset="0"/>
                <a:ea typeface="微软雅黑" pitchFamily="34" charset="-122"/>
                <a:cs typeface="Arial" pitchFamily="34" charset="0"/>
              </a:rPr>
              <a:t>，为了使图中移存器的信息位全部移出，在</a:t>
            </a:r>
            <a:endParaRPr kumimoji="0" lang="en-US" altLang="zh-CN" sz="2000" b="0" kern="0" dirty="0">
              <a:solidFill>
                <a:schemeClr val="tx1"/>
              </a:solidFill>
              <a:latin typeface="Arial" pitchFamily="34" charset="0"/>
              <a:ea typeface="微软雅黑" pitchFamily="34" charset="-122"/>
              <a:cs typeface="Arial" pitchFamily="34" charset="0"/>
            </a:endParaRPr>
          </a:p>
          <a:p>
            <a:pPr marL="342900" indent="-342900">
              <a:lnSpc>
                <a:spcPts val="3200"/>
              </a:lnSpc>
              <a:spcBef>
                <a:spcPct val="20000"/>
              </a:spcBef>
              <a:buClr>
                <a:schemeClr val="folHlink"/>
              </a:buClr>
              <a:buSzPct val="60000"/>
              <a:buFont typeface="Wingdings" pitchFamily="2" charset="2"/>
              <a:buNone/>
              <a:defRPr/>
            </a:pPr>
            <a:r>
              <a:rPr kumimoji="0" lang="zh-CN" altLang="en-US" sz="2000" b="0" kern="0" dirty="0">
                <a:solidFill>
                  <a:schemeClr val="tx1"/>
                </a:solidFill>
                <a:latin typeface="Arial" pitchFamily="34" charset="0"/>
                <a:ea typeface="微软雅黑" pitchFamily="34" charset="-122"/>
                <a:cs typeface="Arial" pitchFamily="34" charset="0"/>
              </a:rPr>
              <a:t>信息位后面加入</a:t>
            </a:r>
            <a:r>
              <a:rPr kumimoji="0" lang="en-US" altLang="zh-CN" sz="2000" b="0" kern="0" dirty="0">
                <a:solidFill>
                  <a:schemeClr val="tx1"/>
                </a:solidFill>
                <a:latin typeface="Arial" pitchFamily="34" charset="0"/>
                <a:ea typeface="微软雅黑" pitchFamily="34" charset="-122"/>
                <a:cs typeface="Arial" pitchFamily="34" charset="0"/>
              </a:rPr>
              <a:t>3</a:t>
            </a:r>
            <a:r>
              <a:rPr kumimoji="0" lang="zh-CN" altLang="en-US" sz="2000" b="0" kern="0" dirty="0">
                <a:solidFill>
                  <a:schemeClr val="tx1"/>
                </a:solidFill>
                <a:latin typeface="Arial" pitchFamily="34" charset="0"/>
                <a:ea typeface="微软雅黑" pitchFamily="34" charset="-122"/>
                <a:cs typeface="Arial" pitchFamily="34" charset="0"/>
              </a:rPr>
              <a:t>个“</a:t>
            </a:r>
            <a:r>
              <a:rPr kumimoji="0" lang="en-US" altLang="zh-CN" sz="2000" b="0" kern="0" dirty="0">
                <a:solidFill>
                  <a:schemeClr val="tx1"/>
                </a:solidFill>
                <a:latin typeface="Arial" pitchFamily="34" charset="0"/>
                <a:ea typeface="微软雅黑" pitchFamily="34" charset="-122"/>
                <a:cs typeface="Arial" pitchFamily="34" charset="0"/>
              </a:rPr>
              <a:t>0”</a:t>
            </a:r>
            <a:r>
              <a:rPr kumimoji="0" lang="zh-CN" altLang="en-US" sz="2000" b="0" kern="0" dirty="0">
                <a:solidFill>
                  <a:schemeClr val="tx1"/>
                </a:solidFill>
                <a:latin typeface="Arial" pitchFamily="34" charset="0"/>
                <a:ea typeface="微软雅黑" pitchFamily="34" charset="-122"/>
                <a:cs typeface="Arial" pitchFamily="34" charset="0"/>
              </a:rPr>
              <a:t>，故编码后的</a:t>
            </a:r>
            <a:r>
              <a:rPr kumimoji="0" lang="zh-CN" altLang="en-US" sz="2000" kern="0" dirty="0">
                <a:solidFill>
                  <a:schemeClr val="tx1"/>
                </a:solidFill>
                <a:latin typeface="Arial" pitchFamily="34" charset="0"/>
                <a:ea typeface="微软雅黑" pitchFamily="34" charset="-122"/>
                <a:cs typeface="Arial" pitchFamily="34" charset="0"/>
              </a:rPr>
              <a:t>发送序列</a:t>
            </a:r>
            <a:r>
              <a:rPr kumimoji="0" lang="zh-CN" altLang="en-US" sz="2000" b="0" kern="0" dirty="0">
                <a:solidFill>
                  <a:schemeClr val="tx1"/>
                </a:solidFill>
                <a:latin typeface="Arial" pitchFamily="34" charset="0"/>
                <a:ea typeface="微软雅黑" pitchFamily="34" charset="-122"/>
                <a:cs typeface="Arial" pitchFamily="34" charset="0"/>
              </a:rPr>
              <a:t>为</a:t>
            </a:r>
            <a:endParaRPr kumimoji="0" lang="en-US" altLang="zh-CN" sz="2000" b="0" kern="0" dirty="0">
              <a:solidFill>
                <a:schemeClr val="tx1"/>
              </a:solidFill>
              <a:latin typeface="Arial" pitchFamily="34" charset="0"/>
              <a:ea typeface="微软雅黑" pitchFamily="34" charset="-122"/>
              <a:cs typeface="Arial" pitchFamily="34" charset="0"/>
            </a:endParaRPr>
          </a:p>
          <a:p>
            <a:pPr marL="342900" indent="-342900">
              <a:lnSpc>
                <a:spcPts val="3200"/>
              </a:lnSpc>
              <a:spcBef>
                <a:spcPct val="20000"/>
              </a:spcBef>
              <a:buClr>
                <a:schemeClr val="folHlink"/>
              </a:buClr>
              <a:buSzPct val="60000"/>
              <a:buFont typeface="Wingdings" pitchFamily="2" charset="2"/>
              <a:buNone/>
              <a:defRPr/>
            </a:pPr>
            <a:r>
              <a:rPr kumimoji="0" lang="en-US" altLang="zh-CN" sz="2000" kern="0" dirty="0">
                <a:solidFill>
                  <a:srgbClr val="0000CC"/>
                </a:solidFill>
                <a:latin typeface="Arial" pitchFamily="34" charset="0"/>
                <a:ea typeface="微软雅黑" pitchFamily="34" charset="-122"/>
                <a:cs typeface="Arial" pitchFamily="34" charset="0"/>
              </a:rPr>
              <a:t>                           </a:t>
            </a:r>
            <a:r>
              <a:rPr kumimoji="0" lang="en-US" altLang="zh-CN" sz="2400" kern="0" dirty="0">
                <a:solidFill>
                  <a:schemeClr val="tx1"/>
                </a:solidFill>
                <a:latin typeface="Arial" pitchFamily="34" charset="0"/>
                <a:ea typeface="微软雅黑" pitchFamily="34" charset="-122"/>
                <a:cs typeface="Arial" pitchFamily="34" charset="0"/>
              </a:rPr>
              <a:t>111 110 010 100 001 011</a:t>
            </a:r>
            <a:r>
              <a:rPr kumimoji="0" lang="en-US" altLang="zh-CN" sz="2400" b="0" kern="0" dirty="0">
                <a:solidFill>
                  <a:schemeClr val="tx1"/>
                </a:solidFill>
                <a:latin typeface="Arial" pitchFamily="34" charset="0"/>
                <a:ea typeface="微软雅黑" pitchFamily="34" charset="-122"/>
                <a:cs typeface="Arial" pitchFamily="34" charset="0"/>
              </a:rPr>
              <a:t> </a:t>
            </a:r>
            <a:r>
              <a:rPr kumimoji="0" lang="en-US" altLang="zh-CN" sz="2400" kern="0" dirty="0">
                <a:solidFill>
                  <a:schemeClr val="tx1"/>
                </a:solidFill>
                <a:latin typeface="Arial" pitchFamily="34" charset="0"/>
                <a:ea typeface="微软雅黑" pitchFamily="34" charset="-122"/>
                <a:cs typeface="Arial" pitchFamily="34" charset="0"/>
              </a:rPr>
              <a:t>000</a:t>
            </a:r>
            <a:endParaRPr kumimoji="0" lang="en-US" altLang="zh-CN" sz="2400" b="0" kern="0" dirty="0">
              <a:solidFill>
                <a:schemeClr val="tx1"/>
              </a:solidFill>
              <a:latin typeface="Arial" pitchFamily="34" charset="0"/>
              <a:ea typeface="微软雅黑" pitchFamily="34" charset="-122"/>
              <a:cs typeface="Arial" pitchFamily="34" charset="0"/>
            </a:endParaRPr>
          </a:p>
          <a:p>
            <a:pPr marL="342900" indent="-342900">
              <a:lnSpc>
                <a:spcPts val="3200"/>
              </a:lnSpc>
              <a:spcBef>
                <a:spcPct val="20000"/>
              </a:spcBef>
              <a:buClr>
                <a:schemeClr val="folHlink"/>
              </a:buClr>
              <a:buSzPct val="60000"/>
              <a:buFont typeface="Wingdings" pitchFamily="2" charset="2"/>
              <a:buNone/>
              <a:defRPr/>
            </a:pPr>
            <a:r>
              <a:rPr kumimoji="0" lang="zh-CN" altLang="en-US" sz="2000" b="0" kern="0" dirty="0">
                <a:solidFill>
                  <a:schemeClr val="tx1"/>
                </a:solidFill>
                <a:latin typeface="Arial" pitchFamily="34" charset="0"/>
                <a:ea typeface="微软雅黑" pitchFamily="34" charset="-122"/>
                <a:cs typeface="Arial" pitchFamily="34" charset="0"/>
              </a:rPr>
              <a:t>设</a:t>
            </a:r>
            <a:r>
              <a:rPr kumimoji="0" lang="zh-CN" altLang="en-US" sz="2000" kern="0" dirty="0">
                <a:solidFill>
                  <a:schemeClr val="tx1"/>
                </a:solidFill>
                <a:latin typeface="Arial" pitchFamily="34" charset="0"/>
                <a:ea typeface="微软雅黑" pitchFamily="34" charset="-122"/>
                <a:cs typeface="Arial" pitchFamily="34" charset="0"/>
              </a:rPr>
              <a:t>接收序列</a:t>
            </a:r>
            <a:r>
              <a:rPr kumimoji="0" lang="zh-CN" altLang="en-US" sz="2000" b="0" kern="0" dirty="0">
                <a:solidFill>
                  <a:schemeClr val="tx1"/>
                </a:solidFill>
                <a:latin typeface="Arial" pitchFamily="34" charset="0"/>
                <a:ea typeface="微软雅黑" pitchFamily="34" charset="-122"/>
                <a:cs typeface="Arial" pitchFamily="34" charset="0"/>
              </a:rPr>
              <a:t>为     </a:t>
            </a:r>
            <a:r>
              <a:rPr kumimoji="0" lang="en-US" altLang="zh-CN" sz="2400" kern="0" dirty="0">
                <a:solidFill>
                  <a:schemeClr val="tx1"/>
                </a:solidFill>
                <a:latin typeface="Arial" pitchFamily="34" charset="0"/>
                <a:ea typeface="微软雅黑" pitchFamily="34" charset="-122"/>
                <a:cs typeface="Arial" pitchFamily="34" charset="0"/>
              </a:rPr>
              <a:t>111 </a:t>
            </a:r>
            <a:r>
              <a:rPr kumimoji="0" lang="en-US" altLang="zh-CN" sz="2400" kern="0" dirty="0">
                <a:solidFill>
                  <a:schemeClr val="hlink"/>
                </a:solidFill>
                <a:latin typeface="Arial" pitchFamily="34" charset="0"/>
                <a:ea typeface="微软雅黑" pitchFamily="34" charset="-122"/>
                <a:cs typeface="Arial" pitchFamily="34" charset="0"/>
              </a:rPr>
              <a:t>0</a:t>
            </a:r>
            <a:r>
              <a:rPr kumimoji="0" lang="en-US" altLang="zh-CN" sz="2400" kern="0" dirty="0">
                <a:solidFill>
                  <a:schemeClr val="tx1"/>
                </a:solidFill>
                <a:latin typeface="Arial" pitchFamily="34" charset="0"/>
                <a:ea typeface="微软雅黑" pitchFamily="34" charset="-122"/>
                <a:cs typeface="Arial" pitchFamily="34" charset="0"/>
              </a:rPr>
              <a:t>10 010 1</a:t>
            </a:r>
            <a:r>
              <a:rPr kumimoji="0" lang="en-US" altLang="zh-CN" sz="2400" kern="0" dirty="0">
                <a:solidFill>
                  <a:schemeClr val="hlink"/>
                </a:solidFill>
                <a:latin typeface="Arial" pitchFamily="34" charset="0"/>
                <a:ea typeface="微软雅黑" pitchFamily="34" charset="-122"/>
                <a:cs typeface="Arial" pitchFamily="34" charset="0"/>
              </a:rPr>
              <a:t>1</a:t>
            </a:r>
            <a:r>
              <a:rPr kumimoji="0" lang="en-US" altLang="zh-CN" sz="2400" kern="0" dirty="0">
                <a:solidFill>
                  <a:schemeClr val="tx1"/>
                </a:solidFill>
                <a:latin typeface="Arial" pitchFamily="34" charset="0"/>
                <a:ea typeface="微软雅黑" pitchFamily="34" charset="-122"/>
                <a:cs typeface="Arial" pitchFamily="34" charset="0"/>
              </a:rPr>
              <a:t>0 001 011 000</a:t>
            </a:r>
            <a:endParaRPr kumimoji="0" lang="zh-CN" altLang="en-US" sz="2000" b="0" kern="0" dirty="0">
              <a:solidFill>
                <a:schemeClr val="tx1"/>
              </a:solidFill>
              <a:latin typeface="Arial" pitchFamily="34" charset="0"/>
              <a:ea typeface="微软雅黑" pitchFamily="34" charset="-122"/>
              <a:cs typeface="Arial" pitchFamily="34" charset="0"/>
            </a:endParaRPr>
          </a:p>
        </p:txBody>
      </p:sp>
      <p:pic>
        <p:nvPicPr>
          <p:cNvPr id="141330" name="Picture 18">
            <a:extLst>
              <a:ext uri="{FF2B5EF4-FFF2-40B4-BE49-F238E27FC236}">
                <a16:creationId xmlns:a16="http://schemas.microsoft.com/office/drawing/2014/main" id="{A9D87ADF-A7CF-FDD2-6423-713CC148C6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7525" y="5791200"/>
            <a:ext cx="2657475" cy="70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2352" name="Picture 16">
            <a:extLst>
              <a:ext uri="{FF2B5EF4-FFF2-40B4-BE49-F238E27FC236}">
                <a16:creationId xmlns:a16="http://schemas.microsoft.com/office/drawing/2014/main" id="{4630F129-4022-7D15-9381-A24C13D82B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250" y="1687513"/>
            <a:ext cx="7643813" cy="112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10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1000"/>
                                        <p:tgtEl>
                                          <p:spTgt spid="4"/>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142352"/>
                                        </p:tgtEl>
                                        <p:attrNameLst>
                                          <p:attrName>style.visibility</p:attrName>
                                        </p:attrNameLst>
                                      </p:cBhvr>
                                      <p:to>
                                        <p:strVal val="visible"/>
                                      </p:to>
                                    </p:set>
                                    <p:animEffect transition="in" filter="wipe(up)">
                                      <p:cBhvr>
                                        <p:cTn id="16" dur="1000"/>
                                        <p:tgtEl>
                                          <p:spTgt spid="14235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1000"/>
                                        <p:tgtEl>
                                          <p:spTgt spid="2"/>
                                        </p:tgtEl>
                                      </p:cBhvr>
                                    </p:animEffect>
                                  </p:childTnLst>
                                </p:cTn>
                              </p:par>
                            </p:childTnLst>
                          </p:cTn>
                        </p:par>
                        <p:par>
                          <p:cTn id="22" fill="hold" nodeType="afterGroup">
                            <p:stCondLst>
                              <p:cond delay="1000"/>
                            </p:stCondLst>
                            <p:childTnLst>
                              <p:par>
                                <p:cTn id="23" presetID="22" presetClass="entr" presetSubtype="1"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up)">
                                      <p:cBhvr>
                                        <p:cTn id="25" dur="1000"/>
                                        <p:tgtEl>
                                          <p:spTgt spid="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18">
                                            <p:txEl>
                                              <p:pRg st="0" end="0"/>
                                            </p:txEl>
                                          </p:spTgt>
                                        </p:tgtEl>
                                        <p:attrNameLst>
                                          <p:attrName>style.visibility</p:attrName>
                                        </p:attrNameLst>
                                      </p:cBhvr>
                                      <p:to>
                                        <p:strVal val="visible"/>
                                      </p:to>
                                    </p:set>
                                    <p:animEffect transition="in" filter="wipe(up)">
                                      <p:cBhvr>
                                        <p:cTn id="30" dur="1000"/>
                                        <p:tgtEl>
                                          <p:spTgt spid="18">
                                            <p:txEl>
                                              <p:pRg st="0" end="0"/>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18">
                                            <p:txEl>
                                              <p:pRg st="1" end="1"/>
                                            </p:txEl>
                                          </p:spTgt>
                                        </p:tgtEl>
                                        <p:attrNameLst>
                                          <p:attrName>style.visibility</p:attrName>
                                        </p:attrNameLst>
                                      </p:cBhvr>
                                      <p:to>
                                        <p:strVal val="visible"/>
                                      </p:to>
                                    </p:set>
                                    <p:animEffect transition="in" filter="wipe(up)">
                                      <p:cBhvr>
                                        <p:cTn id="35" dur="1000"/>
                                        <p:tgtEl>
                                          <p:spTgt spid="18">
                                            <p:txEl>
                                              <p:pRg st="1" end="1"/>
                                            </p:txEl>
                                          </p:spTgt>
                                        </p:tgtEl>
                                      </p:cBhvr>
                                    </p:animEffect>
                                  </p:childTnLst>
                                </p:cTn>
                              </p:par>
                            </p:childTnLst>
                          </p:cTn>
                        </p:par>
                        <p:par>
                          <p:cTn id="36" fill="hold" nodeType="afterGroup">
                            <p:stCondLst>
                              <p:cond delay="1000"/>
                            </p:stCondLst>
                            <p:childTnLst>
                              <p:par>
                                <p:cTn id="37" presetID="22" presetClass="entr" presetSubtype="1" fill="hold" nodeType="afterEffect">
                                  <p:stCondLst>
                                    <p:cond delay="0"/>
                                  </p:stCondLst>
                                  <p:childTnLst>
                                    <p:set>
                                      <p:cBhvr>
                                        <p:cTn id="38" dur="1" fill="hold">
                                          <p:stCondLst>
                                            <p:cond delay="0"/>
                                          </p:stCondLst>
                                        </p:cTn>
                                        <p:tgtEl>
                                          <p:spTgt spid="18">
                                            <p:txEl>
                                              <p:pRg st="2" end="2"/>
                                            </p:txEl>
                                          </p:spTgt>
                                        </p:tgtEl>
                                        <p:attrNameLst>
                                          <p:attrName>style.visibility</p:attrName>
                                        </p:attrNameLst>
                                      </p:cBhvr>
                                      <p:to>
                                        <p:strVal val="visible"/>
                                      </p:to>
                                    </p:set>
                                    <p:animEffect transition="in" filter="wipe(up)">
                                      <p:cBhvr>
                                        <p:cTn id="39" dur="1000"/>
                                        <p:tgtEl>
                                          <p:spTgt spid="18">
                                            <p:txEl>
                                              <p:pRg st="2" end="2"/>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nodeType="clickEffect">
                                  <p:stCondLst>
                                    <p:cond delay="0"/>
                                  </p:stCondLst>
                                  <p:childTnLst>
                                    <p:set>
                                      <p:cBhvr>
                                        <p:cTn id="43" dur="1" fill="hold">
                                          <p:stCondLst>
                                            <p:cond delay="0"/>
                                          </p:stCondLst>
                                        </p:cTn>
                                        <p:tgtEl>
                                          <p:spTgt spid="18">
                                            <p:txEl>
                                              <p:pRg st="3" end="3"/>
                                            </p:txEl>
                                          </p:spTgt>
                                        </p:tgtEl>
                                        <p:attrNameLst>
                                          <p:attrName>style.visibility</p:attrName>
                                        </p:attrNameLst>
                                      </p:cBhvr>
                                      <p:to>
                                        <p:strVal val="visible"/>
                                      </p:to>
                                    </p:set>
                                    <p:animEffect transition="in" filter="wipe(up)">
                                      <p:cBhvr>
                                        <p:cTn id="44" dur="1000"/>
                                        <p:tgtEl>
                                          <p:spTgt spid="18">
                                            <p:txEl>
                                              <p:pRg st="3" end="3"/>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4" fill="hold" nodeType="clickEffect">
                                  <p:stCondLst>
                                    <p:cond delay="0"/>
                                  </p:stCondLst>
                                  <p:childTnLst>
                                    <p:set>
                                      <p:cBhvr>
                                        <p:cTn id="48" dur="1" fill="hold">
                                          <p:stCondLst>
                                            <p:cond delay="0"/>
                                          </p:stCondLst>
                                        </p:cTn>
                                        <p:tgtEl>
                                          <p:spTgt spid="141330"/>
                                        </p:tgtEl>
                                        <p:attrNameLst>
                                          <p:attrName>style.visibility</p:attrName>
                                        </p:attrNameLst>
                                      </p:cBhvr>
                                      <p:to>
                                        <p:strVal val="visible"/>
                                      </p:to>
                                    </p:set>
                                    <p:animEffect transition="in" filter="wipe(down)">
                                      <p:cBhvr>
                                        <p:cTn id="49" dur="500"/>
                                        <p:tgtEl>
                                          <p:spTgt spid="141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animBg="1"/>
      <p:bldP spid="5"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500" name="Picture 140">
            <a:extLst>
              <a:ext uri="{FF2B5EF4-FFF2-40B4-BE49-F238E27FC236}">
                <a16:creationId xmlns:a16="http://schemas.microsoft.com/office/drawing/2014/main" id="{4AB2789A-A9F2-01D8-B124-42CFD7BFB3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875" y="1673225"/>
            <a:ext cx="7620000" cy="149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a:extLst>
              <a:ext uri="{FF2B5EF4-FFF2-40B4-BE49-F238E27FC236}">
                <a16:creationId xmlns:a16="http://schemas.microsoft.com/office/drawing/2014/main" id="{BF58F2B6-64CA-BEF7-3E30-0B246E2EE479}"/>
              </a:ext>
            </a:extLst>
          </p:cNvPr>
          <p:cNvSpPr/>
          <p:nvPr/>
        </p:nvSpPr>
        <p:spPr>
          <a:xfrm>
            <a:off x="928688" y="5857875"/>
            <a:ext cx="7858125" cy="503238"/>
          </a:xfrm>
          <a:prstGeom prst="rect">
            <a:avLst/>
          </a:prstGeom>
        </p:spPr>
        <p:txBody>
          <a:bodyPr>
            <a:spAutoFit/>
          </a:bodyPr>
          <a:lstStyle/>
          <a:p>
            <a:pPr marL="342900" indent="-342900">
              <a:lnSpc>
                <a:spcPts val="3200"/>
              </a:lnSpc>
              <a:spcBef>
                <a:spcPct val="20000"/>
              </a:spcBef>
              <a:buClr>
                <a:srgbClr val="3333CC"/>
              </a:buClr>
              <a:buSzPct val="60000"/>
              <a:defRPr/>
            </a:pPr>
            <a:r>
              <a:rPr kumimoji="0" lang="zh-CN" altLang="en-US" sz="2000" b="0" kern="0" dirty="0">
                <a:solidFill>
                  <a:srgbClr val="000000"/>
                </a:solidFill>
                <a:latin typeface="Arial" pitchFamily="34" charset="0"/>
                <a:ea typeface="微软雅黑" pitchFamily="34" charset="-122"/>
                <a:cs typeface="Arial" pitchFamily="34" charset="0"/>
              </a:rPr>
              <a:t>现在，</a:t>
            </a:r>
            <a:r>
              <a:rPr kumimoji="0" lang="zh-CN" altLang="en-US" sz="2000" kern="0" dirty="0">
                <a:solidFill>
                  <a:srgbClr val="0000CC"/>
                </a:solidFill>
                <a:latin typeface="Arial" pitchFamily="34" charset="0"/>
                <a:ea typeface="微软雅黑" pitchFamily="34" charset="-122"/>
                <a:cs typeface="Arial" pitchFamily="34" charset="0"/>
              </a:rPr>
              <a:t>比较</a:t>
            </a:r>
            <a:r>
              <a:rPr kumimoji="0" lang="zh-CN" altLang="en-US" sz="2000" b="0" kern="0" dirty="0">
                <a:solidFill>
                  <a:srgbClr val="000000"/>
                </a:solidFill>
                <a:latin typeface="Arial" pitchFamily="34" charset="0"/>
                <a:ea typeface="微软雅黑" pitchFamily="34" charset="-122"/>
                <a:cs typeface="Arial" pitchFamily="34" charset="0"/>
              </a:rPr>
              <a:t>网格图中的这</a:t>
            </a:r>
            <a:r>
              <a:rPr kumimoji="0" lang="en-US" altLang="zh-CN" sz="2000" kern="0" dirty="0">
                <a:solidFill>
                  <a:srgbClr val="0000CC"/>
                </a:solidFill>
                <a:latin typeface="Arial" pitchFamily="34" charset="0"/>
                <a:ea typeface="微软雅黑" pitchFamily="34" charset="-122"/>
                <a:cs typeface="Arial" pitchFamily="34" charset="0"/>
              </a:rPr>
              <a:t>8</a:t>
            </a:r>
            <a:r>
              <a:rPr kumimoji="0" lang="zh-CN" altLang="en-US" sz="2000" kern="0" dirty="0">
                <a:solidFill>
                  <a:srgbClr val="0000CC"/>
                </a:solidFill>
                <a:latin typeface="Arial" pitchFamily="34" charset="0"/>
                <a:ea typeface="微软雅黑" pitchFamily="34" charset="-122"/>
                <a:cs typeface="Arial" pitchFamily="34" charset="0"/>
              </a:rPr>
              <a:t>条路径</a:t>
            </a: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和</a:t>
            </a:r>
            <a:r>
              <a:rPr kumimoji="0" lang="zh-CN" altLang="en-US" sz="2000" kern="0" dirty="0">
                <a:solidFill>
                  <a:srgbClr val="0000CC"/>
                </a:solidFill>
                <a:latin typeface="Arial" pitchFamily="34" charset="0"/>
                <a:ea typeface="微软雅黑" pitchFamily="34" charset="-122"/>
                <a:cs typeface="Arial" pitchFamily="34" charset="0"/>
              </a:rPr>
              <a:t>接收序列</a:t>
            </a:r>
            <a:r>
              <a:rPr kumimoji="0" lang="zh-CN" altLang="en-US" sz="2000" b="0" kern="0" dirty="0">
                <a:solidFill>
                  <a:srgbClr val="000000"/>
                </a:solidFill>
                <a:latin typeface="Arial" pitchFamily="34" charset="0"/>
                <a:ea typeface="微软雅黑" pitchFamily="34" charset="-122"/>
                <a:cs typeface="Arial" pitchFamily="34" charset="0"/>
              </a:rPr>
              <a:t>之间的</a:t>
            </a:r>
            <a:r>
              <a:rPr kumimoji="0" lang="zh-CN" altLang="en-US" sz="2000" kern="0" dirty="0">
                <a:solidFill>
                  <a:srgbClr val="FF0000"/>
                </a:solidFill>
                <a:latin typeface="Arial" pitchFamily="34" charset="0"/>
                <a:ea typeface="微软雅黑" pitchFamily="34" charset="-122"/>
                <a:cs typeface="Arial" pitchFamily="34" charset="0"/>
              </a:rPr>
              <a:t>汉明距离</a:t>
            </a:r>
            <a:r>
              <a:rPr kumimoji="0" lang="zh-CN" altLang="en-US" sz="2000" b="0" kern="0" dirty="0">
                <a:solidFill>
                  <a:srgbClr val="000000"/>
                </a:solidFill>
                <a:latin typeface="Arial" pitchFamily="34" charset="0"/>
                <a:ea typeface="微软雅黑" pitchFamily="34" charset="-122"/>
                <a:cs typeface="Arial" pitchFamily="34" charset="0"/>
              </a:rPr>
              <a:t>。 </a:t>
            </a:r>
          </a:p>
        </p:txBody>
      </p:sp>
      <p:sp>
        <p:nvSpPr>
          <p:cNvPr id="144" name="矩形 143">
            <a:extLst>
              <a:ext uri="{FF2B5EF4-FFF2-40B4-BE49-F238E27FC236}">
                <a16:creationId xmlns:a16="http://schemas.microsoft.com/office/drawing/2014/main" id="{5A0A9330-12F6-EA1F-674B-4321EC7860F3}"/>
              </a:ext>
            </a:extLst>
          </p:cNvPr>
          <p:cNvSpPr/>
          <p:nvPr/>
        </p:nvSpPr>
        <p:spPr>
          <a:xfrm>
            <a:off x="1236663" y="642938"/>
            <a:ext cx="1192212" cy="400050"/>
          </a:xfrm>
          <a:prstGeom prst="rect">
            <a:avLst/>
          </a:prstGeom>
        </p:spPr>
        <p:txBody>
          <a:bodyPr wrap="none">
            <a:spAutoFit/>
          </a:bodyPr>
          <a:lstStyle/>
          <a:p>
            <a:pPr>
              <a:defRPr/>
            </a:pPr>
            <a:r>
              <a:rPr kumimoji="0" lang="en-US" altLang="zh-CN" sz="2000" kern="0" dirty="0">
                <a:solidFill>
                  <a:srgbClr val="000000"/>
                </a:solidFill>
                <a:latin typeface="Arial" pitchFamily="34" charset="0"/>
                <a:ea typeface="微软雅黑" pitchFamily="34" charset="-122"/>
                <a:cs typeface="Arial" pitchFamily="34" charset="0"/>
              </a:rPr>
              <a:t>(</a:t>
            </a:r>
            <a:r>
              <a:rPr kumimoji="0" lang="en-US" altLang="zh-CN" sz="2000" i="1" kern="0" dirty="0">
                <a:solidFill>
                  <a:srgbClr val="000000"/>
                </a:solidFill>
                <a:latin typeface="Arial" pitchFamily="34" charset="0"/>
                <a:ea typeface="微软雅黑" pitchFamily="34" charset="-122"/>
                <a:cs typeface="Arial" pitchFamily="34" charset="0"/>
              </a:rPr>
              <a:t>n</a:t>
            </a:r>
            <a:r>
              <a:rPr kumimoji="0" lang="en-US" altLang="zh-CN" sz="2000" kern="0" dirty="0">
                <a:solidFill>
                  <a:srgbClr val="000000"/>
                </a:solidFill>
                <a:latin typeface="Arial" pitchFamily="34" charset="0"/>
                <a:ea typeface="微软雅黑" pitchFamily="34" charset="-122"/>
                <a:cs typeface="Arial" pitchFamily="34" charset="0"/>
              </a:rPr>
              <a:t>, </a:t>
            </a:r>
            <a:r>
              <a:rPr kumimoji="0" lang="en-US" altLang="zh-CN" sz="2000" i="1" kern="0" dirty="0">
                <a:solidFill>
                  <a:srgbClr val="000000"/>
                </a:solidFill>
                <a:latin typeface="Arial" pitchFamily="34" charset="0"/>
                <a:ea typeface="微软雅黑" pitchFamily="34" charset="-122"/>
                <a:cs typeface="Arial" pitchFamily="34" charset="0"/>
              </a:rPr>
              <a:t>k</a:t>
            </a:r>
            <a:r>
              <a:rPr kumimoji="0" lang="en-US" altLang="zh-CN" sz="2000" kern="0" dirty="0">
                <a:solidFill>
                  <a:srgbClr val="000000"/>
                </a:solidFill>
                <a:latin typeface="Arial" pitchFamily="34" charset="0"/>
                <a:ea typeface="微软雅黑" pitchFamily="34" charset="-122"/>
                <a:cs typeface="Arial" pitchFamily="34" charset="0"/>
              </a:rPr>
              <a:t>, </a:t>
            </a:r>
            <a:r>
              <a:rPr kumimoji="0" lang="en-US" altLang="zh-CN" sz="2000" i="1" kern="0" dirty="0">
                <a:solidFill>
                  <a:srgbClr val="000000"/>
                </a:solidFill>
                <a:latin typeface="Arial" pitchFamily="34" charset="0"/>
                <a:ea typeface="微软雅黑" pitchFamily="34" charset="-122"/>
                <a:cs typeface="Arial" pitchFamily="34" charset="0"/>
              </a:rPr>
              <a:t>N</a:t>
            </a:r>
            <a:r>
              <a:rPr kumimoji="0" lang="en-US" altLang="zh-CN" sz="2000" kern="0" dirty="0">
                <a:solidFill>
                  <a:srgbClr val="000000"/>
                </a:solidFill>
                <a:latin typeface="Arial" pitchFamily="34" charset="0"/>
                <a:ea typeface="微软雅黑" pitchFamily="34" charset="-122"/>
                <a:cs typeface="Arial" pitchFamily="34" charset="0"/>
              </a:rPr>
              <a:t>) </a:t>
            </a:r>
            <a:endParaRPr lang="zh-CN" altLang="en-US" dirty="0"/>
          </a:p>
        </p:txBody>
      </p:sp>
      <p:sp>
        <p:nvSpPr>
          <p:cNvPr id="147" name="矩形 146">
            <a:extLst>
              <a:ext uri="{FF2B5EF4-FFF2-40B4-BE49-F238E27FC236}">
                <a16:creationId xmlns:a16="http://schemas.microsoft.com/office/drawing/2014/main" id="{233C7A99-3D05-B2A3-E344-F4708094CD40}"/>
              </a:ext>
            </a:extLst>
          </p:cNvPr>
          <p:cNvSpPr/>
          <p:nvPr/>
        </p:nvSpPr>
        <p:spPr>
          <a:xfrm>
            <a:off x="945623" y="1785926"/>
            <a:ext cx="840295" cy="400110"/>
          </a:xfrm>
          <a:prstGeom prst="rect">
            <a:avLst/>
          </a:prstGeom>
          <a:solidFill>
            <a:schemeClr val="bg1"/>
          </a:solidFill>
          <a:effectLst>
            <a:innerShdw blurRad="114300">
              <a:prstClr val="black"/>
            </a:innerShdw>
          </a:effectLst>
        </p:spPr>
        <p:txBody>
          <a:bodyPr wrap="none">
            <a:spAutoFit/>
          </a:bodyPr>
          <a:lstStyle/>
          <a:p>
            <a:pPr>
              <a:defRPr/>
            </a:pPr>
            <a:r>
              <a:rPr kumimoji="0" lang="zh-CN" altLang="en-US" sz="2000" kern="0" dirty="0">
                <a:solidFill>
                  <a:srgbClr val="990099"/>
                </a:solidFill>
                <a:latin typeface="Arial" pitchFamily="34" charset="0"/>
                <a:ea typeface="微软雅黑" pitchFamily="34" charset="-122"/>
                <a:cs typeface="Arial" pitchFamily="34" charset="0"/>
              </a:rPr>
              <a:t>第</a:t>
            </a:r>
            <a:r>
              <a:rPr kumimoji="0" lang="en-US" altLang="zh-CN" sz="2000" kern="0" dirty="0">
                <a:solidFill>
                  <a:srgbClr val="990099"/>
                </a:solidFill>
                <a:latin typeface="Arial" pitchFamily="34" charset="0"/>
                <a:ea typeface="微软雅黑" pitchFamily="34" charset="-122"/>
                <a:cs typeface="Arial" pitchFamily="34" charset="0"/>
              </a:rPr>
              <a:t>1</a:t>
            </a:r>
            <a:r>
              <a:rPr kumimoji="0" lang="zh-CN" altLang="en-US" sz="2000" kern="0" dirty="0">
                <a:solidFill>
                  <a:srgbClr val="990099"/>
                </a:solidFill>
                <a:latin typeface="Arial" pitchFamily="34" charset="0"/>
                <a:ea typeface="微软雅黑" pitchFamily="34" charset="-122"/>
                <a:cs typeface="Arial" pitchFamily="34" charset="0"/>
              </a:rPr>
              <a:t>步</a:t>
            </a:r>
            <a:endParaRPr lang="zh-CN" altLang="en-US" dirty="0">
              <a:solidFill>
                <a:srgbClr val="990099"/>
              </a:solidFill>
            </a:endParaRPr>
          </a:p>
        </p:txBody>
      </p:sp>
      <p:pic>
        <p:nvPicPr>
          <p:cNvPr id="143499" name="Picture 139">
            <a:extLst>
              <a:ext uri="{FF2B5EF4-FFF2-40B4-BE49-F238E27FC236}">
                <a16:creationId xmlns:a16="http://schemas.microsoft.com/office/drawing/2014/main" id="{09E4F714-AA49-1D31-8BE0-1A71F8BEC5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800" y="1041400"/>
            <a:ext cx="7786688"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2345" name="Picture 139">
            <a:extLst>
              <a:ext uri="{FF2B5EF4-FFF2-40B4-BE49-F238E27FC236}">
                <a16:creationId xmlns:a16="http://schemas.microsoft.com/office/drawing/2014/main" id="{A3D69026-E441-F5B7-4592-5097FE3C39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4233" r="6866" b="21698"/>
          <a:stretch>
            <a:fillRect/>
          </a:stretch>
        </p:blipFill>
        <p:spPr bwMode="auto">
          <a:xfrm>
            <a:off x="1200150" y="3214688"/>
            <a:ext cx="7072313" cy="2484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43499"/>
                                        </p:tgtEl>
                                        <p:attrNameLst>
                                          <p:attrName>style.visibility</p:attrName>
                                        </p:attrNameLst>
                                      </p:cBhvr>
                                      <p:to>
                                        <p:strVal val="visible"/>
                                      </p:to>
                                    </p:set>
                                    <p:animEffect transition="in" filter="wipe(up)">
                                      <p:cBhvr>
                                        <p:cTn id="7" dur="1000"/>
                                        <p:tgtEl>
                                          <p:spTgt spid="143499"/>
                                        </p:tgtEl>
                                      </p:cBhvr>
                                    </p:animEffect>
                                  </p:childTnLst>
                                </p:cTn>
                              </p:par>
                              <p:par>
                                <p:cTn id="8" presetID="22" presetClass="entr" presetSubtype="4" fill="hold" nodeType="withEffect">
                                  <p:stCondLst>
                                    <p:cond delay="0"/>
                                  </p:stCondLst>
                                  <p:childTnLst>
                                    <p:set>
                                      <p:cBhvr>
                                        <p:cTn id="9" dur="1" fill="hold">
                                          <p:stCondLst>
                                            <p:cond delay="0"/>
                                          </p:stCondLst>
                                        </p:cTn>
                                        <p:tgtEl>
                                          <p:spTgt spid="144"/>
                                        </p:tgtEl>
                                        <p:attrNameLst>
                                          <p:attrName>style.visibility</p:attrName>
                                        </p:attrNameLst>
                                      </p:cBhvr>
                                      <p:to>
                                        <p:strVal val="visible"/>
                                      </p:to>
                                    </p:set>
                                    <p:animEffect transition="in" filter="wipe(down)">
                                      <p:cBhvr>
                                        <p:cTn id="10" dur="1000"/>
                                        <p:tgtEl>
                                          <p:spTgt spid="14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1" fill="hold" nodeType="clickEffect">
                                  <p:stCondLst>
                                    <p:cond delay="0"/>
                                  </p:stCondLst>
                                  <p:childTnLst>
                                    <p:set>
                                      <p:cBhvr>
                                        <p:cTn id="14" dur="1" fill="hold">
                                          <p:stCondLst>
                                            <p:cond delay="0"/>
                                          </p:stCondLst>
                                        </p:cTn>
                                        <p:tgtEl>
                                          <p:spTgt spid="147"/>
                                        </p:tgtEl>
                                        <p:attrNameLst>
                                          <p:attrName>style.visibility</p:attrName>
                                        </p:attrNameLst>
                                      </p:cBhvr>
                                      <p:to>
                                        <p:strVal val="visible"/>
                                      </p:to>
                                    </p:set>
                                    <p:animEffect transition="in" filter="wipe(up)">
                                      <p:cBhvr>
                                        <p:cTn id="15" dur="1000"/>
                                        <p:tgtEl>
                                          <p:spTgt spid="147"/>
                                        </p:tgtEl>
                                      </p:cBhvr>
                                    </p:animEffect>
                                  </p:childTnLst>
                                </p:cTn>
                              </p:par>
                            </p:childTnLst>
                          </p:cTn>
                        </p:par>
                        <p:par>
                          <p:cTn id="16" fill="hold" nodeType="afterGroup">
                            <p:stCondLst>
                              <p:cond delay="1000"/>
                            </p:stCondLst>
                            <p:childTnLst>
                              <p:par>
                                <p:cTn id="17" presetID="22" presetClass="entr" presetSubtype="1" fill="hold" nodeType="afterEffect">
                                  <p:stCondLst>
                                    <p:cond delay="0"/>
                                  </p:stCondLst>
                                  <p:childTnLst>
                                    <p:set>
                                      <p:cBhvr>
                                        <p:cTn id="18" dur="1" fill="hold">
                                          <p:stCondLst>
                                            <p:cond delay="0"/>
                                          </p:stCondLst>
                                        </p:cTn>
                                        <p:tgtEl>
                                          <p:spTgt spid="143500"/>
                                        </p:tgtEl>
                                        <p:attrNameLst>
                                          <p:attrName>style.visibility</p:attrName>
                                        </p:attrNameLst>
                                      </p:cBhvr>
                                      <p:to>
                                        <p:strVal val="visible"/>
                                      </p:to>
                                    </p:set>
                                    <p:animEffect transition="in" filter="wipe(up)">
                                      <p:cBhvr>
                                        <p:cTn id="19" dur="1000"/>
                                        <p:tgtEl>
                                          <p:spTgt spid="143500"/>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up)">
                                      <p:cBhvr>
                                        <p:cTn id="24"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4"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9" name="Rectangle 3">
            <a:extLst>
              <a:ext uri="{FF2B5EF4-FFF2-40B4-BE49-F238E27FC236}">
                <a16:creationId xmlns:a16="http://schemas.microsoft.com/office/drawing/2014/main" id="{8C49EB31-7A7F-CFCC-DC03-2E8EC243E905}"/>
              </a:ext>
            </a:extLst>
          </p:cNvPr>
          <p:cNvSpPr>
            <a:spLocks noGrp="1" noChangeArrowheads="1"/>
          </p:cNvSpPr>
          <p:nvPr>
            <p:ph type="body" idx="1"/>
          </p:nvPr>
        </p:nvSpPr>
        <p:spPr>
          <a:xfrm>
            <a:off x="428625" y="3886200"/>
            <a:ext cx="8501063" cy="2471738"/>
          </a:xfrm>
        </p:spPr>
        <p:txBody>
          <a:bodyPr/>
          <a:lstStyle/>
          <a:p>
            <a:pPr eaLnBrk="1" hangingPunct="1">
              <a:lnSpc>
                <a:spcPts val="3200"/>
              </a:lnSpc>
              <a:buFont typeface="Wingdings" panose="05000000000000000000" pitchFamily="2" charset="2"/>
              <a:buNone/>
              <a:defRPr/>
            </a:pPr>
            <a:r>
              <a:rPr lang="zh-CN" altLang="en-US" sz="200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例如</a:t>
            </a:r>
            <a:r>
              <a:rPr lang="zh-CN" altLang="en-US" sz="2000" dirty="0">
                <a:latin typeface="Arial" pitchFamily="34" charset="0"/>
                <a:ea typeface="微软雅黑" pitchFamily="34" charset="-122"/>
                <a:cs typeface="Arial" pitchFamily="34" charset="0"/>
              </a:rPr>
              <a:t>，由出发点状态 </a:t>
            </a:r>
            <a:r>
              <a:rPr lang="en-US" altLang="zh-CN" sz="2400" b="1" i="1" dirty="0">
                <a:solidFill>
                  <a:srgbClr val="0000CC"/>
                </a:solidFill>
                <a:latin typeface="Arial" pitchFamily="34" charset="0"/>
                <a:ea typeface="微软雅黑" pitchFamily="34" charset="-122"/>
                <a:cs typeface="Arial" pitchFamily="34" charset="0"/>
              </a:rPr>
              <a:t>a </a:t>
            </a:r>
            <a:r>
              <a:rPr lang="zh-CN" altLang="en-US" sz="2000" dirty="0">
                <a:latin typeface="Arial" pitchFamily="34" charset="0"/>
                <a:ea typeface="微软雅黑" pitchFamily="34" charset="-122"/>
                <a:cs typeface="Arial" pitchFamily="34" charset="0"/>
              </a:rPr>
              <a:t>经过 </a:t>
            </a:r>
            <a:r>
              <a:rPr lang="en-US" altLang="zh-CN" sz="2000" dirty="0">
                <a:solidFill>
                  <a:srgbClr val="0000CC"/>
                </a:solidFill>
                <a:latin typeface="Arial" pitchFamily="34" charset="0"/>
                <a:ea typeface="微软雅黑" pitchFamily="34" charset="-122"/>
                <a:cs typeface="Arial" pitchFamily="34" charset="0"/>
              </a:rPr>
              <a:t>3</a:t>
            </a:r>
            <a:r>
              <a:rPr lang="zh-CN" altLang="en-US" sz="2000" dirty="0">
                <a:solidFill>
                  <a:srgbClr val="0000CC"/>
                </a:solidFill>
                <a:latin typeface="Arial" pitchFamily="34" charset="0"/>
                <a:ea typeface="微软雅黑" pitchFamily="34" charset="-122"/>
                <a:cs typeface="Arial" pitchFamily="34" charset="0"/>
              </a:rPr>
              <a:t>级 </a:t>
            </a:r>
            <a:r>
              <a:rPr lang="zh-CN" altLang="en-US" sz="2000" dirty="0">
                <a:latin typeface="Arial" pitchFamily="34" charset="0"/>
                <a:ea typeface="微软雅黑" pitchFamily="34" charset="-122"/>
                <a:cs typeface="Arial" pitchFamily="34" charset="0"/>
              </a:rPr>
              <a:t>路径后到达状态 </a:t>
            </a:r>
            <a:r>
              <a:rPr lang="en-US" altLang="zh-CN" sz="2400" b="1" i="1" dirty="0">
                <a:solidFill>
                  <a:srgbClr val="0000CC"/>
                </a:solidFill>
                <a:latin typeface="Arial" pitchFamily="34" charset="0"/>
                <a:ea typeface="微软雅黑" pitchFamily="34" charset="-122"/>
                <a:cs typeface="Arial" pitchFamily="34" charset="0"/>
              </a:rPr>
              <a:t>a </a:t>
            </a:r>
            <a:r>
              <a:rPr lang="zh-CN" altLang="en-US" sz="2000" dirty="0">
                <a:latin typeface="Arial" pitchFamily="34" charset="0"/>
                <a:ea typeface="微软雅黑" pitchFamily="34" charset="-122"/>
                <a:cs typeface="Arial" pitchFamily="34" charset="0"/>
              </a:rPr>
              <a:t>的</a:t>
            </a:r>
            <a:r>
              <a:rPr lang="zh-CN" altLang="en-US" sz="2000" dirty="0">
                <a:effectLst>
                  <a:outerShdw blurRad="38100" dist="38100" dir="2700000" algn="tl">
                    <a:srgbClr val="000000">
                      <a:alpha val="43137"/>
                    </a:srgbClr>
                  </a:outerShdw>
                </a:effectLst>
                <a:latin typeface="Arial" pitchFamily="34" charset="0"/>
                <a:ea typeface="微软雅黑" pitchFamily="34" charset="-122"/>
                <a:cs typeface="Arial" pitchFamily="34" charset="0"/>
              </a:rPr>
              <a:t>两条路径</a:t>
            </a:r>
            <a:r>
              <a:rPr lang="zh-CN" altLang="en-US" sz="2000" dirty="0">
                <a:latin typeface="Arial" pitchFamily="34" charset="0"/>
                <a:ea typeface="微软雅黑" pitchFamily="34" charset="-122"/>
                <a:cs typeface="Arial" pitchFamily="34" charset="0"/>
              </a:rPr>
              <a:t>中：</a:t>
            </a:r>
            <a:endParaRPr lang="en-US" altLang="zh-CN" sz="2000" dirty="0">
              <a:latin typeface="Arial" pitchFamily="34" charset="0"/>
              <a:ea typeface="微软雅黑" pitchFamily="34" charset="-122"/>
              <a:cs typeface="Arial" pitchFamily="34" charset="0"/>
            </a:endParaRPr>
          </a:p>
          <a:p>
            <a:pPr eaLnBrk="1" hangingPunct="1">
              <a:lnSpc>
                <a:spcPts val="3200"/>
              </a:lnSpc>
              <a:buFont typeface="Wingdings" panose="05000000000000000000" pitchFamily="2" charset="2"/>
              <a:buNone/>
              <a:defRPr/>
            </a:pPr>
            <a:r>
              <a:rPr lang="zh-CN" altLang="en-US" sz="2000" b="1" dirty="0">
                <a:latin typeface="Arial" pitchFamily="34" charset="0"/>
                <a:ea typeface="微软雅黑" pitchFamily="34" charset="-122"/>
                <a:cs typeface="Arial" pitchFamily="34" charset="0"/>
              </a:rPr>
              <a:t>上</a:t>
            </a:r>
            <a:r>
              <a:rPr lang="zh-CN" altLang="en-US" sz="2000" dirty="0">
                <a:latin typeface="Arial" pitchFamily="34" charset="0"/>
                <a:ea typeface="微软雅黑" pitchFamily="34" charset="-122"/>
                <a:cs typeface="Arial" pitchFamily="34" charset="0"/>
              </a:rPr>
              <a:t>面一条为“</a:t>
            </a:r>
            <a:r>
              <a:rPr lang="en-US" altLang="zh-CN" sz="2000" b="1" dirty="0">
                <a:latin typeface="Arial" pitchFamily="34" charset="0"/>
                <a:ea typeface="微软雅黑" pitchFamily="34" charset="-122"/>
                <a:cs typeface="Arial" pitchFamily="34" charset="0"/>
              </a:rPr>
              <a:t>000 000 000</a:t>
            </a:r>
            <a:r>
              <a:rPr lang="en-US" altLang="zh-CN" sz="2000" dirty="0">
                <a:latin typeface="Arial" pitchFamily="34" charset="0"/>
                <a:ea typeface="微软雅黑" pitchFamily="34" charset="-122"/>
                <a:cs typeface="Arial" pitchFamily="34" charset="0"/>
              </a:rPr>
              <a:t>”</a:t>
            </a:r>
            <a:r>
              <a:rPr lang="zh-CN" altLang="en-US" sz="2000" dirty="0">
                <a:latin typeface="Arial" pitchFamily="34" charset="0"/>
                <a:ea typeface="微软雅黑" pitchFamily="34" charset="-122"/>
                <a:cs typeface="Arial" pitchFamily="34" charset="0"/>
              </a:rPr>
              <a:t>，它和接收序列“</a:t>
            </a:r>
            <a:r>
              <a:rPr lang="en-US" altLang="zh-CN" sz="2000" b="1" dirty="0">
                <a:latin typeface="Arial" pitchFamily="34" charset="0"/>
                <a:ea typeface="微软雅黑" pitchFamily="34" charset="-122"/>
                <a:cs typeface="Arial" pitchFamily="34" charset="0"/>
              </a:rPr>
              <a:t>111 </a:t>
            </a:r>
            <a:r>
              <a:rPr lang="en-US" altLang="zh-CN" sz="2000" b="1" dirty="0">
                <a:solidFill>
                  <a:srgbClr val="FF0000"/>
                </a:solidFill>
                <a:latin typeface="Arial" pitchFamily="34" charset="0"/>
                <a:ea typeface="微软雅黑" pitchFamily="34" charset="-122"/>
                <a:cs typeface="Arial" pitchFamily="34" charset="0"/>
              </a:rPr>
              <a:t>0</a:t>
            </a:r>
            <a:r>
              <a:rPr lang="en-US" altLang="zh-CN" sz="2000" b="1" dirty="0">
                <a:latin typeface="Arial" pitchFamily="34" charset="0"/>
                <a:ea typeface="微软雅黑" pitchFamily="34" charset="-122"/>
                <a:cs typeface="Arial" pitchFamily="34" charset="0"/>
              </a:rPr>
              <a:t>10 010”</a:t>
            </a:r>
            <a:r>
              <a:rPr lang="zh-CN" altLang="en-US" sz="2000" dirty="0">
                <a:latin typeface="Arial" pitchFamily="34" charset="0"/>
                <a:ea typeface="微软雅黑" pitchFamily="34" charset="-122"/>
                <a:cs typeface="Arial" pitchFamily="34" charset="0"/>
              </a:rPr>
              <a:t>的</a:t>
            </a:r>
            <a:r>
              <a:rPr lang="zh-CN" altLang="en-US" sz="2000" dirty="0">
                <a:solidFill>
                  <a:srgbClr val="FF0000"/>
                </a:solidFill>
                <a:latin typeface="Arial" pitchFamily="34" charset="0"/>
                <a:ea typeface="微软雅黑" pitchFamily="34" charset="-122"/>
                <a:cs typeface="Arial" pitchFamily="34" charset="0"/>
              </a:rPr>
              <a:t>汉明距离</a:t>
            </a:r>
            <a:r>
              <a:rPr lang="en-US" altLang="zh-CN" sz="2000" dirty="0">
                <a:solidFill>
                  <a:srgbClr val="FF0000"/>
                </a:solidFill>
                <a:latin typeface="Arial" pitchFamily="34" charset="0"/>
                <a:ea typeface="微软雅黑" pitchFamily="34" charset="-122"/>
                <a:cs typeface="Arial" pitchFamily="34" charset="0"/>
              </a:rPr>
              <a:t>=5</a:t>
            </a:r>
          </a:p>
          <a:p>
            <a:pPr eaLnBrk="1" hangingPunct="1">
              <a:lnSpc>
                <a:spcPts val="3200"/>
              </a:lnSpc>
              <a:buFont typeface="Wingdings" panose="05000000000000000000" pitchFamily="2" charset="2"/>
              <a:buNone/>
              <a:defRPr/>
            </a:pPr>
            <a:r>
              <a:rPr lang="zh-CN" altLang="en-US" sz="2000" b="1" dirty="0">
                <a:latin typeface="Arial" pitchFamily="34" charset="0"/>
                <a:ea typeface="微软雅黑" pitchFamily="34" charset="-122"/>
                <a:cs typeface="Arial" pitchFamily="34" charset="0"/>
              </a:rPr>
              <a:t>下</a:t>
            </a:r>
            <a:r>
              <a:rPr lang="zh-CN" altLang="en-US" sz="2000" dirty="0">
                <a:latin typeface="Arial" pitchFamily="34" charset="0"/>
                <a:ea typeface="微软雅黑" pitchFamily="34" charset="-122"/>
                <a:cs typeface="Arial" pitchFamily="34" charset="0"/>
              </a:rPr>
              <a:t>面一条为“</a:t>
            </a:r>
            <a:r>
              <a:rPr lang="en-US" altLang="zh-CN" sz="2000" b="1" dirty="0">
                <a:latin typeface="Arial" pitchFamily="34" charset="0"/>
                <a:ea typeface="微软雅黑" pitchFamily="34" charset="-122"/>
                <a:cs typeface="Arial" pitchFamily="34" charset="0"/>
              </a:rPr>
              <a:t>111 001 011</a:t>
            </a:r>
            <a:r>
              <a:rPr lang="en-US" altLang="zh-CN" sz="2000" dirty="0">
                <a:latin typeface="Arial" pitchFamily="34" charset="0"/>
                <a:ea typeface="微软雅黑" pitchFamily="34" charset="-122"/>
                <a:cs typeface="Arial" pitchFamily="34" charset="0"/>
              </a:rPr>
              <a:t>”</a:t>
            </a:r>
            <a:r>
              <a:rPr lang="zh-CN" altLang="en-US" sz="2000" dirty="0">
                <a:latin typeface="Arial" pitchFamily="34" charset="0"/>
                <a:ea typeface="微软雅黑" pitchFamily="34" charset="-122"/>
                <a:cs typeface="Arial" pitchFamily="34" charset="0"/>
              </a:rPr>
              <a:t>，它和接收序列                          的</a:t>
            </a:r>
            <a:r>
              <a:rPr lang="zh-CN" altLang="en-US" sz="2000" dirty="0">
                <a:solidFill>
                  <a:srgbClr val="FF0000"/>
                </a:solidFill>
                <a:latin typeface="Arial" pitchFamily="34" charset="0"/>
                <a:ea typeface="微软雅黑" pitchFamily="34" charset="-122"/>
                <a:cs typeface="Arial" pitchFamily="34" charset="0"/>
              </a:rPr>
              <a:t>汉明距离</a:t>
            </a:r>
            <a:r>
              <a:rPr lang="en-US" altLang="zh-CN" sz="2000" dirty="0">
                <a:solidFill>
                  <a:srgbClr val="FF0000"/>
                </a:solidFill>
                <a:latin typeface="Arial" pitchFamily="34" charset="0"/>
                <a:ea typeface="微软雅黑" pitchFamily="34" charset="-122"/>
                <a:cs typeface="Arial" pitchFamily="34" charset="0"/>
              </a:rPr>
              <a:t>=3</a:t>
            </a:r>
            <a:endParaRPr lang="en-US" altLang="zh-CN" sz="2000" dirty="0">
              <a:latin typeface="Arial" pitchFamily="34" charset="0"/>
              <a:ea typeface="微软雅黑" pitchFamily="34" charset="-122"/>
              <a:cs typeface="Arial" pitchFamily="34" charset="0"/>
            </a:endParaRPr>
          </a:p>
          <a:p>
            <a:pPr eaLnBrk="1" hangingPunct="1">
              <a:lnSpc>
                <a:spcPts val="3200"/>
              </a:lnSpc>
              <a:buFont typeface="Wingdings" panose="05000000000000000000" pitchFamily="2" charset="2"/>
              <a:buNone/>
              <a:defRPr/>
            </a:pPr>
            <a:r>
              <a:rPr lang="zh-CN" altLang="en-US" sz="2000" dirty="0">
                <a:latin typeface="Arial" pitchFamily="34" charset="0"/>
                <a:ea typeface="微软雅黑" pitchFamily="34" charset="-122"/>
                <a:cs typeface="Arial" pitchFamily="34" charset="0"/>
              </a:rPr>
              <a:t>同样，由出发点</a:t>
            </a:r>
            <a:r>
              <a:rPr lang="en-US" altLang="zh-CN" sz="2400" b="1" i="1" dirty="0">
                <a:solidFill>
                  <a:srgbClr val="0000CC"/>
                </a:solidFill>
                <a:latin typeface="Arial" pitchFamily="34" charset="0"/>
                <a:ea typeface="微软雅黑" pitchFamily="34" charset="-122"/>
                <a:cs typeface="Arial" pitchFamily="34" charset="0"/>
              </a:rPr>
              <a:t>a</a:t>
            </a:r>
            <a:r>
              <a:rPr lang="zh-CN" altLang="en-US" sz="2000" dirty="0">
                <a:latin typeface="Arial" pitchFamily="34" charset="0"/>
                <a:ea typeface="微软雅黑" pitchFamily="34" charset="-122"/>
                <a:cs typeface="Arial" pitchFamily="34" charset="0"/>
              </a:rPr>
              <a:t>经过</a:t>
            </a:r>
            <a:r>
              <a:rPr lang="en-US" altLang="zh-CN" sz="2000" dirty="0">
                <a:solidFill>
                  <a:srgbClr val="0000CC"/>
                </a:solidFill>
                <a:latin typeface="Arial" pitchFamily="34" charset="0"/>
                <a:ea typeface="微软雅黑" pitchFamily="34" charset="-122"/>
                <a:cs typeface="Arial" pitchFamily="34" charset="0"/>
              </a:rPr>
              <a:t>3</a:t>
            </a:r>
            <a:r>
              <a:rPr lang="zh-CN" altLang="en-US" sz="2000" dirty="0">
                <a:solidFill>
                  <a:srgbClr val="0000CC"/>
                </a:solidFill>
                <a:latin typeface="Arial" pitchFamily="34" charset="0"/>
                <a:ea typeface="微软雅黑" pitchFamily="34" charset="-122"/>
                <a:cs typeface="Arial" pitchFamily="34" charset="0"/>
              </a:rPr>
              <a:t>级</a:t>
            </a:r>
            <a:r>
              <a:rPr lang="zh-CN" altLang="en-US" sz="2000" dirty="0">
                <a:latin typeface="Arial" pitchFamily="34" charset="0"/>
                <a:ea typeface="微软雅黑" pitchFamily="34" charset="-122"/>
                <a:cs typeface="Arial" pitchFamily="34" charset="0"/>
              </a:rPr>
              <a:t>路径后到达状态</a:t>
            </a:r>
            <a:r>
              <a:rPr lang="en-US" altLang="zh-CN" sz="2400" b="1" i="1" dirty="0">
                <a:solidFill>
                  <a:srgbClr val="0000CC"/>
                </a:solidFill>
                <a:latin typeface="Arial" pitchFamily="34" charset="0"/>
                <a:ea typeface="微软雅黑" pitchFamily="34" charset="-122"/>
                <a:cs typeface="Arial" pitchFamily="34" charset="0"/>
              </a:rPr>
              <a:t>b</a:t>
            </a:r>
            <a:r>
              <a:rPr lang="zh-CN" altLang="en-US" sz="2400" b="1" dirty="0">
                <a:solidFill>
                  <a:srgbClr val="0000CC"/>
                </a:solidFill>
                <a:latin typeface="Arial" pitchFamily="34" charset="0"/>
                <a:ea typeface="微软雅黑" pitchFamily="34" charset="-122"/>
                <a:cs typeface="Arial" pitchFamily="34" charset="0"/>
              </a:rPr>
              <a:t>、</a:t>
            </a:r>
            <a:r>
              <a:rPr lang="en-US" altLang="zh-CN" sz="2400" b="1" i="1" dirty="0">
                <a:solidFill>
                  <a:srgbClr val="0000CC"/>
                </a:solidFill>
                <a:latin typeface="Arial" pitchFamily="34" charset="0"/>
                <a:ea typeface="微软雅黑" pitchFamily="34" charset="-122"/>
                <a:cs typeface="Arial" pitchFamily="34" charset="0"/>
              </a:rPr>
              <a:t>c</a:t>
            </a:r>
            <a:r>
              <a:rPr lang="zh-CN" altLang="en-US" sz="2000" dirty="0">
                <a:latin typeface="Arial" pitchFamily="34" charset="0"/>
                <a:ea typeface="微软雅黑" pitchFamily="34" charset="-122"/>
                <a:cs typeface="Arial" pitchFamily="34" charset="0"/>
              </a:rPr>
              <a:t>和</a:t>
            </a:r>
            <a:r>
              <a:rPr lang="en-US" altLang="zh-CN" sz="2400" b="1" i="1" dirty="0">
                <a:solidFill>
                  <a:srgbClr val="0000CC"/>
                </a:solidFill>
                <a:latin typeface="Arial" pitchFamily="34" charset="0"/>
                <a:ea typeface="微软雅黑" pitchFamily="34" charset="-122"/>
                <a:cs typeface="Arial" pitchFamily="34" charset="0"/>
              </a:rPr>
              <a:t>d</a:t>
            </a:r>
            <a:r>
              <a:rPr lang="zh-CN" altLang="en-US" sz="2000" dirty="0">
                <a:latin typeface="Arial" pitchFamily="34" charset="0"/>
                <a:ea typeface="微软雅黑" pitchFamily="34" charset="-122"/>
                <a:cs typeface="Arial" pitchFamily="34" charset="0"/>
              </a:rPr>
              <a:t>的路径分别都有</a:t>
            </a:r>
            <a:r>
              <a:rPr lang="zh-CN" altLang="en-US" sz="2000" dirty="0">
                <a:effectLst>
                  <a:outerShdw blurRad="38100" dist="38100" dir="2700000" algn="tl">
                    <a:srgbClr val="000000">
                      <a:alpha val="43137"/>
                    </a:srgbClr>
                  </a:outerShdw>
                </a:effectLst>
                <a:latin typeface="Arial" pitchFamily="34" charset="0"/>
                <a:ea typeface="微软雅黑" pitchFamily="34" charset="-122"/>
                <a:cs typeface="Arial" pitchFamily="34" charset="0"/>
              </a:rPr>
              <a:t>两条</a:t>
            </a:r>
            <a:r>
              <a:rPr lang="zh-CN" altLang="en-US" sz="2000" dirty="0">
                <a:latin typeface="Arial" pitchFamily="34" charset="0"/>
                <a:ea typeface="微软雅黑" pitchFamily="34" charset="-122"/>
                <a:cs typeface="Arial" pitchFamily="34" charset="0"/>
              </a:rPr>
              <a:t>，</a:t>
            </a:r>
            <a:endParaRPr lang="en-US" altLang="zh-CN" sz="2000" dirty="0">
              <a:latin typeface="Arial" pitchFamily="34" charset="0"/>
              <a:ea typeface="微软雅黑" pitchFamily="34" charset="-122"/>
              <a:cs typeface="Arial" pitchFamily="34" charset="0"/>
            </a:endParaRPr>
          </a:p>
          <a:p>
            <a:pPr eaLnBrk="1" hangingPunct="1">
              <a:lnSpc>
                <a:spcPts val="3200"/>
              </a:lnSpc>
              <a:buFont typeface="Wingdings" panose="05000000000000000000" pitchFamily="2" charset="2"/>
              <a:buNone/>
              <a:defRPr/>
            </a:pPr>
            <a:r>
              <a:rPr lang="zh-CN" altLang="en-US" sz="2000" dirty="0">
                <a:latin typeface="Arial" pitchFamily="34" charset="0"/>
                <a:ea typeface="微软雅黑" pitchFamily="34" charset="-122"/>
                <a:cs typeface="Arial" pitchFamily="34" charset="0"/>
              </a:rPr>
              <a:t>故</a:t>
            </a:r>
            <a:r>
              <a:rPr lang="zh-CN" altLang="en-US" sz="2000" b="1" dirty="0">
                <a:latin typeface="Arial" pitchFamily="34" charset="0"/>
                <a:ea typeface="微软雅黑" pitchFamily="34" charset="-122"/>
                <a:cs typeface="Arial" pitchFamily="34" charset="0"/>
              </a:rPr>
              <a:t>总共有</a:t>
            </a:r>
            <a:r>
              <a:rPr lang="en-US" altLang="zh-CN" sz="2000" b="1" dirty="0">
                <a:latin typeface="Arial" pitchFamily="34" charset="0"/>
                <a:ea typeface="微软雅黑" pitchFamily="34" charset="-122"/>
                <a:cs typeface="Arial" pitchFamily="34" charset="0"/>
              </a:rPr>
              <a:t>8</a:t>
            </a:r>
            <a:r>
              <a:rPr lang="zh-CN" altLang="en-US" sz="2000" b="1" dirty="0">
                <a:latin typeface="Arial" pitchFamily="34" charset="0"/>
                <a:ea typeface="微软雅黑" pitchFamily="34" charset="-122"/>
                <a:cs typeface="Arial" pitchFamily="34" charset="0"/>
              </a:rPr>
              <a:t>条路径</a:t>
            </a:r>
            <a:r>
              <a:rPr lang="zh-CN" altLang="en-US" sz="2000" dirty="0">
                <a:latin typeface="Arial" pitchFamily="34" charset="0"/>
                <a:ea typeface="微软雅黑" pitchFamily="34" charset="-122"/>
                <a:cs typeface="Arial" pitchFamily="34" charset="0"/>
              </a:rPr>
              <a:t>。</a:t>
            </a:r>
            <a:r>
              <a:rPr lang="en-US" altLang="zh-CN" sz="2000" dirty="0">
                <a:latin typeface="Arial" pitchFamily="34" charset="0"/>
                <a:ea typeface="微软雅黑" pitchFamily="34" charset="-122"/>
                <a:cs typeface="Arial" pitchFamily="34" charset="0"/>
              </a:rPr>
              <a:t>   </a:t>
            </a:r>
            <a:r>
              <a:rPr lang="zh-CN" altLang="en-US" sz="2000" dirty="0">
                <a:latin typeface="Arial" pitchFamily="34" charset="0"/>
                <a:ea typeface="微软雅黑" pitchFamily="34" charset="-122"/>
                <a:cs typeface="Arial" pitchFamily="34" charset="0"/>
              </a:rPr>
              <a:t>下表中列出了这</a:t>
            </a:r>
            <a:r>
              <a:rPr lang="en-US" altLang="zh-CN" sz="2000" b="1" dirty="0">
                <a:latin typeface="Arial" pitchFamily="34" charset="0"/>
                <a:ea typeface="微软雅黑" pitchFamily="34" charset="-122"/>
                <a:cs typeface="Arial" pitchFamily="34" charset="0"/>
              </a:rPr>
              <a:t>8</a:t>
            </a:r>
            <a:r>
              <a:rPr lang="zh-CN" altLang="en-US" sz="2000" b="1" dirty="0">
                <a:latin typeface="Arial" pitchFamily="34" charset="0"/>
                <a:ea typeface="微软雅黑" pitchFamily="34" charset="-122"/>
                <a:cs typeface="Arial" pitchFamily="34" charset="0"/>
              </a:rPr>
              <a:t>条路径</a:t>
            </a:r>
            <a:r>
              <a:rPr lang="zh-CN" altLang="en-US" sz="2000" dirty="0">
                <a:latin typeface="Arial" pitchFamily="34" charset="0"/>
                <a:ea typeface="微软雅黑" pitchFamily="34" charset="-122"/>
                <a:cs typeface="Arial" pitchFamily="34" charset="0"/>
              </a:rPr>
              <a:t>和其</a:t>
            </a:r>
            <a:r>
              <a:rPr lang="zh-CN" altLang="en-US" sz="2000" b="1" dirty="0">
                <a:latin typeface="Arial" pitchFamily="34" charset="0"/>
                <a:ea typeface="微软雅黑" pitchFamily="34" charset="-122"/>
                <a:cs typeface="Arial" pitchFamily="34" charset="0"/>
              </a:rPr>
              <a:t>汉明距离</a:t>
            </a:r>
            <a:r>
              <a:rPr lang="zh-CN" altLang="en-US" sz="2000" dirty="0">
                <a:latin typeface="Arial" pitchFamily="34" charset="0"/>
                <a:ea typeface="微软雅黑" pitchFamily="34" charset="-122"/>
                <a:cs typeface="Arial" pitchFamily="34" charset="0"/>
              </a:rPr>
              <a:t>。</a:t>
            </a:r>
          </a:p>
        </p:txBody>
      </p:sp>
      <p:sp>
        <p:nvSpPr>
          <p:cNvPr id="134" name="Rectangle 3">
            <a:extLst>
              <a:ext uri="{FF2B5EF4-FFF2-40B4-BE49-F238E27FC236}">
                <a16:creationId xmlns:a16="http://schemas.microsoft.com/office/drawing/2014/main" id="{F02CEEF1-E161-818C-4AD0-4FD343195D07}"/>
              </a:ext>
            </a:extLst>
          </p:cNvPr>
          <p:cNvSpPr txBox="1">
            <a:spLocks noChangeArrowheads="1"/>
          </p:cNvSpPr>
          <p:nvPr/>
        </p:nvSpPr>
        <p:spPr bwMode="auto">
          <a:xfrm>
            <a:off x="3500438" y="428625"/>
            <a:ext cx="5072062" cy="428625"/>
          </a:xfrm>
          <a:prstGeom prst="rect">
            <a:avLst/>
          </a:prstGeom>
          <a:solidFill>
            <a:schemeClr val="bg2">
              <a:lumMod val="10000"/>
              <a:lumOff val="90000"/>
            </a:schemeClr>
          </a:solidFill>
          <a:ln w="9525">
            <a:noFill/>
            <a:miter lim="800000"/>
            <a:headEnd/>
            <a:tailEnd/>
          </a:ln>
          <a:effectLst>
            <a:outerShdw blurRad="50800" dist="38100" dir="2700000" algn="tl" rotWithShape="0">
              <a:prstClr val="black">
                <a:alpha val="40000"/>
              </a:prstClr>
            </a:outerShdw>
          </a:effectLst>
        </p:spPr>
        <p:txBody>
          <a:bodyPr/>
          <a:lstStyle/>
          <a:p>
            <a:pPr marL="342900" indent="-342900">
              <a:lnSpc>
                <a:spcPts val="3200"/>
              </a:lnSpc>
              <a:spcBef>
                <a:spcPct val="20000"/>
              </a:spcBef>
              <a:buClr>
                <a:schemeClr val="folHlink"/>
              </a:buClr>
              <a:buSzPct val="60000"/>
              <a:buFont typeface="Wingdings" pitchFamily="2" charset="2"/>
              <a:buNone/>
              <a:defRPr/>
            </a:pP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接收序列    </a:t>
            </a:r>
            <a:r>
              <a:rPr kumimoji="0" lang="en-US" altLang="zh-CN"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111 </a:t>
            </a:r>
            <a:r>
              <a:rPr kumimoji="0" lang="en-US" altLang="zh-CN" sz="2000" b="0" kern="0" dirty="0">
                <a:solidFill>
                  <a:schemeClr val="hlink"/>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0</a:t>
            </a:r>
            <a:r>
              <a:rPr kumimoji="0" lang="en-US" altLang="zh-CN"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10 010 1</a:t>
            </a:r>
            <a:r>
              <a:rPr kumimoji="0" lang="en-US" altLang="zh-CN" sz="2000" b="0" kern="0" dirty="0">
                <a:solidFill>
                  <a:schemeClr val="hlink"/>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1</a:t>
            </a:r>
            <a:r>
              <a:rPr kumimoji="0" lang="en-US" altLang="zh-CN"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0 001 011 000</a:t>
            </a:r>
            <a:endPar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p:txBody>
      </p:sp>
      <p:pic>
        <p:nvPicPr>
          <p:cNvPr id="143364" name="Picture 139">
            <a:extLst>
              <a:ext uri="{FF2B5EF4-FFF2-40B4-BE49-F238E27FC236}">
                <a16:creationId xmlns:a16="http://schemas.microsoft.com/office/drawing/2014/main" id="{FF60D8AF-BCB5-4643-DB5F-35A97C1225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233" r="6866" b="21698"/>
          <a:stretch>
            <a:fillRect/>
          </a:stretch>
        </p:blipFill>
        <p:spPr bwMode="auto">
          <a:xfrm>
            <a:off x="1200150" y="1071563"/>
            <a:ext cx="7072313" cy="2484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42339">
                                            <p:txEl>
                                              <p:pRg st="0" end="0"/>
                                            </p:txEl>
                                          </p:spTgt>
                                        </p:tgtEl>
                                        <p:attrNameLst>
                                          <p:attrName>style.visibility</p:attrName>
                                        </p:attrNameLst>
                                      </p:cBhvr>
                                      <p:to>
                                        <p:strVal val="visible"/>
                                      </p:to>
                                    </p:set>
                                    <p:animEffect transition="in" filter="wipe(up)">
                                      <p:cBhvr>
                                        <p:cTn id="7" dur="1000"/>
                                        <p:tgtEl>
                                          <p:spTgt spid="1423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42339">
                                            <p:txEl>
                                              <p:pRg st="1" end="1"/>
                                            </p:txEl>
                                          </p:spTgt>
                                        </p:tgtEl>
                                        <p:attrNameLst>
                                          <p:attrName>style.visibility</p:attrName>
                                        </p:attrNameLst>
                                      </p:cBhvr>
                                      <p:to>
                                        <p:strVal val="visible"/>
                                      </p:to>
                                    </p:set>
                                    <p:animEffect transition="in" filter="wipe(up)">
                                      <p:cBhvr>
                                        <p:cTn id="12" dur="1000"/>
                                        <p:tgtEl>
                                          <p:spTgt spid="1423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42339">
                                            <p:txEl>
                                              <p:pRg st="2" end="2"/>
                                            </p:txEl>
                                          </p:spTgt>
                                        </p:tgtEl>
                                        <p:attrNameLst>
                                          <p:attrName>style.visibility</p:attrName>
                                        </p:attrNameLst>
                                      </p:cBhvr>
                                      <p:to>
                                        <p:strVal val="visible"/>
                                      </p:to>
                                    </p:set>
                                    <p:animEffect transition="in" filter="wipe(up)">
                                      <p:cBhvr>
                                        <p:cTn id="17" dur="1000"/>
                                        <p:tgtEl>
                                          <p:spTgt spid="1423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42339">
                                            <p:txEl>
                                              <p:pRg st="3" end="3"/>
                                            </p:txEl>
                                          </p:spTgt>
                                        </p:tgtEl>
                                        <p:attrNameLst>
                                          <p:attrName>style.visibility</p:attrName>
                                        </p:attrNameLst>
                                      </p:cBhvr>
                                      <p:to>
                                        <p:strVal val="visible"/>
                                      </p:to>
                                    </p:set>
                                    <p:animEffect transition="in" filter="wipe(up)">
                                      <p:cBhvr>
                                        <p:cTn id="22" dur="1000"/>
                                        <p:tgtEl>
                                          <p:spTgt spid="14233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142339">
                                            <p:txEl>
                                              <p:pRg st="4" end="4"/>
                                            </p:txEl>
                                          </p:spTgt>
                                        </p:tgtEl>
                                        <p:attrNameLst>
                                          <p:attrName>style.visibility</p:attrName>
                                        </p:attrNameLst>
                                      </p:cBhvr>
                                      <p:to>
                                        <p:strVal val="visible"/>
                                      </p:to>
                                    </p:set>
                                    <p:animEffect transition="in" filter="wipe(up)">
                                      <p:cBhvr>
                                        <p:cTn id="27" dur="1000"/>
                                        <p:tgtEl>
                                          <p:spTgt spid="1423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5607" name="Picture 199">
            <a:extLst>
              <a:ext uri="{FF2B5EF4-FFF2-40B4-BE49-F238E27FC236}">
                <a16:creationId xmlns:a16="http://schemas.microsoft.com/office/drawing/2014/main" id="{247B3809-D5F1-7D30-9417-DAE85C902E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2725" y="2662238"/>
            <a:ext cx="5976938" cy="379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6" name="Rectangle 3">
            <a:extLst>
              <a:ext uri="{FF2B5EF4-FFF2-40B4-BE49-F238E27FC236}">
                <a16:creationId xmlns:a16="http://schemas.microsoft.com/office/drawing/2014/main" id="{6B5DE438-F82D-B625-8A76-ACCAA7A2F61F}"/>
              </a:ext>
            </a:extLst>
          </p:cNvPr>
          <p:cNvSpPr txBox="1">
            <a:spLocks noChangeArrowheads="1"/>
          </p:cNvSpPr>
          <p:nvPr/>
        </p:nvSpPr>
        <p:spPr bwMode="auto">
          <a:xfrm>
            <a:off x="142875" y="1285875"/>
            <a:ext cx="2357438" cy="4786313"/>
          </a:xfrm>
          <a:prstGeom prst="rect">
            <a:avLst/>
          </a:prstGeom>
          <a:noFill/>
          <a:ln w="9525">
            <a:noFill/>
            <a:miter lim="800000"/>
            <a:headEnd/>
            <a:tailEnd/>
          </a:ln>
          <a:effectLst>
            <a:outerShdw blurRad="50800" dist="38100" dir="2700000" algn="tl" rotWithShape="0">
              <a:prstClr val="black">
                <a:alpha val="40000"/>
              </a:prstClr>
            </a:outerShdw>
          </a:effectLst>
        </p:spPr>
        <p:txBody>
          <a:bodyPr/>
          <a:lstStyle/>
          <a:p>
            <a:pPr marL="342900" indent="-342900">
              <a:lnSpc>
                <a:spcPts val="3200"/>
              </a:lnSpc>
              <a:spcBef>
                <a:spcPct val="20000"/>
              </a:spcBef>
              <a:buClr>
                <a:schemeClr val="folHlink"/>
              </a:buClr>
              <a:buSzPct val="60000"/>
              <a:buFont typeface="Wingdings" pitchFamily="2" charset="2"/>
              <a:buNone/>
              <a:defRPr/>
            </a:pP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将</a:t>
            </a:r>
            <a:r>
              <a:rPr kumimoji="0" lang="zh-CN" altLang="en-US" sz="2000" b="0" kern="0" dirty="0">
                <a:solidFill>
                  <a:schemeClr val="tx1"/>
                </a:solidFill>
                <a:latin typeface="Arial" pitchFamily="34" charset="0"/>
                <a:ea typeface="微软雅黑" pitchFamily="34" charset="-122"/>
                <a:cs typeface="Arial" pitchFamily="34" charset="0"/>
              </a:rPr>
              <a:t>到达每个状态的</a:t>
            </a:r>
            <a:endParaRPr kumimoji="0" lang="en-US" altLang="zh-CN" sz="2000" b="0" kern="0" dirty="0">
              <a:solidFill>
                <a:schemeClr val="tx1"/>
              </a:solidFill>
              <a:latin typeface="Arial" pitchFamily="34" charset="0"/>
              <a:ea typeface="微软雅黑" pitchFamily="34" charset="-122"/>
              <a:cs typeface="Arial" pitchFamily="34" charset="0"/>
            </a:endParaRPr>
          </a:p>
          <a:p>
            <a:pPr marL="342900" indent="-342900">
              <a:lnSpc>
                <a:spcPts val="3200"/>
              </a:lnSpc>
              <a:spcBef>
                <a:spcPct val="20000"/>
              </a:spcBef>
              <a:buClr>
                <a:schemeClr val="folHlink"/>
              </a:buClr>
              <a:buSzPct val="60000"/>
              <a:buFont typeface="Wingdings" pitchFamily="2" charset="2"/>
              <a:buNone/>
              <a:defRPr/>
            </a:pP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两条</a:t>
            </a:r>
            <a:r>
              <a:rPr kumimoji="0" lang="zh-CN" altLang="en-US" sz="2000" b="0" kern="0" dirty="0">
                <a:solidFill>
                  <a:schemeClr val="tx1"/>
                </a:solidFill>
                <a:latin typeface="Arial" pitchFamily="34" charset="0"/>
                <a:ea typeface="微软雅黑" pitchFamily="34" charset="-122"/>
                <a:cs typeface="Arial" pitchFamily="34" charset="0"/>
              </a:rPr>
              <a:t>路径的汉明距</a:t>
            </a:r>
            <a:endParaRPr kumimoji="0" lang="en-US" altLang="zh-CN" sz="2000" b="0" kern="0" dirty="0">
              <a:solidFill>
                <a:schemeClr val="tx1"/>
              </a:solidFill>
              <a:latin typeface="Arial" pitchFamily="34" charset="0"/>
              <a:ea typeface="微软雅黑" pitchFamily="34" charset="-122"/>
              <a:cs typeface="Arial" pitchFamily="34" charset="0"/>
            </a:endParaRPr>
          </a:p>
          <a:p>
            <a:pPr marL="342900" indent="-342900">
              <a:lnSpc>
                <a:spcPts val="3200"/>
              </a:lnSpc>
              <a:spcBef>
                <a:spcPct val="20000"/>
              </a:spcBef>
              <a:buClr>
                <a:schemeClr val="folHlink"/>
              </a:buClr>
              <a:buSzPct val="60000"/>
              <a:buFont typeface="Wingdings" pitchFamily="2" charset="2"/>
              <a:buNone/>
              <a:defRPr/>
            </a:pPr>
            <a:r>
              <a:rPr kumimoji="0" lang="zh-CN" altLang="en-US" sz="2000" b="0" kern="0" dirty="0">
                <a:solidFill>
                  <a:schemeClr val="tx1"/>
                </a:solidFill>
                <a:latin typeface="Arial" pitchFamily="34" charset="0"/>
                <a:ea typeface="微软雅黑" pitchFamily="34" charset="-122"/>
                <a:cs typeface="Arial" pitchFamily="34" charset="0"/>
              </a:rPr>
              <a:t>离作比较，将</a:t>
            </a:r>
            <a:r>
              <a:rPr kumimoji="0" lang="zh-CN" altLang="en-US" sz="2000" kern="0" dirty="0">
                <a:solidFill>
                  <a:schemeClr val="tx1"/>
                </a:solidFill>
                <a:latin typeface="Arial" pitchFamily="34" charset="0"/>
                <a:ea typeface="微软雅黑" pitchFamily="34" charset="-122"/>
                <a:cs typeface="Arial" pitchFamily="34" charset="0"/>
              </a:rPr>
              <a:t>距离</a:t>
            </a:r>
            <a:endParaRPr kumimoji="0" lang="en-US" altLang="zh-CN" sz="2000" kern="0" dirty="0">
              <a:solidFill>
                <a:schemeClr val="tx1"/>
              </a:solidFill>
              <a:latin typeface="Arial" pitchFamily="34" charset="0"/>
              <a:ea typeface="微软雅黑" pitchFamily="34" charset="-122"/>
              <a:cs typeface="Arial" pitchFamily="34" charset="0"/>
            </a:endParaRPr>
          </a:p>
          <a:p>
            <a:pPr marL="342900" indent="-342900">
              <a:lnSpc>
                <a:spcPts val="3200"/>
              </a:lnSpc>
              <a:spcBef>
                <a:spcPct val="20000"/>
              </a:spcBef>
              <a:buClr>
                <a:schemeClr val="folHlink"/>
              </a:buClr>
              <a:buSzPct val="60000"/>
              <a:buFont typeface="Wingdings" pitchFamily="2" charset="2"/>
              <a:buNone/>
              <a:defRPr/>
            </a:pPr>
            <a:r>
              <a:rPr kumimoji="0" lang="zh-CN" altLang="en-US" sz="2000" kern="0" dirty="0">
                <a:solidFill>
                  <a:schemeClr val="tx1"/>
                </a:solidFill>
                <a:latin typeface="Arial" pitchFamily="34" charset="0"/>
                <a:ea typeface="微软雅黑" pitchFamily="34" charset="-122"/>
                <a:cs typeface="Arial" pitchFamily="34" charset="0"/>
              </a:rPr>
              <a:t>小</a:t>
            </a:r>
            <a:r>
              <a:rPr kumimoji="0" lang="zh-CN" altLang="en-US" sz="2000" b="0" kern="0" dirty="0">
                <a:solidFill>
                  <a:schemeClr val="tx1"/>
                </a:solidFill>
                <a:latin typeface="Arial" pitchFamily="34" charset="0"/>
                <a:ea typeface="微软雅黑" pitchFamily="34" charset="-122"/>
                <a:cs typeface="Arial" pitchFamily="34" charset="0"/>
              </a:rPr>
              <a:t>的一条路径保留，</a:t>
            </a:r>
            <a:endParaRPr kumimoji="0" lang="en-US" altLang="zh-CN" sz="2000" b="0" kern="0" dirty="0">
              <a:solidFill>
                <a:schemeClr val="tx1"/>
              </a:solidFill>
              <a:latin typeface="Arial" pitchFamily="34" charset="0"/>
              <a:ea typeface="微软雅黑" pitchFamily="34" charset="-122"/>
              <a:cs typeface="Arial" pitchFamily="34" charset="0"/>
            </a:endParaRPr>
          </a:p>
          <a:p>
            <a:pPr marL="342900" indent="-342900">
              <a:lnSpc>
                <a:spcPts val="3200"/>
              </a:lnSpc>
              <a:spcBef>
                <a:spcPct val="20000"/>
              </a:spcBef>
              <a:buClr>
                <a:schemeClr val="folHlink"/>
              </a:buClr>
              <a:buSzPct val="60000"/>
              <a:buFont typeface="Wingdings" pitchFamily="2" charset="2"/>
              <a:buNone/>
              <a:defRPr/>
            </a:pPr>
            <a:r>
              <a:rPr kumimoji="0" lang="zh-CN" altLang="en-US" sz="2000" b="0" kern="0" dirty="0">
                <a:solidFill>
                  <a:schemeClr val="tx1"/>
                </a:solidFill>
                <a:latin typeface="Arial" pitchFamily="34" charset="0"/>
                <a:ea typeface="微软雅黑" pitchFamily="34" charset="-122"/>
                <a:cs typeface="Arial" pitchFamily="34" charset="0"/>
              </a:rPr>
              <a:t>称为</a:t>
            </a:r>
            <a:r>
              <a:rPr kumimoji="0" lang="zh-CN" altLang="en-US" sz="2000" b="0" kern="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幸存路径</a:t>
            </a:r>
            <a:r>
              <a:rPr kumimoji="0" lang="zh-CN" altLang="en-US" sz="2000" b="0" kern="0" dirty="0">
                <a:solidFill>
                  <a:schemeClr val="tx1"/>
                </a:solidFill>
                <a:latin typeface="Arial" pitchFamily="34" charset="0"/>
                <a:ea typeface="微软雅黑" pitchFamily="34" charset="-122"/>
                <a:cs typeface="Arial" pitchFamily="34" charset="0"/>
              </a:rPr>
              <a:t>。</a:t>
            </a:r>
            <a:endParaRPr kumimoji="0" lang="en-US" altLang="zh-CN" sz="2000" b="0" kern="0" dirty="0">
              <a:solidFill>
                <a:schemeClr val="tx1"/>
              </a:solidFill>
              <a:latin typeface="Arial" pitchFamily="34" charset="0"/>
              <a:ea typeface="微软雅黑" pitchFamily="34" charset="-122"/>
              <a:cs typeface="Arial" pitchFamily="34" charset="0"/>
            </a:endParaRPr>
          </a:p>
          <a:p>
            <a:pPr marL="342900" indent="-342900">
              <a:lnSpc>
                <a:spcPts val="3200"/>
              </a:lnSpc>
              <a:spcBef>
                <a:spcPct val="20000"/>
              </a:spcBef>
              <a:buClr>
                <a:schemeClr val="folHlink"/>
              </a:buClr>
              <a:buSzPct val="60000"/>
              <a:buFont typeface="Wingdings" pitchFamily="2" charset="2"/>
              <a:buNone/>
              <a:defRPr/>
            </a:pP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若</a:t>
            </a:r>
            <a:r>
              <a:rPr kumimoji="0" lang="zh-CN" altLang="en-US" sz="2000" b="0" kern="0" dirty="0">
                <a:solidFill>
                  <a:schemeClr val="tx1"/>
                </a:solidFill>
                <a:latin typeface="Arial" pitchFamily="34" charset="0"/>
                <a:ea typeface="微软雅黑" pitchFamily="34" charset="-122"/>
                <a:cs typeface="Arial" pitchFamily="34" charset="0"/>
              </a:rPr>
              <a:t>两条路径的汉明</a:t>
            </a:r>
            <a:endParaRPr kumimoji="0" lang="en-US" altLang="zh-CN" sz="2000" b="0" kern="0" dirty="0">
              <a:solidFill>
                <a:schemeClr val="tx1"/>
              </a:solidFill>
              <a:latin typeface="Arial" pitchFamily="34" charset="0"/>
              <a:ea typeface="微软雅黑" pitchFamily="34" charset="-122"/>
              <a:cs typeface="Arial" pitchFamily="34" charset="0"/>
            </a:endParaRPr>
          </a:p>
          <a:p>
            <a:pPr marL="342900" indent="-342900">
              <a:lnSpc>
                <a:spcPts val="3200"/>
              </a:lnSpc>
              <a:spcBef>
                <a:spcPct val="20000"/>
              </a:spcBef>
              <a:buClr>
                <a:schemeClr val="folHlink"/>
              </a:buClr>
              <a:buSzPct val="60000"/>
              <a:buFont typeface="Wingdings" pitchFamily="2" charset="2"/>
              <a:buNone/>
              <a:defRPr/>
            </a:pPr>
            <a:r>
              <a:rPr kumimoji="0" lang="zh-CN" altLang="en-US" sz="2000" kern="0" dirty="0">
                <a:solidFill>
                  <a:schemeClr val="tx1"/>
                </a:solidFill>
                <a:latin typeface="Arial" pitchFamily="34" charset="0"/>
                <a:ea typeface="微软雅黑" pitchFamily="34" charset="-122"/>
                <a:cs typeface="Arial" pitchFamily="34" charset="0"/>
              </a:rPr>
              <a:t>距离相同</a:t>
            </a:r>
            <a:r>
              <a:rPr kumimoji="0" lang="zh-CN" altLang="en-US" sz="2000" b="0" kern="0" dirty="0">
                <a:solidFill>
                  <a:schemeClr val="tx1"/>
                </a:solidFill>
                <a:latin typeface="Arial" pitchFamily="34" charset="0"/>
                <a:ea typeface="微软雅黑" pitchFamily="34" charset="-122"/>
                <a:cs typeface="Arial" pitchFamily="34" charset="0"/>
              </a:rPr>
              <a:t>，则可</a:t>
            </a:r>
            <a:r>
              <a:rPr kumimoji="0" lang="zh-CN" altLang="en-US" sz="2000" kern="0" dirty="0">
                <a:solidFill>
                  <a:schemeClr val="tx1"/>
                </a:solidFill>
                <a:latin typeface="Arial" pitchFamily="34" charset="0"/>
                <a:ea typeface="微软雅黑" pitchFamily="34" charset="-122"/>
                <a:cs typeface="Arial" pitchFamily="34" charset="0"/>
              </a:rPr>
              <a:t>任</a:t>
            </a:r>
            <a:endParaRPr kumimoji="0" lang="en-US" altLang="zh-CN" sz="2000" kern="0" dirty="0">
              <a:solidFill>
                <a:schemeClr val="tx1"/>
              </a:solidFill>
              <a:latin typeface="Arial" pitchFamily="34" charset="0"/>
              <a:ea typeface="微软雅黑" pitchFamily="34" charset="-122"/>
              <a:cs typeface="Arial" pitchFamily="34" charset="0"/>
            </a:endParaRPr>
          </a:p>
          <a:p>
            <a:pPr marL="342900" indent="-342900">
              <a:lnSpc>
                <a:spcPts val="3200"/>
              </a:lnSpc>
              <a:spcBef>
                <a:spcPct val="20000"/>
              </a:spcBef>
              <a:buClr>
                <a:schemeClr val="folHlink"/>
              </a:buClr>
              <a:buSzPct val="60000"/>
              <a:buFont typeface="Wingdings" pitchFamily="2" charset="2"/>
              <a:buNone/>
              <a:defRPr/>
            </a:pPr>
            <a:r>
              <a:rPr kumimoji="0" lang="zh-CN" altLang="en-US" sz="2000" kern="0" dirty="0">
                <a:solidFill>
                  <a:schemeClr val="tx1"/>
                </a:solidFill>
                <a:latin typeface="Arial" pitchFamily="34" charset="0"/>
                <a:ea typeface="微软雅黑" pitchFamily="34" charset="-122"/>
                <a:cs typeface="Arial" pitchFamily="34" charset="0"/>
              </a:rPr>
              <a:t>意保存一条</a:t>
            </a:r>
            <a:r>
              <a:rPr kumimoji="0" lang="zh-CN" altLang="en-US" sz="2000" b="0" kern="0" dirty="0">
                <a:solidFill>
                  <a:schemeClr val="tx1"/>
                </a:solidFill>
                <a:latin typeface="Arial" pitchFamily="34" charset="0"/>
                <a:ea typeface="微软雅黑" pitchFamily="34" charset="-122"/>
                <a:cs typeface="Arial" pitchFamily="34" charset="0"/>
              </a:rPr>
              <a:t>。这样</a:t>
            </a:r>
            <a:endParaRPr kumimoji="0" lang="en-US" altLang="zh-CN" sz="2000" b="0" kern="0" dirty="0">
              <a:solidFill>
                <a:schemeClr val="tx1"/>
              </a:solidFill>
              <a:latin typeface="Arial" pitchFamily="34" charset="0"/>
              <a:ea typeface="微软雅黑" pitchFamily="34" charset="-122"/>
              <a:cs typeface="Arial" pitchFamily="34" charset="0"/>
            </a:endParaRPr>
          </a:p>
          <a:p>
            <a:pPr marL="342900" indent="-342900">
              <a:lnSpc>
                <a:spcPts val="3200"/>
              </a:lnSpc>
              <a:spcBef>
                <a:spcPct val="20000"/>
              </a:spcBef>
              <a:buClr>
                <a:schemeClr val="folHlink"/>
              </a:buClr>
              <a:buSzPct val="60000"/>
              <a:buFont typeface="Wingdings" pitchFamily="2" charset="2"/>
              <a:buNone/>
              <a:defRPr/>
            </a:pPr>
            <a:r>
              <a:rPr kumimoji="0" lang="zh-CN" altLang="en-US" sz="2000" b="0" kern="0" dirty="0">
                <a:solidFill>
                  <a:schemeClr val="tx1"/>
                </a:solidFill>
                <a:latin typeface="Arial" pitchFamily="34" charset="0"/>
                <a:ea typeface="微软雅黑" pitchFamily="34" charset="-122"/>
                <a:cs typeface="Arial" pitchFamily="34" charset="0"/>
              </a:rPr>
              <a:t>就剩下</a:t>
            </a:r>
            <a:r>
              <a:rPr kumimoji="0" lang="en-US" altLang="zh-CN" sz="2000" b="0" kern="0" dirty="0">
                <a:solidFill>
                  <a:schemeClr val="tx1"/>
                </a:solidFill>
                <a:latin typeface="Arial" pitchFamily="34" charset="0"/>
                <a:ea typeface="微软雅黑" pitchFamily="34" charset="-122"/>
                <a:cs typeface="Arial" pitchFamily="34" charset="0"/>
              </a:rPr>
              <a:t>4</a:t>
            </a:r>
            <a:r>
              <a:rPr kumimoji="0" lang="zh-CN" altLang="en-US" sz="2000" b="0" kern="0" dirty="0">
                <a:solidFill>
                  <a:schemeClr val="tx1"/>
                </a:solidFill>
                <a:latin typeface="Arial" pitchFamily="34" charset="0"/>
                <a:ea typeface="微软雅黑" pitchFamily="34" charset="-122"/>
                <a:cs typeface="Arial" pitchFamily="34" charset="0"/>
              </a:rPr>
              <a:t>条路径：     </a:t>
            </a:r>
            <a:r>
              <a:rPr kumimoji="0" lang="en-US" altLang="zh-CN" sz="2000" b="0" kern="0" dirty="0">
                <a:solidFill>
                  <a:srgbClr val="FF0000"/>
                </a:solidFill>
                <a:latin typeface="Arial" pitchFamily="34" charset="0"/>
                <a:ea typeface="微软雅黑" pitchFamily="34" charset="-122"/>
                <a:cs typeface="Arial" pitchFamily="34" charset="0"/>
              </a:rPr>
              <a:t>2,  4,  6</a:t>
            </a:r>
            <a:r>
              <a:rPr kumimoji="0" lang="zh-CN" altLang="en-US" sz="2000" b="0" kern="0" dirty="0">
                <a:solidFill>
                  <a:srgbClr val="FF0000"/>
                </a:solidFill>
                <a:latin typeface="Arial" pitchFamily="34" charset="0"/>
                <a:ea typeface="微软雅黑" pitchFamily="34" charset="-122"/>
                <a:cs typeface="Arial" pitchFamily="34" charset="0"/>
              </a:rPr>
              <a:t>，</a:t>
            </a:r>
            <a:r>
              <a:rPr kumimoji="0" lang="en-US" altLang="zh-CN" sz="2000" b="0" kern="0" dirty="0">
                <a:solidFill>
                  <a:srgbClr val="FF0000"/>
                </a:solidFill>
                <a:latin typeface="Arial" pitchFamily="34" charset="0"/>
                <a:ea typeface="微软雅黑" pitchFamily="34" charset="-122"/>
                <a:cs typeface="Arial" pitchFamily="34" charset="0"/>
              </a:rPr>
              <a:t>8</a:t>
            </a:r>
            <a:endParaRPr kumimoji="0" lang="zh-CN" altLang="en-US" sz="2000" b="0" kern="0" dirty="0">
              <a:solidFill>
                <a:schemeClr val="tx1"/>
              </a:solidFill>
              <a:latin typeface="Arial" pitchFamily="34" charset="0"/>
              <a:ea typeface="微软雅黑" pitchFamily="34" charset="-122"/>
              <a:cs typeface="Arial" pitchFamily="34" charset="0"/>
            </a:endParaRPr>
          </a:p>
        </p:txBody>
      </p:sp>
      <p:cxnSp>
        <p:nvCxnSpPr>
          <p:cNvPr id="139" name="直接连接符 138">
            <a:extLst>
              <a:ext uri="{FF2B5EF4-FFF2-40B4-BE49-F238E27FC236}">
                <a16:creationId xmlns:a16="http://schemas.microsoft.com/office/drawing/2014/main" id="{66167058-0C02-D925-82FB-F8173F288EDD}"/>
              </a:ext>
            </a:extLst>
          </p:cNvPr>
          <p:cNvCxnSpPr>
            <a:cxnSpLocks noChangeShapeType="1"/>
          </p:cNvCxnSpPr>
          <p:nvPr/>
        </p:nvCxnSpPr>
        <p:spPr bwMode="auto">
          <a:xfrm>
            <a:off x="2857500" y="4787900"/>
            <a:ext cx="5715000" cy="1588"/>
          </a:xfrm>
          <a:prstGeom prst="line">
            <a:avLst/>
          </a:prstGeom>
          <a:noFill/>
          <a:ln w="28575" algn="ctr">
            <a:solidFill>
              <a:srgbClr val="0066FF"/>
            </a:solidFill>
            <a:miter lim="800000"/>
            <a:headEnd/>
            <a:tailEnd/>
          </a:ln>
          <a:extLst>
            <a:ext uri="{909E8E84-426E-40DD-AFC4-6F175D3DCCD1}">
              <a14:hiddenFill xmlns:a14="http://schemas.microsoft.com/office/drawing/2010/main">
                <a:noFill/>
              </a14:hiddenFill>
            </a:ext>
          </a:extLst>
        </p:spPr>
      </p:cxnSp>
      <p:cxnSp>
        <p:nvCxnSpPr>
          <p:cNvPr id="141" name="直接连接符 140">
            <a:extLst>
              <a:ext uri="{FF2B5EF4-FFF2-40B4-BE49-F238E27FC236}">
                <a16:creationId xmlns:a16="http://schemas.microsoft.com/office/drawing/2014/main" id="{CB2E201D-D84B-B616-E6EB-D0399695A9E4}"/>
              </a:ext>
            </a:extLst>
          </p:cNvPr>
          <p:cNvCxnSpPr>
            <a:cxnSpLocks noChangeShapeType="1"/>
          </p:cNvCxnSpPr>
          <p:nvPr/>
        </p:nvCxnSpPr>
        <p:spPr bwMode="auto">
          <a:xfrm>
            <a:off x="2886075" y="4000500"/>
            <a:ext cx="5715000" cy="1588"/>
          </a:xfrm>
          <a:prstGeom prst="line">
            <a:avLst/>
          </a:prstGeom>
          <a:noFill/>
          <a:ln w="28575" algn="ctr">
            <a:solidFill>
              <a:srgbClr val="0066FF"/>
            </a:solidFill>
            <a:miter lim="800000"/>
            <a:headEnd/>
            <a:tailEnd/>
          </a:ln>
          <a:extLst>
            <a:ext uri="{909E8E84-426E-40DD-AFC4-6F175D3DCCD1}">
              <a14:hiddenFill xmlns:a14="http://schemas.microsoft.com/office/drawing/2010/main">
                <a:noFill/>
              </a14:hiddenFill>
            </a:ext>
          </a:extLst>
        </p:spPr>
      </p:cxnSp>
      <p:cxnSp>
        <p:nvCxnSpPr>
          <p:cNvPr id="142" name="直接连接符 141">
            <a:extLst>
              <a:ext uri="{FF2B5EF4-FFF2-40B4-BE49-F238E27FC236}">
                <a16:creationId xmlns:a16="http://schemas.microsoft.com/office/drawing/2014/main" id="{CF93A98E-C3C9-A1A6-7AF1-7C4A68E3E050}"/>
              </a:ext>
            </a:extLst>
          </p:cNvPr>
          <p:cNvCxnSpPr>
            <a:cxnSpLocks noChangeShapeType="1"/>
          </p:cNvCxnSpPr>
          <p:nvPr/>
        </p:nvCxnSpPr>
        <p:spPr bwMode="auto">
          <a:xfrm>
            <a:off x="2857500" y="5586413"/>
            <a:ext cx="5715000" cy="1587"/>
          </a:xfrm>
          <a:prstGeom prst="line">
            <a:avLst/>
          </a:prstGeom>
          <a:noFill/>
          <a:ln w="28575" algn="ctr">
            <a:solidFill>
              <a:srgbClr val="0066FF"/>
            </a:solidFill>
            <a:miter lim="800000"/>
            <a:headEnd/>
            <a:tailEnd/>
          </a:ln>
          <a:extLst>
            <a:ext uri="{909E8E84-426E-40DD-AFC4-6F175D3DCCD1}">
              <a14:hiddenFill xmlns:a14="http://schemas.microsoft.com/office/drawing/2010/main">
                <a:noFill/>
              </a14:hiddenFill>
            </a:ext>
          </a:extLst>
        </p:spPr>
      </p:cxnSp>
      <p:sp>
        <p:nvSpPr>
          <p:cNvPr id="143" name="矩形 142">
            <a:extLst>
              <a:ext uri="{FF2B5EF4-FFF2-40B4-BE49-F238E27FC236}">
                <a16:creationId xmlns:a16="http://schemas.microsoft.com/office/drawing/2014/main" id="{F4F928C3-462D-25B8-EDE9-A032185C8404}"/>
              </a:ext>
            </a:extLst>
          </p:cNvPr>
          <p:cNvSpPr/>
          <p:nvPr/>
        </p:nvSpPr>
        <p:spPr bwMode="auto">
          <a:xfrm>
            <a:off x="0" y="857250"/>
            <a:ext cx="2714625" cy="214313"/>
          </a:xfrm>
          <a:prstGeom prst="rect">
            <a:avLst/>
          </a:prstGeom>
          <a:solidFill>
            <a:schemeClr val="bg1">
              <a:lumMod val="95000"/>
            </a:schemeClr>
          </a:solidFill>
          <a:ln w="9525" cap="flat" cmpd="sng" algn="ctr">
            <a:noFill/>
            <a:prstDash val="solid"/>
            <a:miter lim="800000"/>
            <a:headEnd type="none" w="med" len="med"/>
            <a:tailEnd type="none" w="med" len="med"/>
          </a:ln>
          <a:effectLst/>
        </p:spPr>
        <p:txBody>
          <a:bodyPr wrap="none"/>
          <a:lstStyle/>
          <a:p>
            <a:pPr>
              <a:defRPr/>
            </a:pPr>
            <a:endParaRPr lang="zh-CN" altLang="en-US"/>
          </a:p>
        </p:txBody>
      </p:sp>
      <p:pic>
        <p:nvPicPr>
          <p:cNvPr id="144392" name="Picture 139">
            <a:extLst>
              <a:ext uri="{FF2B5EF4-FFF2-40B4-BE49-F238E27FC236}">
                <a16:creationId xmlns:a16="http://schemas.microsoft.com/office/drawing/2014/main" id="{60639C2B-2D8D-A7B4-BC7B-CA9667368D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233" r="6866" b="21698"/>
          <a:stretch>
            <a:fillRect/>
          </a:stretch>
        </p:blipFill>
        <p:spPr bwMode="auto">
          <a:xfrm>
            <a:off x="2482850" y="285750"/>
            <a:ext cx="6303963" cy="221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45607"/>
                                        </p:tgtEl>
                                        <p:attrNameLst>
                                          <p:attrName>style.visibility</p:attrName>
                                        </p:attrNameLst>
                                      </p:cBhvr>
                                      <p:to>
                                        <p:strVal val="visible"/>
                                      </p:to>
                                    </p:set>
                                    <p:animEffect transition="in" filter="wipe(up)">
                                      <p:cBhvr>
                                        <p:cTn id="7" dur="2000"/>
                                        <p:tgtEl>
                                          <p:spTgt spid="1456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36">
                                            <p:txEl>
                                              <p:pRg st="0" end="0"/>
                                            </p:txEl>
                                          </p:spTgt>
                                        </p:tgtEl>
                                        <p:attrNameLst>
                                          <p:attrName>style.visibility</p:attrName>
                                        </p:attrNameLst>
                                      </p:cBhvr>
                                      <p:to>
                                        <p:strVal val="visible"/>
                                      </p:to>
                                    </p:set>
                                    <p:animEffect transition="in" filter="wipe(up)">
                                      <p:cBhvr>
                                        <p:cTn id="12" dur="1000"/>
                                        <p:tgtEl>
                                          <p:spTgt spid="136">
                                            <p:txEl>
                                              <p:pRg st="0" end="0"/>
                                            </p:txEl>
                                          </p:spTgt>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136">
                                            <p:txEl>
                                              <p:pRg st="1" end="1"/>
                                            </p:txEl>
                                          </p:spTgt>
                                        </p:tgtEl>
                                        <p:attrNameLst>
                                          <p:attrName>style.visibility</p:attrName>
                                        </p:attrNameLst>
                                      </p:cBhvr>
                                      <p:to>
                                        <p:strVal val="visible"/>
                                      </p:to>
                                    </p:set>
                                    <p:animEffect transition="in" filter="wipe(up)">
                                      <p:cBhvr>
                                        <p:cTn id="16" dur="1000"/>
                                        <p:tgtEl>
                                          <p:spTgt spid="136">
                                            <p:txEl>
                                              <p:pRg st="1" end="1"/>
                                            </p:txEl>
                                          </p:spTgt>
                                        </p:tgtEl>
                                      </p:cBhvr>
                                    </p:animEffect>
                                  </p:childTnLst>
                                </p:cTn>
                              </p:par>
                            </p:childTnLst>
                          </p:cTn>
                        </p:par>
                        <p:par>
                          <p:cTn id="17" fill="hold" nodeType="afterGroup">
                            <p:stCondLst>
                              <p:cond delay="2000"/>
                            </p:stCondLst>
                            <p:childTnLst>
                              <p:par>
                                <p:cTn id="18" presetID="22" presetClass="entr" presetSubtype="1" fill="hold" nodeType="afterEffect">
                                  <p:stCondLst>
                                    <p:cond delay="0"/>
                                  </p:stCondLst>
                                  <p:childTnLst>
                                    <p:set>
                                      <p:cBhvr>
                                        <p:cTn id="19" dur="1" fill="hold">
                                          <p:stCondLst>
                                            <p:cond delay="0"/>
                                          </p:stCondLst>
                                        </p:cTn>
                                        <p:tgtEl>
                                          <p:spTgt spid="136">
                                            <p:txEl>
                                              <p:pRg st="2" end="2"/>
                                            </p:txEl>
                                          </p:spTgt>
                                        </p:tgtEl>
                                        <p:attrNameLst>
                                          <p:attrName>style.visibility</p:attrName>
                                        </p:attrNameLst>
                                      </p:cBhvr>
                                      <p:to>
                                        <p:strVal val="visible"/>
                                      </p:to>
                                    </p:set>
                                    <p:animEffect transition="in" filter="wipe(up)">
                                      <p:cBhvr>
                                        <p:cTn id="20" dur="1000"/>
                                        <p:tgtEl>
                                          <p:spTgt spid="136">
                                            <p:txEl>
                                              <p:pRg st="2" end="2"/>
                                            </p:txEl>
                                          </p:spTgt>
                                        </p:tgtEl>
                                      </p:cBhvr>
                                    </p:animEffect>
                                  </p:childTnLst>
                                </p:cTn>
                              </p:par>
                            </p:childTnLst>
                          </p:cTn>
                        </p:par>
                        <p:par>
                          <p:cTn id="21" fill="hold" nodeType="afterGroup">
                            <p:stCondLst>
                              <p:cond delay="3000"/>
                            </p:stCondLst>
                            <p:childTnLst>
                              <p:par>
                                <p:cTn id="22" presetID="22" presetClass="entr" presetSubtype="8" fill="hold" nodeType="afterEffect">
                                  <p:stCondLst>
                                    <p:cond delay="0"/>
                                  </p:stCondLst>
                                  <p:childTnLst>
                                    <p:set>
                                      <p:cBhvr>
                                        <p:cTn id="23" dur="1" fill="hold">
                                          <p:stCondLst>
                                            <p:cond delay="0"/>
                                          </p:stCondLst>
                                        </p:cTn>
                                        <p:tgtEl>
                                          <p:spTgt spid="141"/>
                                        </p:tgtEl>
                                        <p:attrNameLst>
                                          <p:attrName>style.visibility</p:attrName>
                                        </p:attrNameLst>
                                      </p:cBhvr>
                                      <p:to>
                                        <p:strVal val="visible"/>
                                      </p:to>
                                    </p:set>
                                    <p:animEffect transition="in" filter="wipe(left)">
                                      <p:cBhvr>
                                        <p:cTn id="24" dur="1000"/>
                                        <p:tgtEl>
                                          <p:spTgt spid="141"/>
                                        </p:tgtEl>
                                      </p:cBhvr>
                                    </p:animEffect>
                                  </p:childTnLst>
                                </p:cTn>
                              </p:par>
                            </p:childTnLst>
                          </p:cTn>
                        </p:par>
                        <p:par>
                          <p:cTn id="25" fill="hold" nodeType="afterGroup">
                            <p:stCondLst>
                              <p:cond delay="4000"/>
                            </p:stCondLst>
                            <p:childTnLst>
                              <p:par>
                                <p:cTn id="26" presetID="22" presetClass="entr" presetSubtype="8" fill="hold" nodeType="afterEffect">
                                  <p:stCondLst>
                                    <p:cond delay="0"/>
                                  </p:stCondLst>
                                  <p:childTnLst>
                                    <p:set>
                                      <p:cBhvr>
                                        <p:cTn id="27" dur="1" fill="hold">
                                          <p:stCondLst>
                                            <p:cond delay="0"/>
                                          </p:stCondLst>
                                        </p:cTn>
                                        <p:tgtEl>
                                          <p:spTgt spid="139"/>
                                        </p:tgtEl>
                                        <p:attrNameLst>
                                          <p:attrName>style.visibility</p:attrName>
                                        </p:attrNameLst>
                                      </p:cBhvr>
                                      <p:to>
                                        <p:strVal val="visible"/>
                                      </p:to>
                                    </p:set>
                                    <p:animEffect transition="in" filter="wipe(left)">
                                      <p:cBhvr>
                                        <p:cTn id="28" dur="1000"/>
                                        <p:tgtEl>
                                          <p:spTgt spid="139"/>
                                        </p:tgtEl>
                                      </p:cBhvr>
                                    </p:animEffect>
                                  </p:childTnLst>
                                </p:cTn>
                              </p:par>
                            </p:childTnLst>
                          </p:cTn>
                        </p:par>
                        <p:par>
                          <p:cTn id="29" fill="hold" nodeType="afterGroup">
                            <p:stCondLst>
                              <p:cond delay="5000"/>
                            </p:stCondLst>
                            <p:childTnLst>
                              <p:par>
                                <p:cTn id="30" presetID="22" presetClass="entr" presetSubtype="8" fill="hold" nodeType="afterEffect">
                                  <p:stCondLst>
                                    <p:cond delay="0"/>
                                  </p:stCondLst>
                                  <p:childTnLst>
                                    <p:set>
                                      <p:cBhvr>
                                        <p:cTn id="31" dur="1" fill="hold">
                                          <p:stCondLst>
                                            <p:cond delay="0"/>
                                          </p:stCondLst>
                                        </p:cTn>
                                        <p:tgtEl>
                                          <p:spTgt spid="142"/>
                                        </p:tgtEl>
                                        <p:attrNameLst>
                                          <p:attrName>style.visibility</p:attrName>
                                        </p:attrNameLst>
                                      </p:cBhvr>
                                      <p:to>
                                        <p:strVal val="visible"/>
                                      </p:to>
                                    </p:set>
                                    <p:animEffect transition="in" filter="wipe(left)">
                                      <p:cBhvr>
                                        <p:cTn id="32" dur="1000"/>
                                        <p:tgtEl>
                                          <p:spTgt spid="142"/>
                                        </p:tgtEl>
                                      </p:cBhvr>
                                    </p:animEffect>
                                  </p:childTnLst>
                                </p:cTn>
                              </p:par>
                            </p:childTnLst>
                          </p:cTn>
                        </p:par>
                        <p:par>
                          <p:cTn id="33" fill="hold" nodeType="afterGroup">
                            <p:stCondLst>
                              <p:cond delay="6000"/>
                            </p:stCondLst>
                            <p:childTnLst>
                              <p:par>
                                <p:cTn id="34" presetID="22" presetClass="entr" presetSubtype="1" fill="hold" nodeType="afterEffect">
                                  <p:stCondLst>
                                    <p:cond delay="0"/>
                                  </p:stCondLst>
                                  <p:childTnLst>
                                    <p:set>
                                      <p:cBhvr>
                                        <p:cTn id="35" dur="1" fill="hold">
                                          <p:stCondLst>
                                            <p:cond delay="0"/>
                                          </p:stCondLst>
                                        </p:cTn>
                                        <p:tgtEl>
                                          <p:spTgt spid="136">
                                            <p:txEl>
                                              <p:pRg st="3" end="3"/>
                                            </p:txEl>
                                          </p:spTgt>
                                        </p:tgtEl>
                                        <p:attrNameLst>
                                          <p:attrName>style.visibility</p:attrName>
                                        </p:attrNameLst>
                                      </p:cBhvr>
                                      <p:to>
                                        <p:strVal val="visible"/>
                                      </p:to>
                                    </p:set>
                                    <p:animEffect transition="in" filter="wipe(up)">
                                      <p:cBhvr>
                                        <p:cTn id="36" dur="1000"/>
                                        <p:tgtEl>
                                          <p:spTgt spid="136">
                                            <p:txEl>
                                              <p:pRg st="3" end="3"/>
                                            </p:txEl>
                                          </p:spTgt>
                                        </p:tgtEl>
                                      </p:cBhvr>
                                    </p:animEffect>
                                  </p:childTnLst>
                                </p:cTn>
                              </p:par>
                            </p:childTnLst>
                          </p:cTn>
                        </p:par>
                        <p:par>
                          <p:cTn id="37" fill="hold" nodeType="afterGroup">
                            <p:stCondLst>
                              <p:cond delay="7000"/>
                            </p:stCondLst>
                            <p:childTnLst>
                              <p:par>
                                <p:cTn id="38" presetID="22" presetClass="entr" presetSubtype="1" fill="hold" nodeType="afterEffect">
                                  <p:stCondLst>
                                    <p:cond delay="0"/>
                                  </p:stCondLst>
                                  <p:childTnLst>
                                    <p:set>
                                      <p:cBhvr>
                                        <p:cTn id="39" dur="1" fill="hold">
                                          <p:stCondLst>
                                            <p:cond delay="0"/>
                                          </p:stCondLst>
                                        </p:cTn>
                                        <p:tgtEl>
                                          <p:spTgt spid="136">
                                            <p:txEl>
                                              <p:pRg st="4" end="4"/>
                                            </p:txEl>
                                          </p:spTgt>
                                        </p:tgtEl>
                                        <p:attrNameLst>
                                          <p:attrName>style.visibility</p:attrName>
                                        </p:attrNameLst>
                                      </p:cBhvr>
                                      <p:to>
                                        <p:strVal val="visible"/>
                                      </p:to>
                                    </p:set>
                                    <p:animEffect transition="in" filter="wipe(up)">
                                      <p:cBhvr>
                                        <p:cTn id="40" dur="1000"/>
                                        <p:tgtEl>
                                          <p:spTgt spid="136">
                                            <p:txEl>
                                              <p:pRg st="4" end="4"/>
                                            </p:txEl>
                                          </p:spTgt>
                                        </p:tgtEl>
                                      </p:cBhvr>
                                    </p:animEffect>
                                  </p:childTnLst>
                                </p:cTn>
                              </p:par>
                            </p:childTnLst>
                          </p:cTn>
                        </p:par>
                        <p:par>
                          <p:cTn id="41" fill="hold" nodeType="afterGroup">
                            <p:stCondLst>
                              <p:cond delay="8000"/>
                            </p:stCondLst>
                            <p:childTnLst>
                              <p:par>
                                <p:cTn id="42" presetID="22" presetClass="entr" presetSubtype="1" fill="hold" nodeType="afterEffect">
                                  <p:stCondLst>
                                    <p:cond delay="0"/>
                                  </p:stCondLst>
                                  <p:childTnLst>
                                    <p:set>
                                      <p:cBhvr>
                                        <p:cTn id="43" dur="1" fill="hold">
                                          <p:stCondLst>
                                            <p:cond delay="0"/>
                                          </p:stCondLst>
                                        </p:cTn>
                                        <p:tgtEl>
                                          <p:spTgt spid="136">
                                            <p:txEl>
                                              <p:pRg st="5" end="5"/>
                                            </p:txEl>
                                          </p:spTgt>
                                        </p:tgtEl>
                                        <p:attrNameLst>
                                          <p:attrName>style.visibility</p:attrName>
                                        </p:attrNameLst>
                                      </p:cBhvr>
                                      <p:to>
                                        <p:strVal val="visible"/>
                                      </p:to>
                                    </p:set>
                                    <p:animEffect transition="in" filter="wipe(up)">
                                      <p:cBhvr>
                                        <p:cTn id="44" dur="1000"/>
                                        <p:tgtEl>
                                          <p:spTgt spid="136">
                                            <p:txEl>
                                              <p:pRg st="5" end="5"/>
                                            </p:txEl>
                                          </p:spTgt>
                                        </p:tgtEl>
                                      </p:cBhvr>
                                    </p:animEffect>
                                  </p:childTnLst>
                                </p:cTn>
                              </p:par>
                            </p:childTnLst>
                          </p:cTn>
                        </p:par>
                        <p:par>
                          <p:cTn id="45" fill="hold" nodeType="afterGroup">
                            <p:stCondLst>
                              <p:cond delay="9000"/>
                            </p:stCondLst>
                            <p:childTnLst>
                              <p:par>
                                <p:cTn id="46" presetID="22" presetClass="entr" presetSubtype="1" fill="hold" nodeType="afterEffect">
                                  <p:stCondLst>
                                    <p:cond delay="0"/>
                                  </p:stCondLst>
                                  <p:childTnLst>
                                    <p:set>
                                      <p:cBhvr>
                                        <p:cTn id="47" dur="1" fill="hold">
                                          <p:stCondLst>
                                            <p:cond delay="0"/>
                                          </p:stCondLst>
                                        </p:cTn>
                                        <p:tgtEl>
                                          <p:spTgt spid="136">
                                            <p:txEl>
                                              <p:pRg st="6" end="6"/>
                                            </p:txEl>
                                          </p:spTgt>
                                        </p:tgtEl>
                                        <p:attrNameLst>
                                          <p:attrName>style.visibility</p:attrName>
                                        </p:attrNameLst>
                                      </p:cBhvr>
                                      <p:to>
                                        <p:strVal val="visible"/>
                                      </p:to>
                                    </p:set>
                                    <p:animEffect transition="in" filter="wipe(up)">
                                      <p:cBhvr>
                                        <p:cTn id="48" dur="1000"/>
                                        <p:tgtEl>
                                          <p:spTgt spid="136">
                                            <p:txEl>
                                              <p:pRg st="6" end="6"/>
                                            </p:txEl>
                                          </p:spTgt>
                                        </p:tgtEl>
                                      </p:cBhvr>
                                    </p:animEffect>
                                  </p:childTnLst>
                                </p:cTn>
                              </p:par>
                            </p:childTnLst>
                          </p:cTn>
                        </p:par>
                        <p:par>
                          <p:cTn id="49" fill="hold" nodeType="afterGroup">
                            <p:stCondLst>
                              <p:cond delay="10000"/>
                            </p:stCondLst>
                            <p:childTnLst>
                              <p:par>
                                <p:cTn id="50" presetID="22" presetClass="entr" presetSubtype="1" fill="hold" nodeType="afterEffect">
                                  <p:stCondLst>
                                    <p:cond delay="0"/>
                                  </p:stCondLst>
                                  <p:childTnLst>
                                    <p:set>
                                      <p:cBhvr>
                                        <p:cTn id="51" dur="1" fill="hold">
                                          <p:stCondLst>
                                            <p:cond delay="0"/>
                                          </p:stCondLst>
                                        </p:cTn>
                                        <p:tgtEl>
                                          <p:spTgt spid="136">
                                            <p:txEl>
                                              <p:pRg st="7" end="7"/>
                                            </p:txEl>
                                          </p:spTgt>
                                        </p:tgtEl>
                                        <p:attrNameLst>
                                          <p:attrName>style.visibility</p:attrName>
                                        </p:attrNameLst>
                                      </p:cBhvr>
                                      <p:to>
                                        <p:strVal val="visible"/>
                                      </p:to>
                                    </p:set>
                                    <p:animEffect transition="in" filter="wipe(up)">
                                      <p:cBhvr>
                                        <p:cTn id="52" dur="1000"/>
                                        <p:tgtEl>
                                          <p:spTgt spid="136">
                                            <p:txEl>
                                              <p:pRg st="7" end="7"/>
                                            </p:txEl>
                                          </p:spTgt>
                                        </p:tgtEl>
                                      </p:cBhvr>
                                    </p:animEffect>
                                  </p:childTnLst>
                                </p:cTn>
                              </p:par>
                            </p:childTnLst>
                          </p:cTn>
                        </p:par>
                        <p:par>
                          <p:cTn id="53" fill="hold" nodeType="afterGroup">
                            <p:stCondLst>
                              <p:cond delay="11000"/>
                            </p:stCondLst>
                            <p:childTnLst>
                              <p:par>
                                <p:cTn id="54" presetID="22" presetClass="entr" presetSubtype="1" fill="hold" nodeType="afterEffect">
                                  <p:stCondLst>
                                    <p:cond delay="0"/>
                                  </p:stCondLst>
                                  <p:childTnLst>
                                    <p:set>
                                      <p:cBhvr>
                                        <p:cTn id="55" dur="1" fill="hold">
                                          <p:stCondLst>
                                            <p:cond delay="0"/>
                                          </p:stCondLst>
                                        </p:cTn>
                                        <p:tgtEl>
                                          <p:spTgt spid="136">
                                            <p:txEl>
                                              <p:pRg st="8" end="8"/>
                                            </p:txEl>
                                          </p:spTgt>
                                        </p:tgtEl>
                                        <p:attrNameLst>
                                          <p:attrName>style.visibility</p:attrName>
                                        </p:attrNameLst>
                                      </p:cBhvr>
                                      <p:to>
                                        <p:strVal val="visible"/>
                                      </p:to>
                                    </p:set>
                                    <p:animEffect transition="in" filter="wipe(up)">
                                      <p:cBhvr>
                                        <p:cTn id="56" dur="1000"/>
                                        <p:tgtEl>
                                          <p:spTgt spid="13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5416" name="Picture 8">
            <a:extLst>
              <a:ext uri="{FF2B5EF4-FFF2-40B4-BE49-F238E27FC236}">
                <a16:creationId xmlns:a16="http://schemas.microsoft.com/office/drawing/2014/main" id="{DD729AB0-07C1-20DD-134A-36EE414F2E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1538" y="1214438"/>
            <a:ext cx="7772400" cy="87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a:extLst>
              <a:ext uri="{FF2B5EF4-FFF2-40B4-BE49-F238E27FC236}">
                <a16:creationId xmlns:a16="http://schemas.microsoft.com/office/drawing/2014/main" id="{A5C550FA-487F-F5B5-64E5-AE62CF141A5D}"/>
              </a:ext>
            </a:extLst>
          </p:cNvPr>
          <p:cNvSpPr/>
          <p:nvPr/>
        </p:nvSpPr>
        <p:spPr>
          <a:xfrm>
            <a:off x="945623" y="1128628"/>
            <a:ext cx="840295" cy="400110"/>
          </a:xfrm>
          <a:prstGeom prst="rect">
            <a:avLst/>
          </a:prstGeom>
          <a:solidFill>
            <a:schemeClr val="bg1"/>
          </a:solidFill>
          <a:effectLst>
            <a:innerShdw blurRad="114300">
              <a:prstClr val="black"/>
            </a:innerShdw>
          </a:effectLst>
        </p:spPr>
        <p:txBody>
          <a:bodyPr wrap="none">
            <a:spAutoFit/>
          </a:bodyPr>
          <a:lstStyle/>
          <a:p>
            <a:pPr>
              <a:defRPr/>
            </a:pPr>
            <a:r>
              <a:rPr kumimoji="0" lang="zh-CN" altLang="en-US" sz="2000" kern="0" dirty="0">
                <a:solidFill>
                  <a:srgbClr val="990099"/>
                </a:solidFill>
                <a:latin typeface="Arial" pitchFamily="34" charset="0"/>
                <a:ea typeface="微软雅黑" pitchFamily="34" charset="-122"/>
                <a:cs typeface="Arial" pitchFamily="34" charset="0"/>
              </a:rPr>
              <a:t>第</a:t>
            </a:r>
            <a:r>
              <a:rPr kumimoji="0" lang="en-US" altLang="zh-CN" sz="2000" kern="0" dirty="0">
                <a:solidFill>
                  <a:srgbClr val="990099"/>
                </a:solidFill>
                <a:latin typeface="Arial" pitchFamily="34" charset="0"/>
                <a:ea typeface="微软雅黑" pitchFamily="34" charset="-122"/>
                <a:cs typeface="Arial" pitchFamily="34" charset="0"/>
              </a:rPr>
              <a:t>2</a:t>
            </a:r>
            <a:r>
              <a:rPr kumimoji="0" lang="zh-CN" altLang="en-US" sz="2000" kern="0" dirty="0">
                <a:solidFill>
                  <a:srgbClr val="990099"/>
                </a:solidFill>
                <a:latin typeface="Arial" pitchFamily="34" charset="0"/>
                <a:ea typeface="微软雅黑" pitchFamily="34" charset="-122"/>
                <a:cs typeface="Arial" pitchFamily="34" charset="0"/>
              </a:rPr>
              <a:t>步</a:t>
            </a:r>
            <a:endParaRPr lang="zh-CN" altLang="en-US" dirty="0">
              <a:solidFill>
                <a:srgbClr val="990099"/>
              </a:solidFill>
            </a:endParaRPr>
          </a:p>
        </p:txBody>
      </p:sp>
      <p:sp>
        <p:nvSpPr>
          <p:cNvPr id="9" name="Rectangle 3">
            <a:extLst>
              <a:ext uri="{FF2B5EF4-FFF2-40B4-BE49-F238E27FC236}">
                <a16:creationId xmlns:a16="http://schemas.microsoft.com/office/drawing/2014/main" id="{5568E9F5-52D9-12FB-378D-A8B8A8921CDB}"/>
              </a:ext>
            </a:extLst>
          </p:cNvPr>
          <p:cNvSpPr txBox="1">
            <a:spLocks noChangeArrowheads="1"/>
          </p:cNvSpPr>
          <p:nvPr/>
        </p:nvSpPr>
        <p:spPr bwMode="auto">
          <a:xfrm>
            <a:off x="3500438" y="428625"/>
            <a:ext cx="5072062" cy="428625"/>
          </a:xfrm>
          <a:prstGeom prst="rect">
            <a:avLst/>
          </a:prstGeom>
          <a:solidFill>
            <a:schemeClr val="bg2">
              <a:lumMod val="10000"/>
              <a:lumOff val="90000"/>
            </a:schemeClr>
          </a:solidFill>
          <a:ln w="9525">
            <a:noFill/>
            <a:miter lim="800000"/>
            <a:headEnd/>
            <a:tailEnd/>
          </a:ln>
          <a:effectLst>
            <a:outerShdw blurRad="50800" dist="38100" dir="2700000" algn="tl" rotWithShape="0">
              <a:prstClr val="black">
                <a:alpha val="40000"/>
              </a:prstClr>
            </a:outerShdw>
          </a:effectLst>
        </p:spPr>
        <p:txBody>
          <a:bodyPr/>
          <a:lstStyle/>
          <a:p>
            <a:pPr marL="342900" indent="-342900">
              <a:lnSpc>
                <a:spcPts val="3200"/>
              </a:lnSpc>
              <a:spcBef>
                <a:spcPct val="20000"/>
              </a:spcBef>
              <a:buClr>
                <a:schemeClr val="folHlink"/>
              </a:buClr>
              <a:buSzPct val="60000"/>
              <a:buFont typeface="Wingdings" pitchFamily="2" charset="2"/>
              <a:buNone/>
              <a:defRPr/>
            </a:pP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接收序列    </a:t>
            </a:r>
            <a:r>
              <a:rPr kumimoji="0" lang="en-US" altLang="zh-CN"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111 </a:t>
            </a:r>
            <a:r>
              <a:rPr kumimoji="0" lang="en-US" altLang="zh-CN" sz="2000" b="0" kern="0" dirty="0">
                <a:solidFill>
                  <a:schemeClr val="hlink"/>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0</a:t>
            </a:r>
            <a:r>
              <a:rPr kumimoji="0" lang="en-US" altLang="zh-CN"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10 010 1</a:t>
            </a:r>
            <a:r>
              <a:rPr kumimoji="0" lang="en-US" altLang="zh-CN" sz="2000" b="0" kern="0" dirty="0">
                <a:solidFill>
                  <a:schemeClr val="hlink"/>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1</a:t>
            </a:r>
            <a:r>
              <a:rPr kumimoji="0" lang="en-US" altLang="zh-CN"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0 001 011 000</a:t>
            </a:r>
            <a:endPar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p:txBody>
      </p:sp>
      <p:pic>
        <p:nvPicPr>
          <p:cNvPr id="146522" name="Picture 90">
            <a:extLst>
              <a:ext uri="{FF2B5EF4-FFF2-40B4-BE49-F238E27FC236}">
                <a16:creationId xmlns:a16="http://schemas.microsoft.com/office/drawing/2014/main" id="{E5156A48-B756-3E80-2692-74F5203943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 y="2214563"/>
            <a:ext cx="7991475"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45416"/>
                                        </p:tgtEl>
                                        <p:attrNameLst>
                                          <p:attrName>style.visibility</p:attrName>
                                        </p:attrNameLst>
                                      </p:cBhvr>
                                      <p:to>
                                        <p:strVal val="visible"/>
                                      </p:to>
                                    </p:set>
                                    <p:animEffect transition="in" filter="wipe(up)">
                                      <p:cBhvr>
                                        <p:cTn id="12" dur="1000"/>
                                        <p:tgtEl>
                                          <p:spTgt spid="145416"/>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146522"/>
                                        </p:tgtEl>
                                        <p:attrNameLst>
                                          <p:attrName>style.visibility</p:attrName>
                                        </p:attrNameLst>
                                      </p:cBhvr>
                                      <p:to>
                                        <p:strVal val="visible"/>
                                      </p:to>
                                    </p:set>
                                    <p:animEffect transition="in" filter="wipe(up)">
                                      <p:cBhvr>
                                        <p:cTn id="16" dur="1000"/>
                                        <p:tgtEl>
                                          <p:spTgt spid="1465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
            <a:extLst>
              <a:ext uri="{FF2B5EF4-FFF2-40B4-BE49-F238E27FC236}">
                <a16:creationId xmlns:a16="http://schemas.microsoft.com/office/drawing/2014/main" id="{B1221BCB-F178-A3A6-45CD-8FBE80D06DC3}"/>
              </a:ext>
            </a:extLst>
          </p:cNvPr>
          <p:cNvGrpSpPr>
            <a:grpSpLocks/>
          </p:cNvGrpSpPr>
          <p:nvPr/>
        </p:nvGrpSpPr>
        <p:grpSpPr bwMode="auto">
          <a:xfrm>
            <a:off x="1735138" y="3338513"/>
            <a:ext cx="6122987" cy="2519362"/>
            <a:chOff x="2199" y="7743"/>
            <a:chExt cx="4992" cy="2186"/>
          </a:xfrm>
        </p:grpSpPr>
        <p:grpSp>
          <p:nvGrpSpPr>
            <p:cNvPr id="146437" name="Group 7">
              <a:extLst>
                <a:ext uri="{FF2B5EF4-FFF2-40B4-BE49-F238E27FC236}">
                  <a16:creationId xmlns:a16="http://schemas.microsoft.com/office/drawing/2014/main" id="{718E5A44-C6D7-DE6B-4814-3FC54E12331E}"/>
                </a:ext>
              </a:extLst>
            </p:cNvPr>
            <p:cNvGrpSpPr>
              <a:grpSpLocks/>
            </p:cNvGrpSpPr>
            <p:nvPr/>
          </p:nvGrpSpPr>
          <p:grpSpPr bwMode="auto">
            <a:xfrm>
              <a:off x="2538" y="7920"/>
              <a:ext cx="4293" cy="1788"/>
              <a:chOff x="2538" y="7920"/>
              <a:chExt cx="4293" cy="1788"/>
            </a:xfrm>
          </p:grpSpPr>
          <p:grpSp>
            <p:nvGrpSpPr>
              <p:cNvPr id="146472" name="Group 8">
                <a:extLst>
                  <a:ext uri="{FF2B5EF4-FFF2-40B4-BE49-F238E27FC236}">
                    <a16:creationId xmlns:a16="http://schemas.microsoft.com/office/drawing/2014/main" id="{362D88A6-DD37-BCB9-6C67-DFBB7DC9D9CD}"/>
                  </a:ext>
                </a:extLst>
              </p:cNvPr>
              <p:cNvGrpSpPr>
                <a:grpSpLocks/>
              </p:cNvGrpSpPr>
              <p:nvPr/>
            </p:nvGrpSpPr>
            <p:grpSpPr bwMode="auto">
              <a:xfrm>
                <a:off x="2538" y="7920"/>
                <a:ext cx="1152" cy="1788"/>
                <a:chOff x="2805" y="12648"/>
                <a:chExt cx="1152" cy="1788"/>
              </a:xfrm>
            </p:grpSpPr>
            <p:grpSp>
              <p:nvGrpSpPr>
                <p:cNvPr id="146488" name="Group 9">
                  <a:extLst>
                    <a:ext uri="{FF2B5EF4-FFF2-40B4-BE49-F238E27FC236}">
                      <a16:creationId xmlns:a16="http://schemas.microsoft.com/office/drawing/2014/main" id="{D3FF4296-703C-54A6-FC41-8F907650E67A}"/>
                    </a:ext>
                  </a:extLst>
                </p:cNvPr>
                <p:cNvGrpSpPr>
                  <a:grpSpLocks/>
                </p:cNvGrpSpPr>
                <p:nvPr/>
              </p:nvGrpSpPr>
              <p:grpSpPr bwMode="auto">
                <a:xfrm>
                  <a:off x="2805" y="12648"/>
                  <a:ext cx="1152" cy="672"/>
                  <a:chOff x="2805" y="12648"/>
                  <a:chExt cx="1152" cy="672"/>
                </a:xfrm>
              </p:grpSpPr>
              <p:sp>
                <p:nvSpPr>
                  <p:cNvPr id="146494" name="Oval 10">
                    <a:extLst>
                      <a:ext uri="{FF2B5EF4-FFF2-40B4-BE49-F238E27FC236}">
                        <a16:creationId xmlns:a16="http://schemas.microsoft.com/office/drawing/2014/main" id="{EC1E3489-3460-1D2B-FC7D-35B6C307261D}"/>
                      </a:ext>
                    </a:extLst>
                  </p:cNvPr>
                  <p:cNvSpPr>
                    <a:spLocks noChangeArrowheads="1"/>
                  </p:cNvSpPr>
                  <p:nvPr/>
                </p:nvSpPr>
                <p:spPr bwMode="auto">
                  <a:xfrm>
                    <a:off x="2805" y="12648"/>
                    <a:ext cx="114" cy="111"/>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sp>
                <p:nvSpPr>
                  <p:cNvPr id="146495" name="Oval 11">
                    <a:extLst>
                      <a:ext uri="{FF2B5EF4-FFF2-40B4-BE49-F238E27FC236}">
                        <a16:creationId xmlns:a16="http://schemas.microsoft.com/office/drawing/2014/main" id="{8BED315F-0BD8-F5BF-6CA6-CD455098A32B}"/>
                      </a:ext>
                    </a:extLst>
                  </p:cNvPr>
                  <p:cNvSpPr>
                    <a:spLocks noChangeArrowheads="1"/>
                  </p:cNvSpPr>
                  <p:nvPr/>
                </p:nvSpPr>
                <p:spPr bwMode="auto">
                  <a:xfrm>
                    <a:off x="2805" y="13209"/>
                    <a:ext cx="114" cy="111"/>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sp>
                <p:nvSpPr>
                  <p:cNvPr id="146496" name="Oval 12">
                    <a:extLst>
                      <a:ext uri="{FF2B5EF4-FFF2-40B4-BE49-F238E27FC236}">
                        <a16:creationId xmlns:a16="http://schemas.microsoft.com/office/drawing/2014/main" id="{02FE0961-2DBB-E54D-958D-18275F35F1ED}"/>
                      </a:ext>
                    </a:extLst>
                  </p:cNvPr>
                  <p:cNvSpPr>
                    <a:spLocks noChangeArrowheads="1"/>
                  </p:cNvSpPr>
                  <p:nvPr/>
                </p:nvSpPr>
                <p:spPr bwMode="auto">
                  <a:xfrm>
                    <a:off x="3843" y="12648"/>
                    <a:ext cx="114" cy="111"/>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sp>
                <p:nvSpPr>
                  <p:cNvPr id="146497" name="Oval 13">
                    <a:extLst>
                      <a:ext uri="{FF2B5EF4-FFF2-40B4-BE49-F238E27FC236}">
                        <a16:creationId xmlns:a16="http://schemas.microsoft.com/office/drawing/2014/main" id="{BCB585C0-22F9-B791-EA94-5A683B712677}"/>
                      </a:ext>
                    </a:extLst>
                  </p:cNvPr>
                  <p:cNvSpPr>
                    <a:spLocks noChangeArrowheads="1"/>
                  </p:cNvSpPr>
                  <p:nvPr/>
                </p:nvSpPr>
                <p:spPr bwMode="auto">
                  <a:xfrm>
                    <a:off x="3843" y="13209"/>
                    <a:ext cx="114" cy="111"/>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grpSp>
            <p:grpSp>
              <p:nvGrpSpPr>
                <p:cNvPr id="146489" name="Group 14">
                  <a:extLst>
                    <a:ext uri="{FF2B5EF4-FFF2-40B4-BE49-F238E27FC236}">
                      <a16:creationId xmlns:a16="http://schemas.microsoft.com/office/drawing/2014/main" id="{F411B9AA-6DA0-F801-D244-A023881D33A8}"/>
                    </a:ext>
                  </a:extLst>
                </p:cNvPr>
                <p:cNvGrpSpPr>
                  <a:grpSpLocks/>
                </p:cNvGrpSpPr>
                <p:nvPr/>
              </p:nvGrpSpPr>
              <p:grpSpPr bwMode="auto">
                <a:xfrm>
                  <a:off x="2805" y="13764"/>
                  <a:ext cx="1152" cy="672"/>
                  <a:chOff x="2805" y="12648"/>
                  <a:chExt cx="1152" cy="672"/>
                </a:xfrm>
              </p:grpSpPr>
              <p:sp>
                <p:nvSpPr>
                  <p:cNvPr id="146490" name="Oval 15">
                    <a:extLst>
                      <a:ext uri="{FF2B5EF4-FFF2-40B4-BE49-F238E27FC236}">
                        <a16:creationId xmlns:a16="http://schemas.microsoft.com/office/drawing/2014/main" id="{23021AD8-133D-8109-4919-A9C3FE7DB150}"/>
                      </a:ext>
                    </a:extLst>
                  </p:cNvPr>
                  <p:cNvSpPr>
                    <a:spLocks noChangeArrowheads="1"/>
                  </p:cNvSpPr>
                  <p:nvPr/>
                </p:nvSpPr>
                <p:spPr bwMode="auto">
                  <a:xfrm>
                    <a:off x="2805" y="12648"/>
                    <a:ext cx="114" cy="111"/>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sp>
                <p:nvSpPr>
                  <p:cNvPr id="146491" name="Oval 16">
                    <a:extLst>
                      <a:ext uri="{FF2B5EF4-FFF2-40B4-BE49-F238E27FC236}">
                        <a16:creationId xmlns:a16="http://schemas.microsoft.com/office/drawing/2014/main" id="{E341ADCE-C418-844F-12F8-52DFD460FA02}"/>
                      </a:ext>
                    </a:extLst>
                  </p:cNvPr>
                  <p:cNvSpPr>
                    <a:spLocks noChangeArrowheads="1"/>
                  </p:cNvSpPr>
                  <p:nvPr/>
                </p:nvSpPr>
                <p:spPr bwMode="auto">
                  <a:xfrm>
                    <a:off x="2805" y="13209"/>
                    <a:ext cx="114" cy="111"/>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sp>
                <p:nvSpPr>
                  <p:cNvPr id="146492" name="Oval 17">
                    <a:extLst>
                      <a:ext uri="{FF2B5EF4-FFF2-40B4-BE49-F238E27FC236}">
                        <a16:creationId xmlns:a16="http://schemas.microsoft.com/office/drawing/2014/main" id="{2C114326-4E27-2813-C457-2D2A284F5A13}"/>
                      </a:ext>
                    </a:extLst>
                  </p:cNvPr>
                  <p:cNvSpPr>
                    <a:spLocks noChangeArrowheads="1"/>
                  </p:cNvSpPr>
                  <p:nvPr/>
                </p:nvSpPr>
                <p:spPr bwMode="auto">
                  <a:xfrm>
                    <a:off x="3843" y="12648"/>
                    <a:ext cx="114" cy="111"/>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sp>
                <p:nvSpPr>
                  <p:cNvPr id="146493" name="Oval 18">
                    <a:extLst>
                      <a:ext uri="{FF2B5EF4-FFF2-40B4-BE49-F238E27FC236}">
                        <a16:creationId xmlns:a16="http://schemas.microsoft.com/office/drawing/2014/main" id="{3FFC224E-1D30-6125-E1EF-0AD6E964B7DF}"/>
                      </a:ext>
                    </a:extLst>
                  </p:cNvPr>
                  <p:cNvSpPr>
                    <a:spLocks noChangeArrowheads="1"/>
                  </p:cNvSpPr>
                  <p:nvPr/>
                </p:nvSpPr>
                <p:spPr bwMode="auto">
                  <a:xfrm>
                    <a:off x="3843" y="13209"/>
                    <a:ext cx="114" cy="111"/>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grpSp>
          </p:grpSp>
          <p:grpSp>
            <p:nvGrpSpPr>
              <p:cNvPr id="146473" name="Group 19">
                <a:extLst>
                  <a:ext uri="{FF2B5EF4-FFF2-40B4-BE49-F238E27FC236}">
                    <a16:creationId xmlns:a16="http://schemas.microsoft.com/office/drawing/2014/main" id="{6B3D587C-40CB-9BAE-F83E-899DEB0F522C}"/>
                  </a:ext>
                </a:extLst>
              </p:cNvPr>
              <p:cNvGrpSpPr>
                <a:grpSpLocks/>
              </p:cNvGrpSpPr>
              <p:nvPr/>
            </p:nvGrpSpPr>
            <p:grpSpPr bwMode="auto">
              <a:xfrm>
                <a:off x="6717" y="9036"/>
                <a:ext cx="114" cy="672"/>
                <a:chOff x="6717" y="9036"/>
                <a:chExt cx="114" cy="672"/>
              </a:xfrm>
            </p:grpSpPr>
            <p:sp>
              <p:nvSpPr>
                <p:cNvPr id="146486" name="Oval 20">
                  <a:extLst>
                    <a:ext uri="{FF2B5EF4-FFF2-40B4-BE49-F238E27FC236}">
                      <a16:creationId xmlns:a16="http://schemas.microsoft.com/office/drawing/2014/main" id="{88DDAAA2-6AB7-44DC-D949-F617353EBB3F}"/>
                    </a:ext>
                  </a:extLst>
                </p:cNvPr>
                <p:cNvSpPr>
                  <a:spLocks noChangeArrowheads="1"/>
                </p:cNvSpPr>
                <p:nvPr/>
              </p:nvSpPr>
              <p:spPr bwMode="auto">
                <a:xfrm>
                  <a:off x="6717" y="9036"/>
                  <a:ext cx="114" cy="111"/>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sp>
              <p:nvSpPr>
                <p:cNvPr id="146487" name="Oval 21">
                  <a:extLst>
                    <a:ext uri="{FF2B5EF4-FFF2-40B4-BE49-F238E27FC236}">
                      <a16:creationId xmlns:a16="http://schemas.microsoft.com/office/drawing/2014/main" id="{07F3D1CC-FA7B-FF70-9D5E-D9694070122A}"/>
                    </a:ext>
                  </a:extLst>
                </p:cNvPr>
                <p:cNvSpPr>
                  <a:spLocks noChangeArrowheads="1"/>
                </p:cNvSpPr>
                <p:nvPr/>
              </p:nvSpPr>
              <p:spPr bwMode="auto">
                <a:xfrm>
                  <a:off x="6717" y="9597"/>
                  <a:ext cx="114" cy="111"/>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grpSp>
          <p:grpSp>
            <p:nvGrpSpPr>
              <p:cNvPr id="146474" name="Group 22">
                <a:extLst>
                  <a:ext uri="{FF2B5EF4-FFF2-40B4-BE49-F238E27FC236}">
                    <a16:creationId xmlns:a16="http://schemas.microsoft.com/office/drawing/2014/main" id="{480E0994-210B-17DF-5A91-E5D10C14B175}"/>
                  </a:ext>
                </a:extLst>
              </p:cNvPr>
              <p:cNvGrpSpPr>
                <a:grpSpLocks/>
              </p:cNvGrpSpPr>
              <p:nvPr/>
            </p:nvGrpSpPr>
            <p:grpSpPr bwMode="auto">
              <a:xfrm>
                <a:off x="4626" y="9036"/>
                <a:ext cx="1152" cy="672"/>
                <a:chOff x="2805" y="12648"/>
                <a:chExt cx="1152" cy="672"/>
              </a:xfrm>
            </p:grpSpPr>
            <p:sp>
              <p:nvSpPr>
                <p:cNvPr id="146482" name="Oval 23">
                  <a:extLst>
                    <a:ext uri="{FF2B5EF4-FFF2-40B4-BE49-F238E27FC236}">
                      <a16:creationId xmlns:a16="http://schemas.microsoft.com/office/drawing/2014/main" id="{DDADDE14-9319-4B01-C563-0E093B89BB12}"/>
                    </a:ext>
                  </a:extLst>
                </p:cNvPr>
                <p:cNvSpPr>
                  <a:spLocks noChangeArrowheads="1"/>
                </p:cNvSpPr>
                <p:nvPr/>
              </p:nvSpPr>
              <p:spPr bwMode="auto">
                <a:xfrm>
                  <a:off x="2805" y="12648"/>
                  <a:ext cx="114" cy="111"/>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sp>
              <p:nvSpPr>
                <p:cNvPr id="146483" name="Oval 24">
                  <a:extLst>
                    <a:ext uri="{FF2B5EF4-FFF2-40B4-BE49-F238E27FC236}">
                      <a16:creationId xmlns:a16="http://schemas.microsoft.com/office/drawing/2014/main" id="{2206CFE7-71A1-22DF-820E-48B68B0FF95F}"/>
                    </a:ext>
                  </a:extLst>
                </p:cNvPr>
                <p:cNvSpPr>
                  <a:spLocks noChangeArrowheads="1"/>
                </p:cNvSpPr>
                <p:nvPr/>
              </p:nvSpPr>
              <p:spPr bwMode="auto">
                <a:xfrm>
                  <a:off x="2805" y="13209"/>
                  <a:ext cx="114" cy="111"/>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sp>
              <p:nvSpPr>
                <p:cNvPr id="146484" name="Oval 25">
                  <a:extLst>
                    <a:ext uri="{FF2B5EF4-FFF2-40B4-BE49-F238E27FC236}">
                      <a16:creationId xmlns:a16="http://schemas.microsoft.com/office/drawing/2014/main" id="{C0364F29-1C33-C93F-35FA-D5C6D84DE936}"/>
                    </a:ext>
                  </a:extLst>
                </p:cNvPr>
                <p:cNvSpPr>
                  <a:spLocks noChangeArrowheads="1"/>
                </p:cNvSpPr>
                <p:nvPr/>
              </p:nvSpPr>
              <p:spPr bwMode="auto">
                <a:xfrm>
                  <a:off x="3843" y="12648"/>
                  <a:ext cx="114" cy="111"/>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sp>
              <p:nvSpPr>
                <p:cNvPr id="146485" name="Oval 26">
                  <a:extLst>
                    <a:ext uri="{FF2B5EF4-FFF2-40B4-BE49-F238E27FC236}">
                      <a16:creationId xmlns:a16="http://schemas.microsoft.com/office/drawing/2014/main" id="{43A06885-C647-BB60-5E19-49D18E9FE2D9}"/>
                    </a:ext>
                  </a:extLst>
                </p:cNvPr>
                <p:cNvSpPr>
                  <a:spLocks noChangeArrowheads="1"/>
                </p:cNvSpPr>
                <p:nvPr/>
              </p:nvSpPr>
              <p:spPr bwMode="auto">
                <a:xfrm>
                  <a:off x="3843" y="13209"/>
                  <a:ext cx="114" cy="111"/>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grpSp>
          <p:sp>
            <p:nvSpPr>
              <p:cNvPr id="146475" name="Oval 27">
                <a:extLst>
                  <a:ext uri="{FF2B5EF4-FFF2-40B4-BE49-F238E27FC236}">
                    <a16:creationId xmlns:a16="http://schemas.microsoft.com/office/drawing/2014/main" id="{5F9C9274-800F-ACDC-4FCA-ED6B4A763C0B}"/>
                  </a:ext>
                </a:extLst>
              </p:cNvPr>
              <p:cNvSpPr>
                <a:spLocks noChangeArrowheads="1"/>
              </p:cNvSpPr>
              <p:nvPr/>
            </p:nvSpPr>
            <p:spPr bwMode="auto">
              <a:xfrm>
                <a:off x="6705" y="7920"/>
                <a:ext cx="114" cy="111"/>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sp>
            <p:nvSpPr>
              <p:cNvPr id="146476" name="Oval 28">
                <a:extLst>
                  <a:ext uri="{FF2B5EF4-FFF2-40B4-BE49-F238E27FC236}">
                    <a16:creationId xmlns:a16="http://schemas.microsoft.com/office/drawing/2014/main" id="{A9586CB4-359E-77C5-3C73-5C33E5EC9E1A}"/>
                  </a:ext>
                </a:extLst>
              </p:cNvPr>
              <p:cNvSpPr>
                <a:spLocks noChangeArrowheads="1"/>
              </p:cNvSpPr>
              <p:nvPr/>
            </p:nvSpPr>
            <p:spPr bwMode="auto">
              <a:xfrm>
                <a:off x="6705" y="8481"/>
                <a:ext cx="114" cy="111"/>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grpSp>
            <p:nvGrpSpPr>
              <p:cNvPr id="146477" name="Group 29">
                <a:extLst>
                  <a:ext uri="{FF2B5EF4-FFF2-40B4-BE49-F238E27FC236}">
                    <a16:creationId xmlns:a16="http://schemas.microsoft.com/office/drawing/2014/main" id="{674016EB-4342-B1AE-6699-C6F180D7F352}"/>
                  </a:ext>
                </a:extLst>
              </p:cNvPr>
              <p:cNvGrpSpPr>
                <a:grpSpLocks/>
              </p:cNvGrpSpPr>
              <p:nvPr/>
            </p:nvGrpSpPr>
            <p:grpSpPr bwMode="auto">
              <a:xfrm>
                <a:off x="4614" y="7920"/>
                <a:ext cx="1152" cy="672"/>
                <a:chOff x="4614" y="7920"/>
                <a:chExt cx="1152" cy="672"/>
              </a:xfrm>
            </p:grpSpPr>
            <p:sp>
              <p:nvSpPr>
                <p:cNvPr id="146478" name="Oval 30">
                  <a:extLst>
                    <a:ext uri="{FF2B5EF4-FFF2-40B4-BE49-F238E27FC236}">
                      <a16:creationId xmlns:a16="http://schemas.microsoft.com/office/drawing/2014/main" id="{CAB89CBA-3A35-7F05-E1C1-D2E8A7839E7B}"/>
                    </a:ext>
                  </a:extLst>
                </p:cNvPr>
                <p:cNvSpPr>
                  <a:spLocks noChangeArrowheads="1"/>
                </p:cNvSpPr>
                <p:nvPr/>
              </p:nvSpPr>
              <p:spPr bwMode="auto">
                <a:xfrm>
                  <a:off x="4614" y="7920"/>
                  <a:ext cx="114" cy="111"/>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sp>
              <p:nvSpPr>
                <p:cNvPr id="146479" name="Oval 31">
                  <a:extLst>
                    <a:ext uri="{FF2B5EF4-FFF2-40B4-BE49-F238E27FC236}">
                      <a16:creationId xmlns:a16="http://schemas.microsoft.com/office/drawing/2014/main" id="{5844B118-A9DC-3A38-796B-C3461EFAF5DA}"/>
                    </a:ext>
                  </a:extLst>
                </p:cNvPr>
                <p:cNvSpPr>
                  <a:spLocks noChangeArrowheads="1"/>
                </p:cNvSpPr>
                <p:nvPr/>
              </p:nvSpPr>
              <p:spPr bwMode="auto">
                <a:xfrm>
                  <a:off x="4614" y="8481"/>
                  <a:ext cx="114" cy="111"/>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sp>
              <p:nvSpPr>
                <p:cNvPr id="146480" name="Oval 32">
                  <a:extLst>
                    <a:ext uri="{FF2B5EF4-FFF2-40B4-BE49-F238E27FC236}">
                      <a16:creationId xmlns:a16="http://schemas.microsoft.com/office/drawing/2014/main" id="{8E19C92F-E560-DBCB-5358-0D5048153D9E}"/>
                    </a:ext>
                  </a:extLst>
                </p:cNvPr>
                <p:cNvSpPr>
                  <a:spLocks noChangeArrowheads="1"/>
                </p:cNvSpPr>
                <p:nvPr/>
              </p:nvSpPr>
              <p:spPr bwMode="auto">
                <a:xfrm>
                  <a:off x="5652" y="7920"/>
                  <a:ext cx="114" cy="111"/>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sp>
              <p:nvSpPr>
                <p:cNvPr id="146481" name="Oval 33">
                  <a:extLst>
                    <a:ext uri="{FF2B5EF4-FFF2-40B4-BE49-F238E27FC236}">
                      <a16:creationId xmlns:a16="http://schemas.microsoft.com/office/drawing/2014/main" id="{5E09BA25-9484-8D74-1F28-7C4419D90CC8}"/>
                    </a:ext>
                  </a:extLst>
                </p:cNvPr>
                <p:cNvSpPr>
                  <a:spLocks noChangeArrowheads="1"/>
                </p:cNvSpPr>
                <p:nvPr/>
              </p:nvSpPr>
              <p:spPr bwMode="auto">
                <a:xfrm>
                  <a:off x="5652" y="8481"/>
                  <a:ext cx="114" cy="111"/>
                </a:xfrm>
                <a:prstGeom prst="ellipse">
                  <a:avLst/>
                </a:prstGeom>
                <a:solidFill>
                  <a:srgbClr val="000000"/>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cs typeface="Arial" panose="020B0604020202020204" pitchFamily="34" charset="0"/>
                  </a:endParaRPr>
                </a:p>
              </p:txBody>
            </p:sp>
          </p:grpSp>
        </p:grpSp>
        <p:grpSp>
          <p:nvGrpSpPr>
            <p:cNvPr id="146438" name="Group 34">
              <a:extLst>
                <a:ext uri="{FF2B5EF4-FFF2-40B4-BE49-F238E27FC236}">
                  <a16:creationId xmlns:a16="http://schemas.microsoft.com/office/drawing/2014/main" id="{9474DECC-20A1-32A6-73B0-AD434CF0B431}"/>
                </a:ext>
              </a:extLst>
            </p:cNvPr>
            <p:cNvGrpSpPr>
              <a:grpSpLocks/>
            </p:cNvGrpSpPr>
            <p:nvPr/>
          </p:nvGrpSpPr>
          <p:grpSpPr bwMode="auto">
            <a:xfrm>
              <a:off x="2637" y="8019"/>
              <a:ext cx="4107" cy="1632"/>
              <a:chOff x="2637" y="8019"/>
              <a:chExt cx="4107" cy="1632"/>
            </a:xfrm>
          </p:grpSpPr>
          <p:sp>
            <p:nvSpPr>
              <p:cNvPr id="146462" name="Line 35">
                <a:extLst>
                  <a:ext uri="{FF2B5EF4-FFF2-40B4-BE49-F238E27FC236}">
                    <a16:creationId xmlns:a16="http://schemas.microsoft.com/office/drawing/2014/main" id="{E439E569-F7BA-68A9-FC90-42473433AE42}"/>
                  </a:ext>
                </a:extLst>
              </p:cNvPr>
              <p:cNvSpPr>
                <a:spLocks noChangeShapeType="1"/>
              </p:cNvSpPr>
              <p:nvPr/>
            </p:nvSpPr>
            <p:spPr bwMode="auto">
              <a:xfrm>
                <a:off x="4740" y="9651"/>
                <a:ext cx="939" cy="0"/>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6463" name="Line 36">
                <a:extLst>
                  <a:ext uri="{FF2B5EF4-FFF2-40B4-BE49-F238E27FC236}">
                    <a16:creationId xmlns:a16="http://schemas.microsoft.com/office/drawing/2014/main" id="{D90B80DF-8585-48F3-46B2-F9F9F7C1BBF6}"/>
                  </a:ext>
                </a:extLst>
              </p:cNvPr>
              <p:cNvSpPr>
                <a:spLocks noChangeShapeType="1"/>
              </p:cNvSpPr>
              <p:nvPr/>
            </p:nvSpPr>
            <p:spPr bwMode="auto">
              <a:xfrm>
                <a:off x="3699" y="8583"/>
                <a:ext cx="954" cy="48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6464" name="Line 37">
                <a:extLst>
                  <a:ext uri="{FF2B5EF4-FFF2-40B4-BE49-F238E27FC236}">
                    <a16:creationId xmlns:a16="http://schemas.microsoft.com/office/drawing/2014/main" id="{179E3DFD-05BB-82AE-9ACD-EC11643BBE35}"/>
                  </a:ext>
                </a:extLst>
              </p:cNvPr>
              <p:cNvSpPr>
                <a:spLocks noChangeShapeType="1"/>
              </p:cNvSpPr>
              <p:nvPr/>
            </p:nvSpPr>
            <p:spPr bwMode="auto">
              <a:xfrm>
                <a:off x="5763" y="8571"/>
                <a:ext cx="948" cy="1050"/>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6465" name="Line 38">
                <a:extLst>
                  <a:ext uri="{FF2B5EF4-FFF2-40B4-BE49-F238E27FC236}">
                    <a16:creationId xmlns:a16="http://schemas.microsoft.com/office/drawing/2014/main" id="{52005349-957F-B680-C9BF-87241A91AA14}"/>
                  </a:ext>
                </a:extLst>
              </p:cNvPr>
              <p:cNvSpPr>
                <a:spLocks noChangeShapeType="1"/>
              </p:cNvSpPr>
              <p:nvPr/>
            </p:nvSpPr>
            <p:spPr bwMode="auto">
              <a:xfrm flipV="1">
                <a:off x="5790" y="8031"/>
                <a:ext cx="954" cy="101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6466" name="Line 39">
                <a:extLst>
                  <a:ext uri="{FF2B5EF4-FFF2-40B4-BE49-F238E27FC236}">
                    <a16:creationId xmlns:a16="http://schemas.microsoft.com/office/drawing/2014/main" id="{D7AA0AFE-313D-4AFF-B4B9-D31154DF7ED7}"/>
                  </a:ext>
                </a:extLst>
              </p:cNvPr>
              <p:cNvSpPr>
                <a:spLocks noChangeShapeType="1"/>
              </p:cNvSpPr>
              <p:nvPr/>
            </p:nvSpPr>
            <p:spPr bwMode="auto">
              <a:xfrm flipV="1">
                <a:off x="4743" y="8571"/>
                <a:ext cx="924" cy="474"/>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6467" name="Line 40">
                <a:extLst>
                  <a:ext uri="{FF2B5EF4-FFF2-40B4-BE49-F238E27FC236}">
                    <a16:creationId xmlns:a16="http://schemas.microsoft.com/office/drawing/2014/main" id="{FF82E150-3B32-3A9C-B35C-A4C985408210}"/>
                  </a:ext>
                </a:extLst>
              </p:cNvPr>
              <p:cNvSpPr>
                <a:spLocks noChangeShapeType="1"/>
              </p:cNvSpPr>
              <p:nvPr/>
            </p:nvSpPr>
            <p:spPr bwMode="auto">
              <a:xfrm flipV="1">
                <a:off x="5784" y="8586"/>
                <a:ext cx="948" cy="486"/>
              </a:xfrm>
              <a:prstGeom prst="line">
                <a:avLst/>
              </a:prstGeom>
              <a:noFill/>
              <a:ln w="28575">
                <a:solidFill>
                  <a:schemeClr val="hlink"/>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6468" name="Line 41">
                <a:extLst>
                  <a:ext uri="{FF2B5EF4-FFF2-40B4-BE49-F238E27FC236}">
                    <a16:creationId xmlns:a16="http://schemas.microsoft.com/office/drawing/2014/main" id="{72378862-29BD-5FE1-B0A5-288CCDAA5AC6}"/>
                  </a:ext>
                </a:extLst>
              </p:cNvPr>
              <p:cNvSpPr>
                <a:spLocks noChangeShapeType="1"/>
              </p:cNvSpPr>
              <p:nvPr/>
            </p:nvSpPr>
            <p:spPr bwMode="auto">
              <a:xfrm>
                <a:off x="2637" y="8019"/>
                <a:ext cx="954" cy="489"/>
              </a:xfrm>
              <a:prstGeom prst="line">
                <a:avLst/>
              </a:prstGeom>
              <a:noFill/>
              <a:ln w="28575">
                <a:solidFill>
                  <a:schemeClr val="hlink"/>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6469" name="Line 42">
                <a:extLst>
                  <a:ext uri="{FF2B5EF4-FFF2-40B4-BE49-F238E27FC236}">
                    <a16:creationId xmlns:a16="http://schemas.microsoft.com/office/drawing/2014/main" id="{3F3B5C3C-EC6C-1E60-F11B-9821FDA346B7}"/>
                  </a:ext>
                </a:extLst>
              </p:cNvPr>
              <p:cNvSpPr>
                <a:spLocks noChangeShapeType="1"/>
              </p:cNvSpPr>
              <p:nvPr/>
            </p:nvSpPr>
            <p:spPr bwMode="auto">
              <a:xfrm>
                <a:off x="3681" y="8571"/>
                <a:ext cx="948" cy="1050"/>
              </a:xfrm>
              <a:prstGeom prst="line">
                <a:avLst/>
              </a:prstGeom>
              <a:noFill/>
              <a:ln w="28575">
                <a:solidFill>
                  <a:schemeClr val="hlink"/>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6470" name="Line 43">
                <a:extLst>
                  <a:ext uri="{FF2B5EF4-FFF2-40B4-BE49-F238E27FC236}">
                    <a16:creationId xmlns:a16="http://schemas.microsoft.com/office/drawing/2014/main" id="{11AE4467-2066-9069-76DE-A6EAF739DE5F}"/>
                  </a:ext>
                </a:extLst>
              </p:cNvPr>
              <p:cNvSpPr>
                <a:spLocks noChangeShapeType="1"/>
              </p:cNvSpPr>
              <p:nvPr/>
            </p:nvSpPr>
            <p:spPr bwMode="auto">
              <a:xfrm flipV="1">
                <a:off x="4743" y="9141"/>
                <a:ext cx="939" cy="504"/>
              </a:xfrm>
              <a:prstGeom prst="line">
                <a:avLst/>
              </a:prstGeom>
              <a:noFill/>
              <a:ln w="2857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6471" name="Line 44">
                <a:extLst>
                  <a:ext uri="{FF2B5EF4-FFF2-40B4-BE49-F238E27FC236}">
                    <a16:creationId xmlns:a16="http://schemas.microsoft.com/office/drawing/2014/main" id="{A26B2325-18DD-F23A-304B-6FAB17A20EF5}"/>
                  </a:ext>
                </a:extLst>
              </p:cNvPr>
              <p:cNvSpPr>
                <a:spLocks noChangeShapeType="1"/>
              </p:cNvSpPr>
              <p:nvPr/>
            </p:nvSpPr>
            <p:spPr bwMode="auto">
              <a:xfrm flipV="1">
                <a:off x="5796" y="9117"/>
                <a:ext cx="939" cy="50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46439" name="Group 45">
              <a:extLst>
                <a:ext uri="{FF2B5EF4-FFF2-40B4-BE49-F238E27FC236}">
                  <a16:creationId xmlns:a16="http://schemas.microsoft.com/office/drawing/2014/main" id="{06C1DA64-DC9D-75EC-8A30-45474A9441D6}"/>
                </a:ext>
              </a:extLst>
            </p:cNvPr>
            <p:cNvGrpSpPr>
              <a:grpSpLocks/>
            </p:cNvGrpSpPr>
            <p:nvPr/>
          </p:nvGrpSpPr>
          <p:grpSpPr bwMode="auto">
            <a:xfrm>
              <a:off x="6792" y="7749"/>
              <a:ext cx="399" cy="2055"/>
              <a:chOff x="8064" y="12462"/>
              <a:chExt cx="399" cy="2055"/>
            </a:xfrm>
          </p:grpSpPr>
          <p:sp>
            <p:nvSpPr>
              <p:cNvPr id="146458" name="Text Box 46">
                <a:extLst>
                  <a:ext uri="{FF2B5EF4-FFF2-40B4-BE49-F238E27FC236}">
                    <a16:creationId xmlns:a16="http://schemas.microsoft.com/office/drawing/2014/main" id="{5B1B4FF8-D9F7-FF97-4ADC-DF077762D029}"/>
                  </a:ext>
                </a:extLst>
              </p:cNvPr>
              <p:cNvSpPr txBox="1">
                <a:spLocks noChangeArrowheads="1"/>
              </p:cNvSpPr>
              <p:nvPr/>
            </p:nvSpPr>
            <p:spPr bwMode="auto">
              <a:xfrm>
                <a:off x="8064" y="12462"/>
                <a:ext cx="399"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cs typeface="Arial" panose="020B0604020202020204" pitchFamily="34" charset="0"/>
                  </a:rPr>
                  <a:t>a</a:t>
                </a:r>
                <a:endParaRPr lang="en-US" altLang="zh-CN" sz="1800">
                  <a:solidFill>
                    <a:schemeClr val="tx1"/>
                  </a:solidFill>
                  <a:latin typeface="Arial" panose="020B0604020202020204" pitchFamily="34" charset="0"/>
                  <a:cs typeface="Arial" panose="020B0604020202020204" pitchFamily="34" charset="0"/>
                </a:endParaRPr>
              </a:p>
            </p:txBody>
          </p:sp>
          <p:sp>
            <p:nvSpPr>
              <p:cNvPr id="146459" name="Text Box 47">
                <a:extLst>
                  <a:ext uri="{FF2B5EF4-FFF2-40B4-BE49-F238E27FC236}">
                    <a16:creationId xmlns:a16="http://schemas.microsoft.com/office/drawing/2014/main" id="{A772142F-6F2A-B0DB-A08D-1C66FA188986}"/>
                  </a:ext>
                </a:extLst>
              </p:cNvPr>
              <p:cNvSpPr txBox="1">
                <a:spLocks noChangeArrowheads="1"/>
              </p:cNvSpPr>
              <p:nvPr/>
            </p:nvSpPr>
            <p:spPr bwMode="auto">
              <a:xfrm>
                <a:off x="8064" y="13014"/>
                <a:ext cx="399"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cs typeface="Arial" panose="020B0604020202020204" pitchFamily="34" charset="0"/>
                  </a:rPr>
                  <a:t>b</a:t>
                </a:r>
                <a:endParaRPr lang="en-US" altLang="zh-CN" sz="1800">
                  <a:solidFill>
                    <a:schemeClr val="tx1"/>
                  </a:solidFill>
                  <a:latin typeface="Arial" panose="020B0604020202020204" pitchFamily="34" charset="0"/>
                  <a:cs typeface="Arial" panose="020B0604020202020204" pitchFamily="34" charset="0"/>
                </a:endParaRPr>
              </a:p>
            </p:txBody>
          </p:sp>
          <p:sp>
            <p:nvSpPr>
              <p:cNvPr id="146460" name="Text Box 48">
                <a:extLst>
                  <a:ext uri="{FF2B5EF4-FFF2-40B4-BE49-F238E27FC236}">
                    <a16:creationId xmlns:a16="http://schemas.microsoft.com/office/drawing/2014/main" id="{4DEC1727-3066-DD90-E58D-000CAF6F4808}"/>
                  </a:ext>
                </a:extLst>
              </p:cNvPr>
              <p:cNvSpPr txBox="1">
                <a:spLocks noChangeArrowheads="1"/>
              </p:cNvSpPr>
              <p:nvPr/>
            </p:nvSpPr>
            <p:spPr bwMode="auto">
              <a:xfrm>
                <a:off x="8064" y="13578"/>
                <a:ext cx="399"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cs typeface="Arial" panose="020B0604020202020204" pitchFamily="34" charset="0"/>
                  </a:rPr>
                  <a:t>c</a:t>
                </a:r>
                <a:endParaRPr lang="en-US" altLang="zh-CN" sz="1800">
                  <a:solidFill>
                    <a:schemeClr val="tx1"/>
                  </a:solidFill>
                  <a:latin typeface="Arial" panose="020B0604020202020204" pitchFamily="34" charset="0"/>
                  <a:cs typeface="Arial" panose="020B0604020202020204" pitchFamily="34" charset="0"/>
                </a:endParaRPr>
              </a:p>
            </p:txBody>
          </p:sp>
          <p:sp>
            <p:nvSpPr>
              <p:cNvPr id="146461" name="Text Box 49">
                <a:extLst>
                  <a:ext uri="{FF2B5EF4-FFF2-40B4-BE49-F238E27FC236}">
                    <a16:creationId xmlns:a16="http://schemas.microsoft.com/office/drawing/2014/main" id="{C5D1CA46-88BD-AA4B-47F7-50ECE9B2AF26}"/>
                  </a:ext>
                </a:extLst>
              </p:cNvPr>
              <p:cNvSpPr txBox="1">
                <a:spLocks noChangeArrowheads="1"/>
              </p:cNvSpPr>
              <p:nvPr/>
            </p:nvSpPr>
            <p:spPr bwMode="auto">
              <a:xfrm>
                <a:off x="8064" y="14130"/>
                <a:ext cx="399"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cs typeface="Arial" panose="020B0604020202020204" pitchFamily="34" charset="0"/>
                  </a:rPr>
                  <a:t>d</a:t>
                </a:r>
                <a:endParaRPr lang="en-US" altLang="zh-CN" sz="1800">
                  <a:solidFill>
                    <a:schemeClr val="tx1"/>
                  </a:solidFill>
                  <a:latin typeface="Arial" panose="020B0604020202020204" pitchFamily="34" charset="0"/>
                  <a:cs typeface="Arial" panose="020B0604020202020204" pitchFamily="34" charset="0"/>
                </a:endParaRPr>
              </a:p>
            </p:txBody>
          </p:sp>
        </p:grpSp>
        <p:grpSp>
          <p:nvGrpSpPr>
            <p:cNvPr id="146440" name="Group 50">
              <a:extLst>
                <a:ext uri="{FF2B5EF4-FFF2-40B4-BE49-F238E27FC236}">
                  <a16:creationId xmlns:a16="http://schemas.microsoft.com/office/drawing/2014/main" id="{7555A57D-CC75-3C4D-8329-0669A0630151}"/>
                </a:ext>
              </a:extLst>
            </p:cNvPr>
            <p:cNvGrpSpPr>
              <a:grpSpLocks/>
            </p:cNvGrpSpPr>
            <p:nvPr/>
          </p:nvGrpSpPr>
          <p:grpSpPr bwMode="auto">
            <a:xfrm>
              <a:off x="2199" y="7743"/>
              <a:ext cx="4482" cy="2186"/>
              <a:chOff x="2199" y="7743"/>
              <a:chExt cx="4482" cy="2186"/>
            </a:xfrm>
          </p:grpSpPr>
          <p:grpSp>
            <p:nvGrpSpPr>
              <p:cNvPr id="146441" name="Group 51">
                <a:extLst>
                  <a:ext uri="{FF2B5EF4-FFF2-40B4-BE49-F238E27FC236}">
                    <a16:creationId xmlns:a16="http://schemas.microsoft.com/office/drawing/2014/main" id="{DA40B6DE-0427-31ED-C761-98E8492FB0D7}"/>
                  </a:ext>
                </a:extLst>
              </p:cNvPr>
              <p:cNvGrpSpPr>
                <a:grpSpLocks/>
              </p:cNvGrpSpPr>
              <p:nvPr/>
            </p:nvGrpSpPr>
            <p:grpSpPr bwMode="auto">
              <a:xfrm>
                <a:off x="2199" y="7743"/>
                <a:ext cx="4467" cy="2186"/>
                <a:chOff x="2199" y="7743"/>
                <a:chExt cx="4467" cy="2186"/>
              </a:xfrm>
            </p:grpSpPr>
            <p:sp>
              <p:nvSpPr>
                <p:cNvPr id="146445" name="Text Box 52">
                  <a:extLst>
                    <a:ext uri="{FF2B5EF4-FFF2-40B4-BE49-F238E27FC236}">
                      <a16:creationId xmlns:a16="http://schemas.microsoft.com/office/drawing/2014/main" id="{3AD006B1-2C13-54E9-D494-E2240DD7890E}"/>
                    </a:ext>
                  </a:extLst>
                </p:cNvPr>
                <p:cNvSpPr txBox="1">
                  <a:spLocks noChangeArrowheads="1"/>
                </p:cNvSpPr>
                <p:nvPr/>
              </p:nvSpPr>
              <p:spPr bwMode="auto">
                <a:xfrm>
                  <a:off x="5928" y="8217"/>
                  <a:ext cx="576"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cs typeface="Arial" panose="020B0604020202020204" pitchFamily="34" charset="0"/>
                    </a:rPr>
                    <a:t>011</a:t>
                  </a:r>
                </a:p>
              </p:txBody>
            </p:sp>
            <p:sp>
              <p:nvSpPr>
                <p:cNvPr id="146446" name="Text Box 53">
                  <a:extLst>
                    <a:ext uri="{FF2B5EF4-FFF2-40B4-BE49-F238E27FC236}">
                      <a16:creationId xmlns:a16="http://schemas.microsoft.com/office/drawing/2014/main" id="{4049185E-A360-589F-DB08-2637C5E6C08E}"/>
                    </a:ext>
                  </a:extLst>
                </p:cNvPr>
                <p:cNvSpPr txBox="1">
                  <a:spLocks noChangeArrowheads="1"/>
                </p:cNvSpPr>
                <p:nvPr/>
              </p:nvSpPr>
              <p:spPr bwMode="auto">
                <a:xfrm>
                  <a:off x="4791" y="9111"/>
                  <a:ext cx="576"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cs typeface="Arial" panose="020B0604020202020204" pitchFamily="34" charset="0"/>
                    </a:rPr>
                    <a:t>010</a:t>
                  </a:r>
                </a:p>
              </p:txBody>
            </p:sp>
            <p:sp>
              <p:nvSpPr>
                <p:cNvPr id="146447" name="Text Box 54">
                  <a:extLst>
                    <a:ext uri="{FF2B5EF4-FFF2-40B4-BE49-F238E27FC236}">
                      <a16:creationId xmlns:a16="http://schemas.microsoft.com/office/drawing/2014/main" id="{FA839AAB-50A9-E01D-EA4F-256CC7D1342E}"/>
                    </a:ext>
                  </a:extLst>
                </p:cNvPr>
                <p:cNvSpPr txBox="1">
                  <a:spLocks noChangeArrowheads="1"/>
                </p:cNvSpPr>
                <p:nvPr/>
              </p:nvSpPr>
              <p:spPr bwMode="auto">
                <a:xfrm>
                  <a:off x="5775" y="9141"/>
                  <a:ext cx="576"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cs typeface="Arial" panose="020B0604020202020204" pitchFamily="34" charset="0"/>
                    </a:rPr>
                    <a:t>010</a:t>
                  </a:r>
                </a:p>
              </p:txBody>
            </p:sp>
            <p:sp>
              <p:nvSpPr>
                <p:cNvPr id="146448" name="Text Box 55">
                  <a:extLst>
                    <a:ext uri="{FF2B5EF4-FFF2-40B4-BE49-F238E27FC236}">
                      <a16:creationId xmlns:a16="http://schemas.microsoft.com/office/drawing/2014/main" id="{6B09B823-2DA7-B377-8D31-4F86732364EB}"/>
                    </a:ext>
                  </a:extLst>
                </p:cNvPr>
                <p:cNvSpPr txBox="1">
                  <a:spLocks noChangeArrowheads="1"/>
                </p:cNvSpPr>
                <p:nvPr/>
              </p:nvSpPr>
              <p:spPr bwMode="auto">
                <a:xfrm>
                  <a:off x="5001" y="9542"/>
                  <a:ext cx="576"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cs typeface="Arial" panose="020B0604020202020204" pitchFamily="34" charset="0"/>
                    </a:rPr>
                    <a:t>101</a:t>
                  </a:r>
                </a:p>
              </p:txBody>
            </p:sp>
            <p:sp>
              <p:nvSpPr>
                <p:cNvPr id="146449" name="Text Box 56">
                  <a:extLst>
                    <a:ext uri="{FF2B5EF4-FFF2-40B4-BE49-F238E27FC236}">
                      <a16:creationId xmlns:a16="http://schemas.microsoft.com/office/drawing/2014/main" id="{5BE11C7B-4627-2163-315F-DF7A8A52768E}"/>
                    </a:ext>
                  </a:extLst>
                </p:cNvPr>
                <p:cNvSpPr txBox="1">
                  <a:spLocks noChangeArrowheads="1"/>
                </p:cNvSpPr>
                <p:nvPr/>
              </p:nvSpPr>
              <p:spPr bwMode="auto">
                <a:xfrm>
                  <a:off x="3978" y="8544"/>
                  <a:ext cx="576"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cs typeface="Arial" panose="020B0604020202020204" pitchFamily="34" charset="0"/>
                    </a:rPr>
                    <a:t>001</a:t>
                  </a:r>
                </a:p>
              </p:txBody>
            </p:sp>
            <p:grpSp>
              <p:nvGrpSpPr>
                <p:cNvPr id="146450" name="Group 57">
                  <a:extLst>
                    <a:ext uri="{FF2B5EF4-FFF2-40B4-BE49-F238E27FC236}">
                      <a16:creationId xmlns:a16="http://schemas.microsoft.com/office/drawing/2014/main" id="{ECE676F4-4250-8C82-2699-BEFF8CA066D2}"/>
                    </a:ext>
                  </a:extLst>
                </p:cNvPr>
                <p:cNvGrpSpPr>
                  <a:grpSpLocks/>
                </p:cNvGrpSpPr>
                <p:nvPr/>
              </p:nvGrpSpPr>
              <p:grpSpPr bwMode="auto">
                <a:xfrm>
                  <a:off x="2199" y="7743"/>
                  <a:ext cx="399" cy="2055"/>
                  <a:chOff x="2466" y="12471"/>
                  <a:chExt cx="399" cy="2055"/>
                </a:xfrm>
              </p:grpSpPr>
              <p:sp>
                <p:nvSpPr>
                  <p:cNvPr id="146454" name="Text Box 58">
                    <a:extLst>
                      <a:ext uri="{FF2B5EF4-FFF2-40B4-BE49-F238E27FC236}">
                        <a16:creationId xmlns:a16="http://schemas.microsoft.com/office/drawing/2014/main" id="{C03DAB25-63CE-68AE-C60E-7D51C7727531}"/>
                      </a:ext>
                    </a:extLst>
                  </p:cNvPr>
                  <p:cNvSpPr txBox="1">
                    <a:spLocks noChangeArrowheads="1"/>
                  </p:cNvSpPr>
                  <p:nvPr/>
                </p:nvSpPr>
                <p:spPr bwMode="auto">
                  <a:xfrm>
                    <a:off x="2466" y="12471"/>
                    <a:ext cx="399"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cs typeface="Arial" panose="020B0604020202020204" pitchFamily="34" charset="0"/>
                      </a:rPr>
                      <a:t>a</a:t>
                    </a:r>
                    <a:endParaRPr lang="en-US" altLang="zh-CN" sz="1800">
                      <a:solidFill>
                        <a:schemeClr val="tx1"/>
                      </a:solidFill>
                      <a:latin typeface="Arial" panose="020B0604020202020204" pitchFamily="34" charset="0"/>
                      <a:cs typeface="Arial" panose="020B0604020202020204" pitchFamily="34" charset="0"/>
                    </a:endParaRPr>
                  </a:p>
                </p:txBody>
              </p:sp>
              <p:sp>
                <p:nvSpPr>
                  <p:cNvPr id="146455" name="Text Box 59">
                    <a:extLst>
                      <a:ext uri="{FF2B5EF4-FFF2-40B4-BE49-F238E27FC236}">
                        <a16:creationId xmlns:a16="http://schemas.microsoft.com/office/drawing/2014/main" id="{B214929A-F77C-7CD9-8268-1A5658F118AF}"/>
                      </a:ext>
                    </a:extLst>
                  </p:cNvPr>
                  <p:cNvSpPr txBox="1">
                    <a:spLocks noChangeArrowheads="1"/>
                  </p:cNvSpPr>
                  <p:nvPr/>
                </p:nvSpPr>
                <p:spPr bwMode="auto">
                  <a:xfrm>
                    <a:off x="2466" y="13023"/>
                    <a:ext cx="399"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cs typeface="Arial" panose="020B0604020202020204" pitchFamily="34" charset="0"/>
                      </a:rPr>
                      <a:t>b</a:t>
                    </a:r>
                    <a:endParaRPr lang="en-US" altLang="zh-CN" sz="1800">
                      <a:solidFill>
                        <a:schemeClr val="tx1"/>
                      </a:solidFill>
                      <a:latin typeface="Arial" panose="020B0604020202020204" pitchFamily="34" charset="0"/>
                      <a:cs typeface="Arial" panose="020B0604020202020204" pitchFamily="34" charset="0"/>
                    </a:endParaRPr>
                  </a:p>
                </p:txBody>
              </p:sp>
              <p:sp>
                <p:nvSpPr>
                  <p:cNvPr id="146456" name="Text Box 60">
                    <a:extLst>
                      <a:ext uri="{FF2B5EF4-FFF2-40B4-BE49-F238E27FC236}">
                        <a16:creationId xmlns:a16="http://schemas.microsoft.com/office/drawing/2014/main" id="{817E10CE-644E-D09E-5DA8-DB5A0329572B}"/>
                      </a:ext>
                    </a:extLst>
                  </p:cNvPr>
                  <p:cNvSpPr txBox="1">
                    <a:spLocks noChangeArrowheads="1"/>
                  </p:cNvSpPr>
                  <p:nvPr/>
                </p:nvSpPr>
                <p:spPr bwMode="auto">
                  <a:xfrm>
                    <a:off x="2466" y="13587"/>
                    <a:ext cx="399"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cs typeface="Arial" panose="020B0604020202020204" pitchFamily="34" charset="0"/>
                      </a:rPr>
                      <a:t>c</a:t>
                    </a:r>
                    <a:endParaRPr lang="en-US" altLang="zh-CN" sz="1800">
                      <a:solidFill>
                        <a:schemeClr val="tx1"/>
                      </a:solidFill>
                      <a:latin typeface="Arial" panose="020B0604020202020204" pitchFamily="34" charset="0"/>
                      <a:cs typeface="Arial" panose="020B0604020202020204" pitchFamily="34" charset="0"/>
                    </a:endParaRPr>
                  </a:p>
                </p:txBody>
              </p:sp>
              <p:sp>
                <p:nvSpPr>
                  <p:cNvPr id="146457" name="Text Box 61">
                    <a:extLst>
                      <a:ext uri="{FF2B5EF4-FFF2-40B4-BE49-F238E27FC236}">
                        <a16:creationId xmlns:a16="http://schemas.microsoft.com/office/drawing/2014/main" id="{1362553B-70B8-EB27-5CD7-CB362F5E1ADE}"/>
                      </a:ext>
                    </a:extLst>
                  </p:cNvPr>
                  <p:cNvSpPr txBox="1">
                    <a:spLocks noChangeArrowheads="1"/>
                  </p:cNvSpPr>
                  <p:nvPr/>
                </p:nvSpPr>
                <p:spPr bwMode="auto">
                  <a:xfrm>
                    <a:off x="2466" y="14139"/>
                    <a:ext cx="399"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cs typeface="Arial" panose="020B0604020202020204" pitchFamily="34" charset="0"/>
                      </a:rPr>
                      <a:t>d</a:t>
                    </a:r>
                    <a:endParaRPr lang="en-US" altLang="zh-CN" sz="1800">
                      <a:solidFill>
                        <a:schemeClr val="tx1"/>
                      </a:solidFill>
                      <a:latin typeface="Arial" panose="020B0604020202020204" pitchFamily="34" charset="0"/>
                      <a:cs typeface="Arial" panose="020B0604020202020204" pitchFamily="34" charset="0"/>
                    </a:endParaRPr>
                  </a:p>
                </p:txBody>
              </p:sp>
            </p:grpSp>
            <p:sp>
              <p:nvSpPr>
                <p:cNvPr id="146451" name="Text Box 62">
                  <a:extLst>
                    <a:ext uri="{FF2B5EF4-FFF2-40B4-BE49-F238E27FC236}">
                      <a16:creationId xmlns:a16="http://schemas.microsoft.com/office/drawing/2014/main" id="{3DAB477A-283C-1376-D2F4-ECC01CEBD994}"/>
                    </a:ext>
                  </a:extLst>
                </p:cNvPr>
                <p:cNvSpPr txBox="1">
                  <a:spLocks noChangeArrowheads="1"/>
                </p:cNvSpPr>
                <p:nvPr/>
              </p:nvSpPr>
              <p:spPr bwMode="auto">
                <a:xfrm>
                  <a:off x="2826" y="7902"/>
                  <a:ext cx="576"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cs typeface="Arial" panose="020B0604020202020204" pitchFamily="34" charset="0"/>
                    </a:rPr>
                    <a:t>111</a:t>
                  </a:r>
                </a:p>
              </p:txBody>
            </p:sp>
            <p:sp>
              <p:nvSpPr>
                <p:cNvPr id="146452" name="Text Box 63">
                  <a:extLst>
                    <a:ext uri="{FF2B5EF4-FFF2-40B4-BE49-F238E27FC236}">
                      <a16:creationId xmlns:a16="http://schemas.microsoft.com/office/drawing/2014/main" id="{D2D921DE-3B81-9937-0B65-D2BDC32D5E33}"/>
                    </a:ext>
                  </a:extLst>
                </p:cNvPr>
                <p:cNvSpPr txBox="1">
                  <a:spLocks noChangeArrowheads="1"/>
                </p:cNvSpPr>
                <p:nvPr/>
              </p:nvSpPr>
              <p:spPr bwMode="auto">
                <a:xfrm>
                  <a:off x="6090" y="8433"/>
                  <a:ext cx="576"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cs typeface="Arial" panose="020B0604020202020204" pitchFamily="34" charset="0"/>
                    </a:rPr>
                    <a:t>100</a:t>
                  </a:r>
                </a:p>
              </p:txBody>
            </p:sp>
            <p:sp>
              <p:nvSpPr>
                <p:cNvPr id="146453" name="Text Box 64">
                  <a:extLst>
                    <a:ext uri="{FF2B5EF4-FFF2-40B4-BE49-F238E27FC236}">
                      <a16:creationId xmlns:a16="http://schemas.microsoft.com/office/drawing/2014/main" id="{1D026CC2-70F1-E915-5345-6D2C31149BDB}"/>
                    </a:ext>
                  </a:extLst>
                </p:cNvPr>
                <p:cNvSpPr txBox="1">
                  <a:spLocks noChangeArrowheads="1"/>
                </p:cNvSpPr>
                <p:nvPr/>
              </p:nvSpPr>
              <p:spPr bwMode="auto">
                <a:xfrm>
                  <a:off x="4872" y="8448"/>
                  <a:ext cx="576"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cs typeface="Arial" panose="020B0604020202020204" pitchFamily="34" charset="0"/>
                    </a:rPr>
                    <a:t>100</a:t>
                  </a:r>
                </a:p>
              </p:txBody>
            </p:sp>
          </p:grpSp>
          <p:grpSp>
            <p:nvGrpSpPr>
              <p:cNvPr id="146442" name="Group 65">
                <a:extLst>
                  <a:ext uri="{FF2B5EF4-FFF2-40B4-BE49-F238E27FC236}">
                    <a16:creationId xmlns:a16="http://schemas.microsoft.com/office/drawing/2014/main" id="{A8319961-F428-24A6-9832-EAA8F557888B}"/>
                  </a:ext>
                </a:extLst>
              </p:cNvPr>
              <p:cNvGrpSpPr>
                <a:grpSpLocks/>
              </p:cNvGrpSpPr>
              <p:nvPr/>
            </p:nvGrpSpPr>
            <p:grpSpPr bwMode="auto">
              <a:xfrm>
                <a:off x="3825" y="8808"/>
                <a:ext cx="2856" cy="597"/>
                <a:chOff x="3825" y="8808"/>
                <a:chExt cx="2856" cy="597"/>
              </a:xfrm>
            </p:grpSpPr>
            <p:sp>
              <p:nvSpPr>
                <p:cNvPr id="146443" name="Text Box 66">
                  <a:extLst>
                    <a:ext uri="{FF2B5EF4-FFF2-40B4-BE49-F238E27FC236}">
                      <a16:creationId xmlns:a16="http://schemas.microsoft.com/office/drawing/2014/main" id="{F7A5136C-2363-9760-CA2F-7181C71DE7FE}"/>
                    </a:ext>
                  </a:extLst>
                </p:cNvPr>
                <p:cNvSpPr txBox="1">
                  <a:spLocks noChangeArrowheads="1"/>
                </p:cNvSpPr>
                <p:nvPr/>
              </p:nvSpPr>
              <p:spPr bwMode="auto">
                <a:xfrm>
                  <a:off x="3825" y="9018"/>
                  <a:ext cx="576"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cs typeface="Arial" panose="020B0604020202020204" pitchFamily="34" charset="0"/>
                    </a:rPr>
                    <a:t>110</a:t>
                  </a:r>
                </a:p>
              </p:txBody>
            </p:sp>
            <p:sp>
              <p:nvSpPr>
                <p:cNvPr id="146444" name="Text Box 67">
                  <a:extLst>
                    <a:ext uri="{FF2B5EF4-FFF2-40B4-BE49-F238E27FC236}">
                      <a16:creationId xmlns:a16="http://schemas.microsoft.com/office/drawing/2014/main" id="{66888B20-5988-DFBE-7687-5D0D2E329905}"/>
                    </a:ext>
                  </a:extLst>
                </p:cNvPr>
                <p:cNvSpPr txBox="1">
                  <a:spLocks noChangeArrowheads="1"/>
                </p:cNvSpPr>
                <p:nvPr/>
              </p:nvSpPr>
              <p:spPr bwMode="auto">
                <a:xfrm>
                  <a:off x="6105" y="8808"/>
                  <a:ext cx="576"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cs typeface="Arial" panose="020B0604020202020204" pitchFamily="34" charset="0"/>
                    </a:rPr>
                    <a:t>110</a:t>
                  </a:r>
                </a:p>
              </p:txBody>
            </p:sp>
          </p:grpSp>
        </p:grpSp>
      </p:grpSp>
      <p:sp>
        <p:nvSpPr>
          <p:cNvPr id="70" name="矩形 69">
            <a:extLst>
              <a:ext uri="{FF2B5EF4-FFF2-40B4-BE49-F238E27FC236}">
                <a16:creationId xmlns:a16="http://schemas.microsoft.com/office/drawing/2014/main" id="{3297D89D-AFDE-8AA4-9ACA-26B8190E7F0D}"/>
              </a:ext>
            </a:extLst>
          </p:cNvPr>
          <p:cNvSpPr/>
          <p:nvPr/>
        </p:nvSpPr>
        <p:spPr>
          <a:xfrm>
            <a:off x="928688" y="2671763"/>
            <a:ext cx="5468937" cy="400050"/>
          </a:xfrm>
          <a:prstGeom prst="rect">
            <a:avLst/>
          </a:prstGeom>
        </p:spPr>
        <p:txBody>
          <a:bodyPr>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按照表中的幸存路径画出的网格图示于下图中： </a:t>
            </a:r>
            <a:endParaRPr lang="zh-CN" altLang="en-US" dirty="0"/>
          </a:p>
        </p:txBody>
      </p:sp>
      <p:pic>
        <p:nvPicPr>
          <p:cNvPr id="147523" name="Picture 67">
            <a:extLst>
              <a:ext uri="{FF2B5EF4-FFF2-40B4-BE49-F238E27FC236}">
                <a16:creationId xmlns:a16="http://schemas.microsoft.com/office/drawing/2014/main" id="{F3C3DCC5-8048-C8B6-CBE9-8AC821555E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0" y="1071563"/>
            <a:ext cx="7858125" cy="111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47523"/>
                                        </p:tgtEl>
                                        <p:attrNameLst>
                                          <p:attrName>style.visibility</p:attrName>
                                        </p:attrNameLst>
                                      </p:cBhvr>
                                      <p:to>
                                        <p:strVal val="visible"/>
                                      </p:to>
                                    </p:set>
                                    <p:animEffect transition="in" filter="wipe(up)">
                                      <p:cBhvr>
                                        <p:cTn id="7" dur="1000"/>
                                        <p:tgtEl>
                                          <p:spTgt spid="1475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0"/>
                                        </p:tgtEl>
                                        <p:attrNameLst>
                                          <p:attrName>style.visibility</p:attrName>
                                        </p:attrNameLst>
                                      </p:cBhvr>
                                      <p:to>
                                        <p:strVal val="visible"/>
                                      </p:to>
                                    </p:set>
                                    <p:animEffect transition="in" filter="wipe(up)">
                                      <p:cBhvr>
                                        <p:cTn id="12" dur="1000"/>
                                        <p:tgtEl>
                                          <p:spTgt spid="70"/>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up)">
                                      <p:cBhvr>
                                        <p:cTn id="16"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C5B13D5-ACA5-139C-64AB-847753D175F2}"/>
              </a:ext>
            </a:extLst>
          </p:cNvPr>
          <p:cNvSpPr txBox="1">
            <a:spLocks noChangeArrowheads="1"/>
          </p:cNvSpPr>
          <p:nvPr/>
        </p:nvSpPr>
        <p:spPr bwMode="auto">
          <a:xfrm>
            <a:off x="928688" y="1214438"/>
            <a:ext cx="7286625" cy="571500"/>
          </a:xfrm>
          <a:prstGeom prst="rect">
            <a:avLst/>
          </a:prstGeom>
          <a:solidFill>
            <a:schemeClr val="bg2">
              <a:lumMod val="10000"/>
              <a:lumOff val="90000"/>
            </a:schemeClr>
          </a:solidFill>
          <a:ln w="9525">
            <a:noFill/>
            <a:miter lim="800000"/>
            <a:headEnd/>
            <a:tailEnd/>
          </a:ln>
          <a:effectLst>
            <a:outerShdw blurRad="50800" dist="38100" dir="2700000" algn="tl" rotWithShape="0">
              <a:prstClr val="black">
                <a:alpha val="40000"/>
              </a:prstClr>
            </a:outerShdw>
          </a:effectLst>
        </p:spPr>
        <p:txBody>
          <a:bodyPr/>
          <a:lstStyle/>
          <a:p>
            <a:pPr marL="228600" indent="-228600">
              <a:lnSpc>
                <a:spcPct val="150000"/>
              </a:lnSpc>
              <a:spcBef>
                <a:spcPct val="20000"/>
              </a:spcBef>
              <a:buClr>
                <a:schemeClr val="accent2"/>
              </a:buClr>
              <a:buSzPct val="55000"/>
              <a:buFont typeface="Wingdings" pitchFamily="2" charset="2"/>
              <a:buNone/>
              <a:defRPr/>
            </a:pPr>
            <a:r>
              <a:rPr kumimoji="0" lang="zh-CN" altLang="en-US" sz="2000" b="0" kern="0" dirty="0">
                <a:solidFill>
                  <a:schemeClr val="tx1"/>
                </a:solidFill>
                <a:latin typeface="Arial" pitchFamily="34" charset="0"/>
                <a:ea typeface="微软雅黑" pitchFamily="34" charset="-122"/>
                <a:cs typeface="Arial" pitchFamily="34" charset="0"/>
              </a:rPr>
              <a:t> 上例卷积码的约束度 </a:t>
            </a:r>
            <a:r>
              <a:rPr kumimoji="0" lang="en-US" altLang="zh-CN" sz="2400" b="0" i="1" kern="0" dirty="0">
                <a:solidFill>
                  <a:srgbClr val="0000CC"/>
                </a:solidFill>
                <a:latin typeface="Arial" pitchFamily="34" charset="0"/>
                <a:ea typeface="微软雅黑" pitchFamily="34" charset="-122"/>
                <a:cs typeface="Arial" pitchFamily="34" charset="0"/>
              </a:rPr>
              <a:t>N</a:t>
            </a:r>
            <a:r>
              <a:rPr kumimoji="0" lang="en-US" altLang="zh-CN" sz="2400" b="0" kern="0" dirty="0">
                <a:solidFill>
                  <a:srgbClr val="0000CC"/>
                </a:solidFill>
                <a:latin typeface="Arial" pitchFamily="34" charset="0"/>
                <a:ea typeface="微软雅黑" pitchFamily="34" charset="-122"/>
                <a:cs typeface="Arial" pitchFamily="34" charset="0"/>
              </a:rPr>
              <a:t> = 3</a:t>
            </a:r>
            <a:r>
              <a:rPr kumimoji="0" lang="zh-CN" altLang="en-US" sz="2000" b="0" kern="0" dirty="0">
                <a:solidFill>
                  <a:schemeClr val="tx1"/>
                </a:solidFill>
                <a:latin typeface="Arial" pitchFamily="34" charset="0"/>
                <a:ea typeface="微软雅黑" pitchFamily="34" charset="-122"/>
                <a:cs typeface="Arial" pitchFamily="34" charset="0"/>
              </a:rPr>
              <a:t>，需要存储和计算</a:t>
            </a:r>
            <a:r>
              <a:rPr kumimoji="0" lang="zh-CN" altLang="en-US" sz="2400" b="0" kern="0" dirty="0">
                <a:solidFill>
                  <a:schemeClr val="tx1"/>
                </a:solidFill>
                <a:latin typeface="Arial" pitchFamily="34" charset="0"/>
                <a:ea typeface="微软雅黑" pitchFamily="34" charset="-122"/>
                <a:cs typeface="Arial" pitchFamily="34" charset="0"/>
              </a:rPr>
              <a:t> </a:t>
            </a:r>
            <a:r>
              <a:rPr kumimoji="0" lang="en-US" altLang="zh-CN" sz="2400" kern="0" dirty="0">
                <a:solidFill>
                  <a:srgbClr val="0000CC"/>
                </a:solidFill>
                <a:latin typeface="Arial" pitchFamily="34" charset="0"/>
                <a:ea typeface="微软雅黑" pitchFamily="34" charset="-122"/>
                <a:cs typeface="Arial" pitchFamily="34" charset="0"/>
              </a:rPr>
              <a:t>8 </a:t>
            </a:r>
            <a:r>
              <a:rPr kumimoji="0" lang="zh-CN" altLang="en-US" sz="2000" b="0" kern="0" dirty="0">
                <a:solidFill>
                  <a:schemeClr val="tx1"/>
                </a:solidFill>
                <a:latin typeface="Arial" pitchFamily="34" charset="0"/>
                <a:ea typeface="微软雅黑" pitchFamily="34" charset="-122"/>
                <a:cs typeface="Arial" pitchFamily="34" charset="0"/>
              </a:rPr>
              <a:t>条路径的参量。</a:t>
            </a:r>
          </a:p>
        </p:txBody>
      </p:sp>
      <p:sp>
        <p:nvSpPr>
          <p:cNvPr id="5" name="Rectangle 3">
            <a:extLst>
              <a:ext uri="{FF2B5EF4-FFF2-40B4-BE49-F238E27FC236}">
                <a16:creationId xmlns:a16="http://schemas.microsoft.com/office/drawing/2014/main" id="{9190CEAC-9659-152B-480E-41E0C35A14FA}"/>
              </a:ext>
            </a:extLst>
          </p:cNvPr>
          <p:cNvSpPr txBox="1">
            <a:spLocks noChangeArrowheads="1"/>
          </p:cNvSpPr>
          <p:nvPr/>
        </p:nvSpPr>
        <p:spPr bwMode="auto">
          <a:xfrm>
            <a:off x="928688" y="3214688"/>
            <a:ext cx="7286625" cy="1143000"/>
          </a:xfrm>
          <a:prstGeom prst="rect">
            <a:avLst/>
          </a:prstGeom>
          <a:solidFill>
            <a:schemeClr val="bg2">
              <a:lumMod val="10000"/>
              <a:lumOff val="90000"/>
            </a:schemeClr>
          </a:solidFill>
          <a:ln w="9525">
            <a:noFill/>
            <a:miter lim="800000"/>
            <a:headEnd/>
            <a:tailEnd/>
          </a:ln>
          <a:effectLst>
            <a:outerShdw blurRad="50800" dist="38100" dir="2700000" algn="tl" rotWithShape="0">
              <a:prstClr val="black">
                <a:alpha val="40000"/>
              </a:prstClr>
            </a:outerShdw>
          </a:effectLst>
        </p:spPr>
        <p:txBody>
          <a:bodyPr/>
          <a:lstStyle/>
          <a:p>
            <a:pPr marL="228600" indent="-228600">
              <a:lnSpc>
                <a:spcPct val="150000"/>
              </a:lnSpc>
              <a:spcBef>
                <a:spcPct val="20000"/>
              </a:spcBef>
              <a:buClr>
                <a:schemeClr val="accent2"/>
              </a:buClr>
              <a:buSzPct val="55000"/>
              <a:buFont typeface="Wingdings" pitchFamily="2" charset="2"/>
              <a:buNone/>
              <a:defRPr/>
            </a:pPr>
            <a:r>
              <a:rPr kumimoji="0" lang="zh-CN" altLang="en-US" sz="2000" b="0" kern="0" dirty="0">
                <a:solidFill>
                  <a:schemeClr val="tx1"/>
                </a:solidFill>
                <a:latin typeface="Arial" pitchFamily="34" charset="0"/>
                <a:ea typeface="微软雅黑" pitchFamily="34" charset="-122"/>
                <a:cs typeface="Arial" pitchFamily="34" charset="0"/>
              </a:rPr>
              <a:t>  故维特比解码算法适合约束度较小（</a:t>
            </a:r>
            <a:r>
              <a:rPr kumimoji="0" lang="en-US" altLang="zh-CN" sz="2000" i="1" kern="0" dirty="0">
                <a:solidFill>
                  <a:srgbClr val="0000CC"/>
                </a:solidFill>
                <a:latin typeface="Arial" pitchFamily="34" charset="0"/>
                <a:ea typeface="微软雅黑" pitchFamily="34" charset="-122"/>
                <a:cs typeface="Arial" pitchFamily="34" charset="0"/>
              </a:rPr>
              <a:t>N</a:t>
            </a:r>
            <a:r>
              <a:rPr kumimoji="0" lang="en-US" altLang="zh-CN" sz="2000" kern="0" dirty="0">
                <a:solidFill>
                  <a:srgbClr val="0000CC"/>
                </a:solidFill>
                <a:latin typeface="Arial" pitchFamily="34" charset="0"/>
                <a:ea typeface="微软雅黑" pitchFamily="34" charset="-122"/>
                <a:cs typeface="Arial" pitchFamily="34" charset="0"/>
              </a:rPr>
              <a:t> </a:t>
            </a:r>
            <a:r>
              <a:rPr kumimoji="0" lang="en-US" altLang="zh-CN" sz="2000" kern="0" dirty="0">
                <a:solidFill>
                  <a:srgbClr val="0000CC"/>
                </a:solidFill>
                <a:latin typeface="Arial" pitchFamily="34" charset="0"/>
                <a:ea typeface="微软雅黑" pitchFamily="34" charset="-122"/>
                <a:cs typeface="Arial" pitchFamily="34" charset="0"/>
                <a:sym typeface="Symbol" pitchFamily="18" charset="2"/>
              </a:rPr>
              <a:t></a:t>
            </a:r>
            <a:r>
              <a:rPr kumimoji="0" lang="en-US" altLang="zh-CN" sz="2000" kern="0" dirty="0">
                <a:solidFill>
                  <a:srgbClr val="0000CC"/>
                </a:solidFill>
                <a:latin typeface="Arial" pitchFamily="34" charset="0"/>
                <a:ea typeface="微软雅黑" pitchFamily="34" charset="-122"/>
                <a:cs typeface="Arial" pitchFamily="34" charset="0"/>
              </a:rPr>
              <a:t> 10</a:t>
            </a:r>
            <a:r>
              <a:rPr kumimoji="0" lang="zh-CN" altLang="en-US" sz="2000" b="0" kern="0" dirty="0">
                <a:solidFill>
                  <a:schemeClr val="tx1"/>
                </a:solidFill>
                <a:latin typeface="Arial" pitchFamily="34" charset="0"/>
                <a:ea typeface="微软雅黑" pitchFamily="34" charset="-122"/>
                <a:cs typeface="Arial" pitchFamily="34" charset="0"/>
              </a:rPr>
              <a:t>）的编码。</a:t>
            </a:r>
            <a:endParaRPr kumimoji="0" lang="en-US" altLang="zh-CN" sz="2000" b="0" kern="0" dirty="0">
              <a:solidFill>
                <a:schemeClr val="tx1"/>
              </a:solidFill>
              <a:latin typeface="Arial" pitchFamily="34" charset="0"/>
              <a:ea typeface="微软雅黑" pitchFamily="34" charset="-122"/>
              <a:cs typeface="Arial" pitchFamily="34" charset="0"/>
            </a:endParaRPr>
          </a:p>
          <a:p>
            <a:pPr marL="228600" indent="-228600">
              <a:lnSpc>
                <a:spcPct val="150000"/>
              </a:lnSpc>
              <a:spcBef>
                <a:spcPct val="20000"/>
              </a:spcBef>
              <a:buClr>
                <a:schemeClr val="accent2"/>
              </a:buClr>
              <a:buSzPct val="55000"/>
              <a:buFont typeface="Wingdings" pitchFamily="2" charset="2"/>
              <a:buNone/>
              <a:defRPr/>
            </a:pPr>
            <a:r>
              <a:rPr kumimoji="0" lang="zh-CN" altLang="en-US" sz="2000" b="0" kern="0" dirty="0">
                <a:solidFill>
                  <a:schemeClr val="tx1"/>
                </a:solidFill>
                <a:latin typeface="Arial" pitchFamily="34" charset="0"/>
                <a:ea typeface="微软雅黑" pitchFamily="34" charset="-122"/>
                <a:cs typeface="Arial" pitchFamily="34" charset="0"/>
              </a:rPr>
              <a:t>  对于约束度大的卷积码，可以采用其他解码算法。    </a:t>
            </a:r>
          </a:p>
        </p:txBody>
      </p:sp>
      <p:sp>
        <p:nvSpPr>
          <p:cNvPr id="6" name="Rectangle 3">
            <a:extLst>
              <a:ext uri="{FF2B5EF4-FFF2-40B4-BE49-F238E27FC236}">
                <a16:creationId xmlns:a16="http://schemas.microsoft.com/office/drawing/2014/main" id="{72F8B495-CBBB-32A8-8BB8-457F1777F081}"/>
              </a:ext>
            </a:extLst>
          </p:cNvPr>
          <p:cNvSpPr txBox="1">
            <a:spLocks noChangeArrowheads="1"/>
          </p:cNvSpPr>
          <p:nvPr/>
        </p:nvSpPr>
        <p:spPr bwMode="auto">
          <a:xfrm>
            <a:off x="928688" y="2071688"/>
            <a:ext cx="7286625" cy="1071562"/>
          </a:xfrm>
          <a:prstGeom prst="rect">
            <a:avLst/>
          </a:prstGeom>
          <a:solidFill>
            <a:schemeClr val="bg2">
              <a:lumMod val="10000"/>
              <a:lumOff val="90000"/>
            </a:schemeClr>
          </a:solidFill>
          <a:ln w="9525">
            <a:noFill/>
            <a:miter lim="800000"/>
            <a:headEnd/>
            <a:tailEnd/>
          </a:ln>
          <a:effectLst>
            <a:outerShdw blurRad="50800" dist="38100" dir="2700000" algn="tl" rotWithShape="0">
              <a:prstClr val="black">
                <a:alpha val="40000"/>
              </a:prstClr>
            </a:outerShdw>
          </a:effectLst>
        </p:spPr>
        <p:txBody>
          <a:bodyPr/>
          <a:lstStyle/>
          <a:p>
            <a:pPr marL="228600" indent="-228600">
              <a:lnSpc>
                <a:spcPts val="3500"/>
              </a:lnSpc>
              <a:spcBef>
                <a:spcPct val="20000"/>
              </a:spcBef>
              <a:buClr>
                <a:schemeClr val="accent2"/>
              </a:buClr>
              <a:buSzPct val="55000"/>
              <a:buFont typeface="Wingdings" pitchFamily="2" charset="2"/>
              <a:buNone/>
              <a:defRPr/>
            </a:pPr>
            <a:r>
              <a:rPr kumimoji="0" lang="zh-CN" altLang="en-US" sz="2000" b="0" kern="0" dirty="0">
                <a:solidFill>
                  <a:schemeClr val="tx1"/>
                </a:solidFill>
                <a:latin typeface="Arial" pitchFamily="34" charset="0"/>
                <a:ea typeface="微软雅黑" pitchFamily="34" charset="-122"/>
                <a:cs typeface="Arial" pitchFamily="34" charset="0"/>
              </a:rPr>
              <a:t> 由此可见，维特比解码算法的复杂度 随</a:t>
            </a: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约束长度 </a:t>
            </a:r>
            <a:r>
              <a:rPr kumimoji="0" lang="en-US" altLang="zh-CN" sz="2400" i="1" kern="0" dirty="0">
                <a:solidFill>
                  <a:srgbClr val="0000CC"/>
                </a:solidFill>
                <a:latin typeface="Arial" pitchFamily="34" charset="0"/>
                <a:ea typeface="微软雅黑" pitchFamily="34" charset="-122"/>
                <a:cs typeface="Arial" pitchFamily="34" charset="0"/>
              </a:rPr>
              <a:t>N </a:t>
            </a:r>
            <a:r>
              <a:rPr kumimoji="0" lang="zh-CN" altLang="en-US" sz="2000" b="0" kern="0" dirty="0">
                <a:solidFill>
                  <a:schemeClr val="tx1"/>
                </a:solidFill>
                <a:latin typeface="Arial" pitchFamily="34" charset="0"/>
                <a:ea typeface="微软雅黑" pitchFamily="34" charset="-122"/>
                <a:cs typeface="Arial" pitchFamily="34" charset="0"/>
              </a:rPr>
              <a:t>按指数形</a:t>
            </a:r>
            <a:endParaRPr kumimoji="0" lang="en-US" altLang="zh-CN" sz="2000" b="0" kern="0" dirty="0">
              <a:solidFill>
                <a:schemeClr val="tx1"/>
              </a:solidFill>
              <a:latin typeface="Arial" pitchFamily="34" charset="0"/>
              <a:ea typeface="微软雅黑" pitchFamily="34" charset="-122"/>
              <a:cs typeface="Arial" pitchFamily="34" charset="0"/>
            </a:endParaRPr>
          </a:p>
          <a:p>
            <a:pPr marL="228600" indent="-228600">
              <a:lnSpc>
                <a:spcPts val="3500"/>
              </a:lnSpc>
              <a:spcBef>
                <a:spcPct val="20000"/>
              </a:spcBef>
              <a:buClr>
                <a:schemeClr val="accent2"/>
              </a:buClr>
              <a:buSzPct val="55000"/>
              <a:buFont typeface="Wingdings" pitchFamily="2" charset="2"/>
              <a:buNone/>
              <a:defRPr/>
            </a:pPr>
            <a:r>
              <a:rPr kumimoji="0" lang="zh-CN" altLang="en-US" sz="2000" b="0" kern="0" dirty="0">
                <a:solidFill>
                  <a:schemeClr val="tx1"/>
                </a:solidFill>
                <a:latin typeface="Arial" pitchFamily="34" charset="0"/>
                <a:ea typeface="微软雅黑" pitchFamily="34" charset="-122"/>
                <a:cs typeface="Arial" pitchFamily="34" charset="0"/>
              </a:rPr>
              <a:t> 式 </a:t>
            </a:r>
            <a:r>
              <a:rPr kumimoji="0" lang="en-US" altLang="zh-CN" sz="2400" kern="0" dirty="0">
                <a:solidFill>
                  <a:srgbClr val="0000CC"/>
                </a:solidFill>
                <a:latin typeface="Arial" pitchFamily="34" charset="0"/>
                <a:ea typeface="微软雅黑" pitchFamily="34" charset="-122"/>
                <a:cs typeface="Arial" pitchFamily="34" charset="0"/>
              </a:rPr>
              <a:t>2</a:t>
            </a:r>
            <a:r>
              <a:rPr kumimoji="0" lang="en-US" altLang="zh-CN" sz="2400" i="1" kern="0" baseline="30000" dirty="0">
                <a:solidFill>
                  <a:srgbClr val="0000CC"/>
                </a:solidFill>
                <a:latin typeface="Arial" pitchFamily="34" charset="0"/>
                <a:ea typeface="微软雅黑" pitchFamily="34" charset="-122"/>
                <a:cs typeface="Arial" pitchFamily="34" charset="0"/>
              </a:rPr>
              <a:t>N </a:t>
            </a:r>
            <a:r>
              <a:rPr kumimoji="0" lang="zh-CN" altLang="en-US" sz="2000" b="0" kern="0" dirty="0">
                <a:solidFill>
                  <a:schemeClr val="tx1"/>
                </a:solidFill>
                <a:latin typeface="Arial" pitchFamily="34" charset="0"/>
                <a:ea typeface="微软雅黑" pitchFamily="34" charset="-122"/>
                <a:cs typeface="Arial" pitchFamily="34" charset="0"/>
              </a:rPr>
              <a:t>增长。</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10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up)">
                                      <p:cBhvr>
                                        <p:cTn id="12" dur="1000"/>
                                        <p:tgtEl>
                                          <p:spTgt spid="6">
                                            <p:txEl>
                                              <p:pRg st="0" end="0"/>
                                            </p:txEl>
                                          </p:spTgt>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6">
                                            <p:txEl>
                                              <p:pRg st="1" end="1"/>
                                            </p:txEl>
                                          </p:spTgt>
                                        </p:tgtEl>
                                        <p:attrNameLst>
                                          <p:attrName>style.visibility</p:attrName>
                                        </p:attrNameLst>
                                      </p:cBhvr>
                                      <p:to>
                                        <p:strVal val="visible"/>
                                      </p:to>
                                    </p:set>
                                    <p:animEffect transition="in" filter="wipe(up)">
                                      <p:cBhvr>
                                        <p:cTn id="16" dur="1000"/>
                                        <p:tgtEl>
                                          <p:spTgt spid="6">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animEffect transition="in" filter="wipe(up)">
                                      <p:cBhvr>
                                        <p:cTn id="21" dur="1000"/>
                                        <p:tgtEl>
                                          <p:spTgt spid="5">
                                            <p:txEl>
                                              <p:pRg st="0" end="0"/>
                                            </p:txEl>
                                          </p:spTgt>
                                        </p:tgtEl>
                                      </p:cBhvr>
                                    </p:animEffect>
                                  </p:childTnLst>
                                </p:cTn>
                              </p:par>
                            </p:childTnLst>
                          </p:cTn>
                        </p:par>
                        <p:par>
                          <p:cTn id="22" fill="hold" nodeType="afterGroup">
                            <p:stCondLst>
                              <p:cond delay="1000"/>
                            </p:stCondLst>
                            <p:childTnLst>
                              <p:par>
                                <p:cTn id="23" presetID="22" presetClass="entr" presetSubtype="1" fill="hold" nodeType="afterEffect">
                                  <p:stCondLst>
                                    <p:cond delay="0"/>
                                  </p:stCondLst>
                                  <p:childTnLst>
                                    <p:set>
                                      <p:cBhvr>
                                        <p:cTn id="24" dur="1" fill="hold">
                                          <p:stCondLst>
                                            <p:cond delay="0"/>
                                          </p:stCondLst>
                                        </p:cTn>
                                        <p:tgtEl>
                                          <p:spTgt spid="5">
                                            <p:txEl>
                                              <p:pRg st="1" end="1"/>
                                            </p:txEl>
                                          </p:spTgt>
                                        </p:tgtEl>
                                        <p:attrNameLst>
                                          <p:attrName>style.visibility</p:attrName>
                                        </p:attrNameLst>
                                      </p:cBhvr>
                                      <p:to>
                                        <p:strVal val="visible"/>
                                      </p:to>
                                    </p:set>
                                    <p:animEffect transition="in" filter="wipe(up)">
                                      <p:cBhvr>
                                        <p:cTn id="25" dur="10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6">
            <a:extLst>
              <a:ext uri="{FF2B5EF4-FFF2-40B4-BE49-F238E27FC236}">
                <a16:creationId xmlns:a16="http://schemas.microsoft.com/office/drawing/2014/main" id="{F98A86F3-7F9F-1E0A-28C8-5112553AA89A}"/>
              </a:ext>
            </a:extLst>
          </p:cNvPr>
          <p:cNvSpPr txBox="1">
            <a:spLocks noChangeArrowheads="1"/>
          </p:cNvSpPr>
          <p:nvPr/>
        </p:nvSpPr>
        <p:spPr bwMode="gray">
          <a:xfrm>
            <a:off x="3286125" y="3000375"/>
            <a:ext cx="4357688" cy="769938"/>
          </a:xfrm>
          <a:prstGeom prst="rect">
            <a:avLst/>
          </a:prstGeom>
          <a:noFill/>
          <a:ln w="9525">
            <a:noFill/>
            <a:miter lim="800000"/>
            <a:headEnd/>
            <a:tailEnd/>
          </a:ln>
          <a:effectLst>
            <a:outerShdw blurRad="50800" dist="38100" dir="2700000" algn="tl" rotWithShape="0">
              <a:prstClr val="black">
                <a:alpha val="40000"/>
              </a:prstClr>
            </a:outerShdw>
          </a:effectLst>
        </p:spPr>
        <p:txBody>
          <a:bodyPr>
            <a:spAutoFit/>
          </a:bodyPr>
          <a:lstStyle/>
          <a:p>
            <a:pPr>
              <a:defRPr/>
            </a:pPr>
            <a:r>
              <a:rPr lang="en-US" altLang="zh-CN" sz="4400" dirty="0">
                <a:solidFill>
                  <a:srgbClr val="003399"/>
                </a:solidFill>
                <a:latin typeface="微软雅黑" pitchFamily="34" charset="-122"/>
                <a:ea typeface="微软雅黑" pitchFamily="34" charset="-122"/>
              </a:rPr>
              <a:t>Turbo</a:t>
            </a:r>
            <a:r>
              <a:rPr lang="zh-CN" altLang="en-US" sz="4400" dirty="0">
                <a:solidFill>
                  <a:srgbClr val="003399"/>
                </a:solidFill>
                <a:latin typeface="微软雅黑" pitchFamily="34" charset="-122"/>
                <a:ea typeface="微软雅黑" pitchFamily="34" charset="-122"/>
              </a:rPr>
              <a:t> 码</a:t>
            </a:r>
          </a:p>
        </p:txBody>
      </p:sp>
      <p:sp>
        <p:nvSpPr>
          <p:cNvPr id="12" name="矩形 11">
            <a:extLst>
              <a:ext uri="{FF2B5EF4-FFF2-40B4-BE49-F238E27FC236}">
                <a16:creationId xmlns:a16="http://schemas.microsoft.com/office/drawing/2014/main" id="{BE86F3D0-4F4F-7357-E4E4-327CCBB5FCD4}"/>
              </a:ext>
            </a:extLst>
          </p:cNvPr>
          <p:cNvSpPr/>
          <p:nvPr/>
        </p:nvSpPr>
        <p:spPr>
          <a:xfrm>
            <a:off x="2857500" y="3929063"/>
            <a:ext cx="4429125" cy="488950"/>
          </a:xfrm>
          <a:prstGeom prst="rect">
            <a:avLst/>
          </a:prstGeom>
        </p:spPr>
        <p:txBody>
          <a:bodyPr>
            <a:spAutoFit/>
          </a:bodyPr>
          <a:lstStyle/>
          <a:p>
            <a:pPr>
              <a:lnSpc>
                <a:spcPts val="3500"/>
              </a:lnSpc>
              <a:defRPr/>
            </a:pPr>
            <a:r>
              <a:rPr lang="en-US" altLang="zh-CN" sz="2000" b="0" dirty="0">
                <a:solidFill>
                  <a:schemeClr val="tx1"/>
                </a:solidFill>
                <a:latin typeface="Arial" charset="0"/>
                <a:ea typeface="微软雅黑" pitchFamily="34" charset="-122"/>
                <a:cs typeface="Arial" charset="0"/>
              </a:rPr>
              <a:t>——   </a:t>
            </a:r>
            <a:r>
              <a:rPr lang="zh-CN" altLang="en-US" sz="2000" b="0" dirty="0">
                <a:solidFill>
                  <a:schemeClr val="tx1"/>
                </a:solidFill>
                <a:effectLst>
                  <a:outerShdw blurRad="38100" dist="38100" dir="2700000" algn="tl">
                    <a:srgbClr val="C0C0C0"/>
                  </a:outerShdw>
                </a:effectLst>
                <a:latin typeface="Arial" charset="0"/>
                <a:ea typeface="微软雅黑" pitchFamily="34" charset="-122"/>
                <a:cs typeface="Arial" charset="0"/>
              </a:rPr>
              <a:t>一种</a:t>
            </a:r>
            <a:r>
              <a:rPr lang="zh-CN" altLang="en-US" sz="2000" b="0" dirty="0">
                <a:solidFill>
                  <a:schemeClr val="tx1"/>
                </a:solidFill>
                <a:effectLst>
                  <a:outerShdw blurRad="38100" dist="38100" dir="2700000" algn="tl">
                    <a:srgbClr val="C0C0C0"/>
                  </a:outerShdw>
                </a:effectLst>
                <a:latin typeface="微软雅黑" pitchFamily="34" charset="-122"/>
                <a:ea typeface="微软雅黑" pitchFamily="34" charset="-122"/>
              </a:rPr>
              <a:t>特殊的链接码  </a:t>
            </a:r>
            <a:r>
              <a:rPr lang="en-US" altLang="zh-CN" sz="2000" b="0" dirty="0">
                <a:solidFill>
                  <a:srgbClr val="7F7F7F"/>
                </a:solidFill>
                <a:effectLst>
                  <a:outerShdw blurRad="38100" dist="38100" dir="2700000" algn="tl">
                    <a:srgbClr val="C0C0C0"/>
                  </a:outerShdw>
                </a:effectLst>
                <a:latin typeface="微软雅黑" pitchFamily="34" charset="-122"/>
                <a:ea typeface="微软雅黑" pitchFamily="34" charset="-122"/>
              </a:rPr>
              <a:t>(1993)</a:t>
            </a:r>
            <a:r>
              <a:rPr lang="zh-CN" altLang="en-US" sz="2000" b="0" dirty="0">
                <a:solidFill>
                  <a:srgbClr val="7F7F7F"/>
                </a:solidFill>
                <a:effectLst>
                  <a:outerShdw blurRad="38100" dist="38100" dir="2700000" algn="tl">
                    <a:srgbClr val="C0C0C0"/>
                  </a:outerShdw>
                </a:effectLst>
                <a:latin typeface="微软雅黑" pitchFamily="34" charset="-122"/>
                <a:ea typeface="微软雅黑" pitchFamily="34" charset="-122"/>
              </a:rPr>
              <a:t> </a:t>
            </a:r>
            <a:r>
              <a:rPr lang="en-US" altLang="zh-CN" sz="2000" b="0" dirty="0">
                <a:solidFill>
                  <a:srgbClr val="7F7F7F"/>
                </a:solidFill>
                <a:latin typeface="Arial" charset="0"/>
                <a:ea typeface="微软雅黑" pitchFamily="34" charset="-122"/>
              </a:rPr>
              <a:t>   </a:t>
            </a:r>
            <a:endParaRPr lang="zh-CN" altLang="en-US" sz="2000" b="0" dirty="0">
              <a:solidFill>
                <a:srgbClr val="7F7F7F"/>
              </a:solidFill>
              <a:latin typeface="Arial" charset="0"/>
              <a:ea typeface="微软雅黑" pitchFamily="34" charset="-122"/>
            </a:endParaRPr>
          </a:p>
        </p:txBody>
      </p:sp>
      <p:sp>
        <p:nvSpPr>
          <p:cNvPr id="14" name="矩形 4">
            <a:extLst>
              <a:ext uri="{FF2B5EF4-FFF2-40B4-BE49-F238E27FC236}">
                <a16:creationId xmlns:a16="http://schemas.microsoft.com/office/drawing/2014/main" id="{026C2C85-2339-D72A-DB52-602D398C2C46}"/>
              </a:ext>
            </a:extLst>
          </p:cNvPr>
          <p:cNvSpPr>
            <a:spLocks noChangeArrowheads="1"/>
          </p:cNvSpPr>
          <p:nvPr/>
        </p:nvSpPr>
        <p:spPr bwMode="auto">
          <a:xfrm>
            <a:off x="642938" y="2214563"/>
            <a:ext cx="1927225" cy="708025"/>
          </a:xfrm>
          <a:prstGeom prst="rect">
            <a:avLst/>
          </a:prstGeom>
          <a:noFill/>
          <a:ln w="9525">
            <a:noFill/>
            <a:miter lim="800000"/>
            <a:headEnd/>
            <a:tailEnd/>
          </a:ln>
        </p:spPr>
        <p:txBody>
          <a:bodyPr wrap="none">
            <a:spAutoFit/>
          </a:bodyPr>
          <a:lstStyle/>
          <a:p>
            <a:pPr eaLnBrk="0" hangingPunct="0">
              <a:defRPr/>
            </a:pPr>
            <a:r>
              <a:rPr lang="en-US" altLang="en-US" sz="4000" u="sng" dirty="0">
                <a:solidFill>
                  <a:srgbClr val="990099"/>
                </a:solidFill>
                <a:effectLst>
                  <a:outerShdw blurRad="38100" dist="38100" dir="2700000" algn="tl">
                    <a:srgbClr val="000000">
                      <a:alpha val="43137"/>
                    </a:srgbClr>
                  </a:outerShdw>
                </a:effectLst>
                <a:latin typeface="+mn-ea"/>
                <a:ea typeface="+mn-ea"/>
              </a:rPr>
              <a:t>§</a:t>
            </a:r>
            <a:r>
              <a:rPr lang="en-US" altLang="en-US" sz="4000" u="sng" dirty="0">
                <a:solidFill>
                  <a:srgbClr val="990099"/>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11</a:t>
            </a:r>
            <a:r>
              <a:rPr lang="en-US" altLang="zh-CN" sz="4000" u="sng" dirty="0">
                <a:solidFill>
                  <a:srgbClr val="990099"/>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.8</a:t>
            </a:r>
            <a:r>
              <a:rPr lang="en-US" altLang="zh-CN" sz="4000" u="sng" dirty="0">
                <a:solidFill>
                  <a:srgbClr val="990099"/>
                </a:solidFill>
                <a:effectLst>
                  <a:outerShdw blurRad="38100" dist="38100" dir="2700000" algn="tl">
                    <a:srgbClr val="000000">
                      <a:alpha val="43137"/>
                    </a:srgbClr>
                  </a:outerShdw>
                </a:effectLst>
                <a:ea typeface="微软雅黑" pitchFamily="34" charset="-122"/>
                <a:cs typeface="Arial" charset="0"/>
              </a:rPr>
              <a:t> </a:t>
            </a:r>
            <a:endParaRPr lang="zh-CN" altLang="en-US" sz="4000" u="sng" dirty="0">
              <a:solidFill>
                <a:srgbClr val="990099"/>
              </a:solidFill>
              <a:effectLst>
                <a:outerShdw blurRad="38100" dist="38100" dir="2700000" algn="tl">
                  <a:srgbClr val="000000">
                    <a:alpha val="43137"/>
                  </a:srgbClr>
                </a:outerShdw>
              </a:effectLst>
            </a:endParaRPr>
          </a:p>
        </p:txBody>
      </p:sp>
      <p:sp>
        <p:nvSpPr>
          <p:cNvPr id="11" name="矩形 10">
            <a:extLst>
              <a:ext uri="{FF2B5EF4-FFF2-40B4-BE49-F238E27FC236}">
                <a16:creationId xmlns:a16="http://schemas.microsoft.com/office/drawing/2014/main" id="{15563F2C-955E-B8E5-3679-BF1E7B0C351C}"/>
              </a:ext>
            </a:extLst>
          </p:cNvPr>
          <p:cNvSpPr/>
          <p:nvPr/>
        </p:nvSpPr>
        <p:spPr>
          <a:xfrm>
            <a:off x="2857500" y="4500563"/>
            <a:ext cx="4429125" cy="541337"/>
          </a:xfrm>
          <a:prstGeom prst="rect">
            <a:avLst/>
          </a:prstGeom>
        </p:spPr>
        <p:txBody>
          <a:bodyPr>
            <a:spAutoFit/>
          </a:bodyPr>
          <a:lstStyle/>
          <a:p>
            <a:pPr>
              <a:lnSpc>
                <a:spcPts val="3500"/>
              </a:lnSpc>
              <a:defRPr/>
            </a:pPr>
            <a:r>
              <a:rPr lang="en-US" altLang="zh-CN" sz="2000" b="0" dirty="0">
                <a:solidFill>
                  <a:schemeClr val="tx1"/>
                </a:solidFill>
                <a:latin typeface="Arial" charset="0"/>
                <a:ea typeface="微软雅黑" pitchFamily="34" charset="-122"/>
                <a:cs typeface="Arial" charset="0"/>
              </a:rPr>
              <a:t>——   </a:t>
            </a:r>
            <a:r>
              <a:rPr lang="zh-CN" altLang="en-US" sz="2000" b="0" dirty="0">
                <a:solidFill>
                  <a:schemeClr val="tx1"/>
                </a:solidFill>
                <a:latin typeface="Arial" charset="0"/>
                <a:ea typeface="微软雅黑" pitchFamily="34" charset="-122"/>
                <a:cs typeface="Arial" charset="0"/>
              </a:rPr>
              <a:t>属于复合</a:t>
            </a:r>
            <a:r>
              <a:rPr lang="zh-CN" altLang="en-US" sz="2000" b="0" dirty="0">
                <a:solidFill>
                  <a:schemeClr val="tx1"/>
                </a:solidFill>
                <a:effectLst>
                  <a:outerShdw blurRad="38100" dist="38100" dir="2700000" algn="tl">
                    <a:srgbClr val="C0C0C0"/>
                  </a:outerShdw>
                </a:effectLst>
                <a:latin typeface="微软雅黑" pitchFamily="34" charset="-122"/>
                <a:ea typeface="微软雅黑" pitchFamily="34" charset="-122"/>
              </a:rPr>
              <a:t>码类  </a:t>
            </a:r>
            <a:r>
              <a:rPr lang="zh-CN" altLang="en-US" sz="2000" b="0" dirty="0">
                <a:solidFill>
                  <a:srgbClr val="7F7F7F"/>
                </a:solidFill>
                <a:effectLst>
                  <a:outerShdw blurRad="38100" dist="38100" dir="2700000" algn="tl">
                    <a:srgbClr val="C0C0C0"/>
                  </a:outerShdw>
                </a:effectLst>
                <a:latin typeface="微软雅黑" pitchFamily="34" charset="-122"/>
                <a:ea typeface="微软雅黑" pitchFamily="34" charset="-122"/>
              </a:rPr>
              <a:t> </a:t>
            </a:r>
            <a:r>
              <a:rPr lang="en-US" altLang="zh-CN" sz="2000" b="0" dirty="0">
                <a:solidFill>
                  <a:srgbClr val="7F7F7F"/>
                </a:solidFill>
                <a:latin typeface="Arial" charset="0"/>
                <a:ea typeface="微软雅黑" pitchFamily="34" charset="-122"/>
              </a:rPr>
              <a:t>   </a:t>
            </a:r>
            <a:endParaRPr lang="zh-CN" altLang="en-US" sz="2000" b="0" dirty="0">
              <a:solidFill>
                <a:srgbClr val="7F7F7F"/>
              </a:solidFill>
              <a:latin typeface="Arial" charset="0"/>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000"/>
                                        <p:tgtEl>
                                          <p:spTgt spid="4"/>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up)">
                                      <p:cBhvr>
                                        <p:cTn id="11" dur="2000"/>
                                        <p:tgtEl>
                                          <p:spTgt spid="12"/>
                                        </p:tgtEl>
                                      </p:cBhvr>
                                    </p:animEffect>
                                  </p:childTnLst>
                                </p:cTn>
                              </p:par>
                            </p:childTnLst>
                          </p:cTn>
                        </p:par>
                        <p:par>
                          <p:cTn id="12" fill="hold" nodeType="afterGroup">
                            <p:stCondLst>
                              <p:cond delay="3000"/>
                            </p:stCondLst>
                            <p:childTnLst>
                              <p:par>
                                <p:cTn id="13" presetID="22" presetClass="entr" presetSubtype="1"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up)">
                                      <p:cBhvr>
                                        <p:cTn id="15"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P spid="11"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3" name="Rectangle 3">
            <a:extLst>
              <a:ext uri="{FF2B5EF4-FFF2-40B4-BE49-F238E27FC236}">
                <a16:creationId xmlns:a16="http://schemas.microsoft.com/office/drawing/2014/main" id="{17C68047-DC01-D556-66E0-99AEB72A5BF6}"/>
              </a:ext>
            </a:extLst>
          </p:cNvPr>
          <p:cNvSpPr>
            <a:spLocks noGrp="1" noChangeArrowheads="1"/>
          </p:cNvSpPr>
          <p:nvPr>
            <p:ph type="body" idx="1"/>
          </p:nvPr>
        </p:nvSpPr>
        <p:spPr>
          <a:xfrm>
            <a:off x="714375" y="1357313"/>
            <a:ext cx="7772400" cy="1328737"/>
          </a:xfrm>
        </p:spPr>
        <p:txBody>
          <a:bodyPr/>
          <a:lstStyle/>
          <a:p>
            <a:pPr eaLnBrk="1" hangingPunct="1">
              <a:lnSpc>
                <a:spcPts val="3200"/>
              </a:lnSpc>
              <a:buFont typeface="Wingdings" panose="05000000000000000000" pitchFamily="2" charset="2"/>
              <a:buChar char="u"/>
            </a:pPr>
            <a:r>
              <a:rPr lang="zh-CN" altLang="en-US" sz="2000">
                <a:latin typeface="Arial" panose="020B0604020202020204" pitchFamily="34" charset="0"/>
                <a:ea typeface="微软雅黑" panose="020B0503020204020204" pitchFamily="34" charset="-122"/>
                <a:cs typeface="Arial" panose="020B0604020202020204" pitchFamily="34" charset="0"/>
              </a:rPr>
              <a:t>由于分组码和卷积码的复杂度随码组长度或约束度的增大按指数规律增长，所以为了提高纠错能力，不要单纯增大码的长度，而是将两种或多种简单的编码组合成复合编码。 </a:t>
            </a:r>
          </a:p>
        </p:txBody>
      </p:sp>
      <p:sp>
        <p:nvSpPr>
          <p:cNvPr id="6" name="矩形 5">
            <a:extLst>
              <a:ext uri="{FF2B5EF4-FFF2-40B4-BE49-F238E27FC236}">
                <a16:creationId xmlns:a16="http://schemas.microsoft.com/office/drawing/2014/main" id="{DEB29CD6-6B5C-9B3F-E01C-A42362DC4492}"/>
              </a:ext>
            </a:extLst>
          </p:cNvPr>
          <p:cNvSpPr/>
          <p:nvPr/>
        </p:nvSpPr>
        <p:spPr>
          <a:xfrm>
            <a:off x="458788" y="539750"/>
            <a:ext cx="4113212" cy="503238"/>
          </a:xfrm>
          <a:prstGeom prst="rect">
            <a:avLst/>
          </a:prstGeom>
        </p:spPr>
        <p:txBody>
          <a:bodyPr>
            <a:spAutoFit/>
          </a:bodyPr>
          <a:lstStyle/>
          <a:p>
            <a:pPr marL="342900" indent="-342900">
              <a:lnSpc>
                <a:spcPts val="3200"/>
              </a:lnSpc>
              <a:spcBef>
                <a:spcPct val="20000"/>
              </a:spcBef>
              <a:buClr>
                <a:srgbClr val="FF0000"/>
              </a:buClr>
              <a:buSzPct val="80000"/>
              <a:buFont typeface="Wingdings" pitchFamily="2" charset="2"/>
              <a:buChar char="n"/>
              <a:defRPr/>
            </a:pPr>
            <a:r>
              <a:rPr kumimoji="0" lang="en-US" altLang="zh-CN" sz="2800" kern="0" dirty="0">
                <a:solidFill>
                  <a:srgbClr val="000000"/>
                </a:solidFill>
                <a:latin typeface="Arial" pitchFamily="34" charset="0"/>
                <a:ea typeface="微软雅黑" pitchFamily="34" charset="-122"/>
                <a:cs typeface="Arial" pitchFamily="34" charset="0"/>
              </a:rPr>
              <a:t>Turbo</a:t>
            </a:r>
            <a:r>
              <a:rPr kumimoji="0" lang="zh-CN" altLang="en-US" sz="2800" kern="0" dirty="0">
                <a:solidFill>
                  <a:srgbClr val="000000"/>
                </a:solidFill>
                <a:latin typeface="Arial" pitchFamily="34" charset="0"/>
                <a:ea typeface="微软雅黑" pitchFamily="34" charset="-122"/>
                <a:cs typeface="Arial" pitchFamily="34" charset="0"/>
              </a:rPr>
              <a:t>码 基本原理</a:t>
            </a:r>
          </a:p>
        </p:txBody>
      </p:sp>
      <p:sp>
        <p:nvSpPr>
          <p:cNvPr id="8" name="Rectangle 3">
            <a:extLst>
              <a:ext uri="{FF2B5EF4-FFF2-40B4-BE49-F238E27FC236}">
                <a16:creationId xmlns:a16="http://schemas.microsoft.com/office/drawing/2014/main" id="{EF735DF3-69EC-FC7A-993C-7BDD56B538A0}"/>
              </a:ext>
            </a:extLst>
          </p:cNvPr>
          <p:cNvSpPr txBox="1">
            <a:spLocks noChangeArrowheads="1"/>
          </p:cNvSpPr>
          <p:nvPr/>
        </p:nvSpPr>
        <p:spPr bwMode="auto">
          <a:xfrm>
            <a:off x="728663" y="2828925"/>
            <a:ext cx="7772400" cy="1357313"/>
          </a:xfrm>
          <a:prstGeom prst="rect">
            <a:avLst/>
          </a:prstGeom>
          <a:noFill/>
          <a:ln w="9525">
            <a:noFill/>
            <a:miter lim="800000"/>
            <a:headEnd/>
            <a:tailEnd/>
          </a:ln>
        </p:spPr>
        <p:txBody>
          <a:bodyPr/>
          <a:lstStyle/>
          <a:p>
            <a:pPr marL="342900" indent="-342900">
              <a:lnSpc>
                <a:spcPts val="3200"/>
              </a:lnSpc>
              <a:spcBef>
                <a:spcPct val="20000"/>
              </a:spcBef>
              <a:buClr>
                <a:schemeClr val="folHlink"/>
              </a:buClr>
              <a:buSzPct val="60000"/>
              <a:buFont typeface="Wingdings" pitchFamily="2" charset="2"/>
              <a:buChar char="u"/>
              <a:defRPr/>
            </a:pPr>
            <a:r>
              <a:rPr kumimoji="0" lang="en-US" altLang="zh-CN" sz="2000" b="0" kern="0" dirty="0">
                <a:solidFill>
                  <a:schemeClr val="tx1"/>
                </a:solidFill>
                <a:latin typeface="Arial" pitchFamily="34" charset="0"/>
                <a:ea typeface="微软雅黑" pitchFamily="34" charset="-122"/>
                <a:cs typeface="Arial" pitchFamily="34" charset="0"/>
              </a:rPr>
              <a:t>Turbo</a:t>
            </a:r>
            <a:r>
              <a:rPr kumimoji="0" lang="zh-CN" altLang="en-US" sz="2000" b="0" kern="0" dirty="0">
                <a:solidFill>
                  <a:schemeClr val="tx1"/>
                </a:solidFill>
                <a:latin typeface="Arial" pitchFamily="34" charset="0"/>
                <a:ea typeface="微软雅黑" pitchFamily="34" charset="-122"/>
                <a:cs typeface="Arial" pitchFamily="34" charset="0"/>
              </a:rPr>
              <a:t>码的</a:t>
            </a:r>
            <a:r>
              <a:rPr kumimoji="0" lang="zh-CN" altLang="en-US" sz="2000" kern="0" dirty="0">
                <a:solidFill>
                  <a:srgbClr val="003399"/>
                </a:solidFill>
                <a:latin typeface="Arial" pitchFamily="34" charset="0"/>
                <a:ea typeface="微软雅黑" pitchFamily="34" charset="-122"/>
                <a:cs typeface="Arial" pitchFamily="34" charset="0"/>
              </a:rPr>
              <a:t>编码器</a:t>
            </a:r>
            <a:r>
              <a:rPr kumimoji="0" lang="zh-CN" altLang="en-US" sz="2000" b="0" kern="0" dirty="0">
                <a:solidFill>
                  <a:schemeClr val="tx1"/>
                </a:solidFill>
                <a:latin typeface="Arial" pitchFamily="34" charset="0"/>
                <a:ea typeface="微软雅黑" pitchFamily="34" charset="-122"/>
                <a:cs typeface="Arial" pitchFamily="34" charset="0"/>
              </a:rPr>
              <a:t>在两个并联或串联的分量码编码器之间增加一个</a:t>
            </a:r>
            <a:r>
              <a:rPr kumimoji="0" lang="zh-CN" altLang="en-US" sz="2000" b="0" kern="0" dirty="0">
                <a:solidFill>
                  <a:srgbClr val="FF0000"/>
                </a:solidFill>
                <a:latin typeface="Arial" pitchFamily="34" charset="0"/>
                <a:ea typeface="微软雅黑" pitchFamily="34" charset="-122"/>
                <a:cs typeface="Arial" pitchFamily="34" charset="0"/>
              </a:rPr>
              <a:t>交织器</a:t>
            </a:r>
            <a:r>
              <a:rPr kumimoji="0" lang="zh-CN" altLang="en-US" sz="2000" b="0" kern="0" dirty="0">
                <a:solidFill>
                  <a:schemeClr val="tx1"/>
                </a:solidFill>
                <a:latin typeface="Arial" pitchFamily="34" charset="0"/>
                <a:ea typeface="微软雅黑" pitchFamily="34" charset="-122"/>
                <a:cs typeface="Arial" pitchFamily="34" charset="0"/>
              </a:rPr>
              <a:t>，使之具有很大的码组长度，能在低信噪比条件下得到接近理想的性能。 </a:t>
            </a:r>
          </a:p>
        </p:txBody>
      </p:sp>
      <p:sp>
        <p:nvSpPr>
          <p:cNvPr id="9" name="矩形 8">
            <a:extLst>
              <a:ext uri="{FF2B5EF4-FFF2-40B4-BE49-F238E27FC236}">
                <a16:creationId xmlns:a16="http://schemas.microsoft.com/office/drawing/2014/main" id="{AB45ACF2-5046-B074-E273-99904410C747}"/>
              </a:ext>
            </a:extLst>
          </p:cNvPr>
          <p:cNvSpPr/>
          <p:nvPr/>
        </p:nvSpPr>
        <p:spPr>
          <a:xfrm>
            <a:off x="728663" y="4471988"/>
            <a:ext cx="7715250" cy="1323975"/>
          </a:xfrm>
          <a:prstGeom prst="rect">
            <a:avLst/>
          </a:prstGeom>
        </p:spPr>
        <p:txBody>
          <a:bodyPr>
            <a:spAutoFit/>
          </a:bodyPr>
          <a:lstStyle/>
          <a:p>
            <a:pPr marL="228600" indent="-228600">
              <a:lnSpc>
                <a:spcPts val="3200"/>
              </a:lnSpc>
              <a:spcBef>
                <a:spcPct val="20000"/>
              </a:spcBef>
              <a:buClr>
                <a:srgbClr val="3333CC"/>
              </a:buClr>
              <a:buSzPct val="65000"/>
              <a:buFont typeface="Wingdings" pitchFamily="2" charset="2"/>
              <a:buChar char="u"/>
              <a:defRPr/>
            </a:pPr>
            <a:r>
              <a:rPr kumimoji="0" lang="en-US" altLang="zh-CN" sz="2000" b="0" kern="0" dirty="0">
                <a:solidFill>
                  <a:srgbClr val="000000"/>
                </a:solidFill>
                <a:latin typeface="Arial" pitchFamily="34" charset="0"/>
                <a:ea typeface="微软雅黑" pitchFamily="34" charset="-122"/>
                <a:cs typeface="Arial" pitchFamily="34" charset="0"/>
              </a:rPr>
              <a:t>Turbo</a:t>
            </a:r>
            <a:r>
              <a:rPr kumimoji="0" lang="zh-CN" altLang="en-US" sz="2000" b="0" kern="0" dirty="0">
                <a:solidFill>
                  <a:srgbClr val="000000"/>
                </a:solidFill>
                <a:latin typeface="Arial" pitchFamily="34" charset="0"/>
                <a:ea typeface="微软雅黑" pitchFamily="34" charset="-122"/>
                <a:cs typeface="Arial" pitchFamily="34" charset="0"/>
              </a:rPr>
              <a:t>码的</a:t>
            </a:r>
            <a:r>
              <a:rPr kumimoji="0" lang="zh-CN" altLang="en-US" sz="2000" kern="0" dirty="0">
                <a:solidFill>
                  <a:srgbClr val="003399"/>
                </a:solidFill>
                <a:latin typeface="Arial" pitchFamily="34" charset="0"/>
                <a:ea typeface="微软雅黑" pitchFamily="34" charset="-122"/>
                <a:cs typeface="Arial" pitchFamily="34" charset="0"/>
              </a:rPr>
              <a:t>译码器</a:t>
            </a:r>
            <a:r>
              <a:rPr kumimoji="0" lang="zh-CN" altLang="en-US" sz="2000" b="0" kern="0" dirty="0">
                <a:solidFill>
                  <a:srgbClr val="000000"/>
                </a:solidFill>
                <a:latin typeface="Arial" pitchFamily="34" charset="0"/>
                <a:ea typeface="微软雅黑" pitchFamily="34" charset="-122"/>
                <a:cs typeface="Arial" pitchFamily="34" charset="0"/>
              </a:rPr>
              <a:t>有两个分量码译码器，译码在两个分量译码器之间进行</a:t>
            </a:r>
            <a:r>
              <a:rPr kumimoji="0" lang="zh-CN" altLang="en-US" sz="2000" b="0" kern="0" dirty="0">
                <a:solidFill>
                  <a:srgbClr val="FF0000"/>
                </a:solidFill>
                <a:latin typeface="Arial" pitchFamily="34" charset="0"/>
                <a:ea typeface="微软雅黑" pitchFamily="34" charset="-122"/>
                <a:cs typeface="Arial" pitchFamily="34" charset="0"/>
              </a:rPr>
              <a:t>迭代译码</a:t>
            </a:r>
            <a:r>
              <a:rPr kumimoji="0" lang="zh-CN" altLang="en-US" sz="2000" b="0" kern="0" dirty="0">
                <a:solidFill>
                  <a:srgbClr val="000000"/>
                </a:solidFill>
                <a:latin typeface="Arial" pitchFamily="34" charset="0"/>
                <a:ea typeface="微软雅黑" pitchFamily="34" charset="-122"/>
                <a:cs typeface="Arial" pitchFamily="34" charset="0"/>
              </a:rPr>
              <a:t>，故整个译码过程类似</a:t>
            </a:r>
            <a:r>
              <a:rPr kumimoji="0" lang="zh-CN" altLang="en-US" sz="2000" b="0" kern="0" dirty="0">
                <a:solidFill>
                  <a:srgbClr val="FF0000"/>
                </a:solidFill>
                <a:latin typeface="Arial" pitchFamily="34" charset="0"/>
                <a:ea typeface="微软雅黑" pitchFamily="34" charset="-122"/>
                <a:cs typeface="Arial" pitchFamily="34" charset="0"/>
              </a:rPr>
              <a:t>涡轮</a:t>
            </a:r>
            <a:r>
              <a:rPr kumimoji="0" lang="zh-CN" altLang="en-US" sz="2000" b="0" kern="0" dirty="0">
                <a:solidFill>
                  <a:srgbClr val="000000"/>
                </a:solidFill>
                <a:latin typeface="Arial" pitchFamily="34" charset="0"/>
                <a:ea typeface="微软雅黑" pitchFamily="34" charset="-122"/>
                <a:cs typeface="Arial" pitchFamily="34" charset="0"/>
              </a:rPr>
              <a:t>（</a:t>
            </a:r>
            <a:r>
              <a:rPr kumimoji="0" lang="en-US" altLang="zh-CN" sz="2000" b="0" kern="0" dirty="0">
                <a:solidFill>
                  <a:srgbClr val="FF0000"/>
                </a:solidFill>
                <a:latin typeface="Arial" pitchFamily="34" charset="0"/>
                <a:ea typeface="微软雅黑" pitchFamily="34" charset="-122"/>
                <a:cs typeface="Arial" pitchFamily="34" charset="0"/>
              </a:rPr>
              <a:t>turbo</a:t>
            </a:r>
            <a:r>
              <a:rPr kumimoji="0" lang="zh-CN" altLang="en-US" sz="2000" b="0" kern="0" dirty="0">
                <a:solidFill>
                  <a:srgbClr val="000000"/>
                </a:solidFill>
                <a:latin typeface="Arial" pitchFamily="34" charset="0"/>
                <a:ea typeface="微软雅黑" pitchFamily="34" charset="-122"/>
                <a:cs typeface="Arial" pitchFamily="34" charset="0"/>
              </a:rPr>
              <a:t>）工作，所以又形象的称为</a:t>
            </a:r>
            <a:r>
              <a:rPr kumimoji="0" lang="en-US" altLang="zh-CN" sz="2000" b="0" kern="0" dirty="0">
                <a:solidFill>
                  <a:srgbClr val="000000"/>
                </a:solidFill>
                <a:latin typeface="Arial" pitchFamily="34" charset="0"/>
                <a:ea typeface="微软雅黑" pitchFamily="34" charset="-122"/>
                <a:cs typeface="Arial" pitchFamily="34" charset="0"/>
              </a:rPr>
              <a:t>Turbo</a:t>
            </a:r>
            <a:r>
              <a:rPr kumimoji="0" lang="zh-CN" altLang="en-US" sz="2000" b="0" kern="0" dirty="0">
                <a:solidFill>
                  <a:srgbClr val="000000"/>
                </a:solidFill>
                <a:latin typeface="Arial" pitchFamily="34" charset="0"/>
                <a:ea typeface="微软雅黑" pitchFamily="34" charset="-122"/>
                <a:cs typeface="Arial" pitchFamily="34" charset="0"/>
              </a:rPr>
              <a:t>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48483">
                                            <p:txEl>
                                              <p:pRg st="0" end="0"/>
                                            </p:txEl>
                                          </p:spTgt>
                                        </p:tgtEl>
                                        <p:attrNameLst>
                                          <p:attrName>style.visibility</p:attrName>
                                        </p:attrNameLst>
                                      </p:cBhvr>
                                      <p:to>
                                        <p:strVal val="visible"/>
                                      </p:to>
                                    </p:set>
                                    <p:animEffect transition="in" filter="wipe(up)">
                                      <p:cBhvr>
                                        <p:cTn id="7" dur="1000"/>
                                        <p:tgtEl>
                                          <p:spTgt spid="1484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10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up)">
                                      <p:cBhvr>
                                        <p:cTn id="1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3" grpId="0" build="p"/>
      <p:bldP spid="8" grpId="0"/>
      <p:bldP spid="9"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7" name="Rectangle 3">
            <a:extLst>
              <a:ext uri="{FF2B5EF4-FFF2-40B4-BE49-F238E27FC236}">
                <a16:creationId xmlns:a16="http://schemas.microsoft.com/office/drawing/2014/main" id="{7241B8CE-F722-4031-6580-D5AA41921B0E}"/>
              </a:ext>
            </a:extLst>
          </p:cNvPr>
          <p:cNvSpPr>
            <a:spLocks noGrp="1" noChangeArrowheads="1"/>
          </p:cNvSpPr>
          <p:nvPr>
            <p:ph type="body" idx="1"/>
          </p:nvPr>
        </p:nvSpPr>
        <p:spPr>
          <a:xfrm>
            <a:off x="898525" y="2041525"/>
            <a:ext cx="7786688" cy="2857500"/>
          </a:xfrm>
        </p:spPr>
        <p:txBody>
          <a:bodyPr/>
          <a:lstStyle/>
          <a:p>
            <a:pPr eaLnBrk="1" hangingPunct="1">
              <a:lnSpc>
                <a:spcPts val="3200"/>
              </a:lnSpc>
              <a:buClr>
                <a:srgbClr val="0000CC"/>
              </a:buClr>
              <a:buFont typeface="Wingdings" panose="05000000000000000000" pitchFamily="2" charset="2"/>
              <a:buChar char="u"/>
            </a:pPr>
            <a:r>
              <a:rPr lang="en-US" altLang="zh-CN" sz="2000">
                <a:latin typeface="Arial" panose="020B0604020202020204" pitchFamily="34" charset="0"/>
                <a:ea typeface="微软雅黑" panose="020B0503020204020204" pitchFamily="34" charset="-122"/>
                <a:cs typeface="Arial" panose="020B0604020202020204" pitchFamily="34" charset="0"/>
              </a:rPr>
              <a:t>RSCC</a:t>
            </a:r>
            <a:r>
              <a:rPr lang="zh-CN" altLang="en-US" sz="2000">
                <a:latin typeface="Arial" panose="020B0604020202020204" pitchFamily="34" charset="0"/>
                <a:ea typeface="微软雅黑" panose="020B0503020204020204" pitchFamily="34" charset="-122"/>
                <a:cs typeface="Arial" panose="020B0604020202020204" pitchFamily="34" charset="0"/>
              </a:rPr>
              <a:t>编码器和卷积码</a:t>
            </a:r>
            <a:endParaRPr lang="en-US" altLang="zh-CN" sz="2000">
              <a:latin typeface="Arial" panose="020B0604020202020204" pitchFamily="34" charset="0"/>
              <a:ea typeface="微软雅黑" panose="020B0503020204020204" pitchFamily="34" charset="-122"/>
              <a:cs typeface="Arial" panose="020B0604020202020204" pitchFamily="34" charset="0"/>
            </a:endParaRPr>
          </a:p>
          <a:p>
            <a:pPr eaLnBrk="1" hangingPunct="1">
              <a:lnSpc>
                <a:spcPts val="3200"/>
              </a:lnSpc>
              <a:buClr>
                <a:srgbClr val="0000CC"/>
              </a:buClr>
              <a:buFont typeface="Wingdings" panose="05000000000000000000" pitchFamily="2" charset="2"/>
              <a:buNone/>
            </a:pPr>
            <a:r>
              <a:rPr lang="zh-CN" altLang="en-US" sz="2000">
                <a:latin typeface="Arial" panose="020B0604020202020204" pitchFamily="34" charset="0"/>
                <a:ea typeface="微软雅黑" panose="020B0503020204020204" pitchFamily="34" charset="-122"/>
                <a:cs typeface="Arial" panose="020B0604020202020204" pitchFamily="34" charset="0"/>
              </a:rPr>
              <a:t>编码器之间的主要区别：</a:t>
            </a:r>
            <a:endParaRPr lang="en-US" altLang="zh-CN" sz="2000">
              <a:latin typeface="Arial" panose="020B0604020202020204" pitchFamily="34" charset="0"/>
              <a:ea typeface="微软雅黑" panose="020B0503020204020204" pitchFamily="34" charset="-122"/>
              <a:cs typeface="Arial" panose="020B0604020202020204" pitchFamily="34" charset="0"/>
            </a:endParaRPr>
          </a:p>
          <a:p>
            <a:pPr eaLnBrk="1" hangingPunct="1">
              <a:lnSpc>
                <a:spcPts val="3200"/>
              </a:lnSpc>
              <a:buClr>
                <a:srgbClr val="0000CC"/>
              </a:buClr>
              <a:buFont typeface="Wingdings" panose="05000000000000000000" pitchFamily="2" charset="2"/>
              <a:buNone/>
            </a:pPr>
            <a:r>
              <a:rPr lang="zh-CN" altLang="en-US" sz="2000">
                <a:latin typeface="Arial" panose="020B0604020202020204" pitchFamily="34" charset="0"/>
                <a:ea typeface="微软雅黑" panose="020B0503020204020204" pitchFamily="34" charset="-122"/>
                <a:cs typeface="Arial" panose="020B0604020202020204" pitchFamily="34" charset="0"/>
              </a:rPr>
              <a:t>从移存器输出端到信息位</a:t>
            </a:r>
            <a:endParaRPr lang="en-US" altLang="zh-CN" sz="2000">
              <a:latin typeface="Arial" panose="020B0604020202020204" pitchFamily="34" charset="0"/>
              <a:ea typeface="微软雅黑" panose="020B0503020204020204" pitchFamily="34" charset="-122"/>
              <a:cs typeface="Arial" panose="020B0604020202020204" pitchFamily="34" charset="0"/>
            </a:endParaRPr>
          </a:p>
          <a:p>
            <a:pPr eaLnBrk="1" hangingPunct="1">
              <a:lnSpc>
                <a:spcPts val="3200"/>
              </a:lnSpc>
              <a:buClr>
                <a:srgbClr val="0000CC"/>
              </a:buClr>
              <a:buFont typeface="Wingdings" panose="05000000000000000000" pitchFamily="2" charset="2"/>
              <a:buNone/>
            </a:pPr>
            <a:r>
              <a:rPr lang="zh-CN" altLang="en-US" sz="2000">
                <a:latin typeface="Arial" panose="020B0604020202020204" pitchFamily="34" charset="0"/>
                <a:ea typeface="微软雅黑" panose="020B0503020204020204" pitchFamily="34" charset="-122"/>
                <a:cs typeface="Arial" panose="020B0604020202020204" pitchFamily="34" charset="0"/>
              </a:rPr>
              <a:t>输入端之间有反馈路径。</a:t>
            </a:r>
            <a:endParaRPr lang="en-US" altLang="zh-CN" sz="2000">
              <a:latin typeface="Arial" panose="020B0604020202020204" pitchFamily="34" charset="0"/>
              <a:ea typeface="微软雅黑" panose="020B0503020204020204" pitchFamily="34" charset="-122"/>
              <a:cs typeface="Arial" panose="020B0604020202020204" pitchFamily="34" charset="0"/>
            </a:endParaRPr>
          </a:p>
          <a:p>
            <a:pPr eaLnBrk="1" hangingPunct="1">
              <a:lnSpc>
                <a:spcPts val="3200"/>
              </a:lnSpc>
              <a:buClr>
                <a:srgbClr val="0000CC"/>
              </a:buClr>
              <a:buFont typeface="Wingdings" panose="05000000000000000000" pitchFamily="2" charset="2"/>
              <a:buChar char="u"/>
            </a:pPr>
            <a:r>
              <a:rPr lang="zh-CN" altLang="en-US" sz="2000">
                <a:latin typeface="Arial" panose="020B0604020202020204" pitchFamily="34" charset="0"/>
                <a:ea typeface="微软雅黑" panose="020B0503020204020204" pitchFamily="34" charset="-122"/>
                <a:cs typeface="Arial" panose="020B0604020202020204" pitchFamily="34" charset="0"/>
              </a:rPr>
              <a:t>原来的卷积码编码器像是一个</a:t>
            </a:r>
            <a:r>
              <a:rPr lang="en-US" altLang="zh-CN" sz="2000">
                <a:latin typeface="Arial" panose="020B0604020202020204" pitchFamily="34" charset="0"/>
                <a:ea typeface="微软雅黑" panose="020B0503020204020204" pitchFamily="34" charset="-122"/>
                <a:cs typeface="Arial" panose="020B0604020202020204" pitchFamily="34" charset="0"/>
              </a:rPr>
              <a:t>FIR</a:t>
            </a:r>
            <a:r>
              <a:rPr lang="zh-CN" altLang="en-US" sz="2000">
                <a:latin typeface="Arial" panose="020B0604020202020204" pitchFamily="34" charset="0"/>
                <a:ea typeface="微软雅黑" panose="020B0503020204020204" pitchFamily="34" charset="-122"/>
                <a:cs typeface="Arial" panose="020B0604020202020204" pitchFamily="34" charset="0"/>
              </a:rPr>
              <a:t>数字滤波器。增加了反馈路径</a:t>
            </a:r>
            <a:endParaRPr lang="en-US" altLang="zh-CN" sz="2000">
              <a:latin typeface="Arial" panose="020B0604020202020204" pitchFamily="34" charset="0"/>
              <a:ea typeface="微软雅黑" panose="020B0503020204020204" pitchFamily="34" charset="-122"/>
              <a:cs typeface="Arial" panose="020B0604020202020204" pitchFamily="34" charset="0"/>
            </a:endParaRPr>
          </a:p>
          <a:p>
            <a:pPr eaLnBrk="1" hangingPunct="1">
              <a:lnSpc>
                <a:spcPts val="3200"/>
              </a:lnSpc>
              <a:buClr>
                <a:srgbClr val="0000CC"/>
              </a:buClr>
              <a:buFont typeface="Wingdings" panose="05000000000000000000" pitchFamily="2" charset="2"/>
              <a:buNone/>
            </a:pPr>
            <a:r>
              <a:rPr lang="zh-CN" altLang="en-US" sz="2000">
                <a:latin typeface="Arial" panose="020B0604020202020204" pitchFamily="34" charset="0"/>
                <a:ea typeface="微软雅黑" panose="020B0503020204020204" pitchFamily="34" charset="-122"/>
                <a:cs typeface="Arial" panose="020B0604020202020204" pitchFamily="34" charset="0"/>
              </a:rPr>
              <a:t>后，它就变成了一个</a:t>
            </a:r>
            <a:r>
              <a:rPr lang="en-US" altLang="zh-CN" sz="2000">
                <a:latin typeface="Arial" panose="020B0604020202020204" pitchFamily="34" charset="0"/>
                <a:ea typeface="微软雅黑" panose="020B0503020204020204" pitchFamily="34" charset="-122"/>
                <a:cs typeface="Arial" panose="020B0604020202020204" pitchFamily="34" charset="0"/>
              </a:rPr>
              <a:t>IIR</a:t>
            </a:r>
            <a:r>
              <a:rPr lang="zh-CN" altLang="en-US" sz="2000">
                <a:latin typeface="Arial" panose="020B0604020202020204" pitchFamily="34" charset="0"/>
                <a:ea typeface="微软雅黑" panose="020B0503020204020204" pitchFamily="34" charset="-122"/>
                <a:cs typeface="Arial" panose="020B0604020202020204" pitchFamily="34" charset="0"/>
              </a:rPr>
              <a:t>滤波器，或称递归滤波器。</a:t>
            </a:r>
          </a:p>
        </p:txBody>
      </p:sp>
      <p:sp>
        <p:nvSpPr>
          <p:cNvPr id="25" name="矩形 24">
            <a:extLst>
              <a:ext uri="{FF2B5EF4-FFF2-40B4-BE49-F238E27FC236}">
                <a16:creationId xmlns:a16="http://schemas.microsoft.com/office/drawing/2014/main" id="{94F22F25-5814-79AC-17B4-2BCE16A99F90}"/>
              </a:ext>
            </a:extLst>
          </p:cNvPr>
          <p:cNvSpPr/>
          <p:nvPr/>
        </p:nvSpPr>
        <p:spPr>
          <a:xfrm>
            <a:off x="500063" y="500063"/>
            <a:ext cx="5715000" cy="503237"/>
          </a:xfrm>
          <a:prstGeom prst="rect">
            <a:avLst/>
          </a:prstGeom>
        </p:spPr>
        <p:txBody>
          <a:bodyPr>
            <a:spAutoFit/>
          </a:bodyPr>
          <a:lstStyle/>
          <a:p>
            <a:pPr marL="342900" indent="-342900">
              <a:lnSpc>
                <a:spcPts val="3200"/>
              </a:lnSpc>
              <a:spcBef>
                <a:spcPct val="20000"/>
              </a:spcBef>
              <a:buClr>
                <a:srgbClr val="FF0000"/>
              </a:buClr>
              <a:buSzPct val="80000"/>
              <a:buFont typeface="Wingdings" pitchFamily="2" charset="2"/>
              <a:buChar char="n"/>
              <a:defRPr/>
            </a:pPr>
            <a:r>
              <a:rPr kumimoji="0" lang="en-US" altLang="zh-CN" sz="2800" kern="0" dirty="0">
                <a:solidFill>
                  <a:srgbClr val="000000"/>
                </a:solidFill>
                <a:latin typeface="Arial" pitchFamily="34" charset="0"/>
                <a:ea typeface="微软雅黑" pitchFamily="34" charset="-122"/>
                <a:cs typeface="Arial" pitchFamily="34" charset="0"/>
              </a:rPr>
              <a:t>Turbo</a:t>
            </a:r>
            <a:r>
              <a:rPr kumimoji="0" lang="zh-CN" altLang="en-US" sz="2800" kern="0" dirty="0">
                <a:solidFill>
                  <a:srgbClr val="000000"/>
                </a:solidFill>
                <a:latin typeface="Arial" pitchFamily="34" charset="0"/>
                <a:ea typeface="微软雅黑" pitchFamily="34" charset="-122"/>
                <a:cs typeface="Arial" pitchFamily="34" charset="0"/>
              </a:rPr>
              <a:t>码 </a:t>
            </a:r>
            <a:r>
              <a:rPr lang="zh-CN" altLang="en-US" sz="2800" dirty="0">
                <a:solidFill>
                  <a:schemeClr val="tx1"/>
                </a:solidFill>
                <a:latin typeface="微软雅黑" pitchFamily="34" charset="-122"/>
                <a:ea typeface="微软雅黑" pitchFamily="34" charset="-122"/>
              </a:rPr>
              <a:t>编码器</a:t>
            </a:r>
            <a:endParaRPr kumimoji="0" lang="zh-CN" altLang="en-US" sz="2800" kern="0" dirty="0">
              <a:solidFill>
                <a:schemeClr val="tx1"/>
              </a:solidFill>
              <a:latin typeface="微软雅黑" pitchFamily="34" charset="-122"/>
              <a:ea typeface="微软雅黑" pitchFamily="34" charset="-122"/>
              <a:cs typeface="Arial" pitchFamily="34" charset="0"/>
            </a:endParaRPr>
          </a:p>
        </p:txBody>
      </p:sp>
      <p:sp>
        <p:nvSpPr>
          <p:cNvPr id="26" name="矩形 25">
            <a:extLst>
              <a:ext uri="{FF2B5EF4-FFF2-40B4-BE49-F238E27FC236}">
                <a16:creationId xmlns:a16="http://schemas.microsoft.com/office/drawing/2014/main" id="{A09C8C65-0F6B-A89C-6CE6-65591AB190E8}"/>
              </a:ext>
            </a:extLst>
          </p:cNvPr>
          <p:cNvSpPr/>
          <p:nvPr/>
        </p:nvSpPr>
        <p:spPr>
          <a:xfrm>
            <a:off x="900113" y="1214438"/>
            <a:ext cx="7143750" cy="400050"/>
          </a:xfrm>
          <a:prstGeom prst="rect">
            <a:avLst/>
          </a:prstGeom>
        </p:spPr>
        <p:txBody>
          <a:bodyPr>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它由一对递归系统卷积码</a:t>
            </a:r>
            <a:r>
              <a:rPr kumimoji="0" lang="en-US" altLang="zh-CN" sz="2000" b="0" kern="0" dirty="0">
                <a:solidFill>
                  <a:srgbClr val="000000"/>
                </a:solidFill>
                <a:latin typeface="Arial" pitchFamily="34" charset="0"/>
                <a:ea typeface="微软雅黑" pitchFamily="34" charset="-122"/>
                <a:cs typeface="Arial" pitchFamily="34" charset="0"/>
              </a:rPr>
              <a:t>(RSCC)</a:t>
            </a: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编码器</a:t>
            </a:r>
            <a:r>
              <a:rPr kumimoji="0" lang="zh-CN" altLang="en-US" sz="2000" b="0" kern="0" dirty="0">
                <a:solidFill>
                  <a:srgbClr val="000000"/>
                </a:solidFill>
                <a:latin typeface="Arial" pitchFamily="34" charset="0"/>
                <a:ea typeface="微软雅黑" pitchFamily="34" charset="-122"/>
                <a:cs typeface="Arial" pitchFamily="34" charset="0"/>
              </a:rPr>
              <a:t>和一个</a:t>
            </a:r>
            <a:r>
              <a:rPr kumimoji="0" lang="zh-CN" altLang="en-US" sz="2000" b="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交织器</a:t>
            </a:r>
            <a:r>
              <a:rPr kumimoji="0" lang="zh-CN" altLang="en-US" sz="2000" b="0" kern="0" dirty="0">
                <a:solidFill>
                  <a:srgbClr val="000000"/>
                </a:solidFill>
                <a:latin typeface="Arial" pitchFamily="34" charset="0"/>
                <a:ea typeface="微软雅黑" pitchFamily="34" charset="-122"/>
                <a:cs typeface="Arial" pitchFamily="34" charset="0"/>
              </a:rPr>
              <a:t>组成：</a:t>
            </a:r>
            <a:endParaRPr lang="zh-CN" altLang="en-US" sz="2000" dirty="0">
              <a:latin typeface="Arial" pitchFamily="34" charset="0"/>
              <a:ea typeface="微软雅黑" pitchFamily="34" charset="-122"/>
              <a:cs typeface="Arial" pitchFamily="34" charset="0"/>
            </a:endParaRPr>
          </a:p>
        </p:txBody>
      </p:sp>
      <p:grpSp>
        <p:nvGrpSpPr>
          <p:cNvPr id="2" name="组合 44">
            <a:extLst>
              <a:ext uri="{FF2B5EF4-FFF2-40B4-BE49-F238E27FC236}">
                <a16:creationId xmlns:a16="http://schemas.microsoft.com/office/drawing/2014/main" id="{8CC9A4F6-52ED-9AA9-A34C-65284E0217CA}"/>
              </a:ext>
            </a:extLst>
          </p:cNvPr>
          <p:cNvGrpSpPr>
            <a:grpSpLocks/>
          </p:cNvGrpSpPr>
          <p:nvPr/>
        </p:nvGrpSpPr>
        <p:grpSpPr bwMode="auto">
          <a:xfrm>
            <a:off x="4500563" y="1571625"/>
            <a:ext cx="3959225" cy="1957388"/>
            <a:chOff x="4500563" y="1571625"/>
            <a:chExt cx="3959225" cy="1957388"/>
          </a:xfrm>
        </p:grpSpPr>
        <p:grpSp>
          <p:nvGrpSpPr>
            <p:cNvPr id="150535" name="Group 6">
              <a:extLst>
                <a:ext uri="{FF2B5EF4-FFF2-40B4-BE49-F238E27FC236}">
                  <a16:creationId xmlns:a16="http://schemas.microsoft.com/office/drawing/2014/main" id="{F82BDF8B-E992-7963-9597-25FB0AD97CAF}"/>
                </a:ext>
              </a:extLst>
            </p:cNvPr>
            <p:cNvGrpSpPr>
              <a:grpSpLocks/>
            </p:cNvGrpSpPr>
            <p:nvPr/>
          </p:nvGrpSpPr>
          <p:grpSpPr bwMode="auto">
            <a:xfrm>
              <a:off x="4500563" y="1571625"/>
              <a:ext cx="3959225" cy="1957388"/>
              <a:chOff x="2327" y="12460"/>
              <a:chExt cx="3564" cy="2018"/>
            </a:xfrm>
          </p:grpSpPr>
          <p:grpSp>
            <p:nvGrpSpPr>
              <p:cNvPr id="150537" name="Group 7">
                <a:extLst>
                  <a:ext uri="{FF2B5EF4-FFF2-40B4-BE49-F238E27FC236}">
                    <a16:creationId xmlns:a16="http://schemas.microsoft.com/office/drawing/2014/main" id="{5D83BE90-5AEE-284A-8948-7DE765B7C338}"/>
                  </a:ext>
                </a:extLst>
              </p:cNvPr>
              <p:cNvGrpSpPr>
                <a:grpSpLocks/>
              </p:cNvGrpSpPr>
              <p:nvPr/>
            </p:nvGrpSpPr>
            <p:grpSpPr bwMode="auto">
              <a:xfrm>
                <a:off x="2364" y="12750"/>
                <a:ext cx="3108" cy="1728"/>
                <a:chOff x="2364" y="12750"/>
                <a:chExt cx="3108" cy="1728"/>
              </a:xfrm>
            </p:grpSpPr>
            <p:grpSp>
              <p:nvGrpSpPr>
                <p:cNvPr id="150542" name="Group 8">
                  <a:extLst>
                    <a:ext uri="{FF2B5EF4-FFF2-40B4-BE49-F238E27FC236}">
                      <a16:creationId xmlns:a16="http://schemas.microsoft.com/office/drawing/2014/main" id="{364B6DE6-F5D9-9AC6-9F7C-B349D10BCF3E}"/>
                    </a:ext>
                  </a:extLst>
                </p:cNvPr>
                <p:cNvGrpSpPr>
                  <a:grpSpLocks/>
                </p:cNvGrpSpPr>
                <p:nvPr/>
              </p:nvGrpSpPr>
              <p:grpSpPr bwMode="auto">
                <a:xfrm>
                  <a:off x="2506" y="13077"/>
                  <a:ext cx="2552" cy="1401"/>
                  <a:chOff x="2506" y="13077"/>
                  <a:chExt cx="2552" cy="1401"/>
                </a:xfrm>
              </p:grpSpPr>
              <p:sp>
                <p:nvSpPr>
                  <p:cNvPr id="150550" name="Text Box 9">
                    <a:extLst>
                      <a:ext uri="{FF2B5EF4-FFF2-40B4-BE49-F238E27FC236}">
                        <a16:creationId xmlns:a16="http://schemas.microsoft.com/office/drawing/2014/main" id="{DE3BBADD-4246-3A07-6454-3FE9F64AF0D2}"/>
                      </a:ext>
                    </a:extLst>
                  </p:cNvPr>
                  <p:cNvSpPr txBox="1">
                    <a:spLocks noChangeArrowheads="1"/>
                  </p:cNvSpPr>
                  <p:nvPr/>
                </p:nvSpPr>
                <p:spPr bwMode="auto">
                  <a:xfrm>
                    <a:off x="3906" y="13077"/>
                    <a:ext cx="1152" cy="576"/>
                  </a:xfrm>
                  <a:prstGeom prst="rect">
                    <a:avLst/>
                  </a:prstGeom>
                  <a:solidFill>
                    <a:srgbClr val="FFFFFF"/>
                  </a:solidFill>
                  <a:ln w="9525">
                    <a:solidFill>
                      <a:srgbClr val="000000"/>
                    </a:solidFill>
                    <a:miter lim="800000"/>
                    <a:headEnd/>
                    <a:tailEnd/>
                  </a:ln>
                </p:spPr>
                <p:txBody>
                  <a:bodyPr t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ts val="2600"/>
                      </a:lnSpc>
                    </a:pPr>
                    <a:r>
                      <a:rPr lang="en-US" altLang="zh-CN" sz="2000">
                        <a:solidFill>
                          <a:srgbClr val="003399"/>
                        </a:solidFill>
                        <a:latin typeface="Arial" panose="020B0604020202020204" pitchFamily="34" charset="0"/>
                        <a:ea typeface="微软雅黑" panose="020B0503020204020204" pitchFamily="34" charset="-122"/>
                        <a:cs typeface="Arial" panose="020B0604020202020204" pitchFamily="34" charset="0"/>
                      </a:rPr>
                      <a:t>RSCC</a:t>
                    </a:r>
                  </a:p>
                  <a:p>
                    <a:pPr algn="ctr" eaLnBrk="1" hangingPunct="1">
                      <a:lnSpc>
                        <a:spcPts val="2600"/>
                      </a:lnSpc>
                    </a:pPr>
                    <a:r>
                      <a:rPr lang="zh-CN" altLang="en-US" sz="2800" baseline="30000">
                        <a:solidFill>
                          <a:srgbClr val="003399"/>
                        </a:solidFill>
                        <a:latin typeface="Arial" panose="020B0604020202020204" pitchFamily="34" charset="0"/>
                        <a:ea typeface="微软雅黑" panose="020B0503020204020204" pitchFamily="34" charset="-122"/>
                        <a:cs typeface="Arial" panose="020B0604020202020204" pitchFamily="34" charset="0"/>
                      </a:rPr>
                      <a:t>编码器</a:t>
                    </a:r>
                  </a:p>
                  <a:p>
                    <a:pPr eaLnBrk="1" hangingPunct="1">
                      <a:lnSpc>
                        <a:spcPts val="2600"/>
                      </a:lnSpc>
                    </a:pPr>
                    <a:endParaRPr lang="en-US" altLang="zh-CN" sz="20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150551" name="Text Box 10">
                    <a:extLst>
                      <a:ext uri="{FF2B5EF4-FFF2-40B4-BE49-F238E27FC236}">
                        <a16:creationId xmlns:a16="http://schemas.microsoft.com/office/drawing/2014/main" id="{1DD57ADE-6816-D80F-1BE6-1ED5A8049AF2}"/>
                      </a:ext>
                    </a:extLst>
                  </p:cNvPr>
                  <p:cNvSpPr txBox="1">
                    <a:spLocks noChangeArrowheads="1"/>
                  </p:cNvSpPr>
                  <p:nvPr/>
                </p:nvSpPr>
                <p:spPr bwMode="auto">
                  <a:xfrm>
                    <a:off x="2506" y="13934"/>
                    <a:ext cx="844" cy="502"/>
                  </a:xfrm>
                  <a:prstGeom prst="rect">
                    <a:avLst/>
                  </a:prstGeom>
                  <a:solidFill>
                    <a:srgbClr val="FFFFFF"/>
                  </a:solidFill>
                  <a:ln w="9525">
                    <a:solidFill>
                      <a:srgbClr val="000000"/>
                    </a:solidFill>
                    <a:miter lim="800000"/>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150000"/>
                      </a:lnSpc>
                    </a:pPr>
                    <a:r>
                      <a:rPr lang="zh-CN" altLang="en-US" sz="1800">
                        <a:solidFill>
                          <a:srgbClr val="003399"/>
                        </a:solidFill>
                        <a:latin typeface="Arial" panose="020B0604020202020204" pitchFamily="34" charset="0"/>
                        <a:ea typeface="微软雅黑" panose="020B0503020204020204" pitchFamily="34" charset="-122"/>
                        <a:cs typeface="Arial" panose="020B0604020202020204" pitchFamily="34" charset="0"/>
                      </a:rPr>
                      <a:t>交织器</a:t>
                    </a:r>
                  </a:p>
                </p:txBody>
              </p:sp>
              <p:sp>
                <p:nvSpPr>
                  <p:cNvPr id="150552" name="Text Box 11">
                    <a:extLst>
                      <a:ext uri="{FF2B5EF4-FFF2-40B4-BE49-F238E27FC236}">
                        <a16:creationId xmlns:a16="http://schemas.microsoft.com/office/drawing/2014/main" id="{6C80AB56-3170-0780-42FE-770F8C4766F7}"/>
                      </a:ext>
                    </a:extLst>
                  </p:cNvPr>
                  <p:cNvSpPr txBox="1">
                    <a:spLocks noChangeArrowheads="1"/>
                  </p:cNvSpPr>
                  <p:nvPr/>
                </p:nvSpPr>
                <p:spPr bwMode="auto">
                  <a:xfrm>
                    <a:off x="3906" y="13902"/>
                    <a:ext cx="1152" cy="576"/>
                  </a:xfrm>
                  <a:prstGeom prst="rect">
                    <a:avLst/>
                  </a:prstGeom>
                  <a:solidFill>
                    <a:srgbClr val="FFFFFF"/>
                  </a:solidFill>
                  <a:ln w="9525">
                    <a:solidFill>
                      <a:srgbClr val="000000"/>
                    </a:solidFill>
                    <a:miter lim="800000"/>
                    <a:headEnd/>
                    <a:tailEnd/>
                  </a:ln>
                </p:spPr>
                <p:txBody>
                  <a:bodyPr tIns="0" bIns="0"/>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ts val="2600"/>
                      </a:lnSpc>
                    </a:pPr>
                    <a:r>
                      <a:rPr lang="en-US" altLang="zh-CN" sz="2000">
                        <a:solidFill>
                          <a:srgbClr val="003399"/>
                        </a:solidFill>
                        <a:latin typeface="Arial" panose="020B0604020202020204" pitchFamily="34" charset="0"/>
                        <a:ea typeface="微软雅黑" panose="020B0503020204020204" pitchFamily="34" charset="-122"/>
                        <a:cs typeface="Arial" panose="020B0604020202020204" pitchFamily="34" charset="0"/>
                      </a:rPr>
                      <a:t>RSCC</a:t>
                    </a:r>
                  </a:p>
                  <a:p>
                    <a:pPr algn="ctr" eaLnBrk="1" hangingPunct="1">
                      <a:lnSpc>
                        <a:spcPts val="2600"/>
                      </a:lnSpc>
                    </a:pPr>
                    <a:r>
                      <a:rPr lang="zh-CN" altLang="en-US" sz="2800" baseline="30000">
                        <a:solidFill>
                          <a:srgbClr val="003399"/>
                        </a:solidFill>
                        <a:latin typeface="Arial" panose="020B0604020202020204" pitchFamily="34" charset="0"/>
                        <a:ea typeface="微软雅黑" panose="020B0503020204020204" pitchFamily="34" charset="-122"/>
                        <a:cs typeface="Arial" panose="020B0604020202020204" pitchFamily="34" charset="0"/>
                      </a:rPr>
                      <a:t>编码器</a:t>
                    </a:r>
                    <a:endParaRPr lang="zh-CN" altLang="en-US" sz="28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50543" name="Group 12">
                  <a:extLst>
                    <a:ext uri="{FF2B5EF4-FFF2-40B4-BE49-F238E27FC236}">
                      <a16:creationId xmlns:a16="http://schemas.microsoft.com/office/drawing/2014/main" id="{0F25A545-DBEE-39B7-0BD5-EF747FCC9612}"/>
                    </a:ext>
                  </a:extLst>
                </p:cNvPr>
                <p:cNvGrpSpPr>
                  <a:grpSpLocks/>
                </p:cNvGrpSpPr>
                <p:nvPr/>
              </p:nvGrpSpPr>
              <p:grpSpPr bwMode="auto">
                <a:xfrm>
                  <a:off x="2364" y="12750"/>
                  <a:ext cx="3108" cy="1449"/>
                  <a:chOff x="2364" y="12750"/>
                  <a:chExt cx="3108" cy="1449"/>
                </a:xfrm>
              </p:grpSpPr>
              <p:sp>
                <p:nvSpPr>
                  <p:cNvPr id="150544" name="Line 14">
                    <a:extLst>
                      <a:ext uri="{FF2B5EF4-FFF2-40B4-BE49-F238E27FC236}">
                        <a16:creationId xmlns:a16="http://schemas.microsoft.com/office/drawing/2014/main" id="{A2E40949-6D82-4EA5-258E-C3B494C6F52A}"/>
                      </a:ext>
                    </a:extLst>
                  </p:cNvPr>
                  <p:cNvSpPr>
                    <a:spLocks noChangeShapeType="1"/>
                  </p:cNvSpPr>
                  <p:nvPr/>
                </p:nvSpPr>
                <p:spPr bwMode="auto">
                  <a:xfrm>
                    <a:off x="5070" y="14199"/>
                    <a:ext cx="40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0545" name="Line 15">
                    <a:extLst>
                      <a:ext uri="{FF2B5EF4-FFF2-40B4-BE49-F238E27FC236}">
                        <a16:creationId xmlns:a16="http://schemas.microsoft.com/office/drawing/2014/main" id="{365B587C-F643-E2B7-9CCF-EE4746B422C3}"/>
                      </a:ext>
                    </a:extLst>
                  </p:cNvPr>
                  <p:cNvSpPr>
                    <a:spLocks noChangeShapeType="1"/>
                  </p:cNvSpPr>
                  <p:nvPr/>
                </p:nvSpPr>
                <p:spPr bwMode="auto">
                  <a:xfrm>
                    <a:off x="5058" y="13362"/>
                    <a:ext cx="40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0546" name="Line 16">
                    <a:extLst>
                      <a:ext uri="{FF2B5EF4-FFF2-40B4-BE49-F238E27FC236}">
                        <a16:creationId xmlns:a16="http://schemas.microsoft.com/office/drawing/2014/main" id="{ABA33FA2-B97E-5D7C-6D16-111A1CC5EFD1}"/>
                      </a:ext>
                    </a:extLst>
                  </p:cNvPr>
                  <p:cNvSpPr>
                    <a:spLocks noChangeShapeType="1"/>
                  </p:cNvSpPr>
                  <p:nvPr/>
                </p:nvSpPr>
                <p:spPr bwMode="auto">
                  <a:xfrm>
                    <a:off x="2364" y="13362"/>
                    <a:ext cx="154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0547" name="Line 17">
                    <a:extLst>
                      <a:ext uri="{FF2B5EF4-FFF2-40B4-BE49-F238E27FC236}">
                        <a16:creationId xmlns:a16="http://schemas.microsoft.com/office/drawing/2014/main" id="{EF6F0B67-EB5F-4FBB-21A4-2018B8D5C44C}"/>
                      </a:ext>
                    </a:extLst>
                  </p:cNvPr>
                  <p:cNvSpPr>
                    <a:spLocks noChangeShapeType="1"/>
                  </p:cNvSpPr>
                  <p:nvPr/>
                </p:nvSpPr>
                <p:spPr bwMode="auto">
                  <a:xfrm>
                    <a:off x="2931" y="13362"/>
                    <a:ext cx="0" cy="57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0548" name="Line 18">
                    <a:extLst>
                      <a:ext uri="{FF2B5EF4-FFF2-40B4-BE49-F238E27FC236}">
                        <a16:creationId xmlns:a16="http://schemas.microsoft.com/office/drawing/2014/main" id="{75087CAE-DB71-8AF2-6356-8D3BA294402E}"/>
                      </a:ext>
                    </a:extLst>
                  </p:cNvPr>
                  <p:cNvSpPr>
                    <a:spLocks noChangeShapeType="1"/>
                  </p:cNvSpPr>
                  <p:nvPr/>
                </p:nvSpPr>
                <p:spPr bwMode="auto">
                  <a:xfrm>
                    <a:off x="3414" y="12750"/>
                    <a:ext cx="204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0549" name="Line 19">
                    <a:extLst>
                      <a:ext uri="{FF2B5EF4-FFF2-40B4-BE49-F238E27FC236}">
                        <a16:creationId xmlns:a16="http://schemas.microsoft.com/office/drawing/2014/main" id="{9E951507-5E1E-659C-6574-5B7A967001DD}"/>
                      </a:ext>
                    </a:extLst>
                  </p:cNvPr>
                  <p:cNvSpPr>
                    <a:spLocks noChangeShapeType="1"/>
                  </p:cNvSpPr>
                  <p:nvPr/>
                </p:nvSpPr>
                <p:spPr bwMode="auto">
                  <a:xfrm>
                    <a:off x="3414" y="12759"/>
                    <a:ext cx="0" cy="60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50538" name="Text Box 20">
                <a:extLst>
                  <a:ext uri="{FF2B5EF4-FFF2-40B4-BE49-F238E27FC236}">
                    <a16:creationId xmlns:a16="http://schemas.microsoft.com/office/drawing/2014/main" id="{5C9C7F54-77A8-36A2-0689-277282E85C7A}"/>
                  </a:ext>
                </a:extLst>
              </p:cNvPr>
              <p:cNvSpPr txBox="1">
                <a:spLocks noChangeArrowheads="1"/>
              </p:cNvSpPr>
              <p:nvPr/>
            </p:nvSpPr>
            <p:spPr bwMode="auto">
              <a:xfrm>
                <a:off x="2327" y="12894"/>
                <a:ext cx="477"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400" i="1">
                    <a:solidFill>
                      <a:srgbClr val="003399"/>
                    </a:solidFill>
                    <a:latin typeface="Arial" panose="020B0604020202020204" pitchFamily="34" charset="0"/>
                    <a:ea typeface="微软雅黑" panose="020B0503020204020204" pitchFamily="34" charset="-122"/>
                    <a:cs typeface="Arial" panose="020B0604020202020204" pitchFamily="34" charset="0"/>
                  </a:rPr>
                  <a:t>b</a:t>
                </a:r>
                <a:r>
                  <a:rPr lang="en-US" altLang="zh-CN" sz="2400" i="1" baseline="-25000">
                    <a:solidFill>
                      <a:srgbClr val="003399"/>
                    </a:solidFill>
                    <a:latin typeface="Arial" panose="020B0604020202020204" pitchFamily="34" charset="0"/>
                    <a:ea typeface="微软雅黑" panose="020B0503020204020204" pitchFamily="34" charset="-122"/>
                    <a:cs typeface="Arial" panose="020B0604020202020204" pitchFamily="34" charset="0"/>
                  </a:rPr>
                  <a:t>i</a:t>
                </a:r>
                <a:endParaRPr lang="en-US" altLang="zh-CN" sz="24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150539" name="Text Box 21">
                <a:extLst>
                  <a:ext uri="{FF2B5EF4-FFF2-40B4-BE49-F238E27FC236}">
                    <a16:creationId xmlns:a16="http://schemas.microsoft.com/office/drawing/2014/main" id="{F057F186-4858-ECC2-5251-DA95137A8FD7}"/>
                  </a:ext>
                </a:extLst>
              </p:cNvPr>
              <p:cNvSpPr txBox="1">
                <a:spLocks noChangeArrowheads="1"/>
              </p:cNvSpPr>
              <p:nvPr/>
            </p:nvSpPr>
            <p:spPr bwMode="auto">
              <a:xfrm>
                <a:off x="5387" y="12460"/>
                <a:ext cx="477"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400" i="1">
                    <a:solidFill>
                      <a:srgbClr val="003399"/>
                    </a:solidFill>
                    <a:latin typeface="Arial" panose="020B0604020202020204" pitchFamily="34" charset="0"/>
                    <a:ea typeface="微软雅黑" panose="020B0503020204020204" pitchFamily="34" charset="-122"/>
                    <a:cs typeface="Arial" panose="020B0604020202020204" pitchFamily="34" charset="0"/>
                  </a:rPr>
                  <a:t>b</a:t>
                </a:r>
                <a:r>
                  <a:rPr lang="en-US" altLang="zh-CN" sz="2400" i="1" baseline="-25000">
                    <a:solidFill>
                      <a:srgbClr val="003399"/>
                    </a:solidFill>
                    <a:latin typeface="Arial" panose="020B0604020202020204" pitchFamily="34" charset="0"/>
                    <a:ea typeface="微软雅黑" panose="020B0503020204020204" pitchFamily="34" charset="-122"/>
                    <a:cs typeface="Arial" panose="020B0604020202020204" pitchFamily="34" charset="0"/>
                  </a:rPr>
                  <a:t>i</a:t>
                </a:r>
                <a:endParaRPr lang="en-US" altLang="zh-CN" sz="24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150540" name="Text Box 22">
                <a:extLst>
                  <a:ext uri="{FF2B5EF4-FFF2-40B4-BE49-F238E27FC236}">
                    <a16:creationId xmlns:a16="http://schemas.microsoft.com/office/drawing/2014/main" id="{FA22238E-68FC-361E-9281-EE404693CF25}"/>
                  </a:ext>
                </a:extLst>
              </p:cNvPr>
              <p:cNvSpPr txBox="1">
                <a:spLocks noChangeArrowheads="1"/>
              </p:cNvSpPr>
              <p:nvPr/>
            </p:nvSpPr>
            <p:spPr bwMode="auto">
              <a:xfrm>
                <a:off x="5387" y="13050"/>
                <a:ext cx="477"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400" i="1">
                    <a:solidFill>
                      <a:srgbClr val="003399"/>
                    </a:solidFill>
                    <a:latin typeface="Arial" panose="020B0604020202020204" pitchFamily="34" charset="0"/>
                    <a:ea typeface="微软雅黑" panose="020B0503020204020204" pitchFamily="34" charset="-122"/>
                    <a:cs typeface="Arial" panose="020B0604020202020204" pitchFamily="34" charset="0"/>
                  </a:rPr>
                  <a:t>c</a:t>
                </a:r>
                <a:r>
                  <a:rPr lang="en-US" altLang="zh-CN" sz="2400" baseline="-25000">
                    <a:solidFill>
                      <a:srgbClr val="003399"/>
                    </a:solidFill>
                    <a:latin typeface="Arial" panose="020B0604020202020204" pitchFamily="34" charset="0"/>
                    <a:ea typeface="微软雅黑" panose="020B0503020204020204" pitchFamily="34" charset="-122"/>
                    <a:cs typeface="Arial" panose="020B0604020202020204" pitchFamily="34" charset="0"/>
                  </a:rPr>
                  <a:t>1</a:t>
                </a:r>
                <a:r>
                  <a:rPr lang="en-US" altLang="zh-CN" sz="2400" i="1" baseline="-25000">
                    <a:solidFill>
                      <a:srgbClr val="003399"/>
                    </a:solidFill>
                    <a:latin typeface="Arial" panose="020B0604020202020204" pitchFamily="34" charset="0"/>
                    <a:ea typeface="微软雅黑" panose="020B0503020204020204" pitchFamily="34" charset="-122"/>
                    <a:cs typeface="Arial" panose="020B0604020202020204" pitchFamily="34" charset="0"/>
                  </a:rPr>
                  <a:t>i</a:t>
                </a:r>
                <a:endParaRPr lang="en-US" altLang="zh-CN" sz="24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150541" name="Text Box 23">
                <a:extLst>
                  <a:ext uri="{FF2B5EF4-FFF2-40B4-BE49-F238E27FC236}">
                    <a16:creationId xmlns:a16="http://schemas.microsoft.com/office/drawing/2014/main" id="{1ED94671-C24C-8B1A-EBCE-32466AF8D117}"/>
                  </a:ext>
                </a:extLst>
              </p:cNvPr>
              <p:cNvSpPr txBox="1">
                <a:spLocks noChangeArrowheads="1"/>
              </p:cNvSpPr>
              <p:nvPr/>
            </p:nvSpPr>
            <p:spPr bwMode="auto">
              <a:xfrm>
                <a:off x="5414" y="13950"/>
                <a:ext cx="477"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400" i="1">
                    <a:solidFill>
                      <a:srgbClr val="003399"/>
                    </a:solidFill>
                    <a:latin typeface="Arial" panose="020B0604020202020204" pitchFamily="34" charset="0"/>
                    <a:ea typeface="微软雅黑" panose="020B0503020204020204" pitchFamily="34" charset="-122"/>
                    <a:cs typeface="Arial" panose="020B0604020202020204" pitchFamily="34" charset="0"/>
                  </a:rPr>
                  <a:t>c</a:t>
                </a:r>
                <a:r>
                  <a:rPr lang="en-US" altLang="zh-CN" sz="2400" baseline="-25000">
                    <a:solidFill>
                      <a:srgbClr val="003399"/>
                    </a:solidFill>
                    <a:latin typeface="Arial" panose="020B0604020202020204" pitchFamily="34" charset="0"/>
                    <a:ea typeface="微软雅黑" panose="020B0503020204020204" pitchFamily="34" charset="-122"/>
                    <a:cs typeface="Arial" panose="020B0604020202020204" pitchFamily="34" charset="0"/>
                  </a:rPr>
                  <a:t>2</a:t>
                </a:r>
                <a:r>
                  <a:rPr lang="en-US" altLang="zh-CN" sz="2400" i="1" baseline="-25000">
                    <a:solidFill>
                      <a:srgbClr val="003399"/>
                    </a:solidFill>
                    <a:latin typeface="Arial" panose="020B0604020202020204" pitchFamily="34" charset="0"/>
                    <a:ea typeface="微软雅黑" panose="020B0503020204020204" pitchFamily="34" charset="-122"/>
                    <a:cs typeface="Arial" panose="020B0604020202020204" pitchFamily="34" charset="0"/>
                  </a:rPr>
                  <a:t>i</a:t>
                </a:r>
                <a:endParaRPr lang="en-US" altLang="zh-CN" sz="24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grpSp>
        <p:cxnSp>
          <p:nvCxnSpPr>
            <p:cNvPr id="150536" name="直接箭头连接符 28">
              <a:extLst>
                <a:ext uri="{FF2B5EF4-FFF2-40B4-BE49-F238E27FC236}">
                  <a16:creationId xmlns:a16="http://schemas.microsoft.com/office/drawing/2014/main" id="{3A902109-CD4E-95E3-D0D8-E44C8FA51BD1}"/>
                </a:ext>
              </a:extLst>
            </p:cNvPr>
            <p:cNvCxnSpPr>
              <a:cxnSpLocks noChangeShapeType="1"/>
              <a:stCxn id="150551" idx="3"/>
              <a:endCxn id="150552" idx="1"/>
            </p:cNvCxnSpPr>
            <p:nvPr/>
          </p:nvCxnSpPr>
          <p:spPr bwMode="auto">
            <a:xfrm>
              <a:off x="5637213" y="3244850"/>
              <a:ext cx="617537" cy="4763"/>
            </a:xfrm>
            <a:prstGeom prst="straightConnector1">
              <a:avLst/>
            </a:prstGeom>
            <a:noFill/>
            <a:ln w="9525" algn="ctr">
              <a:solidFill>
                <a:schemeClr val="tx1"/>
              </a:solidFill>
              <a:miter lim="800000"/>
              <a:headEnd/>
              <a:tailEnd type="triangle" w="med" len="med"/>
            </a:ln>
            <a:extLst>
              <a:ext uri="{909E8E84-426E-40DD-AFC4-6F175D3DCCD1}">
                <a14:hiddenFill xmlns:a14="http://schemas.microsoft.com/office/drawing/2010/main">
                  <a:noFill/>
                </a14:hiddenFill>
              </a:ext>
            </a:extLst>
          </p:spPr>
        </p:cxnSp>
      </p:grpSp>
      <p:pic>
        <p:nvPicPr>
          <p:cNvPr id="151576" name="Picture 24">
            <a:extLst>
              <a:ext uri="{FF2B5EF4-FFF2-40B4-BE49-F238E27FC236}">
                <a16:creationId xmlns:a16="http://schemas.microsoft.com/office/drawing/2014/main" id="{BF913833-351E-C061-00BB-76B49EDEA5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263" y="5280025"/>
            <a:ext cx="7715250" cy="99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up)">
                                      <p:cBhvr>
                                        <p:cTn id="7" dur="1000"/>
                                        <p:tgtEl>
                                          <p:spTgt spid="26"/>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10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149507">
                                            <p:txEl>
                                              <p:pRg st="0" end="0"/>
                                            </p:txEl>
                                          </p:spTgt>
                                        </p:tgtEl>
                                        <p:attrNameLst>
                                          <p:attrName>style.visibility</p:attrName>
                                        </p:attrNameLst>
                                      </p:cBhvr>
                                      <p:to>
                                        <p:strVal val="visible"/>
                                      </p:to>
                                    </p:set>
                                    <p:animEffect transition="in" filter="wipe(up)">
                                      <p:cBhvr>
                                        <p:cTn id="16" dur="1000"/>
                                        <p:tgtEl>
                                          <p:spTgt spid="149507">
                                            <p:txEl>
                                              <p:pRg st="0" end="0"/>
                                            </p:txEl>
                                          </p:spTgt>
                                        </p:tgtEl>
                                      </p:cBhvr>
                                    </p:animEffect>
                                  </p:childTnLst>
                                </p:cTn>
                              </p:par>
                            </p:childTnLst>
                          </p:cTn>
                        </p:par>
                        <p:par>
                          <p:cTn id="17" fill="hold" nodeType="afterGroup">
                            <p:stCondLst>
                              <p:cond delay="1000"/>
                            </p:stCondLst>
                            <p:childTnLst>
                              <p:par>
                                <p:cTn id="18" presetID="22" presetClass="entr" presetSubtype="1" fill="hold" nodeType="afterEffect">
                                  <p:stCondLst>
                                    <p:cond delay="0"/>
                                  </p:stCondLst>
                                  <p:childTnLst>
                                    <p:set>
                                      <p:cBhvr>
                                        <p:cTn id="19" dur="1" fill="hold">
                                          <p:stCondLst>
                                            <p:cond delay="0"/>
                                          </p:stCondLst>
                                        </p:cTn>
                                        <p:tgtEl>
                                          <p:spTgt spid="149507">
                                            <p:txEl>
                                              <p:pRg st="1" end="1"/>
                                            </p:txEl>
                                          </p:spTgt>
                                        </p:tgtEl>
                                        <p:attrNameLst>
                                          <p:attrName>style.visibility</p:attrName>
                                        </p:attrNameLst>
                                      </p:cBhvr>
                                      <p:to>
                                        <p:strVal val="visible"/>
                                      </p:to>
                                    </p:set>
                                    <p:animEffect transition="in" filter="wipe(up)">
                                      <p:cBhvr>
                                        <p:cTn id="20" dur="1000"/>
                                        <p:tgtEl>
                                          <p:spTgt spid="149507">
                                            <p:txEl>
                                              <p:pRg st="1" end="1"/>
                                            </p:txEl>
                                          </p:spTgt>
                                        </p:tgtEl>
                                      </p:cBhvr>
                                    </p:animEffect>
                                  </p:childTnLst>
                                </p:cTn>
                              </p:par>
                            </p:childTnLst>
                          </p:cTn>
                        </p:par>
                        <p:par>
                          <p:cTn id="21" fill="hold" nodeType="afterGroup">
                            <p:stCondLst>
                              <p:cond delay="2000"/>
                            </p:stCondLst>
                            <p:childTnLst>
                              <p:par>
                                <p:cTn id="22" presetID="22" presetClass="entr" presetSubtype="1" fill="hold" nodeType="afterEffect">
                                  <p:stCondLst>
                                    <p:cond delay="0"/>
                                  </p:stCondLst>
                                  <p:childTnLst>
                                    <p:set>
                                      <p:cBhvr>
                                        <p:cTn id="23" dur="1" fill="hold">
                                          <p:stCondLst>
                                            <p:cond delay="0"/>
                                          </p:stCondLst>
                                        </p:cTn>
                                        <p:tgtEl>
                                          <p:spTgt spid="149507">
                                            <p:txEl>
                                              <p:pRg st="2" end="2"/>
                                            </p:txEl>
                                          </p:spTgt>
                                        </p:tgtEl>
                                        <p:attrNameLst>
                                          <p:attrName>style.visibility</p:attrName>
                                        </p:attrNameLst>
                                      </p:cBhvr>
                                      <p:to>
                                        <p:strVal val="visible"/>
                                      </p:to>
                                    </p:set>
                                    <p:animEffect transition="in" filter="wipe(up)">
                                      <p:cBhvr>
                                        <p:cTn id="24" dur="1000"/>
                                        <p:tgtEl>
                                          <p:spTgt spid="149507">
                                            <p:txEl>
                                              <p:pRg st="2" end="2"/>
                                            </p:txEl>
                                          </p:spTgt>
                                        </p:tgtEl>
                                      </p:cBhvr>
                                    </p:animEffect>
                                  </p:childTnLst>
                                </p:cTn>
                              </p:par>
                            </p:childTnLst>
                          </p:cTn>
                        </p:par>
                        <p:par>
                          <p:cTn id="25" fill="hold" nodeType="afterGroup">
                            <p:stCondLst>
                              <p:cond delay="3000"/>
                            </p:stCondLst>
                            <p:childTnLst>
                              <p:par>
                                <p:cTn id="26" presetID="22" presetClass="entr" presetSubtype="1" fill="hold" nodeType="afterEffect">
                                  <p:stCondLst>
                                    <p:cond delay="0"/>
                                  </p:stCondLst>
                                  <p:childTnLst>
                                    <p:set>
                                      <p:cBhvr>
                                        <p:cTn id="27" dur="1" fill="hold">
                                          <p:stCondLst>
                                            <p:cond delay="0"/>
                                          </p:stCondLst>
                                        </p:cTn>
                                        <p:tgtEl>
                                          <p:spTgt spid="149507">
                                            <p:txEl>
                                              <p:pRg st="3" end="3"/>
                                            </p:txEl>
                                          </p:spTgt>
                                        </p:tgtEl>
                                        <p:attrNameLst>
                                          <p:attrName>style.visibility</p:attrName>
                                        </p:attrNameLst>
                                      </p:cBhvr>
                                      <p:to>
                                        <p:strVal val="visible"/>
                                      </p:to>
                                    </p:set>
                                    <p:animEffect transition="in" filter="wipe(up)">
                                      <p:cBhvr>
                                        <p:cTn id="28" dur="1000"/>
                                        <p:tgtEl>
                                          <p:spTgt spid="149507">
                                            <p:txEl>
                                              <p:pRg st="3" end="3"/>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nodeType="clickEffect">
                                  <p:stCondLst>
                                    <p:cond delay="0"/>
                                  </p:stCondLst>
                                  <p:childTnLst>
                                    <p:set>
                                      <p:cBhvr>
                                        <p:cTn id="32" dur="1" fill="hold">
                                          <p:stCondLst>
                                            <p:cond delay="0"/>
                                          </p:stCondLst>
                                        </p:cTn>
                                        <p:tgtEl>
                                          <p:spTgt spid="149507">
                                            <p:txEl>
                                              <p:pRg st="4" end="4"/>
                                            </p:txEl>
                                          </p:spTgt>
                                        </p:tgtEl>
                                        <p:attrNameLst>
                                          <p:attrName>style.visibility</p:attrName>
                                        </p:attrNameLst>
                                      </p:cBhvr>
                                      <p:to>
                                        <p:strVal val="visible"/>
                                      </p:to>
                                    </p:set>
                                    <p:animEffect transition="in" filter="wipe(up)">
                                      <p:cBhvr>
                                        <p:cTn id="33" dur="1000"/>
                                        <p:tgtEl>
                                          <p:spTgt spid="149507">
                                            <p:txEl>
                                              <p:pRg st="4" end="4"/>
                                            </p:txEl>
                                          </p:spTgt>
                                        </p:tgtEl>
                                      </p:cBhvr>
                                    </p:animEffect>
                                  </p:childTnLst>
                                </p:cTn>
                              </p:par>
                            </p:childTnLst>
                          </p:cTn>
                        </p:par>
                        <p:par>
                          <p:cTn id="34" fill="hold" nodeType="afterGroup">
                            <p:stCondLst>
                              <p:cond delay="1000"/>
                            </p:stCondLst>
                            <p:childTnLst>
                              <p:par>
                                <p:cTn id="35" presetID="22" presetClass="entr" presetSubtype="1" fill="hold" nodeType="afterEffect">
                                  <p:stCondLst>
                                    <p:cond delay="0"/>
                                  </p:stCondLst>
                                  <p:childTnLst>
                                    <p:set>
                                      <p:cBhvr>
                                        <p:cTn id="36" dur="1" fill="hold">
                                          <p:stCondLst>
                                            <p:cond delay="0"/>
                                          </p:stCondLst>
                                        </p:cTn>
                                        <p:tgtEl>
                                          <p:spTgt spid="149507">
                                            <p:txEl>
                                              <p:pRg st="5" end="5"/>
                                            </p:txEl>
                                          </p:spTgt>
                                        </p:tgtEl>
                                        <p:attrNameLst>
                                          <p:attrName>style.visibility</p:attrName>
                                        </p:attrNameLst>
                                      </p:cBhvr>
                                      <p:to>
                                        <p:strVal val="visible"/>
                                      </p:to>
                                    </p:set>
                                    <p:animEffect transition="in" filter="wipe(up)">
                                      <p:cBhvr>
                                        <p:cTn id="37" dur="1000"/>
                                        <p:tgtEl>
                                          <p:spTgt spid="149507">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151576"/>
                                        </p:tgtEl>
                                        <p:attrNameLst>
                                          <p:attrName>style.visibility</p:attrName>
                                        </p:attrNameLst>
                                      </p:cBhvr>
                                      <p:to>
                                        <p:strVal val="visible"/>
                                      </p:to>
                                    </p:set>
                                    <p:animEffect transition="in" filter="wipe(up)">
                                      <p:cBhvr>
                                        <p:cTn id="42" dur="1000"/>
                                        <p:tgtEl>
                                          <p:spTgt spid="1515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1" name="Rectangle 3">
            <a:extLst>
              <a:ext uri="{FF2B5EF4-FFF2-40B4-BE49-F238E27FC236}">
                <a16:creationId xmlns:a16="http://schemas.microsoft.com/office/drawing/2014/main" id="{AE7A5D21-1BD6-23D0-C5E1-826F5D199B3C}"/>
              </a:ext>
            </a:extLst>
          </p:cNvPr>
          <p:cNvSpPr>
            <a:spLocks noGrp="1" noChangeArrowheads="1"/>
          </p:cNvSpPr>
          <p:nvPr>
            <p:ph type="body" idx="1"/>
          </p:nvPr>
        </p:nvSpPr>
        <p:spPr>
          <a:xfrm>
            <a:off x="928688" y="4286250"/>
            <a:ext cx="7588250" cy="490538"/>
          </a:xfrm>
        </p:spPr>
        <p:txBody>
          <a:bodyPr/>
          <a:lstStyle/>
          <a:p>
            <a:pPr eaLnBrk="1" hangingPunct="1">
              <a:buFont typeface="Wingdings" panose="05000000000000000000" pitchFamily="2" charset="2"/>
              <a:buNone/>
            </a:pPr>
            <a:r>
              <a:rPr lang="zh-CN" altLang="en-US" sz="2000">
                <a:latin typeface="Arial" panose="020B0604020202020204" pitchFamily="34" charset="0"/>
                <a:ea typeface="微软雅黑" panose="020B0503020204020204" pitchFamily="34" charset="-122"/>
                <a:cs typeface="Arial" panose="020B0604020202020204" pitchFamily="34" charset="0"/>
              </a:rPr>
              <a:t>因为输出中第</a:t>
            </a:r>
            <a:r>
              <a:rPr lang="en-US" altLang="zh-CN" sz="2000">
                <a:latin typeface="Arial" panose="020B0604020202020204" pitchFamily="34" charset="0"/>
                <a:ea typeface="微软雅黑" panose="020B0503020204020204" pitchFamily="34" charset="-122"/>
                <a:cs typeface="Arial" panose="020B0604020202020204" pitchFamily="34" charset="0"/>
              </a:rPr>
              <a:t>1</a:t>
            </a:r>
            <a:r>
              <a:rPr lang="zh-CN" altLang="en-US" sz="2000">
                <a:latin typeface="Arial" panose="020B0604020202020204" pitchFamily="34" charset="0"/>
                <a:ea typeface="微软雅黑" panose="020B0503020204020204" pitchFamily="34" charset="-122"/>
                <a:cs typeface="Arial" panose="020B0604020202020204" pitchFamily="34" charset="0"/>
              </a:rPr>
              <a:t>位是信息位，所以它是系统码。</a:t>
            </a:r>
          </a:p>
        </p:txBody>
      </p:sp>
      <p:grpSp>
        <p:nvGrpSpPr>
          <p:cNvPr id="2" name="Group 6">
            <a:extLst>
              <a:ext uri="{FF2B5EF4-FFF2-40B4-BE49-F238E27FC236}">
                <a16:creationId xmlns:a16="http://schemas.microsoft.com/office/drawing/2014/main" id="{CBD7CB50-5D45-EC4E-8FDC-4B2198B5E211}"/>
              </a:ext>
            </a:extLst>
          </p:cNvPr>
          <p:cNvGrpSpPr>
            <a:grpSpLocks/>
          </p:cNvGrpSpPr>
          <p:nvPr/>
        </p:nvGrpSpPr>
        <p:grpSpPr bwMode="auto">
          <a:xfrm>
            <a:off x="2616200" y="1500188"/>
            <a:ext cx="4456113" cy="2116137"/>
            <a:chOff x="6048" y="12672"/>
            <a:chExt cx="4083" cy="1791"/>
          </a:xfrm>
        </p:grpSpPr>
        <p:grpSp>
          <p:nvGrpSpPr>
            <p:cNvPr id="151560" name="Group 7">
              <a:extLst>
                <a:ext uri="{FF2B5EF4-FFF2-40B4-BE49-F238E27FC236}">
                  <a16:creationId xmlns:a16="http://schemas.microsoft.com/office/drawing/2014/main" id="{28535075-5D51-E7CC-EA24-D64DCE5609C8}"/>
                </a:ext>
              </a:extLst>
            </p:cNvPr>
            <p:cNvGrpSpPr>
              <a:grpSpLocks/>
            </p:cNvGrpSpPr>
            <p:nvPr/>
          </p:nvGrpSpPr>
          <p:grpSpPr bwMode="auto">
            <a:xfrm>
              <a:off x="6273" y="12909"/>
              <a:ext cx="3459" cy="1455"/>
              <a:chOff x="6273" y="12909"/>
              <a:chExt cx="3459" cy="1455"/>
            </a:xfrm>
          </p:grpSpPr>
          <p:grpSp>
            <p:nvGrpSpPr>
              <p:cNvPr id="151564" name="Group 8">
                <a:extLst>
                  <a:ext uri="{FF2B5EF4-FFF2-40B4-BE49-F238E27FC236}">
                    <a16:creationId xmlns:a16="http://schemas.microsoft.com/office/drawing/2014/main" id="{A247D327-D383-3266-64FB-2D16A083D347}"/>
                  </a:ext>
                </a:extLst>
              </p:cNvPr>
              <p:cNvGrpSpPr>
                <a:grpSpLocks/>
              </p:cNvGrpSpPr>
              <p:nvPr/>
            </p:nvGrpSpPr>
            <p:grpSpPr bwMode="auto">
              <a:xfrm>
                <a:off x="6987" y="12984"/>
                <a:ext cx="2337" cy="1380"/>
                <a:chOff x="6987" y="12984"/>
                <a:chExt cx="2337" cy="1380"/>
              </a:xfrm>
            </p:grpSpPr>
            <p:sp>
              <p:nvSpPr>
                <p:cNvPr id="151580" name="Text Box 9">
                  <a:extLst>
                    <a:ext uri="{FF2B5EF4-FFF2-40B4-BE49-F238E27FC236}">
                      <a16:creationId xmlns:a16="http://schemas.microsoft.com/office/drawing/2014/main" id="{7F804C00-2CD6-BA87-8A21-0BEAF4467C51}"/>
                    </a:ext>
                  </a:extLst>
                </p:cNvPr>
                <p:cNvSpPr txBox="1">
                  <a:spLocks noChangeArrowheads="1"/>
                </p:cNvSpPr>
                <p:nvPr/>
              </p:nvSpPr>
              <p:spPr bwMode="auto">
                <a:xfrm>
                  <a:off x="7614" y="13485"/>
                  <a:ext cx="438" cy="402"/>
                </a:xfrm>
                <a:prstGeom prst="rect">
                  <a:avLst/>
                </a:prstGeom>
                <a:solidFill>
                  <a:srgbClr val="FFFFFF"/>
                </a:solidFill>
                <a:ln w="9525">
                  <a:solidFill>
                    <a:srgbClr val="000000"/>
                  </a:solidFill>
                  <a:miter lim="800000"/>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400" i="1">
                      <a:solidFill>
                        <a:srgbClr val="003399"/>
                      </a:solidFill>
                      <a:latin typeface="Arial" panose="020B0604020202020204" pitchFamily="34" charset="0"/>
                      <a:ea typeface="微软雅黑" panose="020B0503020204020204" pitchFamily="34" charset="-122"/>
                      <a:cs typeface="Arial" panose="020B0604020202020204" pitchFamily="34" charset="0"/>
                    </a:rPr>
                    <a:t>D</a:t>
                  </a:r>
                  <a:endParaRPr lang="en-US" altLang="zh-CN" sz="32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151581" name="Text Box 10">
                  <a:extLst>
                    <a:ext uri="{FF2B5EF4-FFF2-40B4-BE49-F238E27FC236}">
                      <a16:creationId xmlns:a16="http://schemas.microsoft.com/office/drawing/2014/main" id="{942B9F1B-742D-0A77-F53D-B354416E10E7}"/>
                    </a:ext>
                  </a:extLst>
                </p:cNvPr>
                <p:cNvSpPr txBox="1">
                  <a:spLocks noChangeArrowheads="1"/>
                </p:cNvSpPr>
                <p:nvPr/>
              </p:nvSpPr>
              <p:spPr bwMode="auto">
                <a:xfrm>
                  <a:off x="8403" y="13485"/>
                  <a:ext cx="438" cy="402"/>
                </a:xfrm>
                <a:prstGeom prst="rect">
                  <a:avLst/>
                </a:prstGeom>
                <a:solidFill>
                  <a:srgbClr val="FFFFFF"/>
                </a:solidFill>
                <a:ln w="9525">
                  <a:solidFill>
                    <a:srgbClr val="000000"/>
                  </a:solidFill>
                  <a:miter lim="800000"/>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400" i="1">
                      <a:solidFill>
                        <a:srgbClr val="003399"/>
                      </a:solidFill>
                      <a:latin typeface="Arial" panose="020B0604020202020204" pitchFamily="34" charset="0"/>
                      <a:ea typeface="微软雅黑" panose="020B0503020204020204" pitchFamily="34" charset="-122"/>
                      <a:cs typeface="Arial" panose="020B0604020202020204" pitchFamily="34" charset="0"/>
                    </a:rPr>
                    <a:t>D</a:t>
                  </a:r>
                  <a:endParaRPr lang="en-US" altLang="zh-CN" sz="32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151582" name="AutoShape 11">
                  <a:extLst>
                    <a:ext uri="{FF2B5EF4-FFF2-40B4-BE49-F238E27FC236}">
                      <a16:creationId xmlns:a16="http://schemas.microsoft.com/office/drawing/2014/main" id="{FCA2B046-8A10-3E9C-C1A7-EB769C5216DB}"/>
                    </a:ext>
                  </a:extLst>
                </p:cNvPr>
                <p:cNvSpPr>
                  <a:spLocks noChangeArrowheads="1"/>
                </p:cNvSpPr>
                <p:nvPr/>
              </p:nvSpPr>
              <p:spPr bwMode="auto">
                <a:xfrm>
                  <a:off x="6987" y="13560"/>
                  <a:ext cx="288" cy="264"/>
                </a:xfrm>
                <a:prstGeom prst="flowChartSummingJunction">
                  <a:avLst/>
                </a:prstGeom>
                <a:solidFill>
                  <a:srgbClr val="FFFFFF"/>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151583" name="AutoShape 12">
                  <a:extLst>
                    <a:ext uri="{FF2B5EF4-FFF2-40B4-BE49-F238E27FC236}">
                      <a16:creationId xmlns:a16="http://schemas.microsoft.com/office/drawing/2014/main" id="{D1DA9AFB-47BC-189A-8E24-7EC2DDB88029}"/>
                    </a:ext>
                  </a:extLst>
                </p:cNvPr>
                <p:cNvSpPr>
                  <a:spLocks noChangeArrowheads="1"/>
                </p:cNvSpPr>
                <p:nvPr/>
              </p:nvSpPr>
              <p:spPr bwMode="auto">
                <a:xfrm>
                  <a:off x="8064" y="12984"/>
                  <a:ext cx="288" cy="264"/>
                </a:xfrm>
                <a:prstGeom prst="flowChartSummingJunction">
                  <a:avLst/>
                </a:prstGeom>
                <a:solidFill>
                  <a:srgbClr val="FFFFFF"/>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151584" name="AutoShape 13">
                  <a:extLst>
                    <a:ext uri="{FF2B5EF4-FFF2-40B4-BE49-F238E27FC236}">
                      <a16:creationId xmlns:a16="http://schemas.microsoft.com/office/drawing/2014/main" id="{067C7984-3BF1-B198-0011-32473D68983F}"/>
                    </a:ext>
                  </a:extLst>
                </p:cNvPr>
                <p:cNvSpPr>
                  <a:spLocks noChangeArrowheads="1"/>
                </p:cNvSpPr>
                <p:nvPr/>
              </p:nvSpPr>
              <p:spPr bwMode="auto">
                <a:xfrm>
                  <a:off x="9036" y="14100"/>
                  <a:ext cx="288" cy="264"/>
                </a:xfrm>
                <a:prstGeom prst="flowChartSummingJunction">
                  <a:avLst/>
                </a:prstGeom>
                <a:solidFill>
                  <a:srgbClr val="FFFFFF"/>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51565" name="Group 14">
                <a:extLst>
                  <a:ext uri="{FF2B5EF4-FFF2-40B4-BE49-F238E27FC236}">
                    <a16:creationId xmlns:a16="http://schemas.microsoft.com/office/drawing/2014/main" id="{80C98AF2-0BB5-0CFE-1BE0-C943E1491323}"/>
                  </a:ext>
                </a:extLst>
              </p:cNvPr>
              <p:cNvGrpSpPr>
                <a:grpSpLocks/>
              </p:cNvGrpSpPr>
              <p:nvPr/>
            </p:nvGrpSpPr>
            <p:grpSpPr bwMode="auto">
              <a:xfrm>
                <a:off x="6273" y="12909"/>
                <a:ext cx="3459" cy="1332"/>
                <a:chOff x="6273" y="12909"/>
                <a:chExt cx="3459" cy="1332"/>
              </a:xfrm>
            </p:grpSpPr>
            <p:sp>
              <p:nvSpPr>
                <p:cNvPr id="151566" name="Line 15">
                  <a:extLst>
                    <a:ext uri="{FF2B5EF4-FFF2-40B4-BE49-F238E27FC236}">
                      <a16:creationId xmlns:a16="http://schemas.microsoft.com/office/drawing/2014/main" id="{34582992-3409-A348-41A3-DED434190298}"/>
                    </a:ext>
                  </a:extLst>
                </p:cNvPr>
                <p:cNvSpPr>
                  <a:spLocks noChangeShapeType="1"/>
                </p:cNvSpPr>
                <p:nvPr/>
              </p:nvSpPr>
              <p:spPr bwMode="auto">
                <a:xfrm>
                  <a:off x="8064" y="13710"/>
                  <a:ext cx="33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1567" name="Line 16">
                  <a:extLst>
                    <a:ext uri="{FF2B5EF4-FFF2-40B4-BE49-F238E27FC236}">
                      <a16:creationId xmlns:a16="http://schemas.microsoft.com/office/drawing/2014/main" id="{69C02EC7-5C38-227C-1A22-4A32A3020465}"/>
                    </a:ext>
                  </a:extLst>
                </p:cNvPr>
                <p:cNvSpPr>
                  <a:spLocks noChangeShapeType="1"/>
                </p:cNvSpPr>
                <p:nvPr/>
              </p:nvSpPr>
              <p:spPr bwMode="auto">
                <a:xfrm>
                  <a:off x="7290" y="13698"/>
                  <a:ext cx="33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1568" name="Line 17">
                  <a:extLst>
                    <a:ext uri="{FF2B5EF4-FFF2-40B4-BE49-F238E27FC236}">
                      <a16:creationId xmlns:a16="http://schemas.microsoft.com/office/drawing/2014/main" id="{EF78EDF7-3F24-3554-99EE-4A02EE6437C9}"/>
                    </a:ext>
                  </a:extLst>
                </p:cNvPr>
                <p:cNvSpPr>
                  <a:spLocks noChangeShapeType="1"/>
                </p:cNvSpPr>
                <p:nvPr/>
              </p:nvSpPr>
              <p:spPr bwMode="auto">
                <a:xfrm>
                  <a:off x="6273" y="13710"/>
                  <a:ext cx="69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1569" name="Line 18">
                  <a:extLst>
                    <a:ext uri="{FF2B5EF4-FFF2-40B4-BE49-F238E27FC236}">
                      <a16:creationId xmlns:a16="http://schemas.microsoft.com/office/drawing/2014/main" id="{C88114E5-1823-43E4-91E2-BFD3179BA797}"/>
                    </a:ext>
                  </a:extLst>
                </p:cNvPr>
                <p:cNvSpPr>
                  <a:spLocks noChangeShapeType="1"/>
                </p:cNvSpPr>
                <p:nvPr/>
              </p:nvSpPr>
              <p:spPr bwMode="auto">
                <a:xfrm flipV="1">
                  <a:off x="8214" y="13248"/>
                  <a:ext cx="0" cy="4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1570" name="Line 19">
                  <a:extLst>
                    <a:ext uri="{FF2B5EF4-FFF2-40B4-BE49-F238E27FC236}">
                      <a16:creationId xmlns:a16="http://schemas.microsoft.com/office/drawing/2014/main" id="{0D582371-96A7-24C4-A55C-4BC79EE6E81D}"/>
                    </a:ext>
                  </a:extLst>
                </p:cNvPr>
                <p:cNvSpPr>
                  <a:spLocks noChangeShapeType="1"/>
                </p:cNvSpPr>
                <p:nvPr/>
              </p:nvSpPr>
              <p:spPr bwMode="auto">
                <a:xfrm flipH="1">
                  <a:off x="7125" y="13122"/>
                  <a:ext cx="92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1571" name="Line 20">
                  <a:extLst>
                    <a:ext uri="{FF2B5EF4-FFF2-40B4-BE49-F238E27FC236}">
                      <a16:creationId xmlns:a16="http://schemas.microsoft.com/office/drawing/2014/main" id="{41CE2926-8CFB-4B18-0D9F-1D1B2B1FB954}"/>
                    </a:ext>
                  </a:extLst>
                </p:cNvPr>
                <p:cNvSpPr>
                  <a:spLocks noChangeShapeType="1"/>
                </p:cNvSpPr>
                <p:nvPr/>
              </p:nvSpPr>
              <p:spPr bwMode="auto">
                <a:xfrm>
                  <a:off x="7125" y="13122"/>
                  <a:ext cx="0" cy="42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1572" name="Line 21">
                  <a:extLst>
                    <a:ext uri="{FF2B5EF4-FFF2-40B4-BE49-F238E27FC236}">
                      <a16:creationId xmlns:a16="http://schemas.microsoft.com/office/drawing/2014/main" id="{C533BA54-B56E-A8A0-DB62-A0F8A08E4522}"/>
                    </a:ext>
                  </a:extLst>
                </p:cNvPr>
                <p:cNvSpPr>
                  <a:spLocks noChangeShapeType="1"/>
                </p:cNvSpPr>
                <p:nvPr/>
              </p:nvSpPr>
              <p:spPr bwMode="auto">
                <a:xfrm flipV="1">
                  <a:off x="6636" y="12909"/>
                  <a:ext cx="0" cy="78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1573" name="Line 22">
                  <a:extLst>
                    <a:ext uri="{FF2B5EF4-FFF2-40B4-BE49-F238E27FC236}">
                      <a16:creationId xmlns:a16="http://schemas.microsoft.com/office/drawing/2014/main" id="{6A208605-57FD-14D4-3BEF-22A4623A7BD5}"/>
                    </a:ext>
                  </a:extLst>
                </p:cNvPr>
                <p:cNvSpPr>
                  <a:spLocks noChangeShapeType="1"/>
                </p:cNvSpPr>
                <p:nvPr/>
              </p:nvSpPr>
              <p:spPr bwMode="auto">
                <a:xfrm>
                  <a:off x="6624" y="12909"/>
                  <a:ext cx="310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1574" name="Line 23">
                  <a:extLst>
                    <a:ext uri="{FF2B5EF4-FFF2-40B4-BE49-F238E27FC236}">
                      <a16:creationId xmlns:a16="http://schemas.microsoft.com/office/drawing/2014/main" id="{29B8B878-2C1C-C99E-2517-858AA1A55315}"/>
                    </a:ext>
                  </a:extLst>
                </p:cNvPr>
                <p:cNvSpPr>
                  <a:spLocks noChangeShapeType="1"/>
                </p:cNvSpPr>
                <p:nvPr/>
              </p:nvSpPr>
              <p:spPr bwMode="auto">
                <a:xfrm>
                  <a:off x="8853" y="13710"/>
                  <a:ext cx="3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1575" name="Line 24">
                  <a:extLst>
                    <a:ext uri="{FF2B5EF4-FFF2-40B4-BE49-F238E27FC236}">
                      <a16:creationId xmlns:a16="http://schemas.microsoft.com/office/drawing/2014/main" id="{82C5A6CF-06EC-E405-6E68-A59BE6E5AED2}"/>
                    </a:ext>
                  </a:extLst>
                </p:cNvPr>
                <p:cNvSpPr>
                  <a:spLocks noChangeShapeType="1"/>
                </p:cNvSpPr>
                <p:nvPr/>
              </p:nvSpPr>
              <p:spPr bwMode="auto">
                <a:xfrm>
                  <a:off x="8352" y="13122"/>
                  <a:ext cx="8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1576" name="Line 25">
                  <a:extLst>
                    <a:ext uri="{FF2B5EF4-FFF2-40B4-BE49-F238E27FC236}">
                      <a16:creationId xmlns:a16="http://schemas.microsoft.com/office/drawing/2014/main" id="{3553962E-0B20-FFDC-4A76-EA47233D34D9}"/>
                    </a:ext>
                  </a:extLst>
                </p:cNvPr>
                <p:cNvSpPr>
                  <a:spLocks noChangeShapeType="1"/>
                </p:cNvSpPr>
                <p:nvPr/>
              </p:nvSpPr>
              <p:spPr bwMode="auto">
                <a:xfrm>
                  <a:off x="9168" y="13125"/>
                  <a:ext cx="0" cy="96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1577" name="Line 26">
                  <a:extLst>
                    <a:ext uri="{FF2B5EF4-FFF2-40B4-BE49-F238E27FC236}">
                      <a16:creationId xmlns:a16="http://schemas.microsoft.com/office/drawing/2014/main" id="{87028A1E-9DC1-147C-1F7D-6F6430BBEDBF}"/>
                    </a:ext>
                  </a:extLst>
                </p:cNvPr>
                <p:cNvSpPr>
                  <a:spLocks noChangeShapeType="1"/>
                </p:cNvSpPr>
                <p:nvPr/>
              </p:nvSpPr>
              <p:spPr bwMode="auto">
                <a:xfrm>
                  <a:off x="7413" y="13698"/>
                  <a:ext cx="0" cy="54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1578" name="Line 27">
                  <a:extLst>
                    <a:ext uri="{FF2B5EF4-FFF2-40B4-BE49-F238E27FC236}">
                      <a16:creationId xmlns:a16="http://schemas.microsoft.com/office/drawing/2014/main" id="{0B9F3508-4D56-DABF-D2A3-6B1A63322235}"/>
                    </a:ext>
                  </a:extLst>
                </p:cNvPr>
                <p:cNvSpPr>
                  <a:spLocks noChangeShapeType="1"/>
                </p:cNvSpPr>
                <p:nvPr/>
              </p:nvSpPr>
              <p:spPr bwMode="auto">
                <a:xfrm>
                  <a:off x="7425" y="14238"/>
                  <a:ext cx="160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1579" name="Line 28">
                  <a:extLst>
                    <a:ext uri="{FF2B5EF4-FFF2-40B4-BE49-F238E27FC236}">
                      <a16:creationId xmlns:a16="http://schemas.microsoft.com/office/drawing/2014/main" id="{BA90E882-2F04-0CC8-541D-CABFC643F910}"/>
                    </a:ext>
                  </a:extLst>
                </p:cNvPr>
                <p:cNvSpPr>
                  <a:spLocks noChangeShapeType="1"/>
                </p:cNvSpPr>
                <p:nvPr/>
              </p:nvSpPr>
              <p:spPr bwMode="auto">
                <a:xfrm>
                  <a:off x="9330" y="14238"/>
                  <a:ext cx="33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151561" name="Text Box 29">
              <a:extLst>
                <a:ext uri="{FF2B5EF4-FFF2-40B4-BE49-F238E27FC236}">
                  <a16:creationId xmlns:a16="http://schemas.microsoft.com/office/drawing/2014/main" id="{DA6AF72B-13F4-676C-10D3-2C3BB2AD93EA}"/>
                </a:ext>
              </a:extLst>
            </p:cNvPr>
            <p:cNvSpPr txBox="1">
              <a:spLocks noChangeArrowheads="1"/>
            </p:cNvSpPr>
            <p:nvPr/>
          </p:nvSpPr>
          <p:spPr bwMode="auto">
            <a:xfrm>
              <a:off x="6048" y="13362"/>
              <a:ext cx="477"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400">
                  <a:solidFill>
                    <a:srgbClr val="003399"/>
                  </a:solidFill>
                  <a:latin typeface="Arial" panose="020B0604020202020204" pitchFamily="34" charset="0"/>
                  <a:ea typeface="微软雅黑" panose="020B0503020204020204" pitchFamily="34" charset="-122"/>
                  <a:cs typeface="Arial" panose="020B0604020202020204" pitchFamily="34" charset="0"/>
                </a:rPr>
                <a:t>b</a:t>
              </a:r>
              <a:r>
                <a:rPr lang="en-US" altLang="zh-CN" sz="2400" baseline="-25000">
                  <a:solidFill>
                    <a:srgbClr val="003399"/>
                  </a:solidFill>
                  <a:latin typeface="Arial" panose="020B0604020202020204" pitchFamily="34" charset="0"/>
                  <a:ea typeface="微软雅黑" panose="020B0503020204020204" pitchFamily="34" charset="-122"/>
                  <a:cs typeface="Arial" panose="020B0604020202020204" pitchFamily="34" charset="0"/>
                </a:rPr>
                <a:t>i</a:t>
              </a:r>
              <a:endParaRPr lang="en-US" altLang="zh-CN" sz="32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151562" name="Text Box 30">
              <a:extLst>
                <a:ext uri="{FF2B5EF4-FFF2-40B4-BE49-F238E27FC236}">
                  <a16:creationId xmlns:a16="http://schemas.microsoft.com/office/drawing/2014/main" id="{14D259D5-52AC-1D13-7F50-0B9753B76921}"/>
                </a:ext>
              </a:extLst>
            </p:cNvPr>
            <p:cNvSpPr txBox="1">
              <a:spLocks noChangeArrowheads="1"/>
            </p:cNvSpPr>
            <p:nvPr/>
          </p:nvSpPr>
          <p:spPr bwMode="auto">
            <a:xfrm>
              <a:off x="9654" y="12672"/>
              <a:ext cx="477"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400" i="1">
                  <a:solidFill>
                    <a:srgbClr val="003399"/>
                  </a:solidFill>
                  <a:latin typeface="Arial" panose="020B0604020202020204" pitchFamily="34" charset="0"/>
                  <a:ea typeface="微软雅黑" panose="020B0503020204020204" pitchFamily="34" charset="-122"/>
                  <a:cs typeface="Arial" panose="020B0604020202020204" pitchFamily="34" charset="0"/>
                </a:rPr>
                <a:t>b</a:t>
              </a:r>
              <a:r>
                <a:rPr lang="en-US" altLang="zh-CN" sz="2400" i="1" baseline="-25000">
                  <a:solidFill>
                    <a:srgbClr val="003399"/>
                  </a:solidFill>
                  <a:latin typeface="Arial" panose="020B0604020202020204" pitchFamily="34" charset="0"/>
                  <a:ea typeface="微软雅黑" panose="020B0503020204020204" pitchFamily="34" charset="-122"/>
                  <a:cs typeface="Arial" panose="020B0604020202020204" pitchFamily="34" charset="0"/>
                </a:rPr>
                <a:t>i</a:t>
              </a:r>
              <a:endParaRPr lang="en-US" altLang="zh-CN" sz="32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151563" name="Text Box 31">
              <a:extLst>
                <a:ext uri="{FF2B5EF4-FFF2-40B4-BE49-F238E27FC236}">
                  <a16:creationId xmlns:a16="http://schemas.microsoft.com/office/drawing/2014/main" id="{93FEA71B-0FC8-D791-4416-0C56EEA7C0DF}"/>
                </a:ext>
              </a:extLst>
            </p:cNvPr>
            <p:cNvSpPr txBox="1">
              <a:spLocks noChangeArrowheads="1"/>
            </p:cNvSpPr>
            <p:nvPr/>
          </p:nvSpPr>
          <p:spPr bwMode="auto">
            <a:xfrm>
              <a:off x="9627" y="14013"/>
              <a:ext cx="477"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400" i="1">
                  <a:solidFill>
                    <a:srgbClr val="003399"/>
                  </a:solidFill>
                  <a:latin typeface="Arial" panose="020B0604020202020204" pitchFamily="34" charset="0"/>
                  <a:ea typeface="微软雅黑" panose="020B0503020204020204" pitchFamily="34" charset="-122"/>
                  <a:cs typeface="Arial" panose="020B0604020202020204" pitchFamily="34" charset="0"/>
                </a:rPr>
                <a:t>c</a:t>
              </a:r>
              <a:r>
                <a:rPr lang="en-US" altLang="zh-CN" sz="2400" i="1" baseline="-25000">
                  <a:solidFill>
                    <a:srgbClr val="003399"/>
                  </a:solidFill>
                  <a:latin typeface="Arial" panose="020B0604020202020204" pitchFamily="34" charset="0"/>
                  <a:ea typeface="微软雅黑" panose="020B0503020204020204" pitchFamily="34" charset="-122"/>
                  <a:cs typeface="Arial" panose="020B0604020202020204" pitchFamily="34" charset="0"/>
                </a:rPr>
                <a:t>i</a:t>
              </a:r>
              <a:endParaRPr lang="en-US" altLang="zh-CN" sz="32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32" name="矩形 31">
            <a:extLst>
              <a:ext uri="{FF2B5EF4-FFF2-40B4-BE49-F238E27FC236}">
                <a16:creationId xmlns:a16="http://schemas.microsoft.com/office/drawing/2014/main" id="{432A9032-9BF9-C2A3-EEF4-EF298F3C9CD0}"/>
              </a:ext>
            </a:extLst>
          </p:cNvPr>
          <p:cNvSpPr/>
          <p:nvPr/>
        </p:nvSpPr>
        <p:spPr>
          <a:xfrm>
            <a:off x="714375" y="1071563"/>
            <a:ext cx="5842000" cy="461962"/>
          </a:xfrm>
          <a:prstGeom prst="rect">
            <a:avLst/>
          </a:prstGeom>
        </p:spPr>
        <p:txBody>
          <a:bodyPr>
            <a:spAutoFit/>
          </a:bodyPr>
          <a:lstStyle/>
          <a:p>
            <a:pPr marL="228600" indent="-228600">
              <a:spcBef>
                <a:spcPct val="20000"/>
              </a:spcBef>
              <a:buClr>
                <a:srgbClr val="3333CC"/>
              </a:buClr>
              <a:buSzPct val="50000"/>
              <a:buFont typeface="Wingdings" pitchFamily="2" charset="2"/>
              <a:buChar char="u"/>
              <a:defRPr/>
            </a:pPr>
            <a:r>
              <a:rPr kumimoji="0" lang="en-US" altLang="zh-CN" sz="2400" kern="0" dirty="0">
                <a:solidFill>
                  <a:srgbClr val="990099"/>
                </a:solidFill>
                <a:latin typeface="Arial" pitchFamily="34" charset="0"/>
                <a:ea typeface="微软雅黑" pitchFamily="34" charset="-122"/>
                <a:cs typeface="Arial" pitchFamily="34" charset="0"/>
              </a:rPr>
              <a:t>RSCC</a:t>
            </a:r>
            <a:r>
              <a:rPr kumimoji="0" lang="zh-CN" altLang="en-US" sz="2400" kern="0" dirty="0">
                <a:solidFill>
                  <a:srgbClr val="990099"/>
                </a:solidFill>
                <a:latin typeface="Arial" pitchFamily="34" charset="0"/>
                <a:ea typeface="微软雅黑" pitchFamily="34" charset="-122"/>
                <a:cs typeface="Arial" pitchFamily="34" charset="0"/>
              </a:rPr>
              <a:t>编码器</a:t>
            </a:r>
            <a:r>
              <a:rPr kumimoji="0" lang="zh-CN" altLang="en-US" sz="2400" b="0" kern="0" dirty="0">
                <a:solidFill>
                  <a:srgbClr val="003399"/>
                </a:solidFill>
                <a:latin typeface="Arial" pitchFamily="34" charset="0"/>
                <a:ea typeface="微软雅黑" pitchFamily="34" charset="-122"/>
                <a:cs typeface="Arial" pitchFamily="34" charset="0"/>
              </a:rPr>
              <a:t>举例</a:t>
            </a:r>
            <a:r>
              <a:rPr kumimoji="0" lang="zh-CN" altLang="en-US" sz="2400" b="0" kern="0" dirty="0">
                <a:solidFill>
                  <a:srgbClr val="000000"/>
                </a:solidFill>
                <a:latin typeface="Arial" pitchFamily="34" charset="0"/>
                <a:ea typeface="微软雅黑" pitchFamily="34" charset="-122"/>
                <a:cs typeface="Arial" pitchFamily="34" charset="0"/>
              </a:rPr>
              <a:t>：</a:t>
            </a:r>
          </a:p>
        </p:txBody>
      </p:sp>
      <p:sp>
        <p:nvSpPr>
          <p:cNvPr id="31" name="Rectangle 3">
            <a:extLst>
              <a:ext uri="{FF2B5EF4-FFF2-40B4-BE49-F238E27FC236}">
                <a16:creationId xmlns:a16="http://schemas.microsoft.com/office/drawing/2014/main" id="{B24EE358-B768-4ADC-395D-D30BCBF086C7}"/>
              </a:ext>
            </a:extLst>
          </p:cNvPr>
          <p:cNvSpPr txBox="1">
            <a:spLocks noChangeArrowheads="1"/>
          </p:cNvSpPr>
          <p:nvPr/>
        </p:nvSpPr>
        <p:spPr bwMode="auto">
          <a:xfrm>
            <a:off x="928688" y="3714750"/>
            <a:ext cx="8072437" cy="428625"/>
          </a:xfrm>
          <a:prstGeom prst="rect">
            <a:avLst/>
          </a:prstGeom>
          <a:noFill/>
          <a:ln w="9525">
            <a:noFill/>
            <a:miter lim="800000"/>
            <a:headEnd/>
            <a:tailEnd/>
          </a:ln>
        </p:spPr>
        <p:txBody>
          <a:bodyPr/>
          <a:lstStyle/>
          <a:p>
            <a:pPr marL="342900" indent="-342900">
              <a:spcBef>
                <a:spcPct val="20000"/>
              </a:spcBef>
              <a:buClr>
                <a:schemeClr val="folHlink"/>
              </a:buClr>
              <a:buSzPct val="60000"/>
              <a:defRPr/>
            </a:pPr>
            <a:r>
              <a:rPr kumimoji="0" lang="zh-CN" altLang="en-US" sz="2000" b="0" kern="0" dirty="0">
                <a:solidFill>
                  <a:schemeClr val="tx1"/>
                </a:solidFill>
                <a:latin typeface="Arial" charset="0"/>
                <a:ea typeface="微软雅黑" pitchFamily="34" charset="-122"/>
                <a:cs typeface="Arial" charset="0"/>
              </a:rPr>
              <a:t>它是一个码率等于</a:t>
            </a:r>
            <a:r>
              <a:rPr kumimoji="0" lang="en-US" altLang="zh-CN" sz="2400" b="0" kern="0" dirty="0">
                <a:solidFill>
                  <a:srgbClr val="0000CC"/>
                </a:solidFill>
                <a:latin typeface="Arial" charset="0"/>
                <a:ea typeface="微软雅黑" pitchFamily="34" charset="-122"/>
                <a:cs typeface="Arial" charset="0"/>
              </a:rPr>
              <a:t>1/2</a:t>
            </a:r>
            <a:r>
              <a:rPr kumimoji="0" lang="zh-CN" altLang="en-US" sz="2000" b="0" kern="0" dirty="0">
                <a:solidFill>
                  <a:schemeClr val="tx1"/>
                </a:solidFill>
                <a:latin typeface="Arial" charset="0"/>
                <a:ea typeface="微软雅黑" pitchFamily="34" charset="-122"/>
                <a:cs typeface="Arial" charset="0"/>
              </a:rPr>
              <a:t>的卷积码编码器，输入为</a:t>
            </a:r>
            <a:r>
              <a:rPr kumimoji="0" lang="en-US" altLang="zh-CN" sz="2400" i="1" kern="0" dirty="0">
                <a:solidFill>
                  <a:srgbClr val="0000CC"/>
                </a:solidFill>
                <a:latin typeface="Arial" charset="0"/>
                <a:ea typeface="微软雅黑" pitchFamily="34" charset="-122"/>
                <a:cs typeface="Arial" charset="0"/>
              </a:rPr>
              <a:t>b</a:t>
            </a:r>
            <a:r>
              <a:rPr kumimoji="0" lang="en-US" altLang="zh-CN" sz="2400" i="1" kern="0" baseline="-25000" dirty="0">
                <a:solidFill>
                  <a:srgbClr val="0000CC"/>
                </a:solidFill>
                <a:latin typeface="Arial" charset="0"/>
                <a:ea typeface="微软雅黑" pitchFamily="34" charset="-122"/>
                <a:cs typeface="Arial" charset="0"/>
              </a:rPr>
              <a:t>i</a:t>
            </a:r>
            <a:r>
              <a:rPr kumimoji="0" lang="zh-CN" altLang="en-US" sz="2000" b="0" kern="0" dirty="0">
                <a:solidFill>
                  <a:schemeClr val="tx1"/>
                </a:solidFill>
                <a:latin typeface="Arial" charset="0"/>
                <a:ea typeface="微软雅黑" pitchFamily="34" charset="-122"/>
                <a:cs typeface="Arial" charset="0"/>
              </a:rPr>
              <a:t>，输出为</a:t>
            </a:r>
            <a:r>
              <a:rPr kumimoji="0" lang="en-US" altLang="zh-CN" sz="2400" i="1" kern="0" dirty="0" err="1">
                <a:solidFill>
                  <a:srgbClr val="0000CC"/>
                </a:solidFill>
                <a:latin typeface="Arial" charset="0"/>
                <a:ea typeface="微软雅黑" pitchFamily="34" charset="-122"/>
                <a:cs typeface="Arial" charset="0"/>
              </a:rPr>
              <a:t>b</a:t>
            </a:r>
            <a:r>
              <a:rPr kumimoji="0" lang="en-US" altLang="zh-CN" sz="2400" i="1" kern="0" baseline="-25000" dirty="0" err="1">
                <a:solidFill>
                  <a:srgbClr val="0000CC"/>
                </a:solidFill>
                <a:latin typeface="Arial" charset="0"/>
                <a:ea typeface="微软雅黑" pitchFamily="34" charset="-122"/>
                <a:cs typeface="Arial" charset="0"/>
              </a:rPr>
              <a:t>i</a:t>
            </a:r>
            <a:r>
              <a:rPr kumimoji="0" lang="en-US" altLang="zh-CN" sz="2400" i="1" kern="0" dirty="0" err="1">
                <a:solidFill>
                  <a:srgbClr val="0000CC"/>
                </a:solidFill>
                <a:latin typeface="Arial" charset="0"/>
                <a:ea typeface="微软雅黑" pitchFamily="34" charset="-122"/>
                <a:cs typeface="Arial" charset="0"/>
              </a:rPr>
              <a:t>c</a:t>
            </a:r>
            <a:r>
              <a:rPr kumimoji="0" lang="en-US" altLang="zh-CN" sz="2400" i="1" kern="0" baseline="-25000" dirty="0" err="1">
                <a:solidFill>
                  <a:srgbClr val="0000CC"/>
                </a:solidFill>
                <a:latin typeface="Arial" charset="0"/>
                <a:ea typeface="微软雅黑" pitchFamily="34" charset="-122"/>
                <a:cs typeface="Arial" charset="0"/>
              </a:rPr>
              <a:t>i</a:t>
            </a:r>
            <a:r>
              <a:rPr kumimoji="0" lang="en-US" altLang="zh-CN" sz="2400" i="1" kern="0" baseline="-25000" dirty="0">
                <a:solidFill>
                  <a:srgbClr val="0000CC"/>
                </a:solidFill>
                <a:latin typeface="Arial" charset="0"/>
                <a:ea typeface="微软雅黑" pitchFamily="34" charset="-122"/>
                <a:cs typeface="Arial" charset="0"/>
              </a:rPr>
              <a:t> </a:t>
            </a:r>
            <a:r>
              <a:rPr kumimoji="0" lang="en-US" altLang="zh-CN" sz="2000" b="0" i="1" kern="0" baseline="-25000" dirty="0">
                <a:solidFill>
                  <a:srgbClr val="0000CC"/>
                </a:solidFill>
                <a:latin typeface="Arial" charset="0"/>
                <a:ea typeface="微软雅黑" pitchFamily="34" charset="-122"/>
                <a:cs typeface="Arial" charset="0"/>
              </a:rPr>
              <a:t> </a:t>
            </a:r>
            <a:r>
              <a:rPr kumimoji="0" lang="zh-CN" altLang="en-US" sz="2000" b="0" kern="0" dirty="0">
                <a:solidFill>
                  <a:schemeClr val="tx1"/>
                </a:solidFill>
                <a:latin typeface="Arial" charset="0"/>
                <a:ea typeface="微软雅黑" pitchFamily="34" charset="-122"/>
                <a:cs typeface="Arial" charset="0"/>
              </a:rPr>
              <a:t>。</a:t>
            </a:r>
          </a:p>
        </p:txBody>
      </p:sp>
      <p:sp>
        <p:nvSpPr>
          <p:cNvPr id="35" name="矩形 34">
            <a:extLst>
              <a:ext uri="{FF2B5EF4-FFF2-40B4-BE49-F238E27FC236}">
                <a16:creationId xmlns:a16="http://schemas.microsoft.com/office/drawing/2014/main" id="{68F979E4-53F6-5570-3BA9-485FF10188B1}"/>
              </a:ext>
            </a:extLst>
          </p:cNvPr>
          <p:cNvSpPr/>
          <p:nvPr/>
        </p:nvSpPr>
        <p:spPr>
          <a:xfrm>
            <a:off x="714375" y="5072063"/>
            <a:ext cx="5842000" cy="461962"/>
          </a:xfrm>
          <a:prstGeom prst="rect">
            <a:avLst/>
          </a:prstGeom>
        </p:spPr>
        <p:txBody>
          <a:bodyPr>
            <a:spAutoFit/>
          </a:bodyPr>
          <a:lstStyle/>
          <a:p>
            <a:pPr marL="228600" indent="-228600">
              <a:spcBef>
                <a:spcPct val="20000"/>
              </a:spcBef>
              <a:buClr>
                <a:srgbClr val="3333CC"/>
              </a:buClr>
              <a:buSzPct val="50000"/>
              <a:buFont typeface="Wingdings" pitchFamily="2" charset="2"/>
              <a:buChar char="u"/>
              <a:defRPr/>
            </a:pPr>
            <a:r>
              <a:rPr kumimoji="0" lang="zh-CN" altLang="en-US" sz="2400" kern="0" dirty="0">
                <a:solidFill>
                  <a:srgbClr val="990099"/>
                </a:solidFill>
                <a:latin typeface="Arial" charset="0"/>
                <a:ea typeface="微软雅黑" pitchFamily="34" charset="-122"/>
                <a:cs typeface="Arial" charset="0"/>
              </a:rPr>
              <a:t>矩阵交织器</a:t>
            </a:r>
            <a:r>
              <a:rPr kumimoji="0" lang="zh-CN" altLang="en-US" sz="2400" b="0" kern="0" dirty="0">
                <a:solidFill>
                  <a:srgbClr val="000000"/>
                </a:solidFill>
                <a:latin typeface="Arial" pitchFamily="34" charset="0"/>
                <a:ea typeface="微软雅黑" pitchFamily="34" charset="-122"/>
                <a:cs typeface="Arial" pitchFamily="34" charset="0"/>
              </a:rPr>
              <a:t>：</a:t>
            </a:r>
          </a:p>
        </p:txBody>
      </p:sp>
      <p:sp>
        <p:nvSpPr>
          <p:cNvPr id="36" name="矩形 35">
            <a:extLst>
              <a:ext uri="{FF2B5EF4-FFF2-40B4-BE49-F238E27FC236}">
                <a16:creationId xmlns:a16="http://schemas.microsoft.com/office/drawing/2014/main" id="{C8FBD155-22D8-19CE-2FEC-AD3FEA17250E}"/>
              </a:ext>
            </a:extLst>
          </p:cNvPr>
          <p:cNvSpPr/>
          <p:nvPr/>
        </p:nvSpPr>
        <p:spPr>
          <a:xfrm>
            <a:off x="928688" y="5640388"/>
            <a:ext cx="7429500" cy="503237"/>
          </a:xfrm>
          <a:prstGeom prst="rect">
            <a:avLst/>
          </a:prstGeom>
        </p:spPr>
        <p:txBody>
          <a:bodyPr>
            <a:spAutoFit/>
          </a:bodyPr>
          <a:lstStyle/>
          <a:p>
            <a:pPr marL="285750" indent="-285750">
              <a:lnSpc>
                <a:spcPts val="3200"/>
              </a:lnSpc>
              <a:spcBef>
                <a:spcPct val="20000"/>
              </a:spcBef>
              <a:buClr>
                <a:srgbClr val="FF0000"/>
              </a:buClr>
              <a:buSzPct val="55000"/>
              <a:defRPr/>
            </a:pPr>
            <a:r>
              <a:rPr kumimoji="0" lang="zh-CN" altLang="en-US" sz="2000" b="0" kern="0" dirty="0">
                <a:solidFill>
                  <a:srgbClr val="000000"/>
                </a:solidFill>
                <a:latin typeface="Arial" charset="0"/>
                <a:ea typeface="微软雅黑" pitchFamily="34" charset="-122"/>
                <a:cs typeface="Arial" charset="0"/>
              </a:rPr>
              <a:t> 它由容量为 </a:t>
            </a:r>
            <a:r>
              <a:rPr kumimoji="0" lang="en-US" altLang="zh-CN" sz="2000" b="0" kern="0" dirty="0">
                <a:solidFill>
                  <a:srgbClr val="000000"/>
                </a:solidFill>
                <a:effectLst>
                  <a:outerShdw blurRad="38100" dist="38100" dir="2700000" algn="tl">
                    <a:srgbClr val="000000">
                      <a:alpha val="43137"/>
                    </a:srgbClr>
                  </a:outerShdw>
                </a:effectLst>
                <a:latin typeface="Arial" charset="0"/>
                <a:ea typeface="微软雅黑" pitchFamily="34" charset="-122"/>
                <a:cs typeface="Arial" charset="0"/>
              </a:rPr>
              <a:t>(</a:t>
            </a:r>
            <a:r>
              <a:rPr kumimoji="0" lang="en-US" altLang="zh-CN" sz="2000" b="0" i="1" kern="0" dirty="0">
                <a:solidFill>
                  <a:srgbClr val="000000"/>
                </a:solidFill>
                <a:effectLst>
                  <a:outerShdw blurRad="38100" dist="38100" dir="2700000" algn="tl">
                    <a:srgbClr val="000000">
                      <a:alpha val="43137"/>
                    </a:srgbClr>
                  </a:outerShdw>
                </a:effectLst>
                <a:latin typeface="Arial" charset="0"/>
                <a:ea typeface="微软雅黑" pitchFamily="34" charset="-122"/>
                <a:cs typeface="Arial" charset="0"/>
              </a:rPr>
              <a:t>n-</a:t>
            </a:r>
            <a:r>
              <a:rPr kumimoji="0" lang="en-US" altLang="zh-CN" sz="2000" b="0" kern="0" dirty="0">
                <a:solidFill>
                  <a:srgbClr val="000000"/>
                </a:solidFill>
                <a:effectLst>
                  <a:outerShdw blurRad="38100" dist="38100" dir="2700000" algn="tl">
                    <a:srgbClr val="000000">
                      <a:alpha val="43137"/>
                    </a:srgbClr>
                  </a:outerShdw>
                </a:effectLst>
                <a:latin typeface="Arial" charset="0"/>
                <a:ea typeface="微软雅黑" pitchFamily="34" charset="-122"/>
                <a:cs typeface="Arial" charset="0"/>
              </a:rPr>
              <a:t>1)</a:t>
            </a:r>
            <a:r>
              <a:rPr kumimoji="0" lang="en-US" altLang="zh-CN" sz="2000" b="0" i="1" kern="0" dirty="0">
                <a:solidFill>
                  <a:srgbClr val="000000"/>
                </a:solidFill>
                <a:effectLst>
                  <a:outerShdw blurRad="38100" dist="38100" dir="2700000" algn="tl">
                    <a:srgbClr val="000000">
                      <a:alpha val="43137"/>
                    </a:srgbClr>
                  </a:outerShdw>
                </a:effectLst>
                <a:latin typeface="Arial" charset="0"/>
                <a:ea typeface="微软雅黑" pitchFamily="34" charset="-122"/>
                <a:cs typeface="Arial" charset="0"/>
              </a:rPr>
              <a:t>m </a:t>
            </a:r>
            <a:r>
              <a:rPr kumimoji="0" lang="zh-CN" altLang="en-US" sz="2000" b="0" kern="0" dirty="0">
                <a:solidFill>
                  <a:srgbClr val="000000"/>
                </a:solidFill>
                <a:latin typeface="Arial" charset="0"/>
                <a:ea typeface="微软雅黑" pitchFamily="34" charset="-122"/>
                <a:cs typeface="Arial" charset="0"/>
              </a:rPr>
              <a:t>比特的</a:t>
            </a:r>
            <a:r>
              <a:rPr kumimoji="0" lang="zh-CN" altLang="en-US" sz="2000" b="0" kern="0" dirty="0">
                <a:solidFill>
                  <a:srgbClr val="000000"/>
                </a:solidFill>
                <a:effectLst>
                  <a:outerShdw blurRad="38100" dist="38100" dir="2700000" algn="tl">
                    <a:srgbClr val="000000">
                      <a:alpha val="43137"/>
                    </a:srgbClr>
                  </a:outerShdw>
                </a:effectLst>
                <a:latin typeface="Arial" charset="0"/>
                <a:ea typeface="微软雅黑" pitchFamily="34" charset="-122"/>
                <a:cs typeface="Arial" charset="0"/>
              </a:rPr>
              <a:t>存储器</a:t>
            </a:r>
            <a:r>
              <a:rPr kumimoji="0" lang="zh-CN" altLang="en-US" sz="2000" b="0" kern="0" dirty="0">
                <a:solidFill>
                  <a:srgbClr val="000000"/>
                </a:solidFill>
                <a:latin typeface="Arial" charset="0"/>
                <a:ea typeface="微软雅黑" pitchFamily="34" charset="-122"/>
                <a:cs typeface="Arial" charset="0"/>
              </a:rPr>
              <a:t>构成：</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up)">
                                      <p:cBhvr>
                                        <p:cTn id="7" dur="1000"/>
                                        <p:tgtEl>
                                          <p:spTgt spid="32"/>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10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wipe(up)">
                                      <p:cBhvr>
                                        <p:cTn id="16" dur="1000"/>
                                        <p:tgtEl>
                                          <p:spTgt spid="3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150531">
                                            <p:txEl>
                                              <p:pRg st="0" end="0"/>
                                            </p:txEl>
                                          </p:spTgt>
                                        </p:tgtEl>
                                        <p:attrNameLst>
                                          <p:attrName>style.visibility</p:attrName>
                                        </p:attrNameLst>
                                      </p:cBhvr>
                                      <p:to>
                                        <p:strVal val="visible"/>
                                      </p:to>
                                    </p:set>
                                    <p:animEffect transition="in" filter="wipe(up)">
                                      <p:cBhvr>
                                        <p:cTn id="21" dur="1000"/>
                                        <p:tgtEl>
                                          <p:spTgt spid="150531">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wipe(up)">
                                      <p:cBhvr>
                                        <p:cTn id="26" dur="1000"/>
                                        <p:tgtEl>
                                          <p:spTgt spid="3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wipe(up)">
                                      <p:cBhvr>
                                        <p:cTn id="31" dur="1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1" grpId="0" build="p"/>
      <p:bldP spid="32" grpId="0"/>
      <p:bldP spid="31" grpId="0"/>
      <p:bldP spid="35" grpId="0"/>
      <p:bldP spid="36" grpId="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a:extLst>
              <a:ext uri="{FF2B5EF4-FFF2-40B4-BE49-F238E27FC236}">
                <a16:creationId xmlns:a16="http://schemas.microsoft.com/office/drawing/2014/main" id="{956AB22E-BB19-347B-1D98-4FB448D5F98E}"/>
              </a:ext>
            </a:extLst>
          </p:cNvPr>
          <p:cNvSpPr/>
          <p:nvPr/>
        </p:nvSpPr>
        <p:spPr>
          <a:xfrm>
            <a:off x="5143500" y="500063"/>
            <a:ext cx="2703513" cy="503237"/>
          </a:xfrm>
          <a:prstGeom prst="rect">
            <a:avLst/>
          </a:prstGeom>
          <a:solidFill>
            <a:schemeClr val="bg1">
              <a:lumMod val="95000"/>
            </a:schemeClr>
          </a:solidFill>
        </p:spPr>
        <p:txBody>
          <a:bodyPr>
            <a:spAutoFit/>
          </a:bodyPr>
          <a:lstStyle/>
          <a:p>
            <a:pPr marL="285750" indent="-285750">
              <a:lnSpc>
                <a:spcPts val="3200"/>
              </a:lnSpc>
              <a:spcBef>
                <a:spcPct val="20000"/>
              </a:spcBef>
              <a:buClr>
                <a:srgbClr val="FF0000"/>
              </a:buClr>
              <a:buSzPct val="55000"/>
              <a:defRPr/>
            </a:pPr>
            <a:r>
              <a:rPr kumimoji="0" lang="zh-CN" altLang="en-US" sz="2000" b="0" kern="0" dirty="0">
                <a:solidFill>
                  <a:srgbClr val="990099"/>
                </a:solidFill>
                <a:effectLst>
                  <a:outerShdw blurRad="38100" dist="38100" dir="2700000" algn="tl">
                    <a:srgbClr val="000000">
                      <a:alpha val="43137"/>
                    </a:srgbClr>
                  </a:outerShdw>
                </a:effectLst>
                <a:latin typeface="Arial" charset="0"/>
                <a:ea typeface="微软雅黑" pitchFamily="34" charset="-122"/>
                <a:cs typeface="Arial" charset="0"/>
              </a:rPr>
              <a:t>矩阵交织器原理图：</a:t>
            </a:r>
          </a:p>
        </p:txBody>
      </p:sp>
      <p:sp>
        <p:nvSpPr>
          <p:cNvPr id="35" name="矩形 34">
            <a:extLst>
              <a:ext uri="{FF2B5EF4-FFF2-40B4-BE49-F238E27FC236}">
                <a16:creationId xmlns:a16="http://schemas.microsoft.com/office/drawing/2014/main" id="{FF8899B7-F832-8CD5-26C1-E755BEDD5F56}"/>
              </a:ext>
            </a:extLst>
          </p:cNvPr>
          <p:cNvSpPr/>
          <p:nvPr/>
        </p:nvSpPr>
        <p:spPr>
          <a:xfrm>
            <a:off x="869950" y="2500313"/>
            <a:ext cx="3054350" cy="503237"/>
          </a:xfrm>
          <a:prstGeom prst="rect">
            <a:avLst/>
          </a:prstGeom>
        </p:spPr>
        <p:txBody>
          <a:bodyPr>
            <a:spAutoFit/>
          </a:bodyPr>
          <a:lstStyle/>
          <a:p>
            <a:pPr marL="285750" indent="-285750">
              <a:lnSpc>
                <a:spcPts val="3200"/>
              </a:lnSpc>
              <a:spcBef>
                <a:spcPct val="20000"/>
              </a:spcBef>
              <a:buClr>
                <a:srgbClr val="0000CC"/>
              </a:buClr>
              <a:buSzPct val="55000"/>
              <a:buFont typeface="Wingdings" pitchFamily="2" charset="2"/>
              <a:buChar char="l"/>
              <a:defRPr/>
            </a:pPr>
            <a:r>
              <a:rPr kumimoji="0" lang="zh-CN" altLang="en-US" sz="2000" b="0" kern="0" dirty="0">
                <a:solidFill>
                  <a:srgbClr val="000000"/>
                </a:solidFill>
                <a:latin typeface="Arial" charset="0"/>
                <a:ea typeface="微软雅黑" pitchFamily="34" charset="-122"/>
                <a:cs typeface="Arial" charset="0"/>
              </a:rPr>
              <a:t>再按</a:t>
            </a:r>
            <a:r>
              <a:rPr kumimoji="0" lang="zh-CN" altLang="en-US" sz="2000" kern="0" dirty="0">
                <a:solidFill>
                  <a:srgbClr val="990099"/>
                </a:solidFill>
                <a:latin typeface="Arial" charset="0"/>
                <a:ea typeface="微软雅黑" pitchFamily="34" charset="-122"/>
                <a:cs typeface="Arial" charset="0"/>
              </a:rPr>
              <a:t>列</a:t>
            </a:r>
            <a:r>
              <a:rPr kumimoji="0" lang="zh-CN" altLang="en-US" sz="2000" b="0" kern="0" dirty="0">
                <a:solidFill>
                  <a:srgbClr val="000000"/>
                </a:solidFill>
                <a:latin typeface="Arial" charset="0"/>
                <a:ea typeface="微软雅黑" pitchFamily="34" charset="-122"/>
                <a:cs typeface="Arial" charset="0"/>
              </a:rPr>
              <a:t>的方向</a:t>
            </a:r>
            <a:r>
              <a:rPr kumimoji="0" lang="zh-CN" altLang="en-US" sz="2000" b="0" kern="0" dirty="0">
                <a:solidFill>
                  <a:srgbClr val="000000"/>
                </a:solidFill>
                <a:effectLst>
                  <a:outerShdw blurRad="38100" dist="38100" dir="2700000" algn="tl">
                    <a:srgbClr val="000000">
                      <a:alpha val="43137"/>
                    </a:srgbClr>
                  </a:outerShdw>
                </a:effectLst>
                <a:latin typeface="Arial" charset="0"/>
                <a:ea typeface="微软雅黑" pitchFamily="34" charset="-122"/>
                <a:cs typeface="Arial" charset="0"/>
              </a:rPr>
              <a:t>输出</a:t>
            </a:r>
            <a:endParaRPr kumimoji="0" lang="zh-CN" altLang="en-US" sz="2000" b="0" kern="0" dirty="0">
              <a:solidFill>
                <a:srgbClr val="000000"/>
              </a:solidFill>
              <a:latin typeface="Arial" charset="0"/>
              <a:ea typeface="微软雅黑" pitchFamily="34" charset="-122"/>
              <a:cs typeface="Arial" charset="0"/>
            </a:endParaRPr>
          </a:p>
        </p:txBody>
      </p:sp>
      <p:sp>
        <p:nvSpPr>
          <p:cNvPr id="36" name="矩形 35">
            <a:extLst>
              <a:ext uri="{FF2B5EF4-FFF2-40B4-BE49-F238E27FC236}">
                <a16:creationId xmlns:a16="http://schemas.microsoft.com/office/drawing/2014/main" id="{863443AF-366A-D9D3-0D0F-AE64CAEF9B9E}"/>
              </a:ext>
            </a:extLst>
          </p:cNvPr>
          <p:cNvSpPr/>
          <p:nvPr/>
        </p:nvSpPr>
        <p:spPr>
          <a:xfrm>
            <a:off x="857250" y="1071563"/>
            <a:ext cx="2286000" cy="1446212"/>
          </a:xfrm>
          <a:prstGeom prst="rect">
            <a:avLst/>
          </a:prstGeom>
        </p:spPr>
        <p:txBody>
          <a:bodyPr>
            <a:spAutoFit/>
          </a:bodyPr>
          <a:lstStyle/>
          <a:p>
            <a:pPr marL="285750" indent="-285750">
              <a:lnSpc>
                <a:spcPts val="3200"/>
              </a:lnSpc>
              <a:spcBef>
                <a:spcPct val="20000"/>
              </a:spcBef>
              <a:buClr>
                <a:srgbClr val="0000CC"/>
              </a:buClr>
              <a:buSzPct val="55000"/>
              <a:buFont typeface="Wingdings" pitchFamily="2" charset="2"/>
              <a:buChar char="l"/>
              <a:defRPr/>
            </a:pPr>
            <a:r>
              <a:rPr kumimoji="0" lang="zh-CN" altLang="en-US" sz="2000" b="0" kern="0" dirty="0">
                <a:solidFill>
                  <a:srgbClr val="000000"/>
                </a:solidFill>
                <a:latin typeface="Arial" charset="0"/>
                <a:ea typeface="微软雅黑" pitchFamily="34" charset="-122"/>
                <a:cs typeface="Arial" charset="0"/>
              </a:rPr>
              <a:t>将信号码元</a:t>
            </a:r>
            <a:endParaRPr kumimoji="0" lang="en-US" altLang="zh-CN" sz="2000" b="0" kern="0" dirty="0">
              <a:solidFill>
                <a:srgbClr val="000000"/>
              </a:solidFill>
              <a:latin typeface="Arial" charset="0"/>
              <a:ea typeface="微软雅黑" pitchFamily="34" charset="-122"/>
              <a:cs typeface="Arial" charset="0"/>
            </a:endParaRPr>
          </a:p>
          <a:p>
            <a:pPr marL="285750" indent="-285750">
              <a:lnSpc>
                <a:spcPts val="3200"/>
              </a:lnSpc>
              <a:spcBef>
                <a:spcPct val="20000"/>
              </a:spcBef>
              <a:buClr>
                <a:srgbClr val="0000CC"/>
              </a:buClr>
              <a:buSzPct val="55000"/>
              <a:defRPr/>
            </a:pPr>
            <a:r>
              <a:rPr kumimoji="0" lang="zh-CN" altLang="en-US" sz="2000" b="0" kern="0" dirty="0">
                <a:solidFill>
                  <a:srgbClr val="000000"/>
                </a:solidFill>
                <a:latin typeface="Arial" charset="0"/>
                <a:ea typeface="微软雅黑" pitchFamily="34" charset="-122"/>
                <a:cs typeface="Arial" charset="0"/>
              </a:rPr>
              <a:t>    按</a:t>
            </a:r>
            <a:r>
              <a:rPr kumimoji="0" lang="zh-CN" altLang="en-US" sz="2000" kern="0" dirty="0">
                <a:solidFill>
                  <a:srgbClr val="990099"/>
                </a:solidFill>
                <a:latin typeface="Arial" charset="0"/>
                <a:ea typeface="微软雅黑" pitchFamily="34" charset="-122"/>
                <a:cs typeface="Arial" charset="0"/>
              </a:rPr>
              <a:t>行</a:t>
            </a:r>
            <a:r>
              <a:rPr kumimoji="0" lang="zh-CN" altLang="en-US" sz="2000" b="0" kern="0" dirty="0">
                <a:solidFill>
                  <a:srgbClr val="000000"/>
                </a:solidFill>
                <a:latin typeface="Arial" charset="0"/>
                <a:ea typeface="微软雅黑" pitchFamily="34" charset="-122"/>
                <a:cs typeface="Arial" charset="0"/>
              </a:rPr>
              <a:t>的方向</a:t>
            </a:r>
            <a:endParaRPr kumimoji="0" lang="en-US" altLang="zh-CN" sz="2000" b="0" kern="0" dirty="0">
              <a:solidFill>
                <a:srgbClr val="000000"/>
              </a:solidFill>
              <a:latin typeface="Arial" charset="0"/>
              <a:ea typeface="微软雅黑" pitchFamily="34" charset="-122"/>
              <a:cs typeface="Arial" charset="0"/>
            </a:endParaRPr>
          </a:p>
          <a:p>
            <a:pPr marL="285750" indent="-285750">
              <a:lnSpc>
                <a:spcPts val="3200"/>
              </a:lnSpc>
              <a:spcBef>
                <a:spcPct val="20000"/>
              </a:spcBef>
              <a:buClr>
                <a:srgbClr val="0000CC"/>
              </a:buClr>
              <a:buSzPct val="55000"/>
              <a:defRPr/>
            </a:pPr>
            <a:r>
              <a:rPr kumimoji="0" lang="zh-CN" altLang="en-US" sz="2000" b="0" kern="0" dirty="0">
                <a:solidFill>
                  <a:srgbClr val="000000"/>
                </a:solidFill>
                <a:effectLst>
                  <a:outerShdw blurRad="38100" dist="38100" dir="2700000" algn="tl">
                    <a:srgbClr val="000000">
                      <a:alpha val="43137"/>
                    </a:srgbClr>
                  </a:outerShdw>
                </a:effectLst>
                <a:latin typeface="Arial" charset="0"/>
                <a:ea typeface="微软雅黑" pitchFamily="34" charset="-122"/>
                <a:cs typeface="Arial" charset="0"/>
              </a:rPr>
              <a:t>    输入</a:t>
            </a:r>
            <a:r>
              <a:rPr kumimoji="0" lang="zh-CN" altLang="en-US" sz="2000" b="0" kern="0" dirty="0">
                <a:solidFill>
                  <a:srgbClr val="000000"/>
                </a:solidFill>
                <a:latin typeface="Arial" charset="0"/>
                <a:ea typeface="微软雅黑" pitchFamily="34" charset="-122"/>
                <a:cs typeface="Arial" charset="0"/>
              </a:rPr>
              <a:t>存储器</a:t>
            </a:r>
            <a:endParaRPr kumimoji="0" lang="en-US" altLang="zh-CN" sz="2000" b="0" kern="0" dirty="0">
              <a:solidFill>
                <a:srgbClr val="000000"/>
              </a:solidFill>
              <a:latin typeface="Arial" charset="0"/>
              <a:ea typeface="微软雅黑" pitchFamily="34" charset="-122"/>
              <a:cs typeface="Arial" charset="0"/>
            </a:endParaRPr>
          </a:p>
        </p:txBody>
      </p:sp>
      <p:pic>
        <p:nvPicPr>
          <p:cNvPr id="153635" name="Picture 35">
            <a:extLst>
              <a:ext uri="{FF2B5EF4-FFF2-40B4-BE49-F238E27FC236}">
                <a16:creationId xmlns:a16="http://schemas.microsoft.com/office/drawing/2014/main" id="{716CEAFE-97C7-89C1-850C-E9F65882FA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3238" y="1003300"/>
            <a:ext cx="4044950" cy="208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36" name="Picture 36">
            <a:extLst>
              <a:ext uri="{FF2B5EF4-FFF2-40B4-BE49-F238E27FC236}">
                <a16:creationId xmlns:a16="http://schemas.microsoft.com/office/drawing/2014/main" id="{CD77952D-8DB6-B8AB-8E10-A5582EF838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69632"/>
          <a:stretch>
            <a:fillRect/>
          </a:stretch>
        </p:blipFill>
        <p:spPr bwMode="auto">
          <a:xfrm>
            <a:off x="400050" y="3143250"/>
            <a:ext cx="8315325"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36">
            <a:extLst>
              <a:ext uri="{FF2B5EF4-FFF2-40B4-BE49-F238E27FC236}">
                <a16:creationId xmlns:a16="http://schemas.microsoft.com/office/drawing/2014/main" id="{E5B5E515-DB92-28C7-DCDE-A7FDE7FFF2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30368" b="220"/>
          <a:stretch>
            <a:fillRect/>
          </a:stretch>
        </p:blipFill>
        <p:spPr bwMode="auto">
          <a:xfrm>
            <a:off x="396875" y="4143375"/>
            <a:ext cx="8315325"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up)">
                                      <p:cBhvr>
                                        <p:cTn id="7" dur="1000"/>
                                        <p:tgtEl>
                                          <p:spTgt spid="34"/>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153635"/>
                                        </p:tgtEl>
                                        <p:attrNameLst>
                                          <p:attrName>style.visibility</p:attrName>
                                        </p:attrNameLst>
                                      </p:cBhvr>
                                      <p:to>
                                        <p:strVal val="visible"/>
                                      </p:to>
                                    </p:set>
                                    <p:animEffect transition="in" filter="wipe(up)">
                                      <p:cBhvr>
                                        <p:cTn id="11" dur="1000"/>
                                        <p:tgtEl>
                                          <p:spTgt spid="15363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wipe(up)">
                                      <p:cBhvr>
                                        <p:cTn id="16" dur="1000"/>
                                        <p:tgtEl>
                                          <p:spTgt spid="3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wipe(up)">
                                      <p:cBhvr>
                                        <p:cTn id="21" dur="1000"/>
                                        <p:tgtEl>
                                          <p:spTgt spid="3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153636"/>
                                        </p:tgtEl>
                                        <p:attrNameLst>
                                          <p:attrName>style.visibility</p:attrName>
                                        </p:attrNameLst>
                                      </p:cBhvr>
                                      <p:to>
                                        <p:strVal val="visible"/>
                                      </p:to>
                                    </p:set>
                                    <p:animEffect transition="in" filter="wipe(up)">
                                      <p:cBhvr>
                                        <p:cTn id="26" dur="1000"/>
                                        <p:tgtEl>
                                          <p:spTgt spid="15363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wipe(up)">
                                      <p:cBhvr>
                                        <p:cTn id="31" dur="1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P spid="36"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84">
            <a:extLst>
              <a:ext uri="{FF2B5EF4-FFF2-40B4-BE49-F238E27FC236}">
                <a16:creationId xmlns:a16="http://schemas.microsoft.com/office/drawing/2014/main" id="{CA20574F-1DA1-C629-5B2E-2C1E3237E7A2}"/>
              </a:ext>
            </a:extLst>
          </p:cNvPr>
          <p:cNvGrpSpPr>
            <a:grpSpLocks/>
          </p:cNvGrpSpPr>
          <p:nvPr/>
        </p:nvGrpSpPr>
        <p:grpSpPr bwMode="auto">
          <a:xfrm>
            <a:off x="1071563" y="928688"/>
            <a:ext cx="7429500" cy="5627687"/>
            <a:chOff x="1755" y="5561"/>
            <a:chExt cx="9144" cy="6538"/>
          </a:xfrm>
        </p:grpSpPr>
        <p:grpSp>
          <p:nvGrpSpPr>
            <p:cNvPr id="153604" name="Group 585">
              <a:extLst>
                <a:ext uri="{FF2B5EF4-FFF2-40B4-BE49-F238E27FC236}">
                  <a16:creationId xmlns:a16="http://schemas.microsoft.com/office/drawing/2014/main" id="{AC0F327B-4D3D-07C5-E4AB-520F49E64D9A}"/>
                </a:ext>
              </a:extLst>
            </p:cNvPr>
            <p:cNvGrpSpPr>
              <a:grpSpLocks/>
            </p:cNvGrpSpPr>
            <p:nvPr/>
          </p:nvGrpSpPr>
          <p:grpSpPr bwMode="auto">
            <a:xfrm>
              <a:off x="1755" y="5561"/>
              <a:ext cx="9144" cy="6538"/>
              <a:chOff x="1755" y="5561"/>
              <a:chExt cx="9144" cy="6538"/>
            </a:xfrm>
          </p:grpSpPr>
          <p:grpSp>
            <p:nvGrpSpPr>
              <p:cNvPr id="153622" name="Group 586">
                <a:extLst>
                  <a:ext uri="{FF2B5EF4-FFF2-40B4-BE49-F238E27FC236}">
                    <a16:creationId xmlns:a16="http://schemas.microsoft.com/office/drawing/2014/main" id="{603279C3-FCFE-B91B-94AB-37C0C2DAAE70}"/>
                  </a:ext>
                </a:extLst>
              </p:cNvPr>
              <p:cNvGrpSpPr>
                <a:grpSpLocks/>
              </p:cNvGrpSpPr>
              <p:nvPr/>
            </p:nvGrpSpPr>
            <p:grpSpPr bwMode="auto">
              <a:xfrm>
                <a:off x="1770" y="5976"/>
                <a:ext cx="9129" cy="1461"/>
                <a:chOff x="1770" y="4236"/>
                <a:chExt cx="9129" cy="1461"/>
              </a:xfrm>
            </p:grpSpPr>
            <p:sp>
              <p:nvSpPr>
                <p:cNvPr id="154040" name="Line 587">
                  <a:extLst>
                    <a:ext uri="{FF2B5EF4-FFF2-40B4-BE49-F238E27FC236}">
                      <a16:creationId xmlns:a16="http://schemas.microsoft.com/office/drawing/2014/main" id="{86B8D92F-D31D-3B36-673F-1205453C101A}"/>
                    </a:ext>
                  </a:extLst>
                </p:cNvPr>
                <p:cNvSpPr>
                  <a:spLocks noChangeShapeType="1"/>
                </p:cNvSpPr>
                <p:nvPr/>
              </p:nvSpPr>
              <p:spPr bwMode="auto">
                <a:xfrm flipV="1">
                  <a:off x="7665" y="4236"/>
                  <a:ext cx="1165"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041" name="Line 588">
                  <a:extLst>
                    <a:ext uri="{FF2B5EF4-FFF2-40B4-BE49-F238E27FC236}">
                      <a16:creationId xmlns:a16="http://schemas.microsoft.com/office/drawing/2014/main" id="{986C327C-75FB-3EB3-4780-5CCAB69E2F8F}"/>
                    </a:ext>
                  </a:extLst>
                </p:cNvPr>
                <p:cNvSpPr>
                  <a:spLocks noChangeShapeType="1"/>
                </p:cNvSpPr>
                <p:nvPr/>
              </p:nvSpPr>
              <p:spPr bwMode="auto">
                <a:xfrm flipV="1">
                  <a:off x="7673" y="4533"/>
                  <a:ext cx="115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54042" name="Group 589">
                  <a:extLst>
                    <a:ext uri="{FF2B5EF4-FFF2-40B4-BE49-F238E27FC236}">
                      <a16:creationId xmlns:a16="http://schemas.microsoft.com/office/drawing/2014/main" id="{522F8AA2-3187-8229-3822-131440A8AEF4}"/>
                    </a:ext>
                  </a:extLst>
                </p:cNvPr>
                <p:cNvGrpSpPr>
                  <a:grpSpLocks/>
                </p:cNvGrpSpPr>
                <p:nvPr/>
              </p:nvGrpSpPr>
              <p:grpSpPr bwMode="auto">
                <a:xfrm>
                  <a:off x="7667" y="4242"/>
                  <a:ext cx="1183" cy="836"/>
                  <a:chOff x="7667" y="4242"/>
                  <a:chExt cx="1183" cy="836"/>
                </a:xfrm>
              </p:grpSpPr>
              <p:sp>
                <p:nvSpPr>
                  <p:cNvPr id="154173" name="Line 590">
                    <a:extLst>
                      <a:ext uri="{FF2B5EF4-FFF2-40B4-BE49-F238E27FC236}">
                        <a16:creationId xmlns:a16="http://schemas.microsoft.com/office/drawing/2014/main" id="{29AC38AE-C61E-8861-3AFC-4D03B6BBDB70}"/>
                      </a:ext>
                    </a:extLst>
                  </p:cNvPr>
                  <p:cNvSpPr>
                    <a:spLocks noChangeShapeType="1"/>
                  </p:cNvSpPr>
                  <p:nvPr/>
                </p:nvSpPr>
                <p:spPr bwMode="auto">
                  <a:xfrm flipV="1">
                    <a:off x="8842" y="4242"/>
                    <a:ext cx="0" cy="83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74" name="Line 591">
                    <a:extLst>
                      <a:ext uri="{FF2B5EF4-FFF2-40B4-BE49-F238E27FC236}">
                        <a16:creationId xmlns:a16="http://schemas.microsoft.com/office/drawing/2014/main" id="{40F81138-66E9-9F05-E280-9C058BD8D371}"/>
                      </a:ext>
                    </a:extLst>
                  </p:cNvPr>
                  <p:cNvSpPr>
                    <a:spLocks noChangeShapeType="1"/>
                  </p:cNvSpPr>
                  <p:nvPr/>
                </p:nvSpPr>
                <p:spPr bwMode="auto">
                  <a:xfrm flipV="1">
                    <a:off x="8052" y="4803"/>
                    <a:ext cx="79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75" name="Line 592">
                    <a:extLst>
                      <a:ext uri="{FF2B5EF4-FFF2-40B4-BE49-F238E27FC236}">
                        <a16:creationId xmlns:a16="http://schemas.microsoft.com/office/drawing/2014/main" id="{73E4327E-6AF6-3ECB-0DF2-14C1D5320060}"/>
                      </a:ext>
                    </a:extLst>
                  </p:cNvPr>
                  <p:cNvSpPr>
                    <a:spLocks noChangeShapeType="1"/>
                  </p:cNvSpPr>
                  <p:nvPr/>
                </p:nvSpPr>
                <p:spPr bwMode="auto">
                  <a:xfrm flipV="1">
                    <a:off x="8453" y="4248"/>
                    <a:ext cx="0" cy="83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76" name="Line 593">
                    <a:extLst>
                      <a:ext uri="{FF2B5EF4-FFF2-40B4-BE49-F238E27FC236}">
                        <a16:creationId xmlns:a16="http://schemas.microsoft.com/office/drawing/2014/main" id="{7A8BD6CB-40AD-47A8-9891-757DF315295B}"/>
                      </a:ext>
                    </a:extLst>
                  </p:cNvPr>
                  <p:cNvSpPr>
                    <a:spLocks noChangeShapeType="1"/>
                  </p:cNvSpPr>
                  <p:nvPr/>
                </p:nvSpPr>
                <p:spPr bwMode="auto">
                  <a:xfrm flipH="1" flipV="1">
                    <a:off x="8056" y="4255"/>
                    <a:ext cx="6" cy="54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77" name="Line 594">
                    <a:extLst>
                      <a:ext uri="{FF2B5EF4-FFF2-40B4-BE49-F238E27FC236}">
                        <a16:creationId xmlns:a16="http://schemas.microsoft.com/office/drawing/2014/main" id="{005605FF-E612-539A-524A-3AFC6ABEEBA0}"/>
                      </a:ext>
                    </a:extLst>
                  </p:cNvPr>
                  <p:cNvSpPr>
                    <a:spLocks noChangeShapeType="1"/>
                  </p:cNvSpPr>
                  <p:nvPr/>
                </p:nvSpPr>
                <p:spPr bwMode="auto">
                  <a:xfrm flipV="1">
                    <a:off x="7667" y="4248"/>
                    <a:ext cx="0" cy="27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78" name="Line 595">
                    <a:extLst>
                      <a:ext uri="{FF2B5EF4-FFF2-40B4-BE49-F238E27FC236}">
                        <a16:creationId xmlns:a16="http://schemas.microsoft.com/office/drawing/2014/main" id="{1B0B51E0-997C-3245-1819-D300C5809C42}"/>
                      </a:ext>
                    </a:extLst>
                  </p:cNvPr>
                  <p:cNvSpPr>
                    <a:spLocks noChangeShapeType="1"/>
                  </p:cNvSpPr>
                  <p:nvPr/>
                </p:nvSpPr>
                <p:spPr bwMode="auto">
                  <a:xfrm flipV="1">
                    <a:off x="8457" y="4801"/>
                    <a:ext cx="38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79" name="Line 596">
                    <a:extLst>
                      <a:ext uri="{FF2B5EF4-FFF2-40B4-BE49-F238E27FC236}">
                        <a16:creationId xmlns:a16="http://schemas.microsoft.com/office/drawing/2014/main" id="{7180BABA-FFD3-D334-0C19-58C5CE7746F8}"/>
                      </a:ext>
                    </a:extLst>
                  </p:cNvPr>
                  <p:cNvSpPr>
                    <a:spLocks noChangeShapeType="1"/>
                  </p:cNvSpPr>
                  <p:nvPr/>
                </p:nvSpPr>
                <p:spPr bwMode="auto">
                  <a:xfrm flipV="1">
                    <a:off x="8451" y="5076"/>
                    <a:ext cx="39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54043" name="Group 597">
                  <a:extLst>
                    <a:ext uri="{FF2B5EF4-FFF2-40B4-BE49-F238E27FC236}">
                      <a16:creationId xmlns:a16="http://schemas.microsoft.com/office/drawing/2014/main" id="{9E610535-87DF-42B6-27DD-6C1A05AC1BAB}"/>
                    </a:ext>
                  </a:extLst>
                </p:cNvPr>
                <p:cNvGrpSpPr>
                  <a:grpSpLocks/>
                </p:cNvGrpSpPr>
                <p:nvPr/>
              </p:nvGrpSpPr>
              <p:grpSpPr bwMode="auto">
                <a:xfrm>
                  <a:off x="1770" y="4248"/>
                  <a:ext cx="9129" cy="1449"/>
                  <a:chOff x="1740" y="4548"/>
                  <a:chExt cx="9129" cy="1449"/>
                </a:xfrm>
              </p:grpSpPr>
              <p:grpSp>
                <p:nvGrpSpPr>
                  <p:cNvPr id="154044" name="Group 598">
                    <a:extLst>
                      <a:ext uri="{FF2B5EF4-FFF2-40B4-BE49-F238E27FC236}">
                        <a16:creationId xmlns:a16="http://schemas.microsoft.com/office/drawing/2014/main" id="{19740B48-63DE-7620-6819-F9753D2A68AB}"/>
                      </a:ext>
                    </a:extLst>
                  </p:cNvPr>
                  <p:cNvGrpSpPr>
                    <a:grpSpLocks/>
                  </p:cNvGrpSpPr>
                  <p:nvPr/>
                </p:nvGrpSpPr>
                <p:grpSpPr bwMode="auto">
                  <a:xfrm>
                    <a:off x="4284" y="4608"/>
                    <a:ext cx="624" cy="876"/>
                    <a:chOff x="4389" y="6642"/>
                    <a:chExt cx="624" cy="876"/>
                  </a:xfrm>
                </p:grpSpPr>
                <p:sp>
                  <p:nvSpPr>
                    <p:cNvPr id="154169" name="Text Box 599">
                      <a:extLst>
                        <a:ext uri="{FF2B5EF4-FFF2-40B4-BE49-F238E27FC236}">
                          <a16:creationId xmlns:a16="http://schemas.microsoft.com/office/drawing/2014/main" id="{914093D7-B371-B71D-C635-C86AECEF35D5}"/>
                        </a:ext>
                      </a:extLst>
                    </p:cNvPr>
                    <p:cNvSpPr txBox="1">
                      <a:spLocks noChangeArrowheads="1"/>
                    </p:cNvSpPr>
                    <p:nvPr/>
                  </p:nvSpPr>
                  <p:spPr bwMode="auto">
                    <a:xfrm>
                      <a:off x="4410" y="7242"/>
                      <a:ext cx="45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0000"/>
                        </a:lnSpc>
                      </a:pPr>
                      <a:r>
                        <a:rPr lang="en-US" altLang="zh-CN" sz="1800" i="1" baseline="30000">
                          <a:solidFill>
                            <a:schemeClr val="tx1"/>
                          </a:solidFill>
                          <a:latin typeface="Arial" panose="020B0604020202020204" pitchFamily="34" charset="0"/>
                          <a:ea typeface="微软雅黑" panose="020B0503020204020204" pitchFamily="34" charset="-122"/>
                          <a:cs typeface="Arial" panose="020B0604020202020204" pitchFamily="34" charset="0"/>
                        </a:rPr>
                        <a:t>x</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170" name="Text Box 600">
                      <a:extLst>
                        <a:ext uri="{FF2B5EF4-FFF2-40B4-BE49-F238E27FC236}">
                          <a16:creationId xmlns:a16="http://schemas.microsoft.com/office/drawing/2014/main" id="{2BE97765-50FC-FB34-FB47-FF475C95AD2A}"/>
                        </a:ext>
                      </a:extLst>
                    </p:cNvPr>
                    <p:cNvSpPr txBox="1">
                      <a:spLocks noChangeArrowheads="1"/>
                    </p:cNvSpPr>
                    <p:nvPr/>
                  </p:nvSpPr>
                  <p:spPr bwMode="auto">
                    <a:xfrm>
                      <a:off x="4389" y="7011"/>
                      <a:ext cx="45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0000"/>
                        </a:lnSpc>
                      </a:pPr>
                      <a:r>
                        <a:rPr lang="en-US" altLang="zh-CN" sz="1800" i="1" baseline="30000">
                          <a:solidFill>
                            <a:schemeClr val="tx1"/>
                          </a:solidFill>
                          <a:latin typeface="Arial" panose="020B0604020202020204" pitchFamily="34" charset="0"/>
                          <a:ea typeface="微软雅黑" panose="020B0503020204020204" pitchFamily="34" charset="-122"/>
                          <a:cs typeface="Arial" panose="020B0604020202020204" pitchFamily="34" charset="0"/>
                        </a:rPr>
                        <a:t>x</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171" name="Text Box 601">
                      <a:extLst>
                        <a:ext uri="{FF2B5EF4-FFF2-40B4-BE49-F238E27FC236}">
                          <a16:creationId xmlns:a16="http://schemas.microsoft.com/office/drawing/2014/main" id="{9B8B4183-1088-C9EB-F836-29DBE4BE7386}"/>
                        </a:ext>
                      </a:extLst>
                    </p:cNvPr>
                    <p:cNvSpPr txBox="1">
                      <a:spLocks noChangeArrowheads="1"/>
                    </p:cNvSpPr>
                    <p:nvPr/>
                  </p:nvSpPr>
                  <p:spPr bwMode="auto">
                    <a:xfrm>
                      <a:off x="4413" y="6783"/>
                      <a:ext cx="45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0000"/>
                        </a:lnSpc>
                      </a:pPr>
                      <a:r>
                        <a:rPr lang="en-US" altLang="zh-CN" sz="1800" i="1" baseline="30000">
                          <a:solidFill>
                            <a:schemeClr val="tx1"/>
                          </a:solidFill>
                          <a:latin typeface="Arial" panose="020B0604020202020204" pitchFamily="34" charset="0"/>
                          <a:ea typeface="微软雅黑" panose="020B0503020204020204" pitchFamily="34" charset="-122"/>
                          <a:cs typeface="Arial" panose="020B0604020202020204" pitchFamily="34" charset="0"/>
                        </a:rPr>
                        <a:t>x</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172" name="Text Box 602">
                      <a:extLst>
                        <a:ext uri="{FF2B5EF4-FFF2-40B4-BE49-F238E27FC236}">
                          <a16:creationId xmlns:a16="http://schemas.microsoft.com/office/drawing/2014/main" id="{A0F83C35-BA82-3F66-0AB4-C3C82B9131FE}"/>
                        </a:ext>
                      </a:extLst>
                    </p:cNvPr>
                    <p:cNvSpPr txBox="1">
                      <a:spLocks noChangeArrowheads="1"/>
                    </p:cNvSpPr>
                    <p:nvPr/>
                  </p:nvSpPr>
                  <p:spPr bwMode="auto">
                    <a:xfrm>
                      <a:off x="4554" y="6642"/>
                      <a:ext cx="45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1</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54045" name="Group 603">
                    <a:extLst>
                      <a:ext uri="{FF2B5EF4-FFF2-40B4-BE49-F238E27FC236}">
                        <a16:creationId xmlns:a16="http://schemas.microsoft.com/office/drawing/2014/main" id="{27F5DEC9-907B-2B94-ABB2-DA4574ECED9A}"/>
                      </a:ext>
                    </a:extLst>
                  </p:cNvPr>
                  <p:cNvGrpSpPr>
                    <a:grpSpLocks/>
                  </p:cNvGrpSpPr>
                  <p:nvPr/>
                </p:nvGrpSpPr>
                <p:grpSpPr bwMode="auto">
                  <a:xfrm>
                    <a:off x="1740" y="4548"/>
                    <a:ext cx="9129" cy="1449"/>
                    <a:chOff x="1740" y="4548"/>
                    <a:chExt cx="9129" cy="1449"/>
                  </a:xfrm>
                </p:grpSpPr>
                <p:grpSp>
                  <p:nvGrpSpPr>
                    <p:cNvPr id="154046" name="Group 604">
                      <a:extLst>
                        <a:ext uri="{FF2B5EF4-FFF2-40B4-BE49-F238E27FC236}">
                          <a16:creationId xmlns:a16="http://schemas.microsoft.com/office/drawing/2014/main" id="{AA14196D-42A4-1CC8-F640-4F6F0B1EC09E}"/>
                        </a:ext>
                      </a:extLst>
                    </p:cNvPr>
                    <p:cNvGrpSpPr>
                      <a:grpSpLocks/>
                    </p:cNvGrpSpPr>
                    <p:nvPr/>
                  </p:nvGrpSpPr>
                  <p:grpSpPr bwMode="auto">
                    <a:xfrm>
                      <a:off x="1740" y="4548"/>
                      <a:ext cx="9129" cy="1214"/>
                      <a:chOff x="1851" y="1911"/>
                      <a:chExt cx="9129" cy="1214"/>
                    </a:xfrm>
                  </p:grpSpPr>
                  <p:grpSp>
                    <p:nvGrpSpPr>
                      <p:cNvPr id="154048" name="Group 605">
                        <a:extLst>
                          <a:ext uri="{FF2B5EF4-FFF2-40B4-BE49-F238E27FC236}">
                            <a16:creationId xmlns:a16="http://schemas.microsoft.com/office/drawing/2014/main" id="{1BE179AB-1384-756F-438F-3AC156114D26}"/>
                          </a:ext>
                        </a:extLst>
                      </p:cNvPr>
                      <p:cNvGrpSpPr>
                        <a:grpSpLocks/>
                      </p:cNvGrpSpPr>
                      <p:nvPr/>
                    </p:nvGrpSpPr>
                    <p:grpSpPr bwMode="auto">
                      <a:xfrm>
                        <a:off x="1851" y="1911"/>
                        <a:ext cx="4557" cy="1214"/>
                        <a:chOff x="1851" y="1911"/>
                        <a:chExt cx="4557" cy="1214"/>
                      </a:xfrm>
                    </p:grpSpPr>
                    <p:grpSp>
                      <p:nvGrpSpPr>
                        <p:cNvPr id="154101" name="Group 606">
                          <a:extLst>
                            <a:ext uri="{FF2B5EF4-FFF2-40B4-BE49-F238E27FC236}">
                              <a16:creationId xmlns:a16="http://schemas.microsoft.com/office/drawing/2014/main" id="{435C6B42-1861-9C2E-5FFF-D980DDB1A053}"/>
                            </a:ext>
                          </a:extLst>
                        </p:cNvPr>
                        <p:cNvGrpSpPr>
                          <a:grpSpLocks/>
                        </p:cNvGrpSpPr>
                        <p:nvPr/>
                      </p:nvGrpSpPr>
                      <p:grpSpPr bwMode="auto">
                        <a:xfrm>
                          <a:off x="1851" y="1911"/>
                          <a:ext cx="3708" cy="1214"/>
                          <a:chOff x="1842" y="1902"/>
                          <a:chExt cx="3708" cy="1214"/>
                        </a:xfrm>
                      </p:grpSpPr>
                      <p:sp>
                        <p:nvSpPr>
                          <p:cNvPr id="154103" name="Line 607">
                            <a:extLst>
                              <a:ext uri="{FF2B5EF4-FFF2-40B4-BE49-F238E27FC236}">
                                <a16:creationId xmlns:a16="http://schemas.microsoft.com/office/drawing/2014/main" id="{07BC55CC-94F1-6AB7-F596-071441D36658}"/>
                              </a:ext>
                            </a:extLst>
                          </p:cNvPr>
                          <p:cNvSpPr>
                            <a:spLocks noChangeShapeType="1"/>
                          </p:cNvSpPr>
                          <p:nvPr/>
                        </p:nvSpPr>
                        <p:spPr bwMode="auto">
                          <a:xfrm>
                            <a:off x="2811" y="2303"/>
                            <a:ext cx="239" cy="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104" name="Line 608">
                            <a:extLst>
                              <a:ext uri="{FF2B5EF4-FFF2-40B4-BE49-F238E27FC236}">
                                <a16:creationId xmlns:a16="http://schemas.microsoft.com/office/drawing/2014/main" id="{27C91523-0DD8-B805-FE76-B5000292FBC0}"/>
                              </a:ext>
                            </a:extLst>
                          </p:cNvPr>
                          <p:cNvSpPr>
                            <a:spLocks noChangeShapeType="1"/>
                          </p:cNvSpPr>
                          <p:nvPr/>
                        </p:nvSpPr>
                        <p:spPr bwMode="auto">
                          <a:xfrm>
                            <a:off x="2818" y="2594"/>
                            <a:ext cx="239"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105" name="Line 609">
                            <a:extLst>
                              <a:ext uri="{FF2B5EF4-FFF2-40B4-BE49-F238E27FC236}">
                                <a16:creationId xmlns:a16="http://schemas.microsoft.com/office/drawing/2014/main" id="{148E0310-FDB7-B285-7B02-180762AF18A2}"/>
                              </a:ext>
                            </a:extLst>
                          </p:cNvPr>
                          <p:cNvSpPr>
                            <a:spLocks noChangeShapeType="1"/>
                          </p:cNvSpPr>
                          <p:nvPr/>
                        </p:nvSpPr>
                        <p:spPr bwMode="auto">
                          <a:xfrm>
                            <a:off x="2818" y="2847"/>
                            <a:ext cx="239" cy="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54106" name="Group 610">
                            <a:extLst>
                              <a:ext uri="{FF2B5EF4-FFF2-40B4-BE49-F238E27FC236}">
                                <a16:creationId xmlns:a16="http://schemas.microsoft.com/office/drawing/2014/main" id="{A7F37CAC-229F-C06D-9B5E-644F0D05FE7A}"/>
                              </a:ext>
                            </a:extLst>
                          </p:cNvPr>
                          <p:cNvGrpSpPr>
                            <a:grpSpLocks/>
                          </p:cNvGrpSpPr>
                          <p:nvPr/>
                        </p:nvGrpSpPr>
                        <p:grpSpPr bwMode="auto">
                          <a:xfrm>
                            <a:off x="1842" y="1902"/>
                            <a:ext cx="3708" cy="1214"/>
                            <a:chOff x="1842" y="1902"/>
                            <a:chExt cx="3708" cy="1214"/>
                          </a:xfrm>
                        </p:grpSpPr>
                        <p:grpSp>
                          <p:nvGrpSpPr>
                            <p:cNvPr id="154107" name="Group 611">
                              <a:extLst>
                                <a:ext uri="{FF2B5EF4-FFF2-40B4-BE49-F238E27FC236}">
                                  <a16:creationId xmlns:a16="http://schemas.microsoft.com/office/drawing/2014/main" id="{2DBFC1A3-D357-CB19-EB3B-BE1C147A91AE}"/>
                                </a:ext>
                              </a:extLst>
                            </p:cNvPr>
                            <p:cNvGrpSpPr>
                              <a:grpSpLocks/>
                            </p:cNvGrpSpPr>
                            <p:nvPr/>
                          </p:nvGrpSpPr>
                          <p:grpSpPr bwMode="auto">
                            <a:xfrm>
                              <a:off x="1842" y="2031"/>
                              <a:ext cx="3708" cy="1085"/>
                              <a:chOff x="1842" y="2031"/>
                              <a:chExt cx="3708" cy="1085"/>
                            </a:xfrm>
                          </p:grpSpPr>
                          <p:grpSp>
                            <p:nvGrpSpPr>
                              <p:cNvPr id="154113" name="Group 612">
                                <a:extLst>
                                  <a:ext uri="{FF2B5EF4-FFF2-40B4-BE49-F238E27FC236}">
                                    <a16:creationId xmlns:a16="http://schemas.microsoft.com/office/drawing/2014/main" id="{8D06ACFB-61D5-67D4-A579-005E73AECC94}"/>
                                  </a:ext>
                                </a:extLst>
                              </p:cNvPr>
                              <p:cNvGrpSpPr>
                                <a:grpSpLocks/>
                              </p:cNvGrpSpPr>
                              <p:nvPr/>
                            </p:nvGrpSpPr>
                            <p:grpSpPr bwMode="auto">
                              <a:xfrm>
                                <a:off x="2829" y="2035"/>
                                <a:ext cx="1718" cy="1081"/>
                                <a:chOff x="2829" y="2035"/>
                                <a:chExt cx="1718" cy="1081"/>
                              </a:xfrm>
                            </p:grpSpPr>
                            <p:sp>
                              <p:nvSpPr>
                                <p:cNvPr id="154146" name="Line 613">
                                  <a:extLst>
                                    <a:ext uri="{FF2B5EF4-FFF2-40B4-BE49-F238E27FC236}">
                                      <a16:creationId xmlns:a16="http://schemas.microsoft.com/office/drawing/2014/main" id="{E210B032-45A0-735A-A9D0-79EC40D454BA}"/>
                                    </a:ext>
                                  </a:extLst>
                                </p:cNvPr>
                                <p:cNvSpPr>
                                  <a:spLocks noChangeShapeType="1"/>
                                </p:cNvSpPr>
                                <p:nvPr/>
                              </p:nvSpPr>
                              <p:spPr bwMode="auto">
                                <a:xfrm>
                                  <a:off x="2829" y="2035"/>
                                  <a:ext cx="1718" cy="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147" name="Line 614">
                                  <a:extLst>
                                    <a:ext uri="{FF2B5EF4-FFF2-40B4-BE49-F238E27FC236}">
                                      <a16:creationId xmlns:a16="http://schemas.microsoft.com/office/drawing/2014/main" id="{1724730A-AB7C-476A-8C76-37581944DA16}"/>
                                    </a:ext>
                                  </a:extLst>
                                </p:cNvPr>
                                <p:cNvSpPr>
                                  <a:spLocks noChangeShapeType="1"/>
                                </p:cNvSpPr>
                                <p:nvPr/>
                              </p:nvSpPr>
                              <p:spPr bwMode="auto">
                                <a:xfrm>
                                  <a:off x="3438" y="2308"/>
                                  <a:ext cx="1107" cy="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148" name="Line 615">
                                  <a:extLst>
                                    <a:ext uri="{FF2B5EF4-FFF2-40B4-BE49-F238E27FC236}">
                                      <a16:creationId xmlns:a16="http://schemas.microsoft.com/office/drawing/2014/main" id="{5E3F3781-C8E6-FCD4-B151-BD5F56901DF4}"/>
                                    </a:ext>
                                  </a:extLst>
                                </p:cNvPr>
                                <p:cNvSpPr>
                                  <a:spLocks noChangeShapeType="1"/>
                                </p:cNvSpPr>
                                <p:nvPr/>
                              </p:nvSpPr>
                              <p:spPr bwMode="auto">
                                <a:xfrm flipV="1">
                                  <a:off x="3829" y="2583"/>
                                  <a:ext cx="716"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149" name="Line 616">
                                  <a:extLst>
                                    <a:ext uri="{FF2B5EF4-FFF2-40B4-BE49-F238E27FC236}">
                                      <a16:creationId xmlns:a16="http://schemas.microsoft.com/office/drawing/2014/main" id="{5F77134F-CAD8-4D7E-CB57-2EC5269A57CD}"/>
                                    </a:ext>
                                  </a:extLst>
                                </p:cNvPr>
                                <p:cNvSpPr>
                                  <a:spLocks noChangeShapeType="1"/>
                                </p:cNvSpPr>
                                <p:nvPr/>
                              </p:nvSpPr>
                              <p:spPr bwMode="auto">
                                <a:xfrm>
                                  <a:off x="4230" y="2847"/>
                                  <a:ext cx="315" cy="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54150" name="Group 617">
                                  <a:extLst>
                                    <a:ext uri="{FF2B5EF4-FFF2-40B4-BE49-F238E27FC236}">
                                      <a16:creationId xmlns:a16="http://schemas.microsoft.com/office/drawing/2014/main" id="{1FA2961E-D5A0-7B69-7C37-252A206D1FB6}"/>
                                    </a:ext>
                                  </a:extLst>
                                </p:cNvPr>
                                <p:cNvGrpSpPr>
                                  <a:grpSpLocks/>
                                </p:cNvGrpSpPr>
                                <p:nvPr/>
                              </p:nvGrpSpPr>
                              <p:grpSpPr bwMode="auto">
                                <a:xfrm>
                                  <a:off x="3033" y="2170"/>
                                  <a:ext cx="1200" cy="946"/>
                                  <a:chOff x="3033" y="2170"/>
                                  <a:chExt cx="1200" cy="946"/>
                                </a:xfrm>
                              </p:grpSpPr>
                              <p:grpSp>
                                <p:nvGrpSpPr>
                                  <p:cNvPr id="154151" name="Group 618">
                                    <a:extLst>
                                      <a:ext uri="{FF2B5EF4-FFF2-40B4-BE49-F238E27FC236}">
                                        <a16:creationId xmlns:a16="http://schemas.microsoft.com/office/drawing/2014/main" id="{C29AD694-096A-1FE3-C9E8-C559C016B544}"/>
                                      </a:ext>
                                    </a:extLst>
                                  </p:cNvPr>
                                  <p:cNvGrpSpPr>
                                    <a:grpSpLocks/>
                                  </p:cNvGrpSpPr>
                                  <p:nvPr/>
                                </p:nvGrpSpPr>
                                <p:grpSpPr bwMode="auto">
                                  <a:xfrm>
                                    <a:off x="3033" y="2200"/>
                                    <a:ext cx="1200" cy="916"/>
                                    <a:chOff x="3042" y="2209"/>
                                    <a:chExt cx="1200" cy="916"/>
                                  </a:xfrm>
                                </p:grpSpPr>
                                <p:grpSp>
                                  <p:nvGrpSpPr>
                                    <p:cNvPr id="154161" name="Group 619">
                                      <a:extLst>
                                        <a:ext uri="{FF2B5EF4-FFF2-40B4-BE49-F238E27FC236}">
                                          <a16:creationId xmlns:a16="http://schemas.microsoft.com/office/drawing/2014/main" id="{E4EAA21A-9420-57E6-07F3-15B9B3A9BB91}"/>
                                        </a:ext>
                                      </a:extLst>
                                    </p:cNvPr>
                                    <p:cNvGrpSpPr>
                                      <a:grpSpLocks/>
                                    </p:cNvGrpSpPr>
                                    <p:nvPr/>
                                  </p:nvGrpSpPr>
                                  <p:grpSpPr bwMode="auto">
                                    <a:xfrm>
                                      <a:off x="3042" y="2209"/>
                                      <a:ext cx="402" cy="840"/>
                                      <a:chOff x="3042" y="2209"/>
                                      <a:chExt cx="402" cy="840"/>
                                    </a:xfrm>
                                  </p:grpSpPr>
                                  <p:sp>
                                    <p:nvSpPr>
                                      <p:cNvPr id="154166" name="Text Box 620">
                                        <a:extLst>
                                          <a:ext uri="{FF2B5EF4-FFF2-40B4-BE49-F238E27FC236}">
                                            <a16:creationId xmlns:a16="http://schemas.microsoft.com/office/drawing/2014/main" id="{4B86E667-2614-EB24-3F47-9007EE493C3E}"/>
                                          </a:ext>
                                        </a:extLst>
                                      </p:cNvPr>
                                      <p:cNvSpPr txBox="1">
                                        <a:spLocks noChangeArrowheads="1"/>
                                      </p:cNvSpPr>
                                      <p:nvPr/>
                                    </p:nvSpPr>
                                    <p:spPr bwMode="auto">
                                      <a:xfrm>
                                        <a:off x="3042" y="2209"/>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rPr>
                                          <a:t>2</a:t>
                                        </a:r>
                                      </a:p>
                                    </p:txBody>
                                  </p:sp>
                                  <p:sp>
                                    <p:nvSpPr>
                                      <p:cNvPr id="154167" name="Text Box 621">
                                        <a:extLst>
                                          <a:ext uri="{FF2B5EF4-FFF2-40B4-BE49-F238E27FC236}">
                                            <a16:creationId xmlns:a16="http://schemas.microsoft.com/office/drawing/2014/main" id="{30AA8B55-5801-0D54-67C8-1D0A2B4A40BF}"/>
                                          </a:ext>
                                        </a:extLst>
                                      </p:cNvPr>
                                      <p:cNvSpPr txBox="1">
                                        <a:spLocks noChangeArrowheads="1"/>
                                      </p:cNvSpPr>
                                      <p:nvPr/>
                                    </p:nvSpPr>
                                    <p:spPr bwMode="auto">
                                      <a:xfrm>
                                        <a:off x="3042" y="2491"/>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rPr>
                                          <a:t>3</a:t>
                                        </a:r>
                                      </a:p>
                                    </p:txBody>
                                  </p:sp>
                                  <p:sp>
                                    <p:nvSpPr>
                                      <p:cNvPr id="154168" name="Text Box 622">
                                        <a:extLst>
                                          <a:ext uri="{FF2B5EF4-FFF2-40B4-BE49-F238E27FC236}">
                                            <a16:creationId xmlns:a16="http://schemas.microsoft.com/office/drawing/2014/main" id="{3DAC2299-E26D-3E37-1C7B-9797E0D6E7F6}"/>
                                          </a:ext>
                                        </a:extLst>
                                      </p:cNvPr>
                                      <p:cNvSpPr txBox="1">
                                        <a:spLocks noChangeArrowheads="1"/>
                                      </p:cNvSpPr>
                                      <p:nvPr/>
                                    </p:nvSpPr>
                                    <p:spPr bwMode="auto">
                                      <a:xfrm>
                                        <a:off x="3042" y="2740"/>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rPr>
                                          <a:t>4</a:t>
                                        </a:r>
                                      </a:p>
                                    </p:txBody>
                                  </p:sp>
                                </p:grpSp>
                                <p:grpSp>
                                  <p:nvGrpSpPr>
                                    <p:cNvPr id="154162" name="Group 623">
                                      <a:extLst>
                                        <a:ext uri="{FF2B5EF4-FFF2-40B4-BE49-F238E27FC236}">
                                          <a16:creationId xmlns:a16="http://schemas.microsoft.com/office/drawing/2014/main" id="{A9BF463F-AFE1-9AF9-33A8-C16C598B7A36}"/>
                                        </a:ext>
                                      </a:extLst>
                                    </p:cNvPr>
                                    <p:cNvGrpSpPr>
                                      <a:grpSpLocks/>
                                    </p:cNvGrpSpPr>
                                    <p:nvPr/>
                                  </p:nvGrpSpPr>
                                  <p:grpSpPr bwMode="auto">
                                    <a:xfrm>
                                      <a:off x="3432" y="2555"/>
                                      <a:ext cx="402" cy="564"/>
                                      <a:chOff x="3432" y="2555"/>
                                      <a:chExt cx="402" cy="564"/>
                                    </a:xfrm>
                                  </p:grpSpPr>
                                  <p:sp>
                                    <p:nvSpPr>
                                      <p:cNvPr id="154164" name="Text Box 624">
                                        <a:extLst>
                                          <a:ext uri="{FF2B5EF4-FFF2-40B4-BE49-F238E27FC236}">
                                            <a16:creationId xmlns:a16="http://schemas.microsoft.com/office/drawing/2014/main" id="{6947BF43-A911-FEE7-9771-17D0320281B6}"/>
                                          </a:ext>
                                        </a:extLst>
                                      </p:cNvPr>
                                      <p:cNvSpPr txBox="1">
                                        <a:spLocks noChangeArrowheads="1"/>
                                      </p:cNvSpPr>
                                      <p:nvPr/>
                                    </p:nvSpPr>
                                    <p:spPr bwMode="auto">
                                      <a:xfrm>
                                        <a:off x="3432" y="2555"/>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2000" i="1" baseline="30000">
                                            <a:solidFill>
                                              <a:schemeClr val="tx1"/>
                                            </a:solidFill>
                                            <a:latin typeface="Arial" panose="020B0604020202020204" pitchFamily="34" charset="0"/>
                                            <a:ea typeface="微软雅黑" panose="020B0503020204020204" pitchFamily="34" charset="-122"/>
                                            <a:cs typeface="Arial" panose="020B0604020202020204" pitchFamily="34" charset="0"/>
                                          </a:rPr>
                                          <a:t>x</a:t>
                                        </a:r>
                                        <a:endParaRPr lang="en-US" altLang="zh-CN" sz="20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165" name="Text Box 625">
                                        <a:extLst>
                                          <a:ext uri="{FF2B5EF4-FFF2-40B4-BE49-F238E27FC236}">
                                            <a16:creationId xmlns:a16="http://schemas.microsoft.com/office/drawing/2014/main" id="{A4D0568E-217E-ABCD-5322-2A122E406761}"/>
                                          </a:ext>
                                        </a:extLst>
                                      </p:cNvPr>
                                      <p:cNvSpPr txBox="1">
                                        <a:spLocks noChangeArrowheads="1"/>
                                      </p:cNvSpPr>
                                      <p:nvPr/>
                                    </p:nvSpPr>
                                    <p:spPr bwMode="auto">
                                      <a:xfrm>
                                        <a:off x="3432" y="2810"/>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2000" i="1" baseline="30000">
                                            <a:solidFill>
                                              <a:schemeClr val="tx1"/>
                                            </a:solidFill>
                                            <a:latin typeface="Arial" panose="020B0604020202020204" pitchFamily="34" charset="0"/>
                                            <a:ea typeface="微软雅黑" panose="020B0503020204020204" pitchFamily="34" charset="-122"/>
                                            <a:cs typeface="Arial" panose="020B0604020202020204" pitchFamily="34" charset="0"/>
                                          </a:rPr>
                                          <a:t>x</a:t>
                                        </a:r>
                                        <a:endParaRPr lang="en-US" altLang="zh-CN" sz="20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154163" name="Text Box 626">
                                      <a:extLst>
                                        <a:ext uri="{FF2B5EF4-FFF2-40B4-BE49-F238E27FC236}">
                                          <a16:creationId xmlns:a16="http://schemas.microsoft.com/office/drawing/2014/main" id="{AA1612AD-3784-F1AA-6B81-B861A07265E3}"/>
                                        </a:ext>
                                      </a:extLst>
                                    </p:cNvPr>
                                    <p:cNvSpPr txBox="1">
                                      <a:spLocks noChangeArrowheads="1"/>
                                    </p:cNvSpPr>
                                    <p:nvPr/>
                                  </p:nvSpPr>
                                  <p:spPr bwMode="auto">
                                    <a:xfrm>
                                      <a:off x="3840" y="2816"/>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2000" i="1" baseline="30000">
                                          <a:solidFill>
                                            <a:schemeClr val="tx1"/>
                                          </a:solidFill>
                                          <a:latin typeface="Arial" panose="020B0604020202020204" pitchFamily="34" charset="0"/>
                                          <a:ea typeface="微软雅黑" panose="020B0503020204020204" pitchFamily="34" charset="-122"/>
                                          <a:cs typeface="Arial" panose="020B0604020202020204" pitchFamily="34" charset="0"/>
                                        </a:rPr>
                                        <a:t>x</a:t>
                                      </a:r>
                                      <a:endParaRPr lang="en-US" altLang="zh-CN" sz="20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54152" name="Group 627">
                                    <a:extLst>
                                      <a:ext uri="{FF2B5EF4-FFF2-40B4-BE49-F238E27FC236}">
                                        <a16:creationId xmlns:a16="http://schemas.microsoft.com/office/drawing/2014/main" id="{F8486603-2B51-CB6B-9118-1189C7FFC1A2}"/>
                                      </a:ext>
                                    </a:extLst>
                                  </p:cNvPr>
                                  <p:cNvGrpSpPr>
                                    <a:grpSpLocks/>
                                  </p:cNvGrpSpPr>
                                  <p:nvPr/>
                                </p:nvGrpSpPr>
                                <p:grpSpPr bwMode="auto">
                                  <a:xfrm>
                                    <a:off x="3043" y="2170"/>
                                    <a:ext cx="1189" cy="821"/>
                                    <a:chOff x="2769" y="9030"/>
                                    <a:chExt cx="1743" cy="1389"/>
                                  </a:xfrm>
                                </p:grpSpPr>
                                <p:sp>
                                  <p:nvSpPr>
                                    <p:cNvPr id="154153" name="Line 628">
                                      <a:extLst>
                                        <a:ext uri="{FF2B5EF4-FFF2-40B4-BE49-F238E27FC236}">
                                          <a16:creationId xmlns:a16="http://schemas.microsoft.com/office/drawing/2014/main" id="{63A0F2B7-AB99-C1D2-7190-FD6B676F4BC4}"/>
                                        </a:ext>
                                      </a:extLst>
                                    </p:cNvPr>
                                    <p:cNvSpPr>
                                      <a:spLocks noChangeShapeType="1"/>
                                    </p:cNvSpPr>
                                    <p:nvPr/>
                                  </p:nvSpPr>
                                  <p:spPr bwMode="auto">
                                    <a:xfrm flipV="1">
                                      <a:off x="2769" y="9030"/>
                                      <a:ext cx="12" cy="138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54" name="Line 629">
                                      <a:extLst>
                                        <a:ext uri="{FF2B5EF4-FFF2-40B4-BE49-F238E27FC236}">
                                          <a16:creationId xmlns:a16="http://schemas.microsoft.com/office/drawing/2014/main" id="{1F5E9B98-CD07-0328-54D4-5FD718CF2626}"/>
                                        </a:ext>
                                      </a:extLst>
                                    </p:cNvPr>
                                    <p:cNvSpPr>
                                      <a:spLocks noChangeShapeType="1"/>
                                    </p:cNvSpPr>
                                    <p:nvPr/>
                                  </p:nvSpPr>
                                  <p:spPr bwMode="auto">
                                    <a:xfrm>
                                      <a:off x="2781" y="10401"/>
                                      <a:ext cx="1719" cy="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55" name="Line 630">
                                      <a:extLst>
                                        <a:ext uri="{FF2B5EF4-FFF2-40B4-BE49-F238E27FC236}">
                                          <a16:creationId xmlns:a16="http://schemas.microsoft.com/office/drawing/2014/main" id="{A64F0364-07EC-1B39-4822-4811B10123B3}"/>
                                        </a:ext>
                                      </a:extLst>
                                    </p:cNvPr>
                                    <p:cNvSpPr>
                                      <a:spLocks noChangeShapeType="1"/>
                                    </p:cNvSpPr>
                                    <p:nvPr/>
                                  </p:nvSpPr>
                                  <p:spPr bwMode="auto">
                                    <a:xfrm>
                                      <a:off x="2781" y="9942"/>
                                      <a:ext cx="1719" cy="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56" name="Line 631">
                                      <a:extLst>
                                        <a:ext uri="{FF2B5EF4-FFF2-40B4-BE49-F238E27FC236}">
                                          <a16:creationId xmlns:a16="http://schemas.microsoft.com/office/drawing/2014/main" id="{8CAAC75D-EAF6-2745-14AB-3D927CA7059E}"/>
                                        </a:ext>
                                      </a:extLst>
                                    </p:cNvPr>
                                    <p:cNvSpPr>
                                      <a:spLocks noChangeShapeType="1"/>
                                    </p:cNvSpPr>
                                    <p:nvPr/>
                                  </p:nvSpPr>
                                  <p:spPr bwMode="auto">
                                    <a:xfrm>
                                      <a:off x="2790" y="9492"/>
                                      <a:ext cx="112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57" name="Line 632">
                                      <a:extLst>
                                        <a:ext uri="{FF2B5EF4-FFF2-40B4-BE49-F238E27FC236}">
                                          <a16:creationId xmlns:a16="http://schemas.microsoft.com/office/drawing/2014/main" id="{9BF5CE4F-6CFA-16D4-45E7-32AE89B61D44}"/>
                                        </a:ext>
                                      </a:extLst>
                                    </p:cNvPr>
                                    <p:cNvSpPr>
                                      <a:spLocks noChangeShapeType="1"/>
                                    </p:cNvSpPr>
                                    <p:nvPr/>
                                  </p:nvSpPr>
                                  <p:spPr bwMode="auto">
                                    <a:xfrm>
                                      <a:off x="2781" y="9033"/>
                                      <a:ext cx="56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58" name="Line 633">
                                      <a:extLst>
                                        <a:ext uri="{FF2B5EF4-FFF2-40B4-BE49-F238E27FC236}">
                                          <a16:creationId xmlns:a16="http://schemas.microsoft.com/office/drawing/2014/main" id="{3A7E5D47-53EF-EEF1-F151-38008CB400A9}"/>
                                        </a:ext>
                                      </a:extLst>
                                    </p:cNvPr>
                                    <p:cNvSpPr>
                                      <a:spLocks noChangeShapeType="1"/>
                                    </p:cNvSpPr>
                                    <p:nvPr/>
                                  </p:nvSpPr>
                                  <p:spPr bwMode="auto">
                                    <a:xfrm flipV="1">
                                      <a:off x="3330" y="9039"/>
                                      <a:ext cx="12" cy="138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59" name="Line 634">
                                      <a:extLst>
                                        <a:ext uri="{FF2B5EF4-FFF2-40B4-BE49-F238E27FC236}">
                                          <a16:creationId xmlns:a16="http://schemas.microsoft.com/office/drawing/2014/main" id="{4C453C27-C4FD-3896-2307-4260FB773849}"/>
                                        </a:ext>
                                      </a:extLst>
                                    </p:cNvPr>
                                    <p:cNvSpPr>
                                      <a:spLocks noChangeShapeType="1"/>
                                    </p:cNvSpPr>
                                    <p:nvPr/>
                                  </p:nvSpPr>
                                  <p:spPr bwMode="auto">
                                    <a:xfrm flipV="1">
                                      <a:off x="3921" y="9489"/>
                                      <a:ext cx="12" cy="90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60" name="Line 635">
                                      <a:extLst>
                                        <a:ext uri="{FF2B5EF4-FFF2-40B4-BE49-F238E27FC236}">
                                          <a16:creationId xmlns:a16="http://schemas.microsoft.com/office/drawing/2014/main" id="{D9B521F6-2E59-EC15-65DD-63F184EC8808}"/>
                                        </a:ext>
                                      </a:extLst>
                                    </p:cNvPr>
                                    <p:cNvSpPr>
                                      <a:spLocks noChangeShapeType="1"/>
                                    </p:cNvSpPr>
                                    <p:nvPr/>
                                  </p:nvSpPr>
                                  <p:spPr bwMode="auto">
                                    <a:xfrm flipV="1">
                                      <a:off x="4500" y="9939"/>
                                      <a:ext cx="12" cy="48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grpSp>
                            <p:nvGrpSpPr>
                              <p:cNvPr id="154114" name="Group 636">
                                <a:extLst>
                                  <a:ext uri="{FF2B5EF4-FFF2-40B4-BE49-F238E27FC236}">
                                    <a16:creationId xmlns:a16="http://schemas.microsoft.com/office/drawing/2014/main" id="{DB397C23-6A7B-5241-E7E2-59381C76DECE}"/>
                                  </a:ext>
                                </a:extLst>
                              </p:cNvPr>
                              <p:cNvGrpSpPr>
                                <a:grpSpLocks/>
                              </p:cNvGrpSpPr>
                              <p:nvPr/>
                            </p:nvGrpSpPr>
                            <p:grpSpPr bwMode="auto">
                              <a:xfrm>
                                <a:off x="1842" y="2031"/>
                                <a:ext cx="995" cy="818"/>
                                <a:chOff x="1842" y="2031"/>
                                <a:chExt cx="995" cy="818"/>
                              </a:xfrm>
                            </p:grpSpPr>
                            <p:grpSp>
                              <p:nvGrpSpPr>
                                <p:cNvPr id="154131" name="Group 637">
                                  <a:extLst>
                                    <a:ext uri="{FF2B5EF4-FFF2-40B4-BE49-F238E27FC236}">
                                      <a16:creationId xmlns:a16="http://schemas.microsoft.com/office/drawing/2014/main" id="{107D48B3-51D2-48F6-F673-483FC36E7354}"/>
                                    </a:ext>
                                  </a:extLst>
                                </p:cNvPr>
                                <p:cNvGrpSpPr>
                                  <a:grpSpLocks/>
                                </p:cNvGrpSpPr>
                                <p:nvPr/>
                              </p:nvGrpSpPr>
                              <p:grpSpPr bwMode="auto">
                                <a:xfrm>
                                  <a:off x="2277" y="2031"/>
                                  <a:ext cx="560" cy="818"/>
                                  <a:chOff x="2175" y="2529"/>
                                  <a:chExt cx="705" cy="1182"/>
                                </a:xfrm>
                              </p:grpSpPr>
                              <p:grpSp>
                                <p:nvGrpSpPr>
                                  <p:cNvPr id="154133" name="Group 638">
                                    <a:extLst>
                                      <a:ext uri="{FF2B5EF4-FFF2-40B4-BE49-F238E27FC236}">
                                        <a16:creationId xmlns:a16="http://schemas.microsoft.com/office/drawing/2014/main" id="{A0328ED2-F61B-AC5D-D4F5-93A46C44DE15}"/>
                                      </a:ext>
                                    </a:extLst>
                                  </p:cNvPr>
                                  <p:cNvGrpSpPr>
                                    <a:grpSpLocks/>
                                  </p:cNvGrpSpPr>
                                  <p:nvPr/>
                                </p:nvGrpSpPr>
                                <p:grpSpPr bwMode="auto">
                                  <a:xfrm>
                                    <a:off x="2415" y="2529"/>
                                    <a:ext cx="465" cy="1182"/>
                                    <a:chOff x="2415" y="2529"/>
                                    <a:chExt cx="465" cy="1182"/>
                                  </a:xfrm>
                                </p:grpSpPr>
                                <p:sp>
                                  <p:nvSpPr>
                                    <p:cNvPr id="154137" name="Line 639">
                                      <a:extLst>
                                        <a:ext uri="{FF2B5EF4-FFF2-40B4-BE49-F238E27FC236}">
                                          <a16:creationId xmlns:a16="http://schemas.microsoft.com/office/drawing/2014/main" id="{EEBEAB91-75FF-BF6D-27CA-5F8E909BE5E2}"/>
                                        </a:ext>
                                      </a:extLst>
                                    </p:cNvPr>
                                    <p:cNvSpPr>
                                      <a:spLocks noChangeShapeType="1"/>
                                    </p:cNvSpPr>
                                    <p:nvPr/>
                                  </p:nvSpPr>
                                  <p:spPr bwMode="auto">
                                    <a:xfrm flipV="1">
                                      <a:off x="2643" y="2919"/>
                                      <a:ext cx="222" cy="6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54138" name="Group 640">
                                      <a:extLst>
                                        <a:ext uri="{FF2B5EF4-FFF2-40B4-BE49-F238E27FC236}">
                                          <a16:creationId xmlns:a16="http://schemas.microsoft.com/office/drawing/2014/main" id="{ED7482D1-2E88-727B-6B55-15858C582AFB}"/>
                                        </a:ext>
                                      </a:extLst>
                                    </p:cNvPr>
                                    <p:cNvGrpSpPr>
                                      <a:grpSpLocks/>
                                    </p:cNvGrpSpPr>
                                    <p:nvPr/>
                                  </p:nvGrpSpPr>
                                  <p:grpSpPr bwMode="auto">
                                    <a:xfrm flipH="1">
                                      <a:off x="2415" y="2745"/>
                                      <a:ext cx="225" cy="720"/>
                                      <a:chOff x="5190" y="2775"/>
                                      <a:chExt cx="225" cy="720"/>
                                    </a:xfrm>
                                  </p:grpSpPr>
                                  <p:sp>
                                    <p:nvSpPr>
                                      <p:cNvPr id="154142" name="Oval 641">
                                        <a:extLst>
                                          <a:ext uri="{FF2B5EF4-FFF2-40B4-BE49-F238E27FC236}">
                                            <a16:creationId xmlns:a16="http://schemas.microsoft.com/office/drawing/2014/main" id="{E0F3619F-4D0F-A0C3-C7D6-7EB740D576BC}"/>
                                          </a:ext>
                                        </a:extLst>
                                      </p:cNvPr>
                                      <p:cNvSpPr>
                                        <a:spLocks noChangeArrowheads="1"/>
                                      </p:cNvSpPr>
                                      <p:nvPr/>
                                    </p:nvSpPr>
                                    <p:spPr bwMode="auto">
                                      <a:xfrm>
                                        <a:off x="5190" y="297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143" name="Oval 642">
                                        <a:extLst>
                                          <a:ext uri="{FF2B5EF4-FFF2-40B4-BE49-F238E27FC236}">
                                            <a16:creationId xmlns:a16="http://schemas.microsoft.com/office/drawing/2014/main" id="{49D7B223-9118-63EC-86BC-2AE4DD55F129}"/>
                                          </a:ext>
                                        </a:extLst>
                                      </p:cNvPr>
                                      <p:cNvSpPr>
                                        <a:spLocks noChangeArrowheads="1"/>
                                      </p:cNvSpPr>
                                      <p:nvPr/>
                                    </p:nvSpPr>
                                    <p:spPr bwMode="auto">
                                      <a:xfrm>
                                        <a:off x="5190" y="319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144" name="Oval 643">
                                        <a:extLst>
                                          <a:ext uri="{FF2B5EF4-FFF2-40B4-BE49-F238E27FC236}">
                                            <a16:creationId xmlns:a16="http://schemas.microsoft.com/office/drawing/2014/main" id="{5B48CA06-FD63-806F-B9E8-5C639CB85858}"/>
                                          </a:ext>
                                        </a:extLst>
                                      </p:cNvPr>
                                      <p:cNvSpPr>
                                        <a:spLocks noChangeArrowheads="1"/>
                                      </p:cNvSpPr>
                                      <p:nvPr/>
                                    </p:nvSpPr>
                                    <p:spPr bwMode="auto">
                                      <a:xfrm>
                                        <a:off x="5295" y="277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145" name="Oval 644">
                                        <a:extLst>
                                          <a:ext uri="{FF2B5EF4-FFF2-40B4-BE49-F238E27FC236}">
                                            <a16:creationId xmlns:a16="http://schemas.microsoft.com/office/drawing/2014/main" id="{21B45A6D-DFF0-D7A8-D428-51A540635B9F}"/>
                                          </a:ext>
                                        </a:extLst>
                                      </p:cNvPr>
                                      <p:cNvSpPr>
                                        <a:spLocks noChangeArrowheads="1"/>
                                      </p:cNvSpPr>
                                      <p:nvPr/>
                                    </p:nvSpPr>
                                    <p:spPr bwMode="auto">
                                      <a:xfrm>
                                        <a:off x="5310" y="339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154139" name="Line 645">
                                      <a:extLst>
                                        <a:ext uri="{FF2B5EF4-FFF2-40B4-BE49-F238E27FC236}">
                                          <a16:creationId xmlns:a16="http://schemas.microsoft.com/office/drawing/2014/main" id="{C736A877-6BCF-A31C-68B9-B391309D6B3D}"/>
                                        </a:ext>
                                      </a:extLst>
                                    </p:cNvPr>
                                    <p:cNvSpPr>
                                      <a:spLocks noChangeShapeType="1"/>
                                    </p:cNvSpPr>
                                    <p:nvPr/>
                                  </p:nvSpPr>
                                  <p:spPr bwMode="auto">
                                    <a:xfrm>
                                      <a:off x="2628" y="3252"/>
                                      <a:ext cx="231" cy="9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40" name="Line 646">
                                      <a:extLst>
                                        <a:ext uri="{FF2B5EF4-FFF2-40B4-BE49-F238E27FC236}">
                                          <a16:creationId xmlns:a16="http://schemas.microsoft.com/office/drawing/2014/main" id="{7883CBE9-46C3-FC18-06C6-C66B997891CC}"/>
                                        </a:ext>
                                      </a:extLst>
                                    </p:cNvPr>
                                    <p:cNvSpPr>
                                      <a:spLocks noChangeShapeType="1"/>
                                    </p:cNvSpPr>
                                    <p:nvPr/>
                                  </p:nvSpPr>
                                  <p:spPr bwMode="auto">
                                    <a:xfrm flipV="1">
                                      <a:off x="2520" y="2529"/>
                                      <a:ext cx="360" cy="23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41" name="Line 647">
                                      <a:extLst>
                                        <a:ext uri="{FF2B5EF4-FFF2-40B4-BE49-F238E27FC236}">
                                          <a16:creationId xmlns:a16="http://schemas.microsoft.com/office/drawing/2014/main" id="{20CBEE53-F8AE-B89A-1ED8-C2CC289E20D1}"/>
                                        </a:ext>
                                      </a:extLst>
                                    </p:cNvPr>
                                    <p:cNvSpPr>
                                      <a:spLocks noChangeShapeType="1"/>
                                    </p:cNvSpPr>
                                    <p:nvPr/>
                                  </p:nvSpPr>
                                  <p:spPr bwMode="auto">
                                    <a:xfrm>
                                      <a:off x="2499" y="3441"/>
                                      <a:ext cx="351" cy="2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54134" name="Group 648">
                                    <a:extLst>
                                      <a:ext uri="{FF2B5EF4-FFF2-40B4-BE49-F238E27FC236}">
                                        <a16:creationId xmlns:a16="http://schemas.microsoft.com/office/drawing/2014/main" id="{2B806321-D78F-72C0-1ADC-94EDAC1267DD}"/>
                                      </a:ext>
                                    </a:extLst>
                                  </p:cNvPr>
                                  <p:cNvGrpSpPr>
                                    <a:grpSpLocks/>
                                  </p:cNvGrpSpPr>
                                  <p:nvPr/>
                                </p:nvGrpSpPr>
                                <p:grpSpPr bwMode="auto">
                                  <a:xfrm>
                                    <a:off x="2175" y="2859"/>
                                    <a:ext cx="255" cy="309"/>
                                    <a:chOff x="2175" y="2859"/>
                                    <a:chExt cx="255" cy="309"/>
                                  </a:xfrm>
                                </p:grpSpPr>
                                <p:sp>
                                  <p:nvSpPr>
                                    <p:cNvPr id="154135" name="Oval 649">
                                      <a:extLst>
                                        <a:ext uri="{FF2B5EF4-FFF2-40B4-BE49-F238E27FC236}">
                                          <a16:creationId xmlns:a16="http://schemas.microsoft.com/office/drawing/2014/main" id="{457BDBF0-A2B7-F9CE-8D64-D248713E98E5}"/>
                                        </a:ext>
                                      </a:extLst>
                                    </p:cNvPr>
                                    <p:cNvSpPr>
                                      <a:spLocks noChangeArrowheads="1"/>
                                    </p:cNvSpPr>
                                    <p:nvPr/>
                                  </p:nvSpPr>
                                  <p:spPr bwMode="auto">
                                    <a:xfrm>
                                      <a:off x="2175" y="3063"/>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136" name="Line 650">
                                      <a:extLst>
                                        <a:ext uri="{FF2B5EF4-FFF2-40B4-BE49-F238E27FC236}">
                                          <a16:creationId xmlns:a16="http://schemas.microsoft.com/office/drawing/2014/main" id="{7D2712AB-5871-2526-EC18-EB150E970C69}"/>
                                        </a:ext>
                                      </a:extLst>
                                    </p:cNvPr>
                                    <p:cNvSpPr>
                                      <a:spLocks noChangeShapeType="1"/>
                                    </p:cNvSpPr>
                                    <p:nvPr/>
                                  </p:nvSpPr>
                                  <p:spPr bwMode="auto">
                                    <a:xfrm flipV="1">
                                      <a:off x="2259" y="2859"/>
                                      <a:ext cx="171" cy="20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54132" name="Line 651">
                                  <a:extLst>
                                    <a:ext uri="{FF2B5EF4-FFF2-40B4-BE49-F238E27FC236}">
                                      <a16:creationId xmlns:a16="http://schemas.microsoft.com/office/drawing/2014/main" id="{589EAFC8-47AC-724B-4DCC-FEB2704F1CC1}"/>
                                    </a:ext>
                                  </a:extLst>
                                </p:cNvPr>
                                <p:cNvSpPr>
                                  <a:spLocks noChangeShapeType="1"/>
                                </p:cNvSpPr>
                                <p:nvPr/>
                              </p:nvSpPr>
                              <p:spPr bwMode="auto">
                                <a:xfrm>
                                  <a:off x="1842" y="2442"/>
                                  <a:ext cx="429"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54115" name="Group 652">
                                <a:extLst>
                                  <a:ext uri="{FF2B5EF4-FFF2-40B4-BE49-F238E27FC236}">
                                    <a16:creationId xmlns:a16="http://schemas.microsoft.com/office/drawing/2014/main" id="{092AB79E-D056-CA3E-C0E1-B3E6C3E01044}"/>
                                  </a:ext>
                                </a:extLst>
                              </p:cNvPr>
                              <p:cNvGrpSpPr>
                                <a:grpSpLocks/>
                              </p:cNvGrpSpPr>
                              <p:nvPr/>
                            </p:nvGrpSpPr>
                            <p:grpSpPr bwMode="auto">
                              <a:xfrm>
                                <a:off x="4543" y="2039"/>
                                <a:ext cx="1007" cy="805"/>
                                <a:chOff x="4543" y="2039"/>
                                <a:chExt cx="1007" cy="805"/>
                              </a:xfrm>
                            </p:grpSpPr>
                            <p:grpSp>
                              <p:nvGrpSpPr>
                                <p:cNvPr id="154116" name="Group 653">
                                  <a:extLst>
                                    <a:ext uri="{FF2B5EF4-FFF2-40B4-BE49-F238E27FC236}">
                                      <a16:creationId xmlns:a16="http://schemas.microsoft.com/office/drawing/2014/main" id="{45441E2B-2244-3E96-DC57-DB51B06F53B8}"/>
                                    </a:ext>
                                  </a:extLst>
                                </p:cNvPr>
                                <p:cNvGrpSpPr>
                                  <a:grpSpLocks/>
                                </p:cNvGrpSpPr>
                                <p:nvPr/>
                              </p:nvGrpSpPr>
                              <p:grpSpPr bwMode="auto">
                                <a:xfrm>
                                  <a:off x="4543" y="2039"/>
                                  <a:ext cx="560" cy="805"/>
                                  <a:chOff x="5025" y="2541"/>
                                  <a:chExt cx="705" cy="1164"/>
                                </a:xfrm>
                              </p:grpSpPr>
                              <p:grpSp>
                                <p:nvGrpSpPr>
                                  <p:cNvPr id="154118" name="Group 654">
                                    <a:extLst>
                                      <a:ext uri="{FF2B5EF4-FFF2-40B4-BE49-F238E27FC236}">
                                        <a16:creationId xmlns:a16="http://schemas.microsoft.com/office/drawing/2014/main" id="{6A4E6BEC-62EA-4818-9157-A56363E4C100}"/>
                                      </a:ext>
                                    </a:extLst>
                                  </p:cNvPr>
                                  <p:cNvGrpSpPr>
                                    <a:grpSpLocks/>
                                  </p:cNvGrpSpPr>
                                  <p:nvPr/>
                                </p:nvGrpSpPr>
                                <p:grpSpPr bwMode="auto">
                                  <a:xfrm>
                                    <a:off x="5025" y="2541"/>
                                    <a:ext cx="390" cy="1164"/>
                                    <a:chOff x="5025" y="2541"/>
                                    <a:chExt cx="390" cy="1164"/>
                                  </a:xfrm>
                                </p:grpSpPr>
                                <p:grpSp>
                                  <p:nvGrpSpPr>
                                    <p:cNvPr id="154122" name="Group 655">
                                      <a:extLst>
                                        <a:ext uri="{FF2B5EF4-FFF2-40B4-BE49-F238E27FC236}">
                                          <a16:creationId xmlns:a16="http://schemas.microsoft.com/office/drawing/2014/main" id="{84BAAA8A-C8F4-DAD3-06B5-8E7343C80161}"/>
                                        </a:ext>
                                      </a:extLst>
                                    </p:cNvPr>
                                    <p:cNvGrpSpPr>
                                      <a:grpSpLocks/>
                                    </p:cNvGrpSpPr>
                                    <p:nvPr/>
                                  </p:nvGrpSpPr>
                                  <p:grpSpPr bwMode="auto">
                                    <a:xfrm>
                                      <a:off x="5190" y="2775"/>
                                      <a:ext cx="225" cy="720"/>
                                      <a:chOff x="5190" y="2775"/>
                                      <a:chExt cx="225" cy="720"/>
                                    </a:xfrm>
                                  </p:grpSpPr>
                                  <p:sp>
                                    <p:nvSpPr>
                                      <p:cNvPr id="154127" name="Oval 656">
                                        <a:extLst>
                                          <a:ext uri="{FF2B5EF4-FFF2-40B4-BE49-F238E27FC236}">
                                            <a16:creationId xmlns:a16="http://schemas.microsoft.com/office/drawing/2014/main" id="{91512FFD-924C-03C0-590C-9386D701278A}"/>
                                          </a:ext>
                                        </a:extLst>
                                      </p:cNvPr>
                                      <p:cNvSpPr>
                                        <a:spLocks noChangeArrowheads="1"/>
                                      </p:cNvSpPr>
                                      <p:nvPr/>
                                    </p:nvSpPr>
                                    <p:spPr bwMode="auto">
                                      <a:xfrm>
                                        <a:off x="5190" y="297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128" name="Oval 657">
                                        <a:extLst>
                                          <a:ext uri="{FF2B5EF4-FFF2-40B4-BE49-F238E27FC236}">
                                            <a16:creationId xmlns:a16="http://schemas.microsoft.com/office/drawing/2014/main" id="{DE603DE5-6613-D5CE-FB2F-7549CADC370C}"/>
                                          </a:ext>
                                        </a:extLst>
                                      </p:cNvPr>
                                      <p:cNvSpPr>
                                        <a:spLocks noChangeArrowheads="1"/>
                                      </p:cNvSpPr>
                                      <p:nvPr/>
                                    </p:nvSpPr>
                                    <p:spPr bwMode="auto">
                                      <a:xfrm>
                                        <a:off x="5190" y="319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129" name="Oval 658">
                                        <a:extLst>
                                          <a:ext uri="{FF2B5EF4-FFF2-40B4-BE49-F238E27FC236}">
                                            <a16:creationId xmlns:a16="http://schemas.microsoft.com/office/drawing/2014/main" id="{F5269582-EB00-D964-7C14-412D6229B898}"/>
                                          </a:ext>
                                        </a:extLst>
                                      </p:cNvPr>
                                      <p:cNvSpPr>
                                        <a:spLocks noChangeArrowheads="1"/>
                                      </p:cNvSpPr>
                                      <p:nvPr/>
                                    </p:nvSpPr>
                                    <p:spPr bwMode="auto">
                                      <a:xfrm>
                                        <a:off x="5295" y="277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130" name="Oval 659">
                                        <a:extLst>
                                          <a:ext uri="{FF2B5EF4-FFF2-40B4-BE49-F238E27FC236}">
                                            <a16:creationId xmlns:a16="http://schemas.microsoft.com/office/drawing/2014/main" id="{BEB02F61-D952-1ACD-C3DD-4B3F9A5B600C}"/>
                                          </a:ext>
                                        </a:extLst>
                                      </p:cNvPr>
                                      <p:cNvSpPr>
                                        <a:spLocks noChangeArrowheads="1"/>
                                      </p:cNvSpPr>
                                      <p:nvPr/>
                                    </p:nvSpPr>
                                    <p:spPr bwMode="auto">
                                      <a:xfrm>
                                        <a:off x="5310" y="339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154123" name="Line 660">
                                      <a:extLst>
                                        <a:ext uri="{FF2B5EF4-FFF2-40B4-BE49-F238E27FC236}">
                                          <a16:creationId xmlns:a16="http://schemas.microsoft.com/office/drawing/2014/main" id="{2D640258-3C22-5D09-621D-EB6DFECE7D21}"/>
                                        </a:ext>
                                      </a:extLst>
                                    </p:cNvPr>
                                    <p:cNvSpPr>
                                      <a:spLocks noChangeShapeType="1"/>
                                    </p:cNvSpPr>
                                    <p:nvPr/>
                                  </p:nvSpPr>
                                  <p:spPr bwMode="auto">
                                    <a:xfrm>
                                      <a:off x="5028" y="2541"/>
                                      <a:ext cx="267" cy="24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24" name="Line 661">
                                      <a:extLst>
                                        <a:ext uri="{FF2B5EF4-FFF2-40B4-BE49-F238E27FC236}">
                                          <a16:creationId xmlns:a16="http://schemas.microsoft.com/office/drawing/2014/main" id="{0B502C95-B425-C3AA-F6CC-979F3B099FD5}"/>
                                        </a:ext>
                                      </a:extLst>
                                    </p:cNvPr>
                                    <p:cNvSpPr>
                                      <a:spLocks noChangeShapeType="1"/>
                                    </p:cNvSpPr>
                                    <p:nvPr/>
                                  </p:nvSpPr>
                                  <p:spPr bwMode="auto">
                                    <a:xfrm>
                                      <a:off x="5025" y="2937"/>
                                      <a:ext cx="165" cy="6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25" name="Line 662">
                                      <a:extLst>
                                        <a:ext uri="{FF2B5EF4-FFF2-40B4-BE49-F238E27FC236}">
                                          <a16:creationId xmlns:a16="http://schemas.microsoft.com/office/drawing/2014/main" id="{16983535-7494-6B07-B6ED-D48B211D0749}"/>
                                        </a:ext>
                                      </a:extLst>
                                    </p:cNvPr>
                                    <p:cNvSpPr>
                                      <a:spLocks noChangeShapeType="1"/>
                                    </p:cNvSpPr>
                                    <p:nvPr/>
                                  </p:nvSpPr>
                                  <p:spPr bwMode="auto">
                                    <a:xfrm flipV="1">
                                      <a:off x="5025" y="3255"/>
                                      <a:ext cx="168" cy="7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26" name="Line 663">
                                      <a:extLst>
                                        <a:ext uri="{FF2B5EF4-FFF2-40B4-BE49-F238E27FC236}">
                                          <a16:creationId xmlns:a16="http://schemas.microsoft.com/office/drawing/2014/main" id="{546E048C-11A6-3138-7D6D-3205D7D5379D}"/>
                                        </a:ext>
                                      </a:extLst>
                                    </p:cNvPr>
                                    <p:cNvSpPr>
                                      <a:spLocks noChangeShapeType="1"/>
                                    </p:cNvSpPr>
                                    <p:nvPr/>
                                  </p:nvSpPr>
                                  <p:spPr bwMode="auto">
                                    <a:xfrm flipV="1">
                                      <a:off x="5028" y="3480"/>
                                      <a:ext cx="285" cy="2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54119" name="Group 664">
                                    <a:extLst>
                                      <a:ext uri="{FF2B5EF4-FFF2-40B4-BE49-F238E27FC236}">
                                        <a16:creationId xmlns:a16="http://schemas.microsoft.com/office/drawing/2014/main" id="{67FE504F-DEC9-3531-99D1-F2B518B4DAA6}"/>
                                      </a:ext>
                                    </a:extLst>
                                  </p:cNvPr>
                                  <p:cNvGrpSpPr>
                                    <a:grpSpLocks/>
                                  </p:cNvGrpSpPr>
                                  <p:nvPr/>
                                </p:nvGrpSpPr>
                                <p:grpSpPr bwMode="auto">
                                  <a:xfrm>
                                    <a:off x="5430" y="2889"/>
                                    <a:ext cx="300" cy="300"/>
                                    <a:chOff x="5430" y="2889"/>
                                    <a:chExt cx="300" cy="300"/>
                                  </a:xfrm>
                                </p:grpSpPr>
                                <p:sp>
                                  <p:nvSpPr>
                                    <p:cNvPr id="154120" name="Oval 665">
                                      <a:extLst>
                                        <a:ext uri="{FF2B5EF4-FFF2-40B4-BE49-F238E27FC236}">
                                          <a16:creationId xmlns:a16="http://schemas.microsoft.com/office/drawing/2014/main" id="{8CA43202-C901-8ED1-4334-0A1508743977}"/>
                                        </a:ext>
                                      </a:extLst>
                                    </p:cNvPr>
                                    <p:cNvSpPr>
                                      <a:spLocks noChangeArrowheads="1"/>
                                    </p:cNvSpPr>
                                    <p:nvPr/>
                                  </p:nvSpPr>
                                  <p:spPr bwMode="auto">
                                    <a:xfrm>
                                      <a:off x="5625" y="3084"/>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121" name="Line 666">
                                      <a:extLst>
                                        <a:ext uri="{FF2B5EF4-FFF2-40B4-BE49-F238E27FC236}">
                                          <a16:creationId xmlns:a16="http://schemas.microsoft.com/office/drawing/2014/main" id="{EDB8EB53-42E8-AF6F-F3E9-464C5BCADC2C}"/>
                                        </a:ext>
                                      </a:extLst>
                                    </p:cNvPr>
                                    <p:cNvSpPr>
                                      <a:spLocks noChangeShapeType="1"/>
                                    </p:cNvSpPr>
                                    <p:nvPr/>
                                  </p:nvSpPr>
                                  <p:spPr bwMode="auto">
                                    <a:xfrm flipH="1" flipV="1">
                                      <a:off x="5430" y="2889"/>
                                      <a:ext cx="219" cy="20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54117" name="Line 667">
                                  <a:extLst>
                                    <a:ext uri="{FF2B5EF4-FFF2-40B4-BE49-F238E27FC236}">
                                      <a16:creationId xmlns:a16="http://schemas.microsoft.com/office/drawing/2014/main" id="{BFFE335C-21BC-2CFF-E78E-64576B8B4910}"/>
                                    </a:ext>
                                  </a:extLst>
                                </p:cNvPr>
                                <p:cNvSpPr>
                                  <a:spLocks noChangeShapeType="1"/>
                                </p:cNvSpPr>
                                <p:nvPr/>
                              </p:nvSpPr>
                              <p:spPr bwMode="auto">
                                <a:xfrm>
                                  <a:off x="5121" y="2460"/>
                                  <a:ext cx="429"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54108" name="Group 668">
                              <a:extLst>
                                <a:ext uri="{FF2B5EF4-FFF2-40B4-BE49-F238E27FC236}">
                                  <a16:creationId xmlns:a16="http://schemas.microsoft.com/office/drawing/2014/main" id="{E7125087-393F-E8C1-3A35-4D77C157751E}"/>
                                </a:ext>
                              </a:extLst>
                            </p:cNvPr>
                            <p:cNvGrpSpPr>
                              <a:grpSpLocks/>
                            </p:cNvGrpSpPr>
                            <p:nvPr/>
                          </p:nvGrpSpPr>
                          <p:grpSpPr bwMode="auto">
                            <a:xfrm>
                              <a:off x="2481" y="1902"/>
                              <a:ext cx="549" cy="987"/>
                              <a:chOff x="2481" y="1902"/>
                              <a:chExt cx="549" cy="987"/>
                            </a:xfrm>
                          </p:grpSpPr>
                          <p:sp>
                            <p:nvSpPr>
                              <p:cNvPr id="154109" name="Text Box 669">
                                <a:extLst>
                                  <a:ext uri="{FF2B5EF4-FFF2-40B4-BE49-F238E27FC236}">
                                    <a16:creationId xmlns:a16="http://schemas.microsoft.com/office/drawing/2014/main" id="{943FB145-095A-2028-AB15-F1A0BC4C160F}"/>
                                  </a:ext>
                                </a:extLst>
                              </p:cNvPr>
                              <p:cNvSpPr txBox="1">
                                <a:spLocks noChangeArrowheads="1"/>
                              </p:cNvSpPr>
                              <p:nvPr/>
                            </p:nvSpPr>
                            <p:spPr bwMode="auto">
                              <a:xfrm>
                                <a:off x="2481" y="1902"/>
                                <a:ext cx="36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1</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110" name="Text Box 670">
                                <a:extLst>
                                  <a:ext uri="{FF2B5EF4-FFF2-40B4-BE49-F238E27FC236}">
                                    <a16:creationId xmlns:a16="http://schemas.microsoft.com/office/drawing/2014/main" id="{021F44D6-AE59-D352-E379-7F7E3C82DA75}"/>
                                  </a:ext>
                                </a:extLst>
                              </p:cNvPr>
                              <p:cNvSpPr txBox="1">
                                <a:spLocks noChangeArrowheads="1"/>
                              </p:cNvSpPr>
                              <p:nvPr/>
                            </p:nvSpPr>
                            <p:spPr bwMode="auto">
                              <a:xfrm>
                                <a:off x="2670" y="2112"/>
                                <a:ext cx="36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2</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111" name="Text Box 671">
                                <a:extLst>
                                  <a:ext uri="{FF2B5EF4-FFF2-40B4-BE49-F238E27FC236}">
                                    <a16:creationId xmlns:a16="http://schemas.microsoft.com/office/drawing/2014/main" id="{6DCF1610-1961-F56C-7FB0-6063AC6A48E0}"/>
                                  </a:ext>
                                </a:extLst>
                              </p:cNvPr>
                              <p:cNvSpPr txBox="1">
                                <a:spLocks noChangeArrowheads="1"/>
                              </p:cNvSpPr>
                              <p:nvPr/>
                            </p:nvSpPr>
                            <p:spPr bwMode="auto">
                              <a:xfrm>
                                <a:off x="2661" y="2391"/>
                                <a:ext cx="36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3</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112" name="Text Box 672">
                                <a:extLst>
                                  <a:ext uri="{FF2B5EF4-FFF2-40B4-BE49-F238E27FC236}">
                                    <a16:creationId xmlns:a16="http://schemas.microsoft.com/office/drawing/2014/main" id="{65F4039E-0EC3-F59F-F2FD-449DB0E7DA2C}"/>
                                  </a:ext>
                                </a:extLst>
                              </p:cNvPr>
                              <p:cNvSpPr txBox="1">
                                <a:spLocks noChangeArrowheads="1"/>
                              </p:cNvSpPr>
                              <p:nvPr/>
                            </p:nvSpPr>
                            <p:spPr bwMode="auto">
                              <a:xfrm>
                                <a:off x="2649" y="2631"/>
                                <a:ext cx="36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4</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grpSp>
                    <p:sp>
                      <p:nvSpPr>
                        <p:cNvPr id="154102" name="Text Box 673">
                          <a:extLst>
                            <a:ext uri="{FF2B5EF4-FFF2-40B4-BE49-F238E27FC236}">
                              <a16:creationId xmlns:a16="http://schemas.microsoft.com/office/drawing/2014/main" id="{E8B6AEA4-C36C-26C7-225D-37C0F7B6198E}"/>
                            </a:ext>
                          </a:extLst>
                        </p:cNvPr>
                        <p:cNvSpPr txBox="1">
                          <a:spLocks noChangeArrowheads="1"/>
                        </p:cNvSpPr>
                        <p:nvPr/>
                      </p:nvSpPr>
                      <p:spPr bwMode="auto">
                        <a:xfrm>
                          <a:off x="5190" y="2160"/>
                          <a:ext cx="1218"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64000"/>
                            </a:lnSpc>
                          </a:pPr>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x x x</a:t>
                          </a:r>
                          <a:r>
                            <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rPr>
                            <a:t> 1 </a:t>
                          </a:r>
                        </a:p>
                      </p:txBody>
                    </p:sp>
                  </p:grpSp>
                  <p:grpSp>
                    <p:nvGrpSpPr>
                      <p:cNvPr id="154049" name="Group 674">
                        <a:extLst>
                          <a:ext uri="{FF2B5EF4-FFF2-40B4-BE49-F238E27FC236}">
                            <a16:creationId xmlns:a16="http://schemas.microsoft.com/office/drawing/2014/main" id="{AAE9191D-4B40-19F5-4958-6641959D3066}"/>
                          </a:ext>
                        </a:extLst>
                      </p:cNvPr>
                      <p:cNvGrpSpPr>
                        <a:grpSpLocks/>
                      </p:cNvGrpSpPr>
                      <p:nvPr/>
                    </p:nvGrpSpPr>
                    <p:grpSpPr bwMode="auto">
                      <a:xfrm>
                        <a:off x="6465" y="1939"/>
                        <a:ext cx="4515" cy="965"/>
                        <a:chOff x="6465" y="1939"/>
                        <a:chExt cx="4515" cy="965"/>
                      </a:xfrm>
                    </p:grpSpPr>
                    <p:grpSp>
                      <p:nvGrpSpPr>
                        <p:cNvPr id="154050" name="Group 675">
                          <a:extLst>
                            <a:ext uri="{FF2B5EF4-FFF2-40B4-BE49-F238E27FC236}">
                              <a16:creationId xmlns:a16="http://schemas.microsoft.com/office/drawing/2014/main" id="{91F5FEBA-4FF8-6D7F-1805-4CB05C1A7BA7}"/>
                            </a:ext>
                          </a:extLst>
                        </p:cNvPr>
                        <p:cNvGrpSpPr>
                          <a:grpSpLocks/>
                        </p:cNvGrpSpPr>
                        <p:nvPr/>
                      </p:nvGrpSpPr>
                      <p:grpSpPr bwMode="auto">
                        <a:xfrm>
                          <a:off x="6465" y="1939"/>
                          <a:ext cx="3678" cy="965"/>
                          <a:chOff x="6465" y="1939"/>
                          <a:chExt cx="3678" cy="965"/>
                        </a:xfrm>
                      </p:grpSpPr>
                      <p:grpSp>
                        <p:nvGrpSpPr>
                          <p:cNvPr id="154052" name="Group 676">
                            <a:extLst>
                              <a:ext uri="{FF2B5EF4-FFF2-40B4-BE49-F238E27FC236}">
                                <a16:creationId xmlns:a16="http://schemas.microsoft.com/office/drawing/2014/main" id="{2FD88D32-4A91-6F26-5DBD-B1F436720C8D}"/>
                              </a:ext>
                            </a:extLst>
                          </p:cNvPr>
                          <p:cNvGrpSpPr>
                            <a:grpSpLocks/>
                          </p:cNvGrpSpPr>
                          <p:nvPr/>
                        </p:nvGrpSpPr>
                        <p:grpSpPr bwMode="auto">
                          <a:xfrm>
                            <a:off x="7737" y="1939"/>
                            <a:ext cx="1200" cy="861"/>
                            <a:chOff x="7044" y="2569"/>
                            <a:chExt cx="1200" cy="861"/>
                          </a:xfrm>
                        </p:grpSpPr>
                        <p:sp>
                          <p:nvSpPr>
                            <p:cNvPr id="154095" name="Text Box 677">
                              <a:extLst>
                                <a:ext uri="{FF2B5EF4-FFF2-40B4-BE49-F238E27FC236}">
                                  <a16:creationId xmlns:a16="http://schemas.microsoft.com/office/drawing/2014/main" id="{7ADBF631-A6DD-F902-3B43-35180E1FF5E5}"/>
                                </a:ext>
                              </a:extLst>
                            </p:cNvPr>
                            <p:cNvSpPr txBox="1">
                              <a:spLocks noChangeArrowheads="1"/>
                            </p:cNvSpPr>
                            <p:nvPr/>
                          </p:nvSpPr>
                          <p:spPr bwMode="auto">
                            <a:xfrm>
                              <a:off x="7815" y="3121"/>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64000"/>
                                </a:lnSpc>
                              </a:pPr>
                              <a:r>
                                <a:rPr lang="en-US" altLang="zh-CN" sz="1600" i="1">
                                  <a:solidFill>
                                    <a:schemeClr val="tx1"/>
                                  </a:solidFill>
                                  <a:latin typeface="Arial" panose="020B0604020202020204" pitchFamily="34" charset="0"/>
                                  <a:ea typeface="微软雅黑" panose="020B0503020204020204" pitchFamily="34" charset="-122"/>
                                  <a:cs typeface="Arial" panose="020B0604020202020204" pitchFamily="34" charset="0"/>
                                </a:rPr>
                                <a:t>x</a:t>
                              </a:r>
                              <a:endPar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096" name="Text Box 678">
                              <a:extLst>
                                <a:ext uri="{FF2B5EF4-FFF2-40B4-BE49-F238E27FC236}">
                                  <a16:creationId xmlns:a16="http://schemas.microsoft.com/office/drawing/2014/main" id="{B588B0B7-171B-D7AA-8E45-F8E1BA72778E}"/>
                                </a:ext>
                              </a:extLst>
                            </p:cNvPr>
                            <p:cNvSpPr txBox="1">
                              <a:spLocks noChangeArrowheads="1"/>
                            </p:cNvSpPr>
                            <p:nvPr/>
                          </p:nvSpPr>
                          <p:spPr bwMode="auto">
                            <a:xfrm>
                              <a:off x="7434" y="2854"/>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64000"/>
                                </a:lnSpc>
                              </a:pPr>
                              <a:r>
                                <a:rPr lang="en-US" altLang="zh-CN" sz="1600" i="1">
                                  <a:solidFill>
                                    <a:schemeClr val="tx1"/>
                                  </a:solidFill>
                                  <a:latin typeface="Arial" panose="020B0604020202020204" pitchFamily="34" charset="0"/>
                                  <a:ea typeface="微软雅黑" panose="020B0503020204020204" pitchFamily="34" charset="-122"/>
                                  <a:cs typeface="Arial" panose="020B0604020202020204" pitchFamily="34" charset="0"/>
                                </a:rPr>
                                <a:t>x</a:t>
                              </a:r>
                              <a:endPar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097" name="Text Box 679">
                              <a:extLst>
                                <a:ext uri="{FF2B5EF4-FFF2-40B4-BE49-F238E27FC236}">
                                  <a16:creationId xmlns:a16="http://schemas.microsoft.com/office/drawing/2014/main" id="{8B0CD740-FFA2-8066-7B08-DB3742DE8584}"/>
                                </a:ext>
                              </a:extLst>
                            </p:cNvPr>
                            <p:cNvSpPr txBox="1">
                              <a:spLocks noChangeArrowheads="1"/>
                            </p:cNvSpPr>
                            <p:nvPr/>
                          </p:nvSpPr>
                          <p:spPr bwMode="auto">
                            <a:xfrm>
                              <a:off x="7833" y="2854"/>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64000"/>
                                </a:lnSpc>
                              </a:pPr>
                              <a:r>
                                <a:rPr lang="en-US" altLang="zh-CN" sz="1600" i="1">
                                  <a:solidFill>
                                    <a:schemeClr val="tx1"/>
                                  </a:solidFill>
                                  <a:latin typeface="Arial" panose="020B0604020202020204" pitchFamily="34" charset="0"/>
                                  <a:ea typeface="微软雅黑" panose="020B0503020204020204" pitchFamily="34" charset="-122"/>
                                  <a:cs typeface="Arial" panose="020B0604020202020204" pitchFamily="34" charset="0"/>
                                </a:rPr>
                                <a:t>x</a:t>
                              </a:r>
                              <a:endPar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098" name="Text Box 680">
                              <a:extLst>
                                <a:ext uri="{FF2B5EF4-FFF2-40B4-BE49-F238E27FC236}">
                                  <a16:creationId xmlns:a16="http://schemas.microsoft.com/office/drawing/2014/main" id="{5321FB86-D2C6-D580-6931-4548C878C2C7}"/>
                                </a:ext>
                              </a:extLst>
                            </p:cNvPr>
                            <p:cNvSpPr txBox="1">
                              <a:spLocks noChangeArrowheads="1"/>
                            </p:cNvSpPr>
                            <p:nvPr/>
                          </p:nvSpPr>
                          <p:spPr bwMode="auto">
                            <a:xfrm>
                              <a:off x="7044" y="2572"/>
                              <a:ext cx="4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rPr>
                                <a:t>1</a:t>
                              </a:r>
                            </a:p>
                          </p:txBody>
                        </p:sp>
                        <p:sp>
                          <p:nvSpPr>
                            <p:cNvPr id="154099" name="Text Box 681">
                              <a:extLst>
                                <a:ext uri="{FF2B5EF4-FFF2-40B4-BE49-F238E27FC236}">
                                  <a16:creationId xmlns:a16="http://schemas.microsoft.com/office/drawing/2014/main" id="{E94E6538-535E-0ED3-E1F4-710BA5A49E18}"/>
                                </a:ext>
                              </a:extLst>
                            </p:cNvPr>
                            <p:cNvSpPr txBox="1">
                              <a:spLocks noChangeArrowheads="1"/>
                            </p:cNvSpPr>
                            <p:nvPr/>
                          </p:nvSpPr>
                          <p:spPr bwMode="auto">
                            <a:xfrm>
                              <a:off x="7434" y="2569"/>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64000"/>
                                </a:lnSpc>
                              </a:pPr>
                              <a:r>
                                <a:rPr lang="en-US" altLang="zh-CN" sz="1600" i="1">
                                  <a:solidFill>
                                    <a:schemeClr val="tx1"/>
                                  </a:solidFill>
                                  <a:latin typeface="Arial" panose="020B0604020202020204" pitchFamily="34" charset="0"/>
                                  <a:ea typeface="微软雅黑" panose="020B0503020204020204" pitchFamily="34" charset="-122"/>
                                  <a:cs typeface="Arial" panose="020B0604020202020204" pitchFamily="34" charset="0"/>
                                </a:rPr>
                                <a:t>x</a:t>
                              </a:r>
                              <a:endPar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100" name="Text Box 682">
                              <a:extLst>
                                <a:ext uri="{FF2B5EF4-FFF2-40B4-BE49-F238E27FC236}">
                                  <a16:creationId xmlns:a16="http://schemas.microsoft.com/office/drawing/2014/main" id="{98EB238C-6CD1-B0DB-992A-8090CF05F135}"/>
                                </a:ext>
                              </a:extLst>
                            </p:cNvPr>
                            <p:cNvSpPr txBox="1">
                              <a:spLocks noChangeArrowheads="1"/>
                            </p:cNvSpPr>
                            <p:nvPr/>
                          </p:nvSpPr>
                          <p:spPr bwMode="auto">
                            <a:xfrm>
                              <a:off x="7842" y="2569"/>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64000"/>
                                </a:lnSpc>
                              </a:pPr>
                              <a:r>
                                <a:rPr lang="en-US" altLang="zh-CN" sz="1600" i="1">
                                  <a:solidFill>
                                    <a:schemeClr val="tx1"/>
                                  </a:solidFill>
                                  <a:latin typeface="Arial" panose="020B0604020202020204" pitchFamily="34" charset="0"/>
                                  <a:ea typeface="微软雅黑" panose="020B0503020204020204" pitchFamily="34" charset="-122"/>
                                  <a:cs typeface="Arial" panose="020B0604020202020204" pitchFamily="34" charset="0"/>
                                </a:rPr>
                                <a:t>x</a:t>
                              </a:r>
                              <a:endPar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54053" name="Group 683">
                            <a:extLst>
                              <a:ext uri="{FF2B5EF4-FFF2-40B4-BE49-F238E27FC236}">
                                <a16:creationId xmlns:a16="http://schemas.microsoft.com/office/drawing/2014/main" id="{73239E9D-5757-3F06-6034-311739F2EF89}"/>
                              </a:ext>
                            </a:extLst>
                          </p:cNvPr>
                          <p:cNvGrpSpPr>
                            <a:grpSpLocks/>
                          </p:cNvGrpSpPr>
                          <p:nvPr/>
                        </p:nvGrpSpPr>
                        <p:grpSpPr bwMode="auto">
                          <a:xfrm>
                            <a:off x="6465" y="2035"/>
                            <a:ext cx="3678" cy="869"/>
                            <a:chOff x="6465" y="2035"/>
                            <a:chExt cx="3678" cy="869"/>
                          </a:xfrm>
                        </p:grpSpPr>
                        <p:grpSp>
                          <p:nvGrpSpPr>
                            <p:cNvPr id="154054" name="Group 684">
                              <a:extLst>
                                <a:ext uri="{FF2B5EF4-FFF2-40B4-BE49-F238E27FC236}">
                                  <a16:creationId xmlns:a16="http://schemas.microsoft.com/office/drawing/2014/main" id="{CF64793A-41DA-3D84-D714-D989CD175EB5}"/>
                                </a:ext>
                              </a:extLst>
                            </p:cNvPr>
                            <p:cNvGrpSpPr>
                              <a:grpSpLocks/>
                            </p:cNvGrpSpPr>
                            <p:nvPr/>
                          </p:nvGrpSpPr>
                          <p:grpSpPr bwMode="auto">
                            <a:xfrm>
                              <a:off x="7426" y="2035"/>
                              <a:ext cx="1747" cy="862"/>
                              <a:chOff x="7426" y="2035"/>
                              <a:chExt cx="1747" cy="862"/>
                            </a:xfrm>
                          </p:grpSpPr>
                          <p:sp>
                            <p:nvSpPr>
                              <p:cNvPr id="154090" name="Line 685">
                                <a:extLst>
                                  <a:ext uri="{FF2B5EF4-FFF2-40B4-BE49-F238E27FC236}">
                                    <a16:creationId xmlns:a16="http://schemas.microsoft.com/office/drawing/2014/main" id="{00E66A14-03ED-1868-F59D-5DCE8497E141}"/>
                                  </a:ext>
                                </a:extLst>
                              </p:cNvPr>
                              <p:cNvSpPr>
                                <a:spLocks noChangeShapeType="1"/>
                              </p:cNvSpPr>
                              <p:nvPr/>
                            </p:nvSpPr>
                            <p:spPr bwMode="auto">
                              <a:xfrm flipV="1">
                                <a:off x="7456" y="2893"/>
                                <a:ext cx="1717" cy="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54091" name="Group 686">
                                <a:extLst>
                                  <a:ext uri="{FF2B5EF4-FFF2-40B4-BE49-F238E27FC236}">
                                    <a16:creationId xmlns:a16="http://schemas.microsoft.com/office/drawing/2014/main" id="{DEA1B539-3065-B5F6-D7E5-8B30F886B9E4}"/>
                                  </a:ext>
                                </a:extLst>
                              </p:cNvPr>
                              <p:cNvGrpSpPr>
                                <a:grpSpLocks/>
                              </p:cNvGrpSpPr>
                              <p:nvPr/>
                            </p:nvGrpSpPr>
                            <p:grpSpPr bwMode="auto">
                              <a:xfrm>
                                <a:off x="7426" y="2035"/>
                                <a:ext cx="1107" cy="557"/>
                                <a:chOff x="5907" y="8910"/>
                                <a:chExt cx="1623" cy="912"/>
                              </a:xfrm>
                            </p:grpSpPr>
                            <p:sp>
                              <p:nvSpPr>
                                <p:cNvPr id="154092" name="Line 687">
                                  <a:extLst>
                                    <a:ext uri="{FF2B5EF4-FFF2-40B4-BE49-F238E27FC236}">
                                      <a16:creationId xmlns:a16="http://schemas.microsoft.com/office/drawing/2014/main" id="{C09A55BE-2F7D-7A1F-8BF2-9255E7871B86}"/>
                                    </a:ext>
                                  </a:extLst>
                                </p:cNvPr>
                                <p:cNvSpPr>
                                  <a:spLocks noChangeShapeType="1"/>
                                </p:cNvSpPr>
                                <p:nvPr/>
                              </p:nvSpPr>
                              <p:spPr bwMode="auto">
                                <a:xfrm flipV="1">
                                  <a:off x="5910" y="9372"/>
                                  <a:ext cx="1050" cy="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093" name="Line 688">
                                  <a:extLst>
                                    <a:ext uri="{FF2B5EF4-FFF2-40B4-BE49-F238E27FC236}">
                                      <a16:creationId xmlns:a16="http://schemas.microsoft.com/office/drawing/2014/main" id="{789340D9-8DB4-5295-F4D3-EB8FE5A4DE1C}"/>
                                    </a:ext>
                                  </a:extLst>
                                </p:cNvPr>
                                <p:cNvSpPr>
                                  <a:spLocks noChangeShapeType="1"/>
                                </p:cNvSpPr>
                                <p:nvPr/>
                              </p:nvSpPr>
                              <p:spPr bwMode="auto">
                                <a:xfrm>
                                  <a:off x="5907" y="9819"/>
                                  <a:ext cx="1623"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094" name="Line 689">
                                  <a:extLst>
                                    <a:ext uri="{FF2B5EF4-FFF2-40B4-BE49-F238E27FC236}">
                                      <a16:creationId xmlns:a16="http://schemas.microsoft.com/office/drawing/2014/main" id="{51028F23-EEA9-C102-4390-F0FFE136B866}"/>
                                    </a:ext>
                                  </a:extLst>
                                </p:cNvPr>
                                <p:cNvSpPr>
                                  <a:spLocks noChangeShapeType="1"/>
                                </p:cNvSpPr>
                                <p:nvPr/>
                              </p:nvSpPr>
                              <p:spPr bwMode="auto">
                                <a:xfrm>
                                  <a:off x="5931" y="8910"/>
                                  <a:ext cx="462"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54055" name="Group 690">
                              <a:extLst>
                                <a:ext uri="{FF2B5EF4-FFF2-40B4-BE49-F238E27FC236}">
                                  <a16:creationId xmlns:a16="http://schemas.microsoft.com/office/drawing/2014/main" id="{16B0C1A6-E3BD-BA43-4DA5-B9112CF37FEB}"/>
                                </a:ext>
                              </a:extLst>
                            </p:cNvPr>
                            <p:cNvGrpSpPr>
                              <a:grpSpLocks/>
                            </p:cNvGrpSpPr>
                            <p:nvPr/>
                          </p:nvGrpSpPr>
                          <p:grpSpPr bwMode="auto">
                            <a:xfrm>
                              <a:off x="8922" y="2035"/>
                              <a:ext cx="253" cy="564"/>
                              <a:chOff x="8100" y="8910"/>
                              <a:chExt cx="372" cy="924"/>
                            </a:xfrm>
                          </p:grpSpPr>
                          <p:sp>
                            <p:nvSpPr>
                              <p:cNvPr id="154087" name="Line 691">
                                <a:extLst>
                                  <a:ext uri="{FF2B5EF4-FFF2-40B4-BE49-F238E27FC236}">
                                    <a16:creationId xmlns:a16="http://schemas.microsoft.com/office/drawing/2014/main" id="{88485443-BF99-9593-B688-7ADB26FC00A9}"/>
                                  </a:ext>
                                </a:extLst>
                              </p:cNvPr>
                              <p:cNvSpPr>
                                <a:spLocks noChangeShapeType="1"/>
                              </p:cNvSpPr>
                              <p:nvPr/>
                            </p:nvSpPr>
                            <p:spPr bwMode="auto">
                              <a:xfrm>
                                <a:off x="8100" y="9369"/>
                                <a:ext cx="351"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088" name="Line 692">
                                <a:extLst>
                                  <a:ext uri="{FF2B5EF4-FFF2-40B4-BE49-F238E27FC236}">
                                    <a16:creationId xmlns:a16="http://schemas.microsoft.com/office/drawing/2014/main" id="{66F970B5-2CBB-F927-B816-C55B9785001D}"/>
                                  </a:ext>
                                </a:extLst>
                              </p:cNvPr>
                              <p:cNvSpPr>
                                <a:spLocks noChangeShapeType="1"/>
                              </p:cNvSpPr>
                              <p:nvPr/>
                            </p:nvSpPr>
                            <p:spPr bwMode="auto">
                              <a:xfrm>
                                <a:off x="8112" y="9831"/>
                                <a:ext cx="351"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089" name="Line 693">
                                <a:extLst>
                                  <a:ext uri="{FF2B5EF4-FFF2-40B4-BE49-F238E27FC236}">
                                    <a16:creationId xmlns:a16="http://schemas.microsoft.com/office/drawing/2014/main" id="{D63DCC1A-7BD6-2D5F-F89A-692CDED02E17}"/>
                                  </a:ext>
                                </a:extLst>
                              </p:cNvPr>
                              <p:cNvSpPr>
                                <a:spLocks noChangeShapeType="1"/>
                              </p:cNvSpPr>
                              <p:nvPr/>
                            </p:nvSpPr>
                            <p:spPr bwMode="auto">
                              <a:xfrm>
                                <a:off x="8121" y="8910"/>
                                <a:ext cx="351"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54056" name="Group 694">
                              <a:extLst>
                                <a:ext uri="{FF2B5EF4-FFF2-40B4-BE49-F238E27FC236}">
                                  <a16:creationId xmlns:a16="http://schemas.microsoft.com/office/drawing/2014/main" id="{0F5DE8DB-4C2E-C7C7-282E-FF1DC5623798}"/>
                                </a:ext>
                              </a:extLst>
                            </p:cNvPr>
                            <p:cNvGrpSpPr>
                              <a:grpSpLocks/>
                            </p:cNvGrpSpPr>
                            <p:nvPr/>
                          </p:nvGrpSpPr>
                          <p:grpSpPr bwMode="auto">
                            <a:xfrm>
                              <a:off x="6897" y="2037"/>
                              <a:ext cx="566" cy="867"/>
                              <a:chOff x="6615" y="2526"/>
                              <a:chExt cx="723" cy="1161"/>
                            </a:xfrm>
                          </p:grpSpPr>
                          <p:grpSp>
                            <p:nvGrpSpPr>
                              <p:cNvPr id="154074" name="Group 695">
                                <a:extLst>
                                  <a:ext uri="{FF2B5EF4-FFF2-40B4-BE49-F238E27FC236}">
                                    <a16:creationId xmlns:a16="http://schemas.microsoft.com/office/drawing/2014/main" id="{3902F72D-2AD4-A495-4E19-AD53E208F77F}"/>
                                  </a:ext>
                                </a:extLst>
                              </p:cNvPr>
                              <p:cNvGrpSpPr>
                                <a:grpSpLocks/>
                              </p:cNvGrpSpPr>
                              <p:nvPr/>
                            </p:nvGrpSpPr>
                            <p:grpSpPr bwMode="auto">
                              <a:xfrm flipH="1">
                                <a:off x="6855" y="2724"/>
                                <a:ext cx="225" cy="720"/>
                                <a:chOff x="5190" y="2775"/>
                                <a:chExt cx="225" cy="720"/>
                              </a:xfrm>
                            </p:grpSpPr>
                            <p:sp>
                              <p:nvSpPr>
                                <p:cNvPr id="154083" name="Oval 696">
                                  <a:extLst>
                                    <a:ext uri="{FF2B5EF4-FFF2-40B4-BE49-F238E27FC236}">
                                      <a16:creationId xmlns:a16="http://schemas.microsoft.com/office/drawing/2014/main" id="{8B1B63B3-E50A-B4FB-28C2-3F28F755341E}"/>
                                    </a:ext>
                                  </a:extLst>
                                </p:cNvPr>
                                <p:cNvSpPr>
                                  <a:spLocks noChangeArrowheads="1"/>
                                </p:cNvSpPr>
                                <p:nvPr/>
                              </p:nvSpPr>
                              <p:spPr bwMode="auto">
                                <a:xfrm>
                                  <a:off x="5190" y="297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084" name="Oval 697">
                                  <a:extLst>
                                    <a:ext uri="{FF2B5EF4-FFF2-40B4-BE49-F238E27FC236}">
                                      <a16:creationId xmlns:a16="http://schemas.microsoft.com/office/drawing/2014/main" id="{B425023E-0704-7756-4B56-3B12AD918700}"/>
                                    </a:ext>
                                  </a:extLst>
                                </p:cNvPr>
                                <p:cNvSpPr>
                                  <a:spLocks noChangeArrowheads="1"/>
                                </p:cNvSpPr>
                                <p:nvPr/>
                              </p:nvSpPr>
                              <p:spPr bwMode="auto">
                                <a:xfrm>
                                  <a:off x="5190" y="319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085" name="Oval 698">
                                  <a:extLst>
                                    <a:ext uri="{FF2B5EF4-FFF2-40B4-BE49-F238E27FC236}">
                                      <a16:creationId xmlns:a16="http://schemas.microsoft.com/office/drawing/2014/main" id="{34EB0691-F871-351C-4548-7A177269B124}"/>
                                    </a:ext>
                                  </a:extLst>
                                </p:cNvPr>
                                <p:cNvSpPr>
                                  <a:spLocks noChangeArrowheads="1"/>
                                </p:cNvSpPr>
                                <p:nvPr/>
                              </p:nvSpPr>
                              <p:spPr bwMode="auto">
                                <a:xfrm>
                                  <a:off x="5295" y="277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086" name="Oval 699">
                                  <a:extLst>
                                    <a:ext uri="{FF2B5EF4-FFF2-40B4-BE49-F238E27FC236}">
                                      <a16:creationId xmlns:a16="http://schemas.microsoft.com/office/drawing/2014/main" id="{CE189890-FE6C-C4C3-15CA-C3476DFF7C26}"/>
                                    </a:ext>
                                  </a:extLst>
                                </p:cNvPr>
                                <p:cNvSpPr>
                                  <a:spLocks noChangeArrowheads="1"/>
                                </p:cNvSpPr>
                                <p:nvPr/>
                              </p:nvSpPr>
                              <p:spPr bwMode="auto">
                                <a:xfrm>
                                  <a:off x="5310" y="339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54075" name="Group 700">
                                <a:extLst>
                                  <a:ext uri="{FF2B5EF4-FFF2-40B4-BE49-F238E27FC236}">
                                    <a16:creationId xmlns:a16="http://schemas.microsoft.com/office/drawing/2014/main" id="{26A63E2C-5583-B49B-B0C6-1ED5B5188B50}"/>
                                  </a:ext>
                                </a:extLst>
                              </p:cNvPr>
                              <p:cNvGrpSpPr>
                                <a:grpSpLocks/>
                              </p:cNvGrpSpPr>
                              <p:nvPr/>
                            </p:nvGrpSpPr>
                            <p:grpSpPr bwMode="auto">
                              <a:xfrm>
                                <a:off x="6939" y="2526"/>
                                <a:ext cx="399" cy="1161"/>
                                <a:chOff x="6939" y="2526"/>
                                <a:chExt cx="399" cy="1161"/>
                              </a:xfrm>
                            </p:grpSpPr>
                            <p:sp>
                              <p:nvSpPr>
                                <p:cNvPr id="154079" name="Line 701">
                                  <a:extLst>
                                    <a:ext uri="{FF2B5EF4-FFF2-40B4-BE49-F238E27FC236}">
                                      <a16:creationId xmlns:a16="http://schemas.microsoft.com/office/drawing/2014/main" id="{26DD7565-147E-0482-6AB4-1AA6C89F7977}"/>
                                    </a:ext>
                                  </a:extLst>
                                </p:cNvPr>
                                <p:cNvSpPr>
                                  <a:spLocks noChangeShapeType="1"/>
                                </p:cNvSpPr>
                                <p:nvPr/>
                              </p:nvSpPr>
                              <p:spPr bwMode="auto">
                                <a:xfrm flipV="1">
                                  <a:off x="7083" y="2910"/>
                                  <a:ext cx="213" cy="5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080" name="Line 702">
                                  <a:extLst>
                                    <a:ext uri="{FF2B5EF4-FFF2-40B4-BE49-F238E27FC236}">
                                      <a16:creationId xmlns:a16="http://schemas.microsoft.com/office/drawing/2014/main" id="{92D6BC57-F00D-6B61-8773-DC1CC1332325}"/>
                                    </a:ext>
                                  </a:extLst>
                                </p:cNvPr>
                                <p:cNvSpPr>
                                  <a:spLocks noChangeShapeType="1"/>
                                </p:cNvSpPr>
                                <p:nvPr/>
                              </p:nvSpPr>
                              <p:spPr bwMode="auto">
                                <a:xfrm>
                                  <a:off x="7068" y="3231"/>
                                  <a:ext cx="231" cy="4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081" name="Line 703">
                                  <a:extLst>
                                    <a:ext uri="{FF2B5EF4-FFF2-40B4-BE49-F238E27FC236}">
                                      <a16:creationId xmlns:a16="http://schemas.microsoft.com/office/drawing/2014/main" id="{99BACA61-40E4-CCDF-6FDF-5ADFE4771DD1}"/>
                                    </a:ext>
                                  </a:extLst>
                                </p:cNvPr>
                                <p:cNvSpPr>
                                  <a:spLocks noChangeShapeType="1"/>
                                </p:cNvSpPr>
                                <p:nvPr/>
                              </p:nvSpPr>
                              <p:spPr bwMode="auto">
                                <a:xfrm flipV="1">
                                  <a:off x="6960" y="2526"/>
                                  <a:ext cx="360" cy="21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082" name="Line 704">
                                  <a:extLst>
                                    <a:ext uri="{FF2B5EF4-FFF2-40B4-BE49-F238E27FC236}">
                                      <a16:creationId xmlns:a16="http://schemas.microsoft.com/office/drawing/2014/main" id="{EE4B8DEE-3946-8CDA-0BA8-CE9C12DCEBE8}"/>
                                    </a:ext>
                                  </a:extLst>
                                </p:cNvPr>
                                <p:cNvSpPr>
                                  <a:spLocks noChangeShapeType="1"/>
                                </p:cNvSpPr>
                                <p:nvPr/>
                              </p:nvSpPr>
                              <p:spPr bwMode="auto">
                                <a:xfrm>
                                  <a:off x="6939" y="3420"/>
                                  <a:ext cx="399" cy="26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54076" name="Group 705">
                                <a:extLst>
                                  <a:ext uri="{FF2B5EF4-FFF2-40B4-BE49-F238E27FC236}">
                                    <a16:creationId xmlns:a16="http://schemas.microsoft.com/office/drawing/2014/main" id="{73A43264-BB38-BE4F-E0A3-BD715B86E6B8}"/>
                                  </a:ext>
                                </a:extLst>
                              </p:cNvPr>
                              <p:cNvGrpSpPr>
                                <a:grpSpLocks/>
                              </p:cNvGrpSpPr>
                              <p:nvPr/>
                            </p:nvGrpSpPr>
                            <p:grpSpPr bwMode="auto">
                              <a:xfrm>
                                <a:off x="6615" y="2838"/>
                                <a:ext cx="255" cy="309"/>
                                <a:chOff x="2175" y="2859"/>
                                <a:chExt cx="255" cy="309"/>
                              </a:xfrm>
                            </p:grpSpPr>
                            <p:sp>
                              <p:nvSpPr>
                                <p:cNvPr id="154077" name="Oval 706">
                                  <a:extLst>
                                    <a:ext uri="{FF2B5EF4-FFF2-40B4-BE49-F238E27FC236}">
                                      <a16:creationId xmlns:a16="http://schemas.microsoft.com/office/drawing/2014/main" id="{2167C36F-A422-8015-0963-BBC319581642}"/>
                                    </a:ext>
                                  </a:extLst>
                                </p:cNvPr>
                                <p:cNvSpPr>
                                  <a:spLocks noChangeArrowheads="1"/>
                                </p:cNvSpPr>
                                <p:nvPr/>
                              </p:nvSpPr>
                              <p:spPr bwMode="auto">
                                <a:xfrm>
                                  <a:off x="2175" y="3063"/>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078" name="Line 707">
                                  <a:extLst>
                                    <a:ext uri="{FF2B5EF4-FFF2-40B4-BE49-F238E27FC236}">
                                      <a16:creationId xmlns:a16="http://schemas.microsoft.com/office/drawing/2014/main" id="{98C32EEC-AD86-9078-8293-AD42FE6E2B1E}"/>
                                    </a:ext>
                                  </a:extLst>
                                </p:cNvPr>
                                <p:cNvSpPr>
                                  <a:spLocks noChangeShapeType="1"/>
                                </p:cNvSpPr>
                                <p:nvPr/>
                              </p:nvSpPr>
                              <p:spPr bwMode="auto">
                                <a:xfrm flipV="1">
                                  <a:off x="2259" y="2859"/>
                                  <a:ext cx="171" cy="20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54057" name="Group 708">
                              <a:extLst>
                                <a:ext uri="{FF2B5EF4-FFF2-40B4-BE49-F238E27FC236}">
                                  <a16:creationId xmlns:a16="http://schemas.microsoft.com/office/drawing/2014/main" id="{A1C0D2C8-1E05-B1E8-CB6D-71D565277B64}"/>
                                </a:ext>
                              </a:extLst>
                            </p:cNvPr>
                            <p:cNvGrpSpPr>
                              <a:grpSpLocks/>
                            </p:cNvGrpSpPr>
                            <p:nvPr/>
                          </p:nvGrpSpPr>
                          <p:grpSpPr bwMode="auto">
                            <a:xfrm>
                              <a:off x="9152" y="2042"/>
                              <a:ext cx="559" cy="846"/>
                              <a:chOff x="9495" y="2532"/>
                              <a:chExt cx="714" cy="1134"/>
                            </a:xfrm>
                          </p:grpSpPr>
                          <p:grpSp>
                            <p:nvGrpSpPr>
                              <p:cNvPr id="154060" name="Group 709">
                                <a:extLst>
                                  <a:ext uri="{FF2B5EF4-FFF2-40B4-BE49-F238E27FC236}">
                                    <a16:creationId xmlns:a16="http://schemas.microsoft.com/office/drawing/2014/main" id="{F295695C-3497-19D9-6DB9-1E85935F7D3F}"/>
                                  </a:ext>
                                </a:extLst>
                              </p:cNvPr>
                              <p:cNvGrpSpPr>
                                <a:grpSpLocks/>
                              </p:cNvGrpSpPr>
                              <p:nvPr/>
                            </p:nvGrpSpPr>
                            <p:grpSpPr bwMode="auto">
                              <a:xfrm>
                                <a:off x="9495" y="2532"/>
                                <a:ext cx="399" cy="1134"/>
                                <a:chOff x="9495" y="2532"/>
                                <a:chExt cx="399" cy="1134"/>
                              </a:xfrm>
                            </p:grpSpPr>
                            <p:grpSp>
                              <p:nvGrpSpPr>
                                <p:cNvPr id="154064" name="Group 710">
                                  <a:extLst>
                                    <a:ext uri="{FF2B5EF4-FFF2-40B4-BE49-F238E27FC236}">
                                      <a16:creationId xmlns:a16="http://schemas.microsoft.com/office/drawing/2014/main" id="{631A574C-788C-4700-9FDC-B472F60E2924}"/>
                                    </a:ext>
                                  </a:extLst>
                                </p:cNvPr>
                                <p:cNvGrpSpPr>
                                  <a:grpSpLocks/>
                                </p:cNvGrpSpPr>
                                <p:nvPr/>
                              </p:nvGrpSpPr>
                              <p:grpSpPr bwMode="auto">
                                <a:xfrm>
                                  <a:off x="9669" y="2766"/>
                                  <a:ext cx="225" cy="720"/>
                                  <a:chOff x="5190" y="2775"/>
                                  <a:chExt cx="225" cy="720"/>
                                </a:xfrm>
                              </p:grpSpPr>
                              <p:sp>
                                <p:nvSpPr>
                                  <p:cNvPr id="154070" name="Oval 711">
                                    <a:extLst>
                                      <a:ext uri="{FF2B5EF4-FFF2-40B4-BE49-F238E27FC236}">
                                        <a16:creationId xmlns:a16="http://schemas.microsoft.com/office/drawing/2014/main" id="{34C0A98D-EDB8-92CE-9BD8-1927B667221E}"/>
                                      </a:ext>
                                    </a:extLst>
                                  </p:cNvPr>
                                  <p:cNvSpPr>
                                    <a:spLocks noChangeArrowheads="1"/>
                                  </p:cNvSpPr>
                                  <p:nvPr/>
                                </p:nvSpPr>
                                <p:spPr bwMode="auto">
                                  <a:xfrm>
                                    <a:off x="5190" y="297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071" name="Oval 712">
                                    <a:extLst>
                                      <a:ext uri="{FF2B5EF4-FFF2-40B4-BE49-F238E27FC236}">
                                        <a16:creationId xmlns:a16="http://schemas.microsoft.com/office/drawing/2014/main" id="{A7C41CC2-4191-29E5-6719-03695F0D5DF4}"/>
                                      </a:ext>
                                    </a:extLst>
                                  </p:cNvPr>
                                  <p:cNvSpPr>
                                    <a:spLocks noChangeArrowheads="1"/>
                                  </p:cNvSpPr>
                                  <p:nvPr/>
                                </p:nvSpPr>
                                <p:spPr bwMode="auto">
                                  <a:xfrm>
                                    <a:off x="5190" y="319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072" name="Oval 713">
                                    <a:extLst>
                                      <a:ext uri="{FF2B5EF4-FFF2-40B4-BE49-F238E27FC236}">
                                        <a16:creationId xmlns:a16="http://schemas.microsoft.com/office/drawing/2014/main" id="{A09D831D-9EDD-6CFA-82AE-5B61579BE7B1}"/>
                                      </a:ext>
                                    </a:extLst>
                                  </p:cNvPr>
                                  <p:cNvSpPr>
                                    <a:spLocks noChangeArrowheads="1"/>
                                  </p:cNvSpPr>
                                  <p:nvPr/>
                                </p:nvSpPr>
                                <p:spPr bwMode="auto">
                                  <a:xfrm>
                                    <a:off x="5295" y="277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073" name="Oval 714">
                                    <a:extLst>
                                      <a:ext uri="{FF2B5EF4-FFF2-40B4-BE49-F238E27FC236}">
                                        <a16:creationId xmlns:a16="http://schemas.microsoft.com/office/drawing/2014/main" id="{B1116ADE-CD32-4EAA-9683-F0146C2AED6C}"/>
                                      </a:ext>
                                    </a:extLst>
                                  </p:cNvPr>
                                  <p:cNvSpPr>
                                    <a:spLocks noChangeArrowheads="1"/>
                                  </p:cNvSpPr>
                                  <p:nvPr/>
                                </p:nvSpPr>
                                <p:spPr bwMode="auto">
                                  <a:xfrm>
                                    <a:off x="5310" y="339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54065" name="Group 715">
                                  <a:extLst>
                                    <a:ext uri="{FF2B5EF4-FFF2-40B4-BE49-F238E27FC236}">
                                      <a16:creationId xmlns:a16="http://schemas.microsoft.com/office/drawing/2014/main" id="{E43797D4-451B-2CC8-5B97-1B80011E5072}"/>
                                    </a:ext>
                                  </a:extLst>
                                </p:cNvPr>
                                <p:cNvGrpSpPr>
                                  <a:grpSpLocks/>
                                </p:cNvGrpSpPr>
                                <p:nvPr/>
                              </p:nvGrpSpPr>
                              <p:grpSpPr bwMode="auto">
                                <a:xfrm>
                                  <a:off x="9495" y="2532"/>
                                  <a:ext cx="297" cy="1134"/>
                                  <a:chOff x="9495" y="2532"/>
                                  <a:chExt cx="297" cy="1134"/>
                                </a:xfrm>
                              </p:grpSpPr>
                              <p:sp>
                                <p:nvSpPr>
                                  <p:cNvPr id="154066" name="Line 716">
                                    <a:extLst>
                                      <a:ext uri="{FF2B5EF4-FFF2-40B4-BE49-F238E27FC236}">
                                        <a16:creationId xmlns:a16="http://schemas.microsoft.com/office/drawing/2014/main" id="{585E3ECF-A64E-5F06-21E6-A6C74AE5E12B}"/>
                                      </a:ext>
                                    </a:extLst>
                                  </p:cNvPr>
                                  <p:cNvSpPr>
                                    <a:spLocks noChangeShapeType="1"/>
                                  </p:cNvSpPr>
                                  <p:nvPr/>
                                </p:nvSpPr>
                                <p:spPr bwMode="auto">
                                  <a:xfrm>
                                    <a:off x="9507" y="2532"/>
                                    <a:ext cx="267" cy="24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067" name="Line 717">
                                    <a:extLst>
                                      <a:ext uri="{FF2B5EF4-FFF2-40B4-BE49-F238E27FC236}">
                                        <a16:creationId xmlns:a16="http://schemas.microsoft.com/office/drawing/2014/main" id="{6E31ACB3-D58E-CBF1-2CDC-CBA4830EEA59}"/>
                                      </a:ext>
                                    </a:extLst>
                                  </p:cNvPr>
                                  <p:cNvSpPr>
                                    <a:spLocks noChangeShapeType="1"/>
                                  </p:cNvSpPr>
                                  <p:nvPr/>
                                </p:nvSpPr>
                                <p:spPr bwMode="auto">
                                  <a:xfrm>
                                    <a:off x="9504" y="2907"/>
                                    <a:ext cx="165" cy="8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068" name="Line 718">
                                    <a:extLst>
                                      <a:ext uri="{FF2B5EF4-FFF2-40B4-BE49-F238E27FC236}">
                                        <a16:creationId xmlns:a16="http://schemas.microsoft.com/office/drawing/2014/main" id="{B78AB35C-404F-787D-92EF-C6576D9EDCA8}"/>
                                      </a:ext>
                                    </a:extLst>
                                  </p:cNvPr>
                                  <p:cNvSpPr>
                                    <a:spLocks noChangeShapeType="1"/>
                                  </p:cNvSpPr>
                                  <p:nvPr/>
                                </p:nvSpPr>
                                <p:spPr bwMode="auto">
                                  <a:xfrm flipV="1">
                                    <a:off x="9495" y="3246"/>
                                    <a:ext cx="177" cy="3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069" name="Line 719">
                                    <a:extLst>
                                      <a:ext uri="{FF2B5EF4-FFF2-40B4-BE49-F238E27FC236}">
                                        <a16:creationId xmlns:a16="http://schemas.microsoft.com/office/drawing/2014/main" id="{1AC7AAB4-0D58-9E72-6EFB-E8457DBC9FF4}"/>
                                      </a:ext>
                                    </a:extLst>
                                  </p:cNvPr>
                                  <p:cNvSpPr>
                                    <a:spLocks noChangeShapeType="1"/>
                                  </p:cNvSpPr>
                                  <p:nvPr/>
                                </p:nvSpPr>
                                <p:spPr bwMode="auto">
                                  <a:xfrm flipV="1">
                                    <a:off x="9516" y="3471"/>
                                    <a:ext cx="276" cy="19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54061" name="Group 720">
                                <a:extLst>
                                  <a:ext uri="{FF2B5EF4-FFF2-40B4-BE49-F238E27FC236}">
                                    <a16:creationId xmlns:a16="http://schemas.microsoft.com/office/drawing/2014/main" id="{9D8C7B96-3495-6188-71F4-2AEF8EFEBFDD}"/>
                                  </a:ext>
                                </a:extLst>
                              </p:cNvPr>
                              <p:cNvGrpSpPr>
                                <a:grpSpLocks/>
                              </p:cNvGrpSpPr>
                              <p:nvPr/>
                            </p:nvGrpSpPr>
                            <p:grpSpPr bwMode="auto">
                              <a:xfrm>
                                <a:off x="9909" y="2880"/>
                                <a:ext cx="300" cy="300"/>
                                <a:chOff x="5430" y="2889"/>
                                <a:chExt cx="300" cy="300"/>
                              </a:xfrm>
                            </p:grpSpPr>
                            <p:sp>
                              <p:nvSpPr>
                                <p:cNvPr id="154062" name="Oval 721">
                                  <a:extLst>
                                    <a:ext uri="{FF2B5EF4-FFF2-40B4-BE49-F238E27FC236}">
                                      <a16:creationId xmlns:a16="http://schemas.microsoft.com/office/drawing/2014/main" id="{FB482080-7F65-6237-8EC1-113B42DAEA30}"/>
                                    </a:ext>
                                  </a:extLst>
                                </p:cNvPr>
                                <p:cNvSpPr>
                                  <a:spLocks noChangeArrowheads="1"/>
                                </p:cNvSpPr>
                                <p:nvPr/>
                              </p:nvSpPr>
                              <p:spPr bwMode="auto">
                                <a:xfrm>
                                  <a:off x="5625" y="3084"/>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063" name="Line 722">
                                  <a:extLst>
                                    <a:ext uri="{FF2B5EF4-FFF2-40B4-BE49-F238E27FC236}">
                                      <a16:creationId xmlns:a16="http://schemas.microsoft.com/office/drawing/2014/main" id="{7E73198A-9394-5296-4856-53314D238597}"/>
                                    </a:ext>
                                  </a:extLst>
                                </p:cNvPr>
                                <p:cNvSpPr>
                                  <a:spLocks noChangeShapeType="1"/>
                                </p:cNvSpPr>
                                <p:nvPr/>
                              </p:nvSpPr>
                              <p:spPr bwMode="auto">
                                <a:xfrm flipH="1" flipV="1">
                                  <a:off x="5430" y="2889"/>
                                  <a:ext cx="219" cy="20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54058" name="Line 723">
                              <a:extLst>
                                <a:ext uri="{FF2B5EF4-FFF2-40B4-BE49-F238E27FC236}">
                                  <a16:creationId xmlns:a16="http://schemas.microsoft.com/office/drawing/2014/main" id="{C99E2AD2-97F9-809F-7650-79104F95CE15}"/>
                                </a:ext>
                              </a:extLst>
                            </p:cNvPr>
                            <p:cNvSpPr>
                              <a:spLocks noChangeShapeType="1"/>
                            </p:cNvSpPr>
                            <p:nvPr/>
                          </p:nvSpPr>
                          <p:spPr bwMode="auto">
                            <a:xfrm>
                              <a:off x="6465" y="2466"/>
                              <a:ext cx="429"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059" name="Line 724">
                              <a:extLst>
                                <a:ext uri="{FF2B5EF4-FFF2-40B4-BE49-F238E27FC236}">
                                  <a16:creationId xmlns:a16="http://schemas.microsoft.com/office/drawing/2014/main" id="{BF7E581E-71E9-300E-EB56-9ADE5342EA88}"/>
                                </a:ext>
                              </a:extLst>
                            </p:cNvPr>
                            <p:cNvSpPr>
                              <a:spLocks noChangeShapeType="1"/>
                            </p:cNvSpPr>
                            <p:nvPr/>
                          </p:nvSpPr>
                          <p:spPr bwMode="auto">
                            <a:xfrm>
                              <a:off x="9714" y="2475"/>
                              <a:ext cx="429"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154051" name="Text Box 725">
                          <a:extLst>
                            <a:ext uri="{FF2B5EF4-FFF2-40B4-BE49-F238E27FC236}">
                              <a16:creationId xmlns:a16="http://schemas.microsoft.com/office/drawing/2014/main" id="{C51BED2F-B071-4FBC-D26C-A077A77EC9E4}"/>
                            </a:ext>
                          </a:extLst>
                        </p:cNvPr>
                        <p:cNvSpPr txBox="1">
                          <a:spLocks noChangeArrowheads="1"/>
                        </p:cNvSpPr>
                        <p:nvPr/>
                      </p:nvSpPr>
                      <p:spPr bwMode="auto">
                        <a:xfrm>
                          <a:off x="9708" y="2130"/>
                          <a:ext cx="1272"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64000"/>
                            </a:lnSpc>
                          </a:pPr>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x x x x </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sp>
                  <p:nvSpPr>
                    <p:cNvPr id="154047" name="Text Box 726">
                      <a:extLst>
                        <a:ext uri="{FF2B5EF4-FFF2-40B4-BE49-F238E27FC236}">
                          <a16:creationId xmlns:a16="http://schemas.microsoft.com/office/drawing/2014/main" id="{A2081A51-AF85-2BFC-A656-19275907847B}"/>
                        </a:ext>
                      </a:extLst>
                    </p:cNvPr>
                    <p:cNvSpPr txBox="1">
                      <a:spLocks noChangeArrowheads="1"/>
                    </p:cNvSpPr>
                    <p:nvPr/>
                  </p:nvSpPr>
                  <p:spPr bwMode="auto">
                    <a:xfrm>
                      <a:off x="4380" y="5547"/>
                      <a:ext cx="4379"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b="0">
                          <a:solidFill>
                            <a:schemeClr val="tx1"/>
                          </a:solidFill>
                          <a:latin typeface="Arial" panose="020B0604020202020204" pitchFamily="34" charset="0"/>
                          <a:ea typeface="微软雅黑" panose="020B0503020204020204" pitchFamily="34" charset="-122"/>
                          <a:cs typeface="Arial" panose="020B0604020202020204" pitchFamily="34" charset="0"/>
                        </a:rPr>
                        <a:t>(a) </a:t>
                      </a:r>
                      <a:r>
                        <a:rPr lang="zh-CN" altLang="en-US" sz="1800" b="0">
                          <a:solidFill>
                            <a:schemeClr val="tx1"/>
                          </a:solidFill>
                          <a:latin typeface="Arial" panose="020B0604020202020204" pitchFamily="34" charset="0"/>
                          <a:ea typeface="微软雅黑" panose="020B0503020204020204" pitchFamily="34" charset="-122"/>
                          <a:cs typeface="Arial" panose="020B0604020202020204" pitchFamily="34" charset="0"/>
                        </a:rPr>
                        <a:t>第</a:t>
                      </a:r>
                      <a:r>
                        <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rPr>
                        <a:t>1~4</a:t>
                      </a:r>
                      <a:r>
                        <a:rPr lang="zh-CN" altLang="en-US" sz="1800" b="0">
                          <a:solidFill>
                            <a:schemeClr val="tx1"/>
                          </a:solidFill>
                          <a:latin typeface="Arial" panose="020B0604020202020204" pitchFamily="34" charset="0"/>
                          <a:ea typeface="微软雅黑" panose="020B0503020204020204" pitchFamily="34" charset="-122"/>
                          <a:cs typeface="Arial" panose="020B0604020202020204" pitchFamily="34" charset="0"/>
                        </a:rPr>
                        <a:t>比特输入时的状态</a:t>
                      </a:r>
                    </a:p>
                  </p:txBody>
                </p:sp>
              </p:grpSp>
            </p:grpSp>
          </p:grpSp>
          <p:grpSp>
            <p:nvGrpSpPr>
              <p:cNvPr id="153623" name="Group 727">
                <a:extLst>
                  <a:ext uri="{FF2B5EF4-FFF2-40B4-BE49-F238E27FC236}">
                    <a16:creationId xmlns:a16="http://schemas.microsoft.com/office/drawing/2014/main" id="{9ED4B4FD-AE16-0F70-B5B8-34D19205305F}"/>
                  </a:ext>
                </a:extLst>
              </p:cNvPr>
              <p:cNvGrpSpPr>
                <a:grpSpLocks/>
              </p:cNvGrpSpPr>
              <p:nvPr/>
            </p:nvGrpSpPr>
            <p:grpSpPr bwMode="auto">
              <a:xfrm>
                <a:off x="1755" y="5561"/>
                <a:ext cx="9077" cy="6538"/>
                <a:chOff x="1755" y="3821"/>
                <a:chExt cx="9077" cy="6538"/>
              </a:xfrm>
            </p:grpSpPr>
            <p:grpSp>
              <p:nvGrpSpPr>
                <p:cNvPr id="153624" name="Group 728">
                  <a:extLst>
                    <a:ext uri="{FF2B5EF4-FFF2-40B4-BE49-F238E27FC236}">
                      <a16:creationId xmlns:a16="http://schemas.microsoft.com/office/drawing/2014/main" id="{2AD217A9-683B-2C61-D3C7-ABFDB09541BE}"/>
                    </a:ext>
                  </a:extLst>
                </p:cNvPr>
                <p:cNvGrpSpPr>
                  <a:grpSpLocks/>
                </p:cNvGrpSpPr>
                <p:nvPr/>
              </p:nvGrpSpPr>
              <p:grpSpPr bwMode="auto">
                <a:xfrm>
                  <a:off x="1755" y="5760"/>
                  <a:ext cx="9026" cy="1578"/>
                  <a:chOff x="1725" y="6060"/>
                  <a:chExt cx="9026" cy="1578"/>
                </a:xfrm>
              </p:grpSpPr>
              <p:grpSp>
                <p:nvGrpSpPr>
                  <p:cNvPr id="153901" name="Group 729">
                    <a:extLst>
                      <a:ext uri="{FF2B5EF4-FFF2-40B4-BE49-F238E27FC236}">
                        <a16:creationId xmlns:a16="http://schemas.microsoft.com/office/drawing/2014/main" id="{363F55D5-DCAB-4CB0-6112-5F76E96ACE56}"/>
                      </a:ext>
                    </a:extLst>
                  </p:cNvPr>
                  <p:cNvGrpSpPr>
                    <a:grpSpLocks/>
                  </p:cNvGrpSpPr>
                  <p:nvPr/>
                </p:nvGrpSpPr>
                <p:grpSpPr bwMode="auto">
                  <a:xfrm>
                    <a:off x="1725" y="6060"/>
                    <a:ext cx="9026" cy="1223"/>
                    <a:chOff x="1836" y="3423"/>
                    <a:chExt cx="9026" cy="1223"/>
                  </a:xfrm>
                </p:grpSpPr>
                <p:grpSp>
                  <p:nvGrpSpPr>
                    <p:cNvPr id="153903" name="Group 730">
                      <a:extLst>
                        <a:ext uri="{FF2B5EF4-FFF2-40B4-BE49-F238E27FC236}">
                          <a16:creationId xmlns:a16="http://schemas.microsoft.com/office/drawing/2014/main" id="{76A51413-C4BD-7126-E8F6-862A5577DCF3}"/>
                        </a:ext>
                      </a:extLst>
                    </p:cNvPr>
                    <p:cNvGrpSpPr>
                      <a:grpSpLocks/>
                    </p:cNvGrpSpPr>
                    <p:nvPr/>
                  </p:nvGrpSpPr>
                  <p:grpSpPr bwMode="auto">
                    <a:xfrm>
                      <a:off x="1836" y="3423"/>
                      <a:ext cx="4660" cy="1223"/>
                      <a:chOff x="1836" y="3423"/>
                      <a:chExt cx="4660" cy="1223"/>
                    </a:xfrm>
                  </p:grpSpPr>
                  <p:grpSp>
                    <p:nvGrpSpPr>
                      <p:cNvPr id="153967" name="Group 731">
                        <a:extLst>
                          <a:ext uri="{FF2B5EF4-FFF2-40B4-BE49-F238E27FC236}">
                            <a16:creationId xmlns:a16="http://schemas.microsoft.com/office/drawing/2014/main" id="{C618CA04-8471-BA1E-213F-777729F0854B}"/>
                          </a:ext>
                        </a:extLst>
                      </p:cNvPr>
                      <p:cNvGrpSpPr>
                        <a:grpSpLocks/>
                      </p:cNvGrpSpPr>
                      <p:nvPr/>
                    </p:nvGrpSpPr>
                    <p:grpSpPr bwMode="auto">
                      <a:xfrm>
                        <a:off x="4392" y="3492"/>
                        <a:ext cx="624" cy="876"/>
                        <a:chOff x="4389" y="6642"/>
                        <a:chExt cx="624" cy="876"/>
                      </a:xfrm>
                    </p:grpSpPr>
                    <p:sp>
                      <p:nvSpPr>
                        <p:cNvPr id="154036" name="Text Box 732">
                          <a:extLst>
                            <a:ext uri="{FF2B5EF4-FFF2-40B4-BE49-F238E27FC236}">
                              <a16:creationId xmlns:a16="http://schemas.microsoft.com/office/drawing/2014/main" id="{6861089D-BDBF-71F3-7A7E-B1A283C6B8F9}"/>
                            </a:ext>
                          </a:extLst>
                        </p:cNvPr>
                        <p:cNvSpPr txBox="1">
                          <a:spLocks noChangeArrowheads="1"/>
                        </p:cNvSpPr>
                        <p:nvPr/>
                      </p:nvSpPr>
                      <p:spPr bwMode="auto">
                        <a:xfrm>
                          <a:off x="4410" y="7242"/>
                          <a:ext cx="45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0000"/>
                            </a:lnSpc>
                          </a:pPr>
                          <a:r>
                            <a:rPr lang="en-US" altLang="zh-CN" sz="1800" i="1" baseline="30000">
                              <a:solidFill>
                                <a:schemeClr val="tx1"/>
                              </a:solidFill>
                              <a:latin typeface="Arial" panose="020B0604020202020204" pitchFamily="34" charset="0"/>
                              <a:ea typeface="微软雅黑" panose="020B0503020204020204" pitchFamily="34" charset="-122"/>
                              <a:cs typeface="Arial" panose="020B0604020202020204" pitchFamily="34" charset="0"/>
                            </a:rPr>
                            <a:t>x</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037" name="Text Box 733">
                          <a:extLst>
                            <a:ext uri="{FF2B5EF4-FFF2-40B4-BE49-F238E27FC236}">
                              <a16:creationId xmlns:a16="http://schemas.microsoft.com/office/drawing/2014/main" id="{D959E7DD-F9A6-937A-0CCA-60A7D5F2E3C5}"/>
                            </a:ext>
                          </a:extLst>
                        </p:cNvPr>
                        <p:cNvSpPr txBox="1">
                          <a:spLocks noChangeArrowheads="1"/>
                        </p:cNvSpPr>
                        <p:nvPr/>
                      </p:nvSpPr>
                      <p:spPr bwMode="auto">
                        <a:xfrm>
                          <a:off x="4389" y="7011"/>
                          <a:ext cx="45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0000"/>
                            </a:lnSpc>
                          </a:pPr>
                          <a:r>
                            <a:rPr lang="en-US" altLang="zh-CN" sz="1800" i="1" baseline="30000">
                              <a:solidFill>
                                <a:schemeClr val="tx1"/>
                              </a:solidFill>
                              <a:latin typeface="Arial" panose="020B0604020202020204" pitchFamily="34" charset="0"/>
                              <a:ea typeface="微软雅黑" panose="020B0503020204020204" pitchFamily="34" charset="-122"/>
                              <a:cs typeface="Arial" panose="020B0604020202020204" pitchFamily="34" charset="0"/>
                            </a:rPr>
                            <a:t>x</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038" name="Text Box 734">
                          <a:extLst>
                            <a:ext uri="{FF2B5EF4-FFF2-40B4-BE49-F238E27FC236}">
                              <a16:creationId xmlns:a16="http://schemas.microsoft.com/office/drawing/2014/main" id="{693A9A1B-3335-0EA7-C8FD-37025D2DE68D}"/>
                            </a:ext>
                          </a:extLst>
                        </p:cNvPr>
                        <p:cNvSpPr txBox="1">
                          <a:spLocks noChangeArrowheads="1"/>
                        </p:cNvSpPr>
                        <p:nvPr/>
                      </p:nvSpPr>
                      <p:spPr bwMode="auto">
                        <a:xfrm>
                          <a:off x="4413" y="6783"/>
                          <a:ext cx="45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2</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039" name="Text Box 735">
                          <a:extLst>
                            <a:ext uri="{FF2B5EF4-FFF2-40B4-BE49-F238E27FC236}">
                              <a16:creationId xmlns:a16="http://schemas.microsoft.com/office/drawing/2014/main" id="{3BE39F0F-8C96-BC9F-B7BD-025D10A84D18}"/>
                            </a:ext>
                          </a:extLst>
                        </p:cNvPr>
                        <p:cNvSpPr txBox="1">
                          <a:spLocks noChangeArrowheads="1"/>
                        </p:cNvSpPr>
                        <p:nvPr/>
                      </p:nvSpPr>
                      <p:spPr bwMode="auto">
                        <a:xfrm>
                          <a:off x="4554" y="6642"/>
                          <a:ext cx="45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5</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53968" name="Group 736">
                        <a:extLst>
                          <a:ext uri="{FF2B5EF4-FFF2-40B4-BE49-F238E27FC236}">
                            <a16:creationId xmlns:a16="http://schemas.microsoft.com/office/drawing/2014/main" id="{DBC907B1-986B-F0F9-EA07-252BB144AFD8}"/>
                          </a:ext>
                        </a:extLst>
                      </p:cNvPr>
                      <p:cNvGrpSpPr>
                        <a:grpSpLocks/>
                      </p:cNvGrpSpPr>
                      <p:nvPr/>
                    </p:nvGrpSpPr>
                    <p:grpSpPr bwMode="auto">
                      <a:xfrm>
                        <a:off x="1836" y="3423"/>
                        <a:ext cx="4660" cy="1223"/>
                        <a:chOff x="1836" y="3423"/>
                        <a:chExt cx="4660" cy="1223"/>
                      </a:xfrm>
                    </p:grpSpPr>
                    <p:grpSp>
                      <p:nvGrpSpPr>
                        <p:cNvPr id="153969" name="Group 737">
                          <a:extLst>
                            <a:ext uri="{FF2B5EF4-FFF2-40B4-BE49-F238E27FC236}">
                              <a16:creationId xmlns:a16="http://schemas.microsoft.com/office/drawing/2014/main" id="{71AA9DCC-B37A-BC4C-E2DF-F05201DBD448}"/>
                            </a:ext>
                          </a:extLst>
                        </p:cNvPr>
                        <p:cNvGrpSpPr>
                          <a:grpSpLocks/>
                        </p:cNvGrpSpPr>
                        <p:nvPr/>
                      </p:nvGrpSpPr>
                      <p:grpSpPr bwMode="auto">
                        <a:xfrm>
                          <a:off x="1836" y="3423"/>
                          <a:ext cx="3699" cy="1223"/>
                          <a:chOff x="1836" y="3423"/>
                          <a:chExt cx="3699" cy="1223"/>
                        </a:xfrm>
                      </p:grpSpPr>
                      <p:grpSp>
                        <p:nvGrpSpPr>
                          <p:cNvPr id="153971" name="Group 738">
                            <a:extLst>
                              <a:ext uri="{FF2B5EF4-FFF2-40B4-BE49-F238E27FC236}">
                                <a16:creationId xmlns:a16="http://schemas.microsoft.com/office/drawing/2014/main" id="{C60AAB1C-F528-4664-EE8B-6353F1CB8A80}"/>
                              </a:ext>
                            </a:extLst>
                          </p:cNvPr>
                          <p:cNvGrpSpPr>
                            <a:grpSpLocks/>
                          </p:cNvGrpSpPr>
                          <p:nvPr/>
                        </p:nvGrpSpPr>
                        <p:grpSpPr bwMode="auto">
                          <a:xfrm>
                            <a:off x="2823" y="3565"/>
                            <a:ext cx="1718" cy="1081"/>
                            <a:chOff x="2823" y="3565"/>
                            <a:chExt cx="1718" cy="1081"/>
                          </a:xfrm>
                        </p:grpSpPr>
                        <p:grpSp>
                          <p:nvGrpSpPr>
                            <p:cNvPr id="154012" name="Group 739">
                              <a:extLst>
                                <a:ext uri="{FF2B5EF4-FFF2-40B4-BE49-F238E27FC236}">
                                  <a16:creationId xmlns:a16="http://schemas.microsoft.com/office/drawing/2014/main" id="{EFDE689E-C122-5303-D5D6-469D9B8D5CDB}"/>
                                </a:ext>
                              </a:extLst>
                            </p:cNvPr>
                            <p:cNvGrpSpPr>
                              <a:grpSpLocks/>
                            </p:cNvGrpSpPr>
                            <p:nvPr/>
                          </p:nvGrpSpPr>
                          <p:grpSpPr bwMode="auto">
                            <a:xfrm>
                              <a:off x="2823" y="3565"/>
                              <a:ext cx="1718" cy="814"/>
                              <a:chOff x="2823" y="3565"/>
                              <a:chExt cx="1718" cy="814"/>
                            </a:xfrm>
                          </p:grpSpPr>
                          <p:sp>
                            <p:nvSpPr>
                              <p:cNvPr id="154032" name="Line 740">
                                <a:extLst>
                                  <a:ext uri="{FF2B5EF4-FFF2-40B4-BE49-F238E27FC236}">
                                    <a16:creationId xmlns:a16="http://schemas.microsoft.com/office/drawing/2014/main" id="{61DF4E7E-DFFB-27F4-99EC-66D6DC127BC1}"/>
                                  </a:ext>
                                </a:extLst>
                              </p:cNvPr>
                              <p:cNvSpPr>
                                <a:spLocks noChangeShapeType="1"/>
                              </p:cNvSpPr>
                              <p:nvPr/>
                            </p:nvSpPr>
                            <p:spPr bwMode="auto">
                              <a:xfrm>
                                <a:off x="2823" y="3565"/>
                                <a:ext cx="1718" cy="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033" name="Line 741">
                                <a:extLst>
                                  <a:ext uri="{FF2B5EF4-FFF2-40B4-BE49-F238E27FC236}">
                                    <a16:creationId xmlns:a16="http://schemas.microsoft.com/office/drawing/2014/main" id="{1DE2B6F9-9B47-DF89-9729-4A941115017F}"/>
                                  </a:ext>
                                </a:extLst>
                              </p:cNvPr>
                              <p:cNvSpPr>
                                <a:spLocks noChangeShapeType="1"/>
                              </p:cNvSpPr>
                              <p:nvPr/>
                            </p:nvSpPr>
                            <p:spPr bwMode="auto">
                              <a:xfrm>
                                <a:off x="3432" y="3838"/>
                                <a:ext cx="1107" cy="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034" name="Line 742">
                                <a:extLst>
                                  <a:ext uri="{FF2B5EF4-FFF2-40B4-BE49-F238E27FC236}">
                                    <a16:creationId xmlns:a16="http://schemas.microsoft.com/office/drawing/2014/main" id="{6401448A-C369-2A00-4975-DC93A97426D1}"/>
                                  </a:ext>
                                </a:extLst>
                              </p:cNvPr>
                              <p:cNvSpPr>
                                <a:spLocks noChangeShapeType="1"/>
                              </p:cNvSpPr>
                              <p:nvPr/>
                            </p:nvSpPr>
                            <p:spPr bwMode="auto">
                              <a:xfrm flipV="1">
                                <a:off x="3823" y="4113"/>
                                <a:ext cx="716"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035" name="Line 743">
                                <a:extLst>
                                  <a:ext uri="{FF2B5EF4-FFF2-40B4-BE49-F238E27FC236}">
                                    <a16:creationId xmlns:a16="http://schemas.microsoft.com/office/drawing/2014/main" id="{3BCCF32F-6DAD-CA62-684B-F49153A0536E}"/>
                                  </a:ext>
                                </a:extLst>
                              </p:cNvPr>
                              <p:cNvSpPr>
                                <a:spLocks noChangeShapeType="1"/>
                              </p:cNvSpPr>
                              <p:nvPr/>
                            </p:nvSpPr>
                            <p:spPr bwMode="auto">
                              <a:xfrm>
                                <a:off x="4224" y="4377"/>
                                <a:ext cx="315" cy="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54013" name="Group 744">
                              <a:extLst>
                                <a:ext uri="{FF2B5EF4-FFF2-40B4-BE49-F238E27FC236}">
                                  <a16:creationId xmlns:a16="http://schemas.microsoft.com/office/drawing/2014/main" id="{71D1D96E-3B7C-F383-A153-12443874F6B3}"/>
                                </a:ext>
                              </a:extLst>
                            </p:cNvPr>
                            <p:cNvGrpSpPr>
                              <a:grpSpLocks/>
                            </p:cNvGrpSpPr>
                            <p:nvPr/>
                          </p:nvGrpSpPr>
                          <p:grpSpPr bwMode="auto">
                            <a:xfrm>
                              <a:off x="3027" y="3702"/>
                              <a:ext cx="1200" cy="944"/>
                              <a:chOff x="3027" y="3702"/>
                              <a:chExt cx="1200" cy="944"/>
                            </a:xfrm>
                          </p:grpSpPr>
                          <p:grpSp>
                            <p:nvGrpSpPr>
                              <p:cNvPr id="154014" name="Group 745">
                                <a:extLst>
                                  <a:ext uri="{FF2B5EF4-FFF2-40B4-BE49-F238E27FC236}">
                                    <a16:creationId xmlns:a16="http://schemas.microsoft.com/office/drawing/2014/main" id="{EEA5B616-DB1D-BBD7-E140-15F1EAE3E623}"/>
                                  </a:ext>
                                </a:extLst>
                              </p:cNvPr>
                              <p:cNvGrpSpPr>
                                <a:grpSpLocks/>
                              </p:cNvGrpSpPr>
                              <p:nvPr/>
                            </p:nvGrpSpPr>
                            <p:grpSpPr bwMode="auto">
                              <a:xfrm>
                                <a:off x="3027" y="3763"/>
                                <a:ext cx="1200" cy="883"/>
                                <a:chOff x="3042" y="2242"/>
                                <a:chExt cx="1200" cy="883"/>
                              </a:xfrm>
                            </p:grpSpPr>
                            <p:grpSp>
                              <p:nvGrpSpPr>
                                <p:cNvPr id="154024" name="Group 746">
                                  <a:extLst>
                                    <a:ext uri="{FF2B5EF4-FFF2-40B4-BE49-F238E27FC236}">
                                      <a16:creationId xmlns:a16="http://schemas.microsoft.com/office/drawing/2014/main" id="{8D7E7BD1-5446-AB4F-9D0A-C96C10C17794}"/>
                                    </a:ext>
                                  </a:extLst>
                                </p:cNvPr>
                                <p:cNvGrpSpPr>
                                  <a:grpSpLocks/>
                                </p:cNvGrpSpPr>
                                <p:nvPr/>
                              </p:nvGrpSpPr>
                              <p:grpSpPr bwMode="auto">
                                <a:xfrm>
                                  <a:off x="3042" y="2242"/>
                                  <a:ext cx="402" cy="840"/>
                                  <a:chOff x="3042" y="2242"/>
                                  <a:chExt cx="402" cy="840"/>
                                </a:xfrm>
                              </p:grpSpPr>
                              <p:sp>
                                <p:nvSpPr>
                                  <p:cNvPr id="154029" name="Text Box 747">
                                    <a:extLst>
                                      <a:ext uri="{FF2B5EF4-FFF2-40B4-BE49-F238E27FC236}">
                                        <a16:creationId xmlns:a16="http://schemas.microsoft.com/office/drawing/2014/main" id="{D163CD0B-B603-47CE-92EC-6D244FCD8AF4}"/>
                                      </a:ext>
                                    </a:extLst>
                                  </p:cNvPr>
                                  <p:cNvSpPr txBox="1">
                                    <a:spLocks noChangeArrowheads="1"/>
                                  </p:cNvSpPr>
                                  <p:nvPr/>
                                </p:nvSpPr>
                                <p:spPr bwMode="auto">
                                  <a:xfrm>
                                    <a:off x="3042" y="2242"/>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rPr>
                                      <a:t>6</a:t>
                                    </a:r>
                                  </a:p>
                                </p:txBody>
                              </p:sp>
                              <p:sp>
                                <p:nvSpPr>
                                  <p:cNvPr id="154030" name="Text Box 748">
                                    <a:extLst>
                                      <a:ext uri="{FF2B5EF4-FFF2-40B4-BE49-F238E27FC236}">
                                        <a16:creationId xmlns:a16="http://schemas.microsoft.com/office/drawing/2014/main" id="{AD556FE3-25EB-6244-47AE-F25DC72F0C1C}"/>
                                      </a:ext>
                                    </a:extLst>
                                  </p:cNvPr>
                                  <p:cNvSpPr txBox="1">
                                    <a:spLocks noChangeArrowheads="1"/>
                                  </p:cNvSpPr>
                                  <p:nvPr/>
                                </p:nvSpPr>
                                <p:spPr bwMode="auto">
                                  <a:xfrm>
                                    <a:off x="3042" y="2524"/>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rPr>
                                      <a:t>7</a:t>
                                    </a:r>
                                  </a:p>
                                </p:txBody>
                              </p:sp>
                              <p:sp>
                                <p:nvSpPr>
                                  <p:cNvPr id="154031" name="Text Box 749">
                                    <a:extLst>
                                      <a:ext uri="{FF2B5EF4-FFF2-40B4-BE49-F238E27FC236}">
                                        <a16:creationId xmlns:a16="http://schemas.microsoft.com/office/drawing/2014/main" id="{C8F7EB93-F1A5-AA7C-CB33-CCA7C3BA9556}"/>
                                      </a:ext>
                                    </a:extLst>
                                  </p:cNvPr>
                                  <p:cNvSpPr txBox="1">
                                    <a:spLocks noChangeArrowheads="1"/>
                                  </p:cNvSpPr>
                                  <p:nvPr/>
                                </p:nvSpPr>
                                <p:spPr bwMode="auto">
                                  <a:xfrm>
                                    <a:off x="3042" y="2773"/>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rPr>
                                      <a:t>8</a:t>
                                    </a:r>
                                  </a:p>
                                </p:txBody>
                              </p:sp>
                            </p:grpSp>
                            <p:grpSp>
                              <p:nvGrpSpPr>
                                <p:cNvPr id="154025" name="Group 750">
                                  <a:extLst>
                                    <a:ext uri="{FF2B5EF4-FFF2-40B4-BE49-F238E27FC236}">
                                      <a16:creationId xmlns:a16="http://schemas.microsoft.com/office/drawing/2014/main" id="{F25BA9D5-736F-C1C4-871A-890850B89AAA}"/>
                                    </a:ext>
                                  </a:extLst>
                                </p:cNvPr>
                                <p:cNvGrpSpPr>
                                  <a:grpSpLocks/>
                                </p:cNvGrpSpPr>
                                <p:nvPr/>
                              </p:nvGrpSpPr>
                              <p:grpSpPr bwMode="auto">
                                <a:xfrm>
                                  <a:off x="3432" y="2527"/>
                                  <a:ext cx="402" cy="564"/>
                                  <a:chOff x="3432" y="2527"/>
                                  <a:chExt cx="402" cy="564"/>
                                </a:xfrm>
                              </p:grpSpPr>
                              <p:sp>
                                <p:nvSpPr>
                                  <p:cNvPr id="154027" name="Text Box 751">
                                    <a:extLst>
                                      <a:ext uri="{FF2B5EF4-FFF2-40B4-BE49-F238E27FC236}">
                                        <a16:creationId xmlns:a16="http://schemas.microsoft.com/office/drawing/2014/main" id="{CCE90802-CF2C-4FB8-CB13-0D46EF159989}"/>
                                      </a:ext>
                                    </a:extLst>
                                  </p:cNvPr>
                                  <p:cNvSpPr txBox="1">
                                    <a:spLocks noChangeArrowheads="1"/>
                                  </p:cNvSpPr>
                                  <p:nvPr/>
                                </p:nvSpPr>
                                <p:spPr bwMode="auto">
                                  <a:xfrm>
                                    <a:off x="3432" y="2527"/>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rPr>
                                      <a:t>3</a:t>
                                    </a:r>
                                  </a:p>
                                </p:txBody>
                              </p:sp>
                              <p:sp>
                                <p:nvSpPr>
                                  <p:cNvPr id="154028" name="Text Box 752">
                                    <a:extLst>
                                      <a:ext uri="{FF2B5EF4-FFF2-40B4-BE49-F238E27FC236}">
                                        <a16:creationId xmlns:a16="http://schemas.microsoft.com/office/drawing/2014/main" id="{D7983964-2502-FC51-C248-B9BA06AE5621}"/>
                                      </a:ext>
                                    </a:extLst>
                                  </p:cNvPr>
                                  <p:cNvSpPr txBox="1">
                                    <a:spLocks noChangeArrowheads="1"/>
                                  </p:cNvSpPr>
                                  <p:nvPr/>
                                </p:nvSpPr>
                                <p:spPr bwMode="auto">
                                  <a:xfrm>
                                    <a:off x="3432" y="2782"/>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rPr>
                                      <a:t>4</a:t>
                                    </a:r>
                                  </a:p>
                                </p:txBody>
                              </p:sp>
                            </p:grpSp>
                            <p:sp>
                              <p:nvSpPr>
                                <p:cNvPr id="154026" name="Text Box 753">
                                  <a:extLst>
                                    <a:ext uri="{FF2B5EF4-FFF2-40B4-BE49-F238E27FC236}">
                                      <a16:creationId xmlns:a16="http://schemas.microsoft.com/office/drawing/2014/main" id="{92CBB6FE-505A-DFAE-0F93-13B131B280B9}"/>
                                    </a:ext>
                                  </a:extLst>
                                </p:cNvPr>
                                <p:cNvSpPr txBox="1">
                                  <a:spLocks noChangeArrowheads="1"/>
                                </p:cNvSpPr>
                                <p:nvPr/>
                              </p:nvSpPr>
                              <p:spPr bwMode="auto">
                                <a:xfrm>
                                  <a:off x="3840" y="2816"/>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72000"/>
                                    </a:lnSpc>
                                  </a:pPr>
                                  <a:r>
                                    <a:rPr lang="en-US" altLang="zh-CN" sz="2000" i="1" baseline="30000">
                                      <a:solidFill>
                                        <a:schemeClr val="tx1"/>
                                      </a:solidFill>
                                      <a:latin typeface="Arial" panose="020B0604020202020204" pitchFamily="34" charset="0"/>
                                      <a:ea typeface="微软雅黑" panose="020B0503020204020204" pitchFamily="34" charset="-122"/>
                                      <a:cs typeface="Arial" panose="020B0604020202020204" pitchFamily="34" charset="0"/>
                                    </a:rPr>
                                    <a:t>x</a:t>
                                  </a:r>
                                  <a:endParaRPr lang="en-US" altLang="zh-CN" sz="20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54015" name="Group 754">
                                <a:extLst>
                                  <a:ext uri="{FF2B5EF4-FFF2-40B4-BE49-F238E27FC236}">
                                    <a16:creationId xmlns:a16="http://schemas.microsoft.com/office/drawing/2014/main" id="{664BC7D0-B001-B2CC-CD16-2B8E8592007B}"/>
                                  </a:ext>
                                </a:extLst>
                              </p:cNvPr>
                              <p:cNvGrpSpPr>
                                <a:grpSpLocks/>
                              </p:cNvGrpSpPr>
                              <p:nvPr/>
                            </p:nvGrpSpPr>
                            <p:grpSpPr bwMode="auto">
                              <a:xfrm>
                                <a:off x="3037" y="3702"/>
                                <a:ext cx="1189" cy="881"/>
                                <a:chOff x="2769" y="9030"/>
                                <a:chExt cx="1743" cy="1490"/>
                              </a:xfrm>
                            </p:grpSpPr>
                            <p:sp>
                              <p:nvSpPr>
                                <p:cNvPr id="154016" name="Line 755">
                                  <a:extLst>
                                    <a:ext uri="{FF2B5EF4-FFF2-40B4-BE49-F238E27FC236}">
                                      <a16:creationId xmlns:a16="http://schemas.microsoft.com/office/drawing/2014/main" id="{70E75EEA-467F-2553-22E2-D8A1A75B87D8}"/>
                                    </a:ext>
                                  </a:extLst>
                                </p:cNvPr>
                                <p:cNvSpPr>
                                  <a:spLocks noChangeShapeType="1"/>
                                </p:cNvSpPr>
                                <p:nvPr/>
                              </p:nvSpPr>
                              <p:spPr bwMode="auto">
                                <a:xfrm flipV="1">
                                  <a:off x="2769" y="9030"/>
                                  <a:ext cx="12" cy="138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017" name="Line 756">
                                  <a:extLst>
                                    <a:ext uri="{FF2B5EF4-FFF2-40B4-BE49-F238E27FC236}">
                                      <a16:creationId xmlns:a16="http://schemas.microsoft.com/office/drawing/2014/main" id="{5C92604A-35B4-DAF0-BDD3-7C4563547755}"/>
                                    </a:ext>
                                  </a:extLst>
                                </p:cNvPr>
                                <p:cNvSpPr>
                                  <a:spLocks noChangeShapeType="1"/>
                                </p:cNvSpPr>
                                <p:nvPr/>
                              </p:nvSpPr>
                              <p:spPr bwMode="auto">
                                <a:xfrm>
                                  <a:off x="2781" y="10511"/>
                                  <a:ext cx="1719" cy="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018" name="Line 757">
                                  <a:extLst>
                                    <a:ext uri="{FF2B5EF4-FFF2-40B4-BE49-F238E27FC236}">
                                      <a16:creationId xmlns:a16="http://schemas.microsoft.com/office/drawing/2014/main" id="{C17DB0F0-41CB-42A5-7CF6-E6BE07A898F1}"/>
                                    </a:ext>
                                  </a:extLst>
                                </p:cNvPr>
                                <p:cNvSpPr>
                                  <a:spLocks noChangeShapeType="1"/>
                                </p:cNvSpPr>
                                <p:nvPr/>
                              </p:nvSpPr>
                              <p:spPr bwMode="auto">
                                <a:xfrm>
                                  <a:off x="2781" y="9942"/>
                                  <a:ext cx="1719" cy="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019" name="Line 758">
                                  <a:extLst>
                                    <a:ext uri="{FF2B5EF4-FFF2-40B4-BE49-F238E27FC236}">
                                      <a16:creationId xmlns:a16="http://schemas.microsoft.com/office/drawing/2014/main" id="{9CC316F0-2DCB-DA74-474C-6519B449E5C7}"/>
                                    </a:ext>
                                  </a:extLst>
                                </p:cNvPr>
                                <p:cNvSpPr>
                                  <a:spLocks noChangeShapeType="1"/>
                                </p:cNvSpPr>
                                <p:nvPr/>
                              </p:nvSpPr>
                              <p:spPr bwMode="auto">
                                <a:xfrm>
                                  <a:off x="2790" y="9492"/>
                                  <a:ext cx="112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020" name="Line 759">
                                  <a:extLst>
                                    <a:ext uri="{FF2B5EF4-FFF2-40B4-BE49-F238E27FC236}">
                                      <a16:creationId xmlns:a16="http://schemas.microsoft.com/office/drawing/2014/main" id="{270C26BF-998C-AED0-E130-65CD4639FA30}"/>
                                    </a:ext>
                                  </a:extLst>
                                </p:cNvPr>
                                <p:cNvSpPr>
                                  <a:spLocks noChangeShapeType="1"/>
                                </p:cNvSpPr>
                                <p:nvPr/>
                              </p:nvSpPr>
                              <p:spPr bwMode="auto">
                                <a:xfrm>
                                  <a:off x="2781" y="9033"/>
                                  <a:ext cx="56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021" name="Line 760">
                                  <a:extLst>
                                    <a:ext uri="{FF2B5EF4-FFF2-40B4-BE49-F238E27FC236}">
                                      <a16:creationId xmlns:a16="http://schemas.microsoft.com/office/drawing/2014/main" id="{2CEC89AE-0EF3-A11B-57A8-1340257A808B}"/>
                                    </a:ext>
                                  </a:extLst>
                                </p:cNvPr>
                                <p:cNvSpPr>
                                  <a:spLocks noChangeShapeType="1"/>
                                </p:cNvSpPr>
                                <p:nvPr/>
                              </p:nvSpPr>
                              <p:spPr bwMode="auto">
                                <a:xfrm flipV="1">
                                  <a:off x="3330" y="9039"/>
                                  <a:ext cx="12" cy="138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022" name="Line 761">
                                  <a:extLst>
                                    <a:ext uri="{FF2B5EF4-FFF2-40B4-BE49-F238E27FC236}">
                                      <a16:creationId xmlns:a16="http://schemas.microsoft.com/office/drawing/2014/main" id="{3962D979-654E-C6F3-1ED8-2AE18BB30B74}"/>
                                    </a:ext>
                                  </a:extLst>
                                </p:cNvPr>
                                <p:cNvSpPr>
                                  <a:spLocks noChangeShapeType="1"/>
                                </p:cNvSpPr>
                                <p:nvPr/>
                              </p:nvSpPr>
                              <p:spPr bwMode="auto">
                                <a:xfrm flipV="1">
                                  <a:off x="3921" y="9489"/>
                                  <a:ext cx="12" cy="90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023" name="Line 762">
                                  <a:extLst>
                                    <a:ext uri="{FF2B5EF4-FFF2-40B4-BE49-F238E27FC236}">
                                      <a16:creationId xmlns:a16="http://schemas.microsoft.com/office/drawing/2014/main" id="{A245B767-0D7D-0C4C-9D9D-470ACDFBC235}"/>
                                    </a:ext>
                                  </a:extLst>
                                </p:cNvPr>
                                <p:cNvSpPr>
                                  <a:spLocks noChangeShapeType="1"/>
                                </p:cNvSpPr>
                                <p:nvPr/>
                              </p:nvSpPr>
                              <p:spPr bwMode="auto">
                                <a:xfrm flipV="1">
                                  <a:off x="4500" y="9939"/>
                                  <a:ext cx="12" cy="48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grpSp>
                        <p:nvGrpSpPr>
                          <p:cNvPr id="153972" name="Group 763">
                            <a:extLst>
                              <a:ext uri="{FF2B5EF4-FFF2-40B4-BE49-F238E27FC236}">
                                <a16:creationId xmlns:a16="http://schemas.microsoft.com/office/drawing/2014/main" id="{95947045-614D-E34D-A29E-6590F706A8D8}"/>
                              </a:ext>
                            </a:extLst>
                          </p:cNvPr>
                          <p:cNvGrpSpPr>
                            <a:grpSpLocks/>
                          </p:cNvGrpSpPr>
                          <p:nvPr/>
                        </p:nvGrpSpPr>
                        <p:grpSpPr bwMode="auto">
                          <a:xfrm>
                            <a:off x="4537" y="3569"/>
                            <a:ext cx="998" cy="805"/>
                            <a:chOff x="4537" y="3569"/>
                            <a:chExt cx="998" cy="805"/>
                          </a:xfrm>
                        </p:grpSpPr>
                        <p:grpSp>
                          <p:nvGrpSpPr>
                            <p:cNvPr id="153997" name="Group 764">
                              <a:extLst>
                                <a:ext uri="{FF2B5EF4-FFF2-40B4-BE49-F238E27FC236}">
                                  <a16:creationId xmlns:a16="http://schemas.microsoft.com/office/drawing/2014/main" id="{74B83F7C-CA8A-BCEB-33E0-9CAFF35D5E3C}"/>
                                </a:ext>
                              </a:extLst>
                            </p:cNvPr>
                            <p:cNvGrpSpPr>
                              <a:grpSpLocks/>
                            </p:cNvGrpSpPr>
                            <p:nvPr/>
                          </p:nvGrpSpPr>
                          <p:grpSpPr bwMode="auto">
                            <a:xfrm>
                              <a:off x="4537" y="3569"/>
                              <a:ext cx="560" cy="805"/>
                              <a:chOff x="5025" y="2541"/>
                              <a:chExt cx="705" cy="1164"/>
                            </a:xfrm>
                          </p:grpSpPr>
                          <p:grpSp>
                            <p:nvGrpSpPr>
                              <p:cNvPr id="153999" name="Group 765">
                                <a:extLst>
                                  <a:ext uri="{FF2B5EF4-FFF2-40B4-BE49-F238E27FC236}">
                                    <a16:creationId xmlns:a16="http://schemas.microsoft.com/office/drawing/2014/main" id="{5016C0E8-27FD-B8DB-6ADA-007CA7A212F3}"/>
                                  </a:ext>
                                </a:extLst>
                              </p:cNvPr>
                              <p:cNvGrpSpPr>
                                <a:grpSpLocks/>
                              </p:cNvGrpSpPr>
                              <p:nvPr/>
                            </p:nvGrpSpPr>
                            <p:grpSpPr bwMode="auto">
                              <a:xfrm>
                                <a:off x="5025" y="2541"/>
                                <a:ext cx="390" cy="1164"/>
                                <a:chOff x="5025" y="2541"/>
                                <a:chExt cx="390" cy="1164"/>
                              </a:xfrm>
                            </p:grpSpPr>
                            <p:grpSp>
                              <p:nvGrpSpPr>
                                <p:cNvPr id="154003" name="Group 766">
                                  <a:extLst>
                                    <a:ext uri="{FF2B5EF4-FFF2-40B4-BE49-F238E27FC236}">
                                      <a16:creationId xmlns:a16="http://schemas.microsoft.com/office/drawing/2014/main" id="{45A191B5-C797-A99B-34E3-54C22D9C24C0}"/>
                                    </a:ext>
                                  </a:extLst>
                                </p:cNvPr>
                                <p:cNvGrpSpPr>
                                  <a:grpSpLocks/>
                                </p:cNvGrpSpPr>
                                <p:nvPr/>
                              </p:nvGrpSpPr>
                              <p:grpSpPr bwMode="auto">
                                <a:xfrm>
                                  <a:off x="5190" y="2775"/>
                                  <a:ext cx="225" cy="720"/>
                                  <a:chOff x="5190" y="2775"/>
                                  <a:chExt cx="225" cy="720"/>
                                </a:xfrm>
                              </p:grpSpPr>
                              <p:sp>
                                <p:nvSpPr>
                                  <p:cNvPr id="154008" name="Oval 767">
                                    <a:extLst>
                                      <a:ext uri="{FF2B5EF4-FFF2-40B4-BE49-F238E27FC236}">
                                        <a16:creationId xmlns:a16="http://schemas.microsoft.com/office/drawing/2014/main" id="{5887B7D4-2F0B-37A0-7B7D-C9C8DAA764B7}"/>
                                      </a:ext>
                                    </a:extLst>
                                  </p:cNvPr>
                                  <p:cNvSpPr>
                                    <a:spLocks noChangeArrowheads="1"/>
                                  </p:cNvSpPr>
                                  <p:nvPr/>
                                </p:nvSpPr>
                                <p:spPr bwMode="auto">
                                  <a:xfrm>
                                    <a:off x="5190" y="297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009" name="Oval 768">
                                    <a:extLst>
                                      <a:ext uri="{FF2B5EF4-FFF2-40B4-BE49-F238E27FC236}">
                                        <a16:creationId xmlns:a16="http://schemas.microsoft.com/office/drawing/2014/main" id="{975F8E17-7D59-0B18-18B4-B358B68AA0B3}"/>
                                      </a:ext>
                                    </a:extLst>
                                  </p:cNvPr>
                                  <p:cNvSpPr>
                                    <a:spLocks noChangeArrowheads="1"/>
                                  </p:cNvSpPr>
                                  <p:nvPr/>
                                </p:nvSpPr>
                                <p:spPr bwMode="auto">
                                  <a:xfrm>
                                    <a:off x="5190" y="319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010" name="Oval 769">
                                    <a:extLst>
                                      <a:ext uri="{FF2B5EF4-FFF2-40B4-BE49-F238E27FC236}">
                                        <a16:creationId xmlns:a16="http://schemas.microsoft.com/office/drawing/2014/main" id="{68BAA427-0B8A-E4FC-7981-63BE370FB16D}"/>
                                      </a:ext>
                                    </a:extLst>
                                  </p:cNvPr>
                                  <p:cNvSpPr>
                                    <a:spLocks noChangeArrowheads="1"/>
                                  </p:cNvSpPr>
                                  <p:nvPr/>
                                </p:nvSpPr>
                                <p:spPr bwMode="auto">
                                  <a:xfrm>
                                    <a:off x="5295" y="277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011" name="Oval 770">
                                    <a:extLst>
                                      <a:ext uri="{FF2B5EF4-FFF2-40B4-BE49-F238E27FC236}">
                                        <a16:creationId xmlns:a16="http://schemas.microsoft.com/office/drawing/2014/main" id="{9E7BD0A0-2B2A-3C0A-94A7-A41AF32E2B80}"/>
                                      </a:ext>
                                    </a:extLst>
                                  </p:cNvPr>
                                  <p:cNvSpPr>
                                    <a:spLocks noChangeArrowheads="1"/>
                                  </p:cNvSpPr>
                                  <p:nvPr/>
                                </p:nvSpPr>
                                <p:spPr bwMode="auto">
                                  <a:xfrm>
                                    <a:off x="5310" y="339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154004" name="Line 771">
                                  <a:extLst>
                                    <a:ext uri="{FF2B5EF4-FFF2-40B4-BE49-F238E27FC236}">
                                      <a16:creationId xmlns:a16="http://schemas.microsoft.com/office/drawing/2014/main" id="{8E55C762-099E-38B0-A599-7786F3FE4ACA}"/>
                                    </a:ext>
                                  </a:extLst>
                                </p:cNvPr>
                                <p:cNvSpPr>
                                  <a:spLocks noChangeShapeType="1"/>
                                </p:cNvSpPr>
                                <p:nvPr/>
                              </p:nvSpPr>
                              <p:spPr bwMode="auto">
                                <a:xfrm>
                                  <a:off x="5028" y="2541"/>
                                  <a:ext cx="267" cy="24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005" name="Line 772">
                                  <a:extLst>
                                    <a:ext uri="{FF2B5EF4-FFF2-40B4-BE49-F238E27FC236}">
                                      <a16:creationId xmlns:a16="http://schemas.microsoft.com/office/drawing/2014/main" id="{EB9E4287-DC42-C5BB-4617-316219542330}"/>
                                    </a:ext>
                                  </a:extLst>
                                </p:cNvPr>
                                <p:cNvSpPr>
                                  <a:spLocks noChangeShapeType="1"/>
                                </p:cNvSpPr>
                                <p:nvPr/>
                              </p:nvSpPr>
                              <p:spPr bwMode="auto">
                                <a:xfrm>
                                  <a:off x="5025" y="2937"/>
                                  <a:ext cx="165" cy="6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006" name="Line 773">
                                  <a:extLst>
                                    <a:ext uri="{FF2B5EF4-FFF2-40B4-BE49-F238E27FC236}">
                                      <a16:creationId xmlns:a16="http://schemas.microsoft.com/office/drawing/2014/main" id="{A6776FBD-D4B8-A2C3-9A03-9887DB72678C}"/>
                                    </a:ext>
                                  </a:extLst>
                                </p:cNvPr>
                                <p:cNvSpPr>
                                  <a:spLocks noChangeShapeType="1"/>
                                </p:cNvSpPr>
                                <p:nvPr/>
                              </p:nvSpPr>
                              <p:spPr bwMode="auto">
                                <a:xfrm flipV="1">
                                  <a:off x="5025" y="3255"/>
                                  <a:ext cx="168" cy="7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007" name="Line 774">
                                  <a:extLst>
                                    <a:ext uri="{FF2B5EF4-FFF2-40B4-BE49-F238E27FC236}">
                                      <a16:creationId xmlns:a16="http://schemas.microsoft.com/office/drawing/2014/main" id="{0807C199-B2EE-2616-E16E-AF0826BA7F10}"/>
                                    </a:ext>
                                  </a:extLst>
                                </p:cNvPr>
                                <p:cNvSpPr>
                                  <a:spLocks noChangeShapeType="1"/>
                                </p:cNvSpPr>
                                <p:nvPr/>
                              </p:nvSpPr>
                              <p:spPr bwMode="auto">
                                <a:xfrm flipV="1">
                                  <a:off x="5028" y="3480"/>
                                  <a:ext cx="285" cy="2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54000" name="Group 775">
                                <a:extLst>
                                  <a:ext uri="{FF2B5EF4-FFF2-40B4-BE49-F238E27FC236}">
                                    <a16:creationId xmlns:a16="http://schemas.microsoft.com/office/drawing/2014/main" id="{0B5DA844-6E1D-08AC-DFC9-A73AB4FD2558}"/>
                                  </a:ext>
                                </a:extLst>
                              </p:cNvPr>
                              <p:cNvGrpSpPr>
                                <a:grpSpLocks/>
                              </p:cNvGrpSpPr>
                              <p:nvPr/>
                            </p:nvGrpSpPr>
                            <p:grpSpPr bwMode="auto">
                              <a:xfrm>
                                <a:off x="5430" y="2889"/>
                                <a:ext cx="300" cy="300"/>
                                <a:chOff x="5430" y="2889"/>
                                <a:chExt cx="300" cy="300"/>
                              </a:xfrm>
                            </p:grpSpPr>
                            <p:sp>
                              <p:nvSpPr>
                                <p:cNvPr id="154001" name="Oval 776">
                                  <a:extLst>
                                    <a:ext uri="{FF2B5EF4-FFF2-40B4-BE49-F238E27FC236}">
                                      <a16:creationId xmlns:a16="http://schemas.microsoft.com/office/drawing/2014/main" id="{ACA3ADBE-83AD-26B1-978A-168B57FCE63E}"/>
                                    </a:ext>
                                  </a:extLst>
                                </p:cNvPr>
                                <p:cNvSpPr>
                                  <a:spLocks noChangeArrowheads="1"/>
                                </p:cNvSpPr>
                                <p:nvPr/>
                              </p:nvSpPr>
                              <p:spPr bwMode="auto">
                                <a:xfrm>
                                  <a:off x="5625" y="3084"/>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4002" name="Line 777">
                                  <a:extLst>
                                    <a:ext uri="{FF2B5EF4-FFF2-40B4-BE49-F238E27FC236}">
                                      <a16:creationId xmlns:a16="http://schemas.microsoft.com/office/drawing/2014/main" id="{ABEF3034-9760-1B63-1CBA-A7FE9A060542}"/>
                                    </a:ext>
                                  </a:extLst>
                                </p:cNvPr>
                                <p:cNvSpPr>
                                  <a:spLocks noChangeShapeType="1"/>
                                </p:cNvSpPr>
                                <p:nvPr/>
                              </p:nvSpPr>
                              <p:spPr bwMode="auto">
                                <a:xfrm flipH="1" flipV="1">
                                  <a:off x="5430" y="2889"/>
                                  <a:ext cx="219" cy="20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53998" name="Line 778">
                              <a:extLst>
                                <a:ext uri="{FF2B5EF4-FFF2-40B4-BE49-F238E27FC236}">
                                  <a16:creationId xmlns:a16="http://schemas.microsoft.com/office/drawing/2014/main" id="{3EA8754D-295D-F5C6-1158-C4D3D50832C2}"/>
                                </a:ext>
                              </a:extLst>
                            </p:cNvPr>
                            <p:cNvSpPr>
                              <a:spLocks noChangeShapeType="1"/>
                            </p:cNvSpPr>
                            <p:nvPr/>
                          </p:nvSpPr>
                          <p:spPr bwMode="auto">
                            <a:xfrm>
                              <a:off x="5106" y="3981"/>
                              <a:ext cx="429"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53973" name="Group 779">
                            <a:extLst>
                              <a:ext uri="{FF2B5EF4-FFF2-40B4-BE49-F238E27FC236}">
                                <a16:creationId xmlns:a16="http://schemas.microsoft.com/office/drawing/2014/main" id="{D313742B-53EA-527A-970E-26B260BE495E}"/>
                              </a:ext>
                            </a:extLst>
                          </p:cNvPr>
                          <p:cNvGrpSpPr>
                            <a:grpSpLocks/>
                          </p:cNvGrpSpPr>
                          <p:nvPr/>
                        </p:nvGrpSpPr>
                        <p:grpSpPr bwMode="auto">
                          <a:xfrm>
                            <a:off x="1836" y="3423"/>
                            <a:ext cx="1215" cy="987"/>
                            <a:chOff x="1836" y="3423"/>
                            <a:chExt cx="1215" cy="987"/>
                          </a:xfrm>
                        </p:grpSpPr>
                        <p:sp>
                          <p:nvSpPr>
                            <p:cNvPr id="153974" name="Line 780">
                              <a:extLst>
                                <a:ext uri="{FF2B5EF4-FFF2-40B4-BE49-F238E27FC236}">
                                  <a16:creationId xmlns:a16="http://schemas.microsoft.com/office/drawing/2014/main" id="{7DBE8B95-E61C-87A6-C328-80AB8050FE3E}"/>
                                </a:ext>
                              </a:extLst>
                            </p:cNvPr>
                            <p:cNvSpPr>
                              <a:spLocks noChangeShapeType="1"/>
                            </p:cNvSpPr>
                            <p:nvPr/>
                          </p:nvSpPr>
                          <p:spPr bwMode="auto">
                            <a:xfrm>
                              <a:off x="2805" y="3833"/>
                              <a:ext cx="239" cy="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975" name="Line 781">
                              <a:extLst>
                                <a:ext uri="{FF2B5EF4-FFF2-40B4-BE49-F238E27FC236}">
                                  <a16:creationId xmlns:a16="http://schemas.microsoft.com/office/drawing/2014/main" id="{C31B627E-2456-D35F-DF36-4776D4E34FBF}"/>
                                </a:ext>
                              </a:extLst>
                            </p:cNvPr>
                            <p:cNvSpPr>
                              <a:spLocks noChangeShapeType="1"/>
                            </p:cNvSpPr>
                            <p:nvPr/>
                          </p:nvSpPr>
                          <p:spPr bwMode="auto">
                            <a:xfrm>
                              <a:off x="2812" y="4124"/>
                              <a:ext cx="239"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976" name="Line 782">
                              <a:extLst>
                                <a:ext uri="{FF2B5EF4-FFF2-40B4-BE49-F238E27FC236}">
                                  <a16:creationId xmlns:a16="http://schemas.microsoft.com/office/drawing/2014/main" id="{2E99B728-991B-4A60-F577-04CCB441D59F}"/>
                                </a:ext>
                              </a:extLst>
                            </p:cNvPr>
                            <p:cNvSpPr>
                              <a:spLocks noChangeShapeType="1"/>
                            </p:cNvSpPr>
                            <p:nvPr/>
                          </p:nvSpPr>
                          <p:spPr bwMode="auto">
                            <a:xfrm>
                              <a:off x="2812" y="4377"/>
                              <a:ext cx="239" cy="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53977" name="Group 783">
                              <a:extLst>
                                <a:ext uri="{FF2B5EF4-FFF2-40B4-BE49-F238E27FC236}">
                                  <a16:creationId xmlns:a16="http://schemas.microsoft.com/office/drawing/2014/main" id="{4E23F508-57E7-3470-A47E-ED2DB0A209E0}"/>
                                </a:ext>
                              </a:extLst>
                            </p:cNvPr>
                            <p:cNvGrpSpPr>
                              <a:grpSpLocks/>
                            </p:cNvGrpSpPr>
                            <p:nvPr/>
                          </p:nvGrpSpPr>
                          <p:grpSpPr bwMode="auto">
                            <a:xfrm>
                              <a:off x="2271" y="3561"/>
                              <a:ext cx="560" cy="818"/>
                              <a:chOff x="2175" y="2529"/>
                              <a:chExt cx="705" cy="1182"/>
                            </a:xfrm>
                          </p:grpSpPr>
                          <p:grpSp>
                            <p:nvGrpSpPr>
                              <p:cNvPr id="153984" name="Group 784">
                                <a:extLst>
                                  <a:ext uri="{FF2B5EF4-FFF2-40B4-BE49-F238E27FC236}">
                                    <a16:creationId xmlns:a16="http://schemas.microsoft.com/office/drawing/2014/main" id="{056B9256-A320-A88C-04E1-0712F76974D6}"/>
                                  </a:ext>
                                </a:extLst>
                              </p:cNvPr>
                              <p:cNvGrpSpPr>
                                <a:grpSpLocks/>
                              </p:cNvGrpSpPr>
                              <p:nvPr/>
                            </p:nvGrpSpPr>
                            <p:grpSpPr bwMode="auto">
                              <a:xfrm>
                                <a:off x="2415" y="2529"/>
                                <a:ext cx="465" cy="1182"/>
                                <a:chOff x="2415" y="2529"/>
                                <a:chExt cx="465" cy="1182"/>
                              </a:xfrm>
                            </p:grpSpPr>
                            <p:sp>
                              <p:nvSpPr>
                                <p:cNvPr id="153988" name="Line 785">
                                  <a:extLst>
                                    <a:ext uri="{FF2B5EF4-FFF2-40B4-BE49-F238E27FC236}">
                                      <a16:creationId xmlns:a16="http://schemas.microsoft.com/office/drawing/2014/main" id="{48A24FD1-7F68-67C9-51E7-C9D2D5356451}"/>
                                    </a:ext>
                                  </a:extLst>
                                </p:cNvPr>
                                <p:cNvSpPr>
                                  <a:spLocks noChangeShapeType="1"/>
                                </p:cNvSpPr>
                                <p:nvPr/>
                              </p:nvSpPr>
                              <p:spPr bwMode="auto">
                                <a:xfrm flipV="1">
                                  <a:off x="2643" y="2919"/>
                                  <a:ext cx="222" cy="6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53989" name="Group 786">
                                  <a:extLst>
                                    <a:ext uri="{FF2B5EF4-FFF2-40B4-BE49-F238E27FC236}">
                                      <a16:creationId xmlns:a16="http://schemas.microsoft.com/office/drawing/2014/main" id="{27920E5A-79E9-E7AB-786F-48F8B2995C97}"/>
                                    </a:ext>
                                  </a:extLst>
                                </p:cNvPr>
                                <p:cNvGrpSpPr>
                                  <a:grpSpLocks/>
                                </p:cNvGrpSpPr>
                                <p:nvPr/>
                              </p:nvGrpSpPr>
                              <p:grpSpPr bwMode="auto">
                                <a:xfrm flipH="1">
                                  <a:off x="2415" y="2745"/>
                                  <a:ext cx="225" cy="720"/>
                                  <a:chOff x="5190" y="2775"/>
                                  <a:chExt cx="225" cy="720"/>
                                </a:xfrm>
                              </p:grpSpPr>
                              <p:sp>
                                <p:nvSpPr>
                                  <p:cNvPr id="153993" name="Oval 787">
                                    <a:extLst>
                                      <a:ext uri="{FF2B5EF4-FFF2-40B4-BE49-F238E27FC236}">
                                        <a16:creationId xmlns:a16="http://schemas.microsoft.com/office/drawing/2014/main" id="{F8BC9F61-1A40-D099-2591-4FF4537A006B}"/>
                                      </a:ext>
                                    </a:extLst>
                                  </p:cNvPr>
                                  <p:cNvSpPr>
                                    <a:spLocks noChangeArrowheads="1"/>
                                  </p:cNvSpPr>
                                  <p:nvPr/>
                                </p:nvSpPr>
                                <p:spPr bwMode="auto">
                                  <a:xfrm>
                                    <a:off x="5190" y="297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994" name="Oval 788">
                                    <a:extLst>
                                      <a:ext uri="{FF2B5EF4-FFF2-40B4-BE49-F238E27FC236}">
                                        <a16:creationId xmlns:a16="http://schemas.microsoft.com/office/drawing/2014/main" id="{67A7DE93-95A7-EDAA-1E86-E418F1C0BF6C}"/>
                                      </a:ext>
                                    </a:extLst>
                                  </p:cNvPr>
                                  <p:cNvSpPr>
                                    <a:spLocks noChangeArrowheads="1"/>
                                  </p:cNvSpPr>
                                  <p:nvPr/>
                                </p:nvSpPr>
                                <p:spPr bwMode="auto">
                                  <a:xfrm>
                                    <a:off x="5190" y="319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995" name="Oval 789">
                                    <a:extLst>
                                      <a:ext uri="{FF2B5EF4-FFF2-40B4-BE49-F238E27FC236}">
                                        <a16:creationId xmlns:a16="http://schemas.microsoft.com/office/drawing/2014/main" id="{E8836070-E9DE-D189-EBF6-27FB24F774D7}"/>
                                      </a:ext>
                                    </a:extLst>
                                  </p:cNvPr>
                                  <p:cNvSpPr>
                                    <a:spLocks noChangeArrowheads="1"/>
                                  </p:cNvSpPr>
                                  <p:nvPr/>
                                </p:nvSpPr>
                                <p:spPr bwMode="auto">
                                  <a:xfrm>
                                    <a:off x="5295" y="277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996" name="Oval 790">
                                    <a:extLst>
                                      <a:ext uri="{FF2B5EF4-FFF2-40B4-BE49-F238E27FC236}">
                                        <a16:creationId xmlns:a16="http://schemas.microsoft.com/office/drawing/2014/main" id="{43B7083C-CEBC-056D-8915-30585495B0A6}"/>
                                      </a:ext>
                                    </a:extLst>
                                  </p:cNvPr>
                                  <p:cNvSpPr>
                                    <a:spLocks noChangeArrowheads="1"/>
                                  </p:cNvSpPr>
                                  <p:nvPr/>
                                </p:nvSpPr>
                                <p:spPr bwMode="auto">
                                  <a:xfrm>
                                    <a:off x="5310" y="339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153990" name="Line 791">
                                  <a:extLst>
                                    <a:ext uri="{FF2B5EF4-FFF2-40B4-BE49-F238E27FC236}">
                                      <a16:creationId xmlns:a16="http://schemas.microsoft.com/office/drawing/2014/main" id="{8CE22C5D-62F1-1EE4-83AC-A60933D3B292}"/>
                                    </a:ext>
                                  </a:extLst>
                                </p:cNvPr>
                                <p:cNvSpPr>
                                  <a:spLocks noChangeShapeType="1"/>
                                </p:cNvSpPr>
                                <p:nvPr/>
                              </p:nvSpPr>
                              <p:spPr bwMode="auto">
                                <a:xfrm>
                                  <a:off x="2628" y="3252"/>
                                  <a:ext cx="231" cy="9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991" name="Line 792">
                                  <a:extLst>
                                    <a:ext uri="{FF2B5EF4-FFF2-40B4-BE49-F238E27FC236}">
                                      <a16:creationId xmlns:a16="http://schemas.microsoft.com/office/drawing/2014/main" id="{84B63058-6165-7D65-4E78-F0EE2716B4B1}"/>
                                    </a:ext>
                                  </a:extLst>
                                </p:cNvPr>
                                <p:cNvSpPr>
                                  <a:spLocks noChangeShapeType="1"/>
                                </p:cNvSpPr>
                                <p:nvPr/>
                              </p:nvSpPr>
                              <p:spPr bwMode="auto">
                                <a:xfrm flipV="1">
                                  <a:off x="2520" y="2529"/>
                                  <a:ext cx="360" cy="23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992" name="Line 793">
                                  <a:extLst>
                                    <a:ext uri="{FF2B5EF4-FFF2-40B4-BE49-F238E27FC236}">
                                      <a16:creationId xmlns:a16="http://schemas.microsoft.com/office/drawing/2014/main" id="{F6015EEB-00F1-14EF-46DB-6644838A0E04}"/>
                                    </a:ext>
                                  </a:extLst>
                                </p:cNvPr>
                                <p:cNvSpPr>
                                  <a:spLocks noChangeShapeType="1"/>
                                </p:cNvSpPr>
                                <p:nvPr/>
                              </p:nvSpPr>
                              <p:spPr bwMode="auto">
                                <a:xfrm>
                                  <a:off x="2499" y="3441"/>
                                  <a:ext cx="351" cy="2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53985" name="Group 794">
                                <a:extLst>
                                  <a:ext uri="{FF2B5EF4-FFF2-40B4-BE49-F238E27FC236}">
                                    <a16:creationId xmlns:a16="http://schemas.microsoft.com/office/drawing/2014/main" id="{B3A6730B-D12C-3356-8963-9C00594538B8}"/>
                                  </a:ext>
                                </a:extLst>
                              </p:cNvPr>
                              <p:cNvGrpSpPr>
                                <a:grpSpLocks/>
                              </p:cNvGrpSpPr>
                              <p:nvPr/>
                            </p:nvGrpSpPr>
                            <p:grpSpPr bwMode="auto">
                              <a:xfrm>
                                <a:off x="2175" y="2859"/>
                                <a:ext cx="255" cy="309"/>
                                <a:chOff x="2175" y="2859"/>
                                <a:chExt cx="255" cy="309"/>
                              </a:xfrm>
                            </p:grpSpPr>
                            <p:sp>
                              <p:nvSpPr>
                                <p:cNvPr id="153986" name="Oval 795">
                                  <a:extLst>
                                    <a:ext uri="{FF2B5EF4-FFF2-40B4-BE49-F238E27FC236}">
                                      <a16:creationId xmlns:a16="http://schemas.microsoft.com/office/drawing/2014/main" id="{F7F0B5DA-71DF-F279-2027-6204D86E60CE}"/>
                                    </a:ext>
                                  </a:extLst>
                                </p:cNvPr>
                                <p:cNvSpPr>
                                  <a:spLocks noChangeArrowheads="1"/>
                                </p:cNvSpPr>
                                <p:nvPr/>
                              </p:nvSpPr>
                              <p:spPr bwMode="auto">
                                <a:xfrm>
                                  <a:off x="2175" y="3063"/>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987" name="Line 796">
                                  <a:extLst>
                                    <a:ext uri="{FF2B5EF4-FFF2-40B4-BE49-F238E27FC236}">
                                      <a16:creationId xmlns:a16="http://schemas.microsoft.com/office/drawing/2014/main" id="{1A44887F-E71E-A7CA-4A82-4488D8AA4D97}"/>
                                    </a:ext>
                                  </a:extLst>
                                </p:cNvPr>
                                <p:cNvSpPr>
                                  <a:spLocks noChangeShapeType="1"/>
                                </p:cNvSpPr>
                                <p:nvPr/>
                              </p:nvSpPr>
                              <p:spPr bwMode="auto">
                                <a:xfrm flipV="1">
                                  <a:off x="2259" y="2859"/>
                                  <a:ext cx="171" cy="20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53978" name="Line 797">
                              <a:extLst>
                                <a:ext uri="{FF2B5EF4-FFF2-40B4-BE49-F238E27FC236}">
                                  <a16:creationId xmlns:a16="http://schemas.microsoft.com/office/drawing/2014/main" id="{A0BA8244-D27F-201A-915E-6BE9D747E5C6}"/>
                                </a:ext>
                              </a:extLst>
                            </p:cNvPr>
                            <p:cNvSpPr>
                              <a:spLocks noChangeShapeType="1"/>
                            </p:cNvSpPr>
                            <p:nvPr/>
                          </p:nvSpPr>
                          <p:spPr bwMode="auto">
                            <a:xfrm>
                              <a:off x="1836" y="3972"/>
                              <a:ext cx="429"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53979" name="Group 798">
                              <a:extLst>
                                <a:ext uri="{FF2B5EF4-FFF2-40B4-BE49-F238E27FC236}">
                                  <a16:creationId xmlns:a16="http://schemas.microsoft.com/office/drawing/2014/main" id="{F80BA7A3-84C8-B046-B011-4891F2D494D6}"/>
                                </a:ext>
                              </a:extLst>
                            </p:cNvPr>
                            <p:cNvGrpSpPr>
                              <a:grpSpLocks/>
                            </p:cNvGrpSpPr>
                            <p:nvPr/>
                          </p:nvGrpSpPr>
                          <p:grpSpPr bwMode="auto">
                            <a:xfrm>
                              <a:off x="2463" y="3423"/>
                              <a:ext cx="549" cy="987"/>
                              <a:chOff x="2481" y="1902"/>
                              <a:chExt cx="549" cy="987"/>
                            </a:xfrm>
                          </p:grpSpPr>
                          <p:sp>
                            <p:nvSpPr>
                              <p:cNvPr id="153980" name="Text Box 799">
                                <a:extLst>
                                  <a:ext uri="{FF2B5EF4-FFF2-40B4-BE49-F238E27FC236}">
                                    <a16:creationId xmlns:a16="http://schemas.microsoft.com/office/drawing/2014/main" id="{9EFD0C00-C95B-E613-F8FF-A4E03AA24774}"/>
                                  </a:ext>
                                </a:extLst>
                              </p:cNvPr>
                              <p:cNvSpPr txBox="1">
                                <a:spLocks noChangeArrowheads="1"/>
                              </p:cNvSpPr>
                              <p:nvPr/>
                            </p:nvSpPr>
                            <p:spPr bwMode="auto">
                              <a:xfrm>
                                <a:off x="2481" y="1902"/>
                                <a:ext cx="36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5</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981" name="Text Box 800">
                                <a:extLst>
                                  <a:ext uri="{FF2B5EF4-FFF2-40B4-BE49-F238E27FC236}">
                                    <a16:creationId xmlns:a16="http://schemas.microsoft.com/office/drawing/2014/main" id="{B95A89BC-5A0C-3984-0D52-54723E57F20E}"/>
                                  </a:ext>
                                </a:extLst>
                              </p:cNvPr>
                              <p:cNvSpPr txBox="1">
                                <a:spLocks noChangeArrowheads="1"/>
                              </p:cNvSpPr>
                              <p:nvPr/>
                            </p:nvSpPr>
                            <p:spPr bwMode="auto">
                              <a:xfrm>
                                <a:off x="2670" y="2112"/>
                                <a:ext cx="36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6</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982" name="Text Box 801">
                                <a:extLst>
                                  <a:ext uri="{FF2B5EF4-FFF2-40B4-BE49-F238E27FC236}">
                                    <a16:creationId xmlns:a16="http://schemas.microsoft.com/office/drawing/2014/main" id="{4E01FA1D-1A16-B1FC-BA91-7792AF7C7270}"/>
                                  </a:ext>
                                </a:extLst>
                              </p:cNvPr>
                              <p:cNvSpPr txBox="1">
                                <a:spLocks noChangeArrowheads="1"/>
                              </p:cNvSpPr>
                              <p:nvPr/>
                            </p:nvSpPr>
                            <p:spPr bwMode="auto">
                              <a:xfrm>
                                <a:off x="2661" y="2391"/>
                                <a:ext cx="36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7</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983" name="Text Box 802">
                                <a:extLst>
                                  <a:ext uri="{FF2B5EF4-FFF2-40B4-BE49-F238E27FC236}">
                                    <a16:creationId xmlns:a16="http://schemas.microsoft.com/office/drawing/2014/main" id="{A238A18E-08E8-F0C8-9B92-5BCE8233CF08}"/>
                                  </a:ext>
                                </a:extLst>
                              </p:cNvPr>
                              <p:cNvSpPr txBox="1">
                                <a:spLocks noChangeArrowheads="1"/>
                              </p:cNvSpPr>
                              <p:nvPr/>
                            </p:nvSpPr>
                            <p:spPr bwMode="auto">
                              <a:xfrm>
                                <a:off x="2649" y="2631"/>
                                <a:ext cx="36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8</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grpSp>
                    <p:sp>
                      <p:nvSpPr>
                        <p:cNvPr id="153970" name="Text Box 803">
                          <a:extLst>
                            <a:ext uri="{FF2B5EF4-FFF2-40B4-BE49-F238E27FC236}">
                              <a16:creationId xmlns:a16="http://schemas.microsoft.com/office/drawing/2014/main" id="{EEF8D1BD-90FF-D6F0-C421-5BE3CA3A41AF}"/>
                            </a:ext>
                          </a:extLst>
                        </p:cNvPr>
                        <p:cNvSpPr txBox="1">
                          <a:spLocks noChangeArrowheads="1"/>
                        </p:cNvSpPr>
                        <p:nvPr/>
                      </p:nvSpPr>
                      <p:spPr bwMode="auto">
                        <a:xfrm>
                          <a:off x="5160" y="3660"/>
                          <a:ext cx="1336" cy="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64000"/>
                            </a:lnSpc>
                          </a:pPr>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x x</a:t>
                          </a:r>
                          <a:r>
                            <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rPr>
                            <a:t> 2 5 </a:t>
                          </a:r>
                        </a:p>
                      </p:txBody>
                    </p:sp>
                  </p:grpSp>
                </p:grpSp>
                <p:grpSp>
                  <p:nvGrpSpPr>
                    <p:cNvPr id="153904" name="Group 804">
                      <a:extLst>
                        <a:ext uri="{FF2B5EF4-FFF2-40B4-BE49-F238E27FC236}">
                          <a16:creationId xmlns:a16="http://schemas.microsoft.com/office/drawing/2014/main" id="{54ECA88C-1DBA-47BD-036B-8FDBB946682E}"/>
                        </a:ext>
                      </a:extLst>
                    </p:cNvPr>
                    <p:cNvGrpSpPr>
                      <a:grpSpLocks/>
                    </p:cNvGrpSpPr>
                    <p:nvPr/>
                  </p:nvGrpSpPr>
                  <p:grpSpPr bwMode="auto">
                    <a:xfrm>
                      <a:off x="6456" y="3426"/>
                      <a:ext cx="4406" cy="999"/>
                      <a:chOff x="6456" y="3426"/>
                      <a:chExt cx="4406" cy="999"/>
                    </a:xfrm>
                  </p:grpSpPr>
                  <p:grpSp>
                    <p:nvGrpSpPr>
                      <p:cNvPr id="153905" name="Group 805">
                        <a:extLst>
                          <a:ext uri="{FF2B5EF4-FFF2-40B4-BE49-F238E27FC236}">
                            <a16:creationId xmlns:a16="http://schemas.microsoft.com/office/drawing/2014/main" id="{5C926BE7-51F5-5294-08A8-C79F1BDD4133}"/>
                          </a:ext>
                        </a:extLst>
                      </p:cNvPr>
                      <p:cNvGrpSpPr>
                        <a:grpSpLocks/>
                      </p:cNvGrpSpPr>
                      <p:nvPr/>
                    </p:nvGrpSpPr>
                    <p:grpSpPr bwMode="auto">
                      <a:xfrm>
                        <a:off x="6456" y="3426"/>
                        <a:ext cx="3678" cy="999"/>
                        <a:chOff x="6183" y="2388"/>
                        <a:chExt cx="3678" cy="999"/>
                      </a:xfrm>
                    </p:grpSpPr>
                    <p:grpSp>
                      <p:nvGrpSpPr>
                        <p:cNvPr id="153907" name="Group 806">
                          <a:extLst>
                            <a:ext uri="{FF2B5EF4-FFF2-40B4-BE49-F238E27FC236}">
                              <a16:creationId xmlns:a16="http://schemas.microsoft.com/office/drawing/2014/main" id="{DFFF4498-5EE1-0EC1-0CFC-A92514D32C0C}"/>
                            </a:ext>
                          </a:extLst>
                        </p:cNvPr>
                        <p:cNvGrpSpPr>
                          <a:grpSpLocks/>
                        </p:cNvGrpSpPr>
                        <p:nvPr/>
                      </p:nvGrpSpPr>
                      <p:grpSpPr bwMode="auto">
                        <a:xfrm>
                          <a:off x="6615" y="2388"/>
                          <a:ext cx="2814" cy="999"/>
                          <a:chOff x="6204" y="2538"/>
                          <a:chExt cx="2814" cy="999"/>
                        </a:xfrm>
                      </p:grpSpPr>
                      <p:grpSp>
                        <p:nvGrpSpPr>
                          <p:cNvPr id="153910" name="Group 807">
                            <a:extLst>
                              <a:ext uri="{FF2B5EF4-FFF2-40B4-BE49-F238E27FC236}">
                                <a16:creationId xmlns:a16="http://schemas.microsoft.com/office/drawing/2014/main" id="{6EE88588-95E5-2056-A29B-4AD3AE3DA92F}"/>
                              </a:ext>
                            </a:extLst>
                          </p:cNvPr>
                          <p:cNvGrpSpPr>
                            <a:grpSpLocks/>
                          </p:cNvGrpSpPr>
                          <p:nvPr/>
                        </p:nvGrpSpPr>
                        <p:grpSpPr bwMode="auto">
                          <a:xfrm>
                            <a:off x="6204" y="2538"/>
                            <a:ext cx="2814" cy="999"/>
                            <a:chOff x="6615" y="2349"/>
                            <a:chExt cx="3594" cy="1338"/>
                          </a:xfrm>
                        </p:grpSpPr>
                        <p:sp>
                          <p:nvSpPr>
                            <p:cNvPr id="153918" name="Line 808">
                              <a:extLst>
                                <a:ext uri="{FF2B5EF4-FFF2-40B4-BE49-F238E27FC236}">
                                  <a16:creationId xmlns:a16="http://schemas.microsoft.com/office/drawing/2014/main" id="{9066A18B-0865-5F60-BF79-307202203C88}"/>
                                </a:ext>
                              </a:extLst>
                            </p:cNvPr>
                            <p:cNvSpPr>
                              <a:spLocks noChangeShapeType="1"/>
                            </p:cNvSpPr>
                            <p:nvPr/>
                          </p:nvSpPr>
                          <p:spPr bwMode="auto">
                            <a:xfrm flipV="1">
                              <a:off x="7329" y="3672"/>
                              <a:ext cx="2193" cy="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53919" name="Group 809">
                              <a:extLst>
                                <a:ext uri="{FF2B5EF4-FFF2-40B4-BE49-F238E27FC236}">
                                  <a16:creationId xmlns:a16="http://schemas.microsoft.com/office/drawing/2014/main" id="{2053DBD4-9A08-A25A-0B6E-4BC4806C435A}"/>
                                </a:ext>
                              </a:extLst>
                            </p:cNvPr>
                            <p:cNvGrpSpPr>
                              <a:grpSpLocks/>
                            </p:cNvGrpSpPr>
                            <p:nvPr/>
                          </p:nvGrpSpPr>
                          <p:grpSpPr bwMode="auto">
                            <a:xfrm>
                              <a:off x="7290" y="2523"/>
                              <a:ext cx="1414" cy="746"/>
                              <a:chOff x="5907" y="8910"/>
                              <a:chExt cx="1623" cy="912"/>
                            </a:xfrm>
                          </p:grpSpPr>
                          <p:sp>
                            <p:nvSpPr>
                              <p:cNvPr id="153964" name="Line 810">
                                <a:extLst>
                                  <a:ext uri="{FF2B5EF4-FFF2-40B4-BE49-F238E27FC236}">
                                    <a16:creationId xmlns:a16="http://schemas.microsoft.com/office/drawing/2014/main" id="{7E867E78-29C1-B861-107D-E7AD7F7A7ACC}"/>
                                  </a:ext>
                                </a:extLst>
                              </p:cNvPr>
                              <p:cNvSpPr>
                                <a:spLocks noChangeShapeType="1"/>
                              </p:cNvSpPr>
                              <p:nvPr/>
                            </p:nvSpPr>
                            <p:spPr bwMode="auto">
                              <a:xfrm flipV="1">
                                <a:off x="5910" y="9372"/>
                                <a:ext cx="1050" cy="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965" name="Line 811">
                                <a:extLst>
                                  <a:ext uri="{FF2B5EF4-FFF2-40B4-BE49-F238E27FC236}">
                                    <a16:creationId xmlns:a16="http://schemas.microsoft.com/office/drawing/2014/main" id="{EEAFF67E-A049-C394-E6F0-CBDE70935C51}"/>
                                  </a:ext>
                                </a:extLst>
                              </p:cNvPr>
                              <p:cNvSpPr>
                                <a:spLocks noChangeShapeType="1"/>
                              </p:cNvSpPr>
                              <p:nvPr/>
                            </p:nvSpPr>
                            <p:spPr bwMode="auto">
                              <a:xfrm>
                                <a:off x="5907" y="9819"/>
                                <a:ext cx="1623"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966" name="Line 812">
                                <a:extLst>
                                  <a:ext uri="{FF2B5EF4-FFF2-40B4-BE49-F238E27FC236}">
                                    <a16:creationId xmlns:a16="http://schemas.microsoft.com/office/drawing/2014/main" id="{5E98D076-888B-B2D8-72B0-E61D6D534F6F}"/>
                                  </a:ext>
                                </a:extLst>
                              </p:cNvPr>
                              <p:cNvSpPr>
                                <a:spLocks noChangeShapeType="1"/>
                              </p:cNvSpPr>
                              <p:nvPr/>
                            </p:nvSpPr>
                            <p:spPr bwMode="auto">
                              <a:xfrm>
                                <a:off x="5931" y="8910"/>
                                <a:ext cx="462"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53920" name="Group 813">
                              <a:extLst>
                                <a:ext uri="{FF2B5EF4-FFF2-40B4-BE49-F238E27FC236}">
                                  <a16:creationId xmlns:a16="http://schemas.microsoft.com/office/drawing/2014/main" id="{0CD65DC6-631D-8375-58FE-3CACCD6680C1}"/>
                                </a:ext>
                              </a:extLst>
                            </p:cNvPr>
                            <p:cNvGrpSpPr>
                              <a:grpSpLocks/>
                            </p:cNvGrpSpPr>
                            <p:nvPr/>
                          </p:nvGrpSpPr>
                          <p:grpSpPr bwMode="auto">
                            <a:xfrm>
                              <a:off x="9201" y="2523"/>
                              <a:ext cx="324" cy="756"/>
                              <a:chOff x="8100" y="8910"/>
                              <a:chExt cx="372" cy="924"/>
                            </a:xfrm>
                          </p:grpSpPr>
                          <p:sp>
                            <p:nvSpPr>
                              <p:cNvPr id="153961" name="Line 814">
                                <a:extLst>
                                  <a:ext uri="{FF2B5EF4-FFF2-40B4-BE49-F238E27FC236}">
                                    <a16:creationId xmlns:a16="http://schemas.microsoft.com/office/drawing/2014/main" id="{3C7983EA-8102-0280-B7A4-8024583768EA}"/>
                                  </a:ext>
                                </a:extLst>
                              </p:cNvPr>
                              <p:cNvSpPr>
                                <a:spLocks noChangeShapeType="1"/>
                              </p:cNvSpPr>
                              <p:nvPr/>
                            </p:nvSpPr>
                            <p:spPr bwMode="auto">
                              <a:xfrm>
                                <a:off x="8100" y="9369"/>
                                <a:ext cx="351"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962" name="Line 815">
                                <a:extLst>
                                  <a:ext uri="{FF2B5EF4-FFF2-40B4-BE49-F238E27FC236}">
                                    <a16:creationId xmlns:a16="http://schemas.microsoft.com/office/drawing/2014/main" id="{32D8F41B-D4B1-0BA3-519D-B55DE9D82EF6}"/>
                                  </a:ext>
                                </a:extLst>
                              </p:cNvPr>
                              <p:cNvSpPr>
                                <a:spLocks noChangeShapeType="1"/>
                              </p:cNvSpPr>
                              <p:nvPr/>
                            </p:nvSpPr>
                            <p:spPr bwMode="auto">
                              <a:xfrm>
                                <a:off x="8112" y="9831"/>
                                <a:ext cx="351"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963" name="Line 816">
                                <a:extLst>
                                  <a:ext uri="{FF2B5EF4-FFF2-40B4-BE49-F238E27FC236}">
                                    <a16:creationId xmlns:a16="http://schemas.microsoft.com/office/drawing/2014/main" id="{3EB51BFE-F4DB-7939-001D-ACEA46201C67}"/>
                                  </a:ext>
                                </a:extLst>
                              </p:cNvPr>
                              <p:cNvSpPr>
                                <a:spLocks noChangeShapeType="1"/>
                              </p:cNvSpPr>
                              <p:nvPr/>
                            </p:nvSpPr>
                            <p:spPr bwMode="auto">
                              <a:xfrm>
                                <a:off x="8121" y="8910"/>
                                <a:ext cx="351"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53921" name="Group 817">
                              <a:extLst>
                                <a:ext uri="{FF2B5EF4-FFF2-40B4-BE49-F238E27FC236}">
                                  <a16:creationId xmlns:a16="http://schemas.microsoft.com/office/drawing/2014/main" id="{2A51BCBA-33B3-434C-EEA7-4BBEAB5E6EE1}"/>
                                </a:ext>
                              </a:extLst>
                            </p:cNvPr>
                            <p:cNvGrpSpPr>
                              <a:grpSpLocks/>
                            </p:cNvGrpSpPr>
                            <p:nvPr/>
                          </p:nvGrpSpPr>
                          <p:grpSpPr bwMode="auto">
                            <a:xfrm>
                              <a:off x="7704" y="2349"/>
                              <a:ext cx="1511" cy="1120"/>
                              <a:chOff x="7296" y="8549"/>
                              <a:chExt cx="1734" cy="1368"/>
                            </a:xfrm>
                          </p:grpSpPr>
                          <p:sp>
                            <p:nvSpPr>
                              <p:cNvPr id="153951" name="Line 818">
                                <a:extLst>
                                  <a:ext uri="{FF2B5EF4-FFF2-40B4-BE49-F238E27FC236}">
                                    <a16:creationId xmlns:a16="http://schemas.microsoft.com/office/drawing/2014/main" id="{B60C58BC-1490-292E-FFFC-9274075E6B90}"/>
                                  </a:ext>
                                </a:extLst>
                              </p:cNvPr>
                              <p:cNvSpPr>
                                <a:spLocks noChangeShapeType="1"/>
                              </p:cNvSpPr>
                              <p:nvPr/>
                            </p:nvSpPr>
                            <p:spPr bwMode="auto">
                              <a:xfrm flipV="1">
                                <a:off x="7314" y="8562"/>
                                <a:ext cx="170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53952" name="Group 819">
                                <a:extLst>
                                  <a:ext uri="{FF2B5EF4-FFF2-40B4-BE49-F238E27FC236}">
                                    <a16:creationId xmlns:a16="http://schemas.microsoft.com/office/drawing/2014/main" id="{1D16C24C-3CA5-A925-A462-76A5942C3A8B}"/>
                                  </a:ext>
                                </a:extLst>
                              </p:cNvPr>
                              <p:cNvGrpSpPr>
                                <a:grpSpLocks/>
                              </p:cNvGrpSpPr>
                              <p:nvPr/>
                            </p:nvGrpSpPr>
                            <p:grpSpPr bwMode="auto">
                              <a:xfrm>
                                <a:off x="7296" y="8549"/>
                                <a:ext cx="1734" cy="1368"/>
                                <a:chOff x="7296" y="8549"/>
                                <a:chExt cx="1734" cy="1368"/>
                              </a:xfrm>
                            </p:grpSpPr>
                            <p:sp>
                              <p:nvSpPr>
                                <p:cNvPr id="153953" name="Line 820">
                                  <a:extLst>
                                    <a:ext uri="{FF2B5EF4-FFF2-40B4-BE49-F238E27FC236}">
                                      <a16:creationId xmlns:a16="http://schemas.microsoft.com/office/drawing/2014/main" id="{A1D127F3-D6D1-D46C-3914-D059345CD039}"/>
                                    </a:ext>
                                  </a:extLst>
                                </p:cNvPr>
                                <p:cNvSpPr>
                                  <a:spLocks noChangeShapeType="1"/>
                                </p:cNvSpPr>
                                <p:nvPr/>
                              </p:nvSpPr>
                              <p:spPr bwMode="auto">
                                <a:xfrm flipV="1">
                                  <a:off x="9018" y="8549"/>
                                  <a:ext cx="0" cy="135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954" name="Line 821">
                                  <a:extLst>
                                    <a:ext uri="{FF2B5EF4-FFF2-40B4-BE49-F238E27FC236}">
                                      <a16:creationId xmlns:a16="http://schemas.microsoft.com/office/drawing/2014/main" id="{D8A2EA70-1D41-57D9-283E-D7326EBF67A7}"/>
                                    </a:ext>
                                  </a:extLst>
                                </p:cNvPr>
                                <p:cNvSpPr>
                                  <a:spLocks noChangeShapeType="1"/>
                                </p:cNvSpPr>
                                <p:nvPr/>
                              </p:nvSpPr>
                              <p:spPr bwMode="auto">
                                <a:xfrm flipV="1">
                                  <a:off x="7860" y="9467"/>
                                  <a:ext cx="117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955" name="Line 822">
                                  <a:extLst>
                                    <a:ext uri="{FF2B5EF4-FFF2-40B4-BE49-F238E27FC236}">
                                      <a16:creationId xmlns:a16="http://schemas.microsoft.com/office/drawing/2014/main" id="{7369E84D-6B5D-8B8C-04DC-12B8E2333B56}"/>
                                    </a:ext>
                                  </a:extLst>
                                </p:cNvPr>
                                <p:cNvSpPr>
                                  <a:spLocks noChangeShapeType="1"/>
                                </p:cNvSpPr>
                                <p:nvPr/>
                              </p:nvSpPr>
                              <p:spPr bwMode="auto">
                                <a:xfrm flipV="1">
                                  <a:off x="8448" y="8558"/>
                                  <a:ext cx="0" cy="135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956" name="Line 823">
                                  <a:extLst>
                                    <a:ext uri="{FF2B5EF4-FFF2-40B4-BE49-F238E27FC236}">
                                      <a16:creationId xmlns:a16="http://schemas.microsoft.com/office/drawing/2014/main" id="{571690A4-015B-6E52-8FEE-6E78F4DAA5CA}"/>
                                    </a:ext>
                                  </a:extLst>
                                </p:cNvPr>
                                <p:cNvSpPr>
                                  <a:spLocks noChangeShapeType="1"/>
                                </p:cNvSpPr>
                                <p:nvPr/>
                              </p:nvSpPr>
                              <p:spPr bwMode="auto">
                                <a:xfrm flipH="1" flipV="1">
                                  <a:off x="7866" y="8570"/>
                                  <a:ext cx="9" cy="8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957" name="Line 824">
                                  <a:extLst>
                                    <a:ext uri="{FF2B5EF4-FFF2-40B4-BE49-F238E27FC236}">
                                      <a16:creationId xmlns:a16="http://schemas.microsoft.com/office/drawing/2014/main" id="{2E0A60C5-4E71-6DE8-2900-8D406650C8DB}"/>
                                    </a:ext>
                                  </a:extLst>
                                </p:cNvPr>
                                <p:cNvSpPr>
                                  <a:spLocks noChangeShapeType="1"/>
                                </p:cNvSpPr>
                                <p:nvPr/>
                              </p:nvSpPr>
                              <p:spPr bwMode="auto">
                                <a:xfrm flipV="1">
                                  <a:off x="7296" y="8558"/>
                                  <a:ext cx="0" cy="44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958" name="Line 825">
                                  <a:extLst>
                                    <a:ext uri="{FF2B5EF4-FFF2-40B4-BE49-F238E27FC236}">
                                      <a16:creationId xmlns:a16="http://schemas.microsoft.com/office/drawing/2014/main" id="{5F80122F-DB11-169B-DD6A-373EDD62685F}"/>
                                    </a:ext>
                                  </a:extLst>
                                </p:cNvPr>
                                <p:cNvSpPr>
                                  <a:spLocks noChangeShapeType="1"/>
                                </p:cNvSpPr>
                                <p:nvPr/>
                              </p:nvSpPr>
                              <p:spPr bwMode="auto">
                                <a:xfrm flipV="1">
                                  <a:off x="7305" y="9025"/>
                                  <a:ext cx="169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959" name="Line 826">
                                  <a:extLst>
                                    <a:ext uri="{FF2B5EF4-FFF2-40B4-BE49-F238E27FC236}">
                                      <a16:creationId xmlns:a16="http://schemas.microsoft.com/office/drawing/2014/main" id="{BDBF72CF-FE0B-87D7-7D16-3FE41490E868}"/>
                                    </a:ext>
                                  </a:extLst>
                                </p:cNvPr>
                                <p:cNvSpPr>
                                  <a:spLocks noChangeShapeType="1"/>
                                </p:cNvSpPr>
                                <p:nvPr/>
                              </p:nvSpPr>
                              <p:spPr bwMode="auto">
                                <a:xfrm flipV="1">
                                  <a:off x="8454" y="9464"/>
                                  <a:ext cx="56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960" name="Line 827">
                                  <a:extLst>
                                    <a:ext uri="{FF2B5EF4-FFF2-40B4-BE49-F238E27FC236}">
                                      <a16:creationId xmlns:a16="http://schemas.microsoft.com/office/drawing/2014/main" id="{96EA5E1E-BBE0-CB2A-6371-FA72393E9CA5}"/>
                                    </a:ext>
                                  </a:extLst>
                                </p:cNvPr>
                                <p:cNvSpPr>
                                  <a:spLocks noChangeShapeType="1"/>
                                </p:cNvSpPr>
                                <p:nvPr/>
                              </p:nvSpPr>
                              <p:spPr bwMode="auto">
                                <a:xfrm flipV="1">
                                  <a:off x="8445" y="9914"/>
                                  <a:ext cx="576"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53922" name="Group 828">
                              <a:extLst>
                                <a:ext uri="{FF2B5EF4-FFF2-40B4-BE49-F238E27FC236}">
                                  <a16:creationId xmlns:a16="http://schemas.microsoft.com/office/drawing/2014/main" id="{EAA481C2-6865-A5A7-7A75-7692B0304F83}"/>
                                </a:ext>
                              </a:extLst>
                            </p:cNvPr>
                            <p:cNvGrpSpPr>
                              <a:grpSpLocks/>
                            </p:cNvGrpSpPr>
                            <p:nvPr/>
                          </p:nvGrpSpPr>
                          <p:grpSpPr bwMode="auto">
                            <a:xfrm>
                              <a:off x="6615" y="2526"/>
                              <a:ext cx="723" cy="1161"/>
                              <a:chOff x="6615" y="2526"/>
                              <a:chExt cx="723" cy="1161"/>
                            </a:xfrm>
                          </p:grpSpPr>
                          <p:grpSp>
                            <p:nvGrpSpPr>
                              <p:cNvPr id="153938" name="Group 829">
                                <a:extLst>
                                  <a:ext uri="{FF2B5EF4-FFF2-40B4-BE49-F238E27FC236}">
                                    <a16:creationId xmlns:a16="http://schemas.microsoft.com/office/drawing/2014/main" id="{C3784BF1-A184-142D-1D75-FC39025F3164}"/>
                                  </a:ext>
                                </a:extLst>
                              </p:cNvPr>
                              <p:cNvGrpSpPr>
                                <a:grpSpLocks/>
                              </p:cNvGrpSpPr>
                              <p:nvPr/>
                            </p:nvGrpSpPr>
                            <p:grpSpPr bwMode="auto">
                              <a:xfrm flipH="1">
                                <a:off x="6855" y="2724"/>
                                <a:ext cx="225" cy="720"/>
                                <a:chOff x="5190" y="2775"/>
                                <a:chExt cx="225" cy="720"/>
                              </a:xfrm>
                            </p:grpSpPr>
                            <p:sp>
                              <p:nvSpPr>
                                <p:cNvPr id="153947" name="Oval 830">
                                  <a:extLst>
                                    <a:ext uri="{FF2B5EF4-FFF2-40B4-BE49-F238E27FC236}">
                                      <a16:creationId xmlns:a16="http://schemas.microsoft.com/office/drawing/2014/main" id="{6243455A-E87D-097F-003D-5ABA028E3E1F}"/>
                                    </a:ext>
                                  </a:extLst>
                                </p:cNvPr>
                                <p:cNvSpPr>
                                  <a:spLocks noChangeArrowheads="1"/>
                                </p:cNvSpPr>
                                <p:nvPr/>
                              </p:nvSpPr>
                              <p:spPr bwMode="auto">
                                <a:xfrm>
                                  <a:off x="5190" y="297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948" name="Oval 831">
                                  <a:extLst>
                                    <a:ext uri="{FF2B5EF4-FFF2-40B4-BE49-F238E27FC236}">
                                      <a16:creationId xmlns:a16="http://schemas.microsoft.com/office/drawing/2014/main" id="{9201EB4A-331F-0E7E-2543-3688C220E6F2}"/>
                                    </a:ext>
                                  </a:extLst>
                                </p:cNvPr>
                                <p:cNvSpPr>
                                  <a:spLocks noChangeArrowheads="1"/>
                                </p:cNvSpPr>
                                <p:nvPr/>
                              </p:nvSpPr>
                              <p:spPr bwMode="auto">
                                <a:xfrm>
                                  <a:off x="5190" y="319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949" name="Oval 832">
                                  <a:extLst>
                                    <a:ext uri="{FF2B5EF4-FFF2-40B4-BE49-F238E27FC236}">
                                      <a16:creationId xmlns:a16="http://schemas.microsoft.com/office/drawing/2014/main" id="{6708FE3D-18D0-4254-B648-CDB13B0AE4C9}"/>
                                    </a:ext>
                                  </a:extLst>
                                </p:cNvPr>
                                <p:cNvSpPr>
                                  <a:spLocks noChangeArrowheads="1"/>
                                </p:cNvSpPr>
                                <p:nvPr/>
                              </p:nvSpPr>
                              <p:spPr bwMode="auto">
                                <a:xfrm>
                                  <a:off x="5295" y="277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950" name="Oval 833">
                                  <a:extLst>
                                    <a:ext uri="{FF2B5EF4-FFF2-40B4-BE49-F238E27FC236}">
                                      <a16:creationId xmlns:a16="http://schemas.microsoft.com/office/drawing/2014/main" id="{8CBF7C9E-EBF1-916C-F5AF-D28B1B579716}"/>
                                    </a:ext>
                                  </a:extLst>
                                </p:cNvPr>
                                <p:cNvSpPr>
                                  <a:spLocks noChangeArrowheads="1"/>
                                </p:cNvSpPr>
                                <p:nvPr/>
                              </p:nvSpPr>
                              <p:spPr bwMode="auto">
                                <a:xfrm>
                                  <a:off x="5310" y="339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53939" name="Group 834">
                                <a:extLst>
                                  <a:ext uri="{FF2B5EF4-FFF2-40B4-BE49-F238E27FC236}">
                                    <a16:creationId xmlns:a16="http://schemas.microsoft.com/office/drawing/2014/main" id="{EC9230FE-009F-7904-F58C-7630EB77C8AE}"/>
                                  </a:ext>
                                </a:extLst>
                              </p:cNvPr>
                              <p:cNvGrpSpPr>
                                <a:grpSpLocks/>
                              </p:cNvGrpSpPr>
                              <p:nvPr/>
                            </p:nvGrpSpPr>
                            <p:grpSpPr bwMode="auto">
                              <a:xfrm>
                                <a:off x="6939" y="2526"/>
                                <a:ext cx="399" cy="1161"/>
                                <a:chOff x="6939" y="2526"/>
                                <a:chExt cx="399" cy="1161"/>
                              </a:xfrm>
                            </p:grpSpPr>
                            <p:sp>
                              <p:nvSpPr>
                                <p:cNvPr id="153943" name="Line 835">
                                  <a:extLst>
                                    <a:ext uri="{FF2B5EF4-FFF2-40B4-BE49-F238E27FC236}">
                                      <a16:creationId xmlns:a16="http://schemas.microsoft.com/office/drawing/2014/main" id="{56A8529D-B3DC-481A-F2C5-39ABB6FE96CE}"/>
                                    </a:ext>
                                  </a:extLst>
                                </p:cNvPr>
                                <p:cNvSpPr>
                                  <a:spLocks noChangeShapeType="1"/>
                                </p:cNvSpPr>
                                <p:nvPr/>
                              </p:nvSpPr>
                              <p:spPr bwMode="auto">
                                <a:xfrm flipV="1">
                                  <a:off x="7083" y="2910"/>
                                  <a:ext cx="213" cy="5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944" name="Line 836">
                                  <a:extLst>
                                    <a:ext uri="{FF2B5EF4-FFF2-40B4-BE49-F238E27FC236}">
                                      <a16:creationId xmlns:a16="http://schemas.microsoft.com/office/drawing/2014/main" id="{0B579461-1386-D787-8E89-54A8AA17DF1C}"/>
                                    </a:ext>
                                  </a:extLst>
                                </p:cNvPr>
                                <p:cNvSpPr>
                                  <a:spLocks noChangeShapeType="1"/>
                                </p:cNvSpPr>
                                <p:nvPr/>
                              </p:nvSpPr>
                              <p:spPr bwMode="auto">
                                <a:xfrm>
                                  <a:off x="7068" y="3231"/>
                                  <a:ext cx="231" cy="4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945" name="Line 837">
                                  <a:extLst>
                                    <a:ext uri="{FF2B5EF4-FFF2-40B4-BE49-F238E27FC236}">
                                      <a16:creationId xmlns:a16="http://schemas.microsoft.com/office/drawing/2014/main" id="{A029099E-4650-4CC0-B90F-99A202BCE4E1}"/>
                                    </a:ext>
                                  </a:extLst>
                                </p:cNvPr>
                                <p:cNvSpPr>
                                  <a:spLocks noChangeShapeType="1"/>
                                </p:cNvSpPr>
                                <p:nvPr/>
                              </p:nvSpPr>
                              <p:spPr bwMode="auto">
                                <a:xfrm flipV="1">
                                  <a:off x="6960" y="2526"/>
                                  <a:ext cx="360" cy="21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946" name="Line 838">
                                  <a:extLst>
                                    <a:ext uri="{FF2B5EF4-FFF2-40B4-BE49-F238E27FC236}">
                                      <a16:creationId xmlns:a16="http://schemas.microsoft.com/office/drawing/2014/main" id="{5FE0BA84-F1D3-7702-EA88-7DCE77C1B3E4}"/>
                                    </a:ext>
                                  </a:extLst>
                                </p:cNvPr>
                                <p:cNvSpPr>
                                  <a:spLocks noChangeShapeType="1"/>
                                </p:cNvSpPr>
                                <p:nvPr/>
                              </p:nvSpPr>
                              <p:spPr bwMode="auto">
                                <a:xfrm>
                                  <a:off x="6939" y="3420"/>
                                  <a:ext cx="399" cy="26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53940" name="Group 839">
                                <a:extLst>
                                  <a:ext uri="{FF2B5EF4-FFF2-40B4-BE49-F238E27FC236}">
                                    <a16:creationId xmlns:a16="http://schemas.microsoft.com/office/drawing/2014/main" id="{46690DFA-1628-328B-C4D1-C7DBEECD9151}"/>
                                  </a:ext>
                                </a:extLst>
                              </p:cNvPr>
                              <p:cNvGrpSpPr>
                                <a:grpSpLocks/>
                              </p:cNvGrpSpPr>
                              <p:nvPr/>
                            </p:nvGrpSpPr>
                            <p:grpSpPr bwMode="auto">
                              <a:xfrm>
                                <a:off x="6615" y="2838"/>
                                <a:ext cx="255" cy="309"/>
                                <a:chOff x="2175" y="2859"/>
                                <a:chExt cx="255" cy="309"/>
                              </a:xfrm>
                            </p:grpSpPr>
                            <p:sp>
                              <p:nvSpPr>
                                <p:cNvPr id="153941" name="Oval 840">
                                  <a:extLst>
                                    <a:ext uri="{FF2B5EF4-FFF2-40B4-BE49-F238E27FC236}">
                                      <a16:creationId xmlns:a16="http://schemas.microsoft.com/office/drawing/2014/main" id="{4B3B5EB2-3520-B641-C551-C71C3B97E986}"/>
                                    </a:ext>
                                  </a:extLst>
                                </p:cNvPr>
                                <p:cNvSpPr>
                                  <a:spLocks noChangeArrowheads="1"/>
                                </p:cNvSpPr>
                                <p:nvPr/>
                              </p:nvSpPr>
                              <p:spPr bwMode="auto">
                                <a:xfrm>
                                  <a:off x="2175" y="3063"/>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942" name="Line 841">
                                  <a:extLst>
                                    <a:ext uri="{FF2B5EF4-FFF2-40B4-BE49-F238E27FC236}">
                                      <a16:creationId xmlns:a16="http://schemas.microsoft.com/office/drawing/2014/main" id="{4407922F-57A9-87B4-94C3-3750C5A3C728}"/>
                                    </a:ext>
                                  </a:extLst>
                                </p:cNvPr>
                                <p:cNvSpPr>
                                  <a:spLocks noChangeShapeType="1"/>
                                </p:cNvSpPr>
                                <p:nvPr/>
                              </p:nvSpPr>
                              <p:spPr bwMode="auto">
                                <a:xfrm flipV="1">
                                  <a:off x="2259" y="2859"/>
                                  <a:ext cx="171" cy="20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53923" name="Group 842">
                              <a:extLst>
                                <a:ext uri="{FF2B5EF4-FFF2-40B4-BE49-F238E27FC236}">
                                  <a16:creationId xmlns:a16="http://schemas.microsoft.com/office/drawing/2014/main" id="{4820DBED-9938-8230-0E10-518EB8921B36}"/>
                                </a:ext>
                              </a:extLst>
                            </p:cNvPr>
                            <p:cNvGrpSpPr>
                              <a:grpSpLocks/>
                            </p:cNvGrpSpPr>
                            <p:nvPr/>
                          </p:nvGrpSpPr>
                          <p:grpSpPr bwMode="auto">
                            <a:xfrm>
                              <a:off x="9495" y="2532"/>
                              <a:ext cx="714" cy="1134"/>
                              <a:chOff x="9495" y="2532"/>
                              <a:chExt cx="714" cy="1134"/>
                            </a:xfrm>
                          </p:grpSpPr>
                          <p:grpSp>
                            <p:nvGrpSpPr>
                              <p:cNvPr id="153924" name="Group 843">
                                <a:extLst>
                                  <a:ext uri="{FF2B5EF4-FFF2-40B4-BE49-F238E27FC236}">
                                    <a16:creationId xmlns:a16="http://schemas.microsoft.com/office/drawing/2014/main" id="{A4753D35-8F7D-1882-4C66-14BE78874AAE}"/>
                                  </a:ext>
                                </a:extLst>
                              </p:cNvPr>
                              <p:cNvGrpSpPr>
                                <a:grpSpLocks/>
                              </p:cNvGrpSpPr>
                              <p:nvPr/>
                            </p:nvGrpSpPr>
                            <p:grpSpPr bwMode="auto">
                              <a:xfrm>
                                <a:off x="9495" y="2532"/>
                                <a:ext cx="399" cy="1134"/>
                                <a:chOff x="9495" y="2532"/>
                                <a:chExt cx="399" cy="1134"/>
                              </a:xfrm>
                            </p:grpSpPr>
                            <p:grpSp>
                              <p:nvGrpSpPr>
                                <p:cNvPr id="153928" name="Group 844">
                                  <a:extLst>
                                    <a:ext uri="{FF2B5EF4-FFF2-40B4-BE49-F238E27FC236}">
                                      <a16:creationId xmlns:a16="http://schemas.microsoft.com/office/drawing/2014/main" id="{BD1357BB-6039-2638-1519-4527427401E5}"/>
                                    </a:ext>
                                  </a:extLst>
                                </p:cNvPr>
                                <p:cNvGrpSpPr>
                                  <a:grpSpLocks/>
                                </p:cNvGrpSpPr>
                                <p:nvPr/>
                              </p:nvGrpSpPr>
                              <p:grpSpPr bwMode="auto">
                                <a:xfrm>
                                  <a:off x="9669" y="2766"/>
                                  <a:ext cx="225" cy="720"/>
                                  <a:chOff x="5190" y="2775"/>
                                  <a:chExt cx="225" cy="720"/>
                                </a:xfrm>
                              </p:grpSpPr>
                              <p:sp>
                                <p:nvSpPr>
                                  <p:cNvPr id="153934" name="Oval 845">
                                    <a:extLst>
                                      <a:ext uri="{FF2B5EF4-FFF2-40B4-BE49-F238E27FC236}">
                                        <a16:creationId xmlns:a16="http://schemas.microsoft.com/office/drawing/2014/main" id="{6A4533D5-D0A2-0419-F0F0-F1170B6B1770}"/>
                                      </a:ext>
                                    </a:extLst>
                                  </p:cNvPr>
                                  <p:cNvSpPr>
                                    <a:spLocks noChangeArrowheads="1"/>
                                  </p:cNvSpPr>
                                  <p:nvPr/>
                                </p:nvSpPr>
                                <p:spPr bwMode="auto">
                                  <a:xfrm>
                                    <a:off x="5190" y="297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935" name="Oval 846">
                                    <a:extLst>
                                      <a:ext uri="{FF2B5EF4-FFF2-40B4-BE49-F238E27FC236}">
                                        <a16:creationId xmlns:a16="http://schemas.microsoft.com/office/drawing/2014/main" id="{B4E62BA8-22CF-0592-BEA9-81E92F9CB35E}"/>
                                      </a:ext>
                                    </a:extLst>
                                  </p:cNvPr>
                                  <p:cNvSpPr>
                                    <a:spLocks noChangeArrowheads="1"/>
                                  </p:cNvSpPr>
                                  <p:nvPr/>
                                </p:nvSpPr>
                                <p:spPr bwMode="auto">
                                  <a:xfrm>
                                    <a:off x="5190" y="319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936" name="Oval 847">
                                    <a:extLst>
                                      <a:ext uri="{FF2B5EF4-FFF2-40B4-BE49-F238E27FC236}">
                                        <a16:creationId xmlns:a16="http://schemas.microsoft.com/office/drawing/2014/main" id="{D5DA3295-8896-982A-37AD-9588AA8A676D}"/>
                                      </a:ext>
                                    </a:extLst>
                                  </p:cNvPr>
                                  <p:cNvSpPr>
                                    <a:spLocks noChangeArrowheads="1"/>
                                  </p:cNvSpPr>
                                  <p:nvPr/>
                                </p:nvSpPr>
                                <p:spPr bwMode="auto">
                                  <a:xfrm>
                                    <a:off x="5295" y="277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937" name="Oval 848">
                                    <a:extLst>
                                      <a:ext uri="{FF2B5EF4-FFF2-40B4-BE49-F238E27FC236}">
                                        <a16:creationId xmlns:a16="http://schemas.microsoft.com/office/drawing/2014/main" id="{38481EBC-D59D-4023-292E-7FFCC6CF4A94}"/>
                                      </a:ext>
                                    </a:extLst>
                                  </p:cNvPr>
                                  <p:cNvSpPr>
                                    <a:spLocks noChangeArrowheads="1"/>
                                  </p:cNvSpPr>
                                  <p:nvPr/>
                                </p:nvSpPr>
                                <p:spPr bwMode="auto">
                                  <a:xfrm>
                                    <a:off x="5310" y="339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53929" name="Group 849">
                                  <a:extLst>
                                    <a:ext uri="{FF2B5EF4-FFF2-40B4-BE49-F238E27FC236}">
                                      <a16:creationId xmlns:a16="http://schemas.microsoft.com/office/drawing/2014/main" id="{60716F05-951A-16E1-33E7-C69E848DCAAC}"/>
                                    </a:ext>
                                  </a:extLst>
                                </p:cNvPr>
                                <p:cNvGrpSpPr>
                                  <a:grpSpLocks/>
                                </p:cNvGrpSpPr>
                                <p:nvPr/>
                              </p:nvGrpSpPr>
                              <p:grpSpPr bwMode="auto">
                                <a:xfrm>
                                  <a:off x="9495" y="2532"/>
                                  <a:ext cx="297" cy="1134"/>
                                  <a:chOff x="9495" y="2532"/>
                                  <a:chExt cx="297" cy="1134"/>
                                </a:xfrm>
                              </p:grpSpPr>
                              <p:sp>
                                <p:nvSpPr>
                                  <p:cNvPr id="153930" name="Line 850">
                                    <a:extLst>
                                      <a:ext uri="{FF2B5EF4-FFF2-40B4-BE49-F238E27FC236}">
                                        <a16:creationId xmlns:a16="http://schemas.microsoft.com/office/drawing/2014/main" id="{E52EF9D0-638E-C9E5-9B9B-A30E05C375D5}"/>
                                      </a:ext>
                                    </a:extLst>
                                  </p:cNvPr>
                                  <p:cNvSpPr>
                                    <a:spLocks noChangeShapeType="1"/>
                                  </p:cNvSpPr>
                                  <p:nvPr/>
                                </p:nvSpPr>
                                <p:spPr bwMode="auto">
                                  <a:xfrm>
                                    <a:off x="9507" y="2532"/>
                                    <a:ext cx="267" cy="24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931" name="Line 851">
                                    <a:extLst>
                                      <a:ext uri="{FF2B5EF4-FFF2-40B4-BE49-F238E27FC236}">
                                        <a16:creationId xmlns:a16="http://schemas.microsoft.com/office/drawing/2014/main" id="{D0E2B0B9-11FE-B96C-BF37-4AFB2DB1139B}"/>
                                      </a:ext>
                                    </a:extLst>
                                  </p:cNvPr>
                                  <p:cNvSpPr>
                                    <a:spLocks noChangeShapeType="1"/>
                                  </p:cNvSpPr>
                                  <p:nvPr/>
                                </p:nvSpPr>
                                <p:spPr bwMode="auto">
                                  <a:xfrm>
                                    <a:off x="9504" y="2907"/>
                                    <a:ext cx="165" cy="8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932" name="Line 852">
                                    <a:extLst>
                                      <a:ext uri="{FF2B5EF4-FFF2-40B4-BE49-F238E27FC236}">
                                        <a16:creationId xmlns:a16="http://schemas.microsoft.com/office/drawing/2014/main" id="{BE1610F8-9FE6-62AA-6BB2-39A81C5712B6}"/>
                                      </a:ext>
                                    </a:extLst>
                                  </p:cNvPr>
                                  <p:cNvSpPr>
                                    <a:spLocks noChangeShapeType="1"/>
                                  </p:cNvSpPr>
                                  <p:nvPr/>
                                </p:nvSpPr>
                                <p:spPr bwMode="auto">
                                  <a:xfrm flipV="1">
                                    <a:off x="9495" y="3246"/>
                                    <a:ext cx="177" cy="3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933" name="Line 853">
                                    <a:extLst>
                                      <a:ext uri="{FF2B5EF4-FFF2-40B4-BE49-F238E27FC236}">
                                        <a16:creationId xmlns:a16="http://schemas.microsoft.com/office/drawing/2014/main" id="{58C66544-56E8-72A8-37AA-2D432C8F1E3E}"/>
                                      </a:ext>
                                    </a:extLst>
                                  </p:cNvPr>
                                  <p:cNvSpPr>
                                    <a:spLocks noChangeShapeType="1"/>
                                  </p:cNvSpPr>
                                  <p:nvPr/>
                                </p:nvSpPr>
                                <p:spPr bwMode="auto">
                                  <a:xfrm flipV="1">
                                    <a:off x="9516" y="3471"/>
                                    <a:ext cx="276" cy="19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53925" name="Group 854">
                                <a:extLst>
                                  <a:ext uri="{FF2B5EF4-FFF2-40B4-BE49-F238E27FC236}">
                                    <a16:creationId xmlns:a16="http://schemas.microsoft.com/office/drawing/2014/main" id="{AD4AF429-D0DE-F70D-607C-822FB561A056}"/>
                                  </a:ext>
                                </a:extLst>
                              </p:cNvPr>
                              <p:cNvGrpSpPr>
                                <a:grpSpLocks/>
                              </p:cNvGrpSpPr>
                              <p:nvPr/>
                            </p:nvGrpSpPr>
                            <p:grpSpPr bwMode="auto">
                              <a:xfrm>
                                <a:off x="9909" y="2880"/>
                                <a:ext cx="300" cy="300"/>
                                <a:chOff x="5430" y="2889"/>
                                <a:chExt cx="300" cy="300"/>
                              </a:xfrm>
                            </p:grpSpPr>
                            <p:sp>
                              <p:nvSpPr>
                                <p:cNvPr id="153926" name="Oval 855">
                                  <a:extLst>
                                    <a:ext uri="{FF2B5EF4-FFF2-40B4-BE49-F238E27FC236}">
                                      <a16:creationId xmlns:a16="http://schemas.microsoft.com/office/drawing/2014/main" id="{0D8DBB4D-2EF2-147B-C631-021B270752C7}"/>
                                    </a:ext>
                                  </a:extLst>
                                </p:cNvPr>
                                <p:cNvSpPr>
                                  <a:spLocks noChangeArrowheads="1"/>
                                </p:cNvSpPr>
                                <p:nvPr/>
                              </p:nvSpPr>
                              <p:spPr bwMode="auto">
                                <a:xfrm>
                                  <a:off x="5625" y="3084"/>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927" name="Line 856">
                                  <a:extLst>
                                    <a:ext uri="{FF2B5EF4-FFF2-40B4-BE49-F238E27FC236}">
                                      <a16:creationId xmlns:a16="http://schemas.microsoft.com/office/drawing/2014/main" id="{EFDA1E90-EB23-7113-3469-AC762084BFDA}"/>
                                    </a:ext>
                                  </a:extLst>
                                </p:cNvPr>
                                <p:cNvSpPr>
                                  <a:spLocks noChangeShapeType="1"/>
                                </p:cNvSpPr>
                                <p:nvPr/>
                              </p:nvSpPr>
                              <p:spPr bwMode="auto">
                                <a:xfrm flipH="1" flipV="1">
                                  <a:off x="5430" y="2889"/>
                                  <a:ext cx="219" cy="20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grpSp>
                        <p:nvGrpSpPr>
                          <p:cNvPr id="153911" name="Group 857">
                            <a:extLst>
                              <a:ext uri="{FF2B5EF4-FFF2-40B4-BE49-F238E27FC236}">
                                <a16:creationId xmlns:a16="http://schemas.microsoft.com/office/drawing/2014/main" id="{E927D86E-52B3-B1F1-D0AD-60B201C0B824}"/>
                              </a:ext>
                            </a:extLst>
                          </p:cNvPr>
                          <p:cNvGrpSpPr>
                            <a:grpSpLocks/>
                          </p:cNvGrpSpPr>
                          <p:nvPr/>
                        </p:nvGrpSpPr>
                        <p:grpSpPr bwMode="auto">
                          <a:xfrm>
                            <a:off x="7044" y="2586"/>
                            <a:ext cx="1200" cy="861"/>
                            <a:chOff x="7044" y="2586"/>
                            <a:chExt cx="1200" cy="861"/>
                          </a:xfrm>
                        </p:grpSpPr>
                        <p:sp>
                          <p:nvSpPr>
                            <p:cNvPr id="153912" name="Text Box 858">
                              <a:extLst>
                                <a:ext uri="{FF2B5EF4-FFF2-40B4-BE49-F238E27FC236}">
                                  <a16:creationId xmlns:a16="http://schemas.microsoft.com/office/drawing/2014/main" id="{04FAA6C7-9ADC-AAB1-438A-84BF334D7156}"/>
                                </a:ext>
                              </a:extLst>
                            </p:cNvPr>
                            <p:cNvSpPr txBox="1">
                              <a:spLocks noChangeArrowheads="1"/>
                            </p:cNvSpPr>
                            <p:nvPr/>
                          </p:nvSpPr>
                          <p:spPr bwMode="auto">
                            <a:xfrm>
                              <a:off x="7815" y="3138"/>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1600" i="1">
                                  <a:solidFill>
                                    <a:schemeClr val="tx1"/>
                                  </a:solidFill>
                                  <a:latin typeface="Arial" panose="020B0604020202020204" pitchFamily="34" charset="0"/>
                                  <a:ea typeface="微软雅黑" panose="020B0503020204020204" pitchFamily="34" charset="-122"/>
                                  <a:cs typeface="Arial" panose="020B0604020202020204" pitchFamily="34" charset="0"/>
                                </a:rPr>
                                <a:t>x</a:t>
                              </a:r>
                              <a:endPar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913" name="Text Box 859">
                              <a:extLst>
                                <a:ext uri="{FF2B5EF4-FFF2-40B4-BE49-F238E27FC236}">
                                  <a16:creationId xmlns:a16="http://schemas.microsoft.com/office/drawing/2014/main" id="{42A5CAAC-C8FC-8078-D5C9-0DFC58BCAAF6}"/>
                                </a:ext>
                              </a:extLst>
                            </p:cNvPr>
                            <p:cNvSpPr txBox="1">
                              <a:spLocks noChangeArrowheads="1"/>
                            </p:cNvSpPr>
                            <p:nvPr/>
                          </p:nvSpPr>
                          <p:spPr bwMode="auto">
                            <a:xfrm>
                              <a:off x="7434" y="2871"/>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rPr>
                                <a:t>2</a:t>
                              </a:r>
                            </a:p>
                          </p:txBody>
                        </p:sp>
                        <p:sp>
                          <p:nvSpPr>
                            <p:cNvPr id="153914" name="Text Box 860">
                              <a:extLst>
                                <a:ext uri="{FF2B5EF4-FFF2-40B4-BE49-F238E27FC236}">
                                  <a16:creationId xmlns:a16="http://schemas.microsoft.com/office/drawing/2014/main" id="{057C8562-427C-E9C8-E0B9-04B0C5470AB0}"/>
                                </a:ext>
                              </a:extLst>
                            </p:cNvPr>
                            <p:cNvSpPr txBox="1">
                              <a:spLocks noChangeArrowheads="1"/>
                            </p:cNvSpPr>
                            <p:nvPr/>
                          </p:nvSpPr>
                          <p:spPr bwMode="auto">
                            <a:xfrm>
                              <a:off x="7833" y="2871"/>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1600" i="1">
                                  <a:solidFill>
                                    <a:schemeClr val="tx1"/>
                                  </a:solidFill>
                                  <a:latin typeface="Arial" panose="020B0604020202020204" pitchFamily="34" charset="0"/>
                                  <a:ea typeface="微软雅黑" panose="020B0503020204020204" pitchFamily="34" charset="-122"/>
                                  <a:cs typeface="Arial" panose="020B0604020202020204" pitchFamily="34" charset="0"/>
                                </a:rPr>
                                <a:t>x</a:t>
                              </a:r>
                              <a:endPar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915" name="Text Box 861">
                              <a:extLst>
                                <a:ext uri="{FF2B5EF4-FFF2-40B4-BE49-F238E27FC236}">
                                  <a16:creationId xmlns:a16="http://schemas.microsoft.com/office/drawing/2014/main" id="{7A98E3D9-3CA8-CCFD-DD38-3145CF38A15F}"/>
                                </a:ext>
                              </a:extLst>
                            </p:cNvPr>
                            <p:cNvSpPr txBox="1">
                              <a:spLocks noChangeArrowheads="1"/>
                            </p:cNvSpPr>
                            <p:nvPr/>
                          </p:nvSpPr>
                          <p:spPr bwMode="auto">
                            <a:xfrm>
                              <a:off x="7044" y="2589"/>
                              <a:ext cx="4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rPr>
                                <a:t>5</a:t>
                              </a:r>
                            </a:p>
                          </p:txBody>
                        </p:sp>
                        <p:sp>
                          <p:nvSpPr>
                            <p:cNvPr id="153916" name="Text Box 862">
                              <a:extLst>
                                <a:ext uri="{FF2B5EF4-FFF2-40B4-BE49-F238E27FC236}">
                                  <a16:creationId xmlns:a16="http://schemas.microsoft.com/office/drawing/2014/main" id="{4C92DF71-21DF-F3AF-9E83-A64F0DA8C41D}"/>
                                </a:ext>
                              </a:extLst>
                            </p:cNvPr>
                            <p:cNvSpPr txBox="1">
                              <a:spLocks noChangeArrowheads="1"/>
                            </p:cNvSpPr>
                            <p:nvPr/>
                          </p:nvSpPr>
                          <p:spPr bwMode="auto">
                            <a:xfrm>
                              <a:off x="7434" y="2586"/>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rPr>
                                <a:t>1</a:t>
                              </a:r>
                            </a:p>
                          </p:txBody>
                        </p:sp>
                        <p:sp>
                          <p:nvSpPr>
                            <p:cNvPr id="153917" name="Text Box 863">
                              <a:extLst>
                                <a:ext uri="{FF2B5EF4-FFF2-40B4-BE49-F238E27FC236}">
                                  <a16:creationId xmlns:a16="http://schemas.microsoft.com/office/drawing/2014/main" id="{6F89A452-0A87-9F76-271A-FEFB7C0CD1F4}"/>
                                </a:ext>
                              </a:extLst>
                            </p:cNvPr>
                            <p:cNvSpPr txBox="1">
                              <a:spLocks noChangeArrowheads="1"/>
                            </p:cNvSpPr>
                            <p:nvPr/>
                          </p:nvSpPr>
                          <p:spPr bwMode="auto">
                            <a:xfrm>
                              <a:off x="7842" y="2586"/>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1600" i="1">
                                  <a:solidFill>
                                    <a:schemeClr val="tx1"/>
                                  </a:solidFill>
                                  <a:latin typeface="Arial" panose="020B0604020202020204" pitchFamily="34" charset="0"/>
                                  <a:ea typeface="微软雅黑" panose="020B0503020204020204" pitchFamily="34" charset="-122"/>
                                  <a:cs typeface="Arial" panose="020B0604020202020204" pitchFamily="34" charset="0"/>
                                </a:rPr>
                                <a:t>x</a:t>
                              </a:r>
                              <a:endPar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sp>
                      <p:nvSpPr>
                        <p:cNvPr id="153908" name="Line 864">
                          <a:extLst>
                            <a:ext uri="{FF2B5EF4-FFF2-40B4-BE49-F238E27FC236}">
                              <a16:creationId xmlns:a16="http://schemas.microsoft.com/office/drawing/2014/main" id="{65FE6B8D-CB3C-F6A5-3E4F-71D7FED37CF2}"/>
                            </a:ext>
                          </a:extLst>
                        </p:cNvPr>
                        <p:cNvSpPr>
                          <a:spLocks noChangeShapeType="1"/>
                        </p:cNvSpPr>
                        <p:nvPr/>
                      </p:nvSpPr>
                      <p:spPr bwMode="auto">
                        <a:xfrm>
                          <a:off x="6183" y="2949"/>
                          <a:ext cx="429"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909" name="Line 865">
                          <a:extLst>
                            <a:ext uri="{FF2B5EF4-FFF2-40B4-BE49-F238E27FC236}">
                              <a16:creationId xmlns:a16="http://schemas.microsoft.com/office/drawing/2014/main" id="{07A1FF4A-7470-662B-5D7C-480902BD0448}"/>
                            </a:ext>
                          </a:extLst>
                        </p:cNvPr>
                        <p:cNvSpPr>
                          <a:spLocks noChangeShapeType="1"/>
                        </p:cNvSpPr>
                        <p:nvPr/>
                      </p:nvSpPr>
                      <p:spPr bwMode="auto">
                        <a:xfrm>
                          <a:off x="9432" y="2958"/>
                          <a:ext cx="429"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53906" name="Text Box 866">
                        <a:extLst>
                          <a:ext uri="{FF2B5EF4-FFF2-40B4-BE49-F238E27FC236}">
                            <a16:creationId xmlns:a16="http://schemas.microsoft.com/office/drawing/2014/main" id="{0A668907-E07F-690D-FAC0-620E1E39A55E}"/>
                          </a:ext>
                        </a:extLst>
                      </p:cNvPr>
                      <p:cNvSpPr txBox="1">
                        <a:spLocks noChangeArrowheads="1"/>
                      </p:cNvSpPr>
                      <p:nvPr/>
                    </p:nvSpPr>
                    <p:spPr bwMode="auto">
                      <a:xfrm>
                        <a:off x="9717" y="3702"/>
                        <a:ext cx="1145"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64000"/>
                          </a:lnSpc>
                        </a:pPr>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x x x x </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sp>
                <p:nvSpPr>
                  <p:cNvPr id="153902" name="Text Box 867">
                    <a:extLst>
                      <a:ext uri="{FF2B5EF4-FFF2-40B4-BE49-F238E27FC236}">
                        <a16:creationId xmlns:a16="http://schemas.microsoft.com/office/drawing/2014/main" id="{D1183DCE-788F-EBA4-841E-1456181EDD17}"/>
                      </a:ext>
                    </a:extLst>
                  </p:cNvPr>
                  <p:cNvSpPr txBox="1">
                    <a:spLocks noChangeArrowheads="1"/>
                  </p:cNvSpPr>
                  <p:nvPr/>
                </p:nvSpPr>
                <p:spPr bwMode="auto">
                  <a:xfrm>
                    <a:off x="4449" y="7188"/>
                    <a:ext cx="3782"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b="0">
                        <a:solidFill>
                          <a:schemeClr val="tx1"/>
                        </a:solidFill>
                        <a:latin typeface="Arial" panose="020B0604020202020204" pitchFamily="34" charset="0"/>
                        <a:ea typeface="微软雅黑" panose="020B0503020204020204" pitchFamily="34" charset="-122"/>
                        <a:cs typeface="Arial" panose="020B0604020202020204" pitchFamily="34" charset="0"/>
                      </a:rPr>
                      <a:t>(b) </a:t>
                    </a:r>
                    <a:r>
                      <a:rPr lang="zh-CN" altLang="en-US" sz="1800" b="0">
                        <a:solidFill>
                          <a:schemeClr val="tx1"/>
                        </a:solidFill>
                        <a:latin typeface="Arial" panose="020B0604020202020204" pitchFamily="34" charset="0"/>
                        <a:ea typeface="微软雅黑" panose="020B0503020204020204" pitchFamily="34" charset="-122"/>
                        <a:cs typeface="Arial" panose="020B0604020202020204" pitchFamily="34" charset="0"/>
                      </a:rPr>
                      <a:t>第</a:t>
                    </a:r>
                    <a:r>
                      <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rPr>
                      <a:t>5~8</a:t>
                    </a:r>
                    <a:r>
                      <a:rPr lang="zh-CN" altLang="en-US" sz="1800" b="0">
                        <a:solidFill>
                          <a:schemeClr val="tx1"/>
                        </a:solidFill>
                        <a:latin typeface="Arial" panose="020B0604020202020204" pitchFamily="34" charset="0"/>
                        <a:ea typeface="微软雅黑" panose="020B0503020204020204" pitchFamily="34" charset="-122"/>
                        <a:cs typeface="Arial" panose="020B0604020202020204" pitchFamily="34" charset="0"/>
                      </a:rPr>
                      <a:t>比特输入时的状态</a:t>
                    </a:r>
                  </a:p>
                  <a:p>
                    <a:pPr eaLnBrk="1" hangingPunct="1"/>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53625" name="Group 868">
                  <a:extLst>
                    <a:ext uri="{FF2B5EF4-FFF2-40B4-BE49-F238E27FC236}">
                      <a16:creationId xmlns:a16="http://schemas.microsoft.com/office/drawing/2014/main" id="{1ADF457D-EE1C-530D-4ADE-BCDA5BEE9601}"/>
                    </a:ext>
                  </a:extLst>
                </p:cNvPr>
                <p:cNvGrpSpPr>
                  <a:grpSpLocks/>
                </p:cNvGrpSpPr>
                <p:nvPr/>
              </p:nvGrpSpPr>
              <p:grpSpPr bwMode="auto">
                <a:xfrm>
                  <a:off x="1785" y="7362"/>
                  <a:ext cx="9047" cy="1548"/>
                  <a:chOff x="1755" y="7662"/>
                  <a:chExt cx="9047" cy="1548"/>
                </a:xfrm>
              </p:grpSpPr>
              <p:grpSp>
                <p:nvGrpSpPr>
                  <p:cNvPr id="153764" name="Group 869">
                    <a:extLst>
                      <a:ext uri="{FF2B5EF4-FFF2-40B4-BE49-F238E27FC236}">
                        <a16:creationId xmlns:a16="http://schemas.microsoft.com/office/drawing/2014/main" id="{B3DF94B0-16EE-22DE-CCB5-66AAA63532BC}"/>
                      </a:ext>
                    </a:extLst>
                  </p:cNvPr>
                  <p:cNvGrpSpPr>
                    <a:grpSpLocks/>
                  </p:cNvGrpSpPr>
                  <p:nvPr/>
                </p:nvGrpSpPr>
                <p:grpSpPr bwMode="auto">
                  <a:xfrm>
                    <a:off x="4299" y="7749"/>
                    <a:ext cx="624" cy="876"/>
                    <a:chOff x="4389" y="6642"/>
                    <a:chExt cx="624" cy="876"/>
                  </a:xfrm>
                </p:grpSpPr>
                <p:sp>
                  <p:nvSpPr>
                    <p:cNvPr id="153897" name="Text Box 870">
                      <a:extLst>
                        <a:ext uri="{FF2B5EF4-FFF2-40B4-BE49-F238E27FC236}">
                          <a16:creationId xmlns:a16="http://schemas.microsoft.com/office/drawing/2014/main" id="{84F2D3BE-811C-257F-BAFE-1146744E2019}"/>
                        </a:ext>
                      </a:extLst>
                    </p:cNvPr>
                    <p:cNvSpPr txBox="1">
                      <a:spLocks noChangeArrowheads="1"/>
                    </p:cNvSpPr>
                    <p:nvPr/>
                  </p:nvSpPr>
                  <p:spPr bwMode="auto">
                    <a:xfrm>
                      <a:off x="4410" y="7242"/>
                      <a:ext cx="45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0000"/>
                        </a:lnSpc>
                      </a:pPr>
                      <a:r>
                        <a:rPr lang="en-US" altLang="zh-CN" sz="1800" i="1" baseline="30000">
                          <a:solidFill>
                            <a:schemeClr val="tx1"/>
                          </a:solidFill>
                          <a:latin typeface="Arial" panose="020B0604020202020204" pitchFamily="34" charset="0"/>
                          <a:ea typeface="微软雅黑" panose="020B0503020204020204" pitchFamily="34" charset="-122"/>
                          <a:cs typeface="Arial" panose="020B0604020202020204" pitchFamily="34" charset="0"/>
                        </a:rPr>
                        <a:t>x</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898" name="Text Box 871">
                      <a:extLst>
                        <a:ext uri="{FF2B5EF4-FFF2-40B4-BE49-F238E27FC236}">
                          <a16:creationId xmlns:a16="http://schemas.microsoft.com/office/drawing/2014/main" id="{1860CE8B-3E3F-A2DD-3FEA-F4FF612A032C}"/>
                        </a:ext>
                      </a:extLst>
                    </p:cNvPr>
                    <p:cNvSpPr txBox="1">
                      <a:spLocks noChangeArrowheads="1"/>
                    </p:cNvSpPr>
                    <p:nvPr/>
                  </p:nvSpPr>
                  <p:spPr bwMode="auto">
                    <a:xfrm>
                      <a:off x="4389" y="7011"/>
                      <a:ext cx="45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3</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899" name="Text Box 872">
                      <a:extLst>
                        <a:ext uri="{FF2B5EF4-FFF2-40B4-BE49-F238E27FC236}">
                          <a16:creationId xmlns:a16="http://schemas.microsoft.com/office/drawing/2014/main" id="{859C8EEC-8C1E-BDCA-4683-0774760F7E70}"/>
                        </a:ext>
                      </a:extLst>
                    </p:cNvPr>
                    <p:cNvSpPr txBox="1">
                      <a:spLocks noChangeArrowheads="1"/>
                    </p:cNvSpPr>
                    <p:nvPr/>
                  </p:nvSpPr>
                  <p:spPr bwMode="auto">
                    <a:xfrm>
                      <a:off x="4413" y="6783"/>
                      <a:ext cx="45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6</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900" name="Text Box 873">
                      <a:extLst>
                        <a:ext uri="{FF2B5EF4-FFF2-40B4-BE49-F238E27FC236}">
                          <a16:creationId xmlns:a16="http://schemas.microsoft.com/office/drawing/2014/main" id="{182A36F5-D16A-986F-951F-778C516B8EAD}"/>
                        </a:ext>
                      </a:extLst>
                    </p:cNvPr>
                    <p:cNvSpPr txBox="1">
                      <a:spLocks noChangeArrowheads="1"/>
                    </p:cNvSpPr>
                    <p:nvPr/>
                  </p:nvSpPr>
                  <p:spPr bwMode="auto">
                    <a:xfrm>
                      <a:off x="4554" y="6642"/>
                      <a:ext cx="45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9</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53765" name="Group 874">
                    <a:extLst>
                      <a:ext uri="{FF2B5EF4-FFF2-40B4-BE49-F238E27FC236}">
                        <a16:creationId xmlns:a16="http://schemas.microsoft.com/office/drawing/2014/main" id="{9004BA77-86CF-E880-8DC7-A59A6A3A2B83}"/>
                      </a:ext>
                    </a:extLst>
                  </p:cNvPr>
                  <p:cNvGrpSpPr>
                    <a:grpSpLocks/>
                  </p:cNvGrpSpPr>
                  <p:nvPr/>
                </p:nvGrpSpPr>
                <p:grpSpPr bwMode="auto">
                  <a:xfrm>
                    <a:off x="1755" y="7662"/>
                    <a:ext cx="9047" cy="1548"/>
                    <a:chOff x="1755" y="7662"/>
                    <a:chExt cx="9047" cy="1548"/>
                  </a:xfrm>
                </p:grpSpPr>
                <p:grpSp>
                  <p:nvGrpSpPr>
                    <p:cNvPr id="153766" name="Group 875">
                      <a:extLst>
                        <a:ext uri="{FF2B5EF4-FFF2-40B4-BE49-F238E27FC236}">
                          <a16:creationId xmlns:a16="http://schemas.microsoft.com/office/drawing/2014/main" id="{CDB0DA0F-E152-7198-668A-DC726202F1CD}"/>
                        </a:ext>
                      </a:extLst>
                    </p:cNvPr>
                    <p:cNvGrpSpPr>
                      <a:grpSpLocks/>
                    </p:cNvGrpSpPr>
                    <p:nvPr/>
                  </p:nvGrpSpPr>
                  <p:grpSpPr bwMode="auto">
                    <a:xfrm>
                      <a:off x="1755" y="7662"/>
                      <a:ext cx="9047" cy="1122"/>
                      <a:chOff x="1866" y="5025"/>
                      <a:chExt cx="9047" cy="1122"/>
                    </a:xfrm>
                  </p:grpSpPr>
                  <p:grpSp>
                    <p:nvGrpSpPr>
                      <p:cNvPr id="153768" name="Group 876">
                        <a:extLst>
                          <a:ext uri="{FF2B5EF4-FFF2-40B4-BE49-F238E27FC236}">
                            <a16:creationId xmlns:a16="http://schemas.microsoft.com/office/drawing/2014/main" id="{F624C4BC-06FE-486E-66EE-55D9587DCA9C}"/>
                          </a:ext>
                        </a:extLst>
                      </p:cNvPr>
                      <p:cNvGrpSpPr>
                        <a:grpSpLocks/>
                      </p:cNvGrpSpPr>
                      <p:nvPr/>
                    </p:nvGrpSpPr>
                    <p:grpSpPr bwMode="auto">
                      <a:xfrm>
                        <a:off x="6480" y="5037"/>
                        <a:ext cx="4433" cy="1001"/>
                        <a:chOff x="6480" y="5037"/>
                        <a:chExt cx="4433" cy="1001"/>
                      </a:xfrm>
                    </p:grpSpPr>
                    <p:grpSp>
                      <p:nvGrpSpPr>
                        <p:cNvPr id="153835" name="Group 877">
                          <a:extLst>
                            <a:ext uri="{FF2B5EF4-FFF2-40B4-BE49-F238E27FC236}">
                              <a16:creationId xmlns:a16="http://schemas.microsoft.com/office/drawing/2014/main" id="{C2D757F8-011B-36C2-0A8F-29A9C9D2ECCC}"/>
                            </a:ext>
                          </a:extLst>
                        </p:cNvPr>
                        <p:cNvGrpSpPr>
                          <a:grpSpLocks/>
                        </p:cNvGrpSpPr>
                        <p:nvPr/>
                      </p:nvGrpSpPr>
                      <p:grpSpPr bwMode="auto">
                        <a:xfrm>
                          <a:off x="6480" y="5037"/>
                          <a:ext cx="3678" cy="1001"/>
                          <a:chOff x="6183" y="2385"/>
                          <a:chExt cx="3678" cy="1001"/>
                        </a:xfrm>
                      </p:grpSpPr>
                      <p:grpSp>
                        <p:nvGrpSpPr>
                          <p:cNvPr id="153837" name="Group 878">
                            <a:extLst>
                              <a:ext uri="{FF2B5EF4-FFF2-40B4-BE49-F238E27FC236}">
                                <a16:creationId xmlns:a16="http://schemas.microsoft.com/office/drawing/2014/main" id="{B916FA80-6360-9AC7-3FD6-D392CA940A01}"/>
                              </a:ext>
                            </a:extLst>
                          </p:cNvPr>
                          <p:cNvGrpSpPr>
                            <a:grpSpLocks/>
                          </p:cNvGrpSpPr>
                          <p:nvPr/>
                        </p:nvGrpSpPr>
                        <p:grpSpPr bwMode="auto">
                          <a:xfrm>
                            <a:off x="6615" y="2385"/>
                            <a:ext cx="2814" cy="1001"/>
                            <a:chOff x="6204" y="2535"/>
                            <a:chExt cx="2814" cy="1001"/>
                          </a:xfrm>
                        </p:grpSpPr>
                        <p:grpSp>
                          <p:nvGrpSpPr>
                            <p:cNvPr id="153840" name="Group 879">
                              <a:extLst>
                                <a:ext uri="{FF2B5EF4-FFF2-40B4-BE49-F238E27FC236}">
                                  <a16:creationId xmlns:a16="http://schemas.microsoft.com/office/drawing/2014/main" id="{1A826981-EC39-FB90-9A6A-787874AE22D0}"/>
                                </a:ext>
                              </a:extLst>
                            </p:cNvPr>
                            <p:cNvGrpSpPr>
                              <a:grpSpLocks/>
                            </p:cNvGrpSpPr>
                            <p:nvPr/>
                          </p:nvGrpSpPr>
                          <p:grpSpPr bwMode="auto">
                            <a:xfrm>
                              <a:off x="6204" y="2535"/>
                              <a:ext cx="2814" cy="1001"/>
                              <a:chOff x="6615" y="2346"/>
                              <a:chExt cx="3594" cy="1341"/>
                            </a:xfrm>
                          </p:grpSpPr>
                          <p:sp>
                            <p:nvSpPr>
                              <p:cNvPr id="153848" name="Line 880">
                                <a:extLst>
                                  <a:ext uri="{FF2B5EF4-FFF2-40B4-BE49-F238E27FC236}">
                                    <a16:creationId xmlns:a16="http://schemas.microsoft.com/office/drawing/2014/main" id="{970CECD8-4698-1AA0-AC63-1560B34BDCC8}"/>
                                  </a:ext>
                                </a:extLst>
                              </p:cNvPr>
                              <p:cNvSpPr>
                                <a:spLocks noChangeShapeType="1"/>
                              </p:cNvSpPr>
                              <p:nvPr/>
                            </p:nvSpPr>
                            <p:spPr bwMode="auto">
                              <a:xfrm flipV="1">
                                <a:off x="7329" y="3672"/>
                                <a:ext cx="2193" cy="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53849" name="Group 881">
                                <a:extLst>
                                  <a:ext uri="{FF2B5EF4-FFF2-40B4-BE49-F238E27FC236}">
                                    <a16:creationId xmlns:a16="http://schemas.microsoft.com/office/drawing/2014/main" id="{08B72886-EE64-786E-C0DB-08A0E1457712}"/>
                                  </a:ext>
                                </a:extLst>
                              </p:cNvPr>
                              <p:cNvGrpSpPr>
                                <a:grpSpLocks/>
                              </p:cNvGrpSpPr>
                              <p:nvPr/>
                            </p:nvGrpSpPr>
                            <p:grpSpPr bwMode="auto">
                              <a:xfrm>
                                <a:off x="7290" y="2523"/>
                                <a:ext cx="1414" cy="746"/>
                                <a:chOff x="5907" y="8910"/>
                                <a:chExt cx="1623" cy="912"/>
                              </a:xfrm>
                            </p:grpSpPr>
                            <p:sp>
                              <p:nvSpPr>
                                <p:cNvPr id="153894" name="Line 882">
                                  <a:extLst>
                                    <a:ext uri="{FF2B5EF4-FFF2-40B4-BE49-F238E27FC236}">
                                      <a16:creationId xmlns:a16="http://schemas.microsoft.com/office/drawing/2014/main" id="{728ACF0B-1FB5-7679-5F11-47388DD75CC1}"/>
                                    </a:ext>
                                  </a:extLst>
                                </p:cNvPr>
                                <p:cNvSpPr>
                                  <a:spLocks noChangeShapeType="1"/>
                                </p:cNvSpPr>
                                <p:nvPr/>
                              </p:nvSpPr>
                              <p:spPr bwMode="auto">
                                <a:xfrm flipV="1">
                                  <a:off x="5910" y="9372"/>
                                  <a:ext cx="1050" cy="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895" name="Line 883">
                                  <a:extLst>
                                    <a:ext uri="{FF2B5EF4-FFF2-40B4-BE49-F238E27FC236}">
                                      <a16:creationId xmlns:a16="http://schemas.microsoft.com/office/drawing/2014/main" id="{9E4C51F7-8061-EA13-5439-22CC20F45DBD}"/>
                                    </a:ext>
                                  </a:extLst>
                                </p:cNvPr>
                                <p:cNvSpPr>
                                  <a:spLocks noChangeShapeType="1"/>
                                </p:cNvSpPr>
                                <p:nvPr/>
                              </p:nvSpPr>
                              <p:spPr bwMode="auto">
                                <a:xfrm>
                                  <a:off x="5907" y="9819"/>
                                  <a:ext cx="1623"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896" name="Line 884">
                                  <a:extLst>
                                    <a:ext uri="{FF2B5EF4-FFF2-40B4-BE49-F238E27FC236}">
                                      <a16:creationId xmlns:a16="http://schemas.microsoft.com/office/drawing/2014/main" id="{9B81A731-1C99-4ECE-F971-7B62A8001DD2}"/>
                                    </a:ext>
                                  </a:extLst>
                                </p:cNvPr>
                                <p:cNvSpPr>
                                  <a:spLocks noChangeShapeType="1"/>
                                </p:cNvSpPr>
                                <p:nvPr/>
                              </p:nvSpPr>
                              <p:spPr bwMode="auto">
                                <a:xfrm>
                                  <a:off x="5931" y="8910"/>
                                  <a:ext cx="462"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53850" name="Group 885">
                                <a:extLst>
                                  <a:ext uri="{FF2B5EF4-FFF2-40B4-BE49-F238E27FC236}">
                                    <a16:creationId xmlns:a16="http://schemas.microsoft.com/office/drawing/2014/main" id="{A05CA168-6DF7-7B91-61B7-4B2137213EC4}"/>
                                  </a:ext>
                                </a:extLst>
                              </p:cNvPr>
                              <p:cNvGrpSpPr>
                                <a:grpSpLocks/>
                              </p:cNvGrpSpPr>
                              <p:nvPr/>
                            </p:nvGrpSpPr>
                            <p:grpSpPr bwMode="auto">
                              <a:xfrm>
                                <a:off x="9201" y="2523"/>
                                <a:ext cx="324" cy="756"/>
                                <a:chOff x="8100" y="8910"/>
                                <a:chExt cx="372" cy="924"/>
                              </a:xfrm>
                            </p:grpSpPr>
                            <p:sp>
                              <p:nvSpPr>
                                <p:cNvPr id="153891" name="Line 886">
                                  <a:extLst>
                                    <a:ext uri="{FF2B5EF4-FFF2-40B4-BE49-F238E27FC236}">
                                      <a16:creationId xmlns:a16="http://schemas.microsoft.com/office/drawing/2014/main" id="{4EAEA70D-BA3C-96FA-00B8-0AAC6402086B}"/>
                                    </a:ext>
                                  </a:extLst>
                                </p:cNvPr>
                                <p:cNvSpPr>
                                  <a:spLocks noChangeShapeType="1"/>
                                </p:cNvSpPr>
                                <p:nvPr/>
                              </p:nvSpPr>
                              <p:spPr bwMode="auto">
                                <a:xfrm>
                                  <a:off x="8100" y="9369"/>
                                  <a:ext cx="351"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892" name="Line 887">
                                  <a:extLst>
                                    <a:ext uri="{FF2B5EF4-FFF2-40B4-BE49-F238E27FC236}">
                                      <a16:creationId xmlns:a16="http://schemas.microsoft.com/office/drawing/2014/main" id="{BB292E76-E55E-3721-931A-0267A31E52D9}"/>
                                    </a:ext>
                                  </a:extLst>
                                </p:cNvPr>
                                <p:cNvSpPr>
                                  <a:spLocks noChangeShapeType="1"/>
                                </p:cNvSpPr>
                                <p:nvPr/>
                              </p:nvSpPr>
                              <p:spPr bwMode="auto">
                                <a:xfrm>
                                  <a:off x="8112" y="9831"/>
                                  <a:ext cx="351"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893" name="Line 888">
                                  <a:extLst>
                                    <a:ext uri="{FF2B5EF4-FFF2-40B4-BE49-F238E27FC236}">
                                      <a16:creationId xmlns:a16="http://schemas.microsoft.com/office/drawing/2014/main" id="{C979F254-965F-414E-FACD-C650F4AD54C6}"/>
                                    </a:ext>
                                  </a:extLst>
                                </p:cNvPr>
                                <p:cNvSpPr>
                                  <a:spLocks noChangeShapeType="1"/>
                                </p:cNvSpPr>
                                <p:nvPr/>
                              </p:nvSpPr>
                              <p:spPr bwMode="auto">
                                <a:xfrm>
                                  <a:off x="8121" y="8910"/>
                                  <a:ext cx="351"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53851" name="Group 889">
                                <a:extLst>
                                  <a:ext uri="{FF2B5EF4-FFF2-40B4-BE49-F238E27FC236}">
                                    <a16:creationId xmlns:a16="http://schemas.microsoft.com/office/drawing/2014/main" id="{E8EE5BD3-A031-71B0-A0E1-C861D178F1CE}"/>
                                  </a:ext>
                                </a:extLst>
                              </p:cNvPr>
                              <p:cNvGrpSpPr>
                                <a:grpSpLocks/>
                              </p:cNvGrpSpPr>
                              <p:nvPr/>
                            </p:nvGrpSpPr>
                            <p:grpSpPr bwMode="auto">
                              <a:xfrm>
                                <a:off x="7704" y="2346"/>
                                <a:ext cx="1511" cy="1167"/>
                                <a:chOff x="7296" y="8549"/>
                                <a:chExt cx="1734" cy="1426"/>
                              </a:xfrm>
                            </p:grpSpPr>
                            <p:sp>
                              <p:nvSpPr>
                                <p:cNvPr id="153881" name="Line 890">
                                  <a:extLst>
                                    <a:ext uri="{FF2B5EF4-FFF2-40B4-BE49-F238E27FC236}">
                                      <a16:creationId xmlns:a16="http://schemas.microsoft.com/office/drawing/2014/main" id="{994AA99A-6C3E-A85C-399A-0221F5DFFE63}"/>
                                    </a:ext>
                                  </a:extLst>
                                </p:cNvPr>
                                <p:cNvSpPr>
                                  <a:spLocks noChangeShapeType="1"/>
                                </p:cNvSpPr>
                                <p:nvPr/>
                              </p:nvSpPr>
                              <p:spPr bwMode="auto">
                                <a:xfrm flipV="1">
                                  <a:off x="7314" y="8562"/>
                                  <a:ext cx="170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53882" name="Group 891">
                                  <a:extLst>
                                    <a:ext uri="{FF2B5EF4-FFF2-40B4-BE49-F238E27FC236}">
                                      <a16:creationId xmlns:a16="http://schemas.microsoft.com/office/drawing/2014/main" id="{88B9979F-1A13-8535-4B4A-514885DF1A28}"/>
                                    </a:ext>
                                  </a:extLst>
                                </p:cNvPr>
                                <p:cNvGrpSpPr>
                                  <a:grpSpLocks/>
                                </p:cNvGrpSpPr>
                                <p:nvPr/>
                              </p:nvGrpSpPr>
                              <p:grpSpPr bwMode="auto">
                                <a:xfrm>
                                  <a:off x="7296" y="8549"/>
                                  <a:ext cx="1734" cy="1426"/>
                                  <a:chOff x="7296" y="8549"/>
                                  <a:chExt cx="1734" cy="1426"/>
                                </a:xfrm>
                              </p:grpSpPr>
                              <p:sp>
                                <p:nvSpPr>
                                  <p:cNvPr id="153883" name="Line 892">
                                    <a:extLst>
                                      <a:ext uri="{FF2B5EF4-FFF2-40B4-BE49-F238E27FC236}">
                                        <a16:creationId xmlns:a16="http://schemas.microsoft.com/office/drawing/2014/main" id="{1ECB68B9-7E79-AB61-7E72-F113E1B0711A}"/>
                                      </a:ext>
                                    </a:extLst>
                                  </p:cNvPr>
                                  <p:cNvSpPr>
                                    <a:spLocks noChangeShapeType="1"/>
                                  </p:cNvSpPr>
                                  <p:nvPr/>
                                </p:nvSpPr>
                                <p:spPr bwMode="auto">
                                  <a:xfrm flipV="1">
                                    <a:off x="9018" y="8549"/>
                                    <a:ext cx="0" cy="135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84" name="Line 893">
                                    <a:extLst>
                                      <a:ext uri="{FF2B5EF4-FFF2-40B4-BE49-F238E27FC236}">
                                        <a16:creationId xmlns:a16="http://schemas.microsoft.com/office/drawing/2014/main" id="{88D7471D-056E-2B90-459E-863360845DE0}"/>
                                      </a:ext>
                                    </a:extLst>
                                  </p:cNvPr>
                                  <p:cNvSpPr>
                                    <a:spLocks noChangeShapeType="1"/>
                                  </p:cNvSpPr>
                                  <p:nvPr/>
                                </p:nvSpPr>
                                <p:spPr bwMode="auto">
                                  <a:xfrm flipV="1">
                                    <a:off x="7860" y="9467"/>
                                    <a:ext cx="117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85" name="Line 894">
                                    <a:extLst>
                                      <a:ext uri="{FF2B5EF4-FFF2-40B4-BE49-F238E27FC236}">
                                        <a16:creationId xmlns:a16="http://schemas.microsoft.com/office/drawing/2014/main" id="{2FEA8DEC-8BAF-367B-4444-EC6F20801FBA}"/>
                                      </a:ext>
                                    </a:extLst>
                                  </p:cNvPr>
                                  <p:cNvSpPr>
                                    <a:spLocks noChangeShapeType="1"/>
                                  </p:cNvSpPr>
                                  <p:nvPr/>
                                </p:nvSpPr>
                                <p:spPr bwMode="auto">
                                  <a:xfrm flipV="1">
                                    <a:off x="8448" y="8558"/>
                                    <a:ext cx="0" cy="135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86" name="Line 895">
                                    <a:extLst>
                                      <a:ext uri="{FF2B5EF4-FFF2-40B4-BE49-F238E27FC236}">
                                        <a16:creationId xmlns:a16="http://schemas.microsoft.com/office/drawing/2014/main" id="{6EE29A51-143D-2997-258F-8436624B7986}"/>
                                      </a:ext>
                                    </a:extLst>
                                  </p:cNvPr>
                                  <p:cNvSpPr>
                                    <a:spLocks noChangeShapeType="1"/>
                                  </p:cNvSpPr>
                                  <p:nvPr/>
                                </p:nvSpPr>
                                <p:spPr bwMode="auto">
                                  <a:xfrm flipH="1" flipV="1">
                                    <a:off x="7866" y="8570"/>
                                    <a:ext cx="9" cy="8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87" name="Line 896">
                                    <a:extLst>
                                      <a:ext uri="{FF2B5EF4-FFF2-40B4-BE49-F238E27FC236}">
                                        <a16:creationId xmlns:a16="http://schemas.microsoft.com/office/drawing/2014/main" id="{91D8B953-CEF6-F99C-7DFF-5A4CB9AB54AA}"/>
                                      </a:ext>
                                    </a:extLst>
                                  </p:cNvPr>
                                  <p:cNvSpPr>
                                    <a:spLocks noChangeShapeType="1"/>
                                  </p:cNvSpPr>
                                  <p:nvPr/>
                                </p:nvSpPr>
                                <p:spPr bwMode="auto">
                                  <a:xfrm flipV="1">
                                    <a:off x="7296" y="8558"/>
                                    <a:ext cx="0" cy="44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88" name="Line 897">
                                    <a:extLst>
                                      <a:ext uri="{FF2B5EF4-FFF2-40B4-BE49-F238E27FC236}">
                                        <a16:creationId xmlns:a16="http://schemas.microsoft.com/office/drawing/2014/main" id="{D2C4686F-B395-7C35-93CA-D9A6658FF30F}"/>
                                      </a:ext>
                                    </a:extLst>
                                  </p:cNvPr>
                                  <p:cNvSpPr>
                                    <a:spLocks noChangeShapeType="1"/>
                                  </p:cNvSpPr>
                                  <p:nvPr/>
                                </p:nvSpPr>
                                <p:spPr bwMode="auto">
                                  <a:xfrm flipV="1">
                                    <a:off x="7305" y="9025"/>
                                    <a:ext cx="169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89" name="Line 898">
                                    <a:extLst>
                                      <a:ext uri="{FF2B5EF4-FFF2-40B4-BE49-F238E27FC236}">
                                        <a16:creationId xmlns:a16="http://schemas.microsoft.com/office/drawing/2014/main" id="{15175555-10AF-4E61-7FD6-67272CF2CAD5}"/>
                                      </a:ext>
                                    </a:extLst>
                                  </p:cNvPr>
                                  <p:cNvSpPr>
                                    <a:spLocks noChangeShapeType="1"/>
                                  </p:cNvSpPr>
                                  <p:nvPr/>
                                </p:nvSpPr>
                                <p:spPr bwMode="auto">
                                  <a:xfrm flipV="1">
                                    <a:off x="8454" y="9464"/>
                                    <a:ext cx="56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90" name="Line 899">
                                    <a:extLst>
                                      <a:ext uri="{FF2B5EF4-FFF2-40B4-BE49-F238E27FC236}">
                                        <a16:creationId xmlns:a16="http://schemas.microsoft.com/office/drawing/2014/main" id="{8F7E478D-7C75-9A7E-E0B9-3F610AF1CAED}"/>
                                      </a:ext>
                                    </a:extLst>
                                  </p:cNvPr>
                                  <p:cNvSpPr>
                                    <a:spLocks noChangeShapeType="1"/>
                                  </p:cNvSpPr>
                                  <p:nvPr/>
                                </p:nvSpPr>
                                <p:spPr bwMode="auto">
                                  <a:xfrm flipV="1">
                                    <a:off x="8451" y="9975"/>
                                    <a:ext cx="576"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53852" name="Group 900">
                                <a:extLst>
                                  <a:ext uri="{FF2B5EF4-FFF2-40B4-BE49-F238E27FC236}">
                                    <a16:creationId xmlns:a16="http://schemas.microsoft.com/office/drawing/2014/main" id="{8B5D0061-E476-6F37-8576-61FF4ACA3787}"/>
                                  </a:ext>
                                </a:extLst>
                              </p:cNvPr>
                              <p:cNvGrpSpPr>
                                <a:grpSpLocks/>
                              </p:cNvGrpSpPr>
                              <p:nvPr/>
                            </p:nvGrpSpPr>
                            <p:grpSpPr bwMode="auto">
                              <a:xfrm>
                                <a:off x="6615" y="2526"/>
                                <a:ext cx="723" cy="1161"/>
                                <a:chOff x="6615" y="2526"/>
                                <a:chExt cx="723" cy="1161"/>
                              </a:xfrm>
                            </p:grpSpPr>
                            <p:grpSp>
                              <p:nvGrpSpPr>
                                <p:cNvPr id="153868" name="Group 901">
                                  <a:extLst>
                                    <a:ext uri="{FF2B5EF4-FFF2-40B4-BE49-F238E27FC236}">
                                      <a16:creationId xmlns:a16="http://schemas.microsoft.com/office/drawing/2014/main" id="{3967BDCC-C408-4558-56E0-6B4A8CCF36CD}"/>
                                    </a:ext>
                                  </a:extLst>
                                </p:cNvPr>
                                <p:cNvGrpSpPr>
                                  <a:grpSpLocks/>
                                </p:cNvGrpSpPr>
                                <p:nvPr/>
                              </p:nvGrpSpPr>
                              <p:grpSpPr bwMode="auto">
                                <a:xfrm flipH="1">
                                  <a:off x="6855" y="2724"/>
                                  <a:ext cx="225" cy="720"/>
                                  <a:chOff x="5190" y="2775"/>
                                  <a:chExt cx="225" cy="720"/>
                                </a:xfrm>
                              </p:grpSpPr>
                              <p:sp>
                                <p:nvSpPr>
                                  <p:cNvPr id="153877" name="Oval 902">
                                    <a:extLst>
                                      <a:ext uri="{FF2B5EF4-FFF2-40B4-BE49-F238E27FC236}">
                                        <a16:creationId xmlns:a16="http://schemas.microsoft.com/office/drawing/2014/main" id="{449DA3DE-B9D1-CDA4-EFAA-5E6CE26D1F99}"/>
                                      </a:ext>
                                    </a:extLst>
                                  </p:cNvPr>
                                  <p:cNvSpPr>
                                    <a:spLocks noChangeArrowheads="1"/>
                                  </p:cNvSpPr>
                                  <p:nvPr/>
                                </p:nvSpPr>
                                <p:spPr bwMode="auto">
                                  <a:xfrm>
                                    <a:off x="5190" y="297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878" name="Oval 903">
                                    <a:extLst>
                                      <a:ext uri="{FF2B5EF4-FFF2-40B4-BE49-F238E27FC236}">
                                        <a16:creationId xmlns:a16="http://schemas.microsoft.com/office/drawing/2014/main" id="{1726F36C-3081-AD62-3CC1-DBF9FC593F17}"/>
                                      </a:ext>
                                    </a:extLst>
                                  </p:cNvPr>
                                  <p:cNvSpPr>
                                    <a:spLocks noChangeArrowheads="1"/>
                                  </p:cNvSpPr>
                                  <p:nvPr/>
                                </p:nvSpPr>
                                <p:spPr bwMode="auto">
                                  <a:xfrm>
                                    <a:off x="5190" y="319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879" name="Oval 904">
                                    <a:extLst>
                                      <a:ext uri="{FF2B5EF4-FFF2-40B4-BE49-F238E27FC236}">
                                        <a16:creationId xmlns:a16="http://schemas.microsoft.com/office/drawing/2014/main" id="{A9B74E69-3403-2C62-F5A8-487F5994C0C5}"/>
                                      </a:ext>
                                    </a:extLst>
                                  </p:cNvPr>
                                  <p:cNvSpPr>
                                    <a:spLocks noChangeArrowheads="1"/>
                                  </p:cNvSpPr>
                                  <p:nvPr/>
                                </p:nvSpPr>
                                <p:spPr bwMode="auto">
                                  <a:xfrm>
                                    <a:off x="5295" y="277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880" name="Oval 905">
                                    <a:extLst>
                                      <a:ext uri="{FF2B5EF4-FFF2-40B4-BE49-F238E27FC236}">
                                        <a16:creationId xmlns:a16="http://schemas.microsoft.com/office/drawing/2014/main" id="{9937030B-D554-CD1A-6CDD-29D8C1963A07}"/>
                                      </a:ext>
                                    </a:extLst>
                                  </p:cNvPr>
                                  <p:cNvSpPr>
                                    <a:spLocks noChangeArrowheads="1"/>
                                  </p:cNvSpPr>
                                  <p:nvPr/>
                                </p:nvSpPr>
                                <p:spPr bwMode="auto">
                                  <a:xfrm>
                                    <a:off x="5310" y="339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53869" name="Group 906">
                                  <a:extLst>
                                    <a:ext uri="{FF2B5EF4-FFF2-40B4-BE49-F238E27FC236}">
                                      <a16:creationId xmlns:a16="http://schemas.microsoft.com/office/drawing/2014/main" id="{5BF36C15-AAC4-2082-9BC1-875A33DBE7C2}"/>
                                    </a:ext>
                                  </a:extLst>
                                </p:cNvPr>
                                <p:cNvGrpSpPr>
                                  <a:grpSpLocks/>
                                </p:cNvGrpSpPr>
                                <p:nvPr/>
                              </p:nvGrpSpPr>
                              <p:grpSpPr bwMode="auto">
                                <a:xfrm>
                                  <a:off x="6939" y="2526"/>
                                  <a:ext cx="399" cy="1161"/>
                                  <a:chOff x="6939" y="2526"/>
                                  <a:chExt cx="399" cy="1161"/>
                                </a:xfrm>
                              </p:grpSpPr>
                              <p:sp>
                                <p:nvSpPr>
                                  <p:cNvPr id="153873" name="Line 907">
                                    <a:extLst>
                                      <a:ext uri="{FF2B5EF4-FFF2-40B4-BE49-F238E27FC236}">
                                        <a16:creationId xmlns:a16="http://schemas.microsoft.com/office/drawing/2014/main" id="{5BACC74C-4872-98FA-04D0-D32DB6325313}"/>
                                      </a:ext>
                                    </a:extLst>
                                  </p:cNvPr>
                                  <p:cNvSpPr>
                                    <a:spLocks noChangeShapeType="1"/>
                                  </p:cNvSpPr>
                                  <p:nvPr/>
                                </p:nvSpPr>
                                <p:spPr bwMode="auto">
                                  <a:xfrm flipV="1">
                                    <a:off x="7083" y="2910"/>
                                    <a:ext cx="213" cy="5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74" name="Line 908">
                                    <a:extLst>
                                      <a:ext uri="{FF2B5EF4-FFF2-40B4-BE49-F238E27FC236}">
                                        <a16:creationId xmlns:a16="http://schemas.microsoft.com/office/drawing/2014/main" id="{5D7B0A79-0685-74E8-3616-2FF004DE4182}"/>
                                      </a:ext>
                                    </a:extLst>
                                  </p:cNvPr>
                                  <p:cNvSpPr>
                                    <a:spLocks noChangeShapeType="1"/>
                                  </p:cNvSpPr>
                                  <p:nvPr/>
                                </p:nvSpPr>
                                <p:spPr bwMode="auto">
                                  <a:xfrm>
                                    <a:off x="7068" y="3231"/>
                                    <a:ext cx="231" cy="4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75" name="Line 909">
                                    <a:extLst>
                                      <a:ext uri="{FF2B5EF4-FFF2-40B4-BE49-F238E27FC236}">
                                        <a16:creationId xmlns:a16="http://schemas.microsoft.com/office/drawing/2014/main" id="{F308653F-F780-B576-4BD5-90AF0F6ADE6D}"/>
                                      </a:ext>
                                    </a:extLst>
                                  </p:cNvPr>
                                  <p:cNvSpPr>
                                    <a:spLocks noChangeShapeType="1"/>
                                  </p:cNvSpPr>
                                  <p:nvPr/>
                                </p:nvSpPr>
                                <p:spPr bwMode="auto">
                                  <a:xfrm flipV="1">
                                    <a:off x="6960" y="2526"/>
                                    <a:ext cx="360" cy="21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76" name="Line 910">
                                    <a:extLst>
                                      <a:ext uri="{FF2B5EF4-FFF2-40B4-BE49-F238E27FC236}">
                                        <a16:creationId xmlns:a16="http://schemas.microsoft.com/office/drawing/2014/main" id="{CCF9D111-3514-0B4F-3DF3-5A289C878DAD}"/>
                                      </a:ext>
                                    </a:extLst>
                                  </p:cNvPr>
                                  <p:cNvSpPr>
                                    <a:spLocks noChangeShapeType="1"/>
                                  </p:cNvSpPr>
                                  <p:nvPr/>
                                </p:nvSpPr>
                                <p:spPr bwMode="auto">
                                  <a:xfrm>
                                    <a:off x="6939" y="3420"/>
                                    <a:ext cx="399" cy="26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53870" name="Group 911">
                                  <a:extLst>
                                    <a:ext uri="{FF2B5EF4-FFF2-40B4-BE49-F238E27FC236}">
                                      <a16:creationId xmlns:a16="http://schemas.microsoft.com/office/drawing/2014/main" id="{05EC729B-3637-BE07-1169-E56C603A85A9}"/>
                                    </a:ext>
                                  </a:extLst>
                                </p:cNvPr>
                                <p:cNvGrpSpPr>
                                  <a:grpSpLocks/>
                                </p:cNvGrpSpPr>
                                <p:nvPr/>
                              </p:nvGrpSpPr>
                              <p:grpSpPr bwMode="auto">
                                <a:xfrm>
                                  <a:off x="6615" y="2838"/>
                                  <a:ext cx="255" cy="309"/>
                                  <a:chOff x="2175" y="2859"/>
                                  <a:chExt cx="255" cy="309"/>
                                </a:xfrm>
                              </p:grpSpPr>
                              <p:sp>
                                <p:nvSpPr>
                                  <p:cNvPr id="153871" name="Oval 912">
                                    <a:extLst>
                                      <a:ext uri="{FF2B5EF4-FFF2-40B4-BE49-F238E27FC236}">
                                        <a16:creationId xmlns:a16="http://schemas.microsoft.com/office/drawing/2014/main" id="{A41784DE-827F-7277-6C03-CCA629BFA226}"/>
                                      </a:ext>
                                    </a:extLst>
                                  </p:cNvPr>
                                  <p:cNvSpPr>
                                    <a:spLocks noChangeArrowheads="1"/>
                                  </p:cNvSpPr>
                                  <p:nvPr/>
                                </p:nvSpPr>
                                <p:spPr bwMode="auto">
                                  <a:xfrm>
                                    <a:off x="2175" y="3063"/>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872" name="Line 913">
                                    <a:extLst>
                                      <a:ext uri="{FF2B5EF4-FFF2-40B4-BE49-F238E27FC236}">
                                        <a16:creationId xmlns:a16="http://schemas.microsoft.com/office/drawing/2014/main" id="{9748D535-EF7F-E985-701D-F3452474639B}"/>
                                      </a:ext>
                                    </a:extLst>
                                  </p:cNvPr>
                                  <p:cNvSpPr>
                                    <a:spLocks noChangeShapeType="1"/>
                                  </p:cNvSpPr>
                                  <p:nvPr/>
                                </p:nvSpPr>
                                <p:spPr bwMode="auto">
                                  <a:xfrm flipV="1">
                                    <a:off x="2259" y="2859"/>
                                    <a:ext cx="171" cy="20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53853" name="Group 914">
                                <a:extLst>
                                  <a:ext uri="{FF2B5EF4-FFF2-40B4-BE49-F238E27FC236}">
                                    <a16:creationId xmlns:a16="http://schemas.microsoft.com/office/drawing/2014/main" id="{3EF78829-BF97-1389-DE2A-3ACEC9D3207B}"/>
                                  </a:ext>
                                </a:extLst>
                              </p:cNvPr>
                              <p:cNvGrpSpPr>
                                <a:grpSpLocks/>
                              </p:cNvGrpSpPr>
                              <p:nvPr/>
                            </p:nvGrpSpPr>
                            <p:grpSpPr bwMode="auto">
                              <a:xfrm>
                                <a:off x="9495" y="2532"/>
                                <a:ext cx="714" cy="1134"/>
                                <a:chOff x="9495" y="2532"/>
                                <a:chExt cx="714" cy="1134"/>
                              </a:xfrm>
                            </p:grpSpPr>
                            <p:grpSp>
                              <p:nvGrpSpPr>
                                <p:cNvPr id="153854" name="Group 915">
                                  <a:extLst>
                                    <a:ext uri="{FF2B5EF4-FFF2-40B4-BE49-F238E27FC236}">
                                      <a16:creationId xmlns:a16="http://schemas.microsoft.com/office/drawing/2014/main" id="{3547A544-29E4-8156-B782-EB621D4BFB9C}"/>
                                    </a:ext>
                                  </a:extLst>
                                </p:cNvPr>
                                <p:cNvGrpSpPr>
                                  <a:grpSpLocks/>
                                </p:cNvGrpSpPr>
                                <p:nvPr/>
                              </p:nvGrpSpPr>
                              <p:grpSpPr bwMode="auto">
                                <a:xfrm>
                                  <a:off x="9495" y="2532"/>
                                  <a:ext cx="399" cy="1134"/>
                                  <a:chOff x="9495" y="2532"/>
                                  <a:chExt cx="399" cy="1134"/>
                                </a:xfrm>
                              </p:grpSpPr>
                              <p:grpSp>
                                <p:nvGrpSpPr>
                                  <p:cNvPr id="153858" name="Group 916">
                                    <a:extLst>
                                      <a:ext uri="{FF2B5EF4-FFF2-40B4-BE49-F238E27FC236}">
                                        <a16:creationId xmlns:a16="http://schemas.microsoft.com/office/drawing/2014/main" id="{889D27DC-9215-5DEE-856D-F0D81D798854}"/>
                                      </a:ext>
                                    </a:extLst>
                                  </p:cNvPr>
                                  <p:cNvGrpSpPr>
                                    <a:grpSpLocks/>
                                  </p:cNvGrpSpPr>
                                  <p:nvPr/>
                                </p:nvGrpSpPr>
                                <p:grpSpPr bwMode="auto">
                                  <a:xfrm>
                                    <a:off x="9669" y="2766"/>
                                    <a:ext cx="225" cy="720"/>
                                    <a:chOff x="5190" y="2775"/>
                                    <a:chExt cx="225" cy="720"/>
                                  </a:xfrm>
                                </p:grpSpPr>
                                <p:sp>
                                  <p:nvSpPr>
                                    <p:cNvPr id="153864" name="Oval 917">
                                      <a:extLst>
                                        <a:ext uri="{FF2B5EF4-FFF2-40B4-BE49-F238E27FC236}">
                                          <a16:creationId xmlns:a16="http://schemas.microsoft.com/office/drawing/2014/main" id="{94B8B026-E9CB-A38E-B940-4D8D57D05CA7}"/>
                                        </a:ext>
                                      </a:extLst>
                                    </p:cNvPr>
                                    <p:cNvSpPr>
                                      <a:spLocks noChangeArrowheads="1"/>
                                    </p:cNvSpPr>
                                    <p:nvPr/>
                                  </p:nvSpPr>
                                  <p:spPr bwMode="auto">
                                    <a:xfrm>
                                      <a:off x="5190" y="297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865" name="Oval 918">
                                      <a:extLst>
                                        <a:ext uri="{FF2B5EF4-FFF2-40B4-BE49-F238E27FC236}">
                                          <a16:creationId xmlns:a16="http://schemas.microsoft.com/office/drawing/2014/main" id="{E3C6C036-0D30-7396-0B78-7DFAFA23554F}"/>
                                        </a:ext>
                                      </a:extLst>
                                    </p:cNvPr>
                                    <p:cNvSpPr>
                                      <a:spLocks noChangeArrowheads="1"/>
                                    </p:cNvSpPr>
                                    <p:nvPr/>
                                  </p:nvSpPr>
                                  <p:spPr bwMode="auto">
                                    <a:xfrm>
                                      <a:off x="5190" y="319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866" name="Oval 919">
                                      <a:extLst>
                                        <a:ext uri="{FF2B5EF4-FFF2-40B4-BE49-F238E27FC236}">
                                          <a16:creationId xmlns:a16="http://schemas.microsoft.com/office/drawing/2014/main" id="{D7EB3C28-B355-3BEA-A02E-0EF2B29C4DEB}"/>
                                        </a:ext>
                                      </a:extLst>
                                    </p:cNvPr>
                                    <p:cNvSpPr>
                                      <a:spLocks noChangeArrowheads="1"/>
                                    </p:cNvSpPr>
                                    <p:nvPr/>
                                  </p:nvSpPr>
                                  <p:spPr bwMode="auto">
                                    <a:xfrm>
                                      <a:off x="5295" y="277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867" name="Oval 920">
                                      <a:extLst>
                                        <a:ext uri="{FF2B5EF4-FFF2-40B4-BE49-F238E27FC236}">
                                          <a16:creationId xmlns:a16="http://schemas.microsoft.com/office/drawing/2014/main" id="{8EB32D0D-A55E-D232-B326-273AFCEDA56E}"/>
                                        </a:ext>
                                      </a:extLst>
                                    </p:cNvPr>
                                    <p:cNvSpPr>
                                      <a:spLocks noChangeArrowheads="1"/>
                                    </p:cNvSpPr>
                                    <p:nvPr/>
                                  </p:nvSpPr>
                                  <p:spPr bwMode="auto">
                                    <a:xfrm>
                                      <a:off x="5310" y="339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53859" name="Group 921">
                                    <a:extLst>
                                      <a:ext uri="{FF2B5EF4-FFF2-40B4-BE49-F238E27FC236}">
                                        <a16:creationId xmlns:a16="http://schemas.microsoft.com/office/drawing/2014/main" id="{EAA34C92-5298-018B-36B0-CB35EA64190E}"/>
                                      </a:ext>
                                    </a:extLst>
                                  </p:cNvPr>
                                  <p:cNvGrpSpPr>
                                    <a:grpSpLocks/>
                                  </p:cNvGrpSpPr>
                                  <p:nvPr/>
                                </p:nvGrpSpPr>
                                <p:grpSpPr bwMode="auto">
                                  <a:xfrm>
                                    <a:off x="9495" y="2532"/>
                                    <a:ext cx="297" cy="1134"/>
                                    <a:chOff x="9495" y="2532"/>
                                    <a:chExt cx="297" cy="1134"/>
                                  </a:xfrm>
                                </p:grpSpPr>
                                <p:sp>
                                  <p:nvSpPr>
                                    <p:cNvPr id="153860" name="Line 922">
                                      <a:extLst>
                                        <a:ext uri="{FF2B5EF4-FFF2-40B4-BE49-F238E27FC236}">
                                          <a16:creationId xmlns:a16="http://schemas.microsoft.com/office/drawing/2014/main" id="{249E5F2F-E00F-ED81-0DDE-64D3CB15F531}"/>
                                        </a:ext>
                                      </a:extLst>
                                    </p:cNvPr>
                                    <p:cNvSpPr>
                                      <a:spLocks noChangeShapeType="1"/>
                                    </p:cNvSpPr>
                                    <p:nvPr/>
                                  </p:nvSpPr>
                                  <p:spPr bwMode="auto">
                                    <a:xfrm>
                                      <a:off x="9507" y="2532"/>
                                      <a:ext cx="267" cy="24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61" name="Line 923">
                                      <a:extLst>
                                        <a:ext uri="{FF2B5EF4-FFF2-40B4-BE49-F238E27FC236}">
                                          <a16:creationId xmlns:a16="http://schemas.microsoft.com/office/drawing/2014/main" id="{6D0FE196-AA9C-F26D-505A-266139BE828A}"/>
                                        </a:ext>
                                      </a:extLst>
                                    </p:cNvPr>
                                    <p:cNvSpPr>
                                      <a:spLocks noChangeShapeType="1"/>
                                    </p:cNvSpPr>
                                    <p:nvPr/>
                                  </p:nvSpPr>
                                  <p:spPr bwMode="auto">
                                    <a:xfrm>
                                      <a:off x="9504" y="2907"/>
                                      <a:ext cx="165" cy="8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62" name="Line 924">
                                      <a:extLst>
                                        <a:ext uri="{FF2B5EF4-FFF2-40B4-BE49-F238E27FC236}">
                                          <a16:creationId xmlns:a16="http://schemas.microsoft.com/office/drawing/2014/main" id="{8A971BD9-5531-FBD1-676F-11832063C56F}"/>
                                        </a:ext>
                                      </a:extLst>
                                    </p:cNvPr>
                                    <p:cNvSpPr>
                                      <a:spLocks noChangeShapeType="1"/>
                                    </p:cNvSpPr>
                                    <p:nvPr/>
                                  </p:nvSpPr>
                                  <p:spPr bwMode="auto">
                                    <a:xfrm flipV="1">
                                      <a:off x="9495" y="3246"/>
                                      <a:ext cx="177" cy="3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63" name="Line 925">
                                      <a:extLst>
                                        <a:ext uri="{FF2B5EF4-FFF2-40B4-BE49-F238E27FC236}">
                                          <a16:creationId xmlns:a16="http://schemas.microsoft.com/office/drawing/2014/main" id="{04E989D0-3216-686F-FA2D-C33597BF8353}"/>
                                        </a:ext>
                                      </a:extLst>
                                    </p:cNvPr>
                                    <p:cNvSpPr>
                                      <a:spLocks noChangeShapeType="1"/>
                                    </p:cNvSpPr>
                                    <p:nvPr/>
                                  </p:nvSpPr>
                                  <p:spPr bwMode="auto">
                                    <a:xfrm flipV="1">
                                      <a:off x="9516" y="3471"/>
                                      <a:ext cx="276" cy="19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53855" name="Group 926">
                                  <a:extLst>
                                    <a:ext uri="{FF2B5EF4-FFF2-40B4-BE49-F238E27FC236}">
                                      <a16:creationId xmlns:a16="http://schemas.microsoft.com/office/drawing/2014/main" id="{3BB5A8C6-01DE-B6CA-993E-A3298C1D8865}"/>
                                    </a:ext>
                                  </a:extLst>
                                </p:cNvPr>
                                <p:cNvGrpSpPr>
                                  <a:grpSpLocks/>
                                </p:cNvGrpSpPr>
                                <p:nvPr/>
                              </p:nvGrpSpPr>
                              <p:grpSpPr bwMode="auto">
                                <a:xfrm>
                                  <a:off x="9909" y="2880"/>
                                  <a:ext cx="300" cy="300"/>
                                  <a:chOff x="5430" y="2889"/>
                                  <a:chExt cx="300" cy="300"/>
                                </a:xfrm>
                              </p:grpSpPr>
                              <p:sp>
                                <p:nvSpPr>
                                  <p:cNvPr id="153856" name="Oval 927">
                                    <a:extLst>
                                      <a:ext uri="{FF2B5EF4-FFF2-40B4-BE49-F238E27FC236}">
                                        <a16:creationId xmlns:a16="http://schemas.microsoft.com/office/drawing/2014/main" id="{D2A16AB8-304A-F139-9D0F-10888448C94C}"/>
                                      </a:ext>
                                    </a:extLst>
                                  </p:cNvPr>
                                  <p:cNvSpPr>
                                    <a:spLocks noChangeArrowheads="1"/>
                                  </p:cNvSpPr>
                                  <p:nvPr/>
                                </p:nvSpPr>
                                <p:spPr bwMode="auto">
                                  <a:xfrm>
                                    <a:off x="5625" y="3084"/>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857" name="Line 928">
                                    <a:extLst>
                                      <a:ext uri="{FF2B5EF4-FFF2-40B4-BE49-F238E27FC236}">
                                        <a16:creationId xmlns:a16="http://schemas.microsoft.com/office/drawing/2014/main" id="{82158A2E-B325-609F-1FB5-1119F2B35FA2}"/>
                                      </a:ext>
                                    </a:extLst>
                                  </p:cNvPr>
                                  <p:cNvSpPr>
                                    <a:spLocks noChangeShapeType="1"/>
                                  </p:cNvSpPr>
                                  <p:nvPr/>
                                </p:nvSpPr>
                                <p:spPr bwMode="auto">
                                  <a:xfrm flipH="1" flipV="1">
                                    <a:off x="5430" y="2889"/>
                                    <a:ext cx="219" cy="20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grpSp>
                          <p:nvGrpSpPr>
                            <p:cNvPr id="153841" name="Group 929">
                              <a:extLst>
                                <a:ext uri="{FF2B5EF4-FFF2-40B4-BE49-F238E27FC236}">
                                  <a16:creationId xmlns:a16="http://schemas.microsoft.com/office/drawing/2014/main" id="{6AFA37D5-D8D6-3DC1-D0DF-65FA69A1B59D}"/>
                                </a:ext>
                              </a:extLst>
                            </p:cNvPr>
                            <p:cNvGrpSpPr>
                              <a:grpSpLocks/>
                            </p:cNvGrpSpPr>
                            <p:nvPr/>
                          </p:nvGrpSpPr>
                          <p:grpSpPr bwMode="auto">
                            <a:xfrm>
                              <a:off x="7066" y="2569"/>
                              <a:ext cx="1200" cy="894"/>
                              <a:chOff x="7066" y="2569"/>
                              <a:chExt cx="1200" cy="894"/>
                            </a:xfrm>
                          </p:grpSpPr>
                          <p:sp>
                            <p:nvSpPr>
                              <p:cNvPr id="153842" name="Text Box 930">
                                <a:extLst>
                                  <a:ext uri="{FF2B5EF4-FFF2-40B4-BE49-F238E27FC236}">
                                    <a16:creationId xmlns:a16="http://schemas.microsoft.com/office/drawing/2014/main" id="{7A068C5C-B0D1-6875-3C92-989D21FFD9AD}"/>
                                  </a:ext>
                                </a:extLst>
                              </p:cNvPr>
                              <p:cNvSpPr txBox="1">
                                <a:spLocks noChangeArrowheads="1"/>
                              </p:cNvSpPr>
                              <p:nvPr/>
                            </p:nvSpPr>
                            <p:spPr bwMode="auto">
                              <a:xfrm>
                                <a:off x="7851" y="3154"/>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rPr>
                                  <a:t>3</a:t>
                                </a:r>
                              </a:p>
                            </p:txBody>
                          </p:sp>
                          <p:sp>
                            <p:nvSpPr>
                              <p:cNvPr id="153843" name="Text Box 931">
                                <a:extLst>
                                  <a:ext uri="{FF2B5EF4-FFF2-40B4-BE49-F238E27FC236}">
                                    <a16:creationId xmlns:a16="http://schemas.microsoft.com/office/drawing/2014/main" id="{ED231C5F-5690-420C-B731-B8D35BB01081}"/>
                                  </a:ext>
                                </a:extLst>
                              </p:cNvPr>
                              <p:cNvSpPr txBox="1">
                                <a:spLocks noChangeArrowheads="1"/>
                              </p:cNvSpPr>
                              <p:nvPr/>
                            </p:nvSpPr>
                            <p:spPr bwMode="auto">
                              <a:xfrm>
                                <a:off x="7456" y="2854"/>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rPr>
                                  <a:t>6</a:t>
                                </a:r>
                              </a:p>
                            </p:txBody>
                          </p:sp>
                          <p:sp>
                            <p:nvSpPr>
                              <p:cNvPr id="153844" name="Text Box 932">
                                <a:extLst>
                                  <a:ext uri="{FF2B5EF4-FFF2-40B4-BE49-F238E27FC236}">
                                    <a16:creationId xmlns:a16="http://schemas.microsoft.com/office/drawing/2014/main" id="{913F1BE5-FA4C-68D7-8D73-4F276B698DBC}"/>
                                  </a:ext>
                                </a:extLst>
                              </p:cNvPr>
                              <p:cNvSpPr txBox="1">
                                <a:spLocks noChangeArrowheads="1"/>
                              </p:cNvSpPr>
                              <p:nvPr/>
                            </p:nvSpPr>
                            <p:spPr bwMode="auto">
                              <a:xfrm>
                                <a:off x="7855" y="2854"/>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rPr>
                                  <a:t>2</a:t>
                                </a:r>
                              </a:p>
                            </p:txBody>
                          </p:sp>
                          <p:sp>
                            <p:nvSpPr>
                              <p:cNvPr id="153845" name="Text Box 933">
                                <a:extLst>
                                  <a:ext uri="{FF2B5EF4-FFF2-40B4-BE49-F238E27FC236}">
                                    <a16:creationId xmlns:a16="http://schemas.microsoft.com/office/drawing/2014/main" id="{32CC7F22-BB0B-2248-C9F2-08A9F69A491E}"/>
                                  </a:ext>
                                </a:extLst>
                              </p:cNvPr>
                              <p:cNvSpPr txBox="1">
                                <a:spLocks noChangeArrowheads="1"/>
                              </p:cNvSpPr>
                              <p:nvPr/>
                            </p:nvSpPr>
                            <p:spPr bwMode="auto">
                              <a:xfrm>
                                <a:off x="7066" y="2572"/>
                                <a:ext cx="4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rPr>
                                  <a:t>9</a:t>
                                </a:r>
                              </a:p>
                            </p:txBody>
                          </p:sp>
                          <p:sp>
                            <p:nvSpPr>
                              <p:cNvPr id="153846" name="Text Box 934">
                                <a:extLst>
                                  <a:ext uri="{FF2B5EF4-FFF2-40B4-BE49-F238E27FC236}">
                                    <a16:creationId xmlns:a16="http://schemas.microsoft.com/office/drawing/2014/main" id="{CEACB0E5-D343-9375-7C6D-E6BB0C33E578}"/>
                                  </a:ext>
                                </a:extLst>
                              </p:cNvPr>
                              <p:cNvSpPr txBox="1">
                                <a:spLocks noChangeArrowheads="1"/>
                              </p:cNvSpPr>
                              <p:nvPr/>
                            </p:nvSpPr>
                            <p:spPr bwMode="auto">
                              <a:xfrm>
                                <a:off x="7456" y="2569"/>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rPr>
                                  <a:t>5</a:t>
                                </a:r>
                              </a:p>
                            </p:txBody>
                          </p:sp>
                          <p:sp>
                            <p:nvSpPr>
                              <p:cNvPr id="153847" name="Text Box 935">
                                <a:extLst>
                                  <a:ext uri="{FF2B5EF4-FFF2-40B4-BE49-F238E27FC236}">
                                    <a16:creationId xmlns:a16="http://schemas.microsoft.com/office/drawing/2014/main" id="{A29A21AA-01BD-E0BE-F89E-07681082B3EE}"/>
                                  </a:ext>
                                </a:extLst>
                              </p:cNvPr>
                              <p:cNvSpPr txBox="1">
                                <a:spLocks noChangeArrowheads="1"/>
                              </p:cNvSpPr>
                              <p:nvPr/>
                            </p:nvSpPr>
                            <p:spPr bwMode="auto">
                              <a:xfrm>
                                <a:off x="7864" y="2569"/>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rPr>
                                  <a:t>1</a:t>
                                </a:r>
                              </a:p>
                            </p:txBody>
                          </p:sp>
                        </p:grpSp>
                      </p:grpSp>
                      <p:sp>
                        <p:nvSpPr>
                          <p:cNvPr id="153838" name="Line 936">
                            <a:extLst>
                              <a:ext uri="{FF2B5EF4-FFF2-40B4-BE49-F238E27FC236}">
                                <a16:creationId xmlns:a16="http://schemas.microsoft.com/office/drawing/2014/main" id="{447715EF-11B3-5AB3-AB79-6B530C15FD16}"/>
                              </a:ext>
                            </a:extLst>
                          </p:cNvPr>
                          <p:cNvSpPr>
                            <a:spLocks noChangeShapeType="1"/>
                          </p:cNvSpPr>
                          <p:nvPr/>
                        </p:nvSpPr>
                        <p:spPr bwMode="auto">
                          <a:xfrm>
                            <a:off x="6183" y="2949"/>
                            <a:ext cx="429"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839" name="Line 937">
                            <a:extLst>
                              <a:ext uri="{FF2B5EF4-FFF2-40B4-BE49-F238E27FC236}">
                                <a16:creationId xmlns:a16="http://schemas.microsoft.com/office/drawing/2014/main" id="{36B300AE-6276-845C-DC9D-FB292DB5DA49}"/>
                              </a:ext>
                            </a:extLst>
                          </p:cNvPr>
                          <p:cNvSpPr>
                            <a:spLocks noChangeShapeType="1"/>
                          </p:cNvSpPr>
                          <p:nvPr/>
                        </p:nvSpPr>
                        <p:spPr bwMode="auto">
                          <a:xfrm>
                            <a:off x="9432" y="2958"/>
                            <a:ext cx="429"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53836" name="Text Box 938">
                          <a:extLst>
                            <a:ext uri="{FF2B5EF4-FFF2-40B4-BE49-F238E27FC236}">
                              <a16:creationId xmlns:a16="http://schemas.microsoft.com/office/drawing/2014/main" id="{9CD439D5-E644-70E3-EF52-8768B24501EA}"/>
                            </a:ext>
                          </a:extLst>
                        </p:cNvPr>
                        <p:cNvSpPr txBox="1">
                          <a:spLocks noChangeArrowheads="1"/>
                        </p:cNvSpPr>
                        <p:nvPr/>
                      </p:nvSpPr>
                      <p:spPr bwMode="auto">
                        <a:xfrm>
                          <a:off x="9768" y="5313"/>
                          <a:ext cx="1145"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64000"/>
                            </a:lnSpc>
                          </a:pPr>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x x x x </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53769" name="Group 939">
                        <a:extLst>
                          <a:ext uri="{FF2B5EF4-FFF2-40B4-BE49-F238E27FC236}">
                            <a16:creationId xmlns:a16="http://schemas.microsoft.com/office/drawing/2014/main" id="{22C48E61-9BA6-E5A2-762B-120ACDF96248}"/>
                          </a:ext>
                        </a:extLst>
                      </p:cNvPr>
                      <p:cNvGrpSpPr>
                        <a:grpSpLocks/>
                      </p:cNvGrpSpPr>
                      <p:nvPr/>
                    </p:nvGrpSpPr>
                    <p:grpSpPr bwMode="auto">
                      <a:xfrm>
                        <a:off x="1866" y="5025"/>
                        <a:ext cx="4630" cy="1122"/>
                        <a:chOff x="1866" y="5025"/>
                        <a:chExt cx="4630" cy="1122"/>
                      </a:xfrm>
                    </p:grpSpPr>
                    <p:grpSp>
                      <p:nvGrpSpPr>
                        <p:cNvPr id="153770" name="Group 940">
                          <a:extLst>
                            <a:ext uri="{FF2B5EF4-FFF2-40B4-BE49-F238E27FC236}">
                              <a16:creationId xmlns:a16="http://schemas.microsoft.com/office/drawing/2014/main" id="{04E4F28F-2342-E882-ADF3-1266149D1939}"/>
                            </a:ext>
                          </a:extLst>
                        </p:cNvPr>
                        <p:cNvGrpSpPr>
                          <a:grpSpLocks/>
                        </p:cNvGrpSpPr>
                        <p:nvPr/>
                      </p:nvGrpSpPr>
                      <p:grpSpPr bwMode="auto">
                        <a:xfrm>
                          <a:off x="1866" y="5025"/>
                          <a:ext cx="3699" cy="1122"/>
                          <a:chOff x="1866" y="5025"/>
                          <a:chExt cx="3699" cy="1122"/>
                        </a:xfrm>
                      </p:grpSpPr>
                      <p:grpSp>
                        <p:nvGrpSpPr>
                          <p:cNvPr id="153772" name="Group 941">
                            <a:extLst>
                              <a:ext uri="{FF2B5EF4-FFF2-40B4-BE49-F238E27FC236}">
                                <a16:creationId xmlns:a16="http://schemas.microsoft.com/office/drawing/2014/main" id="{157E8E13-FC77-3A89-02D4-709699C17BCC}"/>
                              </a:ext>
                            </a:extLst>
                          </p:cNvPr>
                          <p:cNvGrpSpPr>
                            <a:grpSpLocks/>
                          </p:cNvGrpSpPr>
                          <p:nvPr/>
                        </p:nvGrpSpPr>
                        <p:grpSpPr bwMode="auto">
                          <a:xfrm>
                            <a:off x="1866" y="5025"/>
                            <a:ext cx="3699" cy="1110"/>
                            <a:chOff x="1866" y="5025"/>
                            <a:chExt cx="3699" cy="1110"/>
                          </a:xfrm>
                        </p:grpSpPr>
                        <p:sp>
                          <p:nvSpPr>
                            <p:cNvPr id="153782" name="Line 942">
                              <a:extLst>
                                <a:ext uri="{FF2B5EF4-FFF2-40B4-BE49-F238E27FC236}">
                                  <a16:creationId xmlns:a16="http://schemas.microsoft.com/office/drawing/2014/main" id="{0F88F9B0-7920-1CC8-4787-3282C9AB5F2A}"/>
                                </a:ext>
                              </a:extLst>
                            </p:cNvPr>
                            <p:cNvSpPr>
                              <a:spLocks noChangeShapeType="1"/>
                            </p:cNvSpPr>
                            <p:nvPr/>
                          </p:nvSpPr>
                          <p:spPr bwMode="auto">
                            <a:xfrm>
                              <a:off x="1866" y="5586"/>
                              <a:ext cx="429"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783" name="Line 943">
                              <a:extLst>
                                <a:ext uri="{FF2B5EF4-FFF2-40B4-BE49-F238E27FC236}">
                                  <a16:creationId xmlns:a16="http://schemas.microsoft.com/office/drawing/2014/main" id="{ABA3A738-33C8-9587-9220-8CB81882FA57}"/>
                                </a:ext>
                              </a:extLst>
                            </p:cNvPr>
                            <p:cNvSpPr>
                              <a:spLocks noChangeShapeType="1"/>
                            </p:cNvSpPr>
                            <p:nvPr/>
                          </p:nvSpPr>
                          <p:spPr bwMode="auto">
                            <a:xfrm>
                              <a:off x="5136" y="5595"/>
                              <a:ext cx="429"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53784" name="Group 944">
                              <a:extLst>
                                <a:ext uri="{FF2B5EF4-FFF2-40B4-BE49-F238E27FC236}">
                                  <a16:creationId xmlns:a16="http://schemas.microsoft.com/office/drawing/2014/main" id="{97580C99-053E-1FE2-8701-6B2A549C6F3B}"/>
                                </a:ext>
                              </a:extLst>
                            </p:cNvPr>
                            <p:cNvGrpSpPr>
                              <a:grpSpLocks/>
                            </p:cNvGrpSpPr>
                            <p:nvPr/>
                          </p:nvGrpSpPr>
                          <p:grpSpPr bwMode="auto">
                            <a:xfrm>
                              <a:off x="2301" y="5025"/>
                              <a:ext cx="2826" cy="1110"/>
                              <a:chOff x="2301" y="5025"/>
                              <a:chExt cx="2826" cy="1110"/>
                            </a:xfrm>
                          </p:grpSpPr>
                          <p:grpSp>
                            <p:nvGrpSpPr>
                              <p:cNvPr id="153785" name="Group 945">
                                <a:extLst>
                                  <a:ext uri="{FF2B5EF4-FFF2-40B4-BE49-F238E27FC236}">
                                    <a16:creationId xmlns:a16="http://schemas.microsoft.com/office/drawing/2014/main" id="{56D20E2B-7DCF-C789-8C4D-924FA57E3751}"/>
                                  </a:ext>
                                </a:extLst>
                              </p:cNvPr>
                              <p:cNvGrpSpPr>
                                <a:grpSpLocks/>
                              </p:cNvGrpSpPr>
                              <p:nvPr/>
                            </p:nvGrpSpPr>
                            <p:grpSpPr bwMode="auto">
                              <a:xfrm>
                                <a:off x="2301" y="5175"/>
                                <a:ext cx="2826" cy="960"/>
                                <a:chOff x="2616" y="2529"/>
                                <a:chExt cx="2826" cy="960"/>
                              </a:xfrm>
                            </p:grpSpPr>
                            <p:sp>
                              <p:nvSpPr>
                                <p:cNvPr id="153791" name="Line 946">
                                  <a:extLst>
                                    <a:ext uri="{FF2B5EF4-FFF2-40B4-BE49-F238E27FC236}">
                                      <a16:creationId xmlns:a16="http://schemas.microsoft.com/office/drawing/2014/main" id="{7EE490DE-1055-0036-6D72-8B7A17EEAC21}"/>
                                    </a:ext>
                                  </a:extLst>
                                </p:cNvPr>
                                <p:cNvSpPr>
                                  <a:spLocks noChangeShapeType="1"/>
                                </p:cNvSpPr>
                                <p:nvPr/>
                              </p:nvSpPr>
                              <p:spPr bwMode="auto">
                                <a:xfrm>
                                  <a:off x="3168" y="2533"/>
                                  <a:ext cx="1718" cy="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792" name="Line 947">
                                  <a:extLst>
                                    <a:ext uri="{FF2B5EF4-FFF2-40B4-BE49-F238E27FC236}">
                                      <a16:creationId xmlns:a16="http://schemas.microsoft.com/office/drawing/2014/main" id="{58901EC7-75ED-0B7A-630C-61757FD6F8E1}"/>
                                    </a:ext>
                                  </a:extLst>
                                </p:cNvPr>
                                <p:cNvSpPr>
                                  <a:spLocks noChangeShapeType="1"/>
                                </p:cNvSpPr>
                                <p:nvPr/>
                              </p:nvSpPr>
                              <p:spPr bwMode="auto">
                                <a:xfrm>
                                  <a:off x="3150" y="2801"/>
                                  <a:ext cx="239" cy="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793" name="Line 948">
                                  <a:extLst>
                                    <a:ext uri="{FF2B5EF4-FFF2-40B4-BE49-F238E27FC236}">
                                      <a16:creationId xmlns:a16="http://schemas.microsoft.com/office/drawing/2014/main" id="{DAD6CE2C-2FEE-F01A-0185-7232A354BD38}"/>
                                    </a:ext>
                                  </a:extLst>
                                </p:cNvPr>
                                <p:cNvSpPr>
                                  <a:spLocks noChangeShapeType="1"/>
                                </p:cNvSpPr>
                                <p:nvPr/>
                              </p:nvSpPr>
                              <p:spPr bwMode="auto">
                                <a:xfrm>
                                  <a:off x="3157" y="3092"/>
                                  <a:ext cx="239"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794" name="Line 949">
                                  <a:extLst>
                                    <a:ext uri="{FF2B5EF4-FFF2-40B4-BE49-F238E27FC236}">
                                      <a16:creationId xmlns:a16="http://schemas.microsoft.com/office/drawing/2014/main" id="{676779A0-9D75-BFDE-D054-2084AF2BF19A}"/>
                                    </a:ext>
                                  </a:extLst>
                                </p:cNvPr>
                                <p:cNvSpPr>
                                  <a:spLocks noChangeShapeType="1"/>
                                </p:cNvSpPr>
                                <p:nvPr/>
                              </p:nvSpPr>
                              <p:spPr bwMode="auto">
                                <a:xfrm>
                                  <a:off x="3157" y="3345"/>
                                  <a:ext cx="239" cy="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795" name="Line 950">
                                  <a:extLst>
                                    <a:ext uri="{FF2B5EF4-FFF2-40B4-BE49-F238E27FC236}">
                                      <a16:creationId xmlns:a16="http://schemas.microsoft.com/office/drawing/2014/main" id="{C0E83B31-21E4-3AC2-4CDB-BD5BB7871F60}"/>
                                    </a:ext>
                                  </a:extLst>
                                </p:cNvPr>
                                <p:cNvSpPr>
                                  <a:spLocks noChangeShapeType="1"/>
                                </p:cNvSpPr>
                                <p:nvPr/>
                              </p:nvSpPr>
                              <p:spPr bwMode="auto">
                                <a:xfrm>
                                  <a:off x="3777" y="2806"/>
                                  <a:ext cx="1107" cy="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796" name="Line 951">
                                  <a:extLst>
                                    <a:ext uri="{FF2B5EF4-FFF2-40B4-BE49-F238E27FC236}">
                                      <a16:creationId xmlns:a16="http://schemas.microsoft.com/office/drawing/2014/main" id="{1778DA73-4DBE-F3B8-1B09-CC372434AF7F}"/>
                                    </a:ext>
                                  </a:extLst>
                                </p:cNvPr>
                                <p:cNvSpPr>
                                  <a:spLocks noChangeShapeType="1"/>
                                </p:cNvSpPr>
                                <p:nvPr/>
                              </p:nvSpPr>
                              <p:spPr bwMode="auto">
                                <a:xfrm flipV="1">
                                  <a:off x="4168" y="3081"/>
                                  <a:ext cx="716"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797" name="Line 952">
                                  <a:extLst>
                                    <a:ext uri="{FF2B5EF4-FFF2-40B4-BE49-F238E27FC236}">
                                      <a16:creationId xmlns:a16="http://schemas.microsoft.com/office/drawing/2014/main" id="{C033D9DD-A173-2796-1A91-ED9C102DA1B6}"/>
                                    </a:ext>
                                  </a:extLst>
                                </p:cNvPr>
                                <p:cNvSpPr>
                                  <a:spLocks noChangeShapeType="1"/>
                                </p:cNvSpPr>
                                <p:nvPr/>
                              </p:nvSpPr>
                              <p:spPr bwMode="auto">
                                <a:xfrm>
                                  <a:off x="4569" y="3345"/>
                                  <a:ext cx="315" cy="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53798" name="Group 953">
                                  <a:extLst>
                                    <a:ext uri="{FF2B5EF4-FFF2-40B4-BE49-F238E27FC236}">
                                      <a16:creationId xmlns:a16="http://schemas.microsoft.com/office/drawing/2014/main" id="{DD98F96B-DA8F-E94F-2E54-A532E5C9E303}"/>
                                    </a:ext>
                                  </a:extLst>
                                </p:cNvPr>
                                <p:cNvGrpSpPr>
                                  <a:grpSpLocks/>
                                </p:cNvGrpSpPr>
                                <p:nvPr/>
                              </p:nvGrpSpPr>
                              <p:grpSpPr bwMode="auto">
                                <a:xfrm>
                                  <a:off x="3382" y="2668"/>
                                  <a:ext cx="1189" cy="821"/>
                                  <a:chOff x="2769" y="9030"/>
                                  <a:chExt cx="1743" cy="1389"/>
                                </a:xfrm>
                              </p:grpSpPr>
                              <p:sp>
                                <p:nvSpPr>
                                  <p:cNvPr id="153827" name="Line 954">
                                    <a:extLst>
                                      <a:ext uri="{FF2B5EF4-FFF2-40B4-BE49-F238E27FC236}">
                                        <a16:creationId xmlns:a16="http://schemas.microsoft.com/office/drawing/2014/main" id="{6ADCE931-27B7-F604-EBB9-81099242D360}"/>
                                      </a:ext>
                                    </a:extLst>
                                  </p:cNvPr>
                                  <p:cNvSpPr>
                                    <a:spLocks noChangeShapeType="1"/>
                                  </p:cNvSpPr>
                                  <p:nvPr/>
                                </p:nvSpPr>
                                <p:spPr bwMode="auto">
                                  <a:xfrm flipV="1">
                                    <a:off x="2769" y="9030"/>
                                    <a:ext cx="12" cy="138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28" name="Line 955">
                                    <a:extLst>
                                      <a:ext uri="{FF2B5EF4-FFF2-40B4-BE49-F238E27FC236}">
                                        <a16:creationId xmlns:a16="http://schemas.microsoft.com/office/drawing/2014/main" id="{E1FA8C55-A69E-619B-2B13-29583C3242D1}"/>
                                      </a:ext>
                                    </a:extLst>
                                  </p:cNvPr>
                                  <p:cNvSpPr>
                                    <a:spLocks noChangeShapeType="1"/>
                                  </p:cNvSpPr>
                                  <p:nvPr/>
                                </p:nvSpPr>
                                <p:spPr bwMode="auto">
                                  <a:xfrm>
                                    <a:off x="2781" y="10401"/>
                                    <a:ext cx="1719" cy="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29" name="Line 956">
                                    <a:extLst>
                                      <a:ext uri="{FF2B5EF4-FFF2-40B4-BE49-F238E27FC236}">
                                        <a16:creationId xmlns:a16="http://schemas.microsoft.com/office/drawing/2014/main" id="{1B874FBE-355E-5461-BC33-F7339C33E60B}"/>
                                      </a:ext>
                                    </a:extLst>
                                  </p:cNvPr>
                                  <p:cNvSpPr>
                                    <a:spLocks noChangeShapeType="1"/>
                                  </p:cNvSpPr>
                                  <p:nvPr/>
                                </p:nvSpPr>
                                <p:spPr bwMode="auto">
                                  <a:xfrm>
                                    <a:off x="2781" y="9942"/>
                                    <a:ext cx="1719" cy="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30" name="Line 957">
                                    <a:extLst>
                                      <a:ext uri="{FF2B5EF4-FFF2-40B4-BE49-F238E27FC236}">
                                        <a16:creationId xmlns:a16="http://schemas.microsoft.com/office/drawing/2014/main" id="{9485B93C-573A-D797-989F-778CA74DDD31}"/>
                                      </a:ext>
                                    </a:extLst>
                                  </p:cNvPr>
                                  <p:cNvSpPr>
                                    <a:spLocks noChangeShapeType="1"/>
                                  </p:cNvSpPr>
                                  <p:nvPr/>
                                </p:nvSpPr>
                                <p:spPr bwMode="auto">
                                  <a:xfrm>
                                    <a:off x="2790" y="9492"/>
                                    <a:ext cx="112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31" name="Line 958">
                                    <a:extLst>
                                      <a:ext uri="{FF2B5EF4-FFF2-40B4-BE49-F238E27FC236}">
                                        <a16:creationId xmlns:a16="http://schemas.microsoft.com/office/drawing/2014/main" id="{139C86A2-7B02-96C0-D8DA-3E87A32C2656}"/>
                                      </a:ext>
                                    </a:extLst>
                                  </p:cNvPr>
                                  <p:cNvSpPr>
                                    <a:spLocks noChangeShapeType="1"/>
                                  </p:cNvSpPr>
                                  <p:nvPr/>
                                </p:nvSpPr>
                                <p:spPr bwMode="auto">
                                  <a:xfrm>
                                    <a:off x="2781" y="9033"/>
                                    <a:ext cx="56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32" name="Line 959">
                                    <a:extLst>
                                      <a:ext uri="{FF2B5EF4-FFF2-40B4-BE49-F238E27FC236}">
                                        <a16:creationId xmlns:a16="http://schemas.microsoft.com/office/drawing/2014/main" id="{602201F4-65E3-38AF-B375-C2C67E776331}"/>
                                      </a:ext>
                                    </a:extLst>
                                  </p:cNvPr>
                                  <p:cNvSpPr>
                                    <a:spLocks noChangeShapeType="1"/>
                                  </p:cNvSpPr>
                                  <p:nvPr/>
                                </p:nvSpPr>
                                <p:spPr bwMode="auto">
                                  <a:xfrm flipV="1">
                                    <a:off x="3330" y="9039"/>
                                    <a:ext cx="12" cy="138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33" name="Line 960">
                                    <a:extLst>
                                      <a:ext uri="{FF2B5EF4-FFF2-40B4-BE49-F238E27FC236}">
                                        <a16:creationId xmlns:a16="http://schemas.microsoft.com/office/drawing/2014/main" id="{DC858627-2C8E-248F-A1CA-B0FA82DAF543}"/>
                                      </a:ext>
                                    </a:extLst>
                                  </p:cNvPr>
                                  <p:cNvSpPr>
                                    <a:spLocks noChangeShapeType="1"/>
                                  </p:cNvSpPr>
                                  <p:nvPr/>
                                </p:nvSpPr>
                                <p:spPr bwMode="auto">
                                  <a:xfrm flipV="1">
                                    <a:off x="3921" y="9489"/>
                                    <a:ext cx="12" cy="90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34" name="Line 961">
                                    <a:extLst>
                                      <a:ext uri="{FF2B5EF4-FFF2-40B4-BE49-F238E27FC236}">
                                        <a16:creationId xmlns:a16="http://schemas.microsoft.com/office/drawing/2014/main" id="{DAA1E593-2A13-39F0-3CA0-B7E26B2E148C}"/>
                                      </a:ext>
                                    </a:extLst>
                                  </p:cNvPr>
                                  <p:cNvSpPr>
                                    <a:spLocks noChangeShapeType="1"/>
                                  </p:cNvSpPr>
                                  <p:nvPr/>
                                </p:nvSpPr>
                                <p:spPr bwMode="auto">
                                  <a:xfrm flipV="1">
                                    <a:off x="4500" y="9939"/>
                                    <a:ext cx="12" cy="48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53799" name="Group 962">
                                  <a:extLst>
                                    <a:ext uri="{FF2B5EF4-FFF2-40B4-BE49-F238E27FC236}">
                                      <a16:creationId xmlns:a16="http://schemas.microsoft.com/office/drawing/2014/main" id="{1A82BF40-600C-F75F-3BD0-DC6C556CF228}"/>
                                    </a:ext>
                                  </a:extLst>
                                </p:cNvPr>
                                <p:cNvGrpSpPr>
                                  <a:grpSpLocks/>
                                </p:cNvGrpSpPr>
                                <p:nvPr/>
                              </p:nvGrpSpPr>
                              <p:grpSpPr bwMode="auto">
                                <a:xfrm>
                                  <a:off x="4882" y="2537"/>
                                  <a:ext cx="560" cy="805"/>
                                  <a:chOff x="5025" y="2541"/>
                                  <a:chExt cx="705" cy="1164"/>
                                </a:xfrm>
                              </p:grpSpPr>
                              <p:grpSp>
                                <p:nvGrpSpPr>
                                  <p:cNvPr id="153814" name="Group 963">
                                    <a:extLst>
                                      <a:ext uri="{FF2B5EF4-FFF2-40B4-BE49-F238E27FC236}">
                                        <a16:creationId xmlns:a16="http://schemas.microsoft.com/office/drawing/2014/main" id="{5B289198-1B3B-1582-CC29-AC3A85B10402}"/>
                                      </a:ext>
                                    </a:extLst>
                                  </p:cNvPr>
                                  <p:cNvGrpSpPr>
                                    <a:grpSpLocks/>
                                  </p:cNvGrpSpPr>
                                  <p:nvPr/>
                                </p:nvGrpSpPr>
                                <p:grpSpPr bwMode="auto">
                                  <a:xfrm>
                                    <a:off x="5025" y="2541"/>
                                    <a:ext cx="390" cy="1164"/>
                                    <a:chOff x="5025" y="2541"/>
                                    <a:chExt cx="390" cy="1164"/>
                                  </a:xfrm>
                                </p:grpSpPr>
                                <p:grpSp>
                                  <p:nvGrpSpPr>
                                    <p:cNvPr id="153818" name="Group 964">
                                      <a:extLst>
                                        <a:ext uri="{FF2B5EF4-FFF2-40B4-BE49-F238E27FC236}">
                                          <a16:creationId xmlns:a16="http://schemas.microsoft.com/office/drawing/2014/main" id="{836B046C-4D4E-0DAC-8876-AE54B7990DBD}"/>
                                        </a:ext>
                                      </a:extLst>
                                    </p:cNvPr>
                                    <p:cNvGrpSpPr>
                                      <a:grpSpLocks/>
                                    </p:cNvGrpSpPr>
                                    <p:nvPr/>
                                  </p:nvGrpSpPr>
                                  <p:grpSpPr bwMode="auto">
                                    <a:xfrm>
                                      <a:off x="5190" y="2775"/>
                                      <a:ext cx="225" cy="720"/>
                                      <a:chOff x="5190" y="2775"/>
                                      <a:chExt cx="225" cy="720"/>
                                    </a:xfrm>
                                  </p:grpSpPr>
                                  <p:sp>
                                    <p:nvSpPr>
                                      <p:cNvPr id="153823" name="Oval 965">
                                        <a:extLst>
                                          <a:ext uri="{FF2B5EF4-FFF2-40B4-BE49-F238E27FC236}">
                                            <a16:creationId xmlns:a16="http://schemas.microsoft.com/office/drawing/2014/main" id="{72A2B147-2D1D-AD2A-8FA3-C6D5F84446D6}"/>
                                          </a:ext>
                                        </a:extLst>
                                      </p:cNvPr>
                                      <p:cNvSpPr>
                                        <a:spLocks noChangeArrowheads="1"/>
                                      </p:cNvSpPr>
                                      <p:nvPr/>
                                    </p:nvSpPr>
                                    <p:spPr bwMode="auto">
                                      <a:xfrm>
                                        <a:off x="5190" y="297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824" name="Oval 966">
                                        <a:extLst>
                                          <a:ext uri="{FF2B5EF4-FFF2-40B4-BE49-F238E27FC236}">
                                            <a16:creationId xmlns:a16="http://schemas.microsoft.com/office/drawing/2014/main" id="{D501708B-A341-ABE0-32DD-F15E0F52F04E}"/>
                                          </a:ext>
                                        </a:extLst>
                                      </p:cNvPr>
                                      <p:cNvSpPr>
                                        <a:spLocks noChangeArrowheads="1"/>
                                      </p:cNvSpPr>
                                      <p:nvPr/>
                                    </p:nvSpPr>
                                    <p:spPr bwMode="auto">
                                      <a:xfrm>
                                        <a:off x="5190" y="319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825" name="Oval 967">
                                        <a:extLst>
                                          <a:ext uri="{FF2B5EF4-FFF2-40B4-BE49-F238E27FC236}">
                                            <a16:creationId xmlns:a16="http://schemas.microsoft.com/office/drawing/2014/main" id="{7AA03C52-80E2-61E1-78E0-F0E3CE6B9058}"/>
                                          </a:ext>
                                        </a:extLst>
                                      </p:cNvPr>
                                      <p:cNvSpPr>
                                        <a:spLocks noChangeArrowheads="1"/>
                                      </p:cNvSpPr>
                                      <p:nvPr/>
                                    </p:nvSpPr>
                                    <p:spPr bwMode="auto">
                                      <a:xfrm>
                                        <a:off x="5295" y="277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826" name="Oval 968">
                                        <a:extLst>
                                          <a:ext uri="{FF2B5EF4-FFF2-40B4-BE49-F238E27FC236}">
                                            <a16:creationId xmlns:a16="http://schemas.microsoft.com/office/drawing/2014/main" id="{77FD3312-D490-5A7E-7804-1E348BBBF469}"/>
                                          </a:ext>
                                        </a:extLst>
                                      </p:cNvPr>
                                      <p:cNvSpPr>
                                        <a:spLocks noChangeArrowheads="1"/>
                                      </p:cNvSpPr>
                                      <p:nvPr/>
                                    </p:nvSpPr>
                                    <p:spPr bwMode="auto">
                                      <a:xfrm>
                                        <a:off x="5310" y="339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153819" name="Line 969">
                                      <a:extLst>
                                        <a:ext uri="{FF2B5EF4-FFF2-40B4-BE49-F238E27FC236}">
                                          <a16:creationId xmlns:a16="http://schemas.microsoft.com/office/drawing/2014/main" id="{F720CE17-E7FE-D037-9559-250FD7A2B93F}"/>
                                        </a:ext>
                                      </a:extLst>
                                    </p:cNvPr>
                                    <p:cNvSpPr>
                                      <a:spLocks noChangeShapeType="1"/>
                                    </p:cNvSpPr>
                                    <p:nvPr/>
                                  </p:nvSpPr>
                                  <p:spPr bwMode="auto">
                                    <a:xfrm>
                                      <a:off x="5028" y="2541"/>
                                      <a:ext cx="267" cy="24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20" name="Line 970">
                                      <a:extLst>
                                        <a:ext uri="{FF2B5EF4-FFF2-40B4-BE49-F238E27FC236}">
                                          <a16:creationId xmlns:a16="http://schemas.microsoft.com/office/drawing/2014/main" id="{B87D76A6-CEE8-8EFA-0E4D-2D72EFBB1007}"/>
                                        </a:ext>
                                      </a:extLst>
                                    </p:cNvPr>
                                    <p:cNvSpPr>
                                      <a:spLocks noChangeShapeType="1"/>
                                    </p:cNvSpPr>
                                    <p:nvPr/>
                                  </p:nvSpPr>
                                  <p:spPr bwMode="auto">
                                    <a:xfrm>
                                      <a:off x="5025" y="2937"/>
                                      <a:ext cx="165" cy="6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21" name="Line 971">
                                      <a:extLst>
                                        <a:ext uri="{FF2B5EF4-FFF2-40B4-BE49-F238E27FC236}">
                                          <a16:creationId xmlns:a16="http://schemas.microsoft.com/office/drawing/2014/main" id="{4C7245A8-5E71-38F0-2B81-A521F2752406}"/>
                                        </a:ext>
                                      </a:extLst>
                                    </p:cNvPr>
                                    <p:cNvSpPr>
                                      <a:spLocks noChangeShapeType="1"/>
                                    </p:cNvSpPr>
                                    <p:nvPr/>
                                  </p:nvSpPr>
                                  <p:spPr bwMode="auto">
                                    <a:xfrm flipV="1">
                                      <a:off x="5025" y="3255"/>
                                      <a:ext cx="168" cy="7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22" name="Line 972">
                                      <a:extLst>
                                        <a:ext uri="{FF2B5EF4-FFF2-40B4-BE49-F238E27FC236}">
                                          <a16:creationId xmlns:a16="http://schemas.microsoft.com/office/drawing/2014/main" id="{D43EAEF6-9A16-B9C0-E6A1-DF4F1E4A5BC7}"/>
                                        </a:ext>
                                      </a:extLst>
                                    </p:cNvPr>
                                    <p:cNvSpPr>
                                      <a:spLocks noChangeShapeType="1"/>
                                    </p:cNvSpPr>
                                    <p:nvPr/>
                                  </p:nvSpPr>
                                  <p:spPr bwMode="auto">
                                    <a:xfrm flipV="1">
                                      <a:off x="5028" y="3480"/>
                                      <a:ext cx="285" cy="2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53815" name="Group 973">
                                    <a:extLst>
                                      <a:ext uri="{FF2B5EF4-FFF2-40B4-BE49-F238E27FC236}">
                                        <a16:creationId xmlns:a16="http://schemas.microsoft.com/office/drawing/2014/main" id="{8126659C-7073-046C-840F-1AA4DC042C6E}"/>
                                      </a:ext>
                                    </a:extLst>
                                  </p:cNvPr>
                                  <p:cNvGrpSpPr>
                                    <a:grpSpLocks/>
                                  </p:cNvGrpSpPr>
                                  <p:nvPr/>
                                </p:nvGrpSpPr>
                                <p:grpSpPr bwMode="auto">
                                  <a:xfrm>
                                    <a:off x="5430" y="2889"/>
                                    <a:ext cx="300" cy="300"/>
                                    <a:chOff x="5430" y="2889"/>
                                    <a:chExt cx="300" cy="300"/>
                                  </a:xfrm>
                                </p:grpSpPr>
                                <p:sp>
                                  <p:nvSpPr>
                                    <p:cNvPr id="153816" name="Oval 974">
                                      <a:extLst>
                                        <a:ext uri="{FF2B5EF4-FFF2-40B4-BE49-F238E27FC236}">
                                          <a16:creationId xmlns:a16="http://schemas.microsoft.com/office/drawing/2014/main" id="{C3A481DA-E955-C8F5-C9F2-ABD7F9642721}"/>
                                        </a:ext>
                                      </a:extLst>
                                    </p:cNvPr>
                                    <p:cNvSpPr>
                                      <a:spLocks noChangeArrowheads="1"/>
                                    </p:cNvSpPr>
                                    <p:nvPr/>
                                  </p:nvSpPr>
                                  <p:spPr bwMode="auto">
                                    <a:xfrm>
                                      <a:off x="5625" y="3084"/>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817" name="Line 975">
                                      <a:extLst>
                                        <a:ext uri="{FF2B5EF4-FFF2-40B4-BE49-F238E27FC236}">
                                          <a16:creationId xmlns:a16="http://schemas.microsoft.com/office/drawing/2014/main" id="{913FEE9E-4FD4-0FC9-65F5-BF1AAC9BF27A}"/>
                                        </a:ext>
                                      </a:extLst>
                                    </p:cNvPr>
                                    <p:cNvSpPr>
                                      <a:spLocks noChangeShapeType="1"/>
                                    </p:cNvSpPr>
                                    <p:nvPr/>
                                  </p:nvSpPr>
                                  <p:spPr bwMode="auto">
                                    <a:xfrm flipH="1" flipV="1">
                                      <a:off x="5430" y="2889"/>
                                      <a:ext cx="219" cy="20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53800" name="Group 976">
                                  <a:extLst>
                                    <a:ext uri="{FF2B5EF4-FFF2-40B4-BE49-F238E27FC236}">
                                      <a16:creationId xmlns:a16="http://schemas.microsoft.com/office/drawing/2014/main" id="{01BD05C0-26D9-9DC3-C9F5-E4E07BC2AA93}"/>
                                    </a:ext>
                                  </a:extLst>
                                </p:cNvPr>
                                <p:cNvGrpSpPr>
                                  <a:grpSpLocks/>
                                </p:cNvGrpSpPr>
                                <p:nvPr/>
                              </p:nvGrpSpPr>
                              <p:grpSpPr bwMode="auto">
                                <a:xfrm>
                                  <a:off x="2616" y="2529"/>
                                  <a:ext cx="560" cy="818"/>
                                  <a:chOff x="2175" y="2529"/>
                                  <a:chExt cx="705" cy="1182"/>
                                </a:xfrm>
                              </p:grpSpPr>
                              <p:grpSp>
                                <p:nvGrpSpPr>
                                  <p:cNvPr id="153801" name="Group 977">
                                    <a:extLst>
                                      <a:ext uri="{FF2B5EF4-FFF2-40B4-BE49-F238E27FC236}">
                                        <a16:creationId xmlns:a16="http://schemas.microsoft.com/office/drawing/2014/main" id="{62876C3C-4B72-116C-869B-1F60B5BC2D7D}"/>
                                      </a:ext>
                                    </a:extLst>
                                  </p:cNvPr>
                                  <p:cNvGrpSpPr>
                                    <a:grpSpLocks/>
                                  </p:cNvGrpSpPr>
                                  <p:nvPr/>
                                </p:nvGrpSpPr>
                                <p:grpSpPr bwMode="auto">
                                  <a:xfrm>
                                    <a:off x="2415" y="2529"/>
                                    <a:ext cx="465" cy="1182"/>
                                    <a:chOff x="2415" y="2529"/>
                                    <a:chExt cx="465" cy="1182"/>
                                  </a:xfrm>
                                </p:grpSpPr>
                                <p:sp>
                                  <p:nvSpPr>
                                    <p:cNvPr id="153805" name="Line 978">
                                      <a:extLst>
                                        <a:ext uri="{FF2B5EF4-FFF2-40B4-BE49-F238E27FC236}">
                                          <a16:creationId xmlns:a16="http://schemas.microsoft.com/office/drawing/2014/main" id="{7132FD6D-D18E-E297-5ADC-C8CA3E4C7A4A}"/>
                                        </a:ext>
                                      </a:extLst>
                                    </p:cNvPr>
                                    <p:cNvSpPr>
                                      <a:spLocks noChangeShapeType="1"/>
                                    </p:cNvSpPr>
                                    <p:nvPr/>
                                  </p:nvSpPr>
                                  <p:spPr bwMode="auto">
                                    <a:xfrm flipV="1">
                                      <a:off x="2643" y="2919"/>
                                      <a:ext cx="222" cy="6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53806" name="Group 979">
                                      <a:extLst>
                                        <a:ext uri="{FF2B5EF4-FFF2-40B4-BE49-F238E27FC236}">
                                          <a16:creationId xmlns:a16="http://schemas.microsoft.com/office/drawing/2014/main" id="{FA6E4A49-2D43-E8B6-3F75-1DC72DE7BA74}"/>
                                        </a:ext>
                                      </a:extLst>
                                    </p:cNvPr>
                                    <p:cNvGrpSpPr>
                                      <a:grpSpLocks/>
                                    </p:cNvGrpSpPr>
                                    <p:nvPr/>
                                  </p:nvGrpSpPr>
                                  <p:grpSpPr bwMode="auto">
                                    <a:xfrm flipH="1">
                                      <a:off x="2415" y="2745"/>
                                      <a:ext cx="225" cy="720"/>
                                      <a:chOff x="5190" y="2775"/>
                                      <a:chExt cx="225" cy="720"/>
                                    </a:xfrm>
                                  </p:grpSpPr>
                                  <p:sp>
                                    <p:nvSpPr>
                                      <p:cNvPr id="153810" name="Oval 980">
                                        <a:extLst>
                                          <a:ext uri="{FF2B5EF4-FFF2-40B4-BE49-F238E27FC236}">
                                            <a16:creationId xmlns:a16="http://schemas.microsoft.com/office/drawing/2014/main" id="{8578F6B2-B184-98C4-6D08-DB3474F98FC7}"/>
                                          </a:ext>
                                        </a:extLst>
                                      </p:cNvPr>
                                      <p:cNvSpPr>
                                        <a:spLocks noChangeArrowheads="1"/>
                                      </p:cNvSpPr>
                                      <p:nvPr/>
                                    </p:nvSpPr>
                                    <p:spPr bwMode="auto">
                                      <a:xfrm>
                                        <a:off x="5190" y="297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811" name="Oval 981">
                                        <a:extLst>
                                          <a:ext uri="{FF2B5EF4-FFF2-40B4-BE49-F238E27FC236}">
                                            <a16:creationId xmlns:a16="http://schemas.microsoft.com/office/drawing/2014/main" id="{B66F731B-36DB-D16F-9521-CFF5C2E762B7}"/>
                                          </a:ext>
                                        </a:extLst>
                                      </p:cNvPr>
                                      <p:cNvSpPr>
                                        <a:spLocks noChangeArrowheads="1"/>
                                      </p:cNvSpPr>
                                      <p:nvPr/>
                                    </p:nvSpPr>
                                    <p:spPr bwMode="auto">
                                      <a:xfrm>
                                        <a:off x="5190" y="319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812" name="Oval 982">
                                        <a:extLst>
                                          <a:ext uri="{FF2B5EF4-FFF2-40B4-BE49-F238E27FC236}">
                                            <a16:creationId xmlns:a16="http://schemas.microsoft.com/office/drawing/2014/main" id="{C7257420-F5F4-1D1A-94EB-4AFFA5150DC9}"/>
                                          </a:ext>
                                        </a:extLst>
                                      </p:cNvPr>
                                      <p:cNvSpPr>
                                        <a:spLocks noChangeArrowheads="1"/>
                                      </p:cNvSpPr>
                                      <p:nvPr/>
                                    </p:nvSpPr>
                                    <p:spPr bwMode="auto">
                                      <a:xfrm>
                                        <a:off x="5295" y="277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813" name="Oval 983">
                                        <a:extLst>
                                          <a:ext uri="{FF2B5EF4-FFF2-40B4-BE49-F238E27FC236}">
                                            <a16:creationId xmlns:a16="http://schemas.microsoft.com/office/drawing/2014/main" id="{9CA39209-E42C-86AC-A90B-9888F6AE3582}"/>
                                          </a:ext>
                                        </a:extLst>
                                      </p:cNvPr>
                                      <p:cNvSpPr>
                                        <a:spLocks noChangeArrowheads="1"/>
                                      </p:cNvSpPr>
                                      <p:nvPr/>
                                    </p:nvSpPr>
                                    <p:spPr bwMode="auto">
                                      <a:xfrm>
                                        <a:off x="5310" y="339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153807" name="Line 984">
                                      <a:extLst>
                                        <a:ext uri="{FF2B5EF4-FFF2-40B4-BE49-F238E27FC236}">
                                          <a16:creationId xmlns:a16="http://schemas.microsoft.com/office/drawing/2014/main" id="{04D57F8D-0EBE-D1A2-E107-0D9994BADC27}"/>
                                        </a:ext>
                                      </a:extLst>
                                    </p:cNvPr>
                                    <p:cNvSpPr>
                                      <a:spLocks noChangeShapeType="1"/>
                                    </p:cNvSpPr>
                                    <p:nvPr/>
                                  </p:nvSpPr>
                                  <p:spPr bwMode="auto">
                                    <a:xfrm>
                                      <a:off x="2628" y="3252"/>
                                      <a:ext cx="231" cy="9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08" name="Line 985">
                                      <a:extLst>
                                        <a:ext uri="{FF2B5EF4-FFF2-40B4-BE49-F238E27FC236}">
                                          <a16:creationId xmlns:a16="http://schemas.microsoft.com/office/drawing/2014/main" id="{7D69D436-0518-7F62-CFDF-AAE1084EFCEF}"/>
                                        </a:ext>
                                      </a:extLst>
                                    </p:cNvPr>
                                    <p:cNvSpPr>
                                      <a:spLocks noChangeShapeType="1"/>
                                    </p:cNvSpPr>
                                    <p:nvPr/>
                                  </p:nvSpPr>
                                  <p:spPr bwMode="auto">
                                    <a:xfrm flipV="1">
                                      <a:off x="2520" y="2529"/>
                                      <a:ext cx="360" cy="23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09" name="Line 986">
                                      <a:extLst>
                                        <a:ext uri="{FF2B5EF4-FFF2-40B4-BE49-F238E27FC236}">
                                          <a16:creationId xmlns:a16="http://schemas.microsoft.com/office/drawing/2014/main" id="{4B518835-9F25-70F4-D636-97D3E8CA6E22}"/>
                                        </a:ext>
                                      </a:extLst>
                                    </p:cNvPr>
                                    <p:cNvSpPr>
                                      <a:spLocks noChangeShapeType="1"/>
                                    </p:cNvSpPr>
                                    <p:nvPr/>
                                  </p:nvSpPr>
                                  <p:spPr bwMode="auto">
                                    <a:xfrm>
                                      <a:off x="2499" y="3441"/>
                                      <a:ext cx="351" cy="2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53802" name="Group 987">
                                    <a:extLst>
                                      <a:ext uri="{FF2B5EF4-FFF2-40B4-BE49-F238E27FC236}">
                                        <a16:creationId xmlns:a16="http://schemas.microsoft.com/office/drawing/2014/main" id="{0B6F1317-8172-6EF3-FECB-CCB50D13094E}"/>
                                      </a:ext>
                                    </a:extLst>
                                  </p:cNvPr>
                                  <p:cNvGrpSpPr>
                                    <a:grpSpLocks/>
                                  </p:cNvGrpSpPr>
                                  <p:nvPr/>
                                </p:nvGrpSpPr>
                                <p:grpSpPr bwMode="auto">
                                  <a:xfrm>
                                    <a:off x="2175" y="2859"/>
                                    <a:ext cx="255" cy="309"/>
                                    <a:chOff x="2175" y="2859"/>
                                    <a:chExt cx="255" cy="309"/>
                                  </a:xfrm>
                                </p:grpSpPr>
                                <p:sp>
                                  <p:nvSpPr>
                                    <p:cNvPr id="153803" name="Oval 988">
                                      <a:extLst>
                                        <a:ext uri="{FF2B5EF4-FFF2-40B4-BE49-F238E27FC236}">
                                          <a16:creationId xmlns:a16="http://schemas.microsoft.com/office/drawing/2014/main" id="{9979C50F-076A-1FC7-58B9-561743548EE9}"/>
                                        </a:ext>
                                      </a:extLst>
                                    </p:cNvPr>
                                    <p:cNvSpPr>
                                      <a:spLocks noChangeArrowheads="1"/>
                                    </p:cNvSpPr>
                                    <p:nvPr/>
                                  </p:nvSpPr>
                                  <p:spPr bwMode="auto">
                                    <a:xfrm>
                                      <a:off x="2175" y="3063"/>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804" name="Line 989">
                                      <a:extLst>
                                        <a:ext uri="{FF2B5EF4-FFF2-40B4-BE49-F238E27FC236}">
                                          <a16:creationId xmlns:a16="http://schemas.microsoft.com/office/drawing/2014/main" id="{630CCD73-25F5-896B-726B-EFAE0F852184}"/>
                                        </a:ext>
                                      </a:extLst>
                                    </p:cNvPr>
                                    <p:cNvSpPr>
                                      <a:spLocks noChangeShapeType="1"/>
                                    </p:cNvSpPr>
                                    <p:nvPr/>
                                  </p:nvSpPr>
                                  <p:spPr bwMode="auto">
                                    <a:xfrm flipV="1">
                                      <a:off x="2259" y="2859"/>
                                      <a:ext cx="171" cy="20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grpSp>
                            <p:nvGrpSpPr>
                              <p:cNvPr id="153786" name="Group 990">
                                <a:extLst>
                                  <a:ext uri="{FF2B5EF4-FFF2-40B4-BE49-F238E27FC236}">
                                    <a16:creationId xmlns:a16="http://schemas.microsoft.com/office/drawing/2014/main" id="{B966340C-DEF7-9E92-B33A-3D0E44F86302}"/>
                                  </a:ext>
                                </a:extLst>
                              </p:cNvPr>
                              <p:cNvGrpSpPr>
                                <a:grpSpLocks/>
                              </p:cNvGrpSpPr>
                              <p:nvPr/>
                            </p:nvGrpSpPr>
                            <p:grpSpPr bwMode="auto">
                              <a:xfrm>
                                <a:off x="2493" y="5025"/>
                                <a:ext cx="672" cy="1005"/>
                                <a:chOff x="2493" y="5025"/>
                                <a:chExt cx="672" cy="1005"/>
                              </a:xfrm>
                            </p:grpSpPr>
                            <p:sp>
                              <p:nvSpPr>
                                <p:cNvPr id="153787" name="Text Box 991">
                                  <a:extLst>
                                    <a:ext uri="{FF2B5EF4-FFF2-40B4-BE49-F238E27FC236}">
                                      <a16:creationId xmlns:a16="http://schemas.microsoft.com/office/drawing/2014/main" id="{E0250B2C-3B01-4A6E-5E84-832126367368}"/>
                                    </a:ext>
                                  </a:extLst>
                                </p:cNvPr>
                                <p:cNvSpPr txBox="1">
                                  <a:spLocks noChangeArrowheads="1"/>
                                </p:cNvSpPr>
                                <p:nvPr/>
                              </p:nvSpPr>
                              <p:spPr bwMode="auto">
                                <a:xfrm>
                                  <a:off x="2493" y="5025"/>
                                  <a:ext cx="36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9</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788" name="Text Box 992">
                                  <a:extLst>
                                    <a:ext uri="{FF2B5EF4-FFF2-40B4-BE49-F238E27FC236}">
                                      <a16:creationId xmlns:a16="http://schemas.microsoft.com/office/drawing/2014/main" id="{69DBC1CC-F28C-F15A-F7E4-F56AFAD4800C}"/>
                                    </a:ext>
                                  </a:extLst>
                                </p:cNvPr>
                                <p:cNvSpPr txBox="1">
                                  <a:spLocks noChangeArrowheads="1"/>
                                </p:cNvSpPr>
                                <p:nvPr/>
                              </p:nvSpPr>
                              <p:spPr bwMode="auto">
                                <a:xfrm>
                                  <a:off x="2640" y="5238"/>
                                  <a:ext cx="513"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10</a:t>
                                  </a:r>
                                </a:p>
                                <a:p>
                                  <a:pPr eaLnBrk="1" hangingPunct="1"/>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789" name="Text Box 993">
                                  <a:extLst>
                                    <a:ext uri="{FF2B5EF4-FFF2-40B4-BE49-F238E27FC236}">
                                      <a16:creationId xmlns:a16="http://schemas.microsoft.com/office/drawing/2014/main" id="{A41E2C6A-5928-BC31-6B85-3F856D9BA9C9}"/>
                                    </a:ext>
                                  </a:extLst>
                                </p:cNvPr>
                                <p:cNvSpPr txBox="1">
                                  <a:spLocks noChangeArrowheads="1"/>
                                </p:cNvSpPr>
                                <p:nvPr/>
                              </p:nvSpPr>
                              <p:spPr bwMode="auto">
                                <a:xfrm>
                                  <a:off x="2652" y="5490"/>
                                  <a:ext cx="513"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11</a:t>
                                  </a:r>
                                </a:p>
                                <a:p>
                                  <a:pPr eaLnBrk="1" hangingPunct="1"/>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790" name="Text Box 994">
                                  <a:extLst>
                                    <a:ext uri="{FF2B5EF4-FFF2-40B4-BE49-F238E27FC236}">
                                      <a16:creationId xmlns:a16="http://schemas.microsoft.com/office/drawing/2014/main" id="{E020E2F4-7A21-5847-39A4-C679A66ED465}"/>
                                    </a:ext>
                                  </a:extLst>
                                </p:cNvPr>
                                <p:cNvSpPr txBox="1">
                                  <a:spLocks noChangeArrowheads="1"/>
                                </p:cNvSpPr>
                                <p:nvPr/>
                              </p:nvSpPr>
                              <p:spPr bwMode="auto">
                                <a:xfrm>
                                  <a:off x="2643" y="5772"/>
                                  <a:ext cx="513"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12</a:t>
                                  </a:r>
                                </a:p>
                                <a:p>
                                  <a:pPr eaLnBrk="1" hangingPunct="1"/>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grpSp>
                      <p:grpSp>
                        <p:nvGrpSpPr>
                          <p:cNvPr id="153773" name="Group 995">
                            <a:extLst>
                              <a:ext uri="{FF2B5EF4-FFF2-40B4-BE49-F238E27FC236}">
                                <a16:creationId xmlns:a16="http://schemas.microsoft.com/office/drawing/2014/main" id="{C521DEFA-289B-97E3-5A28-D74B0DE96B27}"/>
                              </a:ext>
                            </a:extLst>
                          </p:cNvPr>
                          <p:cNvGrpSpPr>
                            <a:grpSpLocks/>
                          </p:cNvGrpSpPr>
                          <p:nvPr/>
                        </p:nvGrpSpPr>
                        <p:grpSpPr bwMode="auto">
                          <a:xfrm>
                            <a:off x="3027" y="5325"/>
                            <a:ext cx="1281" cy="822"/>
                            <a:chOff x="3027" y="5325"/>
                            <a:chExt cx="1281" cy="822"/>
                          </a:xfrm>
                        </p:grpSpPr>
                        <p:grpSp>
                          <p:nvGrpSpPr>
                            <p:cNvPr id="153774" name="Group 996">
                              <a:extLst>
                                <a:ext uri="{FF2B5EF4-FFF2-40B4-BE49-F238E27FC236}">
                                  <a16:creationId xmlns:a16="http://schemas.microsoft.com/office/drawing/2014/main" id="{F8C964F7-1C07-2E24-B4A6-7AB815F71C10}"/>
                                </a:ext>
                              </a:extLst>
                            </p:cNvPr>
                            <p:cNvGrpSpPr>
                              <a:grpSpLocks/>
                            </p:cNvGrpSpPr>
                            <p:nvPr/>
                          </p:nvGrpSpPr>
                          <p:grpSpPr bwMode="auto">
                            <a:xfrm>
                              <a:off x="3027" y="5325"/>
                              <a:ext cx="459" cy="807"/>
                              <a:chOff x="3027" y="5325"/>
                              <a:chExt cx="459" cy="807"/>
                            </a:xfrm>
                          </p:grpSpPr>
                          <p:sp>
                            <p:nvSpPr>
                              <p:cNvPr id="153779" name="Text Box 997">
                                <a:extLst>
                                  <a:ext uri="{FF2B5EF4-FFF2-40B4-BE49-F238E27FC236}">
                                    <a16:creationId xmlns:a16="http://schemas.microsoft.com/office/drawing/2014/main" id="{EB59FFC6-11B7-618D-0C7B-D3DF8B738C11}"/>
                                  </a:ext>
                                </a:extLst>
                              </p:cNvPr>
                              <p:cNvSpPr txBox="1">
                                <a:spLocks noChangeArrowheads="1"/>
                              </p:cNvSpPr>
                              <p:nvPr/>
                            </p:nvSpPr>
                            <p:spPr bwMode="auto">
                              <a:xfrm>
                                <a:off x="3027" y="5325"/>
                                <a:ext cx="45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10</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780" name="Text Box 998">
                                <a:extLst>
                                  <a:ext uri="{FF2B5EF4-FFF2-40B4-BE49-F238E27FC236}">
                                    <a16:creationId xmlns:a16="http://schemas.microsoft.com/office/drawing/2014/main" id="{9E356D81-2032-4E15-9F50-A6B644A1CE88}"/>
                                  </a:ext>
                                </a:extLst>
                              </p:cNvPr>
                              <p:cNvSpPr txBox="1">
                                <a:spLocks noChangeArrowheads="1"/>
                              </p:cNvSpPr>
                              <p:nvPr/>
                            </p:nvSpPr>
                            <p:spPr bwMode="auto">
                              <a:xfrm>
                                <a:off x="3027" y="5595"/>
                                <a:ext cx="45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11</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781" name="Text Box 999">
                                <a:extLst>
                                  <a:ext uri="{FF2B5EF4-FFF2-40B4-BE49-F238E27FC236}">
                                    <a16:creationId xmlns:a16="http://schemas.microsoft.com/office/drawing/2014/main" id="{40DAEC6E-CE7E-7785-30F9-0E07D211F3E2}"/>
                                  </a:ext>
                                </a:extLst>
                              </p:cNvPr>
                              <p:cNvSpPr txBox="1">
                                <a:spLocks noChangeArrowheads="1"/>
                              </p:cNvSpPr>
                              <p:nvPr/>
                            </p:nvSpPr>
                            <p:spPr bwMode="auto">
                              <a:xfrm>
                                <a:off x="3027" y="5856"/>
                                <a:ext cx="45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12</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53775" name="Group 1000">
                              <a:extLst>
                                <a:ext uri="{FF2B5EF4-FFF2-40B4-BE49-F238E27FC236}">
                                  <a16:creationId xmlns:a16="http://schemas.microsoft.com/office/drawing/2014/main" id="{F769323E-9883-1091-506A-59CAA776A913}"/>
                                </a:ext>
                              </a:extLst>
                            </p:cNvPr>
                            <p:cNvGrpSpPr>
                              <a:grpSpLocks/>
                            </p:cNvGrpSpPr>
                            <p:nvPr/>
                          </p:nvGrpSpPr>
                          <p:grpSpPr bwMode="auto">
                            <a:xfrm>
                              <a:off x="3429" y="5583"/>
                              <a:ext cx="468" cy="555"/>
                              <a:chOff x="3429" y="5583"/>
                              <a:chExt cx="468" cy="555"/>
                            </a:xfrm>
                          </p:grpSpPr>
                          <p:sp>
                            <p:nvSpPr>
                              <p:cNvPr id="153777" name="Text Box 1001">
                                <a:extLst>
                                  <a:ext uri="{FF2B5EF4-FFF2-40B4-BE49-F238E27FC236}">
                                    <a16:creationId xmlns:a16="http://schemas.microsoft.com/office/drawing/2014/main" id="{BB608249-1269-3BFF-92E8-8D6D5B1C0821}"/>
                                  </a:ext>
                                </a:extLst>
                              </p:cNvPr>
                              <p:cNvSpPr txBox="1">
                                <a:spLocks noChangeArrowheads="1"/>
                              </p:cNvSpPr>
                              <p:nvPr/>
                            </p:nvSpPr>
                            <p:spPr bwMode="auto">
                              <a:xfrm>
                                <a:off x="3429" y="5583"/>
                                <a:ext cx="45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7</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778" name="Text Box 1002">
                                <a:extLst>
                                  <a:ext uri="{FF2B5EF4-FFF2-40B4-BE49-F238E27FC236}">
                                    <a16:creationId xmlns:a16="http://schemas.microsoft.com/office/drawing/2014/main" id="{D7143206-E36A-A181-9D0D-885BB817BEDC}"/>
                                  </a:ext>
                                </a:extLst>
                              </p:cNvPr>
                              <p:cNvSpPr txBox="1">
                                <a:spLocks noChangeArrowheads="1"/>
                              </p:cNvSpPr>
                              <p:nvPr/>
                            </p:nvSpPr>
                            <p:spPr bwMode="auto">
                              <a:xfrm>
                                <a:off x="3438" y="5862"/>
                                <a:ext cx="45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8</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153776" name="Text Box 1003">
                              <a:extLst>
                                <a:ext uri="{FF2B5EF4-FFF2-40B4-BE49-F238E27FC236}">
                                  <a16:creationId xmlns:a16="http://schemas.microsoft.com/office/drawing/2014/main" id="{EBC7C56D-4E85-94B1-56A5-61ADD05BF18E}"/>
                                </a:ext>
                              </a:extLst>
                            </p:cNvPr>
                            <p:cNvSpPr txBox="1">
                              <a:spLocks noChangeArrowheads="1"/>
                            </p:cNvSpPr>
                            <p:nvPr/>
                          </p:nvSpPr>
                          <p:spPr bwMode="auto">
                            <a:xfrm>
                              <a:off x="3849" y="5871"/>
                              <a:ext cx="45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4</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sp>
                      <p:nvSpPr>
                        <p:cNvPr id="153771" name="Text Box 1004">
                          <a:extLst>
                            <a:ext uri="{FF2B5EF4-FFF2-40B4-BE49-F238E27FC236}">
                              <a16:creationId xmlns:a16="http://schemas.microsoft.com/office/drawing/2014/main" id="{52486BA9-F2D8-9312-B9C4-E067007BFAB4}"/>
                            </a:ext>
                          </a:extLst>
                        </p:cNvPr>
                        <p:cNvSpPr txBox="1">
                          <a:spLocks noChangeArrowheads="1"/>
                        </p:cNvSpPr>
                        <p:nvPr/>
                      </p:nvSpPr>
                      <p:spPr bwMode="auto">
                        <a:xfrm>
                          <a:off x="5190" y="5268"/>
                          <a:ext cx="1306"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64000"/>
                            </a:lnSpc>
                          </a:pPr>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x</a:t>
                          </a:r>
                          <a:r>
                            <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rPr>
                            <a:t> 3 6 9</a:t>
                          </a:r>
                        </a:p>
                      </p:txBody>
                    </p:sp>
                  </p:grpSp>
                </p:grpSp>
                <p:sp>
                  <p:nvSpPr>
                    <p:cNvPr id="153767" name="Text Box 1005">
                      <a:extLst>
                        <a:ext uri="{FF2B5EF4-FFF2-40B4-BE49-F238E27FC236}">
                          <a16:creationId xmlns:a16="http://schemas.microsoft.com/office/drawing/2014/main" id="{DD588B65-50A9-D5CF-1848-FFB231A3B7CE}"/>
                        </a:ext>
                      </a:extLst>
                    </p:cNvPr>
                    <p:cNvSpPr txBox="1">
                      <a:spLocks noChangeArrowheads="1"/>
                    </p:cNvSpPr>
                    <p:nvPr/>
                  </p:nvSpPr>
                  <p:spPr bwMode="auto">
                    <a:xfrm>
                      <a:off x="4449" y="8760"/>
                      <a:ext cx="413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b="0">
                          <a:solidFill>
                            <a:schemeClr val="tx1"/>
                          </a:solidFill>
                          <a:latin typeface="Arial" panose="020B0604020202020204" pitchFamily="34" charset="0"/>
                          <a:ea typeface="微软雅黑" panose="020B0503020204020204" pitchFamily="34" charset="-122"/>
                          <a:cs typeface="Arial" panose="020B0604020202020204" pitchFamily="34" charset="0"/>
                        </a:rPr>
                        <a:t>(c) </a:t>
                      </a:r>
                      <a:r>
                        <a:rPr lang="zh-CN" altLang="en-US" sz="1800" b="0">
                          <a:solidFill>
                            <a:schemeClr val="tx1"/>
                          </a:solidFill>
                          <a:latin typeface="Arial" panose="020B0604020202020204" pitchFamily="34" charset="0"/>
                          <a:ea typeface="微软雅黑" panose="020B0503020204020204" pitchFamily="34" charset="-122"/>
                          <a:cs typeface="Arial" panose="020B0604020202020204" pitchFamily="34" charset="0"/>
                        </a:rPr>
                        <a:t>第</a:t>
                      </a:r>
                      <a:r>
                        <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rPr>
                        <a:t>9~12</a:t>
                      </a:r>
                      <a:r>
                        <a:rPr lang="zh-CN" altLang="en-US" sz="1800" b="0">
                          <a:solidFill>
                            <a:schemeClr val="tx1"/>
                          </a:solidFill>
                          <a:latin typeface="Arial" panose="020B0604020202020204" pitchFamily="34" charset="0"/>
                          <a:ea typeface="微软雅黑" panose="020B0503020204020204" pitchFamily="34" charset="-122"/>
                          <a:cs typeface="Arial" panose="020B0604020202020204" pitchFamily="34" charset="0"/>
                        </a:rPr>
                        <a:t>比特输入时的状态</a:t>
                      </a:r>
                    </a:p>
                    <a:p>
                      <a:pPr eaLnBrk="1" hangingPunct="1"/>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grpSp>
              <p:nvGrpSpPr>
                <p:cNvPr id="153626" name="Group 1006">
                  <a:extLst>
                    <a:ext uri="{FF2B5EF4-FFF2-40B4-BE49-F238E27FC236}">
                      <a16:creationId xmlns:a16="http://schemas.microsoft.com/office/drawing/2014/main" id="{2DB204C5-7DCA-A36F-AB20-E4CB464DA84B}"/>
                    </a:ext>
                  </a:extLst>
                </p:cNvPr>
                <p:cNvGrpSpPr>
                  <a:grpSpLocks/>
                </p:cNvGrpSpPr>
                <p:nvPr/>
              </p:nvGrpSpPr>
              <p:grpSpPr bwMode="auto">
                <a:xfrm>
                  <a:off x="1770" y="8892"/>
                  <a:ext cx="9041" cy="1467"/>
                  <a:chOff x="1740" y="9192"/>
                  <a:chExt cx="9041" cy="1467"/>
                </a:xfrm>
              </p:grpSpPr>
              <p:grpSp>
                <p:nvGrpSpPr>
                  <p:cNvPr id="153629" name="Group 1007">
                    <a:extLst>
                      <a:ext uri="{FF2B5EF4-FFF2-40B4-BE49-F238E27FC236}">
                        <a16:creationId xmlns:a16="http://schemas.microsoft.com/office/drawing/2014/main" id="{A729F0E4-C09B-829D-B298-C4D972C38BAC}"/>
                      </a:ext>
                    </a:extLst>
                  </p:cNvPr>
                  <p:cNvGrpSpPr>
                    <a:grpSpLocks/>
                  </p:cNvGrpSpPr>
                  <p:nvPr/>
                </p:nvGrpSpPr>
                <p:grpSpPr bwMode="auto">
                  <a:xfrm>
                    <a:off x="1740" y="9192"/>
                    <a:ext cx="9041" cy="1104"/>
                    <a:chOff x="1851" y="6555"/>
                    <a:chExt cx="9041" cy="1104"/>
                  </a:xfrm>
                </p:grpSpPr>
                <p:grpSp>
                  <p:nvGrpSpPr>
                    <p:cNvPr id="153631" name="Group 1008">
                      <a:extLst>
                        <a:ext uri="{FF2B5EF4-FFF2-40B4-BE49-F238E27FC236}">
                          <a16:creationId xmlns:a16="http://schemas.microsoft.com/office/drawing/2014/main" id="{BEEB6786-95DF-601C-49F3-8BA5E4792545}"/>
                        </a:ext>
                      </a:extLst>
                    </p:cNvPr>
                    <p:cNvGrpSpPr>
                      <a:grpSpLocks/>
                    </p:cNvGrpSpPr>
                    <p:nvPr/>
                  </p:nvGrpSpPr>
                  <p:grpSpPr bwMode="auto">
                    <a:xfrm>
                      <a:off x="6471" y="6561"/>
                      <a:ext cx="4421" cy="999"/>
                      <a:chOff x="6471" y="6561"/>
                      <a:chExt cx="4421" cy="999"/>
                    </a:xfrm>
                  </p:grpSpPr>
                  <p:grpSp>
                    <p:nvGrpSpPr>
                      <p:cNvPr id="153702" name="Group 1009">
                        <a:extLst>
                          <a:ext uri="{FF2B5EF4-FFF2-40B4-BE49-F238E27FC236}">
                            <a16:creationId xmlns:a16="http://schemas.microsoft.com/office/drawing/2014/main" id="{8F1C65AC-7FEC-1CDF-4688-DDD5E143F698}"/>
                          </a:ext>
                        </a:extLst>
                      </p:cNvPr>
                      <p:cNvGrpSpPr>
                        <a:grpSpLocks/>
                      </p:cNvGrpSpPr>
                      <p:nvPr/>
                    </p:nvGrpSpPr>
                    <p:grpSpPr bwMode="auto">
                      <a:xfrm>
                        <a:off x="6471" y="6561"/>
                        <a:ext cx="3678" cy="999"/>
                        <a:chOff x="6471" y="6561"/>
                        <a:chExt cx="3678" cy="999"/>
                      </a:xfrm>
                    </p:grpSpPr>
                    <p:grpSp>
                      <p:nvGrpSpPr>
                        <p:cNvPr id="153704" name="Group 1010">
                          <a:extLst>
                            <a:ext uri="{FF2B5EF4-FFF2-40B4-BE49-F238E27FC236}">
                              <a16:creationId xmlns:a16="http://schemas.microsoft.com/office/drawing/2014/main" id="{0D9D82A9-85E4-977D-B60D-1500A51C8E91}"/>
                            </a:ext>
                          </a:extLst>
                        </p:cNvPr>
                        <p:cNvGrpSpPr>
                          <a:grpSpLocks/>
                        </p:cNvGrpSpPr>
                        <p:nvPr/>
                      </p:nvGrpSpPr>
                      <p:grpSpPr bwMode="auto">
                        <a:xfrm>
                          <a:off x="6903" y="6561"/>
                          <a:ext cx="2814" cy="999"/>
                          <a:chOff x="6615" y="2349"/>
                          <a:chExt cx="3594" cy="1338"/>
                        </a:xfrm>
                      </p:grpSpPr>
                      <p:sp>
                        <p:nvSpPr>
                          <p:cNvPr id="153715" name="Line 1011">
                            <a:extLst>
                              <a:ext uri="{FF2B5EF4-FFF2-40B4-BE49-F238E27FC236}">
                                <a16:creationId xmlns:a16="http://schemas.microsoft.com/office/drawing/2014/main" id="{19126B8E-AEAA-4420-7A4D-A6B9A687A222}"/>
                              </a:ext>
                            </a:extLst>
                          </p:cNvPr>
                          <p:cNvSpPr>
                            <a:spLocks noChangeShapeType="1"/>
                          </p:cNvSpPr>
                          <p:nvPr/>
                        </p:nvSpPr>
                        <p:spPr bwMode="auto">
                          <a:xfrm flipV="1">
                            <a:off x="7329" y="3672"/>
                            <a:ext cx="2193" cy="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53716" name="Group 1012">
                            <a:extLst>
                              <a:ext uri="{FF2B5EF4-FFF2-40B4-BE49-F238E27FC236}">
                                <a16:creationId xmlns:a16="http://schemas.microsoft.com/office/drawing/2014/main" id="{A5B27DD1-8F36-9D7B-7982-9DB777706003}"/>
                              </a:ext>
                            </a:extLst>
                          </p:cNvPr>
                          <p:cNvGrpSpPr>
                            <a:grpSpLocks/>
                          </p:cNvGrpSpPr>
                          <p:nvPr/>
                        </p:nvGrpSpPr>
                        <p:grpSpPr bwMode="auto">
                          <a:xfrm>
                            <a:off x="7290" y="2523"/>
                            <a:ext cx="1414" cy="746"/>
                            <a:chOff x="5907" y="8910"/>
                            <a:chExt cx="1623" cy="912"/>
                          </a:xfrm>
                        </p:grpSpPr>
                        <p:sp>
                          <p:nvSpPr>
                            <p:cNvPr id="153761" name="Line 1013">
                              <a:extLst>
                                <a:ext uri="{FF2B5EF4-FFF2-40B4-BE49-F238E27FC236}">
                                  <a16:creationId xmlns:a16="http://schemas.microsoft.com/office/drawing/2014/main" id="{874D6F90-6FBD-C178-8BE7-15EF4BD0F3F1}"/>
                                </a:ext>
                              </a:extLst>
                            </p:cNvPr>
                            <p:cNvSpPr>
                              <a:spLocks noChangeShapeType="1"/>
                            </p:cNvSpPr>
                            <p:nvPr/>
                          </p:nvSpPr>
                          <p:spPr bwMode="auto">
                            <a:xfrm flipV="1">
                              <a:off x="5910" y="9372"/>
                              <a:ext cx="1050" cy="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762" name="Line 1014">
                              <a:extLst>
                                <a:ext uri="{FF2B5EF4-FFF2-40B4-BE49-F238E27FC236}">
                                  <a16:creationId xmlns:a16="http://schemas.microsoft.com/office/drawing/2014/main" id="{5E3AB9F9-A9A4-A425-8FD0-A9F221DD2FA4}"/>
                                </a:ext>
                              </a:extLst>
                            </p:cNvPr>
                            <p:cNvSpPr>
                              <a:spLocks noChangeShapeType="1"/>
                            </p:cNvSpPr>
                            <p:nvPr/>
                          </p:nvSpPr>
                          <p:spPr bwMode="auto">
                            <a:xfrm>
                              <a:off x="5907" y="9819"/>
                              <a:ext cx="1623"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763" name="Line 1015">
                              <a:extLst>
                                <a:ext uri="{FF2B5EF4-FFF2-40B4-BE49-F238E27FC236}">
                                  <a16:creationId xmlns:a16="http://schemas.microsoft.com/office/drawing/2014/main" id="{EEA7589D-71B8-AEE8-47BF-4620D97E3937}"/>
                                </a:ext>
                              </a:extLst>
                            </p:cNvPr>
                            <p:cNvSpPr>
                              <a:spLocks noChangeShapeType="1"/>
                            </p:cNvSpPr>
                            <p:nvPr/>
                          </p:nvSpPr>
                          <p:spPr bwMode="auto">
                            <a:xfrm>
                              <a:off x="5931" y="8910"/>
                              <a:ext cx="462"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53717" name="Group 1016">
                            <a:extLst>
                              <a:ext uri="{FF2B5EF4-FFF2-40B4-BE49-F238E27FC236}">
                                <a16:creationId xmlns:a16="http://schemas.microsoft.com/office/drawing/2014/main" id="{D533C418-44CC-5A69-E7B8-621DC3A28575}"/>
                              </a:ext>
                            </a:extLst>
                          </p:cNvPr>
                          <p:cNvGrpSpPr>
                            <a:grpSpLocks/>
                          </p:cNvGrpSpPr>
                          <p:nvPr/>
                        </p:nvGrpSpPr>
                        <p:grpSpPr bwMode="auto">
                          <a:xfrm>
                            <a:off x="9201" y="2523"/>
                            <a:ext cx="324" cy="756"/>
                            <a:chOff x="8100" y="8910"/>
                            <a:chExt cx="372" cy="924"/>
                          </a:xfrm>
                        </p:grpSpPr>
                        <p:sp>
                          <p:nvSpPr>
                            <p:cNvPr id="153758" name="Line 1017">
                              <a:extLst>
                                <a:ext uri="{FF2B5EF4-FFF2-40B4-BE49-F238E27FC236}">
                                  <a16:creationId xmlns:a16="http://schemas.microsoft.com/office/drawing/2014/main" id="{876A3DE6-9366-24C7-FA99-3204CEEE6CCF}"/>
                                </a:ext>
                              </a:extLst>
                            </p:cNvPr>
                            <p:cNvSpPr>
                              <a:spLocks noChangeShapeType="1"/>
                            </p:cNvSpPr>
                            <p:nvPr/>
                          </p:nvSpPr>
                          <p:spPr bwMode="auto">
                            <a:xfrm>
                              <a:off x="8100" y="9369"/>
                              <a:ext cx="351"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759" name="Line 1018">
                              <a:extLst>
                                <a:ext uri="{FF2B5EF4-FFF2-40B4-BE49-F238E27FC236}">
                                  <a16:creationId xmlns:a16="http://schemas.microsoft.com/office/drawing/2014/main" id="{815138B1-5278-A0B1-8D38-5F40BEDF2C0C}"/>
                                </a:ext>
                              </a:extLst>
                            </p:cNvPr>
                            <p:cNvSpPr>
                              <a:spLocks noChangeShapeType="1"/>
                            </p:cNvSpPr>
                            <p:nvPr/>
                          </p:nvSpPr>
                          <p:spPr bwMode="auto">
                            <a:xfrm>
                              <a:off x="8112" y="9831"/>
                              <a:ext cx="351"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760" name="Line 1019">
                              <a:extLst>
                                <a:ext uri="{FF2B5EF4-FFF2-40B4-BE49-F238E27FC236}">
                                  <a16:creationId xmlns:a16="http://schemas.microsoft.com/office/drawing/2014/main" id="{6DD4BEA3-BC2A-893A-2EB2-DA0F93724CCA}"/>
                                </a:ext>
                              </a:extLst>
                            </p:cNvPr>
                            <p:cNvSpPr>
                              <a:spLocks noChangeShapeType="1"/>
                            </p:cNvSpPr>
                            <p:nvPr/>
                          </p:nvSpPr>
                          <p:spPr bwMode="auto">
                            <a:xfrm>
                              <a:off x="8121" y="8910"/>
                              <a:ext cx="351"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53718" name="Group 1020">
                            <a:extLst>
                              <a:ext uri="{FF2B5EF4-FFF2-40B4-BE49-F238E27FC236}">
                                <a16:creationId xmlns:a16="http://schemas.microsoft.com/office/drawing/2014/main" id="{3AFAC51B-B5C9-7A1E-7483-EE6A8CE62895}"/>
                              </a:ext>
                            </a:extLst>
                          </p:cNvPr>
                          <p:cNvGrpSpPr>
                            <a:grpSpLocks/>
                          </p:cNvGrpSpPr>
                          <p:nvPr/>
                        </p:nvGrpSpPr>
                        <p:grpSpPr bwMode="auto">
                          <a:xfrm>
                            <a:off x="7704" y="2349"/>
                            <a:ext cx="1511" cy="1120"/>
                            <a:chOff x="7296" y="8549"/>
                            <a:chExt cx="1734" cy="1368"/>
                          </a:xfrm>
                        </p:grpSpPr>
                        <p:sp>
                          <p:nvSpPr>
                            <p:cNvPr id="153748" name="Line 1021">
                              <a:extLst>
                                <a:ext uri="{FF2B5EF4-FFF2-40B4-BE49-F238E27FC236}">
                                  <a16:creationId xmlns:a16="http://schemas.microsoft.com/office/drawing/2014/main" id="{E1D22D56-0ACA-6582-78E1-20CF358EA495}"/>
                                </a:ext>
                              </a:extLst>
                            </p:cNvPr>
                            <p:cNvSpPr>
                              <a:spLocks noChangeShapeType="1"/>
                            </p:cNvSpPr>
                            <p:nvPr/>
                          </p:nvSpPr>
                          <p:spPr bwMode="auto">
                            <a:xfrm flipV="1">
                              <a:off x="7314" y="8562"/>
                              <a:ext cx="170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53749" name="Group 1022">
                              <a:extLst>
                                <a:ext uri="{FF2B5EF4-FFF2-40B4-BE49-F238E27FC236}">
                                  <a16:creationId xmlns:a16="http://schemas.microsoft.com/office/drawing/2014/main" id="{30C01126-5C42-ABA4-183F-FBD267DDEBE3}"/>
                                </a:ext>
                              </a:extLst>
                            </p:cNvPr>
                            <p:cNvGrpSpPr>
                              <a:grpSpLocks/>
                            </p:cNvGrpSpPr>
                            <p:nvPr/>
                          </p:nvGrpSpPr>
                          <p:grpSpPr bwMode="auto">
                            <a:xfrm>
                              <a:off x="7296" y="8549"/>
                              <a:ext cx="1734" cy="1368"/>
                              <a:chOff x="7296" y="8549"/>
                              <a:chExt cx="1734" cy="1368"/>
                            </a:xfrm>
                          </p:grpSpPr>
                          <p:sp>
                            <p:nvSpPr>
                              <p:cNvPr id="153750" name="Line 1023">
                                <a:extLst>
                                  <a:ext uri="{FF2B5EF4-FFF2-40B4-BE49-F238E27FC236}">
                                    <a16:creationId xmlns:a16="http://schemas.microsoft.com/office/drawing/2014/main" id="{80438CF3-4269-C0BB-7132-7CD7128D7B50}"/>
                                  </a:ext>
                                </a:extLst>
                              </p:cNvPr>
                              <p:cNvSpPr>
                                <a:spLocks noChangeShapeType="1"/>
                              </p:cNvSpPr>
                              <p:nvPr/>
                            </p:nvSpPr>
                            <p:spPr bwMode="auto">
                              <a:xfrm flipV="1">
                                <a:off x="9018" y="8549"/>
                                <a:ext cx="0" cy="135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751" name="Line 1024">
                                <a:extLst>
                                  <a:ext uri="{FF2B5EF4-FFF2-40B4-BE49-F238E27FC236}">
                                    <a16:creationId xmlns:a16="http://schemas.microsoft.com/office/drawing/2014/main" id="{70B56E43-54B0-E58D-FFEF-845DDE372237}"/>
                                  </a:ext>
                                </a:extLst>
                              </p:cNvPr>
                              <p:cNvSpPr>
                                <a:spLocks noChangeShapeType="1"/>
                              </p:cNvSpPr>
                              <p:nvPr/>
                            </p:nvSpPr>
                            <p:spPr bwMode="auto">
                              <a:xfrm flipV="1">
                                <a:off x="7860" y="9467"/>
                                <a:ext cx="117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752" name="Line 1025">
                                <a:extLst>
                                  <a:ext uri="{FF2B5EF4-FFF2-40B4-BE49-F238E27FC236}">
                                    <a16:creationId xmlns:a16="http://schemas.microsoft.com/office/drawing/2014/main" id="{70FC47CB-E2CF-5C74-D6F5-2F9285E7B9DB}"/>
                                  </a:ext>
                                </a:extLst>
                              </p:cNvPr>
                              <p:cNvSpPr>
                                <a:spLocks noChangeShapeType="1"/>
                              </p:cNvSpPr>
                              <p:nvPr/>
                            </p:nvSpPr>
                            <p:spPr bwMode="auto">
                              <a:xfrm flipV="1">
                                <a:off x="8448" y="8558"/>
                                <a:ext cx="0" cy="135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753" name="Line 1026">
                                <a:extLst>
                                  <a:ext uri="{FF2B5EF4-FFF2-40B4-BE49-F238E27FC236}">
                                    <a16:creationId xmlns:a16="http://schemas.microsoft.com/office/drawing/2014/main" id="{92A57DA2-D219-0664-7F25-21344831A558}"/>
                                  </a:ext>
                                </a:extLst>
                              </p:cNvPr>
                              <p:cNvSpPr>
                                <a:spLocks noChangeShapeType="1"/>
                              </p:cNvSpPr>
                              <p:nvPr/>
                            </p:nvSpPr>
                            <p:spPr bwMode="auto">
                              <a:xfrm flipH="1" flipV="1">
                                <a:off x="7866" y="8570"/>
                                <a:ext cx="9" cy="8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754" name="Line 1027">
                                <a:extLst>
                                  <a:ext uri="{FF2B5EF4-FFF2-40B4-BE49-F238E27FC236}">
                                    <a16:creationId xmlns:a16="http://schemas.microsoft.com/office/drawing/2014/main" id="{B81FBF1E-115D-FA0E-EC34-0D237ACD8206}"/>
                                  </a:ext>
                                </a:extLst>
                              </p:cNvPr>
                              <p:cNvSpPr>
                                <a:spLocks noChangeShapeType="1"/>
                              </p:cNvSpPr>
                              <p:nvPr/>
                            </p:nvSpPr>
                            <p:spPr bwMode="auto">
                              <a:xfrm flipV="1">
                                <a:off x="7296" y="8558"/>
                                <a:ext cx="0" cy="44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755" name="Line 1028">
                                <a:extLst>
                                  <a:ext uri="{FF2B5EF4-FFF2-40B4-BE49-F238E27FC236}">
                                    <a16:creationId xmlns:a16="http://schemas.microsoft.com/office/drawing/2014/main" id="{CDC72023-5B4D-43D4-9999-846923E3EA1B}"/>
                                  </a:ext>
                                </a:extLst>
                              </p:cNvPr>
                              <p:cNvSpPr>
                                <a:spLocks noChangeShapeType="1"/>
                              </p:cNvSpPr>
                              <p:nvPr/>
                            </p:nvSpPr>
                            <p:spPr bwMode="auto">
                              <a:xfrm flipV="1">
                                <a:off x="7305" y="9025"/>
                                <a:ext cx="169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756" name="Line 1029">
                                <a:extLst>
                                  <a:ext uri="{FF2B5EF4-FFF2-40B4-BE49-F238E27FC236}">
                                    <a16:creationId xmlns:a16="http://schemas.microsoft.com/office/drawing/2014/main" id="{737879F9-9CD7-AE13-6AE7-B79FD0F3ED1C}"/>
                                  </a:ext>
                                </a:extLst>
                              </p:cNvPr>
                              <p:cNvSpPr>
                                <a:spLocks noChangeShapeType="1"/>
                              </p:cNvSpPr>
                              <p:nvPr/>
                            </p:nvSpPr>
                            <p:spPr bwMode="auto">
                              <a:xfrm flipV="1">
                                <a:off x="8454" y="9464"/>
                                <a:ext cx="56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757" name="Line 1030">
                                <a:extLst>
                                  <a:ext uri="{FF2B5EF4-FFF2-40B4-BE49-F238E27FC236}">
                                    <a16:creationId xmlns:a16="http://schemas.microsoft.com/office/drawing/2014/main" id="{EB4A9C04-CC52-F747-31DF-BBC6CCD52059}"/>
                                  </a:ext>
                                </a:extLst>
                              </p:cNvPr>
                              <p:cNvSpPr>
                                <a:spLocks noChangeShapeType="1"/>
                              </p:cNvSpPr>
                              <p:nvPr/>
                            </p:nvSpPr>
                            <p:spPr bwMode="auto">
                              <a:xfrm flipV="1">
                                <a:off x="8445" y="9914"/>
                                <a:ext cx="576"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53719" name="Group 1031">
                            <a:extLst>
                              <a:ext uri="{FF2B5EF4-FFF2-40B4-BE49-F238E27FC236}">
                                <a16:creationId xmlns:a16="http://schemas.microsoft.com/office/drawing/2014/main" id="{C90372EC-7AE5-4E60-20AD-0194AE2193F6}"/>
                              </a:ext>
                            </a:extLst>
                          </p:cNvPr>
                          <p:cNvGrpSpPr>
                            <a:grpSpLocks/>
                          </p:cNvGrpSpPr>
                          <p:nvPr/>
                        </p:nvGrpSpPr>
                        <p:grpSpPr bwMode="auto">
                          <a:xfrm>
                            <a:off x="6615" y="2526"/>
                            <a:ext cx="723" cy="1161"/>
                            <a:chOff x="6615" y="2526"/>
                            <a:chExt cx="723" cy="1161"/>
                          </a:xfrm>
                        </p:grpSpPr>
                        <p:grpSp>
                          <p:nvGrpSpPr>
                            <p:cNvPr id="153735" name="Group 1032">
                              <a:extLst>
                                <a:ext uri="{FF2B5EF4-FFF2-40B4-BE49-F238E27FC236}">
                                  <a16:creationId xmlns:a16="http://schemas.microsoft.com/office/drawing/2014/main" id="{C145F4B0-4A80-C16F-A7B7-E7B09C8E5CC3}"/>
                                </a:ext>
                              </a:extLst>
                            </p:cNvPr>
                            <p:cNvGrpSpPr>
                              <a:grpSpLocks/>
                            </p:cNvGrpSpPr>
                            <p:nvPr/>
                          </p:nvGrpSpPr>
                          <p:grpSpPr bwMode="auto">
                            <a:xfrm flipH="1">
                              <a:off x="6855" y="2724"/>
                              <a:ext cx="225" cy="720"/>
                              <a:chOff x="5190" y="2775"/>
                              <a:chExt cx="225" cy="720"/>
                            </a:xfrm>
                          </p:grpSpPr>
                          <p:sp>
                            <p:nvSpPr>
                              <p:cNvPr id="153744" name="Oval 1033">
                                <a:extLst>
                                  <a:ext uri="{FF2B5EF4-FFF2-40B4-BE49-F238E27FC236}">
                                    <a16:creationId xmlns:a16="http://schemas.microsoft.com/office/drawing/2014/main" id="{98FDAC5A-3A88-ADA2-5995-837B48348701}"/>
                                  </a:ext>
                                </a:extLst>
                              </p:cNvPr>
                              <p:cNvSpPr>
                                <a:spLocks noChangeArrowheads="1"/>
                              </p:cNvSpPr>
                              <p:nvPr/>
                            </p:nvSpPr>
                            <p:spPr bwMode="auto">
                              <a:xfrm>
                                <a:off x="5190" y="297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745" name="Oval 1034">
                                <a:extLst>
                                  <a:ext uri="{FF2B5EF4-FFF2-40B4-BE49-F238E27FC236}">
                                    <a16:creationId xmlns:a16="http://schemas.microsoft.com/office/drawing/2014/main" id="{64B1DBAF-C240-3536-03A8-5D8387C0D8E3}"/>
                                  </a:ext>
                                </a:extLst>
                              </p:cNvPr>
                              <p:cNvSpPr>
                                <a:spLocks noChangeArrowheads="1"/>
                              </p:cNvSpPr>
                              <p:nvPr/>
                            </p:nvSpPr>
                            <p:spPr bwMode="auto">
                              <a:xfrm>
                                <a:off x="5190" y="319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746" name="Oval 1035">
                                <a:extLst>
                                  <a:ext uri="{FF2B5EF4-FFF2-40B4-BE49-F238E27FC236}">
                                    <a16:creationId xmlns:a16="http://schemas.microsoft.com/office/drawing/2014/main" id="{4AF3B457-BF5F-8855-14BA-D427F1EF6860}"/>
                                  </a:ext>
                                </a:extLst>
                              </p:cNvPr>
                              <p:cNvSpPr>
                                <a:spLocks noChangeArrowheads="1"/>
                              </p:cNvSpPr>
                              <p:nvPr/>
                            </p:nvSpPr>
                            <p:spPr bwMode="auto">
                              <a:xfrm>
                                <a:off x="5295" y="277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747" name="Oval 1036">
                                <a:extLst>
                                  <a:ext uri="{FF2B5EF4-FFF2-40B4-BE49-F238E27FC236}">
                                    <a16:creationId xmlns:a16="http://schemas.microsoft.com/office/drawing/2014/main" id="{CD5EDD48-0D8E-1845-E633-40A5B5D2FBF4}"/>
                                  </a:ext>
                                </a:extLst>
                              </p:cNvPr>
                              <p:cNvSpPr>
                                <a:spLocks noChangeArrowheads="1"/>
                              </p:cNvSpPr>
                              <p:nvPr/>
                            </p:nvSpPr>
                            <p:spPr bwMode="auto">
                              <a:xfrm>
                                <a:off x="5310" y="339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53736" name="Group 1037">
                              <a:extLst>
                                <a:ext uri="{FF2B5EF4-FFF2-40B4-BE49-F238E27FC236}">
                                  <a16:creationId xmlns:a16="http://schemas.microsoft.com/office/drawing/2014/main" id="{C9DE8344-FAAE-4392-1EB0-A72FD3959433}"/>
                                </a:ext>
                              </a:extLst>
                            </p:cNvPr>
                            <p:cNvGrpSpPr>
                              <a:grpSpLocks/>
                            </p:cNvGrpSpPr>
                            <p:nvPr/>
                          </p:nvGrpSpPr>
                          <p:grpSpPr bwMode="auto">
                            <a:xfrm>
                              <a:off x="6939" y="2526"/>
                              <a:ext cx="399" cy="1161"/>
                              <a:chOff x="6939" y="2526"/>
                              <a:chExt cx="399" cy="1161"/>
                            </a:xfrm>
                          </p:grpSpPr>
                          <p:sp>
                            <p:nvSpPr>
                              <p:cNvPr id="153740" name="Line 1038">
                                <a:extLst>
                                  <a:ext uri="{FF2B5EF4-FFF2-40B4-BE49-F238E27FC236}">
                                    <a16:creationId xmlns:a16="http://schemas.microsoft.com/office/drawing/2014/main" id="{A1109062-E052-F776-4A8B-00A2137AA6D6}"/>
                                  </a:ext>
                                </a:extLst>
                              </p:cNvPr>
                              <p:cNvSpPr>
                                <a:spLocks noChangeShapeType="1"/>
                              </p:cNvSpPr>
                              <p:nvPr/>
                            </p:nvSpPr>
                            <p:spPr bwMode="auto">
                              <a:xfrm flipV="1">
                                <a:off x="7083" y="2910"/>
                                <a:ext cx="213" cy="5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741" name="Line 1039">
                                <a:extLst>
                                  <a:ext uri="{FF2B5EF4-FFF2-40B4-BE49-F238E27FC236}">
                                    <a16:creationId xmlns:a16="http://schemas.microsoft.com/office/drawing/2014/main" id="{FAD628CA-F63A-A418-A770-90E1EB8F7D4E}"/>
                                  </a:ext>
                                </a:extLst>
                              </p:cNvPr>
                              <p:cNvSpPr>
                                <a:spLocks noChangeShapeType="1"/>
                              </p:cNvSpPr>
                              <p:nvPr/>
                            </p:nvSpPr>
                            <p:spPr bwMode="auto">
                              <a:xfrm>
                                <a:off x="7068" y="3231"/>
                                <a:ext cx="231" cy="4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742" name="Line 1040">
                                <a:extLst>
                                  <a:ext uri="{FF2B5EF4-FFF2-40B4-BE49-F238E27FC236}">
                                    <a16:creationId xmlns:a16="http://schemas.microsoft.com/office/drawing/2014/main" id="{36549030-057E-19B8-9FC6-88BF79115C24}"/>
                                  </a:ext>
                                </a:extLst>
                              </p:cNvPr>
                              <p:cNvSpPr>
                                <a:spLocks noChangeShapeType="1"/>
                              </p:cNvSpPr>
                              <p:nvPr/>
                            </p:nvSpPr>
                            <p:spPr bwMode="auto">
                              <a:xfrm flipV="1">
                                <a:off x="6960" y="2526"/>
                                <a:ext cx="360" cy="21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743" name="Line 1041">
                                <a:extLst>
                                  <a:ext uri="{FF2B5EF4-FFF2-40B4-BE49-F238E27FC236}">
                                    <a16:creationId xmlns:a16="http://schemas.microsoft.com/office/drawing/2014/main" id="{F7529B77-D830-DDB8-3B2E-F129E875D9FF}"/>
                                  </a:ext>
                                </a:extLst>
                              </p:cNvPr>
                              <p:cNvSpPr>
                                <a:spLocks noChangeShapeType="1"/>
                              </p:cNvSpPr>
                              <p:nvPr/>
                            </p:nvSpPr>
                            <p:spPr bwMode="auto">
                              <a:xfrm>
                                <a:off x="6939" y="3420"/>
                                <a:ext cx="399" cy="26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53737" name="Group 1042">
                              <a:extLst>
                                <a:ext uri="{FF2B5EF4-FFF2-40B4-BE49-F238E27FC236}">
                                  <a16:creationId xmlns:a16="http://schemas.microsoft.com/office/drawing/2014/main" id="{5C5E484C-5091-B568-B240-7BCDDF02997A}"/>
                                </a:ext>
                              </a:extLst>
                            </p:cNvPr>
                            <p:cNvGrpSpPr>
                              <a:grpSpLocks/>
                            </p:cNvGrpSpPr>
                            <p:nvPr/>
                          </p:nvGrpSpPr>
                          <p:grpSpPr bwMode="auto">
                            <a:xfrm>
                              <a:off x="6615" y="2838"/>
                              <a:ext cx="255" cy="309"/>
                              <a:chOff x="2175" y="2859"/>
                              <a:chExt cx="255" cy="309"/>
                            </a:xfrm>
                          </p:grpSpPr>
                          <p:sp>
                            <p:nvSpPr>
                              <p:cNvPr id="153738" name="Oval 1043">
                                <a:extLst>
                                  <a:ext uri="{FF2B5EF4-FFF2-40B4-BE49-F238E27FC236}">
                                    <a16:creationId xmlns:a16="http://schemas.microsoft.com/office/drawing/2014/main" id="{A2F7D860-A738-4DB7-3FA8-44B64F810F6F}"/>
                                  </a:ext>
                                </a:extLst>
                              </p:cNvPr>
                              <p:cNvSpPr>
                                <a:spLocks noChangeArrowheads="1"/>
                              </p:cNvSpPr>
                              <p:nvPr/>
                            </p:nvSpPr>
                            <p:spPr bwMode="auto">
                              <a:xfrm>
                                <a:off x="2175" y="3063"/>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739" name="Line 1044">
                                <a:extLst>
                                  <a:ext uri="{FF2B5EF4-FFF2-40B4-BE49-F238E27FC236}">
                                    <a16:creationId xmlns:a16="http://schemas.microsoft.com/office/drawing/2014/main" id="{5D3C3C77-B425-6856-728C-B53D8FCE3426}"/>
                                  </a:ext>
                                </a:extLst>
                              </p:cNvPr>
                              <p:cNvSpPr>
                                <a:spLocks noChangeShapeType="1"/>
                              </p:cNvSpPr>
                              <p:nvPr/>
                            </p:nvSpPr>
                            <p:spPr bwMode="auto">
                              <a:xfrm flipV="1">
                                <a:off x="2259" y="2859"/>
                                <a:ext cx="171" cy="20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53720" name="Group 1045">
                            <a:extLst>
                              <a:ext uri="{FF2B5EF4-FFF2-40B4-BE49-F238E27FC236}">
                                <a16:creationId xmlns:a16="http://schemas.microsoft.com/office/drawing/2014/main" id="{DE47C325-37EC-F5F9-2BC7-93CA642BB7B1}"/>
                              </a:ext>
                            </a:extLst>
                          </p:cNvPr>
                          <p:cNvGrpSpPr>
                            <a:grpSpLocks/>
                          </p:cNvGrpSpPr>
                          <p:nvPr/>
                        </p:nvGrpSpPr>
                        <p:grpSpPr bwMode="auto">
                          <a:xfrm>
                            <a:off x="9495" y="2532"/>
                            <a:ext cx="714" cy="1134"/>
                            <a:chOff x="9495" y="2532"/>
                            <a:chExt cx="714" cy="1134"/>
                          </a:xfrm>
                        </p:grpSpPr>
                        <p:grpSp>
                          <p:nvGrpSpPr>
                            <p:cNvPr id="153721" name="Group 1046">
                              <a:extLst>
                                <a:ext uri="{FF2B5EF4-FFF2-40B4-BE49-F238E27FC236}">
                                  <a16:creationId xmlns:a16="http://schemas.microsoft.com/office/drawing/2014/main" id="{DD545FF6-8D85-F611-25CE-92A8E66D14D0}"/>
                                </a:ext>
                              </a:extLst>
                            </p:cNvPr>
                            <p:cNvGrpSpPr>
                              <a:grpSpLocks/>
                            </p:cNvGrpSpPr>
                            <p:nvPr/>
                          </p:nvGrpSpPr>
                          <p:grpSpPr bwMode="auto">
                            <a:xfrm>
                              <a:off x="9495" y="2532"/>
                              <a:ext cx="399" cy="1134"/>
                              <a:chOff x="9495" y="2532"/>
                              <a:chExt cx="399" cy="1134"/>
                            </a:xfrm>
                          </p:grpSpPr>
                          <p:grpSp>
                            <p:nvGrpSpPr>
                              <p:cNvPr id="153725" name="Group 1047">
                                <a:extLst>
                                  <a:ext uri="{FF2B5EF4-FFF2-40B4-BE49-F238E27FC236}">
                                    <a16:creationId xmlns:a16="http://schemas.microsoft.com/office/drawing/2014/main" id="{C89E47CA-E1AB-CCB0-7C55-8C13FD7A0BC5}"/>
                                  </a:ext>
                                </a:extLst>
                              </p:cNvPr>
                              <p:cNvGrpSpPr>
                                <a:grpSpLocks/>
                              </p:cNvGrpSpPr>
                              <p:nvPr/>
                            </p:nvGrpSpPr>
                            <p:grpSpPr bwMode="auto">
                              <a:xfrm>
                                <a:off x="9669" y="2766"/>
                                <a:ext cx="225" cy="720"/>
                                <a:chOff x="5190" y="2775"/>
                                <a:chExt cx="225" cy="720"/>
                              </a:xfrm>
                            </p:grpSpPr>
                            <p:sp>
                              <p:nvSpPr>
                                <p:cNvPr id="153731" name="Oval 1048">
                                  <a:extLst>
                                    <a:ext uri="{FF2B5EF4-FFF2-40B4-BE49-F238E27FC236}">
                                      <a16:creationId xmlns:a16="http://schemas.microsoft.com/office/drawing/2014/main" id="{F2D2456C-7AA7-A572-EBA3-187940853CF7}"/>
                                    </a:ext>
                                  </a:extLst>
                                </p:cNvPr>
                                <p:cNvSpPr>
                                  <a:spLocks noChangeArrowheads="1"/>
                                </p:cNvSpPr>
                                <p:nvPr/>
                              </p:nvSpPr>
                              <p:spPr bwMode="auto">
                                <a:xfrm>
                                  <a:off x="5190" y="297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732" name="Oval 1049">
                                  <a:extLst>
                                    <a:ext uri="{FF2B5EF4-FFF2-40B4-BE49-F238E27FC236}">
                                      <a16:creationId xmlns:a16="http://schemas.microsoft.com/office/drawing/2014/main" id="{D65E5705-40F7-1788-3753-849AF507149A}"/>
                                    </a:ext>
                                  </a:extLst>
                                </p:cNvPr>
                                <p:cNvSpPr>
                                  <a:spLocks noChangeArrowheads="1"/>
                                </p:cNvSpPr>
                                <p:nvPr/>
                              </p:nvSpPr>
                              <p:spPr bwMode="auto">
                                <a:xfrm>
                                  <a:off x="5190" y="319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733" name="Oval 1050">
                                  <a:extLst>
                                    <a:ext uri="{FF2B5EF4-FFF2-40B4-BE49-F238E27FC236}">
                                      <a16:creationId xmlns:a16="http://schemas.microsoft.com/office/drawing/2014/main" id="{010FC87B-0C59-76B1-8702-7CEBF1150B47}"/>
                                    </a:ext>
                                  </a:extLst>
                                </p:cNvPr>
                                <p:cNvSpPr>
                                  <a:spLocks noChangeArrowheads="1"/>
                                </p:cNvSpPr>
                                <p:nvPr/>
                              </p:nvSpPr>
                              <p:spPr bwMode="auto">
                                <a:xfrm>
                                  <a:off x="5295" y="277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734" name="Oval 1051">
                                  <a:extLst>
                                    <a:ext uri="{FF2B5EF4-FFF2-40B4-BE49-F238E27FC236}">
                                      <a16:creationId xmlns:a16="http://schemas.microsoft.com/office/drawing/2014/main" id="{05C22E6B-BDE2-A2F4-22D8-741D6661AC18}"/>
                                    </a:ext>
                                  </a:extLst>
                                </p:cNvPr>
                                <p:cNvSpPr>
                                  <a:spLocks noChangeArrowheads="1"/>
                                </p:cNvSpPr>
                                <p:nvPr/>
                              </p:nvSpPr>
                              <p:spPr bwMode="auto">
                                <a:xfrm>
                                  <a:off x="5310" y="339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53726" name="Group 1052">
                                <a:extLst>
                                  <a:ext uri="{FF2B5EF4-FFF2-40B4-BE49-F238E27FC236}">
                                    <a16:creationId xmlns:a16="http://schemas.microsoft.com/office/drawing/2014/main" id="{484895CD-4BB6-957D-32A3-0081B6B1D409}"/>
                                  </a:ext>
                                </a:extLst>
                              </p:cNvPr>
                              <p:cNvGrpSpPr>
                                <a:grpSpLocks/>
                              </p:cNvGrpSpPr>
                              <p:nvPr/>
                            </p:nvGrpSpPr>
                            <p:grpSpPr bwMode="auto">
                              <a:xfrm>
                                <a:off x="9495" y="2532"/>
                                <a:ext cx="297" cy="1134"/>
                                <a:chOff x="9495" y="2532"/>
                                <a:chExt cx="297" cy="1134"/>
                              </a:xfrm>
                            </p:grpSpPr>
                            <p:sp>
                              <p:nvSpPr>
                                <p:cNvPr id="153727" name="Line 1053">
                                  <a:extLst>
                                    <a:ext uri="{FF2B5EF4-FFF2-40B4-BE49-F238E27FC236}">
                                      <a16:creationId xmlns:a16="http://schemas.microsoft.com/office/drawing/2014/main" id="{3AA27C67-435B-1EB8-E5FA-4828E1B2FB7C}"/>
                                    </a:ext>
                                  </a:extLst>
                                </p:cNvPr>
                                <p:cNvSpPr>
                                  <a:spLocks noChangeShapeType="1"/>
                                </p:cNvSpPr>
                                <p:nvPr/>
                              </p:nvSpPr>
                              <p:spPr bwMode="auto">
                                <a:xfrm>
                                  <a:off x="9507" y="2532"/>
                                  <a:ext cx="267" cy="24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728" name="Line 1054">
                                  <a:extLst>
                                    <a:ext uri="{FF2B5EF4-FFF2-40B4-BE49-F238E27FC236}">
                                      <a16:creationId xmlns:a16="http://schemas.microsoft.com/office/drawing/2014/main" id="{0A656670-1CCF-BEE3-D536-82FAE9BFBFE9}"/>
                                    </a:ext>
                                  </a:extLst>
                                </p:cNvPr>
                                <p:cNvSpPr>
                                  <a:spLocks noChangeShapeType="1"/>
                                </p:cNvSpPr>
                                <p:nvPr/>
                              </p:nvSpPr>
                              <p:spPr bwMode="auto">
                                <a:xfrm>
                                  <a:off x="9504" y="2907"/>
                                  <a:ext cx="165" cy="8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729" name="Line 1055">
                                  <a:extLst>
                                    <a:ext uri="{FF2B5EF4-FFF2-40B4-BE49-F238E27FC236}">
                                      <a16:creationId xmlns:a16="http://schemas.microsoft.com/office/drawing/2014/main" id="{8AA794E4-D21F-2AB5-85A3-7CF4C62FC1BD}"/>
                                    </a:ext>
                                  </a:extLst>
                                </p:cNvPr>
                                <p:cNvSpPr>
                                  <a:spLocks noChangeShapeType="1"/>
                                </p:cNvSpPr>
                                <p:nvPr/>
                              </p:nvSpPr>
                              <p:spPr bwMode="auto">
                                <a:xfrm flipV="1">
                                  <a:off x="9495" y="3246"/>
                                  <a:ext cx="177" cy="3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730" name="Line 1056">
                                  <a:extLst>
                                    <a:ext uri="{FF2B5EF4-FFF2-40B4-BE49-F238E27FC236}">
                                      <a16:creationId xmlns:a16="http://schemas.microsoft.com/office/drawing/2014/main" id="{D1F73921-0F48-DBEA-B5D7-95717C0A1580}"/>
                                    </a:ext>
                                  </a:extLst>
                                </p:cNvPr>
                                <p:cNvSpPr>
                                  <a:spLocks noChangeShapeType="1"/>
                                </p:cNvSpPr>
                                <p:nvPr/>
                              </p:nvSpPr>
                              <p:spPr bwMode="auto">
                                <a:xfrm flipV="1">
                                  <a:off x="9516" y="3471"/>
                                  <a:ext cx="276" cy="19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53722" name="Group 1057">
                              <a:extLst>
                                <a:ext uri="{FF2B5EF4-FFF2-40B4-BE49-F238E27FC236}">
                                  <a16:creationId xmlns:a16="http://schemas.microsoft.com/office/drawing/2014/main" id="{DBA63FF1-E6BF-7A01-9C2B-6E317A4914FB}"/>
                                </a:ext>
                              </a:extLst>
                            </p:cNvPr>
                            <p:cNvGrpSpPr>
                              <a:grpSpLocks/>
                            </p:cNvGrpSpPr>
                            <p:nvPr/>
                          </p:nvGrpSpPr>
                          <p:grpSpPr bwMode="auto">
                            <a:xfrm>
                              <a:off x="9909" y="2880"/>
                              <a:ext cx="300" cy="300"/>
                              <a:chOff x="5430" y="2889"/>
                              <a:chExt cx="300" cy="300"/>
                            </a:xfrm>
                          </p:grpSpPr>
                          <p:sp>
                            <p:nvSpPr>
                              <p:cNvPr id="153723" name="Oval 1058">
                                <a:extLst>
                                  <a:ext uri="{FF2B5EF4-FFF2-40B4-BE49-F238E27FC236}">
                                    <a16:creationId xmlns:a16="http://schemas.microsoft.com/office/drawing/2014/main" id="{66FD51D7-961B-CE94-5FBF-F510ECE45E80}"/>
                                  </a:ext>
                                </a:extLst>
                              </p:cNvPr>
                              <p:cNvSpPr>
                                <a:spLocks noChangeArrowheads="1"/>
                              </p:cNvSpPr>
                              <p:nvPr/>
                            </p:nvSpPr>
                            <p:spPr bwMode="auto">
                              <a:xfrm>
                                <a:off x="5625" y="3084"/>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724" name="Line 1059">
                                <a:extLst>
                                  <a:ext uri="{FF2B5EF4-FFF2-40B4-BE49-F238E27FC236}">
                                    <a16:creationId xmlns:a16="http://schemas.microsoft.com/office/drawing/2014/main" id="{FD0B83C4-C622-0993-4224-E94379D30DB6}"/>
                                  </a:ext>
                                </a:extLst>
                              </p:cNvPr>
                              <p:cNvSpPr>
                                <a:spLocks noChangeShapeType="1"/>
                              </p:cNvSpPr>
                              <p:nvPr/>
                            </p:nvSpPr>
                            <p:spPr bwMode="auto">
                              <a:xfrm flipH="1" flipV="1">
                                <a:off x="5430" y="2889"/>
                                <a:ext cx="219" cy="20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grpSp>
                      <p:nvGrpSpPr>
                        <p:cNvPr id="153705" name="Group 1060">
                          <a:extLst>
                            <a:ext uri="{FF2B5EF4-FFF2-40B4-BE49-F238E27FC236}">
                              <a16:creationId xmlns:a16="http://schemas.microsoft.com/office/drawing/2014/main" id="{AE6E18BE-8897-4BDE-B9B4-060EEF1DB30A}"/>
                            </a:ext>
                          </a:extLst>
                        </p:cNvPr>
                        <p:cNvGrpSpPr>
                          <a:grpSpLocks/>
                        </p:cNvGrpSpPr>
                        <p:nvPr/>
                      </p:nvGrpSpPr>
                      <p:grpSpPr bwMode="auto">
                        <a:xfrm>
                          <a:off x="7605" y="6592"/>
                          <a:ext cx="1356" cy="861"/>
                          <a:chOff x="7605" y="6592"/>
                          <a:chExt cx="1356" cy="861"/>
                        </a:xfrm>
                      </p:grpSpPr>
                      <p:sp>
                        <p:nvSpPr>
                          <p:cNvPr id="153708" name="Text Box 1061">
                            <a:extLst>
                              <a:ext uri="{FF2B5EF4-FFF2-40B4-BE49-F238E27FC236}">
                                <a16:creationId xmlns:a16="http://schemas.microsoft.com/office/drawing/2014/main" id="{ECA9DC4A-9DA6-0B22-91C9-E31769A1C0C3}"/>
                              </a:ext>
                            </a:extLst>
                          </p:cNvPr>
                          <p:cNvSpPr txBox="1">
                            <a:spLocks noChangeArrowheads="1"/>
                          </p:cNvSpPr>
                          <p:nvPr/>
                        </p:nvSpPr>
                        <p:spPr bwMode="auto">
                          <a:xfrm>
                            <a:off x="8044" y="6894"/>
                            <a:ext cx="562"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rPr>
                              <a:t>10</a:t>
                            </a:r>
                          </a:p>
                        </p:txBody>
                      </p:sp>
                      <p:sp>
                        <p:nvSpPr>
                          <p:cNvPr id="153709" name="Text Box 1062">
                            <a:extLst>
                              <a:ext uri="{FF2B5EF4-FFF2-40B4-BE49-F238E27FC236}">
                                <a16:creationId xmlns:a16="http://schemas.microsoft.com/office/drawing/2014/main" id="{992AD902-5F46-0675-75D4-56640724E662}"/>
                              </a:ext>
                            </a:extLst>
                          </p:cNvPr>
                          <p:cNvSpPr txBox="1">
                            <a:spLocks noChangeArrowheads="1"/>
                          </p:cNvSpPr>
                          <p:nvPr/>
                        </p:nvSpPr>
                        <p:spPr bwMode="auto">
                          <a:xfrm>
                            <a:off x="7605" y="6628"/>
                            <a:ext cx="612"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rPr>
                              <a:t>13</a:t>
                            </a:r>
                          </a:p>
                        </p:txBody>
                      </p:sp>
                      <p:grpSp>
                        <p:nvGrpSpPr>
                          <p:cNvPr id="153710" name="Group 1063">
                            <a:extLst>
                              <a:ext uri="{FF2B5EF4-FFF2-40B4-BE49-F238E27FC236}">
                                <a16:creationId xmlns:a16="http://schemas.microsoft.com/office/drawing/2014/main" id="{93736F54-A1F0-2178-5A24-ED9AF70AC159}"/>
                              </a:ext>
                            </a:extLst>
                          </p:cNvPr>
                          <p:cNvGrpSpPr>
                            <a:grpSpLocks/>
                          </p:cNvGrpSpPr>
                          <p:nvPr/>
                        </p:nvGrpSpPr>
                        <p:grpSpPr bwMode="auto">
                          <a:xfrm>
                            <a:off x="8151" y="6592"/>
                            <a:ext cx="810" cy="861"/>
                            <a:chOff x="8151" y="6592"/>
                            <a:chExt cx="810" cy="861"/>
                          </a:xfrm>
                        </p:grpSpPr>
                        <p:sp>
                          <p:nvSpPr>
                            <p:cNvPr id="153711" name="Text Box 1064">
                              <a:extLst>
                                <a:ext uri="{FF2B5EF4-FFF2-40B4-BE49-F238E27FC236}">
                                  <a16:creationId xmlns:a16="http://schemas.microsoft.com/office/drawing/2014/main" id="{6A42AB19-2D6B-D870-B4C5-3FD74AC9A343}"/>
                                </a:ext>
                              </a:extLst>
                            </p:cNvPr>
                            <p:cNvSpPr txBox="1">
                              <a:spLocks noChangeArrowheads="1"/>
                            </p:cNvSpPr>
                            <p:nvPr/>
                          </p:nvSpPr>
                          <p:spPr bwMode="auto">
                            <a:xfrm>
                              <a:off x="8532" y="7144"/>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rPr>
                                <a:t>7</a:t>
                              </a:r>
                            </a:p>
                          </p:txBody>
                        </p:sp>
                        <p:sp>
                          <p:nvSpPr>
                            <p:cNvPr id="153712" name="Text Box 1065">
                              <a:extLst>
                                <a:ext uri="{FF2B5EF4-FFF2-40B4-BE49-F238E27FC236}">
                                  <a16:creationId xmlns:a16="http://schemas.microsoft.com/office/drawing/2014/main" id="{710B6794-1960-5B59-9FCF-EF786B1C0B10}"/>
                                </a:ext>
                              </a:extLst>
                            </p:cNvPr>
                            <p:cNvSpPr txBox="1">
                              <a:spLocks noChangeArrowheads="1"/>
                            </p:cNvSpPr>
                            <p:nvPr/>
                          </p:nvSpPr>
                          <p:spPr bwMode="auto">
                            <a:xfrm>
                              <a:off x="8550" y="6877"/>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rPr>
                                <a:t>6</a:t>
                              </a:r>
                            </a:p>
                          </p:txBody>
                        </p:sp>
                        <p:sp>
                          <p:nvSpPr>
                            <p:cNvPr id="153713" name="Text Box 1066">
                              <a:extLst>
                                <a:ext uri="{FF2B5EF4-FFF2-40B4-BE49-F238E27FC236}">
                                  <a16:creationId xmlns:a16="http://schemas.microsoft.com/office/drawing/2014/main" id="{01011D64-08B0-326C-F416-0EFF4D256B37}"/>
                                </a:ext>
                              </a:extLst>
                            </p:cNvPr>
                            <p:cNvSpPr txBox="1">
                              <a:spLocks noChangeArrowheads="1"/>
                            </p:cNvSpPr>
                            <p:nvPr/>
                          </p:nvSpPr>
                          <p:spPr bwMode="auto">
                            <a:xfrm>
                              <a:off x="8151" y="6592"/>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rPr>
                                <a:t>9</a:t>
                              </a:r>
                            </a:p>
                          </p:txBody>
                        </p:sp>
                        <p:sp>
                          <p:nvSpPr>
                            <p:cNvPr id="153714" name="Text Box 1067">
                              <a:extLst>
                                <a:ext uri="{FF2B5EF4-FFF2-40B4-BE49-F238E27FC236}">
                                  <a16:creationId xmlns:a16="http://schemas.microsoft.com/office/drawing/2014/main" id="{33C64EB0-A9D8-124B-8A4B-3F24431550E3}"/>
                                </a:ext>
                              </a:extLst>
                            </p:cNvPr>
                            <p:cNvSpPr txBox="1">
                              <a:spLocks noChangeArrowheads="1"/>
                            </p:cNvSpPr>
                            <p:nvPr/>
                          </p:nvSpPr>
                          <p:spPr bwMode="auto">
                            <a:xfrm>
                              <a:off x="8559" y="6592"/>
                              <a:ext cx="402"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64000"/>
                                </a:lnSpc>
                              </a:pPr>
                              <a:r>
                                <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rPr>
                                <a:t>5</a:t>
                              </a:r>
                            </a:p>
                          </p:txBody>
                        </p:sp>
                      </p:grpSp>
                    </p:grpSp>
                    <p:sp>
                      <p:nvSpPr>
                        <p:cNvPr id="153706" name="Line 1068">
                          <a:extLst>
                            <a:ext uri="{FF2B5EF4-FFF2-40B4-BE49-F238E27FC236}">
                              <a16:creationId xmlns:a16="http://schemas.microsoft.com/office/drawing/2014/main" id="{55206425-DEC4-A452-B31A-1768C88B37A8}"/>
                            </a:ext>
                          </a:extLst>
                        </p:cNvPr>
                        <p:cNvSpPr>
                          <a:spLocks noChangeShapeType="1"/>
                        </p:cNvSpPr>
                        <p:nvPr/>
                      </p:nvSpPr>
                      <p:spPr bwMode="auto">
                        <a:xfrm>
                          <a:off x="6471" y="7122"/>
                          <a:ext cx="429"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707" name="Line 1069">
                          <a:extLst>
                            <a:ext uri="{FF2B5EF4-FFF2-40B4-BE49-F238E27FC236}">
                              <a16:creationId xmlns:a16="http://schemas.microsoft.com/office/drawing/2014/main" id="{DAA5A2A9-3E27-7674-1674-FCFF15661049}"/>
                            </a:ext>
                          </a:extLst>
                        </p:cNvPr>
                        <p:cNvSpPr>
                          <a:spLocks noChangeShapeType="1"/>
                        </p:cNvSpPr>
                        <p:nvPr/>
                      </p:nvSpPr>
                      <p:spPr bwMode="auto">
                        <a:xfrm>
                          <a:off x="9720" y="7131"/>
                          <a:ext cx="429"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53703" name="Text Box 1070">
                        <a:extLst>
                          <a:ext uri="{FF2B5EF4-FFF2-40B4-BE49-F238E27FC236}">
                            <a16:creationId xmlns:a16="http://schemas.microsoft.com/office/drawing/2014/main" id="{C3FF957D-7814-73B2-4507-C9B1C4CA5677}"/>
                          </a:ext>
                        </a:extLst>
                      </p:cNvPr>
                      <p:cNvSpPr txBox="1">
                        <a:spLocks noChangeArrowheads="1"/>
                      </p:cNvSpPr>
                      <p:nvPr/>
                    </p:nvSpPr>
                    <p:spPr bwMode="auto">
                      <a:xfrm>
                        <a:off x="9747" y="6852"/>
                        <a:ext cx="1145"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64000"/>
                          </a:lnSpc>
                        </a:pPr>
                        <a:r>
                          <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rPr>
                          <a:t>4 3 2 1 </a:t>
                        </a:r>
                      </a:p>
                    </p:txBody>
                  </p:sp>
                </p:grpSp>
                <p:grpSp>
                  <p:nvGrpSpPr>
                    <p:cNvPr id="153632" name="Group 1071">
                      <a:extLst>
                        <a:ext uri="{FF2B5EF4-FFF2-40B4-BE49-F238E27FC236}">
                          <a16:creationId xmlns:a16="http://schemas.microsoft.com/office/drawing/2014/main" id="{1C45D790-84F4-B56E-F747-ABBDB5563298}"/>
                        </a:ext>
                      </a:extLst>
                    </p:cNvPr>
                    <p:cNvGrpSpPr>
                      <a:grpSpLocks/>
                    </p:cNvGrpSpPr>
                    <p:nvPr/>
                  </p:nvGrpSpPr>
                  <p:grpSpPr bwMode="auto">
                    <a:xfrm>
                      <a:off x="1851" y="6555"/>
                      <a:ext cx="4909" cy="1104"/>
                      <a:chOff x="1851" y="6555"/>
                      <a:chExt cx="4909" cy="1104"/>
                    </a:xfrm>
                  </p:grpSpPr>
                  <p:grpSp>
                    <p:nvGrpSpPr>
                      <p:cNvPr id="153633" name="Group 1072">
                        <a:extLst>
                          <a:ext uri="{FF2B5EF4-FFF2-40B4-BE49-F238E27FC236}">
                            <a16:creationId xmlns:a16="http://schemas.microsoft.com/office/drawing/2014/main" id="{29A8BE1E-0BFD-4491-38E7-DFD96D705E94}"/>
                          </a:ext>
                        </a:extLst>
                      </p:cNvPr>
                      <p:cNvGrpSpPr>
                        <a:grpSpLocks/>
                      </p:cNvGrpSpPr>
                      <p:nvPr/>
                    </p:nvGrpSpPr>
                    <p:grpSpPr bwMode="auto">
                      <a:xfrm>
                        <a:off x="1851" y="6555"/>
                        <a:ext cx="3699" cy="1104"/>
                        <a:chOff x="1851" y="6555"/>
                        <a:chExt cx="3699" cy="1104"/>
                      </a:xfrm>
                    </p:grpSpPr>
                    <p:grpSp>
                      <p:nvGrpSpPr>
                        <p:cNvPr id="153635" name="Group 1073">
                          <a:extLst>
                            <a:ext uri="{FF2B5EF4-FFF2-40B4-BE49-F238E27FC236}">
                              <a16:creationId xmlns:a16="http://schemas.microsoft.com/office/drawing/2014/main" id="{F64EDEE5-E7D3-CEB6-19EE-0940AB3D60B5}"/>
                            </a:ext>
                          </a:extLst>
                        </p:cNvPr>
                        <p:cNvGrpSpPr>
                          <a:grpSpLocks/>
                        </p:cNvGrpSpPr>
                        <p:nvPr/>
                      </p:nvGrpSpPr>
                      <p:grpSpPr bwMode="auto">
                        <a:xfrm>
                          <a:off x="1851" y="6555"/>
                          <a:ext cx="3699" cy="1104"/>
                          <a:chOff x="1851" y="6555"/>
                          <a:chExt cx="3699" cy="1104"/>
                        </a:xfrm>
                      </p:grpSpPr>
                      <p:grpSp>
                        <p:nvGrpSpPr>
                          <p:cNvPr id="153641" name="Group 1074">
                            <a:extLst>
                              <a:ext uri="{FF2B5EF4-FFF2-40B4-BE49-F238E27FC236}">
                                <a16:creationId xmlns:a16="http://schemas.microsoft.com/office/drawing/2014/main" id="{C880CD35-DDFC-DA2D-63D5-7B7013CEB7B9}"/>
                              </a:ext>
                            </a:extLst>
                          </p:cNvPr>
                          <p:cNvGrpSpPr>
                            <a:grpSpLocks/>
                          </p:cNvGrpSpPr>
                          <p:nvPr/>
                        </p:nvGrpSpPr>
                        <p:grpSpPr bwMode="auto">
                          <a:xfrm>
                            <a:off x="1851" y="6696"/>
                            <a:ext cx="3699" cy="960"/>
                            <a:chOff x="2181" y="2529"/>
                            <a:chExt cx="3699" cy="960"/>
                          </a:xfrm>
                        </p:grpSpPr>
                        <p:grpSp>
                          <p:nvGrpSpPr>
                            <p:cNvPr id="153655" name="Group 1075">
                              <a:extLst>
                                <a:ext uri="{FF2B5EF4-FFF2-40B4-BE49-F238E27FC236}">
                                  <a16:creationId xmlns:a16="http://schemas.microsoft.com/office/drawing/2014/main" id="{AC8505C3-89DD-D803-5B80-1C786B87C705}"/>
                                </a:ext>
                              </a:extLst>
                            </p:cNvPr>
                            <p:cNvGrpSpPr>
                              <a:grpSpLocks/>
                            </p:cNvGrpSpPr>
                            <p:nvPr/>
                          </p:nvGrpSpPr>
                          <p:grpSpPr bwMode="auto">
                            <a:xfrm>
                              <a:off x="2616" y="2529"/>
                              <a:ext cx="2826" cy="960"/>
                              <a:chOff x="2616" y="2529"/>
                              <a:chExt cx="2826" cy="960"/>
                            </a:xfrm>
                          </p:grpSpPr>
                          <p:sp>
                            <p:nvSpPr>
                              <p:cNvPr id="153658" name="Line 1076">
                                <a:extLst>
                                  <a:ext uri="{FF2B5EF4-FFF2-40B4-BE49-F238E27FC236}">
                                    <a16:creationId xmlns:a16="http://schemas.microsoft.com/office/drawing/2014/main" id="{4E413DC7-97DA-F468-133D-5240F01AD58A}"/>
                                  </a:ext>
                                </a:extLst>
                              </p:cNvPr>
                              <p:cNvSpPr>
                                <a:spLocks noChangeShapeType="1"/>
                              </p:cNvSpPr>
                              <p:nvPr/>
                            </p:nvSpPr>
                            <p:spPr bwMode="auto">
                              <a:xfrm>
                                <a:off x="3168" y="2533"/>
                                <a:ext cx="1718" cy="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659" name="Line 1077">
                                <a:extLst>
                                  <a:ext uri="{FF2B5EF4-FFF2-40B4-BE49-F238E27FC236}">
                                    <a16:creationId xmlns:a16="http://schemas.microsoft.com/office/drawing/2014/main" id="{36EFBD88-B712-12C3-E066-BD9F66C284E7}"/>
                                  </a:ext>
                                </a:extLst>
                              </p:cNvPr>
                              <p:cNvSpPr>
                                <a:spLocks noChangeShapeType="1"/>
                              </p:cNvSpPr>
                              <p:nvPr/>
                            </p:nvSpPr>
                            <p:spPr bwMode="auto">
                              <a:xfrm>
                                <a:off x="3150" y="2801"/>
                                <a:ext cx="239" cy="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660" name="Line 1078">
                                <a:extLst>
                                  <a:ext uri="{FF2B5EF4-FFF2-40B4-BE49-F238E27FC236}">
                                    <a16:creationId xmlns:a16="http://schemas.microsoft.com/office/drawing/2014/main" id="{6C8C2F76-C0F8-E4D5-04D5-2313DD7B40CC}"/>
                                  </a:ext>
                                </a:extLst>
                              </p:cNvPr>
                              <p:cNvSpPr>
                                <a:spLocks noChangeShapeType="1"/>
                              </p:cNvSpPr>
                              <p:nvPr/>
                            </p:nvSpPr>
                            <p:spPr bwMode="auto">
                              <a:xfrm>
                                <a:off x="3157" y="3092"/>
                                <a:ext cx="239"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661" name="Line 1079">
                                <a:extLst>
                                  <a:ext uri="{FF2B5EF4-FFF2-40B4-BE49-F238E27FC236}">
                                    <a16:creationId xmlns:a16="http://schemas.microsoft.com/office/drawing/2014/main" id="{13925C90-3530-7A5B-9A38-E792C50531C6}"/>
                                  </a:ext>
                                </a:extLst>
                              </p:cNvPr>
                              <p:cNvSpPr>
                                <a:spLocks noChangeShapeType="1"/>
                              </p:cNvSpPr>
                              <p:nvPr/>
                            </p:nvSpPr>
                            <p:spPr bwMode="auto">
                              <a:xfrm>
                                <a:off x="3157" y="3345"/>
                                <a:ext cx="239" cy="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662" name="Line 1080">
                                <a:extLst>
                                  <a:ext uri="{FF2B5EF4-FFF2-40B4-BE49-F238E27FC236}">
                                    <a16:creationId xmlns:a16="http://schemas.microsoft.com/office/drawing/2014/main" id="{7E126072-EA84-5B92-47F3-2CF85B15AA37}"/>
                                  </a:ext>
                                </a:extLst>
                              </p:cNvPr>
                              <p:cNvSpPr>
                                <a:spLocks noChangeShapeType="1"/>
                              </p:cNvSpPr>
                              <p:nvPr/>
                            </p:nvSpPr>
                            <p:spPr bwMode="auto">
                              <a:xfrm>
                                <a:off x="3777" y="2806"/>
                                <a:ext cx="1107" cy="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663" name="Line 1081">
                                <a:extLst>
                                  <a:ext uri="{FF2B5EF4-FFF2-40B4-BE49-F238E27FC236}">
                                    <a16:creationId xmlns:a16="http://schemas.microsoft.com/office/drawing/2014/main" id="{4AAEBBD2-52D5-3B69-C508-A809BAB58344}"/>
                                  </a:ext>
                                </a:extLst>
                              </p:cNvPr>
                              <p:cNvSpPr>
                                <a:spLocks noChangeShapeType="1"/>
                              </p:cNvSpPr>
                              <p:nvPr/>
                            </p:nvSpPr>
                            <p:spPr bwMode="auto">
                              <a:xfrm flipV="1">
                                <a:off x="4168" y="3081"/>
                                <a:ext cx="716"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664" name="Line 1082">
                                <a:extLst>
                                  <a:ext uri="{FF2B5EF4-FFF2-40B4-BE49-F238E27FC236}">
                                    <a16:creationId xmlns:a16="http://schemas.microsoft.com/office/drawing/2014/main" id="{7949102C-B7E5-F975-FAC8-2159BA4CFA0E}"/>
                                  </a:ext>
                                </a:extLst>
                              </p:cNvPr>
                              <p:cNvSpPr>
                                <a:spLocks noChangeShapeType="1"/>
                              </p:cNvSpPr>
                              <p:nvPr/>
                            </p:nvSpPr>
                            <p:spPr bwMode="auto">
                              <a:xfrm>
                                <a:off x="4569" y="3345"/>
                                <a:ext cx="315" cy="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53665" name="Group 1083">
                                <a:extLst>
                                  <a:ext uri="{FF2B5EF4-FFF2-40B4-BE49-F238E27FC236}">
                                    <a16:creationId xmlns:a16="http://schemas.microsoft.com/office/drawing/2014/main" id="{3DB3F96B-1ADF-282F-3568-2351576970DC}"/>
                                  </a:ext>
                                </a:extLst>
                              </p:cNvPr>
                              <p:cNvGrpSpPr>
                                <a:grpSpLocks/>
                              </p:cNvGrpSpPr>
                              <p:nvPr/>
                            </p:nvGrpSpPr>
                            <p:grpSpPr bwMode="auto">
                              <a:xfrm>
                                <a:off x="3382" y="2668"/>
                                <a:ext cx="1189" cy="821"/>
                                <a:chOff x="2769" y="9030"/>
                                <a:chExt cx="1743" cy="1389"/>
                              </a:xfrm>
                            </p:grpSpPr>
                            <p:sp>
                              <p:nvSpPr>
                                <p:cNvPr id="153694" name="Line 1084">
                                  <a:extLst>
                                    <a:ext uri="{FF2B5EF4-FFF2-40B4-BE49-F238E27FC236}">
                                      <a16:creationId xmlns:a16="http://schemas.microsoft.com/office/drawing/2014/main" id="{D0800216-D6B5-D7F3-16F9-0A9D88BBBC27}"/>
                                    </a:ext>
                                  </a:extLst>
                                </p:cNvPr>
                                <p:cNvSpPr>
                                  <a:spLocks noChangeShapeType="1"/>
                                </p:cNvSpPr>
                                <p:nvPr/>
                              </p:nvSpPr>
                              <p:spPr bwMode="auto">
                                <a:xfrm flipV="1">
                                  <a:off x="2769" y="9030"/>
                                  <a:ext cx="12" cy="138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695" name="Line 1085">
                                  <a:extLst>
                                    <a:ext uri="{FF2B5EF4-FFF2-40B4-BE49-F238E27FC236}">
                                      <a16:creationId xmlns:a16="http://schemas.microsoft.com/office/drawing/2014/main" id="{6D249C32-19B2-A9B4-77FA-44256E89B68D}"/>
                                    </a:ext>
                                  </a:extLst>
                                </p:cNvPr>
                                <p:cNvSpPr>
                                  <a:spLocks noChangeShapeType="1"/>
                                </p:cNvSpPr>
                                <p:nvPr/>
                              </p:nvSpPr>
                              <p:spPr bwMode="auto">
                                <a:xfrm>
                                  <a:off x="2781" y="10401"/>
                                  <a:ext cx="1719" cy="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696" name="Line 1086">
                                  <a:extLst>
                                    <a:ext uri="{FF2B5EF4-FFF2-40B4-BE49-F238E27FC236}">
                                      <a16:creationId xmlns:a16="http://schemas.microsoft.com/office/drawing/2014/main" id="{EE419E4D-735A-3325-2EB2-AB514D586DC9}"/>
                                    </a:ext>
                                  </a:extLst>
                                </p:cNvPr>
                                <p:cNvSpPr>
                                  <a:spLocks noChangeShapeType="1"/>
                                </p:cNvSpPr>
                                <p:nvPr/>
                              </p:nvSpPr>
                              <p:spPr bwMode="auto">
                                <a:xfrm>
                                  <a:off x="2781" y="9942"/>
                                  <a:ext cx="1719" cy="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697" name="Line 1087">
                                  <a:extLst>
                                    <a:ext uri="{FF2B5EF4-FFF2-40B4-BE49-F238E27FC236}">
                                      <a16:creationId xmlns:a16="http://schemas.microsoft.com/office/drawing/2014/main" id="{8D47693F-6C32-5E60-4082-E4283E88E5D0}"/>
                                    </a:ext>
                                  </a:extLst>
                                </p:cNvPr>
                                <p:cNvSpPr>
                                  <a:spLocks noChangeShapeType="1"/>
                                </p:cNvSpPr>
                                <p:nvPr/>
                              </p:nvSpPr>
                              <p:spPr bwMode="auto">
                                <a:xfrm>
                                  <a:off x="2790" y="9492"/>
                                  <a:ext cx="112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698" name="Line 1088">
                                  <a:extLst>
                                    <a:ext uri="{FF2B5EF4-FFF2-40B4-BE49-F238E27FC236}">
                                      <a16:creationId xmlns:a16="http://schemas.microsoft.com/office/drawing/2014/main" id="{0933940E-CE89-4D7E-AEED-B7457E27AABB}"/>
                                    </a:ext>
                                  </a:extLst>
                                </p:cNvPr>
                                <p:cNvSpPr>
                                  <a:spLocks noChangeShapeType="1"/>
                                </p:cNvSpPr>
                                <p:nvPr/>
                              </p:nvSpPr>
                              <p:spPr bwMode="auto">
                                <a:xfrm>
                                  <a:off x="2781" y="9033"/>
                                  <a:ext cx="56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699" name="Line 1089">
                                  <a:extLst>
                                    <a:ext uri="{FF2B5EF4-FFF2-40B4-BE49-F238E27FC236}">
                                      <a16:creationId xmlns:a16="http://schemas.microsoft.com/office/drawing/2014/main" id="{81CD2D1F-7197-DF87-E662-62ECD426EC46}"/>
                                    </a:ext>
                                  </a:extLst>
                                </p:cNvPr>
                                <p:cNvSpPr>
                                  <a:spLocks noChangeShapeType="1"/>
                                </p:cNvSpPr>
                                <p:nvPr/>
                              </p:nvSpPr>
                              <p:spPr bwMode="auto">
                                <a:xfrm flipV="1">
                                  <a:off x="3330" y="9039"/>
                                  <a:ext cx="12" cy="138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700" name="Line 1090">
                                  <a:extLst>
                                    <a:ext uri="{FF2B5EF4-FFF2-40B4-BE49-F238E27FC236}">
                                      <a16:creationId xmlns:a16="http://schemas.microsoft.com/office/drawing/2014/main" id="{CDCF49CC-8668-CD09-FCDA-06018775B652}"/>
                                    </a:ext>
                                  </a:extLst>
                                </p:cNvPr>
                                <p:cNvSpPr>
                                  <a:spLocks noChangeShapeType="1"/>
                                </p:cNvSpPr>
                                <p:nvPr/>
                              </p:nvSpPr>
                              <p:spPr bwMode="auto">
                                <a:xfrm flipV="1">
                                  <a:off x="3921" y="9489"/>
                                  <a:ext cx="12" cy="90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701" name="Line 1091">
                                  <a:extLst>
                                    <a:ext uri="{FF2B5EF4-FFF2-40B4-BE49-F238E27FC236}">
                                      <a16:creationId xmlns:a16="http://schemas.microsoft.com/office/drawing/2014/main" id="{6D0D1D63-BA23-49E7-526B-0314E7878F7A}"/>
                                    </a:ext>
                                  </a:extLst>
                                </p:cNvPr>
                                <p:cNvSpPr>
                                  <a:spLocks noChangeShapeType="1"/>
                                </p:cNvSpPr>
                                <p:nvPr/>
                              </p:nvSpPr>
                              <p:spPr bwMode="auto">
                                <a:xfrm flipV="1">
                                  <a:off x="4500" y="9939"/>
                                  <a:ext cx="12" cy="48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53666" name="Group 1092">
                                <a:extLst>
                                  <a:ext uri="{FF2B5EF4-FFF2-40B4-BE49-F238E27FC236}">
                                    <a16:creationId xmlns:a16="http://schemas.microsoft.com/office/drawing/2014/main" id="{C2C901F5-F9E2-1E61-7977-3489DCC347A7}"/>
                                  </a:ext>
                                </a:extLst>
                              </p:cNvPr>
                              <p:cNvGrpSpPr>
                                <a:grpSpLocks/>
                              </p:cNvGrpSpPr>
                              <p:nvPr/>
                            </p:nvGrpSpPr>
                            <p:grpSpPr bwMode="auto">
                              <a:xfrm>
                                <a:off x="4882" y="2537"/>
                                <a:ext cx="560" cy="805"/>
                                <a:chOff x="5025" y="2541"/>
                                <a:chExt cx="705" cy="1164"/>
                              </a:xfrm>
                            </p:grpSpPr>
                            <p:grpSp>
                              <p:nvGrpSpPr>
                                <p:cNvPr id="153681" name="Group 1093">
                                  <a:extLst>
                                    <a:ext uri="{FF2B5EF4-FFF2-40B4-BE49-F238E27FC236}">
                                      <a16:creationId xmlns:a16="http://schemas.microsoft.com/office/drawing/2014/main" id="{D88F2517-AB43-918C-3258-68FBBD8342AB}"/>
                                    </a:ext>
                                  </a:extLst>
                                </p:cNvPr>
                                <p:cNvGrpSpPr>
                                  <a:grpSpLocks/>
                                </p:cNvGrpSpPr>
                                <p:nvPr/>
                              </p:nvGrpSpPr>
                              <p:grpSpPr bwMode="auto">
                                <a:xfrm>
                                  <a:off x="5025" y="2541"/>
                                  <a:ext cx="390" cy="1164"/>
                                  <a:chOff x="5025" y="2541"/>
                                  <a:chExt cx="390" cy="1164"/>
                                </a:xfrm>
                              </p:grpSpPr>
                              <p:grpSp>
                                <p:nvGrpSpPr>
                                  <p:cNvPr id="153685" name="Group 1094">
                                    <a:extLst>
                                      <a:ext uri="{FF2B5EF4-FFF2-40B4-BE49-F238E27FC236}">
                                        <a16:creationId xmlns:a16="http://schemas.microsoft.com/office/drawing/2014/main" id="{2DF5E4EA-34E7-EE13-BB6B-8E9BDAC31D44}"/>
                                      </a:ext>
                                    </a:extLst>
                                  </p:cNvPr>
                                  <p:cNvGrpSpPr>
                                    <a:grpSpLocks/>
                                  </p:cNvGrpSpPr>
                                  <p:nvPr/>
                                </p:nvGrpSpPr>
                                <p:grpSpPr bwMode="auto">
                                  <a:xfrm>
                                    <a:off x="5190" y="2775"/>
                                    <a:ext cx="225" cy="720"/>
                                    <a:chOff x="5190" y="2775"/>
                                    <a:chExt cx="225" cy="720"/>
                                  </a:xfrm>
                                </p:grpSpPr>
                                <p:sp>
                                  <p:nvSpPr>
                                    <p:cNvPr id="153690" name="Oval 1095">
                                      <a:extLst>
                                        <a:ext uri="{FF2B5EF4-FFF2-40B4-BE49-F238E27FC236}">
                                          <a16:creationId xmlns:a16="http://schemas.microsoft.com/office/drawing/2014/main" id="{487638AF-2ACB-7D6A-0683-784770340EA0}"/>
                                        </a:ext>
                                      </a:extLst>
                                    </p:cNvPr>
                                    <p:cNvSpPr>
                                      <a:spLocks noChangeArrowheads="1"/>
                                    </p:cNvSpPr>
                                    <p:nvPr/>
                                  </p:nvSpPr>
                                  <p:spPr bwMode="auto">
                                    <a:xfrm>
                                      <a:off x="5190" y="297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91" name="Oval 1096">
                                      <a:extLst>
                                        <a:ext uri="{FF2B5EF4-FFF2-40B4-BE49-F238E27FC236}">
                                          <a16:creationId xmlns:a16="http://schemas.microsoft.com/office/drawing/2014/main" id="{5418247C-A395-61D7-1183-69F5F25DC0D2}"/>
                                        </a:ext>
                                      </a:extLst>
                                    </p:cNvPr>
                                    <p:cNvSpPr>
                                      <a:spLocks noChangeArrowheads="1"/>
                                    </p:cNvSpPr>
                                    <p:nvPr/>
                                  </p:nvSpPr>
                                  <p:spPr bwMode="auto">
                                    <a:xfrm>
                                      <a:off x="5190" y="319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92" name="Oval 1097">
                                      <a:extLst>
                                        <a:ext uri="{FF2B5EF4-FFF2-40B4-BE49-F238E27FC236}">
                                          <a16:creationId xmlns:a16="http://schemas.microsoft.com/office/drawing/2014/main" id="{7BB74D55-91A4-C354-5548-C99AE0E0559A}"/>
                                        </a:ext>
                                      </a:extLst>
                                    </p:cNvPr>
                                    <p:cNvSpPr>
                                      <a:spLocks noChangeArrowheads="1"/>
                                    </p:cNvSpPr>
                                    <p:nvPr/>
                                  </p:nvSpPr>
                                  <p:spPr bwMode="auto">
                                    <a:xfrm>
                                      <a:off x="5295" y="277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93" name="Oval 1098">
                                      <a:extLst>
                                        <a:ext uri="{FF2B5EF4-FFF2-40B4-BE49-F238E27FC236}">
                                          <a16:creationId xmlns:a16="http://schemas.microsoft.com/office/drawing/2014/main" id="{A5DCFC0F-0D85-93FE-480F-344040BE5B69}"/>
                                        </a:ext>
                                      </a:extLst>
                                    </p:cNvPr>
                                    <p:cNvSpPr>
                                      <a:spLocks noChangeArrowheads="1"/>
                                    </p:cNvSpPr>
                                    <p:nvPr/>
                                  </p:nvSpPr>
                                  <p:spPr bwMode="auto">
                                    <a:xfrm>
                                      <a:off x="5310" y="339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153686" name="Line 1099">
                                    <a:extLst>
                                      <a:ext uri="{FF2B5EF4-FFF2-40B4-BE49-F238E27FC236}">
                                        <a16:creationId xmlns:a16="http://schemas.microsoft.com/office/drawing/2014/main" id="{9FB9694E-771D-AE41-52CB-BF9C09390463}"/>
                                      </a:ext>
                                    </a:extLst>
                                  </p:cNvPr>
                                  <p:cNvSpPr>
                                    <a:spLocks noChangeShapeType="1"/>
                                  </p:cNvSpPr>
                                  <p:nvPr/>
                                </p:nvSpPr>
                                <p:spPr bwMode="auto">
                                  <a:xfrm>
                                    <a:off x="5028" y="2541"/>
                                    <a:ext cx="267" cy="24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687" name="Line 1100">
                                    <a:extLst>
                                      <a:ext uri="{FF2B5EF4-FFF2-40B4-BE49-F238E27FC236}">
                                        <a16:creationId xmlns:a16="http://schemas.microsoft.com/office/drawing/2014/main" id="{5B163A52-59D7-920F-7904-D3547F7D7BC3}"/>
                                      </a:ext>
                                    </a:extLst>
                                  </p:cNvPr>
                                  <p:cNvSpPr>
                                    <a:spLocks noChangeShapeType="1"/>
                                  </p:cNvSpPr>
                                  <p:nvPr/>
                                </p:nvSpPr>
                                <p:spPr bwMode="auto">
                                  <a:xfrm>
                                    <a:off x="5025" y="2937"/>
                                    <a:ext cx="165" cy="6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688" name="Line 1101">
                                    <a:extLst>
                                      <a:ext uri="{FF2B5EF4-FFF2-40B4-BE49-F238E27FC236}">
                                        <a16:creationId xmlns:a16="http://schemas.microsoft.com/office/drawing/2014/main" id="{94E76796-A694-7470-9325-5CA7D1486747}"/>
                                      </a:ext>
                                    </a:extLst>
                                  </p:cNvPr>
                                  <p:cNvSpPr>
                                    <a:spLocks noChangeShapeType="1"/>
                                  </p:cNvSpPr>
                                  <p:nvPr/>
                                </p:nvSpPr>
                                <p:spPr bwMode="auto">
                                  <a:xfrm flipV="1">
                                    <a:off x="5025" y="3255"/>
                                    <a:ext cx="168" cy="7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689" name="Line 1102">
                                    <a:extLst>
                                      <a:ext uri="{FF2B5EF4-FFF2-40B4-BE49-F238E27FC236}">
                                        <a16:creationId xmlns:a16="http://schemas.microsoft.com/office/drawing/2014/main" id="{203F09C4-C5FD-A556-27B2-3F1AC00BE8AB}"/>
                                      </a:ext>
                                    </a:extLst>
                                  </p:cNvPr>
                                  <p:cNvSpPr>
                                    <a:spLocks noChangeShapeType="1"/>
                                  </p:cNvSpPr>
                                  <p:nvPr/>
                                </p:nvSpPr>
                                <p:spPr bwMode="auto">
                                  <a:xfrm flipV="1">
                                    <a:off x="5028" y="3480"/>
                                    <a:ext cx="285" cy="2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53682" name="Group 1103">
                                  <a:extLst>
                                    <a:ext uri="{FF2B5EF4-FFF2-40B4-BE49-F238E27FC236}">
                                      <a16:creationId xmlns:a16="http://schemas.microsoft.com/office/drawing/2014/main" id="{41027B12-8F65-50BE-2442-883FEEAD4C57}"/>
                                    </a:ext>
                                  </a:extLst>
                                </p:cNvPr>
                                <p:cNvGrpSpPr>
                                  <a:grpSpLocks/>
                                </p:cNvGrpSpPr>
                                <p:nvPr/>
                              </p:nvGrpSpPr>
                              <p:grpSpPr bwMode="auto">
                                <a:xfrm>
                                  <a:off x="5430" y="2889"/>
                                  <a:ext cx="300" cy="300"/>
                                  <a:chOff x="5430" y="2889"/>
                                  <a:chExt cx="300" cy="300"/>
                                </a:xfrm>
                              </p:grpSpPr>
                              <p:sp>
                                <p:nvSpPr>
                                  <p:cNvPr id="153683" name="Oval 1104">
                                    <a:extLst>
                                      <a:ext uri="{FF2B5EF4-FFF2-40B4-BE49-F238E27FC236}">
                                        <a16:creationId xmlns:a16="http://schemas.microsoft.com/office/drawing/2014/main" id="{44980A67-F4BA-14BF-106E-7A987CF1BAEF}"/>
                                      </a:ext>
                                    </a:extLst>
                                  </p:cNvPr>
                                  <p:cNvSpPr>
                                    <a:spLocks noChangeArrowheads="1"/>
                                  </p:cNvSpPr>
                                  <p:nvPr/>
                                </p:nvSpPr>
                                <p:spPr bwMode="auto">
                                  <a:xfrm>
                                    <a:off x="5625" y="3084"/>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84" name="Line 1105">
                                    <a:extLst>
                                      <a:ext uri="{FF2B5EF4-FFF2-40B4-BE49-F238E27FC236}">
                                        <a16:creationId xmlns:a16="http://schemas.microsoft.com/office/drawing/2014/main" id="{710683C6-D9C3-07A5-5B3F-30BFEA4C2EAA}"/>
                                      </a:ext>
                                    </a:extLst>
                                  </p:cNvPr>
                                  <p:cNvSpPr>
                                    <a:spLocks noChangeShapeType="1"/>
                                  </p:cNvSpPr>
                                  <p:nvPr/>
                                </p:nvSpPr>
                                <p:spPr bwMode="auto">
                                  <a:xfrm flipH="1" flipV="1">
                                    <a:off x="5430" y="2889"/>
                                    <a:ext cx="219" cy="20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53667" name="Group 1106">
                                <a:extLst>
                                  <a:ext uri="{FF2B5EF4-FFF2-40B4-BE49-F238E27FC236}">
                                    <a16:creationId xmlns:a16="http://schemas.microsoft.com/office/drawing/2014/main" id="{D9DE8F4E-A5FE-625F-83D5-51D51EA06BE0}"/>
                                  </a:ext>
                                </a:extLst>
                              </p:cNvPr>
                              <p:cNvGrpSpPr>
                                <a:grpSpLocks/>
                              </p:cNvGrpSpPr>
                              <p:nvPr/>
                            </p:nvGrpSpPr>
                            <p:grpSpPr bwMode="auto">
                              <a:xfrm>
                                <a:off x="2616" y="2529"/>
                                <a:ext cx="560" cy="818"/>
                                <a:chOff x="2175" y="2529"/>
                                <a:chExt cx="705" cy="1182"/>
                              </a:xfrm>
                            </p:grpSpPr>
                            <p:grpSp>
                              <p:nvGrpSpPr>
                                <p:cNvPr id="153668" name="Group 1107">
                                  <a:extLst>
                                    <a:ext uri="{FF2B5EF4-FFF2-40B4-BE49-F238E27FC236}">
                                      <a16:creationId xmlns:a16="http://schemas.microsoft.com/office/drawing/2014/main" id="{C4BD4372-F070-8FA8-5091-28C3304C296D}"/>
                                    </a:ext>
                                  </a:extLst>
                                </p:cNvPr>
                                <p:cNvGrpSpPr>
                                  <a:grpSpLocks/>
                                </p:cNvGrpSpPr>
                                <p:nvPr/>
                              </p:nvGrpSpPr>
                              <p:grpSpPr bwMode="auto">
                                <a:xfrm>
                                  <a:off x="2415" y="2529"/>
                                  <a:ext cx="465" cy="1182"/>
                                  <a:chOff x="2415" y="2529"/>
                                  <a:chExt cx="465" cy="1182"/>
                                </a:xfrm>
                              </p:grpSpPr>
                              <p:sp>
                                <p:nvSpPr>
                                  <p:cNvPr id="153672" name="Line 1108">
                                    <a:extLst>
                                      <a:ext uri="{FF2B5EF4-FFF2-40B4-BE49-F238E27FC236}">
                                        <a16:creationId xmlns:a16="http://schemas.microsoft.com/office/drawing/2014/main" id="{F8F5DF80-0703-622B-3ECA-84C4BC4B2B0C}"/>
                                      </a:ext>
                                    </a:extLst>
                                  </p:cNvPr>
                                  <p:cNvSpPr>
                                    <a:spLocks noChangeShapeType="1"/>
                                  </p:cNvSpPr>
                                  <p:nvPr/>
                                </p:nvSpPr>
                                <p:spPr bwMode="auto">
                                  <a:xfrm flipV="1">
                                    <a:off x="2643" y="2919"/>
                                    <a:ext cx="222" cy="6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53673" name="Group 1109">
                                    <a:extLst>
                                      <a:ext uri="{FF2B5EF4-FFF2-40B4-BE49-F238E27FC236}">
                                        <a16:creationId xmlns:a16="http://schemas.microsoft.com/office/drawing/2014/main" id="{ED4F0302-7654-BF2B-F72E-93AF2D5570F3}"/>
                                      </a:ext>
                                    </a:extLst>
                                  </p:cNvPr>
                                  <p:cNvGrpSpPr>
                                    <a:grpSpLocks/>
                                  </p:cNvGrpSpPr>
                                  <p:nvPr/>
                                </p:nvGrpSpPr>
                                <p:grpSpPr bwMode="auto">
                                  <a:xfrm flipH="1">
                                    <a:off x="2415" y="2745"/>
                                    <a:ext cx="225" cy="720"/>
                                    <a:chOff x="5190" y="2775"/>
                                    <a:chExt cx="225" cy="720"/>
                                  </a:xfrm>
                                </p:grpSpPr>
                                <p:sp>
                                  <p:nvSpPr>
                                    <p:cNvPr id="153677" name="Oval 1110">
                                      <a:extLst>
                                        <a:ext uri="{FF2B5EF4-FFF2-40B4-BE49-F238E27FC236}">
                                          <a16:creationId xmlns:a16="http://schemas.microsoft.com/office/drawing/2014/main" id="{D7B1C2B4-622B-6C56-556A-C527CFC12137}"/>
                                        </a:ext>
                                      </a:extLst>
                                    </p:cNvPr>
                                    <p:cNvSpPr>
                                      <a:spLocks noChangeArrowheads="1"/>
                                    </p:cNvSpPr>
                                    <p:nvPr/>
                                  </p:nvSpPr>
                                  <p:spPr bwMode="auto">
                                    <a:xfrm>
                                      <a:off x="5190" y="297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78" name="Oval 1111">
                                      <a:extLst>
                                        <a:ext uri="{FF2B5EF4-FFF2-40B4-BE49-F238E27FC236}">
                                          <a16:creationId xmlns:a16="http://schemas.microsoft.com/office/drawing/2014/main" id="{1F7982AA-5BFD-4F6E-61B2-F606E67E0FFD}"/>
                                        </a:ext>
                                      </a:extLst>
                                    </p:cNvPr>
                                    <p:cNvSpPr>
                                      <a:spLocks noChangeArrowheads="1"/>
                                    </p:cNvSpPr>
                                    <p:nvPr/>
                                  </p:nvSpPr>
                                  <p:spPr bwMode="auto">
                                    <a:xfrm>
                                      <a:off x="5190" y="319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79" name="Oval 1112">
                                      <a:extLst>
                                        <a:ext uri="{FF2B5EF4-FFF2-40B4-BE49-F238E27FC236}">
                                          <a16:creationId xmlns:a16="http://schemas.microsoft.com/office/drawing/2014/main" id="{E3DB42D7-B455-55AA-22F7-AF90267CED0C}"/>
                                        </a:ext>
                                      </a:extLst>
                                    </p:cNvPr>
                                    <p:cNvSpPr>
                                      <a:spLocks noChangeArrowheads="1"/>
                                    </p:cNvSpPr>
                                    <p:nvPr/>
                                  </p:nvSpPr>
                                  <p:spPr bwMode="auto">
                                    <a:xfrm>
                                      <a:off x="5295" y="2775"/>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80" name="Oval 1113">
                                      <a:extLst>
                                        <a:ext uri="{FF2B5EF4-FFF2-40B4-BE49-F238E27FC236}">
                                          <a16:creationId xmlns:a16="http://schemas.microsoft.com/office/drawing/2014/main" id="{7825F010-E844-858F-9EB0-6640F228B116}"/>
                                        </a:ext>
                                      </a:extLst>
                                    </p:cNvPr>
                                    <p:cNvSpPr>
                                      <a:spLocks noChangeArrowheads="1"/>
                                    </p:cNvSpPr>
                                    <p:nvPr/>
                                  </p:nvSpPr>
                                  <p:spPr bwMode="auto">
                                    <a:xfrm>
                                      <a:off x="5310" y="3390"/>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153674" name="Line 1114">
                                    <a:extLst>
                                      <a:ext uri="{FF2B5EF4-FFF2-40B4-BE49-F238E27FC236}">
                                        <a16:creationId xmlns:a16="http://schemas.microsoft.com/office/drawing/2014/main" id="{B5ED1C80-B9ED-1C1B-0CF7-E3EAB2E1ABF3}"/>
                                      </a:ext>
                                    </a:extLst>
                                  </p:cNvPr>
                                  <p:cNvSpPr>
                                    <a:spLocks noChangeShapeType="1"/>
                                  </p:cNvSpPr>
                                  <p:nvPr/>
                                </p:nvSpPr>
                                <p:spPr bwMode="auto">
                                  <a:xfrm>
                                    <a:off x="2628" y="3252"/>
                                    <a:ext cx="231" cy="9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675" name="Line 1115">
                                    <a:extLst>
                                      <a:ext uri="{FF2B5EF4-FFF2-40B4-BE49-F238E27FC236}">
                                        <a16:creationId xmlns:a16="http://schemas.microsoft.com/office/drawing/2014/main" id="{10B43E4F-761F-2010-31B0-D7ABA03B91EE}"/>
                                      </a:ext>
                                    </a:extLst>
                                  </p:cNvPr>
                                  <p:cNvSpPr>
                                    <a:spLocks noChangeShapeType="1"/>
                                  </p:cNvSpPr>
                                  <p:nvPr/>
                                </p:nvSpPr>
                                <p:spPr bwMode="auto">
                                  <a:xfrm flipV="1">
                                    <a:off x="2520" y="2529"/>
                                    <a:ext cx="360" cy="23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676" name="Line 1116">
                                    <a:extLst>
                                      <a:ext uri="{FF2B5EF4-FFF2-40B4-BE49-F238E27FC236}">
                                        <a16:creationId xmlns:a16="http://schemas.microsoft.com/office/drawing/2014/main" id="{32273234-C69C-DAE8-B9CF-DBEFD3EF78E1}"/>
                                      </a:ext>
                                    </a:extLst>
                                  </p:cNvPr>
                                  <p:cNvSpPr>
                                    <a:spLocks noChangeShapeType="1"/>
                                  </p:cNvSpPr>
                                  <p:nvPr/>
                                </p:nvSpPr>
                                <p:spPr bwMode="auto">
                                  <a:xfrm>
                                    <a:off x="2499" y="3441"/>
                                    <a:ext cx="351" cy="2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53669" name="Group 1117">
                                  <a:extLst>
                                    <a:ext uri="{FF2B5EF4-FFF2-40B4-BE49-F238E27FC236}">
                                      <a16:creationId xmlns:a16="http://schemas.microsoft.com/office/drawing/2014/main" id="{166FD81D-9417-742B-8766-CDE73BFE7FDE}"/>
                                    </a:ext>
                                  </a:extLst>
                                </p:cNvPr>
                                <p:cNvGrpSpPr>
                                  <a:grpSpLocks/>
                                </p:cNvGrpSpPr>
                                <p:nvPr/>
                              </p:nvGrpSpPr>
                              <p:grpSpPr bwMode="auto">
                                <a:xfrm>
                                  <a:off x="2175" y="2859"/>
                                  <a:ext cx="255" cy="309"/>
                                  <a:chOff x="2175" y="2859"/>
                                  <a:chExt cx="255" cy="309"/>
                                </a:xfrm>
                              </p:grpSpPr>
                              <p:sp>
                                <p:nvSpPr>
                                  <p:cNvPr id="153670" name="Oval 1118">
                                    <a:extLst>
                                      <a:ext uri="{FF2B5EF4-FFF2-40B4-BE49-F238E27FC236}">
                                        <a16:creationId xmlns:a16="http://schemas.microsoft.com/office/drawing/2014/main" id="{EB5E7735-5DBC-C92A-B7AE-D1D3303405CE}"/>
                                      </a:ext>
                                    </a:extLst>
                                  </p:cNvPr>
                                  <p:cNvSpPr>
                                    <a:spLocks noChangeArrowheads="1"/>
                                  </p:cNvSpPr>
                                  <p:nvPr/>
                                </p:nvSpPr>
                                <p:spPr bwMode="auto">
                                  <a:xfrm>
                                    <a:off x="2175" y="3063"/>
                                    <a:ext cx="105" cy="10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71" name="Line 1119">
                                    <a:extLst>
                                      <a:ext uri="{FF2B5EF4-FFF2-40B4-BE49-F238E27FC236}">
                                        <a16:creationId xmlns:a16="http://schemas.microsoft.com/office/drawing/2014/main" id="{28813C66-3D61-504B-D68E-4E106837F544}"/>
                                      </a:ext>
                                    </a:extLst>
                                  </p:cNvPr>
                                  <p:cNvSpPr>
                                    <a:spLocks noChangeShapeType="1"/>
                                  </p:cNvSpPr>
                                  <p:nvPr/>
                                </p:nvSpPr>
                                <p:spPr bwMode="auto">
                                  <a:xfrm flipV="1">
                                    <a:off x="2259" y="2859"/>
                                    <a:ext cx="171" cy="20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sp>
                          <p:nvSpPr>
                            <p:cNvPr id="153656" name="Line 1120">
                              <a:extLst>
                                <a:ext uri="{FF2B5EF4-FFF2-40B4-BE49-F238E27FC236}">
                                  <a16:creationId xmlns:a16="http://schemas.microsoft.com/office/drawing/2014/main" id="{5243CDFB-A03A-8F98-B6F9-7862829D651B}"/>
                                </a:ext>
                              </a:extLst>
                            </p:cNvPr>
                            <p:cNvSpPr>
                              <a:spLocks noChangeShapeType="1"/>
                            </p:cNvSpPr>
                            <p:nvPr/>
                          </p:nvSpPr>
                          <p:spPr bwMode="auto">
                            <a:xfrm>
                              <a:off x="2181" y="2940"/>
                              <a:ext cx="429"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657" name="Line 1121">
                              <a:extLst>
                                <a:ext uri="{FF2B5EF4-FFF2-40B4-BE49-F238E27FC236}">
                                  <a16:creationId xmlns:a16="http://schemas.microsoft.com/office/drawing/2014/main" id="{880A4477-251D-27C3-7A58-823210CD1739}"/>
                                </a:ext>
                              </a:extLst>
                            </p:cNvPr>
                            <p:cNvSpPr>
                              <a:spLocks noChangeShapeType="1"/>
                            </p:cNvSpPr>
                            <p:nvPr/>
                          </p:nvSpPr>
                          <p:spPr bwMode="auto">
                            <a:xfrm>
                              <a:off x="5451" y="2949"/>
                              <a:ext cx="429"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53642" name="Group 1122">
                            <a:extLst>
                              <a:ext uri="{FF2B5EF4-FFF2-40B4-BE49-F238E27FC236}">
                                <a16:creationId xmlns:a16="http://schemas.microsoft.com/office/drawing/2014/main" id="{F4B9373C-FB4B-E11B-9D01-77DEAE112705}"/>
                              </a:ext>
                            </a:extLst>
                          </p:cNvPr>
                          <p:cNvGrpSpPr>
                            <a:grpSpLocks/>
                          </p:cNvGrpSpPr>
                          <p:nvPr/>
                        </p:nvGrpSpPr>
                        <p:grpSpPr bwMode="auto">
                          <a:xfrm>
                            <a:off x="3018" y="6840"/>
                            <a:ext cx="1269" cy="819"/>
                            <a:chOff x="3018" y="6840"/>
                            <a:chExt cx="1269" cy="819"/>
                          </a:xfrm>
                        </p:grpSpPr>
                        <p:sp>
                          <p:nvSpPr>
                            <p:cNvPr id="153649" name="Text Box 1123">
                              <a:extLst>
                                <a:ext uri="{FF2B5EF4-FFF2-40B4-BE49-F238E27FC236}">
                                  <a16:creationId xmlns:a16="http://schemas.microsoft.com/office/drawing/2014/main" id="{99C56A56-5F6E-6D31-1844-C6AE0C48FF8E}"/>
                                </a:ext>
                              </a:extLst>
                            </p:cNvPr>
                            <p:cNvSpPr txBox="1">
                              <a:spLocks noChangeArrowheads="1"/>
                            </p:cNvSpPr>
                            <p:nvPr/>
                          </p:nvSpPr>
                          <p:spPr bwMode="auto">
                            <a:xfrm>
                              <a:off x="3030" y="6840"/>
                              <a:ext cx="45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14</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50" name="Text Box 1124">
                              <a:extLst>
                                <a:ext uri="{FF2B5EF4-FFF2-40B4-BE49-F238E27FC236}">
                                  <a16:creationId xmlns:a16="http://schemas.microsoft.com/office/drawing/2014/main" id="{3B362FA1-AAA6-CE43-D959-D2B24ACE83B9}"/>
                                </a:ext>
                              </a:extLst>
                            </p:cNvPr>
                            <p:cNvSpPr txBox="1">
                              <a:spLocks noChangeArrowheads="1"/>
                            </p:cNvSpPr>
                            <p:nvPr/>
                          </p:nvSpPr>
                          <p:spPr bwMode="auto">
                            <a:xfrm>
                              <a:off x="3030" y="7110"/>
                              <a:ext cx="45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15</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51" name="Text Box 1125">
                              <a:extLst>
                                <a:ext uri="{FF2B5EF4-FFF2-40B4-BE49-F238E27FC236}">
                                  <a16:creationId xmlns:a16="http://schemas.microsoft.com/office/drawing/2014/main" id="{6E7C1498-1F1F-32BF-69A8-FE06B8204D8D}"/>
                                </a:ext>
                              </a:extLst>
                            </p:cNvPr>
                            <p:cNvSpPr txBox="1">
                              <a:spLocks noChangeArrowheads="1"/>
                            </p:cNvSpPr>
                            <p:nvPr/>
                          </p:nvSpPr>
                          <p:spPr bwMode="auto">
                            <a:xfrm>
                              <a:off x="3018" y="7380"/>
                              <a:ext cx="45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16</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52" name="Text Box 1126">
                              <a:extLst>
                                <a:ext uri="{FF2B5EF4-FFF2-40B4-BE49-F238E27FC236}">
                                  <a16:creationId xmlns:a16="http://schemas.microsoft.com/office/drawing/2014/main" id="{D8233BD4-9067-2ED4-7CE1-46E599C96013}"/>
                                </a:ext>
                              </a:extLst>
                            </p:cNvPr>
                            <p:cNvSpPr txBox="1">
                              <a:spLocks noChangeArrowheads="1"/>
                            </p:cNvSpPr>
                            <p:nvPr/>
                          </p:nvSpPr>
                          <p:spPr bwMode="auto">
                            <a:xfrm>
                              <a:off x="3411" y="7122"/>
                              <a:ext cx="45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11</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53" name="Text Box 1127">
                              <a:extLst>
                                <a:ext uri="{FF2B5EF4-FFF2-40B4-BE49-F238E27FC236}">
                                  <a16:creationId xmlns:a16="http://schemas.microsoft.com/office/drawing/2014/main" id="{FF131E5F-4042-F367-8134-ED790600C21D}"/>
                                </a:ext>
                              </a:extLst>
                            </p:cNvPr>
                            <p:cNvSpPr txBox="1">
                              <a:spLocks noChangeArrowheads="1"/>
                            </p:cNvSpPr>
                            <p:nvPr/>
                          </p:nvSpPr>
                          <p:spPr bwMode="auto">
                            <a:xfrm>
                              <a:off x="3408" y="7371"/>
                              <a:ext cx="45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12</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54" name="Text Box 1128">
                              <a:extLst>
                                <a:ext uri="{FF2B5EF4-FFF2-40B4-BE49-F238E27FC236}">
                                  <a16:creationId xmlns:a16="http://schemas.microsoft.com/office/drawing/2014/main" id="{F646190E-BEFF-388B-8293-3FE4225E997C}"/>
                                </a:ext>
                              </a:extLst>
                            </p:cNvPr>
                            <p:cNvSpPr txBox="1">
                              <a:spLocks noChangeArrowheads="1"/>
                            </p:cNvSpPr>
                            <p:nvPr/>
                          </p:nvSpPr>
                          <p:spPr bwMode="auto">
                            <a:xfrm>
                              <a:off x="3828" y="7383"/>
                              <a:ext cx="45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8</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53643" name="Group 1129">
                            <a:extLst>
                              <a:ext uri="{FF2B5EF4-FFF2-40B4-BE49-F238E27FC236}">
                                <a16:creationId xmlns:a16="http://schemas.microsoft.com/office/drawing/2014/main" id="{8EF0B9B1-EC27-9969-C8A2-9C25F745289B}"/>
                              </a:ext>
                            </a:extLst>
                          </p:cNvPr>
                          <p:cNvGrpSpPr>
                            <a:grpSpLocks/>
                          </p:cNvGrpSpPr>
                          <p:nvPr/>
                        </p:nvGrpSpPr>
                        <p:grpSpPr bwMode="auto">
                          <a:xfrm>
                            <a:off x="2463" y="6555"/>
                            <a:ext cx="672" cy="1005"/>
                            <a:chOff x="2463" y="6555"/>
                            <a:chExt cx="672" cy="1005"/>
                          </a:xfrm>
                        </p:grpSpPr>
                        <p:sp>
                          <p:nvSpPr>
                            <p:cNvPr id="153644" name="Text Box 1130">
                              <a:extLst>
                                <a:ext uri="{FF2B5EF4-FFF2-40B4-BE49-F238E27FC236}">
                                  <a16:creationId xmlns:a16="http://schemas.microsoft.com/office/drawing/2014/main" id="{6C7B2975-032A-9229-7BF5-223BE8AF0925}"/>
                                </a:ext>
                              </a:extLst>
                            </p:cNvPr>
                            <p:cNvSpPr txBox="1">
                              <a:spLocks noChangeArrowheads="1"/>
                            </p:cNvSpPr>
                            <p:nvPr/>
                          </p:nvSpPr>
                          <p:spPr bwMode="auto">
                            <a:xfrm>
                              <a:off x="2463" y="6555"/>
                              <a:ext cx="471"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13</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nvGrpSpPr>
                            <p:cNvPr id="153645" name="Group 1131">
                              <a:extLst>
                                <a:ext uri="{FF2B5EF4-FFF2-40B4-BE49-F238E27FC236}">
                                  <a16:creationId xmlns:a16="http://schemas.microsoft.com/office/drawing/2014/main" id="{C6823474-F127-6433-00E4-C86A8115D0FE}"/>
                                </a:ext>
                              </a:extLst>
                            </p:cNvPr>
                            <p:cNvGrpSpPr>
                              <a:grpSpLocks/>
                            </p:cNvGrpSpPr>
                            <p:nvPr/>
                          </p:nvGrpSpPr>
                          <p:grpSpPr bwMode="auto">
                            <a:xfrm>
                              <a:off x="2610" y="6768"/>
                              <a:ext cx="525" cy="792"/>
                              <a:chOff x="2610" y="6768"/>
                              <a:chExt cx="525" cy="792"/>
                            </a:xfrm>
                          </p:grpSpPr>
                          <p:sp>
                            <p:nvSpPr>
                              <p:cNvPr id="153646" name="Text Box 1132">
                                <a:extLst>
                                  <a:ext uri="{FF2B5EF4-FFF2-40B4-BE49-F238E27FC236}">
                                    <a16:creationId xmlns:a16="http://schemas.microsoft.com/office/drawing/2014/main" id="{FE1002E5-BF31-1E5E-9B9A-E941D28156BC}"/>
                                  </a:ext>
                                </a:extLst>
                              </p:cNvPr>
                              <p:cNvSpPr txBox="1">
                                <a:spLocks noChangeArrowheads="1"/>
                              </p:cNvSpPr>
                              <p:nvPr/>
                            </p:nvSpPr>
                            <p:spPr bwMode="auto">
                              <a:xfrm>
                                <a:off x="2610" y="6768"/>
                                <a:ext cx="513"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14</a:t>
                                </a:r>
                              </a:p>
                              <a:p>
                                <a:pPr eaLnBrk="1" hangingPunct="1"/>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47" name="Text Box 1133">
                                <a:extLst>
                                  <a:ext uri="{FF2B5EF4-FFF2-40B4-BE49-F238E27FC236}">
                                    <a16:creationId xmlns:a16="http://schemas.microsoft.com/office/drawing/2014/main" id="{BC269BB7-8956-0761-3C95-4B18A6501526}"/>
                                  </a:ext>
                                </a:extLst>
                              </p:cNvPr>
                              <p:cNvSpPr txBox="1">
                                <a:spLocks noChangeArrowheads="1"/>
                              </p:cNvSpPr>
                              <p:nvPr/>
                            </p:nvSpPr>
                            <p:spPr bwMode="auto">
                              <a:xfrm>
                                <a:off x="2622" y="7020"/>
                                <a:ext cx="513"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15</a:t>
                                </a:r>
                              </a:p>
                              <a:p>
                                <a:pPr eaLnBrk="1" hangingPunct="1"/>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48" name="Text Box 1134">
                                <a:extLst>
                                  <a:ext uri="{FF2B5EF4-FFF2-40B4-BE49-F238E27FC236}">
                                    <a16:creationId xmlns:a16="http://schemas.microsoft.com/office/drawing/2014/main" id="{1FF341B5-2770-0BEC-6257-A2DFB0C8E07C}"/>
                                  </a:ext>
                                </a:extLst>
                              </p:cNvPr>
                              <p:cNvSpPr txBox="1">
                                <a:spLocks noChangeArrowheads="1"/>
                              </p:cNvSpPr>
                              <p:nvPr/>
                            </p:nvSpPr>
                            <p:spPr bwMode="auto">
                              <a:xfrm>
                                <a:off x="2613" y="7302"/>
                                <a:ext cx="513"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16</a:t>
                                </a:r>
                              </a:p>
                              <a:p>
                                <a:pPr eaLnBrk="1" hangingPunct="1"/>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grpSp>
                    <p:grpSp>
                      <p:nvGrpSpPr>
                        <p:cNvPr id="153636" name="Group 1135">
                          <a:extLst>
                            <a:ext uri="{FF2B5EF4-FFF2-40B4-BE49-F238E27FC236}">
                              <a16:creationId xmlns:a16="http://schemas.microsoft.com/office/drawing/2014/main" id="{A55EF0C1-5DF5-126C-B959-89B3395A630E}"/>
                            </a:ext>
                          </a:extLst>
                        </p:cNvPr>
                        <p:cNvGrpSpPr>
                          <a:grpSpLocks/>
                        </p:cNvGrpSpPr>
                        <p:nvPr/>
                      </p:nvGrpSpPr>
                      <p:grpSpPr bwMode="auto">
                        <a:xfrm>
                          <a:off x="4389" y="6642"/>
                          <a:ext cx="624" cy="876"/>
                          <a:chOff x="4389" y="6642"/>
                          <a:chExt cx="624" cy="876"/>
                        </a:xfrm>
                      </p:grpSpPr>
                      <p:sp>
                        <p:nvSpPr>
                          <p:cNvPr id="153637" name="Text Box 1136">
                            <a:extLst>
                              <a:ext uri="{FF2B5EF4-FFF2-40B4-BE49-F238E27FC236}">
                                <a16:creationId xmlns:a16="http://schemas.microsoft.com/office/drawing/2014/main" id="{BE8A4CBE-8353-5778-7002-70E9A585D567}"/>
                              </a:ext>
                            </a:extLst>
                          </p:cNvPr>
                          <p:cNvSpPr txBox="1">
                            <a:spLocks noChangeArrowheads="1"/>
                          </p:cNvSpPr>
                          <p:nvPr/>
                        </p:nvSpPr>
                        <p:spPr bwMode="auto">
                          <a:xfrm>
                            <a:off x="4410" y="7242"/>
                            <a:ext cx="45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4</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38" name="Text Box 1137">
                            <a:extLst>
                              <a:ext uri="{FF2B5EF4-FFF2-40B4-BE49-F238E27FC236}">
                                <a16:creationId xmlns:a16="http://schemas.microsoft.com/office/drawing/2014/main" id="{4B615BBE-22A9-CEBC-05C7-494961DE615E}"/>
                              </a:ext>
                            </a:extLst>
                          </p:cNvPr>
                          <p:cNvSpPr txBox="1">
                            <a:spLocks noChangeArrowheads="1"/>
                          </p:cNvSpPr>
                          <p:nvPr/>
                        </p:nvSpPr>
                        <p:spPr bwMode="auto">
                          <a:xfrm>
                            <a:off x="4389" y="7011"/>
                            <a:ext cx="45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7</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39" name="Text Box 1138">
                            <a:extLst>
                              <a:ext uri="{FF2B5EF4-FFF2-40B4-BE49-F238E27FC236}">
                                <a16:creationId xmlns:a16="http://schemas.microsoft.com/office/drawing/2014/main" id="{355CA23F-4B40-0DA0-3591-C0E5033A1147}"/>
                              </a:ext>
                            </a:extLst>
                          </p:cNvPr>
                          <p:cNvSpPr txBox="1">
                            <a:spLocks noChangeArrowheads="1"/>
                          </p:cNvSpPr>
                          <p:nvPr/>
                        </p:nvSpPr>
                        <p:spPr bwMode="auto">
                          <a:xfrm>
                            <a:off x="4413" y="6783"/>
                            <a:ext cx="45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10</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40" name="Text Box 1139">
                            <a:extLst>
                              <a:ext uri="{FF2B5EF4-FFF2-40B4-BE49-F238E27FC236}">
                                <a16:creationId xmlns:a16="http://schemas.microsoft.com/office/drawing/2014/main" id="{4CAD2300-F8E6-0188-8176-525C6C5332ED}"/>
                              </a:ext>
                            </a:extLst>
                          </p:cNvPr>
                          <p:cNvSpPr txBox="1">
                            <a:spLocks noChangeArrowheads="1"/>
                          </p:cNvSpPr>
                          <p:nvPr/>
                        </p:nvSpPr>
                        <p:spPr bwMode="auto">
                          <a:xfrm>
                            <a:off x="4554" y="6642"/>
                            <a:ext cx="45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0000"/>
                              </a:lnSpc>
                            </a:pPr>
                            <a:r>
                              <a:rPr lang="en-US" altLang="zh-CN" sz="1800" baseline="30000">
                                <a:solidFill>
                                  <a:schemeClr val="tx1"/>
                                </a:solidFill>
                                <a:latin typeface="Arial" panose="020B0604020202020204" pitchFamily="34" charset="0"/>
                                <a:ea typeface="微软雅黑" panose="020B0503020204020204" pitchFamily="34" charset="-122"/>
                                <a:cs typeface="Arial" panose="020B0604020202020204" pitchFamily="34" charset="0"/>
                              </a:rPr>
                              <a:t>13</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sp>
                    <p:nvSpPr>
                      <p:cNvPr id="153634" name="Text Box 1140">
                        <a:extLst>
                          <a:ext uri="{FF2B5EF4-FFF2-40B4-BE49-F238E27FC236}">
                            <a16:creationId xmlns:a16="http://schemas.microsoft.com/office/drawing/2014/main" id="{51E42298-C873-4E72-2888-D55C698D09FE}"/>
                          </a:ext>
                        </a:extLst>
                      </p:cNvPr>
                      <p:cNvSpPr txBox="1">
                        <a:spLocks noChangeArrowheads="1"/>
                      </p:cNvSpPr>
                      <p:nvPr/>
                    </p:nvSpPr>
                    <p:spPr bwMode="auto">
                      <a:xfrm>
                        <a:off x="5133" y="6819"/>
                        <a:ext cx="162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64000"/>
                          </a:lnSpc>
                        </a:pPr>
                        <a:r>
                          <a:rPr lang="en-US" altLang="zh-CN" sz="1600">
                            <a:solidFill>
                              <a:schemeClr val="tx1"/>
                            </a:solidFill>
                            <a:latin typeface="Arial" panose="020B0604020202020204" pitchFamily="34" charset="0"/>
                            <a:ea typeface="微软雅黑" panose="020B0503020204020204" pitchFamily="34" charset="-122"/>
                            <a:cs typeface="Arial" panose="020B0604020202020204" pitchFamily="34" charset="0"/>
                          </a:rPr>
                          <a:t>4 7 10 13</a:t>
                        </a:r>
                      </a:p>
                    </p:txBody>
                  </p:sp>
                </p:grpSp>
              </p:grpSp>
              <p:sp>
                <p:nvSpPr>
                  <p:cNvPr id="153630" name="Text Box 1141">
                    <a:extLst>
                      <a:ext uri="{FF2B5EF4-FFF2-40B4-BE49-F238E27FC236}">
                        <a16:creationId xmlns:a16="http://schemas.microsoft.com/office/drawing/2014/main" id="{9814B9DF-5D04-9DC9-0174-372DBBD9A63A}"/>
                      </a:ext>
                    </a:extLst>
                  </p:cNvPr>
                  <p:cNvSpPr txBox="1">
                    <a:spLocks noChangeArrowheads="1"/>
                  </p:cNvSpPr>
                  <p:nvPr/>
                </p:nvSpPr>
                <p:spPr bwMode="auto">
                  <a:xfrm>
                    <a:off x="4395" y="10209"/>
                    <a:ext cx="436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b="0">
                        <a:solidFill>
                          <a:schemeClr val="tx1"/>
                        </a:solidFill>
                        <a:latin typeface="Arial" panose="020B0604020202020204" pitchFamily="34" charset="0"/>
                        <a:ea typeface="微软雅黑" panose="020B0503020204020204" pitchFamily="34" charset="-122"/>
                        <a:cs typeface="Arial" panose="020B0604020202020204" pitchFamily="34" charset="0"/>
                      </a:rPr>
                      <a:t>(d) </a:t>
                    </a:r>
                    <a:r>
                      <a:rPr lang="zh-CN" altLang="en-US" sz="1800" b="0">
                        <a:solidFill>
                          <a:schemeClr val="tx1"/>
                        </a:solidFill>
                        <a:latin typeface="Arial" panose="020B0604020202020204" pitchFamily="34" charset="0"/>
                        <a:ea typeface="微软雅黑" panose="020B0503020204020204" pitchFamily="34" charset="-122"/>
                        <a:cs typeface="Arial" panose="020B0604020202020204" pitchFamily="34" charset="0"/>
                      </a:rPr>
                      <a:t>第</a:t>
                    </a:r>
                    <a:r>
                      <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rPr>
                      <a:t>13~16</a:t>
                    </a:r>
                    <a:r>
                      <a:rPr lang="zh-CN" altLang="en-US" sz="1800" b="0">
                        <a:solidFill>
                          <a:schemeClr val="tx1"/>
                        </a:solidFill>
                        <a:latin typeface="Arial" panose="020B0604020202020204" pitchFamily="34" charset="0"/>
                        <a:ea typeface="微软雅黑" panose="020B0503020204020204" pitchFamily="34" charset="-122"/>
                        <a:cs typeface="Arial" panose="020B0604020202020204" pitchFamily="34" charset="0"/>
                      </a:rPr>
                      <a:t>比特输入时的状态</a:t>
                    </a:r>
                  </a:p>
                  <a:p>
                    <a:pPr eaLnBrk="1" hangingPunct="1"/>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153627" name="Text Box 1142">
                  <a:extLst>
                    <a:ext uri="{FF2B5EF4-FFF2-40B4-BE49-F238E27FC236}">
                      <a16:creationId xmlns:a16="http://schemas.microsoft.com/office/drawing/2014/main" id="{DBB4F2BC-32DE-2134-2C1B-4D4F8FB52F74}"/>
                    </a:ext>
                  </a:extLst>
                </p:cNvPr>
                <p:cNvSpPr txBox="1">
                  <a:spLocks noChangeArrowheads="1"/>
                </p:cNvSpPr>
                <p:nvPr/>
              </p:nvSpPr>
              <p:spPr bwMode="auto">
                <a:xfrm>
                  <a:off x="2838" y="3987"/>
                  <a:ext cx="1701"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96000"/>
                    </a:lnSpc>
                  </a:pPr>
                  <a:r>
                    <a:rPr lang="zh-CN" altLang="en-US" sz="1800">
                      <a:solidFill>
                        <a:srgbClr val="0000CC"/>
                      </a:solidFill>
                      <a:latin typeface="Arial" panose="020B0604020202020204" pitchFamily="34" charset="0"/>
                      <a:ea typeface="微软雅黑" panose="020B0503020204020204" pitchFamily="34" charset="-122"/>
                      <a:cs typeface="Arial" panose="020B0604020202020204" pitchFamily="34" charset="0"/>
                    </a:rPr>
                    <a:t>交织器</a:t>
                  </a:r>
                </a:p>
              </p:txBody>
            </p:sp>
            <p:sp>
              <p:nvSpPr>
                <p:cNvPr id="153628" name="Text Box 1143">
                  <a:extLst>
                    <a:ext uri="{FF2B5EF4-FFF2-40B4-BE49-F238E27FC236}">
                      <a16:creationId xmlns:a16="http://schemas.microsoft.com/office/drawing/2014/main" id="{52D450EA-EDC5-FF7F-CE98-A331C9F59FEE}"/>
                    </a:ext>
                  </a:extLst>
                </p:cNvPr>
                <p:cNvSpPr txBox="1">
                  <a:spLocks noChangeArrowheads="1"/>
                </p:cNvSpPr>
                <p:nvPr/>
              </p:nvSpPr>
              <p:spPr bwMode="auto">
                <a:xfrm>
                  <a:off x="7419" y="3821"/>
                  <a:ext cx="1701"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8000"/>
                    </a:lnSpc>
                  </a:pPr>
                  <a:r>
                    <a:rPr lang="zh-CN" altLang="en-US" sz="1800">
                      <a:solidFill>
                        <a:srgbClr val="0000CC"/>
                      </a:solidFill>
                      <a:latin typeface="Arial" panose="020B0604020202020204" pitchFamily="34" charset="0"/>
                      <a:ea typeface="微软雅黑" panose="020B0503020204020204" pitchFamily="34" charset="-122"/>
                      <a:cs typeface="Arial" panose="020B0604020202020204" pitchFamily="34" charset="0"/>
                    </a:rPr>
                    <a:t>解交织器</a:t>
                  </a:r>
                </a:p>
              </p:txBody>
            </p:sp>
          </p:grpSp>
        </p:grpSp>
        <p:grpSp>
          <p:nvGrpSpPr>
            <p:cNvPr id="153605" name="Group 1144">
              <a:extLst>
                <a:ext uri="{FF2B5EF4-FFF2-40B4-BE49-F238E27FC236}">
                  <a16:creationId xmlns:a16="http://schemas.microsoft.com/office/drawing/2014/main" id="{003A5823-5845-65E2-CC2E-1DF397189112}"/>
                </a:ext>
              </a:extLst>
            </p:cNvPr>
            <p:cNvGrpSpPr>
              <a:grpSpLocks/>
            </p:cNvGrpSpPr>
            <p:nvPr/>
          </p:nvGrpSpPr>
          <p:grpSpPr bwMode="auto">
            <a:xfrm>
              <a:off x="2145" y="6378"/>
              <a:ext cx="7515" cy="4935"/>
              <a:chOff x="2145" y="3270"/>
              <a:chExt cx="7515" cy="4935"/>
            </a:xfrm>
          </p:grpSpPr>
          <p:sp>
            <p:nvSpPr>
              <p:cNvPr id="153606" name="Arc 1145">
                <a:extLst>
                  <a:ext uri="{FF2B5EF4-FFF2-40B4-BE49-F238E27FC236}">
                    <a16:creationId xmlns:a16="http://schemas.microsoft.com/office/drawing/2014/main" id="{B4287B24-8558-6B71-DC60-3F34CA408B47}"/>
                  </a:ext>
                </a:extLst>
              </p:cNvPr>
              <p:cNvSpPr>
                <a:spLocks/>
              </p:cNvSpPr>
              <p:nvPr/>
            </p:nvSpPr>
            <p:spPr bwMode="auto">
              <a:xfrm rot="2780774">
                <a:off x="2190" y="3240"/>
                <a:ext cx="255" cy="3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07" name="Arc 1146">
                <a:extLst>
                  <a:ext uri="{FF2B5EF4-FFF2-40B4-BE49-F238E27FC236}">
                    <a16:creationId xmlns:a16="http://schemas.microsoft.com/office/drawing/2014/main" id="{4969FAC1-1107-A9FD-3DDA-4C1632F403A7}"/>
                  </a:ext>
                </a:extLst>
              </p:cNvPr>
              <p:cNvSpPr>
                <a:spLocks/>
              </p:cNvSpPr>
              <p:nvPr/>
            </p:nvSpPr>
            <p:spPr bwMode="auto">
              <a:xfrm rot="2780774">
                <a:off x="2175" y="4740"/>
                <a:ext cx="255" cy="3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08" name="Arc 1147">
                <a:extLst>
                  <a:ext uri="{FF2B5EF4-FFF2-40B4-BE49-F238E27FC236}">
                    <a16:creationId xmlns:a16="http://schemas.microsoft.com/office/drawing/2014/main" id="{DA186BC2-2240-1B02-A28F-C4F3FAE8A9EE}"/>
                  </a:ext>
                </a:extLst>
              </p:cNvPr>
              <p:cNvSpPr>
                <a:spLocks/>
              </p:cNvSpPr>
              <p:nvPr/>
            </p:nvSpPr>
            <p:spPr bwMode="auto">
              <a:xfrm rot="2780774">
                <a:off x="2205" y="6360"/>
                <a:ext cx="255" cy="3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09" name="Arc 1148">
                <a:extLst>
                  <a:ext uri="{FF2B5EF4-FFF2-40B4-BE49-F238E27FC236}">
                    <a16:creationId xmlns:a16="http://schemas.microsoft.com/office/drawing/2014/main" id="{AE22B7AC-F841-8E8A-771E-4E4631CE439F}"/>
                  </a:ext>
                </a:extLst>
              </p:cNvPr>
              <p:cNvSpPr>
                <a:spLocks/>
              </p:cNvSpPr>
              <p:nvPr/>
            </p:nvSpPr>
            <p:spPr bwMode="auto">
              <a:xfrm rot="2780774">
                <a:off x="2175" y="7875"/>
                <a:ext cx="255" cy="3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10" name="Arc 1149">
                <a:extLst>
                  <a:ext uri="{FF2B5EF4-FFF2-40B4-BE49-F238E27FC236}">
                    <a16:creationId xmlns:a16="http://schemas.microsoft.com/office/drawing/2014/main" id="{18FB08D3-7C47-35A4-FE2D-EC1A8326B4B0}"/>
                  </a:ext>
                </a:extLst>
              </p:cNvPr>
              <p:cNvSpPr>
                <a:spLocks/>
              </p:cNvSpPr>
              <p:nvPr/>
            </p:nvSpPr>
            <p:spPr bwMode="auto">
              <a:xfrm rot="18819226" flipH="1">
                <a:off x="4740" y="3240"/>
                <a:ext cx="255" cy="3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11" name="Arc 1150">
                <a:extLst>
                  <a:ext uri="{FF2B5EF4-FFF2-40B4-BE49-F238E27FC236}">
                    <a16:creationId xmlns:a16="http://schemas.microsoft.com/office/drawing/2014/main" id="{6E7BF4C4-498F-DBCC-E075-32DE10EB0000}"/>
                  </a:ext>
                </a:extLst>
              </p:cNvPr>
              <p:cNvSpPr>
                <a:spLocks/>
              </p:cNvSpPr>
              <p:nvPr/>
            </p:nvSpPr>
            <p:spPr bwMode="auto">
              <a:xfrm rot="18819226" flipH="1">
                <a:off x="4740" y="4770"/>
                <a:ext cx="255" cy="3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12" name="Arc 1151">
                <a:extLst>
                  <a:ext uri="{FF2B5EF4-FFF2-40B4-BE49-F238E27FC236}">
                    <a16:creationId xmlns:a16="http://schemas.microsoft.com/office/drawing/2014/main" id="{7C0C8E1A-012D-E901-D642-70B02D4D62C3}"/>
                  </a:ext>
                </a:extLst>
              </p:cNvPr>
              <p:cNvSpPr>
                <a:spLocks/>
              </p:cNvSpPr>
              <p:nvPr/>
            </p:nvSpPr>
            <p:spPr bwMode="auto">
              <a:xfrm rot="18819226" flipH="1">
                <a:off x="4755" y="6405"/>
                <a:ext cx="255" cy="3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13" name="Arc 1152">
                <a:extLst>
                  <a:ext uri="{FF2B5EF4-FFF2-40B4-BE49-F238E27FC236}">
                    <a16:creationId xmlns:a16="http://schemas.microsoft.com/office/drawing/2014/main" id="{757D8CEB-AC0D-A9B5-66B3-0F9A222FCDD6}"/>
                  </a:ext>
                </a:extLst>
              </p:cNvPr>
              <p:cNvSpPr>
                <a:spLocks/>
              </p:cNvSpPr>
              <p:nvPr/>
            </p:nvSpPr>
            <p:spPr bwMode="auto">
              <a:xfrm rot="18819226" flipH="1">
                <a:off x="4755" y="7920"/>
                <a:ext cx="255" cy="3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14" name="Arc 1153">
                <a:extLst>
                  <a:ext uri="{FF2B5EF4-FFF2-40B4-BE49-F238E27FC236}">
                    <a16:creationId xmlns:a16="http://schemas.microsoft.com/office/drawing/2014/main" id="{43FC0568-30B4-FCF1-72B9-33AF1674B7B9}"/>
                  </a:ext>
                </a:extLst>
              </p:cNvPr>
              <p:cNvSpPr>
                <a:spLocks/>
              </p:cNvSpPr>
              <p:nvPr/>
            </p:nvSpPr>
            <p:spPr bwMode="auto">
              <a:xfrm rot="18819226" flipH="1">
                <a:off x="9360" y="3270"/>
                <a:ext cx="255" cy="3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15" name="Arc 1154">
                <a:extLst>
                  <a:ext uri="{FF2B5EF4-FFF2-40B4-BE49-F238E27FC236}">
                    <a16:creationId xmlns:a16="http://schemas.microsoft.com/office/drawing/2014/main" id="{1956A9CD-335E-CE61-771B-1BADBAF35CE8}"/>
                  </a:ext>
                </a:extLst>
              </p:cNvPr>
              <p:cNvSpPr>
                <a:spLocks/>
              </p:cNvSpPr>
              <p:nvPr/>
            </p:nvSpPr>
            <p:spPr bwMode="auto">
              <a:xfrm rot="18819226" flipH="1">
                <a:off x="9345" y="4785"/>
                <a:ext cx="255" cy="3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16" name="Arc 1155">
                <a:extLst>
                  <a:ext uri="{FF2B5EF4-FFF2-40B4-BE49-F238E27FC236}">
                    <a16:creationId xmlns:a16="http://schemas.microsoft.com/office/drawing/2014/main" id="{C919E1C9-8F99-8B90-33EA-30E35B3E8C7A}"/>
                  </a:ext>
                </a:extLst>
              </p:cNvPr>
              <p:cNvSpPr>
                <a:spLocks/>
              </p:cNvSpPr>
              <p:nvPr/>
            </p:nvSpPr>
            <p:spPr bwMode="auto">
              <a:xfrm rot="18819226" flipH="1">
                <a:off x="9375" y="6420"/>
                <a:ext cx="255" cy="3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17" name="Arc 1156">
                <a:extLst>
                  <a:ext uri="{FF2B5EF4-FFF2-40B4-BE49-F238E27FC236}">
                    <a16:creationId xmlns:a16="http://schemas.microsoft.com/office/drawing/2014/main" id="{BAFE7336-2DC5-EE80-3A48-FC2CE0B8DDCC}"/>
                  </a:ext>
                </a:extLst>
              </p:cNvPr>
              <p:cNvSpPr>
                <a:spLocks/>
              </p:cNvSpPr>
              <p:nvPr/>
            </p:nvSpPr>
            <p:spPr bwMode="auto">
              <a:xfrm rot="18819226" flipH="1">
                <a:off x="9360" y="7920"/>
                <a:ext cx="255" cy="3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18" name="Arc 1157">
                <a:extLst>
                  <a:ext uri="{FF2B5EF4-FFF2-40B4-BE49-F238E27FC236}">
                    <a16:creationId xmlns:a16="http://schemas.microsoft.com/office/drawing/2014/main" id="{9369E355-FE73-10B5-D44A-E45EF860C589}"/>
                  </a:ext>
                </a:extLst>
              </p:cNvPr>
              <p:cNvSpPr>
                <a:spLocks/>
              </p:cNvSpPr>
              <p:nvPr/>
            </p:nvSpPr>
            <p:spPr bwMode="auto">
              <a:xfrm rot="2780774">
                <a:off x="6810" y="3255"/>
                <a:ext cx="255" cy="3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19" name="Arc 1158">
                <a:extLst>
                  <a:ext uri="{FF2B5EF4-FFF2-40B4-BE49-F238E27FC236}">
                    <a16:creationId xmlns:a16="http://schemas.microsoft.com/office/drawing/2014/main" id="{3961E851-B37B-255C-210B-CE29778FE4D6}"/>
                  </a:ext>
                </a:extLst>
              </p:cNvPr>
              <p:cNvSpPr>
                <a:spLocks/>
              </p:cNvSpPr>
              <p:nvPr/>
            </p:nvSpPr>
            <p:spPr bwMode="auto">
              <a:xfrm rot="2780774">
                <a:off x="6810" y="4770"/>
                <a:ext cx="255" cy="3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20" name="Arc 1159">
                <a:extLst>
                  <a:ext uri="{FF2B5EF4-FFF2-40B4-BE49-F238E27FC236}">
                    <a16:creationId xmlns:a16="http://schemas.microsoft.com/office/drawing/2014/main" id="{2AA1A49D-E1F5-66E7-BE34-42D1A22EF44F}"/>
                  </a:ext>
                </a:extLst>
              </p:cNvPr>
              <p:cNvSpPr>
                <a:spLocks/>
              </p:cNvSpPr>
              <p:nvPr/>
            </p:nvSpPr>
            <p:spPr bwMode="auto">
              <a:xfrm rot="2780774">
                <a:off x="6810" y="6360"/>
                <a:ext cx="255" cy="3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3621" name="Arc 1160">
                <a:extLst>
                  <a:ext uri="{FF2B5EF4-FFF2-40B4-BE49-F238E27FC236}">
                    <a16:creationId xmlns:a16="http://schemas.microsoft.com/office/drawing/2014/main" id="{188B2D25-B5CC-20DF-32D0-75D90C9A73A4}"/>
                  </a:ext>
                </a:extLst>
              </p:cNvPr>
              <p:cNvSpPr>
                <a:spLocks/>
              </p:cNvSpPr>
              <p:nvPr/>
            </p:nvSpPr>
            <p:spPr bwMode="auto">
              <a:xfrm rot="2780774">
                <a:off x="6795" y="7890"/>
                <a:ext cx="255" cy="31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sp>
        <p:nvSpPr>
          <p:cNvPr id="580" name="矩形 579">
            <a:extLst>
              <a:ext uri="{FF2B5EF4-FFF2-40B4-BE49-F238E27FC236}">
                <a16:creationId xmlns:a16="http://schemas.microsoft.com/office/drawing/2014/main" id="{1B3A51D7-4738-96ED-08C8-6DEA5E9F8D4A}"/>
              </a:ext>
            </a:extLst>
          </p:cNvPr>
          <p:cNvSpPr/>
          <p:nvPr/>
        </p:nvSpPr>
        <p:spPr>
          <a:xfrm>
            <a:off x="785813" y="538163"/>
            <a:ext cx="2286000" cy="461962"/>
          </a:xfrm>
          <a:prstGeom prst="rect">
            <a:avLst/>
          </a:prstGeom>
        </p:spPr>
        <p:txBody>
          <a:bodyPr>
            <a:spAutoFit/>
          </a:bodyPr>
          <a:lstStyle/>
          <a:p>
            <a:pPr marL="228600" indent="-228600">
              <a:spcBef>
                <a:spcPct val="20000"/>
              </a:spcBef>
              <a:buClr>
                <a:srgbClr val="3333CC"/>
              </a:buClr>
              <a:buSzPct val="50000"/>
              <a:buFont typeface="Wingdings" pitchFamily="2" charset="2"/>
              <a:buChar char="u"/>
              <a:defRPr/>
            </a:pPr>
            <a:r>
              <a:rPr kumimoji="0" lang="zh-CN" altLang="en-US" sz="2400" kern="0" dirty="0">
                <a:solidFill>
                  <a:srgbClr val="990099"/>
                </a:solidFill>
                <a:latin typeface="Arial" charset="0"/>
                <a:ea typeface="微软雅黑" pitchFamily="34" charset="-122"/>
                <a:cs typeface="Arial" charset="0"/>
              </a:rPr>
              <a:t>卷积交织器</a:t>
            </a:r>
            <a:r>
              <a:rPr kumimoji="0" lang="zh-CN" altLang="en-US" sz="2400" b="0" kern="0" dirty="0">
                <a:solidFill>
                  <a:srgbClr val="990099"/>
                </a:solidFill>
                <a:latin typeface="Arial" pitchFamily="34" charset="0"/>
                <a:ea typeface="微软雅黑" pitchFamily="34" charset="-122"/>
                <a:cs typeface="Arial"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80"/>
                                        </p:tgtEl>
                                        <p:attrNameLst>
                                          <p:attrName>style.visibility</p:attrName>
                                        </p:attrNameLst>
                                      </p:cBhvr>
                                      <p:to>
                                        <p:strVal val="visible"/>
                                      </p:to>
                                    </p:set>
                                    <p:animEffect transition="in" filter="wipe(up)">
                                      <p:cBhvr>
                                        <p:cTn id="7" dur="1000"/>
                                        <p:tgtEl>
                                          <p:spTgt spid="580"/>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0" grpId="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6">
            <a:extLst>
              <a:ext uri="{FF2B5EF4-FFF2-40B4-BE49-F238E27FC236}">
                <a16:creationId xmlns:a16="http://schemas.microsoft.com/office/drawing/2014/main" id="{DDC8D100-F542-0B77-80AE-C80E82A4FC63}"/>
              </a:ext>
            </a:extLst>
          </p:cNvPr>
          <p:cNvSpPr txBox="1">
            <a:spLocks noChangeArrowheads="1"/>
          </p:cNvSpPr>
          <p:nvPr/>
        </p:nvSpPr>
        <p:spPr bwMode="gray">
          <a:xfrm>
            <a:off x="2643188" y="3000375"/>
            <a:ext cx="5429250" cy="769938"/>
          </a:xfrm>
          <a:prstGeom prst="rect">
            <a:avLst/>
          </a:prstGeom>
          <a:noFill/>
          <a:ln w="9525">
            <a:noFill/>
            <a:miter lim="800000"/>
            <a:headEnd/>
            <a:tailEnd/>
          </a:ln>
          <a:effectLst>
            <a:outerShdw blurRad="50800" dist="38100" dir="2700000" algn="tl" rotWithShape="0">
              <a:prstClr val="black">
                <a:alpha val="40000"/>
              </a:prstClr>
            </a:outerShdw>
          </a:effectLst>
        </p:spPr>
        <p:txBody>
          <a:bodyPr>
            <a:spAutoFit/>
          </a:bodyPr>
          <a:lstStyle/>
          <a:p>
            <a:pPr>
              <a:defRPr/>
            </a:pPr>
            <a:r>
              <a:rPr lang="zh-CN" altLang="en-US" sz="4400" dirty="0">
                <a:solidFill>
                  <a:srgbClr val="003399"/>
                </a:solidFill>
                <a:latin typeface="微软雅黑" pitchFamily="34" charset="-122"/>
                <a:ea typeface="微软雅黑" pitchFamily="34" charset="-122"/>
              </a:rPr>
              <a:t>低密度奇偶校验码</a:t>
            </a:r>
          </a:p>
        </p:txBody>
      </p:sp>
      <p:sp>
        <p:nvSpPr>
          <p:cNvPr id="14" name="矩形 4">
            <a:extLst>
              <a:ext uri="{FF2B5EF4-FFF2-40B4-BE49-F238E27FC236}">
                <a16:creationId xmlns:a16="http://schemas.microsoft.com/office/drawing/2014/main" id="{6BF442D1-E801-9968-D680-024C5D8D69BC}"/>
              </a:ext>
            </a:extLst>
          </p:cNvPr>
          <p:cNvSpPr>
            <a:spLocks noChangeArrowheads="1"/>
          </p:cNvSpPr>
          <p:nvPr/>
        </p:nvSpPr>
        <p:spPr bwMode="auto">
          <a:xfrm>
            <a:off x="642938" y="2214563"/>
            <a:ext cx="1927225" cy="708025"/>
          </a:xfrm>
          <a:prstGeom prst="rect">
            <a:avLst/>
          </a:prstGeom>
          <a:noFill/>
          <a:ln w="9525">
            <a:noFill/>
            <a:miter lim="800000"/>
            <a:headEnd/>
            <a:tailEnd/>
          </a:ln>
        </p:spPr>
        <p:txBody>
          <a:bodyPr wrap="none">
            <a:spAutoFit/>
          </a:bodyPr>
          <a:lstStyle/>
          <a:p>
            <a:pPr eaLnBrk="0" hangingPunct="0">
              <a:defRPr/>
            </a:pPr>
            <a:r>
              <a:rPr lang="en-US" altLang="en-US" sz="4000" u="sng" dirty="0">
                <a:solidFill>
                  <a:srgbClr val="990099"/>
                </a:solidFill>
                <a:effectLst>
                  <a:outerShdw blurRad="38100" dist="38100" dir="2700000" algn="tl">
                    <a:srgbClr val="000000">
                      <a:alpha val="43137"/>
                    </a:srgbClr>
                  </a:outerShdw>
                </a:effectLst>
                <a:latin typeface="+mn-ea"/>
                <a:ea typeface="+mn-ea"/>
              </a:rPr>
              <a:t>§</a:t>
            </a:r>
            <a:r>
              <a:rPr lang="en-US" altLang="en-US" sz="4000" u="sng" dirty="0">
                <a:solidFill>
                  <a:srgbClr val="990099"/>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11</a:t>
            </a:r>
            <a:r>
              <a:rPr lang="en-US" altLang="zh-CN" sz="4000" u="sng" dirty="0">
                <a:solidFill>
                  <a:srgbClr val="990099"/>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.9</a:t>
            </a:r>
            <a:r>
              <a:rPr lang="en-US" altLang="zh-CN" sz="4000" u="sng" dirty="0">
                <a:solidFill>
                  <a:srgbClr val="990099"/>
                </a:solidFill>
                <a:effectLst>
                  <a:outerShdw blurRad="38100" dist="38100" dir="2700000" algn="tl">
                    <a:srgbClr val="000000">
                      <a:alpha val="43137"/>
                    </a:srgbClr>
                  </a:outerShdw>
                </a:effectLst>
                <a:ea typeface="微软雅黑" pitchFamily="34" charset="-122"/>
                <a:cs typeface="Arial" charset="0"/>
              </a:rPr>
              <a:t> </a:t>
            </a:r>
            <a:endParaRPr lang="zh-CN" altLang="en-US" sz="4000" u="sng" dirty="0">
              <a:solidFill>
                <a:srgbClr val="990099"/>
              </a:solidFill>
              <a:effectLst>
                <a:outerShdw blurRad="38100" dist="38100" dir="2700000" algn="tl">
                  <a:srgbClr val="000000">
                    <a:alpha val="43137"/>
                  </a:srgbClr>
                </a:outerShdw>
              </a:effectLst>
            </a:endParaRPr>
          </a:p>
        </p:txBody>
      </p:sp>
      <p:sp>
        <p:nvSpPr>
          <p:cNvPr id="15" name="矩形 14">
            <a:extLst>
              <a:ext uri="{FF2B5EF4-FFF2-40B4-BE49-F238E27FC236}">
                <a16:creationId xmlns:a16="http://schemas.microsoft.com/office/drawing/2014/main" id="{E63F4CBE-C295-403C-CF39-C231D262467F}"/>
              </a:ext>
            </a:extLst>
          </p:cNvPr>
          <p:cNvSpPr/>
          <p:nvPr/>
        </p:nvSpPr>
        <p:spPr>
          <a:xfrm>
            <a:off x="2428875" y="3786188"/>
            <a:ext cx="5718175" cy="461962"/>
          </a:xfrm>
          <a:prstGeom prst="rect">
            <a:avLst/>
          </a:prstGeom>
        </p:spPr>
        <p:txBody>
          <a:bodyPr>
            <a:spAutoFit/>
          </a:bodyPr>
          <a:lstStyle/>
          <a:p>
            <a:pPr>
              <a:defRPr/>
            </a:pPr>
            <a:r>
              <a:rPr lang="en-US" altLang="zh-CN" sz="2400" b="0" dirty="0">
                <a:solidFill>
                  <a:schemeClr val="tx1">
                    <a:lumMod val="65000"/>
                    <a:lumOff val="35000"/>
                  </a:schemeClr>
                </a:solidFill>
                <a:latin typeface="Arial" pitchFamily="34" charset="0"/>
                <a:cs typeface="Arial" pitchFamily="34" charset="0"/>
              </a:rPr>
              <a:t>(Low-Density Parity-Check </a:t>
            </a:r>
            <a:r>
              <a:rPr lang="zh-CN" altLang="en-US" sz="2400" b="0" dirty="0">
                <a:solidFill>
                  <a:schemeClr val="tx1">
                    <a:lumMod val="65000"/>
                    <a:lumOff val="35000"/>
                  </a:schemeClr>
                </a:solidFill>
                <a:latin typeface="Arial" pitchFamily="34" charset="0"/>
                <a:cs typeface="Arial" pitchFamily="34" charset="0"/>
              </a:rPr>
              <a:t>，</a:t>
            </a:r>
            <a:r>
              <a:rPr lang="en-US" altLang="zh-CN" sz="2400" b="0" dirty="0">
                <a:solidFill>
                  <a:srgbClr val="0000CC"/>
                </a:solidFill>
                <a:effectLst>
                  <a:outerShdw blurRad="38100" dist="38100" dir="2700000" algn="tl">
                    <a:srgbClr val="000000">
                      <a:alpha val="43137"/>
                    </a:srgbClr>
                  </a:outerShdw>
                </a:effectLst>
                <a:latin typeface="Arial" pitchFamily="34" charset="0"/>
                <a:cs typeface="Arial" pitchFamily="34" charset="0"/>
              </a:rPr>
              <a:t>LDPC</a:t>
            </a:r>
            <a:r>
              <a:rPr lang="en-US" altLang="zh-CN" sz="2400" b="0" dirty="0">
                <a:solidFill>
                  <a:schemeClr val="tx1">
                    <a:lumMod val="65000"/>
                    <a:lumOff val="35000"/>
                  </a:schemeClr>
                </a:solidFill>
                <a:latin typeface="Arial" pitchFamily="34" charset="0"/>
                <a:cs typeface="Arial" pitchFamily="34" charset="0"/>
              </a:rPr>
              <a:t>)</a:t>
            </a:r>
            <a:endParaRPr lang="zh-CN" altLang="en-US" sz="2400" b="0" dirty="0">
              <a:solidFill>
                <a:schemeClr val="tx1">
                  <a:lumMod val="65000"/>
                  <a:lumOff val="35000"/>
                </a:schemeClr>
              </a:solidFill>
              <a:latin typeface="Arial" pitchFamily="34" charset="0"/>
              <a:cs typeface="Arial" pitchFamily="34" charset="0"/>
            </a:endParaRPr>
          </a:p>
        </p:txBody>
      </p:sp>
      <p:sp>
        <p:nvSpPr>
          <p:cNvPr id="17" name="Rectangle 13">
            <a:extLst>
              <a:ext uri="{FF2B5EF4-FFF2-40B4-BE49-F238E27FC236}">
                <a16:creationId xmlns:a16="http://schemas.microsoft.com/office/drawing/2014/main" id="{7ED64113-0A65-69B4-C827-6B41DF4DA325}"/>
              </a:ext>
            </a:extLst>
          </p:cNvPr>
          <p:cNvSpPr>
            <a:spLocks noChangeArrowheads="1"/>
          </p:cNvSpPr>
          <p:nvPr/>
        </p:nvSpPr>
        <p:spPr bwMode="auto">
          <a:xfrm>
            <a:off x="1928813" y="4357688"/>
            <a:ext cx="5929312" cy="101600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anchor="ctr">
            <a:spAutoFit/>
          </a:bodyPr>
          <a:lstStyle/>
          <a:p>
            <a:pPr eaLnBrk="0" hangingPunct="0">
              <a:lnSpc>
                <a:spcPct val="150000"/>
              </a:lnSpc>
              <a:defRPr/>
            </a:pPr>
            <a:r>
              <a:rPr lang="en-US" altLang="zh-CN"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rPr>
              <a:t>       </a:t>
            </a: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rPr>
              <a:t>当码组很长时才具有优良性能，广泛地应用于</a:t>
            </a:r>
            <a:endParaRPr lang="en-US" altLang="zh-CN"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endParaRPr>
          </a:p>
          <a:p>
            <a:pPr eaLnBrk="0" hangingPunct="0">
              <a:lnSpc>
                <a:spcPct val="150000"/>
              </a:lnSpc>
              <a:defRPr/>
            </a:pPr>
            <a:r>
              <a:rPr lang="zh-CN" altLang="en-US"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rPr>
              <a:t>       移动通信、无线局域网和光纤通信等多种领域</a:t>
            </a:r>
            <a:endParaRPr lang="en-US" altLang="zh-CN" sz="2000" b="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000"/>
                                        <p:tgtEl>
                                          <p:spTgt spid="4"/>
                                        </p:tgtEl>
                                      </p:cBhvr>
                                    </p:animEffect>
                                  </p:childTnLst>
                                </p:cTn>
                              </p:par>
                            </p:childTnLst>
                          </p:cTn>
                        </p:par>
                        <p:par>
                          <p:cTn id="8" fill="hold" nodeType="afterGroup">
                            <p:stCondLst>
                              <p:cond delay="1000"/>
                            </p:stCondLst>
                            <p:childTnLst>
                              <p:par>
                                <p:cTn id="9" presetID="22" presetClass="entr" presetSubtype="4"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down)">
                                      <p:cBhvr>
                                        <p:cTn id="11" dur="1000"/>
                                        <p:tgtEl>
                                          <p:spTgt spid="15"/>
                                        </p:tgtEl>
                                      </p:cBhvr>
                                    </p:animEffect>
                                  </p:childTnLst>
                                </p:cTn>
                              </p:par>
                            </p:childTnLst>
                          </p:cTn>
                        </p:par>
                        <p:par>
                          <p:cTn id="12" fill="hold" nodeType="afterGroup">
                            <p:stCondLst>
                              <p:cond delay="2000"/>
                            </p:stCondLst>
                            <p:childTnLst>
                              <p:par>
                                <p:cTn id="13" presetID="22" presetClass="entr" presetSubtype="1"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up)">
                                      <p:cBhvr>
                                        <p:cTn id="15"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15" grpId="0"/>
      <p:bldP spid="17" grpId="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DA9823C-D412-1AC5-255F-ABCEB4322AE6}"/>
              </a:ext>
            </a:extLst>
          </p:cNvPr>
          <p:cNvSpPr/>
          <p:nvPr/>
        </p:nvSpPr>
        <p:spPr>
          <a:xfrm>
            <a:off x="714375" y="1071563"/>
            <a:ext cx="2286000" cy="482600"/>
          </a:xfrm>
          <a:prstGeom prst="rect">
            <a:avLst/>
          </a:prstGeom>
        </p:spPr>
        <p:txBody>
          <a:bodyPr>
            <a:spAutoFit/>
          </a:bodyPr>
          <a:lstStyle/>
          <a:p>
            <a:pPr marL="285750" indent="-285750">
              <a:lnSpc>
                <a:spcPts val="3300"/>
              </a:lnSpc>
              <a:spcBef>
                <a:spcPct val="20000"/>
              </a:spcBef>
              <a:buClr>
                <a:srgbClr val="FF0000"/>
              </a:buClr>
              <a:buSzPct val="80000"/>
              <a:buFont typeface="Wingdings" pitchFamily="2" charset="2"/>
              <a:buChar char="n"/>
              <a:defRPr/>
            </a:pPr>
            <a:r>
              <a:rPr kumimoji="0" lang="en-US" altLang="zh-CN" sz="2400" kern="0" dirty="0">
                <a:solidFill>
                  <a:srgbClr val="000000"/>
                </a:solidFill>
                <a:latin typeface="Arial" pitchFamily="34" charset="0"/>
                <a:ea typeface="微软雅黑" pitchFamily="34" charset="-122"/>
                <a:cs typeface="Arial" pitchFamily="34" charset="0"/>
              </a:rPr>
              <a:t>LDPC</a:t>
            </a:r>
            <a:r>
              <a:rPr kumimoji="0" lang="zh-CN" altLang="en-US" sz="2400" kern="0" dirty="0">
                <a:solidFill>
                  <a:srgbClr val="000000"/>
                </a:solidFill>
                <a:latin typeface="Arial" pitchFamily="34" charset="0"/>
                <a:ea typeface="微软雅黑" pitchFamily="34" charset="-122"/>
                <a:cs typeface="Arial" pitchFamily="34" charset="0"/>
              </a:rPr>
              <a:t>码简介：</a:t>
            </a:r>
          </a:p>
        </p:txBody>
      </p:sp>
      <p:sp>
        <p:nvSpPr>
          <p:cNvPr id="4" name="矩形 3">
            <a:extLst>
              <a:ext uri="{FF2B5EF4-FFF2-40B4-BE49-F238E27FC236}">
                <a16:creationId xmlns:a16="http://schemas.microsoft.com/office/drawing/2014/main" id="{D46015C0-724D-F3E2-D81E-DA899693D087}"/>
              </a:ext>
            </a:extLst>
          </p:cNvPr>
          <p:cNvSpPr/>
          <p:nvPr/>
        </p:nvSpPr>
        <p:spPr>
          <a:xfrm>
            <a:off x="714375" y="3732213"/>
            <a:ext cx="2600325" cy="482600"/>
          </a:xfrm>
          <a:prstGeom prst="rect">
            <a:avLst/>
          </a:prstGeom>
        </p:spPr>
        <p:txBody>
          <a:bodyPr wrap="none">
            <a:spAutoFit/>
          </a:bodyPr>
          <a:lstStyle/>
          <a:p>
            <a:pPr marL="342900" indent="-342900">
              <a:lnSpc>
                <a:spcPts val="3300"/>
              </a:lnSpc>
              <a:spcBef>
                <a:spcPct val="20000"/>
              </a:spcBef>
              <a:buClr>
                <a:srgbClr val="FF0000"/>
              </a:buClr>
              <a:buSzPct val="80000"/>
              <a:buFont typeface="Wingdings" pitchFamily="2" charset="2"/>
              <a:buChar char="n"/>
              <a:defRPr/>
            </a:pPr>
            <a:r>
              <a:rPr kumimoji="0" lang="en-US" altLang="zh-CN" sz="2400" kern="0" dirty="0">
                <a:solidFill>
                  <a:srgbClr val="000000"/>
                </a:solidFill>
                <a:latin typeface="Arial" pitchFamily="34" charset="0"/>
                <a:ea typeface="微软雅黑" pitchFamily="34" charset="-122"/>
                <a:cs typeface="Arial" pitchFamily="34" charset="0"/>
              </a:rPr>
              <a:t>LDPC</a:t>
            </a:r>
            <a:r>
              <a:rPr kumimoji="0" lang="zh-CN" altLang="en-US" sz="2400" kern="0" dirty="0">
                <a:solidFill>
                  <a:srgbClr val="000000"/>
                </a:solidFill>
                <a:latin typeface="Arial" pitchFamily="34" charset="0"/>
                <a:ea typeface="微软雅黑" pitchFamily="34" charset="-122"/>
                <a:cs typeface="Arial" pitchFamily="34" charset="0"/>
              </a:rPr>
              <a:t>码分类：</a:t>
            </a:r>
          </a:p>
        </p:txBody>
      </p:sp>
      <p:pic>
        <p:nvPicPr>
          <p:cNvPr id="155654" name="Picture 6">
            <a:extLst>
              <a:ext uri="{FF2B5EF4-FFF2-40B4-BE49-F238E27FC236}">
                <a16:creationId xmlns:a16="http://schemas.microsoft.com/office/drawing/2014/main" id="{6761951C-AFF0-C6D5-459D-13161726EC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4238" y="1571625"/>
            <a:ext cx="7715250"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5655" name="Picture 7">
            <a:extLst>
              <a:ext uri="{FF2B5EF4-FFF2-40B4-BE49-F238E27FC236}">
                <a16:creationId xmlns:a16="http://schemas.microsoft.com/office/drawing/2014/main" id="{016CA854-A755-F7BC-C89C-697430EEE3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0263" y="4264025"/>
            <a:ext cx="7786687" cy="209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55654"/>
                                        </p:tgtEl>
                                        <p:attrNameLst>
                                          <p:attrName>style.visibility</p:attrName>
                                        </p:attrNameLst>
                                      </p:cBhvr>
                                      <p:to>
                                        <p:strVal val="visible"/>
                                      </p:to>
                                    </p:set>
                                    <p:animEffect transition="in" filter="wipe(up)">
                                      <p:cBhvr>
                                        <p:cTn id="7" dur="2000"/>
                                        <p:tgtEl>
                                          <p:spTgt spid="1556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55655"/>
                                        </p:tgtEl>
                                        <p:attrNameLst>
                                          <p:attrName>style.visibility</p:attrName>
                                        </p:attrNameLst>
                                      </p:cBhvr>
                                      <p:to>
                                        <p:strVal val="visible"/>
                                      </p:to>
                                    </p:set>
                                    <p:animEffect transition="in" filter="wipe(up)">
                                      <p:cBhvr>
                                        <p:cTn id="12" dur="2000"/>
                                        <p:tgtEl>
                                          <p:spTgt spid="1556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7" name="Rectangle 3">
            <a:extLst>
              <a:ext uri="{FF2B5EF4-FFF2-40B4-BE49-F238E27FC236}">
                <a16:creationId xmlns:a16="http://schemas.microsoft.com/office/drawing/2014/main" id="{AD088CE1-8327-3D45-4A49-D7D45AB28F85}"/>
              </a:ext>
            </a:extLst>
          </p:cNvPr>
          <p:cNvSpPr>
            <a:spLocks noGrp="1" noChangeArrowheads="1"/>
          </p:cNvSpPr>
          <p:nvPr>
            <p:ph type="body" idx="1"/>
          </p:nvPr>
        </p:nvSpPr>
        <p:spPr>
          <a:xfrm>
            <a:off x="896938" y="1223963"/>
            <a:ext cx="7604125" cy="4991100"/>
          </a:xfrm>
        </p:spPr>
        <p:txBody>
          <a:bodyPr/>
          <a:lstStyle/>
          <a:p>
            <a:pPr eaLnBrk="1" hangingPunct="1">
              <a:lnSpc>
                <a:spcPts val="3300"/>
              </a:lnSpc>
              <a:buFont typeface="Wingdings" panose="05000000000000000000" pitchFamily="2" charset="2"/>
              <a:buChar char="u"/>
            </a:pPr>
            <a:r>
              <a:rPr lang="en-US" altLang="zh-CN" sz="2000">
                <a:latin typeface="Arial" panose="020B0604020202020204" pitchFamily="34" charset="0"/>
                <a:ea typeface="微软雅黑" panose="020B0503020204020204" pitchFamily="34" charset="-122"/>
                <a:cs typeface="Arial" panose="020B0604020202020204" pitchFamily="34" charset="0"/>
              </a:rPr>
              <a:t>LDPC</a:t>
            </a:r>
            <a:r>
              <a:rPr lang="zh-CN" altLang="en-US" sz="2000">
                <a:latin typeface="Arial" panose="020B0604020202020204" pitchFamily="34" charset="0"/>
                <a:ea typeface="微软雅黑" panose="020B0503020204020204" pitchFamily="34" charset="-122"/>
                <a:cs typeface="Arial" panose="020B0604020202020204" pitchFamily="34" charset="0"/>
              </a:rPr>
              <a:t>码和普通的奇偶监督码一样，可以由有</a:t>
            </a:r>
            <a:r>
              <a:rPr lang="en-US" altLang="zh-CN" sz="2000" i="1">
                <a:latin typeface="Arial" panose="020B0604020202020204" pitchFamily="34" charset="0"/>
                <a:ea typeface="微软雅黑" panose="020B0503020204020204" pitchFamily="34" charset="-122"/>
                <a:cs typeface="Arial" panose="020B0604020202020204" pitchFamily="34" charset="0"/>
              </a:rPr>
              <a:t>n</a:t>
            </a:r>
            <a:r>
              <a:rPr lang="zh-CN" altLang="en-US" sz="2000">
                <a:latin typeface="Arial" panose="020B0604020202020204" pitchFamily="34" charset="0"/>
                <a:ea typeface="微软雅黑" panose="020B0503020204020204" pitchFamily="34" charset="-122"/>
                <a:cs typeface="Arial" panose="020B0604020202020204" pitchFamily="34" charset="0"/>
              </a:rPr>
              <a:t>列、</a:t>
            </a:r>
            <a:r>
              <a:rPr lang="en-US" altLang="zh-CN" sz="2000" i="1">
                <a:latin typeface="Arial" panose="020B0604020202020204" pitchFamily="34" charset="0"/>
                <a:ea typeface="微软雅黑" panose="020B0503020204020204" pitchFamily="34" charset="-122"/>
                <a:cs typeface="Arial" panose="020B0604020202020204" pitchFamily="34" charset="0"/>
              </a:rPr>
              <a:t>m</a:t>
            </a:r>
            <a:r>
              <a:rPr lang="zh-CN" altLang="en-US" sz="2000">
                <a:latin typeface="Arial" panose="020B0604020202020204" pitchFamily="34" charset="0"/>
                <a:ea typeface="微软雅黑" panose="020B0503020204020204" pitchFamily="34" charset="-122"/>
                <a:cs typeface="Arial" panose="020B0604020202020204" pitchFamily="34" charset="0"/>
              </a:rPr>
              <a:t>行的监督矩阵</a:t>
            </a:r>
            <a:r>
              <a:rPr lang="en-US" altLang="zh-CN" sz="2000" b="1" i="1">
                <a:latin typeface="Arial" panose="020B0604020202020204" pitchFamily="34" charset="0"/>
                <a:ea typeface="微软雅黑" panose="020B0503020204020204" pitchFamily="34" charset="-122"/>
                <a:cs typeface="Arial" panose="020B0604020202020204" pitchFamily="34" charset="0"/>
              </a:rPr>
              <a:t>H </a:t>
            </a:r>
            <a:r>
              <a:rPr lang="zh-CN" altLang="en-US" sz="2000">
                <a:latin typeface="Arial" panose="020B0604020202020204" pitchFamily="34" charset="0"/>
                <a:ea typeface="微软雅黑" panose="020B0503020204020204" pitchFamily="34" charset="-122"/>
                <a:cs typeface="Arial" panose="020B0604020202020204" pitchFamily="34" charset="0"/>
              </a:rPr>
              <a:t>确定；</a:t>
            </a:r>
            <a:r>
              <a:rPr lang="en-US" altLang="zh-CN" sz="2000" i="1">
                <a:latin typeface="Arial" panose="020B0604020202020204" pitchFamily="34" charset="0"/>
                <a:ea typeface="微软雅黑" panose="020B0503020204020204" pitchFamily="34" charset="-122"/>
                <a:cs typeface="Arial" panose="020B0604020202020204" pitchFamily="34" charset="0"/>
              </a:rPr>
              <a:t>n</a:t>
            </a:r>
            <a:r>
              <a:rPr lang="zh-CN" altLang="en-US" sz="2000">
                <a:latin typeface="Arial" panose="020B0604020202020204" pitchFamily="34" charset="0"/>
                <a:ea typeface="微软雅黑" panose="020B0503020204020204" pitchFamily="34" charset="-122"/>
                <a:cs typeface="Arial" panose="020B0604020202020204" pitchFamily="34" charset="0"/>
              </a:rPr>
              <a:t>是码长，</a:t>
            </a:r>
            <a:r>
              <a:rPr lang="en-US" altLang="zh-CN" sz="2000" i="1">
                <a:latin typeface="Arial" panose="020B0604020202020204" pitchFamily="34" charset="0"/>
                <a:ea typeface="微软雅黑" panose="020B0503020204020204" pitchFamily="34" charset="-122"/>
                <a:cs typeface="Arial" panose="020B0604020202020204" pitchFamily="34" charset="0"/>
              </a:rPr>
              <a:t>m</a:t>
            </a:r>
            <a:r>
              <a:rPr lang="zh-CN" altLang="en-US" sz="2000">
                <a:latin typeface="Arial" panose="020B0604020202020204" pitchFamily="34" charset="0"/>
                <a:ea typeface="微软雅黑" panose="020B0503020204020204" pitchFamily="34" charset="-122"/>
                <a:cs typeface="Arial" panose="020B0604020202020204" pitchFamily="34" charset="0"/>
              </a:rPr>
              <a:t>是校正子个数。但是其</a:t>
            </a:r>
            <a:r>
              <a:rPr lang="en-US" altLang="zh-CN" sz="2000" b="1" i="1">
                <a:latin typeface="Arial" panose="020B0604020202020204" pitchFamily="34" charset="0"/>
                <a:ea typeface="微软雅黑" panose="020B0503020204020204" pitchFamily="34" charset="-122"/>
                <a:cs typeface="Arial" panose="020B0604020202020204" pitchFamily="34" charset="0"/>
              </a:rPr>
              <a:t>H</a:t>
            </a:r>
            <a:r>
              <a:rPr lang="zh-CN" altLang="en-US" sz="2000">
                <a:latin typeface="Arial" panose="020B0604020202020204" pitchFamily="34" charset="0"/>
                <a:ea typeface="微软雅黑" panose="020B0503020204020204" pitchFamily="34" charset="-122"/>
                <a:cs typeface="Arial" panose="020B0604020202020204" pitchFamily="34" charset="0"/>
              </a:rPr>
              <a:t>矩阵和普通奇偶监督码的有所不同：</a:t>
            </a:r>
          </a:p>
          <a:p>
            <a:pPr lvl="1" eaLnBrk="1" hangingPunct="1">
              <a:lnSpc>
                <a:spcPts val="3300"/>
              </a:lnSpc>
              <a:buFont typeface="Wingdings" panose="05000000000000000000" pitchFamily="2" charset="2"/>
              <a:buChar char="l"/>
            </a:pPr>
            <a:r>
              <a:rPr lang="zh-CN" altLang="en-US" sz="2000">
                <a:latin typeface="Arial" panose="020B0604020202020204" pitchFamily="34" charset="0"/>
                <a:ea typeface="微软雅黑" panose="020B0503020204020204" pitchFamily="34" charset="-122"/>
                <a:cs typeface="Arial" panose="020B0604020202020204" pitchFamily="34" charset="0"/>
              </a:rPr>
              <a:t>它是</a:t>
            </a:r>
            <a:r>
              <a:rPr lang="zh-CN" altLang="en-US" sz="2000" b="1">
                <a:latin typeface="Arial" panose="020B0604020202020204" pitchFamily="34" charset="0"/>
                <a:ea typeface="微软雅黑" panose="020B0503020204020204" pitchFamily="34" charset="-122"/>
                <a:cs typeface="Arial" panose="020B0604020202020204" pitchFamily="34" charset="0"/>
              </a:rPr>
              <a:t>稀疏</a:t>
            </a:r>
            <a:r>
              <a:rPr lang="zh-CN" altLang="en-US" sz="2000">
                <a:latin typeface="Arial" panose="020B0604020202020204" pitchFamily="34" charset="0"/>
                <a:ea typeface="微软雅黑" panose="020B0503020204020204" pitchFamily="34" charset="-122"/>
                <a:cs typeface="Arial" panose="020B0604020202020204" pitchFamily="34" charset="0"/>
              </a:rPr>
              <a:t>矩阵，即矩阵中“</a:t>
            </a:r>
            <a:r>
              <a:rPr lang="en-US" altLang="zh-CN" sz="2000">
                <a:latin typeface="Arial" panose="020B0604020202020204" pitchFamily="34" charset="0"/>
                <a:ea typeface="微软雅黑" panose="020B0503020204020204" pitchFamily="34" charset="-122"/>
                <a:cs typeface="Arial" panose="020B0604020202020204" pitchFamily="34" charset="0"/>
              </a:rPr>
              <a:t>1”</a:t>
            </a:r>
            <a:r>
              <a:rPr lang="zh-CN" altLang="en-US" sz="2000">
                <a:latin typeface="Arial" panose="020B0604020202020204" pitchFamily="34" charset="0"/>
                <a:ea typeface="微软雅黑" panose="020B0503020204020204" pitchFamily="34" charset="-122"/>
                <a:cs typeface="Arial" panose="020B0604020202020204" pitchFamily="34" charset="0"/>
              </a:rPr>
              <a:t>的个数很少，密度很低；设</a:t>
            </a:r>
            <a:r>
              <a:rPr lang="en-US" altLang="zh-CN" sz="2000" b="1" i="1">
                <a:latin typeface="Arial" panose="020B0604020202020204" pitchFamily="34" charset="0"/>
                <a:ea typeface="微软雅黑" panose="020B0503020204020204" pitchFamily="34" charset="-122"/>
                <a:cs typeface="Arial" panose="020B0604020202020204" pitchFamily="34" charset="0"/>
              </a:rPr>
              <a:t>H</a:t>
            </a:r>
            <a:r>
              <a:rPr lang="zh-CN" altLang="en-US" sz="2000">
                <a:latin typeface="Arial" panose="020B0604020202020204" pitchFamily="34" charset="0"/>
                <a:ea typeface="微软雅黑" panose="020B0503020204020204" pitchFamily="34" charset="-122"/>
                <a:cs typeface="Arial" panose="020B0604020202020204" pitchFamily="34" charset="0"/>
              </a:rPr>
              <a:t>矩阵每列有 </a:t>
            </a:r>
            <a:r>
              <a:rPr lang="en-US" altLang="zh-CN" sz="2000">
                <a:latin typeface="Arial" panose="020B0604020202020204" pitchFamily="34" charset="0"/>
                <a:ea typeface="微软雅黑" panose="020B0503020204020204" pitchFamily="34" charset="-122"/>
                <a:cs typeface="Arial" panose="020B0604020202020204" pitchFamily="34" charset="0"/>
              </a:rPr>
              <a:t>j </a:t>
            </a:r>
            <a:r>
              <a:rPr lang="zh-CN" altLang="en-US" sz="2000">
                <a:latin typeface="Arial" panose="020B0604020202020204" pitchFamily="34" charset="0"/>
                <a:ea typeface="微软雅黑" panose="020B0503020204020204" pitchFamily="34" charset="-122"/>
                <a:cs typeface="Arial" panose="020B0604020202020204" pitchFamily="34" charset="0"/>
              </a:rPr>
              <a:t>个“</a:t>
            </a:r>
            <a:r>
              <a:rPr lang="en-US" altLang="zh-CN" sz="2000">
                <a:latin typeface="Arial" panose="020B0604020202020204" pitchFamily="34" charset="0"/>
                <a:ea typeface="微软雅黑" panose="020B0503020204020204" pitchFamily="34" charset="-122"/>
                <a:cs typeface="Arial" panose="020B0604020202020204" pitchFamily="34" charset="0"/>
              </a:rPr>
              <a:t>1”</a:t>
            </a:r>
            <a:r>
              <a:rPr lang="zh-CN" altLang="en-US" sz="2000">
                <a:latin typeface="Arial" panose="020B0604020202020204" pitchFamily="34" charset="0"/>
                <a:ea typeface="微软雅黑" panose="020B0503020204020204" pitchFamily="34" charset="-122"/>
                <a:cs typeface="Arial" panose="020B0604020202020204" pitchFamily="34" charset="0"/>
              </a:rPr>
              <a:t>，每行有 </a:t>
            </a:r>
            <a:r>
              <a:rPr lang="en-US" altLang="zh-CN" sz="2000">
                <a:latin typeface="Arial" panose="020B0604020202020204" pitchFamily="34" charset="0"/>
                <a:ea typeface="微软雅黑" panose="020B0503020204020204" pitchFamily="34" charset="-122"/>
                <a:cs typeface="Arial" panose="020B0604020202020204" pitchFamily="34" charset="0"/>
              </a:rPr>
              <a:t>k</a:t>
            </a:r>
            <a:r>
              <a:rPr lang="zh-CN" altLang="en-US" sz="2000">
                <a:latin typeface="Arial" panose="020B0604020202020204" pitchFamily="34" charset="0"/>
                <a:ea typeface="微软雅黑" panose="020B0503020204020204" pitchFamily="34" charset="-122"/>
                <a:cs typeface="Arial" panose="020B0604020202020204" pitchFamily="34" charset="0"/>
              </a:rPr>
              <a:t>个“</a:t>
            </a:r>
            <a:r>
              <a:rPr lang="en-US" altLang="zh-CN" sz="2000">
                <a:latin typeface="Arial" panose="020B0604020202020204" pitchFamily="34" charset="0"/>
                <a:ea typeface="微软雅黑" panose="020B0503020204020204" pitchFamily="34" charset="-122"/>
                <a:cs typeface="Arial" panose="020B0604020202020204" pitchFamily="34" charset="0"/>
              </a:rPr>
              <a:t>1”</a:t>
            </a:r>
            <a:r>
              <a:rPr lang="zh-CN" altLang="en-US" sz="2000">
                <a:latin typeface="Arial" panose="020B0604020202020204" pitchFamily="34" charset="0"/>
                <a:ea typeface="微软雅黑" panose="020B0503020204020204" pitchFamily="34" charset="-122"/>
                <a:cs typeface="Arial" panose="020B0604020202020204" pitchFamily="34" charset="0"/>
              </a:rPr>
              <a:t>，则应有 </a:t>
            </a:r>
            <a:r>
              <a:rPr lang="en-US" altLang="zh-CN" sz="2000" i="1">
                <a:latin typeface="Arial" panose="020B0604020202020204" pitchFamily="34" charset="0"/>
                <a:ea typeface="微软雅黑" panose="020B0503020204020204" pitchFamily="34" charset="-122"/>
                <a:cs typeface="Arial" panose="020B0604020202020204" pitchFamily="34" charset="0"/>
              </a:rPr>
              <a:t>j</a:t>
            </a:r>
            <a:r>
              <a:rPr lang="en-US" altLang="zh-CN" sz="2000">
                <a:latin typeface="Arial" panose="020B0604020202020204" pitchFamily="34" charset="0"/>
                <a:ea typeface="微软雅黑" panose="020B0503020204020204" pitchFamily="34" charset="-122"/>
                <a:cs typeface="Arial" panose="020B0604020202020204" pitchFamily="34" charset="0"/>
              </a:rPr>
              <a:t> &lt;&lt; </a:t>
            </a:r>
            <a:r>
              <a:rPr lang="en-US" altLang="zh-CN" sz="2000" i="1">
                <a:latin typeface="Arial" panose="020B0604020202020204" pitchFamily="34" charset="0"/>
                <a:ea typeface="微软雅黑" panose="020B0503020204020204" pitchFamily="34" charset="-122"/>
                <a:cs typeface="Arial" panose="020B0604020202020204" pitchFamily="34" charset="0"/>
              </a:rPr>
              <a:t>m</a:t>
            </a:r>
            <a:r>
              <a:rPr lang="zh-CN" altLang="en-US" sz="2000">
                <a:latin typeface="Arial" panose="020B0604020202020204" pitchFamily="34" charset="0"/>
                <a:ea typeface="微软雅黑" panose="020B0503020204020204" pitchFamily="34" charset="-122"/>
                <a:cs typeface="Arial" panose="020B0604020202020204" pitchFamily="34" charset="0"/>
              </a:rPr>
              <a:t>，</a:t>
            </a:r>
            <a:r>
              <a:rPr lang="en-US" altLang="zh-CN" sz="2000" i="1">
                <a:latin typeface="Arial" panose="020B0604020202020204" pitchFamily="34" charset="0"/>
                <a:ea typeface="微软雅黑" panose="020B0503020204020204" pitchFamily="34" charset="-122"/>
                <a:cs typeface="Arial" panose="020B0604020202020204" pitchFamily="34" charset="0"/>
              </a:rPr>
              <a:t>k</a:t>
            </a:r>
            <a:r>
              <a:rPr lang="en-US" altLang="zh-CN" sz="2000">
                <a:latin typeface="Arial" panose="020B0604020202020204" pitchFamily="34" charset="0"/>
                <a:ea typeface="微软雅黑" panose="020B0503020204020204" pitchFamily="34" charset="-122"/>
                <a:cs typeface="Arial" panose="020B0604020202020204" pitchFamily="34" charset="0"/>
              </a:rPr>
              <a:t> &lt;&lt; </a:t>
            </a:r>
            <a:r>
              <a:rPr lang="en-US" altLang="zh-CN" sz="2000" i="1">
                <a:latin typeface="Arial" panose="020B0604020202020204" pitchFamily="34" charset="0"/>
                <a:ea typeface="微软雅黑" panose="020B0503020204020204" pitchFamily="34" charset="-122"/>
                <a:cs typeface="Arial" panose="020B0604020202020204" pitchFamily="34" charset="0"/>
              </a:rPr>
              <a:t>n</a:t>
            </a:r>
            <a:r>
              <a:rPr lang="zh-CN" altLang="en-US" sz="2000">
                <a:latin typeface="Arial" panose="020B0604020202020204" pitchFamily="34" charset="0"/>
                <a:ea typeface="微软雅黑" panose="020B0503020204020204" pitchFamily="34" charset="-122"/>
                <a:cs typeface="Arial" panose="020B0604020202020204" pitchFamily="34" charset="0"/>
              </a:rPr>
              <a:t>，且 </a:t>
            </a:r>
            <a:r>
              <a:rPr lang="en-US" altLang="zh-CN" sz="2000">
                <a:latin typeface="Arial" panose="020B0604020202020204" pitchFamily="34" charset="0"/>
                <a:ea typeface="微软雅黑" panose="020B0503020204020204" pitchFamily="34" charset="-122"/>
                <a:cs typeface="Arial" panose="020B0604020202020204" pitchFamily="34" charset="0"/>
              </a:rPr>
              <a:t>j </a:t>
            </a:r>
            <a:r>
              <a:rPr lang="en-US" altLang="zh-CN" sz="2000">
                <a:latin typeface="Arial" panose="020B0604020202020204" pitchFamily="34" charset="0"/>
                <a:ea typeface="微软雅黑" panose="020B0503020204020204" pitchFamily="34" charset="-122"/>
                <a:cs typeface="Arial" panose="020B0604020202020204" pitchFamily="34" charset="0"/>
                <a:sym typeface="Symbol" panose="05050102010706020507" pitchFamily="18" charset="2"/>
              </a:rPr>
              <a:t></a:t>
            </a:r>
            <a:r>
              <a:rPr lang="en-US" altLang="zh-CN" sz="2000">
                <a:latin typeface="Arial" panose="020B0604020202020204" pitchFamily="34" charset="0"/>
                <a:ea typeface="微软雅黑" panose="020B0503020204020204" pitchFamily="34" charset="-122"/>
                <a:cs typeface="Arial" panose="020B0604020202020204" pitchFamily="34" charset="0"/>
              </a:rPr>
              <a:t> 3</a:t>
            </a:r>
            <a:r>
              <a:rPr lang="zh-CN" altLang="en-US" sz="2000">
                <a:latin typeface="Arial" panose="020B0604020202020204" pitchFamily="34" charset="0"/>
                <a:ea typeface="微软雅黑" panose="020B0503020204020204" pitchFamily="34" charset="-122"/>
                <a:cs typeface="Arial" panose="020B0604020202020204" pitchFamily="34" charset="0"/>
              </a:rPr>
              <a:t>。</a:t>
            </a:r>
          </a:p>
          <a:p>
            <a:pPr lvl="1" eaLnBrk="1" hangingPunct="1">
              <a:lnSpc>
                <a:spcPts val="3300"/>
              </a:lnSpc>
              <a:buFont typeface="Wingdings" panose="05000000000000000000" pitchFamily="2" charset="2"/>
              <a:buChar char="l"/>
            </a:pPr>
            <a:r>
              <a:rPr lang="zh-CN" altLang="en-US" sz="2000">
                <a:latin typeface="Arial" panose="020B0604020202020204" pitchFamily="34" charset="0"/>
                <a:ea typeface="微软雅黑" panose="020B0503020204020204" pitchFamily="34" charset="-122"/>
                <a:cs typeface="Arial" panose="020B0604020202020204" pitchFamily="34" charset="0"/>
              </a:rPr>
              <a:t>其</a:t>
            </a:r>
            <a:r>
              <a:rPr lang="en-US" altLang="zh-CN" sz="2000" b="1" i="1">
                <a:latin typeface="Arial" panose="020B0604020202020204" pitchFamily="34" charset="0"/>
                <a:ea typeface="微软雅黑" panose="020B0503020204020204" pitchFamily="34" charset="-122"/>
                <a:cs typeface="Arial" panose="020B0604020202020204" pitchFamily="34" charset="0"/>
              </a:rPr>
              <a:t>H </a:t>
            </a:r>
            <a:r>
              <a:rPr lang="zh-CN" altLang="en-US" sz="2000">
                <a:latin typeface="Arial" panose="020B0604020202020204" pitchFamily="34" charset="0"/>
                <a:ea typeface="微软雅黑" panose="020B0503020204020204" pitchFamily="34" charset="-122"/>
                <a:cs typeface="Arial" panose="020B0604020202020204" pitchFamily="34" charset="0"/>
              </a:rPr>
              <a:t>矩阵的任意两行的元素不能在相同位置上为“</a:t>
            </a:r>
            <a:r>
              <a:rPr lang="en-US" altLang="zh-CN" sz="2000">
                <a:latin typeface="Arial" panose="020B0604020202020204" pitchFamily="34" charset="0"/>
                <a:ea typeface="微软雅黑" panose="020B0503020204020204" pitchFamily="34" charset="-122"/>
                <a:cs typeface="Arial" panose="020B0604020202020204" pitchFamily="34" charset="0"/>
              </a:rPr>
              <a:t>1”</a:t>
            </a:r>
            <a:r>
              <a:rPr lang="zh-CN" altLang="en-US" sz="2000">
                <a:latin typeface="Arial" panose="020B0604020202020204" pitchFamily="34" charset="0"/>
                <a:ea typeface="微软雅黑" panose="020B0503020204020204" pitchFamily="34" charset="-122"/>
                <a:cs typeface="Arial" panose="020B0604020202020204" pitchFamily="34" charset="0"/>
              </a:rPr>
              <a:t>，即</a:t>
            </a:r>
            <a:r>
              <a:rPr lang="en-US" altLang="zh-CN" sz="2000" b="1" i="1">
                <a:latin typeface="Arial" panose="020B0604020202020204" pitchFamily="34" charset="0"/>
                <a:ea typeface="微软雅黑" panose="020B0503020204020204" pitchFamily="34" charset="-122"/>
                <a:cs typeface="Arial" panose="020B0604020202020204" pitchFamily="34" charset="0"/>
              </a:rPr>
              <a:t>H</a:t>
            </a:r>
            <a:r>
              <a:rPr lang="zh-CN" altLang="en-US" sz="2000">
                <a:latin typeface="Arial" panose="020B0604020202020204" pitchFamily="34" charset="0"/>
                <a:ea typeface="微软雅黑" panose="020B0503020204020204" pitchFamily="34" charset="-122"/>
                <a:cs typeface="Arial" panose="020B0604020202020204" pitchFamily="34" charset="0"/>
              </a:rPr>
              <a:t>矩阵中没有四角由“</a:t>
            </a:r>
            <a:r>
              <a:rPr lang="en-US" altLang="zh-CN" sz="2000">
                <a:latin typeface="Arial" panose="020B0604020202020204" pitchFamily="34" charset="0"/>
                <a:ea typeface="微软雅黑" panose="020B0503020204020204" pitchFamily="34" charset="-122"/>
                <a:cs typeface="Arial" panose="020B0604020202020204" pitchFamily="34" charset="0"/>
              </a:rPr>
              <a:t>1”</a:t>
            </a:r>
            <a:r>
              <a:rPr lang="zh-CN" altLang="en-US" sz="2000">
                <a:latin typeface="Arial" panose="020B0604020202020204" pitchFamily="34" charset="0"/>
                <a:ea typeface="微软雅黑" panose="020B0503020204020204" pitchFamily="34" charset="-122"/>
                <a:cs typeface="Arial" panose="020B0604020202020204" pitchFamily="34" charset="0"/>
              </a:rPr>
              <a:t>构成的矩形。</a:t>
            </a:r>
          </a:p>
          <a:p>
            <a:pPr eaLnBrk="1" hangingPunct="1">
              <a:lnSpc>
                <a:spcPts val="3300"/>
              </a:lnSpc>
              <a:buFont typeface="Wingdings" panose="05000000000000000000" pitchFamily="2" charset="2"/>
              <a:buChar char="u"/>
            </a:pPr>
            <a:r>
              <a:rPr lang="en-US" altLang="zh-CN" sz="2000">
                <a:latin typeface="Arial" panose="020B0604020202020204" pitchFamily="34" charset="0"/>
                <a:ea typeface="微软雅黑" panose="020B0503020204020204" pitchFamily="34" charset="-122"/>
                <a:cs typeface="Arial" panose="020B0604020202020204" pitchFamily="34" charset="0"/>
              </a:rPr>
              <a:t>LDPC</a:t>
            </a:r>
            <a:r>
              <a:rPr lang="zh-CN" altLang="en-US" sz="2000">
                <a:latin typeface="Arial" panose="020B0604020202020204" pitchFamily="34" charset="0"/>
                <a:ea typeface="微软雅黑" panose="020B0503020204020204" pitchFamily="34" charset="-122"/>
                <a:cs typeface="Arial" panose="020B0604020202020204" pitchFamily="34" charset="0"/>
              </a:rPr>
              <a:t>码通常用上述</a:t>
            </a:r>
            <a:r>
              <a:rPr lang="en-US" altLang="zh-CN" sz="2000">
                <a:latin typeface="Arial" panose="020B0604020202020204" pitchFamily="34" charset="0"/>
                <a:ea typeface="微软雅黑" panose="020B0503020204020204" pitchFamily="34" charset="-122"/>
                <a:cs typeface="Arial" panose="020B0604020202020204" pitchFamily="34" charset="0"/>
              </a:rPr>
              <a:t>3</a:t>
            </a:r>
            <a:r>
              <a:rPr lang="zh-CN" altLang="en-US" sz="2000">
                <a:latin typeface="Arial" panose="020B0604020202020204" pitchFamily="34" charset="0"/>
                <a:ea typeface="微软雅黑" panose="020B0503020204020204" pitchFamily="34" charset="-122"/>
                <a:cs typeface="Arial" panose="020B0604020202020204" pitchFamily="34" charset="0"/>
              </a:rPr>
              <a:t>个参量</a:t>
            </a:r>
            <a:r>
              <a:rPr lang="en-US" altLang="zh-CN" sz="2000" b="1">
                <a:latin typeface="Arial" panose="020B0604020202020204" pitchFamily="34" charset="0"/>
                <a:ea typeface="微软雅黑" panose="020B0503020204020204" pitchFamily="34" charset="-122"/>
                <a:cs typeface="Arial" panose="020B0604020202020204" pitchFamily="34" charset="0"/>
              </a:rPr>
              <a:t>(</a:t>
            </a:r>
            <a:r>
              <a:rPr lang="en-US" altLang="zh-CN" sz="2000" b="1" i="1">
                <a:latin typeface="Arial" panose="020B0604020202020204" pitchFamily="34" charset="0"/>
                <a:ea typeface="微软雅黑" panose="020B0503020204020204" pitchFamily="34" charset="-122"/>
                <a:cs typeface="Arial" panose="020B0604020202020204" pitchFamily="34" charset="0"/>
              </a:rPr>
              <a:t>n, j, k</a:t>
            </a:r>
            <a:r>
              <a:rPr lang="en-US" altLang="zh-CN" sz="2000" b="1">
                <a:latin typeface="Arial" panose="020B0604020202020204" pitchFamily="34" charset="0"/>
                <a:ea typeface="微软雅黑" panose="020B0503020204020204" pitchFamily="34" charset="-122"/>
                <a:cs typeface="Arial" panose="020B0604020202020204" pitchFamily="34" charset="0"/>
              </a:rPr>
              <a:t>)</a:t>
            </a:r>
            <a:r>
              <a:rPr lang="zh-CN" altLang="en-US" sz="2000">
                <a:latin typeface="Arial" panose="020B0604020202020204" pitchFamily="34" charset="0"/>
                <a:ea typeface="微软雅黑" panose="020B0503020204020204" pitchFamily="34" charset="-122"/>
                <a:cs typeface="Arial" panose="020B0604020202020204" pitchFamily="34" charset="0"/>
              </a:rPr>
              <a:t>表示。在编码时，设计好</a:t>
            </a:r>
            <a:r>
              <a:rPr lang="en-US" altLang="zh-CN" sz="2000" b="1" i="1">
                <a:latin typeface="Arial" panose="020B0604020202020204" pitchFamily="34" charset="0"/>
                <a:ea typeface="微软雅黑" panose="020B0503020204020204" pitchFamily="34" charset="-122"/>
                <a:cs typeface="Arial" panose="020B0604020202020204" pitchFamily="34" charset="0"/>
              </a:rPr>
              <a:t>H</a:t>
            </a:r>
            <a:r>
              <a:rPr lang="zh-CN" altLang="en-US" sz="2000">
                <a:latin typeface="Arial" panose="020B0604020202020204" pitchFamily="34" charset="0"/>
                <a:ea typeface="微软雅黑" panose="020B0503020204020204" pitchFamily="34" charset="-122"/>
                <a:cs typeface="Arial" panose="020B0604020202020204" pitchFamily="34" charset="0"/>
              </a:rPr>
              <a:t>矩阵后，由</a:t>
            </a:r>
            <a:r>
              <a:rPr lang="en-US" altLang="zh-CN" sz="2000" b="1" i="1">
                <a:latin typeface="Arial" panose="020B0604020202020204" pitchFamily="34" charset="0"/>
                <a:ea typeface="微软雅黑" panose="020B0503020204020204" pitchFamily="34" charset="-122"/>
                <a:cs typeface="Arial" panose="020B0604020202020204" pitchFamily="34" charset="0"/>
              </a:rPr>
              <a:t>H </a:t>
            </a:r>
            <a:r>
              <a:rPr lang="zh-CN" altLang="en-US" sz="2000">
                <a:latin typeface="Arial" panose="020B0604020202020204" pitchFamily="34" charset="0"/>
                <a:ea typeface="微软雅黑" panose="020B0503020204020204" pitchFamily="34" charset="-122"/>
                <a:cs typeface="Arial" panose="020B0604020202020204" pitchFamily="34" charset="0"/>
              </a:rPr>
              <a:t>矩阵可以导出生成矩阵</a:t>
            </a:r>
            <a:r>
              <a:rPr lang="en-US" altLang="zh-CN" sz="2000" b="1">
                <a:latin typeface="Arial" panose="020B0604020202020204" pitchFamily="34" charset="0"/>
                <a:ea typeface="微软雅黑" panose="020B0503020204020204" pitchFamily="34" charset="-122"/>
                <a:cs typeface="Arial" panose="020B0604020202020204" pitchFamily="34" charset="0"/>
              </a:rPr>
              <a:t>G</a:t>
            </a:r>
            <a:r>
              <a:rPr lang="zh-CN" altLang="en-US" sz="2000">
                <a:latin typeface="Arial" panose="020B0604020202020204" pitchFamily="34" charset="0"/>
                <a:ea typeface="微软雅黑" panose="020B0503020204020204" pitchFamily="34" charset="-122"/>
                <a:cs typeface="Arial" panose="020B0604020202020204" pitchFamily="34" charset="0"/>
              </a:rPr>
              <a:t>。这样，对于给定的信息位，不难算出码组。</a:t>
            </a:r>
          </a:p>
        </p:txBody>
      </p:sp>
      <p:sp>
        <p:nvSpPr>
          <p:cNvPr id="3" name="矩形 2">
            <a:extLst>
              <a:ext uri="{FF2B5EF4-FFF2-40B4-BE49-F238E27FC236}">
                <a16:creationId xmlns:a16="http://schemas.microsoft.com/office/drawing/2014/main" id="{C166244E-B1E2-B5B9-07BF-94883C3AEA4B}"/>
              </a:ext>
            </a:extLst>
          </p:cNvPr>
          <p:cNvSpPr/>
          <p:nvPr/>
        </p:nvSpPr>
        <p:spPr>
          <a:xfrm>
            <a:off x="714375" y="571500"/>
            <a:ext cx="2908300" cy="515938"/>
          </a:xfrm>
          <a:prstGeom prst="rect">
            <a:avLst/>
          </a:prstGeom>
        </p:spPr>
        <p:txBody>
          <a:bodyPr wrap="none">
            <a:spAutoFit/>
          </a:bodyPr>
          <a:lstStyle/>
          <a:p>
            <a:pPr marL="342900" indent="-342900">
              <a:lnSpc>
                <a:spcPts val="3300"/>
              </a:lnSpc>
              <a:spcBef>
                <a:spcPct val="20000"/>
              </a:spcBef>
              <a:buClr>
                <a:srgbClr val="FF0000"/>
              </a:buClr>
              <a:buSzPct val="80000"/>
              <a:buFont typeface="Wingdings" pitchFamily="2" charset="2"/>
              <a:buChar char="n"/>
              <a:defRPr/>
            </a:pPr>
            <a:r>
              <a:rPr kumimoji="0" lang="en-US" altLang="zh-CN" sz="2400" kern="0" dirty="0">
                <a:solidFill>
                  <a:srgbClr val="000000"/>
                </a:solidFill>
                <a:latin typeface="Arial" pitchFamily="34" charset="0"/>
                <a:ea typeface="微软雅黑" pitchFamily="34" charset="-122"/>
                <a:cs typeface="Arial" pitchFamily="34" charset="0"/>
              </a:rPr>
              <a:t>LDPC</a:t>
            </a:r>
            <a:r>
              <a:rPr kumimoji="0" lang="zh-CN" altLang="en-US" sz="2400" kern="0" dirty="0">
                <a:solidFill>
                  <a:srgbClr val="000000"/>
                </a:solidFill>
                <a:latin typeface="Arial" pitchFamily="34" charset="0"/>
                <a:ea typeface="微软雅黑" pitchFamily="34" charset="-122"/>
                <a:cs typeface="Arial" pitchFamily="34" charset="0"/>
              </a:rPr>
              <a:t>码的构造：</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59747">
                                            <p:txEl>
                                              <p:pRg st="0" end="0"/>
                                            </p:txEl>
                                          </p:spTgt>
                                        </p:tgtEl>
                                        <p:attrNameLst>
                                          <p:attrName>style.visibility</p:attrName>
                                        </p:attrNameLst>
                                      </p:cBhvr>
                                      <p:to>
                                        <p:strVal val="visible"/>
                                      </p:to>
                                    </p:set>
                                    <p:animEffect transition="in" filter="wipe(up)">
                                      <p:cBhvr>
                                        <p:cTn id="7" dur="1000"/>
                                        <p:tgtEl>
                                          <p:spTgt spid="1597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59747">
                                            <p:txEl>
                                              <p:pRg st="1" end="1"/>
                                            </p:txEl>
                                          </p:spTgt>
                                        </p:tgtEl>
                                        <p:attrNameLst>
                                          <p:attrName>style.visibility</p:attrName>
                                        </p:attrNameLst>
                                      </p:cBhvr>
                                      <p:to>
                                        <p:strVal val="visible"/>
                                      </p:to>
                                    </p:set>
                                    <p:animEffect transition="in" filter="wipe(up)">
                                      <p:cBhvr>
                                        <p:cTn id="12" dur="1000"/>
                                        <p:tgtEl>
                                          <p:spTgt spid="1597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59747">
                                            <p:txEl>
                                              <p:pRg st="2" end="2"/>
                                            </p:txEl>
                                          </p:spTgt>
                                        </p:tgtEl>
                                        <p:attrNameLst>
                                          <p:attrName>style.visibility</p:attrName>
                                        </p:attrNameLst>
                                      </p:cBhvr>
                                      <p:to>
                                        <p:strVal val="visible"/>
                                      </p:to>
                                    </p:set>
                                    <p:animEffect transition="in" filter="wipe(up)">
                                      <p:cBhvr>
                                        <p:cTn id="17" dur="1000"/>
                                        <p:tgtEl>
                                          <p:spTgt spid="15974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59747">
                                            <p:txEl>
                                              <p:pRg st="3" end="3"/>
                                            </p:txEl>
                                          </p:spTgt>
                                        </p:tgtEl>
                                        <p:attrNameLst>
                                          <p:attrName>style.visibility</p:attrName>
                                        </p:attrNameLst>
                                      </p:cBhvr>
                                      <p:to>
                                        <p:strVal val="visible"/>
                                      </p:to>
                                    </p:set>
                                    <p:animEffect transition="in" filter="wipe(up)">
                                      <p:cBhvr>
                                        <p:cTn id="22" dur="1000"/>
                                        <p:tgtEl>
                                          <p:spTgt spid="1597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1" name="Rectangle 3">
            <a:extLst>
              <a:ext uri="{FF2B5EF4-FFF2-40B4-BE49-F238E27FC236}">
                <a16:creationId xmlns:a16="http://schemas.microsoft.com/office/drawing/2014/main" id="{F2027B0D-C27C-9202-6FF4-D949BC962757}"/>
              </a:ext>
            </a:extLst>
          </p:cNvPr>
          <p:cNvSpPr>
            <a:spLocks noGrp="1" noChangeArrowheads="1"/>
          </p:cNvSpPr>
          <p:nvPr>
            <p:ph type="body" idx="1"/>
          </p:nvPr>
        </p:nvSpPr>
        <p:spPr>
          <a:xfrm>
            <a:off x="571500" y="1223963"/>
            <a:ext cx="7929563" cy="3205162"/>
          </a:xfrm>
        </p:spPr>
        <p:txBody>
          <a:bodyPr/>
          <a:lstStyle/>
          <a:p>
            <a:pPr eaLnBrk="1" hangingPunct="1">
              <a:lnSpc>
                <a:spcPct val="150000"/>
              </a:lnSpc>
              <a:buFont typeface="Wingdings" panose="05000000000000000000" pitchFamily="2" charset="2"/>
              <a:buNone/>
            </a:pPr>
            <a:r>
              <a:rPr lang="zh-CN" altLang="en-US"/>
              <a:t>	</a:t>
            </a:r>
            <a:r>
              <a:rPr lang="en-US" altLang="zh-CN" sz="2000">
                <a:latin typeface="Arial" panose="020B0604020202020204" pitchFamily="34" charset="0"/>
                <a:ea typeface="微软雅黑" panose="020B0503020204020204" pitchFamily="34" charset="-122"/>
                <a:cs typeface="Arial" panose="020B0604020202020204" pitchFamily="34" charset="0"/>
              </a:rPr>
              <a:t>LDPC</a:t>
            </a:r>
            <a:r>
              <a:rPr lang="zh-CN" altLang="en-US" sz="2000">
                <a:latin typeface="Arial" panose="020B0604020202020204" pitchFamily="34" charset="0"/>
                <a:ea typeface="微软雅黑" panose="020B0503020204020204" pitchFamily="34" charset="-122"/>
                <a:cs typeface="Arial" panose="020B0604020202020204" pitchFamily="34" charset="0"/>
              </a:rPr>
              <a:t>码的解码方法也和一般的奇偶监督码的解码方法不同。</a:t>
            </a:r>
            <a:endParaRPr lang="en-US" altLang="zh-CN" sz="2000">
              <a:latin typeface="Arial" panose="020B0604020202020204" pitchFamily="34" charset="0"/>
              <a:ea typeface="微软雅黑" panose="020B0503020204020204" pitchFamily="34" charset="-122"/>
              <a:cs typeface="Arial" panose="020B0604020202020204" pitchFamily="34" charset="0"/>
            </a:endParaRPr>
          </a:p>
          <a:p>
            <a:pPr eaLnBrk="1" hangingPunct="1">
              <a:lnSpc>
                <a:spcPct val="150000"/>
              </a:lnSpc>
              <a:buFont typeface="Wingdings" panose="05000000000000000000" pitchFamily="2" charset="2"/>
              <a:buNone/>
            </a:pPr>
            <a:r>
              <a:rPr lang="en-US" altLang="zh-CN" sz="2000">
                <a:latin typeface="Arial" panose="020B0604020202020204" pitchFamily="34" charset="0"/>
                <a:ea typeface="微软雅黑" panose="020B0503020204020204" pitchFamily="34" charset="-122"/>
                <a:cs typeface="Arial" panose="020B0604020202020204" pitchFamily="34" charset="0"/>
              </a:rPr>
              <a:t>     </a:t>
            </a:r>
            <a:r>
              <a:rPr lang="zh-CN" altLang="en-US" sz="2000">
                <a:latin typeface="Arial" panose="020B0604020202020204" pitchFamily="34" charset="0"/>
                <a:ea typeface="微软雅黑" panose="020B0503020204020204" pitchFamily="34" charset="-122"/>
                <a:cs typeface="Arial" panose="020B0604020202020204" pitchFamily="34" charset="0"/>
              </a:rPr>
              <a:t>基本的解码算法称为置信传播算法，通常简称</a:t>
            </a:r>
            <a:r>
              <a:rPr lang="en-US" altLang="zh-CN" sz="2000" b="1">
                <a:latin typeface="Arial" panose="020B0604020202020204" pitchFamily="34" charset="0"/>
                <a:ea typeface="微软雅黑" panose="020B0503020204020204" pitchFamily="34" charset="-122"/>
                <a:cs typeface="Arial" panose="020B0604020202020204" pitchFamily="34" charset="0"/>
              </a:rPr>
              <a:t>BP</a:t>
            </a:r>
            <a:r>
              <a:rPr lang="zh-CN" altLang="en-US" sz="2000" b="1">
                <a:latin typeface="Arial" panose="020B0604020202020204" pitchFamily="34" charset="0"/>
                <a:ea typeface="微软雅黑" panose="020B0503020204020204" pitchFamily="34" charset="-122"/>
                <a:cs typeface="Arial" panose="020B0604020202020204" pitchFamily="34" charset="0"/>
              </a:rPr>
              <a:t>算法</a:t>
            </a:r>
            <a:r>
              <a:rPr lang="zh-CN" altLang="en-US" sz="2000">
                <a:latin typeface="Arial" panose="020B0604020202020204" pitchFamily="34" charset="0"/>
                <a:ea typeface="微软雅黑" panose="020B0503020204020204" pitchFamily="34" charset="-122"/>
                <a:cs typeface="Arial" panose="020B0604020202020204" pitchFamily="34" charset="0"/>
              </a:rPr>
              <a:t>。</a:t>
            </a:r>
            <a:endParaRPr lang="en-US" altLang="zh-CN" sz="2000">
              <a:latin typeface="Arial" panose="020B0604020202020204" pitchFamily="34" charset="0"/>
              <a:ea typeface="微软雅黑" panose="020B0503020204020204" pitchFamily="34" charset="-122"/>
              <a:cs typeface="Arial" panose="020B0604020202020204" pitchFamily="34" charset="0"/>
            </a:endParaRPr>
          </a:p>
          <a:p>
            <a:pPr eaLnBrk="1" hangingPunct="1">
              <a:lnSpc>
                <a:spcPct val="150000"/>
              </a:lnSpc>
              <a:buFont typeface="Wingdings" panose="05000000000000000000" pitchFamily="2" charset="2"/>
              <a:buNone/>
            </a:pPr>
            <a:r>
              <a:rPr lang="en-US" altLang="zh-CN" sz="2000">
                <a:latin typeface="Arial" panose="020B0604020202020204" pitchFamily="34" charset="0"/>
                <a:ea typeface="微软雅黑" panose="020B0503020204020204" pitchFamily="34" charset="-122"/>
                <a:cs typeface="Arial" panose="020B0604020202020204" pitchFamily="34" charset="0"/>
              </a:rPr>
              <a:t>     </a:t>
            </a:r>
            <a:r>
              <a:rPr lang="zh-CN" altLang="en-US" sz="2000">
                <a:latin typeface="Arial" panose="020B0604020202020204" pitchFamily="34" charset="0"/>
                <a:ea typeface="微软雅黑" panose="020B0503020204020204" pitchFamily="34" charset="-122"/>
                <a:cs typeface="Arial" panose="020B0604020202020204" pitchFamily="34" charset="0"/>
              </a:rPr>
              <a:t>这种算法实质上是求最大后验概率，类似于一般的最大似然准则解码算法，但是它需要进行多次迭代运算，逐步逼近最优的解码值。</a:t>
            </a:r>
          </a:p>
          <a:p>
            <a:pPr eaLnBrk="1" hangingPunct="1">
              <a:lnSpc>
                <a:spcPct val="150000"/>
              </a:lnSpc>
              <a:buFont typeface="Wingdings" panose="05000000000000000000" pitchFamily="2" charset="2"/>
              <a:buNone/>
            </a:pPr>
            <a:r>
              <a:rPr lang="zh-CN" altLang="en-US" sz="2000">
                <a:latin typeface="Arial" panose="020B0604020202020204" pitchFamily="34" charset="0"/>
                <a:ea typeface="微软雅黑" panose="020B0503020204020204" pitchFamily="34" charset="-122"/>
                <a:cs typeface="Arial" panose="020B0604020202020204" pitchFamily="34" charset="0"/>
              </a:rPr>
              <a:t>	</a:t>
            </a:r>
            <a:r>
              <a:rPr lang="en-US" altLang="zh-CN" sz="2000">
                <a:latin typeface="Arial" panose="020B0604020202020204" pitchFamily="34" charset="0"/>
                <a:ea typeface="微软雅黑" panose="020B0503020204020204" pitchFamily="34" charset="-122"/>
                <a:cs typeface="Arial" panose="020B0604020202020204" pitchFamily="34" charset="0"/>
              </a:rPr>
              <a:t>LDPC</a:t>
            </a:r>
            <a:r>
              <a:rPr lang="zh-CN" altLang="en-US" sz="2000">
                <a:latin typeface="Arial" panose="020B0604020202020204" pitchFamily="34" charset="0"/>
                <a:ea typeface="微软雅黑" panose="020B0503020204020204" pitchFamily="34" charset="-122"/>
                <a:cs typeface="Arial" panose="020B0604020202020204" pitchFamily="34" charset="0"/>
              </a:rPr>
              <a:t>码的具体编解码算法十分复杂，这里不再深入讨论。 </a:t>
            </a:r>
          </a:p>
        </p:txBody>
      </p:sp>
      <p:sp>
        <p:nvSpPr>
          <p:cNvPr id="3" name="矩形 2">
            <a:extLst>
              <a:ext uri="{FF2B5EF4-FFF2-40B4-BE49-F238E27FC236}">
                <a16:creationId xmlns:a16="http://schemas.microsoft.com/office/drawing/2014/main" id="{1BE5943D-C290-3606-5991-70BCE454909C}"/>
              </a:ext>
            </a:extLst>
          </p:cNvPr>
          <p:cNvSpPr/>
          <p:nvPr/>
        </p:nvSpPr>
        <p:spPr>
          <a:xfrm>
            <a:off x="714375" y="571500"/>
            <a:ext cx="2908300" cy="515938"/>
          </a:xfrm>
          <a:prstGeom prst="rect">
            <a:avLst/>
          </a:prstGeom>
        </p:spPr>
        <p:txBody>
          <a:bodyPr wrap="none">
            <a:spAutoFit/>
          </a:bodyPr>
          <a:lstStyle/>
          <a:p>
            <a:pPr marL="342900" indent="-342900">
              <a:lnSpc>
                <a:spcPts val="3300"/>
              </a:lnSpc>
              <a:spcBef>
                <a:spcPct val="20000"/>
              </a:spcBef>
              <a:buClr>
                <a:srgbClr val="FF0000"/>
              </a:buClr>
              <a:buSzPct val="80000"/>
              <a:buFont typeface="Wingdings" pitchFamily="2" charset="2"/>
              <a:buChar char="n"/>
              <a:defRPr/>
            </a:pPr>
            <a:r>
              <a:rPr kumimoji="0" lang="en-US" altLang="zh-CN" sz="2400" kern="0" dirty="0">
                <a:solidFill>
                  <a:srgbClr val="000000"/>
                </a:solidFill>
                <a:latin typeface="Arial" pitchFamily="34" charset="0"/>
                <a:ea typeface="微软雅黑" pitchFamily="34" charset="-122"/>
                <a:cs typeface="Arial" pitchFamily="34" charset="0"/>
              </a:rPr>
              <a:t>LDPC</a:t>
            </a:r>
            <a:r>
              <a:rPr kumimoji="0" lang="zh-CN" altLang="en-US" sz="2400" kern="0" dirty="0">
                <a:solidFill>
                  <a:srgbClr val="000000"/>
                </a:solidFill>
                <a:latin typeface="Arial" pitchFamily="34" charset="0"/>
                <a:ea typeface="微软雅黑" pitchFamily="34" charset="-122"/>
                <a:cs typeface="Arial" pitchFamily="34" charset="0"/>
              </a:rPr>
              <a:t>码的解码：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60771">
                                            <p:txEl>
                                              <p:pRg st="0" end="0"/>
                                            </p:txEl>
                                          </p:spTgt>
                                        </p:tgtEl>
                                        <p:attrNameLst>
                                          <p:attrName>style.visibility</p:attrName>
                                        </p:attrNameLst>
                                      </p:cBhvr>
                                      <p:to>
                                        <p:strVal val="visible"/>
                                      </p:to>
                                    </p:set>
                                    <p:animEffect transition="in" filter="wipe(up)">
                                      <p:cBhvr>
                                        <p:cTn id="7" dur="1000"/>
                                        <p:tgtEl>
                                          <p:spTgt spid="1607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60771">
                                            <p:txEl>
                                              <p:pRg st="1" end="1"/>
                                            </p:txEl>
                                          </p:spTgt>
                                        </p:tgtEl>
                                        <p:attrNameLst>
                                          <p:attrName>style.visibility</p:attrName>
                                        </p:attrNameLst>
                                      </p:cBhvr>
                                      <p:to>
                                        <p:strVal val="visible"/>
                                      </p:to>
                                    </p:set>
                                    <p:animEffect transition="in" filter="wipe(up)">
                                      <p:cBhvr>
                                        <p:cTn id="12" dur="1000"/>
                                        <p:tgtEl>
                                          <p:spTgt spid="1607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60771">
                                            <p:txEl>
                                              <p:pRg st="2" end="2"/>
                                            </p:txEl>
                                          </p:spTgt>
                                        </p:tgtEl>
                                        <p:attrNameLst>
                                          <p:attrName>style.visibility</p:attrName>
                                        </p:attrNameLst>
                                      </p:cBhvr>
                                      <p:to>
                                        <p:strVal val="visible"/>
                                      </p:to>
                                    </p:set>
                                    <p:animEffect transition="in" filter="wipe(up)">
                                      <p:cBhvr>
                                        <p:cTn id="17" dur="1000"/>
                                        <p:tgtEl>
                                          <p:spTgt spid="16077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60771">
                                            <p:txEl>
                                              <p:pRg st="3" end="3"/>
                                            </p:txEl>
                                          </p:spTgt>
                                        </p:tgtEl>
                                        <p:attrNameLst>
                                          <p:attrName>style.visibility</p:attrName>
                                        </p:attrNameLst>
                                      </p:cBhvr>
                                      <p:to>
                                        <p:strVal val="visible"/>
                                      </p:to>
                                    </p:set>
                                    <p:animEffect transition="in" filter="wipe(up)">
                                      <p:cBhvr>
                                        <p:cTn id="22" dur="1000"/>
                                        <p:tgtEl>
                                          <p:spTgt spid="1607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6">
            <a:extLst>
              <a:ext uri="{FF2B5EF4-FFF2-40B4-BE49-F238E27FC236}">
                <a16:creationId xmlns:a16="http://schemas.microsoft.com/office/drawing/2014/main" id="{D73B01E0-8490-8393-343F-99882A06DAC0}"/>
              </a:ext>
            </a:extLst>
          </p:cNvPr>
          <p:cNvSpPr txBox="1">
            <a:spLocks noChangeArrowheads="1"/>
          </p:cNvSpPr>
          <p:nvPr/>
        </p:nvSpPr>
        <p:spPr bwMode="gray">
          <a:xfrm>
            <a:off x="3071813" y="3214688"/>
            <a:ext cx="3929062" cy="769937"/>
          </a:xfrm>
          <a:prstGeom prst="rect">
            <a:avLst/>
          </a:prstGeom>
          <a:noFill/>
          <a:ln w="9525">
            <a:noFill/>
            <a:miter lim="800000"/>
            <a:headEnd/>
            <a:tailEnd/>
          </a:ln>
          <a:effectLst>
            <a:outerShdw blurRad="50800" dist="38100" dir="2700000" algn="tl" rotWithShape="0">
              <a:prstClr val="black">
                <a:alpha val="40000"/>
              </a:prstClr>
            </a:outerShdw>
          </a:effectLst>
        </p:spPr>
        <p:txBody>
          <a:bodyPr>
            <a:spAutoFit/>
          </a:bodyPr>
          <a:lstStyle/>
          <a:p>
            <a:pPr>
              <a:defRPr/>
            </a:pPr>
            <a:r>
              <a:rPr lang="zh-CN" altLang="en-US" sz="4400" dirty="0">
                <a:solidFill>
                  <a:srgbClr val="003399"/>
                </a:solidFill>
                <a:latin typeface="微软雅黑" pitchFamily="34" charset="-122"/>
                <a:ea typeface="微软雅黑" pitchFamily="34" charset="-122"/>
              </a:rPr>
              <a:t>网格编码调制</a:t>
            </a:r>
            <a:endParaRPr lang="en-US" altLang="zh-CN" sz="4400" dirty="0">
              <a:solidFill>
                <a:srgbClr val="003399"/>
              </a:solidFill>
              <a:latin typeface="微软雅黑" pitchFamily="34" charset="-122"/>
              <a:ea typeface="微软雅黑" pitchFamily="34" charset="-122"/>
            </a:endParaRPr>
          </a:p>
        </p:txBody>
      </p:sp>
      <p:sp>
        <p:nvSpPr>
          <p:cNvPr id="12" name="矩形 11">
            <a:extLst>
              <a:ext uri="{FF2B5EF4-FFF2-40B4-BE49-F238E27FC236}">
                <a16:creationId xmlns:a16="http://schemas.microsoft.com/office/drawing/2014/main" id="{938615F0-04FD-7BFD-0905-266D1E12AE0A}"/>
              </a:ext>
            </a:extLst>
          </p:cNvPr>
          <p:cNvSpPr/>
          <p:nvPr/>
        </p:nvSpPr>
        <p:spPr>
          <a:xfrm>
            <a:off x="2571750" y="4714875"/>
            <a:ext cx="4286250" cy="488950"/>
          </a:xfrm>
          <a:prstGeom prst="rect">
            <a:avLst/>
          </a:prstGeom>
        </p:spPr>
        <p:txBody>
          <a:bodyPr>
            <a:spAutoFit/>
          </a:bodyPr>
          <a:lstStyle/>
          <a:p>
            <a:pPr>
              <a:lnSpc>
                <a:spcPts val="3500"/>
              </a:lnSpc>
              <a:defRPr/>
            </a:pPr>
            <a:r>
              <a:rPr lang="en-US" altLang="zh-CN" sz="2000" b="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r>
              <a:rPr lang="zh-CN" altLang="en-US" sz="2000" b="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将纠错编码和调制相结合</a:t>
            </a:r>
            <a:r>
              <a:rPr lang="en-US" altLang="zh-CN" sz="2000" b="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endParaRPr lang="zh-CN" altLang="en-US" sz="2000" b="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p:txBody>
      </p:sp>
      <p:sp>
        <p:nvSpPr>
          <p:cNvPr id="14" name="矩形 4">
            <a:extLst>
              <a:ext uri="{FF2B5EF4-FFF2-40B4-BE49-F238E27FC236}">
                <a16:creationId xmlns:a16="http://schemas.microsoft.com/office/drawing/2014/main" id="{062015EE-561D-0F3A-583B-8D8256332516}"/>
              </a:ext>
            </a:extLst>
          </p:cNvPr>
          <p:cNvSpPr>
            <a:spLocks noChangeArrowheads="1"/>
          </p:cNvSpPr>
          <p:nvPr/>
        </p:nvSpPr>
        <p:spPr bwMode="auto">
          <a:xfrm>
            <a:off x="642938" y="2214563"/>
            <a:ext cx="2212975" cy="708025"/>
          </a:xfrm>
          <a:prstGeom prst="rect">
            <a:avLst/>
          </a:prstGeom>
          <a:noFill/>
          <a:ln w="9525">
            <a:noFill/>
            <a:miter lim="800000"/>
            <a:headEnd/>
            <a:tailEnd/>
          </a:ln>
        </p:spPr>
        <p:txBody>
          <a:bodyPr wrap="none">
            <a:spAutoFit/>
          </a:bodyPr>
          <a:lstStyle/>
          <a:p>
            <a:pPr eaLnBrk="0" hangingPunct="0">
              <a:defRPr/>
            </a:pPr>
            <a:r>
              <a:rPr lang="en-US" altLang="en-US" sz="4000" u="sng" dirty="0">
                <a:solidFill>
                  <a:srgbClr val="990099"/>
                </a:solidFill>
                <a:effectLst>
                  <a:outerShdw blurRad="38100" dist="38100" dir="2700000" algn="tl">
                    <a:srgbClr val="000000">
                      <a:alpha val="43137"/>
                    </a:srgbClr>
                  </a:outerShdw>
                </a:effectLst>
                <a:latin typeface="+mn-ea"/>
                <a:ea typeface="+mn-ea"/>
              </a:rPr>
              <a:t>§</a:t>
            </a:r>
            <a:r>
              <a:rPr lang="en-US" altLang="en-US" sz="4000" u="sng" dirty="0">
                <a:solidFill>
                  <a:srgbClr val="990099"/>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11</a:t>
            </a:r>
            <a:r>
              <a:rPr lang="en-US" altLang="zh-CN" sz="4000" u="sng" dirty="0">
                <a:solidFill>
                  <a:srgbClr val="990099"/>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.10</a:t>
            </a:r>
            <a:r>
              <a:rPr lang="en-US" altLang="zh-CN" sz="4000" u="sng" dirty="0">
                <a:solidFill>
                  <a:srgbClr val="990099"/>
                </a:solidFill>
                <a:effectLst>
                  <a:outerShdw blurRad="38100" dist="38100" dir="2700000" algn="tl">
                    <a:srgbClr val="000000">
                      <a:alpha val="43137"/>
                    </a:srgbClr>
                  </a:outerShdw>
                </a:effectLst>
                <a:ea typeface="微软雅黑" pitchFamily="34" charset="-122"/>
                <a:cs typeface="Arial" charset="0"/>
              </a:rPr>
              <a:t> </a:t>
            </a:r>
            <a:endParaRPr lang="zh-CN" altLang="en-US" sz="4000" u="sng" dirty="0">
              <a:solidFill>
                <a:srgbClr val="990099"/>
              </a:solidFill>
              <a:effectLst>
                <a:outerShdw blurRad="38100" dist="38100" dir="2700000" algn="tl">
                  <a:srgbClr val="000000">
                    <a:alpha val="43137"/>
                  </a:srgbClr>
                </a:outerShdw>
              </a:effectLst>
            </a:endParaRPr>
          </a:p>
        </p:txBody>
      </p:sp>
      <p:sp>
        <p:nvSpPr>
          <p:cNvPr id="13" name="矩形 12">
            <a:extLst>
              <a:ext uri="{FF2B5EF4-FFF2-40B4-BE49-F238E27FC236}">
                <a16:creationId xmlns:a16="http://schemas.microsoft.com/office/drawing/2014/main" id="{F733AB3F-D44C-83E5-AB39-A071E902CA6F}"/>
              </a:ext>
            </a:extLst>
          </p:cNvPr>
          <p:cNvSpPr/>
          <p:nvPr/>
        </p:nvSpPr>
        <p:spPr>
          <a:xfrm>
            <a:off x="2571750" y="5286375"/>
            <a:ext cx="4286250" cy="488950"/>
          </a:xfrm>
          <a:prstGeom prst="rect">
            <a:avLst/>
          </a:prstGeom>
        </p:spPr>
        <p:txBody>
          <a:bodyPr>
            <a:spAutoFit/>
          </a:bodyPr>
          <a:lstStyle/>
          <a:p>
            <a:pPr>
              <a:lnSpc>
                <a:spcPts val="3500"/>
              </a:lnSpc>
              <a:defRPr/>
            </a:pPr>
            <a:r>
              <a:rPr lang="en-US" altLang="zh-CN" sz="2000" b="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r>
              <a:rPr lang="zh-CN" altLang="en-US" sz="2000" b="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同时节省功率和带宽</a:t>
            </a:r>
            <a:r>
              <a:rPr lang="en-US" altLang="zh-CN" sz="2000" b="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endParaRPr lang="zh-CN" altLang="en-US" sz="2000" b="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p:txBody>
      </p:sp>
      <p:sp>
        <p:nvSpPr>
          <p:cNvPr id="15" name="矩形 14">
            <a:extLst>
              <a:ext uri="{FF2B5EF4-FFF2-40B4-BE49-F238E27FC236}">
                <a16:creationId xmlns:a16="http://schemas.microsoft.com/office/drawing/2014/main" id="{CF6AD554-6E88-9693-ECD3-1A8DA240220C}"/>
              </a:ext>
            </a:extLst>
          </p:cNvPr>
          <p:cNvSpPr/>
          <p:nvPr/>
        </p:nvSpPr>
        <p:spPr>
          <a:xfrm>
            <a:off x="2454275" y="3929063"/>
            <a:ext cx="5546725" cy="523875"/>
          </a:xfrm>
          <a:prstGeom prst="rect">
            <a:avLst/>
          </a:prstGeom>
        </p:spPr>
        <p:txBody>
          <a:bodyPr>
            <a:spAutoFit/>
          </a:bodyPr>
          <a:lstStyle/>
          <a:p>
            <a:pPr>
              <a:defRPr/>
            </a:pPr>
            <a:r>
              <a:rPr lang="en-US" sz="2400" dirty="0">
                <a:solidFill>
                  <a:schemeClr val="tx1">
                    <a:lumMod val="50000"/>
                    <a:lumOff val="50000"/>
                  </a:schemeClr>
                </a:solidFill>
                <a:latin typeface="Arial" pitchFamily="34" charset="0"/>
                <a:cs typeface="Arial" pitchFamily="34" charset="0"/>
              </a:rPr>
              <a:t>Trellis Coded Modulation , </a:t>
            </a:r>
            <a:r>
              <a:rPr kumimoji="0" lang="en-US" altLang="zh-CN" sz="2800" kern="0" dirty="0">
                <a:solidFill>
                  <a:srgbClr val="003399"/>
                </a:solidFill>
                <a:latin typeface="Arial" pitchFamily="34" charset="0"/>
                <a:ea typeface="微软雅黑" pitchFamily="34" charset="-122"/>
                <a:cs typeface="Arial" pitchFamily="34" charset="0"/>
              </a:rPr>
              <a:t>TCM</a:t>
            </a:r>
            <a:endParaRPr lang="zh-CN" altLang="en-US" sz="2800" dirty="0">
              <a:solidFill>
                <a:srgbClr val="003399"/>
              </a:solidFill>
              <a:latin typeface="Arial" pitchFamily="34" charset="0"/>
              <a:ea typeface="微软雅黑" pitchFamily="34" charset="-122"/>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000"/>
                                        <p:tgtEl>
                                          <p:spTgt spid="4"/>
                                        </p:tgtEl>
                                      </p:cBhvr>
                                    </p:animEffect>
                                  </p:childTnLst>
                                </p:cTn>
                              </p:par>
                            </p:childTnLst>
                          </p:cTn>
                        </p:par>
                        <p:par>
                          <p:cTn id="8" fill="hold" nodeType="afterGroup">
                            <p:stCondLst>
                              <p:cond delay="1000"/>
                            </p:stCondLst>
                            <p:childTnLst>
                              <p:par>
                                <p:cTn id="9" presetID="22" presetClass="entr" presetSubtype="4"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down)">
                                      <p:cBhvr>
                                        <p:cTn id="11" dur="1000"/>
                                        <p:tgtEl>
                                          <p:spTgt spid="15"/>
                                        </p:tgtEl>
                                      </p:cBhvr>
                                    </p:animEffect>
                                  </p:childTnLst>
                                </p:cTn>
                              </p:par>
                            </p:childTnLst>
                          </p:cTn>
                        </p:par>
                        <p:par>
                          <p:cTn id="12" fill="hold" nodeType="afterGroup">
                            <p:stCondLst>
                              <p:cond delay="2000"/>
                            </p:stCondLst>
                            <p:childTnLst>
                              <p:par>
                                <p:cTn id="13" presetID="22" presetClass="entr" presetSubtype="1"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up)">
                                      <p:cBhvr>
                                        <p:cTn id="15" dur="2000"/>
                                        <p:tgtEl>
                                          <p:spTgt spid="12"/>
                                        </p:tgtEl>
                                      </p:cBhvr>
                                    </p:animEffect>
                                  </p:childTnLst>
                                </p:cTn>
                              </p:par>
                            </p:childTnLst>
                          </p:cTn>
                        </p:par>
                        <p:par>
                          <p:cTn id="16" fill="hold" nodeType="afterGroup">
                            <p:stCondLst>
                              <p:cond delay="4000"/>
                            </p:stCondLst>
                            <p:childTnLst>
                              <p:par>
                                <p:cTn id="17" presetID="22" presetClass="entr" presetSubtype="1"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up)">
                                      <p:cBhvr>
                                        <p:cTn id="19"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P spid="13" grpId="0"/>
      <p:bldP spid="15" grpId="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92BDBE30-1474-7FC3-4FE6-DEDD9968C01D}"/>
              </a:ext>
            </a:extLst>
          </p:cNvPr>
          <p:cNvSpPr/>
          <p:nvPr/>
        </p:nvSpPr>
        <p:spPr>
          <a:xfrm>
            <a:off x="103188" y="428625"/>
            <a:ext cx="7112000" cy="515938"/>
          </a:xfrm>
          <a:prstGeom prst="rect">
            <a:avLst/>
          </a:prstGeom>
        </p:spPr>
        <p:txBody>
          <a:bodyPr>
            <a:spAutoFit/>
          </a:bodyPr>
          <a:lstStyle/>
          <a:p>
            <a:pPr marL="285750" indent="-285750">
              <a:lnSpc>
                <a:spcPts val="3300"/>
              </a:lnSpc>
              <a:spcBef>
                <a:spcPct val="20000"/>
              </a:spcBef>
              <a:buClr>
                <a:srgbClr val="FF0000"/>
              </a:buClr>
              <a:buSzPct val="55000"/>
              <a:defRPr/>
            </a:pPr>
            <a:r>
              <a:rPr kumimoji="0" lang="en-US" altLang="zh-CN" sz="3200" kern="0" dirty="0">
                <a:solidFill>
                  <a:srgbClr val="990099"/>
                </a:solidFill>
                <a:latin typeface="Arial" pitchFamily="34" charset="0"/>
                <a:ea typeface="微软雅黑" pitchFamily="34" charset="-122"/>
                <a:cs typeface="Arial" pitchFamily="34" charset="0"/>
              </a:rPr>
              <a:t>11.10.1  </a:t>
            </a:r>
            <a:r>
              <a:rPr kumimoji="0" lang="en-US" altLang="zh-CN" sz="3200" kern="0" dirty="0">
                <a:solidFill>
                  <a:srgbClr val="003399"/>
                </a:solidFill>
                <a:latin typeface="Arial" pitchFamily="34" charset="0"/>
                <a:ea typeface="微软雅黑" pitchFamily="34" charset="-122"/>
                <a:cs typeface="Arial" pitchFamily="34" charset="0"/>
              </a:rPr>
              <a:t>TCM</a:t>
            </a:r>
            <a:r>
              <a:rPr kumimoji="0" lang="zh-CN" altLang="en-US" sz="3200" kern="0" dirty="0">
                <a:solidFill>
                  <a:srgbClr val="003399"/>
                </a:solidFill>
                <a:latin typeface="Arial" pitchFamily="34" charset="0"/>
                <a:ea typeface="微软雅黑" pitchFamily="34" charset="-122"/>
                <a:cs typeface="Arial" pitchFamily="34" charset="0"/>
              </a:rPr>
              <a:t>的基本概念</a:t>
            </a:r>
          </a:p>
        </p:txBody>
      </p:sp>
      <p:sp>
        <p:nvSpPr>
          <p:cNvPr id="4" name="矩形 3">
            <a:extLst>
              <a:ext uri="{FF2B5EF4-FFF2-40B4-BE49-F238E27FC236}">
                <a16:creationId xmlns:a16="http://schemas.microsoft.com/office/drawing/2014/main" id="{7D7C9AFA-D465-F213-77FC-C7B311E57694}"/>
              </a:ext>
            </a:extLst>
          </p:cNvPr>
          <p:cNvSpPr/>
          <p:nvPr/>
        </p:nvSpPr>
        <p:spPr>
          <a:xfrm>
            <a:off x="714375" y="1198563"/>
            <a:ext cx="2941638" cy="482600"/>
          </a:xfrm>
          <a:prstGeom prst="rect">
            <a:avLst/>
          </a:prstGeom>
        </p:spPr>
        <p:txBody>
          <a:bodyPr wrap="none">
            <a:spAutoFit/>
          </a:bodyPr>
          <a:lstStyle/>
          <a:p>
            <a:pPr marL="342900" indent="-342900">
              <a:lnSpc>
                <a:spcPts val="3300"/>
              </a:lnSpc>
              <a:spcBef>
                <a:spcPct val="20000"/>
              </a:spcBef>
              <a:buClr>
                <a:srgbClr val="FF0000"/>
              </a:buClr>
              <a:buSzPct val="80000"/>
              <a:buFont typeface="Wingdings" pitchFamily="2" charset="2"/>
              <a:buChar char="n"/>
              <a:defRPr/>
            </a:pPr>
            <a:r>
              <a:rPr lang="zh-CN" altLang="en-US" sz="2400" dirty="0">
                <a:solidFill>
                  <a:schemeClr val="tx1"/>
                </a:solidFill>
                <a:latin typeface="Arial" pitchFamily="34" charset="0"/>
                <a:ea typeface="微软雅黑" pitchFamily="34" charset="-122"/>
                <a:cs typeface="Arial" pitchFamily="34" charset="0"/>
              </a:rPr>
              <a:t>回顾</a:t>
            </a:r>
            <a:r>
              <a:rPr lang="en-US" altLang="zh-CN" sz="2400" dirty="0">
                <a:solidFill>
                  <a:schemeClr val="tx1"/>
                </a:solidFill>
                <a:latin typeface="Arial" pitchFamily="34" charset="0"/>
                <a:ea typeface="微软雅黑" pitchFamily="34" charset="-122"/>
                <a:cs typeface="Arial" pitchFamily="34" charset="0"/>
              </a:rPr>
              <a:t>QPSK</a:t>
            </a:r>
            <a:r>
              <a:rPr lang="zh-CN" altLang="en-US" sz="2400" dirty="0">
                <a:solidFill>
                  <a:schemeClr val="tx1"/>
                </a:solidFill>
                <a:latin typeface="Arial" pitchFamily="34" charset="0"/>
                <a:ea typeface="微软雅黑" pitchFamily="34" charset="-122"/>
                <a:cs typeface="Arial" pitchFamily="34" charset="0"/>
              </a:rPr>
              <a:t>系统</a:t>
            </a:r>
            <a:r>
              <a:rPr kumimoji="0" lang="zh-CN" altLang="en-US" sz="2400" kern="0" dirty="0">
                <a:solidFill>
                  <a:schemeClr val="tx1"/>
                </a:solidFill>
                <a:latin typeface="Arial" pitchFamily="34" charset="0"/>
                <a:ea typeface="微软雅黑" pitchFamily="34" charset="-122"/>
                <a:cs typeface="Arial" pitchFamily="34" charset="0"/>
              </a:rPr>
              <a:t>：</a:t>
            </a:r>
          </a:p>
        </p:txBody>
      </p:sp>
      <p:sp>
        <p:nvSpPr>
          <p:cNvPr id="6" name="Rectangle 3">
            <a:extLst>
              <a:ext uri="{FF2B5EF4-FFF2-40B4-BE49-F238E27FC236}">
                <a16:creationId xmlns:a16="http://schemas.microsoft.com/office/drawing/2014/main" id="{988B73F5-FC09-899D-CB8B-8A2E7A95497C}"/>
              </a:ext>
            </a:extLst>
          </p:cNvPr>
          <p:cNvSpPr txBox="1">
            <a:spLocks noChangeArrowheads="1"/>
          </p:cNvSpPr>
          <p:nvPr/>
        </p:nvSpPr>
        <p:spPr bwMode="auto">
          <a:xfrm>
            <a:off x="971550" y="1928813"/>
            <a:ext cx="7529513" cy="4000500"/>
          </a:xfrm>
          <a:prstGeom prst="rect">
            <a:avLst/>
          </a:prstGeom>
          <a:solidFill>
            <a:schemeClr val="bg2">
              <a:lumMod val="10000"/>
              <a:lumOff val="90000"/>
            </a:schemeClr>
          </a:solidFill>
          <a:ln w="9525">
            <a:noFill/>
            <a:miter lim="800000"/>
            <a:headEnd/>
            <a:tailEnd/>
          </a:ln>
          <a:effectLst>
            <a:outerShdw blurRad="50800" dist="38100" dir="2700000" algn="tl" rotWithShape="0">
              <a:prstClr val="black">
                <a:alpha val="40000"/>
              </a:prstClr>
            </a:outerShdw>
          </a:effectLst>
        </p:spPr>
        <p:txBody>
          <a:bodyPr/>
          <a:lstStyle/>
          <a:p>
            <a:pPr marL="342900" indent="-342900">
              <a:lnSpc>
                <a:spcPts val="3300"/>
              </a:lnSpc>
              <a:spcBef>
                <a:spcPct val="20000"/>
              </a:spcBef>
              <a:buClr>
                <a:schemeClr val="folHlink"/>
              </a:buClr>
              <a:buSzPct val="60000"/>
              <a:buFont typeface="Wingdings" pitchFamily="2" charset="2"/>
              <a:buNone/>
              <a:defRPr/>
            </a:pPr>
            <a:r>
              <a:rPr kumimoji="0" lang="en-US" altLang="zh-CN" sz="2000" kern="0" dirty="0">
                <a:solidFill>
                  <a:schemeClr val="tx1"/>
                </a:solidFill>
                <a:latin typeface="Arial" pitchFamily="34" charset="0"/>
                <a:ea typeface="微软雅黑" pitchFamily="34" charset="-122"/>
                <a:cs typeface="Arial" pitchFamily="34" charset="0"/>
              </a:rPr>
              <a:t>QPSK</a:t>
            </a:r>
            <a:r>
              <a:rPr kumimoji="0" lang="zh-CN" altLang="en-US" sz="2000" b="0" kern="0" dirty="0">
                <a:solidFill>
                  <a:schemeClr val="tx1"/>
                </a:solidFill>
                <a:latin typeface="Arial" pitchFamily="34" charset="0"/>
                <a:ea typeface="微软雅黑" pitchFamily="34" charset="-122"/>
                <a:cs typeface="Arial" pitchFamily="34" charset="0"/>
              </a:rPr>
              <a:t>是一个</a:t>
            </a:r>
            <a:r>
              <a:rPr kumimoji="0" lang="en-US" altLang="zh-CN" sz="2000" b="0" kern="0" dirty="0">
                <a:solidFill>
                  <a:schemeClr val="tx1"/>
                </a:solidFill>
                <a:latin typeface="Arial" pitchFamily="34" charset="0"/>
                <a:ea typeface="微软雅黑" pitchFamily="34" charset="-122"/>
                <a:cs typeface="Arial" pitchFamily="34" charset="0"/>
              </a:rPr>
              <a:t>4</a:t>
            </a:r>
            <a:r>
              <a:rPr kumimoji="0" lang="zh-CN" altLang="en-US" sz="2000" b="0" kern="0" dirty="0">
                <a:solidFill>
                  <a:schemeClr val="tx1"/>
                </a:solidFill>
                <a:latin typeface="Arial" pitchFamily="34" charset="0"/>
                <a:ea typeface="微软雅黑" pitchFamily="34" charset="-122"/>
                <a:cs typeface="Arial" pitchFamily="34" charset="0"/>
              </a:rPr>
              <a:t>相相移键控系统，它的每个码元传输</a:t>
            </a:r>
            <a:r>
              <a:rPr kumimoji="0" lang="en-US" altLang="zh-CN" sz="2000" kern="0" dirty="0">
                <a:solidFill>
                  <a:schemeClr val="tx1"/>
                </a:solidFill>
                <a:latin typeface="Arial" pitchFamily="34" charset="0"/>
                <a:ea typeface="微软雅黑" pitchFamily="34" charset="-122"/>
                <a:cs typeface="Arial" pitchFamily="34" charset="0"/>
              </a:rPr>
              <a:t>2 </a:t>
            </a:r>
            <a:r>
              <a:rPr kumimoji="0" lang="zh-CN" altLang="en-US" sz="2000" kern="0" dirty="0">
                <a:solidFill>
                  <a:schemeClr val="tx1"/>
                </a:solidFill>
                <a:latin typeface="Arial" pitchFamily="34" charset="0"/>
                <a:ea typeface="微软雅黑" pitchFamily="34" charset="-122"/>
                <a:cs typeface="Arial" pitchFamily="34" charset="0"/>
              </a:rPr>
              <a:t>比特</a:t>
            </a:r>
            <a:r>
              <a:rPr kumimoji="0" lang="zh-CN" altLang="en-US" sz="2000" b="0" kern="0" dirty="0">
                <a:solidFill>
                  <a:schemeClr val="tx1"/>
                </a:solidFill>
                <a:latin typeface="Arial" pitchFamily="34" charset="0"/>
                <a:ea typeface="微软雅黑" pitchFamily="34" charset="-122"/>
                <a:cs typeface="Arial" pitchFamily="34" charset="0"/>
              </a:rPr>
              <a:t>信息。</a:t>
            </a:r>
            <a:endParaRPr kumimoji="0" lang="en-US" altLang="zh-CN" sz="2000" b="0" kern="0" dirty="0">
              <a:solidFill>
                <a:schemeClr val="tx1"/>
              </a:solidFill>
              <a:latin typeface="Arial" pitchFamily="34" charset="0"/>
              <a:ea typeface="微软雅黑" pitchFamily="34" charset="-122"/>
              <a:cs typeface="Arial" pitchFamily="34" charset="0"/>
            </a:endParaRPr>
          </a:p>
          <a:p>
            <a:pPr marL="342900" indent="-342900">
              <a:lnSpc>
                <a:spcPts val="3300"/>
              </a:lnSpc>
              <a:spcBef>
                <a:spcPct val="20000"/>
              </a:spcBef>
              <a:buClr>
                <a:schemeClr val="folHlink"/>
              </a:buClr>
              <a:buSzPct val="60000"/>
              <a:buFont typeface="Wingdings" pitchFamily="2" charset="2"/>
              <a:buNone/>
              <a:defRPr/>
            </a:pPr>
            <a:r>
              <a:rPr kumimoji="0" lang="zh-CN" altLang="en-US" sz="2000" b="0" kern="0" dirty="0">
                <a:solidFill>
                  <a:schemeClr val="tx1"/>
                </a:solidFill>
                <a:latin typeface="Arial" pitchFamily="34" charset="0"/>
                <a:ea typeface="微软雅黑" pitchFamily="34" charset="-122"/>
                <a:cs typeface="Arial" pitchFamily="34" charset="0"/>
              </a:rPr>
              <a:t>若在接收端判决时因干扰而将信号相位错判至相邻相位，则将出</a:t>
            </a:r>
            <a:endParaRPr kumimoji="0" lang="en-US" altLang="zh-CN" sz="2000" b="0" kern="0" dirty="0">
              <a:solidFill>
                <a:schemeClr val="tx1"/>
              </a:solidFill>
              <a:latin typeface="Arial" pitchFamily="34" charset="0"/>
              <a:ea typeface="微软雅黑" pitchFamily="34" charset="-122"/>
              <a:cs typeface="Arial" pitchFamily="34" charset="0"/>
            </a:endParaRPr>
          </a:p>
          <a:p>
            <a:pPr marL="342900" indent="-342900">
              <a:lnSpc>
                <a:spcPts val="3300"/>
              </a:lnSpc>
              <a:spcBef>
                <a:spcPct val="20000"/>
              </a:spcBef>
              <a:buClr>
                <a:schemeClr val="folHlink"/>
              </a:buClr>
              <a:buSzPct val="60000"/>
              <a:buFont typeface="Wingdings" pitchFamily="2" charset="2"/>
              <a:buNone/>
              <a:defRPr/>
            </a:pPr>
            <a:r>
              <a:rPr kumimoji="0" lang="zh-CN" altLang="en-US" sz="2000" b="0" kern="0" dirty="0">
                <a:solidFill>
                  <a:schemeClr val="tx1"/>
                </a:solidFill>
                <a:latin typeface="Arial" pitchFamily="34" charset="0"/>
                <a:ea typeface="微软雅黑" pitchFamily="34" charset="-122"/>
                <a:cs typeface="Arial" pitchFamily="34" charset="0"/>
              </a:rPr>
              <a:t>现错码。</a:t>
            </a:r>
            <a:endParaRPr kumimoji="0" lang="en-US" altLang="zh-CN" sz="2000" b="0" kern="0" dirty="0">
              <a:solidFill>
                <a:schemeClr val="tx1"/>
              </a:solidFill>
              <a:latin typeface="Arial" pitchFamily="34" charset="0"/>
              <a:ea typeface="微软雅黑" pitchFamily="34" charset="-122"/>
              <a:cs typeface="Arial" pitchFamily="34" charset="0"/>
            </a:endParaRPr>
          </a:p>
          <a:p>
            <a:pPr marL="342900" indent="-342900">
              <a:lnSpc>
                <a:spcPts val="3300"/>
              </a:lnSpc>
              <a:spcBef>
                <a:spcPct val="20000"/>
              </a:spcBef>
              <a:buClr>
                <a:schemeClr val="folHlink"/>
              </a:buClr>
              <a:buSzPct val="60000"/>
              <a:buFont typeface="Wingdings" pitchFamily="2" charset="2"/>
              <a:buNone/>
              <a:defRPr/>
            </a:pPr>
            <a:r>
              <a:rPr kumimoji="0" lang="zh-CN" altLang="en-US" sz="2000" b="0" kern="0" dirty="0">
                <a:solidFill>
                  <a:schemeClr val="tx1"/>
                </a:solidFill>
                <a:latin typeface="Arial" pitchFamily="34" charset="0"/>
                <a:ea typeface="微软雅黑" pitchFamily="34" charset="-122"/>
                <a:cs typeface="Arial" pitchFamily="34" charset="0"/>
              </a:rPr>
              <a:t>现将系统改成</a:t>
            </a:r>
            <a:r>
              <a:rPr kumimoji="0" lang="en-US" altLang="zh-CN" sz="2400" kern="0" dirty="0">
                <a:solidFill>
                  <a:srgbClr val="003399"/>
                </a:solidFill>
                <a:latin typeface="Arial" pitchFamily="34" charset="0"/>
                <a:ea typeface="微软雅黑" pitchFamily="34" charset="-122"/>
                <a:cs typeface="Arial" pitchFamily="34" charset="0"/>
              </a:rPr>
              <a:t>8PSK</a:t>
            </a:r>
            <a:r>
              <a:rPr kumimoji="0" lang="zh-CN" altLang="en-US" sz="2000" b="0" kern="0" dirty="0">
                <a:solidFill>
                  <a:schemeClr val="tx1"/>
                </a:solidFill>
                <a:latin typeface="Arial" pitchFamily="34" charset="0"/>
                <a:ea typeface="微软雅黑" pitchFamily="34" charset="-122"/>
                <a:cs typeface="Arial" pitchFamily="34" charset="0"/>
              </a:rPr>
              <a:t>，它的每个码元</a:t>
            </a:r>
            <a:r>
              <a:rPr kumimoji="0" lang="zh-CN" altLang="en-US" sz="20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本</a:t>
            </a:r>
            <a:r>
              <a:rPr kumimoji="0" lang="zh-CN" altLang="en-US" sz="2000" b="0" kern="0" dirty="0">
                <a:solidFill>
                  <a:schemeClr val="tx1"/>
                </a:solidFill>
                <a:latin typeface="Arial" pitchFamily="34" charset="0"/>
                <a:ea typeface="微软雅黑" pitchFamily="34" charset="-122"/>
                <a:cs typeface="Arial" pitchFamily="34" charset="0"/>
              </a:rPr>
              <a:t>可以传输</a:t>
            </a:r>
            <a:r>
              <a:rPr kumimoji="0" lang="en-US" altLang="zh-CN" sz="2000" kern="0" dirty="0">
                <a:solidFill>
                  <a:schemeClr val="tx1"/>
                </a:solidFill>
                <a:latin typeface="Arial" pitchFamily="34" charset="0"/>
                <a:ea typeface="微软雅黑" pitchFamily="34" charset="-122"/>
                <a:cs typeface="Arial" pitchFamily="34" charset="0"/>
              </a:rPr>
              <a:t>3 </a:t>
            </a:r>
            <a:r>
              <a:rPr kumimoji="0" lang="zh-CN" altLang="en-US" sz="2000" kern="0" dirty="0">
                <a:solidFill>
                  <a:schemeClr val="tx1"/>
                </a:solidFill>
                <a:latin typeface="Arial" pitchFamily="34" charset="0"/>
                <a:ea typeface="微软雅黑" pitchFamily="34" charset="-122"/>
                <a:cs typeface="Arial" pitchFamily="34" charset="0"/>
              </a:rPr>
              <a:t>比特</a:t>
            </a:r>
            <a:r>
              <a:rPr kumimoji="0" lang="zh-CN" altLang="en-US" sz="2000" b="0" kern="0" dirty="0">
                <a:solidFill>
                  <a:schemeClr val="tx1"/>
                </a:solidFill>
                <a:latin typeface="Arial" pitchFamily="34" charset="0"/>
                <a:ea typeface="微软雅黑" pitchFamily="34" charset="-122"/>
                <a:cs typeface="Arial" pitchFamily="34" charset="0"/>
              </a:rPr>
              <a:t>信息。但</a:t>
            </a:r>
            <a:endParaRPr kumimoji="0" lang="en-US" altLang="zh-CN" sz="2000" b="0" kern="0" dirty="0">
              <a:solidFill>
                <a:schemeClr val="tx1"/>
              </a:solidFill>
              <a:latin typeface="Arial" pitchFamily="34" charset="0"/>
              <a:ea typeface="微软雅黑" pitchFamily="34" charset="-122"/>
              <a:cs typeface="Arial" pitchFamily="34" charset="0"/>
            </a:endParaRPr>
          </a:p>
          <a:p>
            <a:pPr marL="342900" indent="-342900">
              <a:lnSpc>
                <a:spcPts val="3300"/>
              </a:lnSpc>
              <a:spcBef>
                <a:spcPct val="20000"/>
              </a:spcBef>
              <a:buClr>
                <a:schemeClr val="folHlink"/>
              </a:buClr>
              <a:buSzPct val="60000"/>
              <a:buFont typeface="Wingdings" pitchFamily="2" charset="2"/>
              <a:buNone/>
              <a:defRPr/>
            </a:pPr>
            <a:r>
              <a:rPr kumimoji="0" lang="zh-CN" altLang="en-US" sz="2000" b="0" kern="0" dirty="0">
                <a:solidFill>
                  <a:schemeClr val="tx1"/>
                </a:solidFill>
                <a:latin typeface="Arial" pitchFamily="34" charset="0"/>
                <a:ea typeface="微软雅黑" pitchFamily="34" charset="-122"/>
                <a:cs typeface="Arial" pitchFamily="34" charset="0"/>
              </a:rPr>
              <a:t>是，仍令每个码元传输 </a:t>
            </a:r>
            <a:r>
              <a:rPr kumimoji="0" lang="en-US" altLang="zh-CN" sz="2000" kern="0" dirty="0">
                <a:solidFill>
                  <a:schemeClr val="tx1"/>
                </a:solidFill>
                <a:latin typeface="Arial" pitchFamily="34" charset="0"/>
                <a:ea typeface="微软雅黑" pitchFamily="34" charset="-122"/>
                <a:cs typeface="Arial" pitchFamily="34" charset="0"/>
              </a:rPr>
              <a:t>2 </a:t>
            </a:r>
            <a:r>
              <a:rPr kumimoji="0" lang="zh-CN" altLang="en-US" sz="2000" kern="0" dirty="0">
                <a:solidFill>
                  <a:schemeClr val="tx1"/>
                </a:solidFill>
                <a:latin typeface="Arial" pitchFamily="34" charset="0"/>
                <a:ea typeface="微软雅黑" pitchFamily="34" charset="-122"/>
                <a:cs typeface="Arial" pitchFamily="34" charset="0"/>
              </a:rPr>
              <a:t>比特</a:t>
            </a:r>
            <a:r>
              <a:rPr kumimoji="0" lang="zh-CN" altLang="en-US" sz="2000" b="0" kern="0" dirty="0">
                <a:solidFill>
                  <a:schemeClr val="tx1"/>
                </a:solidFill>
                <a:latin typeface="Arial" pitchFamily="34" charset="0"/>
                <a:ea typeface="微软雅黑" pitchFamily="34" charset="-122"/>
                <a:cs typeface="Arial" pitchFamily="34" charset="0"/>
              </a:rPr>
              <a:t>信息，</a:t>
            </a:r>
            <a:r>
              <a:rPr kumimoji="0" lang="zh-CN" altLang="en-US" sz="2000" kern="0" dirty="0">
                <a:solidFill>
                  <a:srgbClr val="003399"/>
                </a:solidFill>
                <a:latin typeface="Arial" pitchFamily="34" charset="0"/>
                <a:ea typeface="微软雅黑" pitchFamily="34" charset="-122"/>
                <a:cs typeface="Arial" pitchFamily="34" charset="0"/>
              </a:rPr>
              <a:t>第</a:t>
            </a:r>
            <a:r>
              <a:rPr kumimoji="0" lang="en-US" altLang="zh-CN" sz="2000" kern="0" dirty="0">
                <a:solidFill>
                  <a:srgbClr val="003399"/>
                </a:solidFill>
                <a:latin typeface="Arial" pitchFamily="34" charset="0"/>
                <a:ea typeface="微软雅黑" pitchFamily="34" charset="-122"/>
                <a:cs typeface="Arial" pitchFamily="34" charset="0"/>
              </a:rPr>
              <a:t>3 </a:t>
            </a:r>
            <a:r>
              <a:rPr kumimoji="0" lang="zh-CN" altLang="en-US" sz="2000" kern="0" dirty="0">
                <a:solidFill>
                  <a:srgbClr val="003399"/>
                </a:solidFill>
                <a:latin typeface="Arial" pitchFamily="34" charset="0"/>
                <a:ea typeface="微软雅黑" pitchFamily="34" charset="-122"/>
                <a:cs typeface="Arial" pitchFamily="34" charset="0"/>
              </a:rPr>
              <a:t>比特用于纠错码</a:t>
            </a:r>
            <a:r>
              <a:rPr kumimoji="0" lang="zh-CN" altLang="en-US" sz="2000" b="0" kern="0" dirty="0">
                <a:solidFill>
                  <a:schemeClr val="tx1"/>
                </a:solidFill>
                <a:latin typeface="Arial" pitchFamily="34" charset="0"/>
                <a:ea typeface="微软雅黑" pitchFamily="34" charset="-122"/>
                <a:cs typeface="Arial" pitchFamily="34" charset="0"/>
              </a:rPr>
              <a:t>，例如，</a:t>
            </a:r>
            <a:endParaRPr kumimoji="0" lang="en-US" altLang="zh-CN" sz="2000" b="0" kern="0" dirty="0">
              <a:solidFill>
                <a:schemeClr val="tx1"/>
              </a:solidFill>
              <a:latin typeface="Arial" pitchFamily="34" charset="0"/>
              <a:ea typeface="微软雅黑" pitchFamily="34" charset="-122"/>
              <a:cs typeface="Arial" pitchFamily="34" charset="0"/>
            </a:endParaRPr>
          </a:p>
          <a:p>
            <a:pPr marL="342900" indent="-342900">
              <a:lnSpc>
                <a:spcPts val="3300"/>
              </a:lnSpc>
              <a:spcBef>
                <a:spcPct val="20000"/>
              </a:spcBef>
              <a:buClr>
                <a:schemeClr val="folHlink"/>
              </a:buClr>
              <a:buSzPct val="60000"/>
              <a:buFont typeface="Wingdings" pitchFamily="2" charset="2"/>
              <a:buNone/>
              <a:defRPr/>
            </a:pPr>
            <a:r>
              <a:rPr kumimoji="0" lang="zh-CN" altLang="en-US" sz="2000" b="0" kern="0" dirty="0">
                <a:solidFill>
                  <a:schemeClr val="tx1"/>
                </a:solidFill>
                <a:latin typeface="Arial" pitchFamily="34" charset="0"/>
                <a:ea typeface="微软雅黑" pitchFamily="34" charset="-122"/>
                <a:cs typeface="Arial" pitchFamily="34" charset="0"/>
              </a:rPr>
              <a:t>采用码率为</a:t>
            </a:r>
            <a:r>
              <a:rPr kumimoji="0" lang="en-US" altLang="zh-CN" sz="2000" b="0" kern="0" dirty="0">
                <a:solidFill>
                  <a:schemeClr val="tx1"/>
                </a:solidFill>
                <a:latin typeface="Arial" pitchFamily="34" charset="0"/>
                <a:ea typeface="微软雅黑" pitchFamily="34" charset="-122"/>
                <a:cs typeface="Arial" pitchFamily="34" charset="0"/>
              </a:rPr>
              <a:t>2/3</a:t>
            </a:r>
            <a:r>
              <a:rPr kumimoji="0" lang="zh-CN" altLang="en-US" sz="2000" b="0" kern="0" dirty="0">
                <a:solidFill>
                  <a:schemeClr val="tx1"/>
                </a:solidFill>
                <a:latin typeface="Arial" pitchFamily="34" charset="0"/>
                <a:ea typeface="微软雅黑" pitchFamily="34" charset="-122"/>
                <a:cs typeface="Arial" pitchFamily="34" charset="0"/>
              </a:rPr>
              <a:t>的卷积码。这时，接收端的</a:t>
            </a:r>
            <a:r>
              <a:rPr kumimoji="0" lang="zh-CN" altLang="en-US" sz="2000" kern="0" dirty="0">
                <a:solidFill>
                  <a:schemeClr val="tx1"/>
                </a:solidFill>
                <a:latin typeface="Arial" pitchFamily="34" charset="0"/>
                <a:ea typeface="微软雅黑" pitchFamily="34" charset="-122"/>
                <a:cs typeface="Arial" pitchFamily="34" charset="0"/>
              </a:rPr>
              <a:t>解调</a:t>
            </a:r>
            <a:r>
              <a:rPr kumimoji="0" lang="zh-CN" altLang="en-US" sz="2000" b="0" kern="0" dirty="0">
                <a:solidFill>
                  <a:schemeClr val="tx1"/>
                </a:solidFill>
                <a:latin typeface="Arial" pitchFamily="34" charset="0"/>
                <a:ea typeface="微软雅黑" pitchFamily="34" charset="-122"/>
                <a:cs typeface="Arial" pitchFamily="34" charset="0"/>
              </a:rPr>
              <a:t>和</a:t>
            </a:r>
            <a:r>
              <a:rPr kumimoji="0" lang="zh-CN" altLang="en-US" sz="2000" kern="0" dirty="0">
                <a:solidFill>
                  <a:schemeClr val="tx1"/>
                </a:solidFill>
                <a:latin typeface="Arial" pitchFamily="34" charset="0"/>
                <a:ea typeface="微软雅黑" pitchFamily="34" charset="-122"/>
                <a:cs typeface="Arial" pitchFamily="34" charset="0"/>
              </a:rPr>
              <a:t>解码</a:t>
            </a:r>
            <a:r>
              <a:rPr kumimoji="0" lang="zh-CN" altLang="en-US" sz="2000" b="0" kern="0" dirty="0">
                <a:solidFill>
                  <a:schemeClr val="tx1"/>
                </a:solidFill>
                <a:latin typeface="Arial" pitchFamily="34" charset="0"/>
                <a:ea typeface="微软雅黑" pitchFamily="34" charset="-122"/>
                <a:cs typeface="Arial" pitchFamily="34" charset="0"/>
              </a:rPr>
              <a:t>是作为一个</a:t>
            </a:r>
            <a:endParaRPr kumimoji="0" lang="en-US" altLang="zh-CN" sz="2000" b="0" kern="0" dirty="0">
              <a:solidFill>
                <a:schemeClr val="tx1"/>
              </a:solidFill>
              <a:latin typeface="Arial" pitchFamily="34" charset="0"/>
              <a:ea typeface="微软雅黑" pitchFamily="34" charset="-122"/>
              <a:cs typeface="Arial" pitchFamily="34" charset="0"/>
            </a:endParaRPr>
          </a:p>
          <a:p>
            <a:pPr marL="342900" indent="-342900">
              <a:lnSpc>
                <a:spcPts val="3300"/>
              </a:lnSpc>
              <a:spcBef>
                <a:spcPct val="20000"/>
              </a:spcBef>
              <a:buClr>
                <a:schemeClr val="folHlink"/>
              </a:buClr>
              <a:buSzPct val="60000"/>
              <a:buFont typeface="Wingdings" pitchFamily="2" charset="2"/>
              <a:buNone/>
              <a:defRPr/>
            </a:pPr>
            <a:r>
              <a:rPr kumimoji="0" lang="zh-CN" altLang="en-US" sz="2000" b="0" kern="0" dirty="0">
                <a:solidFill>
                  <a:schemeClr val="tx1"/>
                </a:solidFill>
                <a:latin typeface="Arial" pitchFamily="34" charset="0"/>
                <a:ea typeface="微软雅黑" pitchFamily="34" charset="-122"/>
                <a:cs typeface="Arial" pitchFamily="34" charset="0"/>
              </a:rPr>
              <a:t>步骤完成的，不像传统作法，先解调得到基带信号后再为纠错去</a:t>
            </a:r>
            <a:endParaRPr kumimoji="0" lang="en-US" altLang="zh-CN" sz="2000" b="0" kern="0" dirty="0">
              <a:solidFill>
                <a:schemeClr val="tx1"/>
              </a:solidFill>
              <a:latin typeface="Arial" pitchFamily="34" charset="0"/>
              <a:ea typeface="微软雅黑" pitchFamily="34" charset="-122"/>
              <a:cs typeface="Arial" pitchFamily="34" charset="0"/>
            </a:endParaRPr>
          </a:p>
          <a:p>
            <a:pPr marL="342900" indent="-342900">
              <a:lnSpc>
                <a:spcPts val="3300"/>
              </a:lnSpc>
              <a:spcBef>
                <a:spcPct val="20000"/>
              </a:spcBef>
              <a:buClr>
                <a:schemeClr val="folHlink"/>
              </a:buClr>
              <a:buSzPct val="60000"/>
              <a:buFont typeface="Wingdings" pitchFamily="2" charset="2"/>
              <a:buNone/>
              <a:defRPr/>
            </a:pPr>
            <a:r>
              <a:rPr kumimoji="0" lang="zh-CN" altLang="en-US" sz="2000" b="0" kern="0" dirty="0">
                <a:solidFill>
                  <a:schemeClr val="tx1"/>
                </a:solidFill>
                <a:latin typeface="Arial" pitchFamily="34" charset="0"/>
                <a:ea typeface="微软雅黑" pitchFamily="34" charset="-122"/>
                <a:cs typeface="Arial" pitchFamily="34" charset="0"/>
              </a:rPr>
              <a:t>解码。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up)">
                                      <p:cBhvr>
                                        <p:cTn id="7" dur="1000"/>
                                        <p:tgtEl>
                                          <p:spTgt spid="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up)">
                                      <p:cBhvr>
                                        <p:cTn id="12" dur="1000"/>
                                        <p:tgtEl>
                                          <p:spTgt spid="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up)">
                                      <p:cBhvr>
                                        <p:cTn id="17" dur="1000"/>
                                        <p:tgtEl>
                                          <p:spTgt spid="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up)">
                                      <p:cBhvr>
                                        <p:cTn id="22" dur="1000"/>
                                        <p:tgtEl>
                                          <p:spTgt spid="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up)">
                                      <p:cBhvr>
                                        <p:cTn id="27" dur="1000"/>
                                        <p:tgtEl>
                                          <p:spTgt spid="6">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wipe(up)">
                                      <p:cBhvr>
                                        <p:cTn id="32" dur="1000"/>
                                        <p:tgtEl>
                                          <p:spTgt spid="6">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wipe(up)">
                                      <p:cBhvr>
                                        <p:cTn id="37" dur="1000"/>
                                        <p:tgtEl>
                                          <p:spTgt spid="6">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wipe(up)">
                                      <p:cBhvr>
                                        <p:cTn id="42" dur="10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矩形 98">
            <a:extLst>
              <a:ext uri="{FF2B5EF4-FFF2-40B4-BE49-F238E27FC236}">
                <a16:creationId xmlns:a16="http://schemas.microsoft.com/office/drawing/2014/main" id="{8BA99409-13C4-3136-41DD-D3839184AA80}"/>
              </a:ext>
            </a:extLst>
          </p:cNvPr>
          <p:cNvSpPr/>
          <p:nvPr/>
        </p:nvSpPr>
        <p:spPr>
          <a:xfrm>
            <a:off x="957263" y="3163888"/>
            <a:ext cx="7572375" cy="2908300"/>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marL="342900" indent="-342900">
              <a:lnSpc>
                <a:spcPct val="150000"/>
              </a:lnSpc>
              <a:spcBef>
                <a:spcPct val="20000"/>
              </a:spcBef>
              <a:buClr>
                <a:srgbClr val="3333CC"/>
              </a:buClr>
              <a:buSzPct val="60000"/>
              <a:defRPr/>
            </a:pPr>
            <a:r>
              <a:rPr kumimoji="0" lang="zh-CN" altLang="en-US" sz="2000" b="0" kern="0" dirty="0">
                <a:solidFill>
                  <a:srgbClr val="000000"/>
                </a:solidFill>
                <a:latin typeface="Arial" charset="0"/>
                <a:ea typeface="微软雅黑" pitchFamily="34" charset="-122"/>
                <a:cs typeface="Arial" charset="0"/>
              </a:rPr>
              <a:t>右图示出了</a:t>
            </a:r>
            <a:r>
              <a:rPr kumimoji="0" lang="en-US" altLang="zh-CN" sz="2000" b="0" kern="0" dirty="0">
                <a:solidFill>
                  <a:srgbClr val="000000"/>
                </a:solidFill>
                <a:latin typeface="Arial" charset="0"/>
                <a:ea typeface="微软雅黑" pitchFamily="34" charset="-122"/>
                <a:cs typeface="Arial" charset="0"/>
              </a:rPr>
              <a:t>8PSK</a:t>
            </a:r>
            <a:r>
              <a:rPr kumimoji="0" lang="zh-CN" altLang="en-US" sz="2000" b="0" kern="0" dirty="0">
                <a:solidFill>
                  <a:srgbClr val="000000"/>
                </a:solidFill>
                <a:latin typeface="Arial" charset="0"/>
                <a:ea typeface="微软雅黑" pitchFamily="34" charset="-122"/>
                <a:cs typeface="Arial" charset="0"/>
              </a:rPr>
              <a:t>信号 </a:t>
            </a:r>
            <a:endParaRPr kumimoji="0" lang="en-US" altLang="zh-CN" sz="2000" b="0" kern="0" dirty="0">
              <a:solidFill>
                <a:srgbClr val="000000"/>
              </a:solidFill>
              <a:latin typeface="Arial" charset="0"/>
              <a:ea typeface="微软雅黑" pitchFamily="34" charset="-122"/>
              <a:cs typeface="Arial" charset="0"/>
            </a:endParaRPr>
          </a:p>
          <a:p>
            <a:pPr marL="342900" indent="-342900">
              <a:lnSpc>
                <a:spcPct val="150000"/>
              </a:lnSpc>
              <a:spcBef>
                <a:spcPct val="20000"/>
              </a:spcBef>
              <a:buClr>
                <a:srgbClr val="3333CC"/>
              </a:buClr>
              <a:buSzPct val="60000"/>
              <a:defRPr/>
            </a:pPr>
            <a:r>
              <a:rPr kumimoji="0" lang="zh-CN" altLang="en-US" sz="2000" b="0" kern="0" dirty="0">
                <a:solidFill>
                  <a:srgbClr val="000000"/>
                </a:solidFill>
                <a:latin typeface="Arial" charset="0"/>
                <a:ea typeface="微软雅黑" pitchFamily="34" charset="-122"/>
                <a:cs typeface="Arial" charset="0"/>
              </a:rPr>
              <a:t>星座图中的</a:t>
            </a:r>
            <a:r>
              <a:rPr kumimoji="0" lang="en-US" altLang="zh-CN" sz="2000" b="0" kern="0" dirty="0">
                <a:solidFill>
                  <a:srgbClr val="000000"/>
                </a:solidFill>
                <a:latin typeface="Arial" charset="0"/>
                <a:ea typeface="微软雅黑" pitchFamily="34" charset="-122"/>
                <a:cs typeface="Arial" charset="0"/>
              </a:rPr>
              <a:t>8</a:t>
            </a:r>
            <a:r>
              <a:rPr kumimoji="0" lang="zh-CN" altLang="en-US" sz="2000" b="0" kern="0" dirty="0">
                <a:solidFill>
                  <a:srgbClr val="000000"/>
                </a:solidFill>
                <a:latin typeface="Arial" charset="0"/>
                <a:ea typeface="微软雅黑" pitchFamily="34" charset="-122"/>
                <a:cs typeface="Arial" charset="0"/>
              </a:rPr>
              <a:t>个信号点：</a:t>
            </a:r>
            <a:endParaRPr kumimoji="0" lang="en-US" altLang="zh-CN" sz="2000" b="0" kern="0" dirty="0">
              <a:solidFill>
                <a:srgbClr val="000000"/>
              </a:solidFill>
              <a:latin typeface="Arial" charset="0"/>
              <a:ea typeface="微软雅黑" pitchFamily="34" charset="-122"/>
              <a:cs typeface="Arial" charset="0"/>
            </a:endParaRPr>
          </a:p>
          <a:p>
            <a:pPr marL="342900" indent="-342900">
              <a:lnSpc>
                <a:spcPct val="150000"/>
              </a:lnSpc>
              <a:spcBef>
                <a:spcPct val="20000"/>
              </a:spcBef>
              <a:buClr>
                <a:srgbClr val="3333CC"/>
              </a:buClr>
              <a:buSzPct val="60000"/>
              <a:defRPr/>
            </a:pPr>
            <a:r>
              <a:rPr kumimoji="0" lang="zh-CN" altLang="en-US" sz="2000" b="0" kern="0" dirty="0">
                <a:solidFill>
                  <a:srgbClr val="000000"/>
                </a:solidFill>
                <a:latin typeface="Arial" charset="0"/>
                <a:ea typeface="微软雅黑" pitchFamily="34" charset="-122"/>
                <a:cs typeface="Arial" charset="0"/>
              </a:rPr>
              <a:t>假设信号振幅等于</a:t>
            </a:r>
            <a:r>
              <a:rPr kumimoji="0" lang="en-US" altLang="zh-CN" sz="2000" b="0" kern="0" dirty="0">
                <a:solidFill>
                  <a:srgbClr val="000000"/>
                </a:solidFill>
                <a:latin typeface="Arial" charset="0"/>
                <a:ea typeface="微软雅黑" pitchFamily="34" charset="-122"/>
                <a:cs typeface="Arial" charset="0"/>
              </a:rPr>
              <a:t>1</a:t>
            </a:r>
            <a:r>
              <a:rPr kumimoji="0" lang="zh-CN" altLang="en-US" sz="2000" b="0" kern="0" dirty="0">
                <a:solidFill>
                  <a:srgbClr val="000000"/>
                </a:solidFill>
                <a:latin typeface="Arial" charset="0"/>
                <a:ea typeface="微软雅黑" pitchFamily="34" charset="-122"/>
                <a:cs typeface="Arial" charset="0"/>
              </a:rPr>
              <a:t>，	</a:t>
            </a:r>
            <a:endParaRPr kumimoji="0" lang="en-US" altLang="zh-CN" sz="2000" b="0" kern="0" dirty="0">
              <a:solidFill>
                <a:srgbClr val="000000"/>
              </a:solidFill>
              <a:latin typeface="Arial" charset="0"/>
              <a:ea typeface="微软雅黑" pitchFamily="34" charset="-122"/>
              <a:cs typeface="Arial" charset="0"/>
            </a:endParaRPr>
          </a:p>
          <a:p>
            <a:pPr marL="342900" indent="-342900">
              <a:lnSpc>
                <a:spcPct val="150000"/>
              </a:lnSpc>
              <a:spcBef>
                <a:spcPct val="20000"/>
              </a:spcBef>
              <a:buClr>
                <a:srgbClr val="3333CC"/>
              </a:buClr>
              <a:buSzPct val="60000"/>
              <a:defRPr/>
            </a:pPr>
            <a:r>
              <a:rPr kumimoji="0" lang="zh-CN" altLang="en-US" sz="2000" b="0" kern="0" dirty="0">
                <a:solidFill>
                  <a:srgbClr val="000000"/>
                </a:solidFill>
                <a:latin typeface="Arial" charset="0"/>
                <a:ea typeface="微软雅黑" pitchFamily="34" charset="-122"/>
                <a:cs typeface="Arial" charset="0"/>
              </a:rPr>
              <a:t>则相邻两信号点的</a:t>
            </a:r>
            <a:endParaRPr kumimoji="0" lang="en-US" altLang="zh-CN" sz="2000" b="0" kern="0" dirty="0">
              <a:solidFill>
                <a:srgbClr val="000000"/>
              </a:solidFill>
              <a:latin typeface="Arial" charset="0"/>
              <a:ea typeface="微软雅黑" pitchFamily="34" charset="-122"/>
              <a:cs typeface="Arial" charset="0"/>
            </a:endParaRPr>
          </a:p>
          <a:p>
            <a:pPr marL="342900" indent="-342900">
              <a:lnSpc>
                <a:spcPct val="150000"/>
              </a:lnSpc>
              <a:spcBef>
                <a:spcPct val="20000"/>
              </a:spcBef>
              <a:buClr>
                <a:srgbClr val="3333CC"/>
              </a:buClr>
              <a:buSzPct val="60000"/>
              <a:defRPr/>
            </a:pPr>
            <a:r>
              <a:rPr kumimoji="0" lang="zh-CN" altLang="en-US" sz="2000" b="0" kern="0" dirty="0">
                <a:solidFill>
                  <a:srgbClr val="000000"/>
                </a:solidFill>
                <a:latin typeface="Arial" charset="0"/>
                <a:ea typeface="微软雅黑" pitchFamily="34" charset="-122"/>
                <a:cs typeface="Arial" charset="0"/>
              </a:rPr>
              <a:t>欧氏距离</a:t>
            </a:r>
            <a:r>
              <a:rPr kumimoji="0" lang="en-US" altLang="zh-CN" sz="2000" b="0" i="1" kern="0" dirty="0">
                <a:solidFill>
                  <a:srgbClr val="000000"/>
                </a:solidFill>
                <a:latin typeface="Arial" charset="0"/>
                <a:ea typeface="微软雅黑" pitchFamily="34" charset="-122"/>
                <a:cs typeface="Arial" charset="0"/>
              </a:rPr>
              <a:t>d</a:t>
            </a:r>
            <a:r>
              <a:rPr kumimoji="0" lang="en-US" altLang="zh-CN" sz="2000" b="0" kern="0" baseline="-25000" dirty="0">
                <a:solidFill>
                  <a:srgbClr val="000000"/>
                </a:solidFill>
                <a:latin typeface="Arial" charset="0"/>
                <a:ea typeface="微软雅黑" pitchFamily="34" charset="-122"/>
                <a:cs typeface="Arial" charset="0"/>
              </a:rPr>
              <a:t>0</a:t>
            </a:r>
            <a:r>
              <a:rPr kumimoji="0" lang="en-US" altLang="zh-CN" sz="2000" b="0" kern="0" dirty="0">
                <a:solidFill>
                  <a:srgbClr val="000000"/>
                </a:solidFill>
                <a:latin typeface="Arial" charset="0"/>
                <a:ea typeface="微软雅黑" pitchFamily="34" charset="-122"/>
                <a:cs typeface="Arial" charset="0"/>
              </a:rPr>
              <a:t>=0.765</a:t>
            </a:r>
            <a:r>
              <a:rPr kumimoji="0" lang="zh-CN" altLang="en-US" sz="3000" b="0" kern="0" dirty="0">
                <a:solidFill>
                  <a:srgbClr val="000000"/>
                </a:solidFill>
                <a:latin typeface="Tahoma"/>
                <a:ea typeface="微软雅黑" pitchFamily="34" charset="-122"/>
                <a:cs typeface="Arial" charset="0"/>
              </a:rPr>
              <a:t> </a:t>
            </a:r>
          </a:p>
        </p:txBody>
      </p:sp>
      <p:grpSp>
        <p:nvGrpSpPr>
          <p:cNvPr id="2" name="Group 6">
            <a:extLst>
              <a:ext uri="{FF2B5EF4-FFF2-40B4-BE49-F238E27FC236}">
                <a16:creationId xmlns:a16="http://schemas.microsoft.com/office/drawing/2014/main" id="{50486365-51D6-AC27-6354-E631FACBF831}"/>
              </a:ext>
            </a:extLst>
          </p:cNvPr>
          <p:cNvGrpSpPr>
            <a:grpSpLocks/>
          </p:cNvGrpSpPr>
          <p:nvPr/>
        </p:nvGrpSpPr>
        <p:grpSpPr bwMode="auto">
          <a:xfrm>
            <a:off x="4000500" y="3357563"/>
            <a:ext cx="4429125" cy="2643187"/>
            <a:chOff x="5868" y="11619"/>
            <a:chExt cx="5161" cy="3108"/>
          </a:xfrm>
        </p:grpSpPr>
        <p:sp>
          <p:nvSpPr>
            <p:cNvPr id="160773" name="Oval 7">
              <a:extLst>
                <a:ext uri="{FF2B5EF4-FFF2-40B4-BE49-F238E27FC236}">
                  <a16:creationId xmlns:a16="http://schemas.microsoft.com/office/drawing/2014/main" id="{B2179B57-539D-2CE7-F154-3DE027671775}"/>
                </a:ext>
              </a:extLst>
            </p:cNvPr>
            <p:cNvSpPr>
              <a:spLocks noChangeArrowheads="1"/>
            </p:cNvSpPr>
            <p:nvPr/>
          </p:nvSpPr>
          <p:spPr bwMode="auto">
            <a:xfrm>
              <a:off x="6507" y="13707"/>
              <a:ext cx="132" cy="150"/>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nvGrpSpPr>
            <p:cNvPr id="160774" name="Group 8">
              <a:extLst>
                <a:ext uri="{FF2B5EF4-FFF2-40B4-BE49-F238E27FC236}">
                  <a16:creationId xmlns:a16="http://schemas.microsoft.com/office/drawing/2014/main" id="{F9BA0212-9FE9-17ED-D741-3A298DEA03A7}"/>
                </a:ext>
              </a:extLst>
            </p:cNvPr>
            <p:cNvGrpSpPr>
              <a:grpSpLocks/>
            </p:cNvGrpSpPr>
            <p:nvPr/>
          </p:nvGrpSpPr>
          <p:grpSpPr bwMode="auto">
            <a:xfrm>
              <a:off x="6659" y="11619"/>
              <a:ext cx="514" cy="1151"/>
              <a:chOff x="6749" y="11649"/>
              <a:chExt cx="514" cy="1151"/>
            </a:xfrm>
          </p:grpSpPr>
          <p:sp>
            <p:nvSpPr>
              <p:cNvPr id="160799" name="Text Box 9">
                <a:extLst>
                  <a:ext uri="{FF2B5EF4-FFF2-40B4-BE49-F238E27FC236}">
                    <a16:creationId xmlns:a16="http://schemas.microsoft.com/office/drawing/2014/main" id="{D23F9B9B-BB5B-D01D-D228-C695C42C77F3}"/>
                  </a:ext>
                </a:extLst>
              </p:cNvPr>
              <p:cNvSpPr txBox="1">
                <a:spLocks noChangeArrowheads="1"/>
              </p:cNvSpPr>
              <p:nvPr/>
            </p:nvSpPr>
            <p:spPr bwMode="auto">
              <a:xfrm>
                <a:off x="6749" y="11991"/>
                <a:ext cx="514" cy="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rPr>
                  <a:t>1</a:t>
                </a:r>
              </a:p>
            </p:txBody>
          </p:sp>
          <p:grpSp>
            <p:nvGrpSpPr>
              <p:cNvPr id="160800" name="Group 10">
                <a:extLst>
                  <a:ext uri="{FF2B5EF4-FFF2-40B4-BE49-F238E27FC236}">
                    <a16:creationId xmlns:a16="http://schemas.microsoft.com/office/drawing/2014/main" id="{51651A58-0DCC-F15E-C4FF-0E3273A6AF18}"/>
                  </a:ext>
                </a:extLst>
              </p:cNvPr>
              <p:cNvGrpSpPr>
                <a:grpSpLocks/>
              </p:cNvGrpSpPr>
              <p:nvPr/>
            </p:nvGrpSpPr>
            <p:grpSpPr bwMode="auto">
              <a:xfrm>
                <a:off x="7104" y="11649"/>
                <a:ext cx="62" cy="1151"/>
                <a:chOff x="8169" y="10542"/>
                <a:chExt cx="62" cy="1151"/>
              </a:xfrm>
            </p:grpSpPr>
            <p:sp>
              <p:nvSpPr>
                <p:cNvPr id="160801" name="Oval 11">
                  <a:extLst>
                    <a:ext uri="{FF2B5EF4-FFF2-40B4-BE49-F238E27FC236}">
                      <a16:creationId xmlns:a16="http://schemas.microsoft.com/office/drawing/2014/main" id="{1F064005-705F-C422-F915-F089D28C3255}"/>
                    </a:ext>
                  </a:extLst>
                </p:cNvPr>
                <p:cNvSpPr>
                  <a:spLocks noChangeArrowheads="1"/>
                </p:cNvSpPr>
                <p:nvPr/>
              </p:nvSpPr>
              <p:spPr bwMode="auto">
                <a:xfrm>
                  <a:off x="8169" y="11630"/>
                  <a:ext cx="62" cy="6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0802" name="Line 12">
                  <a:extLst>
                    <a:ext uri="{FF2B5EF4-FFF2-40B4-BE49-F238E27FC236}">
                      <a16:creationId xmlns:a16="http://schemas.microsoft.com/office/drawing/2014/main" id="{AA7B38DB-0A56-FAB7-DC88-80B3929B1378}"/>
                    </a:ext>
                  </a:extLst>
                </p:cNvPr>
                <p:cNvSpPr>
                  <a:spLocks noChangeShapeType="1"/>
                </p:cNvSpPr>
                <p:nvPr/>
              </p:nvSpPr>
              <p:spPr bwMode="auto">
                <a:xfrm flipV="1">
                  <a:off x="8202" y="10542"/>
                  <a:ext cx="24" cy="1128"/>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60775" name="Group 13">
              <a:extLst>
                <a:ext uri="{FF2B5EF4-FFF2-40B4-BE49-F238E27FC236}">
                  <a16:creationId xmlns:a16="http://schemas.microsoft.com/office/drawing/2014/main" id="{D60A9388-661F-0316-3947-3455C38A9190}"/>
                </a:ext>
              </a:extLst>
            </p:cNvPr>
            <p:cNvGrpSpPr>
              <a:grpSpLocks/>
            </p:cNvGrpSpPr>
            <p:nvPr/>
          </p:nvGrpSpPr>
          <p:grpSpPr bwMode="auto">
            <a:xfrm>
              <a:off x="5868" y="11619"/>
              <a:ext cx="5161" cy="3108"/>
              <a:chOff x="5958" y="11649"/>
              <a:chExt cx="5161" cy="3108"/>
            </a:xfrm>
          </p:grpSpPr>
          <p:sp>
            <p:nvSpPr>
              <p:cNvPr id="160783" name="Oval 14">
                <a:extLst>
                  <a:ext uri="{FF2B5EF4-FFF2-40B4-BE49-F238E27FC236}">
                    <a16:creationId xmlns:a16="http://schemas.microsoft.com/office/drawing/2014/main" id="{98B93213-4971-4964-AFA9-839930450B02}"/>
                  </a:ext>
                </a:extLst>
              </p:cNvPr>
              <p:cNvSpPr>
                <a:spLocks noChangeArrowheads="1"/>
              </p:cNvSpPr>
              <p:nvPr/>
            </p:nvSpPr>
            <p:spPr bwMode="auto">
              <a:xfrm>
                <a:off x="5958" y="11649"/>
                <a:ext cx="2342" cy="2253"/>
              </a:xfrm>
              <a:prstGeom prst="ellipse">
                <a:avLst/>
              </a:prstGeom>
              <a:noFill/>
              <a:ln w="9525" algn="ctr">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r>
                  <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rPr>
                  <a:t> </a:t>
                </a:r>
              </a:p>
            </p:txBody>
          </p:sp>
          <p:grpSp>
            <p:nvGrpSpPr>
              <p:cNvPr id="160784" name="Group 15">
                <a:extLst>
                  <a:ext uri="{FF2B5EF4-FFF2-40B4-BE49-F238E27FC236}">
                    <a16:creationId xmlns:a16="http://schemas.microsoft.com/office/drawing/2014/main" id="{A9B84269-D106-11AE-B6E6-67DB1DB9BCF5}"/>
                  </a:ext>
                </a:extLst>
              </p:cNvPr>
              <p:cNvGrpSpPr>
                <a:grpSpLocks/>
              </p:cNvGrpSpPr>
              <p:nvPr/>
            </p:nvGrpSpPr>
            <p:grpSpPr bwMode="auto">
              <a:xfrm>
                <a:off x="8364" y="12315"/>
                <a:ext cx="2755" cy="927"/>
                <a:chOff x="7864" y="11118"/>
                <a:chExt cx="2755" cy="927"/>
              </a:xfrm>
            </p:grpSpPr>
            <p:sp>
              <p:nvSpPr>
                <p:cNvPr id="160793" name="Text Box 16">
                  <a:extLst>
                    <a:ext uri="{FF2B5EF4-FFF2-40B4-BE49-F238E27FC236}">
                      <a16:creationId xmlns:a16="http://schemas.microsoft.com/office/drawing/2014/main" id="{007F30E9-863E-D10B-8455-1AABBB3AAA29}"/>
                    </a:ext>
                  </a:extLst>
                </p:cNvPr>
                <p:cNvSpPr txBox="1">
                  <a:spLocks noChangeArrowheads="1"/>
                </p:cNvSpPr>
                <p:nvPr/>
              </p:nvSpPr>
              <p:spPr bwMode="auto">
                <a:xfrm>
                  <a:off x="7864" y="11380"/>
                  <a:ext cx="2755" cy="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rgbClr val="0000CC"/>
                      </a:solidFill>
                      <a:latin typeface="Arial" panose="020B0604020202020204" pitchFamily="34" charset="0"/>
                      <a:ea typeface="微软雅黑" panose="020B0503020204020204" pitchFamily="34" charset="-122"/>
                      <a:cs typeface="Arial" panose="020B0604020202020204" pitchFamily="34" charset="0"/>
                    </a:rPr>
                    <a:t>d</a:t>
                  </a:r>
                  <a:r>
                    <a:rPr lang="en-US" altLang="zh-CN" sz="1800" baseline="-25000">
                      <a:solidFill>
                        <a:srgbClr val="0000CC"/>
                      </a:solidFill>
                      <a:latin typeface="Arial" panose="020B0604020202020204" pitchFamily="34" charset="0"/>
                      <a:ea typeface="微软雅黑" panose="020B0503020204020204" pitchFamily="34" charset="-122"/>
                      <a:cs typeface="Arial" panose="020B0604020202020204" pitchFamily="34" charset="0"/>
                    </a:rPr>
                    <a:t>0</a:t>
                  </a:r>
                  <a:r>
                    <a:rPr lang="en-US" altLang="zh-CN" sz="1800">
                      <a:solidFill>
                        <a:srgbClr val="0000CC"/>
                      </a:solidFill>
                      <a:latin typeface="Arial" panose="020B0604020202020204" pitchFamily="34" charset="0"/>
                      <a:ea typeface="微软雅黑" panose="020B0503020204020204" pitchFamily="34" charset="-122"/>
                      <a:cs typeface="Arial" panose="020B0604020202020204" pitchFamily="34" charset="0"/>
                    </a:rPr>
                    <a:t>= 2sin(</a:t>
                  </a:r>
                  <a:r>
                    <a:rPr lang="en-US" altLang="zh-CN" sz="1800">
                      <a:solidFill>
                        <a:srgbClr val="0000CC"/>
                      </a:solidFill>
                      <a:latin typeface="Arial" panose="020B0604020202020204" pitchFamily="34" charset="0"/>
                      <a:ea typeface="微软雅黑" panose="020B0503020204020204" pitchFamily="34" charset="-122"/>
                      <a:cs typeface="Arial" panose="020B0604020202020204" pitchFamily="34" charset="0"/>
                      <a:sym typeface="Symbol" panose="05050102010706020507" pitchFamily="18" charset="2"/>
                    </a:rPr>
                    <a:t></a:t>
                  </a:r>
                  <a:r>
                    <a:rPr lang="en-US" altLang="zh-CN" sz="1800">
                      <a:solidFill>
                        <a:srgbClr val="0000CC"/>
                      </a:solidFill>
                      <a:latin typeface="Arial" panose="020B0604020202020204" pitchFamily="34" charset="0"/>
                      <a:ea typeface="微软雅黑" panose="020B0503020204020204" pitchFamily="34" charset="-122"/>
                      <a:cs typeface="Arial" panose="020B0604020202020204" pitchFamily="34" charset="0"/>
                    </a:rPr>
                    <a:t>/8) = 0.765</a:t>
                  </a:r>
                </a:p>
              </p:txBody>
            </p:sp>
            <p:grpSp>
              <p:nvGrpSpPr>
                <p:cNvPr id="160794" name="Group 17">
                  <a:extLst>
                    <a:ext uri="{FF2B5EF4-FFF2-40B4-BE49-F238E27FC236}">
                      <a16:creationId xmlns:a16="http://schemas.microsoft.com/office/drawing/2014/main" id="{BFBCC358-4611-0364-35C4-9007AE4D1203}"/>
                    </a:ext>
                  </a:extLst>
                </p:cNvPr>
                <p:cNvGrpSpPr>
                  <a:grpSpLocks/>
                </p:cNvGrpSpPr>
                <p:nvPr/>
              </p:nvGrpSpPr>
              <p:grpSpPr bwMode="auto">
                <a:xfrm>
                  <a:off x="7900" y="11118"/>
                  <a:ext cx="452" cy="927"/>
                  <a:chOff x="9466" y="11208"/>
                  <a:chExt cx="452" cy="927"/>
                </a:xfrm>
              </p:grpSpPr>
              <p:sp>
                <p:nvSpPr>
                  <p:cNvPr id="160795" name="Line 18">
                    <a:extLst>
                      <a:ext uri="{FF2B5EF4-FFF2-40B4-BE49-F238E27FC236}">
                        <a16:creationId xmlns:a16="http://schemas.microsoft.com/office/drawing/2014/main" id="{D8BD784C-F4E5-C48E-2B65-5F409A746A08}"/>
                      </a:ext>
                    </a:extLst>
                  </p:cNvPr>
                  <p:cNvSpPr>
                    <a:spLocks noChangeShapeType="1"/>
                  </p:cNvSpPr>
                  <p:nvPr/>
                </p:nvSpPr>
                <p:spPr bwMode="auto">
                  <a:xfrm>
                    <a:off x="9466" y="11208"/>
                    <a:ext cx="452" cy="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0796" name="Line 19">
                    <a:extLst>
                      <a:ext uri="{FF2B5EF4-FFF2-40B4-BE49-F238E27FC236}">
                        <a16:creationId xmlns:a16="http://schemas.microsoft.com/office/drawing/2014/main" id="{258A6752-6D17-ECEC-33A7-B1F05A8BA7E3}"/>
                      </a:ext>
                    </a:extLst>
                  </p:cNvPr>
                  <p:cNvSpPr>
                    <a:spLocks noChangeShapeType="1"/>
                  </p:cNvSpPr>
                  <p:nvPr/>
                </p:nvSpPr>
                <p:spPr bwMode="auto">
                  <a:xfrm>
                    <a:off x="9466" y="12132"/>
                    <a:ext cx="42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0797" name="Line 20">
                    <a:extLst>
                      <a:ext uri="{FF2B5EF4-FFF2-40B4-BE49-F238E27FC236}">
                        <a16:creationId xmlns:a16="http://schemas.microsoft.com/office/drawing/2014/main" id="{4DFB1774-A989-48A1-709F-19C2AEBA30BA}"/>
                      </a:ext>
                    </a:extLst>
                  </p:cNvPr>
                  <p:cNvSpPr>
                    <a:spLocks noChangeShapeType="1"/>
                  </p:cNvSpPr>
                  <p:nvPr/>
                </p:nvSpPr>
                <p:spPr bwMode="auto">
                  <a:xfrm>
                    <a:off x="9678" y="11805"/>
                    <a:ext cx="0" cy="33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0798" name="Line 21">
                    <a:extLst>
                      <a:ext uri="{FF2B5EF4-FFF2-40B4-BE49-F238E27FC236}">
                        <a16:creationId xmlns:a16="http://schemas.microsoft.com/office/drawing/2014/main" id="{25A34ECD-E897-A770-761A-92769BBD1547}"/>
                      </a:ext>
                    </a:extLst>
                  </p:cNvPr>
                  <p:cNvSpPr>
                    <a:spLocks noChangeShapeType="1"/>
                  </p:cNvSpPr>
                  <p:nvPr/>
                </p:nvSpPr>
                <p:spPr bwMode="auto">
                  <a:xfrm flipV="1">
                    <a:off x="9666" y="11208"/>
                    <a:ext cx="0" cy="26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60785" name="Group 22">
                <a:extLst>
                  <a:ext uri="{FF2B5EF4-FFF2-40B4-BE49-F238E27FC236}">
                    <a16:creationId xmlns:a16="http://schemas.microsoft.com/office/drawing/2014/main" id="{546AD92D-958A-B7AA-4FF6-DCA73C357270}"/>
                  </a:ext>
                </a:extLst>
              </p:cNvPr>
              <p:cNvGrpSpPr>
                <a:grpSpLocks/>
              </p:cNvGrpSpPr>
              <p:nvPr/>
            </p:nvGrpSpPr>
            <p:grpSpPr bwMode="auto">
              <a:xfrm>
                <a:off x="6848" y="13389"/>
                <a:ext cx="2023" cy="1368"/>
                <a:chOff x="6348" y="12192"/>
                <a:chExt cx="2023" cy="1368"/>
              </a:xfrm>
            </p:grpSpPr>
            <p:sp>
              <p:nvSpPr>
                <p:cNvPr id="160786" name="Line 23">
                  <a:extLst>
                    <a:ext uri="{FF2B5EF4-FFF2-40B4-BE49-F238E27FC236}">
                      <a16:creationId xmlns:a16="http://schemas.microsoft.com/office/drawing/2014/main" id="{583D4C3C-477C-FF05-9009-762BA1E246FA}"/>
                    </a:ext>
                  </a:extLst>
                </p:cNvPr>
                <p:cNvSpPr>
                  <a:spLocks noChangeShapeType="1"/>
                </p:cNvSpPr>
                <p:nvPr/>
              </p:nvSpPr>
              <p:spPr bwMode="auto">
                <a:xfrm>
                  <a:off x="6348" y="12846"/>
                  <a:ext cx="362" cy="71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0787" name="Line 24">
                  <a:extLst>
                    <a:ext uri="{FF2B5EF4-FFF2-40B4-BE49-F238E27FC236}">
                      <a16:creationId xmlns:a16="http://schemas.microsoft.com/office/drawing/2014/main" id="{58FB8C89-9BC3-7F43-9C8B-29FDBCBC3218}"/>
                    </a:ext>
                  </a:extLst>
                </p:cNvPr>
                <p:cNvSpPr>
                  <a:spLocks noChangeShapeType="1"/>
                </p:cNvSpPr>
                <p:nvPr/>
              </p:nvSpPr>
              <p:spPr bwMode="auto">
                <a:xfrm>
                  <a:off x="7814" y="12192"/>
                  <a:ext cx="362" cy="71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60788" name="Group 25">
                  <a:extLst>
                    <a:ext uri="{FF2B5EF4-FFF2-40B4-BE49-F238E27FC236}">
                      <a16:creationId xmlns:a16="http://schemas.microsoft.com/office/drawing/2014/main" id="{3CAAAD84-0461-DF3F-425F-CD64451C83DA}"/>
                    </a:ext>
                  </a:extLst>
                </p:cNvPr>
                <p:cNvGrpSpPr>
                  <a:grpSpLocks/>
                </p:cNvGrpSpPr>
                <p:nvPr/>
              </p:nvGrpSpPr>
              <p:grpSpPr bwMode="auto">
                <a:xfrm>
                  <a:off x="6865" y="12790"/>
                  <a:ext cx="1506" cy="481"/>
                  <a:chOff x="6403" y="12916"/>
                  <a:chExt cx="1506" cy="481"/>
                </a:xfrm>
              </p:grpSpPr>
              <p:sp>
                <p:nvSpPr>
                  <p:cNvPr id="160791" name="Text Box 26">
                    <a:extLst>
                      <a:ext uri="{FF2B5EF4-FFF2-40B4-BE49-F238E27FC236}">
                        <a16:creationId xmlns:a16="http://schemas.microsoft.com/office/drawing/2014/main" id="{00C18D1F-9B8E-0816-9178-B4FE7C9681D8}"/>
                      </a:ext>
                    </a:extLst>
                  </p:cNvPr>
                  <p:cNvSpPr txBox="1">
                    <a:spLocks noChangeArrowheads="1"/>
                  </p:cNvSpPr>
                  <p:nvPr/>
                </p:nvSpPr>
                <p:spPr bwMode="auto">
                  <a:xfrm>
                    <a:off x="6403" y="12916"/>
                    <a:ext cx="1506" cy="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rgbClr val="0000CC"/>
                        </a:solidFill>
                        <a:latin typeface="Arial" panose="020B0604020202020204" pitchFamily="34" charset="0"/>
                        <a:ea typeface="微软雅黑" panose="020B0503020204020204" pitchFamily="34" charset="-122"/>
                        <a:cs typeface="Arial" panose="020B0604020202020204" pitchFamily="34" charset="0"/>
                      </a:rPr>
                      <a:t>d</a:t>
                    </a:r>
                    <a:r>
                      <a:rPr lang="en-US" altLang="zh-CN" sz="1800" baseline="-25000">
                        <a:solidFill>
                          <a:srgbClr val="0000CC"/>
                        </a:solidFill>
                        <a:latin typeface="Arial" panose="020B0604020202020204" pitchFamily="34" charset="0"/>
                        <a:ea typeface="微软雅黑" panose="020B0503020204020204" pitchFamily="34" charset="-122"/>
                        <a:cs typeface="Arial" panose="020B0604020202020204" pitchFamily="34" charset="0"/>
                      </a:rPr>
                      <a:t>1</a:t>
                    </a:r>
                    <a:r>
                      <a:rPr lang="en-US" altLang="zh-CN" sz="1800">
                        <a:solidFill>
                          <a:srgbClr val="0000CC"/>
                        </a:solidFill>
                        <a:latin typeface="Arial" panose="020B0604020202020204" pitchFamily="34" charset="0"/>
                        <a:ea typeface="微软雅黑" panose="020B0503020204020204" pitchFamily="34" charset="-122"/>
                        <a:cs typeface="Arial" panose="020B0604020202020204" pitchFamily="34" charset="0"/>
                      </a:rPr>
                      <a:t> = √2</a:t>
                    </a:r>
                  </a:p>
                </p:txBody>
              </p:sp>
              <p:sp>
                <p:nvSpPr>
                  <p:cNvPr id="160792" name="Line 27">
                    <a:extLst>
                      <a:ext uri="{FF2B5EF4-FFF2-40B4-BE49-F238E27FC236}">
                        <a16:creationId xmlns:a16="http://schemas.microsoft.com/office/drawing/2014/main" id="{F2C313B8-20A0-A8CF-4A1E-7B18009399BD}"/>
                      </a:ext>
                    </a:extLst>
                  </p:cNvPr>
                  <p:cNvSpPr>
                    <a:spLocks noChangeShapeType="1"/>
                  </p:cNvSpPr>
                  <p:nvPr/>
                </p:nvSpPr>
                <p:spPr bwMode="auto">
                  <a:xfrm>
                    <a:off x="7203" y="12957"/>
                    <a:ext cx="124" cy="0"/>
                  </a:xfrm>
                  <a:prstGeom prst="line">
                    <a:avLst/>
                  </a:prstGeom>
                  <a:noFill/>
                  <a:ln w="9525">
                    <a:solidFill>
                      <a:srgbClr val="00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0789" name="Line 28">
                  <a:extLst>
                    <a:ext uri="{FF2B5EF4-FFF2-40B4-BE49-F238E27FC236}">
                      <a16:creationId xmlns:a16="http://schemas.microsoft.com/office/drawing/2014/main" id="{5C15EBCA-EB3D-1645-FF99-B9B076E85E24}"/>
                    </a:ext>
                  </a:extLst>
                </p:cNvPr>
                <p:cNvSpPr>
                  <a:spLocks noChangeShapeType="1"/>
                </p:cNvSpPr>
                <p:nvPr/>
              </p:nvSpPr>
              <p:spPr bwMode="auto">
                <a:xfrm flipV="1">
                  <a:off x="7612" y="12573"/>
                  <a:ext cx="402" cy="2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0790" name="Line 29">
                  <a:extLst>
                    <a:ext uri="{FF2B5EF4-FFF2-40B4-BE49-F238E27FC236}">
                      <a16:creationId xmlns:a16="http://schemas.microsoft.com/office/drawing/2014/main" id="{767316B2-57FF-4A05-1F7A-54DD05285BF7}"/>
                    </a:ext>
                  </a:extLst>
                </p:cNvPr>
                <p:cNvSpPr>
                  <a:spLocks noChangeShapeType="1"/>
                </p:cNvSpPr>
                <p:nvPr/>
              </p:nvSpPr>
              <p:spPr bwMode="auto">
                <a:xfrm flipV="1">
                  <a:off x="6622" y="13086"/>
                  <a:ext cx="402" cy="213"/>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60776" name="Oval 30">
              <a:extLst>
                <a:ext uri="{FF2B5EF4-FFF2-40B4-BE49-F238E27FC236}">
                  <a16:creationId xmlns:a16="http://schemas.microsoft.com/office/drawing/2014/main" id="{5D1413E8-76FC-762F-5699-20825EDC728B}"/>
                </a:ext>
              </a:extLst>
            </p:cNvPr>
            <p:cNvSpPr>
              <a:spLocks noChangeArrowheads="1"/>
            </p:cNvSpPr>
            <p:nvPr/>
          </p:nvSpPr>
          <p:spPr bwMode="auto">
            <a:xfrm>
              <a:off x="6507" y="11622"/>
              <a:ext cx="132" cy="150"/>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0777" name="Oval 31">
              <a:extLst>
                <a:ext uri="{FF2B5EF4-FFF2-40B4-BE49-F238E27FC236}">
                  <a16:creationId xmlns:a16="http://schemas.microsoft.com/office/drawing/2014/main" id="{4084AAEF-4812-B2CC-4FEC-FDC86C39B068}"/>
                </a:ext>
              </a:extLst>
            </p:cNvPr>
            <p:cNvSpPr>
              <a:spLocks noChangeArrowheads="1"/>
            </p:cNvSpPr>
            <p:nvPr/>
          </p:nvSpPr>
          <p:spPr bwMode="auto">
            <a:xfrm>
              <a:off x="5922" y="12207"/>
              <a:ext cx="132" cy="150"/>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0778" name="Oval 32">
              <a:extLst>
                <a:ext uri="{FF2B5EF4-FFF2-40B4-BE49-F238E27FC236}">
                  <a16:creationId xmlns:a16="http://schemas.microsoft.com/office/drawing/2014/main" id="{C685EEFD-FE46-6C16-D9F6-65BFA0235999}"/>
                </a:ext>
              </a:extLst>
            </p:cNvPr>
            <p:cNvSpPr>
              <a:spLocks noChangeArrowheads="1"/>
            </p:cNvSpPr>
            <p:nvPr/>
          </p:nvSpPr>
          <p:spPr bwMode="auto">
            <a:xfrm>
              <a:off x="5907" y="13107"/>
              <a:ext cx="132" cy="150"/>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0779" name="Oval 33">
              <a:extLst>
                <a:ext uri="{FF2B5EF4-FFF2-40B4-BE49-F238E27FC236}">
                  <a16:creationId xmlns:a16="http://schemas.microsoft.com/office/drawing/2014/main" id="{2A0FC192-D132-BA5A-A9C9-DB9ADEE8B966}"/>
                </a:ext>
              </a:extLst>
            </p:cNvPr>
            <p:cNvSpPr>
              <a:spLocks noChangeArrowheads="1"/>
            </p:cNvSpPr>
            <p:nvPr/>
          </p:nvSpPr>
          <p:spPr bwMode="auto">
            <a:xfrm>
              <a:off x="7452" y="13692"/>
              <a:ext cx="132" cy="150"/>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0780" name="Oval 34">
              <a:extLst>
                <a:ext uri="{FF2B5EF4-FFF2-40B4-BE49-F238E27FC236}">
                  <a16:creationId xmlns:a16="http://schemas.microsoft.com/office/drawing/2014/main" id="{F38E607A-5241-446B-1796-166D4B9DFB41}"/>
                </a:ext>
              </a:extLst>
            </p:cNvPr>
            <p:cNvSpPr>
              <a:spLocks noChangeArrowheads="1"/>
            </p:cNvSpPr>
            <p:nvPr/>
          </p:nvSpPr>
          <p:spPr bwMode="auto">
            <a:xfrm>
              <a:off x="8052" y="13137"/>
              <a:ext cx="132" cy="150"/>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0781" name="Oval 35">
              <a:extLst>
                <a:ext uri="{FF2B5EF4-FFF2-40B4-BE49-F238E27FC236}">
                  <a16:creationId xmlns:a16="http://schemas.microsoft.com/office/drawing/2014/main" id="{C4F58BCB-B886-C6F2-D661-AF950489DD2D}"/>
                </a:ext>
              </a:extLst>
            </p:cNvPr>
            <p:cNvSpPr>
              <a:spLocks noChangeArrowheads="1"/>
            </p:cNvSpPr>
            <p:nvPr/>
          </p:nvSpPr>
          <p:spPr bwMode="auto">
            <a:xfrm>
              <a:off x="8037" y="12237"/>
              <a:ext cx="132" cy="150"/>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0782" name="Oval 36">
              <a:extLst>
                <a:ext uri="{FF2B5EF4-FFF2-40B4-BE49-F238E27FC236}">
                  <a16:creationId xmlns:a16="http://schemas.microsoft.com/office/drawing/2014/main" id="{3125627C-3588-05A0-7198-2A6F5A8E22DB}"/>
                </a:ext>
              </a:extLst>
            </p:cNvPr>
            <p:cNvSpPr>
              <a:spLocks noChangeArrowheads="1"/>
            </p:cNvSpPr>
            <p:nvPr/>
          </p:nvSpPr>
          <p:spPr bwMode="auto">
            <a:xfrm>
              <a:off x="7482" y="11652"/>
              <a:ext cx="132" cy="150"/>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pic>
        <p:nvPicPr>
          <p:cNvPr id="161827" name="Picture 35">
            <a:extLst>
              <a:ext uri="{FF2B5EF4-FFF2-40B4-BE49-F238E27FC236}">
                <a16:creationId xmlns:a16="http://schemas.microsoft.com/office/drawing/2014/main" id="{3127402D-AAE9-EAEF-D440-837BAE4F0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263" y="1089025"/>
            <a:ext cx="7786687" cy="170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61827"/>
                                        </p:tgtEl>
                                        <p:attrNameLst>
                                          <p:attrName>style.visibility</p:attrName>
                                        </p:attrNameLst>
                                      </p:cBhvr>
                                      <p:to>
                                        <p:strVal val="visible"/>
                                      </p:to>
                                    </p:set>
                                    <p:animEffect transition="in" filter="wipe(up)">
                                      <p:cBhvr>
                                        <p:cTn id="7" dur="1000"/>
                                        <p:tgtEl>
                                          <p:spTgt spid="1618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99"/>
                                        </p:tgtEl>
                                        <p:attrNameLst>
                                          <p:attrName>style.visibility</p:attrName>
                                        </p:attrNameLst>
                                      </p:cBhvr>
                                      <p:to>
                                        <p:strVal val="visible"/>
                                      </p:to>
                                    </p:set>
                                    <p:animEffect transition="in" filter="wipe(up)">
                                      <p:cBhvr>
                                        <p:cTn id="12" dur="1000"/>
                                        <p:tgtEl>
                                          <p:spTgt spid="99"/>
                                        </p:tgtEl>
                                      </p:cBhvr>
                                    </p:animEffect>
                                  </p:childTnLst>
                                </p:cTn>
                              </p:par>
                              <p:par>
                                <p:cTn id="13" presetID="22" presetClass="entr" presetSubtype="8"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3" name="Rectangle 3">
            <a:extLst>
              <a:ext uri="{FF2B5EF4-FFF2-40B4-BE49-F238E27FC236}">
                <a16:creationId xmlns:a16="http://schemas.microsoft.com/office/drawing/2014/main" id="{0363D6CA-4027-0FF8-0413-1ED93B9F74B1}"/>
              </a:ext>
            </a:extLst>
          </p:cNvPr>
          <p:cNvSpPr>
            <a:spLocks noGrp="1" noChangeArrowheads="1"/>
          </p:cNvSpPr>
          <p:nvPr>
            <p:ph type="body" idx="1"/>
          </p:nvPr>
        </p:nvSpPr>
        <p:spPr>
          <a:xfrm>
            <a:off x="984250" y="1223963"/>
            <a:ext cx="7516813" cy="1133475"/>
          </a:xfrm>
        </p:spPr>
        <p:txBody>
          <a:bodyPr/>
          <a:lstStyle/>
          <a:p>
            <a:pPr eaLnBrk="1" hangingPunct="1">
              <a:lnSpc>
                <a:spcPct val="150000"/>
              </a:lnSpc>
              <a:buFont typeface="Wingdings" panose="05000000000000000000" pitchFamily="2" charset="2"/>
              <a:buNone/>
            </a:pPr>
            <a:r>
              <a:rPr lang="zh-CN" altLang="en-US" sz="2000">
                <a:latin typeface="Arial" panose="020B0604020202020204" pitchFamily="34" charset="0"/>
                <a:ea typeface="微软雅黑" panose="020B0503020204020204" pitchFamily="34" charset="-122"/>
                <a:cs typeface="Arial" panose="020B0604020202020204" pitchFamily="34" charset="0"/>
              </a:rPr>
              <a:t>两个信号序列的欧氏距离越大，即它们的差别越大，则因干扰造</a:t>
            </a:r>
            <a:endParaRPr lang="en-US" altLang="zh-CN" sz="2000">
              <a:latin typeface="Arial" panose="020B0604020202020204" pitchFamily="34" charset="0"/>
              <a:ea typeface="微软雅黑" panose="020B0503020204020204" pitchFamily="34" charset="-122"/>
              <a:cs typeface="Arial" panose="020B0604020202020204" pitchFamily="34" charset="0"/>
            </a:endParaRPr>
          </a:p>
          <a:p>
            <a:pPr eaLnBrk="1" hangingPunct="1">
              <a:lnSpc>
                <a:spcPct val="150000"/>
              </a:lnSpc>
              <a:buFont typeface="Wingdings" panose="05000000000000000000" pitchFamily="2" charset="2"/>
              <a:buNone/>
            </a:pPr>
            <a:r>
              <a:rPr lang="zh-CN" altLang="en-US" sz="2000">
                <a:latin typeface="Arial" panose="020B0604020202020204" pitchFamily="34" charset="0"/>
                <a:ea typeface="微软雅黑" panose="020B0503020204020204" pitchFamily="34" charset="-122"/>
                <a:cs typeface="Arial" panose="020B0604020202020204" pitchFamily="34" charset="0"/>
              </a:rPr>
              <a:t>成互相混淆的可能性越小。</a:t>
            </a:r>
          </a:p>
        </p:txBody>
      </p:sp>
      <p:sp>
        <p:nvSpPr>
          <p:cNvPr id="3" name="Rectangle 3">
            <a:extLst>
              <a:ext uri="{FF2B5EF4-FFF2-40B4-BE49-F238E27FC236}">
                <a16:creationId xmlns:a16="http://schemas.microsoft.com/office/drawing/2014/main" id="{CA341FA8-1456-B34E-8A25-BA24D94E1F5E}"/>
              </a:ext>
            </a:extLst>
          </p:cNvPr>
          <p:cNvSpPr txBox="1">
            <a:spLocks noChangeArrowheads="1"/>
          </p:cNvSpPr>
          <p:nvPr/>
        </p:nvSpPr>
        <p:spPr bwMode="auto">
          <a:xfrm>
            <a:off x="1000125" y="3357563"/>
            <a:ext cx="7516813" cy="1714500"/>
          </a:xfrm>
          <a:prstGeom prst="rect">
            <a:avLst/>
          </a:prstGeom>
          <a:noFill/>
          <a:ln w="9525">
            <a:noFill/>
            <a:miter lim="800000"/>
            <a:headEnd/>
            <a:tailEnd/>
          </a:ln>
        </p:spPr>
        <p:txBody>
          <a:bodyPr/>
          <a:lstStyle/>
          <a:p>
            <a:pPr marL="342900" indent="-342900">
              <a:lnSpc>
                <a:spcPct val="150000"/>
              </a:lnSpc>
              <a:spcBef>
                <a:spcPct val="20000"/>
              </a:spcBef>
              <a:buClr>
                <a:schemeClr val="folHlink"/>
              </a:buClr>
              <a:buSzPct val="60000"/>
              <a:buFont typeface="Wingdings" pitchFamily="2" charset="2"/>
              <a:buNone/>
              <a:defRPr/>
            </a:pPr>
            <a:r>
              <a:rPr kumimoji="0" lang="zh-CN" altLang="en-US" sz="2000" b="0" kern="0" dirty="0">
                <a:solidFill>
                  <a:schemeClr val="tx1"/>
                </a:solidFill>
                <a:latin typeface="Arial" pitchFamily="34" charset="0"/>
                <a:ea typeface="微软雅黑" pitchFamily="34" charset="-122"/>
                <a:cs typeface="Arial" pitchFamily="34" charset="0"/>
              </a:rPr>
              <a:t>为了利用卷积码维特比解码的优点，这时仍然需要用到网格图。</a:t>
            </a:r>
            <a:endParaRPr kumimoji="0" lang="en-US" altLang="zh-CN" sz="2000" b="0" kern="0" dirty="0">
              <a:solidFill>
                <a:schemeClr val="tx1"/>
              </a:solidFill>
              <a:latin typeface="Arial" pitchFamily="34" charset="0"/>
              <a:ea typeface="微软雅黑" pitchFamily="34" charset="-122"/>
              <a:cs typeface="Arial" pitchFamily="34" charset="0"/>
            </a:endParaRPr>
          </a:p>
          <a:p>
            <a:pPr marL="342900" indent="-342900">
              <a:lnSpc>
                <a:spcPct val="150000"/>
              </a:lnSpc>
              <a:spcBef>
                <a:spcPct val="20000"/>
              </a:spcBef>
              <a:buClr>
                <a:schemeClr val="folHlink"/>
              </a:buClr>
              <a:buSzPct val="60000"/>
              <a:buFont typeface="Wingdings" pitchFamily="2" charset="2"/>
              <a:buNone/>
              <a:defRPr/>
            </a:pPr>
            <a:r>
              <a:rPr kumimoji="0" lang="zh-CN" altLang="en-US" sz="2000" b="0" kern="0" dirty="0">
                <a:solidFill>
                  <a:schemeClr val="tx1"/>
                </a:solidFill>
                <a:latin typeface="Arial" pitchFamily="34" charset="0"/>
                <a:ea typeface="微软雅黑" pitchFamily="34" charset="-122"/>
                <a:cs typeface="Arial" pitchFamily="34" charset="0"/>
              </a:rPr>
              <a:t>但是，和卷积码维特比解码时的网格图相比，在</a:t>
            </a:r>
            <a:r>
              <a:rPr kumimoji="0" lang="en-US" altLang="zh-CN" sz="2000" b="0" kern="0" dirty="0">
                <a:solidFill>
                  <a:schemeClr val="tx1"/>
                </a:solidFill>
                <a:latin typeface="Arial" pitchFamily="34" charset="0"/>
                <a:ea typeface="微软雅黑" pitchFamily="34" charset="-122"/>
                <a:cs typeface="Arial" pitchFamily="34" charset="0"/>
              </a:rPr>
              <a:t>TCM</a:t>
            </a:r>
            <a:r>
              <a:rPr kumimoji="0" lang="zh-CN" altLang="en-US" sz="2000" b="0" kern="0" dirty="0">
                <a:solidFill>
                  <a:schemeClr val="tx1"/>
                </a:solidFill>
                <a:latin typeface="Arial" pitchFamily="34" charset="0"/>
                <a:ea typeface="微软雅黑" pitchFamily="34" charset="-122"/>
                <a:cs typeface="Arial" pitchFamily="34" charset="0"/>
              </a:rPr>
              <a:t>中是将这些</a:t>
            </a:r>
            <a:endParaRPr kumimoji="0" lang="en-US" altLang="zh-CN" sz="2000" b="0" kern="0" dirty="0">
              <a:solidFill>
                <a:schemeClr val="tx1"/>
              </a:solidFill>
              <a:latin typeface="Arial" pitchFamily="34" charset="0"/>
              <a:ea typeface="微软雅黑" pitchFamily="34" charset="-122"/>
              <a:cs typeface="Arial" pitchFamily="34" charset="0"/>
            </a:endParaRPr>
          </a:p>
          <a:p>
            <a:pPr marL="342900" indent="-342900">
              <a:lnSpc>
                <a:spcPct val="150000"/>
              </a:lnSpc>
              <a:spcBef>
                <a:spcPct val="20000"/>
              </a:spcBef>
              <a:buClr>
                <a:schemeClr val="folHlink"/>
              </a:buClr>
              <a:buSzPct val="60000"/>
              <a:buFont typeface="Wingdings" pitchFamily="2" charset="2"/>
              <a:buNone/>
              <a:defRPr/>
            </a:pPr>
            <a:r>
              <a:rPr kumimoji="0" lang="zh-CN" altLang="en-US" sz="2000" b="0" kern="0" dirty="0">
                <a:solidFill>
                  <a:schemeClr val="tx1"/>
                </a:solidFill>
                <a:latin typeface="Arial" pitchFamily="34" charset="0"/>
                <a:ea typeface="微软雅黑" pitchFamily="34" charset="-122"/>
                <a:cs typeface="Arial" pitchFamily="34" charset="0"/>
              </a:rPr>
              <a:t>波形映射为网格图，故</a:t>
            </a:r>
            <a:r>
              <a:rPr kumimoji="0" lang="en-US" altLang="zh-CN" sz="2000" b="0" kern="0" dirty="0">
                <a:solidFill>
                  <a:schemeClr val="tx1"/>
                </a:solidFill>
                <a:latin typeface="Arial" pitchFamily="34" charset="0"/>
                <a:ea typeface="微软雅黑" pitchFamily="34" charset="-122"/>
                <a:cs typeface="Arial" pitchFamily="34" charset="0"/>
              </a:rPr>
              <a:t>TCM</a:t>
            </a:r>
            <a:r>
              <a:rPr kumimoji="0" lang="zh-CN" altLang="en-US" sz="2000" b="0" kern="0" dirty="0">
                <a:solidFill>
                  <a:schemeClr val="tx1"/>
                </a:solidFill>
                <a:latin typeface="Arial" pitchFamily="34" charset="0"/>
                <a:ea typeface="微软雅黑" pitchFamily="34" charset="-122"/>
                <a:cs typeface="Arial" pitchFamily="34" charset="0"/>
              </a:rPr>
              <a:t>网格图中的各状态是波形的状态。</a:t>
            </a:r>
          </a:p>
        </p:txBody>
      </p:sp>
      <p:sp>
        <p:nvSpPr>
          <p:cNvPr id="4" name="Rectangle 3">
            <a:extLst>
              <a:ext uri="{FF2B5EF4-FFF2-40B4-BE49-F238E27FC236}">
                <a16:creationId xmlns:a16="http://schemas.microsoft.com/office/drawing/2014/main" id="{5F891943-417C-A70E-3222-D90982B635C4}"/>
              </a:ext>
            </a:extLst>
          </p:cNvPr>
          <p:cNvSpPr txBox="1">
            <a:spLocks noChangeArrowheads="1"/>
          </p:cNvSpPr>
          <p:nvPr/>
        </p:nvSpPr>
        <p:spPr bwMode="auto">
          <a:xfrm>
            <a:off x="1000125" y="2428875"/>
            <a:ext cx="7516813" cy="642938"/>
          </a:xfrm>
          <a:prstGeom prst="rect">
            <a:avLst/>
          </a:prstGeom>
          <a:noFill/>
          <a:ln w="9525">
            <a:noFill/>
            <a:miter lim="800000"/>
            <a:headEnd/>
            <a:tailEnd/>
          </a:ln>
        </p:spPr>
        <p:txBody>
          <a:bodyPr/>
          <a:lstStyle/>
          <a:p>
            <a:pPr marL="342900" indent="-342900">
              <a:lnSpc>
                <a:spcPct val="150000"/>
              </a:lnSpc>
              <a:spcBef>
                <a:spcPct val="20000"/>
              </a:spcBef>
              <a:buClr>
                <a:schemeClr val="folHlink"/>
              </a:buClr>
              <a:buSzPct val="60000"/>
              <a:buFont typeface="Wingdings" pitchFamily="2" charset="2"/>
              <a:buNone/>
              <a:defRPr/>
            </a:pPr>
            <a:r>
              <a:rPr kumimoji="0" lang="zh-CN" altLang="en-US" sz="2000" b="0" kern="0" dirty="0">
                <a:solidFill>
                  <a:schemeClr val="tx1"/>
                </a:solidFill>
                <a:latin typeface="Arial" pitchFamily="34" charset="0"/>
                <a:ea typeface="微软雅黑" pitchFamily="34" charset="-122"/>
                <a:cs typeface="Arial" pitchFamily="34" charset="0"/>
              </a:rPr>
              <a:t>图中的信号点代表某个确定相位的已调信号波形。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63843">
                                            <p:txEl>
                                              <p:pRg st="0" end="0"/>
                                            </p:txEl>
                                          </p:spTgt>
                                        </p:tgtEl>
                                        <p:attrNameLst>
                                          <p:attrName>style.visibility</p:attrName>
                                        </p:attrNameLst>
                                      </p:cBhvr>
                                      <p:to>
                                        <p:strVal val="visible"/>
                                      </p:to>
                                    </p:set>
                                    <p:animEffect transition="in" filter="wipe(up)">
                                      <p:cBhvr>
                                        <p:cTn id="7" dur="1000"/>
                                        <p:tgtEl>
                                          <p:spTgt spid="163843">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163843">
                                            <p:txEl>
                                              <p:pRg st="1" end="1"/>
                                            </p:txEl>
                                          </p:spTgt>
                                        </p:tgtEl>
                                        <p:attrNameLst>
                                          <p:attrName>style.visibility</p:attrName>
                                        </p:attrNameLst>
                                      </p:cBhvr>
                                      <p:to>
                                        <p:strVal val="visible"/>
                                      </p:to>
                                    </p:set>
                                    <p:animEffect transition="in" filter="wipe(up)">
                                      <p:cBhvr>
                                        <p:cTn id="11" dur="1000"/>
                                        <p:tgtEl>
                                          <p:spTgt spid="163843">
                                            <p:txEl>
                                              <p:pRg st="1" end="1"/>
                                            </p:txEl>
                                          </p:spTgt>
                                        </p:tgtEl>
                                      </p:cBhvr>
                                    </p:animEffect>
                                  </p:childTnLst>
                                </p:cTn>
                              </p:par>
                            </p:childTnLst>
                          </p:cTn>
                        </p:par>
                        <p:par>
                          <p:cTn id="12" fill="hold" nodeType="afterGroup">
                            <p:stCondLst>
                              <p:cond delay="2000"/>
                            </p:stCondLst>
                            <p:childTnLst>
                              <p:par>
                                <p:cTn id="13" presetID="22" presetClass="entr" presetSubtype="1" fill="hold" nodeType="after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wipe(up)">
                                      <p:cBhvr>
                                        <p:cTn id="15" dur="1000"/>
                                        <p:tgtEl>
                                          <p:spTgt spid="4">
                                            <p:txEl>
                                              <p:pRg st="0" end="0"/>
                                            </p:txEl>
                                          </p:spTgt>
                                        </p:tgtEl>
                                      </p:cBhvr>
                                    </p:animEffect>
                                  </p:childTnLst>
                                </p:cTn>
                              </p:par>
                            </p:childTnLst>
                          </p:cTn>
                        </p:par>
                        <p:par>
                          <p:cTn id="16" fill="hold" nodeType="afterGroup">
                            <p:stCondLst>
                              <p:cond delay="3000"/>
                            </p:stCondLst>
                            <p:childTnLst>
                              <p:par>
                                <p:cTn id="17" presetID="22" presetClass="entr" presetSubtype="1" fill="hold" nodeType="after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wipe(up)">
                                      <p:cBhvr>
                                        <p:cTn id="19" dur="1000"/>
                                        <p:tgtEl>
                                          <p:spTgt spid="3">
                                            <p:txEl>
                                              <p:pRg st="0" end="0"/>
                                            </p:txEl>
                                          </p:spTgt>
                                        </p:tgtEl>
                                      </p:cBhvr>
                                    </p:animEffect>
                                  </p:childTnLst>
                                </p:cTn>
                              </p:par>
                            </p:childTnLst>
                          </p:cTn>
                        </p:par>
                        <p:par>
                          <p:cTn id="20" fill="hold" nodeType="afterGroup">
                            <p:stCondLst>
                              <p:cond delay="4000"/>
                            </p:stCondLst>
                            <p:childTnLst>
                              <p:par>
                                <p:cTn id="21" presetID="22" presetClass="entr" presetSubtype="1" fill="hold" nodeType="after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Effect transition="in" filter="wipe(up)">
                                      <p:cBhvr>
                                        <p:cTn id="23" dur="1000"/>
                                        <p:tgtEl>
                                          <p:spTgt spid="3">
                                            <p:txEl>
                                              <p:pRg st="1" end="1"/>
                                            </p:txEl>
                                          </p:spTgt>
                                        </p:tgtEl>
                                      </p:cBhvr>
                                    </p:animEffect>
                                  </p:childTnLst>
                                </p:cTn>
                              </p:par>
                            </p:childTnLst>
                          </p:cTn>
                        </p:par>
                        <p:par>
                          <p:cTn id="24" fill="hold" nodeType="afterGroup">
                            <p:stCondLst>
                              <p:cond delay="5000"/>
                            </p:stCondLst>
                            <p:childTnLst>
                              <p:par>
                                <p:cTn id="25" presetID="22" presetClass="entr" presetSubtype="1" fill="hold" nodeType="after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wipe(up)">
                                      <p:cBhvr>
                                        <p:cTn id="27"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6">
            <a:extLst>
              <a:ext uri="{FF2B5EF4-FFF2-40B4-BE49-F238E27FC236}">
                <a16:creationId xmlns:a16="http://schemas.microsoft.com/office/drawing/2014/main" id="{7E6262FC-A7AA-1FBE-E1B3-D51BBAFABF4E}"/>
              </a:ext>
            </a:extLst>
          </p:cNvPr>
          <p:cNvGrpSpPr>
            <a:grpSpLocks/>
          </p:cNvGrpSpPr>
          <p:nvPr/>
        </p:nvGrpSpPr>
        <p:grpSpPr bwMode="auto">
          <a:xfrm>
            <a:off x="3071813" y="2386013"/>
            <a:ext cx="6000750" cy="3829050"/>
            <a:chOff x="2653" y="2018"/>
            <a:chExt cx="2484" cy="1731"/>
          </a:xfrm>
        </p:grpSpPr>
        <p:grpSp>
          <p:nvGrpSpPr>
            <p:cNvPr id="162831" name="Group 45">
              <a:extLst>
                <a:ext uri="{FF2B5EF4-FFF2-40B4-BE49-F238E27FC236}">
                  <a16:creationId xmlns:a16="http://schemas.microsoft.com/office/drawing/2014/main" id="{F9B248B7-149F-650B-9FAD-CDAD061AA479}"/>
                </a:ext>
              </a:extLst>
            </p:cNvPr>
            <p:cNvGrpSpPr>
              <a:grpSpLocks/>
            </p:cNvGrpSpPr>
            <p:nvPr/>
          </p:nvGrpSpPr>
          <p:grpSpPr bwMode="auto">
            <a:xfrm>
              <a:off x="2653" y="2018"/>
              <a:ext cx="2484" cy="1731"/>
              <a:chOff x="2653" y="2018"/>
              <a:chExt cx="2484" cy="1731"/>
            </a:xfrm>
          </p:grpSpPr>
          <p:grpSp>
            <p:nvGrpSpPr>
              <p:cNvPr id="162837" name="Group 44">
                <a:extLst>
                  <a:ext uri="{FF2B5EF4-FFF2-40B4-BE49-F238E27FC236}">
                    <a16:creationId xmlns:a16="http://schemas.microsoft.com/office/drawing/2014/main" id="{C0D4FFFE-E54E-8201-0FBE-B5CD646D4D90}"/>
                  </a:ext>
                </a:extLst>
              </p:cNvPr>
              <p:cNvGrpSpPr>
                <a:grpSpLocks/>
              </p:cNvGrpSpPr>
              <p:nvPr/>
            </p:nvGrpSpPr>
            <p:grpSpPr bwMode="auto">
              <a:xfrm>
                <a:off x="2653" y="2025"/>
                <a:ext cx="2484" cy="1724"/>
                <a:chOff x="2653" y="2025"/>
                <a:chExt cx="2484" cy="1724"/>
              </a:xfrm>
            </p:grpSpPr>
            <p:pic>
              <p:nvPicPr>
                <p:cNvPr id="162855" name="Picture 9" descr="TCM相位图">
                  <a:extLst>
                    <a:ext uri="{FF2B5EF4-FFF2-40B4-BE49-F238E27FC236}">
                      <a16:creationId xmlns:a16="http://schemas.microsoft.com/office/drawing/2014/main" id="{07A2EEE2-C7B6-62E5-8744-DBE52D8F97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3" y="2025"/>
                  <a:ext cx="2484" cy="1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2856" name="Group 33">
                  <a:extLst>
                    <a:ext uri="{FF2B5EF4-FFF2-40B4-BE49-F238E27FC236}">
                      <a16:creationId xmlns:a16="http://schemas.microsoft.com/office/drawing/2014/main" id="{8A05EC2D-55B2-E20A-2599-82F8CCD51F1B}"/>
                    </a:ext>
                  </a:extLst>
                </p:cNvPr>
                <p:cNvGrpSpPr>
                  <a:grpSpLocks/>
                </p:cNvGrpSpPr>
                <p:nvPr/>
              </p:nvGrpSpPr>
              <p:grpSpPr bwMode="auto">
                <a:xfrm>
                  <a:off x="2877" y="2074"/>
                  <a:ext cx="2073" cy="1009"/>
                  <a:chOff x="4570" y="2130"/>
                  <a:chExt cx="5184" cy="2522"/>
                </a:xfrm>
              </p:grpSpPr>
              <p:sp>
                <p:nvSpPr>
                  <p:cNvPr id="162858" name="Text Box 34">
                    <a:extLst>
                      <a:ext uri="{FF2B5EF4-FFF2-40B4-BE49-F238E27FC236}">
                        <a16:creationId xmlns:a16="http://schemas.microsoft.com/office/drawing/2014/main" id="{0E1F02D7-D757-28A6-1DAA-88B87E0AF6CE}"/>
                      </a:ext>
                    </a:extLst>
                  </p:cNvPr>
                  <p:cNvSpPr txBox="1">
                    <a:spLocks noChangeArrowheads="1"/>
                  </p:cNvSpPr>
                  <p:nvPr/>
                </p:nvSpPr>
                <p:spPr bwMode="auto">
                  <a:xfrm>
                    <a:off x="6876" y="2130"/>
                    <a:ext cx="574"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Times New Roman" panose="02020603050405020304" pitchFamily="18" charset="0"/>
                      </a:rPr>
                      <a:t>A</a:t>
                    </a:r>
                    <a:r>
                      <a:rPr lang="en-US" altLang="zh-CN" sz="1800" baseline="-25000">
                        <a:solidFill>
                          <a:schemeClr val="tx1"/>
                        </a:solidFill>
                        <a:latin typeface="Times New Roman" panose="02020603050405020304" pitchFamily="18" charset="0"/>
                      </a:rPr>
                      <a:t>0</a:t>
                    </a:r>
                    <a:endParaRPr lang="en-US" altLang="zh-CN" sz="1800">
                      <a:solidFill>
                        <a:schemeClr val="tx1"/>
                      </a:solidFill>
                    </a:endParaRPr>
                  </a:p>
                </p:txBody>
              </p:sp>
              <p:grpSp>
                <p:nvGrpSpPr>
                  <p:cNvPr id="162859" name="Group 35">
                    <a:extLst>
                      <a:ext uri="{FF2B5EF4-FFF2-40B4-BE49-F238E27FC236}">
                        <a16:creationId xmlns:a16="http://schemas.microsoft.com/office/drawing/2014/main" id="{5F68C873-A4E2-CDBD-DBE2-D81846D68394}"/>
                      </a:ext>
                    </a:extLst>
                  </p:cNvPr>
                  <p:cNvGrpSpPr>
                    <a:grpSpLocks/>
                  </p:cNvGrpSpPr>
                  <p:nvPr/>
                </p:nvGrpSpPr>
                <p:grpSpPr bwMode="auto">
                  <a:xfrm>
                    <a:off x="5334" y="3066"/>
                    <a:ext cx="3704" cy="453"/>
                    <a:chOff x="5334" y="3066"/>
                    <a:chExt cx="3704" cy="453"/>
                  </a:xfrm>
                </p:grpSpPr>
                <p:sp>
                  <p:nvSpPr>
                    <p:cNvPr id="162865" name="Text Box 36">
                      <a:extLst>
                        <a:ext uri="{FF2B5EF4-FFF2-40B4-BE49-F238E27FC236}">
                          <a16:creationId xmlns:a16="http://schemas.microsoft.com/office/drawing/2014/main" id="{C7018B03-A9E3-6417-2A9E-A0C43E7E587C}"/>
                        </a:ext>
                      </a:extLst>
                    </p:cNvPr>
                    <p:cNvSpPr txBox="1">
                      <a:spLocks noChangeArrowheads="1"/>
                    </p:cNvSpPr>
                    <p:nvPr/>
                  </p:nvSpPr>
                  <p:spPr bwMode="auto">
                    <a:xfrm>
                      <a:off x="5334" y="3066"/>
                      <a:ext cx="574"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Times New Roman" panose="02020603050405020304" pitchFamily="18" charset="0"/>
                        </a:rPr>
                        <a:t>B</a:t>
                      </a:r>
                      <a:r>
                        <a:rPr lang="en-US" altLang="zh-CN" sz="1800" baseline="-25000">
                          <a:solidFill>
                            <a:schemeClr val="tx1"/>
                          </a:solidFill>
                          <a:latin typeface="Times New Roman" panose="02020603050405020304" pitchFamily="18" charset="0"/>
                        </a:rPr>
                        <a:t>0</a:t>
                      </a:r>
                      <a:endParaRPr lang="en-US" altLang="zh-CN" sz="1800">
                        <a:solidFill>
                          <a:schemeClr val="tx1"/>
                        </a:solidFill>
                      </a:endParaRPr>
                    </a:p>
                  </p:txBody>
                </p:sp>
                <p:sp>
                  <p:nvSpPr>
                    <p:cNvPr id="162866" name="Text Box 37">
                      <a:extLst>
                        <a:ext uri="{FF2B5EF4-FFF2-40B4-BE49-F238E27FC236}">
                          <a16:creationId xmlns:a16="http://schemas.microsoft.com/office/drawing/2014/main" id="{E07FC5A2-A78F-CE4E-AC8E-43DDC2ACF869}"/>
                        </a:ext>
                      </a:extLst>
                    </p:cNvPr>
                    <p:cNvSpPr txBox="1">
                      <a:spLocks noChangeArrowheads="1"/>
                    </p:cNvSpPr>
                    <p:nvPr/>
                  </p:nvSpPr>
                  <p:spPr bwMode="auto">
                    <a:xfrm>
                      <a:off x="8464" y="3081"/>
                      <a:ext cx="574"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Times New Roman" panose="02020603050405020304" pitchFamily="18" charset="0"/>
                        </a:rPr>
                        <a:t>B</a:t>
                      </a:r>
                      <a:r>
                        <a:rPr lang="en-US" altLang="zh-CN" sz="1800" baseline="-25000">
                          <a:solidFill>
                            <a:schemeClr val="tx1"/>
                          </a:solidFill>
                          <a:latin typeface="Times New Roman" panose="02020603050405020304" pitchFamily="18" charset="0"/>
                        </a:rPr>
                        <a:t>1</a:t>
                      </a:r>
                      <a:endParaRPr lang="en-US" altLang="zh-CN" sz="1800">
                        <a:solidFill>
                          <a:schemeClr val="tx1"/>
                        </a:solidFill>
                      </a:endParaRPr>
                    </a:p>
                  </p:txBody>
                </p:sp>
              </p:grpSp>
              <p:grpSp>
                <p:nvGrpSpPr>
                  <p:cNvPr id="162860" name="Group 38">
                    <a:extLst>
                      <a:ext uri="{FF2B5EF4-FFF2-40B4-BE49-F238E27FC236}">
                        <a16:creationId xmlns:a16="http://schemas.microsoft.com/office/drawing/2014/main" id="{AC951355-849B-931B-7D41-69F1D05AAB57}"/>
                      </a:ext>
                    </a:extLst>
                  </p:cNvPr>
                  <p:cNvGrpSpPr>
                    <a:grpSpLocks/>
                  </p:cNvGrpSpPr>
                  <p:nvPr/>
                </p:nvGrpSpPr>
                <p:grpSpPr bwMode="auto">
                  <a:xfrm>
                    <a:off x="4570" y="4213"/>
                    <a:ext cx="5184" cy="439"/>
                    <a:chOff x="4570" y="4213"/>
                    <a:chExt cx="5184" cy="439"/>
                  </a:xfrm>
                </p:grpSpPr>
                <p:sp>
                  <p:nvSpPr>
                    <p:cNvPr id="162861" name="Text Box 39">
                      <a:extLst>
                        <a:ext uri="{FF2B5EF4-FFF2-40B4-BE49-F238E27FC236}">
                          <a16:creationId xmlns:a16="http://schemas.microsoft.com/office/drawing/2014/main" id="{41DDB610-EAF7-F6C4-D56A-CEE674A703B4}"/>
                        </a:ext>
                      </a:extLst>
                    </p:cNvPr>
                    <p:cNvSpPr txBox="1">
                      <a:spLocks noChangeArrowheads="1"/>
                    </p:cNvSpPr>
                    <p:nvPr/>
                  </p:nvSpPr>
                  <p:spPr bwMode="auto">
                    <a:xfrm>
                      <a:off x="9180" y="4214"/>
                      <a:ext cx="574"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Times New Roman" panose="02020603050405020304" pitchFamily="18" charset="0"/>
                        </a:rPr>
                        <a:t>C</a:t>
                      </a:r>
                      <a:r>
                        <a:rPr lang="en-US" altLang="zh-CN" sz="1800" baseline="-25000">
                          <a:solidFill>
                            <a:schemeClr val="tx1"/>
                          </a:solidFill>
                          <a:latin typeface="Times New Roman" panose="02020603050405020304" pitchFamily="18" charset="0"/>
                        </a:rPr>
                        <a:t>3</a:t>
                      </a:r>
                      <a:endParaRPr lang="en-US" altLang="zh-CN" sz="1800">
                        <a:solidFill>
                          <a:schemeClr val="tx1"/>
                        </a:solidFill>
                      </a:endParaRPr>
                    </a:p>
                  </p:txBody>
                </p:sp>
                <p:sp>
                  <p:nvSpPr>
                    <p:cNvPr id="162862" name="Text Box 40">
                      <a:extLst>
                        <a:ext uri="{FF2B5EF4-FFF2-40B4-BE49-F238E27FC236}">
                          <a16:creationId xmlns:a16="http://schemas.microsoft.com/office/drawing/2014/main" id="{238F8E6C-D5BC-F2CB-1F1E-40150FC3DE34}"/>
                        </a:ext>
                      </a:extLst>
                    </p:cNvPr>
                    <p:cNvSpPr txBox="1">
                      <a:spLocks noChangeArrowheads="1"/>
                    </p:cNvSpPr>
                    <p:nvPr/>
                  </p:nvSpPr>
                  <p:spPr bwMode="auto">
                    <a:xfrm>
                      <a:off x="6086" y="4213"/>
                      <a:ext cx="574"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Times New Roman" panose="02020603050405020304" pitchFamily="18" charset="0"/>
                        </a:rPr>
                        <a:t>C</a:t>
                      </a:r>
                      <a:r>
                        <a:rPr lang="en-US" altLang="zh-CN" sz="1800" baseline="-25000">
                          <a:solidFill>
                            <a:schemeClr val="tx1"/>
                          </a:solidFill>
                          <a:latin typeface="Times New Roman" panose="02020603050405020304" pitchFamily="18" charset="0"/>
                        </a:rPr>
                        <a:t>1</a:t>
                      </a:r>
                      <a:endParaRPr lang="en-US" altLang="zh-CN" sz="1800">
                        <a:solidFill>
                          <a:schemeClr val="tx1"/>
                        </a:solidFill>
                      </a:endParaRPr>
                    </a:p>
                  </p:txBody>
                </p:sp>
                <p:sp>
                  <p:nvSpPr>
                    <p:cNvPr id="162863" name="Text Box 41">
                      <a:extLst>
                        <a:ext uri="{FF2B5EF4-FFF2-40B4-BE49-F238E27FC236}">
                          <a16:creationId xmlns:a16="http://schemas.microsoft.com/office/drawing/2014/main" id="{C08D1278-425D-DC4F-3D1F-2E7D78905314}"/>
                        </a:ext>
                      </a:extLst>
                    </p:cNvPr>
                    <p:cNvSpPr txBox="1">
                      <a:spLocks noChangeArrowheads="1"/>
                    </p:cNvSpPr>
                    <p:nvPr/>
                  </p:nvSpPr>
                  <p:spPr bwMode="auto">
                    <a:xfrm>
                      <a:off x="4570" y="4214"/>
                      <a:ext cx="574"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Times New Roman" panose="02020603050405020304" pitchFamily="18" charset="0"/>
                        </a:rPr>
                        <a:t>C</a:t>
                      </a:r>
                      <a:r>
                        <a:rPr lang="en-US" altLang="zh-CN" sz="1800" baseline="-25000">
                          <a:solidFill>
                            <a:schemeClr val="tx1"/>
                          </a:solidFill>
                          <a:latin typeface="Times New Roman" panose="02020603050405020304" pitchFamily="18" charset="0"/>
                        </a:rPr>
                        <a:t>0</a:t>
                      </a:r>
                      <a:endParaRPr lang="en-US" altLang="zh-CN" sz="1800">
                        <a:solidFill>
                          <a:schemeClr val="tx1"/>
                        </a:solidFill>
                      </a:endParaRPr>
                    </a:p>
                  </p:txBody>
                </p:sp>
                <p:sp>
                  <p:nvSpPr>
                    <p:cNvPr id="162864" name="Text Box 42">
                      <a:extLst>
                        <a:ext uri="{FF2B5EF4-FFF2-40B4-BE49-F238E27FC236}">
                          <a16:creationId xmlns:a16="http://schemas.microsoft.com/office/drawing/2014/main" id="{6F07D77E-D6DB-1433-749D-38424BC0D577}"/>
                        </a:ext>
                      </a:extLst>
                    </p:cNvPr>
                    <p:cNvSpPr txBox="1">
                      <a:spLocks noChangeArrowheads="1"/>
                    </p:cNvSpPr>
                    <p:nvPr/>
                  </p:nvSpPr>
                  <p:spPr bwMode="auto">
                    <a:xfrm>
                      <a:off x="7688" y="4214"/>
                      <a:ext cx="574"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Times New Roman" panose="02020603050405020304" pitchFamily="18" charset="0"/>
                        </a:rPr>
                        <a:t>C</a:t>
                      </a:r>
                      <a:r>
                        <a:rPr lang="en-US" altLang="zh-CN" sz="1800" baseline="-25000">
                          <a:solidFill>
                            <a:schemeClr val="tx1"/>
                          </a:solidFill>
                          <a:latin typeface="Times New Roman" panose="02020603050405020304" pitchFamily="18" charset="0"/>
                        </a:rPr>
                        <a:t>2</a:t>
                      </a:r>
                      <a:endParaRPr lang="en-US" altLang="zh-CN" sz="1800">
                        <a:solidFill>
                          <a:schemeClr val="tx1"/>
                        </a:solidFill>
                      </a:endParaRPr>
                    </a:p>
                  </p:txBody>
                </p:sp>
              </p:grpSp>
            </p:grpSp>
            <p:sp>
              <p:nvSpPr>
                <p:cNvPr id="162857" name="Text Box 43">
                  <a:extLst>
                    <a:ext uri="{FF2B5EF4-FFF2-40B4-BE49-F238E27FC236}">
                      <a16:creationId xmlns:a16="http://schemas.microsoft.com/office/drawing/2014/main" id="{806F42A9-7356-DB6E-8C69-1C4EE613CAB8}"/>
                    </a:ext>
                  </a:extLst>
                </p:cNvPr>
                <p:cNvSpPr txBox="1">
                  <a:spLocks noChangeArrowheads="1"/>
                </p:cNvSpPr>
                <p:nvPr/>
              </p:nvSpPr>
              <p:spPr bwMode="auto">
                <a:xfrm>
                  <a:off x="2691" y="3619"/>
                  <a:ext cx="2418" cy="13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64000"/>
                    </a:lnSpc>
                  </a:pPr>
                  <a:r>
                    <a:rPr lang="en-US" altLang="zh-CN" sz="1800">
                      <a:solidFill>
                        <a:schemeClr val="tx1"/>
                      </a:solidFill>
                      <a:latin typeface="Times New Roman" panose="02020603050405020304" pitchFamily="18" charset="0"/>
                    </a:rPr>
                    <a:t>(000)   (001)     (010)     (011)     (100)    (101)    (110)    (111)</a:t>
                  </a:r>
                  <a:endParaRPr lang="en-US" altLang="zh-CN" sz="1800">
                    <a:solidFill>
                      <a:schemeClr val="tx1"/>
                    </a:solidFill>
                  </a:endParaRPr>
                </a:p>
              </p:txBody>
            </p:sp>
          </p:grpSp>
          <p:grpSp>
            <p:nvGrpSpPr>
              <p:cNvPr id="162838" name="Group 11">
                <a:extLst>
                  <a:ext uri="{FF2B5EF4-FFF2-40B4-BE49-F238E27FC236}">
                    <a16:creationId xmlns:a16="http://schemas.microsoft.com/office/drawing/2014/main" id="{8E339652-F753-8B48-BF35-D1010389656F}"/>
                  </a:ext>
                </a:extLst>
              </p:cNvPr>
              <p:cNvGrpSpPr>
                <a:grpSpLocks/>
              </p:cNvGrpSpPr>
              <p:nvPr/>
            </p:nvGrpSpPr>
            <p:grpSpPr bwMode="auto">
              <a:xfrm>
                <a:off x="4017" y="2018"/>
                <a:ext cx="225" cy="286"/>
                <a:chOff x="8360" y="1650"/>
                <a:chExt cx="562" cy="714"/>
              </a:xfrm>
            </p:grpSpPr>
            <p:sp>
              <p:nvSpPr>
                <p:cNvPr id="162849" name="Line 12">
                  <a:extLst>
                    <a:ext uri="{FF2B5EF4-FFF2-40B4-BE49-F238E27FC236}">
                      <a16:creationId xmlns:a16="http://schemas.microsoft.com/office/drawing/2014/main" id="{83038F8F-D220-06D4-9300-25EBC08A7291}"/>
                    </a:ext>
                  </a:extLst>
                </p:cNvPr>
                <p:cNvSpPr>
                  <a:spLocks noChangeShapeType="1"/>
                </p:cNvSpPr>
                <p:nvPr/>
              </p:nvSpPr>
              <p:spPr bwMode="auto">
                <a:xfrm>
                  <a:off x="8438" y="1920"/>
                  <a:ext cx="252" cy="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62850" name="Group 13">
                  <a:extLst>
                    <a:ext uri="{FF2B5EF4-FFF2-40B4-BE49-F238E27FC236}">
                      <a16:creationId xmlns:a16="http://schemas.microsoft.com/office/drawing/2014/main" id="{A3E7B4B6-29D2-8CD0-2691-0EF66133ED14}"/>
                    </a:ext>
                  </a:extLst>
                </p:cNvPr>
                <p:cNvGrpSpPr>
                  <a:grpSpLocks/>
                </p:cNvGrpSpPr>
                <p:nvPr/>
              </p:nvGrpSpPr>
              <p:grpSpPr bwMode="auto">
                <a:xfrm>
                  <a:off x="8360" y="1650"/>
                  <a:ext cx="562" cy="714"/>
                  <a:chOff x="7324" y="1854"/>
                  <a:chExt cx="562" cy="714"/>
                </a:xfrm>
              </p:grpSpPr>
              <p:sp>
                <p:nvSpPr>
                  <p:cNvPr id="162851" name="Line 14">
                    <a:extLst>
                      <a:ext uri="{FF2B5EF4-FFF2-40B4-BE49-F238E27FC236}">
                        <a16:creationId xmlns:a16="http://schemas.microsoft.com/office/drawing/2014/main" id="{92988F5D-9165-C630-F502-CE4453BF2F0B}"/>
                      </a:ext>
                    </a:extLst>
                  </p:cNvPr>
                  <p:cNvSpPr>
                    <a:spLocks noChangeShapeType="1"/>
                  </p:cNvSpPr>
                  <p:nvPr/>
                </p:nvSpPr>
                <p:spPr bwMode="auto">
                  <a:xfrm>
                    <a:off x="7424" y="2319"/>
                    <a:ext cx="252" cy="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852" name="Line 15">
                    <a:extLst>
                      <a:ext uri="{FF2B5EF4-FFF2-40B4-BE49-F238E27FC236}">
                        <a16:creationId xmlns:a16="http://schemas.microsoft.com/office/drawing/2014/main" id="{B78A8931-8ABF-D325-B744-FBB03B5D2F6F}"/>
                      </a:ext>
                    </a:extLst>
                  </p:cNvPr>
                  <p:cNvSpPr>
                    <a:spLocks noChangeShapeType="1"/>
                  </p:cNvSpPr>
                  <p:nvPr/>
                </p:nvSpPr>
                <p:spPr bwMode="auto">
                  <a:xfrm>
                    <a:off x="7526" y="1854"/>
                    <a:ext cx="0" cy="26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2853" name="Line 16">
                    <a:extLst>
                      <a:ext uri="{FF2B5EF4-FFF2-40B4-BE49-F238E27FC236}">
                        <a16:creationId xmlns:a16="http://schemas.microsoft.com/office/drawing/2014/main" id="{5B2DFA3B-95E6-D582-B5FD-8CBC163969A2}"/>
                      </a:ext>
                    </a:extLst>
                  </p:cNvPr>
                  <p:cNvSpPr>
                    <a:spLocks noChangeShapeType="1"/>
                  </p:cNvSpPr>
                  <p:nvPr/>
                </p:nvSpPr>
                <p:spPr bwMode="auto">
                  <a:xfrm flipH="1">
                    <a:off x="7538" y="2319"/>
                    <a:ext cx="12" cy="249"/>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62854" name="Text Box 17">
                    <a:extLst>
                      <a:ext uri="{FF2B5EF4-FFF2-40B4-BE49-F238E27FC236}">
                        <a16:creationId xmlns:a16="http://schemas.microsoft.com/office/drawing/2014/main" id="{476F6E6D-DE90-015B-9F8B-9F4D97BC6ACF}"/>
                      </a:ext>
                    </a:extLst>
                  </p:cNvPr>
                  <p:cNvSpPr txBox="1">
                    <a:spLocks noChangeArrowheads="1"/>
                  </p:cNvSpPr>
                  <p:nvPr/>
                </p:nvSpPr>
                <p:spPr bwMode="auto">
                  <a:xfrm>
                    <a:off x="7324" y="1989"/>
                    <a:ext cx="562" cy="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Times New Roman" panose="02020603050405020304" pitchFamily="18" charset="0"/>
                      </a:rPr>
                      <a:t>d</a:t>
                    </a:r>
                    <a:r>
                      <a:rPr lang="en-US" altLang="zh-CN" sz="1800" baseline="-25000">
                        <a:solidFill>
                          <a:schemeClr val="tx1"/>
                        </a:solidFill>
                        <a:latin typeface="Times New Roman" panose="02020603050405020304" pitchFamily="18" charset="0"/>
                      </a:rPr>
                      <a:t>0</a:t>
                    </a:r>
                    <a:endParaRPr lang="en-US" altLang="zh-CN" sz="1800">
                      <a:solidFill>
                        <a:schemeClr val="tx1"/>
                      </a:solidFill>
                    </a:endParaRPr>
                  </a:p>
                </p:txBody>
              </p:sp>
            </p:grpSp>
          </p:grpSp>
          <p:sp>
            <p:nvSpPr>
              <p:cNvPr id="162839" name="Text Box 18">
                <a:extLst>
                  <a:ext uri="{FF2B5EF4-FFF2-40B4-BE49-F238E27FC236}">
                    <a16:creationId xmlns:a16="http://schemas.microsoft.com/office/drawing/2014/main" id="{DED09E9A-5F28-8659-6BD7-02155AE6CAD4}"/>
                  </a:ext>
                </a:extLst>
              </p:cNvPr>
              <p:cNvSpPr txBox="1">
                <a:spLocks noChangeArrowheads="1"/>
              </p:cNvSpPr>
              <p:nvPr/>
            </p:nvSpPr>
            <p:spPr bwMode="auto">
              <a:xfrm>
                <a:off x="4529" y="2294"/>
                <a:ext cx="225"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Times New Roman" panose="02020603050405020304" pitchFamily="18" charset="0"/>
                  </a:rPr>
                  <a:t>d</a:t>
                </a:r>
                <a:r>
                  <a:rPr lang="en-US" altLang="zh-CN" sz="1800" baseline="-25000">
                    <a:solidFill>
                      <a:schemeClr val="tx1"/>
                    </a:solidFill>
                    <a:latin typeface="Times New Roman" panose="02020603050405020304" pitchFamily="18" charset="0"/>
                  </a:rPr>
                  <a:t>1</a:t>
                </a:r>
                <a:endParaRPr lang="en-US" altLang="zh-CN" sz="1800">
                  <a:solidFill>
                    <a:schemeClr val="tx1"/>
                  </a:solidFill>
                </a:endParaRPr>
              </a:p>
            </p:txBody>
          </p:sp>
          <p:grpSp>
            <p:nvGrpSpPr>
              <p:cNvPr id="162840" name="Group 19">
                <a:extLst>
                  <a:ext uri="{FF2B5EF4-FFF2-40B4-BE49-F238E27FC236}">
                    <a16:creationId xmlns:a16="http://schemas.microsoft.com/office/drawing/2014/main" id="{EACE7DB9-8110-8841-8A5E-44BF812588D4}"/>
                  </a:ext>
                </a:extLst>
              </p:cNvPr>
              <p:cNvGrpSpPr>
                <a:grpSpLocks/>
              </p:cNvGrpSpPr>
              <p:nvPr/>
            </p:nvGrpSpPr>
            <p:grpSpPr bwMode="auto">
              <a:xfrm>
                <a:off x="2656" y="2690"/>
                <a:ext cx="567" cy="355"/>
                <a:chOff x="3930" y="3531"/>
                <a:chExt cx="1416" cy="888"/>
              </a:xfrm>
            </p:grpSpPr>
            <p:sp>
              <p:nvSpPr>
                <p:cNvPr id="162841" name="Text Box 20">
                  <a:extLst>
                    <a:ext uri="{FF2B5EF4-FFF2-40B4-BE49-F238E27FC236}">
                      <a16:creationId xmlns:a16="http://schemas.microsoft.com/office/drawing/2014/main" id="{5324F04C-E1DD-D551-BD64-7A1B8B0DC8FF}"/>
                    </a:ext>
                  </a:extLst>
                </p:cNvPr>
                <p:cNvSpPr txBox="1">
                  <a:spLocks noChangeArrowheads="1"/>
                </p:cNvSpPr>
                <p:nvPr/>
              </p:nvSpPr>
              <p:spPr bwMode="auto">
                <a:xfrm>
                  <a:off x="3930" y="3531"/>
                  <a:ext cx="650" cy="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Times New Roman" panose="02020603050405020304" pitchFamily="18" charset="0"/>
                    </a:rPr>
                    <a:t>d</a:t>
                  </a:r>
                  <a:r>
                    <a:rPr lang="en-US" altLang="zh-CN" sz="1800" baseline="-25000">
                      <a:solidFill>
                        <a:schemeClr val="tx1"/>
                      </a:solidFill>
                      <a:latin typeface="Times New Roman" panose="02020603050405020304" pitchFamily="18" charset="0"/>
                    </a:rPr>
                    <a:t>2</a:t>
                  </a:r>
                  <a:r>
                    <a:rPr lang="en-US" altLang="zh-CN" sz="1800">
                      <a:solidFill>
                        <a:schemeClr val="tx1"/>
                      </a:solidFill>
                      <a:latin typeface="Times New Roman" panose="02020603050405020304" pitchFamily="18" charset="0"/>
                    </a:rPr>
                    <a:t>=2</a:t>
                  </a:r>
                  <a:endParaRPr lang="en-US" altLang="zh-CN" sz="1800">
                    <a:solidFill>
                      <a:schemeClr val="tx1"/>
                    </a:solidFill>
                  </a:endParaRPr>
                </a:p>
              </p:txBody>
            </p:sp>
            <p:grpSp>
              <p:nvGrpSpPr>
                <p:cNvPr id="162842" name="Group 21">
                  <a:extLst>
                    <a:ext uri="{FF2B5EF4-FFF2-40B4-BE49-F238E27FC236}">
                      <a16:creationId xmlns:a16="http://schemas.microsoft.com/office/drawing/2014/main" id="{80E888BB-8AF6-B8C5-E0DB-C850328F762D}"/>
                    </a:ext>
                  </a:extLst>
                </p:cNvPr>
                <p:cNvGrpSpPr>
                  <a:grpSpLocks/>
                </p:cNvGrpSpPr>
                <p:nvPr/>
              </p:nvGrpSpPr>
              <p:grpSpPr bwMode="auto">
                <a:xfrm>
                  <a:off x="4296" y="3858"/>
                  <a:ext cx="1050" cy="561"/>
                  <a:chOff x="4296" y="3858"/>
                  <a:chExt cx="1050" cy="561"/>
                </a:xfrm>
              </p:grpSpPr>
              <p:grpSp>
                <p:nvGrpSpPr>
                  <p:cNvPr id="162843" name="Group 22">
                    <a:extLst>
                      <a:ext uri="{FF2B5EF4-FFF2-40B4-BE49-F238E27FC236}">
                        <a16:creationId xmlns:a16="http://schemas.microsoft.com/office/drawing/2014/main" id="{4EC96D0F-27D6-FA62-4F65-D5C461FBC438}"/>
                      </a:ext>
                    </a:extLst>
                  </p:cNvPr>
                  <p:cNvGrpSpPr>
                    <a:grpSpLocks/>
                  </p:cNvGrpSpPr>
                  <p:nvPr/>
                </p:nvGrpSpPr>
                <p:grpSpPr bwMode="auto">
                  <a:xfrm>
                    <a:off x="4296" y="3858"/>
                    <a:ext cx="326" cy="228"/>
                    <a:chOff x="2242" y="3042"/>
                    <a:chExt cx="326" cy="228"/>
                  </a:xfrm>
                </p:grpSpPr>
                <p:sp>
                  <p:nvSpPr>
                    <p:cNvPr id="162847" name="Line 23">
                      <a:extLst>
                        <a:ext uri="{FF2B5EF4-FFF2-40B4-BE49-F238E27FC236}">
                          <a16:creationId xmlns:a16="http://schemas.microsoft.com/office/drawing/2014/main" id="{40B6B6DB-00D8-DD45-D45D-A1BCABFBA3A6}"/>
                        </a:ext>
                      </a:extLst>
                    </p:cNvPr>
                    <p:cNvSpPr>
                      <a:spLocks noChangeShapeType="1"/>
                    </p:cNvSpPr>
                    <p:nvPr/>
                  </p:nvSpPr>
                  <p:spPr bwMode="auto">
                    <a:xfrm flipV="1">
                      <a:off x="2468" y="3081"/>
                      <a:ext cx="100" cy="18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848" name="Line 24">
                      <a:extLst>
                        <a:ext uri="{FF2B5EF4-FFF2-40B4-BE49-F238E27FC236}">
                          <a16:creationId xmlns:a16="http://schemas.microsoft.com/office/drawing/2014/main" id="{C3227C78-B3F2-B742-FC30-31D40B508C2E}"/>
                        </a:ext>
                      </a:extLst>
                    </p:cNvPr>
                    <p:cNvSpPr>
                      <a:spLocks noChangeShapeType="1"/>
                    </p:cNvSpPr>
                    <p:nvPr/>
                  </p:nvSpPr>
                  <p:spPr bwMode="auto">
                    <a:xfrm>
                      <a:off x="2242" y="3042"/>
                      <a:ext cx="250" cy="1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62844" name="Group 25">
                    <a:extLst>
                      <a:ext uri="{FF2B5EF4-FFF2-40B4-BE49-F238E27FC236}">
                        <a16:creationId xmlns:a16="http://schemas.microsoft.com/office/drawing/2014/main" id="{2E3BF461-2EA6-D677-F4CD-0C489114F726}"/>
                      </a:ext>
                    </a:extLst>
                  </p:cNvPr>
                  <p:cNvGrpSpPr>
                    <a:grpSpLocks/>
                  </p:cNvGrpSpPr>
                  <p:nvPr/>
                </p:nvGrpSpPr>
                <p:grpSpPr bwMode="auto">
                  <a:xfrm>
                    <a:off x="5034" y="4146"/>
                    <a:ext cx="312" cy="273"/>
                    <a:chOff x="2806" y="3267"/>
                    <a:chExt cx="312" cy="273"/>
                  </a:xfrm>
                </p:grpSpPr>
                <p:sp>
                  <p:nvSpPr>
                    <p:cNvPr id="162845" name="Line 26">
                      <a:extLst>
                        <a:ext uri="{FF2B5EF4-FFF2-40B4-BE49-F238E27FC236}">
                          <a16:creationId xmlns:a16="http://schemas.microsoft.com/office/drawing/2014/main" id="{A98E23B4-4B28-BC22-A48B-AC73A2331041}"/>
                        </a:ext>
                      </a:extLst>
                    </p:cNvPr>
                    <p:cNvSpPr>
                      <a:spLocks noChangeShapeType="1"/>
                    </p:cNvSpPr>
                    <p:nvPr/>
                  </p:nvSpPr>
                  <p:spPr bwMode="auto">
                    <a:xfrm flipV="1">
                      <a:off x="2806" y="3267"/>
                      <a:ext cx="100" cy="18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846" name="Line 27">
                      <a:extLst>
                        <a:ext uri="{FF2B5EF4-FFF2-40B4-BE49-F238E27FC236}">
                          <a16:creationId xmlns:a16="http://schemas.microsoft.com/office/drawing/2014/main" id="{95AE6837-2B85-A6F5-97A7-304D58BA0486}"/>
                        </a:ext>
                      </a:extLst>
                    </p:cNvPr>
                    <p:cNvSpPr>
                      <a:spLocks noChangeShapeType="1"/>
                    </p:cNvSpPr>
                    <p:nvPr/>
                  </p:nvSpPr>
                  <p:spPr bwMode="auto">
                    <a:xfrm>
                      <a:off x="2868" y="3390"/>
                      <a:ext cx="250" cy="15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grpSp>
          </p:grpSp>
        </p:grpSp>
        <p:grpSp>
          <p:nvGrpSpPr>
            <p:cNvPr id="162832" name="Group 28">
              <a:extLst>
                <a:ext uri="{FF2B5EF4-FFF2-40B4-BE49-F238E27FC236}">
                  <a16:creationId xmlns:a16="http://schemas.microsoft.com/office/drawing/2014/main" id="{3F5D4FBF-6CBE-EB59-B27D-84AEAE1B78EC}"/>
                </a:ext>
              </a:extLst>
            </p:cNvPr>
            <p:cNvGrpSpPr>
              <a:grpSpLocks/>
            </p:cNvGrpSpPr>
            <p:nvPr/>
          </p:nvGrpSpPr>
          <p:grpSpPr bwMode="auto">
            <a:xfrm>
              <a:off x="4425" y="2310"/>
              <a:ext cx="350" cy="199"/>
              <a:chOff x="8352" y="2580"/>
              <a:chExt cx="876" cy="498"/>
            </a:xfrm>
          </p:grpSpPr>
          <p:sp>
            <p:nvSpPr>
              <p:cNvPr id="162833" name="Line 29">
                <a:extLst>
                  <a:ext uri="{FF2B5EF4-FFF2-40B4-BE49-F238E27FC236}">
                    <a16:creationId xmlns:a16="http://schemas.microsoft.com/office/drawing/2014/main" id="{B562A443-2FD7-BC9A-BE16-D695771F0175}"/>
                  </a:ext>
                </a:extLst>
              </p:cNvPr>
              <p:cNvSpPr>
                <a:spLocks noChangeShapeType="1"/>
              </p:cNvSpPr>
              <p:nvPr/>
            </p:nvSpPr>
            <p:spPr bwMode="auto">
              <a:xfrm flipV="1">
                <a:off x="8578" y="2619"/>
                <a:ext cx="100" cy="18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834" name="Line 30">
                <a:extLst>
                  <a:ext uri="{FF2B5EF4-FFF2-40B4-BE49-F238E27FC236}">
                    <a16:creationId xmlns:a16="http://schemas.microsoft.com/office/drawing/2014/main" id="{4BFEB124-1463-ADBC-14F2-F49DDF508FAA}"/>
                  </a:ext>
                </a:extLst>
              </p:cNvPr>
              <p:cNvSpPr>
                <a:spLocks noChangeShapeType="1"/>
              </p:cNvSpPr>
              <p:nvPr/>
            </p:nvSpPr>
            <p:spPr bwMode="auto">
              <a:xfrm flipV="1">
                <a:off x="8916" y="2805"/>
                <a:ext cx="100" cy="18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835" name="Line 31">
                <a:extLst>
                  <a:ext uri="{FF2B5EF4-FFF2-40B4-BE49-F238E27FC236}">
                    <a16:creationId xmlns:a16="http://schemas.microsoft.com/office/drawing/2014/main" id="{3F053CFD-3105-EA13-F53B-A751578F16F0}"/>
                  </a:ext>
                </a:extLst>
              </p:cNvPr>
              <p:cNvSpPr>
                <a:spLocks noChangeShapeType="1"/>
              </p:cNvSpPr>
              <p:nvPr/>
            </p:nvSpPr>
            <p:spPr bwMode="auto">
              <a:xfrm>
                <a:off x="8352" y="2580"/>
                <a:ext cx="250" cy="1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2836" name="Line 32">
                <a:extLst>
                  <a:ext uri="{FF2B5EF4-FFF2-40B4-BE49-F238E27FC236}">
                    <a16:creationId xmlns:a16="http://schemas.microsoft.com/office/drawing/2014/main" id="{4AB614F1-0B54-0724-896C-40E3C9F47644}"/>
                  </a:ext>
                </a:extLst>
              </p:cNvPr>
              <p:cNvSpPr>
                <a:spLocks noChangeShapeType="1"/>
              </p:cNvSpPr>
              <p:nvPr/>
            </p:nvSpPr>
            <p:spPr bwMode="auto">
              <a:xfrm>
                <a:off x="8978" y="2928"/>
                <a:ext cx="250" cy="15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40" name="矩形 39">
            <a:extLst>
              <a:ext uri="{FF2B5EF4-FFF2-40B4-BE49-F238E27FC236}">
                <a16:creationId xmlns:a16="http://schemas.microsoft.com/office/drawing/2014/main" id="{F582D1E3-0349-B938-874E-512936771216}"/>
              </a:ext>
            </a:extLst>
          </p:cNvPr>
          <p:cNvSpPr/>
          <p:nvPr/>
        </p:nvSpPr>
        <p:spPr>
          <a:xfrm>
            <a:off x="174625" y="500063"/>
            <a:ext cx="7112000" cy="515937"/>
          </a:xfrm>
          <a:prstGeom prst="rect">
            <a:avLst/>
          </a:prstGeom>
        </p:spPr>
        <p:txBody>
          <a:bodyPr>
            <a:spAutoFit/>
          </a:bodyPr>
          <a:lstStyle/>
          <a:p>
            <a:pPr marL="285750" indent="-285750">
              <a:lnSpc>
                <a:spcPts val="3300"/>
              </a:lnSpc>
              <a:spcBef>
                <a:spcPct val="20000"/>
              </a:spcBef>
              <a:buClr>
                <a:srgbClr val="FF0000"/>
              </a:buClr>
              <a:buSzPct val="55000"/>
              <a:defRPr/>
            </a:pPr>
            <a:r>
              <a:rPr kumimoji="0" lang="en-US" altLang="zh-CN" sz="3200" kern="0" dirty="0">
                <a:solidFill>
                  <a:srgbClr val="990099"/>
                </a:solidFill>
                <a:latin typeface="Arial" pitchFamily="34" charset="0"/>
                <a:ea typeface="微软雅黑" pitchFamily="34" charset="-122"/>
                <a:cs typeface="Arial" pitchFamily="34" charset="0"/>
              </a:rPr>
              <a:t>11.10.2  </a:t>
            </a:r>
            <a:r>
              <a:rPr kumimoji="0" lang="en-US" altLang="zh-CN" sz="3200" kern="0" dirty="0">
                <a:solidFill>
                  <a:srgbClr val="003399"/>
                </a:solidFill>
                <a:latin typeface="Arial" pitchFamily="34" charset="0"/>
                <a:ea typeface="微软雅黑" pitchFamily="34" charset="-122"/>
                <a:cs typeface="Arial" pitchFamily="34" charset="0"/>
              </a:rPr>
              <a:t>TCM</a:t>
            </a:r>
            <a:r>
              <a:rPr kumimoji="0" lang="zh-CN" altLang="en-US" sz="3200" kern="0" dirty="0">
                <a:solidFill>
                  <a:srgbClr val="003399"/>
                </a:solidFill>
                <a:latin typeface="Arial" pitchFamily="34" charset="0"/>
                <a:ea typeface="微软雅黑" pitchFamily="34" charset="-122"/>
                <a:cs typeface="Arial" pitchFamily="34" charset="0"/>
              </a:rPr>
              <a:t>信号的产生</a:t>
            </a:r>
          </a:p>
        </p:txBody>
      </p:sp>
      <p:sp>
        <p:nvSpPr>
          <p:cNvPr id="163844" name="矩形 40">
            <a:extLst>
              <a:ext uri="{FF2B5EF4-FFF2-40B4-BE49-F238E27FC236}">
                <a16:creationId xmlns:a16="http://schemas.microsoft.com/office/drawing/2014/main" id="{26C6D980-BDEB-C604-80FB-B130DED07B1C}"/>
              </a:ext>
            </a:extLst>
          </p:cNvPr>
          <p:cNvSpPr>
            <a:spLocks noChangeArrowheads="1"/>
          </p:cNvSpPr>
          <p:nvPr/>
        </p:nvSpPr>
        <p:spPr bwMode="auto">
          <a:xfrm>
            <a:off x="715963" y="1143000"/>
            <a:ext cx="20701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lnSpc>
                <a:spcPts val="3300"/>
              </a:lnSpc>
              <a:spcBef>
                <a:spcPct val="20000"/>
              </a:spcBef>
              <a:buClr>
                <a:srgbClr val="FF0000"/>
              </a:buClr>
              <a:buSzPct val="80000"/>
              <a:buFont typeface="Wingdings" panose="05000000000000000000" pitchFamily="2" charset="2"/>
              <a:buChar char="n"/>
            </a:pPr>
            <a:r>
              <a:rPr lang="zh-CN" altLang="en-US" sz="2400">
                <a:solidFill>
                  <a:schemeClr val="tx1"/>
                </a:solidFill>
                <a:latin typeface="Arial" panose="020B0604020202020204" pitchFamily="34" charset="0"/>
                <a:ea typeface="微软雅黑" panose="020B0503020204020204" pitchFamily="34" charset="-122"/>
                <a:cs typeface="Arial" panose="020B0604020202020204" pitchFamily="34" charset="0"/>
              </a:rPr>
              <a:t>集划分方法</a:t>
            </a:r>
          </a:p>
        </p:txBody>
      </p:sp>
      <p:sp>
        <p:nvSpPr>
          <p:cNvPr id="42" name="矩形 41">
            <a:extLst>
              <a:ext uri="{FF2B5EF4-FFF2-40B4-BE49-F238E27FC236}">
                <a16:creationId xmlns:a16="http://schemas.microsoft.com/office/drawing/2014/main" id="{0BB9F00F-ACDC-DAEC-9979-18A2BA5B20E2}"/>
              </a:ext>
            </a:extLst>
          </p:cNvPr>
          <p:cNvSpPr/>
          <p:nvPr/>
        </p:nvSpPr>
        <p:spPr>
          <a:xfrm>
            <a:off x="1000125" y="1214438"/>
            <a:ext cx="7508875" cy="1292225"/>
          </a:xfrm>
          <a:prstGeom prst="rect">
            <a:avLst/>
          </a:prstGeom>
        </p:spPr>
        <p:txBody>
          <a:bodyPr>
            <a:spAutoFit/>
          </a:bodyPr>
          <a:lstStyle/>
          <a:p>
            <a:pPr marL="342900" indent="-342900">
              <a:lnSpc>
                <a:spcPts val="2800"/>
              </a:lnSpc>
              <a:spcBef>
                <a:spcPct val="20000"/>
              </a:spcBef>
              <a:buClr>
                <a:srgbClr val="3333CC"/>
              </a:buClr>
              <a:buSzPct val="60000"/>
              <a:defRPr/>
            </a:pPr>
            <a:r>
              <a:rPr kumimoji="0" lang="zh-CN" altLang="en-US" sz="2000" b="0" kern="0" dirty="0">
                <a:solidFill>
                  <a:srgbClr val="000000"/>
                </a:solidFill>
                <a:latin typeface="Arial" charset="0"/>
                <a:ea typeface="微软雅黑" pitchFamily="34" charset="-122"/>
                <a:cs typeface="Arial" charset="0"/>
              </a:rPr>
              <a:t>                           将信号星座图划分成若干子集，使子集中的信号</a:t>
            </a:r>
            <a:endParaRPr kumimoji="0" lang="en-US" altLang="zh-CN" sz="2000" b="0" kern="0" dirty="0">
              <a:solidFill>
                <a:srgbClr val="000000"/>
              </a:solidFill>
              <a:latin typeface="Arial" charset="0"/>
              <a:ea typeface="微软雅黑" pitchFamily="34" charset="-122"/>
              <a:cs typeface="Arial" charset="0"/>
            </a:endParaRPr>
          </a:p>
          <a:p>
            <a:pPr marL="342900" indent="-342900">
              <a:lnSpc>
                <a:spcPts val="2800"/>
              </a:lnSpc>
              <a:spcBef>
                <a:spcPct val="20000"/>
              </a:spcBef>
              <a:buClr>
                <a:srgbClr val="3333CC"/>
              </a:buClr>
              <a:buSzPct val="60000"/>
              <a:defRPr/>
            </a:pPr>
            <a:r>
              <a:rPr kumimoji="0" lang="zh-CN" altLang="en-US" sz="2000" b="0" kern="0" dirty="0">
                <a:solidFill>
                  <a:srgbClr val="000000"/>
                </a:solidFill>
                <a:latin typeface="Arial" charset="0"/>
                <a:ea typeface="微软雅黑" pitchFamily="34" charset="-122"/>
                <a:cs typeface="Arial" charset="0"/>
              </a:rPr>
              <a:t> 点间距离比原来的大。每划分一次，新的子集中信号点间的距离</a:t>
            </a:r>
            <a:endParaRPr kumimoji="0" lang="en-US" altLang="zh-CN" sz="2000" b="0" kern="0" dirty="0">
              <a:solidFill>
                <a:srgbClr val="000000"/>
              </a:solidFill>
              <a:latin typeface="Arial" charset="0"/>
              <a:ea typeface="微软雅黑" pitchFamily="34" charset="-122"/>
              <a:cs typeface="Arial" charset="0"/>
            </a:endParaRPr>
          </a:p>
          <a:p>
            <a:pPr marL="342900" indent="-342900">
              <a:lnSpc>
                <a:spcPts val="2800"/>
              </a:lnSpc>
              <a:spcBef>
                <a:spcPct val="20000"/>
              </a:spcBef>
              <a:buClr>
                <a:srgbClr val="3333CC"/>
              </a:buClr>
              <a:buSzPct val="60000"/>
              <a:defRPr/>
            </a:pPr>
            <a:r>
              <a:rPr kumimoji="0" lang="zh-CN" altLang="en-US" sz="2000" b="0" kern="0" dirty="0">
                <a:solidFill>
                  <a:srgbClr val="000000"/>
                </a:solidFill>
                <a:latin typeface="Arial" charset="0"/>
                <a:ea typeface="微软雅黑" pitchFamily="34" charset="-122"/>
                <a:cs typeface="Arial" charset="0"/>
              </a:rPr>
              <a:t> 就增大一次。</a:t>
            </a:r>
          </a:p>
        </p:txBody>
      </p:sp>
      <p:sp>
        <p:nvSpPr>
          <p:cNvPr id="52" name="Rectangle 3">
            <a:extLst>
              <a:ext uri="{FF2B5EF4-FFF2-40B4-BE49-F238E27FC236}">
                <a16:creationId xmlns:a16="http://schemas.microsoft.com/office/drawing/2014/main" id="{7FFDEB15-C74A-A641-9161-9D65CE75BA0E}"/>
              </a:ext>
            </a:extLst>
          </p:cNvPr>
          <p:cNvSpPr txBox="1">
            <a:spLocks noChangeArrowheads="1"/>
          </p:cNvSpPr>
          <p:nvPr/>
        </p:nvSpPr>
        <p:spPr bwMode="auto">
          <a:xfrm>
            <a:off x="285750" y="2786063"/>
            <a:ext cx="2786063" cy="3429000"/>
          </a:xfrm>
          <a:prstGeom prst="rect">
            <a:avLst/>
          </a:prstGeom>
          <a:solidFill>
            <a:schemeClr val="bg2">
              <a:lumMod val="10000"/>
              <a:lumOff val="90000"/>
            </a:schemeClr>
          </a:solidFill>
          <a:ln w="9525">
            <a:noFill/>
            <a:miter lim="800000"/>
            <a:headEnd/>
            <a:tailEnd/>
          </a:ln>
          <a:effectLst>
            <a:outerShdw blurRad="50800" dist="38100" dir="2700000" algn="tl" rotWithShape="0">
              <a:prstClr val="black">
                <a:alpha val="40000"/>
              </a:prstClr>
            </a:outerShdw>
          </a:effectLst>
        </p:spPr>
        <p:txBody>
          <a:bodyPr/>
          <a:lstStyle/>
          <a:p>
            <a:pPr marL="342900" indent="-342900">
              <a:lnSpc>
                <a:spcPts val="3200"/>
              </a:lnSpc>
              <a:spcBef>
                <a:spcPct val="20000"/>
              </a:spcBef>
              <a:buClr>
                <a:schemeClr val="folHlink"/>
              </a:buClr>
              <a:buSzPct val="60000"/>
              <a:defRPr/>
            </a:pPr>
            <a:r>
              <a:rPr kumimoji="0" lang="zh-CN" altLang="en-US" sz="2000" b="0" kern="0" dirty="0">
                <a:solidFill>
                  <a:schemeClr val="tx1"/>
                </a:solidFill>
                <a:latin typeface="Arial" charset="0"/>
                <a:ea typeface="微软雅黑" pitchFamily="34" charset="-122"/>
                <a:cs typeface="Arial" charset="0"/>
              </a:rPr>
              <a:t>        </a:t>
            </a:r>
            <a:r>
              <a:rPr kumimoji="0" lang="en-US" altLang="zh-CN" sz="2000" b="0" kern="0"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rPr>
              <a:t>8PSK</a:t>
            </a:r>
            <a:r>
              <a:rPr kumimoji="0" lang="zh-CN" altLang="en-US" sz="2000" b="0" kern="0" dirty="0">
                <a:solidFill>
                  <a:schemeClr val="tx1"/>
                </a:solidFill>
                <a:latin typeface="Arial" charset="0"/>
                <a:ea typeface="微软雅黑" pitchFamily="34" charset="-122"/>
                <a:cs typeface="Arial" charset="0"/>
              </a:rPr>
              <a:t>星座图划分。</a:t>
            </a:r>
          </a:p>
          <a:p>
            <a:pPr marL="342900" indent="-342900">
              <a:lnSpc>
                <a:spcPts val="3200"/>
              </a:lnSpc>
              <a:spcBef>
                <a:spcPct val="20000"/>
              </a:spcBef>
              <a:buClr>
                <a:srgbClr val="FF0000"/>
              </a:buClr>
              <a:buSzPct val="50000"/>
              <a:buFont typeface="Wingdings" pitchFamily="2" charset="2"/>
              <a:buNone/>
              <a:defRPr/>
            </a:pPr>
            <a:r>
              <a:rPr kumimoji="0" lang="en-US" altLang="zh-CN" sz="2000" kern="0" dirty="0">
                <a:solidFill>
                  <a:schemeClr val="tx1"/>
                </a:solidFill>
                <a:latin typeface="Arial" charset="0"/>
                <a:ea typeface="微软雅黑" pitchFamily="34" charset="-122"/>
                <a:cs typeface="Arial" charset="0"/>
              </a:rPr>
              <a:t> A</a:t>
            </a:r>
            <a:r>
              <a:rPr kumimoji="0" lang="en-US" altLang="zh-CN" sz="2000" b="0" kern="0" baseline="-25000" dirty="0">
                <a:solidFill>
                  <a:schemeClr val="tx1"/>
                </a:solidFill>
                <a:latin typeface="Arial" charset="0"/>
                <a:ea typeface="微软雅黑" pitchFamily="34" charset="-122"/>
                <a:cs typeface="Arial" charset="0"/>
              </a:rPr>
              <a:t>0 </a:t>
            </a:r>
            <a:r>
              <a:rPr kumimoji="0" lang="zh-CN" altLang="en-US" sz="2000" b="0" kern="0" dirty="0">
                <a:solidFill>
                  <a:schemeClr val="tx1"/>
                </a:solidFill>
                <a:latin typeface="Arial" charset="0"/>
                <a:ea typeface="微软雅黑" pitchFamily="34" charset="-122"/>
                <a:cs typeface="Arial" charset="0"/>
              </a:rPr>
              <a:t>是</a:t>
            </a:r>
            <a:r>
              <a:rPr kumimoji="0" lang="en-US" altLang="zh-CN" sz="2000" b="0" kern="0" dirty="0">
                <a:solidFill>
                  <a:schemeClr val="tx1"/>
                </a:solidFill>
                <a:effectLst>
                  <a:outerShdw blurRad="38100" dist="38100" dir="2700000" algn="tl">
                    <a:srgbClr val="000000">
                      <a:alpha val="43137"/>
                    </a:srgbClr>
                  </a:outerShdw>
                </a:effectLst>
                <a:latin typeface="Arial" charset="0"/>
                <a:ea typeface="微软雅黑" pitchFamily="34" charset="-122"/>
                <a:cs typeface="Arial" charset="0"/>
              </a:rPr>
              <a:t>8PSK</a:t>
            </a:r>
            <a:r>
              <a:rPr kumimoji="0" lang="zh-CN" altLang="en-US" sz="2000" b="0" kern="0" dirty="0">
                <a:solidFill>
                  <a:schemeClr val="tx1"/>
                </a:solidFill>
                <a:latin typeface="Arial" charset="0"/>
                <a:ea typeface="微软雅黑" pitchFamily="34" charset="-122"/>
                <a:cs typeface="Arial" charset="0"/>
              </a:rPr>
              <a:t>信号星座图</a:t>
            </a:r>
            <a:endParaRPr kumimoji="0" lang="en-US" altLang="zh-CN" sz="2000" b="0" kern="0" dirty="0">
              <a:solidFill>
                <a:schemeClr val="tx1"/>
              </a:solidFill>
              <a:latin typeface="Arial" charset="0"/>
              <a:ea typeface="微软雅黑" pitchFamily="34" charset="-122"/>
              <a:cs typeface="Arial" charset="0"/>
            </a:endParaRPr>
          </a:p>
          <a:p>
            <a:pPr marL="342900" indent="-342900">
              <a:lnSpc>
                <a:spcPts val="3200"/>
              </a:lnSpc>
              <a:spcBef>
                <a:spcPct val="20000"/>
              </a:spcBef>
              <a:buClr>
                <a:srgbClr val="FF0000"/>
              </a:buClr>
              <a:buSzPct val="50000"/>
              <a:buFont typeface="Wingdings" pitchFamily="2" charset="2"/>
              <a:buNone/>
              <a:defRPr/>
            </a:pPr>
            <a:r>
              <a:rPr kumimoji="0" lang="en-US" altLang="zh-CN" sz="2000" b="0" i="1" kern="0" dirty="0">
                <a:solidFill>
                  <a:schemeClr val="tx1"/>
                </a:solidFill>
                <a:latin typeface="Arial" charset="0"/>
                <a:ea typeface="微软雅黑" pitchFamily="34" charset="-122"/>
                <a:cs typeface="Arial" charset="0"/>
              </a:rPr>
              <a:t> </a:t>
            </a:r>
            <a:r>
              <a:rPr kumimoji="0" lang="en-US" altLang="zh-CN" sz="2000" i="1" kern="0" dirty="0">
                <a:solidFill>
                  <a:schemeClr val="tx1"/>
                </a:solidFill>
                <a:latin typeface="Arial" charset="0"/>
                <a:ea typeface="微软雅黑" pitchFamily="34" charset="-122"/>
                <a:cs typeface="Arial" charset="0"/>
              </a:rPr>
              <a:t>d</a:t>
            </a:r>
            <a:r>
              <a:rPr kumimoji="0" lang="en-US" altLang="zh-CN" sz="2000" kern="0" baseline="-25000" dirty="0">
                <a:solidFill>
                  <a:schemeClr val="tx1"/>
                </a:solidFill>
                <a:latin typeface="Arial" charset="0"/>
                <a:ea typeface="微软雅黑" pitchFamily="34" charset="-122"/>
                <a:cs typeface="Arial" charset="0"/>
              </a:rPr>
              <a:t>0 </a:t>
            </a:r>
            <a:r>
              <a:rPr kumimoji="0" lang="zh-CN" altLang="en-US" sz="2000" b="0" kern="0" dirty="0">
                <a:solidFill>
                  <a:schemeClr val="tx1"/>
                </a:solidFill>
                <a:latin typeface="Arial" charset="0"/>
                <a:ea typeface="微软雅黑" pitchFamily="34" charset="-122"/>
                <a:cs typeface="Arial" charset="0"/>
              </a:rPr>
              <a:t>是任意两个信号点</a:t>
            </a:r>
          </a:p>
          <a:p>
            <a:pPr marL="342900" indent="-342900">
              <a:lnSpc>
                <a:spcPts val="3200"/>
              </a:lnSpc>
              <a:spcBef>
                <a:spcPct val="20000"/>
              </a:spcBef>
              <a:buClr>
                <a:schemeClr val="folHlink"/>
              </a:buClr>
              <a:buSzPct val="60000"/>
              <a:buFont typeface="Wingdings" pitchFamily="2" charset="2"/>
              <a:buNone/>
              <a:defRPr/>
            </a:pPr>
            <a:r>
              <a:rPr kumimoji="0" lang="zh-CN" altLang="en-US" sz="2000" b="0" kern="0" dirty="0">
                <a:solidFill>
                  <a:schemeClr val="tx1"/>
                </a:solidFill>
                <a:latin typeface="Arial" charset="0"/>
                <a:ea typeface="微软雅黑" pitchFamily="34" charset="-122"/>
                <a:cs typeface="Arial" charset="0"/>
              </a:rPr>
              <a:t>     间的距离。</a:t>
            </a:r>
          </a:p>
          <a:p>
            <a:pPr marL="342900" indent="-342900">
              <a:lnSpc>
                <a:spcPts val="3200"/>
              </a:lnSpc>
              <a:spcBef>
                <a:spcPct val="20000"/>
              </a:spcBef>
              <a:buClr>
                <a:schemeClr val="folHlink"/>
              </a:buClr>
              <a:buSzPct val="60000"/>
              <a:buFont typeface="Wingdings" pitchFamily="2" charset="2"/>
              <a:buNone/>
              <a:defRPr/>
            </a:pPr>
            <a:r>
              <a:rPr kumimoji="0" lang="zh-CN" altLang="en-US" sz="2000" b="0" kern="0" dirty="0">
                <a:solidFill>
                  <a:schemeClr val="tx1"/>
                </a:solidFill>
                <a:latin typeface="Arial" charset="0"/>
                <a:ea typeface="微软雅黑" pitchFamily="34" charset="-122"/>
                <a:cs typeface="Arial" charset="0"/>
              </a:rPr>
              <a:t>该星座被划分为</a:t>
            </a:r>
            <a:r>
              <a:rPr kumimoji="0" lang="en-US" altLang="zh-CN" sz="2000" kern="0" dirty="0">
                <a:solidFill>
                  <a:schemeClr val="tx1"/>
                </a:solidFill>
                <a:latin typeface="Arial" charset="0"/>
                <a:ea typeface="微软雅黑" pitchFamily="34" charset="-122"/>
                <a:cs typeface="Arial" charset="0"/>
              </a:rPr>
              <a:t>B</a:t>
            </a:r>
            <a:r>
              <a:rPr kumimoji="0" lang="en-US" altLang="zh-CN" sz="2000" b="0" kern="0" baseline="-25000" dirty="0">
                <a:solidFill>
                  <a:schemeClr val="tx1"/>
                </a:solidFill>
                <a:latin typeface="Arial" charset="0"/>
                <a:ea typeface="微软雅黑" pitchFamily="34" charset="-122"/>
                <a:cs typeface="Arial" charset="0"/>
              </a:rPr>
              <a:t>0</a:t>
            </a:r>
            <a:r>
              <a:rPr kumimoji="0" lang="zh-CN" altLang="en-US" sz="2000" b="0" kern="0" dirty="0">
                <a:solidFill>
                  <a:schemeClr val="tx1"/>
                </a:solidFill>
                <a:latin typeface="Arial" charset="0"/>
                <a:ea typeface="微软雅黑" pitchFamily="34" charset="-122"/>
                <a:cs typeface="Arial" charset="0"/>
              </a:rPr>
              <a:t>和</a:t>
            </a:r>
            <a:r>
              <a:rPr kumimoji="0" lang="en-US" altLang="zh-CN" sz="2000" kern="0" dirty="0">
                <a:solidFill>
                  <a:schemeClr val="tx1"/>
                </a:solidFill>
                <a:latin typeface="Arial" charset="0"/>
                <a:ea typeface="微软雅黑" pitchFamily="34" charset="-122"/>
                <a:cs typeface="Arial" charset="0"/>
              </a:rPr>
              <a:t>B</a:t>
            </a:r>
            <a:r>
              <a:rPr kumimoji="0" lang="en-US" altLang="zh-CN" sz="2000" b="0" kern="0" baseline="-25000" dirty="0">
                <a:solidFill>
                  <a:schemeClr val="tx1"/>
                </a:solidFill>
                <a:latin typeface="Arial" charset="0"/>
                <a:ea typeface="微软雅黑" pitchFamily="34" charset="-122"/>
                <a:cs typeface="Arial" charset="0"/>
              </a:rPr>
              <a:t>1</a:t>
            </a:r>
          </a:p>
          <a:p>
            <a:pPr marL="342900" indent="-342900">
              <a:lnSpc>
                <a:spcPts val="3200"/>
              </a:lnSpc>
              <a:spcBef>
                <a:spcPct val="20000"/>
              </a:spcBef>
              <a:buClr>
                <a:schemeClr val="folHlink"/>
              </a:buClr>
              <a:buSzPct val="60000"/>
              <a:buFont typeface="Wingdings" pitchFamily="2" charset="2"/>
              <a:buNone/>
              <a:defRPr/>
            </a:pPr>
            <a:r>
              <a:rPr kumimoji="0" lang="zh-CN" altLang="en-US" sz="2000" b="0" kern="0" dirty="0">
                <a:solidFill>
                  <a:schemeClr val="tx1"/>
                </a:solidFill>
                <a:latin typeface="Arial" charset="0"/>
                <a:ea typeface="微软雅黑" pitchFamily="34" charset="-122"/>
                <a:cs typeface="Arial" charset="0"/>
              </a:rPr>
              <a:t>两个子集，在子集中</a:t>
            </a:r>
            <a:endParaRPr kumimoji="0" lang="en-US" altLang="zh-CN" sz="2000" b="0" kern="0" dirty="0">
              <a:solidFill>
                <a:schemeClr val="tx1"/>
              </a:solidFill>
              <a:latin typeface="Arial" charset="0"/>
              <a:ea typeface="微软雅黑" pitchFamily="34" charset="-122"/>
              <a:cs typeface="Arial" charset="0"/>
            </a:endParaRPr>
          </a:p>
          <a:p>
            <a:pPr marL="342900" indent="-342900">
              <a:lnSpc>
                <a:spcPts val="3200"/>
              </a:lnSpc>
              <a:spcBef>
                <a:spcPct val="20000"/>
              </a:spcBef>
              <a:buClr>
                <a:schemeClr val="folHlink"/>
              </a:buClr>
              <a:buSzPct val="60000"/>
              <a:buFont typeface="Wingdings" pitchFamily="2" charset="2"/>
              <a:buNone/>
              <a:defRPr/>
            </a:pPr>
            <a:r>
              <a:rPr kumimoji="0" lang="zh-CN" altLang="en-US" sz="2000" b="0" kern="0" dirty="0">
                <a:solidFill>
                  <a:schemeClr val="tx1"/>
                </a:solidFill>
                <a:latin typeface="Arial" charset="0"/>
                <a:ea typeface="微软雅黑" pitchFamily="34" charset="-122"/>
                <a:cs typeface="Arial" charset="0"/>
              </a:rPr>
              <a:t>相邻信号点间距离为</a:t>
            </a:r>
            <a:r>
              <a:rPr kumimoji="0" lang="en-US" altLang="zh-CN" sz="2000" i="1" kern="0" dirty="0">
                <a:solidFill>
                  <a:schemeClr val="tx1"/>
                </a:solidFill>
                <a:latin typeface="Arial" charset="0"/>
                <a:ea typeface="微软雅黑" pitchFamily="34" charset="-122"/>
                <a:cs typeface="Arial" charset="0"/>
              </a:rPr>
              <a:t>d</a:t>
            </a:r>
            <a:r>
              <a:rPr kumimoji="0" lang="en-US" altLang="zh-CN" sz="2000" kern="0" baseline="-25000" dirty="0">
                <a:solidFill>
                  <a:schemeClr val="tx1"/>
                </a:solidFill>
                <a:latin typeface="Arial" charset="0"/>
                <a:ea typeface="微软雅黑" pitchFamily="34" charset="-122"/>
                <a:cs typeface="Arial" charset="0"/>
              </a:rPr>
              <a:t>1</a:t>
            </a:r>
            <a:r>
              <a:rPr kumimoji="0" lang="zh-CN" altLang="en-US" sz="2000" b="0" kern="0" dirty="0">
                <a:solidFill>
                  <a:schemeClr val="tx1"/>
                </a:solidFill>
                <a:latin typeface="Arial" charset="0"/>
                <a:ea typeface="微软雅黑" pitchFamily="34" charset="-122"/>
                <a:cs typeface="Arial" charset="0"/>
              </a:rPr>
              <a:t>。 </a:t>
            </a:r>
          </a:p>
        </p:txBody>
      </p:sp>
      <p:grpSp>
        <p:nvGrpSpPr>
          <p:cNvPr id="15" name="组合 42">
            <a:extLst>
              <a:ext uri="{FF2B5EF4-FFF2-40B4-BE49-F238E27FC236}">
                <a16:creationId xmlns:a16="http://schemas.microsoft.com/office/drawing/2014/main" id="{E402F772-4FD9-B4BC-5E91-AAAFDC3AEC90}"/>
              </a:ext>
            </a:extLst>
          </p:cNvPr>
          <p:cNvGrpSpPr>
            <a:grpSpLocks/>
          </p:cNvGrpSpPr>
          <p:nvPr/>
        </p:nvGrpSpPr>
        <p:grpSpPr bwMode="auto">
          <a:xfrm>
            <a:off x="214313" y="2428875"/>
            <a:ext cx="714375" cy="714375"/>
            <a:chOff x="357158" y="2285992"/>
            <a:chExt cx="714380" cy="714808"/>
          </a:xfrm>
        </p:grpSpPr>
        <p:grpSp>
          <p:nvGrpSpPr>
            <p:cNvPr id="162824" name="Group 52">
              <a:extLst>
                <a:ext uri="{FF2B5EF4-FFF2-40B4-BE49-F238E27FC236}">
                  <a16:creationId xmlns:a16="http://schemas.microsoft.com/office/drawing/2014/main" id="{10D6A028-A745-BCEE-649E-D9817C5AA8FF}"/>
                </a:ext>
              </a:extLst>
            </p:cNvPr>
            <p:cNvGrpSpPr>
              <a:grpSpLocks/>
            </p:cNvGrpSpPr>
            <p:nvPr/>
          </p:nvGrpSpPr>
          <p:grpSpPr bwMode="auto">
            <a:xfrm>
              <a:off x="357158" y="2285992"/>
              <a:ext cx="714380" cy="714808"/>
              <a:chOff x="1289" y="498"/>
              <a:chExt cx="668" cy="752"/>
            </a:xfrm>
          </p:grpSpPr>
          <p:sp>
            <p:nvSpPr>
              <p:cNvPr id="162826" name="Oval 53">
                <a:extLst>
                  <a:ext uri="{FF2B5EF4-FFF2-40B4-BE49-F238E27FC236}">
                    <a16:creationId xmlns:a16="http://schemas.microsoft.com/office/drawing/2014/main" id="{909CA4D6-A019-A1CD-5F37-910ACDD99D7C}"/>
                  </a:ext>
                </a:extLst>
              </p:cNvPr>
              <p:cNvSpPr>
                <a:spLocks noChangeArrowheads="1"/>
              </p:cNvSpPr>
              <p:nvPr/>
            </p:nvSpPr>
            <p:spPr bwMode="gray">
              <a:xfrm>
                <a:off x="1289" y="582"/>
                <a:ext cx="668" cy="668"/>
              </a:xfrm>
              <a:prstGeom prst="ellipse">
                <a:avLst/>
              </a:prstGeom>
              <a:solidFill>
                <a:srgbClr val="333333"/>
              </a:soli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62827" name="Oval 54">
                <a:extLst>
                  <a:ext uri="{FF2B5EF4-FFF2-40B4-BE49-F238E27FC236}">
                    <a16:creationId xmlns:a16="http://schemas.microsoft.com/office/drawing/2014/main" id="{6201D506-392F-78A3-41AF-9684EE7211B5}"/>
                  </a:ext>
                </a:extLst>
              </p:cNvPr>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62828" name="Oval 55">
                <a:extLst>
                  <a:ext uri="{FF2B5EF4-FFF2-40B4-BE49-F238E27FC236}">
                    <a16:creationId xmlns:a16="http://schemas.microsoft.com/office/drawing/2014/main" id="{56511D3F-5D22-BB6E-3AB2-E88F3EBCE263}"/>
                  </a:ext>
                </a:extLst>
              </p:cNvPr>
              <p:cNvSpPr>
                <a:spLocks noChangeArrowheads="1"/>
              </p:cNvSpPr>
              <p:nvPr/>
            </p:nvSpPr>
            <p:spPr bwMode="gray">
              <a:xfrm>
                <a:off x="1304" y="498"/>
                <a:ext cx="631" cy="724"/>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62829" name="Oval 56">
                <a:extLst>
                  <a:ext uri="{FF2B5EF4-FFF2-40B4-BE49-F238E27FC236}">
                    <a16:creationId xmlns:a16="http://schemas.microsoft.com/office/drawing/2014/main" id="{357B7CFC-E550-365A-4E9A-EE8275592DE7}"/>
                  </a:ext>
                </a:extLst>
              </p:cNvPr>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62830" name="Oval 57">
                <a:extLst>
                  <a:ext uri="{FF2B5EF4-FFF2-40B4-BE49-F238E27FC236}">
                    <a16:creationId xmlns:a16="http://schemas.microsoft.com/office/drawing/2014/main" id="{AA9C97A1-E411-35DC-049C-276A920F88BF}"/>
                  </a:ext>
                </a:extLst>
              </p:cNvPr>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pSp>
        <p:sp>
          <p:nvSpPr>
            <p:cNvPr id="162825" name="Text Box 29">
              <a:extLst>
                <a:ext uri="{FF2B5EF4-FFF2-40B4-BE49-F238E27FC236}">
                  <a16:creationId xmlns:a16="http://schemas.microsoft.com/office/drawing/2014/main" id="{E44347D7-69B9-52B6-4B7A-D4F1E1F6550F}"/>
                </a:ext>
              </a:extLst>
            </p:cNvPr>
            <p:cNvSpPr txBox="1">
              <a:spLocks noChangeArrowheads="1"/>
            </p:cNvSpPr>
            <p:nvPr/>
          </p:nvSpPr>
          <p:spPr bwMode="gray">
            <a:xfrm>
              <a:off x="428596" y="2438468"/>
              <a:ext cx="542027" cy="519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a:r>
                <a:rPr kumimoji="0" lang="zh-CN" altLang="en-US" sz="2800">
                  <a:solidFill>
                    <a:srgbClr val="0000CC"/>
                  </a:solidFill>
                  <a:latin typeface="Arial" panose="020B0604020202020204" pitchFamily="34" charset="0"/>
                  <a:ea typeface="宋体" panose="02010600030101010101" pitchFamily="2" charset="-122"/>
                </a:rPr>
                <a:t>例</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63844"/>
                                        </p:tgtEl>
                                        <p:attrNameLst>
                                          <p:attrName>style.visibility</p:attrName>
                                        </p:attrNameLst>
                                      </p:cBhvr>
                                      <p:to>
                                        <p:strVal val="visible"/>
                                      </p:to>
                                    </p:set>
                                    <p:animEffect transition="in" filter="wipe(up)">
                                      <p:cBhvr>
                                        <p:cTn id="7" dur="1000"/>
                                        <p:tgtEl>
                                          <p:spTgt spid="1638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wipe(up)">
                                      <p:cBhvr>
                                        <p:cTn id="12" dur="1000"/>
                                        <p:tgtEl>
                                          <p:spTgt spid="42"/>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up)">
                                      <p:cBhvr>
                                        <p:cTn id="16" dur="10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up)">
                                      <p:cBhvr>
                                        <p:cTn id="21" dur="1000"/>
                                        <p:tgtEl>
                                          <p:spTgt spid="15"/>
                                        </p:tgtEl>
                                      </p:cBhvr>
                                    </p:animEffect>
                                  </p:childTnLst>
                                </p:cTn>
                              </p:par>
                            </p:childTnLst>
                          </p:cTn>
                        </p:par>
                        <p:par>
                          <p:cTn id="22" fill="hold" nodeType="afterGroup">
                            <p:stCondLst>
                              <p:cond delay="1000"/>
                            </p:stCondLst>
                            <p:childTnLst>
                              <p:par>
                                <p:cTn id="23" presetID="22" presetClass="entr" presetSubtype="1" fill="hold" nodeType="afterEffect">
                                  <p:stCondLst>
                                    <p:cond delay="0"/>
                                  </p:stCondLst>
                                  <p:childTnLst>
                                    <p:set>
                                      <p:cBhvr>
                                        <p:cTn id="24" dur="1" fill="hold">
                                          <p:stCondLst>
                                            <p:cond delay="0"/>
                                          </p:stCondLst>
                                        </p:cTn>
                                        <p:tgtEl>
                                          <p:spTgt spid="52">
                                            <p:txEl>
                                              <p:pRg st="0" end="0"/>
                                            </p:txEl>
                                          </p:spTgt>
                                        </p:tgtEl>
                                        <p:attrNameLst>
                                          <p:attrName>style.visibility</p:attrName>
                                        </p:attrNameLst>
                                      </p:cBhvr>
                                      <p:to>
                                        <p:strVal val="visible"/>
                                      </p:to>
                                    </p:set>
                                    <p:animEffect transition="in" filter="wipe(up)">
                                      <p:cBhvr>
                                        <p:cTn id="25" dur="1000"/>
                                        <p:tgtEl>
                                          <p:spTgt spid="52">
                                            <p:txEl>
                                              <p:pRg st="0" end="0"/>
                                            </p:txEl>
                                          </p:spTgt>
                                        </p:tgtEl>
                                      </p:cBhvr>
                                    </p:animEffect>
                                  </p:childTnLst>
                                </p:cTn>
                              </p:par>
                            </p:childTnLst>
                          </p:cTn>
                        </p:par>
                        <p:par>
                          <p:cTn id="26" fill="hold" nodeType="afterGroup">
                            <p:stCondLst>
                              <p:cond delay="2000"/>
                            </p:stCondLst>
                            <p:childTnLst>
                              <p:par>
                                <p:cTn id="27" presetID="22" presetClass="entr" presetSubtype="1" fill="hold" nodeType="afterEffect">
                                  <p:stCondLst>
                                    <p:cond delay="0"/>
                                  </p:stCondLst>
                                  <p:childTnLst>
                                    <p:set>
                                      <p:cBhvr>
                                        <p:cTn id="28" dur="1" fill="hold">
                                          <p:stCondLst>
                                            <p:cond delay="0"/>
                                          </p:stCondLst>
                                        </p:cTn>
                                        <p:tgtEl>
                                          <p:spTgt spid="52">
                                            <p:txEl>
                                              <p:pRg st="1" end="1"/>
                                            </p:txEl>
                                          </p:spTgt>
                                        </p:tgtEl>
                                        <p:attrNameLst>
                                          <p:attrName>style.visibility</p:attrName>
                                        </p:attrNameLst>
                                      </p:cBhvr>
                                      <p:to>
                                        <p:strVal val="visible"/>
                                      </p:to>
                                    </p:set>
                                    <p:animEffect transition="in" filter="wipe(up)">
                                      <p:cBhvr>
                                        <p:cTn id="29" dur="1000"/>
                                        <p:tgtEl>
                                          <p:spTgt spid="52">
                                            <p:txEl>
                                              <p:pRg st="1" end="1"/>
                                            </p:txEl>
                                          </p:spTgt>
                                        </p:tgtEl>
                                      </p:cBhvr>
                                    </p:animEffect>
                                  </p:childTnLst>
                                </p:cTn>
                              </p:par>
                            </p:childTnLst>
                          </p:cTn>
                        </p:par>
                        <p:par>
                          <p:cTn id="30" fill="hold" nodeType="afterGroup">
                            <p:stCondLst>
                              <p:cond delay="3000"/>
                            </p:stCondLst>
                            <p:childTnLst>
                              <p:par>
                                <p:cTn id="31" presetID="22" presetClass="entr" presetSubtype="1" fill="hold" nodeType="afterEffect">
                                  <p:stCondLst>
                                    <p:cond delay="0"/>
                                  </p:stCondLst>
                                  <p:childTnLst>
                                    <p:set>
                                      <p:cBhvr>
                                        <p:cTn id="32" dur="1" fill="hold">
                                          <p:stCondLst>
                                            <p:cond delay="0"/>
                                          </p:stCondLst>
                                        </p:cTn>
                                        <p:tgtEl>
                                          <p:spTgt spid="52">
                                            <p:txEl>
                                              <p:pRg st="2" end="2"/>
                                            </p:txEl>
                                          </p:spTgt>
                                        </p:tgtEl>
                                        <p:attrNameLst>
                                          <p:attrName>style.visibility</p:attrName>
                                        </p:attrNameLst>
                                      </p:cBhvr>
                                      <p:to>
                                        <p:strVal val="visible"/>
                                      </p:to>
                                    </p:set>
                                    <p:animEffect transition="in" filter="wipe(up)">
                                      <p:cBhvr>
                                        <p:cTn id="33" dur="1000"/>
                                        <p:tgtEl>
                                          <p:spTgt spid="52">
                                            <p:txEl>
                                              <p:pRg st="2" end="2"/>
                                            </p:txEl>
                                          </p:spTgt>
                                        </p:tgtEl>
                                      </p:cBhvr>
                                    </p:animEffect>
                                  </p:childTnLst>
                                </p:cTn>
                              </p:par>
                            </p:childTnLst>
                          </p:cTn>
                        </p:par>
                        <p:par>
                          <p:cTn id="34" fill="hold" nodeType="afterGroup">
                            <p:stCondLst>
                              <p:cond delay="4000"/>
                            </p:stCondLst>
                            <p:childTnLst>
                              <p:par>
                                <p:cTn id="35" presetID="22" presetClass="entr" presetSubtype="1" fill="hold" nodeType="afterEffect">
                                  <p:stCondLst>
                                    <p:cond delay="0"/>
                                  </p:stCondLst>
                                  <p:childTnLst>
                                    <p:set>
                                      <p:cBhvr>
                                        <p:cTn id="36" dur="1" fill="hold">
                                          <p:stCondLst>
                                            <p:cond delay="0"/>
                                          </p:stCondLst>
                                        </p:cTn>
                                        <p:tgtEl>
                                          <p:spTgt spid="52">
                                            <p:txEl>
                                              <p:pRg st="3" end="3"/>
                                            </p:txEl>
                                          </p:spTgt>
                                        </p:tgtEl>
                                        <p:attrNameLst>
                                          <p:attrName>style.visibility</p:attrName>
                                        </p:attrNameLst>
                                      </p:cBhvr>
                                      <p:to>
                                        <p:strVal val="visible"/>
                                      </p:to>
                                    </p:set>
                                    <p:animEffect transition="in" filter="wipe(up)">
                                      <p:cBhvr>
                                        <p:cTn id="37" dur="1000"/>
                                        <p:tgtEl>
                                          <p:spTgt spid="52">
                                            <p:txEl>
                                              <p:pRg st="3" end="3"/>
                                            </p:txEl>
                                          </p:spTgt>
                                        </p:tgtEl>
                                      </p:cBhvr>
                                    </p:animEffect>
                                  </p:childTnLst>
                                </p:cTn>
                              </p:par>
                            </p:childTnLst>
                          </p:cTn>
                        </p:par>
                        <p:par>
                          <p:cTn id="38" fill="hold" nodeType="afterGroup">
                            <p:stCondLst>
                              <p:cond delay="5000"/>
                            </p:stCondLst>
                            <p:childTnLst>
                              <p:par>
                                <p:cTn id="39" presetID="22" presetClass="entr" presetSubtype="1" fill="hold" nodeType="afterEffect">
                                  <p:stCondLst>
                                    <p:cond delay="0"/>
                                  </p:stCondLst>
                                  <p:childTnLst>
                                    <p:set>
                                      <p:cBhvr>
                                        <p:cTn id="40" dur="1" fill="hold">
                                          <p:stCondLst>
                                            <p:cond delay="0"/>
                                          </p:stCondLst>
                                        </p:cTn>
                                        <p:tgtEl>
                                          <p:spTgt spid="52">
                                            <p:txEl>
                                              <p:pRg st="4" end="4"/>
                                            </p:txEl>
                                          </p:spTgt>
                                        </p:tgtEl>
                                        <p:attrNameLst>
                                          <p:attrName>style.visibility</p:attrName>
                                        </p:attrNameLst>
                                      </p:cBhvr>
                                      <p:to>
                                        <p:strVal val="visible"/>
                                      </p:to>
                                    </p:set>
                                    <p:animEffect transition="in" filter="wipe(up)">
                                      <p:cBhvr>
                                        <p:cTn id="41" dur="1000"/>
                                        <p:tgtEl>
                                          <p:spTgt spid="52">
                                            <p:txEl>
                                              <p:pRg st="4" end="4"/>
                                            </p:txEl>
                                          </p:spTgt>
                                        </p:tgtEl>
                                      </p:cBhvr>
                                    </p:animEffect>
                                  </p:childTnLst>
                                </p:cTn>
                              </p:par>
                            </p:childTnLst>
                          </p:cTn>
                        </p:par>
                        <p:par>
                          <p:cTn id="42" fill="hold" nodeType="afterGroup">
                            <p:stCondLst>
                              <p:cond delay="6000"/>
                            </p:stCondLst>
                            <p:childTnLst>
                              <p:par>
                                <p:cTn id="43" presetID="22" presetClass="entr" presetSubtype="1" fill="hold" nodeType="afterEffect">
                                  <p:stCondLst>
                                    <p:cond delay="0"/>
                                  </p:stCondLst>
                                  <p:childTnLst>
                                    <p:set>
                                      <p:cBhvr>
                                        <p:cTn id="44" dur="1" fill="hold">
                                          <p:stCondLst>
                                            <p:cond delay="0"/>
                                          </p:stCondLst>
                                        </p:cTn>
                                        <p:tgtEl>
                                          <p:spTgt spid="52">
                                            <p:txEl>
                                              <p:pRg st="5" end="5"/>
                                            </p:txEl>
                                          </p:spTgt>
                                        </p:tgtEl>
                                        <p:attrNameLst>
                                          <p:attrName>style.visibility</p:attrName>
                                        </p:attrNameLst>
                                      </p:cBhvr>
                                      <p:to>
                                        <p:strVal val="visible"/>
                                      </p:to>
                                    </p:set>
                                    <p:animEffect transition="in" filter="wipe(up)">
                                      <p:cBhvr>
                                        <p:cTn id="45" dur="1000"/>
                                        <p:tgtEl>
                                          <p:spTgt spid="52">
                                            <p:txEl>
                                              <p:pRg st="5" end="5"/>
                                            </p:txEl>
                                          </p:spTgt>
                                        </p:tgtEl>
                                      </p:cBhvr>
                                    </p:animEffect>
                                  </p:childTnLst>
                                </p:cTn>
                              </p:par>
                            </p:childTnLst>
                          </p:cTn>
                        </p:par>
                        <p:par>
                          <p:cTn id="46" fill="hold" nodeType="afterGroup">
                            <p:stCondLst>
                              <p:cond delay="7000"/>
                            </p:stCondLst>
                            <p:childTnLst>
                              <p:par>
                                <p:cTn id="47" presetID="22" presetClass="entr" presetSubtype="1" fill="hold" nodeType="afterEffect">
                                  <p:stCondLst>
                                    <p:cond delay="0"/>
                                  </p:stCondLst>
                                  <p:childTnLst>
                                    <p:set>
                                      <p:cBhvr>
                                        <p:cTn id="48" dur="1" fill="hold">
                                          <p:stCondLst>
                                            <p:cond delay="0"/>
                                          </p:stCondLst>
                                        </p:cTn>
                                        <p:tgtEl>
                                          <p:spTgt spid="52">
                                            <p:txEl>
                                              <p:pRg st="6" end="6"/>
                                            </p:txEl>
                                          </p:spTgt>
                                        </p:tgtEl>
                                        <p:attrNameLst>
                                          <p:attrName>style.visibility</p:attrName>
                                        </p:attrNameLst>
                                      </p:cBhvr>
                                      <p:to>
                                        <p:strVal val="visible"/>
                                      </p:to>
                                    </p:set>
                                    <p:animEffect transition="in" filter="wipe(up)">
                                      <p:cBhvr>
                                        <p:cTn id="49" dur="1000"/>
                                        <p:tgtEl>
                                          <p:spTgt spid="5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4" grpId="0"/>
      <p:bldP spid="42" grpId="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842" name="Group 4">
            <a:extLst>
              <a:ext uri="{FF2B5EF4-FFF2-40B4-BE49-F238E27FC236}">
                <a16:creationId xmlns:a16="http://schemas.microsoft.com/office/drawing/2014/main" id="{34AB1E0B-303D-0709-D9F7-4E548B081029}"/>
              </a:ext>
            </a:extLst>
          </p:cNvPr>
          <p:cNvGrpSpPr>
            <a:grpSpLocks/>
          </p:cNvGrpSpPr>
          <p:nvPr/>
        </p:nvGrpSpPr>
        <p:grpSpPr bwMode="auto">
          <a:xfrm>
            <a:off x="1357313" y="1214438"/>
            <a:ext cx="7429500" cy="5072062"/>
            <a:chOff x="2653" y="2018"/>
            <a:chExt cx="2484" cy="1756"/>
          </a:xfrm>
        </p:grpSpPr>
        <p:grpSp>
          <p:nvGrpSpPr>
            <p:cNvPr id="163844" name="Group 5">
              <a:extLst>
                <a:ext uri="{FF2B5EF4-FFF2-40B4-BE49-F238E27FC236}">
                  <a16:creationId xmlns:a16="http://schemas.microsoft.com/office/drawing/2014/main" id="{8AF7D2DD-2FDB-373D-39BF-88294F56F894}"/>
                </a:ext>
              </a:extLst>
            </p:cNvPr>
            <p:cNvGrpSpPr>
              <a:grpSpLocks/>
            </p:cNvGrpSpPr>
            <p:nvPr/>
          </p:nvGrpSpPr>
          <p:grpSpPr bwMode="auto">
            <a:xfrm>
              <a:off x="2653" y="2018"/>
              <a:ext cx="2484" cy="1756"/>
              <a:chOff x="2653" y="2018"/>
              <a:chExt cx="2484" cy="1756"/>
            </a:xfrm>
          </p:grpSpPr>
          <p:grpSp>
            <p:nvGrpSpPr>
              <p:cNvPr id="163850" name="Group 6">
                <a:extLst>
                  <a:ext uri="{FF2B5EF4-FFF2-40B4-BE49-F238E27FC236}">
                    <a16:creationId xmlns:a16="http://schemas.microsoft.com/office/drawing/2014/main" id="{8316DA50-D705-7531-AD09-CCDE1DA2C911}"/>
                  </a:ext>
                </a:extLst>
              </p:cNvPr>
              <p:cNvGrpSpPr>
                <a:grpSpLocks/>
              </p:cNvGrpSpPr>
              <p:nvPr/>
            </p:nvGrpSpPr>
            <p:grpSpPr bwMode="auto">
              <a:xfrm>
                <a:off x="2653" y="2025"/>
                <a:ext cx="2484" cy="1749"/>
                <a:chOff x="2653" y="2025"/>
                <a:chExt cx="2484" cy="1749"/>
              </a:xfrm>
            </p:grpSpPr>
            <p:pic>
              <p:nvPicPr>
                <p:cNvPr id="163868" name="Picture 7" descr="TCM相位图">
                  <a:extLst>
                    <a:ext uri="{FF2B5EF4-FFF2-40B4-BE49-F238E27FC236}">
                      <a16:creationId xmlns:a16="http://schemas.microsoft.com/office/drawing/2014/main" id="{7329B3E0-2D2A-8DF5-FC5F-56F0EBF99D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3" y="2025"/>
                  <a:ext cx="2484" cy="1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3869" name="Group 8">
                  <a:extLst>
                    <a:ext uri="{FF2B5EF4-FFF2-40B4-BE49-F238E27FC236}">
                      <a16:creationId xmlns:a16="http://schemas.microsoft.com/office/drawing/2014/main" id="{7E9BCC00-79D9-A9B1-C526-EC33FF8239D3}"/>
                    </a:ext>
                  </a:extLst>
                </p:cNvPr>
                <p:cNvGrpSpPr>
                  <a:grpSpLocks/>
                </p:cNvGrpSpPr>
                <p:nvPr/>
              </p:nvGrpSpPr>
              <p:grpSpPr bwMode="auto">
                <a:xfrm>
                  <a:off x="2877" y="2074"/>
                  <a:ext cx="2073" cy="1009"/>
                  <a:chOff x="4570" y="2130"/>
                  <a:chExt cx="5184" cy="2522"/>
                </a:xfrm>
              </p:grpSpPr>
              <p:sp>
                <p:nvSpPr>
                  <p:cNvPr id="163871" name="Text Box 9">
                    <a:extLst>
                      <a:ext uri="{FF2B5EF4-FFF2-40B4-BE49-F238E27FC236}">
                        <a16:creationId xmlns:a16="http://schemas.microsoft.com/office/drawing/2014/main" id="{7D796325-DF2B-3898-A46F-62EF40684C87}"/>
                      </a:ext>
                    </a:extLst>
                  </p:cNvPr>
                  <p:cNvSpPr txBox="1">
                    <a:spLocks noChangeArrowheads="1"/>
                  </p:cNvSpPr>
                  <p:nvPr/>
                </p:nvSpPr>
                <p:spPr bwMode="auto">
                  <a:xfrm>
                    <a:off x="6876" y="2130"/>
                    <a:ext cx="574"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a:solidFill>
                          <a:schemeClr val="tx1"/>
                        </a:solidFill>
                        <a:latin typeface="Arial" panose="020B0604020202020204" pitchFamily="34" charset="0"/>
                        <a:cs typeface="Arial" panose="020B0604020202020204" pitchFamily="34" charset="0"/>
                      </a:rPr>
                      <a:t>A</a:t>
                    </a:r>
                    <a:r>
                      <a:rPr lang="en-US" altLang="zh-CN" sz="2000" baseline="-25000">
                        <a:solidFill>
                          <a:schemeClr val="tx1"/>
                        </a:solidFill>
                        <a:latin typeface="Arial" panose="020B0604020202020204" pitchFamily="34" charset="0"/>
                        <a:cs typeface="Arial" panose="020B0604020202020204" pitchFamily="34" charset="0"/>
                      </a:rPr>
                      <a:t>0</a:t>
                    </a:r>
                    <a:endParaRPr lang="en-US" altLang="zh-CN" sz="2000">
                      <a:solidFill>
                        <a:schemeClr val="tx1"/>
                      </a:solidFill>
                      <a:latin typeface="Arial" panose="020B0604020202020204" pitchFamily="34" charset="0"/>
                      <a:cs typeface="Arial" panose="020B0604020202020204" pitchFamily="34" charset="0"/>
                    </a:endParaRPr>
                  </a:p>
                </p:txBody>
              </p:sp>
              <p:grpSp>
                <p:nvGrpSpPr>
                  <p:cNvPr id="163872" name="Group 10">
                    <a:extLst>
                      <a:ext uri="{FF2B5EF4-FFF2-40B4-BE49-F238E27FC236}">
                        <a16:creationId xmlns:a16="http://schemas.microsoft.com/office/drawing/2014/main" id="{1F5FB5AA-D400-23BC-C3EF-3D3B19B20A69}"/>
                      </a:ext>
                    </a:extLst>
                  </p:cNvPr>
                  <p:cNvGrpSpPr>
                    <a:grpSpLocks/>
                  </p:cNvGrpSpPr>
                  <p:nvPr/>
                </p:nvGrpSpPr>
                <p:grpSpPr bwMode="auto">
                  <a:xfrm>
                    <a:off x="5334" y="3066"/>
                    <a:ext cx="3704" cy="453"/>
                    <a:chOff x="5334" y="3066"/>
                    <a:chExt cx="3704" cy="453"/>
                  </a:xfrm>
                </p:grpSpPr>
                <p:sp>
                  <p:nvSpPr>
                    <p:cNvPr id="163878" name="Text Box 11">
                      <a:extLst>
                        <a:ext uri="{FF2B5EF4-FFF2-40B4-BE49-F238E27FC236}">
                          <a16:creationId xmlns:a16="http://schemas.microsoft.com/office/drawing/2014/main" id="{3678704B-E67F-55F0-225D-090D1F77FBCD}"/>
                        </a:ext>
                      </a:extLst>
                    </p:cNvPr>
                    <p:cNvSpPr txBox="1">
                      <a:spLocks noChangeArrowheads="1"/>
                    </p:cNvSpPr>
                    <p:nvPr/>
                  </p:nvSpPr>
                  <p:spPr bwMode="auto">
                    <a:xfrm>
                      <a:off x="5334" y="3066"/>
                      <a:ext cx="574"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a:solidFill>
                            <a:schemeClr val="tx1"/>
                          </a:solidFill>
                          <a:latin typeface="Arial" panose="020B0604020202020204" pitchFamily="34" charset="0"/>
                          <a:cs typeface="Arial" panose="020B0604020202020204" pitchFamily="34" charset="0"/>
                        </a:rPr>
                        <a:t>B</a:t>
                      </a:r>
                      <a:r>
                        <a:rPr lang="en-US" altLang="zh-CN" sz="2000" baseline="-25000">
                          <a:solidFill>
                            <a:schemeClr val="tx1"/>
                          </a:solidFill>
                          <a:latin typeface="Arial" panose="020B0604020202020204" pitchFamily="34" charset="0"/>
                          <a:cs typeface="Arial" panose="020B0604020202020204" pitchFamily="34" charset="0"/>
                        </a:rPr>
                        <a:t>0</a:t>
                      </a:r>
                      <a:endParaRPr lang="en-US" altLang="zh-CN" sz="2000">
                        <a:solidFill>
                          <a:schemeClr val="tx1"/>
                        </a:solidFill>
                        <a:latin typeface="Arial" panose="020B0604020202020204" pitchFamily="34" charset="0"/>
                        <a:cs typeface="Arial" panose="020B0604020202020204" pitchFamily="34" charset="0"/>
                      </a:endParaRPr>
                    </a:p>
                  </p:txBody>
                </p:sp>
                <p:sp>
                  <p:nvSpPr>
                    <p:cNvPr id="163879" name="Text Box 12">
                      <a:extLst>
                        <a:ext uri="{FF2B5EF4-FFF2-40B4-BE49-F238E27FC236}">
                          <a16:creationId xmlns:a16="http://schemas.microsoft.com/office/drawing/2014/main" id="{7D2E4471-B9AC-7846-60A2-026D46AC8A83}"/>
                        </a:ext>
                      </a:extLst>
                    </p:cNvPr>
                    <p:cNvSpPr txBox="1">
                      <a:spLocks noChangeArrowheads="1"/>
                    </p:cNvSpPr>
                    <p:nvPr/>
                  </p:nvSpPr>
                  <p:spPr bwMode="auto">
                    <a:xfrm>
                      <a:off x="8464" y="3081"/>
                      <a:ext cx="574"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a:solidFill>
                            <a:schemeClr val="tx1"/>
                          </a:solidFill>
                          <a:latin typeface="Arial" panose="020B0604020202020204" pitchFamily="34" charset="0"/>
                          <a:cs typeface="Arial" panose="020B0604020202020204" pitchFamily="34" charset="0"/>
                        </a:rPr>
                        <a:t>B</a:t>
                      </a:r>
                      <a:r>
                        <a:rPr lang="en-US" altLang="zh-CN" sz="2000" baseline="-25000">
                          <a:solidFill>
                            <a:schemeClr val="tx1"/>
                          </a:solidFill>
                          <a:latin typeface="Arial" panose="020B0604020202020204" pitchFamily="34" charset="0"/>
                          <a:cs typeface="Arial" panose="020B0604020202020204" pitchFamily="34" charset="0"/>
                        </a:rPr>
                        <a:t>1</a:t>
                      </a:r>
                      <a:endParaRPr lang="en-US" altLang="zh-CN" sz="2000">
                        <a:solidFill>
                          <a:schemeClr val="tx1"/>
                        </a:solidFill>
                        <a:latin typeface="Arial" panose="020B0604020202020204" pitchFamily="34" charset="0"/>
                        <a:cs typeface="Arial" panose="020B0604020202020204" pitchFamily="34" charset="0"/>
                      </a:endParaRPr>
                    </a:p>
                  </p:txBody>
                </p:sp>
              </p:grpSp>
              <p:grpSp>
                <p:nvGrpSpPr>
                  <p:cNvPr id="163873" name="Group 13">
                    <a:extLst>
                      <a:ext uri="{FF2B5EF4-FFF2-40B4-BE49-F238E27FC236}">
                        <a16:creationId xmlns:a16="http://schemas.microsoft.com/office/drawing/2014/main" id="{849C5787-1A98-88DD-BE99-1170D898B57C}"/>
                      </a:ext>
                    </a:extLst>
                  </p:cNvPr>
                  <p:cNvGrpSpPr>
                    <a:grpSpLocks/>
                  </p:cNvGrpSpPr>
                  <p:nvPr/>
                </p:nvGrpSpPr>
                <p:grpSpPr bwMode="auto">
                  <a:xfrm>
                    <a:off x="4570" y="4213"/>
                    <a:ext cx="5184" cy="439"/>
                    <a:chOff x="4570" y="4213"/>
                    <a:chExt cx="5184" cy="439"/>
                  </a:xfrm>
                </p:grpSpPr>
                <p:sp>
                  <p:nvSpPr>
                    <p:cNvPr id="163874" name="Text Box 14">
                      <a:extLst>
                        <a:ext uri="{FF2B5EF4-FFF2-40B4-BE49-F238E27FC236}">
                          <a16:creationId xmlns:a16="http://schemas.microsoft.com/office/drawing/2014/main" id="{454A423E-C32D-2390-8E7B-CC42361EF49A}"/>
                        </a:ext>
                      </a:extLst>
                    </p:cNvPr>
                    <p:cNvSpPr txBox="1">
                      <a:spLocks noChangeArrowheads="1"/>
                    </p:cNvSpPr>
                    <p:nvPr/>
                  </p:nvSpPr>
                  <p:spPr bwMode="auto">
                    <a:xfrm>
                      <a:off x="9180" y="4214"/>
                      <a:ext cx="574"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a:solidFill>
                            <a:schemeClr val="tx1"/>
                          </a:solidFill>
                          <a:latin typeface="Arial" panose="020B0604020202020204" pitchFamily="34" charset="0"/>
                          <a:cs typeface="Arial" panose="020B0604020202020204" pitchFamily="34" charset="0"/>
                        </a:rPr>
                        <a:t>C</a:t>
                      </a:r>
                      <a:r>
                        <a:rPr lang="en-US" altLang="zh-CN" sz="2000" baseline="-25000">
                          <a:solidFill>
                            <a:schemeClr val="tx1"/>
                          </a:solidFill>
                          <a:latin typeface="Arial" panose="020B0604020202020204" pitchFamily="34" charset="0"/>
                          <a:cs typeface="Arial" panose="020B0604020202020204" pitchFamily="34" charset="0"/>
                        </a:rPr>
                        <a:t>3</a:t>
                      </a:r>
                      <a:endParaRPr lang="en-US" altLang="zh-CN" sz="2000">
                        <a:solidFill>
                          <a:schemeClr val="tx1"/>
                        </a:solidFill>
                        <a:latin typeface="Arial" panose="020B0604020202020204" pitchFamily="34" charset="0"/>
                        <a:cs typeface="Arial" panose="020B0604020202020204" pitchFamily="34" charset="0"/>
                      </a:endParaRPr>
                    </a:p>
                  </p:txBody>
                </p:sp>
                <p:sp>
                  <p:nvSpPr>
                    <p:cNvPr id="163875" name="Text Box 15">
                      <a:extLst>
                        <a:ext uri="{FF2B5EF4-FFF2-40B4-BE49-F238E27FC236}">
                          <a16:creationId xmlns:a16="http://schemas.microsoft.com/office/drawing/2014/main" id="{E03C8A2A-0307-B3FE-0874-8671A1F4E23A}"/>
                        </a:ext>
                      </a:extLst>
                    </p:cNvPr>
                    <p:cNvSpPr txBox="1">
                      <a:spLocks noChangeArrowheads="1"/>
                    </p:cNvSpPr>
                    <p:nvPr/>
                  </p:nvSpPr>
                  <p:spPr bwMode="auto">
                    <a:xfrm>
                      <a:off x="6086" y="4213"/>
                      <a:ext cx="574"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a:solidFill>
                            <a:schemeClr val="tx1"/>
                          </a:solidFill>
                          <a:latin typeface="Arial" panose="020B0604020202020204" pitchFamily="34" charset="0"/>
                          <a:cs typeface="Arial" panose="020B0604020202020204" pitchFamily="34" charset="0"/>
                        </a:rPr>
                        <a:t>C</a:t>
                      </a:r>
                      <a:r>
                        <a:rPr lang="en-US" altLang="zh-CN" sz="2000" baseline="-25000">
                          <a:solidFill>
                            <a:schemeClr val="tx1"/>
                          </a:solidFill>
                          <a:latin typeface="Arial" panose="020B0604020202020204" pitchFamily="34" charset="0"/>
                          <a:cs typeface="Arial" panose="020B0604020202020204" pitchFamily="34" charset="0"/>
                        </a:rPr>
                        <a:t>1</a:t>
                      </a:r>
                      <a:endParaRPr lang="en-US" altLang="zh-CN" sz="2000">
                        <a:solidFill>
                          <a:schemeClr val="tx1"/>
                        </a:solidFill>
                        <a:latin typeface="Arial" panose="020B0604020202020204" pitchFamily="34" charset="0"/>
                        <a:cs typeface="Arial" panose="020B0604020202020204" pitchFamily="34" charset="0"/>
                      </a:endParaRPr>
                    </a:p>
                  </p:txBody>
                </p:sp>
                <p:sp>
                  <p:nvSpPr>
                    <p:cNvPr id="163876" name="Text Box 16">
                      <a:extLst>
                        <a:ext uri="{FF2B5EF4-FFF2-40B4-BE49-F238E27FC236}">
                          <a16:creationId xmlns:a16="http://schemas.microsoft.com/office/drawing/2014/main" id="{E7B874A2-FE7B-74B1-93ED-9248AD2CB617}"/>
                        </a:ext>
                      </a:extLst>
                    </p:cNvPr>
                    <p:cNvSpPr txBox="1">
                      <a:spLocks noChangeArrowheads="1"/>
                    </p:cNvSpPr>
                    <p:nvPr/>
                  </p:nvSpPr>
                  <p:spPr bwMode="auto">
                    <a:xfrm>
                      <a:off x="4570" y="4214"/>
                      <a:ext cx="574"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a:solidFill>
                            <a:schemeClr val="tx1"/>
                          </a:solidFill>
                          <a:latin typeface="Arial" panose="020B0604020202020204" pitchFamily="34" charset="0"/>
                          <a:cs typeface="Arial" panose="020B0604020202020204" pitchFamily="34" charset="0"/>
                        </a:rPr>
                        <a:t>C</a:t>
                      </a:r>
                      <a:r>
                        <a:rPr lang="en-US" altLang="zh-CN" sz="2000" baseline="-25000">
                          <a:solidFill>
                            <a:schemeClr val="tx1"/>
                          </a:solidFill>
                          <a:latin typeface="Arial" panose="020B0604020202020204" pitchFamily="34" charset="0"/>
                          <a:cs typeface="Arial" panose="020B0604020202020204" pitchFamily="34" charset="0"/>
                        </a:rPr>
                        <a:t>0</a:t>
                      </a:r>
                      <a:endParaRPr lang="en-US" altLang="zh-CN" sz="2000">
                        <a:solidFill>
                          <a:schemeClr val="tx1"/>
                        </a:solidFill>
                        <a:latin typeface="Arial" panose="020B0604020202020204" pitchFamily="34" charset="0"/>
                        <a:cs typeface="Arial" panose="020B0604020202020204" pitchFamily="34" charset="0"/>
                      </a:endParaRPr>
                    </a:p>
                  </p:txBody>
                </p:sp>
                <p:sp>
                  <p:nvSpPr>
                    <p:cNvPr id="163877" name="Text Box 17">
                      <a:extLst>
                        <a:ext uri="{FF2B5EF4-FFF2-40B4-BE49-F238E27FC236}">
                          <a16:creationId xmlns:a16="http://schemas.microsoft.com/office/drawing/2014/main" id="{9D389B90-C7D0-3AD4-F0F8-7F77D4F5C2A8}"/>
                        </a:ext>
                      </a:extLst>
                    </p:cNvPr>
                    <p:cNvSpPr txBox="1">
                      <a:spLocks noChangeArrowheads="1"/>
                    </p:cNvSpPr>
                    <p:nvPr/>
                  </p:nvSpPr>
                  <p:spPr bwMode="auto">
                    <a:xfrm>
                      <a:off x="7688" y="4214"/>
                      <a:ext cx="574"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a:solidFill>
                            <a:schemeClr val="tx1"/>
                          </a:solidFill>
                          <a:latin typeface="Arial" panose="020B0604020202020204" pitchFamily="34" charset="0"/>
                          <a:cs typeface="Arial" panose="020B0604020202020204" pitchFamily="34" charset="0"/>
                        </a:rPr>
                        <a:t>C</a:t>
                      </a:r>
                      <a:r>
                        <a:rPr lang="en-US" altLang="zh-CN" sz="2000" baseline="-25000">
                          <a:solidFill>
                            <a:schemeClr val="tx1"/>
                          </a:solidFill>
                          <a:latin typeface="Arial" panose="020B0604020202020204" pitchFamily="34" charset="0"/>
                          <a:cs typeface="Arial" panose="020B0604020202020204" pitchFamily="34" charset="0"/>
                        </a:rPr>
                        <a:t>2</a:t>
                      </a:r>
                      <a:endParaRPr lang="en-US" altLang="zh-CN" sz="2000">
                        <a:solidFill>
                          <a:schemeClr val="tx1"/>
                        </a:solidFill>
                        <a:latin typeface="Arial" panose="020B0604020202020204" pitchFamily="34" charset="0"/>
                        <a:cs typeface="Arial" panose="020B0604020202020204" pitchFamily="34" charset="0"/>
                      </a:endParaRPr>
                    </a:p>
                  </p:txBody>
                </p:sp>
              </p:grpSp>
            </p:grpSp>
            <p:sp>
              <p:nvSpPr>
                <p:cNvPr id="163870" name="Text Box 18">
                  <a:extLst>
                    <a:ext uri="{FF2B5EF4-FFF2-40B4-BE49-F238E27FC236}">
                      <a16:creationId xmlns:a16="http://schemas.microsoft.com/office/drawing/2014/main" id="{8EF22CFA-337B-FA00-4C2B-A5B539D7D224}"/>
                    </a:ext>
                  </a:extLst>
                </p:cNvPr>
                <p:cNvSpPr txBox="1">
                  <a:spLocks noChangeArrowheads="1"/>
                </p:cNvSpPr>
                <p:nvPr/>
              </p:nvSpPr>
              <p:spPr bwMode="auto">
                <a:xfrm>
                  <a:off x="2719" y="3644"/>
                  <a:ext cx="2418" cy="13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lnSpc>
                      <a:spcPct val="64000"/>
                    </a:lnSpc>
                  </a:pPr>
                  <a:r>
                    <a:rPr lang="en-US" altLang="zh-CN" sz="1800">
                      <a:solidFill>
                        <a:schemeClr val="tx1"/>
                      </a:solidFill>
                      <a:latin typeface="Arial" panose="020B0604020202020204" pitchFamily="34" charset="0"/>
                      <a:cs typeface="Arial" panose="020B0604020202020204" pitchFamily="34" charset="0"/>
                    </a:rPr>
                    <a:t>(000)     (001)       (010)      (011)       (100)      (101)      (110)      (111)</a:t>
                  </a:r>
                </a:p>
              </p:txBody>
            </p:sp>
          </p:grpSp>
          <p:grpSp>
            <p:nvGrpSpPr>
              <p:cNvPr id="163851" name="Group 19">
                <a:extLst>
                  <a:ext uri="{FF2B5EF4-FFF2-40B4-BE49-F238E27FC236}">
                    <a16:creationId xmlns:a16="http://schemas.microsoft.com/office/drawing/2014/main" id="{3D778762-3DD4-E700-AE40-A8583859D1C8}"/>
                  </a:ext>
                </a:extLst>
              </p:cNvPr>
              <p:cNvGrpSpPr>
                <a:grpSpLocks/>
              </p:cNvGrpSpPr>
              <p:nvPr/>
            </p:nvGrpSpPr>
            <p:grpSpPr bwMode="auto">
              <a:xfrm>
                <a:off x="4017" y="2018"/>
                <a:ext cx="225" cy="286"/>
                <a:chOff x="8360" y="1650"/>
                <a:chExt cx="562" cy="714"/>
              </a:xfrm>
            </p:grpSpPr>
            <p:sp>
              <p:nvSpPr>
                <p:cNvPr id="163862" name="Line 20">
                  <a:extLst>
                    <a:ext uri="{FF2B5EF4-FFF2-40B4-BE49-F238E27FC236}">
                      <a16:creationId xmlns:a16="http://schemas.microsoft.com/office/drawing/2014/main" id="{54EE2EA7-D8D9-1560-694B-E26D5D810D51}"/>
                    </a:ext>
                  </a:extLst>
                </p:cNvPr>
                <p:cNvSpPr>
                  <a:spLocks noChangeShapeType="1"/>
                </p:cNvSpPr>
                <p:nvPr/>
              </p:nvSpPr>
              <p:spPr bwMode="auto">
                <a:xfrm>
                  <a:off x="8438" y="1920"/>
                  <a:ext cx="252" cy="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63863" name="Group 21">
                  <a:extLst>
                    <a:ext uri="{FF2B5EF4-FFF2-40B4-BE49-F238E27FC236}">
                      <a16:creationId xmlns:a16="http://schemas.microsoft.com/office/drawing/2014/main" id="{C8D60DA4-A921-931F-1146-1A7F8392B9EC}"/>
                    </a:ext>
                  </a:extLst>
                </p:cNvPr>
                <p:cNvGrpSpPr>
                  <a:grpSpLocks/>
                </p:cNvGrpSpPr>
                <p:nvPr/>
              </p:nvGrpSpPr>
              <p:grpSpPr bwMode="auto">
                <a:xfrm>
                  <a:off x="8360" y="1650"/>
                  <a:ext cx="562" cy="714"/>
                  <a:chOff x="7324" y="1854"/>
                  <a:chExt cx="562" cy="714"/>
                </a:xfrm>
              </p:grpSpPr>
              <p:sp>
                <p:nvSpPr>
                  <p:cNvPr id="163864" name="Line 22">
                    <a:extLst>
                      <a:ext uri="{FF2B5EF4-FFF2-40B4-BE49-F238E27FC236}">
                        <a16:creationId xmlns:a16="http://schemas.microsoft.com/office/drawing/2014/main" id="{6F375DC6-55F9-4779-DEA7-290DA633157F}"/>
                      </a:ext>
                    </a:extLst>
                  </p:cNvPr>
                  <p:cNvSpPr>
                    <a:spLocks noChangeShapeType="1"/>
                  </p:cNvSpPr>
                  <p:nvPr/>
                </p:nvSpPr>
                <p:spPr bwMode="auto">
                  <a:xfrm>
                    <a:off x="7424" y="2319"/>
                    <a:ext cx="252" cy="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865" name="Line 23">
                    <a:extLst>
                      <a:ext uri="{FF2B5EF4-FFF2-40B4-BE49-F238E27FC236}">
                        <a16:creationId xmlns:a16="http://schemas.microsoft.com/office/drawing/2014/main" id="{4E359C6B-DE3C-69DB-D3D3-88EF49CEC6F1}"/>
                      </a:ext>
                    </a:extLst>
                  </p:cNvPr>
                  <p:cNvSpPr>
                    <a:spLocks noChangeShapeType="1"/>
                  </p:cNvSpPr>
                  <p:nvPr/>
                </p:nvSpPr>
                <p:spPr bwMode="auto">
                  <a:xfrm>
                    <a:off x="7526" y="1854"/>
                    <a:ext cx="0" cy="26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866" name="Line 24">
                    <a:extLst>
                      <a:ext uri="{FF2B5EF4-FFF2-40B4-BE49-F238E27FC236}">
                        <a16:creationId xmlns:a16="http://schemas.microsoft.com/office/drawing/2014/main" id="{BBD69B4B-0606-50E8-9603-3989B7A0470B}"/>
                      </a:ext>
                    </a:extLst>
                  </p:cNvPr>
                  <p:cNvSpPr>
                    <a:spLocks noChangeShapeType="1"/>
                  </p:cNvSpPr>
                  <p:nvPr/>
                </p:nvSpPr>
                <p:spPr bwMode="auto">
                  <a:xfrm flipH="1">
                    <a:off x="7538" y="2319"/>
                    <a:ext cx="12" cy="249"/>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63867" name="Text Box 25">
                    <a:extLst>
                      <a:ext uri="{FF2B5EF4-FFF2-40B4-BE49-F238E27FC236}">
                        <a16:creationId xmlns:a16="http://schemas.microsoft.com/office/drawing/2014/main" id="{669DAF80-BE9C-DA7F-78FB-80E892F43FA9}"/>
                      </a:ext>
                    </a:extLst>
                  </p:cNvPr>
                  <p:cNvSpPr txBox="1">
                    <a:spLocks noChangeArrowheads="1"/>
                  </p:cNvSpPr>
                  <p:nvPr/>
                </p:nvSpPr>
                <p:spPr bwMode="auto">
                  <a:xfrm>
                    <a:off x="7324" y="2026"/>
                    <a:ext cx="562" cy="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i="1">
                        <a:solidFill>
                          <a:srgbClr val="0000CC"/>
                        </a:solidFill>
                        <a:latin typeface="Arial" panose="020B0604020202020204" pitchFamily="34" charset="0"/>
                        <a:cs typeface="Arial" panose="020B0604020202020204" pitchFamily="34" charset="0"/>
                      </a:rPr>
                      <a:t>d</a:t>
                    </a:r>
                    <a:r>
                      <a:rPr lang="en-US" altLang="zh-CN" sz="2000" baseline="-25000">
                        <a:solidFill>
                          <a:srgbClr val="0000CC"/>
                        </a:solidFill>
                        <a:latin typeface="Arial" panose="020B0604020202020204" pitchFamily="34" charset="0"/>
                        <a:cs typeface="Arial" panose="020B0604020202020204" pitchFamily="34" charset="0"/>
                      </a:rPr>
                      <a:t>0</a:t>
                    </a:r>
                    <a:endParaRPr lang="en-US" altLang="zh-CN" sz="2000">
                      <a:solidFill>
                        <a:srgbClr val="0000CC"/>
                      </a:solidFill>
                      <a:latin typeface="Arial" panose="020B0604020202020204" pitchFamily="34" charset="0"/>
                      <a:cs typeface="Arial" panose="020B0604020202020204" pitchFamily="34" charset="0"/>
                    </a:endParaRPr>
                  </a:p>
                </p:txBody>
              </p:sp>
            </p:grpSp>
          </p:grpSp>
          <p:sp>
            <p:nvSpPr>
              <p:cNvPr id="163852" name="Text Box 26">
                <a:extLst>
                  <a:ext uri="{FF2B5EF4-FFF2-40B4-BE49-F238E27FC236}">
                    <a16:creationId xmlns:a16="http://schemas.microsoft.com/office/drawing/2014/main" id="{BD3E0353-32EB-6378-229A-43997A60C8F0}"/>
                  </a:ext>
                </a:extLst>
              </p:cNvPr>
              <p:cNvSpPr txBox="1">
                <a:spLocks noChangeArrowheads="1"/>
              </p:cNvSpPr>
              <p:nvPr/>
            </p:nvSpPr>
            <p:spPr bwMode="auto">
              <a:xfrm>
                <a:off x="4529" y="2294"/>
                <a:ext cx="225"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i="1">
                    <a:solidFill>
                      <a:srgbClr val="0000CC"/>
                    </a:solidFill>
                    <a:latin typeface="Arial" panose="020B0604020202020204" pitchFamily="34" charset="0"/>
                    <a:cs typeface="Arial" panose="020B0604020202020204" pitchFamily="34" charset="0"/>
                  </a:rPr>
                  <a:t>d</a:t>
                </a:r>
                <a:r>
                  <a:rPr lang="en-US" altLang="zh-CN" sz="2000" baseline="-25000">
                    <a:solidFill>
                      <a:srgbClr val="0000CC"/>
                    </a:solidFill>
                    <a:latin typeface="Arial" panose="020B0604020202020204" pitchFamily="34" charset="0"/>
                    <a:cs typeface="Arial" panose="020B0604020202020204" pitchFamily="34" charset="0"/>
                  </a:rPr>
                  <a:t>1</a:t>
                </a:r>
                <a:endParaRPr lang="en-US" altLang="zh-CN" sz="2000">
                  <a:solidFill>
                    <a:srgbClr val="0000CC"/>
                  </a:solidFill>
                  <a:latin typeface="Arial" panose="020B0604020202020204" pitchFamily="34" charset="0"/>
                  <a:cs typeface="Arial" panose="020B0604020202020204" pitchFamily="34" charset="0"/>
                </a:endParaRPr>
              </a:p>
            </p:txBody>
          </p:sp>
          <p:grpSp>
            <p:nvGrpSpPr>
              <p:cNvPr id="163853" name="Group 27">
                <a:extLst>
                  <a:ext uri="{FF2B5EF4-FFF2-40B4-BE49-F238E27FC236}">
                    <a16:creationId xmlns:a16="http://schemas.microsoft.com/office/drawing/2014/main" id="{6217781E-975B-B7C6-EAD2-82FC10426C17}"/>
                  </a:ext>
                </a:extLst>
              </p:cNvPr>
              <p:cNvGrpSpPr>
                <a:grpSpLocks/>
              </p:cNvGrpSpPr>
              <p:nvPr/>
            </p:nvGrpSpPr>
            <p:grpSpPr bwMode="auto">
              <a:xfrm>
                <a:off x="2656" y="2690"/>
                <a:ext cx="567" cy="355"/>
                <a:chOff x="3930" y="3531"/>
                <a:chExt cx="1416" cy="888"/>
              </a:xfrm>
            </p:grpSpPr>
            <p:sp>
              <p:nvSpPr>
                <p:cNvPr id="163854" name="Text Box 28">
                  <a:extLst>
                    <a:ext uri="{FF2B5EF4-FFF2-40B4-BE49-F238E27FC236}">
                      <a16:creationId xmlns:a16="http://schemas.microsoft.com/office/drawing/2014/main" id="{BAED9010-8171-78B3-E663-C4829CC2EC24}"/>
                    </a:ext>
                  </a:extLst>
                </p:cNvPr>
                <p:cNvSpPr txBox="1">
                  <a:spLocks noChangeArrowheads="1"/>
                </p:cNvSpPr>
                <p:nvPr/>
              </p:nvSpPr>
              <p:spPr bwMode="auto">
                <a:xfrm>
                  <a:off x="3930" y="3531"/>
                  <a:ext cx="650" cy="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2000" i="1">
                      <a:solidFill>
                        <a:srgbClr val="0000CC"/>
                      </a:solidFill>
                      <a:latin typeface="Arial" panose="020B0604020202020204" pitchFamily="34" charset="0"/>
                      <a:cs typeface="Arial" panose="020B0604020202020204" pitchFamily="34" charset="0"/>
                    </a:rPr>
                    <a:t>d</a:t>
                  </a:r>
                  <a:r>
                    <a:rPr lang="en-US" altLang="zh-CN" sz="2000" baseline="-25000">
                      <a:solidFill>
                        <a:srgbClr val="0000CC"/>
                      </a:solidFill>
                      <a:latin typeface="Arial" panose="020B0604020202020204" pitchFamily="34" charset="0"/>
                      <a:cs typeface="Arial" panose="020B0604020202020204" pitchFamily="34" charset="0"/>
                    </a:rPr>
                    <a:t>2</a:t>
                  </a:r>
                  <a:r>
                    <a:rPr lang="en-US" altLang="zh-CN" sz="2000">
                      <a:solidFill>
                        <a:srgbClr val="0000CC"/>
                      </a:solidFill>
                      <a:latin typeface="Arial" panose="020B0604020202020204" pitchFamily="34" charset="0"/>
                      <a:cs typeface="Arial" panose="020B0604020202020204" pitchFamily="34" charset="0"/>
                    </a:rPr>
                    <a:t>=2</a:t>
                  </a:r>
                </a:p>
              </p:txBody>
            </p:sp>
            <p:grpSp>
              <p:nvGrpSpPr>
                <p:cNvPr id="163855" name="Group 29">
                  <a:extLst>
                    <a:ext uri="{FF2B5EF4-FFF2-40B4-BE49-F238E27FC236}">
                      <a16:creationId xmlns:a16="http://schemas.microsoft.com/office/drawing/2014/main" id="{E65BD40C-B8F6-CC12-FF26-84CF30FAAA94}"/>
                    </a:ext>
                  </a:extLst>
                </p:cNvPr>
                <p:cNvGrpSpPr>
                  <a:grpSpLocks/>
                </p:cNvGrpSpPr>
                <p:nvPr/>
              </p:nvGrpSpPr>
              <p:grpSpPr bwMode="auto">
                <a:xfrm>
                  <a:off x="4296" y="3858"/>
                  <a:ext cx="1050" cy="561"/>
                  <a:chOff x="4296" y="3858"/>
                  <a:chExt cx="1050" cy="561"/>
                </a:xfrm>
              </p:grpSpPr>
              <p:grpSp>
                <p:nvGrpSpPr>
                  <p:cNvPr id="163856" name="Group 30">
                    <a:extLst>
                      <a:ext uri="{FF2B5EF4-FFF2-40B4-BE49-F238E27FC236}">
                        <a16:creationId xmlns:a16="http://schemas.microsoft.com/office/drawing/2014/main" id="{A0E4C789-F3CE-2352-C547-EC21089CA5F0}"/>
                      </a:ext>
                    </a:extLst>
                  </p:cNvPr>
                  <p:cNvGrpSpPr>
                    <a:grpSpLocks/>
                  </p:cNvGrpSpPr>
                  <p:nvPr/>
                </p:nvGrpSpPr>
                <p:grpSpPr bwMode="auto">
                  <a:xfrm>
                    <a:off x="4296" y="3858"/>
                    <a:ext cx="326" cy="228"/>
                    <a:chOff x="2242" y="3042"/>
                    <a:chExt cx="326" cy="228"/>
                  </a:xfrm>
                </p:grpSpPr>
                <p:sp>
                  <p:nvSpPr>
                    <p:cNvPr id="163860" name="Line 31">
                      <a:extLst>
                        <a:ext uri="{FF2B5EF4-FFF2-40B4-BE49-F238E27FC236}">
                          <a16:creationId xmlns:a16="http://schemas.microsoft.com/office/drawing/2014/main" id="{13DF5E04-3A8D-23AB-D393-2A6278ADF67F}"/>
                        </a:ext>
                      </a:extLst>
                    </p:cNvPr>
                    <p:cNvSpPr>
                      <a:spLocks noChangeShapeType="1"/>
                    </p:cNvSpPr>
                    <p:nvPr/>
                  </p:nvSpPr>
                  <p:spPr bwMode="auto">
                    <a:xfrm flipV="1">
                      <a:off x="2468" y="3081"/>
                      <a:ext cx="100" cy="18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861" name="Line 32">
                      <a:extLst>
                        <a:ext uri="{FF2B5EF4-FFF2-40B4-BE49-F238E27FC236}">
                          <a16:creationId xmlns:a16="http://schemas.microsoft.com/office/drawing/2014/main" id="{C228625E-0D92-879E-E3BF-16B7BDC6D1F9}"/>
                        </a:ext>
                      </a:extLst>
                    </p:cNvPr>
                    <p:cNvSpPr>
                      <a:spLocks noChangeShapeType="1"/>
                    </p:cNvSpPr>
                    <p:nvPr/>
                  </p:nvSpPr>
                  <p:spPr bwMode="auto">
                    <a:xfrm>
                      <a:off x="2242" y="3042"/>
                      <a:ext cx="250" cy="1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63857" name="Group 33">
                    <a:extLst>
                      <a:ext uri="{FF2B5EF4-FFF2-40B4-BE49-F238E27FC236}">
                        <a16:creationId xmlns:a16="http://schemas.microsoft.com/office/drawing/2014/main" id="{DCBB704F-4086-762C-9F66-A88FC4F06BC0}"/>
                      </a:ext>
                    </a:extLst>
                  </p:cNvPr>
                  <p:cNvGrpSpPr>
                    <a:grpSpLocks/>
                  </p:cNvGrpSpPr>
                  <p:nvPr/>
                </p:nvGrpSpPr>
                <p:grpSpPr bwMode="auto">
                  <a:xfrm>
                    <a:off x="5034" y="4146"/>
                    <a:ext cx="312" cy="273"/>
                    <a:chOff x="2806" y="3267"/>
                    <a:chExt cx="312" cy="273"/>
                  </a:xfrm>
                </p:grpSpPr>
                <p:sp>
                  <p:nvSpPr>
                    <p:cNvPr id="163858" name="Line 34">
                      <a:extLst>
                        <a:ext uri="{FF2B5EF4-FFF2-40B4-BE49-F238E27FC236}">
                          <a16:creationId xmlns:a16="http://schemas.microsoft.com/office/drawing/2014/main" id="{9ECB2CC3-B7CD-D1E1-F126-5FA2FA65E307}"/>
                        </a:ext>
                      </a:extLst>
                    </p:cNvPr>
                    <p:cNvSpPr>
                      <a:spLocks noChangeShapeType="1"/>
                    </p:cNvSpPr>
                    <p:nvPr/>
                  </p:nvSpPr>
                  <p:spPr bwMode="auto">
                    <a:xfrm flipV="1">
                      <a:off x="2806" y="3267"/>
                      <a:ext cx="100" cy="18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859" name="Line 35">
                      <a:extLst>
                        <a:ext uri="{FF2B5EF4-FFF2-40B4-BE49-F238E27FC236}">
                          <a16:creationId xmlns:a16="http://schemas.microsoft.com/office/drawing/2014/main" id="{80C0FB77-B56C-DFB4-88C8-25E5A246124A}"/>
                        </a:ext>
                      </a:extLst>
                    </p:cNvPr>
                    <p:cNvSpPr>
                      <a:spLocks noChangeShapeType="1"/>
                    </p:cNvSpPr>
                    <p:nvPr/>
                  </p:nvSpPr>
                  <p:spPr bwMode="auto">
                    <a:xfrm>
                      <a:off x="2868" y="3390"/>
                      <a:ext cx="250" cy="15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grpSp>
          </p:grpSp>
        </p:grpSp>
        <p:grpSp>
          <p:nvGrpSpPr>
            <p:cNvPr id="163845" name="Group 36">
              <a:extLst>
                <a:ext uri="{FF2B5EF4-FFF2-40B4-BE49-F238E27FC236}">
                  <a16:creationId xmlns:a16="http://schemas.microsoft.com/office/drawing/2014/main" id="{031364F8-0375-485F-13C2-37B5649553B8}"/>
                </a:ext>
              </a:extLst>
            </p:cNvPr>
            <p:cNvGrpSpPr>
              <a:grpSpLocks/>
            </p:cNvGrpSpPr>
            <p:nvPr/>
          </p:nvGrpSpPr>
          <p:grpSpPr bwMode="auto">
            <a:xfrm>
              <a:off x="4425" y="2310"/>
              <a:ext cx="350" cy="199"/>
              <a:chOff x="8352" y="2580"/>
              <a:chExt cx="876" cy="498"/>
            </a:xfrm>
          </p:grpSpPr>
          <p:sp>
            <p:nvSpPr>
              <p:cNvPr id="163846" name="Line 37">
                <a:extLst>
                  <a:ext uri="{FF2B5EF4-FFF2-40B4-BE49-F238E27FC236}">
                    <a16:creationId xmlns:a16="http://schemas.microsoft.com/office/drawing/2014/main" id="{7E5D7EC9-E7EE-256B-CBC8-14CAE59BCB5C}"/>
                  </a:ext>
                </a:extLst>
              </p:cNvPr>
              <p:cNvSpPr>
                <a:spLocks noChangeShapeType="1"/>
              </p:cNvSpPr>
              <p:nvPr/>
            </p:nvSpPr>
            <p:spPr bwMode="auto">
              <a:xfrm flipV="1">
                <a:off x="8578" y="2619"/>
                <a:ext cx="100" cy="18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847" name="Line 38">
                <a:extLst>
                  <a:ext uri="{FF2B5EF4-FFF2-40B4-BE49-F238E27FC236}">
                    <a16:creationId xmlns:a16="http://schemas.microsoft.com/office/drawing/2014/main" id="{5EBF9957-5FB2-816B-8EBF-E624167D1AFF}"/>
                  </a:ext>
                </a:extLst>
              </p:cNvPr>
              <p:cNvSpPr>
                <a:spLocks noChangeShapeType="1"/>
              </p:cNvSpPr>
              <p:nvPr/>
            </p:nvSpPr>
            <p:spPr bwMode="auto">
              <a:xfrm flipV="1">
                <a:off x="8916" y="2805"/>
                <a:ext cx="100" cy="18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848" name="Line 39">
                <a:extLst>
                  <a:ext uri="{FF2B5EF4-FFF2-40B4-BE49-F238E27FC236}">
                    <a16:creationId xmlns:a16="http://schemas.microsoft.com/office/drawing/2014/main" id="{9D07A866-0707-5975-6D63-AB23A3DE4B90}"/>
                  </a:ext>
                </a:extLst>
              </p:cNvPr>
              <p:cNvSpPr>
                <a:spLocks noChangeShapeType="1"/>
              </p:cNvSpPr>
              <p:nvPr/>
            </p:nvSpPr>
            <p:spPr bwMode="auto">
              <a:xfrm>
                <a:off x="8352" y="2580"/>
                <a:ext cx="250" cy="1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849" name="Line 40">
                <a:extLst>
                  <a:ext uri="{FF2B5EF4-FFF2-40B4-BE49-F238E27FC236}">
                    <a16:creationId xmlns:a16="http://schemas.microsoft.com/office/drawing/2014/main" id="{A89367E1-A708-BACE-FD13-0B0860B9289F}"/>
                  </a:ext>
                </a:extLst>
              </p:cNvPr>
              <p:cNvSpPr>
                <a:spLocks noChangeShapeType="1"/>
              </p:cNvSpPr>
              <p:nvPr/>
            </p:nvSpPr>
            <p:spPr bwMode="auto">
              <a:xfrm>
                <a:off x="8978" y="2928"/>
                <a:ext cx="250" cy="15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39" name="矩形 38">
            <a:extLst>
              <a:ext uri="{FF2B5EF4-FFF2-40B4-BE49-F238E27FC236}">
                <a16:creationId xmlns:a16="http://schemas.microsoft.com/office/drawing/2014/main" id="{67349CD2-D728-0DAA-2B1D-85FE8C639256}"/>
              </a:ext>
            </a:extLst>
          </p:cNvPr>
          <p:cNvSpPr/>
          <p:nvPr/>
        </p:nvSpPr>
        <p:spPr>
          <a:xfrm>
            <a:off x="928688" y="1109663"/>
            <a:ext cx="2643187" cy="461962"/>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a:defRPr/>
            </a:pPr>
            <a:r>
              <a:rPr kumimoji="0" lang="zh-CN" altLang="en-US" sz="2000" b="0" kern="0" dirty="0">
                <a:solidFill>
                  <a:srgbClr val="990099"/>
                </a:solidFill>
                <a:latin typeface="Arial" pitchFamily="34" charset="0"/>
                <a:ea typeface="微软雅黑" pitchFamily="34" charset="-122"/>
                <a:cs typeface="Arial" pitchFamily="34" charset="0"/>
              </a:rPr>
              <a:t>可见</a:t>
            </a:r>
            <a:r>
              <a:rPr kumimoji="0" lang="zh-CN" altLang="en-US" sz="2000" b="0" kern="0" dirty="0">
                <a:solidFill>
                  <a:srgbClr val="0000CC"/>
                </a:solidFill>
                <a:latin typeface="Arial" pitchFamily="34" charset="0"/>
                <a:ea typeface="微软雅黑" pitchFamily="34" charset="-122"/>
                <a:cs typeface="Arial" pitchFamily="34" charset="0"/>
              </a:rPr>
              <a:t>：</a:t>
            </a:r>
            <a:r>
              <a:rPr kumimoji="0" lang="en-US" altLang="zh-CN" sz="2400" i="1" kern="0" dirty="0">
                <a:solidFill>
                  <a:srgbClr val="0000CC"/>
                </a:solidFill>
                <a:latin typeface="Arial" pitchFamily="34" charset="0"/>
                <a:ea typeface="微软雅黑" pitchFamily="34" charset="-122"/>
                <a:cs typeface="Arial" pitchFamily="34" charset="0"/>
              </a:rPr>
              <a:t>d</a:t>
            </a:r>
            <a:r>
              <a:rPr kumimoji="0" lang="en-US" altLang="zh-CN" sz="2400" kern="0" baseline="-25000" dirty="0">
                <a:solidFill>
                  <a:srgbClr val="0000CC"/>
                </a:solidFill>
                <a:latin typeface="Arial" pitchFamily="34" charset="0"/>
                <a:ea typeface="微软雅黑" pitchFamily="34" charset="-122"/>
                <a:cs typeface="Arial" pitchFamily="34" charset="0"/>
              </a:rPr>
              <a:t>2</a:t>
            </a:r>
            <a:r>
              <a:rPr kumimoji="0" lang="en-US" altLang="zh-CN" sz="2400" kern="0" dirty="0">
                <a:solidFill>
                  <a:srgbClr val="0000CC"/>
                </a:solidFill>
                <a:latin typeface="Arial" pitchFamily="34" charset="0"/>
                <a:ea typeface="微软雅黑" pitchFamily="34" charset="-122"/>
                <a:cs typeface="Arial" pitchFamily="34" charset="0"/>
              </a:rPr>
              <a:t> &gt; </a:t>
            </a:r>
            <a:r>
              <a:rPr kumimoji="0" lang="en-US" altLang="zh-CN" sz="2400" i="1" kern="0" dirty="0">
                <a:solidFill>
                  <a:srgbClr val="0000CC"/>
                </a:solidFill>
                <a:latin typeface="Arial" pitchFamily="34" charset="0"/>
                <a:ea typeface="微软雅黑" pitchFamily="34" charset="-122"/>
                <a:cs typeface="Arial" pitchFamily="34" charset="0"/>
              </a:rPr>
              <a:t>d</a:t>
            </a:r>
            <a:r>
              <a:rPr kumimoji="0" lang="en-US" altLang="zh-CN" sz="2400" kern="0" baseline="-25000" dirty="0">
                <a:solidFill>
                  <a:srgbClr val="0000CC"/>
                </a:solidFill>
                <a:latin typeface="Arial" pitchFamily="34" charset="0"/>
                <a:ea typeface="微软雅黑" pitchFamily="34" charset="-122"/>
                <a:cs typeface="Arial" pitchFamily="34" charset="0"/>
              </a:rPr>
              <a:t>1</a:t>
            </a:r>
            <a:r>
              <a:rPr kumimoji="0" lang="en-US" altLang="zh-CN" sz="2400" kern="0" dirty="0">
                <a:solidFill>
                  <a:srgbClr val="0000CC"/>
                </a:solidFill>
                <a:latin typeface="Arial" pitchFamily="34" charset="0"/>
                <a:ea typeface="微软雅黑" pitchFamily="34" charset="-122"/>
                <a:cs typeface="Arial" pitchFamily="34" charset="0"/>
              </a:rPr>
              <a:t> &gt; </a:t>
            </a:r>
            <a:r>
              <a:rPr kumimoji="0" lang="en-US" altLang="zh-CN" sz="2400" i="1" kern="0" dirty="0">
                <a:solidFill>
                  <a:srgbClr val="0000CC"/>
                </a:solidFill>
                <a:latin typeface="Arial" pitchFamily="34" charset="0"/>
                <a:ea typeface="微软雅黑" pitchFamily="34" charset="-122"/>
                <a:cs typeface="Arial" pitchFamily="34" charset="0"/>
              </a:rPr>
              <a:t>d</a:t>
            </a:r>
            <a:r>
              <a:rPr kumimoji="0" lang="en-US" altLang="zh-CN" sz="2400" kern="0" baseline="-25000" dirty="0">
                <a:solidFill>
                  <a:srgbClr val="0000CC"/>
                </a:solidFill>
                <a:latin typeface="Arial" pitchFamily="34" charset="0"/>
                <a:ea typeface="微软雅黑" pitchFamily="34" charset="-122"/>
                <a:cs typeface="Arial" pitchFamily="34" charset="0"/>
              </a:rPr>
              <a:t>0</a:t>
            </a:r>
            <a:endParaRPr lang="zh-CN" altLang="en-US" sz="2400" dirty="0">
              <a:solidFill>
                <a:srgbClr val="0000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left)">
                                      <p:cBhvr>
                                        <p:cTn id="7" dur="1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5" name="Rectangle 3">
            <a:extLst>
              <a:ext uri="{FF2B5EF4-FFF2-40B4-BE49-F238E27FC236}">
                <a16:creationId xmlns:a16="http://schemas.microsoft.com/office/drawing/2014/main" id="{95D0BD7C-B7DF-D11A-A33E-C7A520954D03}"/>
              </a:ext>
            </a:extLst>
          </p:cNvPr>
          <p:cNvSpPr>
            <a:spLocks noGrp="1" noChangeArrowheads="1"/>
          </p:cNvSpPr>
          <p:nvPr>
            <p:ph type="body" idx="1"/>
          </p:nvPr>
        </p:nvSpPr>
        <p:spPr>
          <a:xfrm>
            <a:off x="1000125" y="4286250"/>
            <a:ext cx="7500938" cy="1347788"/>
          </a:xfrm>
        </p:spPr>
        <p:txBody>
          <a:bodyPr/>
          <a:lstStyle/>
          <a:p>
            <a:pPr eaLnBrk="1" hangingPunct="1">
              <a:lnSpc>
                <a:spcPct val="120000"/>
              </a:lnSpc>
              <a:buFont typeface="Wingdings" panose="05000000000000000000" pitchFamily="2" charset="2"/>
              <a:buNone/>
            </a:pPr>
            <a:r>
              <a:rPr lang="zh-CN" altLang="en-US" sz="2000">
                <a:latin typeface="Arial" panose="020B0604020202020204" pitchFamily="34" charset="0"/>
                <a:ea typeface="微软雅黑" panose="020B0503020204020204" pitchFamily="34" charset="-122"/>
                <a:cs typeface="Arial" panose="020B0604020202020204" pitchFamily="34" charset="0"/>
              </a:rPr>
              <a:t>由上图可见，这个卷积码的约束长度等于</a:t>
            </a:r>
            <a:r>
              <a:rPr lang="en-US" altLang="zh-CN" sz="2000">
                <a:solidFill>
                  <a:srgbClr val="0000CC"/>
                </a:solidFill>
                <a:latin typeface="Arial" panose="020B0604020202020204" pitchFamily="34" charset="0"/>
                <a:ea typeface="微软雅黑" panose="020B0503020204020204" pitchFamily="34" charset="-122"/>
                <a:cs typeface="Arial" panose="020B0604020202020204" pitchFamily="34" charset="0"/>
              </a:rPr>
              <a:t>3</a:t>
            </a:r>
            <a:r>
              <a:rPr lang="zh-CN" altLang="en-US" sz="2000">
                <a:latin typeface="Arial" panose="020B0604020202020204" pitchFamily="34" charset="0"/>
                <a:ea typeface="微软雅黑" panose="020B0503020204020204" pitchFamily="34" charset="-122"/>
                <a:cs typeface="Arial" panose="020B0604020202020204" pitchFamily="34" charset="0"/>
              </a:rPr>
              <a:t>。编码器输出的前两个</a:t>
            </a:r>
            <a:endParaRPr lang="en-US" altLang="zh-CN" sz="2000">
              <a:latin typeface="Arial" panose="020B0604020202020204" pitchFamily="34" charset="0"/>
              <a:ea typeface="微软雅黑" panose="020B0503020204020204" pitchFamily="34" charset="-122"/>
              <a:cs typeface="Arial" panose="020B0604020202020204" pitchFamily="34" charset="0"/>
            </a:endParaRPr>
          </a:p>
          <a:p>
            <a:pPr eaLnBrk="1" hangingPunct="1">
              <a:lnSpc>
                <a:spcPct val="120000"/>
              </a:lnSpc>
              <a:buFont typeface="Wingdings" panose="05000000000000000000" pitchFamily="2" charset="2"/>
              <a:buNone/>
            </a:pPr>
            <a:r>
              <a:rPr lang="zh-CN" altLang="en-US" sz="2000">
                <a:latin typeface="Arial" panose="020B0604020202020204" pitchFamily="34" charset="0"/>
                <a:ea typeface="微软雅黑" panose="020B0503020204020204" pitchFamily="34" charset="-122"/>
                <a:cs typeface="Arial" panose="020B0604020202020204" pitchFamily="34" charset="0"/>
              </a:rPr>
              <a:t>比特</a:t>
            </a:r>
            <a:r>
              <a:rPr lang="en-US" altLang="zh-CN" sz="2000" b="1" i="1">
                <a:solidFill>
                  <a:srgbClr val="0000CC"/>
                </a:solidFill>
                <a:latin typeface="Arial" panose="020B0604020202020204" pitchFamily="34" charset="0"/>
                <a:ea typeface="微软雅黑" panose="020B0503020204020204" pitchFamily="34" charset="-122"/>
                <a:cs typeface="Arial" panose="020B0604020202020204" pitchFamily="34" charset="0"/>
              </a:rPr>
              <a:t>c</a:t>
            </a:r>
            <a:r>
              <a:rPr lang="en-US" altLang="zh-CN" sz="2000" b="1" baseline="-25000">
                <a:solidFill>
                  <a:srgbClr val="0000CC"/>
                </a:solidFill>
                <a:latin typeface="Arial" panose="020B0604020202020204" pitchFamily="34" charset="0"/>
                <a:ea typeface="微软雅黑" panose="020B0503020204020204" pitchFamily="34" charset="-122"/>
                <a:cs typeface="Arial" panose="020B0604020202020204" pitchFamily="34" charset="0"/>
              </a:rPr>
              <a:t>1</a:t>
            </a:r>
            <a:r>
              <a:rPr lang="zh-CN" altLang="en-US" sz="2000">
                <a:latin typeface="Arial" panose="020B0604020202020204" pitchFamily="34" charset="0"/>
                <a:ea typeface="微软雅黑" panose="020B0503020204020204" pitchFamily="34" charset="-122"/>
                <a:cs typeface="Arial" panose="020B0604020202020204" pitchFamily="34" charset="0"/>
              </a:rPr>
              <a:t>和</a:t>
            </a:r>
            <a:r>
              <a:rPr lang="en-US" altLang="zh-CN" sz="2000" b="1" i="1">
                <a:solidFill>
                  <a:srgbClr val="0000CC"/>
                </a:solidFill>
                <a:latin typeface="Arial" panose="020B0604020202020204" pitchFamily="34" charset="0"/>
                <a:ea typeface="微软雅黑" panose="020B0503020204020204" pitchFamily="34" charset="-122"/>
                <a:cs typeface="Arial" panose="020B0604020202020204" pitchFamily="34" charset="0"/>
              </a:rPr>
              <a:t>c</a:t>
            </a:r>
            <a:r>
              <a:rPr lang="en-US" altLang="zh-CN" sz="2000" b="1" baseline="-25000">
                <a:solidFill>
                  <a:srgbClr val="0000CC"/>
                </a:solidFill>
                <a:latin typeface="Arial" panose="020B0604020202020204" pitchFamily="34" charset="0"/>
                <a:ea typeface="微软雅黑" panose="020B0503020204020204" pitchFamily="34" charset="-122"/>
                <a:cs typeface="Arial" panose="020B0604020202020204" pitchFamily="34" charset="0"/>
              </a:rPr>
              <a:t>2</a:t>
            </a:r>
            <a:r>
              <a:rPr lang="zh-CN" altLang="en-US" sz="2000">
                <a:latin typeface="Arial" panose="020B0604020202020204" pitchFamily="34" charset="0"/>
                <a:ea typeface="微软雅黑" panose="020B0503020204020204" pitchFamily="34" charset="-122"/>
                <a:cs typeface="Arial" panose="020B0604020202020204" pitchFamily="34" charset="0"/>
              </a:rPr>
              <a:t>用来选择星座图划分的路径，最后</a:t>
            </a:r>
            <a:r>
              <a:rPr lang="en-US" altLang="zh-CN" sz="2000">
                <a:latin typeface="Arial" panose="020B0604020202020204" pitchFamily="34" charset="0"/>
                <a:ea typeface="微软雅黑" panose="020B0503020204020204" pitchFamily="34" charset="-122"/>
                <a:cs typeface="Arial" panose="020B0604020202020204" pitchFamily="34" charset="0"/>
              </a:rPr>
              <a:t>1</a:t>
            </a:r>
            <a:r>
              <a:rPr lang="zh-CN" altLang="en-US" sz="2000">
                <a:latin typeface="Arial" panose="020B0604020202020204" pitchFamily="34" charset="0"/>
                <a:ea typeface="微软雅黑" panose="020B0503020204020204" pitchFamily="34" charset="-122"/>
                <a:cs typeface="Arial" panose="020B0604020202020204" pitchFamily="34" charset="0"/>
              </a:rPr>
              <a:t>个比特</a:t>
            </a:r>
            <a:r>
              <a:rPr lang="en-US" altLang="zh-CN" sz="2000" b="1" i="1">
                <a:solidFill>
                  <a:srgbClr val="0000CC"/>
                </a:solidFill>
                <a:latin typeface="Arial" panose="020B0604020202020204" pitchFamily="34" charset="0"/>
                <a:ea typeface="微软雅黑" panose="020B0503020204020204" pitchFamily="34" charset="-122"/>
                <a:cs typeface="Arial" panose="020B0604020202020204" pitchFamily="34" charset="0"/>
              </a:rPr>
              <a:t>c</a:t>
            </a:r>
            <a:r>
              <a:rPr lang="en-US" altLang="zh-CN" sz="2000" b="1" baseline="-25000">
                <a:solidFill>
                  <a:srgbClr val="0000CC"/>
                </a:solidFill>
                <a:latin typeface="Arial" panose="020B0604020202020204" pitchFamily="34" charset="0"/>
                <a:ea typeface="微软雅黑" panose="020B0503020204020204" pitchFamily="34" charset="-122"/>
                <a:cs typeface="Arial" panose="020B0604020202020204" pitchFamily="34" charset="0"/>
              </a:rPr>
              <a:t>3</a:t>
            </a:r>
            <a:r>
              <a:rPr lang="zh-CN" altLang="en-US" sz="2000">
                <a:latin typeface="Arial" panose="020B0604020202020204" pitchFamily="34" charset="0"/>
                <a:ea typeface="微软雅黑" panose="020B0503020204020204" pitchFamily="34" charset="-122"/>
                <a:cs typeface="Arial" panose="020B0604020202020204" pitchFamily="34" charset="0"/>
              </a:rPr>
              <a:t>用于选定</a:t>
            </a:r>
            <a:endParaRPr lang="en-US" altLang="zh-CN" sz="2000">
              <a:latin typeface="Arial" panose="020B0604020202020204" pitchFamily="34" charset="0"/>
              <a:ea typeface="微软雅黑" panose="020B0503020204020204" pitchFamily="34" charset="-122"/>
              <a:cs typeface="Arial" panose="020B0604020202020204" pitchFamily="34" charset="0"/>
            </a:endParaRPr>
          </a:p>
          <a:p>
            <a:pPr eaLnBrk="1" hangingPunct="1">
              <a:lnSpc>
                <a:spcPct val="120000"/>
              </a:lnSpc>
              <a:buFont typeface="Wingdings" panose="05000000000000000000" pitchFamily="2" charset="2"/>
              <a:buNone/>
            </a:pPr>
            <a:r>
              <a:rPr lang="zh-CN" altLang="en-US" sz="2000">
                <a:latin typeface="Arial" panose="020B0604020202020204" pitchFamily="34" charset="0"/>
                <a:ea typeface="微软雅黑" panose="020B0503020204020204" pitchFamily="34" charset="-122"/>
                <a:cs typeface="Arial" panose="020B0604020202020204" pitchFamily="34" charset="0"/>
              </a:rPr>
              <a:t>星座图第</a:t>
            </a:r>
            <a:r>
              <a:rPr lang="en-US" altLang="zh-CN" sz="2000">
                <a:latin typeface="Arial" panose="020B0604020202020204" pitchFamily="34" charset="0"/>
                <a:ea typeface="微软雅黑" panose="020B0503020204020204" pitchFamily="34" charset="-122"/>
                <a:cs typeface="Arial" panose="020B0604020202020204" pitchFamily="34" charset="0"/>
              </a:rPr>
              <a:t>3</a:t>
            </a:r>
            <a:r>
              <a:rPr lang="zh-CN" altLang="en-US" sz="2000">
                <a:latin typeface="Arial" panose="020B0604020202020204" pitchFamily="34" charset="0"/>
                <a:ea typeface="微软雅黑" panose="020B0503020204020204" pitchFamily="34" charset="-122"/>
                <a:cs typeface="Arial" panose="020B0604020202020204" pitchFamily="34" charset="0"/>
              </a:rPr>
              <a:t>级（最低级）中的信号点。 </a:t>
            </a:r>
          </a:p>
        </p:txBody>
      </p:sp>
      <p:grpSp>
        <p:nvGrpSpPr>
          <p:cNvPr id="2" name="Group 4">
            <a:extLst>
              <a:ext uri="{FF2B5EF4-FFF2-40B4-BE49-F238E27FC236}">
                <a16:creationId xmlns:a16="http://schemas.microsoft.com/office/drawing/2014/main" id="{4FF490B8-FF97-702A-106F-BEC9DF5979AB}"/>
              </a:ext>
            </a:extLst>
          </p:cNvPr>
          <p:cNvGrpSpPr>
            <a:grpSpLocks/>
          </p:cNvGrpSpPr>
          <p:nvPr/>
        </p:nvGrpSpPr>
        <p:grpSpPr bwMode="auto">
          <a:xfrm>
            <a:off x="1646238" y="1763713"/>
            <a:ext cx="6416675" cy="2165350"/>
            <a:chOff x="4032" y="8001"/>
            <a:chExt cx="6661" cy="2147"/>
          </a:xfrm>
        </p:grpSpPr>
        <p:sp>
          <p:nvSpPr>
            <p:cNvPr id="164869" name="Line 5">
              <a:extLst>
                <a:ext uri="{FF2B5EF4-FFF2-40B4-BE49-F238E27FC236}">
                  <a16:creationId xmlns:a16="http://schemas.microsoft.com/office/drawing/2014/main" id="{62597081-6412-E9E6-BBE4-D1FDE5833896}"/>
                </a:ext>
              </a:extLst>
            </p:cNvPr>
            <p:cNvSpPr>
              <a:spLocks noChangeShapeType="1"/>
            </p:cNvSpPr>
            <p:nvPr/>
          </p:nvSpPr>
          <p:spPr bwMode="auto">
            <a:xfrm flipH="1" flipV="1">
              <a:off x="5204" y="9726"/>
              <a:ext cx="4126" cy="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nvGrpSpPr>
            <p:cNvPr id="164870" name="Group 6">
              <a:extLst>
                <a:ext uri="{FF2B5EF4-FFF2-40B4-BE49-F238E27FC236}">
                  <a16:creationId xmlns:a16="http://schemas.microsoft.com/office/drawing/2014/main" id="{EE77CDC3-B35C-D453-8DA5-AA290EEF9577}"/>
                </a:ext>
              </a:extLst>
            </p:cNvPr>
            <p:cNvGrpSpPr>
              <a:grpSpLocks/>
            </p:cNvGrpSpPr>
            <p:nvPr/>
          </p:nvGrpSpPr>
          <p:grpSpPr bwMode="auto">
            <a:xfrm>
              <a:off x="4032" y="8001"/>
              <a:ext cx="6661" cy="2147"/>
              <a:chOff x="4032" y="8001"/>
              <a:chExt cx="6661" cy="2147"/>
            </a:xfrm>
          </p:grpSpPr>
          <p:grpSp>
            <p:nvGrpSpPr>
              <p:cNvPr id="164871" name="Group 7">
                <a:extLst>
                  <a:ext uri="{FF2B5EF4-FFF2-40B4-BE49-F238E27FC236}">
                    <a16:creationId xmlns:a16="http://schemas.microsoft.com/office/drawing/2014/main" id="{F3FF6B7F-3CCA-0B07-8D45-D335217302F3}"/>
                  </a:ext>
                </a:extLst>
              </p:cNvPr>
              <p:cNvGrpSpPr>
                <a:grpSpLocks/>
              </p:cNvGrpSpPr>
              <p:nvPr/>
            </p:nvGrpSpPr>
            <p:grpSpPr bwMode="auto">
              <a:xfrm>
                <a:off x="8394" y="8871"/>
                <a:ext cx="2299" cy="921"/>
                <a:chOff x="7823" y="8700"/>
                <a:chExt cx="2299" cy="921"/>
              </a:xfrm>
            </p:grpSpPr>
            <p:grpSp>
              <p:nvGrpSpPr>
                <p:cNvPr id="164899" name="Group 8">
                  <a:extLst>
                    <a:ext uri="{FF2B5EF4-FFF2-40B4-BE49-F238E27FC236}">
                      <a16:creationId xmlns:a16="http://schemas.microsoft.com/office/drawing/2014/main" id="{22C857F7-80BE-F43B-C26C-0C4925101453}"/>
                    </a:ext>
                  </a:extLst>
                </p:cNvPr>
                <p:cNvGrpSpPr>
                  <a:grpSpLocks/>
                </p:cNvGrpSpPr>
                <p:nvPr/>
              </p:nvGrpSpPr>
              <p:grpSpPr bwMode="auto">
                <a:xfrm>
                  <a:off x="8158" y="8700"/>
                  <a:ext cx="738" cy="921"/>
                  <a:chOff x="8624" y="2355"/>
                  <a:chExt cx="738" cy="921"/>
                </a:xfrm>
              </p:grpSpPr>
              <p:sp>
                <p:nvSpPr>
                  <p:cNvPr id="164911" name="Text Box 9">
                    <a:extLst>
                      <a:ext uri="{FF2B5EF4-FFF2-40B4-BE49-F238E27FC236}">
                        <a16:creationId xmlns:a16="http://schemas.microsoft.com/office/drawing/2014/main" id="{C6328951-EF7F-7686-F548-43665278DC06}"/>
                      </a:ext>
                    </a:extLst>
                  </p:cNvPr>
                  <p:cNvSpPr txBox="1">
                    <a:spLocks noChangeArrowheads="1"/>
                  </p:cNvSpPr>
                  <p:nvPr/>
                </p:nvSpPr>
                <p:spPr bwMode="auto">
                  <a:xfrm>
                    <a:off x="8624" y="2592"/>
                    <a:ext cx="618"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0000"/>
                      </a:lnSpc>
                    </a:pPr>
                    <a:r>
                      <a:rPr lang="en-US" altLang="zh-CN" sz="2000">
                        <a:solidFill>
                          <a:srgbClr val="003399"/>
                        </a:solidFill>
                        <a:latin typeface="Arial" panose="020B0604020202020204" pitchFamily="34" charset="0"/>
                        <a:ea typeface="微软雅黑" panose="020B0503020204020204" pitchFamily="34" charset="-122"/>
                        <a:cs typeface="Arial" panose="020B0604020202020204" pitchFamily="34" charset="0"/>
                      </a:rPr>
                      <a:t>c</a:t>
                    </a:r>
                    <a:r>
                      <a:rPr lang="en-US" altLang="zh-CN" sz="2000" baseline="-25000">
                        <a:solidFill>
                          <a:srgbClr val="003399"/>
                        </a:solidFill>
                        <a:latin typeface="Arial" panose="020B0604020202020204" pitchFamily="34" charset="0"/>
                        <a:ea typeface="微软雅黑" panose="020B0503020204020204" pitchFamily="34" charset="-122"/>
                        <a:cs typeface="Arial" panose="020B0604020202020204" pitchFamily="34" charset="0"/>
                      </a:rPr>
                      <a:t>2</a:t>
                    </a:r>
                    <a:endParaRPr lang="en-US" altLang="zh-CN" sz="20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164912" name="Text Box 10">
                    <a:extLst>
                      <a:ext uri="{FF2B5EF4-FFF2-40B4-BE49-F238E27FC236}">
                        <a16:creationId xmlns:a16="http://schemas.microsoft.com/office/drawing/2014/main" id="{4647429A-6F42-A37B-C9DD-663D9DB8114C}"/>
                      </a:ext>
                    </a:extLst>
                  </p:cNvPr>
                  <p:cNvSpPr txBox="1">
                    <a:spLocks noChangeArrowheads="1"/>
                  </p:cNvSpPr>
                  <p:nvPr/>
                </p:nvSpPr>
                <p:spPr bwMode="auto">
                  <a:xfrm>
                    <a:off x="8744" y="2355"/>
                    <a:ext cx="618"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0000"/>
                      </a:lnSpc>
                    </a:pPr>
                    <a:r>
                      <a:rPr lang="en-US" altLang="zh-CN" sz="2000">
                        <a:solidFill>
                          <a:srgbClr val="003399"/>
                        </a:solidFill>
                        <a:latin typeface="Arial" panose="020B0604020202020204" pitchFamily="34" charset="0"/>
                        <a:ea typeface="微软雅黑" panose="020B0503020204020204" pitchFamily="34" charset="-122"/>
                        <a:cs typeface="Arial" panose="020B0604020202020204" pitchFamily="34" charset="0"/>
                      </a:rPr>
                      <a:t>c</a:t>
                    </a:r>
                    <a:r>
                      <a:rPr lang="en-US" altLang="zh-CN" sz="2000" baseline="-25000">
                        <a:solidFill>
                          <a:srgbClr val="003399"/>
                        </a:solidFill>
                        <a:latin typeface="Arial" panose="020B0604020202020204" pitchFamily="34" charset="0"/>
                        <a:ea typeface="微软雅黑" panose="020B0503020204020204" pitchFamily="34" charset="-122"/>
                        <a:cs typeface="Arial" panose="020B0604020202020204" pitchFamily="34" charset="0"/>
                      </a:rPr>
                      <a:t>1</a:t>
                    </a:r>
                    <a:endParaRPr lang="en-US" altLang="zh-CN" sz="20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164913" name="Line 11">
                    <a:extLst>
                      <a:ext uri="{FF2B5EF4-FFF2-40B4-BE49-F238E27FC236}">
                        <a16:creationId xmlns:a16="http://schemas.microsoft.com/office/drawing/2014/main" id="{E3822A8F-62F4-82DF-1325-6F8725A53615}"/>
                      </a:ext>
                    </a:extLst>
                  </p:cNvPr>
                  <p:cNvSpPr>
                    <a:spLocks noChangeShapeType="1"/>
                  </p:cNvSpPr>
                  <p:nvPr/>
                </p:nvSpPr>
                <p:spPr bwMode="auto">
                  <a:xfrm>
                    <a:off x="8698" y="2907"/>
                    <a:ext cx="42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914" name="Text Box 12">
                    <a:extLst>
                      <a:ext uri="{FF2B5EF4-FFF2-40B4-BE49-F238E27FC236}">
                        <a16:creationId xmlns:a16="http://schemas.microsoft.com/office/drawing/2014/main" id="{1C838134-E26D-95F6-48FC-65FBF933C5D6}"/>
                      </a:ext>
                    </a:extLst>
                  </p:cNvPr>
                  <p:cNvSpPr txBox="1">
                    <a:spLocks noChangeArrowheads="1"/>
                  </p:cNvSpPr>
                  <p:nvPr/>
                </p:nvSpPr>
                <p:spPr bwMode="auto">
                  <a:xfrm>
                    <a:off x="8672" y="2925"/>
                    <a:ext cx="618"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0000"/>
                      </a:lnSpc>
                    </a:pPr>
                    <a:r>
                      <a:rPr lang="en-US" altLang="zh-CN" sz="2000">
                        <a:solidFill>
                          <a:srgbClr val="003399"/>
                        </a:solidFill>
                        <a:latin typeface="Arial" panose="020B0604020202020204" pitchFamily="34" charset="0"/>
                        <a:ea typeface="微软雅黑" panose="020B0503020204020204" pitchFamily="34" charset="-122"/>
                        <a:cs typeface="Arial" panose="020B0604020202020204" pitchFamily="34" charset="0"/>
                      </a:rPr>
                      <a:t>c</a:t>
                    </a:r>
                    <a:r>
                      <a:rPr lang="en-US" altLang="zh-CN" sz="2000" baseline="-25000">
                        <a:solidFill>
                          <a:srgbClr val="003399"/>
                        </a:solidFill>
                        <a:latin typeface="Arial" panose="020B0604020202020204" pitchFamily="34" charset="0"/>
                        <a:ea typeface="微软雅黑" panose="020B0503020204020204" pitchFamily="34" charset="-122"/>
                        <a:cs typeface="Arial" panose="020B0604020202020204" pitchFamily="34" charset="0"/>
                      </a:rPr>
                      <a:t>3</a:t>
                    </a:r>
                    <a:endParaRPr lang="en-US" altLang="zh-CN" sz="20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64900" name="Group 13">
                  <a:extLst>
                    <a:ext uri="{FF2B5EF4-FFF2-40B4-BE49-F238E27FC236}">
                      <a16:creationId xmlns:a16="http://schemas.microsoft.com/office/drawing/2014/main" id="{6D7C1CF7-ADD8-20A9-760F-3AF479F1042F}"/>
                    </a:ext>
                  </a:extLst>
                </p:cNvPr>
                <p:cNvGrpSpPr>
                  <a:grpSpLocks/>
                </p:cNvGrpSpPr>
                <p:nvPr/>
              </p:nvGrpSpPr>
              <p:grpSpPr bwMode="auto">
                <a:xfrm>
                  <a:off x="8664" y="8874"/>
                  <a:ext cx="1458" cy="708"/>
                  <a:chOff x="9040" y="1491"/>
                  <a:chExt cx="1458" cy="708"/>
                </a:xfrm>
              </p:grpSpPr>
              <p:sp>
                <p:nvSpPr>
                  <p:cNvPr id="164902" name="AutoShape 14">
                    <a:extLst>
                      <a:ext uri="{FF2B5EF4-FFF2-40B4-BE49-F238E27FC236}">
                        <a16:creationId xmlns:a16="http://schemas.microsoft.com/office/drawing/2014/main" id="{962E51EC-4648-981F-BEC5-4ABB718F96F2}"/>
                      </a:ext>
                    </a:extLst>
                  </p:cNvPr>
                  <p:cNvSpPr>
                    <a:spLocks noChangeArrowheads="1"/>
                  </p:cNvSpPr>
                  <p:nvPr/>
                </p:nvSpPr>
                <p:spPr bwMode="auto">
                  <a:xfrm>
                    <a:off x="9040" y="1806"/>
                    <a:ext cx="102" cy="105"/>
                  </a:xfrm>
                  <a:prstGeom prst="flowChartConnector">
                    <a:avLst/>
                  </a:prstGeom>
                  <a:solidFill>
                    <a:srgbClr val="FFFFFF"/>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164903" name="Oval 15">
                    <a:extLst>
                      <a:ext uri="{FF2B5EF4-FFF2-40B4-BE49-F238E27FC236}">
                        <a16:creationId xmlns:a16="http://schemas.microsoft.com/office/drawing/2014/main" id="{86F1EA8D-7339-B8D3-7F31-48808AE73F5E}"/>
                      </a:ext>
                    </a:extLst>
                  </p:cNvPr>
                  <p:cNvSpPr>
                    <a:spLocks noChangeArrowheads="1"/>
                  </p:cNvSpPr>
                  <p:nvPr/>
                </p:nvSpPr>
                <p:spPr bwMode="auto">
                  <a:xfrm>
                    <a:off x="9132" y="2100"/>
                    <a:ext cx="99" cy="99"/>
                  </a:xfrm>
                  <a:prstGeom prst="ellipse">
                    <a:avLst/>
                  </a:prstGeom>
                  <a:solidFill>
                    <a:srgbClr val="FFFFFF"/>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164904" name="AutoShape 16">
                    <a:extLst>
                      <a:ext uri="{FF2B5EF4-FFF2-40B4-BE49-F238E27FC236}">
                        <a16:creationId xmlns:a16="http://schemas.microsoft.com/office/drawing/2014/main" id="{0A6BC971-105D-A582-E94F-34EB73AAAC2B}"/>
                      </a:ext>
                    </a:extLst>
                  </p:cNvPr>
                  <p:cNvSpPr>
                    <a:spLocks noChangeArrowheads="1"/>
                  </p:cNvSpPr>
                  <p:nvPr/>
                </p:nvSpPr>
                <p:spPr bwMode="auto">
                  <a:xfrm>
                    <a:off x="9115" y="1491"/>
                    <a:ext cx="102" cy="105"/>
                  </a:xfrm>
                  <a:prstGeom prst="flowChartConnector">
                    <a:avLst/>
                  </a:prstGeom>
                  <a:solidFill>
                    <a:srgbClr val="FFFFFF"/>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grpSp>
                <p:nvGrpSpPr>
                  <p:cNvPr id="164905" name="Group 17">
                    <a:extLst>
                      <a:ext uri="{FF2B5EF4-FFF2-40B4-BE49-F238E27FC236}">
                        <a16:creationId xmlns:a16="http://schemas.microsoft.com/office/drawing/2014/main" id="{230F4F8E-A5C9-52BF-E6E7-81562F74D29E}"/>
                      </a:ext>
                    </a:extLst>
                  </p:cNvPr>
                  <p:cNvGrpSpPr>
                    <a:grpSpLocks/>
                  </p:cNvGrpSpPr>
                  <p:nvPr/>
                </p:nvGrpSpPr>
                <p:grpSpPr bwMode="auto">
                  <a:xfrm>
                    <a:off x="9223" y="1527"/>
                    <a:ext cx="1275" cy="568"/>
                    <a:chOff x="8773" y="1824"/>
                    <a:chExt cx="1275" cy="568"/>
                  </a:xfrm>
                </p:grpSpPr>
                <p:sp>
                  <p:nvSpPr>
                    <p:cNvPr id="164906" name="Line 18">
                      <a:extLst>
                        <a:ext uri="{FF2B5EF4-FFF2-40B4-BE49-F238E27FC236}">
                          <a16:creationId xmlns:a16="http://schemas.microsoft.com/office/drawing/2014/main" id="{AE2EF872-D94F-1F9F-C1F0-EAA8A02E9937}"/>
                        </a:ext>
                      </a:extLst>
                    </p:cNvPr>
                    <p:cNvSpPr>
                      <a:spLocks noChangeShapeType="1"/>
                    </p:cNvSpPr>
                    <p:nvPr/>
                  </p:nvSpPr>
                  <p:spPr bwMode="auto">
                    <a:xfrm flipV="1">
                      <a:off x="8773" y="2161"/>
                      <a:ext cx="360" cy="231"/>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nvGrpSpPr>
                    <p:cNvPr id="164907" name="Group 19">
                      <a:extLst>
                        <a:ext uri="{FF2B5EF4-FFF2-40B4-BE49-F238E27FC236}">
                          <a16:creationId xmlns:a16="http://schemas.microsoft.com/office/drawing/2014/main" id="{53EEB95A-A10F-7477-1445-3260719A0850}"/>
                        </a:ext>
                      </a:extLst>
                    </p:cNvPr>
                    <p:cNvGrpSpPr>
                      <a:grpSpLocks/>
                    </p:cNvGrpSpPr>
                    <p:nvPr/>
                  </p:nvGrpSpPr>
                  <p:grpSpPr bwMode="auto">
                    <a:xfrm>
                      <a:off x="8797" y="1824"/>
                      <a:ext cx="1251" cy="390"/>
                      <a:chOff x="9258" y="11373"/>
                      <a:chExt cx="1251" cy="390"/>
                    </a:xfrm>
                  </p:grpSpPr>
                  <p:sp>
                    <p:nvSpPr>
                      <p:cNvPr id="164908" name="AutoShape 20">
                        <a:extLst>
                          <a:ext uri="{FF2B5EF4-FFF2-40B4-BE49-F238E27FC236}">
                            <a16:creationId xmlns:a16="http://schemas.microsoft.com/office/drawing/2014/main" id="{FEE139BE-E7CF-9827-DB22-66772DA7F200}"/>
                          </a:ext>
                        </a:extLst>
                      </p:cNvPr>
                      <p:cNvSpPr>
                        <a:spLocks noChangeArrowheads="1"/>
                      </p:cNvSpPr>
                      <p:nvPr/>
                    </p:nvSpPr>
                    <p:spPr bwMode="auto">
                      <a:xfrm>
                        <a:off x="9594" y="11658"/>
                        <a:ext cx="102" cy="105"/>
                      </a:xfrm>
                      <a:prstGeom prst="flowChartConnector">
                        <a:avLst/>
                      </a:prstGeom>
                      <a:solidFill>
                        <a:srgbClr val="FFFFFF"/>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164909" name="Line 21">
                        <a:extLst>
                          <a:ext uri="{FF2B5EF4-FFF2-40B4-BE49-F238E27FC236}">
                            <a16:creationId xmlns:a16="http://schemas.microsoft.com/office/drawing/2014/main" id="{10A5C390-29B5-13FA-AA97-27BBE01BD9F6}"/>
                          </a:ext>
                        </a:extLst>
                      </p:cNvPr>
                      <p:cNvSpPr>
                        <a:spLocks noChangeShapeType="1"/>
                      </p:cNvSpPr>
                      <p:nvPr/>
                    </p:nvSpPr>
                    <p:spPr bwMode="auto">
                      <a:xfrm>
                        <a:off x="9705" y="11706"/>
                        <a:ext cx="76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910" name="Text Box 22">
                        <a:extLst>
                          <a:ext uri="{FF2B5EF4-FFF2-40B4-BE49-F238E27FC236}">
                            <a16:creationId xmlns:a16="http://schemas.microsoft.com/office/drawing/2014/main" id="{FDF6B2B3-4132-01F7-5B96-973D23674779}"/>
                          </a:ext>
                        </a:extLst>
                      </p:cNvPr>
                      <p:cNvSpPr txBox="1">
                        <a:spLocks noChangeArrowheads="1"/>
                      </p:cNvSpPr>
                      <p:nvPr/>
                    </p:nvSpPr>
                    <p:spPr bwMode="auto">
                      <a:xfrm>
                        <a:off x="9258" y="11373"/>
                        <a:ext cx="1251"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0000"/>
                          </a:lnSpc>
                        </a:pPr>
                        <a:r>
                          <a:rPr lang="zh-CN" altLang="en-US" sz="1800">
                            <a:solidFill>
                              <a:srgbClr val="003399"/>
                            </a:solidFill>
                            <a:latin typeface="Arial" panose="020B0604020202020204" pitchFamily="34" charset="0"/>
                            <a:ea typeface="微软雅黑" panose="020B0503020204020204" pitchFamily="34" charset="-122"/>
                            <a:cs typeface="Arial" panose="020B0604020202020204" pitchFamily="34" charset="0"/>
                          </a:rPr>
                          <a:t>编码输出</a:t>
                        </a:r>
                      </a:p>
                    </p:txBody>
                  </p:sp>
                </p:grpSp>
              </p:grpSp>
            </p:grpSp>
            <p:sp>
              <p:nvSpPr>
                <p:cNvPr id="164901" name="AutoShape 23">
                  <a:extLst>
                    <a:ext uri="{FF2B5EF4-FFF2-40B4-BE49-F238E27FC236}">
                      <a16:creationId xmlns:a16="http://schemas.microsoft.com/office/drawing/2014/main" id="{4DB27E22-2C8F-81E4-B95A-F63AC8E607B1}"/>
                    </a:ext>
                  </a:extLst>
                </p:cNvPr>
                <p:cNvSpPr>
                  <a:spLocks noChangeArrowheads="1"/>
                </p:cNvSpPr>
                <p:nvPr/>
              </p:nvSpPr>
              <p:spPr bwMode="auto">
                <a:xfrm>
                  <a:off x="7823" y="9066"/>
                  <a:ext cx="411" cy="387"/>
                </a:xfrm>
                <a:prstGeom prst="flowChartOr">
                  <a:avLst/>
                </a:prstGeom>
                <a:solidFill>
                  <a:srgbClr val="FFFFFF"/>
                </a:solidFill>
                <a:ln w="9525">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64872" name="Group 24">
                <a:extLst>
                  <a:ext uri="{FF2B5EF4-FFF2-40B4-BE49-F238E27FC236}">
                    <a16:creationId xmlns:a16="http://schemas.microsoft.com/office/drawing/2014/main" id="{7F788053-1620-B11E-61AF-E934D06A8586}"/>
                  </a:ext>
                </a:extLst>
              </p:cNvPr>
              <p:cNvGrpSpPr>
                <a:grpSpLocks/>
              </p:cNvGrpSpPr>
              <p:nvPr/>
            </p:nvGrpSpPr>
            <p:grpSpPr bwMode="auto">
              <a:xfrm>
                <a:off x="4032" y="8253"/>
                <a:ext cx="1351" cy="1656"/>
                <a:chOff x="4182" y="1737"/>
                <a:chExt cx="1351" cy="1656"/>
              </a:xfrm>
            </p:grpSpPr>
            <p:sp>
              <p:nvSpPr>
                <p:cNvPr id="164895" name="Text Box 25">
                  <a:extLst>
                    <a:ext uri="{FF2B5EF4-FFF2-40B4-BE49-F238E27FC236}">
                      <a16:creationId xmlns:a16="http://schemas.microsoft.com/office/drawing/2014/main" id="{5414BEB2-7524-9051-1860-6C077E9142C2}"/>
                    </a:ext>
                  </a:extLst>
                </p:cNvPr>
                <p:cNvSpPr txBox="1">
                  <a:spLocks noChangeArrowheads="1"/>
                </p:cNvSpPr>
                <p:nvPr/>
              </p:nvSpPr>
              <p:spPr bwMode="auto">
                <a:xfrm>
                  <a:off x="4182" y="2424"/>
                  <a:ext cx="888"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0000"/>
                    </a:lnSpc>
                  </a:pPr>
                  <a:r>
                    <a:rPr lang="zh-CN" altLang="en-US" sz="1800">
                      <a:solidFill>
                        <a:srgbClr val="003399"/>
                      </a:solidFill>
                      <a:latin typeface="Arial" panose="020B0604020202020204" pitchFamily="34" charset="0"/>
                      <a:ea typeface="微软雅黑" panose="020B0503020204020204" pitchFamily="34" charset="-122"/>
                      <a:cs typeface="Arial" panose="020B0604020202020204" pitchFamily="34" charset="0"/>
                    </a:rPr>
                    <a:t>输入</a:t>
                  </a:r>
                </a:p>
              </p:txBody>
            </p:sp>
            <p:sp>
              <p:nvSpPr>
                <p:cNvPr id="164896" name="Text Box 26">
                  <a:extLst>
                    <a:ext uri="{FF2B5EF4-FFF2-40B4-BE49-F238E27FC236}">
                      <a16:creationId xmlns:a16="http://schemas.microsoft.com/office/drawing/2014/main" id="{27A6A1E6-7BDB-FE57-2263-B868F2C6801F}"/>
                    </a:ext>
                  </a:extLst>
                </p:cNvPr>
                <p:cNvSpPr txBox="1">
                  <a:spLocks noChangeArrowheads="1"/>
                </p:cNvSpPr>
                <p:nvPr/>
              </p:nvSpPr>
              <p:spPr bwMode="auto">
                <a:xfrm>
                  <a:off x="4945" y="1737"/>
                  <a:ext cx="588"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0000"/>
                    </a:lnSpc>
                  </a:pPr>
                  <a:r>
                    <a:rPr lang="en-US" altLang="zh-CN" sz="2000" i="1">
                      <a:solidFill>
                        <a:srgbClr val="003399"/>
                      </a:solidFill>
                      <a:latin typeface="Arial" panose="020B0604020202020204" pitchFamily="34" charset="0"/>
                      <a:ea typeface="微软雅黑" panose="020B0503020204020204" pitchFamily="34" charset="-122"/>
                      <a:cs typeface="Arial" panose="020B0604020202020204" pitchFamily="34" charset="0"/>
                    </a:rPr>
                    <a:t>k</a:t>
                  </a:r>
                  <a:r>
                    <a:rPr lang="en-US" altLang="zh-CN" sz="2000" baseline="-25000">
                      <a:solidFill>
                        <a:srgbClr val="003399"/>
                      </a:solidFill>
                      <a:latin typeface="Arial" panose="020B0604020202020204" pitchFamily="34" charset="0"/>
                      <a:ea typeface="微软雅黑" panose="020B0503020204020204" pitchFamily="34" charset="-122"/>
                      <a:cs typeface="Arial" panose="020B0604020202020204" pitchFamily="34" charset="0"/>
                    </a:rPr>
                    <a:t>1</a:t>
                  </a:r>
                  <a:endParaRPr lang="en-US" altLang="zh-CN" sz="20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164897" name="Text Box 27">
                  <a:extLst>
                    <a:ext uri="{FF2B5EF4-FFF2-40B4-BE49-F238E27FC236}">
                      <a16:creationId xmlns:a16="http://schemas.microsoft.com/office/drawing/2014/main" id="{E3C48741-A502-84A7-F979-5673F2F3526C}"/>
                    </a:ext>
                  </a:extLst>
                </p:cNvPr>
                <p:cNvSpPr txBox="1">
                  <a:spLocks noChangeArrowheads="1"/>
                </p:cNvSpPr>
                <p:nvPr/>
              </p:nvSpPr>
              <p:spPr bwMode="auto">
                <a:xfrm>
                  <a:off x="4937" y="3042"/>
                  <a:ext cx="588"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0000"/>
                    </a:lnSpc>
                  </a:pPr>
                  <a:r>
                    <a:rPr lang="en-US" altLang="zh-CN" sz="2000" i="1">
                      <a:solidFill>
                        <a:srgbClr val="003399"/>
                      </a:solidFill>
                      <a:latin typeface="Arial" panose="020B0604020202020204" pitchFamily="34" charset="0"/>
                      <a:ea typeface="微软雅黑" panose="020B0503020204020204" pitchFamily="34" charset="-122"/>
                      <a:cs typeface="Arial" panose="020B0604020202020204" pitchFamily="34" charset="0"/>
                    </a:rPr>
                    <a:t>k</a:t>
                  </a:r>
                  <a:r>
                    <a:rPr lang="en-US" altLang="zh-CN" sz="2000" baseline="-25000">
                      <a:solidFill>
                        <a:srgbClr val="003399"/>
                      </a:solidFill>
                      <a:latin typeface="Arial" panose="020B0604020202020204" pitchFamily="34" charset="0"/>
                      <a:ea typeface="微软雅黑" panose="020B0503020204020204" pitchFamily="34" charset="-122"/>
                      <a:cs typeface="Arial" panose="020B0604020202020204" pitchFamily="34" charset="0"/>
                    </a:rPr>
                    <a:t>2</a:t>
                  </a:r>
                  <a:endParaRPr lang="en-US" altLang="zh-CN" sz="20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164898" name="AutoShape 28">
                  <a:extLst>
                    <a:ext uri="{FF2B5EF4-FFF2-40B4-BE49-F238E27FC236}">
                      <a16:creationId xmlns:a16="http://schemas.microsoft.com/office/drawing/2014/main" id="{53D68808-FBBB-537D-EB98-9969D02AE22C}"/>
                    </a:ext>
                  </a:extLst>
                </p:cNvPr>
                <p:cNvSpPr>
                  <a:spLocks/>
                </p:cNvSpPr>
                <p:nvPr/>
              </p:nvSpPr>
              <p:spPr bwMode="auto">
                <a:xfrm>
                  <a:off x="4868" y="1905"/>
                  <a:ext cx="218" cy="1338"/>
                </a:xfrm>
                <a:prstGeom prst="leftBrace">
                  <a:avLst>
                    <a:gd name="adj1" fmla="val 51147"/>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64873" name="Group 29">
                <a:extLst>
                  <a:ext uri="{FF2B5EF4-FFF2-40B4-BE49-F238E27FC236}">
                    <a16:creationId xmlns:a16="http://schemas.microsoft.com/office/drawing/2014/main" id="{84FA85DB-C278-7AF5-38EE-A7592D65032C}"/>
                  </a:ext>
                </a:extLst>
              </p:cNvPr>
              <p:cNvGrpSpPr>
                <a:grpSpLocks/>
              </p:cNvGrpSpPr>
              <p:nvPr/>
            </p:nvGrpSpPr>
            <p:grpSpPr bwMode="auto">
              <a:xfrm>
                <a:off x="5178" y="8001"/>
                <a:ext cx="3013" cy="2147"/>
                <a:chOff x="5178" y="8001"/>
                <a:chExt cx="3013" cy="2147"/>
              </a:xfrm>
            </p:grpSpPr>
            <p:grpSp>
              <p:nvGrpSpPr>
                <p:cNvPr id="164885" name="Group 30">
                  <a:extLst>
                    <a:ext uri="{FF2B5EF4-FFF2-40B4-BE49-F238E27FC236}">
                      <a16:creationId xmlns:a16="http://schemas.microsoft.com/office/drawing/2014/main" id="{683A5011-7B34-89C6-3B4B-FF30223B2D3F}"/>
                    </a:ext>
                  </a:extLst>
                </p:cNvPr>
                <p:cNvGrpSpPr>
                  <a:grpSpLocks/>
                </p:cNvGrpSpPr>
                <p:nvPr/>
              </p:nvGrpSpPr>
              <p:grpSpPr bwMode="auto">
                <a:xfrm>
                  <a:off x="5178" y="8001"/>
                  <a:ext cx="3013" cy="612"/>
                  <a:chOff x="5342" y="7800"/>
                  <a:chExt cx="3013" cy="612"/>
                </a:xfrm>
              </p:grpSpPr>
              <p:grpSp>
                <p:nvGrpSpPr>
                  <p:cNvPr id="164887" name="Group 31">
                    <a:extLst>
                      <a:ext uri="{FF2B5EF4-FFF2-40B4-BE49-F238E27FC236}">
                        <a16:creationId xmlns:a16="http://schemas.microsoft.com/office/drawing/2014/main" id="{5DB07D05-1BCD-15E9-FA9B-CD53FB40FC80}"/>
                      </a:ext>
                    </a:extLst>
                  </p:cNvPr>
                  <p:cNvGrpSpPr>
                    <a:grpSpLocks/>
                  </p:cNvGrpSpPr>
                  <p:nvPr/>
                </p:nvGrpSpPr>
                <p:grpSpPr bwMode="auto">
                  <a:xfrm>
                    <a:off x="6675" y="7800"/>
                    <a:ext cx="1680" cy="351"/>
                    <a:chOff x="6675" y="7800"/>
                    <a:chExt cx="1680" cy="351"/>
                  </a:xfrm>
                </p:grpSpPr>
                <p:sp>
                  <p:nvSpPr>
                    <p:cNvPr id="164893" name="Text Box 32">
                      <a:extLst>
                        <a:ext uri="{FF2B5EF4-FFF2-40B4-BE49-F238E27FC236}">
                          <a16:creationId xmlns:a16="http://schemas.microsoft.com/office/drawing/2014/main" id="{EEB0D52A-98FE-3F0A-E4F1-2D4FDD06591B}"/>
                        </a:ext>
                      </a:extLst>
                    </p:cNvPr>
                    <p:cNvSpPr txBox="1">
                      <a:spLocks noChangeArrowheads="1"/>
                    </p:cNvSpPr>
                    <p:nvPr/>
                  </p:nvSpPr>
                  <p:spPr bwMode="auto">
                    <a:xfrm>
                      <a:off x="6675" y="7800"/>
                      <a:ext cx="618"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0000"/>
                        </a:lnSpc>
                      </a:pPr>
                      <a:r>
                        <a:rPr lang="en-US" altLang="zh-CN" sz="1800">
                          <a:solidFill>
                            <a:srgbClr val="003399"/>
                          </a:solidFill>
                          <a:latin typeface="Arial" panose="020B0604020202020204" pitchFamily="34" charset="0"/>
                          <a:ea typeface="微软雅黑" panose="020B0503020204020204" pitchFamily="34" charset="-122"/>
                          <a:cs typeface="Arial" panose="020B0604020202020204" pitchFamily="34" charset="0"/>
                        </a:rPr>
                        <a:t>1</a:t>
                      </a:r>
                    </a:p>
                  </p:txBody>
                </p:sp>
                <p:sp>
                  <p:nvSpPr>
                    <p:cNvPr id="164894" name="Text Box 33">
                      <a:extLst>
                        <a:ext uri="{FF2B5EF4-FFF2-40B4-BE49-F238E27FC236}">
                          <a16:creationId xmlns:a16="http://schemas.microsoft.com/office/drawing/2014/main" id="{6DC7B409-F80B-A584-05C7-4ABE0E5D566A}"/>
                        </a:ext>
                      </a:extLst>
                    </p:cNvPr>
                    <p:cNvSpPr txBox="1">
                      <a:spLocks noChangeArrowheads="1"/>
                    </p:cNvSpPr>
                    <p:nvPr/>
                  </p:nvSpPr>
                  <p:spPr bwMode="auto">
                    <a:xfrm>
                      <a:off x="7737" y="7800"/>
                      <a:ext cx="618"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0000"/>
                        </a:lnSpc>
                      </a:pPr>
                      <a:r>
                        <a:rPr lang="en-US" altLang="zh-CN" sz="1800">
                          <a:solidFill>
                            <a:srgbClr val="003399"/>
                          </a:solidFill>
                          <a:latin typeface="Arial" panose="020B0604020202020204" pitchFamily="34" charset="0"/>
                          <a:ea typeface="微软雅黑" panose="020B0503020204020204" pitchFamily="34" charset="-122"/>
                          <a:cs typeface="Arial" panose="020B0604020202020204" pitchFamily="34" charset="0"/>
                        </a:rPr>
                        <a:t>2</a:t>
                      </a:r>
                    </a:p>
                  </p:txBody>
                </p:sp>
              </p:grpSp>
              <p:grpSp>
                <p:nvGrpSpPr>
                  <p:cNvPr id="164888" name="Group 34">
                    <a:extLst>
                      <a:ext uri="{FF2B5EF4-FFF2-40B4-BE49-F238E27FC236}">
                        <a16:creationId xmlns:a16="http://schemas.microsoft.com/office/drawing/2014/main" id="{F82450F2-C0B0-90EF-72B6-A1CCFD1A13C2}"/>
                      </a:ext>
                    </a:extLst>
                  </p:cNvPr>
                  <p:cNvGrpSpPr>
                    <a:grpSpLocks/>
                  </p:cNvGrpSpPr>
                  <p:nvPr/>
                </p:nvGrpSpPr>
                <p:grpSpPr bwMode="auto">
                  <a:xfrm>
                    <a:off x="7218" y="8073"/>
                    <a:ext cx="1023" cy="339"/>
                    <a:chOff x="7209" y="10701"/>
                    <a:chExt cx="1023" cy="339"/>
                  </a:xfrm>
                </p:grpSpPr>
                <p:sp>
                  <p:nvSpPr>
                    <p:cNvPr id="164891" name="Text Box 35">
                      <a:extLst>
                        <a:ext uri="{FF2B5EF4-FFF2-40B4-BE49-F238E27FC236}">
                          <a16:creationId xmlns:a16="http://schemas.microsoft.com/office/drawing/2014/main" id="{F0B529E5-E86F-2B94-544A-79081702D822}"/>
                        </a:ext>
                      </a:extLst>
                    </p:cNvPr>
                    <p:cNvSpPr txBox="1">
                      <a:spLocks noChangeArrowheads="1"/>
                    </p:cNvSpPr>
                    <p:nvPr/>
                  </p:nvSpPr>
                  <p:spPr bwMode="auto">
                    <a:xfrm>
                      <a:off x="7731" y="10701"/>
                      <a:ext cx="501" cy="339"/>
                    </a:xfrm>
                    <a:prstGeom prst="rect">
                      <a:avLst/>
                    </a:prstGeom>
                    <a:solidFill>
                      <a:srgbClr val="FFFFFF"/>
                    </a:solidFill>
                    <a:ln w="9525">
                      <a:solidFill>
                        <a:srgbClr val="000000"/>
                      </a:solidFill>
                      <a:miter lim="800000"/>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0000"/>
                        </a:lnSpc>
                      </a:pPr>
                      <a:r>
                        <a:rPr lang="en-US" altLang="zh-CN" sz="2400" baseline="30000">
                          <a:solidFill>
                            <a:srgbClr val="003399"/>
                          </a:solidFill>
                          <a:latin typeface="Arial" panose="020B0604020202020204" pitchFamily="34" charset="0"/>
                          <a:ea typeface="微软雅黑" panose="020B0503020204020204" pitchFamily="34" charset="-122"/>
                          <a:cs typeface="Arial" panose="020B0604020202020204" pitchFamily="34" charset="0"/>
                        </a:rPr>
                        <a:t>b</a:t>
                      </a:r>
                      <a:r>
                        <a:rPr lang="en-US" altLang="zh-CN" sz="2400" baseline="-25000">
                          <a:solidFill>
                            <a:srgbClr val="003399"/>
                          </a:solidFill>
                          <a:latin typeface="Arial" panose="020B0604020202020204" pitchFamily="34" charset="0"/>
                          <a:ea typeface="微软雅黑" panose="020B0503020204020204" pitchFamily="34" charset="-122"/>
                          <a:cs typeface="Arial" panose="020B0604020202020204" pitchFamily="34" charset="0"/>
                        </a:rPr>
                        <a:t>2</a:t>
                      </a:r>
                      <a:endParaRPr lang="en-US" altLang="zh-CN" sz="24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164892" name="Line 36">
                      <a:extLst>
                        <a:ext uri="{FF2B5EF4-FFF2-40B4-BE49-F238E27FC236}">
                          <a16:creationId xmlns:a16="http://schemas.microsoft.com/office/drawing/2014/main" id="{AD837553-019D-5A3A-EEFB-B2CAEDD30CDC}"/>
                        </a:ext>
                      </a:extLst>
                    </p:cNvPr>
                    <p:cNvSpPr>
                      <a:spLocks noChangeShapeType="1"/>
                    </p:cNvSpPr>
                    <p:nvPr/>
                  </p:nvSpPr>
                  <p:spPr bwMode="auto">
                    <a:xfrm>
                      <a:off x="7209" y="10883"/>
                      <a:ext cx="55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64889" name="Text Box 37">
                    <a:extLst>
                      <a:ext uri="{FF2B5EF4-FFF2-40B4-BE49-F238E27FC236}">
                        <a16:creationId xmlns:a16="http://schemas.microsoft.com/office/drawing/2014/main" id="{8D1FF579-2FE2-CF2A-EB4C-F2DF9B0DE0A5}"/>
                      </a:ext>
                    </a:extLst>
                  </p:cNvPr>
                  <p:cNvSpPr txBox="1">
                    <a:spLocks noChangeArrowheads="1"/>
                  </p:cNvSpPr>
                  <p:nvPr/>
                </p:nvSpPr>
                <p:spPr bwMode="auto">
                  <a:xfrm>
                    <a:off x="6690" y="8073"/>
                    <a:ext cx="501" cy="339"/>
                  </a:xfrm>
                  <a:prstGeom prst="rect">
                    <a:avLst/>
                  </a:prstGeom>
                  <a:solidFill>
                    <a:srgbClr val="FFFFFF"/>
                  </a:solidFill>
                  <a:ln w="9525">
                    <a:solidFill>
                      <a:srgbClr val="000000"/>
                    </a:solidFill>
                    <a:miter lim="800000"/>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0000"/>
                      </a:lnSpc>
                    </a:pPr>
                    <a:r>
                      <a:rPr lang="en-US" altLang="zh-CN" sz="2400" baseline="30000">
                        <a:solidFill>
                          <a:srgbClr val="003399"/>
                        </a:solidFill>
                        <a:latin typeface="Arial" panose="020B0604020202020204" pitchFamily="34" charset="0"/>
                        <a:ea typeface="微软雅黑" panose="020B0503020204020204" pitchFamily="34" charset="-122"/>
                        <a:cs typeface="Arial" panose="020B0604020202020204" pitchFamily="34" charset="0"/>
                      </a:rPr>
                      <a:t>b</a:t>
                    </a:r>
                    <a:r>
                      <a:rPr lang="en-US" altLang="zh-CN" sz="2400" baseline="-25000">
                        <a:solidFill>
                          <a:srgbClr val="003399"/>
                        </a:solidFill>
                        <a:latin typeface="Arial" panose="020B0604020202020204" pitchFamily="34" charset="0"/>
                        <a:ea typeface="微软雅黑" panose="020B0503020204020204" pitchFamily="34" charset="-122"/>
                        <a:cs typeface="Arial" panose="020B0604020202020204" pitchFamily="34" charset="0"/>
                      </a:rPr>
                      <a:t>1</a:t>
                    </a:r>
                    <a:endParaRPr lang="en-US" altLang="zh-CN" sz="2400">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164890" name="Line 38">
                    <a:extLst>
                      <a:ext uri="{FF2B5EF4-FFF2-40B4-BE49-F238E27FC236}">
                        <a16:creationId xmlns:a16="http://schemas.microsoft.com/office/drawing/2014/main" id="{B426638A-22FF-36B6-557F-BFA3197C40B1}"/>
                      </a:ext>
                    </a:extLst>
                  </p:cNvPr>
                  <p:cNvSpPr>
                    <a:spLocks noChangeShapeType="1"/>
                  </p:cNvSpPr>
                  <p:nvPr/>
                </p:nvSpPr>
                <p:spPr bwMode="auto">
                  <a:xfrm flipV="1">
                    <a:off x="5342" y="8256"/>
                    <a:ext cx="1381"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64886" name="Text Box 39">
                  <a:extLst>
                    <a:ext uri="{FF2B5EF4-FFF2-40B4-BE49-F238E27FC236}">
                      <a16:creationId xmlns:a16="http://schemas.microsoft.com/office/drawing/2014/main" id="{2BA6F293-0BA9-E1AE-E5EA-F87570872B23}"/>
                    </a:ext>
                  </a:extLst>
                </p:cNvPr>
                <p:cNvSpPr txBox="1">
                  <a:spLocks noChangeArrowheads="1"/>
                </p:cNvSpPr>
                <p:nvPr/>
              </p:nvSpPr>
              <p:spPr bwMode="auto">
                <a:xfrm>
                  <a:off x="5289" y="9773"/>
                  <a:ext cx="1523"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eaLnBrk="1" hangingPunct="1">
                    <a:lnSpc>
                      <a:spcPct val="80000"/>
                    </a:lnSpc>
                  </a:pPr>
                  <a:r>
                    <a:rPr lang="zh-CN" altLang="en-US" sz="1800">
                      <a:solidFill>
                        <a:srgbClr val="003399"/>
                      </a:solidFill>
                      <a:latin typeface="Arial" panose="020B0604020202020204" pitchFamily="34" charset="0"/>
                      <a:ea typeface="微软雅黑" panose="020B0503020204020204" pitchFamily="34" charset="-122"/>
                      <a:cs typeface="Arial" panose="020B0604020202020204" pitchFamily="34" charset="0"/>
                    </a:rPr>
                    <a:t>未编码比特</a:t>
                  </a:r>
                </a:p>
              </p:txBody>
            </p:sp>
          </p:grpSp>
          <p:grpSp>
            <p:nvGrpSpPr>
              <p:cNvPr id="164874" name="Group 40">
                <a:extLst>
                  <a:ext uri="{FF2B5EF4-FFF2-40B4-BE49-F238E27FC236}">
                    <a16:creationId xmlns:a16="http://schemas.microsoft.com/office/drawing/2014/main" id="{D7421FB1-C907-44B4-BAC6-BDC34C353A1D}"/>
                  </a:ext>
                </a:extLst>
              </p:cNvPr>
              <p:cNvGrpSpPr>
                <a:grpSpLocks/>
              </p:cNvGrpSpPr>
              <p:nvPr/>
            </p:nvGrpSpPr>
            <p:grpSpPr bwMode="auto">
              <a:xfrm>
                <a:off x="6106" y="8430"/>
                <a:ext cx="3268" cy="1005"/>
                <a:chOff x="6106" y="8430"/>
                <a:chExt cx="3268" cy="1005"/>
              </a:xfrm>
            </p:grpSpPr>
            <p:grpSp>
              <p:nvGrpSpPr>
                <p:cNvPr id="164875" name="Group 41">
                  <a:extLst>
                    <a:ext uri="{FF2B5EF4-FFF2-40B4-BE49-F238E27FC236}">
                      <a16:creationId xmlns:a16="http://schemas.microsoft.com/office/drawing/2014/main" id="{0E04F74F-5FCB-629B-960A-1A3827C6190E}"/>
                    </a:ext>
                  </a:extLst>
                </p:cNvPr>
                <p:cNvGrpSpPr>
                  <a:grpSpLocks/>
                </p:cNvGrpSpPr>
                <p:nvPr/>
              </p:nvGrpSpPr>
              <p:grpSpPr bwMode="auto">
                <a:xfrm>
                  <a:off x="7292" y="8457"/>
                  <a:ext cx="2082" cy="597"/>
                  <a:chOff x="7458" y="2076"/>
                  <a:chExt cx="1796" cy="447"/>
                </a:xfrm>
              </p:grpSpPr>
              <p:sp>
                <p:nvSpPr>
                  <p:cNvPr id="164882" name="Line 42">
                    <a:extLst>
                      <a:ext uri="{FF2B5EF4-FFF2-40B4-BE49-F238E27FC236}">
                        <a16:creationId xmlns:a16="http://schemas.microsoft.com/office/drawing/2014/main" id="{9EE5CB97-03C9-868C-4622-FA0D2CE51D7D}"/>
                      </a:ext>
                    </a:extLst>
                  </p:cNvPr>
                  <p:cNvSpPr>
                    <a:spLocks noChangeShapeType="1"/>
                  </p:cNvSpPr>
                  <p:nvPr/>
                </p:nvSpPr>
                <p:spPr bwMode="auto">
                  <a:xfrm>
                    <a:off x="7458" y="2076"/>
                    <a:ext cx="9" cy="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883" name="Line 43">
                    <a:extLst>
                      <a:ext uri="{FF2B5EF4-FFF2-40B4-BE49-F238E27FC236}">
                        <a16:creationId xmlns:a16="http://schemas.microsoft.com/office/drawing/2014/main" id="{83BCED46-3E92-0FCF-73A4-A6A787F8C92E}"/>
                      </a:ext>
                    </a:extLst>
                  </p:cNvPr>
                  <p:cNvSpPr>
                    <a:spLocks noChangeShapeType="1"/>
                  </p:cNvSpPr>
                  <p:nvPr/>
                </p:nvSpPr>
                <p:spPr bwMode="auto">
                  <a:xfrm flipH="1">
                    <a:off x="7474" y="2340"/>
                    <a:ext cx="177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884" name="Line 44">
                    <a:extLst>
                      <a:ext uri="{FF2B5EF4-FFF2-40B4-BE49-F238E27FC236}">
                        <a16:creationId xmlns:a16="http://schemas.microsoft.com/office/drawing/2014/main" id="{43B9FD61-33FE-4E5E-DC5D-A81582B28176}"/>
                      </a:ext>
                    </a:extLst>
                  </p:cNvPr>
                  <p:cNvSpPr>
                    <a:spLocks noChangeShapeType="1"/>
                  </p:cNvSpPr>
                  <p:nvPr/>
                </p:nvSpPr>
                <p:spPr bwMode="auto">
                  <a:xfrm flipV="1">
                    <a:off x="9254" y="2343"/>
                    <a:ext cx="0" cy="18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64876" name="Group 45">
                  <a:extLst>
                    <a:ext uri="{FF2B5EF4-FFF2-40B4-BE49-F238E27FC236}">
                      <a16:creationId xmlns:a16="http://schemas.microsoft.com/office/drawing/2014/main" id="{D87D1CCB-6516-E4A2-C978-40EC8E6DAEB3}"/>
                    </a:ext>
                  </a:extLst>
                </p:cNvPr>
                <p:cNvGrpSpPr>
                  <a:grpSpLocks/>
                </p:cNvGrpSpPr>
                <p:nvPr/>
              </p:nvGrpSpPr>
              <p:grpSpPr bwMode="auto">
                <a:xfrm>
                  <a:off x="6106" y="8454"/>
                  <a:ext cx="2268" cy="981"/>
                  <a:chOff x="6106" y="8454"/>
                  <a:chExt cx="1548" cy="1011"/>
                </a:xfrm>
              </p:grpSpPr>
              <p:sp>
                <p:nvSpPr>
                  <p:cNvPr id="164880" name="Line 46">
                    <a:extLst>
                      <a:ext uri="{FF2B5EF4-FFF2-40B4-BE49-F238E27FC236}">
                        <a16:creationId xmlns:a16="http://schemas.microsoft.com/office/drawing/2014/main" id="{CC7CA487-6827-F711-67CD-07C3D0C5BDB3}"/>
                      </a:ext>
                    </a:extLst>
                  </p:cNvPr>
                  <p:cNvSpPr>
                    <a:spLocks noChangeShapeType="1"/>
                  </p:cNvSpPr>
                  <p:nvPr/>
                </p:nvSpPr>
                <p:spPr bwMode="auto">
                  <a:xfrm>
                    <a:off x="6112" y="9465"/>
                    <a:ext cx="154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881" name="Line 47">
                    <a:extLst>
                      <a:ext uri="{FF2B5EF4-FFF2-40B4-BE49-F238E27FC236}">
                        <a16:creationId xmlns:a16="http://schemas.microsoft.com/office/drawing/2014/main" id="{F5CA5592-6710-DC30-70C3-CDBDBF574772}"/>
                      </a:ext>
                    </a:extLst>
                  </p:cNvPr>
                  <p:cNvSpPr>
                    <a:spLocks noChangeShapeType="1"/>
                  </p:cNvSpPr>
                  <p:nvPr/>
                </p:nvSpPr>
                <p:spPr bwMode="auto">
                  <a:xfrm>
                    <a:off x="6106" y="8454"/>
                    <a:ext cx="0" cy="10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64877" name="Group 48">
                  <a:extLst>
                    <a:ext uri="{FF2B5EF4-FFF2-40B4-BE49-F238E27FC236}">
                      <a16:creationId xmlns:a16="http://schemas.microsoft.com/office/drawing/2014/main" id="{8F4D9CE2-AE29-D90F-245B-C74119175452}"/>
                    </a:ext>
                  </a:extLst>
                </p:cNvPr>
                <p:cNvGrpSpPr>
                  <a:grpSpLocks/>
                </p:cNvGrpSpPr>
                <p:nvPr/>
              </p:nvGrpSpPr>
              <p:grpSpPr bwMode="auto">
                <a:xfrm>
                  <a:off x="8128" y="8430"/>
                  <a:ext cx="480" cy="822"/>
                  <a:chOff x="8128" y="8445"/>
                  <a:chExt cx="480" cy="807"/>
                </a:xfrm>
              </p:grpSpPr>
              <p:sp>
                <p:nvSpPr>
                  <p:cNvPr id="164878" name="Line 49">
                    <a:extLst>
                      <a:ext uri="{FF2B5EF4-FFF2-40B4-BE49-F238E27FC236}">
                        <a16:creationId xmlns:a16="http://schemas.microsoft.com/office/drawing/2014/main" id="{668F392D-1C4C-A539-A392-42FCFCBCDCCF}"/>
                      </a:ext>
                    </a:extLst>
                  </p:cNvPr>
                  <p:cNvSpPr>
                    <a:spLocks noChangeShapeType="1"/>
                  </p:cNvSpPr>
                  <p:nvPr/>
                </p:nvSpPr>
                <p:spPr bwMode="auto">
                  <a:xfrm>
                    <a:off x="8598" y="8454"/>
                    <a:ext cx="0" cy="79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879" name="Line 50">
                    <a:extLst>
                      <a:ext uri="{FF2B5EF4-FFF2-40B4-BE49-F238E27FC236}">
                        <a16:creationId xmlns:a16="http://schemas.microsoft.com/office/drawing/2014/main" id="{81E63271-54BE-7C39-4821-10BDFB22B96E}"/>
                      </a:ext>
                    </a:extLst>
                  </p:cNvPr>
                  <p:cNvSpPr>
                    <a:spLocks noChangeShapeType="1"/>
                  </p:cNvSpPr>
                  <p:nvPr/>
                </p:nvSpPr>
                <p:spPr bwMode="auto">
                  <a:xfrm flipH="1">
                    <a:off x="8128" y="8445"/>
                    <a:ext cx="48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grpSp>
      <p:sp>
        <p:nvSpPr>
          <p:cNvPr id="51" name="矩形 50">
            <a:extLst>
              <a:ext uri="{FF2B5EF4-FFF2-40B4-BE49-F238E27FC236}">
                <a16:creationId xmlns:a16="http://schemas.microsoft.com/office/drawing/2014/main" id="{C480113F-56A3-3937-6A66-982BE2509E1C}"/>
              </a:ext>
            </a:extLst>
          </p:cNvPr>
          <p:cNvSpPr/>
          <p:nvPr/>
        </p:nvSpPr>
        <p:spPr>
          <a:xfrm>
            <a:off x="715963" y="1143000"/>
            <a:ext cx="3865562" cy="482600"/>
          </a:xfrm>
          <a:prstGeom prst="rect">
            <a:avLst/>
          </a:prstGeom>
        </p:spPr>
        <p:txBody>
          <a:bodyPr wrap="none">
            <a:spAutoFit/>
          </a:bodyPr>
          <a:lstStyle/>
          <a:p>
            <a:pPr marL="342900" lvl="4" indent="-342900">
              <a:lnSpc>
                <a:spcPts val="3300"/>
              </a:lnSpc>
              <a:spcBef>
                <a:spcPct val="20000"/>
              </a:spcBef>
              <a:buClr>
                <a:srgbClr val="FF0000"/>
              </a:buClr>
              <a:buSzPct val="80000"/>
              <a:buFont typeface="Wingdings" pitchFamily="2" charset="2"/>
              <a:buChar char="n"/>
              <a:defRPr/>
            </a:pPr>
            <a:r>
              <a:rPr kumimoji="0" lang="zh-CN" altLang="en-US" sz="2400" kern="0" dirty="0">
                <a:solidFill>
                  <a:srgbClr val="000000"/>
                </a:solidFill>
                <a:latin typeface="微软雅黑" pitchFamily="34" charset="-122"/>
                <a:ea typeface="微软雅黑" pitchFamily="34" charset="-122"/>
              </a:rPr>
              <a:t>卷积码编码器的方框图</a:t>
            </a:r>
            <a:r>
              <a:rPr kumimoji="0" lang="zh-CN" altLang="en-US" sz="2000" b="0" kern="0" dirty="0">
                <a:solidFill>
                  <a:srgbClr val="000000"/>
                </a:solidFill>
                <a:latin typeface="Tahoma"/>
                <a:ea typeface="宋体"/>
              </a:rPr>
              <a:t>：</a:t>
            </a:r>
            <a:endParaRPr lang="zh-CN" altLang="en-US" sz="2400" dirty="0">
              <a:solidFill>
                <a:schemeClr val="tx1"/>
              </a:solidFill>
              <a:latin typeface="Arial" charset="0"/>
              <a:ea typeface="微软雅黑" pitchFamily="34" charset="-122"/>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66915">
                                            <p:txEl>
                                              <p:pRg st="0" end="0"/>
                                            </p:txEl>
                                          </p:spTgt>
                                        </p:tgtEl>
                                        <p:attrNameLst>
                                          <p:attrName>style.visibility</p:attrName>
                                        </p:attrNameLst>
                                      </p:cBhvr>
                                      <p:to>
                                        <p:strVal val="visible"/>
                                      </p:to>
                                    </p:set>
                                    <p:animEffect transition="in" filter="wipe(up)">
                                      <p:cBhvr>
                                        <p:cTn id="12" dur="1000"/>
                                        <p:tgtEl>
                                          <p:spTgt spid="166915">
                                            <p:txEl>
                                              <p:pRg st="0" end="0"/>
                                            </p:txEl>
                                          </p:spTgt>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166915">
                                            <p:txEl>
                                              <p:pRg st="1" end="1"/>
                                            </p:txEl>
                                          </p:spTgt>
                                        </p:tgtEl>
                                        <p:attrNameLst>
                                          <p:attrName>style.visibility</p:attrName>
                                        </p:attrNameLst>
                                      </p:cBhvr>
                                      <p:to>
                                        <p:strVal val="visible"/>
                                      </p:to>
                                    </p:set>
                                    <p:animEffect transition="in" filter="wipe(up)">
                                      <p:cBhvr>
                                        <p:cTn id="16" dur="1000"/>
                                        <p:tgtEl>
                                          <p:spTgt spid="166915">
                                            <p:txEl>
                                              <p:pRg st="1" end="1"/>
                                            </p:txEl>
                                          </p:spTgt>
                                        </p:tgtEl>
                                      </p:cBhvr>
                                    </p:animEffect>
                                  </p:childTnLst>
                                </p:cTn>
                              </p:par>
                            </p:childTnLst>
                          </p:cTn>
                        </p:par>
                        <p:par>
                          <p:cTn id="17" fill="hold" nodeType="afterGroup">
                            <p:stCondLst>
                              <p:cond delay="2000"/>
                            </p:stCondLst>
                            <p:childTnLst>
                              <p:par>
                                <p:cTn id="18" presetID="22" presetClass="entr" presetSubtype="1" fill="hold" nodeType="afterEffect">
                                  <p:stCondLst>
                                    <p:cond delay="0"/>
                                  </p:stCondLst>
                                  <p:childTnLst>
                                    <p:set>
                                      <p:cBhvr>
                                        <p:cTn id="19" dur="1" fill="hold">
                                          <p:stCondLst>
                                            <p:cond delay="0"/>
                                          </p:stCondLst>
                                        </p:cTn>
                                        <p:tgtEl>
                                          <p:spTgt spid="166915">
                                            <p:txEl>
                                              <p:pRg st="2" end="2"/>
                                            </p:txEl>
                                          </p:spTgt>
                                        </p:tgtEl>
                                        <p:attrNameLst>
                                          <p:attrName>style.visibility</p:attrName>
                                        </p:attrNameLst>
                                      </p:cBhvr>
                                      <p:to>
                                        <p:strVal val="visible"/>
                                      </p:to>
                                    </p:set>
                                    <p:animEffect transition="in" filter="wipe(up)">
                                      <p:cBhvr>
                                        <p:cTn id="20" dur="1000"/>
                                        <p:tgtEl>
                                          <p:spTgt spid="1669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9" name="Rectangle 3">
            <a:extLst>
              <a:ext uri="{FF2B5EF4-FFF2-40B4-BE49-F238E27FC236}">
                <a16:creationId xmlns:a16="http://schemas.microsoft.com/office/drawing/2014/main" id="{92D97A3C-A670-1DE2-8F6E-74DACF6250ED}"/>
              </a:ext>
            </a:extLst>
          </p:cNvPr>
          <p:cNvSpPr>
            <a:spLocks noGrp="1" noChangeArrowheads="1"/>
          </p:cNvSpPr>
          <p:nvPr>
            <p:ph type="body" idx="1"/>
          </p:nvPr>
        </p:nvSpPr>
        <p:spPr>
          <a:xfrm>
            <a:off x="928688" y="1785938"/>
            <a:ext cx="7358062" cy="4429125"/>
          </a:xfrm>
        </p:spPr>
        <p:txBody>
          <a:bodyPr/>
          <a:lstStyle/>
          <a:p>
            <a:pPr eaLnBrk="1" hangingPunct="1">
              <a:lnSpc>
                <a:spcPct val="150000"/>
              </a:lnSpc>
              <a:buSzPct val="65000"/>
              <a:buFont typeface="Wingdings" panose="05000000000000000000" pitchFamily="2" charset="2"/>
              <a:buChar char="u"/>
              <a:defRPr/>
            </a:pPr>
            <a:r>
              <a:rPr lang="zh-CN" altLang="en-US" sz="2000" dirty="0">
                <a:latin typeface="Arial" pitchFamily="34" charset="0"/>
                <a:ea typeface="微软雅黑" pitchFamily="34" charset="-122"/>
                <a:cs typeface="Arial" pitchFamily="34" charset="0"/>
              </a:rPr>
              <a:t>通常采用</a:t>
            </a:r>
            <a:r>
              <a:rPr lang="zh-CN" altLang="en-US" sz="2000" b="1" dirty="0">
                <a:solidFill>
                  <a:srgbClr val="003399"/>
                </a:solidFill>
                <a:latin typeface="Arial" pitchFamily="34" charset="0"/>
                <a:ea typeface="微软雅黑" pitchFamily="34" charset="-122"/>
                <a:cs typeface="Arial" pitchFamily="34" charset="0"/>
              </a:rPr>
              <a:t>维特比算法</a:t>
            </a:r>
            <a:r>
              <a:rPr lang="zh-CN" altLang="en-US" sz="2000" dirty="0">
                <a:latin typeface="Arial" pitchFamily="34" charset="0"/>
                <a:ea typeface="微软雅黑" pitchFamily="34" charset="-122"/>
                <a:cs typeface="Arial" pitchFamily="34" charset="0"/>
              </a:rPr>
              <a:t>，但是现在的网格图表示的状态是波形，而不是码组。</a:t>
            </a:r>
            <a:endParaRPr lang="en-US" altLang="zh-CN" sz="2000" dirty="0">
              <a:latin typeface="Arial" pitchFamily="34" charset="0"/>
              <a:ea typeface="微软雅黑" pitchFamily="34" charset="-122"/>
              <a:cs typeface="Arial" pitchFamily="34" charset="0"/>
            </a:endParaRPr>
          </a:p>
          <a:p>
            <a:pPr eaLnBrk="1" hangingPunct="1">
              <a:lnSpc>
                <a:spcPct val="150000"/>
              </a:lnSpc>
              <a:buSzPct val="65000"/>
              <a:buFont typeface="Wingdings" panose="05000000000000000000" pitchFamily="2" charset="2"/>
              <a:buChar char="u"/>
              <a:defRPr/>
            </a:pPr>
            <a:r>
              <a:rPr lang="zh-CN" altLang="en-US" sz="2000" dirty="0">
                <a:latin typeface="Arial" pitchFamily="34" charset="0"/>
                <a:ea typeface="微软雅黑" pitchFamily="34" charset="-122"/>
                <a:cs typeface="Arial" pitchFamily="34" charset="0"/>
              </a:rPr>
              <a:t>解码器的任务是</a:t>
            </a:r>
            <a:r>
              <a:rPr lang="zh-CN" altLang="en-US" sz="2000" b="1" dirty="0">
                <a:solidFill>
                  <a:srgbClr val="003399"/>
                </a:solidFill>
                <a:latin typeface="Arial" pitchFamily="34" charset="0"/>
                <a:ea typeface="微软雅黑" pitchFamily="34" charset="-122"/>
                <a:cs typeface="Arial" pitchFamily="34" charset="0"/>
              </a:rPr>
              <a:t>计算</a:t>
            </a:r>
            <a:r>
              <a:rPr lang="zh-CN" altLang="en-US" sz="2000" dirty="0">
                <a:latin typeface="Arial" pitchFamily="34" charset="0"/>
                <a:ea typeface="微软雅黑" pitchFamily="34" charset="-122"/>
                <a:cs typeface="Arial" pitchFamily="34" charset="0"/>
              </a:rPr>
              <a:t>接收信号序列</a:t>
            </a:r>
            <a:r>
              <a:rPr lang="zh-CN" altLang="en-US" sz="2000" b="1" dirty="0">
                <a:solidFill>
                  <a:srgbClr val="003399"/>
                </a:solidFill>
                <a:latin typeface="Arial" pitchFamily="34" charset="0"/>
                <a:ea typeface="微软雅黑" pitchFamily="34" charset="-122"/>
                <a:cs typeface="Arial" pitchFamily="34" charset="0"/>
              </a:rPr>
              <a:t>路径</a:t>
            </a:r>
            <a:r>
              <a:rPr lang="zh-CN" altLang="en-US" sz="2000" dirty="0">
                <a:latin typeface="Arial" pitchFamily="34" charset="0"/>
                <a:ea typeface="微软雅黑" pitchFamily="34" charset="-122"/>
                <a:cs typeface="Arial" pitchFamily="34" charset="0"/>
              </a:rPr>
              <a:t>和各种可能的编码网格路径间的</a:t>
            </a:r>
            <a:r>
              <a:rPr lang="zh-CN" altLang="en-US" sz="2000" b="1" dirty="0">
                <a:solidFill>
                  <a:srgbClr val="003399"/>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距离</a:t>
            </a:r>
            <a:r>
              <a:rPr lang="zh-CN" altLang="en-US" sz="2000" dirty="0">
                <a:latin typeface="Arial" pitchFamily="34" charset="0"/>
                <a:ea typeface="微软雅黑" pitchFamily="34" charset="-122"/>
                <a:cs typeface="Arial" pitchFamily="34" charset="0"/>
              </a:rPr>
              <a:t>。</a:t>
            </a:r>
            <a:endParaRPr lang="en-US" altLang="zh-CN" sz="2000" dirty="0">
              <a:latin typeface="Arial" pitchFamily="34" charset="0"/>
              <a:ea typeface="微软雅黑" pitchFamily="34" charset="-122"/>
              <a:cs typeface="Arial" pitchFamily="34" charset="0"/>
            </a:endParaRPr>
          </a:p>
          <a:p>
            <a:pPr eaLnBrk="1" hangingPunct="1">
              <a:lnSpc>
                <a:spcPct val="150000"/>
              </a:lnSpc>
              <a:buSzPct val="65000"/>
              <a:buFont typeface="Wingdings" panose="05000000000000000000" pitchFamily="2" charset="2"/>
              <a:buChar char="u"/>
              <a:defRPr/>
            </a:pPr>
            <a:r>
              <a:rPr lang="zh-CN" altLang="en-US" sz="2000" dirty="0">
                <a:latin typeface="Arial" pitchFamily="34" charset="0"/>
                <a:ea typeface="微软雅黑" pitchFamily="34" charset="-122"/>
                <a:cs typeface="Arial" pitchFamily="34" charset="0"/>
              </a:rPr>
              <a:t>若所有发送信号序列是等概率的，则判定与接收序列距离最小的可能路径（又称为最大似然路径）为发送序列。</a:t>
            </a:r>
          </a:p>
          <a:p>
            <a:pPr eaLnBrk="1" hangingPunct="1">
              <a:lnSpc>
                <a:spcPct val="150000"/>
              </a:lnSpc>
              <a:buSzPct val="65000"/>
              <a:buFont typeface="Wingdings" panose="05000000000000000000" pitchFamily="2" charset="2"/>
              <a:buChar char="u"/>
              <a:defRPr/>
            </a:pPr>
            <a:r>
              <a:rPr lang="zh-CN" altLang="en-US" sz="2000" dirty="0">
                <a:latin typeface="Arial" pitchFamily="34" charset="0"/>
                <a:ea typeface="微软雅黑" pitchFamily="34" charset="-122"/>
                <a:cs typeface="Arial" pitchFamily="34" charset="0"/>
              </a:rPr>
              <a:t>因为卷积码是线性码，它具有封闭性，故要考察的路径距离与所用的测试序列无关。所以，不失一般性，可以选用全“</a:t>
            </a:r>
            <a:r>
              <a:rPr lang="en-US" altLang="zh-CN" sz="2000" dirty="0">
                <a:latin typeface="Arial" pitchFamily="34" charset="0"/>
                <a:ea typeface="微软雅黑" pitchFamily="34" charset="-122"/>
                <a:cs typeface="Arial" pitchFamily="34" charset="0"/>
              </a:rPr>
              <a:t>0”</a:t>
            </a:r>
            <a:r>
              <a:rPr lang="zh-CN" altLang="en-US" sz="2000" dirty="0">
                <a:latin typeface="Arial" pitchFamily="34" charset="0"/>
                <a:ea typeface="微软雅黑" pitchFamily="34" charset="-122"/>
                <a:cs typeface="Arial" pitchFamily="34" charset="0"/>
              </a:rPr>
              <a:t>序列作为测试序列。</a:t>
            </a:r>
          </a:p>
        </p:txBody>
      </p:sp>
      <p:sp>
        <p:nvSpPr>
          <p:cNvPr id="6" name="Rectangle 1">
            <a:extLst>
              <a:ext uri="{FF2B5EF4-FFF2-40B4-BE49-F238E27FC236}">
                <a16:creationId xmlns:a16="http://schemas.microsoft.com/office/drawing/2014/main" id="{F0B6F84B-9AEB-B7FF-6080-B69D0A04B8B8}"/>
              </a:ext>
            </a:extLst>
          </p:cNvPr>
          <p:cNvSpPr>
            <a:spLocks noChangeArrowheads="1"/>
          </p:cNvSpPr>
          <p:nvPr/>
        </p:nvSpPr>
        <p:spPr bwMode="auto">
          <a:xfrm>
            <a:off x="0" y="441325"/>
            <a:ext cx="6286500" cy="585788"/>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anchor="ctr">
            <a:spAutoFit/>
          </a:bodyPr>
          <a:lstStyle/>
          <a:p>
            <a:pPr marL="0" lvl="1" indent="306388" eaLnBrk="0" hangingPunct="0">
              <a:defRPr/>
            </a:pPr>
            <a:r>
              <a:rPr lang="en-US" altLang="en-US" sz="3200" dirty="0">
                <a:solidFill>
                  <a:srgbClr val="800080"/>
                </a:solidFill>
                <a:latin typeface="Arial" pitchFamily="34" charset="0"/>
                <a:ea typeface="微软雅黑" pitchFamily="34" charset="-122"/>
                <a:cs typeface="Arial" pitchFamily="34" charset="0"/>
              </a:rPr>
              <a:t>11</a:t>
            </a:r>
            <a:r>
              <a:rPr lang="en-US" altLang="zh-CN" sz="3200" dirty="0">
                <a:solidFill>
                  <a:srgbClr val="800080"/>
                </a:solidFill>
                <a:latin typeface="Arial" pitchFamily="34" charset="0"/>
                <a:ea typeface="微软雅黑" pitchFamily="34" charset="-122"/>
                <a:cs typeface="Arial" pitchFamily="34" charset="0"/>
              </a:rPr>
              <a:t>.10.3  </a:t>
            </a:r>
            <a:r>
              <a:rPr kumimoji="0" lang="en-US" altLang="zh-CN" sz="3200" kern="0" dirty="0">
                <a:solidFill>
                  <a:srgbClr val="003399"/>
                </a:solidFill>
                <a:latin typeface="微软雅黑" pitchFamily="34" charset="-122"/>
                <a:ea typeface="微软雅黑" pitchFamily="34" charset="-122"/>
              </a:rPr>
              <a:t>TCM</a:t>
            </a:r>
            <a:r>
              <a:rPr kumimoji="0" lang="zh-CN" altLang="en-US" sz="3200" kern="0" dirty="0">
                <a:solidFill>
                  <a:srgbClr val="003399"/>
                </a:solidFill>
                <a:latin typeface="微软雅黑" pitchFamily="34" charset="-122"/>
                <a:ea typeface="微软雅黑" pitchFamily="34" charset="-122"/>
              </a:rPr>
              <a:t>信号的解调</a:t>
            </a:r>
            <a:endParaRPr lang="zh-CN" altLang="en-US" sz="3200" i="1" dirty="0">
              <a:solidFill>
                <a:srgbClr val="990099"/>
              </a:solidFill>
              <a:latin typeface="微软雅黑" pitchFamily="34" charset="-122"/>
              <a:ea typeface="微软雅黑" pitchFamily="34" charset="-122"/>
            </a:endParaRPr>
          </a:p>
        </p:txBody>
      </p:sp>
      <p:sp>
        <p:nvSpPr>
          <p:cNvPr id="7" name="矩形 6">
            <a:extLst>
              <a:ext uri="{FF2B5EF4-FFF2-40B4-BE49-F238E27FC236}">
                <a16:creationId xmlns:a16="http://schemas.microsoft.com/office/drawing/2014/main" id="{89846FF6-5306-BF11-34A7-B68EA09C1F29}"/>
              </a:ext>
            </a:extLst>
          </p:cNvPr>
          <p:cNvSpPr/>
          <p:nvPr/>
        </p:nvSpPr>
        <p:spPr>
          <a:xfrm>
            <a:off x="715963" y="1143000"/>
            <a:ext cx="3609975" cy="515938"/>
          </a:xfrm>
          <a:prstGeom prst="rect">
            <a:avLst/>
          </a:prstGeom>
        </p:spPr>
        <p:txBody>
          <a:bodyPr wrap="none">
            <a:spAutoFit/>
          </a:bodyPr>
          <a:lstStyle/>
          <a:p>
            <a:pPr marL="342900" lvl="4" indent="-342900">
              <a:lnSpc>
                <a:spcPts val="3300"/>
              </a:lnSpc>
              <a:spcBef>
                <a:spcPct val="20000"/>
              </a:spcBef>
              <a:buClr>
                <a:srgbClr val="FF0000"/>
              </a:buClr>
              <a:buSzPct val="80000"/>
              <a:buFont typeface="Wingdings" pitchFamily="2" charset="2"/>
              <a:buChar char="n"/>
              <a:defRPr/>
            </a:pPr>
            <a:r>
              <a:rPr lang="en-US" altLang="zh-CN" sz="2400" dirty="0">
                <a:solidFill>
                  <a:schemeClr val="tx1"/>
                </a:solidFill>
                <a:latin typeface="Arial" pitchFamily="34" charset="0"/>
                <a:ea typeface="微软雅黑" pitchFamily="34" charset="-122"/>
                <a:cs typeface="Arial" pitchFamily="34" charset="0"/>
              </a:rPr>
              <a:t>TCM</a:t>
            </a:r>
            <a:r>
              <a:rPr lang="zh-CN" altLang="en-US" sz="2400" dirty="0">
                <a:solidFill>
                  <a:schemeClr val="tx1"/>
                </a:solidFill>
                <a:latin typeface="Arial" pitchFamily="34" charset="0"/>
                <a:ea typeface="微软雅黑" pitchFamily="34" charset="-122"/>
                <a:cs typeface="Arial" pitchFamily="34" charset="0"/>
              </a:rPr>
              <a:t>信号的</a:t>
            </a:r>
            <a:r>
              <a:rPr kumimoji="0" lang="zh-CN" altLang="en-US" sz="2400" kern="0" dirty="0">
                <a:solidFill>
                  <a:srgbClr val="000000"/>
                </a:solidFill>
                <a:latin typeface="微软雅黑" pitchFamily="34" charset="-122"/>
                <a:ea typeface="微软雅黑" pitchFamily="34" charset="-122"/>
              </a:rPr>
              <a:t>解调算法</a:t>
            </a:r>
            <a:r>
              <a:rPr kumimoji="0" lang="zh-CN" altLang="en-US" sz="2000" kern="0" dirty="0">
                <a:solidFill>
                  <a:srgbClr val="000000"/>
                </a:solidFill>
                <a:latin typeface="Tahoma"/>
                <a:ea typeface="宋体"/>
              </a:rPr>
              <a:t>：</a:t>
            </a:r>
            <a:endParaRPr lang="zh-CN" altLang="en-US" sz="2400" dirty="0">
              <a:solidFill>
                <a:schemeClr val="tx1"/>
              </a:solidFill>
              <a:latin typeface="Arial" charset="0"/>
              <a:ea typeface="微软雅黑" pitchFamily="34" charset="-122"/>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73059">
                                            <p:txEl>
                                              <p:pRg st="0" end="0"/>
                                            </p:txEl>
                                          </p:spTgt>
                                        </p:tgtEl>
                                        <p:attrNameLst>
                                          <p:attrName>style.visibility</p:attrName>
                                        </p:attrNameLst>
                                      </p:cBhvr>
                                      <p:to>
                                        <p:strVal val="visible"/>
                                      </p:to>
                                    </p:set>
                                    <p:animEffect transition="in" filter="wipe(up)">
                                      <p:cBhvr>
                                        <p:cTn id="7" dur="1000"/>
                                        <p:tgtEl>
                                          <p:spTgt spid="1730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73059">
                                            <p:txEl>
                                              <p:pRg st="1" end="1"/>
                                            </p:txEl>
                                          </p:spTgt>
                                        </p:tgtEl>
                                        <p:attrNameLst>
                                          <p:attrName>style.visibility</p:attrName>
                                        </p:attrNameLst>
                                      </p:cBhvr>
                                      <p:to>
                                        <p:strVal val="visible"/>
                                      </p:to>
                                    </p:set>
                                    <p:animEffect transition="in" filter="wipe(up)">
                                      <p:cBhvr>
                                        <p:cTn id="12" dur="1000"/>
                                        <p:tgtEl>
                                          <p:spTgt spid="1730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73059">
                                            <p:txEl>
                                              <p:pRg st="2" end="2"/>
                                            </p:txEl>
                                          </p:spTgt>
                                        </p:tgtEl>
                                        <p:attrNameLst>
                                          <p:attrName>style.visibility</p:attrName>
                                        </p:attrNameLst>
                                      </p:cBhvr>
                                      <p:to>
                                        <p:strVal val="visible"/>
                                      </p:to>
                                    </p:set>
                                    <p:animEffect transition="in" filter="wipe(up)">
                                      <p:cBhvr>
                                        <p:cTn id="17" dur="1000"/>
                                        <p:tgtEl>
                                          <p:spTgt spid="17305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73059">
                                            <p:txEl>
                                              <p:pRg st="3" end="3"/>
                                            </p:txEl>
                                          </p:spTgt>
                                        </p:tgtEl>
                                        <p:attrNameLst>
                                          <p:attrName>style.visibility</p:attrName>
                                        </p:attrNameLst>
                                      </p:cBhvr>
                                      <p:to>
                                        <p:strVal val="visible"/>
                                      </p:to>
                                    </p:set>
                                    <p:animEffect transition="in" filter="wipe(up)">
                                      <p:cBhvr>
                                        <p:cTn id="22" dur="1000"/>
                                        <p:tgtEl>
                                          <p:spTgt spid="1730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3" name="Rectangle 3">
            <a:extLst>
              <a:ext uri="{FF2B5EF4-FFF2-40B4-BE49-F238E27FC236}">
                <a16:creationId xmlns:a16="http://schemas.microsoft.com/office/drawing/2014/main" id="{DD829502-A659-265C-55AD-FA0B0A267242}"/>
              </a:ext>
            </a:extLst>
          </p:cNvPr>
          <p:cNvSpPr>
            <a:spLocks noGrp="1" noChangeArrowheads="1"/>
          </p:cNvSpPr>
          <p:nvPr>
            <p:ph type="body" idx="1"/>
          </p:nvPr>
        </p:nvSpPr>
        <p:spPr>
          <a:xfrm>
            <a:off x="755650" y="1214438"/>
            <a:ext cx="7772400" cy="1571625"/>
          </a:xfrm>
        </p:spPr>
        <p:txBody>
          <a:bodyPr/>
          <a:lstStyle/>
          <a:p>
            <a:pPr eaLnBrk="1" hangingPunct="1">
              <a:lnSpc>
                <a:spcPct val="150000"/>
              </a:lnSpc>
              <a:buFont typeface="Wingdings" panose="05000000000000000000" pitchFamily="2" charset="2"/>
              <a:buChar char="u"/>
            </a:pPr>
            <a:r>
              <a:rPr lang="zh-CN" altLang="en-US" sz="2000">
                <a:latin typeface="Arial" panose="020B0604020202020204" pitchFamily="34" charset="0"/>
                <a:ea typeface="微软雅黑" panose="020B0503020204020204" pitchFamily="34" charset="-122"/>
                <a:cs typeface="Arial" panose="020B0604020202020204" pitchFamily="34" charset="0"/>
              </a:rPr>
              <a:t>用全“</a:t>
            </a:r>
            <a:r>
              <a:rPr lang="en-US" altLang="zh-CN" sz="2000">
                <a:latin typeface="Arial" panose="020B0604020202020204" pitchFamily="34" charset="0"/>
                <a:ea typeface="微软雅黑" panose="020B0503020204020204" pitchFamily="34" charset="-122"/>
                <a:cs typeface="Arial" panose="020B0604020202020204" pitchFamily="34" charset="0"/>
              </a:rPr>
              <a:t>0”</a:t>
            </a:r>
            <a:r>
              <a:rPr lang="zh-CN" altLang="en-US" sz="2000">
                <a:latin typeface="Arial" panose="020B0604020202020204" pitchFamily="34" charset="0"/>
                <a:ea typeface="微软雅黑" panose="020B0503020204020204" pitchFamily="34" charset="-122"/>
                <a:cs typeface="Arial" panose="020B0604020202020204" pitchFamily="34" charset="0"/>
              </a:rPr>
              <a:t>序列作为测试序列时，如下图中虚线路径</a:t>
            </a:r>
            <a:r>
              <a:rPr lang="en-US" altLang="zh-CN" sz="2000" b="1" i="1">
                <a:solidFill>
                  <a:srgbClr val="0000CC"/>
                </a:solidFill>
                <a:latin typeface="Arial" panose="020B0604020202020204" pitchFamily="34" charset="0"/>
                <a:ea typeface="微软雅黑" panose="020B0503020204020204" pitchFamily="34" charset="-122"/>
                <a:cs typeface="Arial" panose="020B0604020202020204" pitchFamily="34" charset="0"/>
              </a:rPr>
              <a:t>U </a:t>
            </a:r>
            <a:r>
              <a:rPr lang="zh-CN" altLang="en-US" sz="2000">
                <a:latin typeface="Arial" panose="020B0604020202020204" pitchFamily="34" charset="0"/>
                <a:ea typeface="微软雅黑" panose="020B0503020204020204" pitchFamily="34" charset="-122"/>
                <a:cs typeface="Arial" panose="020B0604020202020204" pitchFamily="34" charset="0"/>
              </a:rPr>
              <a:t>所示。</a:t>
            </a:r>
            <a:endParaRPr lang="en-US" altLang="zh-CN" sz="2000">
              <a:latin typeface="Arial" panose="020B0604020202020204" pitchFamily="34" charset="0"/>
              <a:ea typeface="微软雅黑" panose="020B0503020204020204" pitchFamily="34" charset="-122"/>
              <a:cs typeface="Arial" panose="020B0604020202020204" pitchFamily="34" charset="0"/>
            </a:endParaRPr>
          </a:p>
          <a:p>
            <a:pPr eaLnBrk="1" hangingPunct="1">
              <a:lnSpc>
                <a:spcPct val="150000"/>
              </a:lnSpc>
              <a:buFont typeface="Wingdings" panose="05000000000000000000" pitchFamily="2" charset="2"/>
              <a:buNone/>
            </a:pPr>
            <a:r>
              <a:rPr lang="zh-CN" altLang="en-US" sz="2000">
                <a:latin typeface="Arial" panose="020B0604020202020204" pitchFamily="34" charset="0"/>
                <a:ea typeface="微软雅黑" panose="020B0503020204020204" pitchFamily="34" charset="-122"/>
                <a:cs typeface="Arial" panose="020B0604020202020204" pitchFamily="34" charset="0"/>
              </a:rPr>
              <a:t>图中还用实线示出另一许用波形序列路径</a:t>
            </a:r>
            <a:r>
              <a:rPr lang="en-US" altLang="zh-CN" sz="2000" b="1" i="1">
                <a:solidFill>
                  <a:srgbClr val="FF0000"/>
                </a:solidFill>
                <a:latin typeface="Arial" panose="020B0604020202020204" pitchFamily="34" charset="0"/>
                <a:ea typeface="微软雅黑" panose="020B0503020204020204" pitchFamily="34" charset="-122"/>
                <a:cs typeface="Arial" panose="020B0604020202020204" pitchFamily="34" charset="0"/>
              </a:rPr>
              <a:t>V</a:t>
            </a:r>
            <a:r>
              <a:rPr lang="zh-CN" altLang="en-US" sz="2000">
                <a:latin typeface="Arial" panose="020B0604020202020204" pitchFamily="34" charset="0"/>
                <a:ea typeface="微软雅黑" panose="020B0503020204020204" pitchFamily="34" charset="-122"/>
                <a:cs typeface="Arial" panose="020B0604020202020204" pitchFamily="34" charset="0"/>
              </a:rPr>
              <a:t>，它从全“</a:t>
            </a:r>
            <a:r>
              <a:rPr lang="en-US" altLang="zh-CN" sz="2000">
                <a:latin typeface="Arial" panose="020B0604020202020204" pitchFamily="34" charset="0"/>
                <a:ea typeface="微软雅黑" panose="020B0503020204020204" pitchFamily="34" charset="-122"/>
                <a:cs typeface="Arial" panose="020B0604020202020204" pitchFamily="34" charset="0"/>
              </a:rPr>
              <a:t>0”</a:t>
            </a:r>
            <a:r>
              <a:rPr lang="zh-CN" altLang="en-US" sz="2000">
                <a:latin typeface="Arial" panose="020B0604020202020204" pitchFamily="34" charset="0"/>
                <a:ea typeface="微软雅黑" panose="020B0503020204020204" pitchFamily="34" charset="-122"/>
                <a:cs typeface="Arial" panose="020B0604020202020204" pitchFamily="34" charset="0"/>
              </a:rPr>
              <a:t>序列路径分</a:t>
            </a:r>
            <a:endParaRPr lang="en-US" altLang="zh-CN" sz="2000">
              <a:latin typeface="Arial" panose="020B0604020202020204" pitchFamily="34" charset="0"/>
              <a:ea typeface="微软雅黑" panose="020B0503020204020204" pitchFamily="34" charset="-122"/>
              <a:cs typeface="Arial" panose="020B0604020202020204" pitchFamily="34" charset="0"/>
            </a:endParaRPr>
          </a:p>
          <a:p>
            <a:pPr eaLnBrk="1" hangingPunct="1">
              <a:lnSpc>
                <a:spcPct val="150000"/>
              </a:lnSpc>
              <a:buFont typeface="Wingdings" panose="05000000000000000000" pitchFamily="2" charset="2"/>
              <a:buNone/>
            </a:pPr>
            <a:r>
              <a:rPr lang="zh-CN" altLang="en-US" sz="2000">
                <a:latin typeface="Arial" panose="020B0604020202020204" pitchFamily="34" charset="0"/>
                <a:ea typeface="微软雅黑" panose="020B0503020204020204" pitchFamily="34" charset="-122"/>
                <a:cs typeface="Arial" panose="020B0604020202020204" pitchFamily="34" charset="0"/>
              </a:rPr>
              <a:t>开又回到全“</a:t>
            </a:r>
            <a:r>
              <a:rPr lang="en-US" altLang="zh-CN" sz="2000">
                <a:latin typeface="Arial" panose="020B0604020202020204" pitchFamily="34" charset="0"/>
                <a:ea typeface="微软雅黑" panose="020B0503020204020204" pitchFamily="34" charset="-122"/>
                <a:cs typeface="Arial" panose="020B0604020202020204" pitchFamily="34" charset="0"/>
              </a:rPr>
              <a:t>0”</a:t>
            </a:r>
            <a:r>
              <a:rPr lang="zh-CN" altLang="en-US" sz="2000">
                <a:latin typeface="Arial" panose="020B0604020202020204" pitchFamily="34" charset="0"/>
                <a:ea typeface="微软雅黑" panose="020B0503020204020204" pitchFamily="34" charset="-122"/>
                <a:cs typeface="Arial" panose="020B0604020202020204" pitchFamily="34" charset="0"/>
              </a:rPr>
              <a:t>序列路径。</a:t>
            </a:r>
          </a:p>
          <a:p>
            <a:pPr lvl="3" eaLnBrk="1" hangingPunct="1">
              <a:lnSpc>
                <a:spcPct val="90000"/>
              </a:lnSpc>
              <a:buFont typeface="Wingdings" panose="05000000000000000000" pitchFamily="2" charset="2"/>
              <a:buChar char="u"/>
            </a:pPr>
            <a:endParaRPr lang="en-US" altLang="zh-CN"/>
          </a:p>
        </p:txBody>
      </p:sp>
      <p:grpSp>
        <p:nvGrpSpPr>
          <p:cNvPr id="2" name="Group 73">
            <a:extLst>
              <a:ext uri="{FF2B5EF4-FFF2-40B4-BE49-F238E27FC236}">
                <a16:creationId xmlns:a16="http://schemas.microsoft.com/office/drawing/2014/main" id="{FCA64430-9466-B185-7864-F9E09BF59B2E}"/>
              </a:ext>
            </a:extLst>
          </p:cNvPr>
          <p:cNvGrpSpPr>
            <a:grpSpLocks/>
          </p:cNvGrpSpPr>
          <p:nvPr/>
        </p:nvGrpSpPr>
        <p:grpSpPr bwMode="auto">
          <a:xfrm>
            <a:off x="642938" y="3000375"/>
            <a:ext cx="7643812" cy="3143250"/>
            <a:chOff x="465" y="2117"/>
            <a:chExt cx="4881" cy="1883"/>
          </a:xfrm>
        </p:grpSpPr>
        <p:sp>
          <p:nvSpPr>
            <p:cNvPr id="166925" name="Line 70">
              <a:extLst>
                <a:ext uri="{FF2B5EF4-FFF2-40B4-BE49-F238E27FC236}">
                  <a16:creationId xmlns:a16="http://schemas.microsoft.com/office/drawing/2014/main" id="{E57ACABC-AD37-50D7-E073-75310975DA24}"/>
                </a:ext>
              </a:extLst>
            </p:cNvPr>
            <p:cNvSpPr>
              <a:spLocks noChangeShapeType="1"/>
            </p:cNvSpPr>
            <p:nvPr/>
          </p:nvSpPr>
          <p:spPr bwMode="auto">
            <a:xfrm>
              <a:off x="3078" y="2472"/>
              <a:ext cx="68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66926" name="Group 72">
              <a:extLst>
                <a:ext uri="{FF2B5EF4-FFF2-40B4-BE49-F238E27FC236}">
                  <a16:creationId xmlns:a16="http://schemas.microsoft.com/office/drawing/2014/main" id="{8EE80594-E775-4F41-6B61-C1896846583E}"/>
                </a:ext>
              </a:extLst>
            </p:cNvPr>
            <p:cNvGrpSpPr>
              <a:grpSpLocks/>
            </p:cNvGrpSpPr>
            <p:nvPr/>
          </p:nvGrpSpPr>
          <p:grpSpPr bwMode="auto">
            <a:xfrm>
              <a:off x="465" y="2117"/>
              <a:ext cx="4881" cy="1883"/>
              <a:chOff x="494" y="2263"/>
              <a:chExt cx="4427" cy="1738"/>
            </a:xfrm>
          </p:grpSpPr>
          <p:grpSp>
            <p:nvGrpSpPr>
              <p:cNvPr id="166927" name="Group 7">
                <a:extLst>
                  <a:ext uri="{FF2B5EF4-FFF2-40B4-BE49-F238E27FC236}">
                    <a16:creationId xmlns:a16="http://schemas.microsoft.com/office/drawing/2014/main" id="{FCE99615-F782-9B13-52CA-80CC9E90756E}"/>
                  </a:ext>
                </a:extLst>
              </p:cNvPr>
              <p:cNvGrpSpPr>
                <a:grpSpLocks/>
              </p:cNvGrpSpPr>
              <p:nvPr/>
            </p:nvGrpSpPr>
            <p:grpSpPr bwMode="auto">
              <a:xfrm>
                <a:off x="494" y="2263"/>
                <a:ext cx="4427" cy="1738"/>
                <a:chOff x="1318" y="1492"/>
                <a:chExt cx="8560" cy="2981"/>
              </a:xfrm>
            </p:grpSpPr>
            <p:grpSp>
              <p:nvGrpSpPr>
                <p:cNvPr id="166929" name="Group 8">
                  <a:extLst>
                    <a:ext uri="{FF2B5EF4-FFF2-40B4-BE49-F238E27FC236}">
                      <a16:creationId xmlns:a16="http://schemas.microsoft.com/office/drawing/2014/main" id="{14F2FEDD-D478-E1B1-3546-3D5B9129ED07}"/>
                    </a:ext>
                  </a:extLst>
                </p:cNvPr>
                <p:cNvGrpSpPr>
                  <a:grpSpLocks/>
                </p:cNvGrpSpPr>
                <p:nvPr/>
              </p:nvGrpSpPr>
              <p:grpSpPr bwMode="auto">
                <a:xfrm>
                  <a:off x="2489" y="1492"/>
                  <a:ext cx="988" cy="2927"/>
                  <a:chOff x="2489" y="1492"/>
                  <a:chExt cx="988" cy="2927"/>
                </a:xfrm>
              </p:grpSpPr>
              <p:sp>
                <p:nvSpPr>
                  <p:cNvPr id="166985" name="Text Box 9">
                    <a:extLst>
                      <a:ext uri="{FF2B5EF4-FFF2-40B4-BE49-F238E27FC236}">
                        <a16:creationId xmlns:a16="http://schemas.microsoft.com/office/drawing/2014/main" id="{0D915DF1-38B8-23FC-B19F-274991971B4A}"/>
                      </a:ext>
                    </a:extLst>
                  </p:cNvPr>
                  <p:cNvSpPr txBox="1">
                    <a:spLocks noChangeArrowheads="1"/>
                  </p:cNvSpPr>
                  <p:nvPr/>
                </p:nvSpPr>
                <p:spPr bwMode="auto">
                  <a:xfrm>
                    <a:off x="2638" y="2535"/>
                    <a:ext cx="550"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rPr>
                      <a:t>10</a:t>
                    </a:r>
                  </a:p>
                </p:txBody>
              </p:sp>
              <p:sp>
                <p:nvSpPr>
                  <p:cNvPr id="166986" name="Text Box 10">
                    <a:extLst>
                      <a:ext uri="{FF2B5EF4-FFF2-40B4-BE49-F238E27FC236}">
                        <a16:creationId xmlns:a16="http://schemas.microsoft.com/office/drawing/2014/main" id="{AED7286A-40D0-9C0D-805D-AA2BC4D6DCF1}"/>
                      </a:ext>
                    </a:extLst>
                  </p:cNvPr>
                  <p:cNvSpPr txBox="1">
                    <a:spLocks noChangeArrowheads="1"/>
                  </p:cNvSpPr>
                  <p:nvPr/>
                </p:nvSpPr>
                <p:spPr bwMode="auto">
                  <a:xfrm>
                    <a:off x="2638" y="3282"/>
                    <a:ext cx="550"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rPr>
                      <a:t>01</a:t>
                    </a:r>
                  </a:p>
                </p:txBody>
              </p:sp>
              <p:sp>
                <p:nvSpPr>
                  <p:cNvPr id="166987" name="Text Box 11">
                    <a:extLst>
                      <a:ext uri="{FF2B5EF4-FFF2-40B4-BE49-F238E27FC236}">
                        <a16:creationId xmlns:a16="http://schemas.microsoft.com/office/drawing/2014/main" id="{AD259A45-18BE-D00A-D54A-5D88390A3A3F}"/>
                      </a:ext>
                    </a:extLst>
                  </p:cNvPr>
                  <p:cNvSpPr txBox="1">
                    <a:spLocks noChangeArrowheads="1"/>
                  </p:cNvSpPr>
                  <p:nvPr/>
                </p:nvSpPr>
                <p:spPr bwMode="auto">
                  <a:xfrm>
                    <a:off x="2638" y="4017"/>
                    <a:ext cx="550"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rPr>
                      <a:t>11</a:t>
                    </a:r>
                  </a:p>
                </p:txBody>
              </p:sp>
              <p:grpSp>
                <p:nvGrpSpPr>
                  <p:cNvPr id="166988" name="Group 12">
                    <a:extLst>
                      <a:ext uri="{FF2B5EF4-FFF2-40B4-BE49-F238E27FC236}">
                        <a16:creationId xmlns:a16="http://schemas.microsoft.com/office/drawing/2014/main" id="{5DD71EB0-98F8-A215-CC05-DB63EAB0997C}"/>
                      </a:ext>
                    </a:extLst>
                  </p:cNvPr>
                  <p:cNvGrpSpPr>
                    <a:grpSpLocks/>
                  </p:cNvGrpSpPr>
                  <p:nvPr/>
                </p:nvGrpSpPr>
                <p:grpSpPr bwMode="auto">
                  <a:xfrm>
                    <a:off x="2489" y="1492"/>
                    <a:ext cx="988" cy="683"/>
                    <a:chOff x="5347" y="1552"/>
                    <a:chExt cx="988" cy="683"/>
                  </a:xfrm>
                </p:grpSpPr>
                <p:sp>
                  <p:nvSpPr>
                    <p:cNvPr id="166989" name="Text Box 13">
                      <a:extLst>
                        <a:ext uri="{FF2B5EF4-FFF2-40B4-BE49-F238E27FC236}">
                          <a16:creationId xmlns:a16="http://schemas.microsoft.com/office/drawing/2014/main" id="{659620ED-AE61-5255-AC7A-D6B118087B7C}"/>
                        </a:ext>
                      </a:extLst>
                    </p:cNvPr>
                    <p:cNvSpPr txBox="1">
                      <a:spLocks noChangeArrowheads="1"/>
                    </p:cNvSpPr>
                    <p:nvPr/>
                  </p:nvSpPr>
                  <p:spPr bwMode="auto">
                    <a:xfrm>
                      <a:off x="5458" y="1833"/>
                      <a:ext cx="550"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rPr>
                        <a:t>00</a:t>
                      </a:r>
                    </a:p>
                  </p:txBody>
                </p:sp>
                <p:sp>
                  <p:nvSpPr>
                    <p:cNvPr id="166990" name="Text Box 14">
                      <a:extLst>
                        <a:ext uri="{FF2B5EF4-FFF2-40B4-BE49-F238E27FC236}">
                          <a16:creationId xmlns:a16="http://schemas.microsoft.com/office/drawing/2014/main" id="{137D40E6-C8D7-BCB9-A42B-536A5B37B690}"/>
                        </a:ext>
                      </a:extLst>
                    </p:cNvPr>
                    <p:cNvSpPr txBox="1">
                      <a:spLocks noChangeArrowheads="1"/>
                    </p:cNvSpPr>
                    <p:nvPr/>
                  </p:nvSpPr>
                  <p:spPr bwMode="auto">
                    <a:xfrm>
                      <a:off x="5347" y="1552"/>
                      <a:ext cx="988"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b</a:t>
                      </a:r>
                      <a:r>
                        <a:rPr lang="en-US" altLang="zh-CN" sz="1800" baseline="-25000">
                          <a:solidFill>
                            <a:schemeClr val="tx1"/>
                          </a:solidFill>
                          <a:latin typeface="Arial" panose="020B0604020202020204" pitchFamily="34" charset="0"/>
                          <a:ea typeface="微软雅黑" panose="020B0503020204020204" pitchFamily="34" charset="-122"/>
                          <a:cs typeface="Arial" panose="020B0604020202020204" pitchFamily="34" charset="0"/>
                        </a:rPr>
                        <a:t>1 </a:t>
                      </a:r>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b</a:t>
                      </a:r>
                      <a:r>
                        <a:rPr lang="en-US" altLang="zh-CN" sz="1800" baseline="-25000">
                          <a:solidFill>
                            <a:schemeClr val="tx1"/>
                          </a:solidFill>
                          <a:latin typeface="Arial" panose="020B0604020202020204" pitchFamily="34" charset="0"/>
                          <a:ea typeface="微软雅黑" panose="020B0503020204020204" pitchFamily="34" charset="-122"/>
                          <a:cs typeface="Arial" panose="020B0604020202020204" pitchFamily="34" charset="0"/>
                        </a:rPr>
                        <a:t>2</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grpSp>
              <p:nvGrpSpPr>
                <p:cNvPr id="166930" name="Group 15">
                  <a:extLst>
                    <a:ext uri="{FF2B5EF4-FFF2-40B4-BE49-F238E27FC236}">
                      <a16:creationId xmlns:a16="http://schemas.microsoft.com/office/drawing/2014/main" id="{08286304-AFF8-974F-5288-F7F86FA8C5D2}"/>
                    </a:ext>
                  </a:extLst>
                </p:cNvPr>
                <p:cNvGrpSpPr>
                  <a:grpSpLocks/>
                </p:cNvGrpSpPr>
                <p:nvPr/>
              </p:nvGrpSpPr>
              <p:grpSpPr bwMode="auto">
                <a:xfrm>
                  <a:off x="1318" y="1758"/>
                  <a:ext cx="1476" cy="2715"/>
                  <a:chOff x="1318" y="1758"/>
                  <a:chExt cx="1476" cy="2715"/>
                </a:xfrm>
              </p:grpSpPr>
              <p:grpSp>
                <p:nvGrpSpPr>
                  <p:cNvPr id="166979" name="Group 16">
                    <a:extLst>
                      <a:ext uri="{FF2B5EF4-FFF2-40B4-BE49-F238E27FC236}">
                        <a16:creationId xmlns:a16="http://schemas.microsoft.com/office/drawing/2014/main" id="{7A4696CF-0CC0-DD7A-2E4C-5BF80D9782B6}"/>
                      </a:ext>
                    </a:extLst>
                  </p:cNvPr>
                  <p:cNvGrpSpPr>
                    <a:grpSpLocks/>
                  </p:cNvGrpSpPr>
                  <p:nvPr/>
                </p:nvGrpSpPr>
                <p:grpSpPr bwMode="auto">
                  <a:xfrm>
                    <a:off x="2254" y="1758"/>
                    <a:ext cx="540" cy="2715"/>
                    <a:chOff x="2254" y="1758"/>
                    <a:chExt cx="540" cy="2715"/>
                  </a:xfrm>
                </p:grpSpPr>
                <p:sp>
                  <p:nvSpPr>
                    <p:cNvPr id="166981" name="Text Box 17">
                      <a:extLst>
                        <a:ext uri="{FF2B5EF4-FFF2-40B4-BE49-F238E27FC236}">
                          <a16:creationId xmlns:a16="http://schemas.microsoft.com/office/drawing/2014/main" id="{2620CB39-4D5F-2891-2642-352BB394C2B5}"/>
                        </a:ext>
                      </a:extLst>
                    </p:cNvPr>
                    <p:cNvSpPr txBox="1">
                      <a:spLocks noChangeArrowheads="1"/>
                    </p:cNvSpPr>
                    <p:nvPr/>
                  </p:nvSpPr>
                  <p:spPr bwMode="auto">
                    <a:xfrm>
                      <a:off x="2254" y="1758"/>
                      <a:ext cx="540"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a</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82" name="Text Box 18">
                      <a:extLst>
                        <a:ext uri="{FF2B5EF4-FFF2-40B4-BE49-F238E27FC236}">
                          <a16:creationId xmlns:a16="http://schemas.microsoft.com/office/drawing/2014/main" id="{B7970E97-6E21-8C62-CD67-9FB22D0026E3}"/>
                        </a:ext>
                      </a:extLst>
                    </p:cNvPr>
                    <p:cNvSpPr txBox="1">
                      <a:spLocks noChangeArrowheads="1"/>
                    </p:cNvSpPr>
                    <p:nvPr/>
                  </p:nvSpPr>
                  <p:spPr bwMode="auto">
                    <a:xfrm>
                      <a:off x="2254" y="2580"/>
                      <a:ext cx="540"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b</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83" name="Text Box 19">
                      <a:extLst>
                        <a:ext uri="{FF2B5EF4-FFF2-40B4-BE49-F238E27FC236}">
                          <a16:creationId xmlns:a16="http://schemas.microsoft.com/office/drawing/2014/main" id="{43501D69-F5DC-0DBB-DCB1-37D3CF3667FD}"/>
                        </a:ext>
                      </a:extLst>
                    </p:cNvPr>
                    <p:cNvSpPr txBox="1">
                      <a:spLocks noChangeArrowheads="1"/>
                    </p:cNvSpPr>
                    <p:nvPr/>
                  </p:nvSpPr>
                  <p:spPr bwMode="auto">
                    <a:xfrm>
                      <a:off x="2254" y="3279"/>
                      <a:ext cx="540"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c</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84" name="Text Box 20">
                      <a:extLst>
                        <a:ext uri="{FF2B5EF4-FFF2-40B4-BE49-F238E27FC236}">
                          <a16:creationId xmlns:a16="http://schemas.microsoft.com/office/drawing/2014/main" id="{08F8135E-9E3B-FF80-29FB-E5206AA2C303}"/>
                        </a:ext>
                      </a:extLst>
                    </p:cNvPr>
                    <p:cNvSpPr txBox="1">
                      <a:spLocks noChangeArrowheads="1"/>
                    </p:cNvSpPr>
                    <p:nvPr/>
                  </p:nvSpPr>
                  <p:spPr bwMode="auto">
                    <a:xfrm>
                      <a:off x="2254" y="4044"/>
                      <a:ext cx="540"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d</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166980" name="Text Box 21">
                    <a:extLst>
                      <a:ext uri="{FF2B5EF4-FFF2-40B4-BE49-F238E27FC236}">
                        <a16:creationId xmlns:a16="http://schemas.microsoft.com/office/drawing/2014/main" id="{8BB65126-769F-E007-9A12-7236C6ED489B}"/>
                      </a:ext>
                    </a:extLst>
                  </p:cNvPr>
                  <p:cNvSpPr txBox="1">
                    <a:spLocks noChangeArrowheads="1"/>
                  </p:cNvSpPr>
                  <p:nvPr/>
                </p:nvSpPr>
                <p:spPr bwMode="auto">
                  <a:xfrm>
                    <a:off x="1318" y="1785"/>
                    <a:ext cx="880" cy="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rPr>
                      <a:t>状态</a:t>
                    </a:r>
                  </a:p>
                </p:txBody>
              </p:sp>
            </p:grpSp>
            <p:grpSp>
              <p:nvGrpSpPr>
                <p:cNvPr id="166931" name="Group 22">
                  <a:extLst>
                    <a:ext uri="{FF2B5EF4-FFF2-40B4-BE49-F238E27FC236}">
                      <a16:creationId xmlns:a16="http://schemas.microsoft.com/office/drawing/2014/main" id="{91AABE2D-3E64-7117-A363-829AF1B485D3}"/>
                    </a:ext>
                  </a:extLst>
                </p:cNvPr>
                <p:cNvGrpSpPr>
                  <a:grpSpLocks/>
                </p:cNvGrpSpPr>
                <p:nvPr/>
              </p:nvGrpSpPr>
              <p:grpSpPr bwMode="auto">
                <a:xfrm>
                  <a:off x="3110" y="1590"/>
                  <a:ext cx="6768" cy="2706"/>
                  <a:chOff x="3110" y="1590"/>
                  <a:chExt cx="6768" cy="2706"/>
                </a:xfrm>
              </p:grpSpPr>
              <p:grpSp>
                <p:nvGrpSpPr>
                  <p:cNvPr id="166932" name="Group 23">
                    <a:extLst>
                      <a:ext uri="{FF2B5EF4-FFF2-40B4-BE49-F238E27FC236}">
                        <a16:creationId xmlns:a16="http://schemas.microsoft.com/office/drawing/2014/main" id="{4A7FC47F-E6EB-21F3-8311-40E0EB1A6EEC}"/>
                      </a:ext>
                    </a:extLst>
                  </p:cNvPr>
                  <p:cNvGrpSpPr>
                    <a:grpSpLocks/>
                  </p:cNvGrpSpPr>
                  <p:nvPr/>
                </p:nvGrpSpPr>
                <p:grpSpPr bwMode="auto">
                  <a:xfrm>
                    <a:off x="3110" y="1950"/>
                    <a:ext cx="6768" cy="2346"/>
                    <a:chOff x="3110" y="1950"/>
                    <a:chExt cx="6768" cy="2346"/>
                  </a:xfrm>
                </p:grpSpPr>
                <p:grpSp>
                  <p:nvGrpSpPr>
                    <p:cNvPr id="166945" name="Group 24">
                      <a:extLst>
                        <a:ext uri="{FF2B5EF4-FFF2-40B4-BE49-F238E27FC236}">
                          <a16:creationId xmlns:a16="http://schemas.microsoft.com/office/drawing/2014/main" id="{61AF97DA-214E-412A-6F6D-00ECF706CD7F}"/>
                        </a:ext>
                      </a:extLst>
                    </p:cNvPr>
                    <p:cNvGrpSpPr>
                      <a:grpSpLocks/>
                    </p:cNvGrpSpPr>
                    <p:nvPr/>
                  </p:nvGrpSpPr>
                  <p:grpSpPr bwMode="auto">
                    <a:xfrm>
                      <a:off x="3110" y="1950"/>
                      <a:ext cx="6768" cy="2346"/>
                      <a:chOff x="3110" y="1950"/>
                      <a:chExt cx="6768" cy="2346"/>
                    </a:xfrm>
                  </p:grpSpPr>
                  <p:grpSp>
                    <p:nvGrpSpPr>
                      <p:cNvPr id="166952" name="Group 25">
                        <a:extLst>
                          <a:ext uri="{FF2B5EF4-FFF2-40B4-BE49-F238E27FC236}">
                            <a16:creationId xmlns:a16="http://schemas.microsoft.com/office/drawing/2014/main" id="{2409569D-04AC-A8B3-1D84-61E7B72E0217}"/>
                          </a:ext>
                        </a:extLst>
                      </p:cNvPr>
                      <p:cNvGrpSpPr>
                        <a:grpSpLocks/>
                      </p:cNvGrpSpPr>
                      <p:nvPr/>
                    </p:nvGrpSpPr>
                    <p:grpSpPr bwMode="auto">
                      <a:xfrm>
                        <a:off x="8434" y="1950"/>
                        <a:ext cx="1444" cy="2346"/>
                        <a:chOff x="5945" y="1921"/>
                        <a:chExt cx="3004" cy="4146"/>
                      </a:xfrm>
                    </p:grpSpPr>
                    <p:sp>
                      <p:nvSpPr>
                        <p:cNvPr id="166971" name="Oval 26">
                          <a:extLst>
                            <a:ext uri="{FF2B5EF4-FFF2-40B4-BE49-F238E27FC236}">
                              <a16:creationId xmlns:a16="http://schemas.microsoft.com/office/drawing/2014/main" id="{60F1705F-C7B8-E910-B676-C954EB54C1CB}"/>
                            </a:ext>
                          </a:extLst>
                        </p:cNvPr>
                        <p:cNvSpPr>
                          <a:spLocks noChangeArrowheads="1"/>
                        </p:cNvSpPr>
                        <p:nvPr/>
                      </p:nvSpPr>
                      <p:spPr bwMode="auto">
                        <a:xfrm>
                          <a:off x="5945" y="1921"/>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72" name="Oval 27">
                          <a:extLst>
                            <a:ext uri="{FF2B5EF4-FFF2-40B4-BE49-F238E27FC236}">
                              <a16:creationId xmlns:a16="http://schemas.microsoft.com/office/drawing/2014/main" id="{B24EB9D1-26D1-93B8-4F57-244DB04E9EF5}"/>
                            </a:ext>
                          </a:extLst>
                        </p:cNvPr>
                        <p:cNvSpPr>
                          <a:spLocks noChangeArrowheads="1"/>
                        </p:cNvSpPr>
                        <p:nvPr/>
                      </p:nvSpPr>
                      <p:spPr bwMode="auto">
                        <a:xfrm>
                          <a:off x="8711" y="1921"/>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73" name="Oval 28">
                          <a:extLst>
                            <a:ext uri="{FF2B5EF4-FFF2-40B4-BE49-F238E27FC236}">
                              <a16:creationId xmlns:a16="http://schemas.microsoft.com/office/drawing/2014/main" id="{145EFFC4-1468-9320-E4C5-31A93B36DC64}"/>
                            </a:ext>
                          </a:extLst>
                        </p:cNvPr>
                        <p:cNvSpPr>
                          <a:spLocks noChangeArrowheads="1"/>
                        </p:cNvSpPr>
                        <p:nvPr/>
                      </p:nvSpPr>
                      <p:spPr bwMode="auto">
                        <a:xfrm>
                          <a:off x="5945" y="3223"/>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74" name="Oval 29">
                          <a:extLst>
                            <a:ext uri="{FF2B5EF4-FFF2-40B4-BE49-F238E27FC236}">
                              <a16:creationId xmlns:a16="http://schemas.microsoft.com/office/drawing/2014/main" id="{B65FE557-749E-0C66-3280-AAD86C0925CF}"/>
                            </a:ext>
                          </a:extLst>
                        </p:cNvPr>
                        <p:cNvSpPr>
                          <a:spLocks noChangeArrowheads="1"/>
                        </p:cNvSpPr>
                        <p:nvPr/>
                      </p:nvSpPr>
                      <p:spPr bwMode="auto">
                        <a:xfrm>
                          <a:off x="8711" y="3223"/>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75" name="Oval 30">
                          <a:extLst>
                            <a:ext uri="{FF2B5EF4-FFF2-40B4-BE49-F238E27FC236}">
                              <a16:creationId xmlns:a16="http://schemas.microsoft.com/office/drawing/2014/main" id="{E24091D5-20A2-D428-4CD8-CD1AE91BE4CA}"/>
                            </a:ext>
                          </a:extLst>
                        </p:cNvPr>
                        <p:cNvSpPr>
                          <a:spLocks noChangeArrowheads="1"/>
                        </p:cNvSpPr>
                        <p:nvPr/>
                      </p:nvSpPr>
                      <p:spPr bwMode="auto">
                        <a:xfrm>
                          <a:off x="5945" y="4552"/>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76" name="Oval 31">
                          <a:extLst>
                            <a:ext uri="{FF2B5EF4-FFF2-40B4-BE49-F238E27FC236}">
                              <a16:creationId xmlns:a16="http://schemas.microsoft.com/office/drawing/2014/main" id="{09CFA407-310A-EBFF-771A-68EE59543BE9}"/>
                            </a:ext>
                          </a:extLst>
                        </p:cNvPr>
                        <p:cNvSpPr>
                          <a:spLocks noChangeArrowheads="1"/>
                        </p:cNvSpPr>
                        <p:nvPr/>
                      </p:nvSpPr>
                      <p:spPr bwMode="auto">
                        <a:xfrm>
                          <a:off x="8711" y="4552"/>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77" name="Oval 32">
                          <a:extLst>
                            <a:ext uri="{FF2B5EF4-FFF2-40B4-BE49-F238E27FC236}">
                              <a16:creationId xmlns:a16="http://schemas.microsoft.com/office/drawing/2014/main" id="{01649196-ECC6-ADD8-EDC9-7A4264C3E1A8}"/>
                            </a:ext>
                          </a:extLst>
                        </p:cNvPr>
                        <p:cNvSpPr>
                          <a:spLocks noChangeArrowheads="1"/>
                        </p:cNvSpPr>
                        <p:nvPr/>
                      </p:nvSpPr>
                      <p:spPr bwMode="auto">
                        <a:xfrm>
                          <a:off x="5945" y="5854"/>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78" name="Oval 33">
                          <a:extLst>
                            <a:ext uri="{FF2B5EF4-FFF2-40B4-BE49-F238E27FC236}">
                              <a16:creationId xmlns:a16="http://schemas.microsoft.com/office/drawing/2014/main" id="{ABA7EC22-27B4-D55E-041F-B436F16B02B2}"/>
                            </a:ext>
                          </a:extLst>
                        </p:cNvPr>
                        <p:cNvSpPr>
                          <a:spLocks noChangeArrowheads="1"/>
                        </p:cNvSpPr>
                        <p:nvPr/>
                      </p:nvSpPr>
                      <p:spPr bwMode="auto">
                        <a:xfrm>
                          <a:off x="8711" y="5854"/>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66953" name="Group 34">
                        <a:extLst>
                          <a:ext uri="{FF2B5EF4-FFF2-40B4-BE49-F238E27FC236}">
                            <a16:creationId xmlns:a16="http://schemas.microsoft.com/office/drawing/2014/main" id="{6B8E9A20-B1ED-B03E-94FA-6A1BD41FBB1E}"/>
                          </a:ext>
                        </a:extLst>
                      </p:cNvPr>
                      <p:cNvGrpSpPr>
                        <a:grpSpLocks/>
                      </p:cNvGrpSpPr>
                      <p:nvPr/>
                    </p:nvGrpSpPr>
                    <p:grpSpPr bwMode="auto">
                      <a:xfrm>
                        <a:off x="3110" y="1950"/>
                        <a:ext cx="1444" cy="2346"/>
                        <a:chOff x="5945" y="1921"/>
                        <a:chExt cx="3004" cy="4146"/>
                      </a:xfrm>
                    </p:grpSpPr>
                    <p:sp>
                      <p:nvSpPr>
                        <p:cNvPr id="166963" name="Oval 35">
                          <a:extLst>
                            <a:ext uri="{FF2B5EF4-FFF2-40B4-BE49-F238E27FC236}">
                              <a16:creationId xmlns:a16="http://schemas.microsoft.com/office/drawing/2014/main" id="{8FC602AB-BBED-B48E-E6A4-53DA0B1F5933}"/>
                            </a:ext>
                          </a:extLst>
                        </p:cNvPr>
                        <p:cNvSpPr>
                          <a:spLocks noChangeArrowheads="1"/>
                        </p:cNvSpPr>
                        <p:nvPr/>
                      </p:nvSpPr>
                      <p:spPr bwMode="auto">
                        <a:xfrm>
                          <a:off x="5945" y="1921"/>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64" name="Oval 36">
                          <a:extLst>
                            <a:ext uri="{FF2B5EF4-FFF2-40B4-BE49-F238E27FC236}">
                              <a16:creationId xmlns:a16="http://schemas.microsoft.com/office/drawing/2014/main" id="{39E1C46F-D433-0413-25B0-81734ED311E7}"/>
                            </a:ext>
                          </a:extLst>
                        </p:cNvPr>
                        <p:cNvSpPr>
                          <a:spLocks noChangeArrowheads="1"/>
                        </p:cNvSpPr>
                        <p:nvPr/>
                      </p:nvSpPr>
                      <p:spPr bwMode="auto">
                        <a:xfrm>
                          <a:off x="8711" y="1921"/>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65" name="Oval 37">
                          <a:extLst>
                            <a:ext uri="{FF2B5EF4-FFF2-40B4-BE49-F238E27FC236}">
                              <a16:creationId xmlns:a16="http://schemas.microsoft.com/office/drawing/2014/main" id="{18B663E1-51B0-2E96-73FF-A3BAECC86037}"/>
                            </a:ext>
                          </a:extLst>
                        </p:cNvPr>
                        <p:cNvSpPr>
                          <a:spLocks noChangeArrowheads="1"/>
                        </p:cNvSpPr>
                        <p:nvPr/>
                      </p:nvSpPr>
                      <p:spPr bwMode="auto">
                        <a:xfrm>
                          <a:off x="5945" y="3223"/>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66" name="Oval 38">
                          <a:extLst>
                            <a:ext uri="{FF2B5EF4-FFF2-40B4-BE49-F238E27FC236}">
                              <a16:creationId xmlns:a16="http://schemas.microsoft.com/office/drawing/2014/main" id="{FADA2CC5-B9C2-16D4-CEAE-C8F3EDAA6AA1}"/>
                            </a:ext>
                          </a:extLst>
                        </p:cNvPr>
                        <p:cNvSpPr>
                          <a:spLocks noChangeArrowheads="1"/>
                        </p:cNvSpPr>
                        <p:nvPr/>
                      </p:nvSpPr>
                      <p:spPr bwMode="auto">
                        <a:xfrm>
                          <a:off x="8711" y="3223"/>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67" name="Oval 39">
                          <a:extLst>
                            <a:ext uri="{FF2B5EF4-FFF2-40B4-BE49-F238E27FC236}">
                              <a16:creationId xmlns:a16="http://schemas.microsoft.com/office/drawing/2014/main" id="{EF0CD556-BE3E-27F0-CC87-2AD59B8716C9}"/>
                            </a:ext>
                          </a:extLst>
                        </p:cNvPr>
                        <p:cNvSpPr>
                          <a:spLocks noChangeArrowheads="1"/>
                        </p:cNvSpPr>
                        <p:nvPr/>
                      </p:nvSpPr>
                      <p:spPr bwMode="auto">
                        <a:xfrm>
                          <a:off x="5945" y="4552"/>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68" name="Oval 40">
                          <a:extLst>
                            <a:ext uri="{FF2B5EF4-FFF2-40B4-BE49-F238E27FC236}">
                              <a16:creationId xmlns:a16="http://schemas.microsoft.com/office/drawing/2014/main" id="{FE09DAD8-7816-00F3-35AB-657F2D13B5F3}"/>
                            </a:ext>
                          </a:extLst>
                        </p:cNvPr>
                        <p:cNvSpPr>
                          <a:spLocks noChangeArrowheads="1"/>
                        </p:cNvSpPr>
                        <p:nvPr/>
                      </p:nvSpPr>
                      <p:spPr bwMode="auto">
                        <a:xfrm>
                          <a:off x="8711" y="4552"/>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69" name="Oval 41">
                          <a:extLst>
                            <a:ext uri="{FF2B5EF4-FFF2-40B4-BE49-F238E27FC236}">
                              <a16:creationId xmlns:a16="http://schemas.microsoft.com/office/drawing/2014/main" id="{50BB28AC-53F1-EB1F-6F94-D5ED4A3CEBD9}"/>
                            </a:ext>
                          </a:extLst>
                        </p:cNvPr>
                        <p:cNvSpPr>
                          <a:spLocks noChangeArrowheads="1"/>
                        </p:cNvSpPr>
                        <p:nvPr/>
                      </p:nvSpPr>
                      <p:spPr bwMode="auto">
                        <a:xfrm>
                          <a:off x="5945" y="5854"/>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70" name="Oval 42">
                          <a:extLst>
                            <a:ext uri="{FF2B5EF4-FFF2-40B4-BE49-F238E27FC236}">
                              <a16:creationId xmlns:a16="http://schemas.microsoft.com/office/drawing/2014/main" id="{1174B1A1-0B2E-C67D-70F8-4C7A82D6D003}"/>
                            </a:ext>
                          </a:extLst>
                        </p:cNvPr>
                        <p:cNvSpPr>
                          <a:spLocks noChangeArrowheads="1"/>
                        </p:cNvSpPr>
                        <p:nvPr/>
                      </p:nvSpPr>
                      <p:spPr bwMode="auto">
                        <a:xfrm>
                          <a:off x="8711" y="5854"/>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66954" name="Group 43">
                        <a:extLst>
                          <a:ext uri="{FF2B5EF4-FFF2-40B4-BE49-F238E27FC236}">
                            <a16:creationId xmlns:a16="http://schemas.microsoft.com/office/drawing/2014/main" id="{9500E7BD-47B1-7D69-C521-A509F83E604B}"/>
                          </a:ext>
                        </a:extLst>
                      </p:cNvPr>
                      <p:cNvGrpSpPr>
                        <a:grpSpLocks/>
                      </p:cNvGrpSpPr>
                      <p:nvPr/>
                    </p:nvGrpSpPr>
                    <p:grpSpPr bwMode="auto">
                      <a:xfrm>
                        <a:off x="5780" y="1950"/>
                        <a:ext cx="1444" cy="2346"/>
                        <a:chOff x="5945" y="1921"/>
                        <a:chExt cx="3004" cy="4146"/>
                      </a:xfrm>
                    </p:grpSpPr>
                    <p:sp>
                      <p:nvSpPr>
                        <p:cNvPr id="166955" name="Oval 44">
                          <a:extLst>
                            <a:ext uri="{FF2B5EF4-FFF2-40B4-BE49-F238E27FC236}">
                              <a16:creationId xmlns:a16="http://schemas.microsoft.com/office/drawing/2014/main" id="{84B00730-89B1-0CAD-BBC2-FEF414AAB27F}"/>
                            </a:ext>
                          </a:extLst>
                        </p:cNvPr>
                        <p:cNvSpPr>
                          <a:spLocks noChangeArrowheads="1"/>
                        </p:cNvSpPr>
                        <p:nvPr/>
                      </p:nvSpPr>
                      <p:spPr bwMode="auto">
                        <a:xfrm>
                          <a:off x="5945" y="1921"/>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56" name="Oval 45">
                          <a:extLst>
                            <a:ext uri="{FF2B5EF4-FFF2-40B4-BE49-F238E27FC236}">
                              <a16:creationId xmlns:a16="http://schemas.microsoft.com/office/drawing/2014/main" id="{7D6E58FE-F63B-DAE8-4E22-BDD162EAB494}"/>
                            </a:ext>
                          </a:extLst>
                        </p:cNvPr>
                        <p:cNvSpPr>
                          <a:spLocks noChangeArrowheads="1"/>
                        </p:cNvSpPr>
                        <p:nvPr/>
                      </p:nvSpPr>
                      <p:spPr bwMode="auto">
                        <a:xfrm>
                          <a:off x="8711" y="1921"/>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57" name="Oval 46">
                          <a:extLst>
                            <a:ext uri="{FF2B5EF4-FFF2-40B4-BE49-F238E27FC236}">
                              <a16:creationId xmlns:a16="http://schemas.microsoft.com/office/drawing/2014/main" id="{C167EC22-10E2-24E0-872E-CDFDAE94595A}"/>
                            </a:ext>
                          </a:extLst>
                        </p:cNvPr>
                        <p:cNvSpPr>
                          <a:spLocks noChangeArrowheads="1"/>
                        </p:cNvSpPr>
                        <p:nvPr/>
                      </p:nvSpPr>
                      <p:spPr bwMode="auto">
                        <a:xfrm>
                          <a:off x="5945" y="3223"/>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58" name="Oval 47">
                          <a:extLst>
                            <a:ext uri="{FF2B5EF4-FFF2-40B4-BE49-F238E27FC236}">
                              <a16:creationId xmlns:a16="http://schemas.microsoft.com/office/drawing/2014/main" id="{18844A5E-13FB-EE78-2D5E-0E44570BCAF3}"/>
                            </a:ext>
                          </a:extLst>
                        </p:cNvPr>
                        <p:cNvSpPr>
                          <a:spLocks noChangeArrowheads="1"/>
                        </p:cNvSpPr>
                        <p:nvPr/>
                      </p:nvSpPr>
                      <p:spPr bwMode="auto">
                        <a:xfrm>
                          <a:off x="8711" y="3223"/>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59" name="Oval 48">
                          <a:extLst>
                            <a:ext uri="{FF2B5EF4-FFF2-40B4-BE49-F238E27FC236}">
                              <a16:creationId xmlns:a16="http://schemas.microsoft.com/office/drawing/2014/main" id="{15CE00E9-9F87-71AF-AC51-CD64B4CBD037}"/>
                            </a:ext>
                          </a:extLst>
                        </p:cNvPr>
                        <p:cNvSpPr>
                          <a:spLocks noChangeArrowheads="1"/>
                        </p:cNvSpPr>
                        <p:nvPr/>
                      </p:nvSpPr>
                      <p:spPr bwMode="auto">
                        <a:xfrm>
                          <a:off x="5945" y="4552"/>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60" name="Oval 49">
                          <a:extLst>
                            <a:ext uri="{FF2B5EF4-FFF2-40B4-BE49-F238E27FC236}">
                              <a16:creationId xmlns:a16="http://schemas.microsoft.com/office/drawing/2014/main" id="{3343BF4C-C9F2-B03D-A20A-0D9CFE1E2192}"/>
                            </a:ext>
                          </a:extLst>
                        </p:cNvPr>
                        <p:cNvSpPr>
                          <a:spLocks noChangeArrowheads="1"/>
                        </p:cNvSpPr>
                        <p:nvPr/>
                      </p:nvSpPr>
                      <p:spPr bwMode="auto">
                        <a:xfrm>
                          <a:off x="8711" y="4552"/>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61" name="Oval 50">
                          <a:extLst>
                            <a:ext uri="{FF2B5EF4-FFF2-40B4-BE49-F238E27FC236}">
                              <a16:creationId xmlns:a16="http://schemas.microsoft.com/office/drawing/2014/main" id="{516024E9-BAD3-698B-B89F-32CD9D3C10DB}"/>
                            </a:ext>
                          </a:extLst>
                        </p:cNvPr>
                        <p:cNvSpPr>
                          <a:spLocks noChangeArrowheads="1"/>
                        </p:cNvSpPr>
                        <p:nvPr/>
                      </p:nvSpPr>
                      <p:spPr bwMode="auto">
                        <a:xfrm>
                          <a:off x="5945" y="5854"/>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62" name="Oval 51">
                          <a:extLst>
                            <a:ext uri="{FF2B5EF4-FFF2-40B4-BE49-F238E27FC236}">
                              <a16:creationId xmlns:a16="http://schemas.microsoft.com/office/drawing/2014/main" id="{B9C9E03E-77A8-87D8-DE71-67FEB1984967}"/>
                            </a:ext>
                          </a:extLst>
                        </p:cNvPr>
                        <p:cNvSpPr>
                          <a:spLocks noChangeArrowheads="1"/>
                        </p:cNvSpPr>
                        <p:nvPr/>
                      </p:nvSpPr>
                      <p:spPr bwMode="auto">
                        <a:xfrm>
                          <a:off x="8711" y="5854"/>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sp>
                  <p:nvSpPr>
                    <p:cNvPr id="166946" name="Line 52">
                      <a:extLst>
                        <a:ext uri="{FF2B5EF4-FFF2-40B4-BE49-F238E27FC236}">
                          <a16:creationId xmlns:a16="http://schemas.microsoft.com/office/drawing/2014/main" id="{6DCF8DC6-DAD2-BDEC-DF99-411862E90119}"/>
                        </a:ext>
                      </a:extLst>
                    </p:cNvPr>
                    <p:cNvSpPr>
                      <a:spLocks noChangeShapeType="1"/>
                    </p:cNvSpPr>
                    <p:nvPr/>
                  </p:nvSpPr>
                  <p:spPr bwMode="auto">
                    <a:xfrm>
                      <a:off x="3224" y="1950"/>
                      <a:ext cx="6570" cy="0"/>
                    </a:xfrm>
                    <a:prstGeom prst="line">
                      <a:avLst/>
                    </a:prstGeom>
                    <a:noFill/>
                    <a:ln w="9525">
                      <a:solidFill>
                        <a:srgbClr val="0000CC"/>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66947" name="Group 53">
                      <a:extLst>
                        <a:ext uri="{FF2B5EF4-FFF2-40B4-BE49-F238E27FC236}">
                          <a16:creationId xmlns:a16="http://schemas.microsoft.com/office/drawing/2014/main" id="{CDA72E91-969F-1B5B-469C-0ADFB08C43E7}"/>
                        </a:ext>
                      </a:extLst>
                    </p:cNvPr>
                    <p:cNvGrpSpPr>
                      <a:grpSpLocks/>
                    </p:cNvGrpSpPr>
                    <p:nvPr/>
                  </p:nvGrpSpPr>
                  <p:grpSpPr bwMode="auto">
                    <a:xfrm>
                      <a:off x="3180" y="2070"/>
                      <a:ext cx="6660" cy="1470"/>
                      <a:chOff x="3180" y="2070"/>
                      <a:chExt cx="6660" cy="1470"/>
                    </a:xfrm>
                  </p:grpSpPr>
                  <p:sp>
                    <p:nvSpPr>
                      <p:cNvPr id="166948" name="Line 54">
                        <a:extLst>
                          <a:ext uri="{FF2B5EF4-FFF2-40B4-BE49-F238E27FC236}">
                            <a16:creationId xmlns:a16="http://schemas.microsoft.com/office/drawing/2014/main" id="{876B6CBE-6319-242B-F03D-238AD265E1C0}"/>
                          </a:ext>
                        </a:extLst>
                      </p:cNvPr>
                      <p:cNvSpPr>
                        <a:spLocks noChangeShapeType="1"/>
                      </p:cNvSpPr>
                      <p:nvPr/>
                    </p:nvSpPr>
                    <p:spPr bwMode="auto">
                      <a:xfrm>
                        <a:off x="3180" y="2070"/>
                        <a:ext cx="1290"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6949" name="Line 55">
                        <a:extLst>
                          <a:ext uri="{FF2B5EF4-FFF2-40B4-BE49-F238E27FC236}">
                            <a16:creationId xmlns:a16="http://schemas.microsoft.com/office/drawing/2014/main" id="{8B664AB0-4B8C-BFC1-5268-5B3348FED687}"/>
                          </a:ext>
                        </a:extLst>
                      </p:cNvPr>
                      <p:cNvSpPr>
                        <a:spLocks noChangeShapeType="1"/>
                      </p:cNvSpPr>
                      <p:nvPr/>
                    </p:nvSpPr>
                    <p:spPr bwMode="auto">
                      <a:xfrm>
                        <a:off x="4530" y="2070"/>
                        <a:ext cx="2640" cy="147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6950" name="Line 56">
                        <a:extLst>
                          <a:ext uri="{FF2B5EF4-FFF2-40B4-BE49-F238E27FC236}">
                            <a16:creationId xmlns:a16="http://schemas.microsoft.com/office/drawing/2014/main" id="{B0149167-83B4-BC46-6B1F-707C1B3DAFDB}"/>
                          </a:ext>
                        </a:extLst>
                      </p:cNvPr>
                      <p:cNvSpPr>
                        <a:spLocks noChangeShapeType="1"/>
                      </p:cNvSpPr>
                      <p:nvPr/>
                    </p:nvSpPr>
                    <p:spPr bwMode="auto">
                      <a:xfrm flipV="1">
                        <a:off x="7214" y="2070"/>
                        <a:ext cx="1290" cy="1455"/>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6951" name="Line 57">
                        <a:extLst>
                          <a:ext uri="{FF2B5EF4-FFF2-40B4-BE49-F238E27FC236}">
                            <a16:creationId xmlns:a16="http://schemas.microsoft.com/office/drawing/2014/main" id="{0006CA02-B5FF-56CA-7D65-FD80A7DF2A99}"/>
                          </a:ext>
                        </a:extLst>
                      </p:cNvPr>
                      <p:cNvSpPr>
                        <a:spLocks noChangeShapeType="1"/>
                      </p:cNvSpPr>
                      <p:nvPr/>
                    </p:nvSpPr>
                    <p:spPr bwMode="auto">
                      <a:xfrm>
                        <a:off x="8504" y="2070"/>
                        <a:ext cx="1336"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66933" name="Group 58">
                    <a:extLst>
                      <a:ext uri="{FF2B5EF4-FFF2-40B4-BE49-F238E27FC236}">
                        <a16:creationId xmlns:a16="http://schemas.microsoft.com/office/drawing/2014/main" id="{48DF30BB-4916-EBE9-3566-4218B6F03889}"/>
                      </a:ext>
                    </a:extLst>
                  </p:cNvPr>
                  <p:cNvGrpSpPr>
                    <a:grpSpLocks/>
                  </p:cNvGrpSpPr>
                  <p:nvPr/>
                </p:nvGrpSpPr>
                <p:grpSpPr bwMode="auto">
                  <a:xfrm>
                    <a:off x="3570" y="1590"/>
                    <a:ext cx="5930" cy="426"/>
                    <a:chOff x="3570" y="1590"/>
                    <a:chExt cx="5930" cy="426"/>
                  </a:xfrm>
                </p:grpSpPr>
                <p:sp>
                  <p:nvSpPr>
                    <p:cNvPr id="166940" name="Text Box 59">
                      <a:extLst>
                        <a:ext uri="{FF2B5EF4-FFF2-40B4-BE49-F238E27FC236}">
                          <a16:creationId xmlns:a16="http://schemas.microsoft.com/office/drawing/2014/main" id="{B9EF71B3-7857-0AB2-B8E9-F64D206787DD}"/>
                        </a:ext>
                      </a:extLst>
                    </p:cNvPr>
                    <p:cNvSpPr txBox="1">
                      <a:spLocks noChangeArrowheads="1"/>
                    </p:cNvSpPr>
                    <p:nvPr/>
                  </p:nvSpPr>
                  <p:spPr bwMode="auto">
                    <a:xfrm>
                      <a:off x="3570" y="1590"/>
                      <a:ext cx="544"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U</a:t>
                      </a:r>
                      <a:r>
                        <a:rPr lang="en-US" altLang="zh-CN" sz="1800" i="1" baseline="-25000">
                          <a:solidFill>
                            <a:schemeClr val="tx1"/>
                          </a:solidFill>
                          <a:latin typeface="Arial" panose="020B0604020202020204" pitchFamily="34" charset="0"/>
                          <a:ea typeface="微软雅黑" panose="020B0503020204020204" pitchFamily="34" charset="-122"/>
                          <a:cs typeface="Arial" panose="020B0604020202020204" pitchFamily="34" charset="0"/>
                        </a:rPr>
                        <a:t>0</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41" name="Text Box 60">
                      <a:extLst>
                        <a:ext uri="{FF2B5EF4-FFF2-40B4-BE49-F238E27FC236}">
                          <a16:creationId xmlns:a16="http://schemas.microsoft.com/office/drawing/2014/main" id="{B8CF125E-EB74-1B15-97A5-C10D25B5856A}"/>
                        </a:ext>
                      </a:extLst>
                    </p:cNvPr>
                    <p:cNvSpPr txBox="1">
                      <a:spLocks noChangeArrowheads="1"/>
                    </p:cNvSpPr>
                    <p:nvPr/>
                  </p:nvSpPr>
                  <p:spPr bwMode="auto">
                    <a:xfrm>
                      <a:off x="4890" y="1590"/>
                      <a:ext cx="544"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U</a:t>
                      </a:r>
                      <a:r>
                        <a:rPr lang="en-US" altLang="zh-CN" sz="1800" baseline="-25000">
                          <a:solidFill>
                            <a:schemeClr val="tx1"/>
                          </a:solidFill>
                          <a:latin typeface="Arial" panose="020B0604020202020204" pitchFamily="34" charset="0"/>
                          <a:ea typeface="微软雅黑" panose="020B0503020204020204" pitchFamily="34" charset="-122"/>
                          <a:cs typeface="Arial" panose="020B0604020202020204" pitchFamily="34" charset="0"/>
                        </a:rPr>
                        <a:t>1</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42" name="Text Box 61">
                      <a:extLst>
                        <a:ext uri="{FF2B5EF4-FFF2-40B4-BE49-F238E27FC236}">
                          <a16:creationId xmlns:a16="http://schemas.microsoft.com/office/drawing/2014/main" id="{6782CCD7-2DA3-4E3B-C33A-E522867AA93C}"/>
                        </a:ext>
                      </a:extLst>
                    </p:cNvPr>
                    <p:cNvSpPr txBox="1">
                      <a:spLocks noChangeArrowheads="1"/>
                    </p:cNvSpPr>
                    <p:nvPr/>
                  </p:nvSpPr>
                  <p:spPr bwMode="auto">
                    <a:xfrm>
                      <a:off x="6240" y="1590"/>
                      <a:ext cx="544"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U</a:t>
                      </a:r>
                      <a:r>
                        <a:rPr lang="en-US" altLang="zh-CN" sz="1800" baseline="-25000">
                          <a:solidFill>
                            <a:schemeClr val="tx1"/>
                          </a:solidFill>
                          <a:latin typeface="Arial" panose="020B0604020202020204" pitchFamily="34" charset="0"/>
                          <a:ea typeface="微软雅黑" panose="020B0503020204020204" pitchFamily="34" charset="-122"/>
                          <a:cs typeface="Arial" panose="020B0604020202020204" pitchFamily="34" charset="0"/>
                        </a:rPr>
                        <a:t>2</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43" name="Text Box 62">
                      <a:extLst>
                        <a:ext uri="{FF2B5EF4-FFF2-40B4-BE49-F238E27FC236}">
                          <a16:creationId xmlns:a16="http://schemas.microsoft.com/office/drawing/2014/main" id="{CBC60049-6F27-9A7C-2850-6ACB715B405E}"/>
                        </a:ext>
                      </a:extLst>
                    </p:cNvPr>
                    <p:cNvSpPr txBox="1">
                      <a:spLocks noChangeArrowheads="1"/>
                    </p:cNvSpPr>
                    <p:nvPr/>
                  </p:nvSpPr>
                  <p:spPr bwMode="auto">
                    <a:xfrm>
                      <a:off x="7530" y="1590"/>
                      <a:ext cx="544"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U</a:t>
                      </a:r>
                      <a:r>
                        <a:rPr lang="en-US" altLang="zh-CN" sz="1800" baseline="-25000">
                          <a:solidFill>
                            <a:schemeClr val="tx1"/>
                          </a:solidFill>
                          <a:latin typeface="Arial" panose="020B0604020202020204" pitchFamily="34" charset="0"/>
                          <a:ea typeface="微软雅黑" panose="020B0503020204020204" pitchFamily="34" charset="-122"/>
                          <a:cs typeface="Arial" panose="020B0604020202020204" pitchFamily="34" charset="0"/>
                        </a:rPr>
                        <a:t>3</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44" name="Text Box 63">
                      <a:extLst>
                        <a:ext uri="{FF2B5EF4-FFF2-40B4-BE49-F238E27FC236}">
                          <a16:creationId xmlns:a16="http://schemas.microsoft.com/office/drawing/2014/main" id="{0D296E99-1CB0-634D-538A-237F4C96D0DB}"/>
                        </a:ext>
                      </a:extLst>
                    </p:cNvPr>
                    <p:cNvSpPr txBox="1">
                      <a:spLocks noChangeArrowheads="1"/>
                    </p:cNvSpPr>
                    <p:nvPr/>
                  </p:nvSpPr>
                  <p:spPr bwMode="auto">
                    <a:xfrm>
                      <a:off x="8956" y="1590"/>
                      <a:ext cx="544"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U</a:t>
                      </a:r>
                      <a:r>
                        <a:rPr lang="en-US" altLang="zh-CN" sz="1800" baseline="-25000">
                          <a:solidFill>
                            <a:schemeClr val="tx1"/>
                          </a:solidFill>
                          <a:latin typeface="Arial" panose="020B0604020202020204" pitchFamily="34" charset="0"/>
                          <a:ea typeface="微软雅黑" panose="020B0503020204020204" pitchFamily="34" charset="-122"/>
                          <a:cs typeface="Arial" panose="020B0604020202020204" pitchFamily="34" charset="0"/>
                        </a:rPr>
                        <a:t>4</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66934" name="Group 64">
                    <a:extLst>
                      <a:ext uri="{FF2B5EF4-FFF2-40B4-BE49-F238E27FC236}">
                        <a16:creationId xmlns:a16="http://schemas.microsoft.com/office/drawing/2014/main" id="{B7C66D38-3FC2-D738-C183-A6DDC9E968A9}"/>
                      </a:ext>
                    </a:extLst>
                  </p:cNvPr>
                  <p:cNvGrpSpPr>
                    <a:grpSpLocks/>
                  </p:cNvGrpSpPr>
                  <p:nvPr/>
                </p:nvGrpSpPr>
                <p:grpSpPr bwMode="auto">
                  <a:xfrm>
                    <a:off x="3556" y="2015"/>
                    <a:ext cx="5946" cy="1456"/>
                    <a:chOff x="3556" y="2015"/>
                    <a:chExt cx="5946" cy="1456"/>
                  </a:xfrm>
                </p:grpSpPr>
                <p:sp>
                  <p:nvSpPr>
                    <p:cNvPr id="166935" name="Text Box 65">
                      <a:extLst>
                        <a:ext uri="{FF2B5EF4-FFF2-40B4-BE49-F238E27FC236}">
                          <a16:creationId xmlns:a16="http://schemas.microsoft.com/office/drawing/2014/main" id="{FAC92EB5-1C5E-9E20-7285-E7B55A405BCD}"/>
                        </a:ext>
                      </a:extLst>
                    </p:cNvPr>
                    <p:cNvSpPr txBox="1">
                      <a:spLocks noChangeArrowheads="1"/>
                    </p:cNvSpPr>
                    <p:nvPr/>
                  </p:nvSpPr>
                  <p:spPr bwMode="auto">
                    <a:xfrm>
                      <a:off x="3556" y="2055"/>
                      <a:ext cx="544"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V</a:t>
                      </a:r>
                      <a:r>
                        <a:rPr lang="en-US" altLang="zh-CN" sz="1800" i="1" baseline="-25000">
                          <a:solidFill>
                            <a:schemeClr val="tx1"/>
                          </a:solidFill>
                          <a:latin typeface="Arial" panose="020B0604020202020204" pitchFamily="34" charset="0"/>
                          <a:ea typeface="微软雅黑" panose="020B0503020204020204" pitchFamily="34" charset="-122"/>
                          <a:cs typeface="Arial" panose="020B0604020202020204" pitchFamily="34" charset="0"/>
                        </a:rPr>
                        <a:t>0</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36" name="Text Box 66">
                      <a:extLst>
                        <a:ext uri="{FF2B5EF4-FFF2-40B4-BE49-F238E27FC236}">
                          <a16:creationId xmlns:a16="http://schemas.microsoft.com/office/drawing/2014/main" id="{9F900678-31F5-825B-B702-1D738E8748D5}"/>
                        </a:ext>
                      </a:extLst>
                    </p:cNvPr>
                    <p:cNvSpPr txBox="1">
                      <a:spLocks noChangeArrowheads="1"/>
                    </p:cNvSpPr>
                    <p:nvPr/>
                  </p:nvSpPr>
                  <p:spPr bwMode="auto">
                    <a:xfrm>
                      <a:off x="4838" y="2353"/>
                      <a:ext cx="544"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V</a:t>
                      </a:r>
                      <a:r>
                        <a:rPr lang="en-US" altLang="zh-CN" sz="1800" baseline="-25000">
                          <a:solidFill>
                            <a:schemeClr val="tx1"/>
                          </a:solidFill>
                          <a:latin typeface="Arial" panose="020B0604020202020204" pitchFamily="34" charset="0"/>
                          <a:ea typeface="微软雅黑" panose="020B0503020204020204" pitchFamily="34" charset="-122"/>
                          <a:cs typeface="Arial" panose="020B0604020202020204" pitchFamily="34" charset="0"/>
                        </a:rPr>
                        <a:t>1</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37" name="Text Box 67">
                      <a:extLst>
                        <a:ext uri="{FF2B5EF4-FFF2-40B4-BE49-F238E27FC236}">
                          <a16:creationId xmlns:a16="http://schemas.microsoft.com/office/drawing/2014/main" id="{1CA74924-87CF-B749-0E09-D2D03594FBED}"/>
                        </a:ext>
                      </a:extLst>
                    </p:cNvPr>
                    <p:cNvSpPr txBox="1">
                      <a:spLocks noChangeArrowheads="1"/>
                    </p:cNvSpPr>
                    <p:nvPr/>
                  </p:nvSpPr>
                  <p:spPr bwMode="auto">
                    <a:xfrm>
                      <a:off x="6136" y="3045"/>
                      <a:ext cx="544"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V</a:t>
                      </a:r>
                      <a:r>
                        <a:rPr lang="en-US" altLang="zh-CN" sz="1800" baseline="-25000">
                          <a:solidFill>
                            <a:schemeClr val="tx1"/>
                          </a:solidFill>
                          <a:latin typeface="Arial" panose="020B0604020202020204" pitchFamily="34" charset="0"/>
                          <a:ea typeface="微软雅黑" panose="020B0503020204020204" pitchFamily="34" charset="-122"/>
                          <a:cs typeface="Arial" panose="020B0604020202020204" pitchFamily="34" charset="0"/>
                        </a:rPr>
                        <a:t>2</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38" name="Text Box 68">
                      <a:extLst>
                        <a:ext uri="{FF2B5EF4-FFF2-40B4-BE49-F238E27FC236}">
                          <a16:creationId xmlns:a16="http://schemas.microsoft.com/office/drawing/2014/main" id="{ED3DF699-41BE-A2B4-24B5-5F4AFF2643A6}"/>
                        </a:ext>
                      </a:extLst>
                    </p:cNvPr>
                    <p:cNvSpPr txBox="1">
                      <a:spLocks noChangeArrowheads="1"/>
                    </p:cNvSpPr>
                    <p:nvPr/>
                  </p:nvSpPr>
                  <p:spPr bwMode="auto">
                    <a:xfrm>
                      <a:off x="7814" y="2692"/>
                      <a:ext cx="544"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V</a:t>
                      </a:r>
                      <a:r>
                        <a:rPr lang="en-US" altLang="zh-CN" sz="1800" baseline="-25000">
                          <a:solidFill>
                            <a:schemeClr val="tx1"/>
                          </a:solidFill>
                          <a:latin typeface="Arial" panose="020B0604020202020204" pitchFamily="34" charset="0"/>
                          <a:ea typeface="微软雅黑" panose="020B0503020204020204" pitchFamily="34" charset="-122"/>
                          <a:cs typeface="Arial" panose="020B0604020202020204" pitchFamily="34" charset="0"/>
                        </a:rPr>
                        <a:t>3</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6939" name="Text Box 69">
                      <a:extLst>
                        <a:ext uri="{FF2B5EF4-FFF2-40B4-BE49-F238E27FC236}">
                          <a16:creationId xmlns:a16="http://schemas.microsoft.com/office/drawing/2014/main" id="{E31FB973-9333-C676-34B0-E1E1780F337C}"/>
                        </a:ext>
                      </a:extLst>
                    </p:cNvPr>
                    <p:cNvSpPr txBox="1">
                      <a:spLocks noChangeArrowheads="1"/>
                    </p:cNvSpPr>
                    <p:nvPr/>
                  </p:nvSpPr>
                  <p:spPr bwMode="auto">
                    <a:xfrm>
                      <a:off x="8958" y="2015"/>
                      <a:ext cx="544"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V</a:t>
                      </a:r>
                      <a:r>
                        <a:rPr lang="en-US" altLang="zh-CN" sz="1800" baseline="-25000">
                          <a:solidFill>
                            <a:schemeClr val="tx1"/>
                          </a:solidFill>
                          <a:latin typeface="Arial" panose="020B0604020202020204" pitchFamily="34" charset="0"/>
                          <a:ea typeface="微软雅黑" panose="020B0503020204020204" pitchFamily="34" charset="-122"/>
                          <a:cs typeface="Arial" panose="020B0604020202020204" pitchFamily="34" charset="0"/>
                        </a:rPr>
                        <a:t>4</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grpSp>
          <p:sp>
            <p:nvSpPr>
              <p:cNvPr id="166928" name="Text Box 71">
                <a:extLst>
                  <a:ext uri="{FF2B5EF4-FFF2-40B4-BE49-F238E27FC236}">
                    <a16:creationId xmlns:a16="http://schemas.microsoft.com/office/drawing/2014/main" id="{E45C35A2-3158-E0CA-E095-1F05FB0AA946}"/>
                  </a:ext>
                </a:extLst>
              </p:cNvPr>
              <p:cNvSpPr txBox="1">
                <a:spLocks noChangeArrowheads="1"/>
              </p:cNvSpPr>
              <p:nvPr/>
            </p:nvSpPr>
            <p:spPr bwMode="auto">
              <a:xfrm>
                <a:off x="3062" y="2558"/>
                <a:ext cx="271"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W</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sp>
        <p:nvSpPr>
          <p:cNvPr id="73" name="Rectangle 3">
            <a:extLst>
              <a:ext uri="{FF2B5EF4-FFF2-40B4-BE49-F238E27FC236}">
                <a16:creationId xmlns:a16="http://schemas.microsoft.com/office/drawing/2014/main" id="{DF9A61D4-CFD5-D638-84A6-48A26E391B2D}"/>
              </a:ext>
            </a:extLst>
          </p:cNvPr>
          <p:cNvSpPr txBox="1">
            <a:spLocks noChangeArrowheads="1"/>
          </p:cNvSpPr>
          <p:nvPr/>
        </p:nvSpPr>
        <p:spPr bwMode="auto">
          <a:xfrm>
            <a:off x="928688" y="571500"/>
            <a:ext cx="7500937" cy="500063"/>
          </a:xfrm>
          <a:prstGeom prst="rect">
            <a:avLst/>
          </a:prstGeom>
          <a:solidFill>
            <a:schemeClr val="bg2">
              <a:lumMod val="10000"/>
              <a:lumOff val="90000"/>
            </a:schemeClr>
          </a:solidFill>
          <a:ln w="9525">
            <a:noFill/>
            <a:miter lim="800000"/>
            <a:headEnd/>
            <a:tailEnd/>
          </a:ln>
          <a:effectLst>
            <a:outerShdw blurRad="50800" dist="38100" dir="2700000" algn="tl" rotWithShape="0">
              <a:prstClr val="black">
                <a:alpha val="40000"/>
              </a:prstClr>
            </a:outerShdw>
          </a:effectLst>
        </p:spPr>
        <p:txBody>
          <a:bodyPr/>
          <a:lstStyle/>
          <a:p>
            <a:pPr marL="342900" indent="-342900">
              <a:lnSpc>
                <a:spcPts val="3200"/>
              </a:lnSpc>
              <a:spcBef>
                <a:spcPct val="20000"/>
              </a:spcBef>
              <a:buClr>
                <a:schemeClr val="folHlink"/>
              </a:buClr>
              <a:buSzPct val="60000"/>
              <a:defRPr/>
            </a:pPr>
            <a:r>
              <a:rPr kumimoji="0" lang="zh-CN" altLang="en-US" sz="2400" b="0" kern="0" dirty="0">
                <a:solidFill>
                  <a:schemeClr val="tx1"/>
                </a:solidFill>
                <a:latin typeface="Arial" pitchFamily="34" charset="0"/>
                <a:ea typeface="微软雅黑" pitchFamily="34" charset="-122"/>
                <a:cs typeface="Arial" pitchFamily="34" charset="0"/>
              </a:rPr>
              <a:t>        </a:t>
            </a:r>
            <a:r>
              <a:rPr kumimoji="0" lang="en-US" altLang="zh-CN" sz="2400" b="0" kern="0" dirty="0">
                <a:solidFill>
                  <a:schemeClr val="tx1"/>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8PSK</a:t>
            </a:r>
            <a:r>
              <a:rPr lang="zh-CN" altLang="en-US" sz="2400" b="0" dirty="0">
                <a:solidFill>
                  <a:schemeClr val="tx1"/>
                </a:solidFill>
                <a:latin typeface="Arial" pitchFamily="34" charset="0"/>
                <a:ea typeface="微软雅黑" pitchFamily="34" charset="-122"/>
                <a:cs typeface="Arial" pitchFamily="34" charset="0"/>
              </a:rPr>
              <a:t>信号的解码路径</a:t>
            </a:r>
            <a:r>
              <a:rPr kumimoji="0" lang="zh-CN" altLang="en-US" sz="2400" b="0" kern="0" dirty="0">
                <a:solidFill>
                  <a:schemeClr val="tx1"/>
                </a:solidFill>
                <a:latin typeface="Arial" pitchFamily="34" charset="0"/>
                <a:ea typeface="微软雅黑" pitchFamily="34" charset="-122"/>
                <a:cs typeface="Arial" pitchFamily="34" charset="0"/>
              </a:rPr>
              <a:t>。 </a:t>
            </a:r>
          </a:p>
        </p:txBody>
      </p:sp>
      <p:grpSp>
        <p:nvGrpSpPr>
          <p:cNvPr id="18" name="组合 73">
            <a:extLst>
              <a:ext uri="{FF2B5EF4-FFF2-40B4-BE49-F238E27FC236}">
                <a16:creationId xmlns:a16="http://schemas.microsoft.com/office/drawing/2014/main" id="{8B5F3E3F-28C7-D807-E638-8F4EC62F8967}"/>
              </a:ext>
            </a:extLst>
          </p:cNvPr>
          <p:cNvGrpSpPr>
            <a:grpSpLocks/>
          </p:cNvGrpSpPr>
          <p:nvPr/>
        </p:nvGrpSpPr>
        <p:grpSpPr bwMode="auto">
          <a:xfrm>
            <a:off x="571500" y="357188"/>
            <a:ext cx="714375" cy="714375"/>
            <a:chOff x="357158" y="2285992"/>
            <a:chExt cx="714380" cy="714808"/>
          </a:xfrm>
        </p:grpSpPr>
        <p:grpSp>
          <p:nvGrpSpPr>
            <p:cNvPr id="166918" name="Group 52">
              <a:extLst>
                <a:ext uri="{FF2B5EF4-FFF2-40B4-BE49-F238E27FC236}">
                  <a16:creationId xmlns:a16="http://schemas.microsoft.com/office/drawing/2014/main" id="{322AE53F-1458-47A8-F1F4-667BC0205FF1}"/>
                </a:ext>
              </a:extLst>
            </p:cNvPr>
            <p:cNvGrpSpPr>
              <a:grpSpLocks/>
            </p:cNvGrpSpPr>
            <p:nvPr/>
          </p:nvGrpSpPr>
          <p:grpSpPr bwMode="auto">
            <a:xfrm>
              <a:off x="357158" y="2285992"/>
              <a:ext cx="714380" cy="714808"/>
              <a:chOff x="1289" y="498"/>
              <a:chExt cx="668" cy="752"/>
            </a:xfrm>
          </p:grpSpPr>
          <p:sp>
            <p:nvSpPr>
              <p:cNvPr id="166920" name="Oval 53">
                <a:extLst>
                  <a:ext uri="{FF2B5EF4-FFF2-40B4-BE49-F238E27FC236}">
                    <a16:creationId xmlns:a16="http://schemas.microsoft.com/office/drawing/2014/main" id="{AD12494F-4F41-F6EA-2CDB-6A46CF3D7A84}"/>
                  </a:ext>
                </a:extLst>
              </p:cNvPr>
              <p:cNvSpPr>
                <a:spLocks noChangeArrowheads="1"/>
              </p:cNvSpPr>
              <p:nvPr/>
            </p:nvSpPr>
            <p:spPr bwMode="gray">
              <a:xfrm>
                <a:off x="1289" y="582"/>
                <a:ext cx="668" cy="668"/>
              </a:xfrm>
              <a:prstGeom prst="ellipse">
                <a:avLst/>
              </a:prstGeom>
              <a:solidFill>
                <a:srgbClr val="333333"/>
              </a:soli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66921" name="Oval 54">
                <a:extLst>
                  <a:ext uri="{FF2B5EF4-FFF2-40B4-BE49-F238E27FC236}">
                    <a16:creationId xmlns:a16="http://schemas.microsoft.com/office/drawing/2014/main" id="{2BE53330-1A2C-D6A5-80A3-70E32C1C054F}"/>
                  </a:ext>
                </a:extLst>
              </p:cNvPr>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66922" name="Oval 55">
                <a:extLst>
                  <a:ext uri="{FF2B5EF4-FFF2-40B4-BE49-F238E27FC236}">
                    <a16:creationId xmlns:a16="http://schemas.microsoft.com/office/drawing/2014/main" id="{4C3E454C-A7A7-6610-761B-28E9384D10CD}"/>
                  </a:ext>
                </a:extLst>
              </p:cNvPr>
              <p:cNvSpPr>
                <a:spLocks noChangeArrowheads="1"/>
              </p:cNvSpPr>
              <p:nvPr/>
            </p:nvSpPr>
            <p:spPr bwMode="gray">
              <a:xfrm>
                <a:off x="1304" y="498"/>
                <a:ext cx="631" cy="724"/>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66923" name="Oval 56">
                <a:extLst>
                  <a:ext uri="{FF2B5EF4-FFF2-40B4-BE49-F238E27FC236}">
                    <a16:creationId xmlns:a16="http://schemas.microsoft.com/office/drawing/2014/main" id="{0D021600-C183-D966-0A60-B697B14822B2}"/>
                  </a:ext>
                </a:extLst>
              </p:cNvPr>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sp>
            <p:nvSpPr>
              <p:cNvPr id="166924" name="Oval 57">
                <a:extLst>
                  <a:ext uri="{FF2B5EF4-FFF2-40B4-BE49-F238E27FC236}">
                    <a16:creationId xmlns:a16="http://schemas.microsoft.com/office/drawing/2014/main" id="{72145083-9545-D422-49BD-739566542F9B}"/>
                  </a:ext>
                </a:extLst>
              </p:cNvPr>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pSp>
        <p:sp>
          <p:nvSpPr>
            <p:cNvPr id="166919" name="Text Box 29">
              <a:extLst>
                <a:ext uri="{FF2B5EF4-FFF2-40B4-BE49-F238E27FC236}">
                  <a16:creationId xmlns:a16="http://schemas.microsoft.com/office/drawing/2014/main" id="{BBB5E27B-0792-0773-4DD8-BBB652C80BA2}"/>
                </a:ext>
              </a:extLst>
            </p:cNvPr>
            <p:cNvSpPr txBox="1">
              <a:spLocks noChangeArrowheads="1"/>
            </p:cNvSpPr>
            <p:nvPr/>
          </p:nvSpPr>
          <p:spPr bwMode="gray">
            <a:xfrm>
              <a:off x="428596" y="2438468"/>
              <a:ext cx="542027" cy="519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ctr"/>
              <a:r>
                <a:rPr kumimoji="0" lang="zh-CN" altLang="en-US" sz="2800">
                  <a:solidFill>
                    <a:srgbClr val="0000CC"/>
                  </a:solidFill>
                  <a:latin typeface="Arial" panose="020B0604020202020204" pitchFamily="34" charset="0"/>
                  <a:ea typeface="宋体" panose="02010600030101010101" pitchFamily="2" charset="-122"/>
                </a:rPr>
                <a:t>例</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1000"/>
                                        <p:tgtEl>
                                          <p:spTgt spid="18"/>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73">
                                            <p:txEl>
                                              <p:pRg st="0" end="0"/>
                                            </p:txEl>
                                          </p:spTgt>
                                        </p:tgtEl>
                                        <p:attrNameLst>
                                          <p:attrName>style.visibility</p:attrName>
                                        </p:attrNameLst>
                                      </p:cBhvr>
                                      <p:to>
                                        <p:strVal val="visible"/>
                                      </p:to>
                                    </p:set>
                                    <p:animEffect transition="in" filter="wipe(up)">
                                      <p:cBhvr>
                                        <p:cTn id="11" dur="1000"/>
                                        <p:tgtEl>
                                          <p:spTgt spid="73">
                                            <p:txEl>
                                              <p:pRg st="0" end="0"/>
                                            </p:txEl>
                                          </p:spTgt>
                                        </p:tgtEl>
                                      </p:cBhvr>
                                    </p:animEffect>
                                  </p:childTnLst>
                                </p:cTn>
                              </p:par>
                            </p:childTnLst>
                          </p:cTn>
                        </p:par>
                        <p:par>
                          <p:cTn id="12" fill="hold" nodeType="afterGroup">
                            <p:stCondLst>
                              <p:cond delay="2000"/>
                            </p:stCondLst>
                            <p:childTnLst>
                              <p:par>
                                <p:cTn id="13" presetID="22" presetClass="entr" presetSubtype="1"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up)">
                                      <p:cBhvr>
                                        <p:cTn id="15" dur="1000"/>
                                        <p:tgtEl>
                                          <p:spTgt spid="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nodeType="clickEffect">
                                  <p:stCondLst>
                                    <p:cond delay="0"/>
                                  </p:stCondLst>
                                  <p:childTnLst>
                                    <p:set>
                                      <p:cBhvr>
                                        <p:cTn id="19" dur="1" fill="hold">
                                          <p:stCondLst>
                                            <p:cond delay="0"/>
                                          </p:stCondLst>
                                        </p:cTn>
                                        <p:tgtEl>
                                          <p:spTgt spid="174083">
                                            <p:txEl>
                                              <p:pRg st="0" end="0"/>
                                            </p:txEl>
                                          </p:spTgt>
                                        </p:tgtEl>
                                        <p:attrNameLst>
                                          <p:attrName>style.visibility</p:attrName>
                                        </p:attrNameLst>
                                      </p:cBhvr>
                                      <p:to>
                                        <p:strVal val="visible"/>
                                      </p:to>
                                    </p:set>
                                    <p:animEffect transition="in" filter="wipe(up)">
                                      <p:cBhvr>
                                        <p:cTn id="20" dur="1000"/>
                                        <p:tgtEl>
                                          <p:spTgt spid="174083">
                                            <p:txEl>
                                              <p:pRg st="0" end="0"/>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174083">
                                            <p:txEl>
                                              <p:pRg st="1" end="1"/>
                                            </p:txEl>
                                          </p:spTgt>
                                        </p:tgtEl>
                                        <p:attrNameLst>
                                          <p:attrName>style.visibility</p:attrName>
                                        </p:attrNameLst>
                                      </p:cBhvr>
                                      <p:to>
                                        <p:strVal val="visible"/>
                                      </p:to>
                                    </p:set>
                                    <p:animEffect transition="in" filter="wipe(up)">
                                      <p:cBhvr>
                                        <p:cTn id="25" dur="1000"/>
                                        <p:tgtEl>
                                          <p:spTgt spid="174083">
                                            <p:txEl>
                                              <p:pRg st="1" end="1"/>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174083">
                                            <p:txEl>
                                              <p:pRg st="2" end="2"/>
                                            </p:txEl>
                                          </p:spTgt>
                                        </p:tgtEl>
                                        <p:attrNameLst>
                                          <p:attrName>style.visibility</p:attrName>
                                        </p:attrNameLst>
                                      </p:cBhvr>
                                      <p:to>
                                        <p:strVal val="visible"/>
                                      </p:to>
                                    </p:set>
                                    <p:animEffect transition="in" filter="wipe(up)">
                                      <p:cBhvr>
                                        <p:cTn id="30" dur="1000"/>
                                        <p:tgtEl>
                                          <p:spTgt spid="17408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228266F-8362-30F4-C37A-48095C023A61}"/>
              </a:ext>
            </a:extLst>
          </p:cNvPr>
          <p:cNvSpPr txBox="1">
            <a:spLocks noChangeArrowheads="1"/>
          </p:cNvSpPr>
          <p:nvPr/>
        </p:nvSpPr>
        <p:spPr bwMode="auto">
          <a:xfrm>
            <a:off x="755650" y="3857625"/>
            <a:ext cx="7772400" cy="2571750"/>
          </a:xfrm>
          <a:prstGeom prst="rect">
            <a:avLst/>
          </a:prstGeom>
          <a:noFill/>
          <a:ln w="9525">
            <a:noFill/>
            <a:miter lim="800000"/>
            <a:headEnd/>
            <a:tailEnd/>
          </a:ln>
        </p:spPr>
        <p:txBody>
          <a:bodyPr/>
          <a:lstStyle/>
          <a:p>
            <a:pPr marL="342900" indent="-342900">
              <a:lnSpc>
                <a:spcPct val="150000"/>
              </a:lnSpc>
              <a:spcBef>
                <a:spcPct val="20000"/>
              </a:spcBef>
              <a:buClr>
                <a:schemeClr val="folHlink"/>
              </a:buClr>
              <a:buSzPct val="60000"/>
              <a:buFont typeface="Wingdings" pitchFamily="2" charset="2"/>
              <a:buChar char="u"/>
              <a:defRPr/>
            </a:pPr>
            <a:r>
              <a:rPr kumimoji="0" lang="zh-CN" altLang="en-US" sz="2000" b="0" kern="0" dirty="0">
                <a:solidFill>
                  <a:schemeClr val="tx1"/>
                </a:solidFill>
                <a:latin typeface="Arial" pitchFamily="34" charset="0"/>
                <a:ea typeface="微软雅黑" pitchFamily="34" charset="-122"/>
                <a:cs typeface="Arial" pitchFamily="34" charset="0"/>
              </a:rPr>
              <a:t>若发送序列是全“</a:t>
            </a:r>
            <a:r>
              <a:rPr kumimoji="0" lang="en-US" altLang="zh-CN" sz="2000" b="0" kern="0" dirty="0">
                <a:solidFill>
                  <a:schemeClr val="tx1"/>
                </a:solidFill>
                <a:latin typeface="Arial" pitchFamily="34" charset="0"/>
                <a:ea typeface="微软雅黑" pitchFamily="34" charset="-122"/>
                <a:cs typeface="Arial" pitchFamily="34" charset="0"/>
              </a:rPr>
              <a:t>0”</a:t>
            </a:r>
            <a:r>
              <a:rPr kumimoji="0" lang="zh-CN" altLang="en-US" sz="2000" b="0" kern="0" dirty="0">
                <a:solidFill>
                  <a:schemeClr val="tx1"/>
                </a:solidFill>
                <a:latin typeface="Arial" pitchFamily="34" charset="0"/>
                <a:ea typeface="微软雅黑" pitchFamily="34" charset="-122"/>
                <a:cs typeface="Arial" pitchFamily="34" charset="0"/>
              </a:rPr>
              <a:t>序列，但是接收序列有错误，使接收序列路</a:t>
            </a:r>
            <a:endParaRPr kumimoji="0" lang="en-US" altLang="zh-CN" sz="2000" b="0" kern="0" dirty="0">
              <a:solidFill>
                <a:schemeClr val="tx1"/>
              </a:solidFill>
              <a:latin typeface="Arial" pitchFamily="34" charset="0"/>
              <a:ea typeface="微软雅黑" pitchFamily="34" charset="-122"/>
              <a:cs typeface="Arial" pitchFamily="34" charset="0"/>
            </a:endParaRPr>
          </a:p>
          <a:p>
            <a:pPr marL="342900" indent="-342900">
              <a:lnSpc>
                <a:spcPct val="150000"/>
              </a:lnSpc>
              <a:spcBef>
                <a:spcPct val="20000"/>
              </a:spcBef>
              <a:buClr>
                <a:schemeClr val="folHlink"/>
              </a:buClr>
              <a:buSzPct val="60000"/>
              <a:defRPr/>
            </a:pPr>
            <a:r>
              <a:rPr kumimoji="0" lang="zh-CN" altLang="en-US" sz="2000" b="0" kern="0" dirty="0">
                <a:solidFill>
                  <a:schemeClr val="tx1"/>
                </a:solidFill>
                <a:latin typeface="Arial" pitchFamily="34" charset="0"/>
                <a:ea typeface="微软雅黑" pitchFamily="34" charset="-122"/>
                <a:cs typeface="Arial" pitchFamily="34" charset="0"/>
              </a:rPr>
              <a:t>径离开全“</a:t>
            </a:r>
            <a:r>
              <a:rPr kumimoji="0" lang="en-US" altLang="zh-CN" sz="2000" b="0" kern="0" dirty="0">
                <a:solidFill>
                  <a:schemeClr val="tx1"/>
                </a:solidFill>
                <a:latin typeface="Arial" pitchFamily="34" charset="0"/>
                <a:ea typeface="微软雅黑" pitchFamily="34" charset="-122"/>
                <a:cs typeface="Arial" pitchFamily="34" charset="0"/>
              </a:rPr>
              <a:t>0”</a:t>
            </a:r>
            <a:r>
              <a:rPr kumimoji="0" lang="zh-CN" altLang="en-US" sz="2000" b="0" kern="0" dirty="0">
                <a:solidFill>
                  <a:schemeClr val="tx1"/>
                </a:solidFill>
                <a:latin typeface="Arial" pitchFamily="34" charset="0"/>
                <a:ea typeface="微软雅黑" pitchFamily="34" charset="-122"/>
                <a:cs typeface="Arial" pitchFamily="34" charset="0"/>
              </a:rPr>
              <a:t>路径然后又回到全“</a:t>
            </a:r>
            <a:r>
              <a:rPr kumimoji="0" lang="en-US" altLang="zh-CN" sz="2000" b="0" kern="0" dirty="0">
                <a:solidFill>
                  <a:schemeClr val="tx1"/>
                </a:solidFill>
                <a:latin typeface="Arial" pitchFamily="34" charset="0"/>
                <a:ea typeface="微软雅黑" pitchFamily="34" charset="-122"/>
                <a:cs typeface="Arial" pitchFamily="34" charset="0"/>
              </a:rPr>
              <a:t>0”</a:t>
            </a:r>
            <a:r>
              <a:rPr kumimoji="0" lang="zh-CN" altLang="en-US" sz="2000" b="0" kern="0" dirty="0">
                <a:solidFill>
                  <a:schemeClr val="tx1"/>
                </a:solidFill>
                <a:latin typeface="Arial" pitchFamily="34" charset="0"/>
                <a:ea typeface="微软雅黑" pitchFamily="34" charset="-122"/>
                <a:cs typeface="Arial" pitchFamily="34" charset="0"/>
              </a:rPr>
              <a:t>序列，且中间没有返回状态</a:t>
            </a:r>
            <a:r>
              <a:rPr kumimoji="0" lang="en-US" altLang="zh-CN" sz="2000" i="1" kern="0" dirty="0">
                <a:solidFill>
                  <a:schemeClr val="tx1"/>
                </a:solidFill>
                <a:latin typeface="Arial" pitchFamily="34" charset="0"/>
                <a:ea typeface="微软雅黑" pitchFamily="34" charset="-122"/>
                <a:cs typeface="Arial" pitchFamily="34" charset="0"/>
              </a:rPr>
              <a:t>a</a:t>
            </a:r>
            <a:r>
              <a:rPr kumimoji="0" lang="zh-CN" altLang="en-US" sz="2000" b="0" kern="0" dirty="0">
                <a:solidFill>
                  <a:schemeClr val="tx1"/>
                </a:solidFill>
                <a:latin typeface="Arial" pitchFamily="34" charset="0"/>
                <a:ea typeface="微软雅黑" pitchFamily="34" charset="-122"/>
                <a:cs typeface="Arial" pitchFamily="34" charset="0"/>
              </a:rPr>
              <a:t>，</a:t>
            </a:r>
            <a:endParaRPr kumimoji="0" lang="en-US" altLang="zh-CN" sz="2000" b="0" kern="0" dirty="0">
              <a:solidFill>
                <a:schemeClr val="tx1"/>
              </a:solidFill>
              <a:latin typeface="Arial" pitchFamily="34" charset="0"/>
              <a:ea typeface="微软雅黑" pitchFamily="34" charset="-122"/>
              <a:cs typeface="Arial" pitchFamily="34" charset="0"/>
            </a:endParaRPr>
          </a:p>
          <a:p>
            <a:pPr marL="342900" indent="-342900">
              <a:lnSpc>
                <a:spcPct val="150000"/>
              </a:lnSpc>
              <a:spcBef>
                <a:spcPct val="20000"/>
              </a:spcBef>
              <a:buClr>
                <a:schemeClr val="folHlink"/>
              </a:buClr>
              <a:buSzPct val="60000"/>
              <a:defRPr/>
            </a:pPr>
            <a:r>
              <a:rPr kumimoji="0" lang="zh-CN" altLang="en-US" sz="2000" b="0" kern="0" dirty="0">
                <a:solidFill>
                  <a:schemeClr val="tx1"/>
                </a:solidFill>
                <a:latin typeface="Arial" pitchFamily="34" charset="0"/>
                <a:ea typeface="微软雅黑" pitchFamily="34" charset="-122"/>
                <a:cs typeface="Arial" pitchFamily="34" charset="0"/>
              </a:rPr>
              <a:t>则解码器需要比较此接收序列路径和</a:t>
            </a:r>
            <a:r>
              <a:rPr kumimoji="0" lang="en-US" altLang="zh-CN" sz="2000" b="0" kern="0" dirty="0">
                <a:solidFill>
                  <a:schemeClr val="tx1"/>
                </a:solidFill>
                <a:latin typeface="Arial" pitchFamily="34" charset="0"/>
                <a:ea typeface="微软雅黑" pitchFamily="34" charset="-122"/>
                <a:cs typeface="Arial" pitchFamily="34" charset="0"/>
              </a:rPr>
              <a:t>U</a:t>
            </a:r>
            <a:r>
              <a:rPr kumimoji="0" lang="zh-CN" altLang="en-US" sz="2000" b="0" kern="0" dirty="0">
                <a:solidFill>
                  <a:schemeClr val="tx1"/>
                </a:solidFill>
                <a:latin typeface="Arial" pitchFamily="34" charset="0"/>
                <a:ea typeface="微软雅黑" pitchFamily="34" charset="-122"/>
                <a:cs typeface="Arial" pitchFamily="34" charset="0"/>
              </a:rPr>
              <a:t>的距离与接收序列路径和</a:t>
            </a:r>
            <a:r>
              <a:rPr kumimoji="0" lang="en-US" altLang="zh-CN" sz="2000" b="0" kern="0" dirty="0">
                <a:solidFill>
                  <a:schemeClr val="tx1"/>
                </a:solidFill>
                <a:latin typeface="Arial" pitchFamily="34" charset="0"/>
                <a:ea typeface="微软雅黑" pitchFamily="34" charset="-122"/>
                <a:cs typeface="Arial" pitchFamily="34" charset="0"/>
              </a:rPr>
              <a:t>V</a:t>
            </a:r>
            <a:r>
              <a:rPr kumimoji="0" lang="zh-CN" altLang="en-US" sz="2000" b="0" kern="0" dirty="0">
                <a:solidFill>
                  <a:schemeClr val="tx1"/>
                </a:solidFill>
                <a:latin typeface="Arial" pitchFamily="34" charset="0"/>
                <a:ea typeface="微软雅黑" pitchFamily="34" charset="-122"/>
                <a:cs typeface="Arial" pitchFamily="34" charset="0"/>
              </a:rPr>
              <a:t>的</a:t>
            </a:r>
            <a:endParaRPr kumimoji="0" lang="en-US" altLang="zh-CN" sz="2000" b="0" kern="0" dirty="0">
              <a:solidFill>
                <a:schemeClr val="tx1"/>
              </a:solidFill>
              <a:latin typeface="Arial" pitchFamily="34" charset="0"/>
              <a:ea typeface="微软雅黑" pitchFamily="34" charset="-122"/>
              <a:cs typeface="Arial" pitchFamily="34" charset="0"/>
            </a:endParaRPr>
          </a:p>
          <a:p>
            <a:pPr marL="342900" indent="-342900">
              <a:lnSpc>
                <a:spcPct val="150000"/>
              </a:lnSpc>
              <a:spcBef>
                <a:spcPct val="20000"/>
              </a:spcBef>
              <a:buClr>
                <a:schemeClr val="folHlink"/>
              </a:buClr>
              <a:buSzPct val="60000"/>
              <a:defRPr/>
            </a:pPr>
            <a:r>
              <a:rPr kumimoji="0" lang="zh-CN" altLang="en-US" sz="2000" b="0" kern="0" dirty="0">
                <a:solidFill>
                  <a:schemeClr val="tx1"/>
                </a:solidFill>
                <a:latin typeface="Arial" pitchFamily="34" charset="0"/>
                <a:ea typeface="微软雅黑" pitchFamily="34" charset="-122"/>
                <a:cs typeface="Arial" pitchFamily="34" charset="0"/>
              </a:rPr>
              <a:t>距离之大小。若后者小，则将发生一次错误判决。这里的距离是指</a:t>
            </a:r>
            <a:endParaRPr kumimoji="0" lang="en-US" altLang="zh-CN" sz="2000" b="0" kern="0" dirty="0">
              <a:solidFill>
                <a:schemeClr val="tx1"/>
              </a:solidFill>
              <a:latin typeface="Arial" pitchFamily="34" charset="0"/>
              <a:ea typeface="微软雅黑" pitchFamily="34" charset="-122"/>
              <a:cs typeface="Arial" pitchFamily="34" charset="0"/>
            </a:endParaRPr>
          </a:p>
          <a:p>
            <a:pPr marL="342900" indent="-342900">
              <a:lnSpc>
                <a:spcPct val="150000"/>
              </a:lnSpc>
              <a:spcBef>
                <a:spcPct val="20000"/>
              </a:spcBef>
              <a:buClr>
                <a:schemeClr val="folHlink"/>
              </a:buClr>
              <a:buSzPct val="60000"/>
              <a:defRPr/>
            </a:pPr>
            <a:r>
              <a:rPr kumimoji="0" lang="zh-CN" altLang="en-US" sz="2000" b="0" kern="0" dirty="0">
                <a:solidFill>
                  <a:schemeClr val="tx1"/>
                </a:solidFill>
                <a:latin typeface="Arial" pitchFamily="34" charset="0"/>
                <a:ea typeface="微软雅黑" pitchFamily="34" charset="-122"/>
                <a:cs typeface="Arial" pitchFamily="34" charset="0"/>
              </a:rPr>
              <a:t>欧氏距离。</a:t>
            </a:r>
          </a:p>
          <a:p>
            <a:pPr marL="1600200" lvl="3" indent="-228600">
              <a:lnSpc>
                <a:spcPct val="90000"/>
              </a:lnSpc>
              <a:spcBef>
                <a:spcPct val="20000"/>
              </a:spcBef>
              <a:buClr>
                <a:schemeClr val="accent2"/>
              </a:buClr>
              <a:buSzPct val="55000"/>
              <a:buFont typeface="Wingdings" pitchFamily="2" charset="2"/>
              <a:buChar char="u"/>
              <a:defRPr/>
            </a:pPr>
            <a:endParaRPr kumimoji="0" lang="en-US" altLang="zh-CN" sz="2000" b="0" kern="0" dirty="0">
              <a:solidFill>
                <a:schemeClr val="tx1"/>
              </a:solidFill>
              <a:latin typeface="+mn-lt"/>
              <a:ea typeface="+mn-ea"/>
            </a:endParaRPr>
          </a:p>
        </p:txBody>
      </p:sp>
      <p:grpSp>
        <p:nvGrpSpPr>
          <p:cNvPr id="167939" name="Group 73">
            <a:extLst>
              <a:ext uri="{FF2B5EF4-FFF2-40B4-BE49-F238E27FC236}">
                <a16:creationId xmlns:a16="http://schemas.microsoft.com/office/drawing/2014/main" id="{A4722464-751A-327E-71A6-DD4D684837F3}"/>
              </a:ext>
            </a:extLst>
          </p:cNvPr>
          <p:cNvGrpSpPr>
            <a:grpSpLocks/>
          </p:cNvGrpSpPr>
          <p:nvPr/>
        </p:nvGrpSpPr>
        <p:grpSpPr bwMode="auto">
          <a:xfrm>
            <a:off x="642938" y="500063"/>
            <a:ext cx="7643812" cy="3143250"/>
            <a:chOff x="465" y="2117"/>
            <a:chExt cx="4881" cy="1883"/>
          </a:xfrm>
        </p:grpSpPr>
        <p:sp>
          <p:nvSpPr>
            <p:cNvPr id="167940" name="Line 70">
              <a:extLst>
                <a:ext uri="{FF2B5EF4-FFF2-40B4-BE49-F238E27FC236}">
                  <a16:creationId xmlns:a16="http://schemas.microsoft.com/office/drawing/2014/main" id="{064F379C-AFF2-C647-DAB7-ABEA3BC4E6B5}"/>
                </a:ext>
              </a:extLst>
            </p:cNvPr>
            <p:cNvSpPr>
              <a:spLocks noChangeShapeType="1"/>
            </p:cNvSpPr>
            <p:nvPr/>
          </p:nvSpPr>
          <p:spPr bwMode="auto">
            <a:xfrm>
              <a:off x="3078" y="2472"/>
              <a:ext cx="68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67941" name="Group 72">
              <a:extLst>
                <a:ext uri="{FF2B5EF4-FFF2-40B4-BE49-F238E27FC236}">
                  <a16:creationId xmlns:a16="http://schemas.microsoft.com/office/drawing/2014/main" id="{C0055739-9041-6584-2EEB-AA18762BF660}"/>
                </a:ext>
              </a:extLst>
            </p:cNvPr>
            <p:cNvGrpSpPr>
              <a:grpSpLocks/>
            </p:cNvGrpSpPr>
            <p:nvPr/>
          </p:nvGrpSpPr>
          <p:grpSpPr bwMode="auto">
            <a:xfrm>
              <a:off x="466" y="2117"/>
              <a:ext cx="4874" cy="1883"/>
              <a:chOff x="495" y="2263"/>
              <a:chExt cx="4421" cy="1738"/>
            </a:xfrm>
          </p:grpSpPr>
          <p:grpSp>
            <p:nvGrpSpPr>
              <p:cNvPr id="167942" name="Group 7">
                <a:extLst>
                  <a:ext uri="{FF2B5EF4-FFF2-40B4-BE49-F238E27FC236}">
                    <a16:creationId xmlns:a16="http://schemas.microsoft.com/office/drawing/2014/main" id="{504A6FE7-F572-F8CB-C646-B2046B110884}"/>
                  </a:ext>
                </a:extLst>
              </p:cNvPr>
              <p:cNvGrpSpPr>
                <a:grpSpLocks/>
              </p:cNvGrpSpPr>
              <p:nvPr/>
            </p:nvGrpSpPr>
            <p:grpSpPr bwMode="auto">
              <a:xfrm>
                <a:off x="495" y="2263"/>
                <a:ext cx="4421" cy="1738"/>
                <a:chOff x="1318" y="1492"/>
                <a:chExt cx="8545" cy="2981"/>
              </a:xfrm>
            </p:grpSpPr>
            <p:grpSp>
              <p:nvGrpSpPr>
                <p:cNvPr id="167944" name="Group 8">
                  <a:extLst>
                    <a:ext uri="{FF2B5EF4-FFF2-40B4-BE49-F238E27FC236}">
                      <a16:creationId xmlns:a16="http://schemas.microsoft.com/office/drawing/2014/main" id="{B0A58F6B-4967-A3BD-2BAC-A2A572C8BA1E}"/>
                    </a:ext>
                  </a:extLst>
                </p:cNvPr>
                <p:cNvGrpSpPr>
                  <a:grpSpLocks/>
                </p:cNvGrpSpPr>
                <p:nvPr/>
              </p:nvGrpSpPr>
              <p:grpSpPr bwMode="auto">
                <a:xfrm>
                  <a:off x="2489" y="1492"/>
                  <a:ext cx="988" cy="2927"/>
                  <a:chOff x="2489" y="1492"/>
                  <a:chExt cx="988" cy="2927"/>
                </a:xfrm>
              </p:grpSpPr>
              <p:sp>
                <p:nvSpPr>
                  <p:cNvPr id="168000" name="Text Box 9">
                    <a:extLst>
                      <a:ext uri="{FF2B5EF4-FFF2-40B4-BE49-F238E27FC236}">
                        <a16:creationId xmlns:a16="http://schemas.microsoft.com/office/drawing/2014/main" id="{FD114959-0D4C-89BD-9F79-A8EDA01DC404}"/>
                      </a:ext>
                    </a:extLst>
                  </p:cNvPr>
                  <p:cNvSpPr txBox="1">
                    <a:spLocks noChangeArrowheads="1"/>
                  </p:cNvSpPr>
                  <p:nvPr/>
                </p:nvSpPr>
                <p:spPr bwMode="auto">
                  <a:xfrm>
                    <a:off x="2638" y="2535"/>
                    <a:ext cx="550"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rPr>
                      <a:t>10</a:t>
                    </a:r>
                  </a:p>
                </p:txBody>
              </p:sp>
              <p:sp>
                <p:nvSpPr>
                  <p:cNvPr id="168001" name="Text Box 10">
                    <a:extLst>
                      <a:ext uri="{FF2B5EF4-FFF2-40B4-BE49-F238E27FC236}">
                        <a16:creationId xmlns:a16="http://schemas.microsoft.com/office/drawing/2014/main" id="{C22BCE50-650F-4416-154B-DDBC600CED97}"/>
                      </a:ext>
                    </a:extLst>
                  </p:cNvPr>
                  <p:cNvSpPr txBox="1">
                    <a:spLocks noChangeArrowheads="1"/>
                  </p:cNvSpPr>
                  <p:nvPr/>
                </p:nvSpPr>
                <p:spPr bwMode="auto">
                  <a:xfrm>
                    <a:off x="2638" y="3282"/>
                    <a:ext cx="550"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rPr>
                      <a:t>01</a:t>
                    </a:r>
                  </a:p>
                </p:txBody>
              </p:sp>
              <p:sp>
                <p:nvSpPr>
                  <p:cNvPr id="168002" name="Text Box 11">
                    <a:extLst>
                      <a:ext uri="{FF2B5EF4-FFF2-40B4-BE49-F238E27FC236}">
                        <a16:creationId xmlns:a16="http://schemas.microsoft.com/office/drawing/2014/main" id="{0D5E877E-DB3F-7E45-BAA8-00306EFBA8DF}"/>
                      </a:ext>
                    </a:extLst>
                  </p:cNvPr>
                  <p:cNvSpPr txBox="1">
                    <a:spLocks noChangeArrowheads="1"/>
                  </p:cNvSpPr>
                  <p:nvPr/>
                </p:nvSpPr>
                <p:spPr bwMode="auto">
                  <a:xfrm>
                    <a:off x="2638" y="4017"/>
                    <a:ext cx="550"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rPr>
                      <a:t>11</a:t>
                    </a:r>
                  </a:p>
                </p:txBody>
              </p:sp>
              <p:grpSp>
                <p:nvGrpSpPr>
                  <p:cNvPr id="168003" name="Group 12">
                    <a:extLst>
                      <a:ext uri="{FF2B5EF4-FFF2-40B4-BE49-F238E27FC236}">
                        <a16:creationId xmlns:a16="http://schemas.microsoft.com/office/drawing/2014/main" id="{7CB21B24-8D51-B779-C21F-1C2C80509EBE}"/>
                      </a:ext>
                    </a:extLst>
                  </p:cNvPr>
                  <p:cNvGrpSpPr>
                    <a:grpSpLocks/>
                  </p:cNvGrpSpPr>
                  <p:nvPr/>
                </p:nvGrpSpPr>
                <p:grpSpPr bwMode="auto">
                  <a:xfrm>
                    <a:off x="2489" y="1492"/>
                    <a:ext cx="988" cy="683"/>
                    <a:chOff x="5347" y="1552"/>
                    <a:chExt cx="988" cy="683"/>
                  </a:xfrm>
                </p:grpSpPr>
                <p:sp>
                  <p:nvSpPr>
                    <p:cNvPr id="168004" name="Text Box 13">
                      <a:extLst>
                        <a:ext uri="{FF2B5EF4-FFF2-40B4-BE49-F238E27FC236}">
                          <a16:creationId xmlns:a16="http://schemas.microsoft.com/office/drawing/2014/main" id="{82C77741-7DFC-BC65-0B0B-D29A5847DC8C}"/>
                        </a:ext>
                      </a:extLst>
                    </p:cNvPr>
                    <p:cNvSpPr txBox="1">
                      <a:spLocks noChangeArrowheads="1"/>
                    </p:cNvSpPr>
                    <p:nvPr/>
                  </p:nvSpPr>
                  <p:spPr bwMode="auto">
                    <a:xfrm>
                      <a:off x="5458" y="1833"/>
                      <a:ext cx="550"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rPr>
                        <a:t>00</a:t>
                      </a:r>
                    </a:p>
                  </p:txBody>
                </p:sp>
                <p:sp>
                  <p:nvSpPr>
                    <p:cNvPr id="168005" name="Text Box 14">
                      <a:extLst>
                        <a:ext uri="{FF2B5EF4-FFF2-40B4-BE49-F238E27FC236}">
                          <a16:creationId xmlns:a16="http://schemas.microsoft.com/office/drawing/2014/main" id="{A09FE489-8A69-D6FB-82E6-F3DC05D4B106}"/>
                        </a:ext>
                      </a:extLst>
                    </p:cNvPr>
                    <p:cNvSpPr txBox="1">
                      <a:spLocks noChangeArrowheads="1"/>
                    </p:cNvSpPr>
                    <p:nvPr/>
                  </p:nvSpPr>
                  <p:spPr bwMode="auto">
                    <a:xfrm>
                      <a:off x="5347" y="1552"/>
                      <a:ext cx="988"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b</a:t>
                      </a:r>
                      <a:r>
                        <a:rPr lang="en-US" altLang="zh-CN" sz="1800" baseline="-25000">
                          <a:solidFill>
                            <a:schemeClr val="tx1"/>
                          </a:solidFill>
                          <a:latin typeface="Arial" panose="020B0604020202020204" pitchFamily="34" charset="0"/>
                          <a:ea typeface="微软雅黑" panose="020B0503020204020204" pitchFamily="34" charset="-122"/>
                          <a:cs typeface="Arial" panose="020B0604020202020204" pitchFamily="34" charset="0"/>
                        </a:rPr>
                        <a:t>1 </a:t>
                      </a:r>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b</a:t>
                      </a:r>
                      <a:r>
                        <a:rPr lang="en-US" altLang="zh-CN" sz="1800" baseline="-25000">
                          <a:solidFill>
                            <a:schemeClr val="tx1"/>
                          </a:solidFill>
                          <a:latin typeface="Arial" panose="020B0604020202020204" pitchFamily="34" charset="0"/>
                          <a:ea typeface="微软雅黑" panose="020B0503020204020204" pitchFamily="34" charset="-122"/>
                          <a:cs typeface="Arial" panose="020B0604020202020204" pitchFamily="34" charset="0"/>
                        </a:rPr>
                        <a:t>2</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grpSp>
              <p:nvGrpSpPr>
                <p:cNvPr id="167945" name="Group 15">
                  <a:extLst>
                    <a:ext uri="{FF2B5EF4-FFF2-40B4-BE49-F238E27FC236}">
                      <a16:creationId xmlns:a16="http://schemas.microsoft.com/office/drawing/2014/main" id="{788ED0F5-452D-2D39-3AF9-930B2390ACCA}"/>
                    </a:ext>
                  </a:extLst>
                </p:cNvPr>
                <p:cNvGrpSpPr>
                  <a:grpSpLocks/>
                </p:cNvGrpSpPr>
                <p:nvPr/>
              </p:nvGrpSpPr>
              <p:grpSpPr bwMode="auto">
                <a:xfrm>
                  <a:off x="1318" y="1758"/>
                  <a:ext cx="1476" cy="2715"/>
                  <a:chOff x="1318" y="1758"/>
                  <a:chExt cx="1476" cy="2715"/>
                </a:xfrm>
              </p:grpSpPr>
              <p:grpSp>
                <p:nvGrpSpPr>
                  <p:cNvPr id="167994" name="Group 16">
                    <a:extLst>
                      <a:ext uri="{FF2B5EF4-FFF2-40B4-BE49-F238E27FC236}">
                        <a16:creationId xmlns:a16="http://schemas.microsoft.com/office/drawing/2014/main" id="{DFA93BE0-8778-74EC-41FA-C144F341D0F4}"/>
                      </a:ext>
                    </a:extLst>
                  </p:cNvPr>
                  <p:cNvGrpSpPr>
                    <a:grpSpLocks/>
                  </p:cNvGrpSpPr>
                  <p:nvPr/>
                </p:nvGrpSpPr>
                <p:grpSpPr bwMode="auto">
                  <a:xfrm>
                    <a:off x="2254" y="1758"/>
                    <a:ext cx="540" cy="2715"/>
                    <a:chOff x="2254" y="1758"/>
                    <a:chExt cx="540" cy="2715"/>
                  </a:xfrm>
                </p:grpSpPr>
                <p:sp>
                  <p:nvSpPr>
                    <p:cNvPr id="167996" name="Text Box 17">
                      <a:extLst>
                        <a:ext uri="{FF2B5EF4-FFF2-40B4-BE49-F238E27FC236}">
                          <a16:creationId xmlns:a16="http://schemas.microsoft.com/office/drawing/2014/main" id="{8E530BB1-AE37-C444-5A6F-B32D53167301}"/>
                        </a:ext>
                      </a:extLst>
                    </p:cNvPr>
                    <p:cNvSpPr txBox="1">
                      <a:spLocks noChangeArrowheads="1"/>
                    </p:cNvSpPr>
                    <p:nvPr/>
                  </p:nvSpPr>
                  <p:spPr bwMode="auto">
                    <a:xfrm>
                      <a:off x="2254" y="1758"/>
                      <a:ext cx="540"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a</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97" name="Text Box 18">
                      <a:extLst>
                        <a:ext uri="{FF2B5EF4-FFF2-40B4-BE49-F238E27FC236}">
                          <a16:creationId xmlns:a16="http://schemas.microsoft.com/office/drawing/2014/main" id="{5406837B-542C-D286-69E5-13FEB38A8B4A}"/>
                        </a:ext>
                      </a:extLst>
                    </p:cNvPr>
                    <p:cNvSpPr txBox="1">
                      <a:spLocks noChangeArrowheads="1"/>
                    </p:cNvSpPr>
                    <p:nvPr/>
                  </p:nvSpPr>
                  <p:spPr bwMode="auto">
                    <a:xfrm>
                      <a:off x="2254" y="2580"/>
                      <a:ext cx="540"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b</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98" name="Text Box 19">
                      <a:extLst>
                        <a:ext uri="{FF2B5EF4-FFF2-40B4-BE49-F238E27FC236}">
                          <a16:creationId xmlns:a16="http://schemas.microsoft.com/office/drawing/2014/main" id="{8C68AF77-F7B7-DD24-60C2-8EA82826BC8B}"/>
                        </a:ext>
                      </a:extLst>
                    </p:cNvPr>
                    <p:cNvSpPr txBox="1">
                      <a:spLocks noChangeArrowheads="1"/>
                    </p:cNvSpPr>
                    <p:nvPr/>
                  </p:nvSpPr>
                  <p:spPr bwMode="auto">
                    <a:xfrm>
                      <a:off x="2254" y="3279"/>
                      <a:ext cx="540"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c</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99" name="Text Box 20">
                      <a:extLst>
                        <a:ext uri="{FF2B5EF4-FFF2-40B4-BE49-F238E27FC236}">
                          <a16:creationId xmlns:a16="http://schemas.microsoft.com/office/drawing/2014/main" id="{D9B10EBE-D4F0-E788-449F-E9926E6F73C4}"/>
                        </a:ext>
                      </a:extLst>
                    </p:cNvPr>
                    <p:cNvSpPr txBox="1">
                      <a:spLocks noChangeArrowheads="1"/>
                    </p:cNvSpPr>
                    <p:nvPr/>
                  </p:nvSpPr>
                  <p:spPr bwMode="auto">
                    <a:xfrm>
                      <a:off x="2254" y="4044"/>
                      <a:ext cx="540"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d</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167995" name="Text Box 21">
                    <a:extLst>
                      <a:ext uri="{FF2B5EF4-FFF2-40B4-BE49-F238E27FC236}">
                        <a16:creationId xmlns:a16="http://schemas.microsoft.com/office/drawing/2014/main" id="{E5B6F5F7-53A2-D8C2-3C09-7495BEE50B07}"/>
                      </a:ext>
                    </a:extLst>
                  </p:cNvPr>
                  <p:cNvSpPr txBox="1">
                    <a:spLocks noChangeArrowheads="1"/>
                  </p:cNvSpPr>
                  <p:nvPr/>
                </p:nvSpPr>
                <p:spPr bwMode="auto">
                  <a:xfrm>
                    <a:off x="1318" y="1785"/>
                    <a:ext cx="880" cy="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rPr>
                      <a:t>状态</a:t>
                    </a:r>
                  </a:p>
                </p:txBody>
              </p:sp>
            </p:grpSp>
            <p:grpSp>
              <p:nvGrpSpPr>
                <p:cNvPr id="167946" name="Group 22">
                  <a:extLst>
                    <a:ext uri="{FF2B5EF4-FFF2-40B4-BE49-F238E27FC236}">
                      <a16:creationId xmlns:a16="http://schemas.microsoft.com/office/drawing/2014/main" id="{0201D003-3142-7367-73EA-DA8F55538D84}"/>
                    </a:ext>
                  </a:extLst>
                </p:cNvPr>
                <p:cNvGrpSpPr>
                  <a:grpSpLocks/>
                </p:cNvGrpSpPr>
                <p:nvPr/>
              </p:nvGrpSpPr>
              <p:grpSpPr bwMode="auto">
                <a:xfrm>
                  <a:off x="3100" y="1590"/>
                  <a:ext cx="6763" cy="2720"/>
                  <a:chOff x="3100" y="1590"/>
                  <a:chExt cx="6763" cy="2720"/>
                </a:xfrm>
              </p:grpSpPr>
              <p:grpSp>
                <p:nvGrpSpPr>
                  <p:cNvPr id="167947" name="Group 23">
                    <a:extLst>
                      <a:ext uri="{FF2B5EF4-FFF2-40B4-BE49-F238E27FC236}">
                        <a16:creationId xmlns:a16="http://schemas.microsoft.com/office/drawing/2014/main" id="{E2B697BD-3F28-A82D-2F28-92C5385BB586}"/>
                      </a:ext>
                    </a:extLst>
                  </p:cNvPr>
                  <p:cNvGrpSpPr>
                    <a:grpSpLocks/>
                  </p:cNvGrpSpPr>
                  <p:nvPr/>
                </p:nvGrpSpPr>
                <p:grpSpPr bwMode="auto">
                  <a:xfrm>
                    <a:off x="3100" y="1950"/>
                    <a:ext cx="6763" cy="2360"/>
                    <a:chOff x="3100" y="1950"/>
                    <a:chExt cx="6763" cy="2360"/>
                  </a:xfrm>
                </p:grpSpPr>
                <p:grpSp>
                  <p:nvGrpSpPr>
                    <p:cNvPr id="167960" name="Group 24">
                      <a:extLst>
                        <a:ext uri="{FF2B5EF4-FFF2-40B4-BE49-F238E27FC236}">
                          <a16:creationId xmlns:a16="http://schemas.microsoft.com/office/drawing/2014/main" id="{DBB3852A-A90A-DDB6-66CC-1E19D79FFA3E}"/>
                        </a:ext>
                      </a:extLst>
                    </p:cNvPr>
                    <p:cNvGrpSpPr>
                      <a:grpSpLocks/>
                    </p:cNvGrpSpPr>
                    <p:nvPr/>
                  </p:nvGrpSpPr>
                  <p:grpSpPr bwMode="auto">
                    <a:xfrm>
                      <a:off x="3100" y="1954"/>
                      <a:ext cx="6763" cy="2356"/>
                      <a:chOff x="3100" y="1954"/>
                      <a:chExt cx="6763" cy="2356"/>
                    </a:xfrm>
                  </p:grpSpPr>
                  <p:grpSp>
                    <p:nvGrpSpPr>
                      <p:cNvPr id="167967" name="Group 25">
                        <a:extLst>
                          <a:ext uri="{FF2B5EF4-FFF2-40B4-BE49-F238E27FC236}">
                            <a16:creationId xmlns:a16="http://schemas.microsoft.com/office/drawing/2014/main" id="{F3282ED9-3262-D265-105C-46041BC64772}"/>
                          </a:ext>
                        </a:extLst>
                      </p:cNvPr>
                      <p:cNvGrpSpPr>
                        <a:grpSpLocks/>
                      </p:cNvGrpSpPr>
                      <p:nvPr/>
                    </p:nvGrpSpPr>
                    <p:grpSpPr bwMode="auto">
                      <a:xfrm>
                        <a:off x="8424" y="1954"/>
                        <a:ext cx="1439" cy="2356"/>
                        <a:chOff x="5945" y="1921"/>
                        <a:chExt cx="3004" cy="4146"/>
                      </a:xfrm>
                    </p:grpSpPr>
                    <p:sp>
                      <p:nvSpPr>
                        <p:cNvPr id="167986" name="Oval 26">
                          <a:extLst>
                            <a:ext uri="{FF2B5EF4-FFF2-40B4-BE49-F238E27FC236}">
                              <a16:creationId xmlns:a16="http://schemas.microsoft.com/office/drawing/2014/main" id="{E89ED4E1-4AF9-FF97-8C20-3697E50B912B}"/>
                            </a:ext>
                          </a:extLst>
                        </p:cNvPr>
                        <p:cNvSpPr>
                          <a:spLocks noChangeArrowheads="1"/>
                        </p:cNvSpPr>
                        <p:nvPr/>
                      </p:nvSpPr>
                      <p:spPr bwMode="auto">
                        <a:xfrm>
                          <a:off x="5945" y="1921"/>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87" name="Oval 27">
                          <a:extLst>
                            <a:ext uri="{FF2B5EF4-FFF2-40B4-BE49-F238E27FC236}">
                              <a16:creationId xmlns:a16="http://schemas.microsoft.com/office/drawing/2014/main" id="{83234AF0-3997-D816-2A7C-E0EF611116D1}"/>
                            </a:ext>
                          </a:extLst>
                        </p:cNvPr>
                        <p:cNvSpPr>
                          <a:spLocks noChangeArrowheads="1"/>
                        </p:cNvSpPr>
                        <p:nvPr/>
                      </p:nvSpPr>
                      <p:spPr bwMode="auto">
                        <a:xfrm>
                          <a:off x="8711" y="1921"/>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88" name="Oval 28">
                          <a:extLst>
                            <a:ext uri="{FF2B5EF4-FFF2-40B4-BE49-F238E27FC236}">
                              <a16:creationId xmlns:a16="http://schemas.microsoft.com/office/drawing/2014/main" id="{D2F9593F-3420-45C0-F483-EBC926F2A77F}"/>
                            </a:ext>
                          </a:extLst>
                        </p:cNvPr>
                        <p:cNvSpPr>
                          <a:spLocks noChangeArrowheads="1"/>
                        </p:cNvSpPr>
                        <p:nvPr/>
                      </p:nvSpPr>
                      <p:spPr bwMode="auto">
                        <a:xfrm>
                          <a:off x="5945" y="3223"/>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89" name="Oval 29">
                          <a:extLst>
                            <a:ext uri="{FF2B5EF4-FFF2-40B4-BE49-F238E27FC236}">
                              <a16:creationId xmlns:a16="http://schemas.microsoft.com/office/drawing/2014/main" id="{B01AD80A-DCC8-F4E3-D57E-3973653E93F3}"/>
                            </a:ext>
                          </a:extLst>
                        </p:cNvPr>
                        <p:cNvSpPr>
                          <a:spLocks noChangeArrowheads="1"/>
                        </p:cNvSpPr>
                        <p:nvPr/>
                      </p:nvSpPr>
                      <p:spPr bwMode="auto">
                        <a:xfrm>
                          <a:off x="8711" y="3223"/>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90" name="Oval 30">
                          <a:extLst>
                            <a:ext uri="{FF2B5EF4-FFF2-40B4-BE49-F238E27FC236}">
                              <a16:creationId xmlns:a16="http://schemas.microsoft.com/office/drawing/2014/main" id="{3E8771E0-6FC4-3F10-000C-2800DFC68F4A}"/>
                            </a:ext>
                          </a:extLst>
                        </p:cNvPr>
                        <p:cNvSpPr>
                          <a:spLocks noChangeArrowheads="1"/>
                        </p:cNvSpPr>
                        <p:nvPr/>
                      </p:nvSpPr>
                      <p:spPr bwMode="auto">
                        <a:xfrm>
                          <a:off x="5945" y="4552"/>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91" name="Oval 31">
                          <a:extLst>
                            <a:ext uri="{FF2B5EF4-FFF2-40B4-BE49-F238E27FC236}">
                              <a16:creationId xmlns:a16="http://schemas.microsoft.com/office/drawing/2014/main" id="{3D289A41-EA17-51E0-CFA4-033EFE562597}"/>
                            </a:ext>
                          </a:extLst>
                        </p:cNvPr>
                        <p:cNvSpPr>
                          <a:spLocks noChangeArrowheads="1"/>
                        </p:cNvSpPr>
                        <p:nvPr/>
                      </p:nvSpPr>
                      <p:spPr bwMode="auto">
                        <a:xfrm>
                          <a:off x="8711" y="4552"/>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92" name="Oval 32">
                          <a:extLst>
                            <a:ext uri="{FF2B5EF4-FFF2-40B4-BE49-F238E27FC236}">
                              <a16:creationId xmlns:a16="http://schemas.microsoft.com/office/drawing/2014/main" id="{E48C3782-A2BD-0443-38E7-1F528EB37274}"/>
                            </a:ext>
                          </a:extLst>
                        </p:cNvPr>
                        <p:cNvSpPr>
                          <a:spLocks noChangeArrowheads="1"/>
                        </p:cNvSpPr>
                        <p:nvPr/>
                      </p:nvSpPr>
                      <p:spPr bwMode="auto">
                        <a:xfrm>
                          <a:off x="5945" y="5854"/>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93" name="Oval 33">
                          <a:extLst>
                            <a:ext uri="{FF2B5EF4-FFF2-40B4-BE49-F238E27FC236}">
                              <a16:creationId xmlns:a16="http://schemas.microsoft.com/office/drawing/2014/main" id="{22E221A0-758C-4432-E3EB-B9C89EECCDFA}"/>
                            </a:ext>
                          </a:extLst>
                        </p:cNvPr>
                        <p:cNvSpPr>
                          <a:spLocks noChangeArrowheads="1"/>
                        </p:cNvSpPr>
                        <p:nvPr/>
                      </p:nvSpPr>
                      <p:spPr bwMode="auto">
                        <a:xfrm>
                          <a:off x="8711" y="5854"/>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67968" name="Group 34">
                        <a:extLst>
                          <a:ext uri="{FF2B5EF4-FFF2-40B4-BE49-F238E27FC236}">
                            <a16:creationId xmlns:a16="http://schemas.microsoft.com/office/drawing/2014/main" id="{1542DC24-BB35-74C8-0C59-D78C859F6F94}"/>
                          </a:ext>
                        </a:extLst>
                      </p:cNvPr>
                      <p:cNvGrpSpPr>
                        <a:grpSpLocks/>
                      </p:cNvGrpSpPr>
                      <p:nvPr/>
                    </p:nvGrpSpPr>
                    <p:grpSpPr bwMode="auto">
                      <a:xfrm>
                        <a:off x="3100" y="1954"/>
                        <a:ext cx="1439" cy="2356"/>
                        <a:chOff x="5945" y="1921"/>
                        <a:chExt cx="3004" cy="4146"/>
                      </a:xfrm>
                    </p:grpSpPr>
                    <p:sp>
                      <p:nvSpPr>
                        <p:cNvPr id="167978" name="Oval 35">
                          <a:extLst>
                            <a:ext uri="{FF2B5EF4-FFF2-40B4-BE49-F238E27FC236}">
                              <a16:creationId xmlns:a16="http://schemas.microsoft.com/office/drawing/2014/main" id="{82CD7C73-1147-E3DE-22D0-9BD6D3A6A519}"/>
                            </a:ext>
                          </a:extLst>
                        </p:cNvPr>
                        <p:cNvSpPr>
                          <a:spLocks noChangeArrowheads="1"/>
                        </p:cNvSpPr>
                        <p:nvPr/>
                      </p:nvSpPr>
                      <p:spPr bwMode="auto">
                        <a:xfrm>
                          <a:off x="5945" y="1921"/>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79" name="Oval 36">
                          <a:extLst>
                            <a:ext uri="{FF2B5EF4-FFF2-40B4-BE49-F238E27FC236}">
                              <a16:creationId xmlns:a16="http://schemas.microsoft.com/office/drawing/2014/main" id="{7F7EBA14-D681-2212-A173-A39726D7A8DF}"/>
                            </a:ext>
                          </a:extLst>
                        </p:cNvPr>
                        <p:cNvSpPr>
                          <a:spLocks noChangeArrowheads="1"/>
                        </p:cNvSpPr>
                        <p:nvPr/>
                      </p:nvSpPr>
                      <p:spPr bwMode="auto">
                        <a:xfrm>
                          <a:off x="8711" y="1921"/>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80" name="Oval 37">
                          <a:extLst>
                            <a:ext uri="{FF2B5EF4-FFF2-40B4-BE49-F238E27FC236}">
                              <a16:creationId xmlns:a16="http://schemas.microsoft.com/office/drawing/2014/main" id="{FFDE5719-3052-D1D8-CCE2-AD321D666CE7}"/>
                            </a:ext>
                          </a:extLst>
                        </p:cNvPr>
                        <p:cNvSpPr>
                          <a:spLocks noChangeArrowheads="1"/>
                        </p:cNvSpPr>
                        <p:nvPr/>
                      </p:nvSpPr>
                      <p:spPr bwMode="auto">
                        <a:xfrm>
                          <a:off x="5945" y="3223"/>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81" name="Oval 38">
                          <a:extLst>
                            <a:ext uri="{FF2B5EF4-FFF2-40B4-BE49-F238E27FC236}">
                              <a16:creationId xmlns:a16="http://schemas.microsoft.com/office/drawing/2014/main" id="{229A61BE-D602-11C6-7688-AD3680167FE1}"/>
                            </a:ext>
                          </a:extLst>
                        </p:cNvPr>
                        <p:cNvSpPr>
                          <a:spLocks noChangeArrowheads="1"/>
                        </p:cNvSpPr>
                        <p:nvPr/>
                      </p:nvSpPr>
                      <p:spPr bwMode="auto">
                        <a:xfrm>
                          <a:off x="8711" y="3223"/>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82" name="Oval 39">
                          <a:extLst>
                            <a:ext uri="{FF2B5EF4-FFF2-40B4-BE49-F238E27FC236}">
                              <a16:creationId xmlns:a16="http://schemas.microsoft.com/office/drawing/2014/main" id="{452B815B-07D1-5D51-0F81-F36F19193936}"/>
                            </a:ext>
                          </a:extLst>
                        </p:cNvPr>
                        <p:cNvSpPr>
                          <a:spLocks noChangeArrowheads="1"/>
                        </p:cNvSpPr>
                        <p:nvPr/>
                      </p:nvSpPr>
                      <p:spPr bwMode="auto">
                        <a:xfrm>
                          <a:off x="5945" y="4552"/>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83" name="Oval 40">
                          <a:extLst>
                            <a:ext uri="{FF2B5EF4-FFF2-40B4-BE49-F238E27FC236}">
                              <a16:creationId xmlns:a16="http://schemas.microsoft.com/office/drawing/2014/main" id="{DA980434-E7BE-8554-C90E-8C34357E5FC5}"/>
                            </a:ext>
                          </a:extLst>
                        </p:cNvPr>
                        <p:cNvSpPr>
                          <a:spLocks noChangeArrowheads="1"/>
                        </p:cNvSpPr>
                        <p:nvPr/>
                      </p:nvSpPr>
                      <p:spPr bwMode="auto">
                        <a:xfrm>
                          <a:off x="8711" y="4552"/>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84" name="Oval 41">
                          <a:extLst>
                            <a:ext uri="{FF2B5EF4-FFF2-40B4-BE49-F238E27FC236}">
                              <a16:creationId xmlns:a16="http://schemas.microsoft.com/office/drawing/2014/main" id="{4DEBE277-D44A-FCC2-5B21-8217AF0ECF22}"/>
                            </a:ext>
                          </a:extLst>
                        </p:cNvPr>
                        <p:cNvSpPr>
                          <a:spLocks noChangeArrowheads="1"/>
                        </p:cNvSpPr>
                        <p:nvPr/>
                      </p:nvSpPr>
                      <p:spPr bwMode="auto">
                        <a:xfrm>
                          <a:off x="5945" y="5854"/>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85" name="Oval 42">
                          <a:extLst>
                            <a:ext uri="{FF2B5EF4-FFF2-40B4-BE49-F238E27FC236}">
                              <a16:creationId xmlns:a16="http://schemas.microsoft.com/office/drawing/2014/main" id="{228DE6B1-4CD8-C287-2662-DDF69089581C}"/>
                            </a:ext>
                          </a:extLst>
                        </p:cNvPr>
                        <p:cNvSpPr>
                          <a:spLocks noChangeArrowheads="1"/>
                        </p:cNvSpPr>
                        <p:nvPr/>
                      </p:nvSpPr>
                      <p:spPr bwMode="auto">
                        <a:xfrm>
                          <a:off x="8711" y="5854"/>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67969" name="Group 43">
                        <a:extLst>
                          <a:ext uri="{FF2B5EF4-FFF2-40B4-BE49-F238E27FC236}">
                            <a16:creationId xmlns:a16="http://schemas.microsoft.com/office/drawing/2014/main" id="{56E560EE-EC9B-CC29-69CD-8F4126FE1049}"/>
                          </a:ext>
                        </a:extLst>
                      </p:cNvPr>
                      <p:cNvGrpSpPr>
                        <a:grpSpLocks/>
                      </p:cNvGrpSpPr>
                      <p:nvPr/>
                    </p:nvGrpSpPr>
                    <p:grpSpPr bwMode="auto">
                      <a:xfrm>
                        <a:off x="5770" y="1954"/>
                        <a:ext cx="1439" cy="2356"/>
                        <a:chOff x="5945" y="1921"/>
                        <a:chExt cx="3004" cy="4146"/>
                      </a:xfrm>
                    </p:grpSpPr>
                    <p:sp>
                      <p:nvSpPr>
                        <p:cNvPr id="167970" name="Oval 44">
                          <a:extLst>
                            <a:ext uri="{FF2B5EF4-FFF2-40B4-BE49-F238E27FC236}">
                              <a16:creationId xmlns:a16="http://schemas.microsoft.com/office/drawing/2014/main" id="{69389C13-135A-8F16-6D57-507FFE6E7438}"/>
                            </a:ext>
                          </a:extLst>
                        </p:cNvPr>
                        <p:cNvSpPr>
                          <a:spLocks noChangeArrowheads="1"/>
                        </p:cNvSpPr>
                        <p:nvPr/>
                      </p:nvSpPr>
                      <p:spPr bwMode="auto">
                        <a:xfrm>
                          <a:off x="5945" y="1921"/>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71" name="Oval 45">
                          <a:extLst>
                            <a:ext uri="{FF2B5EF4-FFF2-40B4-BE49-F238E27FC236}">
                              <a16:creationId xmlns:a16="http://schemas.microsoft.com/office/drawing/2014/main" id="{2C4DFECA-8E59-C35A-DA35-C4E4A72B8715}"/>
                            </a:ext>
                          </a:extLst>
                        </p:cNvPr>
                        <p:cNvSpPr>
                          <a:spLocks noChangeArrowheads="1"/>
                        </p:cNvSpPr>
                        <p:nvPr/>
                      </p:nvSpPr>
                      <p:spPr bwMode="auto">
                        <a:xfrm>
                          <a:off x="8711" y="1921"/>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72" name="Oval 46">
                          <a:extLst>
                            <a:ext uri="{FF2B5EF4-FFF2-40B4-BE49-F238E27FC236}">
                              <a16:creationId xmlns:a16="http://schemas.microsoft.com/office/drawing/2014/main" id="{870A3299-8192-81A0-CD34-6785305C46E4}"/>
                            </a:ext>
                          </a:extLst>
                        </p:cNvPr>
                        <p:cNvSpPr>
                          <a:spLocks noChangeArrowheads="1"/>
                        </p:cNvSpPr>
                        <p:nvPr/>
                      </p:nvSpPr>
                      <p:spPr bwMode="auto">
                        <a:xfrm>
                          <a:off x="5945" y="3223"/>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73" name="Oval 47">
                          <a:extLst>
                            <a:ext uri="{FF2B5EF4-FFF2-40B4-BE49-F238E27FC236}">
                              <a16:creationId xmlns:a16="http://schemas.microsoft.com/office/drawing/2014/main" id="{0021C883-D9D9-E923-4863-09F63A191FE5}"/>
                            </a:ext>
                          </a:extLst>
                        </p:cNvPr>
                        <p:cNvSpPr>
                          <a:spLocks noChangeArrowheads="1"/>
                        </p:cNvSpPr>
                        <p:nvPr/>
                      </p:nvSpPr>
                      <p:spPr bwMode="auto">
                        <a:xfrm>
                          <a:off x="8711" y="3223"/>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74" name="Oval 48">
                          <a:extLst>
                            <a:ext uri="{FF2B5EF4-FFF2-40B4-BE49-F238E27FC236}">
                              <a16:creationId xmlns:a16="http://schemas.microsoft.com/office/drawing/2014/main" id="{8764C717-A901-8EA4-EBC9-1AD9A16408A8}"/>
                            </a:ext>
                          </a:extLst>
                        </p:cNvPr>
                        <p:cNvSpPr>
                          <a:spLocks noChangeArrowheads="1"/>
                        </p:cNvSpPr>
                        <p:nvPr/>
                      </p:nvSpPr>
                      <p:spPr bwMode="auto">
                        <a:xfrm>
                          <a:off x="5945" y="4552"/>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75" name="Oval 49">
                          <a:extLst>
                            <a:ext uri="{FF2B5EF4-FFF2-40B4-BE49-F238E27FC236}">
                              <a16:creationId xmlns:a16="http://schemas.microsoft.com/office/drawing/2014/main" id="{65174964-3624-F452-DCE4-E5B09161A8A1}"/>
                            </a:ext>
                          </a:extLst>
                        </p:cNvPr>
                        <p:cNvSpPr>
                          <a:spLocks noChangeArrowheads="1"/>
                        </p:cNvSpPr>
                        <p:nvPr/>
                      </p:nvSpPr>
                      <p:spPr bwMode="auto">
                        <a:xfrm>
                          <a:off x="8711" y="4552"/>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76" name="Oval 50">
                          <a:extLst>
                            <a:ext uri="{FF2B5EF4-FFF2-40B4-BE49-F238E27FC236}">
                              <a16:creationId xmlns:a16="http://schemas.microsoft.com/office/drawing/2014/main" id="{7B91F844-A63E-1F20-407F-7CA2E4A40235}"/>
                            </a:ext>
                          </a:extLst>
                        </p:cNvPr>
                        <p:cNvSpPr>
                          <a:spLocks noChangeArrowheads="1"/>
                        </p:cNvSpPr>
                        <p:nvPr/>
                      </p:nvSpPr>
                      <p:spPr bwMode="auto">
                        <a:xfrm>
                          <a:off x="5945" y="5854"/>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77" name="Oval 51">
                          <a:extLst>
                            <a:ext uri="{FF2B5EF4-FFF2-40B4-BE49-F238E27FC236}">
                              <a16:creationId xmlns:a16="http://schemas.microsoft.com/office/drawing/2014/main" id="{CDF9D4FB-E246-4FE8-ABE0-956815B71230}"/>
                            </a:ext>
                          </a:extLst>
                        </p:cNvPr>
                        <p:cNvSpPr>
                          <a:spLocks noChangeArrowheads="1"/>
                        </p:cNvSpPr>
                        <p:nvPr/>
                      </p:nvSpPr>
                      <p:spPr bwMode="auto">
                        <a:xfrm>
                          <a:off x="8711" y="5854"/>
                          <a:ext cx="238" cy="213"/>
                        </a:xfrm>
                        <a:prstGeom prst="ellipse">
                          <a:avLst/>
                        </a:prstGeom>
                        <a:solidFill>
                          <a:srgbClr val="000000"/>
                        </a:solidFill>
                        <a:ln w="9525" algn="ctr">
                          <a:solidFill>
                            <a:srgbClr val="000000"/>
                          </a:solidFill>
                          <a:round/>
                          <a:headEnd/>
                          <a:tailEnd/>
                        </a:ln>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sp>
                  <p:nvSpPr>
                    <p:cNvPr id="167961" name="Line 52">
                      <a:extLst>
                        <a:ext uri="{FF2B5EF4-FFF2-40B4-BE49-F238E27FC236}">
                          <a16:creationId xmlns:a16="http://schemas.microsoft.com/office/drawing/2014/main" id="{082E10AA-85B1-7861-1BFF-0D7DE7DF79B3}"/>
                        </a:ext>
                      </a:extLst>
                    </p:cNvPr>
                    <p:cNvSpPr>
                      <a:spLocks noChangeShapeType="1"/>
                    </p:cNvSpPr>
                    <p:nvPr/>
                  </p:nvSpPr>
                  <p:spPr bwMode="auto">
                    <a:xfrm>
                      <a:off x="3224" y="1950"/>
                      <a:ext cx="6570" cy="0"/>
                    </a:xfrm>
                    <a:prstGeom prst="line">
                      <a:avLst/>
                    </a:prstGeom>
                    <a:noFill/>
                    <a:ln w="9525">
                      <a:solidFill>
                        <a:srgbClr val="0000CC"/>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67962" name="Group 53">
                      <a:extLst>
                        <a:ext uri="{FF2B5EF4-FFF2-40B4-BE49-F238E27FC236}">
                          <a16:creationId xmlns:a16="http://schemas.microsoft.com/office/drawing/2014/main" id="{400D41CC-0BAB-78EF-276B-FDD8092BA364}"/>
                        </a:ext>
                      </a:extLst>
                    </p:cNvPr>
                    <p:cNvGrpSpPr>
                      <a:grpSpLocks/>
                    </p:cNvGrpSpPr>
                    <p:nvPr/>
                  </p:nvGrpSpPr>
                  <p:grpSpPr bwMode="auto">
                    <a:xfrm>
                      <a:off x="3180" y="2070"/>
                      <a:ext cx="6660" cy="1470"/>
                      <a:chOff x="3180" y="2070"/>
                      <a:chExt cx="6660" cy="1470"/>
                    </a:xfrm>
                  </p:grpSpPr>
                  <p:sp>
                    <p:nvSpPr>
                      <p:cNvPr id="167963" name="Line 54">
                        <a:extLst>
                          <a:ext uri="{FF2B5EF4-FFF2-40B4-BE49-F238E27FC236}">
                            <a16:creationId xmlns:a16="http://schemas.microsoft.com/office/drawing/2014/main" id="{E9F15E11-C1BB-CC81-2B59-EE111C405DDE}"/>
                          </a:ext>
                        </a:extLst>
                      </p:cNvPr>
                      <p:cNvSpPr>
                        <a:spLocks noChangeShapeType="1"/>
                      </p:cNvSpPr>
                      <p:nvPr/>
                    </p:nvSpPr>
                    <p:spPr bwMode="auto">
                      <a:xfrm>
                        <a:off x="3180" y="2070"/>
                        <a:ext cx="1290"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964" name="Line 55">
                        <a:extLst>
                          <a:ext uri="{FF2B5EF4-FFF2-40B4-BE49-F238E27FC236}">
                            <a16:creationId xmlns:a16="http://schemas.microsoft.com/office/drawing/2014/main" id="{154F7042-1004-BA0C-CF8E-E9D73907780D}"/>
                          </a:ext>
                        </a:extLst>
                      </p:cNvPr>
                      <p:cNvSpPr>
                        <a:spLocks noChangeShapeType="1"/>
                      </p:cNvSpPr>
                      <p:nvPr/>
                    </p:nvSpPr>
                    <p:spPr bwMode="auto">
                      <a:xfrm>
                        <a:off x="4530" y="2070"/>
                        <a:ext cx="2640" cy="147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965" name="Line 56">
                        <a:extLst>
                          <a:ext uri="{FF2B5EF4-FFF2-40B4-BE49-F238E27FC236}">
                            <a16:creationId xmlns:a16="http://schemas.microsoft.com/office/drawing/2014/main" id="{A2C8F4E4-EBA3-0B40-ACD5-06493A303F18}"/>
                          </a:ext>
                        </a:extLst>
                      </p:cNvPr>
                      <p:cNvSpPr>
                        <a:spLocks noChangeShapeType="1"/>
                      </p:cNvSpPr>
                      <p:nvPr/>
                    </p:nvSpPr>
                    <p:spPr bwMode="auto">
                      <a:xfrm flipV="1">
                        <a:off x="7214" y="2070"/>
                        <a:ext cx="1290" cy="1455"/>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966" name="Line 57">
                        <a:extLst>
                          <a:ext uri="{FF2B5EF4-FFF2-40B4-BE49-F238E27FC236}">
                            <a16:creationId xmlns:a16="http://schemas.microsoft.com/office/drawing/2014/main" id="{F47A6DA6-B44E-6D9E-94B1-B077F950EACF}"/>
                          </a:ext>
                        </a:extLst>
                      </p:cNvPr>
                      <p:cNvSpPr>
                        <a:spLocks noChangeShapeType="1"/>
                      </p:cNvSpPr>
                      <p:nvPr/>
                    </p:nvSpPr>
                    <p:spPr bwMode="auto">
                      <a:xfrm>
                        <a:off x="8504" y="2070"/>
                        <a:ext cx="1336"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67948" name="Group 58">
                    <a:extLst>
                      <a:ext uri="{FF2B5EF4-FFF2-40B4-BE49-F238E27FC236}">
                        <a16:creationId xmlns:a16="http://schemas.microsoft.com/office/drawing/2014/main" id="{52A818F8-1968-E6AA-B601-63201285B1D5}"/>
                      </a:ext>
                    </a:extLst>
                  </p:cNvPr>
                  <p:cNvGrpSpPr>
                    <a:grpSpLocks/>
                  </p:cNvGrpSpPr>
                  <p:nvPr/>
                </p:nvGrpSpPr>
                <p:grpSpPr bwMode="auto">
                  <a:xfrm>
                    <a:off x="3570" y="1590"/>
                    <a:ext cx="5930" cy="426"/>
                    <a:chOff x="3570" y="1590"/>
                    <a:chExt cx="5930" cy="426"/>
                  </a:xfrm>
                </p:grpSpPr>
                <p:sp>
                  <p:nvSpPr>
                    <p:cNvPr id="167955" name="Text Box 59">
                      <a:extLst>
                        <a:ext uri="{FF2B5EF4-FFF2-40B4-BE49-F238E27FC236}">
                          <a16:creationId xmlns:a16="http://schemas.microsoft.com/office/drawing/2014/main" id="{7563FDE7-5384-A318-620B-F1954910758C}"/>
                        </a:ext>
                      </a:extLst>
                    </p:cNvPr>
                    <p:cNvSpPr txBox="1">
                      <a:spLocks noChangeArrowheads="1"/>
                    </p:cNvSpPr>
                    <p:nvPr/>
                  </p:nvSpPr>
                  <p:spPr bwMode="auto">
                    <a:xfrm>
                      <a:off x="3570" y="1590"/>
                      <a:ext cx="544"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U</a:t>
                      </a:r>
                      <a:r>
                        <a:rPr lang="en-US" altLang="zh-CN" sz="1800" i="1" baseline="-25000">
                          <a:solidFill>
                            <a:schemeClr val="tx1"/>
                          </a:solidFill>
                          <a:latin typeface="Arial" panose="020B0604020202020204" pitchFamily="34" charset="0"/>
                          <a:ea typeface="微软雅黑" panose="020B0503020204020204" pitchFamily="34" charset="-122"/>
                          <a:cs typeface="Arial" panose="020B0604020202020204" pitchFamily="34" charset="0"/>
                        </a:rPr>
                        <a:t>0</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56" name="Text Box 60">
                      <a:extLst>
                        <a:ext uri="{FF2B5EF4-FFF2-40B4-BE49-F238E27FC236}">
                          <a16:creationId xmlns:a16="http://schemas.microsoft.com/office/drawing/2014/main" id="{8DB8FF21-06C5-5165-D426-2E1929E91F31}"/>
                        </a:ext>
                      </a:extLst>
                    </p:cNvPr>
                    <p:cNvSpPr txBox="1">
                      <a:spLocks noChangeArrowheads="1"/>
                    </p:cNvSpPr>
                    <p:nvPr/>
                  </p:nvSpPr>
                  <p:spPr bwMode="auto">
                    <a:xfrm>
                      <a:off x="4890" y="1590"/>
                      <a:ext cx="544"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U</a:t>
                      </a:r>
                      <a:r>
                        <a:rPr lang="en-US" altLang="zh-CN" sz="1800" baseline="-25000">
                          <a:solidFill>
                            <a:schemeClr val="tx1"/>
                          </a:solidFill>
                          <a:latin typeface="Arial" panose="020B0604020202020204" pitchFamily="34" charset="0"/>
                          <a:ea typeface="微软雅黑" panose="020B0503020204020204" pitchFamily="34" charset="-122"/>
                          <a:cs typeface="Arial" panose="020B0604020202020204" pitchFamily="34" charset="0"/>
                        </a:rPr>
                        <a:t>1</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57" name="Text Box 61">
                      <a:extLst>
                        <a:ext uri="{FF2B5EF4-FFF2-40B4-BE49-F238E27FC236}">
                          <a16:creationId xmlns:a16="http://schemas.microsoft.com/office/drawing/2014/main" id="{EFB4F6F2-9600-3FD9-B7B0-91C793E6CC75}"/>
                        </a:ext>
                      </a:extLst>
                    </p:cNvPr>
                    <p:cNvSpPr txBox="1">
                      <a:spLocks noChangeArrowheads="1"/>
                    </p:cNvSpPr>
                    <p:nvPr/>
                  </p:nvSpPr>
                  <p:spPr bwMode="auto">
                    <a:xfrm>
                      <a:off x="6240" y="1590"/>
                      <a:ext cx="544"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U</a:t>
                      </a:r>
                      <a:r>
                        <a:rPr lang="en-US" altLang="zh-CN" sz="1800" baseline="-25000">
                          <a:solidFill>
                            <a:schemeClr val="tx1"/>
                          </a:solidFill>
                          <a:latin typeface="Arial" panose="020B0604020202020204" pitchFamily="34" charset="0"/>
                          <a:ea typeface="微软雅黑" panose="020B0503020204020204" pitchFamily="34" charset="-122"/>
                          <a:cs typeface="Arial" panose="020B0604020202020204" pitchFamily="34" charset="0"/>
                        </a:rPr>
                        <a:t>2</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58" name="Text Box 62">
                      <a:extLst>
                        <a:ext uri="{FF2B5EF4-FFF2-40B4-BE49-F238E27FC236}">
                          <a16:creationId xmlns:a16="http://schemas.microsoft.com/office/drawing/2014/main" id="{A8F99001-FBEE-E532-5A65-E3497EE3CB6F}"/>
                        </a:ext>
                      </a:extLst>
                    </p:cNvPr>
                    <p:cNvSpPr txBox="1">
                      <a:spLocks noChangeArrowheads="1"/>
                    </p:cNvSpPr>
                    <p:nvPr/>
                  </p:nvSpPr>
                  <p:spPr bwMode="auto">
                    <a:xfrm>
                      <a:off x="7530" y="1590"/>
                      <a:ext cx="544"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U</a:t>
                      </a:r>
                      <a:r>
                        <a:rPr lang="en-US" altLang="zh-CN" sz="1800" baseline="-25000">
                          <a:solidFill>
                            <a:schemeClr val="tx1"/>
                          </a:solidFill>
                          <a:latin typeface="Arial" panose="020B0604020202020204" pitchFamily="34" charset="0"/>
                          <a:ea typeface="微软雅黑" panose="020B0503020204020204" pitchFamily="34" charset="-122"/>
                          <a:cs typeface="Arial" panose="020B0604020202020204" pitchFamily="34" charset="0"/>
                        </a:rPr>
                        <a:t>3</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59" name="Text Box 63">
                      <a:extLst>
                        <a:ext uri="{FF2B5EF4-FFF2-40B4-BE49-F238E27FC236}">
                          <a16:creationId xmlns:a16="http://schemas.microsoft.com/office/drawing/2014/main" id="{ED388571-EC98-74A8-99B1-9F6D7A19A637}"/>
                        </a:ext>
                      </a:extLst>
                    </p:cNvPr>
                    <p:cNvSpPr txBox="1">
                      <a:spLocks noChangeArrowheads="1"/>
                    </p:cNvSpPr>
                    <p:nvPr/>
                  </p:nvSpPr>
                  <p:spPr bwMode="auto">
                    <a:xfrm>
                      <a:off x="8956" y="1590"/>
                      <a:ext cx="544"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U</a:t>
                      </a:r>
                      <a:r>
                        <a:rPr lang="en-US" altLang="zh-CN" sz="1800" baseline="-25000">
                          <a:solidFill>
                            <a:schemeClr val="tx1"/>
                          </a:solidFill>
                          <a:latin typeface="Arial" panose="020B0604020202020204" pitchFamily="34" charset="0"/>
                          <a:ea typeface="微软雅黑" panose="020B0503020204020204" pitchFamily="34" charset="-122"/>
                          <a:cs typeface="Arial" panose="020B0604020202020204" pitchFamily="34" charset="0"/>
                        </a:rPr>
                        <a:t>4</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67949" name="Group 64">
                    <a:extLst>
                      <a:ext uri="{FF2B5EF4-FFF2-40B4-BE49-F238E27FC236}">
                        <a16:creationId xmlns:a16="http://schemas.microsoft.com/office/drawing/2014/main" id="{C71BFFAF-0AB1-34FD-9457-8824995BCE3C}"/>
                      </a:ext>
                    </a:extLst>
                  </p:cNvPr>
                  <p:cNvGrpSpPr>
                    <a:grpSpLocks/>
                  </p:cNvGrpSpPr>
                  <p:nvPr/>
                </p:nvGrpSpPr>
                <p:grpSpPr bwMode="auto">
                  <a:xfrm>
                    <a:off x="3556" y="2015"/>
                    <a:ext cx="5946" cy="1456"/>
                    <a:chOff x="3556" y="2015"/>
                    <a:chExt cx="5946" cy="1456"/>
                  </a:xfrm>
                </p:grpSpPr>
                <p:sp>
                  <p:nvSpPr>
                    <p:cNvPr id="167950" name="Text Box 65">
                      <a:extLst>
                        <a:ext uri="{FF2B5EF4-FFF2-40B4-BE49-F238E27FC236}">
                          <a16:creationId xmlns:a16="http://schemas.microsoft.com/office/drawing/2014/main" id="{14C26C44-926B-2F3E-F77A-F36FB45D9199}"/>
                        </a:ext>
                      </a:extLst>
                    </p:cNvPr>
                    <p:cNvSpPr txBox="1">
                      <a:spLocks noChangeArrowheads="1"/>
                    </p:cNvSpPr>
                    <p:nvPr/>
                  </p:nvSpPr>
                  <p:spPr bwMode="auto">
                    <a:xfrm>
                      <a:off x="3556" y="2055"/>
                      <a:ext cx="544"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V</a:t>
                      </a:r>
                      <a:r>
                        <a:rPr lang="en-US" altLang="zh-CN" sz="1800" i="1" baseline="-25000">
                          <a:solidFill>
                            <a:schemeClr val="tx1"/>
                          </a:solidFill>
                          <a:latin typeface="Arial" panose="020B0604020202020204" pitchFamily="34" charset="0"/>
                          <a:ea typeface="微软雅黑" panose="020B0503020204020204" pitchFamily="34" charset="-122"/>
                          <a:cs typeface="Arial" panose="020B0604020202020204" pitchFamily="34" charset="0"/>
                        </a:rPr>
                        <a:t>0</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51" name="Text Box 66">
                      <a:extLst>
                        <a:ext uri="{FF2B5EF4-FFF2-40B4-BE49-F238E27FC236}">
                          <a16:creationId xmlns:a16="http://schemas.microsoft.com/office/drawing/2014/main" id="{2ECF72DC-DF5E-C0E7-84A7-E3ED993AE73B}"/>
                        </a:ext>
                      </a:extLst>
                    </p:cNvPr>
                    <p:cNvSpPr txBox="1">
                      <a:spLocks noChangeArrowheads="1"/>
                    </p:cNvSpPr>
                    <p:nvPr/>
                  </p:nvSpPr>
                  <p:spPr bwMode="auto">
                    <a:xfrm>
                      <a:off x="4838" y="2353"/>
                      <a:ext cx="544"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V</a:t>
                      </a:r>
                      <a:r>
                        <a:rPr lang="en-US" altLang="zh-CN" sz="1800" baseline="-25000">
                          <a:solidFill>
                            <a:schemeClr val="tx1"/>
                          </a:solidFill>
                          <a:latin typeface="Arial" panose="020B0604020202020204" pitchFamily="34" charset="0"/>
                          <a:ea typeface="微软雅黑" panose="020B0503020204020204" pitchFamily="34" charset="-122"/>
                          <a:cs typeface="Arial" panose="020B0604020202020204" pitchFamily="34" charset="0"/>
                        </a:rPr>
                        <a:t>1</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52" name="Text Box 67">
                      <a:extLst>
                        <a:ext uri="{FF2B5EF4-FFF2-40B4-BE49-F238E27FC236}">
                          <a16:creationId xmlns:a16="http://schemas.microsoft.com/office/drawing/2014/main" id="{0EA9E95A-D8C7-8530-3E82-0A6273DC93B6}"/>
                        </a:ext>
                      </a:extLst>
                    </p:cNvPr>
                    <p:cNvSpPr txBox="1">
                      <a:spLocks noChangeArrowheads="1"/>
                    </p:cNvSpPr>
                    <p:nvPr/>
                  </p:nvSpPr>
                  <p:spPr bwMode="auto">
                    <a:xfrm>
                      <a:off x="6136" y="3045"/>
                      <a:ext cx="544"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V</a:t>
                      </a:r>
                      <a:r>
                        <a:rPr lang="en-US" altLang="zh-CN" sz="1800" baseline="-25000">
                          <a:solidFill>
                            <a:schemeClr val="tx1"/>
                          </a:solidFill>
                          <a:latin typeface="Arial" panose="020B0604020202020204" pitchFamily="34" charset="0"/>
                          <a:ea typeface="微软雅黑" panose="020B0503020204020204" pitchFamily="34" charset="-122"/>
                          <a:cs typeface="Arial" panose="020B0604020202020204" pitchFamily="34" charset="0"/>
                        </a:rPr>
                        <a:t>2</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53" name="Text Box 68">
                      <a:extLst>
                        <a:ext uri="{FF2B5EF4-FFF2-40B4-BE49-F238E27FC236}">
                          <a16:creationId xmlns:a16="http://schemas.microsoft.com/office/drawing/2014/main" id="{688D6CDF-FA55-CCA7-3F16-C02B43630667}"/>
                        </a:ext>
                      </a:extLst>
                    </p:cNvPr>
                    <p:cNvSpPr txBox="1">
                      <a:spLocks noChangeArrowheads="1"/>
                    </p:cNvSpPr>
                    <p:nvPr/>
                  </p:nvSpPr>
                  <p:spPr bwMode="auto">
                    <a:xfrm>
                      <a:off x="7814" y="2692"/>
                      <a:ext cx="544"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V</a:t>
                      </a:r>
                      <a:r>
                        <a:rPr lang="en-US" altLang="zh-CN" sz="1800" baseline="-25000">
                          <a:solidFill>
                            <a:schemeClr val="tx1"/>
                          </a:solidFill>
                          <a:latin typeface="Arial" panose="020B0604020202020204" pitchFamily="34" charset="0"/>
                          <a:ea typeface="微软雅黑" panose="020B0503020204020204" pitchFamily="34" charset="-122"/>
                          <a:cs typeface="Arial" panose="020B0604020202020204" pitchFamily="34" charset="0"/>
                        </a:rPr>
                        <a:t>3</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67954" name="Text Box 69">
                      <a:extLst>
                        <a:ext uri="{FF2B5EF4-FFF2-40B4-BE49-F238E27FC236}">
                          <a16:creationId xmlns:a16="http://schemas.microsoft.com/office/drawing/2014/main" id="{1D055C94-1E4F-5FA6-65B5-3CCA727C3C20}"/>
                        </a:ext>
                      </a:extLst>
                    </p:cNvPr>
                    <p:cNvSpPr txBox="1">
                      <a:spLocks noChangeArrowheads="1"/>
                    </p:cNvSpPr>
                    <p:nvPr/>
                  </p:nvSpPr>
                  <p:spPr bwMode="auto">
                    <a:xfrm>
                      <a:off x="8958" y="2015"/>
                      <a:ext cx="544"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V</a:t>
                      </a:r>
                      <a:r>
                        <a:rPr lang="en-US" altLang="zh-CN" sz="1800" baseline="-25000">
                          <a:solidFill>
                            <a:schemeClr val="tx1"/>
                          </a:solidFill>
                          <a:latin typeface="Arial" panose="020B0604020202020204" pitchFamily="34" charset="0"/>
                          <a:ea typeface="微软雅黑" panose="020B0503020204020204" pitchFamily="34" charset="-122"/>
                          <a:cs typeface="Arial" panose="020B0604020202020204" pitchFamily="34" charset="0"/>
                        </a:rPr>
                        <a:t>4</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grpSp>
          <p:sp>
            <p:nvSpPr>
              <p:cNvPr id="167943" name="Text Box 71">
                <a:extLst>
                  <a:ext uri="{FF2B5EF4-FFF2-40B4-BE49-F238E27FC236}">
                    <a16:creationId xmlns:a16="http://schemas.microsoft.com/office/drawing/2014/main" id="{1C4923AE-DCB6-346B-7870-1106280DF51F}"/>
                  </a:ext>
                </a:extLst>
              </p:cNvPr>
              <p:cNvSpPr txBox="1">
                <a:spLocks noChangeArrowheads="1"/>
              </p:cNvSpPr>
              <p:nvPr/>
            </p:nvSpPr>
            <p:spPr bwMode="auto">
              <a:xfrm>
                <a:off x="3062" y="2558"/>
                <a:ext cx="271"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algn="just" eaLnBrk="1" hangingPunct="1"/>
                <a:r>
                  <a:rPr lang="en-US" altLang="zh-CN" sz="1800" i="1">
                    <a:solidFill>
                      <a:schemeClr val="tx1"/>
                    </a:solidFill>
                    <a:latin typeface="Arial" panose="020B0604020202020204" pitchFamily="34" charset="0"/>
                    <a:ea typeface="微软雅黑" panose="020B0503020204020204" pitchFamily="34" charset="-122"/>
                    <a:cs typeface="Arial" panose="020B0604020202020204" pitchFamily="34" charset="0"/>
                  </a:rPr>
                  <a:t>W</a:t>
                </a:r>
                <a:endParaRPr lang="en-US" altLang="zh-CN" sz="18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10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up)">
                                      <p:cBhvr>
                                        <p:cTn id="12" dur="1000"/>
                                        <p:tgtEl>
                                          <p:spTgt spid="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up)">
                                      <p:cBhvr>
                                        <p:cTn id="17" dur="1000"/>
                                        <p:tgtEl>
                                          <p:spTgt spid="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up)">
                                      <p:cBhvr>
                                        <p:cTn id="22" dur="1000"/>
                                        <p:tgtEl>
                                          <p:spTgt spid="4">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up)">
                                      <p:cBhvr>
                                        <p:cTn id="27" dur="1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7" name="Rectangle 3">
            <a:extLst>
              <a:ext uri="{FF2B5EF4-FFF2-40B4-BE49-F238E27FC236}">
                <a16:creationId xmlns:a16="http://schemas.microsoft.com/office/drawing/2014/main" id="{E752DA94-0522-8DA2-23C9-1E9B6C65361A}"/>
              </a:ext>
            </a:extLst>
          </p:cNvPr>
          <p:cNvSpPr>
            <a:spLocks noGrp="1" noChangeArrowheads="1"/>
          </p:cNvSpPr>
          <p:nvPr>
            <p:ph type="body" idx="1"/>
          </p:nvPr>
        </p:nvSpPr>
        <p:spPr>
          <a:xfrm>
            <a:off x="868363" y="1581150"/>
            <a:ext cx="7632700" cy="1776413"/>
          </a:xfrm>
        </p:spPr>
        <p:txBody>
          <a:bodyPr/>
          <a:lstStyle/>
          <a:p>
            <a:pPr eaLnBrk="1" hangingPunct="1">
              <a:lnSpc>
                <a:spcPts val="3200"/>
              </a:lnSpc>
              <a:buSzPct val="65000"/>
              <a:buFont typeface="Wingdings" panose="05000000000000000000" pitchFamily="2" charset="2"/>
              <a:buChar char="u"/>
              <a:defRPr/>
            </a:pPr>
            <a:r>
              <a:rPr lang="zh-CN" altLang="en-US" sz="2000" dirty="0">
                <a:latin typeface="Arial" pitchFamily="34" charset="0"/>
                <a:ea typeface="微软雅黑" pitchFamily="34" charset="-122"/>
                <a:cs typeface="Arial" pitchFamily="34" charset="0"/>
              </a:rPr>
              <a:t>自由欧氏距离是指许用波形序列集合中各元素之间的最小距离。它决定了产生错误判决的概率。自由欧氏距离越大，错误判决概率越小。</a:t>
            </a:r>
          </a:p>
          <a:p>
            <a:pPr eaLnBrk="1" hangingPunct="1">
              <a:lnSpc>
                <a:spcPts val="3200"/>
              </a:lnSpc>
              <a:buSzPct val="65000"/>
              <a:buFont typeface="Wingdings" panose="05000000000000000000" pitchFamily="2" charset="2"/>
              <a:buChar char="u"/>
              <a:defRPr/>
            </a:pPr>
            <a:r>
              <a:rPr lang="zh-CN" altLang="en-US" sz="2000" dirty="0">
                <a:latin typeface="Arial" pitchFamily="34" charset="0"/>
                <a:ea typeface="微软雅黑" pitchFamily="34" charset="-122"/>
                <a:cs typeface="Arial" pitchFamily="34" charset="0"/>
              </a:rPr>
              <a:t>在上例中，</a:t>
            </a:r>
            <a:r>
              <a:rPr lang="en-US" altLang="zh-CN" sz="2000" i="1" dirty="0">
                <a:latin typeface="Arial" pitchFamily="34" charset="0"/>
                <a:ea typeface="微软雅黑" pitchFamily="34" charset="-122"/>
                <a:cs typeface="Arial" pitchFamily="34" charset="0"/>
              </a:rPr>
              <a:t>U</a:t>
            </a:r>
            <a:r>
              <a:rPr lang="zh-CN" altLang="en-US" sz="2000" dirty="0">
                <a:latin typeface="Arial" pitchFamily="34" charset="0"/>
                <a:ea typeface="微软雅黑" pitchFamily="34" charset="-122"/>
                <a:cs typeface="Arial" pitchFamily="34" charset="0"/>
              </a:rPr>
              <a:t>和</a:t>
            </a:r>
            <a:r>
              <a:rPr lang="en-US" altLang="zh-CN" sz="2000" i="1" dirty="0">
                <a:latin typeface="Arial" pitchFamily="34" charset="0"/>
                <a:ea typeface="微软雅黑" pitchFamily="34" charset="-122"/>
                <a:cs typeface="Arial" pitchFamily="34" charset="0"/>
              </a:rPr>
              <a:t>V</a:t>
            </a:r>
            <a:r>
              <a:rPr lang="zh-CN" altLang="en-US" sz="2000" dirty="0">
                <a:latin typeface="Arial" pitchFamily="34" charset="0"/>
                <a:ea typeface="微软雅黑" pitchFamily="34" charset="-122"/>
                <a:cs typeface="Arial" pitchFamily="34" charset="0"/>
              </a:rPr>
              <a:t>两条路径间的</a:t>
            </a:r>
            <a:r>
              <a:rPr lang="zh-CN" altLang="en-US" sz="200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欧氏距离</a:t>
            </a:r>
            <a:r>
              <a:rPr lang="en-US" altLang="zh-CN" sz="2400" i="1"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d</a:t>
            </a:r>
            <a:r>
              <a:rPr lang="zh-CN" altLang="en-US" sz="2000" dirty="0">
                <a:latin typeface="Arial" pitchFamily="34" charset="0"/>
                <a:ea typeface="微软雅黑" pitchFamily="34" charset="-122"/>
                <a:cs typeface="Arial" pitchFamily="34" charset="0"/>
              </a:rPr>
              <a:t>由下式决定：</a:t>
            </a:r>
          </a:p>
        </p:txBody>
      </p:sp>
      <p:sp>
        <p:nvSpPr>
          <p:cNvPr id="50181" name="Rectangle 5">
            <a:extLst>
              <a:ext uri="{FF2B5EF4-FFF2-40B4-BE49-F238E27FC236}">
                <a16:creationId xmlns:a16="http://schemas.microsoft.com/office/drawing/2014/main" id="{952D66D2-490E-714A-09B3-5A9F9582F3C2}"/>
              </a:ext>
            </a:extLst>
          </p:cNvPr>
          <p:cNvSpPr>
            <a:spLocks noChangeArrowheads="1"/>
          </p:cNvSpPr>
          <p:nvPr/>
        </p:nvSpPr>
        <p:spPr bwMode="auto">
          <a:xfrm>
            <a:off x="0" y="30432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aphicFrame>
        <p:nvGraphicFramePr>
          <p:cNvPr id="175108" name="Object 4">
            <a:extLst>
              <a:ext uri="{FF2B5EF4-FFF2-40B4-BE49-F238E27FC236}">
                <a16:creationId xmlns:a16="http://schemas.microsoft.com/office/drawing/2014/main" id="{44BF5582-537A-F201-E2FD-9FC17DED9C6B}"/>
              </a:ext>
            </a:extLst>
          </p:cNvPr>
          <p:cNvGraphicFramePr>
            <a:graphicFrameLocks noChangeAspect="1"/>
          </p:cNvGraphicFramePr>
          <p:nvPr/>
        </p:nvGraphicFramePr>
        <p:xfrm>
          <a:off x="1663700" y="3470275"/>
          <a:ext cx="6480175" cy="1458913"/>
        </p:xfrm>
        <a:graphic>
          <a:graphicData uri="http://schemas.openxmlformats.org/presentationml/2006/ole">
            <mc:AlternateContent xmlns:mc="http://schemas.openxmlformats.org/markup-compatibility/2006">
              <mc:Choice xmlns:v="urn:schemas-microsoft-com:vml" Requires="v">
                <p:oleObj name="公式" r:id="rId2" imgW="3429000" imgH="774700" progId="Equation.3">
                  <p:embed/>
                </p:oleObj>
              </mc:Choice>
              <mc:Fallback>
                <p:oleObj name="公式" r:id="rId2" imgW="3429000" imgH="7747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3700" y="3470275"/>
                        <a:ext cx="6480175" cy="1458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182" name="Rectangle 7">
            <a:extLst>
              <a:ext uri="{FF2B5EF4-FFF2-40B4-BE49-F238E27FC236}">
                <a16:creationId xmlns:a16="http://schemas.microsoft.com/office/drawing/2014/main" id="{D08EF09C-3B08-E9F7-E0D1-33BD6C0ACB95}"/>
              </a:ext>
            </a:extLst>
          </p:cNvPr>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aphicFrame>
        <p:nvGraphicFramePr>
          <p:cNvPr id="175110" name="Object 6">
            <a:extLst>
              <a:ext uri="{FF2B5EF4-FFF2-40B4-BE49-F238E27FC236}">
                <a16:creationId xmlns:a16="http://schemas.microsoft.com/office/drawing/2014/main" id="{96EC3F87-A447-F2AD-2C50-246872793E23}"/>
              </a:ext>
            </a:extLst>
          </p:cNvPr>
          <p:cNvGraphicFramePr>
            <a:graphicFrameLocks noChangeAspect="1"/>
          </p:cNvGraphicFramePr>
          <p:nvPr/>
        </p:nvGraphicFramePr>
        <p:xfrm>
          <a:off x="3509963" y="5700713"/>
          <a:ext cx="2205037" cy="427037"/>
        </p:xfrm>
        <a:graphic>
          <a:graphicData uri="http://schemas.openxmlformats.org/presentationml/2006/ole">
            <mc:AlternateContent xmlns:mc="http://schemas.openxmlformats.org/markup-compatibility/2006">
              <mc:Choice xmlns:v="urn:schemas-microsoft-com:vml" Requires="v">
                <p:oleObj name="公式" r:id="rId4" imgW="1181100" imgH="228600" progId="Equation.3">
                  <p:embed/>
                </p:oleObj>
              </mc:Choice>
              <mc:Fallback>
                <p:oleObj name="公式" r:id="rId4" imgW="1181100" imgH="2286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9963" y="5700713"/>
                        <a:ext cx="2205037" cy="427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矩形 9">
            <a:extLst>
              <a:ext uri="{FF2B5EF4-FFF2-40B4-BE49-F238E27FC236}">
                <a16:creationId xmlns:a16="http://schemas.microsoft.com/office/drawing/2014/main" id="{77271EFA-65C3-801C-6348-006620E37EB2}"/>
              </a:ext>
            </a:extLst>
          </p:cNvPr>
          <p:cNvSpPr/>
          <p:nvPr/>
        </p:nvSpPr>
        <p:spPr>
          <a:xfrm>
            <a:off x="715963" y="1055688"/>
            <a:ext cx="3317875" cy="515937"/>
          </a:xfrm>
          <a:prstGeom prst="rect">
            <a:avLst/>
          </a:prstGeom>
        </p:spPr>
        <p:txBody>
          <a:bodyPr wrap="none">
            <a:spAutoFit/>
          </a:bodyPr>
          <a:lstStyle/>
          <a:p>
            <a:pPr marL="342900" lvl="4" indent="-342900">
              <a:lnSpc>
                <a:spcPts val="3300"/>
              </a:lnSpc>
              <a:spcBef>
                <a:spcPct val="20000"/>
              </a:spcBef>
              <a:buClr>
                <a:srgbClr val="FF0000"/>
              </a:buClr>
              <a:buSzPct val="80000"/>
              <a:buFont typeface="Wingdings" pitchFamily="2" charset="2"/>
              <a:buChar char="n"/>
              <a:defRPr/>
            </a:pPr>
            <a:r>
              <a:rPr lang="zh-CN" altLang="en-US" sz="2400" dirty="0">
                <a:solidFill>
                  <a:schemeClr val="tx1"/>
                </a:solidFill>
                <a:latin typeface="Arial" pitchFamily="34" charset="0"/>
                <a:ea typeface="微软雅黑" pitchFamily="34" charset="-122"/>
                <a:cs typeface="Arial" pitchFamily="34" charset="0"/>
              </a:rPr>
              <a:t>自由欧氏距离</a:t>
            </a:r>
            <a:r>
              <a:rPr lang="en-US" altLang="zh-CN" sz="2400" dirty="0">
                <a:solidFill>
                  <a:schemeClr val="tx1"/>
                </a:solidFill>
                <a:latin typeface="Arial" pitchFamily="34" charset="0"/>
                <a:ea typeface="微软雅黑" pitchFamily="34" charset="-122"/>
                <a:cs typeface="Arial" pitchFamily="34" charset="0"/>
              </a:rPr>
              <a:t>Fed </a:t>
            </a:r>
            <a:r>
              <a:rPr kumimoji="0" lang="zh-CN" altLang="en-US" sz="2400" kern="0" dirty="0">
                <a:solidFill>
                  <a:schemeClr val="tx1"/>
                </a:solidFill>
                <a:latin typeface="Arial" pitchFamily="34" charset="0"/>
                <a:ea typeface="微软雅黑" pitchFamily="34" charset="-122"/>
                <a:cs typeface="Arial" pitchFamily="34" charset="0"/>
              </a:rPr>
              <a:t>：</a:t>
            </a:r>
            <a:endParaRPr lang="zh-CN" altLang="en-US" sz="2400" dirty="0">
              <a:solidFill>
                <a:schemeClr val="tx1"/>
              </a:solidFill>
              <a:latin typeface="Arial" pitchFamily="34" charset="0"/>
              <a:ea typeface="微软雅黑" pitchFamily="34" charset="-122"/>
              <a:cs typeface="Arial" pitchFamily="34" charset="0"/>
            </a:endParaRPr>
          </a:p>
        </p:txBody>
      </p:sp>
      <p:sp>
        <p:nvSpPr>
          <p:cNvPr id="11" name="矩形 10">
            <a:extLst>
              <a:ext uri="{FF2B5EF4-FFF2-40B4-BE49-F238E27FC236}">
                <a16:creationId xmlns:a16="http://schemas.microsoft.com/office/drawing/2014/main" id="{E5515E07-1A67-D211-CB47-0DA143267C7B}"/>
              </a:ext>
            </a:extLst>
          </p:cNvPr>
          <p:cNvSpPr/>
          <p:nvPr/>
        </p:nvSpPr>
        <p:spPr>
          <a:xfrm>
            <a:off x="857250" y="5140325"/>
            <a:ext cx="7429500" cy="503238"/>
          </a:xfrm>
          <a:prstGeom prst="rect">
            <a:avLst/>
          </a:prstGeom>
        </p:spPr>
        <p:txBody>
          <a:bodyPr>
            <a:spAutoFit/>
          </a:bodyPr>
          <a:lstStyle/>
          <a:p>
            <a:pPr marL="342900" indent="-342900">
              <a:lnSpc>
                <a:spcPts val="3200"/>
              </a:lnSpc>
              <a:spcBef>
                <a:spcPct val="20000"/>
              </a:spcBef>
              <a:buClr>
                <a:srgbClr val="3333CC"/>
              </a:buClr>
              <a:buSzPct val="65000"/>
              <a:buFont typeface="Wingdings" pitchFamily="2" charset="2"/>
              <a:buChar char="u"/>
              <a:defRPr/>
            </a:pPr>
            <a:r>
              <a:rPr kumimoji="0" lang="zh-CN" altLang="en-US" sz="2000" b="0" kern="0" dirty="0">
                <a:solidFill>
                  <a:srgbClr val="000000"/>
                </a:solidFill>
                <a:latin typeface="Arial" pitchFamily="34" charset="0"/>
                <a:ea typeface="微软雅黑" pitchFamily="34" charset="-122"/>
                <a:cs typeface="Arial" pitchFamily="34" charset="0"/>
              </a:rPr>
              <a:t>上式是按照在欧氏空间求矢量和的方法计算的。因此，</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75107">
                                            <p:txEl>
                                              <p:pRg st="0" end="0"/>
                                            </p:txEl>
                                          </p:spTgt>
                                        </p:tgtEl>
                                        <p:attrNameLst>
                                          <p:attrName>style.visibility</p:attrName>
                                        </p:attrNameLst>
                                      </p:cBhvr>
                                      <p:to>
                                        <p:strVal val="visible"/>
                                      </p:to>
                                    </p:set>
                                    <p:animEffect transition="in" filter="wipe(up)">
                                      <p:cBhvr>
                                        <p:cTn id="7" dur="1000"/>
                                        <p:tgtEl>
                                          <p:spTgt spid="1751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75107">
                                            <p:txEl>
                                              <p:pRg st="1" end="1"/>
                                            </p:txEl>
                                          </p:spTgt>
                                        </p:tgtEl>
                                        <p:attrNameLst>
                                          <p:attrName>style.visibility</p:attrName>
                                        </p:attrNameLst>
                                      </p:cBhvr>
                                      <p:to>
                                        <p:strVal val="visible"/>
                                      </p:to>
                                    </p:set>
                                    <p:animEffect transition="in" filter="wipe(up)">
                                      <p:cBhvr>
                                        <p:cTn id="12" dur="1000"/>
                                        <p:tgtEl>
                                          <p:spTgt spid="175107">
                                            <p:txEl>
                                              <p:pRg st="1" end="1"/>
                                            </p:txEl>
                                          </p:spTgt>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175108"/>
                                        </p:tgtEl>
                                        <p:attrNameLst>
                                          <p:attrName>style.visibility</p:attrName>
                                        </p:attrNameLst>
                                      </p:cBhvr>
                                      <p:to>
                                        <p:strVal val="visible"/>
                                      </p:to>
                                    </p:set>
                                    <p:animEffect transition="in" filter="wipe(up)">
                                      <p:cBhvr>
                                        <p:cTn id="16" dur="1000"/>
                                        <p:tgtEl>
                                          <p:spTgt spid="17510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up)">
                                      <p:cBhvr>
                                        <p:cTn id="21" dur="1000"/>
                                        <p:tgtEl>
                                          <p:spTgt spid="11"/>
                                        </p:tgtEl>
                                      </p:cBhvr>
                                    </p:animEffect>
                                  </p:childTnLst>
                                </p:cTn>
                              </p:par>
                            </p:childTnLst>
                          </p:cTn>
                        </p:par>
                        <p:par>
                          <p:cTn id="22" fill="hold" nodeType="afterGroup">
                            <p:stCondLst>
                              <p:cond delay="1000"/>
                            </p:stCondLst>
                            <p:childTnLst>
                              <p:par>
                                <p:cTn id="23" presetID="22" presetClass="entr" presetSubtype="1" fill="hold" nodeType="afterEffect">
                                  <p:stCondLst>
                                    <p:cond delay="0"/>
                                  </p:stCondLst>
                                  <p:childTnLst>
                                    <p:set>
                                      <p:cBhvr>
                                        <p:cTn id="24" dur="1" fill="hold">
                                          <p:stCondLst>
                                            <p:cond delay="0"/>
                                          </p:stCondLst>
                                        </p:cTn>
                                        <p:tgtEl>
                                          <p:spTgt spid="175110"/>
                                        </p:tgtEl>
                                        <p:attrNameLst>
                                          <p:attrName>style.visibility</p:attrName>
                                        </p:attrNameLst>
                                      </p:cBhvr>
                                      <p:to>
                                        <p:strVal val="visible"/>
                                      </p:to>
                                    </p:set>
                                    <p:animEffect transition="in" filter="wipe(up)">
                                      <p:cBhvr>
                                        <p:cTn id="25" dur="1000"/>
                                        <p:tgtEl>
                                          <p:spTgt spid="175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1" name="Rectangle 3">
            <a:extLst>
              <a:ext uri="{FF2B5EF4-FFF2-40B4-BE49-F238E27FC236}">
                <a16:creationId xmlns:a16="http://schemas.microsoft.com/office/drawing/2014/main" id="{AB108365-B434-33F8-DA78-DD7DCA52C460}"/>
              </a:ext>
            </a:extLst>
          </p:cNvPr>
          <p:cNvSpPr>
            <a:spLocks noGrp="1" noChangeArrowheads="1"/>
          </p:cNvSpPr>
          <p:nvPr>
            <p:ph type="body" idx="1"/>
          </p:nvPr>
        </p:nvSpPr>
        <p:spPr>
          <a:xfrm>
            <a:off x="857250" y="1071563"/>
            <a:ext cx="7643813" cy="1428750"/>
          </a:xfrm>
        </p:spPr>
        <p:txBody>
          <a:bodyPr/>
          <a:lstStyle/>
          <a:p>
            <a:pPr eaLnBrk="1" hangingPunct="1">
              <a:lnSpc>
                <a:spcPts val="3200"/>
              </a:lnSpc>
              <a:buFont typeface="Wingdings" panose="05000000000000000000" pitchFamily="2" charset="2"/>
              <a:buChar char="u"/>
            </a:pPr>
            <a:r>
              <a:rPr lang="zh-CN" altLang="en-US" sz="2000">
                <a:latin typeface="Arial" panose="020B0604020202020204" pitchFamily="34" charset="0"/>
                <a:ea typeface="微软雅黑" panose="020B0503020204020204" pitchFamily="34" charset="-122"/>
                <a:cs typeface="Arial" panose="020B0604020202020204" pitchFamily="34" charset="0"/>
              </a:rPr>
              <a:t>另外一种许用波形序列的路径是，</a:t>
            </a:r>
            <a:r>
              <a:rPr lang="en-US" altLang="zh-CN" sz="2000" i="1">
                <a:latin typeface="Arial" panose="020B0604020202020204" pitchFamily="34" charset="0"/>
                <a:ea typeface="微软雅黑" panose="020B0503020204020204" pitchFamily="34" charset="-122"/>
                <a:cs typeface="Arial" panose="020B0604020202020204" pitchFamily="34" charset="0"/>
              </a:rPr>
              <a:t>U</a:t>
            </a:r>
            <a:r>
              <a:rPr lang="en-US" altLang="zh-CN" sz="2000" baseline="-25000">
                <a:latin typeface="Arial" panose="020B0604020202020204" pitchFamily="34" charset="0"/>
                <a:ea typeface="微软雅黑" panose="020B0503020204020204" pitchFamily="34" charset="-122"/>
                <a:cs typeface="Arial" panose="020B0604020202020204" pitchFamily="34" charset="0"/>
              </a:rPr>
              <a:t>1</a:t>
            </a:r>
            <a:r>
              <a:rPr lang="en-US" altLang="zh-CN" sz="2000" i="1">
                <a:latin typeface="Arial" panose="020B0604020202020204" pitchFamily="34" charset="0"/>
                <a:ea typeface="微软雅黑" panose="020B0503020204020204" pitchFamily="34" charset="-122"/>
                <a:cs typeface="Arial" panose="020B0604020202020204" pitchFamily="34" charset="0"/>
              </a:rPr>
              <a:t>WU</a:t>
            </a:r>
            <a:r>
              <a:rPr lang="en-US" altLang="zh-CN" sz="2000" baseline="-25000">
                <a:latin typeface="Arial" panose="020B0604020202020204" pitchFamily="34" charset="0"/>
                <a:ea typeface="微软雅黑" panose="020B0503020204020204" pitchFamily="34" charset="-122"/>
                <a:cs typeface="Arial" panose="020B0604020202020204" pitchFamily="34" charset="0"/>
              </a:rPr>
              <a:t>3</a:t>
            </a:r>
            <a:r>
              <a:rPr lang="zh-CN" altLang="en-US" sz="2000">
                <a:latin typeface="Arial" panose="020B0604020202020204" pitchFamily="34" charset="0"/>
                <a:ea typeface="微软雅黑" panose="020B0503020204020204" pitchFamily="34" charset="-122"/>
                <a:cs typeface="Arial" panose="020B0604020202020204" pitchFamily="34" charset="0"/>
              </a:rPr>
              <a:t>（见上图）。它和 </a:t>
            </a:r>
            <a:r>
              <a:rPr lang="en-US" altLang="zh-CN" sz="2000">
                <a:latin typeface="Arial" panose="020B0604020202020204" pitchFamily="34" charset="0"/>
                <a:ea typeface="微软雅黑" panose="020B0503020204020204" pitchFamily="34" charset="-122"/>
                <a:cs typeface="Arial" panose="020B0604020202020204" pitchFamily="34" charset="0"/>
              </a:rPr>
              <a:t>V</a:t>
            </a:r>
            <a:r>
              <a:rPr lang="zh-CN" altLang="en-US" sz="2000">
                <a:latin typeface="Arial" panose="020B0604020202020204" pitchFamily="34" charset="0"/>
                <a:ea typeface="微软雅黑" panose="020B0503020204020204" pitchFamily="34" charset="-122"/>
                <a:cs typeface="Arial" panose="020B0604020202020204" pitchFamily="34" charset="0"/>
              </a:rPr>
              <a:t>序列相似，从状态</a:t>
            </a:r>
            <a:r>
              <a:rPr lang="en-US" altLang="zh-CN" sz="2000" b="1" i="1">
                <a:latin typeface="Arial" panose="020B0604020202020204" pitchFamily="34" charset="0"/>
                <a:ea typeface="微软雅黑" panose="020B0503020204020204" pitchFamily="34" charset="-122"/>
                <a:cs typeface="Arial" panose="020B0604020202020204" pitchFamily="34" charset="0"/>
              </a:rPr>
              <a:t>a</a:t>
            </a:r>
            <a:r>
              <a:rPr lang="zh-CN" altLang="en-US" sz="2000">
                <a:latin typeface="Arial" panose="020B0604020202020204" pitchFamily="34" charset="0"/>
                <a:ea typeface="微软雅黑" panose="020B0503020204020204" pitchFamily="34" charset="-122"/>
                <a:cs typeface="Arial" panose="020B0604020202020204" pitchFamily="34" charset="0"/>
              </a:rPr>
              <a:t>开始，离开</a:t>
            </a:r>
            <a:r>
              <a:rPr lang="en-US" altLang="zh-CN" sz="2000" i="1">
                <a:latin typeface="Arial" panose="020B0604020202020204" pitchFamily="34" charset="0"/>
                <a:ea typeface="微软雅黑" panose="020B0503020204020204" pitchFamily="34" charset="-122"/>
                <a:cs typeface="Arial" panose="020B0604020202020204" pitchFamily="34" charset="0"/>
              </a:rPr>
              <a:t>U</a:t>
            </a:r>
            <a:r>
              <a:rPr lang="zh-CN" altLang="en-US" sz="2000">
                <a:latin typeface="Arial" panose="020B0604020202020204" pitchFamily="34" charset="0"/>
                <a:ea typeface="微软雅黑" panose="020B0503020204020204" pitchFamily="34" charset="-122"/>
                <a:cs typeface="Arial" panose="020B0604020202020204" pitchFamily="34" charset="0"/>
              </a:rPr>
              <a:t>（虚线路径），再回到状态</a:t>
            </a:r>
            <a:r>
              <a:rPr lang="en-US" altLang="zh-CN" sz="2000" b="1" i="1">
                <a:latin typeface="Arial" panose="020B0604020202020204" pitchFamily="34" charset="0"/>
                <a:ea typeface="微软雅黑" panose="020B0503020204020204" pitchFamily="34" charset="-122"/>
                <a:cs typeface="Arial" panose="020B0604020202020204" pitchFamily="34" charset="0"/>
              </a:rPr>
              <a:t>a</a:t>
            </a:r>
            <a:r>
              <a:rPr lang="zh-CN" altLang="en-US" sz="2000">
                <a:latin typeface="Arial" panose="020B0604020202020204" pitchFamily="34" charset="0"/>
                <a:ea typeface="微软雅黑" panose="020B0503020204020204" pitchFamily="34" charset="-122"/>
                <a:cs typeface="Arial" panose="020B0604020202020204" pitchFamily="34" charset="0"/>
              </a:rPr>
              <a:t>。这个路径和</a:t>
            </a:r>
            <a:r>
              <a:rPr lang="en-US" altLang="zh-CN" sz="2000">
                <a:latin typeface="Arial" panose="020B0604020202020204" pitchFamily="34" charset="0"/>
                <a:ea typeface="微软雅黑" panose="020B0503020204020204" pitchFamily="34" charset="-122"/>
                <a:cs typeface="Arial" panose="020B0604020202020204" pitchFamily="34" charset="0"/>
              </a:rPr>
              <a:t>U</a:t>
            </a:r>
            <a:r>
              <a:rPr lang="zh-CN" altLang="en-US" sz="2000">
                <a:latin typeface="Arial" panose="020B0604020202020204" pitchFamily="34" charset="0"/>
                <a:ea typeface="微软雅黑" panose="020B0503020204020204" pitchFamily="34" charset="-122"/>
                <a:cs typeface="Arial" panose="020B0604020202020204" pitchFamily="34" charset="0"/>
              </a:rPr>
              <a:t>的距离等于</a:t>
            </a:r>
          </a:p>
        </p:txBody>
      </p:sp>
      <p:sp>
        <p:nvSpPr>
          <p:cNvPr id="51204" name="Rectangle 5">
            <a:extLst>
              <a:ext uri="{FF2B5EF4-FFF2-40B4-BE49-F238E27FC236}">
                <a16:creationId xmlns:a16="http://schemas.microsoft.com/office/drawing/2014/main" id="{C0BF168E-B468-775F-3CDF-5D2449C0E0F2}"/>
              </a:ext>
            </a:extLst>
          </p:cNvPr>
          <p:cNvSpPr>
            <a:spLocks noChangeArrowheads="1"/>
          </p:cNvSpPr>
          <p:nvPr/>
        </p:nvSpPr>
        <p:spPr bwMode="auto">
          <a:xfrm>
            <a:off x="0" y="30622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aphicFrame>
        <p:nvGraphicFramePr>
          <p:cNvPr id="176132" name="Object 4">
            <a:extLst>
              <a:ext uri="{FF2B5EF4-FFF2-40B4-BE49-F238E27FC236}">
                <a16:creationId xmlns:a16="http://schemas.microsoft.com/office/drawing/2014/main" id="{715727EF-CA58-5AC4-0D04-7F17506D03B5}"/>
              </a:ext>
            </a:extLst>
          </p:cNvPr>
          <p:cNvGraphicFramePr>
            <a:graphicFrameLocks noChangeAspect="1"/>
          </p:cNvGraphicFramePr>
          <p:nvPr/>
        </p:nvGraphicFramePr>
        <p:xfrm>
          <a:off x="2457450" y="2497138"/>
          <a:ext cx="5400675" cy="1289050"/>
        </p:xfrm>
        <a:graphic>
          <a:graphicData uri="http://schemas.openxmlformats.org/presentationml/2006/ole">
            <mc:AlternateContent xmlns:mc="http://schemas.openxmlformats.org/markup-compatibility/2006">
              <mc:Choice xmlns:v="urn:schemas-microsoft-com:vml" Requires="v">
                <p:oleObj name="公式" r:id="rId2" imgW="3073400" imgH="736600" progId="Equation.3">
                  <p:embed/>
                </p:oleObj>
              </mc:Choice>
              <mc:Fallback>
                <p:oleObj name="公式" r:id="rId2" imgW="3073400" imgH="7366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7450" y="2497138"/>
                        <a:ext cx="5400675" cy="1289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矩形 7">
            <a:extLst>
              <a:ext uri="{FF2B5EF4-FFF2-40B4-BE49-F238E27FC236}">
                <a16:creationId xmlns:a16="http://schemas.microsoft.com/office/drawing/2014/main" id="{5DD8A17E-7637-CAAC-7058-B987A89B9B8C}"/>
              </a:ext>
            </a:extLst>
          </p:cNvPr>
          <p:cNvSpPr/>
          <p:nvPr/>
        </p:nvSpPr>
        <p:spPr>
          <a:xfrm>
            <a:off x="1244600" y="3643313"/>
            <a:ext cx="1684338" cy="461962"/>
          </a:xfrm>
          <a:prstGeom prst="rect">
            <a:avLst/>
          </a:prstGeom>
        </p:spPr>
        <p:txBody>
          <a:bodyPr wrap="none">
            <a:spAutoFit/>
          </a:bodyPr>
          <a:lstStyle/>
          <a:p>
            <a:pPr>
              <a:defRPr/>
            </a:pPr>
            <a:r>
              <a:rPr kumimoji="0" lang="zh-CN" altLang="en-US" sz="2000" b="0" kern="0" dirty="0">
                <a:solidFill>
                  <a:srgbClr val="000000"/>
                </a:solidFill>
                <a:latin typeface="Arial" pitchFamily="34" charset="0"/>
                <a:ea typeface="微软雅黑" pitchFamily="34" charset="-122"/>
                <a:cs typeface="Arial" pitchFamily="34" charset="0"/>
              </a:rPr>
              <a:t>即      </a:t>
            </a:r>
            <a:r>
              <a:rPr kumimoji="0" lang="en-US" altLang="zh-CN" sz="2400" b="0" i="1" kern="0" dirty="0">
                <a:solidFill>
                  <a:srgbClr val="000000"/>
                </a:solidFill>
                <a:latin typeface="Arial" pitchFamily="34" charset="0"/>
                <a:ea typeface="微软雅黑" pitchFamily="34" charset="-122"/>
                <a:cs typeface="Arial" pitchFamily="34" charset="0"/>
              </a:rPr>
              <a:t>d </a:t>
            </a:r>
            <a:r>
              <a:rPr kumimoji="0" lang="zh-CN" altLang="en-US" sz="2400" b="0" kern="0" dirty="0">
                <a:solidFill>
                  <a:srgbClr val="000000"/>
                </a:solidFill>
                <a:latin typeface="Arial" pitchFamily="34" charset="0"/>
                <a:ea typeface="微软雅黑" pitchFamily="34" charset="-122"/>
                <a:cs typeface="Arial" pitchFamily="34" charset="0"/>
              </a:rPr>
              <a:t>＝ </a:t>
            </a:r>
            <a:r>
              <a:rPr kumimoji="0" lang="en-US" altLang="zh-CN" sz="2400" b="0" kern="0" dirty="0">
                <a:solidFill>
                  <a:srgbClr val="000000"/>
                </a:solidFill>
                <a:latin typeface="Arial" pitchFamily="34" charset="0"/>
                <a:ea typeface="微软雅黑" pitchFamily="34" charset="-122"/>
                <a:cs typeface="Arial" pitchFamily="34" charset="0"/>
              </a:rPr>
              <a:t>2</a:t>
            </a:r>
            <a:endParaRPr lang="zh-CN" altLang="en-US" sz="2400" dirty="0"/>
          </a:p>
        </p:txBody>
      </p:sp>
      <p:sp>
        <p:nvSpPr>
          <p:cNvPr id="9" name="矩形 8">
            <a:extLst>
              <a:ext uri="{FF2B5EF4-FFF2-40B4-BE49-F238E27FC236}">
                <a16:creationId xmlns:a16="http://schemas.microsoft.com/office/drawing/2014/main" id="{4E020D87-199C-D58A-AED5-96F09DAB0CE7}"/>
              </a:ext>
            </a:extLst>
          </p:cNvPr>
          <p:cNvSpPr/>
          <p:nvPr/>
        </p:nvSpPr>
        <p:spPr>
          <a:xfrm>
            <a:off x="874713" y="4214813"/>
            <a:ext cx="7626350" cy="1733550"/>
          </a:xfrm>
          <a:prstGeom prst="rect">
            <a:avLst/>
          </a:prstGeom>
        </p:spPr>
        <p:txBody>
          <a:bodyPr>
            <a:spAutoFit/>
          </a:bodyPr>
          <a:lstStyle/>
          <a:p>
            <a:pPr marL="342900" indent="-342900">
              <a:lnSpc>
                <a:spcPts val="3200"/>
              </a:lnSpc>
              <a:spcBef>
                <a:spcPct val="20000"/>
              </a:spcBef>
              <a:buClr>
                <a:srgbClr val="3333CC"/>
              </a:buClr>
              <a:buSzPct val="60000"/>
              <a:buFont typeface="Wingdings" pitchFamily="2" charset="2"/>
              <a:buChar char="u"/>
              <a:defRPr/>
            </a:pPr>
            <a:r>
              <a:rPr kumimoji="0" lang="zh-CN" altLang="en-US" sz="2000" b="0" kern="0" dirty="0">
                <a:solidFill>
                  <a:srgbClr val="000000"/>
                </a:solidFill>
                <a:latin typeface="Arial" pitchFamily="34" charset="0"/>
                <a:ea typeface="微软雅黑" pitchFamily="34" charset="-122"/>
                <a:cs typeface="Arial" pitchFamily="34" charset="0"/>
              </a:rPr>
              <a:t>比较上面两条路径可见，路径</a:t>
            </a:r>
            <a:r>
              <a:rPr kumimoji="0" lang="en-US" altLang="zh-CN" sz="2000" b="0" i="1" kern="0" dirty="0">
                <a:solidFill>
                  <a:srgbClr val="000000"/>
                </a:solidFill>
                <a:latin typeface="Arial" pitchFamily="34" charset="0"/>
                <a:ea typeface="微软雅黑" pitchFamily="34" charset="-122"/>
                <a:cs typeface="Arial" pitchFamily="34" charset="0"/>
              </a:rPr>
              <a:t>U</a:t>
            </a:r>
            <a:r>
              <a:rPr kumimoji="0" lang="en-US" altLang="zh-CN" sz="2000" b="0" kern="0" baseline="-25000" dirty="0">
                <a:solidFill>
                  <a:srgbClr val="000000"/>
                </a:solidFill>
                <a:latin typeface="Arial" pitchFamily="34" charset="0"/>
                <a:ea typeface="微软雅黑" pitchFamily="34" charset="-122"/>
                <a:cs typeface="Arial" pitchFamily="34" charset="0"/>
              </a:rPr>
              <a:t>1</a:t>
            </a:r>
            <a:r>
              <a:rPr kumimoji="0" lang="en-US" altLang="zh-CN" sz="2000" b="0" i="1" kern="0" dirty="0">
                <a:solidFill>
                  <a:srgbClr val="000000"/>
                </a:solidFill>
                <a:latin typeface="Arial" pitchFamily="34" charset="0"/>
                <a:ea typeface="微软雅黑" pitchFamily="34" charset="-122"/>
                <a:cs typeface="Arial" pitchFamily="34" charset="0"/>
              </a:rPr>
              <a:t>WU</a:t>
            </a:r>
            <a:r>
              <a:rPr kumimoji="0" lang="en-US" altLang="zh-CN" sz="2000" b="0" kern="0" baseline="-25000" dirty="0">
                <a:solidFill>
                  <a:srgbClr val="000000"/>
                </a:solidFill>
                <a:latin typeface="Arial" pitchFamily="34" charset="0"/>
                <a:ea typeface="微软雅黑" pitchFamily="34" charset="-122"/>
                <a:cs typeface="Arial" pitchFamily="34" charset="0"/>
              </a:rPr>
              <a:t>3</a:t>
            </a:r>
            <a:r>
              <a:rPr kumimoji="0" lang="zh-CN" altLang="en-US" sz="2000" b="0" kern="0" dirty="0">
                <a:solidFill>
                  <a:srgbClr val="000000"/>
                </a:solidFill>
                <a:latin typeface="Arial" pitchFamily="34" charset="0"/>
                <a:ea typeface="微软雅黑" pitchFamily="34" charset="-122"/>
                <a:cs typeface="Arial" pitchFamily="34" charset="0"/>
              </a:rPr>
              <a:t>和路径</a:t>
            </a:r>
            <a:r>
              <a:rPr kumimoji="0" lang="en-US" altLang="zh-CN" sz="2000" b="0" i="1" kern="0" dirty="0">
                <a:solidFill>
                  <a:srgbClr val="000000"/>
                </a:solidFill>
                <a:latin typeface="Arial" pitchFamily="34" charset="0"/>
                <a:ea typeface="微软雅黑" pitchFamily="34" charset="-122"/>
                <a:cs typeface="Arial" pitchFamily="34" charset="0"/>
              </a:rPr>
              <a:t>V</a:t>
            </a:r>
            <a:r>
              <a:rPr kumimoji="0" lang="zh-CN" altLang="en-US" sz="2000" b="0" kern="0" dirty="0">
                <a:solidFill>
                  <a:srgbClr val="000000"/>
                </a:solidFill>
                <a:latin typeface="Arial" pitchFamily="34" charset="0"/>
                <a:ea typeface="微软雅黑" pitchFamily="34" charset="-122"/>
                <a:cs typeface="Arial" pitchFamily="34" charset="0"/>
              </a:rPr>
              <a:t>相比，前者和路径</a:t>
            </a:r>
            <a:r>
              <a:rPr kumimoji="0" lang="en-US" altLang="zh-CN" sz="2000" b="0" kern="0" dirty="0">
                <a:solidFill>
                  <a:srgbClr val="000000"/>
                </a:solidFill>
                <a:latin typeface="Arial" pitchFamily="34" charset="0"/>
                <a:ea typeface="微软雅黑" pitchFamily="34" charset="-122"/>
                <a:cs typeface="Arial" pitchFamily="34" charset="0"/>
              </a:rPr>
              <a:t>U</a:t>
            </a:r>
            <a:r>
              <a:rPr kumimoji="0" lang="zh-CN" altLang="en-US" sz="2000" b="0" kern="0" dirty="0">
                <a:solidFill>
                  <a:srgbClr val="000000"/>
                </a:solidFill>
                <a:latin typeface="Arial" pitchFamily="34" charset="0"/>
                <a:ea typeface="微软雅黑" pitchFamily="34" charset="-122"/>
                <a:cs typeface="Arial" pitchFamily="34" charset="0"/>
              </a:rPr>
              <a:t>的距离更小。并且，可以逐个验证，这是和路径</a:t>
            </a:r>
            <a:r>
              <a:rPr kumimoji="0" lang="en-US" altLang="zh-CN" sz="2000" b="0" kern="0" dirty="0">
                <a:solidFill>
                  <a:srgbClr val="000000"/>
                </a:solidFill>
                <a:latin typeface="Arial" pitchFamily="34" charset="0"/>
                <a:ea typeface="微软雅黑" pitchFamily="34" charset="-122"/>
                <a:cs typeface="Arial" pitchFamily="34" charset="0"/>
              </a:rPr>
              <a:t>U</a:t>
            </a:r>
            <a:r>
              <a:rPr kumimoji="0" lang="zh-CN" altLang="en-US" sz="2000" b="0" kern="0" dirty="0">
                <a:solidFill>
                  <a:srgbClr val="000000"/>
                </a:solidFill>
                <a:latin typeface="Arial" pitchFamily="34" charset="0"/>
                <a:ea typeface="微软雅黑" pitchFamily="34" charset="-122"/>
                <a:cs typeface="Arial" pitchFamily="34" charset="0"/>
              </a:rPr>
              <a:t>距离最小的许用序列的路径。因此，按照上述定义，上式中的距离就是这种编码的自由欧氏距离。故可以将其写为</a:t>
            </a:r>
          </a:p>
        </p:txBody>
      </p:sp>
      <p:sp>
        <p:nvSpPr>
          <p:cNvPr id="10" name="矩形 9">
            <a:extLst>
              <a:ext uri="{FF2B5EF4-FFF2-40B4-BE49-F238E27FC236}">
                <a16:creationId xmlns:a16="http://schemas.microsoft.com/office/drawing/2014/main" id="{478A5332-F623-C4F4-6CA8-DBE1A990E17E}"/>
              </a:ext>
            </a:extLst>
          </p:cNvPr>
          <p:cNvSpPr/>
          <p:nvPr/>
        </p:nvSpPr>
        <p:spPr>
          <a:xfrm>
            <a:off x="4000500" y="5916613"/>
            <a:ext cx="3143250" cy="584200"/>
          </a:xfrm>
          <a:prstGeom prst="rect">
            <a:avLst/>
          </a:prstGeom>
        </p:spPr>
        <p:txBody>
          <a:bodyPr>
            <a:spAutoFit/>
          </a:bodyPr>
          <a:lstStyle/>
          <a:p>
            <a:pPr>
              <a:defRPr/>
            </a:pPr>
            <a:r>
              <a:rPr kumimoji="0" lang="en-US" altLang="zh-CN" sz="2400" b="0" i="1" kern="0" dirty="0" err="1">
                <a:solidFill>
                  <a:srgbClr val="000000"/>
                </a:solidFill>
                <a:latin typeface="Tahoma"/>
                <a:ea typeface="宋体"/>
              </a:rPr>
              <a:t>d</a:t>
            </a:r>
            <a:r>
              <a:rPr kumimoji="0" lang="en-US" altLang="zh-CN" sz="2400" b="0" kern="0" baseline="-25000" dirty="0" err="1">
                <a:solidFill>
                  <a:srgbClr val="000000"/>
                </a:solidFill>
                <a:latin typeface="Tahoma"/>
                <a:ea typeface="宋体"/>
              </a:rPr>
              <a:t>Fed</a:t>
            </a:r>
            <a:r>
              <a:rPr kumimoji="0" lang="en-US" altLang="zh-CN" sz="2400" b="0" kern="0" dirty="0">
                <a:solidFill>
                  <a:srgbClr val="000000"/>
                </a:solidFill>
                <a:latin typeface="Tahoma"/>
                <a:ea typeface="宋体"/>
              </a:rPr>
              <a:t> = 2</a:t>
            </a:r>
            <a:r>
              <a:rPr kumimoji="0" lang="en-US" altLang="zh-CN" sz="3200" b="0" kern="0" dirty="0">
                <a:solidFill>
                  <a:srgbClr val="000000"/>
                </a:solidFill>
                <a:latin typeface="Tahoma"/>
                <a:ea typeface="宋体"/>
              </a:rPr>
              <a:t>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76131">
                                            <p:txEl>
                                              <p:pRg st="0" end="0"/>
                                            </p:txEl>
                                          </p:spTgt>
                                        </p:tgtEl>
                                        <p:attrNameLst>
                                          <p:attrName>style.visibility</p:attrName>
                                        </p:attrNameLst>
                                      </p:cBhvr>
                                      <p:to>
                                        <p:strVal val="visible"/>
                                      </p:to>
                                    </p:set>
                                    <p:animEffect transition="in" filter="wipe(up)">
                                      <p:cBhvr>
                                        <p:cTn id="7" dur="1000"/>
                                        <p:tgtEl>
                                          <p:spTgt spid="1761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76132"/>
                                        </p:tgtEl>
                                        <p:attrNameLst>
                                          <p:attrName>style.visibility</p:attrName>
                                        </p:attrNameLst>
                                      </p:cBhvr>
                                      <p:to>
                                        <p:strVal val="visible"/>
                                      </p:to>
                                    </p:set>
                                    <p:animEffect transition="in" filter="wipe(up)">
                                      <p:cBhvr>
                                        <p:cTn id="12" dur="1000"/>
                                        <p:tgtEl>
                                          <p:spTgt spid="176132"/>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up)">
                                      <p:cBhvr>
                                        <p:cTn id="16" dur="1000"/>
                                        <p:tgtEl>
                                          <p:spTgt spid="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up)">
                                      <p:cBhvr>
                                        <p:cTn id="21" dur="1000"/>
                                        <p:tgtEl>
                                          <p:spTgt spid="9"/>
                                        </p:tgtEl>
                                      </p:cBhvr>
                                    </p:animEffect>
                                  </p:childTnLst>
                                </p:cTn>
                              </p:par>
                            </p:childTnLst>
                          </p:cTn>
                        </p:par>
                        <p:par>
                          <p:cTn id="22" fill="hold" nodeType="afterGroup">
                            <p:stCondLst>
                              <p:cond delay="1000"/>
                            </p:stCondLst>
                            <p:childTnLst>
                              <p:par>
                                <p:cTn id="23" presetID="22" presetClass="entr" presetSubtype="1" fill="hold"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up)">
                                      <p:cBhvr>
                                        <p:cTn id="25"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1" grpId="0" build="p"/>
      <p:bldP spid="8" grpId="0"/>
      <p:bldP spid="9" grpId="0"/>
      <p:bldP spid="10" grpId="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Rectangle 3">
            <a:extLst>
              <a:ext uri="{FF2B5EF4-FFF2-40B4-BE49-F238E27FC236}">
                <a16:creationId xmlns:a16="http://schemas.microsoft.com/office/drawing/2014/main" id="{3C16C6A2-816D-07F8-2DAA-0E6A34CF1D87}"/>
              </a:ext>
            </a:extLst>
          </p:cNvPr>
          <p:cNvSpPr>
            <a:spLocks noGrp="1" noChangeArrowheads="1"/>
          </p:cNvSpPr>
          <p:nvPr>
            <p:ph type="body" idx="1"/>
          </p:nvPr>
        </p:nvSpPr>
        <p:spPr>
          <a:xfrm>
            <a:off x="857250" y="1143000"/>
            <a:ext cx="7643813" cy="1000125"/>
          </a:xfrm>
        </p:spPr>
        <p:txBody>
          <a:bodyPr/>
          <a:lstStyle/>
          <a:p>
            <a:pPr eaLnBrk="1" hangingPunct="1">
              <a:lnSpc>
                <a:spcPct val="150000"/>
              </a:lnSpc>
              <a:buFont typeface="Wingdings" panose="05000000000000000000" pitchFamily="2" charset="2"/>
              <a:buChar char="u"/>
            </a:pPr>
            <a:r>
              <a:rPr lang="zh-CN" altLang="en-US" sz="2000">
                <a:latin typeface="Arial" panose="020B0604020202020204" pitchFamily="34" charset="0"/>
                <a:ea typeface="微软雅黑" panose="020B0503020204020204" pitchFamily="34" charset="-122"/>
                <a:cs typeface="Arial" panose="020B0604020202020204" pitchFamily="34" charset="0"/>
              </a:rPr>
              <a:t>另一方面，未编码的</a:t>
            </a:r>
            <a:r>
              <a:rPr lang="en-US" altLang="zh-CN" sz="2000">
                <a:latin typeface="Arial" panose="020B0604020202020204" pitchFamily="34" charset="0"/>
                <a:ea typeface="微软雅黑" panose="020B0503020204020204" pitchFamily="34" charset="-122"/>
                <a:cs typeface="Arial" panose="020B0604020202020204" pitchFamily="34" charset="0"/>
              </a:rPr>
              <a:t>QPSK</a:t>
            </a:r>
            <a:r>
              <a:rPr lang="zh-CN" altLang="en-US" sz="2000">
                <a:latin typeface="Arial" panose="020B0604020202020204" pitchFamily="34" charset="0"/>
                <a:ea typeface="微软雅黑" panose="020B0503020204020204" pitchFamily="34" charset="-122"/>
                <a:cs typeface="Arial" panose="020B0604020202020204" pitchFamily="34" charset="0"/>
              </a:rPr>
              <a:t>信号的相继码元（波形）没有约束。若将其自由欧氏距离作为参考距离</a:t>
            </a:r>
            <a:r>
              <a:rPr lang="en-US" altLang="zh-CN" sz="2000" i="1">
                <a:latin typeface="Arial" panose="020B0604020202020204" pitchFamily="34" charset="0"/>
                <a:ea typeface="微软雅黑" panose="020B0503020204020204" pitchFamily="34" charset="-122"/>
                <a:cs typeface="Arial" panose="020B0604020202020204" pitchFamily="34" charset="0"/>
              </a:rPr>
              <a:t>d</a:t>
            </a:r>
            <a:r>
              <a:rPr lang="en-US" altLang="zh-CN" sz="2000" baseline="-25000">
                <a:latin typeface="Arial" panose="020B0604020202020204" pitchFamily="34" charset="0"/>
                <a:ea typeface="微软雅黑" panose="020B0503020204020204" pitchFamily="34" charset="-122"/>
                <a:cs typeface="Arial" panose="020B0604020202020204" pitchFamily="34" charset="0"/>
              </a:rPr>
              <a:t>ref</a:t>
            </a:r>
            <a:r>
              <a:rPr lang="zh-CN" altLang="en-US" sz="2000">
                <a:latin typeface="Arial" panose="020B0604020202020204" pitchFamily="34" charset="0"/>
                <a:ea typeface="微软雅黑" panose="020B0503020204020204" pitchFamily="34" charset="-122"/>
                <a:cs typeface="Arial" panose="020B0604020202020204" pitchFamily="34" charset="0"/>
              </a:rPr>
              <a:t>，则由下图可知</a:t>
            </a:r>
            <a:r>
              <a:rPr lang="en-US" altLang="zh-CN" sz="2000">
                <a:latin typeface="Arial" panose="020B0604020202020204" pitchFamily="34" charset="0"/>
                <a:ea typeface="微软雅黑" panose="020B0503020204020204" pitchFamily="34" charset="-122"/>
                <a:cs typeface="Arial" panose="020B0604020202020204" pitchFamily="34" charset="0"/>
              </a:rPr>
              <a:t>:</a:t>
            </a:r>
            <a:endParaRPr lang="zh-CN" altLang="en-US" sz="2000">
              <a:latin typeface="Arial" panose="020B0604020202020204" pitchFamily="34" charset="0"/>
              <a:ea typeface="微软雅黑" panose="020B0503020204020204" pitchFamily="34" charset="-122"/>
              <a:cs typeface="Arial" panose="020B0604020202020204" pitchFamily="34" charset="0"/>
            </a:endParaRPr>
          </a:p>
        </p:txBody>
      </p:sp>
      <p:sp>
        <p:nvSpPr>
          <p:cNvPr id="52229" name="Rectangle 38">
            <a:extLst>
              <a:ext uri="{FF2B5EF4-FFF2-40B4-BE49-F238E27FC236}">
                <a16:creationId xmlns:a16="http://schemas.microsoft.com/office/drawing/2014/main" id="{A3525E2A-9E55-3DA1-3B0F-10EBCB1368A2}"/>
              </a:ext>
            </a:extLst>
          </p:cNvPr>
          <p:cNvSpPr>
            <a:spLocks noChangeArrowheads="1"/>
          </p:cNvSpPr>
          <p:nvPr/>
        </p:nvSpPr>
        <p:spPr bwMode="auto">
          <a:xfrm>
            <a:off x="0" y="3295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aphicFrame>
        <p:nvGraphicFramePr>
          <p:cNvPr id="178213" name="Object 37">
            <a:extLst>
              <a:ext uri="{FF2B5EF4-FFF2-40B4-BE49-F238E27FC236}">
                <a16:creationId xmlns:a16="http://schemas.microsoft.com/office/drawing/2014/main" id="{05EE94F9-049B-CC51-AF22-DBB44147F667}"/>
              </a:ext>
            </a:extLst>
          </p:cNvPr>
          <p:cNvGraphicFramePr>
            <a:graphicFrameLocks noChangeAspect="1"/>
          </p:cNvGraphicFramePr>
          <p:nvPr/>
        </p:nvGraphicFramePr>
        <p:xfrm>
          <a:off x="3286125" y="2540000"/>
          <a:ext cx="2357438" cy="603250"/>
        </p:xfrm>
        <a:graphic>
          <a:graphicData uri="http://schemas.openxmlformats.org/presentationml/2006/ole">
            <mc:AlternateContent xmlns:mc="http://schemas.openxmlformats.org/markup-compatibility/2006">
              <mc:Choice xmlns:v="urn:schemas-microsoft-com:vml" Requires="v">
                <p:oleObj name="公式" r:id="rId2" imgW="939392" imgH="266584" progId="Equation.3">
                  <p:embed/>
                </p:oleObj>
              </mc:Choice>
              <mc:Fallback>
                <p:oleObj name="公式" r:id="rId2" imgW="939392" imgH="266584" progId="Equation.3">
                  <p:embed/>
                  <p:pic>
                    <p:nvPicPr>
                      <p:cNvPr id="0" name="Object 3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6125" y="2540000"/>
                        <a:ext cx="2357438"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230" name="Rectangle 40">
            <a:extLst>
              <a:ext uri="{FF2B5EF4-FFF2-40B4-BE49-F238E27FC236}">
                <a16:creationId xmlns:a16="http://schemas.microsoft.com/office/drawing/2014/main" id="{67F6A6B7-5C0B-CA13-F723-84352B497330}"/>
              </a:ext>
            </a:extLst>
          </p:cNvPr>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8800" b="1">
                <a:solidFill>
                  <a:srgbClr val="D0CDCA"/>
                </a:solidFill>
                <a:latin typeface="楷体_GB2312" pitchFamily="49" charset="-122"/>
                <a:ea typeface="楷体_GB2312" pitchFamily="49" charset="-122"/>
              </a:defRPr>
            </a:lvl1pPr>
            <a:lvl2pPr marL="742950" indent="-285750" eaLnBrk="0" hangingPunct="0">
              <a:defRPr kumimoji="1" sz="8800" b="1">
                <a:solidFill>
                  <a:srgbClr val="D0CDCA"/>
                </a:solidFill>
                <a:latin typeface="楷体_GB2312" pitchFamily="49" charset="-122"/>
                <a:ea typeface="楷体_GB2312" pitchFamily="49" charset="-122"/>
              </a:defRPr>
            </a:lvl2pPr>
            <a:lvl3pPr marL="1143000" indent="-228600" eaLnBrk="0" hangingPunct="0">
              <a:defRPr kumimoji="1" sz="8800" b="1">
                <a:solidFill>
                  <a:srgbClr val="D0CDCA"/>
                </a:solidFill>
                <a:latin typeface="楷体_GB2312" pitchFamily="49" charset="-122"/>
                <a:ea typeface="楷体_GB2312" pitchFamily="49" charset="-122"/>
              </a:defRPr>
            </a:lvl3pPr>
            <a:lvl4pPr marL="1600200" indent="-228600" eaLnBrk="0" hangingPunct="0">
              <a:defRPr kumimoji="1" sz="8800" b="1">
                <a:solidFill>
                  <a:srgbClr val="D0CDCA"/>
                </a:solidFill>
                <a:latin typeface="楷体_GB2312" pitchFamily="49" charset="-122"/>
                <a:ea typeface="楷体_GB2312" pitchFamily="49" charset="-122"/>
              </a:defRPr>
            </a:lvl4pPr>
            <a:lvl5pPr marL="2057400" indent="-228600" eaLnBrk="0" hangingPunct="0">
              <a:defRPr kumimoji="1" sz="8800" b="1">
                <a:solidFill>
                  <a:srgbClr val="D0CDCA"/>
                </a:solidFill>
                <a:latin typeface="楷体_GB2312" pitchFamily="49" charset="-122"/>
                <a:ea typeface="楷体_GB2312" pitchFamily="49" charset="-122"/>
              </a:defRPr>
            </a:lvl5pPr>
            <a:lvl6pPr marL="25146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6pPr>
            <a:lvl7pPr marL="29718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7pPr>
            <a:lvl8pPr marL="34290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8pPr>
            <a:lvl9pPr marL="3886200" indent="-228600" eaLnBrk="0" fontAlgn="base" hangingPunct="0">
              <a:spcBef>
                <a:spcPct val="0"/>
              </a:spcBef>
              <a:spcAft>
                <a:spcPct val="0"/>
              </a:spcAft>
              <a:defRPr kumimoji="1" sz="8800" b="1">
                <a:solidFill>
                  <a:srgbClr val="D0CDCA"/>
                </a:solidFill>
                <a:latin typeface="楷体_GB2312" pitchFamily="49" charset="-122"/>
                <a:ea typeface="楷体_GB2312" pitchFamily="49" charset="-122"/>
              </a:defRPr>
            </a:lvl9pPr>
          </a:lstStyle>
          <a:p>
            <a:pPr eaLnBrk="1" hangingPunct="1"/>
            <a:endParaRPr lang="zh-CN" altLang="en-US"/>
          </a:p>
        </p:txBody>
      </p:sp>
      <p:graphicFrame>
        <p:nvGraphicFramePr>
          <p:cNvPr id="178215" name="Object 39">
            <a:extLst>
              <a:ext uri="{FF2B5EF4-FFF2-40B4-BE49-F238E27FC236}">
                <a16:creationId xmlns:a16="http://schemas.microsoft.com/office/drawing/2014/main" id="{5C7B4C76-B6DD-1C80-F7A5-9E85171319CD}"/>
              </a:ext>
            </a:extLst>
          </p:cNvPr>
          <p:cNvGraphicFramePr>
            <a:graphicFrameLocks noChangeAspect="1"/>
          </p:cNvGraphicFramePr>
          <p:nvPr/>
        </p:nvGraphicFramePr>
        <p:xfrm>
          <a:off x="2000250" y="5000625"/>
          <a:ext cx="5667375" cy="500063"/>
        </p:xfrm>
        <a:graphic>
          <a:graphicData uri="http://schemas.openxmlformats.org/presentationml/2006/ole">
            <mc:AlternateContent xmlns:mc="http://schemas.openxmlformats.org/markup-compatibility/2006">
              <mc:Choice xmlns:v="urn:schemas-microsoft-com:vml" Requires="v">
                <p:oleObj name="公式" r:id="rId4" imgW="2692080" imgH="241200" progId="Equation.3">
                  <p:embed/>
                </p:oleObj>
              </mc:Choice>
              <mc:Fallback>
                <p:oleObj name="公式" r:id="rId4" imgW="2692080" imgH="241200" progId="Equation.3">
                  <p:embed/>
                  <p:pic>
                    <p:nvPicPr>
                      <p:cNvPr id="0" name="Object 3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00250" y="5000625"/>
                        <a:ext cx="5667375" cy="500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 name="矩形 71">
            <a:extLst>
              <a:ext uri="{FF2B5EF4-FFF2-40B4-BE49-F238E27FC236}">
                <a16:creationId xmlns:a16="http://schemas.microsoft.com/office/drawing/2014/main" id="{5D567269-F356-BE76-1202-9A0345BA88E3}"/>
              </a:ext>
            </a:extLst>
          </p:cNvPr>
          <p:cNvSpPr/>
          <p:nvPr/>
        </p:nvSpPr>
        <p:spPr>
          <a:xfrm>
            <a:off x="901700" y="3571875"/>
            <a:ext cx="7170738" cy="1016000"/>
          </a:xfrm>
          <a:prstGeom prst="rect">
            <a:avLst/>
          </a:prstGeom>
        </p:spPr>
        <p:txBody>
          <a:bodyPr>
            <a:spAutoFit/>
          </a:bodyPr>
          <a:lstStyle/>
          <a:p>
            <a:pPr marL="342900" indent="-342900">
              <a:lnSpc>
                <a:spcPct val="150000"/>
              </a:lnSpc>
              <a:spcBef>
                <a:spcPct val="20000"/>
              </a:spcBef>
              <a:buClr>
                <a:srgbClr val="3333CC"/>
              </a:buClr>
              <a:buSzPct val="60000"/>
              <a:buFont typeface="Wingdings" pitchFamily="2" charset="2"/>
              <a:buChar char="u"/>
              <a:defRPr/>
            </a:pPr>
            <a:r>
              <a:rPr kumimoji="0" lang="zh-CN" altLang="en-US" sz="2000" b="0" kern="0" dirty="0">
                <a:solidFill>
                  <a:srgbClr val="000000"/>
                </a:solidFill>
                <a:latin typeface="Arial" pitchFamily="34" charset="0"/>
                <a:ea typeface="微软雅黑" pitchFamily="34" charset="-122"/>
                <a:cs typeface="Arial" pitchFamily="34" charset="0"/>
              </a:rPr>
              <a:t>所以，可以证明，和未编码</a:t>
            </a:r>
            <a:r>
              <a:rPr kumimoji="0" lang="en-US" altLang="zh-CN" sz="2000" b="0" kern="0" dirty="0">
                <a:solidFill>
                  <a:srgbClr val="000000"/>
                </a:solidFill>
                <a:latin typeface="Arial" pitchFamily="34" charset="0"/>
                <a:ea typeface="微软雅黑" pitchFamily="34" charset="-122"/>
                <a:cs typeface="Arial" pitchFamily="34" charset="0"/>
              </a:rPr>
              <a:t>QPSK</a:t>
            </a:r>
            <a:r>
              <a:rPr kumimoji="0" lang="zh-CN" altLang="en-US" sz="2000" b="0" kern="0" dirty="0">
                <a:solidFill>
                  <a:srgbClr val="000000"/>
                </a:solidFill>
                <a:latin typeface="Arial" pitchFamily="34" charset="0"/>
                <a:ea typeface="微软雅黑" pitchFamily="34" charset="-122"/>
                <a:cs typeface="Arial" pitchFamily="34" charset="0"/>
              </a:rPr>
              <a:t>系统相比，</a:t>
            </a:r>
            <a:r>
              <a:rPr kumimoji="0" lang="en-US" altLang="zh-CN" sz="2000" b="0" kern="0" dirty="0">
                <a:solidFill>
                  <a:srgbClr val="000000"/>
                </a:solidFill>
                <a:latin typeface="Arial" pitchFamily="34" charset="0"/>
                <a:ea typeface="微软雅黑" pitchFamily="34" charset="-122"/>
                <a:cs typeface="Arial" pitchFamily="34" charset="0"/>
              </a:rPr>
              <a:t>8PSK</a:t>
            </a:r>
            <a:r>
              <a:rPr kumimoji="0" lang="zh-CN" altLang="en-US" sz="2000" b="0" kern="0" dirty="0">
                <a:solidFill>
                  <a:srgbClr val="000000"/>
                </a:solidFill>
                <a:latin typeface="Arial" pitchFamily="34" charset="0"/>
                <a:ea typeface="微软雅黑" pitchFamily="34" charset="-122"/>
                <a:cs typeface="Arial" pitchFamily="34" charset="0"/>
              </a:rPr>
              <a:t>的</a:t>
            </a:r>
            <a:r>
              <a:rPr kumimoji="0" lang="en-US" altLang="zh-CN" sz="2000" b="0" kern="0" dirty="0">
                <a:solidFill>
                  <a:srgbClr val="000000"/>
                </a:solidFill>
                <a:latin typeface="Arial" pitchFamily="34" charset="0"/>
                <a:ea typeface="微软雅黑" pitchFamily="34" charset="-122"/>
                <a:cs typeface="Arial" pitchFamily="34" charset="0"/>
              </a:rPr>
              <a:t>TCM</a:t>
            </a:r>
            <a:r>
              <a:rPr kumimoji="0" lang="zh-CN" altLang="en-US" sz="2000" b="0" kern="0" dirty="0">
                <a:solidFill>
                  <a:srgbClr val="000000"/>
                </a:solidFill>
                <a:latin typeface="Arial" pitchFamily="34" charset="0"/>
                <a:ea typeface="微软雅黑" pitchFamily="34" charset="-122"/>
                <a:cs typeface="Arial" pitchFamily="34" charset="0"/>
              </a:rPr>
              <a:t>系统可以获得的渐近编码增益等于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78179">
                                            <p:txEl>
                                              <p:pRg st="0" end="0"/>
                                            </p:txEl>
                                          </p:spTgt>
                                        </p:tgtEl>
                                        <p:attrNameLst>
                                          <p:attrName>style.visibility</p:attrName>
                                        </p:attrNameLst>
                                      </p:cBhvr>
                                      <p:to>
                                        <p:strVal val="visible"/>
                                      </p:to>
                                    </p:set>
                                    <p:animEffect transition="in" filter="wipe(up)">
                                      <p:cBhvr>
                                        <p:cTn id="7" dur="1000"/>
                                        <p:tgtEl>
                                          <p:spTgt spid="1781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78213"/>
                                        </p:tgtEl>
                                        <p:attrNameLst>
                                          <p:attrName>style.visibility</p:attrName>
                                        </p:attrNameLst>
                                      </p:cBhvr>
                                      <p:to>
                                        <p:strVal val="visible"/>
                                      </p:to>
                                    </p:set>
                                    <p:animEffect transition="in" filter="wipe(up)">
                                      <p:cBhvr>
                                        <p:cTn id="12" dur="1000"/>
                                        <p:tgtEl>
                                          <p:spTgt spid="1782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72"/>
                                        </p:tgtEl>
                                        <p:attrNameLst>
                                          <p:attrName>style.visibility</p:attrName>
                                        </p:attrNameLst>
                                      </p:cBhvr>
                                      <p:to>
                                        <p:strVal val="visible"/>
                                      </p:to>
                                    </p:set>
                                    <p:animEffect transition="in" filter="wipe(up)">
                                      <p:cBhvr>
                                        <p:cTn id="17" dur="1000"/>
                                        <p:tgtEl>
                                          <p:spTgt spid="7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78215"/>
                                        </p:tgtEl>
                                        <p:attrNameLst>
                                          <p:attrName>style.visibility</p:attrName>
                                        </p:attrNameLst>
                                      </p:cBhvr>
                                      <p:to>
                                        <p:strVal val="visible"/>
                                      </p:to>
                                    </p:set>
                                    <p:animEffect transition="in" filter="wipe(up)">
                                      <p:cBhvr>
                                        <p:cTn id="22" dur="1000"/>
                                        <p:tgtEl>
                                          <p:spTgt spid="178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9" grpId="0" build="p"/>
      <p:bldP spid="72" grpId="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3" name="Rectangle 3">
            <a:extLst>
              <a:ext uri="{FF2B5EF4-FFF2-40B4-BE49-F238E27FC236}">
                <a16:creationId xmlns:a16="http://schemas.microsoft.com/office/drawing/2014/main" id="{B20EA282-41D0-1403-9BEC-7F0F4DF8FAE9}"/>
              </a:ext>
            </a:extLst>
          </p:cNvPr>
          <p:cNvSpPr>
            <a:spLocks noGrp="1" noChangeArrowheads="1"/>
          </p:cNvSpPr>
          <p:nvPr>
            <p:ph type="body" idx="1"/>
          </p:nvPr>
        </p:nvSpPr>
        <p:spPr>
          <a:xfrm>
            <a:off x="857250" y="1000125"/>
            <a:ext cx="7715250" cy="1000125"/>
          </a:xfrm>
        </p:spPr>
        <p:txBody>
          <a:bodyPr/>
          <a:lstStyle/>
          <a:p>
            <a:pPr eaLnBrk="1" hangingPunct="1">
              <a:lnSpc>
                <a:spcPct val="150000"/>
              </a:lnSpc>
              <a:buFont typeface="Wingdings" panose="05000000000000000000" pitchFamily="2" charset="2"/>
              <a:buChar char="u"/>
            </a:pPr>
            <a:r>
              <a:rPr lang="zh-CN" altLang="en-US" sz="2000">
                <a:latin typeface="Arial" panose="020B0604020202020204" pitchFamily="34" charset="0"/>
                <a:ea typeface="微软雅黑" panose="020B0503020204020204" pitchFamily="34" charset="-122"/>
                <a:cs typeface="Arial" panose="020B0604020202020204" pitchFamily="34" charset="0"/>
              </a:rPr>
              <a:t>在下表中列出了通过大量仿真计算得出的部分</a:t>
            </a:r>
            <a:r>
              <a:rPr lang="en-US" altLang="zh-CN" sz="2000">
                <a:latin typeface="Arial" panose="020B0604020202020204" pitchFamily="34" charset="0"/>
                <a:ea typeface="微软雅黑" panose="020B0503020204020204" pitchFamily="34" charset="-122"/>
                <a:cs typeface="Arial" panose="020B0604020202020204" pitchFamily="34" charset="0"/>
              </a:rPr>
              <a:t>8PSK/TCM</a:t>
            </a:r>
            <a:r>
              <a:rPr lang="zh-CN" altLang="en-US" sz="2000">
                <a:latin typeface="Arial" panose="020B0604020202020204" pitchFamily="34" charset="0"/>
                <a:ea typeface="微软雅黑" panose="020B0503020204020204" pitchFamily="34" charset="-122"/>
                <a:cs typeface="Arial" panose="020B0604020202020204" pitchFamily="34" charset="0"/>
              </a:rPr>
              <a:t>系统的</a:t>
            </a:r>
            <a:r>
              <a:rPr lang="en-US" altLang="zh-CN" sz="2000">
                <a:latin typeface="Arial" panose="020B0604020202020204" pitchFamily="34" charset="0"/>
                <a:ea typeface="微软雅黑" panose="020B0503020204020204" pitchFamily="34" charset="-122"/>
                <a:cs typeface="Arial" panose="020B0604020202020204" pitchFamily="34" charset="0"/>
              </a:rPr>
              <a:t>(</a:t>
            </a:r>
            <a:r>
              <a:rPr lang="zh-CN" altLang="en-US" sz="2000">
                <a:latin typeface="Arial" panose="020B0604020202020204" pitchFamily="34" charset="0"/>
                <a:ea typeface="微软雅黑" panose="020B0503020204020204" pitchFamily="34" charset="-122"/>
                <a:cs typeface="Arial" panose="020B0604020202020204" pitchFamily="34" charset="0"/>
              </a:rPr>
              <a:t>渐近</a:t>
            </a:r>
            <a:r>
              <a:rPr lang="en-US" altLang="zh-CN" sz="2000">
                <a:latin typeface="Arial" panose="020B0604020202020204" pitchFamily="34" charset="0"/>
                <a:ea typeface="微软雅黑" panose="020B0503020204020204" pitchFamily="34" charset="-122"/>
                <a:cs typeface="Arial" panose="020B0604020202020204" pitchFamily="34" charset="0"/>
              </a:rPr>
              <a:t>)</a:t>
            </a:r>
            <a:r>
              <a:rPr lang="zh-CN" altLang="en-US" sz="2000">
                <a:latin typeface="Arial" panose="020B0604020202020204" pitchFamily="34" charset="0"/>
                <a:ea typeface="微软雅黑" panose="020B0503020204020204" pitchFamily="34" charset="-122"/>
                <a:cs typeface="Arial" panose="020B0604020202020204" pitchFamily="34" charset="0"/>
              </a:rPr>
              <a:t>编码增益。</a:t>
            </a:r>
          </a:p>
        </p:txBody>
      </p:sp>
      <p:pic>
        <p:nvPicPr>
          <p:cNvPr id="170025" name="Picture 41">
            <a:extLst>
              <a:ext uri="{FF2B5EF4-FFF2-40B4-BE49-F238E27FC236}">
                <a16:creationId xmlns:a16="http://schemas.microsoft.com/office/drawing/2014/main" id="{84E68460-1FE6-7F43-1084-1F0DB4C113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9000" y="2222500"/>
            <a:ext cx="4913313" cy="413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79203">
                                            <p:txEl>
                                              <p:pRg st="0" end="0"/>
                                            </p:txEl>
                                          </p:spTgt>
                                        </p:tgtEl>
                                        <p:attrNameLst>
                                          <p:attrName>style.visibility</p:attrName>
                                        </p:attrNameLst>
                                      </p:cBhvr>
                                      <p:to>
                                        <p:strVal val="visible"/>
                                      </p:to>
                                    </p:set>
                                    <p:animEffect transition="in" filter="wipe(up)">
                                      <p:cBhvr>
                                        <p:cTn id="7" dur="1000"/>
                                        <p:tgtEl>
                                          <p:spTgt spid="179203">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170025"/>
                                        </p:tgtEl>
                                        <p:attrNameLst>
                                          <p:attrName>style.visibility</p:attrName>
                                        </p:attrNameLst>
                                      </p:cBhvr>
                                      <p:to>
                                        <p:strVal val="visible"/>
                                      </p:to>
                                    </p:set>
                                    <p:animEffect transition="in" filter="wipe(up)">
                                      <p:cBhvr>
                                        <p:cTn id="11" dur="1000"/>
                                        <p:tgtEl>
                                          <p:spTgt spid="1700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3" grpId="0" build="p"/>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986" name="内容占位符 32" descr="通信原理（第7版）学习辅导与考研指导.jpg">
            <a:extLst>
              <a:ext uri="{FF2B5EF4-FFF2-40B4-BE49-F238E27FC236}">
                <a16:creationId xmlns:a16="http://schemas.microsoft.com/office/drawing/2014/main" id="{5EF43249-D225-CD6C-2A4A-80AD1424D0C5}"/>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20634" t="5714" r="17461"/>
          <a:stretch>
            <a:fillRect/>
          </a:stretch>
        </p:blipFill>
        <p:spPr bwMode="auto">
          <a:xfrm>
            <a:off x="1071563" y="1292225"/>
            <a:ext cx="3035300" cy="513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91976B26-1AB8-975A-CCE8-4A65E9B2C74C}"/>
              </a:ext>
            </a:extLst>
          </p:cNvPr>
          <p:cNvSpPr/>
          <p:nvPr/>
        </p:nvSpPr>
        <p:spPr>
          <a:xfrm>
            <a:off x="2928938" y="317500"/>
            <a:ext cx="3143250" cy="630238"/>
          </a:xfrm>
          <a:prstGeom prst="rect">
            <a:avLst/>
          </a:prstGeom>
        </p:spPr>
        <p:txBody>
          <a:bodyPr>
            <a:spAutoFit/>
          </a:bodyPr>
          <a:lstStyle/>
          <a:p>
            <a:pPr marL="342900" indent="-342900">
              <a:lnSpc>
                <a:spcPct val="120000"/>
              </a:lnSpc>
              <a:spcBef>
                <a:spcPct val="20000"/>
              </a:spcBef>
              <a:buClr>
                <a:srgbClr val="3333CC"/>
              </a:buClr>
              <a:buSzPct val="55000"/>
              <a:tabLst>
                <a:tab pos="3595688" algn="l"/>
              </a:tabLst>
              <a:defRPr/>
            </a:pPr>
            <a:r>
              <a:rPr kumimoji="0" lang="zh-CN" altLang="en-US" sz="3200" b="0" kern="0" dirty="0">
                <a:solidFill>
                  <a:srgbClr val="003399"/>
                </a:solidFill>
                <a:latin typeface="微软雅黑" pitchFamily="34" charset="-122"/>
                <a:ea typeface="微软雅黑" pitchFamily="34" charset="-122"/>
              </a:rPr>
              <a:t>配套辅导教材：</a:t>
            </a:r>
            <a:r>
              <a:rPr kumimoji="0" lang="en-US" altLang="zh-CN" sz="3200" b="0" kern="0" dirty="0">
                <a:solidFill>
                  <a:srgbClr val="003399"/>
                </a:solidFill>
                <a:latin typeface="Arial" charset="0"/>
                <a:ea typeface="宋体"/>
                <a:cs typeface="Arial" charset="0"/>
              </a:rPr>
              <a:t>  </a:t>
            </a:r>
            <a:r>
              <a:rPr kumimoji="0" lang="en-US" altLang="zh-CN" sz="3200" b="0" kern="0" dirty="0">
                <a:solidFill>
                  <a:srgbClr val="003399"/>
                </a:solidFill>
                <a:latin typeface="Tahoma"/>
                <a:ea typeface="宋体"/>
              </a:rPr>
              <a:t>                                     </a:t>
            </a:r>
            <a:endParaRPr kumimoji="0" lang="en-US" altLang="zh-CN" sz="3200" b="0" kern="0" dirty="0">
              <a:solidFill>
                <a:srgbClr val="003399"/>
              </a:solidFill>
              <a:latin typeface="Tahoma"/>
              <a:ea typeface="宋体"/>
              <a:sym typeface="Wingdings" pitchFamily="2" charset="2"/>
            </a:endParaRPr>
          </a:p>
        </p:txBody>
      </p:sp>
      <p:sp>
        <p:nvSpPr>
          <p:cNvPr id="6" name="矩形 5">
            <a:extLst>
              <a:ext uri="{FF2B5EF4-FFF2-40B4-BE49-F238E27FC236}">
                <a16:creationId xmlns:a16="http://schemas.microsoft.com/office/drawing/2014/main" id="{9487E98D-5789-478E-2191-4C1D06160ACA}"/>
              </a:ext>
            </a:extLst>
          </p:cNvPr>
          <p:cNvSpPr/>
          <p:nvPr/>
        </p:nvSpPr>
        <p:spPr>
          <a:xfrm>
            <a:off x="5715000" y="4068763"/>
            <a:ext cx="1428750" cy="860425"/>
          </a:xfrm>
          <a:prstGeom prst="rect">
            <a:avLst/>
          </a:prstGeom>
        </p:spPr>
        <p:txBody>
          <a:bodyPr>
            <a:spAutoFit/>
          </a:bodyPr>
          <a:lstStyle/>
          <a:p>
            <a:pPr marL="342900" indent="-342900">
              <a:lnSpc>
                <a:spcPct val="120000"/>
              </a:lnSpc>
              <a:spcBef>
                <a:spcPct val="20000"/>
              </a:spcBef>
              <a:buClr>
                <a:srgbClr val="3333CC"/>
              </a:buClr>
              <a:buSzPct val="55000"/>
              <a:tabLst>
                <a:tab pos="3595688" algn="l"/>
              </a:tabLst>
              <a:defRPr/>
            </a:pPr>
            <a:r>
              <a:rPr kumimoji="0" lang="zh-CN" altLang="en-US" sz="2000" b="0" kern="0" dirty="0">
                <a:solidFill>
                  <a:srgbClr val="003399"/>
                </a:solidFill>
                <a:latin typeface="黑体" pitchFamily="2" charset="-122"/>
                <a:ea typeface="黑体" pitchFamily="2" charset="-122"/>
              </a:rPr>
              <a:t>曹丽娜  </a:t>
            </a:r>
            <a:endParaRPr kumimoji="0" lang="en-US" altLang="zh-CN" sz="2000" b="0" kern="0" dirty="0">
              <a:solidFill>
                <a:srgbClr val="003399"/>
              </a:solidFill>
              <a:latin typeface="黑体" pitchFamily="2" charset="-122"/>
              <a:ea typeface="黑体" pitchFamily="2" charset="-122"/>
            </a:endParaRPr>
          </a:p>
          <a:p>
            <a:pPr marL="342900" indent="-342900">
              <a:lnSpc>
                <a:spcPct val="120000"/>
              </a:lnSpc>
              <a:spcBef>
                <a:spcPct val="20000"/>
              </a:spcBef>
              <a:buClr>
                <a:srgbClr val="3333CC"/>
              </a:buClr>
              <a:buSzPct val="55000"/>
              <a:tabLst>
                <a:tab pos="3595688" algn="l"/>
              </a:tabLst>
              <a:defRPr/>
            </a:pPr>
            <a:r>
              <a:rPr kumimoji="0" lang="zh-CN" altLang="en-US" sz="2000" b="0" kern="0" dirty="0">
                <a:solidFill>
                  <a:srgbClr val="003399"/>
                </a:solidFill>
                <a:latin typeface="黑体" pitchFamily="2" charset="-122"/>
                <a:ea typeface="黑体" pitchFamily="2" charset="-122"/>
              </a:rPr>
              <a:t>樊昌信</a:t>
            </a:r>
            <a:r>
              <a:rPr kumimoji="0" lang="en-US" altLang="zh-CN" sz="2000" b="0" kern="0" dirty="0">
                <a:solidFill>
                  <a:srgbClr val="003399"/>
                </a:solidFill>
                <a:latin typeface="黑体" pitchFamily="2" charset="-122"/>
                <a:ea typeface="黑体" pitchFamily="2" charset="-122"/>
                <a:cs typeface="Arial" charset="0"/>
              </a:rPr>
              <a:t>  </a:t>
            </a:r>
            <a:r>
              <a:rPr kumimoji="0" lang="en-US" altLang="zh-CN" sz="2000" b="0" kern="0" dirty="0">
                <a:solidFill>
                  <a:srgbClr val="003399"/>
                </a:solidFill>
                <a:latin typeface="黑体" pitchFamily="2" charset="-122"/>
                <a:ea typeface="黑体" pitchFamily="2" charset="-122"/>
              </a:rPr>
              <a:t>                                     </a:t>
            </a:r>
            <a:endParaRPr kumimoji="0" lang="en-US" altLang="zh-CN" sz="2000" b="0" kern="0" dirty="0">
              <a:solidFill>
                <a:srgbClr val="003399"/>
              </a:solidFill>
              <a:latin typeface="黑体" pitchFamily="2" charset="-122"/>
              <a:ea typeface="黑体" pitchFamily="2" charset="-122"/>
              <a:sym typeface="Wingdings" pitchFamily="2" charset="2"/>
            </a:endParaRPr>
          </a:p>
        </p:txBody>
      </p:sp>
      <p:sp>
        <p:nvSpPr>
          <p:cNvPr id="7" name="矩形 6">
            <a:extLst>
              <a:ext uri="{FF2B5EF4-FFF2-40B4-BE49-F238E27FC236}">
                <a16:creationId xmlns:a16="http://schemas.microsoft.com/office/drawing/2014/main" id="{14578F03-0D3C-C5D3-15A9-39DF5FC14A1D}"/>
              </a:ext>
            </a:extLst>
          </p:cNvPr>
          <p:cNvSpPr/>
          <p:nvPr/>
        </p:nvSpPr>
        <p:spPr>
          <a:xfrm>
            <a:off x="6786563" y="4186238"/>
            <a:ext cx="857250" cy="609600"/>
          </a:xfrm>
          <a:prstGeom prst="rect">
            <a:avLst/>
          </a:prstGeom>
        </p:spPr>
        <p:txBody>
          <a:bodyPr>
            <a:spAutoFit/>
          </a:bodyPr>
          <a:lstStyle/>
          <a:p>
            <a:pPr marL="342900" indent="-342900">
              <a:lnSpc>
                <a:spcPct val="120000"/>
              </a:lnSpc>
              <a:spcBef>
                <a:spcPct val="20000"/>
              </a:spcBef>
              <a:buClr>
                <a:srgbClr val="3333CC"/>
              </a:buClr>
              <a:buSzPct val="55000"/>
              <a:tabLst>
                <a:tab pos="3595688" algn="l"/>
              </a:tabLst>
              <a:defRPr/>
            </a:pPr>
            <a:r>
              <a:rPr kumimoji="0" lang="zh-CN" altLang="en-US" sz="2000" b="0" kern="0" dirty="0">
                <a:solidFill>
                  <a:srgbClr val="003399"/>
                </a:solidFill>
                <a:latin typeface="黑体" pitchFamily="2" charset="-122"/>
                <a:ea typeface="黑体" pitchFamily="2" charset="-122"/>
              </a:rPr>
              <a:t>编著</a:t>
            </a:r>
            <a:r>
              <a:rPr kumimoji="0" lang="en-US" altLang="zh-CN" sz="2800" b="0" kern="0" dirty="0">
                <a:solidFill>
                  <a:schemeClr val="tx1"/>
                </a:solidFill>
                <a:latin typeface="Arial" charset="0"/>
                <a:ea typeface="宋体"/>
                <a:cs typeface="Arial" charset="0"/>
              </a:rPr>
              <a:t>  </a:t>
            </a:r>
            <a:r>
              <a:rPr kumimoji="0" lang="en-US" altLang="zh-CN" sz="2800" b="0" kern="0" dirty="0">
                <a:solidFill>
                  <a:schemeClr val="tx1"/>
                </a:solidFill>
                <a:latin typeface="Tahoma"/>
                <a:ea typeface="宋体"/>
              </a:rPr>
              <a:t> </a:t>
            </a:r>
            <a:r>
              <a:rPr kumimoji="0" lang="en-US" altLang="zh-CN" sz="2800" b="0" kern="0" dirty="0">
                <a:solidFill>
                  <a:srgbClr val="000000"/>
                </a:solidFill>
                <a:latin typeface="Tahoma"/>
                <a:ea typeface="宋体"/>
              </a:rPr>
              <a:t>                                    </a:t>
            </a:r>
            <a:endParaRPr kumimoji="0" lang="en-US" altLang="zh-CN" sz="2800" b="0" kern="0" dirty="0">
              <a:solidFill>
                <a:srgbClr val="000000"/>
              </a:solidFill>
              <a:latin typeface="Tahoma"/>
              <a:ea typeface="宋体"/>
              <a:sym typeface="Wingdings" pitchFamily="2" charset="2"/>
            </a:endParaRPr>
          </a:p>
        </p:txBody>
      </p:sp>
      <p:sp>
        <p:nvSpPr>
          <p:cNvPr id="8" name="矩形 7">
            <a:extLst>
              <a:ext uri="{FF2B5EF4-FFF2-40B4-BE49-F238E27FC236}">
                <a16:creationId xmlns:a16="http://schemas.microsoft.com/office/drawing/2014/main" id="{DD6C07FF-AF4D-7E30-144E-7875853F0915}"/>
              </a:ext>
            </a:extLst>
          </p:cNvPr>
          <p:cNvSpPr/>
          <p:nvPr/>
        </p:nvSpPr>
        <p:spPr>
          <a:xfrm>
            <a:off x="5643563" y="5230813"/>
            <a:ext cx="2214562" cy="412750"/>
          </a:xfrm>
          <a:prstGeom prst="rect">
            <a:avLst/>
          </a:prstGeom>
        </p:spPr>
        <p:txBody>
          <a:bodyPr>
            <a:spAutoFit/>
          </a:bodyPr>
          <a:lstStyle/>
          <a:p>
            <a:pPr marL="342900" indent="-342900">
              <a:lnSpc>
                <a:spcPct val="120000"/>
              </a:lnSpc>
              <a:spcBef>
                <a:spcPct val="20000"/>
              </a:spcBef>
              <a:buClr>
                <a:srgbClr val="3333CC"/>
              </a:buClr>
              <a:buSzPct val="55000"/>
              <a:tabLst>
                <a:tab pos="3595688" algn="l"/>
              </a:tabLst>
              <a:defRPr/>
            </a:pPr>
            <a:r>
              <a:rPr kumimoji="0" lang="zh-CN" altLang="en-US" sz="2000" b="0" kern="0" dirty="0">
                <a:solidFill>
                  <a:srgbClr val="003399"/>
                </a:solidFill>
                <a:latin typeface="黑体" pitchFamily="2" charset="-122"/>
                <a:ea typeface="黑体" pitchFamily="2" charset="-122"/>
              </a:rPr>
              <a:t>国防工业出版社</a:t>
            </a:r>
            <a:r>
              <a:rPr kumimoji="0" lang="en-US" altLang="zh-CN" sz="2000" b="0" kern="0" dirty="0">
                <a:solidFill>
                  <a:srgbClr val="003399"/>
                </a:solidFill>
                <a:latin typeface="黑体" pitchFamily="2" charset="-122"/>
                <a:ea typeface="黑体" pitchFamily="2" charset="-122"/>
              </a:rPr>
              <a:t>                           </a:t>
            </a:r>
            <a:endParaRPr kumimoji="0" lang="en-US" altLang="zh-CN" sz="2000" b="0" kern="0" dirty="0">
              <a:solidFill>
                <a:srgbClr val="003399"/>
              </a:solidFill>
              <a:latin typeface="黑体" pitchFamily="2" charset="-122"/>
              <a:ea typeface="黑体" pitchFamily="2" charset="-122"/>
              <a:sym typeface="Wingdings" pitchFamily="2" charset="2"/>
            </a:endParaRPr>
          </a:p>
        </p:txBody>
      </p:sp>
      <p:pic>
        <p:nvPicPr>
          <p:cNvPr id="169991" name="内容占位符 12" descr="校徽3.gif">
            <a:extLst>
              <a:ext uri="{FF2B5EF4-FFF2-40B4-BE49-F238E27FC236}">
                <a16:creationId xmlns:a16="http://schemas.microsoft.com/office/drawing/2014/main" id="{05453AB0-DA9D-AD2E-3276-9734EBEC1FD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00625" y="4171950"/>
            <a:ext cx="57150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9992" name="内容占位符 27" descr="图标3.gif">
            <a:extLst>
              <a:ext uri="{FF2B5EF4-FFF2-40B4-BE49-F238E27FC236}">
                <a16:creationId xmlns:a16="http://schemas.microsoft.com/office/drawing/2014/main" id="{5570BE2D-A0A6-4A78-E597-70C97D568BF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002213" y="5156200"/>
            <a:ext cx="569912"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6" name="Rectangle 10">
            <a:extLst>
              <a:ext uri="{FF2B5EF4-FFF2-40B4-BE49-F238E27FC236}">
                <a16:creationId xmlns:a16="http://schemas.microsoft.com/office/drawing/2014/main" id="{BAB022DE-BB33-7337-7147-AB9239F327BE}"/>
              </a:ext>
            </a:extLst>
          </p:cNvPr>
          <p:cNvSpPr>
            <a:spLocks noChangeArrowheads="1"/>
          </p:cNvSpPr>
          <p:nvPr/>
        </p:nvSpPr>
        <p:spPr bwMode="auto">
          <a:xfrm>
            <a:off x="4500563" y="1695450"/>
            <a:ext cx="3714750" cy="173355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anchor="ctr">
            <a:spAutoFit/>
          </a:bodyPr>
          <a:lstStyle/>
          <a:p>
            <a:pPr indent="419100" eaLnBrk="0" hangingPunct="0">
              <a:lnSpc>
                <a:spcPts val="3200"/>
              </a:lnSpc>
              <a:buClr>
                <a:srgbClr val="0033CC"/>
              </a:buClr>
              <a:buSzPct val="80000"/>
              <a:buFont typeface="Wingdings" pitchFamily="2" charset="2"/>
              <a:buChar char="Ø"/>
              <a:tabLst>
                <a:tab pos="838200" algn="l"/>
              </a:tabLst>
              <a:defRPr/>
            </a:pPr>
            <a:r>
              <a:rPr lang="zh-CN" sz="2400" dirty="0">
                <a:solidFill>
                  <a:schemeClr val="tx1"/>
                </a:solidFill>
                <a:latin typeface="黑体" pitchFamily="2" charset="-122"/>
                <a:ea typeface="黑体" pitchFamily="2" charset="-122"/>
                <a:cs typeface="Times New Roman" pitchFamily="18" charset="0"/>
              </a:rPr>
              <a:t>整理知识</a:t>
            </a:r>
            <a:r>
              <a:rPr lang="zh-CN" altLang="en-US" sz="2400" dirty="0">
                <a:solidFill>
                  <a:schemeClr val="tx1"/>
                </a:solidFill>
                <a:latin typeface="黑体" pitchFamily="2" charset="-122"/>
                <a:ea typeface="黑体" pitchFamily="2" charset="-122"/>
                <a:cs typeface="Times New Roman" pitchFamily="18" charset="0"/>
              </a:rPr>
              <a:t>  归纳结论</a:t>
            </a:r>
            <a:endParaRPr lang="zh-CN" altLang="en-US" sz="2400" dirty="0">
              <a:solidFill>
                <a:schemeClr val="tx1"/>
              </a:solidFill>
              <a:latin typeface="黑体" pitchFamily="2" charset="-122"/>
              <a:ea typeface="黑体" pitchFamily="2" charset="-122"/>
            </a:endParaRPr>
          </a:p>
          <a:p>
            <a:pPr indent="419100" eaLnBrk="0" hangingPunct="0">
              <a:lnSpc>
                <a:spcPts val="3200"/>
              </a:lnSpc>
              <a:buClr>
                <a:srgbClr val="0033CC"/>
              </a:buClr>
              <a:buSzPct val="80000"/>
              <a:buFont typeface="Wingdings" pitchFamily="2" charset="2"/>
              <a:buChar char="Ø"/>
              <a:tabLst>
                <a:tab pos="838200" algn="l"/>
              </a:tabLst>
              <a:defRPr/>
            </a:pPr>
            <a:r>
              <a:rPr lang="zh-CN" altLang="en-US" sz="2400" dirty="0">
                <a:solidFill>
                  <a:schemeClr val="tx1"/>
                </a:solidFill>
                <a:latin typeface="黑体" pitchFamily="2" charset="-122"/>
                <a:ea typeface="黑体" pitchFamily="2" charset="-122"/>
                <a:cs typeface="Times New Roman" pitchFamily="18" charset="0"/>
              </a:rPr>
              <a:t>梳理关系  引导主线</a:t>
            </a:r>
            <a:endParaRPr lang="zh-CN" altLang="en-US" sz="2400" dirty="0">
              <a:solidFill>
                <a:schemeClr val="tx1"/>
              </a:solidFill>
              <a:latin typeface="黑体" pitchFamily="2" charset="-122"/>
              <a:ea typeface="黑体" pitchFamily="2" charset="-122"/>
            </a:endParaRPr>
          </a:p>
          <a:p>
            <a:pPr indent="419100" eaLnBrk="0" hangingPunct="0">
              <a:lnSpc>
                <a:spcPts val="3200"/>
              </a:lnSpc>
              <a:buClr>
                <a:srgbClr val="0033CC"/>
              </a:buClr>
              <a:buSzPct val="80000"/>
              <a:buFont typeface="Wingdings" pitchFamily="2" charset="2"/>
              <a:buChar char="Ø"/>
              <a:tabLst>
                <a:tab pos="838200" algn="l"/>
              </a:tabLst>
              <a:defRPr/>
            </a:pPr>
            <a:r>
              <a:rPr lang="zh-CN" altLang="en-US" sz="2400" dirty="0">
                <a:solidFill>
                  <a:schemeClr val="tx1"/>
                </a:solidFill>
                <a:latin typeface="黑体" pitchFamily="2" charset="-122"/>
                <a:ea typeface="黑体" pitchFamily="2" charset="-122"/>
                <a:cs typeface="Times New Roman" pitchFamily="18" charset="0"/>
              </a:rPr>
              <a:t>剖析难点  解惑疑点</a:t>
            </a:r>
            <a:endParaRPr lang="zh-CN" altLang="en-US" sz="2400" dirty="0">
              <a:solidFill>
                <a:schemeClr val="tx1"/>
              </a:solidFill>
              <a:latin typeface="黑体" pitchFamily="2" charset="-122"/>
              <a:ea typeface="黑体" pitchFamily="2" charset="-122"/>
            </a:endParaRPr>
          </a:p>
          <a:p>
            <a:pPr indent="419100" eaLnBrk="0" hangingPunct="0">
              <a:lnSpc>
                <a:spcPts val="3200"/>
              </a:lnSpc>
              <a:buClr>
                <a:srgbClr val="0033CC"/>
              </a:buClr>
              <a:buSzPct val="80000"/>
              <a:buFont typeface="Wingdings" pitchFamily="2" charset="2"/>
              <a:buChar char="Ø"/>
              <a:tabLst>
                <a:tab pos="838200" algn="l"/>
              </a:tabLst>
              <a:defRPr/>
            </a:pPr>
            <a:r>
              <a:rPr lang="zh-CN" altLang="en-US" sz="2400" dirty="0">
                <a:solidFill>
                  <a:schemeClr val="tx1"/>
                </a:solidFill>
                <a:latin typeface="黑体" pitchFamily="2" charset="-122"/>
                <a:ea typeface="黑体" pitchFamily="2" charset="-122"/>
                <a:cs typeface="Times New Roman" pitchFamily="18" charset="0"/>
              </a:rPr>
              <a:t>强化重点  点击考点 </a:t>
            </a:r>
            <a:endParaRPr lang="zh-CN" altLang="en-US" sz="2400" dirty="0">
              <a:solidFill>
                <a:schemeClr val="tx1"/>
              </a:solidFill>
              <a:latin typeface="黑体" pitchFamily="2" charset="-122"/>
              <a:ea typeface="黑体" pitchFamily="2" charset="-122"/>
            </a:endParaRPr>
          </a:p>
        </p:txBody>
      </p:sp>
    </p:spTree>
  </p:cSld>
  <p:clrMapOvr>
    <a:masterClrMapping/>
  </p:clrMapOvr>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57D28EB-BCA8-9617-D295-860E6DEE33E8}"/>
              </a:ext>
            </a:extLst>
          </p:cNvPr>
          <p:cNvSpPr txBox="1">
            <a:spLocks/>
          </p:cNvSpPr>
          <p:nvPr/>
        </p:nvSpPr>
        <p:spPr bwMode="auto">
          <a:xfrm>
            <a:off x="2857500" y="2482850"/>
            <a:ext cx="4143375" cy="1517650"/>
          </a:xfrm>
          <a:prstGeom prst="rect">
            <a:avLst/>
          </a:prstGeom>
          <a:noFill/>
          <a:ln w="9525">
            <a:noFill/>
            <a:miter lim="800000"/>
            <a:headEnd/>
            <a:tailEnd/>
          </a:ln>
        </p:spPr>
        <p:txBody>
          <a:bodyPr/>
          <a:lstStyle/>
          <a:p>
            <a:pPr marL="342900" indent="-342900" eaLnBrk="0" hangingPunct="0">
              <a:spcBef>
                <a:spcPct val="20000"/>
              </a:spcBef>
              <a:buClr>
                <a:schemeClr val="folHlink"/>
              </a:buClr>
              <a:buSzPct val="60000"/>
              <a:buFont typeface="Wingdings" pitchFamily="2" charset="2"/>
              <a:buNone/>
              <a:defRPr/>
            </a:pPr>
            <a:r>
              <a:rPr kumimoji="0" lang="zh-CN" altLang="en-US" sz="7200" b="0" kern="0" dirty="0">
                <a:solidFill>
                  <a:srgbClr val="003399"/>
                </a:solidFill>
                <a:latin typeface="隶书" pitchFamily="49" charset="-122"/>
                <a:ea typeface="隶书" pitchFamily="49" charset="-122"/>
              </a:rPr>
              <a:t> 谢谢！</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 presetClass="entr" presetSubtype="32"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out)">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TIMING" val="|0.8"/>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8800" b="1" i="0" u="none" strike="noStrike" cap="none" normalizeH="0" baseline="0" smtClean="0">
            <a:ln>
              <a:noFill/>
            </a:ln>
            <a:solidFill>
              <a:srgbClr val="D0CDCA"/>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8800" b="1" i="0" u="none" strike="noStrike" cap="none" normalizeH="0" baseline="0" smtClean="0">
            <a:ln>
              <a:noFill/>
            </a:ln>
            <a:solidFill>
              <a:srgbClr val="D0CDCA"/>
            </a:solidFill>
            <a:effectLst/>
            <a:latin typeface="楷体_GB2312" pitchFamily="49" charset="-122"/>
            <a:ea typeface="楷体_GB2312" pitchFamily="49"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21891</TotalTime>
  <Words>8934</Words>
  <Application>Microsoft Office PowerPoint</Application>
  <PresentationFormat>全屏显示(4:3)</PresentationFormat>
  <Paragraphs>1327</Paragraphs>
  <Slides>165</Slides>
  <Notes>14</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3</vt:i4>
      </vt:variant>
      <vt:variant>
        <vt:lpstr>幻灯片标题</vt:lpstr>
      </vt:variant>
      <vt:variant>
        <vt:i4>165</vt:i4>
      </vt:variant>
    </vt:vector>
  </HeadingPairs>
  <TitlesOfParts>
    <vt:vector size="184" baseType="lpstr">
      <vt:lpstr>楷体_GB2312</vt:lpstr>
      <vt:lpstr>Arial</vt:lpstr>
      <vt:lpstr>Tahoma</vt:lpstr>
      <vt:lpstr>宋体</vt:lpstr>
      <vt:lpstr>Wingdings</vt:lpstr>
      <vt:lpstr>Times New Roman</vt:lpstr>
      <vt:lpstr>黑体</vt:lpstr>
      <vt:lpstr>隶书</vt:lpstr>
      <vt:lpstr>微软雅黑</vt:lpstr>
      <vt:lpstr>Arial Unicode MS</vt:lpstr>
      <vt:lpstr>Cambria Math</vt:lpstr>
      <vt:lpstr>Symbol</vt:lpstr>
      <vt:lpstr>幼圆</vt:lpstr>
      <vt:lpstr>华文中宋</vt:lpstr>
      <vt:lpstr>Bookshelf Symbol 7</vt:lpstr>
      <vt:lpstr>Blends</vt:lpstr>
      <vt:lpstr>MathType 5.0 Equation</vt:lpstr>
      <vt:lpstr>Microsoft 公式 3.0</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bwk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yu</dc:creator>
  <cp:lastModifiedBy>Wang Liming</cp:lastModifiedBy>
  <cp:revision>1585</cp:revision>
  <dcterms:created xsi:type="dcterms:W3CDTF">2005-04-30T13:00:35Z</dcterms:created>
  <dcterms:modified xsi:type="dcterms:W3CDTF">2023-08-16T09:42:15Z</dcterms:modified>
</cp:coreProperties>
</file>